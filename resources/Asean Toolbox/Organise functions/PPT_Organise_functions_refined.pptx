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120.xml" ContentType="application/vnd.openxmlformats-officedocument.presentationml.slide+xml"/>
  <Override PartName="/ppt/slides/slide218.xml" ContentType="application/vnd.openxmlformats-officedocument.presentationml.slide+xml"/>
  <Override PartName="/ppt/notesSlides/notesSlide38.xml" ContentType="application/vnd.openxmlformats-officedocument.presentationml.notesSlide+xml"/>
  <Override PartName="/ppt/notesSlides/notesSlide85.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17.xml" ContentType="application/vnd.openxmlformats-officedocument.presentationml.notesSlide+xml"/>
  <Default Extension="xml" ContentType="application/xml"/>
  <Override PartName="/ppt/slides/slide50.xml" ContentType="application/vnd.openxmlformats-officedocument.presentationml.slide+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221.xml" ContentType="application/vnd.openxmlformats-officedocument.presentationml.slide+xml"/>
  <Override PartName="/ppt/notesSlides/notesSlide41.xml" ContentType="application/vnd.openxmlformats-officedocument.presentationml.notesSlide+xml"/>
  <Override PartName="/ppt/notesSlides/notesSlide179.xml" ContentType="application/vnd.openxmlformats-officedocument.presentationml.notesSlide+xml"/>
  <Override PartName="/ppt/slides/slide158.xml" ContentType="application/vnd.openxmlformats-officedocument.presentationml.slide+xml"/>
  <Override PartName="/ppt/notesSlides/notesSlide220.xml" ContentType="application/vnd.openxmlformats-officedocument.presentationml.notes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notesSlides/notesSlide157.xml" ContentType="application/vnd.openxmlformats-officedocument.presentationml.notesSlide+xml"/>
  <Override PartName="/ppt/slides/slide88.xml" ContentType="application/vnd.openxmlformats-officedocument.presentationml.slide+xml"/>
  <Override PartName="/ppt/notesSlides/notesSlide135.xml" ContentType="application/vnd.openxmlformats-officedocument.presentationml.notesSlide+xml"/>
  <Override PartName="/ppt/notesSlides/notesSlide182.xml" ContentType="application/vnd.openxmlformats-officedocument.presentationml.notesSlide+xml"/>
  <Override PartName="/ppt/slides/slide19.xml" ContentType="application/vnd.openxmlformats-officedocument.presentationml.slide+xml"/>
  <Override PartName="/ppt/slides/slide66.xml" ContentType="application/vnd.openxmlformats-officedocument.presentationml.slide+xml"/>
  <Override PartName="/ppt/slides/slide114.xml" ContentType="application/vnd.openxmlformats-officedocument.presentationml.slide+xml"/>
  <Override PartName="/ppt/slides/slide161.xml" ContentType="application/vnd.openxmlformats-officedocument.presentationml.slide+xml"/>
  <Default Extension="png" ContentType="image/png"/>
  <Override PartName="/ppt/notesSlides/notesSlide79.xml" ContentType="application/vnd.openxmlformats-officedocument.presentationml.notesSlide+xml"/>
  <Override PartName="/ppt/theme/theme2.xml" ContentType="application/vnd.openxmlformats-officedocument.theme+xml"/>
  <Override PartName="/ppt/notesSlides/notesSlide57.xml" ContentType="application/vnd.openxmlformats-officedocument.presentationml.notesSlide+xml"/>
  <Override PartName="/ppt/notesSlides/notesSlide113.xml" ContentType="application/vnd.openxmlformats-officedocument.presentationml.notesSlide+xml"/>
  <Override PartName="/ppt/notesSlides/notesSlide160.xml" ContentType="application/vnd.openxmlformats-officedocument.presentationml.notesSlide+xml"/>
  <Override PartName="/ppt/slides/slide44.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slides/slide22.xml" ContentType="application/vnd.openxmlformats-officedocument.presentationml.slide+xml"/>
  <Override PartName="/ppt/slides/slide199.xml" ContentType="application/vnd.openxmlformats-officedocument.presentationml.slide+xml"/>
  <Override PartName="/ppt/notesSlides/notesSlide35.xml" ContentType="application/vnd.openxmlformats-officedocument.presentationml.notesSlide+xml"/>
  <Override PartName="/ppt/notesSlides/notesSlide82.xml" ContentType="application/vnd.openxmlformats-officedocument.presentationml.notesSlide+xml"/>
  <Override PartName="/ppt/notesSlides/notesSlide214.xml" ContentType="application/vnd.openxmlformats-officedocument.presentationml.notes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notesSlides/notesSlide198.xml" ContentType="application/vnd.openxmlformats-officedocument.presentationml.notesSlide+xml"/>
  <Override PartName="/ppt/slides/slide177.xml" ContentType="application/vnd.openxmlformats-officedocument.presentationml.slide+xml"/>
  <Override PartName="/ppt/notesSlides/notesSlide129.xml" ContentType="application/vnd.openxmlformats-officedocument.presentationml.notesSlide+xml"/>
  <Override PartName="/ppt/notesSlides/notesSlide176.xml" ContentType="application/vnd.openxmlformats-officedocument.presentationml.notesSlide+xml"/>
  <Override PartName="/ppt/slides/slide108.xml" ContentType="application/vnd.openxmlformats-officedocument.presentationml.slide+xml"/>
  <Override PartName="/ppt/slides/slide155.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notesSlides/notesSlide143.xml" ContentType="application/vnd.openxmlformats-officedocument.presentationml.notesSlide+xml"/>
  <Override PartName="/ppt/notesSlides/notesSlide190.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s/slide209.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notesSlides/notesSlide121.xml" ContentType="application/vnd.openxmlformats-officedocument.presentationml.notesSlide+xml"/>
  <Override PartName="/ppt/notesSlides/notesSlide21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Default Extension="wmf" ContentType="image/x-wmf"/>
  <Override PartName="/ppt/notesSlides/notesSlide65.xml" ContentType="application/vnd.openxmlformats-officedocument.presentationml.notesSlide+xml"/>
  <Override PartName="/ppt/notesSlides/notesSlide110.xml" ContentType="application/vnd.openxmlformats-officedocument.presentationml.notesSlide+xml"/>
  <Override PartName="/ppt/notesSlides/notesSlide208.xml" ContentType="application/vnd.openxmlformats-officedocument.presentationml.notesSlide+xml"/>
  <Override PartName="/ppt/slides/slide41.xml" ContentType="application/vnd.openxmlformats-officedocument.presentationml.slide+xml"/>
  <Override PartName="/ppt/slides/slide223.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slides/slide149.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notesSlides/notesSlide32.xml" ContentType="application/vnd.openxmlformats-officedocument.presentationml.notesSlide+xml"/>
  <Override PartName="/ppt/notesSlides/notesSlide222.xml" ContentType="application/vnd.openxmlformats-officedocument.presentationml.notesSlide+xml"/>
  <Override PartName="/ppt/slides/slide138.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48.xml" ContentType="application/vnd.openxmlformats-officedocument.presentationml.notesSlide+xml"/>
  <Override PartName="/ppt/notesSlides/notesSlide159.xml" ContentType="application/vnd.openxmlformats-officedocument.presentationml.notesSlide+xml"/>
  <Override PartName="/ppt/notesSlides/notesSlide195.xml" ContentType="application/vnd.openxmlformats-officedocument.presentationml.notesSlide+xml"/>
  <Override PartName="/ppt/notesSlides/notesSlide200.xml" ContentType="application/vnd.openxmlformats-officedocument.presentationml.notesSlide+xml"/>
  <Override PartName="/ppt/notesSlides/notesSlide211.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notesSlides/notesSlide10.xml" ContentType="application/vnd.openxmlformats-officedocument.presentationml.notesSlide+xml"/>
  <Override PartName="/ppt/notesSlides/notesSlide137.xml" ContentType="application/vnd.openxmlformats-officedocument.presentationml.notesSlide+xml"/>
  <Override PartName="/ppt/notesSlides/notesSlide184.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notesSlides/notesSlide173.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notesSlides/notesSlide151.xml" ContentType="application/vnd.openxmlformats-officedocument.presentationml.notesSlide+xml"/>
  <Override PartName="/ppt/notesSlides/notesSlide162.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slides/slide217.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notesSlides/notesSlide140.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notesSlides/notesSlide37.xml" ContentType="application/vnd.openxmlformats-officedocument.presentationml.notesSlide+xml"/>
  <Override PartName="/ppt/notesSlides/notesSlide84.xml" ContentType="application/vnd.openxmlformats-officedocument.presentationml.notesSlide+xml"/>
  <Override PartName="/ppt/notesSlides/notesSlide216.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205.xml" ContentType="application/vnd.openxmlformats-officedocument.presentationml.notesSlide+xml"/>
  <Override PartName="/ppt/slides/slide168.xml" ContentType="application/vnd.openxmlformats-officedocument.presentationml.slide+xml"/>
  <Override PartName="/ppt/slides/slide179.xml" ContentType="application/vnd.openxmlformats-officedocument.presentationml.slide+xml"/>
  <Override PartName="/ppt/notesSlides/notesSlide51.xml" ContentType="application/vnd.openxmlformats-officedocument.presentationml.notesSlide+xml"/>
  <Override PartName="/ppt/notesSlides/notesSlide178.xml" ContentType="application/vnd.openxmlformats-officedocument.presentationml.notesSlide+xml"/>
  <Override PartName="/ppt/notesSlides/notesSlide189.xml" ContentType="application/vnd.openxmlformats-officedocument.presentationml.notesSlide+xml"/>
  <Override PartName="/ppt/slides/slide157.xml" ContentType="application/vnd.openxmlformats-officedocument.presentationml.slide+xml"/>
  <Override PartName="/ppt/slides/slide220.xml" ContentType="application/vnd.openxmlformats-officedocument.presentationml.slide+xml"/>
  <Override PartName="/ppt/notesSlides/notesSlide40.xml" ContentType="application/vnd.openxmlformats-officedocument.presentationml.notesSlide+xml"/>
  <Default Extension="tiff" ContentType="image/tiff"/>
  <Override PartName="/ppt/notesSlides/notesSlide167.xml" ContentType="application/vnd.openxmlformats-officedocument.presentationml.notesSlide+xml"/>
  <Override PartName="/ppt/slides/slide98.xml" ContentType="application/vnd.openxmlformats-officedocument.presentationml.slide+xml"/>
  <Override PartName="/ppt/slides/slide146.xml" ContentType="application/vnd.openxmlformats-officedocument.presentationml.slide+xml"/>
  <Override PartName="/ppt/slides/slide193.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56.xml" ContentType="application/vnd.openxmlformats-officedocument.presentationml.notes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notesSlides/notesSlide89.xml" ContentType="application/vnd.openxmlformats-officedocument.presentationml.notesSlide+xml"/>
  <Override PartName="/ppt/notesSlides/notesSlide145.xml" ContentType="application/vnd.openxmlformats-officedocument.presentationml.notesSlide+xml"/>
  <Override PartName="/ppt/notesSlides/notesSlide192.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notesSlides/notesSlide170.xml" ContentType="application/vnd.openxmlformats-officedocument.presentationml.notesSlide+xml"/>
  <Override PartName="/ppt/notesSlides/notesSlide181.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slides/slide225.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slides/slide214.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notesSlides/notesSlide22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notesSlides/notesSlide197.xml" ContentType="application/vnd.openxmlformats-officedocument.presentationml.notesSlide+xml"/>
  <Override PartName="/ppt/notesSlides/notesSlide213.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notesSlides/notesSlide186.xml" ContentType="application/vnd.openxmlformats-officedocument.presentationml.notesSlide+xml"/>
  <Override PartName="/ppt/notesSlides/notesSlide202.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notesSlides/notesSlide128.xml" ContentType="application/vnd.openxmlformats-officedocument.presentationml.notesSlide+xml"/>
  <Override PartName="/ppt/notesSlides/notesSlide175.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notesSlides/notesSlide164.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notesSlides/notesSlide218.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notesSlides/notesSlide207.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notesSlides/notesSlide42.xml" ContentType="application/vnd.openxmlformats-officedocument.presentationml.notesSlide+xml"/>
  <Override PartName="/ppt/notesSlides/notesSlide169.xml" ContentType="application/vnd.openxmlformats-officedocument.presentationml.notesSlide+xml"/>
  <Override PartName="/ppt/notesSlides/notesSlide221.xml" ContentType="application/vnd.openxmlformats-officedocument.presentationml.notes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Default Extension="gif" ContentType="image/gif"/>
  <Override PartName="/ppt/notesSlides/notesSlide158.xml" ContentType="application/vnd.openxmlformats-officedocument.presentationml.notesSlide+xml"/>
  <Override PartName="/ppt/notesSlides/notesSlide210.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notesSlides/notesSlide147.xml" ContentType="application/vnd.openxmlformats-officedocument.presentationml.notesSlide+xml"/>
  <Override PartName="/ppt/notesSlides/notesSlide194.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handoutMasters/handoutMaster1.xml" ContentType="application/vnd.openxmlformats-officedocument.presentationml.handoutMaster+xml"/>
  <Override PartName="/ppt/notesSlides/notesSlide125.xml" ContentType="application/vnd.openxmlformats-officedocument.presentationml.notesSlide+xml"/>
  <Override PartName="/ppt/notesSlides/notesSlide136.xml" ContentType="application/vnd.openxmlformats-officedocument.presentationml.notesSlide+xml"/>
  <Override PartName="/ppt/notesSlides/notesSlide172.xml" ContentType="application/vnd.openxmlformats-officedocument.presentationml.notesSlide+xml"/>
  <Override PartName="/ppt/notesSlides/notesSlide183.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notesSlides/notesSlide161.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50.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notesSlides/notesSlide199.xml" ContentType="application/vnd.openxmlformats-officedocument.presentationml.notesSlide+xml"/>
  <Override PartName="/ppt/notesSlides/notesSlide215.xml" ContentType="application/vnd.openxmlformats-officedocument.presentationml.notesSlide+xml"/>
  <Override PartName="/ppt/slides/slide12.xml" ContentType="application/vnd.openxmlformats-officedocument.presentationml.slide+xml"/>
  <Override PartName="/ppt/slides/slide178.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notesSlides/notesSlide188.xml" ContentType="application/vnd.openxmlformats-officedocument.presentationml.notesSlide+xml"/>
  <Override PartName="/ppt/notesSlides/notesSlide204.xml" ContentType="application/vnd.openxmlformats-officedocument.presentationml.notesSlide+xml"/>
  <Override PartName="/ppt/slides/slide167.xml" ContentType="application/vnd.openxmlformats-officedocument.presentationml.slide+xml"/>
  <Override PartName="/ppt/notesSlides/notesSlide50.xml" ContentType="application/vnd.openxmlformats-officedocument.presentationml.notesSlide+xml"/>
  <Override PartName="/ppt/notesSlides/notesSlide177.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92.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155.xml" ContentType="application/vnd.openxmlformats-officedocument.presentationml.notesSlide+xml"/>
  <Override PartName="/ppt/notesSlides/notesSlide166.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notesSlides/notesSlide191.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notesSlides/notesSlide88.xml" ContentType="application/vnd.openxmlformats-officedocument.presentationml.notesSlide+xml"/>
  <Override PartName="/ppt/notesSlides/notesSlide133.xml" ContentType="application/vnd.openxmlformats-officedocument.presentationml.notesSlide+xml"/>
  <Override PartName="/ppt/notesSlides/notesSlide180.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Override PartName="/ppt/notesSlides/notesSlide209.xml" ContentType="application/vnd.openxmlformats-officedocument.presentationml.notesSlide+xml"/>
  <Override PartName="/ppt/slides/slide53.xml" ContentType="application/vnd.openxmlformats-officedocument.presentationml.slide+xml"/>
  <Default Extension="jpeg" ContentType="image/jpeg"/>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notesSlides/notesSlide223.xml" ContentType="application/vnd.openxmlformats-officedocument.presentationml.notesSlide+xml"/>
  <Override PartName="/ppt/slides/slide20.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0.xml" ContentType="application/vnd.openxmlformats-officedocument.presentationml.notesSlide+xml"/>
  <Override PartName="/ppt/notesSlides/notesSlide212.xml" ContentType="application/vnd.openxmlformats-officedocument.presentationml.notesSlide+xml"/>
  <Override PartName="/ppt/slides/slide139.xml" ContentType="application/vnd.openxmlformats-officedocument.presentationml.slide+xml"/>
  <Override PartName="/ppt/slides/slide186.xml" ContentType="application/vnd.openxmlformats-officedocument.presentationml.slide+xml"/>
  <Override PartName="/ppt/notesSlides/notesSlide11.xml" ContentType="application/vnd.openxmlformats-officedocument.presentationml.notesSlide+xml"/>
  <Override PartName="/ppt/notesSlides/notesSlide149.xml" ContentType="application/vnd.openxmlformats-officedocument.presentationml.notesSlide+xml"/>
  <Override PartName="/ppt/notesSlides/notesSlide196.xml" ContentType="application/vnd.openxmlformats-officedocument.presentationml.notesSlide+xml"/>
  <Override PartName="/ppt/notesSlides/notesSlide201.xml" ContentType="application/vnd.openxmlformats-officedocument.presentationml.notes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notesSlides/notesSlide174.xml" ContentType="application/vnd.openxmlformats-officedocument.presentationml.notesSlide+xml"/>
  <Override PartName="/ppt/notesSlides/notesSlide185.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notesSlides/notesSlide116.xml" ContentType="application/vnd.openxmlformats-officedocument.presentationml.notesSlide+xml"/>
  <Override PartName="/ppt/notesSlides/notesSlide163.xml" ContentType="application/vnd.openxmlformats-officedocument.presentationml.notesSlide+xml"/>
  <Override PartName="/ppt/slides/slide58.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notesSlides/notesSlide15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31.xml" ContentType="application/vnd.openxmlformats-officedocument.presentationml.slide+xml"/>
  <Override PartName="/ppt/notesSlides/notesSlide49.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slides/slide207.xml" ContentType="application/vnd.openxmlformats-officedocument.presentationml.slide+xml"/>
  <Override PartName="/ppt/notesSlides/notesSlide27.xml" ContentType="application/vnd.openxmlformats-officedocument.presentationml.notesSlide+xml"/>
  <Override PartName="/ppt/notesSlides/notesSlide74.xml" ContentType="application/vnd.openxmlformats-officedocument.presentationml.notesSlide+xml"/>
  <Override PartName="/ppt/slides/slide14.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206.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52.xml" ContentType="application/vnd.openxmlformats-officedocument.presentationml.notesSlide+xml"/>
  <Override PartName="/ppt/slides/slide147.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notesSlides/notesSlide30.xml" ContentType="application/vnd.openxmlformats-officedocument.presentationml.notesSlide+xml"/>
  <Override PartName="/ppt/notesSlides/notesSlide168.xml" ContentType="application/vnd.openxmlformats-officedocument.presentationml.notesSlide+xml"/>
  <Override PartName="/ppt/slides/slide99.xml" ContentType="application/vnd.openxmlformats-officedocument.presentationml.slide+xml"/>
  <Override PartName="/ppt/notesSlides/notesSlide146.xml" ContentType="application/vnd.openxmlformats-officedocument.presentationml.notesSlide+xml"/>
  <Override PartName="/ppt/notesSlides/notesSlide193.xml" ContentType="application/vnd.openxmlformats-officedocument.presentationml.notesSlide+xml"/>
  <Override PartName="/ppt/slides/slide77.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5.xml" ContentType="application/vnd.openxmlformats-officedocument.presentationml.slide+xml"/>
  <Override PartName="/ppt/slides/slide103.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Override PartName="/ppt/notesSlides/notesSlide68.xml" ContentType="application/vnd.openxmlformats-officedocument.presentationml.notesSlide+xml"/>
  <Override PartName="/ppt/notesSlides/notesSlide124.xml" ContentType="application/vnd.openxmlformats-officedocument.presentationml.notesSlide+xml"/>
  <Override PartName="/ppt/notesSlides/notesSlide171.xml" ContentType="application/vnd.openxmlformats-officedocument.presentationml.notesSlide+xml"/>
  <Override PartName="/ppt/slides/slide55.xml" ContentType="application/vnd.openxmlformats-officedocument.presentationml.slide+xml"/>
  <Override PartName="/ppt/notesSlides/notesSlide102.xml" ContentType="application/vnd.openxmlformats-officedocument.presentationml.notesSlide+xml"/>
  <Override PartName="/ppt/slides/slide33.xml" ContentType="application/vnd.openxmlformats-officedocument.presentationml.slide+xml"/>
  <Override PartName="/ppt/slides/slide80.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notesSlides/notesSlide225.xml" ContentType="application/vnd.openxmlformats-officedocument.presentationml.notesSlide+xml"/>
  <Override PartName="/ppt/presentation.xml" ContentType="application/vnd.openxmlformats-officedocument.presentationml.presentation.main+xml"/>
  <Override PartName="/ppt/slides/slide204.xml" ContentType="application/vnd.openxmlformats-officedocument.presentationml.slide+xml"/>
  <Override PartName="/ppt/notesSlides/notesSlide24.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notesSlides/notesSlide203.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Override PartName="/ppt/notesSlides/notesSlide187.xml" ContentType="application/vnd.openxmlformats-officedocument.presentationml.notesSlide+xml"/>
  <Override PartName="/ppt/notesSlides/notesSlide118.xml" ContentType="application/vnd.openxmlformats-officedocument.presentationml.notesSlide+xml"/>
  <Override PartName="/ppt/notesSlides/notesSlide165.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27"/>
  </p:notesMasterIdLst>
  <p:handoutMasterIdLst>
    <p:handoutMasterId r:id="rId228"/>
  </p:handoutMasterIdLst>
  <p:sldIdLst>
    <p:sldId id="256" r:id="rId2"/>
    <p:sldId id="257" r:id="rId3"/>
    <p:sldId id="258" r:id="rId4"/>
    <p:sldId id="259" r:id="rId5"/>
    <p:sldId id="260" r:id="rId6"/>
    <p:sldId id="263"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9" r:id="rId33"/>
    <p:sldId id="288"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1" r:id="rId55"/>
    <p:sldId id="310"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4" r:id="rId78"/>
    <p:sldId id="335" r:id="rId79"/>
    <p:sldId id="336" r:id="rId80"/>
    <p:sldId id="333" r:id="rId81"/>
    <p:sldId id="337" r:id="rId82"/>
    <p:sldId id="338" r:id="rId83"/>
    <p:sldId id="339" r:id="rId84"/>
    <p:sldId id="340" r:id="rId85"/>
    <p:sldId id="341" r:id="rId86"/>
    <p:sldId id="342" r:id="rId87"/>
    <p:sldId id="343" r:id="rId88"/>
    <p:sldId id="344" r:id="rId89"/>
    <p:sldId id="346" r:id="rId90"/>
    <p:sldId id="345"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7" r:id="rId111"/>
    <p:sldId id="368" r:id="rId112"/>
    <p:sldId id="369" r:id="rId113"/>
    <p:sldId id="370" r:id="rId114"/>
    <p:sldId id="371" r:id="rId115"/>
    <p:sldId id="372" r:id="rId116"/>
    <p:sldId id="373" r:id="rId117"/>
    <p:sldId id="374" r:id="rId118"/>
    <p:sldId id="377" r:id="rId119"/>
    <p:sldId id="378" r:id="rId120"/>
    <p:sldId id="379" r:id="rId121"/>
    <p:sldId id="380" r:id="rId122"/>
    <p:sldId id="381" r:id="rId123"/>
    <p:sldId id="382" r:id="rId124"/>
    <p:sldId id="383" r:id="rId125"/>
    <p:sldId id="384" r:id="rId126"/>
    <p:sldId id="385" r:id="rId127"/>
    <p:sldId id="386" r:id="rId128"/>
    <p:sldId id="387" r:id="rId129"/>
    <p:sldId id="388" r:id="rId130"/>
    <p:sldId id="389" r:id="rId131"/>
    <p:sldId id="390" r:id="rId132"/>
    <p:sldId id="391" r:id="rId133"/>
    <p:sldId id="392" r:id="rId134"/>
    <p:sldId id="393" r:id="rId135"/>
    <p:sldId id="394" r:id="rId136"/>
    <p:sldId id="395" r:id="rId137"/>
    <p:sldId id="396" r:id="rId138"/>
    <p:sldId id="398" r:id="rId139"/>
    <p:sldId id="397" r:id="rId140"/>
    <p:sldId id="399" r:id="rId141"/>
    <p:sldId id="400" r:id="rId142"/>
    <p:sldId id="401" r:id="rId143"/>
    <p:sldId id="402" r:id="rId144"/>
    <p:sldId id="403" r:id="rId145"/>
    <p:sldId id="404" r:id="rId146"/>
    <p:sldId id="405" r:id="rId147"/>
    <p:sldId id="406" r:id="rId148"/>
    <p:sldId id="407" r:id="rId149"/>
    <p:sldId id="408" r:id="rId150"/>
    <p:sldId id="409" r:id="rId151"/>
    <p:sldId id="410" r:id="rId152"/>
    <p:sldId id="411" r:id="rId153"/>
    <p:sldId id="412" r:id="rId154"/>
    <p:sldId id="413" r:id="rId155"/>
    <p:sldId id="414" r:id="rId156"/>
    <p:sldId id="415" r:id="rId157"/>
    <p:sldId id="416" r:id="rId158"/>
    <p:sldId id="417" r:id="rId159"/>
    <p:sldId id="418" r:id="rId160"/>
    <p:sldId id="419" r:id="rId161"/>
    <p:sldId id="420" r:id="rId162"/>
    <p:sldId id="421" r:id="rId163"/>
    <p:sldId id="422" r:id="rId164"/>
    <p:sldId id="423" r:id="rId165"/>
    <p:sldId id="424" r:id="rId166"/>
    <p:sldId id="426" r:id="rId167"/>
    <p:sldId id="425" r:id="rId168"/>
    <p:sldId id="427" r:id="rId169"/>
    <p:sldId id="428" r:id="rId170"/>
    <p:sldId id="429" r:id="rId171"/>
    <p:sldId id="430" r:id="rId172"/>
    <p:sldId id="431" r:id="rId173"/>
    <p:sldId id="432" r:id="rId174"/>
    <p:sldId id="433" r:id="rId175"/>
    <p:sldId id="434" r:id="rId176"/>
    <p:sldId id="435" r:id="rId177"/>
    <p:sldId id="436" r:id="rId178"/>
    <p:sldId id="437" r:id="rId179"/>
    <p:sldId id="438" r:id="rId180"/>
    <p:sldId id="439" r:id="rId181"/>
    <p:sldId id="440" r:id="rId182"/>
    <p:sldId id="441" r:id="rId183"/>
    <p:sldId id="442" r:id="rId184"/>
    <p:sldId id="443" r:id="rId185"/>
    <p:sldId id="444" r:id="rId186"/>
    <p:sldId id="445" r:id="rId187"/>
    <p:sldId id="446" r:id="rId188"/>
    <p:sldId id="447" r:id="rId189"/>
    <p:sldId id="448" r:id="rId190"/>
    <p:sldId id="449" r:id="rId191"/>
    <p:sldId id="450" r:id="rId192"/>
    <p:sldId id="451" r:id="rId193"/>
    <p:sldId id="452" r:id="rId194"/>
    <p:sldId id="453" r:id="rId195"/>
    <p:sldId id="454" r:id="rId196"/>
    <p:sldId id="455" r:id="rId197"/>
    <p:sldId id="456" r:id="rId198"/>
    <p:sldId id="457" r:id="rId199"/>
    <p:sldId id="458" r:id="rId200"/>
    <p:sldId id="459" r:id="rId201"/>
    <p:sldId id="460" r:id="rId202"/>
    <p:sldId id="461" r:id="rId203"/>
    <p:sldId id="375" r:id="rId204"/>
    <p:sldId id="376" r:id="rId205"/>
    <p:sldId id="462" r:id="rId206"/>
    <p:sldId id="463" r:id="rId207"/>
    <p:sldId id="464" r:id="rId208"/>
    <p:sldId id="465" r:id="rId209"/>
    <p:sldId id="466" r:id="rId210"/>
    <p:sldId id="467" r:id="rId211"/>
    <p:sldId id="468" r:id="rId212"/>
    <p:sldId id="469" r:id="rId213"/>
    <p:sldId id="470" r:id="rId214"/>
    <p:sldId id="471" r:id="rId215"/>
    <p:sldId id="472" r:id="rId216"/>
    <p:sldId id="473" r:id="rId217"/>
    <p:sldId id="474" r:id="rId218"/>
    <p:sldId id="475" r:id="rId219"/>
    <p:sldId id="476" r:id="rId220"/>
    <p:sldId id="477" r:id="rId221"/>
    <p:sldId id="478" r:id="rId222"/>
    <p:sldId id="479" r:id="rId223"/>
    <p:sldId id="480" r:id="rId224"/>
    <p:sldId id="481" r:id="rId225"/>
    <p:sldId id="482" r:id="rId22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47" autoAdjust="0"/>
    <p:restoredTop sz="57457" autoAdjust="0"/>
  </p:normalViewPr>
  <p:slideViewPr>
    <p:cSldViewPr>
      <p:cViewPr>
        <p:scale>
          <a:sx n="90" d="100"/>
          <a:sy n="90" d="100"/>
        </p:scale>
        <p:origin x="-2784" y="-108"/>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8028800" cy="780288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27" Type="http://schemas.openxmlformats.org/officeDocument/2006/relationships/notesMaster" Target="notesMasters/notesMaster1.xml"/><Relationship Id="rId201" Type="http://schemas.openxmlformats.org/officeDocument/2006/relationships/slide" Target="slides/slide200.xml"/><Relationship Id="rId222" Type="http://schemas.openxmlformats.org/officeDocument/2006/relationships/slide" Target="slides/slide22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presProps" Target="presProps.xml"/><Relationship Id="rId19" Type="http://schemas.openxmlformats.org/officeDocument/2006/relationships/slide" Target="slides/slide18.xml"/><Relationship Id="rId224" Type="http://schemas.openxmlformats.org/officeDocument/2006/relationships/slide" Target="slides/slide223.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viewProps" Target="view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theme" Target="theme/theme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1/15/2013</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1/15/2013</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welcomes trainees to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four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a function?</a:t>
            </a:r>
          </a:p>
          <a:p>
            <a:pPr>
              <a:buFont typeface="Arial" pitchFamily="34" charset="0"/>
              <a:buChar char="•"/>
            </a:pPr>
            <a:r>
              <a:rPr lang="en-AU" sz="1200" kern="1200" baseline="0" dirty="0" smtClean="0">
                <a:solidFill>
                  <a:schemeClr val="tx1"/>
                </a:solidFill>
                <a:ea typeface="+mn-ea"/>
                <a:cs typeface="+mn-cs"/>
              </a:rPr>
              <a:t>What types of functions exist?</a:t>
            </a:r>
          </a:p>
          <a:p>
            <a:pPr>
              <a:buFont typeface="Arial" pitchFamily="34" charset="0"/>
              <a:buChar char="•"/>
            </a:pPr>
            <a:r>
              <a:rPr lang="en-AU" sz="1200" kern="1200" baseline="0" dirty="0" smtClean="0">
                <a:solidFill>
                  <a:schemeClr val="tx1"/>
                </a:solidFill>
                <a:ea typeface="+mn-ea"/>
                <a:cs typeface="+mn-cs"/>
              </a:rPr>
              <a:t>Who normally holds functions?</a:t>
            </a:r>
          </a:p>
          <a:p>
            <a:pPr>
              <a:buFont typeface="Arial" pitchFamily="34" charset="0"/>
              <a:buChar char="•"/>
            </a:pPr>
            <a:r>
              <a:rPr lang="en-AU" sz="1200" kern="1200" baseline="0" dirty="0" smtClean="0">
                <a:solidFill>
                  <a:schemeClr val="tx1"/>
                </a:solidFill>
                <a:ea typeface="+mn-ea"/>
                <a:cs typeface="+mn-cs"/>
              </a:rPr>
              <a:t>Where are they normally held?</a:t>
            </a:r>
          </a:p>
          <a:p>
            <a:pPr>
              <a:buFont typeface="Arial" pitchFamily="34" charset="0"/>
              <a:buChar char="•"/>
            </a:pPr>
            <a:r>
              <a:rPr lang="en-AU" sz="1200" kern="1200" baseline="0" dirty="0" smtClean="0">
                <a:solidFill>
                  <a:schemeClr val="tx1"/>
                </a:solidFill>
                <a:ea typeface="+mn-ea"/>
                <a:cs typeface="+mn-cs"/>
              </a:rPr>
              <a:t>What are the benefits of holding functions at a hotel?</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audience to discuss the functions that they have attended in the past.</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 &amp;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audience to think about local hotels.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 they provide which cannot be replicated at home or at an office?</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 &amp;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the audience to think about the potential revenues generated through the following types of functions.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much revenue is generated through a normal meeting?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much revenue is generated through a wedding?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is this book normally kept?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formats does this ‘book’ come in?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recorded in this ‘book’?</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show example of Functions Booking book to audience.</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 &amp; List function facilities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Answer question in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audience to list all the facilities/spaces that can be used for a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each facility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costs are associated with each of these services?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The trainer may need to provide Business Centre Price list or audience to research.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costs are associated with each of these services?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The trainer may need to provide Business Centre Price list or audience to research.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included in a facility for the press?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different types of storage areas are needed and for what purpose?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0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0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000" b="0" kern="1200" baseline="0" dirty="0" smtClean="0">
                <a:solidFill>
                  <a:schemeClr val="tx1"/>
                </a:solidFill>
                <a:ea typeface="+mn-ea"/>
                <a:cs typeface="+mn-cs"/>
              </a:rPr>
              <a:t>What are restaurant and bar areas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000" b="0" kern="1200" baseline="0" dirty="0" smtClean="0">
                <a:solidFill>
                  <a:schemeClr val="tx1"/>
                </a:solidFill>
                <a:ea typeface="+mn-ea"/>
                <a:cs typeface="+mn-cs"/>
              </a:rPr>
              <a:t>What food and beverage services are provided?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000" b="0" kern="1200" baseline="0" dirty="0" smtClean="0">
                <a:solidFill>
                  <a:schemeClr val="tx1"/>
                </a:solidFill>
                <a:ea typeface="+mn-ea"/>
                <a:cs typeface="+mn-cs"/>
              </a:rPr>
              <a:t>What are accommodation rooms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sound and lighting is available? What are they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technology is used in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equipment is used in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gardens normally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food and beverage are served at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facilities mentioned before would be appropriate to hold these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food and beverage are served at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facilities mentioned before would be appropriate to hold these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food and beverage are served at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facilities mentioned before would be appropriate to hold these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functions are associated with each category?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the MICE sector very appealing to hotels as a key market to attract?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role of staff in a buffet arrangement?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this set up option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equipment items are required?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the audience to answer the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each of this set up options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each option?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hotels provide a variety of price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difference between </a:t>
            </a:r>
            <a:r>
              <a:rPr lang="en-AU" sz="1200" dirty="0" smtClean="0">
                <a:latin typeface="Helvetica" pitchFamily="34" charset="0"/>
              </a:rPr>
              <a:t>inclusive and non-inclusive menus?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Think about a range of different functions. What types of food and beverage would be appropriate?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discuss the different menu items and how they would best be served</a:t>
            </a:r>
            <a:r>
              <a:rPr lang="en-AU" sz="1200" b="0" kern="1200" baseline="0" dirty="0" smtClean="0">
                <a:solidFill>
                  <a:schemeClr val="tx1"/>
                </a:solidFill>
                <a:ea typeface="+mn-ea"/>
                <a:cs typeface="+mn-cs"/>
              </a:rPr>
              <a: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may show examples of menus relating to this meal period.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Continental </a:t>
            </a:r>
          </a:p>
          <a:p>
            <a:pPr lvl="0">
              <a:buFont typeface="Arial" pitchFamily="34" charset="0"/>
              <a:buChar char="•"/>
            </a:pPr>
            <a:r>
              <a:rPr lang="en-AU" sz="1200" dirty="0" smtClean="0"/>
              <a:t>Continental plus selected cooked food items </a:t>
            </a:r>
          </a:p>
          <a:p>
            <a:pPr lvl="0">
              <a:buFont typeface="Arial" pitchFamily="34" charset="0"/>
              <a:buChar char="•"/>
            </a:pPr>
            <a:r>
              <a:rPr lang="en-AU" sz="1200" dirty="0" smtClean="0"/>
              <a:t>Continental plus full cooked food items </a:t>
            </a:r>
          </a:p>
          <a:p>
            <a:pPr lvl="0">
              <a:buFont typeface="Arial" pitchFamily="34" charset="0"/>
              <a:buChar char="•"/>
            </a:pPr>
            <a:r>
              <a:rPr lang="en-AU" sz="1200" dirty="0" smtClean="0"/>
              <a:t>Food platters – fruit and bakery items, intended as finger food </a:t>
            </a:r>
          </a:p>
          <a:p>
            <a:pPr lvl="0">
              <a:buFont typeface="Arial" pitchFamily="34" charset="0"/>
              <a:buChar char="•"/>
            </a:pPr>
            <a:r>
              <a:rPr lang="en-AU" sz="1200" dirty="0" smtClean="0"/>
              <a:t>Beverage items – coffee, tea, juices </a:t>
            </a:r>
          </a:p>
          <a:p>
            <a:pPr lvl="0">
              <a:buFont typeface="Arial" pitchFamily="34" charset="0"/>
              <a:buChar char="•"/>
            </a:pPr>
            <a:r>
              <a:rPr lang="en-AU" sz="1200" dirty="0" smtClean="0"/>
              <a:t>Buffet breakfast for large numbers </a:t>
            </a:r>
          </a:p>
          <a:p>
            <a:pPr>
              <a:buFont typeface="Arial" pitchFamily="34" charset="0"/>
              <a:buChar char="•"/>
            </a:pPr>
            <a:r>
              <a:rPr lang="en-AU" sz="1200" dirty="0" smtClean="0"/>
              <a:t>Full breakfast – cereal, juices, cooked main items, toast, tea and coffee: served to seated </a:t>
            </a:r>
            <a:r>
              <a:rPr lang="en-AU" sz="1200" dirty="0" smtClean="0"/>
              <a:t>guests.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discuss the different menu items and how they would best be served.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may show examples of menus relating to this meal period.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discuss the different menu items and how they would best be served.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may show examples of menus relating to this meal period.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lvl="0">
              <a:buFont typeface="Arial" pitchFamily="34" charset="0"/>
              <a:buChar char="•"/>
            </a:pPr>
            <a:r>
              <a:rPr lang="en-AU" sz="1200" dirty="0" smtClean="0"/>
              <a:t>Buffet of selected hot and cold items – may include an entrée, main course and dessert, or any combination </a:t>
            </a:r>
          </a:p>
          <a:p>
            <a:pPr lvl="0">
              <a:buFont typeface="Arial" pitchFamily="34" charset="0"/>
              <a:buChar char="•"/>
            </a:pPr>
            <a:r>
              <a:rPr lang="en-AU" sz="1200" dirty="0" smtClean="0"/>
              <a:t>Set menu (to a specific number of courses) – can be served to seated guests or presented for buffet style service </a:t>
            </a:r>
          </a:p>
          <a:p>
            <a:pPr lvl="0">
              <a:buFont typeface="Arial" pitchFamily="34" charset="0"/>
              <a:buChar char="•"/>
            </a:pPr>
            <a:r>
              <a:rPr lang="en-AU" sz="1200" dirty="0" smtClean="0"/>
              <a:t>Platters of sandwiches, filled rolls – sandwiches and rolls may be open or closed </a:t>
            </a:r>
          </a:p>
          <a:p>
            <a:pPr lvl="0">
              <a:buFont typeface="Arial" pitchFamily="34" charset="0"/>
              <a:buChar char="•"/>
            </a:pPr>
            <a:r>
              <a:rPr lang="en-AU" sz="1200" dirty="0" smtClean="0"/>
              <a:t>Platters of cakes, biscuits, pastries and petit fours </a:t>
            </a:r>
          </a:p>
          <a:p>
            <a:pPr lvl="0">
              <a:buFont typeface="Arial" pitchFamily="34" charset="0"/>
              <a:buChar char="•"/>
            </a:pPr>
            <a:r>
              <a:rPr lang="en-AU" sz="1200" dirty="0" smtClean="0"/>
              <a:t>Platters of fruit, fruit and cheese, cheese and greens </a:t>
            </a:r>
          </a:p>
          <a:p>
            <a:pPr lvl="0">
              <a:buFont typeface="Arial" pitchFamily="34" charset="0"/>
              <a:buChar char="•"/>
            </a:pPr>
            <a:r>
              <a:rPr lang="en-AU" sz="1200" dirty="0" smtClean="0"/>
              <a:t>Beverages – selection of alcoholic and non-alcoholic beverages which may include full bar, selected and minimal liquor, or non-alcoholic beverages only comprising aerated waters, waters, fruit juices, </a:t>
            </a:r>
            <a:r>
              <a:rPr lang="en-AU" sz="1200" dirty="0" err="1" smtClean="0"/>
              <a:t>mocktails</a:t>
            </a:r>
            <a:r>
              <a:rPr lang="en-AU" sz="1200" dirty="0" smtClean="0"/>
              <a:t>.</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discuss the different menu items and how they would best be served.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may show examples of menus relating to this meal period.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Set menu (to a specific number of courses) – can be served to seated guests or presented for buffet style service. Dinners are more commonly a seated affair where lunches tend to be buffet style </a:t>
            </a:r>
          </a:p>
          <a:p>
            <a:pPr lvl="0">
              <a:buFont typeface="Arial" pitchFamily="34" charset="0"/>
              <a:buChar char="•"/>
            </a:pPr>
            <a:r>
              <a:rPr lang="en-AU" sz="1200" kern="1200" dirty="0" smtClean="0">
                <a:solidFill>
                  <a:schemeClr val="tx1"/>
                </a:solidFill>
                <a:ea typeface="+mn-ea"/>
                <a:cs typeface="+mn-cs"/>
              </a:rPr>
              <a:t>Buffet of selected hot and cold items – may include an entrée, main course and dessert, or any combination. More time is traditionally available for dinners whereas with lunches there tends to be a tighter time frame as people need to return to meetings, groups or activities by a given time </a:t>
            </a:r>
          </a:p>
          <a:p>
            <a:pPr lvl="0">
              <a:buFont typeface="Arial" pitchFamily="34" charset="0"/>
              <a:buChar char="•"/>
            </a:pPr>
            <a:r>
              <a:rPr lang="en-AU" sz="1200" kern="1200" dirty="0" smtClean="0">
                <a:solidFill>
                  <a:schemeClr val="tx1"/>
                </a:solidFill>
                <a:ea typeface="+mn-ea"/>
                <a:cs typeface="+mn-cs"/>
              </a:rPr>
              <a:t>Beverages – there may be a selection of alcoholic and non-alcoholic beverages. There may be a set number of specific wines set on each table – above that, guests may be required to pay for what they want, or there may be a full bar facility.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discuss the different menu items and how they would best be served.  Trainer may show examples of menus relating to this meal period.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lvl="0">
              <a:buFont typeface="Arial" pitchFamily="34" charset="0"/>
              <a:buChar char="•"/>
            </a:pPr>
            <a:r>
              <a:rPr lang="en-AU" sz="1200" dirty="0" smtClean="0"/>
              <a:t>Usually a selection of light refreshments - small sandwiches and rolls etc. compared to substantial menu items; the idea being not to send the people off to sleep. There is a definite need to include healthy options such as fruit </a:t>
            </a:r>
          </a:p>
          <a:p>
            <a:pPr lvl="0">
              <a:buFont typeface="Arial" pitchFamily="34" charset="0"/>
              <a:buChar char="•"/>
            </a:pPr>
            <a:r>
              <a:rPr lang="en-AU" sz="1200" dirty="0" smtClean="0"/>
              <a:t>Commonly these meals are buffet style or finger food style to keep costs down, and to facilitate the concept of people networking at the function </a:t>
            </a:r>
          </a:p>
          <a:p>
            <a:pPr lvl="0">
              <a:buFont typeface="Arial" pitchFamily="34" charset="0"/>
              <a:buChar char="•"/>
            </a:pPr>
            <a:r>
              <a:rPr lang="en-AU" sz="1200" dirty="0" smtClean="0"/>
              <a:t>Morning and afternoon teas are common – with pastries, cakes and biscuits rotating throughout the time of the conference </a:t>
            </a:r>
          </a:p>
          <a:p>
            <a:pPr lvl="0">
              <a:buFont typeface="Arial" pitchFamily="34" charset="0"/>
              <a:buChar char="•"/>
            </a:pPr>
            <a:r>
              <a:rPr lang="en-AU" sz="1200" dirty="0" smtClean="0"/>
              <a:t>Beverages – alcohol is less common, but not unknown; non-alcoholic beverages include tea and coffee, and water </a:t>
            </a:r>
          </a:p>
          <a:p>
            <a:pPr lvl="0">
              <a:buFont typeface="Arial" pitchFamily="34" charset="0"/>
              <a:buChar char="•"/>
            </a:pPr>
            <a:r>
              <a:rPr lang="en-AU" sz="1200" dirty="0" smtClean="0"/>
              <a:t>Tea, coffee, water and pastries may be served to guests on arrival in the morning while people are arriving, registering and mingling.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discuss the different menu items and how they would best be served.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may show examples of menus relating to this meal period.</a:t>
            </a: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discuss the different menu items and how they would best be served.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may show examples of menus relating to this meal period.</a:t>
            </a: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discuss the different menu items and how they would best be served.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may show examples of menus relating to this meal period.</a:t>
            </a: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items do hotels allow and not allow clients to bring?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rules or charges apply when clients bring their own food and beverage items?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difference between these types of packages?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functions commonly use each package?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is this package used?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this package type?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is this package used?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this package type?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Open bars may be ‘full bar’ meaning there is no restriction at all as to what guests can </a:t>
            </a:r>
            <a:r>
              <a:rPr lang="en-AU" sz="1200" dirty="0" smtClean="0">
                <a:latin typeface="Helvetica" pitchFamily="34" charset="0"/>
              </a:rPr>
              <a:t>order</a:t>
            </a:r>
            <a:endParaRPr lang="en-AU" sz="1200" dirty="0" smtClean="0">
              <a:latin typeface="Helvetica" pitchFamily="34" charset="0"/>
            </a:endParaRPr>
          </a:p>
          <a:p>
            <a:pPr>
              <a:spcBef>
                <a:spcPts val="600"/>
              </a:spcBef>
              <a:spcAft>
                <a:spcPts val="1200"/>
              </a:spcAft>
              <a:buFont typeface="Arial" pitchFamily="34" charset="0"/>
              <a:buChar char="•"/>
            </a:pPr>
            <a:r>
              <a:rPr lang="en-AU" sz="1200" dirty="0" smtClean="0">
                <a:latin typeface="Helvetica" pitchFamily="34" charset="0"/>
              </a:rPr>
              <a:t>Open bars can also be ‘restricted’ meaning the drinks served to guests may be restricted to selected </a:t>
            </a:r>
            <a:r>
              <a:rPr lang="en-AU" sz="1200" dirty="0" smtClean="0">
                <a:latin typeface="Helvetica" pitchFamily="34" charset="0"/>
              </a:rPr>
              <a:t>items.</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is this package used?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this package type?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is this package used?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this package type?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and Research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different types of function costs.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get the audience to identify cost items under each category and provide some approximate costs charged by different hotels.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lvl="0">
              <a:buFont typeface="Arial" pitchFamily="34" charset="0"/>
              <a:buChar char="•"/>
            </a:pPr>
            <a:r>
              <a:rPr lang="en-AU" sz="1200" dirty="0" smtClean="0"/>
              <a:t>Room and facility hire – this is normally the standard expenses with any function, ranging from a set rate for a day or rented on an hourly basis. This expense is normally included in large package deals such as a ‘meeting package’</a:t>
            </a:r>
          </a:p>
          <a:p>
            <a:pPr lvl="0">
              <a:buFont typeface="Arial" pitchFamily="34" charset="0"/>
              <a:buChar char="•"/>
            </a:pPr>
            <a:r>
              <a:rPr lang="en-AU" sz="1200" dirty="0" smtClean="0"/>
              <a:t>Food and beverage – including ‘on arrival’ and during function as well as refreshments</a:t>
            </a:r>
          </a:p>
          <a:p>
            <a:pPr lvl="0">
              <a:buFont typeface="Arial" pitchFamily="34" charset="0"/>
              <a:buChar char="•"/>
            </a:pPr>
            <a:r>
              <a:rPr lang="en-AU" sz="1200" dirty="0" smtClean="0"/>
              <a:t>Decorations – basic items such as candles and flowers through to elaborate themes</a:t>
            </a:r>
          </a:p>
          <a:p>
            <a:pPr lvl="0">
              <a:buFont typeface="Arial" pitchFamily="34" charset="0"/>
              <a:buChar char="•"/>
            </a:pPr>
            <a:r>
              <a:rPr lang="en-AU" sz="1200" dirty="0" smtClean="0"/>
              <a:t>Specialist staff as required depending on the nature of the function – including translators, Technical IT and lighting experts, security</a:t>
            </a:r>
          </a:p>
          <a:p>
            <a:pPr lvl="0">
              <a:buFont typeface="Arial" pitchFamily="34" charset="0"/>
              <a:buChar char="•"/>
            </a:pPr>
            <a:r>
              <a:rPr lang="en-AU" sz="1200" dirty="0" smtClean="0"/>
              <a:t>Bands and entertainers – these are quite common at events such as weddings and parties</a:t>
            </a:r>
          </a:p>
          <a:p>
            <a:pPr lvl="0">
              <a:buFont typeface="Arial" pitchFamily="34" charset="0"/>
              <a:buChar char="•"/>
            </a:pPr>
            <a:r>
              <a:rPr lang="en-AU" sz="1200" dirty="0" smtClean="0"/>
              <a:t>Accommodation – discounted rates are normally provided to large functions</a:t>
            </a:r>
          </a:p>
          <a:p>
            <a:pPr lvl="0">
              <a:buFont typeface="Arial" pitchFamily="34" charset="0"/>
              <a:buChar char="•"/>
            </a:pPr>
            <a:r>
              <a:rPr lang="en-AU" sz="1200" dirty="0" smtClean="0"/>
              <a:t>Special requests – these could be endless to suit the needs of each function.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a function kit to both function staff and clients?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included in a Function Kit?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Review of document and Research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show audience a range of different function </a:t>
            </a:r>
            <a:r>
              <a:rPr lang="en-AU" sz="1200" b="0" kern="1200" baseline="0" dirty="0" smtClean="0">
                <a:solidFill>
                  <a:schemeClr val="tx1"/>
                </a:solidFill>
                <a:ea typeface="+mn-ea"/>
                <a:cs typeface="+mn-cs"/>
              </a:rPr>
              <a:t>kits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Audience to research and gather different types of function kits from various establishments including, hotels, function centres, wedding reception areas etc.</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Review of document and Research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show audience a range of different function </a:t>
            </a:r>
            <a:r>
              <a:rPr lang="en-AU" sz="1200" b="0" kern="1200" baseline="0" dirty="0" smtClean="0">
                <a:solidFill>
                  <a:schemeClr val="tx1"/>
                </a:solidFill>
                <a:ea typeface="+mn-ea"/>
                <a:cs typeface="+mn-cs"/>
              </a:rPr>
              <a:t>kits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Audience to research and gather different types of function kits from various establishments including, hotels, function centres, wedding reception areas etc.</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Review of documents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show audience a range of different function related documentation.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documents are needed by each stakeholder?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Review of documents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these documents?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show audience examples of these documents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Review of documents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these documents?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show audience examples of these </a:t>
            </a:r>
            <a:r>
              <a:rPr lang="en-AU" sz="1200" b="0" kern="1200" baseline="0" dirty="0" smtClean="0">
                <a:solidFill>
                  <a:schemeClr val="tx1"/>
                </a:solidFill>
                <a:ea typeface="+mn-ea"/>
                <a:cs typeface="+mn-cs"/>
              </a:rPr>
              <a:t>documents.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Review of documents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these documents?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show audience examples of these </a:t>
            </a:r>
            <a:r>
              <a:rPr lang="en-AU" sz="1200" b="0" kern="1200" baseline="0" dirty="0" smtClean="0">
                <a:solidFill>
                  <a:schemeClr val="tx1"/>
                </a:solidFill>
                <a:ea typeface="+mn-ea"/>
                <a:cs typeface="+mn-cs"/>
              </a:rPr>
              <a:t>documents.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Review of documents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these documents?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show audience examples of these </a:t>
            </a:r>
            <a:r>
              <a:rPr lang="en-AU" sz="1200" b="0" kern="1200" baseline="0" dirty="0" smtClean="0">
                <a:solidFill>
                  <a:schemeClr val="tx1"/>
                </a:solidFill>
                <a:ea typeface="+mn-ea"/>
                <a:cs typeface="+mn-cs"/>
              </a:rPr>
              <a:t>documents.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Review of documents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these documents?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show audience examples of these </a:t>
            </a:r>
            <a:r>
              <a:rPr lang="en-AU" sz="1200" b="0" kern="1200" baseline="0" dirty="0" smtClean="0">
                <a:solidFill>
                  <a:schemeClr val="tx1"/>
                </a:solidFill>
                <a:ea typeface="+mn-ea"/>
                <a:cs typeface="+mn-cs"/>
              </a:rPr>
              <a:t>documents.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Who does a function staff member need to liaise with?</a:t>
            </a:r>
          </a:p>
          <a:p>
            <a:pPr>
              <a:buFont typeface="Arial" pitchFamily="34" charset="0"/>
              <a:buChar char="•"/>
            </a:pPr>
            <a:r>
              <a:rPr lang="en-AU" sz="1200" kern="1200" baseline="0" dirty="0" smtClean="0">
                <a:solidFill>
                  <a:schemeClr val="tx1"/>
                </a:solidFill>
                <a:ea typeface="+mn-ea"/>
                <a:cs typeface="+mn-cs"/>
              </a:rPr>
              <a:t>What are common methods of communication used?</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an initial meeting?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should be done or discussed in an initial meeting?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should this meeting take place?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documents should you have at your disposal?</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you gather new ideas that can improve your offering to a client?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Networking with others – this can including forming a business relationship with other venues that offer functions and talking to them about what they are doing, initiatives they are aware of </a:t>
            </a:r>
          </a:p>
          <a:p>
            <a:pPr lvl="0">
              <a:buFont typeface="Arial" pitchFamily="34" charset="0"/>
              <a:buChar char="•"/>
            </a:pPr>
            <a:r>
              <a:rPr lang="en-AU" sz="1200" dirty="0" smtClean="0"/>
              <a:t>Talking to suppliers – especially those who are in the functions sector and can be expected to provide equipment etc. to support these occasions. Personally visiting suppliers is also worthwhile </a:t>
            </a:r>
          </a:p>
          <a:p>
            <a:pPr lvl="0">
              <a:buFont typeface="Arial" pitchFamily="34" charset="0"/>
              <a:buChar char="•"/>
            </a:pPr>
            <a:r>
              <a:rPr lang="en-AU" sz="1200" dirty="0" smtClean="0"/>
              <a:t>Doing online research – to view the items available from suppliers and search ‘events and functions’ to identify new sites and ideas </a:t>
            </a:r>
          </a:p>
          <a:p>
            <a:pPr lvl="0">
              <a:buFont typeface="Arial" pitchFamily="34" charset="0"/>
              <a:buChar char="•"/>
            </a:pPr>
            <a:r>
              <a:rPr lang="en-AU" sz="1200" dirty="0" smtClean="0"/>
              <a:t>Attending functions – you should strive to attend as many as you can to pick up ideas </a:t>
            </a:r>
          </a:p>
          <a:p>
            <a:pPr>
              <a:buFont typeface="Arial" pitchFamily="34" charset="0"/>
              <a:buChar char="•"/>
            </a:pPr>
            <a:r>
              <a:rPr lang="en-AU" sz="1200" dirty="0" smtClean="0"/>
              <a:t>Subscribing to industry </a:t>
            </a:r>
            <a:r>
              <a:rPr lang="en-AU" sz="1200" dirty="0" smtClean="0"/>
              <a:t>publications.</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you do this?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way to describe facilities and options?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changes would you make to the Function Kit before giving it to the client?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parts of the facility would you include in a tour?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would each of these managers be included?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importance of each </a:t>
            </a:r>
            <a:r>
              <a:rPr lang="en-AU" sz="1200" b="0" kern="1200" baseline="0" dirty="0" smtClean="0">
                <a:solidFill>
                  <a:schemeClr val="tx1"/>
                </a:solidFill>
                <a:ea typeface="+mn-ea"/>
                <a:cs typeface="+mn-cs"/>
              </a:rPr>
              <a:t>point.</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importance of each </a:t>
            </a:r>
            <a:r>
              <a:rPr lang="en-AU" sz="1200" b="0" kern="1200" baseline="0" dirty="0" smtClean="0">
                <a:solidFill>
                  <a:schemeClr val="tx1"/>
                </a:solidFill>
                <a:ea typeface="+mn-ea"/>
                <a:cs typeface="+mn-cs"/>
              </a:rPr>
              <a:t>point.</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Role play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get the audience to break into pairs where one person is the Functions Manager and the other is the prospective client.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The Functions Manager must:</a:t>
            </a: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r>
              <a:rPr lang="en-AU" sz="1200" b="0" kern="1200" baseline="0" dirty="0" smtClean="0">
                <a:solidFill>
                  <a:schemeClr val="tx1"/>
                </a:solidFill>
                <a:ea typeface="+mn-ea"/>
                <a:cs typeface="+mn-cs"/>
              </a:rPr>
              <a:t>Gain an understanding of the client needs for a function of their choice</a:t>
            </a: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r>
              <a:rPr lang="en-AU" sz="1200" b="0" kern="1200" baseline="0" dirty="0" smtClean="0">
                <a:solidFill>
                  <a:schemeClr val="tx1"/>
                </a:solidFill>
                <a:ea typeface="+mn-ea"/>
                <a:cs typeface="+mn-cs"/>
              </a:rPr>
              <a:t>Be able to provide a suitable explanation of how these needs can be catered for.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importance of each </a:t>
            </a:r>
            <a:r>
              <a:rPr lang="en-AU" sz="1200" b="0" kern="1200" baseline="0" dirty="0" smtClean="0">
                <a:solidFill>
                  <a:schemeClr val="tx1"/>
                </a:solidFill>
                <a:ea typeface="+mn-ea"/>
                <a:cs typeface="+mn-cs"/>
              </a:rPr>
              <a:t>point.</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importance of each </a:t>
            </a:r>
            <a:r>
              <a:rPr lang="en-AU" sz="1200" b="0" kern="1200" baseline="0" dirty="0" smtClean="0">
                <a:solidFill>
                  <a:schemeClr val="tx1"/>
                </a:solidFill>
                <a:ea typeface="+mn-ea"/>
                <a:cs typeface="+mn-cs"/>
              </a:rPr>
              <a:t>point.</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importance of each </a:t>
            </a:r>
            <a:r>
              <a:rPr lang="en-AU" sz="1200" b="0" kern="1200" baseline="0" dirty="0" smtClean="0">
                <a:solidFill>
                  <a:schemeClr val="tx1"/>
                </a:solidFill>
                <a:ea typeface="+mn-ea"/>
                <a:cs typeface="+mn-cs"/>
              </a:rPr>
              <a:t>point.</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importance of each </a:t>
            </a:r>
            <a:r>
              <a:rPr lang="en-AU" sz="1200" b="0" kern="1200" baseline="0" dirty="0" smtClean="0">
                <a:solidFill>
                  <a:schemeClr val="tx1"/>
                </a:solidFill>
                <a:ea typeface="+mn-ea"/>
                <a:cs typeface="+mn-cs"/>
              </a:rPr>
              <a:t>point.</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you identify a sales opportunity?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sales strategies can you use?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Present the additional sales opportunities as ‘options’ and not as necessities.</a:t>
            </a:r>
            <a:r>
              <a:rPr lang="en-AU" sz="1200" baseline="0" dirty="0" smtClean="0"/>
              <a:t> N</a:t>
            </a:r>
            <a:r>
              <a:rPr lang="en-AU" sz="1200" dirty="0" smtClean="0"/>
              <a:t>ever give the client the impression you are trying to force the suggestions on to them </a:t>
            </a:r>
          </a:p>
          <a:p>
            <a:pPr lvl="0">
              <a:buFont typeface="Arial" pitchFamily="34" charset="0"/>
              <a:buChar char="•"/>
            </a:pPr>
            <a:r>
              <a:rPr lang="en-AU" sz="1200" dirty="0" smtClean="0"/>
              <a:t>Accept the client’s rejection of suggestions without being judgemental, without giving the client the impression they have made a poor decision or without giving the client the impression you are annoyed at them not accepting your suggestion </a:t>
            </a:r>
          </a:p>
          <a:p>
            <a:pPr lvl="0">
              <a:buFont typeface="Arial" pitchFamily="34" charset="0"/>
              <a:buChar char="•"/>
            </a:pPr>
            <a:r>
              <a:rPr lang="en-AU" sz="1200" dirty="0" smtClean="0"/>
              <a:t>Sell the benefits of the suggestion.</a:t>
            </a:r>
            <a:r>
              <a:rPr lang="en-AU" sz="1200" baseline="0" dirty="0" smtClean="0"/>
              <a:t> M</a:t>
            </a:r>
            <a:r>
              <a:rPr lang="en-AU" sz="1200" dirty="0" smtClean="0"/>
              <a:t>ake the client aware of the benefits they may bring, such as extra enjoyment, increased prestige and better value</a:t>
            </a:r>
            <a:r>
              <a:rPr lang="en-AU" sz="1200" baseline="0" dirty="0" smtClean="0"/>
              <a:t> </a:t>
            </a:r>
            <a:r>
              <a:rPr lang="en-AU" sz="1200" dirty="0" smtClean="0"/>
              <a:t>for</a:t>
            </a:r>
            <a:r>
              <a:rPr lang="en-AU" sz="1200" baseline="0" dirty="0" smtClean="0"/>
              <a:t> </a:t>
            </a:r>
            <a:r>
              <a:rPr lang="en-AU" sz="1200" dirty="0" smtClean="0"/>
              <a:t>money </a:t>
            </a:r>
          </a:p>
          <a:p>
            <a:pPr lvl="0">
              <a:buFont typeface="Arial" pitchFamily="34" charset="0"/>
              <a:buChar char="•"/>
            </a:pPr>
            <a:r>
              <a:rPr lang="en-AU" sz="1200" dirty="0" smtClean="0"/>
              <a:t>Explain the suggestion – describe what it is all about, what it entails, when it might be used, detail what it would complement </a:t>
            </a:r>
          </a:p>
          <a:p>
            <a:pPr lvl="0">
              <a:buFont typeface="Arial" pitchFamily="34" charset="0"/>
              <a:buChar char="•"/>
            </a:pPr>
            <a:r>
              <a:rPr lang="en-AU" sz="1200" dirty="0" smtClean="0"/>
              <a:t>Give examples of where you have seen the option included in an function and the impact it had, including positive feedback received from guests and clients </a:t>
            </a:r>
          </a:p>
          <a:p>
            <a:pPr lvl="0">
              <a:buFont typeface="Arial" pitchFamily="34" charset="0"/>
              <a:buChar char="•"/>
            </a:pPr>
            <a:r>
              <a:rPr lang="en-AU" sz="1200" dirty="0" smtClean="0"/>
              <a:t>Provide samples.</a:t>
            </a:r>
            <a:r>
              <a:rPr lang="en-AU" sz="1200" baseline="0" dirty="0" smtClean="0"/>
              <a:t> I</a:t>
            </a:r>
            <a:r>
              <a:rPr lang="en-AU" sz="1200" dirty="0" smtClean="0"/>
              <a:t>f you are trying to convince the client to include spa treatments for guests at a week-long conference, and then let the client experience a massage.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it important to write down information provided by the client?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templates would you use?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would you include in a template?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it important to repeat information to the client whilst they are still in your presence?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question in the slide and list items.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Discussing points to consider when preparing a quotation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steps associated with each </a:t>
            </a:r>
            <a:r>
              <a:rPr lang="en-AU" sz="1200" b="0" kern="1200" baseline="0" dirty="0" smtClean="0">
                <a:solidFill>
                  <a:schemeClr val="tx1"/>
                </a:solidFill>
                <a:ea typeface="+mn-ea"/>
                <a:cs typeface="+mn-cs"/>
              </a:rPr>
              <a:t>factor.</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Discussing points to consider when preparing a quotation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steps associated with each </a:t>
            </a:r>
            <a:r>
              <a:rPr lang="en-AU" sz="1200" b="0" kern="1200" baseline="0" dirty="0" smtClean="0">
                <a:solidFill>
                  <a:schemeClr val="tx1"/>
                </a:solidFill>
                <a:ea typeface="+mn-ea"/>
                <a:cs typeface="+mn-cs"/>
              </a:rPr>
              <a:t>factor.</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aspects of the quotation or a booking are hotels willing to negotiate 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Reducing courses at a meal – from three to two </a:t>
            </a:r>
          </a:p>
          <a:p>
            <a:pPr lvl="0">
              <a:buFont typeface="Arial" pitchFamily="34" charset="0"/>
              <a:buChar char="•"/>
            </a:pPr>
            <a:r>
              <a:rPr lang="en-AU" sz="1200" dirty="0" smtClean="0"/>
              <a:t>Substituting a less expensive wine for the wines already quoted on </a:t>
            </a:r>
          </a:p>
          <a:p>
            <a:pPr lvl="0">
              <a:buFont typeface="Arial" pitchFamily="34" charset="0"/>
              <a:buChar char="•"/>
            </a:pPr>
            <a:r>
              <a:rPr lang="en-AU" sz="1200" dirty="0" smtClean="0"/>
              <a:t>Substituting less expensive menu items into the meal options </a:t>
            </a:r>
          </a:p>
          <a:p>
            <a:pPr lvl="0">
              <a:buFont typeface="Arial" pitchFamily="34" charset="0"/>
              <a:buChar char="•"/>
            </a:pPr>
            <a:r>
              <a:rPr lang="en-AU" sz="1200" dirty="0" smtClean="0"/>
              <a:t>Not including liquor in the function – meaning guests have to pay for their own </a:t>
            </a:r>
          </a:p>
          <a:p>
            <a:pPr lvl="0">
              <a:buFont typeface="Arial" pitchFamily="34" charset="0"/>
              <a:buChar char="•"/>
            </a:pPr>
            <a:r>
              <a:rPr lang="en-AU" sz="1200" dirty="0" smtClean="0"/>
              <a:t>Limiting the time the function runs</a:t>
            </a:r>
            <a:r>
              <a:rPr lang="en-AU" sz="1200" baseline="0" dirty="0" smtClean="0"/>
              <a:t> </a:t>
            </a:r>
            <a:r>
              <a:rPr lang="en-AU" sz="1200" dirty="0" smtClean="0"/>
              <a:t>which can reduce staffing costs </a:t>
            </a:r>
          </a:p>
          <a:p>
            <a:pPr lvl="0">
              <a:buFont typeface="Arial" pitchFamily="34" charset="0"/>
              <a:buChar char="•"/>
            </a:pPr>
            <a:r>
              <a:rPr lang="en-AU" sz="1200" dirty="0" smtClean="0"/>
              <a:t>Removing a previously identified activity from the function such as the band or having a smaller band, entertainment, side tours and other inclusions.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Days the function is to be held.</a:t>
            </a:r>
            <a:r>
              <a:rPr lang="en-AU" sz="1200" baseline="0" dirty="0" smtClean="0"/>
              <a:t> Y</a:t>
            </a:r>
            <a:r>
              <a:rPr lang="en-AU" sz="1200" dirty="0" smtClean="0"/>
              <a:t>our venue may be able to offer a better deal at a time when business is traditionally slow </a:t>
            </a:r>
          </a:p>
          <a:p>
            <a:pPr lvl="0">
              <a:buFont typeface="Arial" pitchFamily="34" charset="0"/>
              <a:buChar char="•"/>
            </a:pPr>
            <a:r>
              <a:rPr lang="en-AU" sz="1200" dirty="0" smtClean="0"/>
              <a:t>Timing of guest arrival.</a:t>
            </a:r>
            <a:r>
              <a:rPr lang="en-AU" sz="1200" baseline="0" dirty="0" smtClean="0"/>
              <a:t> S</a:t>
            </a:r>
            <a:r>
              <a:rPr lang="en-AU" sz="1200" dirty="0" smtClean="0"/>
              <a:t>taff costs can be reduced by shortening the amount of time between guest arrival and the start of the function </a:t>
            </a:r>
          </a:p>
          <a:p>
            <a:pPr lvl="0">
              <a:buFont typeface="Arial" pitchFamily="34" charset="0"/>
              <a:buChar char="•"/>
            </a:pPr>
            <a:r>
              <a:rPr lang="en-AU" sz="1200" dirty="0" smtClean="0"/>
              <a:t>Decisions regarding the timing of activities within the function itself such as when meals are to be served, when different courses are to be served, when speeches are to take place, when morning and afternoon teas are to be served </a:t>
            </a:r>
          </a:p>
          <a:p>
            <a:pPr lvl="0">
              <a:buFont typeface="Arial" pitchFamily="34" charset="0"/>
              <a:buChar char="•"/>
            </a:pPr>
            <a:r>
              <a:rPr lang="en-AU" sz="1200" dirty="0" smtClean="0"/>
              <a:t>Access to the function area for client personnel </a:t>
            </a:r>
          </a:p>
          <a:p>
            <a:pPr lvl="0">
              <a:buFont typeface="Arial" pitchFamily="34" charset="0"/>
              <a:buChar char="•"/>
            </a:pPr>
            <a:r>
              <a:rPr lang="en-AU" sz="1200" dirty="0" smtClean="0"/>
              <a:t>Times/dates by which the event must be </a:t>
            </a:r>
            <a:r>
              <a:rPr lang="en-AU" sz="1200" dirty="0" smtClean="0"/>
              <a:t>finished.</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should be included in the Function Contract?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a contract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a:t>
            </a:r>
            <a:r>
              <a:rPr lang="en-AU" sz="1200" b="0" kern="1200" baseline="0" dirty="0" smtClean="0">
                <a:solidFill>
                  <a:schemeClr val="tx1"/>
                </a:solidFill>
                <a:ea typeface="+mn-ea"/>
                <a:cs typeface="+mn-cs"/>
              </a:rPr>
              <a:t>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a contract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a:t>
            </a:r>
            <a:r>
              <a:rPr lang="en-AU" sz="1200" b="0" kern="1200" baseline="0" dirty="0" smtClean="0">
                <a:solidFill>
                  <a:schemeClr val="tx1"/>
                </a:solidFill>
                <a:ea typeface="+mn-ea"/>
                <a:cs typeface="+mn-cs"/>
              </a:rPr>
              <a:t>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a contract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a:t>
            </a:r>
            <a:r>
              <a:rPr lang="en-AU" sz="1200" b="0" kern="1200" baseline="0" dirty="0" smtClean="0">
                <a:solidFill>
                  <a:schemeClr val="tx1"/>
                </a:solidFill>
                <a:ea typeface="+mn-ea"/>
                <a:cs typeface="+mn-cs"/>
              </a:rPr>
              <a:t>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a contract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a:t>
            </a:r>
            <a:r>
              <a:rPr lang="en-AU" sz="1200" b="0" kern="1200" baseline="0" dirty="0" smtClean="0">
                <a:solidFill>
                  <a:schemeClr val="tx1"/>
                </a:solidFill>
                <a:ea typeface="+mn-ea"/>
                <a:cs typeface="+mn-cs"/>
              </a:rPr>
              <a:t>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a:t>
            </a:r>
            <a:r>
              <a:rPr lang="en-AU" sz="1200" b="0" kern="1200" baseline="0" dirty="0" smtClean="0">
                <a:solidFill>
                  <a:schemeClr val="tx1"/>
                </a:solidFill>
                <a:ea typeface="+mn-ea"/>
                <a:cs typeface="+mn-cs"/>
              </a:rPr>
              <a:t>slide.</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booking conditions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a:t>
            </a:r>
            <a:r>
              <a:rPr lang="en-AU" sz="1200" b="0" kern="1200" baseline="0" dirty="0" smtClean="0">
                <a:solidFill>
                  <a:schemeClr val="tx1"/>
                </a:solidFill>
                <a:ea typeface="+mn-ea"/>
                <a:cs typeface="+mn-cs"/>
              </a:rPr>
              <a:t>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booking conditions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point (information explaining each </a:t>
            </a:r>
            <a:r>
              <a:rPr lang="en-AU" sz="1200" b="0" kern="1200" baseline="0" dirty="0" smtClean="0">
                <a:solidFill>
                  <a:schemeClr val="tx1"/>
                </a:solidFill>
                <a:ea typeface="+mn-ea"/>
                <a:cs typeface="+mn-cs"/>
              </a:rPr>
              <a:t>point </a:t>
            </a:r>
            <a:r>
              <a:rPr lang="en-AU" sz="1200" b="0" kern="1200" baseline="0" dirty="0" smtClean="0">
                <a:solidFill>
                  <a:schemeClr val="tx1"/>
                </a:solidFill>
                <a:ea typeface="+mn-ea"/>
                <a:cs typeface="+mn-cs"/>
              </a:rPr>
              <a:t>can be found in the Trainee Manual</a:t>
            </a:r>
            <a:r>
              <a:rPr lang="en-AU" sz="1200" b="0" kern="1200" baseline="0" dirty="0" smtClean="0">
                <a:solidFill>
                  <a:schemeClr val="tx1"/>
                </a:solidFill>
                <a:ea typeface="+mn-ea"/>
                <a:cs typeface="+mn-cs"/>
              </a:rPr>
              <a: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booking conditions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a:t>
            </a:r>
            <a:r>
              <a:rPr lang="en-AU" sz="1200" b="0" kern="1200" baseline="0" dirty="0" smtClean="0">
                <a:solidFill>
                  <a:schemeClr val="tx1"/>
                </a:solidFill>
                <a:ea typeface="+mn-ea"/>
                <a:cs typeface="+mn-cs"/>
              </a:rPr>
              <a:t>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standard practice for requesting a deposit?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much deposit is normally required?</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a:t>
            </a:r>
            <a:r>
              <a:rPr lang="en-AU" sz="1200" b="0" kern="1200" baseline="0" dirty="0" smtClean="0">
                <a:solidFill>
                  <a:schemeClr val="tx1"/>
                </a:solidFill>
                <a:ea typeface="+mn-ea"/>
                <a:cs typeface="+mn-cs"/>
              </a:rPr>
              <a:t>slide.</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Which is the most preferred method and why?</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t>
            </a:r>
            <a:r>
              <a:rPr lang="en-AU" sz="1200" b="1" kern="1200" baseline="0" dirty="0" smtClean="0">
                <a:solidFill>
                  <a:schemeClr val="tx1"/>
                </a:solidFill>
                <a:ea typeface="+mn-ea"/>
                <a:cs typeface="+mn-cs"/>
              </a:rPr>
              <a:t>the actions associated with each step when handling deposits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t>
            </a:r>
            <a:r>
              <a:rPr lang="en-AU" sz="1200" b="1" kern="1200" baseline="0" dirty="0" smtClean="0">
                <a:solidFill>
                  <a:schemeClr val="tx1"/>
                </a:solidFill>
                <a:ea typeface="+mn-ea"/>
                <a:cs typeface="+mn-cs"/>
              </a:rPr>
              <a:t>the points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way to send a confirmation and why?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activities need to be prepared for functions?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the questions in the slide to generate discussion in the topic.</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the question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&amp;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 in the slide.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would you like to know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Type of function – wedding, launch of product, ball </a:t>
            </a:r>
          </a:p>
          <a:p>
            <a:pPr lvl="0">
              <a:buFont typeface="Arial" pitchFamily="34" charset="0"/>
              <a:buChar char="•"/>
            </a:pPr>
            <a:r>
              <a:rPr lang="en-AU" sz="1200" dirty="0" smtClean="0"/>
              <a:t>Name, address, and contact number of client </a:t>
            </a:r>
          </a:p>
          <a:p>
            <a:pPr lvl="0">
              <a:buFont typeface="Arial" pitchFamily="34" charset="0"/>
              <a:buChar char="•"/>
            </a:pPr>
            <a:r>
              <a:rPr lang="en-AU" sz="1200" dirty="0" smtClean="0"/>
              <a:t>Day, date and time of the function </a:t>
            </a:r>
          </a:p>
          <a:p>
            <a:pPr lvl="0">
              <a:buFont typeface="Arial" pitchFamily="34" charset="0"/>
              <a:buChar char="•"/>
            </a:pPr>
            <a:r>
              <a:rPr lang="en-AU" sz="1200" dirty="0" smtClean="0"/>
              <a:t>Rooms and locations where the function will be held </a:t>
            </a:r>
          </a:p>
          <a:p>
            <a:pPr lvl="0">
              <a:buFont typeface="Arial" pitchFamily="34" charset="0"/>
              <a:buChar char="•"/>
            </a:pPr>
            <a:r>
              <a:rPr lang="en-AU" sz="1200" dirty="0" smtClean="0"/>
              <a:t>Billing instructions – who gets the bill, their address </a:t>
            </a:r>
          </a:p>
          <a:p>
            <a:pPr lvl="0">
              <a:buFont typeface="Arial" pitchFamily="34" charset="0"/>
              <a:buChar char="•"/>
            </a:pPr>
            <a:r>
              <a:rPr lang="en-AU" sz="1200" dirty="0" smtClean="0"/>
              <a:t>Menu – breakdown course</a:t>
            </a:r>
            <a:r>
              <a:rPr lang="en-AU" sz="1200" baseline="0" dirty="0" smtClean="0"/>
              <a:t> </a:t>
            </a:r>
            <a:r>
              <a:rPr lang="en-AU" sz="1200" dirty="0" smtClean="0"/>
              <a:t>by</a:t>
            </a:r>
            <a:r>
              <a:rPr lang="en-AU" sz="1200" baseline="0" dirty="0" smtClean="0"/>
              <a:t> </a:t>
            </a:r>
            <a:r>
              <a:rPr lang="en-AU" sz="1200" dirty="0" smtClean="0"/>
              <a:t>course of the agreed dishes including specification of ‘on arrival’ food, morning and afternoon </a:t>
            </a:r>
            <a:r>
              <a:rPr lang="en-AU" sz="1200" dirty="0" smtClean="0"/>
              <a:t>teas.</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&amp;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would you like to know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Beverage arrangements – description and quantities of beverages to be provided </a:t>
            </a:r>
          </a:p>
          <a:p>
            <a:pPr lvl="0">
              <a:buFont typeface="Arial" pitchFamily="34" charset="0"/>
              <a:buChar char="•"/>
            </a:pPr>
            <a:r>
              <a:rPr lang="en-AU" sz="1200" kern="1200" dirty="0" smtClean="0">
                <a:solidFill>
                  <a:schemeClr val="tx1"/>
                </a:solidFill>
                <a:ea typeface="+mn-ea"/>
                <a:cs typeface="+mn-cs"/>
              </a:rPr>
              <a:t>Sequence of service – covering timing of service, and details of when speeches and presentations will occur </a:t>
            </a:r>
          </a:p>
          <a:p>
            <a:pPr lvl="0">
              <a:buFont typeface="Arial" pitchFamily="34" charset="0"/>
              <a:buChar char="•"/>
            </a:pPr>
            <a:r>
              <a:rPr lang="en-AU" sz="1200" kern="1200" dirty="0" smtClean="0">
                <a:solidFill>
                  <a:schemeClr val="tx1"/>
                </a:solidFill>
                <a:ea typeface="+mn-ea"/>
                <a:cs typeface="+mn-cs"/>
              </a:rPr>
              <a:t>Entertainment – details of bands and the order of ceremony. </a:t>
            </a:r>
          </a:p>
          <a:p>
            <a:pPr lvl="0">
              <a:buFont typeface="Arial" pitchFamily="34" charset="0"/>
              <a:buChar char="•"/>
            </a:pPr>
            <a:r>
              <a:rPr lang="en-AU" sz="1200" kern="1200" dirty="0" smtClean="0">
                <a:solidFill>
                  <a:schemeClr val="tx1"/>
                </a:solidFill>
                <a:ea typeface="+mn-ea"/>
                <a:cs typeface="+mn-cs"/>
              </a:rPr>
              <a:t>Room set up – number of tables, floor plan, decorations, table set-ups including cutlery, crockery and table accoutrements </a:t>
            </a:r>
          </a:p>
          <a:p>
            <a:pPr lvl="0">
              <a:buFont typeface="Arial" pitchFamily="34" charset="0"/>
              <a:buChar char="•"/>
            </a:pPr>
            <a:r>
              <a:rPr lang="en-AU" sz="1200" kern="1200" dirty="0" smtClean="0">
                <a:solidFill>
                  <a:schemeClr val="tx1"/>
                </a:solidFill>
                <a:ea typeface="+mn-ea"/>
                <a:cs typeface="+mn-cs"/>
              </a:rPr>
              <a:t>Type of service – plated, tray, buffet, silver service, finger food </a:t>
            </a:r>
          </a:p>
          <a:p>
            <a:pPr lvl="0">
              <a:buFont typeface="Arial" pitchFamily="34" charset="0"/>
              <a:buChar char="•"/>
            </a:pPr>
            <a:r>
              <a:rPr lang="en-AU" sz="1200" kern="1200" dirty="0" smtClean="0">
                <a:solidFill>
                  <a:schemeClr val="tx1"/>
                </a:solidFill>
                <a:ea typeface="+mn-ea"/>
                <a:cs typeface="+mn-cs"/>
              </a:rPr>
              <a:t>Special requirements – commonly relating to technology requirements such as microphone, DVD facilities, data projector, sound and lighting.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and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activities need to be conducted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different stakeholders be notified of changes in a timely manner?</a:t>
            </a: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&amp;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it important to keep accurate records?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Who is responsible for 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should records be kept?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any department access the most updated records?</a:t>
            </a: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and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slide.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 in the slide.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specialist advice can these people provide?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is it best to involve them in the planning process?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lvl="0">
              <a:buFont typeface="Arial" pitchFamily="34" charset="0"/>
              <a:buChar char="•"/>
            </a:pPr>
            <a:r>
              <a:rPr lang="en-AU" sz="1200" dirty="0" smtClean="0"/>
              <a:t>Food requirements discussed with Executive Chef </a:t>
            </a:r>
          </a:p>
          <a:p>
            <a:pPr lvl="0">
              <a:buFont typeface="Arial" pitchFamily="34" charset="0"/>
              <a:buChar char="•"/>
            </a:pPr>
            <a:r>
              <a:rPr lang="en-AU" sz="1200" dirty="0" smtClean="0"/>
              <a:t>Beverage requirements discussed with Beverage Manager </a:t>
            </a:r>
          </a:p>
          <a:p>
            <a:pPr lvl="0">
              <a:buFont typeface="Arial" pitchFamily="34" charset="0"/>
              <a:buChar char="•"/>
            </a:pPr>
            <a:r>
              <a:rPr lang="en-AU" sz="1200" dirty="0" smtClean="0"/>
              <a:t>Technical requirements discussed with Maintenance Department or outside suppliers </a:t>
            </a:r>
          </a:p>
          <a:p>
            <a:pPr lvl="0">
              <a:buFont typeface="Arial" pitchFamily="34" charset="0"/>
              <a:buChar char="•"/>
            </a:pPr>
            <a:r>
              <a:rPr lang="en-AU" sz="1200" dirty="0" smtClean="0"/>
              <a:t>Linen requirements discussed with housekeeping – outside suppliers may also be involved </a:t>
            </a:r>
          </a:p>
          <a:p>
            <a:pPr lvl="0">
              <a:buFont typeface="Arial" pitchFamily="34" charset="0"/>
              <a:buChar char="•"/>
            </a:pPr>
            <a:r>
              <a:rPr lang="en-AU" sz="1200" dirty="0" smtClean="0"/>
              <a:t>Room decorations and floral arrangements discussed with housekeeping or outside suppliers </a:t>
            </a:r>
          </a:p>
          <a:p>
            <a:pPr lvl="0">
              <a:buFont typeface="Arial" pitchFamily="34" charset="0"/>
              <a:buChar char="•"/>
            </a:pPr>
            <a:r>
              <a:rPr lang="en-AU" sz="1200" dirty="0" smtClean="0"/>
              <a:t>Facility set-up requirements discussed with Catering and Food and Beverage or functions </a:t>
            </a:r>
            <a:r>
              <a:rPr lang="en-AU" sz="1200" dirty="0" smtClean="0"/>
              <a:t>coordinator.</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Stories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and audience to share stories about assistance that was provided by other departments when preparing </a:t>
            </a:r>
            <a:r>
              <a:rPr lang="en-AU" sz="1200" b="0" kern="1200" baseline="0" dirty="0" smtClean="0">
                <a:solidFill>
                  <a:schemeClr val="tx1"/>
                </a:solidFill>
                <a:ea typeface="+mn-ea"/>
                <a:cs typeface="+mn-cs"/>
              </a:rPr>
              <a:t>functions.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Who is responsible for rostering?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does rostering involve?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a roster?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importance of these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these reasons are beneficial to management, staff and </a:t>
            </a:r>
            <a:r>
              <a:rPr lang="en-AU" sz="1200" b="0" kern="1200" baseline="0" dirty="0" smtClean="0">
                <a:solidFill>
                  <a:schemeClr val="tx1"/>
                </a:solidFill>
                <a:ea typeface="+mn-ea"/>
                <a:cs typeface="+mn-cs"/>
              </a:rPr>
              <a:t>customers.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these points impact on </a:t>
            </a:r>
            <a:r>
              <a:rPr lang="en-AU" sz="1200" b="0" kern="1200" baseline="0" dirty="0" smtClean="0">
                <a:solidFill>
                  <a:schemeClr val="tx1"/>
                </a:solidFill>
                <a:ea typeface="+mn-ea"/>
                <a:cs typeface="+mn-cs"/>
              </a:rPr>
              <a:t>rostering.</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the audience to think of factors that will influence staff numbers.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would you staff this type of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would you staff this type of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would you staff this type of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would you would staff this type of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it important to have productivity standards?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do these come from?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different productivity standards for a variety of service styles?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other costs that need to be taken into account?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can you do to get the right mix?</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are these mixes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benefits does each type of staff member identified in this slide bring to a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Answer question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Which avenues would you draw upon first and why?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using each of these sources?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way to contact staff, taking into account that many are casual workers?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each method?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Which methods are most used and why?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common impacts that affect other functions or hotel outlets?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can you do to minimise this impact?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common impacts that affect a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can you do to minimise this impact?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causes of these impacts?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can you do to minimise this impact?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causes of these impacts?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can you do to minimise this impact?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 in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To whom are the notification methods addressed?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else can you notify and prepare people?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external businesses are utilised in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specialist products or services do these businesses provide?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can you find information on different types of external suppliers?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would you like to know about external suppliers?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Range of offering – selection of products and services</a:t>
            </a:r>
          </a:p>
          <a:p>
            <a:pPr lvl="0">
              <a:buFont typeface="Arial" pitchFamily="34" charset="0"/>
              <a:buChar char="•"/>
            </a:pPr>
            <a:r>
              <a:rPr lang="en-AU" sz="1200" kern="1200" dirty="0" smtClean="0">
                <a:solidFill>
                  <a:schemeClr val="tx1"/>
                </a:solidFill>
                <a:ea typeface="+mn-ea"/>
                <a:cs typeface="+mn-cs"/>
              </a:rPr>
              <a:t>Pricing structure for each item – including discounts or complimentary additional items</a:t>
            </a:r>
          </a:p>
          <a:p>
            <a:pPr lvl="0">
              <a:buFont typeface="Arial" pitchFamily="34" charset="0"/>
              <a:buChar char="•"/>
            </a:pPr>
            <a:r>
              <a:rPr lang="en-AU" sz="1200" kern="1200" dirty="0" smtClean="0">
                <a:solidFill>
                  <a:schemeClr val="tx1"/>
                </a:solidFill>
                <a:ea typeface="+mn-ea"/>
                <a:cs typeface="+mn-cs"/>
              </a:rPr>
              <a:t>Service guarantees – what quality and quantity guarantees can they provide</a:t>
            </a:r>
          </a:p>
          <a:p>
            <a:pPr lvl="0">
              <a:buFont typeface="Arial" pitchFamily="34" charset="0"/>
              <a:buChar char="•"/>
            </a:pPr>
            <a:r>
              <a:rPr lang="en-AU" sz="1200" kern="1200" dirty="0" smtClean="0">
                <a:solidFill>
                  <a:schemeClr val="tx1"/>
                </a:solidFill>
                <a:ea typeface="+mn-ea"/>
                <a:cs typeface="+mn-cs"/>
              </a:rPr>
              <a:t>Availability - how available are items. It is no use choosing a provider, no matter how cheap, if their items are never available</a:t>
            </a:r>
          </a:p>
          <a:p>
            <a:pPr lvl="0">
              <a:buFont typeface="Arial" pitchFamily="34" charset="0"/>
              <a:buChar char="•"/>
            </a:pPr>
            <a:r>
              <a:rPr lang="en-AU" sz="1200" kern="1200" dirty="0" smtClean="0">
                <a:solidFill>
                  <a:schemeClr val="tx1"/>
                </a:solidFill>
                <a:ea typeface="+mn-ea"/>
                <a:cs typeface="+mn-cs"/>
              </a:rPr>
              <a:t>Pre-event services – delivery and setting up arrangements</a:t>
            </a:r>
          </a:p>
          <a:p>
            <a:pPr lvl="0">
              <a:buFont typeface="Arial" pitchFamily="34" charset="0"/>
              <a:buChar char="•"/>
            </a:pPr>
            <a:r>
              <a:rPr lang="en-AU" sz="1200" kern="1200" dirty="0" smtClean="0">
                <a:solidFill>
                  <a:schemeClr val="tx1"/>
                </a:solidFill>
                <a:ea typeface="+mn-ea"/>
                <a:cs typeface="+mn-cs"/>
              </a:rPr>
              <a:t>Event services- what will the company do during the event to ensure its products or services operate as expected</a:t>
            </a:r>
          </a:p>
          <a:p>
            <a:pPr lvl="0">
              <a:buFont typeface="Arial" pitchFamily="34" charset="0"/>
              <a:buChar char="•"/>
            </a:pPr>
            <a:r>
              <a:rPr lang="en-AU" sz="1200" kern="1200" dirty="0" smtClean="0">
                <a:solidFill>
                  <a:schemeClr val="tx1"/>
                </a:solidFill>
                <a:ea typeface="+mn-ea"/>
                <a:cs typeface="+mn-cs"/>
              </a:rPr>
              <a:t>Post-event services – take down and removal of items, cleaning </a:t>
            </a:r>
            <a:r>
              <a:rPr lang="en-AU" sz="1200" kern="1200" dirty="0" smtClean="0">
                <a:solidFill>
                  <a:schemeClr val="tx1"/>
                </a:solidFill>
                <a:ea typeface="+mn-ea"/>
                <a:cs typeface="+mn-cs"/>
              </a:rPr>
              <a:t>etc</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Billing and payment </a:t>
            </a:r>
            <a:r>
              <a:rPr lang="en-AU" sz="1200" kern="1200" dirty="0" smtClean="0">
                <a:solidFill>
                  <a:schemeClr val="tx1"/>
                </a:solidFill>
                <a:ea typeface="+mn-ea"/>
                <a:cs typeface="+mn-cs"/>
              </a:rPr>
              <a:t>arrangements.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it important to discuss these points with external providers?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provide examples of information that may be given to external suppliers in relation to each of these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Research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break the audience into small </a:t>
            </a:r>
            <a:r>
              <a:rPr lang="en-AU" sz="1200" b="0" kern="1200" baseline="0" dirty="0" smtClean="0">
                <a:solidFill>
                  <a:schemeClr val="tx1"/>
                </a:solidFill>
                <a:ea typeface="+mn-ea"/>
                <a:cs typeface="+mn-cs"/>
              </a:rPr>
              <a:t>groups: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Give each group a specific type of </a:t>
            </a:r>
            <a:r>
              <a:rPr lang="en-AU" sz="1200" b="0" kern="1200" baseline="0" dirty="0" smtClean="0">
                <a:solidFill>
                  <a:schemeClr val="tx1"/>
                </a:solidFill>
                <a:ea typeface="+mn-ea"/>
                <a:cs typeface="+mn-cs"/>
              </a:rPr>
              <a:t>function</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them to identify the types of stock commonly used for that </a:t>
            </a:r>
            <a:r>
              <a:rPr lang="en-AU" sz="1200" b="0" kern="1200" baseline="0" dirty="0" smtClean="0">
                <a:solidFill>
                  <a:schemeClr val="tx1"/>
                </a:solidFill>
                <a:ea typeface="+mn-ea"/>
                <a:cs typeface="+mn-cs"/>
              </a:rPr>
              <a:t>function</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them to identify how these items can be arranged, taking into consideration the options provided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do you know ‘how much’ will be needed?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 different types of stock.</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Food and beverages to match identified menu selections </a:t>
            </a:r>
          </a:p>
          <a:p>
            <a:pPr lvl="0">
              <a:buFont typeface="Arial" pitchFamily="34" charset="0"/>
              <a:buChar char="•"/>
            </a:pPr>
            <a:r>
              <a:rPr lang="en-AU" sz="1200" kern="1200" dirty="0" smtClean="0">
                <a:solidFill>
                  <a:schemeClr val="tx1"/>
                </a:solidFill>
                <a:ea typeface="+mn-ea"/>
                <a:cs typeface="+mn-cs"/>
              </a:rPr>
              <a:t>Decorations – including flowers, table decorations and displays, stage decorations, dance floors, bunting and other decorations as requested by customer </a:t>
            </a:r>
          </a:p>
          <a:p>
            <a:pPr lvl="0">
              <a:buFont typeface="Arial" pitchFamily="34" charset="0"/>
              <a:buChar char="•"/>
            </a:pPr>
            <a:r>
              <a:rPr lang="en-AU" sz="1200" kern="1200" dirty="0" smtClean="0">
                <a:solidFill>
                  <a:schemeClr val="tx1"/>
                </a:solidFill>
                <a:ea typeface="+mn-ea"/>
                <a:cs typeface="+mn-cs"/>
              </a:rPr>
              <a:t>Stationery– such as meeting note pads, pens, folders, pencils, whiteboard markers, butcher’s paper, name card holder, name tags </a:t>
            </a:r>
            <a:r>
              <a:rPr lang="en-AU" sz="1200" kern="1200" dirty="0" smtClean="0">
                <a:solidFill>
                  <a:schemeClr val="tx1"/>
                </a:solidFill>
                <a:ea typeface="+mn-ea"/>
                <a:cs typeface="+mn-cs"/>
              </a:rPr>
              <a:t>etc</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Equipment – data projectors, whiteboards, DVD players, AV equipment etc. These items are normally hired as opposed to purchased</a:t>
            </a:r>
          </a:p>
          <a:p>
            <a:pPr lvl="0">
              <a:buFont typeface="Arial" pitchFamily="34" charset="0"/>
              <a:buChar char="•"/>
            </a:pPr>
            <a:r>
              <a:rPr lang="en-AU" sz="1200" kern="1200" dirty="0" smtClean="0">
                <a:solidFill>
                  <a:schemeClr val="tx1"/>
                </a:solidFill>
                <a:ea typeface="+mn-ea"/>
                <a:cs typeface="+mn-cs"/>
              </a:rPr>
              <a:t>Linen – table covers, chair covers, napkins, skirting etc.</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different types of stock.</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Crockery and glassware</a:t>
            </a:r>
          </a:p>
          <a:p>
            <a:pPr lvl="0">
              <a:buFont typeface="Arial" pitchFamily="34" charset="0"/>
              <a:buChar char="•"/>
            </a:pPr>
            <a:r>
              <a:rPr lang="en-AU" sz="1200" kern="1200" dirty="0" smtClean="0">
                <a:solidFill>
                  <a:schemeClr val="tx1"/>
                </a:solidFill>
                <a:ea typeface="+mn-ea"/>
                <a:cs typeface="+mn-cs"/>
              </a:rPr>
              <a:t>Cleaning supplies – such as cleaning chemicals (all-purpose cleaners, abrasive cleaners, deodorisers, window cleaners, carpet spot cleaner) and cleaning equipment (cleaning gloves, mops and buckets and machines such as vacuum cleaners, polishers etc.) </a:t>
            </a:r>
          </a:p>
          <a:p>
            <a:pPr>
              <a:buFont typeface="Arial" pitchFamily="34" charset="0"/>
              <a:buChar char="•"/>
            </a:pPr>
            <a:r>
              <a:rPr lang="en-AU" sz="1200" kern="1200" dirty="0" smtClean="0">
                <a:solidFill>
                  <a:schemeClr val="tx1"/>
                </a:solidFill>
                <a:ea typeface="+mn-ea"/>
                <a:cs typeface="+mn-cs"/>
              </a:rPr>
              <a:t>Consumables - such as toilet </a:t>
            </a:r>
            <a:r>
              <a:rPr lang="en-AU" sz="1200" kern="1200" dirty="0" smtClean="0">
                <a:solidFill>
                  <a:schemeClr val="tx1"/>
                </a:solidFill>
                <a:ea typeface="+mn-ea"/>
                <a:cs typeface="+mn-cs"/>
              </a:rPr>
              <a:t>paper</a:t>
            </a:r>
            <a:r>
              <a:rPr lang="en-AU" sz="1200" kern="1200" dirty="0" smtClean="0">
                <a:solidFill>
                  <a:schemeClr val="tx1"/>
                </a:solidFill>
                <a:ea typeface="+mn-ea"/>
                <a:cs typeface="+mn-cs"/>
              </a:rPr>
              <a:t>, rubbish bin liners, soap for use in public toilets, light globes, tissues, paper towels and so </a:t>
            </a:r>
            <a:r>
              <a:rPr lang="en-AU" sz="1200" kern="1200" dirty="0" smtClean="0">
                <a:solidFill>
                  <a:schemeClr val="tx1"/>
                </a:solidFill>
                <a:ea typeface="+mn-ea"/>
                <a:cs typeface="+mn-cs"/>
              </a:rPr>
              <a:t>on.</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it important that people who purchase understand these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 in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and show how to complete a purchase order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show audience different </a:t>
            </a:r>
            <a:r>
              <a:rPr lang="en-AU" sz="1200" b="0" kern="1200" baseline="0" dirty="0" smtClean="0">
                <a:solidFill>
                  <a:schemeClr val="tx1"/>
                </a:solidFill>
                <a:ea typeface="+mn-ea"/>
                <a:cs typeface="+mn-cs"/>
              </a:rPr>
              <a:t>types </a:t>
            </a:r>
            <a:r>
              <a:rPr lang="en-AU" sz="1200" b="0" kern="1200" baseline="0" dirty="0" smtClean="0">
                <a:solidFill>
                  <a:schemeClr val="tx1"/>
                </a:solidFill>
                <a:ea typeface="+mn-ea"/>
                <a:cs typeface="+mn-cs"/>
              </a:rPr>
              <a:t>of purchase </a:t>
            </a:r>
            <a:r>
              <a:rPr lang="en-AU" sz="1200" b="0" kern="1200" baseline="0" dirty="0" smtClean="0">
                <a:solidFill>
                  <a:schemeClr val="tx1"/>
                </a:solidFill>
                <a:ea typeface="+mn-ea"/>
                <a:cs typeface="+mn-cs"/>
              </a:rPr>
              <a:t>orders.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&amp; Show how to complete a purchase order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show audience different types of purchase </a:t>
            </a:r>
            <a:r>
              <a:rPr lang="en-AU" sz="1200" b="0" kern="1200" baseline="0" dirty="0" smtClean="0">
                <a:solidFill>
                  <a:schemeClr val="tx1"/>
                </a:solidFill>
                <a:ea typeface="+mn-ea"/>
                <a:cs typeface="+mn-cs"/>
              </a:rPr>
              <a:t>orders.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 in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are these checking tasks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difference between a Function Sheet and a Running Sheet?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a Running Sheet?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are these inclusions important?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&amp; Show Running Sheets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collect and show examples of different running </a:t>
            </a:r>
            <a:r>
              <a:rPr lang="en-AU" sz="1200" b="0" kern="1200" baseline="0" dirty="0" smtClean="0">
                <a:solidFill>
                  <a:schemeClr val="tx1"/>
                </a:solidFill>
                <a:ea typeface="+mn-ea"/>
                <a:cs typeface="+mn-cs"/>
              </a:rPr>
              <a:t>sheets.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way to communicate Running Sheet information with relevant stakeholders?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do these people need to attend?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Who else would you invite to participate in these briefings?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should be covered in a briefing?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particular information is covered in each of these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particular information is covered in each of these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particular information is covered in each of these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particular information is covered in each of these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actions are required for each point?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method when changes need to be relayed in an immediate fashion?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does the term </a:t>
            </a:r>
            <a:r>
              <a:rPr lang="en-AU" sz="1200" b="0" i="1" kern="1200" baseline="0" dirty="0" smtClean="0">
                <a:solidFill>
                  <a:schemeClr val="tx1"/>
                </a:solidFill>
                <a:ea typeface="+mn-ea"/>
                <a:cs typeface="+mn-cs"/>
              </a:rPr>
              <a:t>mise-en-place</a:t>
            </a:r>
            <a:r>
              <a:rPr lang="en-AU" sz="1200" b="0" kern="1200" baseline="0" dirty="0" smtClean="0">
                <a:solidFill>
                  <a:schemeClr val="tx1"/>
                </a:solidFill>
                <a:ea typeface="+mn-ea"/>
                <a:cs typeface="+mn-cs"/>
              </a:rPr>
              <a:t> mean?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List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break audience into </a:t>
            </a:r>
            <a:r>
              <a:rPr lang="en-AU" sz="1200" b="0" kern="1200" baseline="0" dirty="0" smtClean="0">
                <a:solidFill>
                  <a:schemeClr val="tx1"/>
                </a:solidFill>
                <a:ea typeface="+mn-ea"/>
                <a:cs typeface="+mn-cs"/>
              </a:rPr>
              <a:t>groups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Give each group one job </a:t>
            </a:r>
            <a:r>
              <a:rPr lang="en-AU" sz="1200" b="0" kern="1200" baseline="0" dirty="0" smtClean="0">
                <a:solidFill>
                  <a:schemeClr val="tx1"/>
                </a:solidFill>
                <a:ea typeface="+mn-ea"/>
                <a:cs typeface="+mn-cs"/>
              </a:rPr>
              <a:t>role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them to identify all mise-en-place activities that would need to be completed before a function.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it important to have policies and procedures when setting up a function?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difference between a policy and a procedure?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specific policies must staff follow?</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specific procedures must staff follow?</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a checklist?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should be included in a checklist?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a:t>
            </a:r>
            <a:r>
              <a:rPr lang="en-AU" sz="1200" b="0" kern="1200" baseline="0" dirty="0" smtClean="0">
                <a:solidFill>
                  <a:schemeClr val="tx1"/>
                </a:solidFill>
                <a:ea typeface="+mn-ea"/>
                <a:cs typeface="+mn-cs"/>
              </a:rPr>
              <a:t>benefits.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a:t>
            </a:r>
            <a:r>
              <a:rPr lang="en-AU" sz="1200" b="0" kern="1200" baseline="0" dirty="0" smtClean="0">
                <a:solidFill>
                  <a:schemeClr val="tx1"/>
                </a:solidFill>
                <a:ea typeface="+mn-ea"/>
                <a:cs typeface="+mn-cs"/>
              </a:rPr>
              <a:t>benefits.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needs to be planned?</a:t>
            </a:r>
          </a:p>
          <a:p>
            <a:pPr>
              <a:spcBef>
                <a:spcPts val="600"/>
              </a:spcBef>
              <a:spcAft>
                <a:spcPts val="1200"/>
              </a:spcAft>
              <a:buFont typeface="Arial" pitchFamily="34" charset="0"/>
              <a:buChar char="•"/>
            </a:pPr>
            <a:r>
              <a:rPr lang="en-AU" sz="1200" dirty="0" smtClean="0">
                <a:latin typeface="Helvetica" pitchFamily="34" charset="0"/>
              </a:rPr>
              <a:t>What influences planning?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are other</a:t>
            </a:r>
            <a:r>
              <a:rPr lang="en-AU" sz="1200" baseline="0" dirty="0" smtClean="0">
                <a:latin typeface="Helvetica" pitchFamily="34" charset="0"/>
              </a:rPr>
              <a:t> considerations when setting up tables for different events?</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r>
              <a:rPr lang="en-AU" sz="1200" kern="1200" dirty="0" smtClean="0">
                <a:solidFill>
                  <a:schemeClr val="tx1"/>
                </a:solidFill>
                <a:ea typeface="+mn-ea"/>
                <a:cs typeface="+mn-cs"/>
              </a:rPr>
              <a:t>Preparing, polishing and setting glasses on each table at each setting including the equipment to ensure that glassware is available and has been prepared to support the service of special beverages as required for the function.</a:t>
            </a:r>
          </a:p>
          <a:p>
            <a:pPr lvl="0"/>
            <a:r>
              <a:rPr lang="en-AU" sz="1200" kern="1200" dirty="0" smtClean="0">
                <a:solidFill>
                  <a:schemeClr val="tx1"/>
                </a:solidFill>
                <a:ea typeface="+mn-ea"/>
                <a:cs typeface="+mn-cs"/>
              </a:rPr>
              <a:t>Preparing crockery and cutlery – for placement on tables. Most premises require crockery to be checked to ensure it is clean and free of chips or cracks and that cutlery is to be polished prior to being set up.</a:t>
            </a:r>
          </a:p>
          <a:p>
            <a:pPr lvl="0"/>
            <a:r>
              <a:rPr lang="en-AU" sz="1200" kern="1200" dirty="0" smtClean="0">
                <a:solidFill>
                  <a:schemeClr val="tx1"/>
                </a:solidFill>
                <a:ea typeface="+mn-ea"/>
                <a:cs typeface="+mn-cs"/>
              </a:rPr>
              <a:t>Checking that items required to support the service of menu items as listed are ready and available. This can include:</a:t>
            </a:r>
          </a:p>
          <a:p>
            <a:pPr lvl="1">
              <a:buFont typeface="Arial" pitchFamily="34" charset="0"/>
              <a:buChar char="•"/>
            </a:pPr>
            <a:r>
              <a:rPr lang="en-AU" sz="1200" kern="1200" dirty="0" smtClean="0">
                <a:solidFill>
                  <a:schemeClr val="tx1"/>
                </a:solidFill>
                <a:ea typeface="+mn-ea"/>
                <a:cs typeface="+mn-cs"/>
              </a:rPr>
              <a:t>Platters, lids and covers</a:t>
            </a:r>
          </a:p>
          <a:p>
            <a:pPr lvl="1">
              <a:buFont typeface="Arial" pitchFamily="34" charset="0"/>
              <a:buChar char="•"/>
            </a:pPr>
            <a:r>
              <a:rPr lang="en-AU" sz="1200" kern="1200" dirty="0" smtClean="0">
                <a:solidFill>
                  <a:schemeClr val="tx1"/>
                </a:solidFill>
                <a:ea typeface="+mn-ea"/>
                <a:cs typeface="+mn-cs"/>
              </a:rPr>
              <a:t>Service utensils – such as spoons and forks for silver service, tongs, cake lifts and stands, sauce boats and underliners</a:t>
            </a:r>
          </a:p>
          <a:p>
            <a:pPr lvl="1">
              <a:buFont typeface="Arial" pitchFamily="34" charset="0"/>
              <a:buChar char="•"/>
            </a:pPr>
            <a:r>
              <a:rPr lang="en-AU" sz="1200" kern="1200" dirty="0" smtClean="0">
                <a:solidFill>
                  <a:schemeClr val="tx1"/>
                </a:solidFill>
                <a:ea typeface="+mn-ea"/>
                <a:cs typeface="+mn-cs"/>
              </a:rPr>
              <a:t>Oven-to-tableware – this is commonly the responsibility of kitchen staff but waiting staff may be responsible for ensuring the stands or mats that these hot items are placed on are ready and available</a:t>
            </a:r>
          </a:p>
          <a:p>
            <a:pPr lvl="0">
              <a:buFont typeface="Arial" pitchFamily="34" charset="0"/>
              <a:buChar char="•"/>
            </a:pPr>
            <a:r>
              <a:rPr lang="en-AU" sz="1200" kern="1200" dirty="0" smtClean="0">
                <a:solidFill>
                  <a:schemeClr val="tx1"/>
                </a:solidFill>
                <a:ea typeface="+mn-ea"/>
                <a:cs typeface="+mn-cs"/>
              </a:rPr>
              <a:t>Folding napkins – including the preparation of waiter’s cloths/napkins ready for use on clothed service plates</a:t>
            </a:r>
          </a:p>
          <a:p>
            <a:pPr lvl="0">
              <a:buFont typeface="Arial" pitchFamily="34" charset="0"/>
              <a:buChar char="•"/>
            </a:pPr>
            <a:r>
              <a:rPr lang="en-AU" sz="1200" kern="1200" dirty="0" smtClean="0">
                <a:solidFill>
                  <a:schemeClr val="tx1"/>
                </a:solidFill>
                <a:ea typeface="+mn-ea"/>
                <a:cs typeface="+mn-cs"/>
              </a:rPr>
              <a:t>Preparing condiments – including re-filling, cleaning and placement on tables and in waiter’s </a:t>
            </a:r>
            <a:r>
              <a:rPr lang="en-AU" sz="1200" kern="1200" dirty="0" smtClean="0">
                <a:solidFill>
                  <a:schemeClr val="tx1"/>
                </a:solidFill>
                <a:ea typeface="+mn-ea"/>
                <a:cs typeface="+mn-cs"/>
              </a:rPr>
              <a:t>stations.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188</a:t>
            </a:fld>
            <a:endParaRPr lang="en-US" dirty="0"/>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Preparing butters – including spares to cater for situations where extra butter is required</a:t>
            </a:r>
          </a:p>
          <a:p>
            <a:pPr lvl="0">
              <a:buFont typeface="Arial" pitchFamily="34" charset="0"/>
              <a:buChar char="•"/>
            </a:pPr>
            <a:r>
              <a:rPr lang="en-AU" sz="1200" kern="1200" dirty="0" smtClean="0">
                <a:solidFill>
                  <a:schemeClr val="tx1"/>
                </a:solidFill>
                <a:ea typeface="+mn-ea"/>
                <a:cs typeface="+mn-cs"/>
              </a:rPr>
              <a:t>Readying all equipment – such as espresso machines, tea and coffee-making equipment, bain maries, waiter’s stations </a:t>
            </a:r>
          </a:p>
          <a:p>
            <a:pPr lvl="0">
              <a:buFont typeface="Arial" pitchFamily="34" charset="0"/>
              <a:buChar char="•"/>
            </a:pPr>
            <a:r>
              <a:rPr lang="en-AU" sz="1200" kern="1200" dirty="0" smtClean="0">
                <a:solidFill>
                  <a:schemeClr val="tx1"/>
                </a:solidFill>
                <a:ea typeface="+mn-ea"/>
                <a:cs typeface="+mn-cs"/>
              </a:rPr>
              <a:t>Checking or preparing display materials – some properties will feature a display table to fit in with a theme </a:t>
            </a:r>
          </a:p>
          <a:p>
            <a:pPr lvl="0">
              <a:buFont typeface="Arial" pitchFamily="34" charset="0"/>
              <a:buChar char="•"/>
            </a:pPr>
            <a:r>
              <a:rPr lang="en-AU" sz="1200" kern="1200" dirty="0" smtClean="0">
                <a:solidFill>
                  <a:schemeClr val="tx1"/>
                </a:solidFill>
                <a:ea typeface="+mn-ea"/>
                <a:cs typeface="+mn-cs"/>
              </a:rPr>
              <a:t>Preparing and checking operational readiness of cash registers where a cash service is operating.</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include collecting and counting the float, obtaining change, checking the audit tape is sufficient for the upcoming session, and ensuring date/time is correct. This may be the role of bar staff in some venues where accounts are processed through the bar </a:t>
            </a:r>
            <a:r>
              <a:rPr lang="en-AU" sz="1200" kern="1200" dirty="0" smtClean="0">
                <a:solidFill>
                  <a:schemeClr val="tx1"/>
                </a:solidFill>
                <a:ea typeface="+mn-ea"/>
                <a:cs typeface="+mn-cs"/>
              </a:rPr>
              <a:t>register.</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189</a:t>
            </a:fld>
            <a:endParaRPr lang="en-US" dirty="0"/>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1">
              <a:buFont typeface="Arial" pitchFamily="34" charset="0"/>
              <a:buChar char="•"/>
            </a:pPr>
            <a:r>
              <a:rPr lang="en-AU" sz="1200" kern="1200" dirty="0" smtClean="0">
                <a:solidFill>
                  <a:schemeClr val="tx1"/>
                </a:solidFill>
                <a:ea typeface="+mn-ea"/>
                <a:cs typeface="+mn-cs"/>
              </a:rPr>
              <a:t>Linen presentation – checking the serviette fold used is as required, that napkin folds are uniform, clean and attractive, that overlays have been used as intended</a:t>
            </a:r>
          </a:p>
          <a:p>
            <a:pPr lvl="1">
              <a:buFont typeface="Arial" pitchFamily="34" charset="0"/>
              <a:buChar char="•"/>
            </a:pPr>
            <a:r>
              <a:rPr lang="en-AU" sz="1200" kern="1200" dirty="0" smtClean="0">
                <a:solidFill>
                  <a:schemeClr val="tx1"/>
                </a:solidFill>
                <a:ea typeface="+mn-ea"/>
                <a:cs typeface="+mn-cs"/>
              </a:rPr>
              <a:t>Paper overlays and serviettes – depending on the style or standard of the room, there may be a requirement that paper items are used as opposed to linen ones</a:t>
            </a:r>
          </a:p>
          <a:p>
            <a:pPr lvl="1">
              <a:buFont typeface="Arial" pitchFamily="34" charset="0"/>
              <a:buChar char="•"/>
            </a:pPr>
            <a:r>
              <a:rPr lang="en-AU" sz="1200" kern="1200" dirty="0" smtClean="0">
                <a:solidFill>
                  <a:schemeClr val="tx1"/>
                </a:solidFill>
                <a:ea typeface="+mn-ea"/>
                <a:cs typeface="+mn-cs"/>
              </a:rPr>
              <a:t>Placemats – checking cleanliness </a:t>
            </a:r>
          </a:p>
          <a:p>
            <a:pPr lvl="1">
              <a:buFont typeface="Arial" pitchFamily="34" charset="0"/>
              <a:buChar char="•"/>
            </a:pPr>
            <a:r>
              <a:rPr lang="en-AU" sz="1200" kern="1200" dirty="0" smtClean="0">
                <a:solidFill>
                  <a:schemeClr val="tx1"/>
                </a:solidFill>
                <a:ea typeface="+mn-ea"/>
                <a:cs typeface="+mn-cs"/>
              </a:rPr>
              <a:t>Glassware – to reflect house policy or function requirements</a:t>
            </a:r>
          </a:p>
          <a:p>
            <a:pPr lvl="1">
              <a:buFont typeface="Arial" pitchFamily="34" charset="0"/>
              <a:buChar char="•"/>
            </a:pPr>
            <a:r>
              <a:rPr lang="en-AU" sz="1200" kern="1200" dirty="0" smtClean="0">
                <a:solidFill>
                  <a:schemeClr val="tx1"/>
                </a:solidFill>
                <a:ea typeface="+mn-ea"/>
                <a:cs typeface="+mn-cs"/>
              </a:rPr>
              <a:t>Servicewear and flatware – making sure that necessary quantities of normal </a:t>
            </a:r>
            <a:r>
              <a:rPr lang="en-AU" sz="1200" kern="1200" dirty="0" err="1" smtClean="0">
                <a:solidFill>
                  <a:schemeClr val="tx1"/>
                </a:solidFill>
                <a:ea typeface="+mn-ea"/>
                <a:cs typeface="+mn-cs"/>
              </a:rPr>
              <a:t>servicewear</a:t>
            </a:r>
            <a:r>
              <a:rPr lang="en-AU" sz="1200" kern="1200" dirty="0" smtClean="0">
                <a:solidFill>
                  <a:schemeClr val="tx1"/>
                </a:solidFill>
                <a:ea typeface="+mn-ea"/>
                <a:cs typeface="+mn-cs"/>
              </a:rPr>
              <a:t> is ready for use, and that special items are available to suit identified guest needs</a:t>
            </a:r>
          </a:p>
          <a:p>
            <a:pPr lvl="1">
              <a:buFont typeface="Arial" pitchFamily="34" charset="0"/>
              <a:buChar char="•"/>
            </a:pPr>
            <a:r>
              <a:rPr lang="en-AU" sz="1200" kern="1200" dirty="0" smtClean="0">
                <a:solidFill>
                  <a:schemeClr val="tx1"/>
                </a:solidFill>
                <a:ea typeface="+mn-ea"/>
                <a:cs typeface="+mn-cs"/>
              </a:rPr>
              <a:t>Floral arrangements – checking bud vases for acceptable appearance and to make sure they are in position</a:t>
            </a:r>
          </a:p>
          <a:p>
            <a:pPr lvl="1">
              <a:buFont typeface="Arial" pitchFamily="34" charset="0"/>
              <a:buChar char="•"/>
            </a:pPr>
            <a:r>
              <a:rPr lang="en-AU" sz="1200" kern="1200" dirty="0" smtClean="0">
                <a:solidFill>
                  <a:schemeClr val="tx1"/>
                </a:solidFill>
                <a:ea typeface="+mn-ea"/>
                <a:cs typeface="+mn-cs"/>
              </a:rPr>
              <a:t>Condiments – checking they are present, clean and filled</a:t>
            </a:r>
          </a:p>
          <a:p>
            <a:pPr lvl="1">
              <a:buFont typeface="Arial" pitchFamily="34" charset="0"/>
              <a:buChar char="•"/>
            </a:pPr>
            <a:r>
              <a:rPr lang="en-AU" sz="1200" kern="1200" dirty="0" smtClean="0">
                <a:solidFill>
                  <a:schemeClr val="tx1"/>
                </a:solidFill>
                <a:ea typeface="+mn-ea"/>
                <a:cs typeface="+mn-cs"/>
              </a:rPr>
              <a:t>Table numbers – where they are used, checking to make sure all tables have numbers that reflect the floor plan/table plan.</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190</a:t>
            </a:fld>
            <a:endParaRPr lang="en-US" dirty="0"/>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r>
              <a:rPr lang="en-AU" sz="1200" kern="1200" dirty="0" smtClean="0">
                <a:solidFill>
                  <a:schemeClr val="tx1"/>
                </a:solidFill>
                <a:ea typeface="+mn-ea"/>
                <a:cs typeface="+mn-cs"/>
              </a:rPr>
              <a:t>Tables must be set to:</a:t>
            </a:r>
          </a:p>
          <a:p>
            <a:pPr lvl="0">
              <a:buFont typeface="Arial" pitchFamily="34" charset="0"/>
              <a:buChar char="•"/>
            </a:pPr>
            <a:r>
              <a:rPr lang="en-AU" sz="1200" kern="1200" dirty="0" smtClean="0">
                <a:solidFill>
                  <a:schemeClr val="tx1"/>
                </a:solidFill>
                <a:ea typeface="+mn-ea"/>
                <a:cs typeface="+mn-cs"/>
              </a:rPr>
              <a:t>Reflect the menu that is being used for the function </a:t>
            </a:r>
          </a:p>
          <a:p>
            <a:pPr lvl="0">
              <a:buFont typeface="Arial" pitchFamily="34" charset="0"/>
              <a:buChar char="•"/>
            </a:pPr>
            <a:r>
              <a:rPr lang="en-AU" sz="1200" kern="1200" dirty="0" smtClean="0">
                <a:solidFill>
                  <a:schemeClr val="tx1"/>
                </a:solidFill>
                <a:ea typeface="+mn-ea"/>
                <a:cs typeface="+mn-cs"/>
              </a:rPr>
              <a:t>Reflect the floor/table plan that has been prepared </a:t>
            </a:r>
          </a:p>
          <a:p>
            <a:pPr lvl="0">
              <a:buFont typeface="Arial" pitchFamily="34" charset="0"/>
              <a:buChar char="•"/>
            </a:pPr>
            <a:r>
              <a:rPr lang="en-AU" sz="1200" kern="1200" dirty="0" smtClean="0">
                <a:solidFill>
                  <a:schemeClr val="tx1"/>
                </a:solidFill>
                <a:ea typeface="+mn-ea"/>
                <a:cs typeface="+mn-cs"/>
              </a:rPr>
              <a:t>Comply with house and function requirements – relating to table dressings, colours of tablecloths, overlays, napkins. It also includes function preferences for things such as placement of wine glasses on the table for each cover/setting</a:t>
            </a:r>
          </a:p>
          <a:p>
            <a:pPr lvl="0">
              <a:buFont typeface="Arial" pitchFamily="34" charset="0"/>
              <a:buChar char="•"/>
            </a:pPr>
            <a:r>
              <a:rPr lang="en-AU" sz="1200" kern="1200" dirty="0" smtClean="0">
                <a:solidFill>
                  <a:schemeClr val="tx1"/>
                </a:solidFill>
                <a:ea typeface="+mn-ea"/>
                <a:cs typeface="+mn-cs"/>
              </a:rPr>
              <a:t>Ensure uniformity throughout the room – table set ups should be the same across the room.</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191</a:t>
            </a:fld>
            <a:endParaRPr lang="en-US" dirty="0"/>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None/>
            </a:pPr>
            <a:r>
              <a:rPr lang="en-AU" sz="1200" dirty="0" smtClean="0"/>
              <a:t>Tables and chairs should be checked prior to service to ensure:</a:t>
            </a:r>
          </a:p>
          <a:p>
            <a:pPr lvl="0">
              <a:buFont typeface="Arial" pitchFamily="34" charset="0"/>
              <a:buChar char="•"/>
            </a:pPr>
            <a:r>
              <a:rPr lang="en-AU" sz="1200" dirty="0" smtClean="0"/>
              <a:t>Guest comfort – tables and chairs that are unstable reduce the level of guest satisfaction, enjoyment and comfort with their service experience;</a:t>
            </a:r>
          </a:p>
          <a:p>
            <a:pPr lvl="0">
              <a:buFont typeface="Arial" pitchFamily="34" charset="0"/>
              <a:buChar char="•"/>
            </a:pPr>
            <a:r>
              <a:rPr lang="en-AU" sz="1200" dirty="0" smtClean="0"/>
              <a:t>Guest safety – checks should ensure the furniture is ‘fit for purpose’ and does not present a hazard to those using it: checks should ensure nothing is broken</a:t>
            </a:r>
          </a:p>
          <a:p>
            <a:pPr>
              <a:buFont typeface="Arial" pitchFamily="34" charset="0"/>
              <a:buChar char="•"/>
            </a:pPr>
            <a:r>
              <a:rPr lang="en-AU" sz="1200" dirty="0" smtClean="0"/>
              <a:t>Appropriate access – so that guests can freely gain access to their seats and move safely throughout the room. Special care and action may need to be taken where wheelchair access is required and where gueridon trolleys are going to be </a:t>
            </a:r>
            <a:r>
              <a:rPr lang="en-AU" sz="1200" dirty="0" smtClean="0"/>
              <a:t>used</a:t>
            </a:r>
            <a:r>
              <a:rPr lang="en-AU" sz="1200" dirty="0" smtClean="0"/>
              <a:t>. In addition there must be adequate room for functions service staff to move in an efficient </a:t>
            </a:r>
            <a:r>
              <a:rPr lang="en-AU" sz="1200" dirty="0" smtClean="0"/>
              <a:t>manner.</a:t>
            </a:r>
            <a:endParaRPr lang="en-AU" sz="1200" b="1" u="sng"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192</a:t>
            </a:fld>
            <a:endParaRPr lang="en-US" dirty="0"/>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Storing beverages that have been delivered to the bar where stock is waiting to be put away. This is usually the first job to do in order to get drinks that require refrigeration into the fridges as soon as possible. All stock should be rotated using the First In, First Out (FIFO) method meaning that existing stock should be moved forward and the new stock stored behind it</a:t>
            </a:r>
          </a:p>
          <a:p>
            <a:pPr lvl="0">
              <a:buFont typeface="Arial" pitchFamily="34" charset="0"/>
              <a:buChar char="•"/>
            </a:pPr>
            <a:r>
              <a:rPr lang="en-AU" sz="1200" kern="1200" dirty="0" smtClean="0">
                <a:solidFill>
                  <a:schemeClr val="tx1"/>
                </a:solidFill>
                <a:ea typeface="+mn-ea"/>
                <a:cs typeface="+mn-cs"/>
              </a:rPr>
              <a:t>Preparing bar garnishes.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should include the basic lemon and orange slices and lime quarters as well as more sophisticated garnishes for any cocktails that are being offered as part of the </a:t>
            </a:r>
            <a:r>
              <a:rPr lang="en-AU" sz="1200" kern="1200" dirty="0" smtClean="0">
                <a:solidFill>
                  <a:schemeClr val="tx1"/>
                </a:solidFill>
                <a:ea typeface="+mn-ea"/>
                <a:cs typeface="+mn-cs"/>
              </a:rPr>
              <a:t>function</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Preparing ice including obtaining ice, crushing ice and readying ice buckets and stands</a:t>
            </a:r>
          </a:p>
          <a:p>
            <a:pPr lvl="0">
              <a:buFont typeface="Arial" pitchFamily="34" charset="0"/>
              <a:buChar char="•"/>
            </a:pPr>
            <a:r>
              <a:rPr lang="en-AU" sz="1200" kern="1200" dirty="0" smtClean="0">
                <a:solidFill>
                  <a:schemeClr val="tx1"/>
                </a:solidFill>
                <a:ea typeface="+mn-ea"/>
                <a:cs typeface="+mn-cs"/>
              </a:rPr>
              <a:t>Preparing and checking operational readiness of cash registers if a cash bar system is operating </a:t>
            </a:r>
          </a:p>
          <a:p>
            <a:pPr>
              <a:buFont typeface="Arial" pitchFamily="34" charset="0"/>
              <a:buChar char="•"/>
            </a:pPr>
            <a:r>
              <a:rPr lang="en-AU" sz="1200" kern="1200" dirty="0" smtClean="0">
                <a:solidFill>
                  <a:schemeClr val="tx1"/>
                </a:solidFill>
                <a:ea typeface="+mn-ea"/>
                <a:cs typeface="+mn-cs"/>
              </a:rPr>
              <a:t>Checking to see that all beverages listed on running sheets are available and noting those that are not for mention at the staff briefing or ordering replacement stock as </a:t>
            </a:r>
            <a:r>
              <a:rPr lang="en-AU" sz="1200" kern="1200" dirty="0" smtClean="0">
                <a:solidFill>
                  <a:schemeClr val="tx1"/>
                </a:solidFill>
                <a:ea typeface="+mn-ea"/>
                <a:cs typeface="+mn-cs"/>
              </a:rPr>
              <a:t>required.</a:t>
            </a:r>
            <a:endParaRPr lang="en-AU" sz="1200" b="1" u="sng"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193</a:t>
            </a:fld>
            <a:endParaRPr lang="en-US" dirty="0"/>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Checking the post-mix to make sure it is fully operational for all flavours and the water button, and is being delivered at the right temperature and strength</a:t>
            </a:r>
          </a:p>
          <a:p>
            <a:pPr lvl="0">
              <a:buFont typeface="Arial" pitchFamily="34" charset="0"/>
              <a:buChar char="•"/>
            </a:pPr>
            <a:r>
              <a:rPr lang="en-AU" sz="1200" kern="1200" dirty="0" smtClean="0">
                <a:solidFill>
                  <a:schemeClr val="tx1"/>
                </a:solidFill>
                <a:ea typeface="+mn-ea"/>
                <a:cs typeface="+mn-cs"/>
              </a:rPr>
              <a:t>Turning on espresso coffee machine</a:t>
            </a:r>
          </a:p>
          <a:p>
            <a:pPr lvl="0">
              <a:buFont typeface="Arial" pitchFamily="34" charset="0"/>
              <a:buChar char="•"/>
            </a:pPr>
            <a:r>
              <a:rPr lang="en-AU" sz="1200" kern="1200" dirty="0" smtClean="0">
                <a:solidFill>
                  <a:schemeClr val="tx1"/>
                </a:solidFill>
                <a:ea typeface="+mn-ea"/>
                <a:cs typeface="+mn-cs"/>
              </a:rPr>
              <a:t>Setting out drip trays with denaturing agent</a:t>
            </a:r>
          </a:p>
          <a:p>
            <a:pPr lvl="0">
              <a:buFont typeface="Arial" pitchFamily="34" charset="0"/>
              <a:buChar char="•"/>
            </a:pPr>
            <a:r>
              <a:rPr lang="en-AU" sz="1200" kern="1200" dirty="0" smtClean="0">
                <a:solidFill>
                  <a:schemeClr val="tx1"/>
                </a:solidFill>
                <a:ea typeface="+mn-ea"/>
                <a:cs typeface="+mn-cs"/>
              </a:rPr>
              <a:t>Setting out </a:t>
            </a:r>
            <a:r>
              <a:rPr lang="en-AU" sz="1200" kern="1200" dirty="0" err="1" smtClean="0">
                <a:solidFill>
                  <a:schemeClr val="tx1"/>
                </a:solidFill>
                <a:ea typeface="+mn-ea"/>
                <a:cs typeface="+mn-cs"/>
              </a:rPr>
              <a:t>undertrays</a:t>
            </a:r>
            <a:r>
              <a:rPr lang="en-AU" sz="1200" kern="1200" dirty="0" smtClean="0">
                <a:solidFill>
                  <a:schemeClr val="tx1"/>
                </a:solidFill>
                <a:ea typeface="+mn-ea"/>
                <a:cs typeface="+mn-cs"/>
              </a:rPr>
              <a:t> and racks for dirty glassware</a:t>
            </a:r>
          </a:p>
          <a:p>
            <a:pPr lvl="0">
              <a:buFont typeface="Arial" pitchFamily="34" charset="0"/>
              <a:buChar char="•"/>
            </a:pPr>
            <a:r>
              <a:rPr lang="en-AU" sz="1200" kern="1200" dirty="0" smtClean="0">
                <a:solidFill>
                  <a:schemeClr val="tx1"/>
                </a:solidFill>
                <a:ea typeface="+mn-ea"/>
                <a:cs typeface="+mn-cs"/>
              </a:rPr>
              <a:t>Checking equipment and bar utensils are clean and in working order.</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check should include all operational bar </a:t>
            </a:r>
            <a:r>
              <a:rPr lang="en-AU" sz="1200" kern="1200" dirty="0" smtClean="0">
                <a:solidFill>
                  <a:schemeClr val="tx1"/>
                </a:solidFill>
                <a:ea typeface="+mn-ea"/>
                <a:cs typeface="+mn-cs"/>
              </a:rPr>
              <a:t>equipment.</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194</a:t>
            </a:fld>
            <a:endParaRPr lang="en-US" dirty="0"/>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Checking glassware to ensure no cracks, chips, lipstick marks etc. are present</a:t>
            </a:r>
          </a:p>
          <a:p>
            <a:pPr lvl="0">
              <a:buFont typeface="Arial" pitchFamily="34" charset="0"/>
              <a:buChar char="•"/>
            </a:pPr>
            <a:r>
              <a:rPr lang="en-AU" sz="1200" kern="1200" dirty="0" smtClean="0">
                <a:solidFill>
                  <a:schemeClr val="tx1"/>
                </a:solidFill>
                <a:ea typeface="+mn-ea"/>
                <a:cs typeface="+mn-cs"/>
              </a:rPr>
              <a:t>Placing spirit pourers on the appropriate bottles ensuring sufficient supply of liquor</a:t>
            </a:r>
          </a:p>
          <a:p>
            <a:pPr lvl="0">
              <a:buFont typeface="Arial" pitchFamily="34" charset="0"/>
              <a:buChar char="•"/>
            </a:pPr>
            <a:r>
              <a:rPr lang="en-AU" sz="1200" kern="1200" dirty="0" smtClean="0">
                <a:solidFill>
                  <a:schemeClr val="tx1"/>
                </a:solidFill>
                <a:ea typeface="+mn-ea"/>
                <a:cs typeface="+mn-cs"/>
              </a:rPr>
              <a:t>Stacking and ensuring cleanliness of service trays</a:t>
            </a:r>
          </a:p>
          <a:p>
            <a:pPr lvl="0">
              <a:buFont typeface="Arial" pitchFamily="34" charset="0"/>
              <a:buChar char="•"/>
            </a:pPr>
            <a:r>
              <a:rPr lang="en-AU" sz="1200" kern="1200" dirty="0" smtClean="0">
                <a:solidFill>
                  <a:schemeClr val="tx1"/>
                </a:solidFill>
                <a:ea typeface="+mn-ea"/>
                <a:cs typeface="+mn-cs"/>
              </a:rPr>
              <a:t>Filling up ice buckets</a:t>
            </a:r>
          </a:p>
          <a:p>
            <a:pPr lvl="0">
              <a:buFont typeface="Arial" pitchFamily="34" charset="0"/>
              <a:buChar char="•"/>
            </a:pPr>
            <a:r>
              <a:rPr lang="en-AU" sz="1200" kern="1200" dirty="0" smtClean="0">
                <a:solidFill>
                  <a:schemeClr val="tx1"/>
                </a:solidFill>
                <a:ea typeface="+mn-ea"/>
                <a:cs typeface="+mn-cs"/>
              </a:rPr>
              <a:t>Opening pre-selected </a:t>
            </a:r>
            <a:r>
              <a:rPr lang="en-AU" sz="1200" kern="1200" dirty="0" smtClean="0">
                <a:solidFill>
                  <a:schemeClr val="tx1"/>
                </a:solidFill>
                <a:ea typeface="+mn-ea"/>
                <a:cs typeface="+mn-cs"/>
              </a:rPr>
              <a:t>wines.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195</a:t>
            </a:fld>
            <a:endParaRPr lang="en-US" dirty="0"/>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Preparing and filling water jugs or other items that are to be pre-placed on function tables</a:t>
            </a:r>
          </a:p>
          <a:p>
            <a:pPr lvl="0">
              <a:buFont typeface="Arial" pitchFamily="34" charset="0"/>
              <a:buChar char="•"/>
            </a:pPr>
            <a:r>
              <a:rPr lang="en-AU" sz="1200" dirty="0" smtClean="0"/>
              <a:t>Prepare pre-ordered drinks</a:t>
            </a:r>
          </a:p>
          <a:p>
            <a:pPr>
              <a:buFont typeface="Arial" pitchFamily="34" charset="0"/>
              <a:buChar char="•"/>
            </a:pPr>
            <a:r>
              <a:rPr lang="en-AU" sz="1200" dirty="0" smtClean="0"/>
              <a:t>Bar staff may also be required to set out appropriate glassware on the tables and to prepare service trays and drinks for, say, pre-function drinks in the lobby or </a:t>
            </a:r>
            <a:r>
              <a:rPr lang="en-AU" sz="1200" dirty="0" smtClean="0"/>
              <a:t>champagne.</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196</a:t>
            </a:fld>
            <a:endParaRPr lang="en-US" dirty="0"/>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Why is it important to monitor service delivery?</a:t>
            </a:r>
          </a:p>
          <a:p>
            <a:pPr lvl="0">
              <a:buFont typeface="Arial" pitchFamily="34" charset="0"/>
              <a:buChar char="•"/>
            </a:pPr>
            <a:r>
              <a:rPr lang="en-AU" sz="1200" dirty="0" smtClean="0">
                <a:latin typeface="Helvetica" pitchFamily="34" charset="0"/>
              </a:rPr>
              <a:t>How can you do it?</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197</a:t>
            </a:fld>
            <a:endParaRPr lang="en-US" dirty="0"/>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Which is the most effective method?</a:t>
            </a:r>
          </a:p>
          <a:p>
            <a:pPr lvl="0">
              <a:buFont typeface="Arial" pitchFamily="34" charset="0"/>
              <a:buChar char="•"/>
            </a:pPr>
            <a:r>
              <a:rPr lang="en-AU" sz="1200" dirty="0" smtClean="0">
                <a:latin typeface="Helvetica" pitchFamily="34" charset="0"/>
              </a:rPr>
              <a:t>What information can be obtained from each method?</a:t>
            </a:r>
          </a:p>
          <a:p>
            <a:pPr lvl="0">
              <a:buFont typeface="Arial" pitchFamily="34" charset="0"/>
              <a:buChar char="•"/>
            </a:pPr>
            <a:endParaRPr lang="en-AU" sz="1200" dirty="0" smtClean="0">
              <a:latin typeface="Helvetica" pitchFamily="34" charset="0"/>
            </a:endParaRPr>
          </a:p>
          <a:p>
            <a:pPr>
              <a:buFont typeface="Arial" pitchFamily="34" charset="0"/>
              <a:buChar char="•"/>
            </a:pPr>
            <a:r>
              <a:rPr lang="en-GB" sz="1200" dirty="0" smtClean="0"/>
              <a:t>Workplace observation – watching what goes on as it happens, reading customer body language and measuring waiting times</a:t>
            </a:r>
            <a:endParaRPr lang="en-AU" sz="1200" dirty="0" smtClean="0"/>
          </a:p>
          <a:p>
            <a:pPr>
              <a:buFont typeface="Arial" pitchFamily="34" charset="0"/>
              <a:buChar char="•"/>
            </a:pPr>
            <a:r>
              <a:rPr lang="en-GB" sz="1200" dirty="0" smtClean="0"/>
              <a:t>Talking to staff – to get their impressions, to identify obstacles that will impact on the ability to perform function activities</a:t>
            </a:r>
            <a:endParaRPr lang="en-AU" sz="1200" dirty="0" smtClean="0"/>
          </a:p>
          <a:p>
            <a:pPr>
              <a:buFont typeface="Arial" pitchFamily="34" charset="0"/>
              <a:buChar char="•"/>
            </a:pPr>
            <a:r>
              <a:rPr lang="en-GB" sz="1200" dirty="0" smtClean="0"/>
              <a:t>Feedback from the function coordinator or customers of the function</a:t>
            </a:r>
            <a:r>
              <a:rPr lang="en-SG" sz="1200" dirty="0" smtClean="0"/>
              <a:t>.</a:t>
            </a:r>
            <a:r>
              <a:rPr lang="en-SG" sz="1200" baseline="0" dirty="0" smtClean="0"/>
              <a:t> C</a:t>
            </a:r>
            <a:r>
              <a:rPr lang="en-SG" sz="1200" dirty="0" smtClean="0"/>
              <a:t>onstant liaison with the client or their delegated representative is a given in large functions where there are multiple sites and multiple </a:t>
            </a:r>
            <a:r>
              <a:rPr lang="en-SG" sz="1200" dirty="0" smtClean="0"/>
              <a:t>activities.</a:t>
            </a:r>
            <a:endParaRPr lang="en-AU" sz="1200" dirty="0" smtClean="0"/>
          </a:p>
          <a:p>
            <a:pPr lvl="0">
              <a:buFont typeface="Arial" pitchFamily="34" charset="0"/>
              <a:buChar cha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198</a:t>
            </a:fld>
            <a:endParaRPr lang="en-US" dirty="0"/>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For each of these points:</a:t>
            </a:r>
          </a:p>
          <a:p>
            <a:pPr lvl="0">
              <a:buFont typeface="Arial" pitchFamily="34" charset="0"/>
              <a:buChar char="•"/>
            </a:pPr>
            <a:r>
              <a:rPr lang="en-AU" sz="1200" dirty="0" smtClean="0"/>
              <a:t>Why is it important to monitor it?</a:t>
            </a:r>
          </a:p>
          <a:p>
            <a:pPr lvl="0">
              <a:buFont typeface="Arial" pitchFamily="34" charset="0"/>
              <a:buChar char="•"/>
            </a:pPr>
            <a:r>
              <a:rPr lang="en-AU" sz="1200" dirty="0" smtClean="0">
                <a:latin typeface="Helvetica" pitchFamily="34" charset="0"/>
              </a:rPr>
              <a:t>How can you monitor it?</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199</a:t>
            </a:fld>
            <a:endParaRPr lang="en-US" dirty="0"/>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For each of these points:</a:t>
            </a:r>
          </a:p>
          <a:p>
            <a:pPr lvl="0">
              <a:buFont typeface="Arial" pitchFamily="34" charset="0"/>
              <a:buChar char="•"/>
            </a:pPr>
            <a:r>
              <a:rPr lang="en-AU" sz="1200" dirty="0" smtClean="0"/>
              <a:t>Why is it important to monitor it?</a:t>
            </a:r>
          </a:p>
          <a:p>
            <a:pPr lvl="0">
              <a:buFont typeface="Arial" pitchFamily="34" charset="0"/>
              <a:buChar char="•"/>
            </a:pPr>
            <a:r>
              <a:rPr lang="en-AU" sz="1200" dirty="0" smtClean="0">
                <a:latin typeface="Helvetica" pitchFamily="34" charset="0"/>
              </a:rPr>
              <a:t>How can you monitor it?</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200</a:t>
            </a:fld>
            <a:endParaRPr lang="en-US" dirty="0"/>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What are common problems that occur?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What are the causes?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How can you reduce their occurrence?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How can you reduce its impact on customers?</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201</a:t>
            </a:fld>
            <a:endParaRPr lang="en-US" dirty="0"/>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Share stories about problems and how they were or could have been resolved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get audience to share stories, where they were staff or customers at a function where problems took place.</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202</a:t>
            </a:fld>
            <a:endParaRPr lang="en-US" dirty="0"/>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What activities need to be undertaken after the completion of a function?</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203</a:t>
            </a:fld>
            <a:endParaRPr lang="en-US" dirty="0"/>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204</a:t>
            </a:fld>
            <a:endParaRPr lang="en-US" dirty="0"/>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Ask questions in the slide.</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205</a:t>
            </a:fld>
            <a:endParaRPr lang="en-US" dirty="0"/>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common types of negative feedback?</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should you do in response to negative feedback?</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should you do in response to positive feedback?</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206</a:t>
            </a:fld>
            <a:endParaRPr lang="en-US" dirty="0"/>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you obtain feedback after the function?</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207</a:t>
            </a:fld>
            <a:endParaRPr lang="en-US" dirty="0"/>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it important to get feedback from staff?</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methods can you use to get this feedback?</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do you get honest feedback?</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208</a:t>
            </a:fld>
            <a:endParaRPr lang="en-US" dirty="0"/>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is this method different in getting feedback as opposed to one on one discussions?</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209</a:t>
            </a:fld>
            <a:endParaRPr lang="en-US" dirty="0"/>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way to get feedback from external providers?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 you want to know from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210</a:t>
            </a:fld>
            <a:endParaRPr lang="en-US" dirty="0"/>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211</a:t>
            </a:fld>
            <a:endParaRPr lang="en-US" dirty="0"/>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these charges.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lvl="0">
              <a:buFont typeface="Arial" pitchFamily="34" charset="0"/>
              <a:buChar char="•"/>
            </a:pPr>
            <a:r>
              <a:rPr lang="en-AU" sz="1200" dirty="0" smtClean="0"/>
              <a:t>Food and beverage – as per initial agreement, taking into account adjustments ‘on the day’ </a:t>
            </a:r>
          </a:p>
          <a:p>
            <a:pPr lvl="0">
              <a:buFont typeface="Arial" pitchFamily="34" charset="0"/>
              <a:buChar char="•"/>
            </a:pPr>
            <a:r>
              <a:rPr lang="en-AU" sz="1200" dirty="0" smtClean="0"/>
              <a:t>Entertainment – bands, artists, personalities </a:t>
            </a:r>
          </a:p>
          <a:p>
            <a:pPr lvl="0">
              <a:buFont typeface="Arial" pitchFamily="34" charset="0"/>
              <a:buChar char="•"/>
            </a:pPr>
            <a:r>
              <a:rPr lang="en-AU" sz="1200" dirty="0" smtClean="0"/>
              <a:t>Venue hire – fees for rooms </a:t>
            </a:r>
          </a:p>
          <a:p>
            <a:pPr lvl="0">
              <a:buFont typeface="Arial" pitchFamily="34" charset="0"/>
              <a:buChar char="•"/>
            </a:pPr>
            <a:r>
              <a:rPr lang="en-AU" sz="1200" dirty="0" smtClean="0"/>
              <a:t>Labour – technical and service staff to set up rooms, activities or operate equipment during the </a:t>
            </a:r>
            <a:r>
              <a:rPr lang="en-AU" sz="1200" dirty="0" smtClean="0"/>
              <a:t>function.</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212</a:t>
            </a:fld>
            <a:endParaRPr lang="en-US" dirty="0"/>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these charges.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213</a:t>
            </a:fld>
            <a:endParaRPr lang="en-US" dirty="0"/>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this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214</a:t>
            </a:fld>
            <a:endParaRPr lang="en-US" dirty="0"/>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do you know who is the right person?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should it be presented?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format to present it in?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should you do when presenting the account?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215</a:t>
            </a:fld>
            <a:endParaRPr lang="en-US" dirty="0"/>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payment process.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216</a:t>
            </a:fld>
            <a:endParaRPr lang="en-US" dirty="0"/>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documentation needs to be prepared and finalised?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217</a:t>
            </a:fld>
            <a:endParaRPr lang="en-US" dirty="0"/>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these administration tasks.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218</a:t>
            </a:fld>
            <a:endParaRPr lang="en-US" dirty="0"/>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these administration tasks.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219</a:t>
            </a:fld>
            <a:endParaRPr lang="en-US" dirty="0"/>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these administration tasks.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220</a:t>
            </a:fld>
            <a:endParaRPr lang="en-US" dirty="0"/>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should be asked in a debrief?</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should it be done?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Who should attend?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221</a:t>
            </a:fld>
            <a:endParaRPr lang="en-US" dirty="0"/>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 topics.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Congratulating staff on work that has been well done during service</a:t>
            </a:r>
          </a:p>
          <a:p>
            <a:pPr lvl="0">
              <a:buFont typeface="Arial" pitchFamily="34" charset="0"/>
              <a:buChar char="•"/>
            </a:pPr>
            <a:r>
              <a:rPr lang="en-AU" sz="1200" kern="1200" dirty="0" smtClean="0">
                <a:solidFill>
                  <a:schemeClr val="tx1"/>
                </a:solidFill>
                <a:ea typeface="+mn-ea"/>
                <a:cs typeface="+mn-cs"/>
              </a:rPr>
              <a:t>Discussing staffing issues including:</a:t>
            </a:r>
          </a:p>
          <a:p>
            <a:pPr lvl="1">
              <a:buFont typeface="Wingdings" pitchFamily="2" charset="2"/>
              <a:buChar char="§"/>
            </a:pPr>
            <a:r>
              <a:rPr lang="en-AU" sz="1200" kern="1200" dirty="0" smtClean="0">
                <a:solidFill>
                  <a:schemeClr val="tx1"/>
                </a:solidFill>
                <a:ea typeface="+mn-ea"/>
                <a:cs typeface="+mn-cs"/>
              </a:rPr>
              <a:t>Staffing levels </a:t>
            </a:r>
            <a:endParaRPr lang="en-AU" sz="1400" kern="1200" dirty="0" smtClean="0">
              <a:solidFill>
                <a:schemeClr val="tx1"/>
              </a:solidFill>
              <a:ea typeface="+mn-ea"/>
              <a:cs typeface="+mn-cs"/>
            </a:endParaRPr>
          </a:p>
          <a:p>
            <a:pPr lvl="1">
              <a:buFont typeface="Wingdings" pitchFamily="2" charset="2"/>
              <a:buChar char="§"/>
            </a:pPr>
            <a:r>
              <a:rPr lang="en-AU" sz="1200" kern="1200" dirty="0" smtClean="0">
                <a:solidFill>
                  <a:schemeClr val="tx1"/>
                </a:solidFill>
                <a:ea typeface="+mn-ea"/>
                <a:cs typeface="+mn-cs"/>
              </a:rPr>
              <a:t>Rostered start and finish times – including breaks, where applicable </a:t>
            </a:r>
            <a:endParaRPr lang="en-AU" sz="1400" kern="1200" dirty="0" smtClean="0">
              <a:solidFill>
                <a:schemeClr val="tx1"/>
              </a:solidFill>
              <a:ea typeface="+mn-ea"/>
              <a:cs typeface="+mn-cs"/>
            </a:endParaRPr>
          </a:p>
          <a:p>
            <a:pPr lvl="1">
              <a:buFont typeface="Wingdings" pitchFamily="2" charset="2"/>
              <a:buChar char="§"/>
            </a:pPr>
            <a:r>
              <a:rPr lang="en-AU" sz="1200" kern="1200" dirty="0" smtClean="0">
                <a:solidFill>
                  <a:schemeClr val="tx1"/>
                </a:solidFill>
                <a:ea typeface="+mn-ea"/>
                <a:cs typeface="+mn-cs"/>
              </a:rPr>
              <a:t>Skill levels required or found to be </a:t>
            </a:r>
            <a:r>
              <a:rPr lang="en-AU" sz="1200" kern="1200" dirty="0" smtClean="0">
                <a:solidFill>
                  <a:schemeClr val="tx1"/>
                </a:solidFill>
                <a:ea typeface="+mn-ea"/>
                <a:cs typeface="+mn-cs"/>
              </a:rPr>
              <a:t>missing</a:t>
            </a:r>
            <a:endParaRPr lang="en-AU" sz="14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Suggestions from staff regarding improvements that could be made to the implementation of future </a:t>
            </a:r>
            <a:r>
              <a:rPr lang="en-AU" sz="1200" kern="1200" dirty="0" smtClean="0">
                <a:solidFill>
                  <a:schemeClr val="tx1"/>
                </a:solidFill>
                <a:ea typeface="+mn-ea"/>
                <a:cs typeface="+mn-cs"/>
              </a:rPr>
              <a:t>functions.</a:t>
            </a:r>
            <a:endParaRPr lang="en-AU"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Highlighting and leading discussion on problems and issues that arose with a view to determining what went wrong</a:t>
            </a:r>
            <a:r>
              <a:rPr lang="en-AU" sz="1200" kern="1200" baseline="0" dirty="0" smtClean="0">
                <a:solidFill>
                  <a:schemeClr val="tx1"/>
                </a:solidFill>
                <a:ea typeface="+mn-ea"/>
                <a:cs typeface="+mn-cs"/>
              </a:rPr>
              <a:t> and </a:t>
            </a:r>
            <a:r>
              <a:rPr lang="en-AU" sz="1200" kern="1200" dirty="0" smtClean="0">
                <a:solidFill>
                  <a:schemeClr val="tx1"/>
                </a:solidFill>
                <a:ea typeface="+mn-ea"/>
                <a:cs typeface="+mn-cs"/>
              </a:rPr>
              <a:t>how a similar event can be avoided in the future</a:t>
            </a:r>
          </a:p>
          <a:p>
            <a:pPr lvl="0">
              <a:buFont typeface="Arial" pitchFamily="34" charset="0"/>
              <a:buChar char="•"/>
            </a:pPr>
            <a:r>
              <a:rPr lang="en-AU" sz="1200" kern="1200" dirty="0" smtClean="0">
                <a:solidFill>
                  <a:schemeClr val="tx1"/>
                </a:solidFill>
                <a:ea typeface="+mn-ea"/>
                <a:cs typeface="+mn-cs"/>
              </a:rPr>
              <a:t>Providing the staff with feedback on their perspective of how the session went and providing feedback they have captured from others such as customers, management or other </a:t>
            </a:r>
            <a:r>
              <a:rPr lang="en-AU" sz="1200" kern="1200" dirty="0" smtClean="0">
                <a:solidFill>
                  <a:schemeClr val="tx1"/>
                </a:solidFill>
                <a:ea typeface="+mn-ea"/>
                <a:cs typeface="+mn-cs"/>
              </a:rPr>
              <a:t>departments.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222</a:t>
            </a:fld>
            <a:endParaRPr lang="en-US" dirty="0"/>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 topics.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Discussing feedback received by staff from those who attended </a:t>
            </a:r>
          </a:p>
          <a:p>
            <a:pPr lvl="0">
              <a:buFont typeface="Arial" pitchFamily="34" charset="0"/>
              <a:buChar char="•"/>
            </a:pPr>
            <a:r>
              <a:rPr lang="en-AU" sz="1200" kern="1200" dirty="0" smtClean="0">
                <a:solidFill>
                  <a:schemeClr val="tx1"/>
                </a:solidFill>
                <a:ea typeface="+mn-ea"/>
                <a:cs typeface="+mn-cs"/>
              </a:rPr>
              <a:t>Reviewing the quality of service delivery provided with a view to identifying changes that could lead to possible improvements in service delivery</a:t>
            </a:r>
          </a:p>
          <a:p>
            <a:pPr lvl="0">
              <a:buFont typeface="Arial" pitchFamily="34" charset="0"/>
              <a:buChar char="•"/>
            </a:pPr>
            <a:r>
              <a:rPr lang="en-AU" sz="1200" kern="1200" dirty="0" smtClean="0">
                <a:solidFill>
                  <a:schemeClr val="tx1"/>
                </a:solidFill>
                <a:ea typeface="+mn-ea"/>
                <a:cs typeface="+mn-cs"/>
              </a:rPr>
              <a:t>Encouraging staff to identify issues of concern to them including identification of problems they have found with equipment etc., suspicious persons, procedures that are not working effectively</a:t>
            </a:r>
          </a:p>
          <a:p>
            <a:pPr lvl="0">
              <a:buFont typeface="Arial" pitchFamily="34" charset="0"/>
              <a:buChar char="•"/>
            </a:pPr>
            <a:r>
              <a:rPr lang="en-AU" sz="1200" kern="1200" dirty="0" smtClean="0">
                <a:solidFill>
                  <a:schemeClr val="tx1"/>
                </a:solidFill>
                <a:ea typeface="+mn-ea"/>
                <a:cs typeface="+mn-cs"/>
              </a:rPr>
              <a:t>Discussing patron issues regarding access, behaviour, intoxication, knowledge about the </a:t>
            </a:r>
            <a:r>
              <a:rPr lang="en-AU" sz="1200" kern="1200" dirty="0" smtClean="0">
                <a:solidFill>
                  <a:schemeClr val="tx1"/>
                </a:solidFill>
                <a:ea typeface="+mn-ea"/>
                <a:cs typeface="+mn-cs"/>
              </a:rPr>
              <a:t>function.</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223</a:t>
            </a:fld>
            <a:endParaRPr lang="en-US" dirty="0"/>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 topics.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Discussing operation of ancillary services provided as part of the function such as accommodation, parking, participation in activities, access and use of inclusions </a:t>
            </a:r>
          </a:p>
          <a:p>
            <a:pPr lvl="0">
              <a:buFont typeface="Arial" pitchFamily="34" charset="0"/>
              <a:buChar char="•"/>
            </a:pPr>
            <a:r>
              <a:rPr lang="en-AU" sz="1200" kern="1200" dirty="0" smtClean="0">
                <a:solidFill>
                  <a:schemeClr val="tx1"/>
                </a:solidFill>
                <a:ea typeface="+mn-ea"/>
                <a:cs typeface="+mn-cs"/>
              </a:rPr>
              <a:t>Presenting issues or details of what can be expected in the next session</a:t>
            </a:r>
          </a:p>
          <a:p>
            <a:pPr lvl="0">
              <a:buFont typeface="Arial" pitchFamily="34" charset="0"/>
              <a:buChar char="•"/>
            </a:pPr>
            <a:r>
              <a:rPr lang="en-AU" sz="1200" kern="1200" dirty="0" smtClean="0">
                <a:solidFill>
                  <a:schemeClr val="tx1"/>
                </a:solidFill>
                <a:ea typeface="+mn-ea"/>
                <a:cs typeface="+mn-cs"/>
              </a:rPr>
              <a:t>Determining staff who will work on future functions</a:t>
            </a:r>
          </a:p>
          <a:p>
            <a:pPr>
              <a:buFont typeface="Arial" pitchFamily="34" charset="0"/>
              <a:buChar char="•"/>
            </a:pPr>
            <a:r>
              <a:rPr lang="en-AU" sz="1200" kern="1200" dirty="0" smtClean="0">
                <a:solidFill>
                  <a:schemeClr val="tx1"/>
                </a:solidFill>
                <a:ea typeface="+mn-ea"/>
                <a:cs typeface="+mn-cs"/>
              </a:rPr>
              <a:t>Thanking staff for their efforts and </a:t>
            </a:r>
            <a:r>
              <a:rPr lang="en-AU" sz="1200" kern="1200" dirty="0" smtClean="0">
                <a:solidFill>
                  <a:schemeClr val="tx1"/>
                </a:solidFill>
                <a:ea typeface="+mn-ea"/>
                <a:cs typeface="+mn-cs"/>
              </a:rPr>
              <a:t>contribution.</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224</a:t>
            </a:fld>
            <a:endParaRPr lang="en-US" dirty="0"/>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This</a:t>
            </a:r>
            <a:r>
              <a:rPr lang="en-AU" sz="1200" kern="1200" baseline="0" dirty="0" smtClean="0">
                <a:solidFill>
                  <a:schemeClr val="tx1"/>
                </a:solidFill>
                <a:ea typeface="+mn-ea"/>
                <a:cs typeface="+mn-cs"/>
              </a:rPr>
              <a:t> is the conclusion of the subject.</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Thank the audience and deliver assessments as required.</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1/15/2013</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1/15/2013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1/15/2013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1/15/2013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1/15/2013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1/15/2013</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1/15/2013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1/15/2013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1/15/2013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1/15/2013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1/15/2013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1/15/2013</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0.wmf"/></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78.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88.wmf"/></Relationships>
</file>

<file path=ppt/slides/_rels/slide91.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0.gif"/><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6.tiff"/><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48.xml"/><Relationship Id="rId1" Type="http://schemas.openxmlformats.org/officeDocument/2006/relationships/slideLayout" Target="../slideLayouts/slideLayout2.xml"/><Relationship Id="rId4" Type="http://schemas.openxmlformats.org/officeDocument/2006/relationships/image" Target="../media/image143.wmf"/></Relationships>
</file>

<file path=ppt/slides/_rels/slide149.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49.xml"/><Relationship Id="rId1" Type="http://schemas.openxmlformats.org/officeDocument/2006/relationships/slideLayout" Target="../slideLayouts/slideLayout2.xml"/><Relationship Id="rId5" Type="http://schemas.openxmlformats.org/officeDocument/2006/relationships/image" Target="../media/image146.jpeg"/><Relationship Id="rId4" Type="http://schemas.openxmlformats.org/officeDocument/2006/relationships/image" Target="../media/image145.jpeg"/></Relationships>
</file>

<file path=ppt/slides/_rels/slide150.xml.rels><?xml version="1.0" encoding="UTF-8" standalone="yes"?>
<Relationships xmlns="http://schemas.openxmlformats.org/package/2006/relationships"><Relationship Id="rId3" Type="http://schemas.openxmlformats.org/officeDocument/2006/relationships/image" Target="../media/image147.wmf"/><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51.wmf"/><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notesSlide" Target="../notesSlides/notesSlide157.xml"/><Relationship Id="rId1" Type="http://schemas.openxmlformats.org/officeDocument/2006/relationships/slideLayout" Target="../slideLayouts/slideLayout2.xml"/><Relationship Id="rId6" Type="http://schemas.openxmlformats.org/officeDocument/2006/relationships/image" Target="../media/image156.wmf"/><Relationship Id="rId5" Type="http://schemas.openxmlformats.org/officeDocument/2006/relationships/image" Target="../media/image155.jpeg"/><Relationship Id="rId4" Type="http://schemas.openxmlformats.org/officeDocument/2006/relationships/image" Target="../media/image154.jpeg"/></Relationships>
</file>

<file path=ppt/slides/_rels/slide158.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59.wmf"/><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64.tiff"/><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66.wmf"/><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76.wmf"/><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79.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80.wmf"/><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81.jpeg"/><Relationship Id="rId2" Type="http://schemas.openxmlformats.org/officeDocument/2006/relationships/notesSlide" Target="../notesSlides/notesSlide183.xml"/><Relationship Id="rId1" Type="http://schemas.openxmlformats.org/officeDocument/2006/relationships/slideLayout" Target="../slideLayouts/slideLayout2.xml"/><Relationship Id="rId4" Type="http://schemas.openxmlformats.org/officeDocument/2006/relationships/image" Target="../media/image182.wmf"/></Relationships>
</file>

<file path=ppt/slides/_rels/slide184.xml.rels><?xml version="1.0" encoding="UTF-8" standalone="yes"?>
<Relationships xmlns="http://schemas.openxmlformats.org/package/2006/relationships"><Relationship Id="rId3" Type="http://schemas.openxmlformats.org/officeDocument/2006/relationships/image" Target="../media/image183.wmf"/><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84.wmf"/><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85.jpeg"/><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86.jpeg"/><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187.tiff"/><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88.jpe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89.jpeg"/><Relationship Id="rId2" Type="http://schemas.openxmlformats.org/officeDocument/2006/relationships/notesSlide" Target="../notesSlides/notesSlide190.xml"/><Relationship Id="rId1" Type="http://schemas.openxmlformats.org/officeDocument/2006/relationships/slideLayout" Target="../slideLayouts/slideLayout2.xml"/><Relationship Id="rId4" Type="http://schemas.openxmlformats.org/officeDocument/2006/relationships/image" Target="../media/image190.jpeg"/></Relationships>
</file>

<file path=ppt/slides/_rels/slide191.xml.rels><?xml version="1.0" encoding="UTF-8" standalone="yes"?>
<Relationships xmlns="http://schemas.openxmlformats.org/package/2006/relationships"><Relationship Id="rId3" Type="http://schemas.openxmlformats.org/officeDocument/2006/relationships/image" Target="../media/image191.jpeg"/><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192.jpe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94.jpeg"/><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95.wmf"/><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196.wmf"/><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97.jpeg"/><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198.jpeg"/><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199.jpeg"/><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200.tiff"/><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202.jpeg"/><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203.jpeg"/><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204.jpeg"/><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205.wmf"/><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206.jpeg"/><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207.jpeg"/><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208.jpeg"/><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209.jpeg"/><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210.jpeg"/><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211.jpeg"/><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image" Target="../media/image212.jpeg"/><Relationship Id="rId2" Type="http://schemas.openxmlformats.org/officeDocument/2006/relationships/notesSlide" Target="../notesSlides/notesSlide213.xml"/><Relationship Id="rId1" Type="http://schemas.openxmlformats.org/officeDocument/2006/relationships/slideLayout" Target="../slideLayouts/slideLayout2.xml"/><Relationship Id="rId4" Type="http://schemas.openxmlformats.org/officeDocument/2006/relationships/image" Target="../media/image213.jpeg"/></Relationships>
</file>

<file path=ppt/slides/_rels/slide214.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215.jpeg"/><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216.jpeg"/><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217.jpeg"/><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218.jpeg"/><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image" Target="../media/image219.jpeg"/><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220.jpeg"/><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221.wmf"/><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222.wmf"/><Relationship Id="rId2" Type="http://schemas.openxmlformats.org/officeDocument/2006/relationships/notesSlide" Target="../notesSlides/notesSlide222.xml"/><Relationship Id="rId1" Type="http://schemas.openxmlformats.org/officeDocument/2006/relationships/slideLayout" Target="../slideLayouts/slideLayout2.xml"/><Relationship Id="rId4" Type="http://schemas.openxmlformats.org/officeDocument/2006/relationships/image" Target="../media/image223.wmf"/></Relationships>
</file>

<file path=ppt/slides/_rels/slide223.xml.rels><?xml version="1.0" encoding="UTF-8" standalone="yes"?>
<Relationships xmlns="http://schemas.openxmlformats.org/package/2006/relationships"><Relationship Id="rId3" Type="http://schemas.openxmlformats.org/officeDocument/2006/relationships/image" Target="../media/image224.jpeg"/><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226.jpeg"/><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908720"/>
            <a:ext cx="6480048" cy="936104"/>
          </a:xfrm>
        </p:spPr>
        <p:txBody>
          <a:bodyPr>
            <a:normAutofit/>
          </a:bodyPr>
          <a:lstStyle/>
          <a:p>
            <a:r>
              <a:rPr lang="en-AU" sz="4000" dirty="0" smtClean="0">
                <a:ln w="5000" cmpd="sng">
                  <a:noFill/>
                  <a:prstDash val="solid"/>
                </a:ln>
                <a:solidFill>
                  <a:srgbClr val="FF6600"/>
                </a:solidFill>
                <a:latin typeface="Helvetica" pitchFamily="34" charset="0"/>
              </a:rPr>
              <a:t>ORGANISE FUNCTIONS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916832"/>
            <a:ext cx="2541268" cy="597768"/>
          </a:xfrm>
        </p:spPr>
        <p:txBody>
          <a:bodyPr>
            <a:normAutofit lnSpcReduction="10000"/>
          </a:bodyPr>
          <a:lstStyle/>
          <a:p>
            <a:r>
              <a:rPr lang="en-AU" b="1" dirty="0" smtClean="0">
                <a:latin typeface="Helvetica" pitchFamily="34" charset="0"/>
              </a:rPr>
              <a:t>D1.HSM.CL5.01   D1.HCS.CL6.04</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6" name="Picture 5" descr="MP900400285.JPG"/>
          <p:cNvPicPr/>
          <p:nvPr/>
        </p:nvPicPr>
        <p:blipFill>
          <a:blip r:embed="rId3" cstate="print"/>
          <a:stretch>
            <a:fillRect/>
          </a:stretch>
        </p:blipFill>
        <p:spPr>
          <a:xfrm>
            <a:off x="457200" y="3581400"/>
            <a:ext cx="2504832" cy="1676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descr="Events 4.bmp"/>
          <p:cNvPicPr/>
          <p:nvPr/>
        </p:nvPicPr>
        <p:blipFill>
          <a:blip r:embed="rId4" cstate="print"/>
          <a:stretch>
            <a:fillRect/>
          </a:stretch>
        </p:blipFill>
        <p:spPr>
          <a:xfrm>
            <a:off x="2895600" y="3048000"/>
            <a:ext cx="2678367" cy="169615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descr="http://farm5.staticflickr.com/4055/4327744633_b11563c895.jpg"/>
          <p:cNvPicPr/>
          <p:nvPr/>
        </p:nvPicPr>
        <p:blipFill>
          <a:blip r:embed="rId5" cstate="print"/>
          <a:srcRect/>
          <a:stretch>
            <a:fillRect/>
          </a:stretch>
        </p:blipFill>
        <p:spPr bwMode="auto">
          <a:xfrm>
            <a:off x="5486400" y="3733800"/>
            <a:ext cx="2519735" cy="1676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20208"/>
          </a:xfrm>
        </p:spPr>
        <p:txBody>
          <a:bodyPr>
            <a:normAutofit/>
          </a:bodyPr>
          <a:lstStyle/>
          <a:p>
            <a:pPr marL="0" indent="0">
              <a:spcBef>
                <a:spcPts val="600"/>
              </a:spcBef>
              <a:spcAft>
                <a:spcPts val="1200"/>
              </a:spcAft>
              <a:buNone/>
            </a:pPr>
            <a:r>
              <a:rPr lang="en-US" sz="2200" dirty="0" smtClean="0">
                <a:latin typeface="Helvetica" pitchFamily="34" charset="0"/>
              </a:rPr>
              <a:t>This unit comprises four Elements:</a:t>
            </a:r>
          </a:p>
          <a:p>
            <a:pPr lvl="0">
              <a:spcBef>
                <a:spcPts val="600"/>
              </a:spcBef>
              <a:spcAft>
                <a:spcPts val="1200"/>
              </a:spcAft>
            </a:pPr>
            <a:r>
              <a:rPr lang="en-AU" sz="2200" dirty="0" smtClean="0">
                <a:latin typeface="Helvetica" pitchFamily="34" charset="0"/>
              </a:rPr>
              <a:t>Identify function facilities and procedures at the host establishment </a:t>
            </a:r>
          </a:p>
          <a:p>
            <a:pPr lvl="0">
              <a:spcBef>
                <a:spcPts val="600"/>
              </a:spcBef>
              <a:spcAft>
                <a:spcPts val="1200"/>
              </a:spcAft>
            </a:pPr>
            <a:r>
              <a:rPr lang="en-AU" sz="2200" dirty="0" smtClean="0">
                <a:latin typeface="Helvetica" pitchFamily="34" charset="0"/>
              </a:rPr>
              <a:t>Liaise with function customers </a:t>
            </a:r>
          </a:p>
          <a:p>
            <a:pPr lvl="0">
              <a:spcBef>
                <a:spcPts val="600"/>
              </a:spcBef>
              <a:spcAft>
                <a:spcPts val="1200"/>
              </a:spcAft>
            </a:pPr>
            <a:r>
              <a:rPr lang="en-AU" sz="2200" dirty="0" smtClean="0">
                <a:latin typeface="Helvetica" pitchFamily="34" charset="0"/>
              </a:rPr>
              <a:t>Prepare for functions</a:t>
            </a:r>
          </a:p>
          <a:p>
            <a:pPr lvl="0">
              <a:spcBef>
                <a:spcPts val="600"/>
              </a:spcBef>
              <a:spcAft>
                <a:spcPts val="1200"/>
              </a:spcAft>
            </a:pPr>
            <a:r>
              <a:rPr lang="en-AU" sz="2200" dirty="0" smtClean="0">
                <a:latin typeface="Helvetica" pitchFamily="34" charset="0"/>
              </a:rPr>
              <a:t>Follow-up after functions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7" name="Picture 2" descr="I:\Overseas Projects\PHOTOS\2012\F &amp; B\789070_agenda_1.jpg"/>
          <p:cNvPicPr>
            <a:picLocks noChangeAspect="1" noChangeArrowheads="1"/>
          </p:cNvPicPr>
          <p:nvPr/>
        </p:nvPicPr>
        <p:blipFill>
          <a:blip r:embed="rId3" cstate="print">
            <a:lum contrast="10000"/>
          </a:blip>
          <a:srcRect/>
          <a:stretch>
            <a:fillRect/>
          </a:stretch>
        </p:blipFill>
        <p:spPr bwMode="auto">
          <a:xfrm>
            <a:off x="5638800" y="2971800"/>
            <a:ext cx="2200272" cy="1466848"/>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7"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943600" y="2133600"/>
            <a:ext cx="2076474" cy="1382339"/>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838200"/>
            <a:ext cx="7632848" cy="4680520"/>
          </a:xfrm>
        </p:spPr>
        <p:txBody>
          <a:bodyPr>
            <a:normAutofit/>
          </a:bodyPr>
          <a:lstStyle/>
          <a:p>
            <a:pPr>
              <a:buNone/>
            </a:pPr>
            <a:r>
              <a:rPr lang="en-AU" sz="4000" b="1" dirty="0" smtClean="0">
                <a:solidFill>
                  <a:srgbClr val="FF6600"/>
                </a:solidFill>
              </a:rPr>
              <a:t>Element 1:</a:t>
            </a:r>
          </a:p>
          <a:p>
            <a:pPr marL="0" lvl="0">
              <a:buNone/>
            </a:pPr>
            <a:r>
              <a:rPr lang="en-AU" sz="4000" dirty="0" smtClean="0">
                <a:solidFill>
                  <a:srgbClr val="FF6600"/>
                </a:solidFill>
              </a:rPr>
              <a:t>Identify function facilities and procedures at the host establishment</a:t>
            </a: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6" name="Picture 5" descr="7980134640_722153a97f_m.jpg"/>
          <p:cNvPicPr>
            <a:picLocks noChangeAspect="1"/>
          </p:cNvPicPr>
          <p:nvPr/>
        </p:nvPicPr>
        <p:blipFill>
          <a:blip r:embed="rId3" cstate="print"/>
          <a:stretch>
            <a:fillRect/>
          </a:stretch>
        </p:blipFill>
        <p:spPr>
          <a:xfrm>
            <a:off x="4724400" y="3429000"/>
            <a:ext cx="2590800" cy="19431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lvl="0"/>
            <a:r>
              <a:rPr lang="en-AU" sz="3600" b="1" dirty="0" smtClean="0">
                <a:solidFill>
                  <a:srgbClr val="FF6600"/>
                </a:solidFill>
                <a:latin typeface="Helvetica" pitchFamily="34" charset="0"/>
              </a:rPr>
              <a:t>Identify function facilities and procedures at the host establishment</a:t>
            </a: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Explain the role of the Functions Booking book</a:t>
            </a:r>
          </a:p>
          <a:p>
            <a:pPr>
              <a:spcBef>
                <a:spcPts val="600"/>
              </a:spcBef>
              <a:spcAft>
                <a:spcPts val="1200"/>
              </a:spcAft>
            </a:pPr>
            <a:r>
              <a:rPr lang="en-AU" sz="2200" dirty="0" smtClean="0">
                <a:latin typeface="Helvetica" pitchFamily="34" charset="0"/>
              </a:rPr>
              <a:t>Identify the facilities available for functions</a:t>
            </a:r>
          </a:p>
          <a:p>
            <a:pPr>
              <a:spcBef>
                <a:spcPts val="600"/>
              </a:spcBef>
              <a:spcAft>
                <a:spcPts val="1200"/>
              </a:spcAft>
            </a:pPr>
            <a:r>
              <a:rPr lang="en-AU" sz="2200" dirty="0" smtClean="0">
                <a:latin typeface="Helvetica" pitchFamily="34" charset="0"/>
              </a:rPr>
              <a:t>Identify the styles of functions that can be accommodated</a:t>
            </a:r>
          </a:p>
          <a:p>
            <a:pPr>
              <a:spcBef>
                <a:spcPts val="600"/>
              </a:spcBef>
              <a:spcAft>
                <a:spcPts val="1200"/>
              </a:spcAft>
            </a:pPr>
            <a:r>
              <a:rPr lang="en-AU" sz="2200" dirty="0" smtClean="0">
                <a:latin typeface="Helvetica" pitchFamily="34" charset="0"/>
              </a:rPr>
              <a:t>Identify the styles of service available</a:t>
            </a:r>
          </a:p>
          <a:p>
            <a:pPr>
              <a:spcBef>
                <a:spcPts val="600"/>
              </a:spcBef>
              <a:spcAft>
                <a:spcPts val="1200"/>
              </a:spcAft>
            </a:pPr>
            <a:r>
              <a:rPr lang="en-AU" sz="2200" dirty="0" smtClean="0">
                <a:latin typeface="Helvetica" pitchFamily="34" charset="0"/>
              </a:rPr>
              <a:t>Describe the function set-up options                              available</a:t>
            </a:r>
          </a:p>
          <a:p>
            <a:pPr>
              <a:spcBef>
                <a:spcPts val="600"/>
              </a:spcBef>
              <a:spcAft>
                <a:spcPts val="1200"/>
              </a:spcAft>
              <a:buNone/>
            </a:pPr>
            <a:r>
              <a:rPr lang="en-AU"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1026" name="Picture 2" descr="I:\Overseas Projects\PHOTOS\2012\Office\1131445_red_check_sign_in_3d.jpg"/>
          <p:cNvPicPr>
            <a:picLocks noChangeAspect="1" noChangeArrowheads="1"/>
          </p:cNvPicPr>
          <p:nvPr/>
        </p:nvPicPr>
        <p:blipFill>
          <a:blip r:embed="rId3" cstate="print"/>
          <a:srcRect/>
          <a:stretch>
            <a:fillRect/>
          </a:stretch>
        </p:blipFill>
        <p:spPr bwMode="auto">
          <a:xfrm>
            <a:off x="6858000" y="2819400"/>
            <a:ext cx="1587500" cy="12700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lvl="0"/>
            <a:r>
              <a:rPr lang="en-AU" sz="3600" b="1" dirty="0" smtClean="0">
                <a:solidFill>
                  <a:srgbClr val="FF6600"/>
                </a:solidFill>
                <a:latin typeface="Helvetica" pitchFamily="34" charset="0"/>
              </a:rPr>
              <a:t>Identify function facilities and procedures at the host establishment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Describe the function menus available</a:t>
            </a:r>
          </a:p>
          <a:p>
            <a:pPr>
              <a:spcBef>
                <a:spcPts val="600"/>
              </a:spcBef>
              <a:spcAft>
                <a:spcPts val="1200"/>
              </a:spcAft>
            </a:pPr>
            <a:r>
              <a:rPr lang="en-AU" sz="2200" dirty="0" smtClean="0">
                <a:latin typeface="Helvetica" pitchFamily="34" charset="0"/>
              </a:rPr>
              <a:t>Identify function costs for the customer</a:t>
            </a:r>
          </a:p>
          <a:p>
            <a:pPr>
              <a:spcBef>
                <a:spcPts val="600"/>
              </a:spcBef>
              <a:spcAft>
                <a:spcPts val="1200"/>
              </a:spcAft>
            </a:pPr>
            <a:r>
              <a:rPr lang="en-AU" sz="2200" dirty="0" smtClean="0">
                <a:latin typeface="Helvetica" pitchFamily="34" charset="0"/>
              </a:rPr>
              <a:t>Develop a function kit</a:t>
            </a:r>
          </a:p>
          <a:p>
            <a:pPr>
              <a:spcBef>
                <a:spcPts val="600"/>
              </a:spcBef>
              <a:spcAft>
                <a:spcPts val="1200"/>
              </a:spcAft>
            </a:pPr>
            <a:r>
              <a:rPr lang="en-AU" sz="2200" dirty="0" smtClean="0">
                <a:latin typeface="Helvetica" pitchFamily="34" charset="0"/>
              </a:rPr>
              <a:t>Identify the role of function-related 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2" descr="I:\Overseas Projects\PHOTOS\2012\Office\1131445_red_check_sign_in_3d.jpg"/>
          <p:cNvPicPr>
            <a:picLocks noChangeAspect="1" noChangeArrowheads="1"/>
          </p:cNvPicPr>
          <p:nvPr/>
        </p:nvPicPr>
        <p:blipFill>
          <a:blip r:embed="rId3" cstate="print"/>
          <a:srcRect/>
          <a:stretch>
            <a:fillRect/>
          </a:stretch>
        </p:blipFill>
        <p:spPr bwMode="auto">
          <a:xfrm>
            <a:off x="6629400" y="2209800"/>
            <a:ext cx="1587500" cy="12700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pPr>
            <a:r>
              <a:rPr lang="en-AU" sz="2200" dirty="0" smtClean="0">
                <a:latin typeface="Helvetica" pitchFamily="34" charset="0"/>
              </a:rPr>
              <a:t>What is a function?</a:t>
            </a:r>
          </a:p>
          <a:p>
            <a:pPr marL="0">
              <a:spcBef>
                <a:spcPts val="600"/>
              </a:spcBef>
              <a:spcAft>
                <a:spcPts val="1200"/>
              </a:spcAft>
            </a:pPr>
            <a:r>
              <a:rPr lang="en-AU" sz="2200" dirty="0" smtClean="0">
                <a:latin typeface="Helvetica" pitchFamily="34" charset="0"/>
              </a:rPr>
              <a:t>What functions have you been to in the past?</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6" name="Picture 5" descr="MP900402372.JPG"/>
          <p:cNvPicPr>
            <a:picLocks noChangeAspect="1"/>
          </p:cNvPicPr>
          <p:nvPr/>
        </p:nvPicPr>
        <p:blipFill>
          <a:blip r:embed="rId3" cstate="print"/>
          <a:stretch>
            <a:fillRect/>
          </a:stretch>
        </p:blipFill>
        <p:spPr>
          <a:xfrm>
            <a:off x="2895600" y="3352800"/>
            <a:ext cx="2757993" cy="1837944"/>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Benefits of functions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For the customer:</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It saves time and stress</a:t>
            </a:r>
          </a:p>
          <a:p>
            <a:pPr lvl="0">
              <a:spcBef>
                <a:spcPts val="600"/>
              </a:spcBef>
              <a:spcAft>
                <a:spcPts val="1200"/>
              </a:spcAft>
            </a:pPr>
            <a:r>
              <a:rPr lang="en-AU" sz="2200" dirty="0" smtClean="0">
                <a:latin typeface="Helvetica" pitchFamily="34" charset="0"/>
              </a:rPr>
              <a:t>It allows for professional staff to have the responsibility for running a function</a:t>
            </a:r>
          </a:p>
          <a:p>
            <a:pPr lvl="0">
              <a:spcBef>
                <a:spcPts val="600"/>
              </a:spcBef>
              <a:spcAft>
                <a:spcPts val="1200"/>
              </a:spcAft>
            </a:pPr>
            <a:r>
              <a:rPr lang="en-AU" sz="2200" dirty="0" smtClean="0">
                <a:latin typeface="Helvetica" pitchFamily="34" charset="0"/>
              </a:rPr>
              <a:t>It provides access to a specialist venue, room size and equipment</a:t>
            </a:r>
          </a:p>
          <a:p>
            <a:pPr lvl="0">
              <a:spcBef>
                <a:spcPts val="600"/>
              </a:spcBef>
              <a:spcAft>
                <a:spcPts val="1200"/>
              </a:spcAft>
            </a:pPr>
            <a:r>
              <a:rPr lang="en-AU" sz="2200" dirty="0" smtClean="0">
                <a:latin typeface="Helvetica" pitchFamily="34" charset="0"/>
              </a:rPr>
              <a:t>The outcome is a product or service                         which cannot be produced elsewhere</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6" name="Picture 5" descr="7980146464_12a43065a6_m.jpg"/>
          <p:cNvPicPr>
            <a:picLocks noChangeAspect="1"/>
          </p:cNvPicPr>
          <p:nvPr/>
        </p:nvPicPr>
        <p:blipFill>
          <a:blip r:embed="rId3" cstate="print"/>
          <a:stretch>
            <a:fillRect/>
          </a:stretch>
        </p:blipFill>
        <p:spPr>
          <a:xfrm>
            <a:off x="5943600" y="1270635"/>
            <a:ext cx="1905000" cy="1262063"/>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Benefits of functions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For a hospitality organisation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It is a major revenue source</a:t>
            </a:r>
          </a:p>
          <a:p>
            <a:pPr lvl="0">
              <a:spcBef>
                <a:spcPts val="600"/>
              </a:spcBef>
              <a:spcAft>
                <a:spcPts val="1200"/>
              </a:spcAft>
            </a:pPr>
            <a:r>
              <a:rPr lang="en-AU" sz="2200" dirty="0" smtClean="0">
                <a:latin typeface="Helvetica" pitchFamily="34" charset="0"/>
              </a:rPr>
              <a:t>It can appeal to a variety of market segments</a:t>
            </a:r>
          </a:p>
          <a:p>
            <a:pPr lvl="0">
              <a:spcBef>
                <a:spcPts val="600"/>
              </a:spcBef>
              <a:spcAft>
                <a:spcPts val="1200"/>
              </a:spcAft>
            </a:pPr>
            <a:r>
              <a:rPr lang="en-AU" sz="2200" dirty="0" smtClean="0">
                <a:latin typeface="Helvetica" pitchFamily="34" charset="0"/>
              </a:rPr>
              <a:t>It allows the organisation to promote itself by showcasing unique functions and events</a:t>
            </a:r>
          </a:p>
          <a:p>
            <a:pPr lvl="0">
              <a:spcBef>
                <a:spcPts val="600"/>
              </a:spcBef>
              <a:spcAft>
                <a:spcPts val="1200"/>
              </a:spcAft>
            </a:pPr>
            <a:r>
              <a:rPr lang="en-AU" sz="2200" dirty="0" smtClean="0">
                <a:latin typeface="Helvetica" pitchFamily="34" charset="0"/>
              </a:rPr>
              <a:t>It promotes creativity, skills and knowledge                                     in staff</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6" name="Picture 5" descr="MP900407245.JPG"/>
          <p:cNvPicPr/>
          <p:nvPr/>
        </p:nvPicPr>
        <p:blipFill>
          <a:blip r:embed="rId3" cstate="print"/>
          <a:stretch>
            <a:fillRect/>
          </a:stretch>
        </p:blipFill>
        <p:spPr>
          <a:xfrm>
            <a:off x="7010400" y="2895600"/>
            <a:ext cx="1398737" cy="16383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Functions Booking book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A functions booking book is the primary document that is used to record any tentative or confirmed functions that may be taking place in a hospitality establishment</a:t>
            </a:r>
          </a:p>
          <a:p>
            <a:pPr>
              <a:spcBef>
                <a:spcPts val="600"/>
              </a:spcBef>
              <a:spcAft>
                <a:spcPts val="1200"/>
              </a:spcAft>
            </a:pPr>
            <a:r>
              <a:rPr lang="en-AU" sz="2200" dirty="0" smtClean="0">
                <a:latin typeface="Helvetica" pitchFamily="34" charset="0"/>
              </a:rPr>
              <a:t>This book is the first place a functions manager will look when a potential customer enquires about a function</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6" name="Picture 5" descr="C:\Documents and Settings\danielc\Local Settings\Temporary Internet Files\Content.IE5\3DV3UKH9\MP900439393[1].jpg"/>
          <p:cNvPicPr/>
          <p:nvPr/>
        </p:nvPicPr>
        <p:blipFill>
          <a:blip r:embed="rId3" cstate="print"/>
          <a:srcRect/>
          <a:stretch>
            <a:fillRect/>
          </a:stretch>
        </p:blipFill>
        <p:spPr bwMode="auto">
          <a:xfrm flipH="1">
            <a:off x="3733799" y="3923694"/>
            <a:ext cx="1456972" cy="218158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Functions Booking book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information normally recorded includes details of functions that have been booked by:</a:t>
            </a:r>
          </a:p>
          <a:p>
            <a:pPr lvl="0">
              <a:spcBef>
                <a:spcPts val="600"/>
              </a:spcBef>
              <a:spcAft>
                <a:spcPts val="1200"/>
              </a:spcAft>
            </a:pPr>
            <a:r>
              <a:rPr lang="en-AU" sz="2200" dirty="0" smtClean="0">
                <a:latin typeface="Helvetica" pitchFamily="34" charset="0"/>
              </a:rPr>
              <a:t>Customer name and contact details</a:t>
            </a:r>
          </a:p>
          <a:p>
            <a:pPr lvl="0">
              <a:spcBef>
                <a:spcPts val="600"/>
              </a:spcBef>
              <a:spcAft>
                <a:spcPts val="1200"/>
              </a:spcAft>
            </a:pPr>
            <a:r>
              <a:rPr lang="en-AU" sz="2200" dirty="0" smtClean="0">
                <a:latin typeface="Helvetica" pitchFamily="34" charset="0"/>
              </a:rPr>
              <a:t>Day, date and time</a:t>
            </a:r>
          </a:p>
          <a:p>
            <a:pPr lvl="0">
              <a:spcBef>
                <a:spcPts val="600"/>
              </a:spcBef>
              <a:spcAft>
                <a:spcPts val="1200"/>
              </a:spcAft>
            </a:pPr>
            <a:r>
              <a:rPr lang="en-AU" sz="2200" dirty="0" smtClean="0">
                <a:latin typeface="Helvetica" pitchFamily="34" charset="0"/>
              </a:rPr>
              <a:t>Description of function</a:t>
            </a:r>
          </a:p>
          <a:p>
            <a:pPr lvl="0">
              <a:spcBef>
                <a:spcPts val="600"/>
              </a:spcBef>
              <a:spcAft>
                <a:spcPts val="1200"/>
              </a:spcAft>
            </a:pPr>
            <a:r>
              <a:rPr lang="en-AU" sz="2200" dirty="0" smtClean="0">
                <a:latin typeface="Helvetica" pitchFamily="34" charset="0"/>
              </a:rPr>
              <a:t>Room/location to be used</a:t>
            </a:r>
          </a:p>
          <a:p>
            <a:pPr lvl="0">
              <a:spcBef>
                <a:spcPts val="600"/>
              </a:spcBef>
              <a:spcAft>
                <a:spcPts val="1200"/>
              </a:spcAft>
            </a:pPr>
            <a:r>
              <a:rPr lang="en-AU" sz="2200" dirty="0" smtClean="0">
                <a:latin typeface="Helvetica" pitchFamily="34" charset="0"/>
              </a:rPr>
              <a:t>Approximate numbers attending</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6" name="Picture 5" descr="werribee045_RT8.jpg"/>
          <p:cNvPicPr>
            <a:picLocks noChangeAspect="1"/>
          </p:cNvPicPr>
          <p:nvPr/>
        </p:nvPicPr>
        <p:blipFill>
          <a:blip r:embed="rId3" cstate="print"/>
          <a:stretch>
            <a:fillRect/>
          </a:stretch>
        </p:blipFill>
        <p:spPr>
          <a:xfrm>
            <a:off x="5715000" y="3200400"/>
            <a:ext cx="2476500" cy="16510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Functions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In most hotels there is a dedicated area for functions, which can cater to a wide variety of activities comprising each function. </a:t>
            </a:r>
          </a:p>
          <a:p>
            <a:pPr>
              <a:spcBef>
                <a:spcPts val="600"/>
              </a:spcBef>
              <a:spcAft>
                <a:spcPts val="1200"/>
              </a:spcAft>
            </a:pPr>
            <a:r>
              <a:rPr lang="en-AU" sz="2200" dirty="0" smtClean="0">
                <a:latin typeface="Helvetica" pitchFamily="34" charset="0"/>
              </a:rPr>
              <a:t>What areas/facilities can be used for functions within a hotel?</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6" name="Picture 5" descr="Events 7.bmp"/>
          <p:cNvPicPr>
            <a:picLocks noChangeAspect="1"/>
          </p:cNvPicPr>
          <p:nvPr/>
        </p:nvPicPr>
        <p:blipFill>
          <a:blip r:embed="rId3" cstate="print"/>
          <a:stretch>
            <a:fillRect/>
          </a:stretch>
        </p:blipFill>
        <p:spPr>
          <a:xfrm>
            <a:off x="3429000" y="3962400"/>
            <a:ext cx="2623718" cy="1744493"/>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Functions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Meeting/conference room </a:t>
            </a:r>
          </a:p>
          <a:p>
            <a:pPr marL="0">
              <a:spcBef>
                <a:spcPts val="600"/>
              </a:spcBef>
              <a:spcAft>
                <a:spcPts val="1200"/>
              </a:spcAft>
            </a:pPr>
            <a:r>
              <a:rPr lang="en-AU" sz="2200" dirty="0" smtClean="0">
                <a:latin typeface="Helvetica" pitchFamily="34" charset="0"/>
              </a:rPr>
              <a:t>Stand up conference areas</a:t>
            </a:r>
          </a:p>
          <a:p>
            <a:pPr marL="0">
              <a:spcBef>
                <a:spcPts val="600"/>
              </a:spcBef>
              <a:spcAft>
                <a:spcPts val="1200"/>
              </a:spcAft>
            </a:pPr>
            <a:r>
              <a:rPr lang="en-AU" sz="2200" dirty="0" smtClean="0">
                <a:latin typeface="Helvetica" pitchFamily="34" charset="0"/>
              </a:rPr>
              <a:t>Banquet room</a:t>
            </a:r>
          </a:p>
          <a:p>
            <a:pPr marL="0">
              <a:spcBef>
                <a:spcPts val="600"/>
              </a:spcBef>
              <a:spcAft>
                <a:spcPts val="1200"/>
              </a:spcAft>
            </a:pPr>
            <a:r>
              <a:rPr lang="en-AU" sz="2200" dirty="0" smtClean="0">
                <a:latin typeface="Helvetica" pitchFamily="34" charset="0"/>
              </a:rPr>
              <a:t>Exhibition bays and space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8" name="Picture 7" descr="restaurant.jpg"/>
          <p:cNvPicPr/>
          <p:nvPr/>
        </p:nvPicPr>
        <p:blipFill>
          <a:blip r:embed="rId3" cstate="print"/>
          <a:stretch>
            <a:fillRect/>
          </a:stretch>
        </p:blipFill>
        <p:spPr>
          <a:xfrm>
            <a:off x="5486400" y="2590800"/>
            <a:ext cx="2457450" cy="1671638"/>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Functions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buNone/>
            </a:pPr>
            <a:r>
              <a:rPr lang="en-AU" sz="2200" u="sng" dirty="0" smtClean="0">
                <a:latin typeface="Helvetica" pitchFamily="34" charset="0"/>
              </a:rPr>
              <a:t>Business centres </a:t>
            </a:r>
          </a:p>
          <a:p>
            <a:pPr lvl="0">
              <a:spcBef>
                <a:spcPts val="600"/>
              </a:spcBef>
              <a:spcAft>
                <a:spcPts val="1200"/>
              </a:spcAft>
            </a:pPr>
            <a:r>
              <a:rPr lang="en-AU" sz="2200" dirty="0" smtClean="0">
                <a:latin typeface="Helvetica" pitchFamily="34" charset="0"/>
              </a:rPr>
              <a:t>High-speed Internet access </a:t>
            </a:r>
          </a:p>
          <a:p>
            <a:pPr lvl="0">
              <a:spcBef>
                <a:spcPts val="600"/>
              </a:spcBef>
              <a:spcAft>
                <a:spcPts val="1200"/>
              </a:spcAft>
            </a:pPr>
            <a:r>
              <a:rPr lang="en-AU" sz="2200" dirty="0" smtClean="0">
                <a:latin typeface="Helvetica" pitchFamily="34" charset="0"/>
              </a:rPr>
              <a:t>Word processing</a:t>
            </a:r>
          </a:p>
          <a:p>
            <a:pPr lvl="0">
              <a:spcBef>
                <a:spcPts val="600"/>
              </a:spcBef>
              <a:spcAft>
                <a:spcPts val="1200"/>
              </a:spcAft>
            </a:pPr>
            <a:r>
              <a:rPr lang="en-AU" sz="2200" dirty="0" smtClean="0">
                <a:latin typeface="Helvetica" pitchFamily="34" charset="0"/>
              </a:rPr>
              <a:t>Photocopying </a:t>
            </a:r>
          </a:p>
          <a:p>
            <a:pPr lvl="0">
              <a:spcBef>
                <a:spcPts val="600"/>
              </a:spcBef>
              <a:spcAft>
                <a:spcPts val="1200"/>
              </a:spcAft>
            </a:pPr>
            <a:r>
              <a:rPr lang="en-AU" sz="2200" dirty="0" smtClean="0">
                <a:latin typeface="Helvetica" pitchFamily="34" charset="0"/>
              </a:rPr>
              <a:t>Faxing services</a:t>
            </a:r>
          </a:p>
          <a:p>
            <a:pPr lvl="0">
              <a:spcBef>
                <a:spcPts val="600"/>
              </a:spcBef>
              <a:spcAft>
                <a:spcPts val="1200"/>
              </a:spcAft>
            </a:pPr>
            <a:r>
              <a:rPr lang="en-AU" sz="2200" dirty="0" smtClean="0">
                <a:latin typeface="Helvetica" pitchFamily="34" charset="0"/>
              </a:rPr>
              <a:t>Computer access and rental</a:t>
            </a:r>
          </a:p>
          <a:p>
            <a:pPr>
              <a:spcBef>
                <a:spcPts val="600"/>
              </a:spcBef>
              <a:spcAft>
                <a:spcPts val="1200"/>
              </a:spcAft>
            </a:pPr>
            <a:r>
              <a:rPr lang="en-AU" sz="2200" dirty="0" smtClean="0">
                <a:latin typeface="Helvetica" pitchFamily="34" charset="0"/>
              </a:rPr>
              <a:t>Faxing services </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7" name="Picture 6" descr="MP900438629.JPG"/>
          <p:cNvPicPr/>
          <p:nvPr/>
        </p:nvPicPr>
        <p:blipFill>
          <a:blip r:embed="rId3" cstate="print"/>
          <a:stretch>
            <a:fillRect/>
          </a:stretch>
        </p:blipFill>
        <p:spPr>
          <a:xfrm>
            <a:off x="5638800" y="2667000"/>
            <a:ext cx="2607485" cy="17526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Functions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buNone/>
            </a:pPr>
            <a:r>
              <a:rPr lang="en-AU" sz="2200" u="sng" dirty="0" smtClean="0">
                <a:latin typeface="Helvetica" pitchFamily="34" charset="0"/>
              </a:rPr>
              <a:t>Business centres </a:t>
            </a:r>
          </a:p>
          <a:p>
            <a:pPr lvl="0">
              <a:spcBef>
                <a:spcPts val="600"/>
              </a:spcBef>
              <a:spcAft>
                <a:spcPts val="1200"/>
              </a:spcAft>
            </a:pPr>
            <a:r>
              <a:rPr lang="en-AU" sz="2200" dirty="0" smtClean="0">
                <a:latin typeface="Helvetica" pitchFamily="34" charset="0"/>
              </a:rPr>
              <a:t>Office supplies </a:t>
            </a:r>
          </a:p>
          <a:p>
            <a:pPr lvl="0">
              <a:spcBef>
                <a:spcPts val="600"/>
              </a:spcBef>
              <a:spcAft>
                <a:spcPts val="1200"/>
              </a:spcAft>
            </a:pPr>
            <a:r>
              <a:rPr lang="en-AU" sz="2200" dirty="0" smtClean="0">
                <a:latin typeface="Helvetica" pitchFamily="34" charset="0"/>
              </a:rPr>
              <a:t>Packaging and shipping </a:t>
            </a:r>
          </a:p>
          <a:p>
            <a:pPr lvl="0">
              <a:spcBef>
                <a:spcPts val="600"/>
              </a:spcBef>
              <a:spcAft>
                <a:spcPts val="1200"/>
              </a:spcAft>
            </a:pPr>
            <a:r>
              <a:rPr lang="en-AU" sz="2200" dirty="0" smtClean="0">
                <a:latin typeface="Helvetica" pitchFamily="34" charset="0"/>
              </a:rPr>
              <a:t>Secretarial services </a:t>
            </a:r>
          </a:p>
          <a:p>
            <a:pPr lvl="0">
              <a:spcBef>
                <a:spcPts val="600"/>
              </a:spcBef>
              <a:spcAft>
                <a:spcPts val="1200"/>
              </a:spcAft>
            </a:pPr>
            <a:r>
              <a:rPr lang="en-AU" sz="2200" dirty="0" smtClean="0">
                <a:latin typeface="Helvetica" pitchFamily="34" charset="0"/>
              </a:rPr>
              <a:t>Courier service </a:t>
            </a:r>
          </a:p>
          <a:p>
            <a:pPr lvl="0">
              <a:spcBef>
                <a:spcPts val="600"/>
              </a:spcBef>
              <a:spcAft>
                <a:spcPts val="1200"/>
              </a:spcAft>
            </a:pPr>
            <a:r>
              <a:rPr lang="en-AU" sz="2200" dirty="0" smtClean="0">
                <a:latin typeface="Helvetica" pitchFamily="34" charset="0"/>
              </a:rPr>
              <a:t>Translations</a:t>
            </a:r>
          </a:p>
          <a:p>
            <a:pPr lvl="0">
              <a:spcBef>
                <a:spcPts val="600"/>
              </a:spcBef>
              <a:spcAft>
                <a:spcPts val="1200"/>
              </a:spcAft>
            </a:pPr>
            <a:r>
              <a:rPr lang="en-AU" sz="2200" dirty="0" smtClean="0">
                <a:latin typeface="Helvetica" pitchFamily="34" charset="0"/>
              </a:rPr>
              <a:t>Arrangement of transport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2050" name="Picture 2" descr="I:\Overseas Projects\PHOTOS\2012\Office\511610_working[2].jpg"/>
          <p:cNvPicPr>
            <a:picLocks noChangeAspect="1" noChangeArrowheads="1"/>
          </p:cNvPicPr>
          <p:nvPr/>
        </p:nvPicPr>
        <p:blipFill>
          <a:blip r:embed="rId3" cstate="print"/>
          <a:srcRect/>
          <a:stretch>
            <a:fillRect/>
          </a:stretch>
        </p:blipFill>
        <p:spPr bwMode="auto">
          <a:xfrm>
            <a:off x="5029200" y="2667000"/>
            <a:ext cx="2857500" cy="2143125"/>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Functions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Auditoriums </a:t>
            </a:r>
          </a:p>
          <a:p>
            <a:pPr marL="0">
              <a:spcBef>
                <a:spcPts val="600"/>
              </a:spcBef>
              <a:spcAft>
                <a:spcPts val="1200"/>
              </a:spcAft>
            </a:pPr>
            <a:r>
              <a:rPr lang="en-AU" sz="2200" dirty="0" smtClean="0">
                <a:latin typeface="Helvetica" pitchFamily="34" charset="0"/>
              </a:rPr>
              <a:t>Press rooms</a:t>
            </a:r>
          </a:p>
          <a:p>
            <a:pPr marL="0">
              <a:spcBef>
                <a:spcPts val="600"/>
              </a:spcBef>
              <a:spcAft>
                <a:spcPts val="1200"/>
              </a:spcAft>
            </a:pPr>
            <a:r>
              <a:rPr lang="en-AU" sz="2200" dirty="0" smtClean="0">
                <a:latin typeface="Helvetica" pitchFamily="34" charset="0"/>
              </a:rPr>
              <a:t>Storage bays</a:t>
            </a:r>
          </a:p>
          <a:p>
            <a:pPr marL="0">
              <a:spcBef>
                <a:spcPts val="600"/>
              </a:spcBef>
              <a:spcAft>
                <a:spcPts val="1200"/>
              </a:spcAft>
            </a:pPr>
            <a:r>
              <a:rPr lang="en-AU" sz="2200" dirty="0" smtClean="0">
                <a:latin typeface="Helvetica" pitchFamily="34" charset="0"/>
              </a:rPr>
              <a:t>Parking facilities </a:t>
            </a:r>
          </a:p>
          <a:p>
            <a:pPr marL="0">
              <a:spcBef>
                <a:spcPts val="600"/>
              </a:spcBef>
              <a:spcAft>
                <a:spcPts val="1200"/>
              </a:spcAft>
            </a:pPr>
            <a:r>
              <a:rPr lang="en-AU" sz="2200" dirty="0" smtClean="0">
                <a:latin typeface="Helvetica" pitchFamily="34" charset="0"/>
              </a:rPr>
              <a:t>Change rooms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6" name="Picture 5" descr="MP900400915.JPG"/>
          <p:cNvPicPr/>
          <p:nvPr/>
        </p:nvPicPr>
        <p:blipFill>
          <a:blip r:embed="rId3" cstate="print"/>
          <a:stretch>
            <a:fillRect/>
          </a:stretch>
        </p:blipFill>
        <p:spPr>
          <a:xfrm>
            <a:off x="5334000" y="2286000"/>
            <a:ext cx="2664778" cy="2081213"/>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Functions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Display areas </a:t>
            </a:r>
          </a:p>
          <a:p>
            <a:pPr marL="421200">
              <a:spcBef>
                <a:spcPts val="600"/>
              </a:spcBef>
              <a:spcAft>
                <a:spcPts val="1200"/>
              </a:spcAft>
            </a:pPr>
            <a:r>
              <a:rPr lang="en-AU" sz="2200" dirty="0" smtClean="0">
                <a:latin typeface="Helvetica" pitchFamily="34" charset="0"/>
              </a:rPr>
              <a:t>Designated and discreet sections of restaurants and/or bars </a:t>
            </a:r>
          </a:p>
          <a:p>
            <a:pPr marL="0">
              <a:spcBef>
                <a:spcPts val="600"/>
              </a:spcBef>
              <a:spcAft>
                <a:spcPts val="1200"/>
              </a:spcAft>
            </a:pPr>
            <a:r>
              <a:rPr lang="en-AU" sz="2200" dirty="0" smtClean="0">
                <a:latin typeface="Helvetica" pitchFamily="34" charset="0"/>
              </a:rPr>
              <a:t>Food and beverage service </a:t>
            </a:r>
          </a:p>
          <a:p>
            <a:pPr marL="0">
              <a:spcBef>
                <a:spcPts val="600"/>
              </a:spcBef>
              <a:spcAft>
                <a:spcPts val="1200"/>
              </a:spcAft>
            </a:pPr>
            <a:r>
              <a:rPr lang="en-AU" sz="2200" dirty="0" smtClean="0">
                <a:latin typeface="Helvetica" pitchFamily="34" charset="0"/>
              </a:rPr>
              <a:t>Accommodation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7" name="Picture 6" descr="MP900431761[1].JPG"/>
          <p:cNvPicPr/>
          <p:nvPr/>
        </p:nvPicPr>
        <p:blipFill>
          <a:blip r:embed="rId3" cstate="print"/>
          <a:stretch>
            <a:fillRect/>
          </a:stretch>
        </p:blipFill>
        <p:spPr>
          <a:xfrm>
            <a:off x="5867400" y="3505200"/>
            <a:ext cx="2405063" cy="157638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Functions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Sound and lighting</a:t>
            </a:r>
          </a:p>
          <a:p>
            <a:pPr marL="0">
              <a:spcBef>
                <a:spcPts val="600"/>
              </a:spcBef>
              <a:spcAft>
                <a:spcPts val="1200"/>
              </a:spcAft>
            </a:pPr>
            <a:r>
              <a:rPr lang="en-AU" sz="2200" dirty="0" smtClean="0">
                <a:latin typeface="Helvetica" pitchFamily="34" charset="0"/>
              </a:rPr>
              <a:t>Communication technologies and equipment</a:t>
            </a:r>
          </a:p>
          <a:p>
            <a:pPr marL="0">
              <a:spcBef>
                <a:spcPts val="600"/>
              </a:spcBef>
              <a:spcAft>
                <a:spcPts val="1200"/>
              </a:spcAft>
            </a:pPr>
            <a:r>
              <a:rPr lang="en-AU" sz="2200" dirty="0" smtClean="0">
                <a:latin typeface="Helvetica" pitchFamily="34" charset="0"/>
              </a:rPr>
              <a:t>Music facilities</a:t>
            </a:r>
          </a:p>
          <a:p>
            <a:pPr marL="0">
              <a:spcBef>
                <a:spcPts val="600"/>
              </a:spcBef>
              <a:spcAft>
                <a:spcPts val="1200"/>
              </a:spcAft>
            </a:pPr>
            <a:r>
              <a:rPr lang="en-AU" sz="2200" dirty="0" smtClean="0">
                <a:latin typeface="Helvetica" pitchFamily="34" charset="0"/>
              </a:rPr>
              <a:t>Gardens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6" name="Picture 5" descr="MP900442735.JPG"/>
          <p:cNvPicPr>
            <a:picLocks noChangeAspect="1"/>
          </p:cNvPicPr>
          <p:nvPr/>
        </p:nvPicPr>
        <p:blipFill>
          <a:blip r:embed="rId3" cstate="print"/>
          <a:stretch>
            <a:fillRect/>
          </a:stretch>
        </p:blipFill>
        <p:spPr>
          <a:xfrm>
            <a:off x="5181600" y="3581400"/>
            <a:ext cx="2548890" cy="1696258"/>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functions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Breakfasts </a:t>
            </a:r>
          </a:p>
          <a:p>
            <a:pPr lvl="0">
              <a:spcBef>
                <a:spcPts val="600"/>
              </a:spcBef>
              <a:spcAft>
                <a:spcPts val="1200"/>
              </a:spcAft>
            </a:pPr>
            <a:r>
              <a:rPr lang="en-AU" sz="2200" dirty="0" smtClean="0">
                <a:latin typeface="Helvetica" pitchFamily="34" charset="0"/>
              </a:rPr>
              <a:t>Lunches </a:t>
            </a:r>
          </a:p>
          <a:p>
            <a:pPr lvl="0">
              <a:spcBef>
                <a:spcPts val="600"/>
              </a:spcBef>
              <a:spcAft>
                <a:spcPts val="1200"/>
              </a:spcAft>
            </a:pPr>
            <a:r>
              <a:rPr lang="en-AU" sz="2200" dirty="0" smtClean="0">
                <a:latin typeface="Helvetica" pitchFamily="34" charset="0"/>
              </a:rPr>
              <a:t>Dinners</a:t>
            </a:r>
          </a:p>
          <a:p>
            <a:pPr lvl="0">
              <a:spcBef>
                <a:spcPts val="600"/>
              </a:spcBef>
              <a:spcAft>
                <a:spcPts val="1200"/>
              </a:spcAft>
            </a:pPr>
            <a:r>
              <a:rPr lang="en-AU" sz="2200" dirty="0" smtClean="0">
                <a:latin typeface="Helvetica" pitchFamily="34" charset="0"/>
              </a:rPr>
              <a:t>Seminars, workshops and conferences </a:t>
            </a:r>
          </a:p>
          <a:p>
            <a:pPr lvl="0">
              <a:spcBef>
                <a:spcPts val="600"/>
              </a:spcBef>
              <a:spcAft>
                <a:spcPts val="1200"/>
              </a:spcAft>
            </a:pPr>
            <a:r>
              <a:rPr lang="en-AU" sz="2200" dirty="0" smtClean="0">
                <a:latin typeface="Helvetica" pitchFamily="34" charset="0"/>
              </a:rPr>
              <a:t>Cocktail parties </a:t>
            </a:r>
          </a:p>
          <a:p>
            <a:pPr lvl="0">
              <a:spcBef>
                <a:spcPts val="600"/>
              </a:spcBef>
              <a:spcAft>
                <a:spcPts val="1200"/>
              </a:spcAft>
            </a:pPr>
            <a:r>
              <a:rPr lang="en-AU" sz="2200" dirty="0" smtClean="0">
                <a:latin typeface="Helvetica" pitchFamily="34" charset="0"/>
              </a:rPr>
              <a:t>General parties, birthdays &amp; celebrations</a:t>
            </a:r>
          </a:p>
          <a:p>
            <a:pPr>
              <a:spcBef>
                <a:spcPts val="600"/>
              </a:spcBef>
              <a:spcAft>
                <a:spcPts val="1200"/>
              </a:spcAft>
            </a:pPr>
            <a:r>
              <a:rPr lang="en-AU" sz="2200" dirty="0" smtClean="0">
                <a:latin typeface="Helvetica" pitchFamily="34" charset="0"/>
              </a:rPr>
              <a:t>Weddings/receptions </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8" name="Picture 7" descr="MP900439310[1].JPG"/>
          <p:cNvPicPr>
            <a:picLocks noChangeAspect="1"/>
          </p:cNvPicPr>
          <p:nvPr/>
        </p:nvPicPr>
        <p:blipFill>
          <a:blip r:embed="rId3" cstate="print"/>
          <a:stretch>
            <a:fillRect/>
          </a:stretch>
        </p:blipFill>
        <p:spPr>
          <a:xfrm>
            <a:off x="5867400" y="1219200"/>
            <a:ext cx="1905000" cy="197866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functions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Anniversaries</a:t>
            </a:r>
          </a:p>
          <a:p>
            <a:pPr lvl="0">
              <a:spcBef>
                <a:spcPts val="600"/>
              </a:spcBef>
              <a:spcAft>
                <a:spcPts val="1200"/>
              </a:spcAft>
            </a:pPr>
            <a:r>
              <a:rPr lang="en-AU" sz="2200" dirty="0" smtClean="0">
                <a:latin typeface="Helvetica" pitchFamily="34" charset="0"/>
              </a:rPr>
              <a:t>21st birthday parties</a:t>
            </a:r>
          </a:p>
          <a:p>
            <a:pPr lvl="0">
              <a:spcBef>
                <a:spcPts val="600"/>
              </a:spcBef>
              <a:spcAft>
                <a:spcPts val="1200"/>
              </a:spcAft>
            </a:pPr>
            <a:r>
              <a:rPr lang="en-AU" sz="2200" dirty="0" smtClean="0">
                <a:latin typeface="Helvetica" pitchFamily="34" charset="0"/>
              </a:rPr>
              <a:t>Product launches and distributor functions</a:t>
            </a:r>
          </a:p>
          <a:p>
            <a:pPr lvl="0">
              <a:spcBef>
                <a:spcPts val="600"/>
              </a:spcBef>
              <a:spcAft>
                <a:spcPts val="1200"/>
              </a:spcAft>
            </a:pPr>
            <a:r>
              <a:rPr lang="en-AU" sz="2200" dirty="0" smtClean="0">
                <a:latin typeface="Helvetica" pitchFamily="34" charset="0"/>
              </a:rPr>
              <a:t>School formal, annual dinners and dinner dances</a:t>
            </a:r>
          </a:p>
          <a:p>
            <a:pPr lvl="0">
              <a:spcBef>
                <a:spcPts val="600"/>
              </a:spcBef>
              <a:spcAft>
                <a:spcPts val="1200"/>
              </a:spcAft>
            </a:pPr>
            <a:r>
              <a:rPr lang="en-AU" sz="2200" dirty="0" smtClean="0">
                <a:latin typeface="Helvetica" pitchFamily="34" charset="0"/>
              </a:rPr>
              <a:t>Annual general meetings</a:t>
            </a:r>
          </a:p>
          <a:p>
            <a:pPr lvl="0">
              <a:spcBef>
                <a:spcPts val="600"/>
              </a:spcBef>
              <a:spcAft>
                <a:spcPts val="1200"/>
              </a:spcAft>
            </a:pPr>
            <a:r>
              <a:rPr lang="en-AU" sz="2200" dirty="0" smtClean="0">
                <a:latin typeface="Helvetica" pitchFamily="34" charset="0"/>
              </a:rPr>
              <a:t>Training seminars</a:t>
            </a:r>
          </a:p>
          <a:p>
            <a:pPr>
              <a:spcBef>
                <a:spcPts val="600"/>
              </a:spcBef>
              <a:spcAft>
                <a:spcPts val="1200"/>
              </a:spcAft>
            </a:pPr>
            <a:r>
              <a:rPr lang="en-AU" sz="2200" dirty="0" smtClean="0">
                <a:latin typeface="Helvetica" pitchFamily="34" charset="0"/>
              </a:rPr>
              <a:t>Graduations and award nights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6" name="Picture 5" descr="MP900422638.JPG"/>
          <p:cNvPicPr>
            <a:picLocks noChangeAspect="1"/>
          </p:cNvPicPr>
          <p:nvPr/>
        </p:nvPicPr>
        <p:blipFill>
          <a:blip r:embed="rId3" cstate="print"/>
          <a:stretch>
            <a:fillRect/>
          </a:stretch>
        </p:blipFill>
        <p:spPr>
          <a:xfrm>
            <a:off x="5562600" y="3886200"/>
            <a:ext cx="2119826" cy="1429226"/>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functions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Press receptions</a:t>
            </a:r>
          </a:p>
          <a:p>
            <a:pPr lvl="0">
              <a:spcBef>
                <a:spcPts val="600"/>
              </a:spcBef>
              <a:spcAft>
                <a:spcPts val="1200"/>
              </a:spcAft>
            </a:pPr>
            <a:r>
              <a:rPr lang="en-AU" sz="2200" dirty="0" smtClean="0">
                <a:latin typeface="Helvetica" pitchFamily="34" charset="0"/>
              </a:rPr>
              <a:t>Fashion shows</a:t>
            </a:r>
          </a:p>
          <a:p>
            <a:pPr lvl="0">
              <a:spcBef>
                <a:spcPts val="600"/>
              </a:spcBef>
              <a:spcAft>
                <a:spcPts val="1200"/>
              </a:spcAft>
            </a:pPr>
            <a:r>
              <a:rPr lang="en-AU" sz="2200" dirty="0" smtClean="0">
                <a:latin typeface="Helvetica" pitchFamily="34" charset="0"/>
              </a:rPr>
              <a:t>Special events</a:t>
            </a:r>
          </a:p>
          <a:p>
            <a:pPr lvl="0">
              <a:spcBef>
                <a:spcPts val="600"/>
              </a:spcBef>
              <a:spcAft>
                <a:spcPts val="1200"/>
              </a:spcAft>
            </a:pPr>
            <a:r>
              <a:rPr lang="en-AU" sz="2200" dirty="0" smtClean="0">
                <a:latin typeface="Helvetica" pitchFamily="34" charset="0"/>
              </a:rPr>
              <a:t>Tradeshows </a:t>
            </a:r>
          </a:p>
          <a:p>
            <a:pPr lvl="0">
              <a:spcBef>
                <a:spcPts val="600"/>
              </a:spcBef>
              <a:spcAft>
                <a:spcPts val="1200"/>
              </a:spcAft>
            </a:pPr>
            <a:r>
              <a:rPr lang="en-AU" sz="2200" dirty="0" smtClean="0">
                <a:latin typeface="Helvetica" pitchFamily="34" charset="0"/>
              </a:rPr>
              <a:t>Stage productions, including music events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7" name="Picture 6" descr="MP900443651.JPG"/>
          <p:cNvPicPr>
            <a:picLocks noChangeAspect="1"/>
          </p:cNvPicPr>
          <p:nvPr/>
        </p:nvPicPr>
        <p:blipFill>
          <a:blip r:embed="rId3" cstate="print">
            <a:duotone>
              <a:prstClr val="black"/>
              <a:srgbClr val="D9C3A5">
                <a:tint val="50000"/>
                <a:satMod val="180000"/>
              </a:srgbClr>
            </a:duotone>
          </a:blip>
          <a:stretch>
            <a:fillRect/>
          </a:stretch>
        </p:blipFill>
        <p:spPr>
          <a:xfrm>
            <a:off x="6324600" y="1447800"/>
            <a:ext cx="1496568" cy="2242208"/>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functions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MICE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Many venues focus on the MICE sector of the industry. </a:t>
            </a:r>
          </a:p>
          <a:p>
            <a:pPr>
              <a:spcBef>
                <a:spcPts val="600"/>
              </a:spcBef>
              <a:spcAft>
                <a:spcPts val="1200"/>
              </a:spcAft>
              <a:buNone/>
            </a:pPr>
            <a:r>
              <a:rPr lang="en-AU" sz="2200" dirty="0" smtClean="0">
                <a:latin typeface="Helvetica" pitchFamily="34" charset="0"/>
              </a:rPr>
              <a:t>MICE stands for:</a:t>
            </a:r>
          </a:p>
          <a:p>
            <a:pPr>
              <a:spcBef>
                <a:spcPts val="600"/>
              </a:spcBef>
              <a:spcAft>
                <a:spcPts val="1200"/>
              </a:spcAft>
            </a:pPr>
            <a:r>
              <a:rPr lang="en-AU" sz="2200" b="1" dirty="0" smtClean="0">
                <a:latin typeface="Helvetica" pitchFamily="34" charset="0"/>
              </a:rPr>
              <a:t>M</a:t>
            </a:r>
            <a:r>
              <a:rPr lang="en-AU" sz="2200" dirty="0" smtClean="0">
                <a:latin typeface="Helvetica" pitchFamily="34" charset="0"/>
              </a:rPr>
              <a:t>eetings</a:t>
            </a:r>
          </a:p>
          <a:p>
            <a:pPr>
              <a:spcBef>
                <a:spcPts val="600"/>
              </a:spcBef>
              <a:spcAft>
                <a:spcPts val="1200"/>
              </a:spcAft>
            </a:pPr>
            <a:r>
              <a:rPr lang="en-AU" sz="2200" b="1" dirty="0" smtClean="0">
                <a:latin typeface="Helvetica" pitchFamily="34" charset="0"/>
              </a:rPr>
              <a:t>I</a:t>
            </a:r>
            <a:r>
              <a:rPr lang="en-AU" sz="2200" dirty="0" smtClean="0">
                <a:latin typeface="Helvetica" pitchFamily="34" charset="0"/>
              </a:rPr>
              <a:t>ncentives </a:t>
            </a:r>
          </a:p>
          <a:p>
            <a:pPr>
              <a:spcBef>
                <a:spcPts val="600"/>
              </a:spcBef>
              <a:spcAft>
                <a:spcPts val="1200"/>
              </a:spcAft>
            </a:pPr>
            <a:r>
              <a:rPr lang="en-AU" sz="2200" b="1" dirty="0" smtClean="0">
                <a:latin typeface="Helvetica" pitchFamily="34" charset="0"/>
              </a:rPr>
              <a:t>C</a:t>
            </a:r>
            <a:r>
              <a:rPr lang="en-AU" sz="2200" dirty="0" smtClean="0">
                <a:latin typeface="Helvetica" pitchFamily="34" charset="0"/>
              </a:rPr>
              <a:t>onferences</a:t>
            </a:r>
          </a:p>
          <a:p>
            <a:pPr>
              <a:spcBef>
                <a:spcPts val="600"/>
              </a:spcBef>
              <a:spcAft>
                <a:spcPts val="1200"/>
              </a:spcAft>
            </a:pPr>
            <a:r>
              <a:rPr lang="en-AU" sz="2200" b="1" dirty="0" smtClean="0">
                <a:latin typeface="Helvetica" pitchFamily="34" charset="0"/>
              </a:rPr>
              <a:t>E</a:t>
            </a:r>
            <a:r>
              <a:rPr lang="en-AU" sz="2200" dirty="0" smtClean="0">
                <a:latin typeface="Helvetica" pitchFamily="34" charset="0"/>
              </a:rPr>
              <a:t>vents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6" name="Picture 5" descr="MP900423018[1].JPG"/>
          <p:cNvPicPr/>
          <p:nvPr/>
        </p:nvPicPr>
        <p:blipFill>
          <a:blip r:embed="rId3" cstate="print"/>
          <a:stretch>
            <a:fillRect/>
          </a:stretch>
        </p:blipFill>
        <p:spPr>
          <a:xfrm>
            <a:off x="5562600" y="3048000"/>
            <a:ext cx="1976438" cy="2052638"/>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functions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MICE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Meetings include general business meetings</a:t>
            </a:r>
          </a:p>
          <a:p>
            <a:pPr lvl="0">
              <a:spcBef>
                <a:spcPts val="600"/>
              </a:spcBef>
              <a:spcAft>
                <a:spcPts val="1200"/>
              </a:spcAft>
            </a:pPr>
            <a:r>
              <a:rPr lang="en-AU" sz="2200" dirty="0" smtClean="0">
                <a:latin typeface="Helvetica" pitchFamily="34" charset="0"/>
              </a:rPr>
              <a:t>Incentives refers to functions that businesses </a:t>
            </a:r>
            <a:br>
              <a:rPr lang="en-AU" sz="2200" dirty="0" smtClean="0">
                <a:latin typeface="Helvetica" pitchFamily="34" charset="0"/>
              </a:rPr>
            </a:br>
            <a:r>
              <a:rPr lang="en-AU" sz="2200" dirty="0" smtClean="0">
                <a:latin typeface="Helvetica" pitchFamily="34" charset="0"/>
              </a:rPr>
              <a:t>organise to reward or motivate staff</a:t>
            </a:r>
          </a:p>
          <a:p>
            <a:pPr lvl="0">
              <a:spcBef>
                <a:spcPts val="600"/>
              </a:spcBef>
              <a:spcAft>
                <a:spcPts val="1200"/>
              </a:spcAft>
            </a:pPr>
            <a:r>
              <a:rPr lang="en-AU" sz="2200" dirty="0" smtClean="0">
                <a:latin typeface="Helvetica" pitchFamily="34" charset="0"/>
              </a:rPr>
              <a:t>Conferences are usually business/industry </a:t>
            </a:r>
            <a:br>
              <a:rPr lang="en-AU" sz="2200" dirty="0" smtClean="0">
                <a:latin typeface="Helvetica" pitchFamily="34" charset="0"/>
              </a:rPr>
            </a:br>
            <a:r>
              <a:rPr lang="en-AU" sz="2200" dirty="0" smtClean="0">
                <a:latin typeface="Helvetica" pitchFamily="34" charset="0"/>
              </a:rPr>
              <a:t>based occasions where people get together </a:t>
            </a:r>
            <a:br>
              <a:rPr lang="en-AU" sz="2200" dirty="0" smtClean="0">
                <a:latin typeface="Helvetica" pitchFamily="34" charset="0"/>
              </a:rPr>
            </a:br>
            <a:r>
              <a:rPr lang="en-AU" sz="2200" dirty="0" smtClean="0">
                <a:latin typeface="Helvetica" pitchFamily="34" charset="0"/>
              </a:rPr>
              <a:t>to discuss issues and share knowledge</a:t>
            </a:r>
          </a:p>
          <a:p>
            <a:pPr lvl="0">
              <a:spcBef>
                <a:spcPts val="600"/>
              </a:spcBef>
              <a:spcAft>
                <a:spcPts val="1200"/>
              </a:spcAft>
            </a:pPr>
            <a:r>
              <a:rPr lang="en-AU" sz="2200" dirty="0" smtClean="0">
                <a:latin typeface="Helvetica" pitchFamily="34" charset="0"/>
              </a:rPr>
              <a:t>Events can include bands, concerts,                    entertainments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6" name="Picture 5" descr="MP900441047.JPG"/>
          <p:cNvPicPr/>
          <p:nvPr/>
        </p:nvPicPr>
        <p:blipFill>
          <a:blip r:embed="rId3" cstate="print"/>
          <a:stretch>
            <a:fillRect/>
          </a:stretch>
        </p:blipFill>
        <p:spPr>
          <a:xfrm>
            <a:off x="7010400" y="3200400"/>
            <a:ext cx="1409700" cy="140970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Plated service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Kitchen plates all the food and the waiting staff carry the plated food to the table.</a:t>
            </a:r>
          </a:p>
          <a:p>
            <a:pPr>
              <a:spcBef>
                <a:spcPts val="600"/>
              </a:spcBef>
              <a:spcAft>
                <a:spcPts val="1200"/>
              </a:spcAft>
              <a:buNone/>
            </a:pPr>
            <a:r>
              <a:rPr lang="en-AU" sz="2200" dirty="0" smtClean="0">
                <a:latin typeface="Helvetica" pitchFamily="34" charset="0"/>
              </a:rPr>
              <a:t>The benefits of plated service are:</a:t>
            </a:r>
          </a:p>
          <a:p>
            <a:pPr lvl="0">
              <a:spcBef>
                <a:spcPts val="600"/>
              </a:spcBef>
              <a:spcAft>
                <a:spcPts val="1200"/>
              </a:spcAft>
            </a:pPr>
            <a:r>
              <a:rPr lang="en-AU" sz="2200" dirty="0" smtClean="0">
                <a:latin typeface="Helvetica" pitchFamily="34" charset="0"/>
              </a:rPr>
              <a:t>Consistency of meals</a:t>
            </a:r>
          </a:p>
          <a:p>
            <a:pPr lvl="0">
              <a:spcBef>
                <a:spcPts val="600"/>
              </a:spcBef>
              <a:spcAft>
                <a:spcPts val="1200"/>
              </a:spcAft>
            </a:pPr>
            <a:r>
              <a:rPr lang="en-AU" sz="2200" dirty="0" smtClean="0">
                <a:latin typeface="Helvetica" pitchFamily="34" charset="0"/>
              </a:rPr>
              <a:t>Fast service</a:t>
            </a:r>
          </a:p>
          <a:p>
            <a:pPr lvl="0">
              <a:spcBef>
                <a:spcPts val="600"/>
              </a:spcBef>
              <a:spcAft>
                <a:spcPts val="1200"/>
              </a:spcAft>
            </a:pPr>
            <a:r>
              <a:rPr lang="en-AU" sz="2200" dirty="0" smtClean="0">
                <a:latin typeface="Helvetica" pitchFamily="34" charset="0"/>
              </a:rPr>
              <a:t>Portion control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7" name="Picture 6" descr="http://farm9.staticflickr.com/8039/7980174977_54b6d71e8b.jpg"/>
          <p:cNvPicPr/>
          <p:nvPr/>
        </p:nvPicPr>
        <p:blipFill>
          <a:blip r:embed="rId3" cstate="print"/>
          <a:srcRect/>
          <a:stretch>
            <a:fillRect/>
          </a:stretch>
        </p:blipFill>
        <p:spPr bwMode="auto">
          <a:xfrm>
            <a:off x="6172200" y="3276600"/>
            <a:ext cx="2176463" cy="16525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Silver service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Food items are prepared and carved or separated into individual portions and placed on platters by kitchen staff. </a:t>
            </a:r>
          </a:p>
          <a:p>
            <a:pPr marL="0">
              <a:spcBef>
                <a:spcPts val="600"/>
              </a:spcBef>
              <a:spcAft>
                <a:spcPts val="1200"/>
              </a:spcAft>
              <a:buNone/>
            </a:pPr>
            <a:r>
              <a:rPr lang="en-AU" sz="2200" dirty="0" smtClean="0">
                <a:latin typeface="Helvetica" pitchFamily="34" charset="0"/>
              </a:rPr>
              <a:t>Waiting staff use spoons and forks to serve food from service platters.</a:t>
            </a:r>
          </a:p>
          <a:p>
            <a:pPr>
              <a:spcBef>
                <a:spcPts val="600"/>
              </a:spcBef>
              <a:spcAft>
                <a:spcPts val="1200"/>
              </a:spcAft>
              <a:buNone/>
            </a:pPr>
            <a:r>
              <a:rPr lang="en-AU" sz="2200" dirty="0" smtClean="0">
                <a:latin typeface="Helvetica" pitchFamily="34" charset="0"/>
              </a:rPr>
              <a:t>The benefits of silver service are:</a:t>
            </a:r>
          </a:p>
          <a:p>
            <a:pPr lvl="0">
              <a:spcBef>
                <a:spcPts val="600"/>
              </a:spcBef>
              <a:spcAft>
                <a:spcPts val="1200"/>
              </a:spcAft>
            </a:pPr>
            <a:r>
              <a:rPr lang="en-AU" sz="2200" dirty="0" smtClean="0">
                <a:latin typeface="Helvetica" pitchFamily="34" charset="0"/>
              </a:rPr>
              <a:t>Adds a dimension of ‘entertainment and sophistication’</a:t>
            </a:r>
          </a:p>
          <a:p>
            <a:pPr lvl="0">
              <a:spcBef>
                <a:spcPts val="600"/>
              </a:spcBef>
              <a:spcAft>
                <a:spcPts val="1200"/>
              </a:spcAft>
            </a:pPr>
            <a:r>
              <a:rPr lang="en-AU" sz="2200" dirty="0" smtClean="0">
                <a:latin typeface="Helvetica" pitchFamily="34" charset="0"/>
              </a:rPr>
              <a:t>Customers can have greater choice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Semi silver service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Meat component of the dish is plated and served, and the vegetables are silver served.</a:t>
            </a:r>
          </a:p>
          <a:p>
            <a:pPr>
              <a:spcBef>
                <a:spcPts val="600"/>
              </a:spcBef>
              <a:spcAft>
                <a:spcPts val="1200"/>
              </a:spcAft>
              <a:buNone/>
            </a:pPr>
            <a:r>
              <a:rPr lang="en-AU" sz="2200" dirty="0" smtClean="0">
                <a:latin typeface="Helvetica" pitchFamily="34" charset="0"/>
              </a:rPr>
              <a:t>The benefits of semi-silver service are:</a:t>
            </a:r>
          </a:p>
          <a:p>
            <a:pPr lvl="0">
              <a:spcBef>
                <a:spcPts val="600"/>
              </a:spcBef>
              <a:spcAft>
                <a:spcPts val="1200"/>
              </a:spcAft>
            </a:pPr>
            <a:r>
              <a:rPr lang="en-AU" sz="2200" dirty="0" smtClean="0">
                <a:latin typeface="Helvetica" pitchFamily="34" charset="0"/>
              </a:rPr>
              <a:t>Increases options for customer</a:t>
            </a:r>
          </a:p>
          <a:p>
            <a:pPr lvl="0">
              <a:spcBef>
                <a:spcPts val="600"/>
              </a:spcBef>
              <a:spcAft>
                <a:spcPts val="1200"/>
              </a:spcAft>
            </a:pPr>
            <a:r>
              <a:rPr lang="en-AU" sz="2200" dirty="0" smtClean="0">
                <a:latin typeface="Helvetica" pitchFamily="34" charset="0"/>
              </a:rPr>
              <a:t>A more time efficient use of silver service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5" name="Picture 4" descr="http://www.yachtstewardess.biz/Silver%20Service%203.jpg"/>
          <p:cNvPicPr/>
          <p:nvPr/>
        </p:nvPicPr>
        <p:blipFill>
          <a:blip r:embed="rId3" cstate="print"/>
          <a:srcRect/>
          <a:stretch>
            <a:fillRect/>
          </a:stretch>
        </p:blipFill>
        <p:spPr bwMode="auto">
          <a:xfrm>
            <a:off x="6400800" y="2895600"/>
            <a:ext cx="1866900" cy="1257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1200"/>
              </a:spcAft>
              <a:buNone/>
            </a:pPr>
            <a:r>
              <a:rPr lang="en-AU" sz="2200" b="1" dirty="0" smtClean="0">
                <a:latin typeface="Helvetica" pitchFamily="34" charset="0"/>
              </a:rPr>
              <a:t>Gueridon service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Food is prepared or cooked at the table and served using full silver service techniques. </a:t>
            </a:r>
          </a:p>
          <a:p>
            <a:pPr>
              <a:spcBef>
                <a:spcPts val="600"/>
              </a:spcBef>
              <a:spcAft>
                <a:spcPts val="1200"/>
              </a:spcAft>
              <a:buNone/>
            </a:pPr>
            <a:r>
              <a:rPr lang="en-AU" sz="2200" dirty="0" smtClean="0">
                <a:latin typeface="Helvetica" pitchFamily="34" charset="0"/>
              </a:rPr>
              <a:t>The benefits of gueridon service are:</a:t>
            </a:r>
          </a:p>
          <a:p>
            <a:pPr lvl="0">
              <a:spcBef>
                <a:spcPts val="600"/>
              </a:spcBef>
              <a:spcAft>
                <a:spcPts val="1200"/>
              </a:spcAft>
            </a:pPr>
            <a:r>
              <a:rPr lang="en-AU" sz="2200" dirty="0" smtClean="0">
                <a:latin typeface="Helvetica" pitchFamily="34" charset="0"/>
              </a:rPr>
              <a:t>It is a form of entertainment</a:t>
            </a:r>
          </a:p>
          <a:p>
            <a:pPr lvl="0">
              <a:spcBef>
                <a:spcPts val="600"/>
              </a:spcBef>
              <a:spcAft>
                <a:spcPts val="1200"/>
              </a:spcAft>
            </a:pPr>
            <a:r>
              <a:rPr lang="en-AU" sz="2200" dirty="0" smtClean="0">
                <a:latin typeface="Helvetica" pitchFamily="34" charset="0"/>
              </a:rPr>
              <a:t>It is interactive</a:t>
            </a:r>
          </a:p>
          <a:p>
            <a:pPr lvl="0">
              <a:spcBef>
                <a:spcPts val="600"/>
              </a:spcBef>
              <a:spcAft>
                <a:spcPts val="1200"/>
              </a:spcAft>
            </a:pPr>
            <a:r>
              <a:rPr lang="en-AU" sz="2200" dirty="0" smtClean="0">
                <a:latin typeface="Helvetica" pitchFamily="34" charset="0"/>
              </a:rPr>
              <a:t>Allows customers to see the cooking                                process</a:t>
            </a:r>
          </a:p>
          <a:p>
            <a:pPr lvl="0">
              <a:spcBef>
                <a:spcPts val="600"/>
              </a:spcBef>
              <a:spcAft>
                <a:spcPts val="1200"/>
              </a:spcAft>
            </a:pPr>
            <a:r>
              <a:rPr lang="en-AU" sz="2200" dirty="0" smtClean="0">
                <a:latin typeface="Helvetica" pitchFamily="34" charset="0"/>
              </a:rPr>
              <a:t>Meals can be prepared to customer’s                                         exact specifications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 name="Picture 5" descr="http://www.mpduksales.com/Images/Restaurant/6404.jpg"/>
          <p:cNvPicPr/>
          <p:nvPr/>
        </p:nvPicPr>
        <p:blipFill>
          <a:blip r:embed="rId3" cstate="print"/>
          <a:srcRect/>
          <a:stretch>
            <a:fillRect/>
          </a:stretch>
        </p:blipFill>
        <p:spPr bwMode="auto">
          <a:xfrm flipH="1">
            <a:off x="5867400" y="2743200"/>
            <a:ext cx="2347912" cy="16859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Buffet service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Food is prepared in kitchens in large quantities and then placed on a buffet or display table</a:t>
            </a:r>
          </a:p>
          <a:p>
            <a:pPr>
              <a:spcBef>
                <a:spcPts val="600"/>
              </a:spcBef>
              <a:spcAft>
                <a:spcPts val="1200"/>
              </a:spcAft>
            </a:pPr>
            <a:r>
              <a:rPr lang="en-AU" sz="2200" dirty="0" smtClean="0">
                <a:latin typeface="Helvetica" pitchFamily="34" charset="0"/>
              </a:rPr>
              <a:t>In most buffet situations guests serve themselves and select the items and quantities they desire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7" name="Picture 6" descr="http://farm5.staticflickr.com/4055/4327744633_b11563c895.jpg"/>
          <p:cNvPicPr/>
          <p:nvPr/>
        </p:nvPicPr>
        <p:blipFill>
          <a:blip r:embed="rId3" cstate="print"/>
          <a:srcRect/>
          <a:stretch>
            <a:fillRect/>
          </a:stretch>
        </p:blipFill>
        <p:spPr bwMode="auto">
          <a:xfrm>
            <a:off x="3505200" y="4267200"/>
            <a:ext cx="2466975" cy="15668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Buffet service</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 benefits of buffet service are:</a:t>
            </a:r>
          </a:p>
          <a:p>
            <a:pPr lvl="0">
              <a:spcBef>
                <a:spcPts val="600"/>
              </a:spcBef>
              <a:spcAft>
                <a:spcPts val="1200"/>
              </a:spcAft>
            </a:pPr>
            <a:r>
              <a:rPr lang="en-AU" sz="2200" dirty="0" smtClean="0">
                <a:latin typeface="Helvetica" pitchFamily="34" charset="0"/>
              </a:rPr>
              <a:t>Customers have greater choice</a:t>
            </a:r>
          </a:p>
          <a:p>
            <a:pPr lvl="0">
              <a:spcBef>
                <a:spcPts val="600"/>
              </a:spcBef>
              <a:spcAft>
                <a:spcPts val="1200"/>
              </a:spcAft>
            </a:pPr>
            <a:r>
              <a:rPr lang="en-AU" sz="2200" dirty="0" smtClean="0">
                <a:latin typeface="Helvetica" pitchFamily="34" charset="0"/>
              </a:rPr>
              <a:t>They can have small amounts of different                            items as opposed to having one type of </a:t>
            </a:r>
            <a:br>
              <a:rPr lang="en-AU" sz="2200" dirty="0" smtClean="0">
                <a:latin typeface="Helvetica" pitchFamily="34" charset="0"/>
              </a:rPr>
            </a:br>
            <a:r>
              <a:rPr lang="en-AU" sz="2200" dirty="0" smtClean="0">
                <a:latin typeface="Helvetica" pitchFamily="34" charset="0"/>
              </a:rPr>
              <a:t>food</a:t>
            </a:r>
          </a:p>
          <a:p>
            <a:pPr lvl="0">
              <a:spcBef>
                <a:spcPts val="600"/>
              </a:spcBef>
              <a:spcAft>
                <a:spcPts val="1200"/>
              </a:spcAft>
            </a:pPr>
            <a:r>
              <a:rPr lang="en-AU" sz="2200" dirty="0" smtClean="0">
                <a:latin typeface="Helvetica" pitchFamily="34" charset="0"/>
              </a:rPr>
              <a:t>Service is very time efficient</a:t>
            </a:r>
          </a:p>
          <a:p>
            <a:pPr lvl="0">
              <a:spcBef>
                <a:spcPts val="600"/>
              </a:spcBef>
              <a:spcAft>
                <a:spcPts val="1200"/>
              </a:spcAft>
            </a:pPr>
            <a:r>
              <a:rPr lang="en-AU" sz="2200" dirty="0" smtClean="0">
                <a:latin typeface="Helvetica" pitchFamily="34" charset="0"/>
              </a:rPr>
              <a:t>Labour demands are reduced</a:t>
            </a:r>
          </a:p>
          <a:p>
            <a:pPr lvl="0">
              <a:spcBef>
                <a:spcPts val="600"/>
              </a:spcBef>
              <a:spcAft>
                <a:spcPts val="1200"/>
              </a:spcAft>
            </a:pPr>
            <a:r>
              <a:rPr lang="en-AU" sz="2200" dirty="0" smtClean="0">
                <a:latin typeface="Helvetica" pitchFamily="34" charset="0"/>
              </a:rPr>
              <a:t>Food can be prepared in advance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6" name="Picture 5" descr="7980189170_0de3b87499_m.jpg"/>
          <p:cNvPicPr>
            <a:picLocks noChangeAspect="1"/>
          </p:cNvPicPr>
          <p:nvPr/>
        </p:nvPicPr>
        <p:blipFill>
          <a:blip r:embed="rId3" cstate="print"/>
          <a:stretch>
            <a:fillRect/>
          </a:stretch>
        </p:blipFill>
        <p:spPr>
          <a:xfrm>
            <a:off x="6858000" y="2438400"/>
            <a:ext cx="1422400" cy="213360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Cocktail service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This style of service is very popular, either as a prelude to a dinner or as a stand alone function in its own right </a:t>
            </a:r>
          </a:p>
          <a:p>
            <a:pPr>
              <a:spcBef>
                <a:spcPts val="600"/>
              </a:spcBef>
              <a:spcAft>
                <a:spcPts val="1200"/>
              </a:spcAft>
            </a:pPr>
            <a:r>
              <a:rPr lang="en-AU" sz="2200" dirty="0" smtClean="0">
                <a:latin typeface="Helvetica" pitchFamily="34" charset="0"/>
              </a:rPr>
              <a:t>Waiters providing a range of finger foods and beverage to customers in a stand up function</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7" name="Picture 6" descr="MP900443974.JPG"/>
          <p:cNvPicPr>
            <a:picLocks noChangeAspect="1"/>
          </p:cNvPicPr>
          <p:nvPr/>
        </p:nvPicPr>
        <p:blipFill>
          <a:blip r:embed="rId3" cstate="print"/>
          <a:stretch>
            <a:fillRect/>
          </a:stretch>
        </p:blipFill>
        <p:spPr>
          <a:xfrm>
            <a:off x="3962400" y="4114800"/>
            <a:ext cx="1327853" cy="1947672"/>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1200"/>
              </a:spcAft>
              <a:buNone/>
            </a:pPr>
            <a:r>
              <a:rPr lang="en-AU" sz="2200" b="1" dirty="0" smtClean="0">
                <a:latin typeface="Helvetica" pitchFamily="34" charset="0"/>
              </a:rPr>
              <a:t>Cocktail service</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 benefits of cocktail service are:</a:t>
            </a:r>
          </a:p>
          <a:p>
            <a:pPr lvl="0">
              <a:spcBef>
                <a:spcPts val="600"/>
              </a:spcBef>
              <a:spcAft>
                <a:spcPts val="1200"/>
              </a:spcAft>
            </a:pPr>
            <a:r>
              <a:rPr lang="en-AU" sz="2200" dirty="0" smtClean="0">
                <a:latin typeface="Helvetica" pitchFamily="34" charset="0"/>
              </a:rPr>
              <a:t>It has great flexibility in terms of both cost and item options</a:t>
            </a:r>
          </a:p>
          <a:p>
            <a:pPr lvl="0">
              <a:spcBef>
                <a:spcPts val="600"/>
              </a:spcBef>
              <a:spcAft>
                <a:spcPts val="1200"/>
              </a:spcAft>
            </a:pPr>
            <a:r>
              <a:rPr lang="en-AU" sz="2200" dirty="0" smtClean="0">
                <a:latin typeface="Helvetica" pitchFamily="34" charset="0"/>
              </a:rPr>
              <a:t>It is a cost effective method for clients to </a:t>
            </a:r>
            <a:br>
              <a:rPr lang="en-AU" sz="2200" dirty="0" smtClean="0">
                <a:latin typeface="Helvetica" pitchFamily="34" charset="0"/>
              </a:rPr>
            </a:br>
            <a:r>
              <a:rPr lang="en-AU" sz="2200" dirty="0" smtClean="0">
                <a:latin typeface="Helvetica" pitchFamily="34" charset="0"/>
              </a:rPr>
              <a:t>provide food and beverage to their participants</a:t>
            </a:r>
          </a:p>
          <a:p>
            <a:pPr lvl="0">
              <a:spcBef>
                <a:spcPts val="600"/>
              </a:spcBef>
              <a:spcAft>
                <a:spcPts val="1200"/>
              </a:spcAft>
            </a:pPr>
            <a:r>
              <a:rPr lang="en-AU" sz="2200" dirty="0" smtClean="0">
                <a:latin typeface="Helvetica" pitchFamily="34" charset="0"/>
              </a:rPr>
              <a:t>It can be performed within a limited time </a:t>
            </a:r>
            <a:br>
              <a:rPr lang="en-AU" sz="2200" dirty="0" smtClean="0">
                <a:latin typeface="Helvetica" pitchFamily="34" charset="0"/>
              </a:rPr>
            </a:br>
            <a:r>
              <a:rPr lang="en-AU" sz="2200" dirty="0" smtClean="0">
                <a:latin typeface="Helvetica" pitchFamily="34" charset="0"/>
              </a:rPr>
              <a:t>frame</a:t>
            </a:r>
          </a:p>
          <a:p>
            <a:pPr lvl="0">
              <a:spcBef>
                <a:spcPts val="600"/>
              </a:spcBef>
              <a:spcAft>
                <a:spcPts val="1200"/>
              </a:spcAft>
            </a:pPr>
            <a:r>
              <a:rPr lang="en-AU" sz="2200" dirty="0" smtClean="0">
                <a:latin typeface="Helvetica" pitchFamily="34" charset="0"/>
              </a:rPr>
              <a:t>It requires only a small space</a:t>
            </a:r>
          </a:p>
          <a:p>
            <a:pPr lvl="0">
              <a:spcBef>
                <a:spcPts val="600"/>
              </a:spcBef>
              <a:spcAft>
                <a:spcPts val="1200"/>
              </a:spcAft>
            </a:pPr>
            <a:r>
              <a:rPr lang="en-AU" sz="2200" dirty="0" smtClean="0">
                <a:latin typeface="Helvetica" pitchFamily="34" charset="0"/>
              </a:rPr>
              <a:t>Participants can mingle with each other easily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7" name="Picture 6" descr="MP900432810.JPG"/>
          <p:cNvPicPr>
            <a:picLocks noChangeAspect="1"/>
          </p:cNvPicPr>
          <p:nvPr/>
        </p:nvPicPr>
        <p:blipFill>
          <a:blip r:embed="rId3" cstate="print"/>
          <a:stretch>
            <a:fillRect/>
          </a:stretch>
        </p:blipFill>
        <p:spPr>
          <a:xfrm>
            <a:off x="6934200" y="4267200"/>
            <a:ext cx="1880438" cy="1411224"/>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Stand-up function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This style of function is generally used for:</a:t>
            </a:r>
          </a:p>
          <a:p>
            <a:pPr>
              <a:spcBef>
                <a:spcPts val="600"/>
              </a:spcBef>
              <a:spcAft>
                <a:spcPts val="1200"/>
              </a:spcAft>
            </a:pPr>
            <a:r>
              <a:rPr lang="en-AU" sz="2200" dirty="0" smtClean="0">
                <a:latin typeface="Helvetica" pitchFamily="34" charset="0"/>
              </a:rPr>
              <a:t>Cocktail parties</a:t>
            </a:r>
          </a:p>
          <a:p>
            <a:pPr>
              <a:spcBef>
                <a:spcPts val="600"/>
              </a:spcBef>
              <a:spcAft>
                <a:spcPts val="1200"/>
              </a:spcAft>
            </a:pPr>
            <a:r>
              <a:rPr lang="en-AU" sz="2200" dirty="0" smtClean="0">
                <a:latin typeface="Helvetica" pitchFamily="34" charset="0"/>
              </a:rPr>
              <a:t>General parties</a:t>
            </a:r>
          </a:p>
          <a:p>
            <a:pPr>
              <a:spcBef>
                <a:spcPts val="600"/>
              </a:spcBef>
              <a:spcAft>
                <a:spcPts val="1200"/>
              </a:spcAft>
            </a:pPr>
            <a:r>
              <a:rPr lang="en-AU" sz="2200" dirty="0" smtClean="0">
                <a:latin typeface="Helvetica" pitchFamily="34" charset="0"/>
              </a:rPr>
              <a:t>Lunches that are part of a conference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5" name="Picture 4" descr="MP900432969.JPG"/>
          <p:cNvPicPr>
            <a:picLocks noChangeAspect="1"/>
          </p:cNvPicPr>
          <p:nvPr/>
        </p:nvPicPr>
        <p:blipFill>
          <a:blip r:embed="rId3" cstate="print"/>
          <a:stretch>
            <a:fillRect/>
          </a:stretch>
        </p:blipFill>
        <p:spPr>
          <a:xfrm>
            <a:off x="6477000" y="2590800"/>
            <a:ext cx="1527048" cy="2287304"/>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Stand-up function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 only seating might be around the edges of the room.</a:t>
            </a:r>
          </a:p>
          <a:p>
            <a:pPr>
              <a:spcBef>
                <a:spcPts val="600"/>
              </a:spcBef>
              <a:spcAft>
                <a:spcPts val="1200"/>
              </a:spcAft>
              <a:buNone/>
            </a:pPr>
            <a:r>
              <a:rPr lang="en-AU" sz="2200" dirty="0" smtClean="0">
                <a:latin typeface="Helvetica" pitchFamily="34" charset="0"/>
              </a:rPr>
              <a:t>Several tables placed for:</a:t>
            </a:r>
          </a:p>
          <a:p>
            <a:pPr>
              <a:spcBef>
                <a:spcPts val="600"/>
              </a:spcBef>
              <a:spcAft>
                <a:spcPts val="1200"/>
              </a:spcAft>
            </a:pPr>
            <a:r>
              <a:rPr lang="en-AU" sz="2200" dirty="0" smtClean="0">
                <a:latin typeface="Helvetica" pitchFamily="34" charset="0"/>
              </a:rPr>
              <a:t>Staff to place snacks</a:t>
            </a:r>
          </a:p>
          <a:p>
            <a:pPr>
              <a:spcBef>
                <a:spcPts val="600"/>
              </a:spcBef>
              <a:spcAft>
                <a:spcPts val="1200"/>
              </a:spcAft>
            </a:pPr>
            <a:r>
              <a:rPr lang="en-AU" sz="2200" dirty="0" smtClean="0">
                <a:latin typeface="Helvetica" pitchFamily="34" charset="0"/>
              </a:rPr>
              <a:t>Guests to place drinks and any unwanted                            glassware, plates, food scraps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8" name="Picture 7" descr="MP900423637.JPG"/>
          <p:cNvPicPr>
            <a:picLocks noChangeAspect="1"/>
          </p:cNvPicPr>
          <p:nvPr/>
        </p:nvPicPr>
        <p:blipFill>
          <a:blip r:embed="rId3" cstate="print"/>
          <a:stretch>
            <a:fillRect/>
          </a:stretch>
        </p:blipFill>
        <p:spPr>
          <a:xfrm>
            <a:off x="6684764" y="3048000"/>
            <a:ext cx="1663006" cy="2032121"/>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Sit down function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This style of function is generally used for: </a:t>
            </a:r>
          </a:p>
          <a:p>
            <a:pPr>
              <a:spcBef>
                <a:spcPts val="600"/>
              </a:spcBef>
              <a:spcAft>
                <a:spcPts val="1200"/>
              </a:spcAft>
            </a:pPr>
            <a:r>
              <a:rPr lang="en-AU" sz="2200" dirty="0" smtClean="0">
                <a:latin typeface="Helvetica" pitchFamily="34" charset="0"/>
              </a:rPr>
              <a:t>Weddings </a:t>
            </a:r>
          </a:p>
          <a:p>
            <a:pPr>
              <a:spcBef>
                <a:spcPts val="600"/>
              </a:spcBef>
              <a:spcAft>
                <a:spcPts val="1200"/>
              </a:spcAft>
            </a:pPr>
            <a:r>
              <a:rPr lang="en-AU" sz="2200" dirty="0" smtClean="0">
                <a:latin typeface="Helvetica" pitchFamily="34" charset="0"/>
              </a:rPr>
              <a:t>Formal dinners</a:t>
            </a:r>
          </a:p>
          <a:p>
            <a:pPr>
              <a:spcBef>
                <a:spcPts val="600"/>
              </a:spcBef>
              <a:spcAft>
                <a:spcPts val="1200"/>
              </a:spcAft>
            </a:pPr>
            <a:r>
              <a:rPr lang="en-AU" sz="2200" dirty="0" smtClean="0">
                <a:latin typeface="Helvetica" pitchFamily="34" charset="0"/>
              </a:rPr>
              <a:t>Banquets </a:t>
            </a:r>
          </a:p>
          <a:p>
            <a:pPr>
              <a:spcBef>
                <a:spcPts val="600"/>
              </a:spcBef>
              <a:spcAft>
                <a:spcPts val="1200"/>
              </a:spcAft>
            </a:pPr>
            <a:r>
              <a:rPr lang="en-AU" sz="2200" dirty="0" smtClean="0">
                <a:latin typeface="Helvetica" pitchFamily="34" charset="0"/>
              </a:rPr>
              <a:t>Presentations </a:t>
            </a:r>
          </a:p>
          <a:p>
            <a:pPr>
              <a:spcBef>
                <a:spcPts val="600"/>
              </a:spcBef>
              <a:spcAft>
                <a:spcPts val="1200"/>
              </a:spcAft>
            </a:pPr>
            <a:r>
              <a:rPr lang="en-AU" sz="2200" dirty="0" smtClean="0">
                <a:latin typeface="Helvetica" pitchFamily="34" charset="0"/>
              </a:rPr>
              <a:t>Dinners for conferences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6" name="Picture 5" descr="7980149679_15bb2598b9_m.jpg"/>
          <p:cNvPicPr/>
          <p:nvPr/>
        </p:nvPicPr>
        <p:blipFill>
          <a:blip r:embed="rId3" cstate="print"/>
          <a:stretch>
            <a:fillRect/>
          </a:stretch>
        </p:blipFill>
        <p:spPr>
          <a:xfrm>
            <a:off x="5715000" y="3200400"/>
            <a:ext cx="2486025" cy="160020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Meetings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a number of styles to use when setting up a meeting </a:t>
            </a:r>
          </a:p>
          <a:p>
            <a:pPr>
              <a:spcBef>
                <a:spcPts val="600"/>
              </a:spcBef>
              <a:spcAft>
                <a:spcPts val="1200"/>
              </a:spcAft>
            </a:pPr>
            <a:r>
              <a:rPr lang="en-AU" sz="2200" dirty="0" smtClean="0">
                <a:latin typeface="Helvetica" pitchFamily="34" charset="0"/>
              </a:rPr>
              <a:t>What set up options do you know?</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7" name="Picture 6" descr="MP900431224.JPG"/>
          <p:cNvPicPr>
            <a:picLocks noChangeAspect="1"/>
          </p:cNvPicPr>
          <p:nvPr/>
        </p:nvPicPr>
        <p:blipFill>
          <a:blip r:embed="rId3" cstate="print"/>
          <a:stretch>
            <a:fillRect/>
          </a:stretch>
        </p:blipFill>
        <p:spPr>
          <a:xfrm>
            <a:off x="3505200" y="4114800"/>
            <a:ext cx="2628140" cy="1751409"/>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Meetings </a:t>
            </a:r>
            <a:endParaRPr lang="en-AU" sz="2200" dirty="0" smtClean="0">
              <a:latin typeface="Helvetica" pitchFamily="34" charset="0"/>
            </a:endParaRPr>
          </a:p>
          <a:p>
            <a:pPr marL="0">
              <a:spcBef>
                <a:spcPts val="600"/>
              </a:spcBef>
              <a:spcAft>
                <a:spcPts val="1200"/>
              </a:spcAft>
            </a:pPr>
            <a:r>
              <a:rPr lang="en-AU" sz="2200" dirty="0" smtClean="0">
                <a:latin typeface="Helvetica" pitchFamily="34" charset="0"/>
              </a:rPr>
              <a:t>Theatre style</a:t>
            </a:r>
          </a:p>
          <a:p>
            <a:pPr marL="0">
              <a:spcBef>
                <a:spcPts val="600"/>
              </a:spcBef>
              <a:spcAft>
                <a:spcPts val="1200"/>
              </a:spcAft>
            </a:pPr>
            <a:r>
              <a:rPr lang="en-AU" sz="2200" dirty="0" smtClean="0">
                <a:latin typeface="Helvetica" pitchFamily="34" charset="0"/>
              </a:rPr>
              <a:t>Boardroom style</a:t>
            </a:r>
          </a:p>
          <a:p>
            <a:pPr marL="0">
              <a:spcBef>
                <a:spcPts val="600"/>
              </a:spcBef>
              <a:spcAft>
                <a:spcPts val="1200"/>
              </a:spcAft>
            </a:pPr>
            <a:r>
              <a:rPr lang="en-AU" sz="2200" dirty="0" smtClean="0">
                <a:latin typeface="Helvetica" pitchFamily="34" charset="0"/>
              </a:rPr>
              <a:t>Hollow square</a:t>
            </a:r>
          </a:p>
          <a:p>
            <a:pPr marL="0">
              <a:spcBef>
                <a:spcPts val="600"/>
              </a:spcBef>
              <a:spcAft>
                <a:spcPts val="1200"/>
              </a:spcAft>
            </a:pPr>
            <a:r>
              <a:rPr lang="en-AU" sz="2200" dirty="0" smtClean="0">
                <a:latin typeface="Helvetica" pitchFamily="34" charset="0"/>
              </a:rPr>
              <a:t>Classroom style</a:t>
            </a:r>
          </a:p>
          <a:p>
            <a:pPr marL="0">
              <a:spcBef>
                <a:spcPts val="600"/>
              </a:spcBef>
              <a:spcAft>
                <a:spcPts val="1200"/>
              </a:spcAft>
            </a:pPr>
            <a:r>
              <a:rPr lang="en-AU" sz="2200" dirty="0" smtClean="0">
                <a:latin typeface="Helvetica" pitchFamily="34" charset="0"/>
              </a:rPr>
              <a:t>Banquet style</a:t>
            </a:r>
          </a:p>
          <a:p>
            <a:pPr marL="0">
              <a:spcBef>
                <a:spcPts val="600"/>
              </a:spcBef>
              <a:spcAft>
                <a:spcPts val="1200"/>
              </a:spcAft>
            </a:pPr>
            <a:r>
              <a:rPr lang="en-AU" sz="2200" dirty="0" smtClean="0">
                <a:latin typeface="Helvetica" pitchFamily="34" charset="0"/>
              </a:rPr>
              <a:t>U Shape</a:t>
            </a:r>
          </a:p>
          <a:p>
            <a:pPr marL="0">
              <a:spcBef>
                <a:spcPts val="600"/>
              </a:spcBef>
              <a:spcAft>
                <a:spcPts val="1200"/>
              </a:spcAft>
            </a:pPr>
            <a:r>
              <a:rPr lang="en-AU" sz="2200" dirty="0" smtClean="0">
                <a:latin typeface="Helvetica" pitchFamily="34" charset="0"/>
              </a:rPr>
              <a:t>E-shape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392193" name="Picture 1" descr="I:\Overseas Projects\PHOTOS\2012\Office\conference_room.jpg"/>
          <p:cNvPicPr>
            <a:picLocks noChangeAspect="1" noChangeArrowheads="1"/>
          </p:cNvPicPr>
          <p:nvPr/>
        </p:nvPicPr>
        <p:blipFill>
          <a:blip r:embed="rId3" cstate="print">
            <a:lum bright="20000" contrast="10000"/>
          </a:blip>
          <a:srcRect/>
          <a:stretch>
            <a:fillRect/>
          </a:stretch>
        </p:blipFill>
        <p:spPr bwMode="auto">
          <a:xfrm>
            <a:off x="5029200" y="2819400"/>
            <a:ext cx="2857500" cy="190500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menu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Menu considerations</a:t>
            </a:r>
            <a:endParaRPr lang="en-AU" sz="2200" dirty="0" smtClean="0">
              <a:latin typeface="Helvetica" pitchFamily="34" charset="0"/>
            </a:endParaRPr>
          </a:p>
          <a:p>
            <a:pPr marL="0">
              <a:spcBef>
                <a:spcPts val="600"/>
              </a:spcBef>
              <a:spcAft>
                <a:spcPts val="1200"/>
              </a:spcAft>
            </a:pPr>
            <a:r>
              <a:rPr lang="en-AU" sz="2200" dirty="0" smtClean="0">
                <a:latin typeface="Helvetica" pitchFamily="34" charset="0"/>
              </a:rPr>
              <a:t>Styles of functions</a:t>
            </a:r>
          </a:p>
          <a:p>
            <a:pPr marL="0">
              <a:spcBef>
                <a:spcPts val="600"/>
              </a:spcBef>
              <a:spcAft>
                <a:spcPts val="1200"/>
              </a:spcAft>
            </a:pPr>
            <a:r>
              <a:rPr lang="en-AU" sz="2200" dirty="0" smtClean="0">
                <a:latin typeface="Helvetica" pitchFamily="34" charset="0"/>
              </a:rPr>
              <a:t>Styles of service required</a:t>
            </a:r>
          </a:p>
          <a:p>
            <a:pPr marL="0">
              <a:spcBef>
                <a:spcPts val="600"/>
              </a:spcBef>
              <a:spcAft>
                <a:spcPts val="1200"/>
              </a:spcAft>
            </a:pPr>
            <a:r>
              <a:rPr lang="en-AU" sz="2200" dirty="0" smtClean="0">
                <a:latin typeface="Helvetica" pitchFamily="34" charset="0"/>
              </a:rPr>
              <a:t>Timing of functions</a:t>
            </a:r>
          </a:p>
          <a:p>
            <a:pPr marL="0">
              <a:spcBef>
                <a:spcPts val="600"/>
              </a:spcBef>
              <a:spcAft>
                <a:spcPts val="1200"/>
              </a:spcAft>
            </a:pPr>
            <a:r>
              <a:rPr lang="en-AU" sz="2200" dirty="0" smtClean="0">
                <a:latin typeface="Helvetica" pitchFamily="34" charset="0"/>
              </a:rPr>
              <a:t>Providing a variety of price points</a:t>
            </a:r>
          </a:p>
          <a:p>
            <a:pPr marL="0">
              <a:spcBef>
                <a:spcPts val="600"/>
              </a:spcBef>
              <a:spcAft>
                <a:spcPts val="1200"/>
              </a:spcAft>
            </a:pPr>
            <a:r>
              <a:rPr lang="en-AU" sz="2200" dirty="0" smtClean="0">
                <a:latin typeface="Helvetica" pitchFamily="34" charset="0"/>
              </a:rPr>
              <a:t>Having inclusive and non-inclusive menus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7" name="Picture 6" descr="4115567596_b08d3a9db2_m.jpg"/>
          <p:cNvPicPr/>
          <p:nvPr/>
        </p:nvPicPr>
        <p:blipFill>
          <a:blip r:embed="rId3" cstate="print"/>
          <a:stretch>
            <a:fillRect/>
          </a:stretch>
        </p:blipFill>
        <p:spPr>
          <a:xfrm>
            <a:off x="6400800" y="2667000"/>
            <a:ext cx="1917700" cy="143827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types and styles of food and beverage menus will vary greatly depending on:</a:t>
            </a:r>
          </a:p>
          <a:p>
            <a:pPr>
              <a:spcBef>
                <a:spcPts val="600"/>
              </a:spcBef>
              <a:spcAft>
                <a:spcPts val="1200"/>
              </a:spcAft>
            </a:pPr>
            <a:r>
              <a:rPr lang="en-AU" sz="2200" dirty="0" smtClean="0">
                <a:latin typeface="Helvetica" pitchFamily="34" charset="0"/>
              </a:rPr>
              <a:t>Size and style of the venue</a:t>
            </a:r>
          </a:p>
          <a:p>
            <a:pPr>
              <a:spcBef>
                <a:spcPts val="600"/>
              </a:spcBef>
              <a:spcAft>
                <a:spcPts val="1200"/>
              </a:spcAft>
            </a:pPr>
            <a:r>
              <a:rPr lang="en-AU" sz="2200" dirty="0" smtClean="0">
                <a:latin typeface="Helvetica" pitchFamily="34" charset="0"/>
              </a:rPr>
              <a:t>Type of function</a:t>
            </a:r>
          </a:p>
          <a:p>
            <a:pPr>
              <a:spcBef>
                <a:spcPts val="600"/>
              </a:spcBef>
              <a:spcAft>
                <a:spcPts val="1200"/>
              </a:spcAft>
            </a:pPr>
            <a:r>
              <a:rPr lang="en-AU" sz="2200" dirty="0" smtClean="0">
                <a:latin typeface="Helvetica" pitchFamily="34" charset="0"/>
              </a:rPr>
              <a:t>Available budget </a:t>
            </a:r>
          </a:p>
          <a:p>
            <a:pPr>
              <a:spcBef>
                <a:spcPts val="600"/>
              </a:spcBef>
              <a:spcAft>
                <a:spcPts val="1200"/>
              </a:spcAft>
            </a:pPr>
            <a:r>
              <a:rPr lang="en-AU" sz="2200" dirty="0" smtClean="0">
                <a:latin typeface="Helvetica" pitchFamily="34" charset="0"/>
              </a:rPr>
              <a:t>Client preferences</a:t>
            </a:r>
          </a:p>
          <a:p>
            <a:pPr>
              <a:spcBef>
                <a:spcPts val="600"/>
              </a:spcBef>
              <a:spcAft>
                <a:spcPts val="1200"/>
              </a:spcAft>
            </a:pPr>
            <a:r>
              <a:rPr lang="en-AU" sz="2200" dirty="0" smtClean="0">
                <a:latin typeface="Helvetica" pitchFamily="34" charset="0"/>
              </a:rPr>
              <a:t>Nature of the function</a:t>
            </a:r>
          </a:p>
          <a:p>
            <a:pPr>
              <a:spcBef>
                <a:spcPts val="600"/>
              </a:spcBef>
              <a:spcAft>
                <a:spcPts val="1200"/>
              </a:spcAft>
            </a:pPr>
            <a:r>
              <a:rPr lang="en-AU" sz="2200" dirty="0" smtClean="0">
                <a:latin typeface="Helvetica" pitchFamily="34" charset="0"/>
              </a:rPr>
              <a:t>Various timing factors </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6" name="Picture 5" descr="MP900439495.JPG"/>
          <p:cNvPicPr>
            <a:picLocks noChangeAspect="1"/>
          </p:cNvPicPr>
          <p:nvPr/>
        </p:nvPicPr>
        <p:blipFill>
          <a:blip r:embed="rId3" cstate="print"/>
          <a:stretch>
            <a:fillRect/>
          </a:stretch>
        </p:blipFill>
        <p:spPr>
          <a:xfrm>
            <a:off x="5943600" y="2438400"/>
            <a:ext cx="1683585" cy="2514600"/>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Breakfast menu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Continental </a:t>
            </a:r>
          </a:p>
          <a:p>
            <a:pPr lvl="0">
              <a:spcBef>
                <a:spcPts val="600"/>
              </a:spcBef>
              <a:spcAft>
                <a:spcPts val="1200"/>
              </a:spcAft>
            </a:pPr>
            <a:r>
              <a:rPr lang="en-AU" sz="2200" dirty="0" smtClean="0">
                <a:latin typeface="Helvetica" pitchFamily="34" charset="0"/>
              </a:rPr>
              <a:t>Continental plus selected cooked food items </a:t>
            </a:r>
          </a:p>
          <a:p>
            <a:pPr lvl="0">
              <a:spcBef>
                <a:spcPts val="600"/>
              </a:spcBef>
              <a:spcAft>
                <a:spcPts val="1200"/>
              </a:spcAft>
            </a:pPr>
            <a:r>
              <a:rPr lang="en-AU" sz="2200" dirty="0" smtClean="0">
                <a:latin typeface="Helvetica" pitchFamily="34" charset="0"/>
              </a:rPr>
              <a:t>Continental plus full cooked food items </a:t>
            </a:r>
          </a:p>
          <a:p>
            <a:pPr lvl="0">
              <a:spcBef>
                <a:spcPts val="600"/>
              </a:spcBef>
              <a:spcAft>
                <a:spcPts val="1200"/>
              </a:spcAft>
            </a:pPr>
            <a:r>
              <a:rPr lang="en-AU" sz="2200" dirty="0" smtClean="0">
                <a:latin typeface="Helvetica" pitchFamily="34" charset="0"/>
              </a:rPr>
              <a:t>Food platters  </a:t>
            </a:r>
          </a:p>
          <a:p>
            <a:pPr lvl="0">
              <a:spcBef>
                <a:spcPts val="600"/>
              </a:spcBef>
              <a:spcAft>
                <a:spcPts val="1200"/>
              </a:spcAft>
            </a:pPr>
            <a:r>
              <a:rPr lang="en-AU" sz="2200" dirty="0" smtClean="0">
                <a:latin typeface="Helvetica" pitchFamily="34" charset="0"/>
              </a:rPr>
              <a:t>Beverage items  </a:t>
            </a:r>
          </a:p>
          <a:p>
            <a:pPr lvl="0">
              <a:spcBef>
                <a:spcPts val="600"/>
              </a:spcBef>
              <a:spcAft>
                <a:spcPts val="1200"/>
              </a:spcAft>
            </a:pPr>
            <a:r>
              <a:rPr lang="en-AU" sz="2200" dirty="0" smtClean="0">
                <a:latin typeface="Helvetica" pitchFamily="34" charset="0"/>
              </a:rPr>
              <a:t>Buffet breakfast for large numbers </a:t>
            </a:r>
          </a:p>
          <a:p>
            <a:pPr>
              <a:spcBef>
                <a:spcPts val="600"/>
              </a:spcBef>
              <a:spcAft>
                <a:spcPts val="1200"/>
              </a:spcAft>
            </a:pPr>
            <a:r>
              <a:rPr lang="en-AU" sz="2200" dirty="0" smtClean="0">
                <a:latin typeface="Helvetica" pitchFamily="34" charset="0"/>
              </a:rPr>
              <a:t>Full breakfast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7" name="Picture 6" descr="MP900430476.JPG"/>
          <p:cNvPicPr/>
          <p:nvPr/>
        </p:nvPicPr>
        <p:blipFill>
          <a:blip r:embed="rId3" cstate="print"/>
          <a:stretch>
            <a:fillRect/>
          </a:stretch>
        </p:blipFill>
        <p:spPr>
          <a:xfrm>
            <a:off x="6477000" y="3276600"/>
            <a:ext cx="1819275" cy="1666875"/>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Morning/afternoon teas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Selection of pastries and bakery items </a:t>
            </a:r>
          </a:p>
          <a:p>
            <a:pPr lvl="0">
              <a:spcBef>
                <a:spcPts val="600"/>
              </a:spcBef>
              <a:spcAft>
                <a:spcPts val="1200"/>
              </a:spcAft>
            </a:pPr>
            <a:r>
              <a:rPr lang="en-AU" sz="2200" dirty="0" smtClean="0">
                <a:latin typeface="Helvetica" pitchFamily="34" charset="0"/>
              </a:rPr>
              <a:t>Selection of open or closed sandwiches </a:t>
            </a:r>
          </a:p>
          <a:p>
            <a:pPr lvl="0">
              <a:spcBef>
                <a:spcPts val="600"/>
              </a:spcBef>
              <a:spcAft>
                <a:spcPts val="1200"/>
              </a:spcAft>
            </a:pPr>
            <a:r>
              <a:rPr lang="en-AU" sz="2200" dirty="0" smtClean="0">
                <a:latin typeface="Helvetica" pitchFamily="34" charset="0"/>
              </a:rPr>
              <a:t>Selection of biscuits and cake </a:t>
            </a:r>
          </a:p>
          <a:p>
            <a:pPr lvl="0">
              <a:spcBef>
                <a:spcPts val="600"/>
              </a:spcBef>
              <a:spcAft>
                <a:spcPts val="1200"/>
              </a:spcAft>
            </a:pPr>
            <a:r>
              <a:rPr lang="en-AU" sz="2200" dirty="0" smtClean="0">
                <a:latin typeface="Helvetica" pitchFamily="34" charset="0"/>
              </a:rPr>
              <a:t>Selection of petit fours </a:t>
            </a:r>
          </a:p>
          <a:p>
            <a:pPr lvl="0">
              <a:spcBef>
                <a:spcPts val="600"/>
              </a:spcBef>
              <a:spcAft>
                <a:spcPts val="1200"/>
              </a:spcAft>
            </a:pPr>
            <a:r>
              <a:rPr lang="en-AU" sz="2200" dirty="0" smtClean="0">
                <a:latin typeface="Helvetica" pitchFamily="34" charset="0"/>
              </a:rPr>
              <a:t>Beverage items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6" name="Picture 5" descr="MP900175411.JPG"/>
          <p:cNvPicPr/>
          <p:nvPr/>
        </p:nvPicPr>
        <p:blipFill>
          <a:blip r:embed="rId3" cstate="print"/>
          <a:stretch>
            <a:fillRect/>
          </a:stretch>
        </p:blipFill>
        <p:spPr>
          <a:xfrm>
            <a:off x="6553200" y="2895600"/>
            <a:ext cx="1809750" cy="144780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Lunch menu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Buffet of selected hot and cold items</a:t>
            </a:r>
          </a:p>
          <a:p>
            <a:pPr lvl="0">
              <a:spcBef>
                <a:spcPts val="600"/>
              </a:spcBef>
              <a:spcAft>
                <a:spcPts val="1200"/>
              </a:spcAft>
            </a:pPr>
            <a:r>
              <a:rPr lang="en-AU" sz="2200" dirty="0" smtClean="0">
                <a:latin typeface="Helvetica" pitchFamily="34" charset="0"/>
              </a:rPr>
              <a:t>Set menu</a:t>
            </a:r>
          </a:p>
          <a:p>
            <a:pPr lvl="0">
              <a:spcBef>
                <a:spcPts val="600"/>
              </a:spcBef>
              <a:spcAft>
                <a:spcPts val="1200"/>
              </a:spcAft>
            </a:pPr>
            <a:r>
              <a:rPr lang="en-AU" sz="2200" dirty="0" smtClean="0">
                <a:latin typeface="Helvetica" pitchFamily="34" charset="0"/>
              </a:rPr>
              <a:t>Platters of sandwiches, filled rolls</a:t>
            </a:r>
          </a:p>
          <a:p>
            <a:pPr lvl="0">
              <a:spcBef>
                <a:spcPts val="600"/>
              </a:spcBef>
              <a:spcAft>
                <a:spcPts val="1200"/>
              </a:spcAft>
            </a:pPr>
            <a:r>
              <a:rPr lang="en-AU" sz="2200" dirty="0" smtClean="0">
                <a:latin typeface="Helvetica" pitchFamily="34" charset="0"/>
              </a:rPr>
              <a:t>Platters of cakes, biscuits, pastries and petit fours </a:t>
            </a:r>
          </a:p>
          <a:p>
            <a:pPr lvl="0">
              <a:spcBef>
                <a:spcPts val="600"/>
              </a:spcBef>
              <a:spcAft>
                <a:spcPts val="1200"/>
              </a:spcAft>
            </a:pPr>
            <a:r>
              <a:rPr lang="en-AU" sz="2200" dirty="0" smtClean="0">
                <a:latin typeface="Helvetica" pitchFamily="34" charset="0"/>
              </a:rPr>
              <a:t>Platters of fruit, fruit and cheese, cheese                               and greens </a:t>
            </a:r>
          </a:p>
          <a:p>
            <a:pPr lvl="0">
              <a:spcBef>
                <a:spcPts val="600"/>
              </a:spcBef>
              <a:spcAft>
                <a:spcPts val="1200"/>
              </a:spcAft>
            </a:pPr>
            <a:r>
              <a:rPr lang="en-AU" sz="2200" dirty="0" smtClean="0">
                <a:latin typeface="Helvetica" pitchFamily="34" charset="0"/>
              </a:rPr>
              <a:t>Beverages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7" name="Picture 6" descr="Lunch at the Delawana"/>
          <p:cNvPicPr/>
          <p:nvPr/>
        </p:nvPicPr>
        <p:blipFill>
          <a:blip r:embed="rId3" cstate="print"/>
          <a:srcRect/>
          <a:stretch>
            <a:fillRect/>
          </a:stretch>
        </p:blipFill>
        <p:spPr bwMode="auto">
          <a:xfrm>
            <a:off x="6324600" y="2209800"/>
            <a:ext cx="1876425" cy="1409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Dinner menu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Set menu or buffet style </a:t>
            </a:r>
          </a:p>
          <a:p>
            <a:pPr lvl="0">
              <a:spcBef>
                <a:spcPts val="600"/>
              </a:spcBef>
              <a:spcAft>
                <a:spcPts val="1200"/>
              </a:spcAft>
            </a:pPr>
            <a:r>
              <a:rPr lang="en-AU" sz="2200" dirty="0" smtClean="0">
                <a:latin typeface="Helvetica" pitchFamily="34" charset="0"/>
              </a:rPr>
              <a:t>Entrée</a:t>
            </a:r>
          </a:p>
          <a:p>
            <a:pPr lvl="0">
              <a:spcBef>
                <a:spcPts val="600"/>
              </a:spcBef>
              <a:spcAft>
                <a:spcPts val="1200"/>
              </a:spcAft>
            </a:pPr>
            <a:r>
              <a:rPr lang="en-AU" sz="2200" dirty="0" smtClean="0">
                <a:latin typeface="Helvetica" pitchFamily="34" charset="0"/>
              </a:rPr>
              <a:t>Main course</a:t>
            </a:r>
          </a:p>
          <a:p>
            <a:pPr lvl="0">
              <a:spcBef>
                <a:spcPts val="600"/>
              </a:spcBef>
              <a:spcAft>
                <a:spcPts val="1200"/>
              </a:spcAft>
            </a:pPr>
            <a:r>
              <a:rPr lang="en-AU" sz="2200" dirty="0" smtClean="0">
                <a:latin typeface="Helvetica" pitchFamily="34" charset="0"/>
              </a:rPr>
              <a:t>Dessert, or any combination </a:t>
            </a:r>
          </a:p>
          <a:p>
            <a:pPr lvl="0">
              <a:spcBef>
                <a:spcPts val="600"/>
              </a:spcBef>
              <a:spcAft>
                <a:spcPts val="1200"/>
              </a:spcAft>
            </a:pPr>
            <a:r>
              <a:rPr lang="en-AU" sz="2200" dirty="0" smtClean="0">
                <a:latin typeface="Helvetica" pitchFamily="34" charset="0"/>
              </a:rPr>
              <a:t>Beverages – alcoholic and non-alcoholic</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6" name="Picture 5" descr="7980174977_54b6d71e8b.jpg"/>
          <p:cNvPicPr>
            <a:picLocks noChangeAspect="1"/>
          </p:cNvPicPr>
          <p:nvPr/>
        </p:nvPicPr>
        <p:blipFill>
          <a:blip r:embed="rId3" cstate="print"/>
          <a:stretch>
            <a:fillRect/>
          </a:stretch>
        </p:blipFill>
        <p:spPr>
          <a:xfrm>
            <a:off x="5638800" y="2362200"/>
            <a:ext cx="2249387" cy="1498092"/>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Seminar/conference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Usually a selection of light refreshments</a:t>
            </a:r>
          </a:p>
          <a:p>
            <a:pPr lvl="0">
              <a:spcBef>
                <a:spcPts val="600"/>
              </a:spcBef>
              <a:spcAft>
                <a:spcPts val="1200"/>
              </a:spcAft>
            </a:pPr>
            <a:r>
              <a:rPr lang="en-AU" sz="2200" dirty="0" smtClean="0">
                <a:latin typeface="Helvetica" pitchFamily="34" charset="0"/>
              </a:rPr>
              <a:t>Buffet style or finger food style</a:t>
            </a:r>
          </a:p>
          <a:p>
            <a:pPr lvl="0">
              <a:spcBef>
                <a:spcPts val="600"/>
              </a:spcBef>
              <a:spcAft>
                <a:spcPts val="1200"/>
              </a:spcAft>
            </a:pPr>
            <a:r>
              <a:rPr lang="en-AU" sz="2200" dirty="0" smtClean="0">
                <a:latin typeface="Helvetica" pitchFamily="34" charset="0"/>
              </a:rPr>
              <a:t>Morning and afternoon teas</a:t>
            </a:r>
          </a:p>
          <a:p>
            <a:pPr lvl="0">
              <a:spcBef>
                <a:spcPts val="600"/>
              </a:spcBef>
              <a:spcAft>
                <a:spcPts val="1200"/>
              </a:spcAft>
            </a:pPr>
            <a:r>
              <a:rPr lang="en-AU" sz="2200" dirty="0" smtClean="0">
                <a:latin typeface="Helvetica" pitchFamily="34" charset="0"/>
              </a:rPr>
              <a:t>Beverages – tea, coffee, juices and water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7" name="Picture 6" descr="MP900422956.JPG"/>
          <p:cNvPicPr/>
          <p:nvPr/>
        </p:nvPicPr>
        <p:blipFill>
          <a:blip r:embed="rId3" cstate="print"/>
          <a:stretch>
            <a:fillRect/>
          </a:stretch>
        </p:blipFill>
        <p:spPr>
          <a:xfrm>
            <a:off x="6477000" y="2514600"/>
            <a:ext cx="1857375" cy="1304925"/>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Wedding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Commonly a set menu specifying the number of courses to be served, and the style to be used </a:t>
            </a:r>
          </a:p>
          <a:p>
            <a:pPr lvl="0">
              <a:spcBef>
                <a:spcPts val="600"/>
              </a:spcBef>
              <a:spcAft>
                <a:spcPts val="1200"/>
              </a:spcAft>
            </a:pPr>
            <a:r>
              <a:rPr lang="en-AU" sz="2200" dirty="0" smtClean="0">
                <a:latin typeface="Helvetica" pitchFamily="34" charset="0"/>
              </a:rPr>
              <a:t>Can also feature a buffet of hot and cold </a:t>
            </a:r>
            <a:br>
              <a:rPr lang="en-AU" sz="2200" dirty="0" smtClean="0">
                <a:latin typeface="Helvetica" pitchFamily="34" charset="0"/>
              </a:rPr>
            </a:br>
            <a:r>
              <a:rPr lang="en-AU" sz="2200" dirty="0" smtClean="0">
                <a:latin typeface="Helvetica" pitchFamily="34" charset="0"/>
              </a:rPr>
              <a:t>food items </a:t>
            </a:r>
          </a:p>
          <a:p>
            <a:pPr lvl="0">
              <a:spcBef>
                <a:spcPts val="600"/>
              </a:spcBef>
              <a:spcAft>
                <a:spcPts val="1200"/>
              </a:spcAft>
            </a:pPr>
            <a:r>
              <a:rPr lang="en-AU" sz="2200" dirty="0" smtClean="0">
                <a:latin typeface="Helvetica" pitchFamily="34" charset="0"/>
              </a:rPr>
              <a:t>Beverages may be a nominated selection                           of alcoholic and non-alcoholic beverages,                  full bar, or guests pay as they go</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6" name="Picture 5" descr="MP900407236.JPG"/>
          <p:cNvPicPr/>
          <p:nvPr/>
        </p:nvPicPr>
        <p:blipFill>
          <a:blip r:embed="rId3" cstate="print"/>
          <a:stretch>
            <a:fillRect/>
          </a:stretch>
        </p:blipFill>
        <p:spPr>
          <a:xfrm>
            <a:off x="7010400" y="3048000"/>
            <a:ext cx="1407703" cy="182880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Cocktail parties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Platters of </a:t>
            </a:r>
            <a:r>
              <a:rPr lang="en-AU" sz="2200" i="1" dirty="0" smtClean="0">
                <a:latin typeface="Helvetica" pitchFamily="34" charset="0"/>
              </a:rPr>
              <a:t>hors d’oeuvre </a:t>
            </a:r>
            <a:r>
              <a:rPr lang="en-AU" sz="2200" dirty="0" smtClean="0">
                <a:latin typeface="Helvetica" pitchFamily="34" charset="0"/>
              </a:rPr>
              <a:t>and </a:t>
            </a:r>
            <a:r>
              <a:rPr lang="en-AU" sz="2200" i="1" dirty="0" smtClean="0">
                <a:latin typeface="Helvetica" pitchFamily="34" charset="0"/>
              </a:rPr>
              <a:t>canapés</a:t>
            </a:r>
            <a:r>
              <a:rPr lang="en-AU" sz="2200" dirty="0" smtClean="0">
                <a:latin typeface="Helvetica" pitchFamily="34" charset="0"/>
              </a:rPr>
              <a:t> </a:t>
            </a:r>
            <a:br>
              <a:rPr lang="en-AU" sz="2200" dirty="0" smtClean="0">
                <a:latin typeface="Helvetica" pitchFamily="34" charset="0"/>
              </a:rPr>
            </a:br>
            <a:r>
              <a:rPr lang="en-AU" sz="2200" dirty="0" smtClean="0">
                <a:latin typeface="Helvetica" pitchFamily="34" charset="0"/>
              </a:rPr>
              <a:t>can be presented in a buffet style, or </a:t>
            </a:r>
            <a:br>
              <a:rPr lang="en-AU" sz="2200" dirty="0" smtClean="0">
                <a:latin typeface="Helvetica" pitchFamily="34" charset="0"/>
              </a:rPr>
            </a:br>
            <a:r>
              <a:rPr lang="en-AU" sz="2200" dirty="0" smtClean="0">
                <a:latin typeface="Helvetica" pitchFamily="34" charset="0"/>
              </a:rPr>
              <a:t>served by waiting staff </a:t>
            </a:r>
          </a:p>
          <a:p>
            <a:pPr lvl="0">
              <a:spcBef>
                <a:spcPts val="600"/>
              </a:spcBef>
              <a:spcAft>
                <a:spcPts val="1200"/>
              </a:spcAft>
            </a:pPr>
            <a:r>
              <a:rPr lang="en-AU" sz="2200" dirty="0" smtClean="0">
                <a:latin typeface="Helvetica" pitchFamily="34" charset="0"/>
              </a:rPr>
              <a:t>Beverages are usually a nominated </a:t>
            </a:r>
            <a:br>
              <a:rPr lang="en-AU" sz="2200" dirty="0" smtClean="0">
                <a:latin typeface="Helvetica" pitchFamily="34" charset="0"/>
              </a:rPr>
            </a:br>
            <a:r>
              <a:rPr lang="en-AU" sz="2200" dirty="0" smtClean="0">
                <a:latin typeface="Helvetica" pitchFamily="34" charset="0"/>
              </a:rPr>
              <a:t>selection of alcoholic and non-alcoholic </a:t>
            </a:r>
            <a:br>
              <a:rPr lang="en-AU" sz="2200" dirty="0" smtClean="0">
                <a:latin typeface="Helvetica" pitchFamily="34" charset="0"/>
              </a:rPr>
            </a:br>
            <a:r>
              <a:rPr lang="en-AU" sz="2200" dirty="0" smtClean="0">
                <a:latin typeface="Helvetica" pitchFamily="34" charset="0"/>
              </a:rPr>
              <a:t>beverages up to a set dollar figure, or for </a:t>
            </a:r>
            <a:br>
              <a:rPr lang="en-AU" sz="2200" dirty="0" smtClean="0">
                <a:latin typeface="Helvetica" pitchFamily="34" charset="0"/>
              </a:rPr>
            </a:br>
            <a:r>
              <a:rPr lang="en-AU" sz="2200" dirty="0" smtClean="0">
                <a:latin typeface="Helvetica" pitchFamily="34" charset="0"/>
              </a:rPr>
              <a:t>a given time period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3074" name="Picture 2" descr="C:\Documents and Settings\danielc\Local Settings\Temporary Internet Files\Content.IE5\112MAXTI\MP900341753[1].jpg"/>
          <p:cNvPicPr>
            <a:picLocks noChangeAspect="1" noChangeArrowheads="1"/>
          </p:cNvPicPr>
          <p:nvPr/>
        </p:nvPicPr>
        <p:blipFill>
          <a:blip r:embed="rId3" cstate="print"/>
          <a:srcRect/>
          <a:stretch>
            <a:fillRect/>
          </a:stretch>
        </p:blipFill>
        <p:spPr bwMode="auto">
          <a:xfrm>
            <a:off x="6705600" y="2209800"/>
            <a:ext cx="1630680" cy="2286000"/>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Promotions and product launches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Generally features a selection of light refreshments – small sandwiches, rolls, canapés, muffins and other finger food </a:t>
            </a:r>
          </a:p>
          <a:p>
            <a:pPr lvl="0">
              <a:spcBef>
                <a:spcPts val="600"/>
              </a:spcBef>
              <a:spcAft>
                <a:spcPts val="1200"/>
              </a:spcAft>
            </a:pPr>
            <a:r>
              <a:rPr lang="en-AU" sz="2200" dirty="0" smtClean="0">
                <a:latin typeface="Helvetica" pitchFamily="34" charset="0"/>
              </a:rPr>
              <a:t>Beverages may be dictated by the nature of the promotion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6" name="Picture 5" descr="MP900424374.JPG"/>
          <p:cNvPicPr>
            <a:picLocks noChangeAspect="1"/>
          </p:cNvPicPr>
          <p:nvPr/>
        </p:nvPicPr>
        <p:blipFill>
          <a:blip r:embed="rId3" cstate="print"/>
          <a:stretch>
            <a:fillRect/>
          </a:stretch>
        </p:blipFill>
        <p:spPr>
          <a:xfrm>
            <a:off x="6781800" y="3962400"/>
            <a:ext cx="1524000" cy="152400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Client providing own items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not uncommon for the customer to bring some of their own items to suit the requirements of the occasion. </a:t>
            </a:r>
          </a:p>
          <a:p>
            <a:pPr marL="0">
              <a:spcBef>
                <a:spcPts val="600"/>
              </a:spcBef>
              <a:spcAft>
                <a:spcPts val="1200"/>
              </a:spcAft>
              <a:buNone/>
            </a:pPr>
            <a:r>
              <a:rPr lang="en-AU" sz="2200" dirty="0" smtClean="0">
                <a:latin typeface="Helvetica" pitchFamily="34" charset="0"/>
              </a:rPr>
              <a:t>For birthdays and weddings it is normal for the customer to bring their own:</a:t>
            </a:r>
          </a:p>
          <a:p>
            <a:pPr lvl="0">
              <a:spcBef>
                <a:spcPts val="600"/>
              </a:spcBef>
              <a:spcAft>
                <a:spcPts val="1200"/>
              </a:spcAft>
            </a:pPr>
            <a:r>
              <a:rPr lang="en-AU" sz="2200" dirty="0" smtClean="0">
                <a:latin typeface="Helvetica" pitchFamily="34" charset="0"/>
              </a:rPr>
              <a:t>Cakes</a:t>
            </a:r>
          </a:p>
          <a:p>
            <a:pPr lvl="0">
              <a:spcBef>
                <a:spcPts val="600"/>
              </a:spcBef>
              <a:spcAft>
                <a:spcPts val="1200"/>
              </a:spcAft>
            </a:pPr>
            <a:r>
              <a:rPr lang="en-AU" sz="2200" dirty="0" smtClean="0">
                <a:latin typeface="Helvetica" pitchFamily="34" charset="0"/>
              </a:rPr>
              <a:t>Speciality wines</a:t>
            </a:r>
          </a:p>
          <a:p>
            <a:pPr lvl="0">
              <a:spcBef>
                <a:spcPts val="600"/>
              </a:spcBef>
              <a:spcAft>
                <a:spcPts val="1200"/>
              </a:spcAft>
            </a:pPr>
            <a:r>
              <a:rPr lang="en-AU" sz="2200" dirty="0" smtClean="0">
                <a:latin typeface="Helvetica" pitchFamily="34" charset="0"/>
              </a:rPr>
              <a:t>Decorations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7" name="Picture 6" descr="MP900423108.JPG"/>
          <p:cNvPicPr/>
          <p:nvPr/>
        </p:nvPicPr>
        <p:blipFill>
          <a:blip r:embed="rId3" cstate="print"/>
          <a:stretch>
            <a:fillRect/>
          </a:stretch>
        </p:blipFill>
        <p:spPr>
          <a:xfrm>
            <a:off x="6172200" y="3657600"/>
            <a:ext cx="1463675" cy="1712414"/>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There are many different types of menus options that are available to customers.</a:t>
            </a:r>
          </a:p>
          <a:p>
            <a:pPr marL="0">
              <a:spcBef>
                <a:spcPts val="600"/>
              </a:spcBef>
              <a:spcAft>
                <a:spcPts val="1200"/>
              </a:spcAft>
              <a:buNone/>
            </a:pPr>
            <a:r>
              <a:rPr lang="en-AU" sz="2200" dirty="0" smtClean="0">
                <a:latin typeface="Helvetica" pitchFamily="34" charset="0"/>
              </a:rPr>
              <a:t>To keep it simple, functions present three common package options:</a:t>
            </a:r>
          </a:p>
          <a:p>
            <a:pPr>
              <a:spcBef>
                <a:spcPts val="600"/>
              </a:spcBef>
              <a:spcAft>
                <a:spcPts val="1200"/>
              </a:spcAft>
            </a:pPr>
            <a:r>
              <a:rPr lang="en-AU" sz="2200" dirty="0" smtClean="0">
                <a:latin typeface="Helvetica" pitchFamily="34" charset="0"/>
              </a:rPr>
              <a:t>Inclusive</a:t>
            </a:r>
          </a:p>
          <a:p>
            <a:pPr>
              <a:spcBef>
                <a:spcPts val="600"/>
              </a:spcBef>
              <a:spcAft>
                <a:spcPts val="1200"/>
              </a:spcAft>
            </a:pPr>
            <a:r>
              <a:rPr lang="en-AU" sz="2200" dirty="0" smtClean="0">
                <a:latin typeface="Helvetica" pitchFamily="34" charset="0"/>
              </a:rPr>
              <a:t>On consumption</a:t>
            </a:r>
          </a:p>
          <a:p>
            <a:pPr>
              <a:spcBef>
                <a:spcPts val="600"/>
              </a:spcBef>
              <a:spcAft>
                <a:spcPts val="1200"/>
              </a:spcAft>
            </a:pPr>
            <a:r>
              <a:rPr lang="en-AU" sz="2200" dirty="0" smtClean="0">
                <a:latin typeface="Helvetica" pitchFamily="34" charset="0"/>
              </a:rPr>
              <a:t>On cash basis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6" name="Picture 5" descr="MP900422177.JPG"/>
          <p:cNvPicPr/>
          <p:nvPr/>
        </p:nvPicPr>
        <p:blipFill>
          <a:blip r:embed="rId3" cstate="print"/>
          <a:stretch>
            <a:fillRect/>
          </a:stretch>
        </p:blipFill>
        <p:spPr>
          <a:xfrm>
            <a:off x="5638800" y="3276600"/>
            <a:ext cx="1819275" cy="2152650"/>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Inclusive packages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This is where an all-up price is quoted to the host for the function and the price includes nominated food and </a:t>
            </a:r>
            <a:r>
              <a:rPr lang="en-AU" sz="2200" dirty="0" smtClean="0">
                <a:latin typeface="Helvetica" pitchFamily="34" charset="0"/>
              </a:rPr>
              <a:t>beverages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Same price regardless of how much of the agreed food and beverages are </a:t>
            </a:r>
            <a:r>
              <a:rPr lang="en-AU" sz="2200" dirty="0" smtClean="0">
                <a:latin typeface="Helvetica" pitchFamily="34" charset="0"/>
              </a:rPr>
              <a:t>consumed</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It includes a set, negotiated range of drinks                      but does not stipulate </a:t>
            </a:r>
            <a:r>
              <a:rPr lang="en-AU" sz="2200" dirty="0" smtClean="0">
                <a:latin typeface="Helvetica" pitchFamily="34" charset="0"/>
              </a:rPr>
              <a:t>quantities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Inclusive packages </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Open bar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An open bar is where the guests at the function can order drinks without paying for them. The client settles the account at the end. </a:t>
            </a:r>
          </a:p>
          <a:p>
            <a:pPr>
              <a:spcBef>
                <a:spcPts val="600"/>
              </a:spcBef>
              <a:spcAft>
                <a:spcPts val="1200"/>
              </a:spcAft>
              <a:buNone/>
            </a:pPr>
            <a:r>
              <a:rPr lang="en-AU" sz="2200" dirty="0" smtClean="0">
                <a:latin typeface="Helvetica" pitchFamily="34" charset="0"/>
              </a:rPr>
              <a:t>Open bars may be a:</a:t>
            </a:r>
          </a:p>
          <a:p>
            <a:pPr>
              <a:spcBef>
                <a:spcPts val="600"/>
              </a:spcBef>
              <a:spcAft>
                <a:spcPts val="1200"/>
              </a:spcAft>
            </a:pPr>
            <a:r>
              <a:rPr lang="en-AU" sz="2200" dirty="0" smtClean="0">
                <a:latin typeface="Helvetica" pitchFamily="34" charset="0"/>
              </a:rPr>
              <a:t>‘Full bar’ </a:t>
            </a:r>
          </a:p>
          <a:p>
            <a:pPr>
              <a:spcBef>
                <a:spcPts val="600"/>
              </a:spcBef>
              <a:spcAft>
                <a:spcPts val="1200"/>
              </a:spcAft>
            </a:pPr>
            <a:r>
              <a:rPr lang="en-AU" sz="2200" dirty="0" smtClean="0">
                <a:latin typeface="Helvetica" pitchFamily="34" charset="0"/>
              </a:rPr>
              <a:t>‘Restricted’ bar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6" name="Picture 5" descr="MP900432952[1].JPG"/>
          <p:cNvPicPr>
            <a:picLocks noChangeAspect="1"/>
          </p:cNvPicPr>
          <p:nvPr/>
        </p:nvPicPr>
        <p:blipFill>
          <a:blip r:embed="rId3" cstate="print"/>
          <a:stretch>
            <a:fillRect/>
          </a:stretch>
        </p:blipFill>
        <p:spPr>
          <a:xfrm>
            <a:off x="5638800" y="3733800"/>
            <a:ext cx="1453896" cy="2057400"/>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On-consumption basis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Only what is consumed is charged for</a:t>
            </a:r>
          </a:p>
          <a:p>
            <a:pPr>
              <a:spcBef>
                <a:spcPts val="600"/>
              </a:spcBef>
              <a:spcAft>
                <a:spcPts val="1200"/>
              </a:spcAft>
            </a:pPr>
            <a:r>
              <a:rPr lang="en-AU" sz="2200" dirty="0" smtClean="0">
                <a:latin typeface="Helvetica" pitchFamily="34" charset="0"/>
              </a:rPr>
              <a:t>Client usually sets a limit above which guests pay for their own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4098" name="Picture 2" descr="C:\Documents and Settings\danielc\Local Settings\Temporary Internet Files\Content.IE5\112MAXTI\MC900351641[1].wmf"/>
          <p:cNvPicPr>
            <a:picLocks noChangeAspect="1" noChangeArrowheads="1"/>
          </p:cNvPicPr>
          <p:nvPr/>
        </p:nvPicPr>
        <p:blipFill>
          <a:blip r:embed="rId3" cstate="print"/>
          <a:srcRect/>
          <a:stretch>
            <a:fillRect/>
          </a:stretch>
        </p:blipFill>
        <p:spPr bwMode="auto">
          <a:xfrm>
            <a:off x="6019800" y="3352800"/>
            <a:ext cx="1754863" cy="1775988"/>
          </a:xfrm>
          <a:prstGeom prst="rect">
            <a:avLst/>
          </a:prstGeom>
          <a:noFill/>
        </p:spPr>
      </p:pic>
      <p:pic>
        <p:nvPicPr>
          <p:cNvPr id="4099" name="Picture 3" descr="C:\Documents and Settings\danielc\Local Settings\Temporary Internet Files\Content.IE5\3DV3UKH9\MC900383206[1].wmf"/>
          <p:cNvPicPr>
            <a:picLocks noChangeAspect="1" noChangeArrowheads="1"/>
          </p:cNvPicPr>
          <p:nvPr/>
        </p:nvPicPr>
        <p:blipFill>
          <a:blip r:embed="rId4" cstate="print"/>
          <a:srcRect/>
          <a:stretch>
            <a:fillRect/>
          </a:stretch>
        </p:blipFill>
        <p:spPr bwMode="auto">
          <a:xfrm>
            <a:off x="4267200" y="3962400"/>
            <a:ext cx="1815998" cy="1589227"/>
          </a:xfrm>
          <a:prstGeom prst="rect">
            <a:avLst/>
          </a:prstGeom>
          <a:noFill/>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Cash basis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This is a growing option as this style of service reduces the expense incurred by the host</a:t>
            </a:r>
          </a:p>
          <a:p>
            <a:pPr>
              <a:spcBef>
                <a:spcPts val="600"/>
              </a:spcBef>
              <a:spcAft>
                <a:spcPts val="1200"/>
              </a:spcAft>
            </a:pPr>
            <a:r>
              <a:rPr lang="en-AU" sz="2200" dirty="0" smtClean="0">
                <a:latin typeface="Helvetica" pitchFamily="34" charset="0"/>
              </a:rPr>
              <a:t>Cash bars are common</a:t>
            </a:r>
          </a:p>
          <a:p>
            <a:pPr>
              <a:spcBef>
                <a:spcPts val="600"/>
              </a:spcBef>
              <a:spcAft>
                <a:spcPts val="1200"/>
              </a:spcAft>
            </a:pPr>
            <a:r>
              <a:rPr lang="en-AU" sz="2200" dirty="0" smtClean="0">
                <a:latin typeface="Helvetica" pitchFamily="34" charset="0"/>
              </a:rPr>
              <a:t>Guests pay for all their own drinks either </a:t>
            </a:r>
            <a:br>
              <a:rPr lang="en-AU" sz="2200" dirty="0" smtClean="0">
                <a:latin typeface="Helvetica" pitchFamily="34" charset="0"/>
              </a:rPr>
            </a:br>
            <a:r>
              <a:rPr lang="en-AU" sz="2200" dirty="0" smtClean="0">
                <a:latin typeface="Helvetica" pitchFamily="34" charset="0"/>
              </a:rPr>
              <a:t>obtaining them at the bar or via waiter service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5124" name="Picture 4" descr="C:\Documents and Settings\danielc\Local Settings\Temporary Internet Files\Content.IE5\SIQ5KRQ3\MC900440391[1].png"/>
          <p:cNvPicPr>
            <a:picLocks noChangeAspect="1" noChangeArrowheads="1"/>
          </p:cNvPicPr>
          <p:nvPr/>
        </p:nvPicPr>
        <p:blipFill>
          <a:blip r:embed="rId3" cstate="print"/>
          <a:srcRect/>
          <a:stretch>
            <a:fillRect/>
          </a:stretch>
        </p:blipFill>
        <p:spPr bwMode="auto">
          <a:xfrm>
            <a:off x="6781800" y="2590800"/>
            <a:ext cx="1905000" cy="1905000"/>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function costs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lvl="0">
              <a:lnSpc>
                <a:spcPct val="120000"/>
              </a:lnSpc>
              <a:spcBef>
                <a:spcPts val="600"/>
              </a:spcBef>
              <a:spcAft>
                <a:spcPts val="1200"/>
              </a:spcAft>
            </a:pPr>
            <a:r>
              <a:rPr lang="en-AU" sz="2400" dirty="0" smtClean="0">
                <a:latin typeface="Helvetica" pitchFamily="34" charset="0"/>
              </a:rPr>
              <a:t>Room and facility hire </a:t>
            </a:r>
          </a:p>
          <a:p>
            <a:pPr lvl="0">
              <a:lnSpc>
                <a:spcPct val="120000"/>
              </a:lnSpc>
              <a:spcBef>
                <a:spcPts val="600"/>
              </a:spcBef>
              <a:spcAft>
                <a:spcPts val="1200"/>
              </a:spcAft>
            </a:pPr>
            <a:r>
              <a:rPr lang="en-AU" sz="2400" dirty="0" smtClean="0">
                <a:latin typeface="Helvetica" pitchFamily="34" charset="0"/>
              </a:rPr>
              <a:t>Food and beverage </a:t>
            </a:r>
          </a:p>
          <a:p>
            <a:pPr lvl="0">
              <a:lnSpc>
                <a:spcPct val="120000"/>
              </a:lnSpc>
              <a:spcBef>
                <a:spcPts val="600"/>
              </a:spcBef>
              <a:spcAft>
                <a:spcPts val="1200"/>
              </a:spcAft>
            </a:pPr>
            <a:r>
              <a:rPr lang="en-AU" sz="2400" dirty="0" smtClean="0">
                <a:latin typeface="Helvetica" pitchFamily="34" charset="0"/>
              </a:rPr>
              <a:t>Decorations </a:t>
            </a:r>
          </a:p>
          <a:p>
            <a:pPr lvl="0">
              <a:lnSpc>
                <a:spcPct val="120000"/>
              </a:lnSpc>
              <a:spcBef>
                <a:spcPts val="600"/>
              </a:spcBef>
              <a:spcAft>
                <a:spcPts val="1200"/>
              </a:spcAft>
            </a:pPr>
            <a:r>
              <a:rPr lang="en-AU" sz="2400" dirty="0" smtClean="0">
                <a:latin typeface="Helvetica" pitchFamily="34" charset="0"/>
              </a:rPr>
              <a:t>Specialist staff </a:t>
            </a:r>
          </a:p>
          <a:p>
            <a:pPr lvl="0">
              <a:lnSpc>
                <a:spcPct val="120000"/>
              </a:lnSpc>
              <a:spcBef>
                <a:spcPts val="600"/>
              </a:spcBef>
              <a:spcAft>
                <a:spcPts val="1200"/>
              </a:spcAft>
            </a:pPr>
            <a:r>
              <a:rPr lang="en-AU" sz="2400" dirty="0" smtClean="0">
                <a:latin typeface="Helvetica" pitchFamily="34" charset="0"/>
              </a:rPr>
              <a:t>Bands and entertainers </a:t>
            </a:r>
          </a:p>
          <a:p>
            <a:pPr lvl="0">
              <a:lnSpc>
                <a:spcPct val="120000"/>
              </a:lnSpc>
              <a:spcBef>
                <a:spcPts val="600"/>
              </a:spcBef>
              <a:spcAft>
                <a:spcPts val="1200"/>
              </a:spcAft>
            </a:pPr>
            <a:r>
              <a:rPr lang="en-AU" sz="2400" dirty="0" smtClean="0">
                <a:latin typeface="Helvetica" pitchFamily="34" charset="0"/>
              </a:rPr>
              <a:t>Accommodation </a:t>
            </a:r>
          </a:p>
          <a:p>
            <a:pPr lvl="0">
              <a:lnSpc>
                <a:spcPct val="120000"/>
              </a:lnSpc>
              <a:spcBef>
                <a:spcPts val="600"/>
              </a:spcBef>
              <a:spcAft>
                <a:spcPts val="1200"/>
              </a:spcAft>
            </a:pPr>
            <a:r>
              <a:rPr lang="en-AU" sz="2400" dirty="0" smtClean="0">
                <a:latin typeface="Helvetica" pitchFamily="34" charset="0"/>
              </a:rPr>
              <a:t>Special requests </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7" name="Picture 6" descr="MP900400284.JPG"/>
          <p:cNvPicPr/>
          <p:nvPr/>
        </p:nvPicPr>
        <p:blipFill>
          <a:blip r:embed="rId3" cstate="print"/>
          <a:stretch>
            <a:fillRect/>
          </a:stretch>
        </p:blipFill>
        <p:spPr>
          <a:xfrm>
            <a:off x="5257800" y="2667000"/>
            <a:ext cx="2500313" cy="1843088"/>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Kit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Purpose of a Function Kit</a:t>
            </a:r>
          </a:p>
          <a:p>
            <a:pPr>
              <a:spcBef>
                <a:spcPts val="600"/>
              </a:spcBef>
              <a:spcAft>
                <a:spcPts val="1200"/>
              </a:spcAft>
              <a:buNone/>
            </a:pPr>
            <a:r>
              <a:rPr lang="en-AU" sz="2200" dirty="0" smtClean="0">
                <a:latin typeface="Helvetica" pitchFamily="34" charset="0"/>
              </a:rPr>
              <a:t>Many establishments have a ‘Function Kit’ to:</a:t>
            </a:r>
          </a:p>
          <a:p>
            <a:pPr>
              <a:spcBef>
                <a:spcPts val="600"/>
              </a:spcBef>
              <a:spcAft>
                <a:spcPts val="1200"/>
              </a:spcAft>
            </a:pPr>
            <a:r>
              <a:rPr lang="en-AU" sz="2200" dirty="0" smtClean="0">
                <a:latin typeface="Helvetica" pitchFamily="34" charset="0"/>
              </a:rPr>
              <a:t>Assist in providing advice to clients</a:t>
            </a:r>
          </a:p>
          <a:p>
            <a:pPr>
              <a:spcBef>
                <a:spcPts val="600"/>
              </a:spcBef>
              <a:spcAft>
                <a:spcPts val="1200"/>
              </a:spcAft>
            </a:pPr>
            <a:r>
              <a:rPr lang="en-AU" sz="2200" dirty="0" smtClean="0">
                <a:latin typeface="Helvetica" pitchFamily="34" charset="0"/>
              </a:rPr>
              <a:t>Demonstrate the venue’s expertise and ability in relation to events and functions</a:t>
            </a:r>
            <a:endParaRPr lang="en-AU" sz="2400" dirty="0" smtClean="0"/>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6" name="Picture 5" descr="MP900384824.JPG"/>
          <p:cNvPicPr/>
          <p:nvPr/>
        </p:nvPicPr>
        <p:blipFill>
          <a:blip r:embed="rId3" cstate="print"/>
          <a:stretch>
            <a:fillRect/>
          </a:stretch>
        </p:blipFill>
        <p:spPr>
          <a:xfrm>
            <a:off x="3429000" y="4419600"/>
            <a:ext cx="1897036" cy="1752600"/>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Kit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Benefits of a Function Kit</a:t>
            </a:r>
          </a:p>
          <a:p>
            <a:pPr>
              <a:spcBef>
                <a:spcPts val="600"/>
              </a:spcBef>
              <a:spcAft>
                <a:spcPts val="1200"/>
              </a:spcAft>
              <a:buNone/>
            </a:pPr>
            <a:r>
              <a:rPr lang="en-AU" sz="2200" dirty="0" smtClean="0">
                <a:latin typeface="Helvetica" pitchFamily="34" charset="0"/>
              </a:rPr>
              <a:t>By establishing a function kit, it enables clients to:</a:t>
            </a:r>
          </a:p>
          <a:p>
            <a:pPr>
              <a:spcBef>
                <a:spcPts val="600"/>
              </a:spcBef>
              <a:spcAft>
                <a:spcPts val="1200"/>
              </a:spcAft>
            </a:pPr>
            <a:r>
              <a:rPr lang="en-AU" sz="2200" dirty="0" smtClean="0">
                <a:latin typeface="Helvetica" pitchFamily="34" charset="0"/>
              </a:rPr>
              <a:t>Have all the necessary options and information at their disposal</a:t>
            </a:r>
          </a:p>
          <a:p>
            <a:pPr>
              <a:spcBef>
                <a:spcPts val="600"/>
              </a:spcBef>
              <a:spcAft>
                <a:spcPts val="1200"/>
              </a:spcAft>
            </a:pPr>
            <a:r>
              <a:rPr lang="en-AU" sz="2200" dirty="0" smtClean="0">
                <a:latin typeface="Helvetica" pitchFamily="34" charset="0"/>
              </a:rPr>
              <a:t>Helps them to decide on the best options                                 to suit their needs</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6" name="Picture 5" descr="MP900443367[1].JPG"/>
          <p:cNvPicPr>
            <a:picLocks noChangeAspect="1"/>
          </p:cNvPicPr>
          <p:nvPr/>
        </p:nvPicPr>
        <p:blipFill>
          <a:blip r:embed="rId3" cstate="print"/>
          <a:stretch>
            <a:fillRect/>
          </a:stretch>
        </p:blipFill>
        <p:spPr>
          <a:xfrm>
            <a:off x="6934200" y="3352800"/>
            <a:ext cx="1321136" cy="1905000"/>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Kit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1200"/>
              </a:spcAft>
              <a:buNone/>
            </a:pPr>
            <a:r>
              <a:rPr lang="en-AU" sz="2200" b="1" dirty="0" smtClean="0">
                <a:latin typeface="Helvetica" pitchFamily="34" charset="0"/>
              </a:rPr>
              <a:t>Contents of a Function Kit</a:t>
            </a:r>
          </a:p>
          <a:p>
            <a:pPr lvl="0">
              <a:spcBef>
                <a:spcPts val="600"/>
              </a:spcBef>
              <a:spcAft>
                <a:spcPts val="1200"/>
              </a:spcAft>
              <a:buNone/>
            </a:pPr>
            <a:r>
              <a:rPr lang="en-AU" sz="2200" dirty="0" smtClean="0">
                <a:latin typeface="Helvetica" pitchFamily="34" charset="0"/>
              </a:rPr>
              <a:t>Details and information in relation to:</a:t>
            </a:r>
          </a:p>
          <a:p>
            <a:pPr lvl="0">
              <a:spcBef>
                <a:spcPts val="600"/>
              </a:spcBef>
              <a:spcAft>
                <a:spcPts val="1200"/>
              </a:spcAft>
            </a:pPr>
            <a:r>
              <a:rPr lang="en-AU" sz="2200" dirty="0" smtClean="0">
                <a:latin typeface="Helvetica" pitchFamily="34" charset="0"/>
              </a:rPr>
              <a:t>Venue size</a:t>
            </a:r>
          </a:p>
          <a:p>
            <a:pPr lvl="0">
              <a:spcBef>
                <a:spcPts val="600"/>
              </a:spcBef>
              <a:spcAft>
                <a:spcPts val="1200"/>
              </a:spcAft>
            </a:pPr>
            <a:r>
              <a:rPr lang="en-AU" sz="2200" dirty="0" smtClean="0">
                <a:latin typeface="Helvetica" pitchFamily="34" charset="0"/>
              </a:rPr>
              <a:t>Capacity of rooms</a:t>
            </a:r>
          </a:p>
          <a:p>
            <a:pPr lvl="0">
              <a:spcBef>
                <a:spcPts val="600"/>
              </a:spcBef>
              <a:spcAft>
                <a:spcPts val="1200"/>
              </a:spcAft>
            </a:pPr>
            <a:r>
              <a:rPr lang="en-AU" sz="2200" dirty="0" smtClean="0">
                <a:latin typeface="Helvetica" pitchFamily="34" charset="0"/>
              </a:rPr>
              <a:t>Rooms/areas available</a:t>
            </a:r>
          </a:p>
          <a:p>
            <a:pPr lvl="0">
              <a:spcBef>
                <a:spcPts val="600"/>
              </a:spcBef>
              <a:spcAft>
                <a:spcPts val="1200"/>
              </a:spcAft>
            </a:pPr>
            <a:r>
              <a:rPr lang="en-AU" sz="2200" dirty="0" smtClean="0">
                <a:latin typeface="Helvetica" pitchFamily="34" charset="0"/>
              </a:rPr>
              <a:t>Venue facilities, services and equipment</a:t>
            </a:r>
          </a:p>
          <a:p>
            <a:pPr lvl="0">
              <a:spcBef>
                <a:spcPts val="600"/>
              </a:spcBef>
              <a:spcAft>
                <a:spcPts val="1200"/>
              </a:spcAft>
            </a:pPr>
            <a:r>
              <a:rPr lang="en-AU" sz="2200" dirty="0" smtClean="0">
                <a:latin typeface="Helvetica" pitchFamily="34" charset="0"/>
              </a:rPr>
              <a:t>Items that can be hired</a:t>
            </a:r>
          </a:p>
          <a:p>
            <a:pPr lvl="0">
              <a:spcBef>
                <a:spcPts val="600"/>
              </a:spcBef>
              <a:spcAft>
                <a:spcPts val="1200"/>
              </a:spcAft>
            </a:pPr>
            <a:r>
              <a:rPr lang="en-AU" sz="2200" dirty="0" smtClean="0">
                <a:latin typeface="Helvetica" pitchFamily="34" charset="0"/>
              </a:rPr>
              <a:t>Sample food and beverage menus</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7" name="Picture 6" descr="6594988505_4c258c3a5d_m.jpg"/>
          <p:cNvPicPr/>
          <p:nvPr/>
        </p:nvPicPr>
        <p:blipFill>
          <a:blip r:embed="rId3" cstate="print"/>
          <a:stretch>
            <a:fillRect/>
          </a:stretch>
        </p:blipFill>
        <p:spPr>
          <a:xfrm>
            <a:off x="6019800" y="1524000"/>
            <a:ext cx="1881188" cy="2557463"/>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Kit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Contents of a Function Kit</a:t>
            </a:r>
          </a:p>
          <a:p>
            <a:pPr lvl="0">
              <a:spcBef>
                <a:spcPts val="600"/>
              </a:spcBef>
              <a:spcAft>
                <a:spcPts val="1200"/>
              </a:spcAft>
              <a:buNone/>
            </a:pPr>
            <a:r>
              <a:rPr lang="en-AU" sz="2200" dirty="0" smtClean="0">
                <a:latin typeface="Helvetica" pitchFamily="34" charset="0"/>
              </a:rPr>
              <a:t>Details and information in relation to:</a:t>
            </a:r>
          </a:p>
          <a:p>
            <a:pPr lvl="0">
              <a:spcBef>
                <a:spcPts val="600"/>
              </a:spcBef>
              <a:spcAft>
                <a:spcPts val="1200"/>
              </a:spcAft>
            </a:pPr>
            <a:r>
              <a:rPr lang="en-AU" sz="2200" dirty="0" smtClean="0">
                <a:latin typeface="Helvetica" pitchFamily="34" charset="0"/>
              </a:rPr>
              <a:t>Price Lists</a:t>
            </a:r>
          </a:p>
          <a:p>
            <a:pPr lvl="0">
              <a:spcBef>
                <a:spcPts val="600"/>
              </a:spcBef>
              <a:spcAft>
                <a:spcPts val="1200"/>
              </a:spcAft>
            </a:pPr>
            <a:r>
              <a:rPr lang="en-AU" sz="2200" dirty="0" smtClean="0">
                <a:latin typeface="Helvetica" pitchFamily="34" charset="0"/>
              </a:rPr>
              <a:t>Suggested staffing levels for functions</a:t>
            </a:r>
          </a:p>
          <a:p>
            <a:pPr lvl="0">
              <a:spcBef>
                <a:spcPts val="600"/>
              </a:spcBef>
              <a:spcAft>
                <a:spcPts val="1200"/>
              </a:spcAft>
            </a:pPr>
            <a:r>
              <a:rPr lang="en-AU" sz="2200" dirty="0" smtClean="0">
                <a:latin typeface="Helvetica" pitchFamily="34" charset="0"/>
              </a:rPr>
              <a:t>Colour photographs of different room set-up</a:t>
            </a:r>
          </a:p>
          <a:p>
            <a:pPr lvl="0">
              <a:spcBef>
                <a:spcPts val="600"/>
              </a:spcBef>
              <a:spcAft>
                <a:spcPts val="1200"/>
              </a:spcAft>
            </a:pPr>
            <a:r>
              <a:rPr lang="en-AU" sz="2200" dirty="0" smtClean="0">
                <a:latin typeface="Helvetica" pitchFamily="34" charset="0"/>
              </a:rPr>
              <a:t>Contact details of the venue</a:t>
            </a:r>
          </a:p>
          <a:p>
            <a:pPr lvl="0">
              <a:spcBef>
                <a:spcPts val="600"/>
              </a:spcBef>
              <a:spcAft>
                <a:spcPts val="1200"/>
              </a:spcAft>
            </a:pPr>
            <a:r>
              <a:rPr lang="en-AU" sz="2200" dirty="0" smtClean="0">
                <a:latin typeface="Helvetica" pitchFamily="34" charset="0"/>
              </a:rPr>
              <a:t>A DVD of the venue with a focus on functions</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6" name="Picture 5" descr="MP900289901.JPG"/>
          <p:cNvPicPr/>
          <p:nvPr/>
        </p:nvPicPr>
        <p:blipFill>
          <a:blip r:embed="rId3" cstate="print"/>
          <a:stretch>
            <a:fillRect/>
          </a:stretch>
        </p:blipFill>
        <p:spPr>
          <a:xfrm>
            <a:off x="6172200" y="1981200"/>
            <a:ext cx="2046817" cy="1377245"/>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related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There is a vast amount of documentation that is used in the planning and coordination of functions. </a:t>
            </a:r>
          </a:p>
          <a:p>
            <a:pPr>
              <a:spcBef>
                <a:spcPts val="600"/>
              </a:spcBef>
              <a:spcAft>
                <a:spcPts val="1200"/>
              </a:spcAft>
            </a:pPr>
            <a:r>
              <a:rPr lang="en-AU" sz="2200" dirty="0" smtClean="0">
                <a:latin typeface="Helvetica" pitchFamily="34" charset="0"/>
              </a:rPr>
              <a:t>What documents need to be completed within the functions department?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6146" name="Picture 2" descr="I:\Overseas Projects\PHOTOS\2011\colour-coded chopping boards.jpg"/>
          <p:cNvPicPr>
            <a:picLocks noChangeAspect="1" noChangeArrowheads="1"/>
          </p:cNvPicPr>
          <p:nvPr/>
        </p:nvPicPr>
        <p:blipFill>
          <a:blip r:embed="rId3" cstate="print"/>
          <a:srcRect/>
          <a:stretch>
            <a:fillRect/>
          </a:stretch>
        </p:blipFill>
        <p:spPr bwMode="auto">
          <a:xfrm>
            <a:off x="6324600" y="3048000"/>
            <a:ext cx="1493837" cy="1541514"/>
          </a:xfrm>
          <a:prstGeom prst="rect">
            <a:avLst/>
          </a:prstGeom>
          <a:noFill/>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related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Documentation for different stakeholders</a:t>
            </a:r>
          </a:p>
          <a:p>
            <a:pPr>
              <a:spcBef>
                <a:spcPts val="600"/>
              </a:spcBef>
              <a:spcAft>
                <a:spcPts val="1200"/>
              </a:spcAft>
              <a:buNone/>
            </a:pPr>
            <a:r>
              <a:rPr lang="en-AU" sz="2200" dirty="0" smtClean="0">
                <a:latin typeface="Helvetica" pitchFamily="34" charset="0"/>
              </a:rPr>
              <a:t>Documents may be produced for: </a:t>
            </a:r>
          </a:p>
          <a:p>
            <a:pPr>
              <a:spcBef>
                <a:spcPts val="600"/>
              </a:spcBef>
              <a:spcAft>
                <a:spcPts val="1200"/>
              </a:spcAft>
            </a:pPr>
            <a:r>
              <a:rPr lang="en-AU" sz="2200" dirty="0" smtClean="0">
                <a:latin typeface="Helvetica" pitchFamily="34" charset="0"/>
              </a:rPr>
              <a:t>Internal staff</a:t>
            </a:r>
          </a:p>
          <a:p>
            <a:pPr>
              <a:spcBef>
                <a:spcPts val="600"/>
              </a:spcBef>
              <a:spcAft>
                <a:spcPts val="1200"/>
              </a:spcAft>
            </a:pPr>
            <a:r>
              <a:rPr lang="en-AU" sz="2200" dirty="0" smtClean="0">
                <a:latin typeface="Helvetica" pitchFamily="34" charset="0"/>
              </a:rPr>
              <a:t>Suppliers</a:t>
            </a:r>
          </a:p>
          <a:p>
            <a:pPr>
              <a:spcBef>
                <a:spcPts val="600"/>
              </a:spcBef>
              <a:spcAft>
                <a:spcPts val="1200"/>
              </a:spcAft>
            </a:pPr>
            <a:r>
              <a:rPr lang="en-AU" sz="2200" dirty="0" smtClean="0">
                <a:latin typeface="Helvetica" pitchFamily="34" charset="0"/>
              </a:rPr>
              <a:t>Clients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7170" name="Picture 2" descr="I:\Overseas Projects\PHOTOS\Theme Park 2010\Folders.jpg"/>
          <p:cNvPicPr>
            <a:picLocks noChangeAspect="1" noChangeArrowheads="1"/>
          </p:cNvPicPr>
          <p:nvPr/>
        </p:nvPicPr>
        <p:blipFill>
          <a:blip r:embed="rId3" cstate="print"/>
          <a:srcRect/>
          <a:stretch>
            <a:fillRect/>
          </a:stretch>
        </p:blipFill>
        <p:spPr bwMode="auto">
          <a:xfrm>
            <a:off x="5486400" y="2667000"/>
            <a:ext cx="2186153" cy="1828800"/>
          </a:xfrm>
          <a:prstGeom prst="rect">
            <a:avLst/>
          </a:prstGeom>
          <a:noFill/>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related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buNone/>
            </a:pPr>
            <a:r>
              <a:rPr lang="en-AU" sz="2200" b="1" dirty="0" smtClean="0">
                <a:latin typeface="Helvetica" pitchFamily="34" charset="0"/>
              </a:rPr>
              <a:t>General documentation</a:t>
            </a:r>
          </a:p>
          <a:p>
            <a:pPr lvl="0">
              <a:spcBef>
                <a:spcPts val="600"/>
              </a:spcBef>
              <a:spcAft>
                <a:spcPts val="1200"/>
              </a:spcAft>
            </a:pPr>
            <a:r>
              <a:rPr lang="en-AU" sz="2200" dirty="0" smtClean="0">
                <a:latin typeface="Helvetica" pitchFamily="34" charset="0"/>
              </a:rPr>
              <a:t>Function kits</a:t>
            </a:r>
          </a:p>
          <a:p>
            <a:pPr lvl="0">
              <a:spcBef>
                <a:spcPts val="600"/>
              </a:spcBef>
              <a:spcAft>
                <a:spcPts val="1200"/>
              </a:spcAft>
            </a:pPr>
            <a:r>
              <a:rPr lang="en-AU" sz="2200" dirty="0" smtClean="0">
                <a:latin typeface="Helvetica" pitchFamily="34" charset="0"/>
              </a:rPr>
              <a:t>Running sheet </a:t>
            </a:r>
          </a:p>
          <a:p>
            <a:pPr lvl="0">
              <a:spcBef>
                <a:spcPts val="600"/>
              </a:spcBef>
              <a:spcAft>
                <a:spcPts val="1200"/>
              </a:spcAft>
            </a:pPr>
            <a:r>
              <a:rPr lang="en-AU" sz="2200" dirty="0" smtClean="0">
                <a:latin typeface="Helvetica" pitchFamily="34" charset="0"/>
              </a:rPr>
              <a:t>Function sheet </a:t>
            </a:r>
          </a:p>
          <a:p>
            <a:pPr lvl="0">
              <a:spcBef>
                <a:spcPts val="600"/>
              </a:spcBef>
              <a:spcAft>
                <a:spcPts val="1200"/>
              </a:spcAft>
            </a:pPr>
            <a:r>
              <a:rPr lang="en-AU" sz="2200" dirty="0" smtClean="0">
                <a:latin typeface="Helvetica" pitchFamily="34" charset="0"/>
              </a:rPr>
              <a:t>Quotations from third party providers  </a:t>
            </a:r>
          </a:p>
          <a:p>
            <a:pPr lvl="0">
              <a:spcBef>
                <a:spcPts val="600"/>
              </a:spcBef>
              <a:spcAft>
                <a:spcPts val="1200"/>
              </a:spcAft>
            </a:pPr>
            <a:r>
              <a:rPr lang="en-AU" sz="2200" dirty="0" smtClean="0">
                <a:latin typeface="Helvetica" pitchFamily="34" charset="0"/>
              </a:rPr>
              <a:t>Invitations</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8194" name="Picture 2" descr="I:\Overseas Projects\PHOTOS\2012\Office\iStock_000003116145Medium.jpg"/>
          <p:cNvPicPr>
            <a:picLocks noChangeAspect="1" noChangeArrowheads="1"/>
          </p:cNvPicPr>
          <p:nvPr/>
        </p:nvPicPr>
        <p:blipFill>
          <a:blip r:embed="rId3" cstate="print"/>
          <a:srcRect/>
          <a:stretch>
            <a:fillRect/>
          </a:stretch>
        </p:blipFill>
        <p:spPr bwMode="auto">
          <a:xfrm>
            <a:off x="5410200" y="1828800"/>
            <a:ext cx="2543174" cy="1694149"/>
          </a:xfrm>
          <a:prstGeom prst="rect">
            <a:avLst/>
          </a:prstGeom>
          <a:noFill/>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related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buNone/>
            </a:pPr>
            <a:r>
              <a:rPr lang="en-AU" sz="2200" b="1" dirty="0" smtClean="0">
                <a:latin typeface="Helvetica" pitchFamily="34" charset="0"/>
              </a:rPr>
              <a:t>General documentation</a:t>
            </a:r>
          </a:p>
          <a:p>
            <a:pPr lvl="0">
              <a:spcBef>
                <a:spcPts val="600"/>
              </a:spcBef>
              <a:spcAft>
                <a:spcPts val="1200"/>
              </a:spcAft>
            </a:pPr>
            <a:r>
              <a:rPr lang="en-AU" sz="2200" dirty="0" smtClean="0">
                <a:latin typeface="Helvetica" pitchFamily="34" charset="0"/>
              </a:rPr>
              <a:t>Food menus</a:t>
            </a:r>
          </a:p>
          <a:p>
            <a:pPr lvl="0">
              <a:spcBef>
                <a:spcPts val="600"/>
              </a:spcBef>
              <a:spcAft>
                <a:spcPts val="1200"/>
              </a:spcAft>
            </a:pPr>
            <a:r>
              <a:rPr lang="en-AU" sz="2200" dirty="0" smtClean="0">
                <a:latin typeface="Helvetica" pitchFamily="34" charset="0"/>
              </a:rPr>
              <a:t>Wine lists</a:t>
            </a:r>
          </a:p>
          <a:p>
            <a:pPr lvl="0">
              <a:spcBef>
                <a:spcPts val="600"/>
              </a:spcBef>
              <a:spcAft>
                <a:spcPts val="1200"/>
              </a:spcAft>
            </a:pPr>
            <a:r>
              <a:rPr lang="en-AU" sz="2200" dirty="0" smtClean="0">
                <a:latin typeface="Helvetica" pitchFamily="34" charset="0"/>
              </a:rPr>
              <a:t>Drink lists</a:t>
            </a:r>
          </a:p>
          <a:p>
            <a:pPr lvl="0">
              <a:spcBef>
                <a:spcPts val="600"/>
              </a:spcBef>
              <a:spcAft>
                <a:spcPts val="1200"/>
              </a:spcAft>
            </a:pPr>
            <a:r>
              <a:rPr lang="en-AU" sz="2200" dirty="0" smtClean="0">
                <a:latin typeface="Helvetica" pitchFamily="34" charset="0"/>
              </a:rPr>
              <a:t>Service vouchers  </a:t>
            </a:r>
          </a:p>
          <a:p>
            <a:pPr lvl="0">
              <a:spcBef>
                <a:spcPts val="600"/>
              </a:spcBef>
              <a:spcAft>
                <a:spcPts val="1200"/>
              </a:spcAft>
            </a:pPr>
            <a:r>
              <a:rPr lang="en-AU" sz="2200" dirty="0" smtClean="0">
                <a:latin typeface="Helvetica" pitchFamily="34" charset="0"/>
              </a:rPr>
              <a:t>Equipment lists</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9218" name="Picture 2" descr="C:\Documents and Settings\danielc\Local Settings\Temporary Internet Files\Content.IE5\SIQ5KRQ3\MC900439822[1].png"/>
          <p:cNvPicPr>
            <a:picLocks noChangeAspect="1" noChangeArrowheads="1"/>
          </p:cNvPicPr>
          <p:nvPr/>
        </p:nvPicPr>
        <p:blipFill>
          <a:blip r:embed="rId3" cstate="print"/>
          <a:srcRect/>
          <a:stretch>
            <a:fillRect/>
          </a:stretch>
        </p:blipFill>
        <p:spPr bwMode="auto">
          <a:xfrm>
            <a:off x="4765675" y="1965325"/>
            <a:ext cx="2743200" cy="2743200"/>
          </a:xfrm>
          <a:prstGeom prst="rect">
            <a:avLst/>
          </a:prstGeom>
          <a:noFill/>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related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Financial and Operation documents </a:t>
            </a:r>
          </a:p>
          <a:p>
            <a:pPr lvl="0">
              <a:spcBef>
                <a:spcPts val="600"/>
              </a:spcBef>
              <a:spcAft>
                <a:spcPts val="1200"/>
              </a:spcAft>
            </a:pPr>
            <a:r>
              <a:rPr lang="en-AU" sz="2200" dirty="0" smtClean="0">
                <a:latin typeface="Helvetica" pitchFamily="34" charset="0"/>
              </a:rPr>
              <a:t>Customer accounts</a:t>
            </a:r>
          </a:p>
          <a:p>
            <a:pPr lvl="0">
              <a:spcBef>
                <a:spcPts val="600"/>
              </a:spcBef>
              <a:spcAft>
                <a:spcPts val="1200"/>
              </a:spcAft>
            </a:pPr>
            <a:r>
              <a:rPr lang="en-AU" sz="2200" dirty="0" smtClean="0">
                <a:latin typeface="Helvetica" pitchFamily="34" charset="0"/>
              </a:rPr>
              <a:t>Quotations </a:t>
            </a:r>
          </a:p>
          <a:p>
            <a:pPr lvl="0">
              <a:spcBef>
                <a:spcPts val="600"/>
              </a:spcBef>
              <a:spcAft>
                <a:spcPts val="1200"/>
              </a:spcAft>
            </a:pPr>
            <a:r>
              <a:rPr lang="en-AU" sz="2200" dirty="0" smtClean="0">
                <a:latin typeface="Helvetica" pitchFamily="34" charset="0"/>
              </a:rPr>
              <a:t>Purchase orders </a:t>
            </a:r>
          </a:p>
          <a:p>
            <a:pPr lvl="0">
              <a:spcBef>
                <a:spcPts val="600"/>
              </a:spcBef>
              <a:spcAft>
                <a:spcPts val="1200"/>
              </a:spcAft>
            </a:pPr>
            <a:r>
              <a:rPr lang="en-AU" sz="2200" dirty="0" smtClean="0">
                <a:latin typeface="Helvetica" pitchFamily="34" charset="0"/>
              </a:rPr>
              <a:t>Invoices to the client </a:t>
            </a:r>
          </a:p>
          <a:p>
            <a:pPr lvl="0">
              <a:spcBef>
                <a:spcPts val="600"/>
              </a:spcBef>
              <a:spcAft>
                <a:spcPts val="1200"/>
              </a:spcAft>
            </a:pPr>
            <a:r>
              <a:rPr lang="en-AU" sz="2200" dirty="0" smtClean="0">
                <a:latin typeface="Helvetica" pitchFamily="34" charset="0"/>
              </a:rPr>
              <a:t>Statements for the client </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10242" name="Picture 2" descr="C:\Documents and Settings\danielc\Local Settings\Temporary Internet Files\Content.IE5\UMECW9PM\MC900412754[1].wmf"/>
          <p:cNvPicPr>
            <a:picLocks noChangeAspect="1" noChangeArrowheads="1"/>
          </p:cNvPicPr>
          <p:nvPr/>
        </p:nvPicPr>
        <p:blipFill>
          <a:blip r:embed="rId3" cstate="print"/>
          <a:srcRect/>
          <a:stretch>
            <a:fillRect/>
          </a:stretch>
        </p:blipFill>
        <p:spPr bwMode="auto">
          <a:xfrm>
            <a:off x="5867400" y="1828800"/>
            <a:ext cx="2101539" cy="2678317"/>
          </a:xfrm>
          <a:prstGeom prst="rect">
            <a:avLst/>
          </a:prstGeom>
          <a:noFill/>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related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Financial and Operation documents </a:t>
            </a:r>
          </a:p>
          <a:p>
            <a:pPr lvl="0">
              <a:spcBef>
                <a:spcPts val="600"/>
              </a:spcBef>
              <a:spcAft>
                <a:spcPts val="1200"/>
              </a:spcAft>
            </a:pPr>
            <a:r>
              <a:rPr lang="en-AU" sz="2200" dirty="0" smtClean="0">
                <a:latin typeface="Helvetica" pitchFamily="34" charset="0"/>
              </a:rPr>
              <a:t>Receipts</a:t>
            </a:r>
          </a:p>
          <a:p>
            <a:pPr lvl="0">
              <a:spcBef>
                <a:spcPts val="600"/>
              </a:spcBef>
              <a:spcAft>
                <a:spcPts val="1200"/>
              </a:spcAft>
            </a:pPr>
            <a:r>
              <a:rPr lang="en-AU" sz="2200" dirty="0" smtClean="0">
                <a:latin typeface="Helvetica" pitchFamily="34" charset="0"/>
              </a:rPr>
              <a:t>Post function reports</a:t>
            </a:r>
          </a:p>
          <a:p>
            <a:pPr lvl="0">
              <a:spcBef>
                <a:spcPts val="600"/>
              </a:spcBef>
              <a:spcAft>
                <a:spcPts val="1200"/>
              </a:spcAft>
            </a:pPr>
            <a:r>
              <a:rPr lang="en-AU" sz="2200" dirty="0" smtClean="0">
                <a:latin typeface="Helvetica" pitchFamily="34" charset="0"/>
              </a:rPr>
              <a:t>Staff time sheets</a:t>
            </a:r>
          </a:p>
          <a:p>
            <a:pPr lvl="0">
              <a:spcBef>
                <a:spcPts val="600"/>
              </a:spcBef>
              <a:spcAft>
                <a:spcPts val="1200"/>
              </a:spcAft>
            </a:pPr>
            <a:r>
              <a:rPr lang="en-AU" sz="2200" dirty="0" smtClean="0">
                <a:latin typeface="Helvetica" pitchFamily="34" charset="0"/>
              </a:rPr>
              <a:t>Function confirmation forms/letters</a:t>
            </a:r>
          </a:p>
          <a:p>
            <a:pPr lvl="0">
              <a:spcBef>
                <a:spcPts val="600"/>
              </a:spcBef>
              <a:spcAft>
                <a:spcPts val="1200"/>
              </a:spcAft>
            </a:pPr>
            <a:r>
              <a:rPr lang="en-AU" sz="2200" dirty="0" smtClean="0">
                <a:latin typeface="Helvetica" pitchFamily="34" charset="0"/>
              </a:rPr>
              <a:t>Customer feedback form</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11267" name="Picture 3" descr="C:\Documents and Settings\danielc\Local Settings\Temporary Internet Files\Content.IE5\3DV3UKH9\MP910220868[1].jpg"/>
          <p:cNvPicPr>
            <a:picLocks noChangeAspect="1" noChangeArrowheads="1"/>
          </p:cNvPicPr>
          <p:nvPr/>
        </p:nvPicPr>
        <p:blipFill>
          <a:blip r:embed="rId3" cstate="print"/>
          <a:srcRect/>
          <a:stretch>
            <a:fillRect/>
          </a:stretch>
        </p:blipFill>
        <p:spPr bwMode="auto">
          <a:xfrm>
            <a:off x="6324600" y="2209800"/>
            <a:ext cx="1678557" cy="2514869"/>
          </a:xfrm>
          <a:prstGeom prst="rect">
            <a:avLst/>
          </a:prstGeom>
          <a:noFill/>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related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Participant documents </a:t>
            </a:r>
          </a:p>
          <a:p>
            <a:pPr lvl="0">
              <a:spcBef>
                <a:spcPts val="600"/>
              </a:spcBef>
              <a:spcAft>
                <a:spcPts val="1200"/>
              </a:spcAft>
            </a:pPr>
            <a:r>
              <a:rPr lang="en-AU" sz="2200" dirty="0" smtClean="0">
                <a:latin typeface="Helvetica" pitchFamily="34" charset="0"/>
              </a:rPr>
              <a:t>Access and security passes</a:t>
            </a:r>
          </a:p>
          <a:p>
            <a:pPr lvl="0">
              <a:spcBef>
                <a:spcPts val="600"/>
              </a:spcBef>
              <a:spcAft>
                <a:spcPts val="1200"/>
              </a:spcAft>
            </a:pPr>
            <a:r>
              <a:rPr lang="en-AU" sz="2200" dirty="0" smtClean="0">
                <a:latin typeface="Helvetica" pitchFamily="34" charset="0"/>
              </a:rPr>
              <a:t>Service vouchers</a:t>
            </a:r>
          </a:p>
          <a:p>
            <a:pPr lvl="0">
              <a:spcBef>
                <a:spcPts val="600"/>
              </a:spcBef>
              <a:spcAft>
                <a:spcPts val="1200"/>
              </a:spcAft>
            </a:pPr>
            <a:r>
              <a:rPr lang="en-AU" sz="2200" dirty="0" smtClean="0">
                <a:latin typeface="Helvetica" pitchFamily="34" charset="0"/>
              </a:rPr>
              <a:t>Information packs</a:t>
            </a:r>
          </a:p>
          <a:p>
            <a:pPr lvl="0">
              <a:spcBef>
                <a:spcPts val="600"/>
              </a:spcBef>
              <a:spcAft>
                <a:spcPts val="1200"/>
              </a:spcAft>
            </a:pPr>
            <a:r>
              <a:rPr lang="en-AU" sz="2200" dirty="0" smtClean="0">
                <a:latin typeface="Helvetica" pitchFamily="34" charset="0"/>
              </a:rPr>
              <a:t>Service vouchers </a:t>
            </a:r>
          </a:p>
          <a:p>
            <a:pPr lvl="0">
              <a:spcBef>
                <a:spcPts val="600"/>
              </a:spcBef>
              <a:spcAft>
                <a:spcPts val="1200"/>
              </a:spcAft>
            </a:pPr>
            <a:r>
              <a:rPr lang="en-AU" sz="2200" dirty="0" smtClean="0">
                <a:latin typeface="Helvetica" pitchFamily="34" charset="0"/>
              </a:rPr>
              <a:t>Name tags and lanyards </a:t>
            </a:r>
          </a:p>
          <a:p>
            <a:pPr lvl="0">
              <a:spcBef>
                <a:spcPts val="600"/>
              </a:spcBef>
              <a:spcAft>
                <a:spcPts val="1200"/>
              </a:spcAft>
            </a:pPr>
            <a:r>
              <a:rPr lang="en-AU" sz="2200" dirty="0" smtClean="0">
                <a:latin typeface="Helvetica" pitchFamily="34" charset="0"/>
              </a:rPr>
              <a:t>Conference materials such as compendiums,                             satchels, literature, stationery</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6" name="Picture 5" descr="MP900442179.JPG"/>
          <p:cNvPicPr/>
          <p:nvPr/>
        </p:nvPicPr>
        <p:blipFill>
          <a:blip r:embed="rId3" cstate="print"/>
          <a:stretch>
            <a:fillRect/>
          </a:stretch>
        </p:blipFill>
        <p:spPr>
          <a:xfrm>
            <a:off x="6400800" y="2438400"/>
            <a:ext cx="1668145" cy="1924050"/>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2:</a:t>
            </a:r>
          </a:p>
          <a:p>
            <a:pPr marL="0" lvl="0">
              <a:buNone/>
            </a:pPr>
            <a:r>
              <a:rPr lang="en-AU" sz="4000" dirty="0" smtClean="0">
                <a:solidFill>
                  <a:srgbClr val="FF6600"/>
                </a:solidFill>
              </a:rPr>
              <a:t>Liaise with function customers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5" name="Picture 4" descr="MP900448494[1].JPG"/>
          <p:cNvPicPr>
            <a:picLocks noChangeAspect="1"/>
          </p:cNvPicPr>
          <p:nvPr/>
        </p:nvPicPr>
        <p:blipFill>
          <a:blip r:embed="rId3" cstate="print"/>
          <a:stretch>
            <a:fillRect/>
          </a:stretch>
        </p:blipFill>
        <p:spPr>
          <a:xfrm>
            <a:off x="2895600" y="3505200"/>
            <a:ext cx="3086100" cy="2057400"/>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Liaise with function customers</a:t>
            </a: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Determine customer needs</a:t>
            </a:r>
          </a:p>
          <a:p>
            <a:pPr>
              <a:spcBef>
                <a:spcPts val="600"/>
              </a:spcBef>
              <a:spcAft>
                <a:spcPts val="1200"/>
              </a:spcAft>
            </a:pPr>
            <a:r>
              <a:rPr lang="en-AU" sz="2200" dirty="0" smtClean="0">
                <a:latin typeface="Helvetica" pitchFamily="34" charset="0"/>
              </a:rPr>
              <a:t>Identify date and time of function</a:t>
            </a:r>
          </a:p>
          <a:p>
            <a:pPr>
              <a:spcBef>
                <a:spcPts val="600"/>
              </a:spcBef>
              <a:spcAft>
                <a:spcPts val="1200"/>
              </a:spcAft>
            </a:pPr>
            <a:r>
              <a:rPr lang="en-AU" sz="2200" dirty="0" smtClean="0">
                <a:latin typeface="Helvetica" pitchFamily="34" charset="0"/>
              </a:rPr>
              <a:t>Match establishment resources to identified need for function</a:t>
            </a:r>
          </a:p>
          <a:p>
            <a:pPr>
              <a:spcBef>
                <a:spcPts val="600"/>
              </a:spcBef>
              <a:spcAft>
                <a:spcPts val="1200"/>
              </a:spcAft>
            </a:pPr>
            <a:r>
              <a:rPr lang="en-AU" sz="2200" dirty="0" smtClean="0">
                <a:latin typeface="Helvetica" pitchFamily="34" charset="0"/>
              </a:rPr>
              <a:t>Provide advice and assistance in relation to the function</a:t>
            </a:r>
          </a:p>
          <a:p>
            <a:pPr>
              <a:spcBef>
                <a:spcPts val="600"/>
              </a:spcBef>
              <a:spcAft>
                <a:spcPts val="1200"/>
              </a:spcAft>
            </a:pPr>
            <a:endParaRPr lang="en-AU" sz="2200" dirty="0" smtClean="0"/>
          </a:p>
          <a:p>
            <a:pPr>
              <a:spcBef>
                <a:spcPts val="600"/>
              </a:spcBef>
              <a:spcAft>
                <a:spcPts val="1200"/>
              </a:spcAft>
              <a:buNone/>
            </a:pPr>
            <a:r>
              <a:rPr lang="en-AU" sz="22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7" name="Picture 2" descr="I:\Overseas Projects\PHOTOS\2012\Office\1131445_red_check_sign_in_3d.jpg"/>
          <p:cNvPicPr>
            <a:picLocks noChangeAspect="1" noChangeArrowheads="1"/>
          </p:cNvPicPr>
          <p:nvPr/>
        </p:nvPicPr>
        <p:blipFill>
          <a:blip r:embed="rId3" cstate="print"/>
          <a:srcRect/>
          <a:stretch>
            <a:fillRect/>
          </a:stretch>
        </p:blipFill>
        <p:spPr bwMode="auto">
          <a:xfrm>
            <a:off x="6096000" y="1752600"/>
            <a:ext cx="1587500" cy="1270000"/>
          </a:xfrm>
          <a:prstGeom prst="rect">
            <a:avLst/>
          </a:prstGeom>
          <a:noFill/>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Liaise with function customers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Record function requirements as agreed by customer</a:t>
            </a:r>
          </a:p>
          <a:p>
            <a:pPr>
              <a:spcBef>
                <a:spcPts val="600"/>
              </a:spcBef>
              <a:spcAft>
                <a:spcPts val="1200"/>
              </a:spcAft>
            </a:pPr>
            <a:r>
              <a:rPr lang="en-AU" sz="2200" dirty="0" smtClean="0">
                <a:latin typeface="Helvetica" pitchFamily="34" charset="0"/>
              </a:rPr>
              <a:t>Confirm function booking with customer</a:t>
            </a:r>
          </a:p>
          <a:p>
            <a:pPr>
              <a:spcBef>
                <a:spcPts val="600"/>
              </a:spcBef>
              <a:spcAft>
                <a:spcPts val="1200"/>
              </a:spcAft>
            </a:pPr>
            <a:r>
              <a:rPr lang="en-AU" sz="2200" dirty="0" smtClean="0">
                <a:latin typeface="Helvetica" pitchFamily="34" charset="0"/>
              </a:rPr>
              <a:t>Obtain deposit for function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2" descr="I:\Overseas Projects\PHOTOS\2012\Office\1131445_red_check_sign_in_3d.jpg"/>
          <p:cNvPicPr>
            <a:picLocks noChangeAspect="1" noChangeArrowheads="1"/>
          </p:cNvPicPr>
          <p:nvPr/>
        </p:nvPicPr>
        <p:blipFill>
          <a:blip r:embed="rId3" cstate="print"/>
          <a:srcRect/>
          <a:stretch>
            <a:fillRect/>
          </a:stretch>
        </p:blipFill>
        <p:spPr bwMode="auto">
          <a:xfrm>
            <a:off x="6705600" y="3048000"/>
            <a:ext cx="1587500" cy="1270000"/>
          </a:xfrm>
          <a:prstGeom prst="rect">
            <a:avLst/>
          </a:prstGeom>
          <a:noFill/>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Before any event or function can be organised there is a need to determine client need for it</a:t>
            </a:r>
          </a:p>
          <a:p>
            <a:pPr>
              <a:spcBef>
                <a:spcPts val="600"/>
              </a:spcBef>
              <a:spcAft>
                <a:spcPts val="1200"/>
              </a:spcAft>
            </a:pPr>
            <a:r>
              <a:rPr lang="en-AU" sz="2200" dirty="0" smtClean="0">
                <a:latin typeface="Helvetica" pitchFamily="34" charset="0"/>
              </a:rPr>
              <a:t>The most effective way to do this is to meet face to face with the client and talk to them about their needs, wants and preferences.</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6" name="Picture 5" descr="MP900442744[1].JPG"/>
          <p:cNvPicPr>
            <a:picLocks noChangeAspect="1"/>
          </p:cNvPicPr>
          <p:nvPr/>
        </p:nvPicPr>
        <p:blipFill>
          <a:blip r:embed="rId3" cstate="print"/>
          <a:stretch>
            <a:fillRect/>
          </a:stretch>
        </p:blipFill>
        <p:spPr>
          <a:xfrm>
            <a:off x="3200400" y="3962400"/>
            <a:ext cx="2552700" cy="1696795"/>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Meeting with the client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After receiving an enquiry regarding an event or function it is best practice to invite the client to your venue to: </a:t>
            </a:r>
          </a:p>
          <a:p>
            <a:pPr lvl="0">
              <a:spcBef>
                <a:spcPts val="600"/>
              </a:spcBef>
              <a:spcAft>
                <a:spcPts val="1200"/>
              </a:spcAft>
            </a:pPr>
            <a:r>
              <a:rPr lang="en-AU" sz="2200" dirty="0" smtClean="0">
                <a:latin typeface="Helvetica" pitchFamily="34" charset="0"/>
              </a:rPr>
              <a:t>Talk to them about their expectations </a:t>
            </a:r>
            <a:br>
              <a:rPr lang="en-AU" sz="2200" dirty="0" smtClean="0">
                <a:latin typeface="Helvetica" pitchFamily="34" charset="0"/>
              </a:rPr>
            </a:br>
            <a:r>
              <a:rPr lang="en-AU" sz="2200" dirty="0" smtClean="0">
                <a:latin typeface="Helvetica" pitchFamily="34" charset="0"/>
              </a:rPr>
              <a:t>and needs </a:t>
            </a:r>
          </a:p>
          <a:p>
            <a:pPr lvl="0">
              <a:spcBef>
                <a:spcPts val="600"/>
              </a:spcBef>
              <a:spcAft>
                <a:spcPts val="1200"/>
              </a:spcAft>
            </a:pPr>
            <a:r>
              <a:rPr lang="en-AU" sz="2200" dirty="0" smtClean="0">
                <a:latin typeface="Helvetica" pitchFamily="34" charset="0"/>
              </a:rPr>
              <a:t>Allow them to view the property and </a:t>
            </a:r>
            <a:br>
              <a:rPr lang="en-AU" sz="2200" dirty="0" smtClean="0">
                <a:latin typeface="Helvetica" pitchFamily="34" charset="0"/>
              </a:rPr>
            </a:br>
            <a:r>
              <a:rPr lang="en-AU" sz="2200" dirty="0" smtClean="0">
                <a:latin typeface="Helvetica" pitchFamily="34" charset="0"/>
              </a:rPr>
              <a:t>its facilities </a:t>
            </a:r>
          </a:p>
          <a:p>
            <a:pPr lvl="0">
              <a:spcBef>
                <a:spcPts val="600"/>
              </a:spcBef>
              <a:spcAft>
                <a:spcPts val="1200"/>
              </a:spcAft>
            </a:pPr>
            <a:r>
              <a:rPr lang="en-AU" sz="2200" dirty="0" smtClean="0">
                <a:latin typeface="Helvetica" pitchFamily="34" charset="0"/>
              </a:rPr>
              <a:t>Meet some of the key staff</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12290" name="Picture 2" descr="I:\Overseas Projects\PHOTOS\2012\Office\ZOO_004.jpg"/>
          <p:cNvPicPr>
            <a:picLocks noChangeAspect="1" noChangeArrowheads="1"/>
          </p:cNvPicPr>
          <p:nvPr/>
        </p:nvPicPr>
        <p:blipFill>
          <a:blip r:embed="rId3" cstate="print"/>
          <a:srcRect/>
          <a:stretch>
            <a:fillRect/>
          </a:stretch>
        </p:blipFill>
        <p:spPr bwMode="auto">
          <a:xfrm>
            <a:off x="6858000" y="2971800"/>
            <a:ext cx="1552042" cy="2302907"/>
          </a:xfrm>
          <a:prstGeom prst="rect">
            <a:avLst/>
          </a:prstGeom>
          <a:noFill/>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Types of customer needs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 specific day and date  </a:t>
            </a:r>
          </a:p>
          <a:p>
            <a:pPr lvl="0">
              <a:spcBef>
                <a:spcPts val="600"/>
              </a:spcBef>
              <a:spcAft>
                <a:spcPts val="1200"/>
              </a:spcAft>
            </a:pPr>
            <a:r>
              <a:rPr lang="en-AU" sz="2200" dirty="0" smtClean="0">
                <a:latin typeface="Helvetica" pitchFamily="34" charset="0"/>
              </a:rPr>
              <a:t>Style and format of function  </a:t>
            </a:r>
          </a:p>
          <a:p>
            <a:pPr lvl="0">
              <a:spcBef>
                <a:spcPts val="600"/>
              </a:spcBef>
              <a:spcAft>
                <a:spcPts val="1200"/>
              </a:spcAft>
            </a:pPr>
            <a:r>
              <a:rPr lang="en-AU" sz="2200" dirty="0" smtClean="0">
                <a:latin typeface="Helvetica" pitchFamily="34" charset="0"/>
              </a:rPr>
              <a:t>Location</a:t>
            </a:r>
          </a:p>
          <a:p>
            <a:pPr lvl="0">
              <a:spcBef>
                <a:spcPts val="600"/>
              </a:spcBef>
              <a:spcAft>
                <a:spcPts val="1200"/>
              </a:spcAft>
            </a:pPr>
            <a:r>
              <a:rPr lang="en-AU" sz="2200" dirty="0" smtClean="0">
                <a:latin typeface="Helvetica" pitchFamily="34" charset="0"/>
              </a:rPr>
              <a:t>Timing and duration considerations</a:t>
            </a:r>
          </a:p>
          <a:p>
            <a:pPr lvl="0">
              <a:spcBef>
                <a:spcPts val="600"/>
              </a:spcBef>
              <a:spcAft>
                <a:spcPts val="1200"/>
              </a:spcAft>
            </a:pPr>
            <a:r>
              <a:rPr lang="en-AU" sz="2200" dirty="0" smtClean="0">
                <a:latin typeface="Helvetica" pitchFamily="34" charset="0"/>
              </a:rPr>
              <a:t>Food and beverage</a:t>
            </a:r>
          </a:p>
          <a:p>
            <a:pPr lvl="0">
              <a:spcBef>
                <a:spcPts val="600"/>
              </a:spcBef>
              <a:spcAft>
                <a:spcPts val="1200"/>
              </a:spcAft>
            </a:pPr>
            <a:r>
              <a:rPr lang="en-AU" sz="2200" dirty="0" smtClean="0">
                <a:latin typeface="Helvetica" pitchFamily="34" charset="0"/>
              </a:rPr>
              <a:t>Accommodation</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13314" name="Picture 2" descr="I:\Overseas Projects\PHOTOS\2012\Office\MC900440428.WMF"/>
          <p:cNvPicPr>
            <a:picLocks noChangeAspect="1" noChangeArrowheads="1"/>
          </p:cNvPicPr>
          <p:nvPr/>
        </p:nvPicPr>
        <p:blipFill>
          <a:blip r:embed="rId3" cstate="print"/>
          <a:srcRect/>
          <a:stretch>
            <a:fillRect/>
          </a:stretch>
        </p:blipFill>
        <p:spPr bwMode="auto">
          <a:xfrm>
            <a:off x="5943600" y="1828800"/>
            <a:ext cx="1736725" cy="1828800"/>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1200"/>
              </a:spcAft>
              <a:buNone/>
            </a:pPr>
            <a:r>
              <a:rPr lang="en-AU" sz="2200" b="1" dirty="0" smtClean="0">
                <a:latin typeface="Helvetica" pitchFamily="34" charset="0"/>
              </a:rPr>
              <a:t>Types of customer needs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Entertainment</a:t>
            </a:r>
          </a:p>
          <a:p>
            <a:pPr lvl="0">
              <a:spcBef>
                <a:spcPts val="600"/>
              </a:spcBef>
              <a:spcAft>
                <a:spcPts val="1200"/>
              </a:spcAft>
            </a:pPr>
            <a:r>
              <a:rPr lang="en-AU" sz="2200" dirty="0" smtClean="0">
                <a:latin typeface="Helvetica" pitchFamily="34" charset="0"/>
              </a:rPr>
              <a:t>Specialist technology services</a:t>
            </a:r>
          </a:p>
          <a:p>
            <a:pPr lvl="0">
              <a:spcBef>
                <a:spcPts val="600"/>
              </a:spcBef>
              <a:spcAft>
                <a:spcPts val="1200"/>
              </a:spcAft>
            </a:pPr>
            <a:r>
              <a:rPr lang="en-AU" sz="2200" dirty="0" smtClean="0">
                <a:latin typeface="Helvetica" pitchFamily="34" charset="0"/>
              </a:rPr>
              <a:t>Equipment</a:t>
            </a:r>
          </a:p>
          <a:p>
            <a:pPr lvl="0">
              <a:spcBef>
                <a:spcPts val="600"/>
              </a:spcBef>
              <a:spcAft>
                <a:spcPts val="1200"/>
              </a:spcAft>
            </a:pPr>
            <a:r>
              <a:rPr lang="en-AU" sz="2200" dirty="0" smtClean="0">
                <a:latin typeface="Helvetica" pitchFamily="34" charset="0"/>
              </a:rPr>
              <a:t>Ancillary services and rooms</a:t>
            </a:r>
          </a:p>
          <a:p>
            <a:pPr lvl="0">
              <a:spcBef>
                <a:spcPts val="600"/>
              </a:spcBef>
              <a:spcAft>
                <a:spcPts val="1200"/>
              </a:spcAft>
            </a:pPr>
            <a:r>
              <a:rPr lang="en-AU" sz="2200" dirty="0" smtClean="0">
                <a:latin typeface="Helvetica" pitchFamily="34" charset="0"/>
              </a:rPr>
              <a:t>Guest numbers</a:t>
            </a:r>
          </a:p>
          <a:p>
            <a:pPr lvl="0">
              <a:spcBef>
                <a:spcPts val="600"/>
              </a:spcBef>
              <a:spcAft>
                <a:spcPts val="1200"/>
              </a:spcAft>
            </a:pPr>
            <a:r>
              <a:rPr lang="en-AU" sz="2200" dirty="0" smtClean="0">
                <a:latin typeface="Helvetica" pitchFamily="34" charset="0"/>
              </a:rPr>
              <a:t>Privacy</a:t>
            </a:r>
          </a:p>
          <a:p>
            <a:pPr lvl="0">
              <a:spcBef>
                <a:spcPts val="600"/>
              </a:spcBef>
              <a:spcAft>
                <a:spcPts val="1200"/>
              </a:spcAft>
            </a:pPr>
            <a:r>
              <a:rPr lang="en-AU" sz="2200" dirty="0" smtClean="0">
                <a:latin typeface="Helvetica" pitchFamily="34" charset="0"/>
              </a:rPr>
              <a:t>Budget</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5" name="Picture 4" descr="MP900431237[1].JPG"/>
          <p:cNvPicPr>
            <a:picLocks noChangeAspect="1"/>
          </p:cNvPicPr>
          <p:nvPr/>
        </p:nvPicPr>
        <p:blipFill>
          <a:blip r:embed="rId3" cstate="print"/>
          <a:stretch>
            <a:fillRect/>
          </a:stretch>
        </p:blipFill>
        <p:spPr>
          <a:xfrm>
            <a:off x="5791200" y="1981200"/>
            <a:ext cx="2209800" cy="220980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Types of customer needs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Access</a:t>
            </a:r>
          </a:p>
          <a:p>
            <a:pPr lvl="0">
              <a:spcBef>
                <a:spcPts val="600"/>
              </a:spcBef>
              <a:spcAft>
                <a:spcPts val="1200"/>
              </a:spcAft>
            </a:pPr>
            <a:r>
              <a:rPr lang="en-AU" sz="2200" dirty="0" smtClean="0">
                <a:latin typeface="Helvetica" pitchFamily="34" charset="0"/>
              </a:rPr>
              <a:t>Security</a:t>
            </a:r>
          </a:p>
          <a:p>
            <a:pPr lvl="0">
              <a:spcBef>
                <a:spcPts val="600"/>
              </a:spcBef>
              <a:spcAft>
                <a:spcPts val="1200"/>
              </a:spcAft>
            </a:pPr>
            <a:r>
              <a:rPr lang="en-AU" sz="2200" dirty="0" smtClean="0">
                <a:latin typeface="Helvetica" pitchFamily="34" charset="0"/>
              </a:rPr>
              <a:t>Themes and decorations</a:t>
            </a:r>
          </a:p>
          <a:p>
            <a:pPr lvl="0">
              <a:spcBef>
                <a:spcPts val="600"/>
              </a:spcBef>
              <a:spcAft>
                <a:spcPts val="1200"/>
              </a:spcAft>
            </a:pPr>
            <a:r>
              <a:rPr lang="en-AU" sz="2200" dirty="0" smtClean="0">
                <a:latin typeface="Helvetica" pitchFamily="34" charset="0"/>
              </a:rPr>
              <a:t>Role of media</a:t>
            </a:r>
          </a:p>
          <a:p>
            <a:pPr lvl="0">
              <a:spcBef>
                <a:spcPts val="600"/>
              </a:spcBef>
              <a:spcAft>
                <a:spcPts val="1200"/>
              </a:spcAft>
            </a:pPr>
            <a:r>
              <a:rPr lang="en-AU" sz="2200" dirty="0" smtClean="0">
                <a:latin typeface="Helvetica" pitchFamily="34" charset="0"/>
              </a:rPr>
              <a:t>External providers</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6" name="Picture 5" descr="MP900448447.JPG"/>
          <p:cNvPicPr/>
          <p:nvPr/>
        </p:nvPicPr>
        <p:blipFill>
          <a:blip r:embed="rId3" cstate="print"/>
          <a:stretch>
            <a:fillRect/>
          </a:stretch>
        </p:blipFill>
        <p:spPr>
          <a:xfrm>
            <a:off x="5638800" y="2286000"/>
            <a:ext cx="2081213" cy="2505075"/>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Researching options for functions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The nature of functions can be that clients are looking for ‘something new’ or ‘something different’ for their function</a:t>
            </a:r>
          </a:p>
          <a:p>
            <a:pPr>
              <a:spcBef>
                <a:spcPts val="600"/>
              </a:spcBef>
              <a:spcAft>
                <a:spcPts val="1200"/>
              </a:spcAft>
            </a:pPr>
            <a:r>
              <a:rPr lang="en-AU" sz="2200" dirty="0" smtClean="0">
                <a:latin typeface="Helvetica" pitchFamily="34" charset="0"/>
              </a:rPr>
              <a:t>Whether as a response to a potential customer or as a professional development exercise, it is always advantageous to explore new concepts and ideas that can be integrated into current operations</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14338" name="Picture 2" descr="I:\Overseas Projects\PHOTOS\2012\Office\1331188_businesswoman_in_the_office[1].jpg"/>
          <p:cNvPicPr>
            <a:picLocks noChangeAspect="1" noChangeArrowheads="1"/>
          </p:cNvPicPr>
          <p:nvPr/>
        </p:nvPicPr>
        <p:blipFill>
          <a:blip r:embed="rId3" cstate="print"/>
          <a:srcRect r="38462"/>
          <a:stretch>
            <a:fillRect/>
          </a:stretch>
        </p:blipFill>
        <p:spPr bwMode="auto">
          <a:xfrm>
            <a:off x="3429000" y="4495800"/>
            <a:ext cx="1688123" cy="1828800"/>
          </a:xfrm>
          <a:prstGeom prst="rect">
            <a:avLst/>
          </a:prstGeom>
          <a:noFill/>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Researching options for functions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Researching information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standard ways to maintain awareness of new ideas and items that could be of use are: </a:t>
            </a:r>
          </a:p>
          <a:p>
            <a:pPr lvl="0">
              <a:spcBef>
                <a:spcPts val="600"/>
              </a:spcBef>
              <a:spcAft>
                <a:spcPts val="1200"/>
              </a:spcAft>
            </a:pPr>
            <a:r>
              <a:rPr lang="en-AU" sz="2200" dirty="0" smtClean="0">
                <a:latin typeface="Helvetica" pitchFamily="34" charset="0"/>
              </a:rPr>
              <a:t>Networking with others</a:t>
            </a:r>
          </a:p>
          <a:p>
            <a:pPr lvl="0">
              <a:spcBef>
                <a:spcPts val="600"/>
              </a:spcBef>
              <a:spcAft>
                <a:spcPts val="1200"/>
              </a:spcAft>
            </a:pPr>
            <a:r>
              <a:rPr lang="en-AU" sz="2200" dirty="0" smtClean="0">
                <a:latin typeface="Helvetica" pitchFamily="34" charset="0"/>
              </a:rPr>
              <a:t>Talking to suppliers</a:t>
            </a:r>
          </a:p>
          <a:p>
            <a:pPr lvl="0">
              <a:spcBef>
                <a:spcPts val="600"/>
              </a:spcBef>
              <a:spcAft>
                <a:spcPts val="1200"/>
              </a:spcAft>
            </a:pPr>
            <a:r>
              <a:rPr lang="en-AU" sz="2200" dirty="0" smtClean="0">
                <a:latin typeface="Helvetica" pitchFamily="34" charset="0"/>
              </a:rPr>
              <a:t>Doing online research</a:t>
            </a:r>
          </a:p>
          <a:p>
            <a:pPr lvl="0">
              <a:spcBef>
                <a:spcPts val="600"/>
              </a:spcBef>
              <a:spcAft>
                <a:spcPts val="1200"/>
              </a:spcAft>
            </a:pPr>
            <a:r>
              <a:rPr lang="en-AU" sz="2200" dirty="0" smtClean="0">
                <a:latin typeface="Helvetica" pitchFamily="34" charset="0"/>
              </a:rPr>
              <a:t>Attending functions</a:t>
            </a:r>
          </a:p>
          <a:p>
            <a:pPr>
              <a:spcBef>
                <a:spcPts val="600"/>
              </a:spcBef>
              <a:spcAft>
                <a:spcPts val="1200"/>
              </a:spcAft>
            </a:pPr>
            <a:r>
              <a:rPr lang="en-AU" sz="2200" dirty="0" smtClean="0">
                <a:latin typeface="Helvetica" pitchFamily="34" charset="0"/>
              </a:rPr>
              <a:t>Subscribing to industry publications </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6" name="Picture 5" descr="MP900385553.JPG"/>
          <p:cNvPicPr/>
          <p:nvPr/>
        </p:nvPicPr>
        <p:blipFill>
          <a:blip r:embed="rId3" cstate="print"/>
          <a:stretch>
            <a:fillRect/>
          </a:stretch>
        </p:blipFill>
        <p:spPr>
          <a:xfrm>
            <a:off x="5410200" y="3124200"/>
            <a:ext cx="2739708" cy="184785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Matching resources to match client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Once all the customer needs have been identified, it is important to try to demonstrate how these needs can be met</a:t>
            </a:r>
          </a:p>
          <a:p>
            <a:pPr>
              <a:spcBef>
                <a:spcPts val="600"/>
              </a:spcBef>
              <a:spcAft>
                <a:spcPts val="1200"/>
              </a:spcAft>
            </a:pPr>
            <a:r>
              <a:rPr lang="en-AU" sz="2200" dirty="0" smtClean="0">
                <a:latin typeface="Helvetica" pitchFamily="34" charset="0"/>
              </a:rPr>
              <a:t>There are a number of ways function staff can help to demonstrate they have the capacity to handle customer requirements</a:t>
            </a:r>
          </a:p>
          <a:p>
            <a:endParaRPr lang="en-AU" sz="2400" dirty="0" smtClean="0"/>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6" name="Picture 5" descr="MP900424406.JPG"/>
          <p:cNvPicPr/>
          <p:nvPr/>
        </p:nvPicPr>
        <p:blipFill>
          <a:blip r:embed="rId3" cstate="print"/>
          <a:stretch>
            <a:fillRect/>
          </a:stretch>
        </p:blipFill>
        <p:spPr>
          <a:xfrm>
            <a:off x="6373282" y="3733801"/>
            <a:ext cx="1608667" cy="1752600"/>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Matching resources to match client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Describing function facilities and options available</a:t>
            </a:r>
          </a:p>
          <a:p>
            <a:pPr>
              <a:spcBef>
                <a:spcPts val="600"/>
              </a:spcBef>
              <a:spcAft>
                <a:spcPts val="1200"/>
              </a:spcAft>
            </a:pPr>
            <a:r>
              <a:rPr lang="en-AU" sz="2200" dirty="0" smtClean="0">
                <a:latin typeface="Helvetica" pitchFamily="34" charset="0"/>
              </a:rPr>
              <a:t>Giving Function Kit to customer and explaining the contents</a:t>
            </a:r>
          </a:p>
          <a:p>
            <a:pPr>
              <a:spcBef>
                <a:spcPts val="600"/>
              </a:spcBef>
              <a:spcAft>
                <a:spcPts val="1200"/>
              </a:spcAft>
            </a:pPr>
            <a:r>
              <a:rPr lang="en-AU" sz="2200" dirty="0" smtClean="0">
                <a:latin typeface="Helvetica" pitchFamily="34" charset="0"/>
              </a:rPr>
              <a:t>Providing guided tour of premises and                                  facilities to customer</a:t>
            </a:r>
          </a:p>
          <a:p>
            <a:endParaRPr lang="en-AU" sz="2400" dirty="0" smtClean="0"/>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9" name="Picture 8" descr="222.jpg"/>
          <p:cNvPicPr/>
          <p:nvPr/>
        </p:nvPicPr>
        <p:blipFill>
          <a:blip r:embed="rId3" cstate="print"/>
          <a:stretch>
            <a:fillRect/>
          </a:stretch>
        </p:blipFill>
        <p:spPr>
          <a:xfrm>
            <a:off x="6705599" y="3048001"/>
            <a:ext cx="1447801" cy="2077413"/>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Matching resources to match client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600"/>
              </a:spcAft>
              <a:buNone/>
            </a:pPr>
            <a:r>
              <a:rPr lang="en-AU" sz="2000" b="1" dirty="0" smtClean="0">
                <a:latin typeface="Helvetica" pitchFamily="34" charset="0"/>
              </a:rPr>
              <a:t>Meeting key staff</a:t>
            </a:r>
            <a:endParaRPr lang="en-AU" sz="2000" dirty="0" smtClean="0">
              <a:latin typeface="Helvetica" pitchFamily="34" charset="0"/>
            </a:endParaRPr>
          </a:p>
          <a:p>
            <a:pPr lvl="0">
              <a:spcBef>
                <a:spcPts val="600"/>
              </a:spcBef>
              <a:spcAft>
                <a:spcPts val="600"/>
              </a:spcAft>
            </a:pPr>
            <a:r>
              <a:rPr lang="en-AU" sz="2000" dirty="0" smtClean="0">
                <a:latin typeface="Helvetica" pitchFamily="34" charset="0"/>
              </a:rPr>
              <a:t>Property owner or manager </a:t>
            </a:r>
          </a:p>
          <a:p>
            <a:pPr lvl="0">
              <a:spcBef>
                <a:spcPts val="600"/>
              </a:spcBef>
              <a:spcAft>
                <a:spcPts val="600"/>
              </a:spcAft>
            </a:pPr>
            <a:r>
              <a:rPr lang="en-AU" sz="2000" dirty="0" smtClean="0">
                <a:latin typeface="Helvetica" pitchFamily="34" charset="0"/>
              </a:rPr>
              <a:t>Head Chef </a:t>
            </a:r>
          </a:p>
          <a:p>
            <a:pPr lvl="0">
              <a:spcBef>
                <a:spcPts val="600"/>
              </a:spcBef>
              <a:spcAft>
                <a:spcPts val="600"/>
              </a:spcAft>
            </a:pPr>
            <a:r>
              <a:rPr lang="en-AU" sz="2000" dirty="0" smtClean="0">
                <a:latin typeface="Helvetica" pitchFamily="34" charset="0"/>
              </a:rPr>
              <a:t>Food and Beverage manager </a:t>
            </a:r>
          </a:p>
          <a:p>
            <a:pPr lvl="0">
              <a:spcBef>
                <a:spcPts val="600"/>
              </a:spcBef>
              <a:spcAft>
                <a:spcPts val="600"/>
              </a:spcAft>
            </a:pPr>
            <a:r>
              <a:rPr lang="en-AU" sz="2000" dirty="0" smtClean="0">
                <a:latin typeface="Helvetica" pitchFamily="34" charset="0"/>
              </a:rPr>
              <a:t>Front Office manager</a:t>
            </a:r>
          </a:p>
          <a:p>
            <a:pPr lvl="0">
              <a:spcBef>
                <a:spcPts val="600"/>
              </a:spcBef>
              <a:spcAft>
                <a:spcPts val="600"/>
              </a:spcAft>
            </a:pPr>
            <a:r>
              <a:rPr lang="en-AU" sz="2000" dirty="0" smtClean="0">
                <a:latin typeface="Helvetica" pitchFamily="34" charset="0"/>
              </a:rPr>
              <a:t>Bar manager </a:t>
            </a:r>
          </a:p>
          <a:p>
            <a:pPr lvl="0">
              <a:spcBef>
                <a:spcPts val="600"/>
              </a:spcBef>
              <a:spcAft>
                <a:spcPts val="600"/>
              </a:spcAft>
            </a:pPr>
            <a:r>
              <a:rPr lang="en-AU" sz="2000" dirty="0" smtClean="0">
                <a:latin typeface="Helvetica" pitchFamily="34" charset="0"/>
              </a:rPr>
              <a:t>Dining room manager </a:t>
            </a:r>
          </a:p>
          <a:p>
            <a:pPr lvl="0">
              <a:spcBef>
                <a:spcPts val="600"/>
              </a:spcBef>
              <a:spcAft>
                <a:spcPts val="600"/>
              </a:spcAft>
            </a:pPr>
            <a:r>
              <a:rPr lang="en-AU" sz="2000" dirty="0" smtClean="0">
                <a:latin typeface="Helvetica" pitchFamily="34" charset="0"/>
              </a:rPr>
              <a:t>Head housekeeper </a:t>
            </a:r>
          </a:p>
          <a:p>
            <a:pPr lvl="0">
              <a:spcBef>
                <a:spcPts val="600"/>
              </a:spcBef>
              <a:spcAft>
                <a:spcPts val="600"/>
              </a:spcAft>
            </a:pPr>
            <a:r>
              <a:rPr lang="en-AU" sz="2000" dirty="0" smtClean="0">
                <a:latin typeface="Helvetica" pitchFamily="34" charset="0"/>
              </a:rPr>
              <a:t>Entertainment/event manager </a:t>
            </a:r>
          </a:p>
          <a:p>
            <a:pPr lvl="0">
              <a:spcBef>
                <a:spcPts val="600"/>
              </a:spcBef>
              <a:spcAft>
                <a:spcPts val="600"/>
              </a:spcAft>
            </a:pPr>
            <a:r>
              <a:rPr lang="en-AU" sz="2000" dirty="0" smtClean="0">
                <a:latin typeface="Helvetica" pitchFamily="34" charset="0"/>
              </a:rPr>
              <a:t>Functions manager </a:t>
            </a:r>
          </a:p>
          <a:p>
            <a:pPr lvl="0">
              <a:spcBef>
                <a:spcPts val="600"/>
              </a:spcBef>
              <a:spcAft>
                <a:spcPts val="600"/>
              </a:spcAft>
            </a:pPr>
            <a:r>
              <a:rPr lang="en-AU" sz="2000" dirty="0" smtClean="0">
                <a:latin typeface="Helvetica" pitchFamily="34" charset="0"/>
              </a:rPr>
              <a:t>Head of Security</a:t>
            </a:r>
          </a:p>
          <a:p>
            <a:pPr lvl="0">
              <a:spcBef>
                <a:spcPts val="600"/>
              </a:spcBef>
              <a:spcAft>
                <a:spcPts val="1200"/>
              </a:spcAft>
            </a:pPr>
            <a:endParaRPr lang="en-AU" sz="2000" dirty="0" smtClean="0">
              <a:latin typeface="Helvetica" pitchFamily="34" charset="0"/>
            </a:endParaRPr>
          </a:p>
          <a:p>
            <a:pPr lvl="0">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6" name="Picture 5" descr="I:\Overseas Projects\PHOTOS\2011\iStock_walkie talkie.JPG"/>
          <p:cNvPicPr/>
          <p:nvPr/>
        </p:nvPicPr>
        <p:blipFill>
          <a:blip r:embed="rId3" cstate="print"/>
          <a:srcRect/>
          <a:stretch>
            <a:fillRect/>
          </a:stretch>
        </p:blipFill>
        <p:spPr bwMode="auto">
          <a:xfrm>
            <a:off x="5715000" y="3352800"/>
            <a:ext cx="2133600" cy="1388533"/>
          </a:xfrm>
          <a:prstGeom prst="rect">
            <a:avLst/>
          </a:prstGeom>
          <a:noFill/>
          <a:ln w="9525">
            <a:noFill/>
            <a:miter lim="800000"/>
            <a:headEnd/>
            <a:tailEnd/>
          </a:ln>
        </p:spPr>
      </p:pic>
      <p:pic>
        <p:nvPicPr>
          <p:cNvPr id="15362" name="Picture 2"/>
          <p:cNvPicPr>
            <a:picLocks noChangeAspect="1" noChangeArrowheads="1"/>
          </p:cNvPicPr>
          <p:nvPr/>
        </p:nvPicPr>
        <p:blipFill>
          <a:blip r:embed="rId4" cstate="print"/>
          <a:srcRect l="50772" t="22470" r="25338" b="48649"/>
          <a:stretch>
            <a:fillRect/>
          </a:stretch>
        </p:blipFill>
        <p:spPr bwMode="auto">
          <a:xfrm>
            <a:off x="5715000" y="1524000"/>
            <a:ext cx="2113429" cy="15968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Matching resources to match client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Benefits of meeting key staff</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Meeting key staff is beneficial as it:</a:t>
            </a:r>
          </a:p>
          <a:p>
            <a:pPr lvl="0">
              <a:spcBef>
                <a:spcPts val="600"/>
              </a:spcBef>
              <a:spcAft>
                <a:spcPts val="1200"/>
              </a:spcAft>
            </a:pPr>
            <a:r>
              <a:rPr lang="en-AU" sz="2200" dirty="0" smtClean="0">
                <a:latin typeface="Helvetica" pitchFamily="34" charset="0"/>
              </a:rPr>
              <a:t>Demonstrates the value you place in the </a:t>
            </a:r>
            <a:br>
              <a:rPr lang="en-AU" sz="2200" dirty="0" smtClean="0">
                <a:latin typeface="Helvetica" pitchFamily="34" charset="0"/>
              </a:rPr>
            </a:br>
            <a:r>
              <a:rPr lang="en-AU" sz="2200" dirty="0" smtClean="0">
                <a:latin typeface="Helvetica" pitchFamily="34" charset="0"/>
              </a:rPr>
              <a:t>customer</a:t>
            </a:r>
          </a:p>
          <a:p>
            <a:pPr lvl="0">
              <a:spcBef>
                <a:spcPts val="600"/>
              </a:spcBef>
              <a:spcAft>
                <a:spcPts val="1200"/>
              </a:spcAft>
            </a:pPr>
            <a:r>
              <a:rPr lang="en-AU" sz="2200" dirty="0" smtClean="0">
                <a:latin typeface="Helvetica" pitchFamily="34" charset="0"/>
              </a:rPr>
              <a:t>The customer can build confidence in the </a:t>
            </a:r>
            <a:br>
              <a:rPr lang="en-AU" sz="2200" dirty="0" smtClean="0">
                <a:latin typeface="Helvetica" pitchFamily="34" charset="0"/>
              </a:rPr>
            </a:br>
            <a:r>
              <a:rPr lang="en-AU" sz="2200" dirty="0" smtClean="0">
                <a:latin typeface="Helvetica" pitchFamily="34" charset="0"/>
              </a:rPr>
              <a:t>organisation</a:t>
            </a:r>
          </a:p>
          <a:p>
            <a:pPr lvl="0">
              <a:spcBef>
                <a:spcPts val="600"/>
              </a:spcBef>
              <a:spcAft>
                <a:spcPts val="1200"/>
              </a:spcAft>
            </a:pPr>
            <a:r>
              <a:rPr lang="en-AU" sz="2200" dirty="0" smtClean="0">
                <a:latin typeface="Helvetica" pitchFamily="34" charset="0"/>
              </a:rPr>
              <a:t>Enables each department to explain technical </a:t>
            </a:r>
            <a:br>
              <a:rPr lang="en-AU" sz="2200" dirty="0" smtClean="0">
                <a:latin typeface="Helvetica" pitchFamily="34" charset="0"/>
              </a:rPr>
            </a:br>
            <a:r>
              <a:rPr lang="en-AU" sz="2200" dirty="0" smtClean="0">
                <a:latin typeface="Helvetica" pitchFamily="34" charset="0"/>
              </a:rPr>
              <a:t>details</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16386" name="Picture 2" descr="I:\Overseas Projects\PHOTOS\2012\Front office 2012\shutterstock_46727428.jpg"/>
          <p:cNvPicPr>
            <a:picLocks noChangeAspect="1" noChangeArrowheads="1"/>
          </p:cNvPicPr>
          <p:nvPr/>
        </p:nvPicPr>
        <p:blipFill>
          <a:blip r:embed="rId3" cstate="print"/>
          <a:srcRect/>
          <a:stretch>
            <a:fillRect/>
          </a:stretch>
        </p:blipFill>
        <p:spPr bwMode="auto">
          <a:xfrm>
            <a:off x="6705600" y="2057400"/>
            <a:ext cx="1437281" cy="2154238"/>
          </a:xfrm>
          <a:prstGeom prst="rect">
            <a:avLst/>
          </a:prstGeom>
          <a:noFill/>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Matching resources to match client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Benefits of meeting key staff</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It puts a face to a name, for both parties</a:t>
            </a:r>
          </a:p>
          <a:p>
            <a:pPr lvl="0">
              <a:spcBef>
                <a:spcPts val="600"/>
              </a:spcBef>
              <a:spcAft>
                <a:spcPts val="1200"/>
              </a:spcAft>
            </a:pPr>
            <a:r>
              <a:rPr lang="en-AU" sz="2200" dirty="0" smtClean="0">
                <a:latin typeface="Helvetica" pitchFamily="34" charset="0"/>
              </a:rPr>
              <a:t>It enables each department to gain a </a:t>
            </a:r>
            <a:br>
              <a:rPr lang="en-AU" sz="2200" dirty="0" smtClean="0">
                <a:latin typeface="Helvetica" pitchFamily="34" charset="0"/>
              </a:rPr>
            </a:br>
            <a:r>
              <a:rPr lang="en-AU" sz="2200" dirty="0" smtClean="0">
                <a:latin typeface="Helvetica" pitchFamily="34" charset="0"/>
              </a:rPr>
              <a:t>detailed understanding of the customer’s </a:t>
            </a:r>
            <a:br>
              <a:rPr lang="en-AU" sz="2200" dirty="0" smtClean="0">
                <a:latin typeface="Helvetica" pitchFamily="34" charset="0"/>
              </a:rPr>
            </a:br>
            <a:r>
              <a:rPr lang="en-AU" sz="2200" dirty="0" smtClean="0">
                <a:latin typeface="Helvetica" pitchFamily="34" charset="0"/>
              </a:rPr>
              <a:t>needs</a:t>
            </a:r>
          </a:p>
          <a:p>
            <a:pPr lvl="0">
              <a:spcBef>
                <a:spcPts val="600"/>
              </a:spcBef>
              <a:spcAft>
                <a:spcPts val="1200"/>
              </a:spcAft>
            </a:pPr>
            <a:r>
              <a:rPr lang="en-AU" sz="2200" dirty="0" smtClean="0">
                <a:latin typeface="Helvetica" pitchFamily="34" charset="0"/>
              </a:rPr>
              <a:t>Enables staff members to confirm if </a:t>
            </a:r>
            <a:br>
              <a:rPr lang="en-AU" sz="2200" dirty="0" smtClean="0">
                <a:latin typeface="Helvetica" pitchFamily="34" charset="0"/>
              </a:rPr>
            </a:br>
            <a:r>
              <a:rPr lang="en-AU" sz="2200" dirty="0" smtClean="0">
                <a:latin typeface="Helvetica" pitchFamily="34" charset="0"/>
              </a:rPr>
              <a:t>specific requests can be met or any alterations that need to take place</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17410" name="Picture 2" descr="I:\Overseas Projects\PHOTOS\2012\Front office 2012\shutterstock_31706230.jpg"/>
          <p:cNvPicPr>
            <a:picLocks noChangeAspect="1" noChangeArrowheads="1"/>
          </p:cNvPicPr>
          <p:nvPr/>
        </p:nvPicPr>
        <p:blipFill>
          <a:blip r:embed="rId3" cstate="print"/>
          <a:srcRect/>
          <a:stretch>
            <a:fillRect/>
          </a:stretch>
        </p:blipFill>
        <p:spPr bwMode="auto">
          <a:xfrm>
            <a:off x="6705600" y="1752600"/>
            <a:ext cx="1530350" cy="2293734"/>
          </a:xfrm>
          <a:prstGeom prst="rect">
            <a:avLst/>
          </a:prstGeom>
          <a:noFill/>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Matching resources to match client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Advising customer in relation to details of the provision of similar functions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 range of ways in which to build customer confidence in your ability to meet the customer’s needs include:</a:t>
            </a:r>
          </a:p>
          <a:p>
            <a:pPr lvl="0">
              <a:spcBef>
                <a:spcPts val="600"/>
              </a:spcBef>
              <a:spcAft>
                <a:spcPts val="1200"/>
              </a:spcAft>
            </a:pPr>
            <a:r>
              <a:rPr lang="en-AU" sz="2200" dirty="0" smtClean="0">
                <a:latin typeface="Helvetica" pitchFamily="34" charset="0"/>
              </a:rPr>
              <a:t>Showing pictures of previous events</a:t>
            </a:r>
          </a:p>
          <a:p>
            <a:pPr lvl="0">
              <a:spcBef>
                <a:spcPts val="600"/>
              </a:spcBef>
              <a:spcAft>
                <a:spcPts val="1200"/>
              </a:spcAft>
            </a:pPr>
            <a:r>
              <a:rPr lang="en-AU" sz="2200" dirty="0" smtClean="0">
                <a:latin typeface="Helvetica" pitchFamily="34" charset="0"/>
              </a:rPr>
              <a:t>Inviting them to view a similar event that is </a:t>
            </a:r>
            <a:br>
              <a:rPr lang="en-AU" sz="2200" dirty="0" smtClean="0">
                <a:latin typeface="Helvetica" pitchFamily="34" charset="0"/>
              </a:rPr>
            </a:br>
            <a:r>
              <a:rPr lang="en-AU" sz="2200" dirty="0" smtClean="0">
                <a:latin typeface="Helvetica" pitchFamily="34" charset="0"/>
              </a:rPr>
              <a:t>coming up</a:t>
            </a:r>
          </a:p>
          <a:p>
            <a:pPr>
              <a:spcBef>
                <a:spcPts val="600"/>
              </a:spcBef>
              <a:spcAft>
                <a:spcPts val="1200"/>
              </a:spcAft>
            </a:pPr>
            <a:r>
              <a:rPr lang="en-AU" sz="2200" dirty="0" smtClean="0">
                <a:latin typeface="Helvetica" pitchFamily="34" charset="0"/>
              </a:rPr>
              <a:t>Arranging past customers to provide a </a:t>
            </a:r>
            <a:br>
              <a:rPr lang="en-AU" sz="2200" dirty="0" smtClean="0">
                <a:latin typeface="Helvetica" pitchFamily="34" charset="0"/>
              </a:rPr>
            </a:br>
            <a:r>
              <a:rPr lang="en-AU" sz="2200" dirty="0" smtClean="0">
                <a:latin typeface="Helvetica" pitchFamily="34" charset="0"/>
              </a:rPr>
              <a:t>reference</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5" name="Picture 4" descr="Business Woman 1.JPG"/>
          <p:cNvPicPr/>
          <p:nvPr/>
        </p:nvPicPr>
        <p:blipFill>
          <a:blip r:embed="rId3" cstate="print"/>
          <a:srcRect l="19108" t="21622" r="10828"/>
          <a:stretch>
            <a:fillRect/>
          </a:stretch>
        </p:blipFill>
        <p:spPr>
          <a:xfrm>
            <a:off x="7086600" y="3200400"/>
            <a:ext cx="1156138" cy="1905000"/>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Providing options and suggestions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Function logistics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Location</a:t>
            </a:r>
          </a:p>
          <a:p>
            <a:pPr lvl="0">
              <a:spcBef>
                <a:spcPts val="600"/>
              </a:spcBef>
              <a:spcAft>
                <a:spcPts val="1200"/>
              </a:spcAft>
            </a:pPr>
            <a:r>
              <a:rPr lang="en-AU" sz="2200" dirty="0" smtClean="0">
                <a:latin typeface="Helvetica" pitchFamily="34" charset="0"/>
              </a:rPr>
              <a:t>Service styles</a:t>
            </a:r>
          </a:p>
          <a:p>
            <a:pPr lvl="0">
              <a:spcBef>
                <a:spcPts val="600"/>
              </a:spcBef>
              <a:spcAft>
                <a:spcPts val="1200"/>
              </a:spcAft>
            </a:pPr>
            <a:r>
              <a:rPr lang="en-AU" sz="2200" dirty="0" smtClean="0">
                <a:latin typeface="Helvetica" pitchFamily="34" charset="0"/>
              </a:rPr>
              <a:t>Room layouts</a:t>
            </a:r>
          </a:p>
          <a:p>
            <a:pPr lvl="0">
              <a:spcBef>
                <a:spcPts val="600"/>
              </a:spcBef>
              <a:spcAft>
                <a:spcPts val="1200"/>
              </a:spcAft>
            </a:pPr>
            <a:r>
              <a:rPr lang="en-AU" sz="2200" dirty="0" smtClean="0">
                <a:latin typeface="Helvetica" pitchFamily="34" charset="0"/>
              </a:rPr>
              <a:t>Timing considerations </a:t>
            </a:r>
          </a:p>
          <a:p>
            <a:pPr lvl="0">
              <a:spcBef>
                <a:spcPts val="600"/>
              </a:spcBef>
              <a:spcAft>
                <a:spcPts val="1200"/>
              </a:spcAft>
            </a:pPr>
            <a:r>
              <a:rPr lang="en-AU" sz="2200" dirty="0" smtClean="0">
                <a:latin typeface="Helvetica" pitchFamily="34" charset="0"/>
              </a:rPr>
              <a:t>Entertainment options</a:t>
            </a:r>
          </a:p>
          <a:p>
            <a:pPr lvl="0">
              <a:spcBef>
                <a:spcPts val="600"/>
              </a:spcBef>
              <a:spcAft>
                <a:spcPts val="1200"/>
              </a:spcAft>
            </a:pPr>
            <a:r>
              <a:rPr lang="en-AU" sz="2200" dirty="0" smtClean="0">
                <a:latin typeface="Helvetica" pitchFamily="34" charset="0"/>
              </a:rPr>
              <a:t>Ancillary services </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6" name="Picture 5" descr="4.jpg"/>
          <p:cNvPicPr/>
          <p:nvPr/>
        </p:nvPicPr>
        <p:blipFill>
          <a:blip r:embed="rId3" cstate="print"/>
          <a:stretch>
            <a:fillRect/>
          </a:stretch>
        </p:blipFill>
        <p:spPr>
          <a:xfrm>
            <a:off x="5867400" y="2362200"/>
            <a:ext cx="1847850" cy="2576513"/>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Providing options and suggestions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Food options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This can include refining or adjusting choices presented in standard ‘function kit’ options by:</a:t>
            </a:r>
          </a:p>
          <a:p>
            <a:pPr>
              <a:spcBef>
                <a:spcPts val="600"/>
              </a:spcBef>
              <a:spcAft>
                <a:spcPts val="1200"/>
              </a:spcAft>
            </a:pPr>
            <a:r>
              <a:rPr lang="en-AU" sz="2200" dirty="0" smtClean="0">
                <a:latin typeface="Helvetica" pitchFamily="34" charset="0"/>
              </a:rPr>
              <a:t>Changing dishes</a:t>
            </a:r>
          </a:p>
          <a:p>
            <a:pPr>
              <a:spcBef>
                <a:spcPts val="600"/>
              </a:spcBef>
              <a:spcAft>
                <a:spcPts val="1200"/>
              </a:spcAft>
            </a:pPr>
            <a:r>
              <a:rPr lang="en-AU" sz="2200" dirty="0" smtClean="0">
                <a:latin typeface="Helvetica" pitchFamily="34" charset="0"/>
              </a:rPr>
              <a:t>Altering serve sizes</a:t>
            </a:r>
          </a:p>
          <a:p>
            <a:pPr>
              <a:spcBef>
                <a:spcPts val="600"/>
              </a:spcBef>
              <a:spcAft>
                <a:spcPts val="1200"/>
              </a:spcAft>
            </a:pPr>
            <a:r>
              <a:rPr lang="en-AU" sz="2200" dirty="0" smtClean="0">
                <a:latin typeface="Helvetica" pitchFamily="34" charset="0"/>
              </a:rPr>
              <a:t>Changing vegetables or salads</a:t>
            </a:r>
          </a:p>
          <a:p>
            <a:pPr>
              <a:spcBef>
                <a:spcPts val="600"/>
              </a:spcBef>
              <a:spcAft>
                <a:spcPts val="1200"/>
              </a:spcAft>
            </a:pPr>
            <a:r>
              <a:rPr lang="en-AU" sz="2200" dirty="0" smtClean="0">
                <a:latin typeface="Helvetica" pitchFamily="34" charset="0"/>
              </a:rPr>
              <a:t>Providing detailed explanation</a:t>
            </a:r>
          </a:p>
          <a:p>
            <a:pPr>
              <a:spcBef>
                <a:spcPts val="600"/>
              </a:spcBef>
              <a:spcAft>
                <a:spcPts val="1200"/>
              </a:spcAft>
            </a:pPr>
            <a:r>
              <a:rPr lang="en-AU" sz="2200" dirty="0" smtClean="0">
                <a:latin typeface="Helvetica" pitchFamily="34" charset="0"/>
              </a:rPr>
              <a:t>Suggesting number of items</a:t>
            </a:r>
          </a:p>
          <a:p>
            <a:pPr>
              <a:spcBef>
                <a:spcPts val="600"/>
              </a:spcBef>
              <a:spcAft>
                <a:spcPts val="1200"/>
              </a:spcAft>
            </a:pPr>
            <a:r>
              <a:rPr lang="en-AU" sz="2200" dirty="0" smtClean="0">
                <a:latin typeface="Helvetica" pitchFamily="34" charset="0"/>
              </a:rPr>
              <a:t>Suggesting items that compliment each other</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5" name="Picture 4" descr="4327744633_b11563c895.jpg"/>
          <p:cNvPicPr/>
          <p:nvPr/>
        </p:nvPicPr>
        <p:blipFill>
          <a:blip r:embed="rId3" cstate="print"/>
          <a:stretch>
            <a:fillRect/>
          </a:stretch>
        </p:blipFill>
        <p:spPr>
          <a:xfrm>
            <a:off x="5514162" y="3352800"/>
            <a:ext cx="2548751" cy="1752600"/>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Providing options and suggestions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Beverage options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You will be expected to provide advice in relation to how much drink will be required to cater for those attending the event. </a:t>
            </a:r>
          </a:p>
          <a:p>
            <a:pPr>
              <a:spcBef>
                <a:spcPts val="600"/>
              </a:spcBef>
              <a:spcAft>
                <a:spcPts val="1200"/>
              </a:spcAft>
              <a:buNone/>
            </a:pPr>
            <a:r>
              <a:rPr lang="en-AU" sz="2200" dirty="0" smtClean="0">
                <a:latin typeface="Helvetica" pitchFamily="34" charset="0"/>
              </a:rPr>
              <a:t>Factors to consider are: </a:t>
            </a:r>
          </a:p>
          <a:p>
            <a:pPr lvl="0">
              <a:spcBef>
                <a:spcPts val="600"/>
              </a:spcBef>
              <a:spcAft>
                <a:spcPts val="1200"/>
              </a:spcAft>
            </a:pPr>
            <a:r>
              <a:rPr lang="en-AU" sz="2200" dirty="0" smtClean="0">
                <a:latin typeface="Helvetica" pitchFamily="34" charset="0"/>
              </a:rPr>
              <a:t>Time of day</a:t>
            </a:r>
          </a:p>
          <a:p>
            <a:pPr lvl="0">
              <a:spcBef>
                <a:spcPts val="600"/>
              </a:spcBef>
              <a:spcAft>
                <a:spcPts val="1200"/>
              </a:spcAft>
            </a:pPr>
            <a:r>
              <a:rPr lang="en-AU" sz="2200" dirty="0" smtClean="0">
                <a:latin typeface="Helvetica" pitchFamily="34" charset="0"/>
              </a:rPr>
              <a:t>Gender and age of those attending </a:t>
            </a:r>
          </a:p>
          <a:p>
            <a:pPr lvl="0">
              <a:spcBef>
                <a:spcPts val="600"/>
              </a:spcBef>
              <a:spcAft>
                <a:spcPts val="1200"/>
              </a:spcAft>
            </a:pPr>
            <a:r>
              <a:rPr lang="en-AU" sz="2200" dirty="0" smtClean="0">
                <a:latin typeface="Helvetica" pitchFamily="34" charset="0"/>
              </a:rPr>
              <a:t>Type of function </a:t>
            </a:r>
          </a:p>
          <a:p>
            <a:pPr lvl="0">
              <a:spcBef>
                <a:spcPts val="600"/>
              </a:spcBef>
              <a:spcAft>
                <a:spcPts val="1200"/>
              </a:spcAft>
            </a:pPr>
            <a:r>
              <a:rPr lang="en-AU" sz="2200" dirty="0" smtClean="0">
                <a:latin typeface="Helvetica" pitchFamily="34" charset="0"/>
              </a:rPr>
              <a:t>Whether or not those attending are staying in-house</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6" name="Picture 5" descr="MP900423014.JPG"/>
          <p:cNvPicPr/>
          <p:nvPr/>
        </p:nvPicPr>
        <p:blipFill>
          <a:blip r:embed="rId3" cstate="print"/>
          <a:stretch>
            <a:fillRect/>
          </a:stretch>
        </p:blipFill>
        <p:spPr>
          <a:xfrm>
            <a:off x="6172200" y="3276600"/>
            <a:ext cx="1933575" cy="2009775"/>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Providing options and suggestions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Other options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the list may be endless, you may provide advice on:</a:t>
            </a:r>
          </a:p>
          <a:p>
            <a:pPr marL="0">
              <a:spcBef>
                <a:spcPts val="600"/>
              </a:spcBef>
              <a:spcAft>
                <a:spcPts val="1200"/>
              </a:spcAft>
            </a:pPr>
            <a:r>
              <a:rPr lang="en-AU" sz="2200" dirty="0" smtClean="0">
                <a:latin typeface="Helvetica" pitchFamily="34" charset="0"/>
              </a:rPr>
              <a:t>Timing of activities</a:t>
            </a:r>
          </a:p>
          <a:p>
            <a:pPr marL="0">
              <a:spcBef>
                <a:spcPts val="600"/>
              </a:spcBef>
              <a:spcAft>
                <a:spcPts val="1200"/>
              </a:spcAft>
            </a:pPr>
            <a:r>
              <a:rPr lang="en-AU" sz="2200" dirty="0" smtClean="0">
                <a:latin typeface="Helvetica" pitchFamily="34" charset="0"/>
              </a:rPr>
              <a:t>Weather</a:t>
            </a:r>
          </a:p>
          <a:p>
            <a:pPr marL="0">
              <a:spcBef>
                <a:spcPts val="600"/>
              </a:spcBef>
              <a:spcAft>
                <a:spcPts val="1200"/>
              </a:spcAft>
            </a:pPr>
            <a:r>
              <a:rPr lang="en-AU" sz="2200" dirty="0" smtClean="0">
                <a:latin typeface="Helvetica" pitchFamily="34" charset="0"/>
              </a:rPr>
              <a:t>Dress codes</a:t>
            </a:r>
          </a:p>
          <a:p>
            <a:pPr marL="0">
              <a:spcBef>
                <a:spcPts val="600"/>
              </a:spcBef>
              <a:spcAft>
                <a:spcPts val="1200"/>
              </a:spcAft>
            </a:pPr>
            <a:r>
              <a:rPr lang="en-AU" sz="2200" dirty="0" smtClean="0">
                <a:latin typeface="Helvetica" pitchFamily="34" charset="0"/>
              </a:rPr>
              <a:t>Transportation</a:t>
            </a:r>
          </a:p>
          <a:p>
            <a:pPr marL="0">
              <a:spcBef>
                <a:spcPts val="600"/>
              </a:spcBef>
              <a:spcAft>
                <a:spcPts val="1200"/>
              </a:spcAft>
            </a:pPr>
            <a:r>
              <a:rPr lang="en-AU" sz="2200" dirty="0" smtClean="0">
                <a:latin typeface="Helvetica" pitchFamily="34" charset="0"/>
              </a:rPr>
              <a:t>External suppliers</a:t>
            </a:r>
          </a:p>
          <a:p>
            <a:pPr marL="0">
              <a:spcBef>
                <a:spcPts val="600"/>
              </a:spcBef>
              <a:spcAft>
                <a:spcPts val="1200"/>
              </a:spcAft>
            </a:pPr>
            <a:r>
              <a:rPr lang="en-AU" sz="2200" dirty="0" smtClean="0">
                <a:latin typeface="Helvetica" pitchFamily="34" charset="0"/>
              </a:rPr>
              <a:t>Technical requirements</a:t>
            </a:r>
          </a:p>
          <a:p>
            <a:pPr marL="0">
              <a:spcBef>
                <a:spcPts val="600"/>
              </a:spcBef>
              <a:spcAft>
                <a:spcPts val="1200"/>
              </a:spcAft>
            </a:pPr>
            <a:r>
              <a:rPr lang="en-AU" sz="2200" dirty="0" smtClean="0">
                <a:latin typeface="Helvetica" pitchFamily="34" charset="0"/>
              </a:rPr>
              <a:t>Seating arrangements and theming</a:t>
            </a:r>
          </a:p>
          <a:p>
            <a:pPr marL="0">
              <a:spcBef>
                <a:spcPts val="600"/>
              </a:spcBef>
              <a:spcAft>
                <a:spcPts val="1200"/>
              </a:spcAft>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7" name="Picture 6" descr="MP900341731.JPG"/>
          <p:cNvPicPr>
            <a:picLocks noChangeAspect="1"/>
          </p:cNvPicPr>
          <p:nvPr/>
        </p:nvPicPr>
        <p:blipFill>
          <a:blip r:embed="rId3" cstate="print"/>
          <a:stretch>
            <a:fillRect/>
          </a:stretch>
        </p:blipFill>
        <p:spPr>
          <a:xfrm>
            <a:off x="6172200" y="2743200"/>
            <a:ext cx="1761744" cy="2469735"/>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Maximise sales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Identify and pursue additional sales opportunities</a:t>
            </a:r>
          </a:p>
          <a:p>
            <a:pPr>
              <a:spcBef>
                <a:spcPts val="600"/>
              </a:spcBef>
              <a:spcAft>
                <a:spcPts val="1200"/>
              </a:spcAft>
            </a:pPr>
            <a:r>
              <a:rPr lang="en-AU" sz="2200" dirty="0" smtClean="0">
                <a:latin typeface="Helvetica" pitchFamily="34" charset="0"/>
              </a:rPr>
              <a:t>It is not a good idea to provide suggestions </a:t>
            </a:r>
            <a:br>
              <a:rPr lang="en-AU" sz="2200" dirty="0" smtClean="0">
                <a:latin typeface="Helvetica" pitchFamily="34" charset="0"/>
              </a:rPr>
            </a:br>
            <a:r>
              <a:rPr lang="en-AU" sz="2200" dirty="0" smtClean="0">
                <a:latin typeface="Helvetica" pitchFamily="34" charset="0"/>
              </a:rPr>
              <a:t>solely based on improving the revenue of </a:t>
            </a:r>
            <a:br>
              <a:rPr lang="en-AU" sz="2200" dirty="0" smtClean="0">
                <a:latin typeface="Helvetica" pitchFamily="34" charset="0"/>
              </a:rPr>
            </a:br>
            <a:r>
              <a:rPr lang="en-AU" sz="2200" dirty="0" smtClean="0">
                <a:latin typeface="Helvetica" pitchFamily="34" charset="0"/>
              </a:rPr>
              <a:t>an event</a:t>
            </a:r>
          </a:p>
          <a:p>
            <a:pPr>
              <a:spcBef>
                <a:spcPts val="600"/>
              </a:spcBef>
              <a:spcAft>
                <a:spcPts val="1200"/>
              </a:spcAft>
            </a:pPr>
            <a:r>
              <a:rPr lang="en-AU" sz="2200" dirty="0" smtClean="0">
                <a:latin typeface="Helvetica" pitchFamily="34" charset="0"/>
              </a:rPr>
              <a:t>However in many cases, your suggestions </a:t>
            </a:r>
            <a:br>
              <a:rPr lang="en-AU" sz="2200" dirty="0" smtClean="0">
                <a:latin typeface="Helvetica" pitchFamily="34" charset="0"/>
              </a:rPr>
            </a:br>
            <a:r>
              <a:rPr lang="en-AU" sz="2200" dirty="0" smtClean="0">
                <a:latin typeface="Helvetica" pitchFamily="34" charset="0"/>
              </a:rPr>
              <a:t>may prove to be advantageous to both parties</a:t>
            </a:r>
          </a:p>
          <a:p>
            <a:pPr marL="0">
              <a:spcBef>
                <a:spcPts val="600"/>
              </a:spcBef>
              <a:spcAft>
                <a:spcPts val="1200"/>
              </a:spcAft>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8" name="Picture 7" descr="Business Man.JPG"/>
          <p:cNvPicPr>
            <a:picLocks noChangeAspect="1"/>
          </p:cNvPicPr>
          <p:nvPr/>
        </p:nvPicPr>
        <p:blipFill>
          <a:blip r:embed="rId3" cstate="print"/>
          <a:srcRect l="29572" t="18010" b="16963"/>
          <a:stretch>
            <a:fillRect/>
          </a:stretch>
        </p:blipFill>
        <p:spPr>
          <a:xfrm>
            <a:off x="7010400" y="2209800"/>
            <a:ext cx="1263075" cy="1752600"/>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Maximise sales opportunities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Keys to identifying and pursuing additional sales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Present the additional sales opportunities as ‘options’ and not as necessities  </a:t>
            </a:r>
          </a:p>
          <a:p>
            <a:pPr lvl="0">
              <a:spcBef>
                <a:spcPts val="600"/>
              </a:spcBef>
              <a:spcAft>
                <a:spcPts val="1200"/>
              </a:spcAft>
            </a:pPr>
            <a:r>
              <a:rPr lang="en-AU" sz="2200" dirty="0" smtClean="0">
                <a:latin typeface="Helvetica" pitchFamily="34" charset="0"/>
              </a:rPr>
              <a:t>Accept the client’s rejection of suggestions without being judgemental </a:t>
            </a:r>
          </a:p>
          <a:p>
            <a:pPr lvl="0">
              <a:spcBef>
                <a:spcPts val="600"/>
              </a:spcBef>
              <a:spcAft>
                <a:spcPts val="1200"/>
              </a:spcAft>
            </a:pPr>
            <a:r>
              <a:rPr lang="en-AU" sz="2200" dirty="0" smtClean="0">
                <a:latin typeface="Helvetica" pitchFamily="34" charset="0"/>
              </a:rPr>
              <a:t>Sell the benefits of the suggestion  </a:t>
            </a:r>
          </a:p>
          <a:p>
            <a:pPr lvl="0">
              <a:spcBef>
                <a:spcPts val="600"/>
              </a:spcBef>
              <a:spcAft>
                <a:spcPts val="1200"/>
              </a:spcAft>
            </a:pPr>
            <a:r>
              <a:rPr lang="en-AU" sz="2200" dirty="0" smtClean="0">
                <a:latin typeface="Helvetica" pitchFamily="34" charset="0"/>
              </a:rPr>
              <a:t>Explain the suggestion  </a:t>
            </a:r>
          </a:p>
          <a:p>
            <a:pPr lvl="0">
              <a:spcBef>
                <a:spcPts val="600"/>
              </a:spcBef>
              <a:spcAft>
                <a:spcPts val="1200"/>
              </a:spcAft>
            </a:pPr>
            <a:r>
              <a:rPr lang="en-AU" sz="2200" dirty="0" smtClean="0">
                <a:latin typeface="Helvetica" pitchFamily="34" charset="0"/>
              </a:rPr>
              <a:t>Give examples and explain impact </a:t>
            </a:r>
            <a:br>
              <a:rPr lang="en-AU" sz="2200" dirty="0" smtClean="0">
                <a:latin typeface="Helvetica" pitchFamily="34" charset="0"/>
              </a:rPr>
            </a:br>
            <a:r>
              <a:rPr lang="en-AU" sz="2200" dirty="0" smtClean="0">
                <a:latin typeface="Helvetica" pitchFamily="34" charset="0"/>
              </a:rPr>
              <a:t>it had </a:t>
            </a:r>
          </a:p>
          <a:p>
            <a:pPr lvl="0">
              <a:spcBef>
                <a:spcPts val="600"/>
              </a:spcBef>
              <a:spcAft>
                <a:spcPts val="1200"/>
              </a:spcAft>
            </a:pPr>
            <a:r>
              <a:rPr lang="en-AU" sz="2200" dirty="0" smtClean="0">
                <a:latin typeface="Helvetica" pitchFamily="34" charset="0"/>
              </a:rPr>
              <a:t>Provide samples  </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18434" name="Picture 2" descr="C:\Documents and Settings\danielc\Local Settings\Temporary Internet Files\Content.IE5\UMECW9PM\MP900431283[1].jpg"/>
          <p:cNvPicPr>
            <a:picLocks noChangeAspect="1" noChangeArrowheads="1"/>
          </p:cNvPicPr>
          <p:nvPr/>
        </p:nvPicPr>
        <p:blipFill>
          <a:blip r:embed="rId3" cstate="print"/>
          <a:srcRect l="33316"/>
          <a:stretch>
            <a:fillRect/>
          </a:stretch>
        </p:blipFill>
        <p:spPr bwMode="auto">
          <a:xfrm>
            <a:off x="6248400" y="3733800"/>
            <a:ext cx="1830227" cy="1831181"/>
          </a:xfrm>
          <a:prstGeom prst="rect">
            <a:avLst/>
          </a:prstGeom>
          <a:noFill/>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function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200" dirty="0" smtClean="0">
                <a:latin typeface="Helvetica" pitchFamily="34" charset="0"/>
              </a:rPr>
              <a:t>Throughout the meeting with the potential client it is important to write down detailed notes as the discussion takes place</a:t>
            </a:r>
          </a:p>
          <a:p>
            <a:pPr>
              <a:spcBef>
                <a:spcPts val="600"/>
              </a:spcBef>
              <a:spcAft>
                <a:spcPts val="1200"/>
              </a:spcAft>
            </a:pPr>
            <a:r>
              <a:rPr lang="en-AU" sz="2200" dirty="0" smtClean="0">
                <a:latin typeface="Helvetica" pitchFamily="34" charset="0"/>
              </a:rPr>
              <a:t>In many cases, there are many dimensions to a function and it is not expected that a functions staff member will be able to remember everything that the client says or requests</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function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Record decisions </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It is best to let the client know at the start of the meeting that you will be recording information</a:t>
            </a:r>
          </a:p>
          <a:p>
            <a:pPr>
              <a:spcBef>
                <a:spcPts val="600"/>
              </a:spcBef>
              <a:spcAft>
                <a:spcPts val="1200"/>
              </a:spcAft>
            </a:pPr>
            <a:r>
              <a:rPr lang="en-AU" sz="2200" dirty="0" smtClean="0">
                <a:latin typeface="Helvetica" pitchFamily="34" charset="0"/>
              </a:rPr>
              <a:t>This will help put them at ease that nothing will be forgotten</a:t>
            </a:r>
          </a:p>
          <a:p>
            <a:pPr>
              <a:spcBef>
                <a:spcPts val="600"/>
              </a:spcBef>
              <a:spcAft>
                <a:spcPts val="1200"/>
              </a:spcAft>
            </a:pPr>
            <a:r>
              <a:rPr lang="en-AU" sz="2200" dirty="0" smtClean="0">
                <a:latin typeface="Helvetica" pitchFamily="34" charset="0"/>
              </a:rPr>
              <a:t>Use dedicated templates broken down  </a:t>
            </a:r>
          </a:p>
          <a:p>
            <a:pPr>
              <a:spcBef>
                <a:spcPts val="600"/>
              </a:spcBef>
              <a:spcAft>
                <a:spcPts val="1200"/>
              </a:spcAft>
            </a:pPr>
            <a:r>
              <a:rPr lang="en-AU" sz="2200" dirty="0" smtClean="0">
                <a:latin typeface="Helvetica" pitchFamily="34" charset="0"/>
              </a:rPr>
              <a:t>Templates help guide or list of questions                                in which should be asked  </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8" name="Picture 7" descr="MP910220909[1].JPG"/>
          <p:cNvPicPr/>
          <p:nvPr/>
        </p:nvPicPr>
        <p:blipFill>
          <a:blip r:embed="rId3" cstate="print"/>
          <a:stretch>
            <a:fillRect/>
          </a:stretch>
        </p:blipFill>
        <p:spPr>
          <a:xfrm>
            <a:off x="6629400" y="3657600"/>
            <a:ext cx="1619250" cy="1619250"/>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Record function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Repeating information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At this stage, the key is to ensure that the information that you have recorded is:</a:t>
            </a:r>
          </a:p>
          <a:p>
            <a:pPr>
              <a:spcBef>
                <a:spcPts val="600"/>
              </a:spcBef>
              <a:spcAft>
                <a:spcPts val="1200"/>
              </a:spcAft>
            </a:pPr>
            <a:r>
              <a:rPr lang="en-AU" sz="2200" dirty="0" smtClean="0">
                <a:latin typeface="Helvetica" pitchFamily="34" charset="0"/>
              </a:rPr>
              <a:t>Accurate</a:t>
            </a:r>
          </a:p>
          <a:p>
            <a:pPr>
              <a:spcBef>
                <a:spcPts val="600"/>
              </a:spcBef>
              <a:spcAft>
                <a:spcPts val="1200"/>
              </a:spcAft>
            </a:pPr>
            <a:r>
              <a:rPr lang="en-AU" sz="2200" dirty="0" smtClean="0">
                <a:latin typeface="Helvetica" pitchFamily="34" charset="0"/>
              </a:rPr>
              <a:t>A true reflection of what the client                                            is looking for</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19458" name="Picture 2" descr="I:\Overseas Projects\PHOTOS\2012\Front office 2012\shutterstock_38546896.jpg"/>
          <p:cNvPicPr>
            <a:picLocks noChangeAspect="1" noChangeArrowheads="1"/>
          </p:cNvPicPr>
          <p:nvPr/>
        </p:nvPicPr>
        <p:blipFill>
          <a:blip r:embed="rId3" cstate="print"/>
          <a:srcRect l="5000" r="12500"/>
          <a:stretch>
            <a:fillRect/>
          </a:stretch>
        </p:blipFill>
        <p:spPr bwMode="auto">
          <a:xfrm>
            <a:off x="5867400" y="2895600"/>
            <a:ext cx="2514600" cy="2033587"/>
          </a:xfrm>
          <a:prstGeom prst="rect">
            <a:avLst/>
          </a:prstGeom>
          <a:noFill/>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Provide quotation to client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All potential clients will need to be supplied with a quotation for their function before they commit to booking it and paying a deposit. </a:t>
            </a:r>
          </a:p>
          <a:p>
            <a:pPr>
              <a:spcBef>
                <a:spcPts val="600"/>
              </a:spcBef>
              <a:spcAft>
                <a:spcPts val="1200"/>
              </a:spcAft>
            </a:pPr>
            <a:r>
              <a:rPr lang="en-AU" sz="2200" dirty="0" smtClean="0">
                <a:latin typeface="Helvetica" pitchFamily="34" charset="0"/>
              </a:rPr>
              <a:t>What should be included in a quotation?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8" name="Picture 7" descr="MP900422989[1].JPG"/>
          <p:cNvPicPr>
            <a:picLocks noChangeAspect="1"/>
          </p:cNvPicPr>
          <p:nvPr/>
        </p:nvPicPr>
        <p:blipFill>
          <a:blip r:embed="rId3" cstate="print"/>
          <a:stretch>
            <a:fillRect/>
          </a:stretch>
        </p:blipFill>
        <p:spPr>
          <a:xfrm>
            <a:off x="3429000" y="3657600"/>
            <a:ext cx="1886768" cy="2442542"/>
          </a:xfrm>
          <a:prstGeom prst="rect">
            <a:avLst/>
          </a:prstGeom>
        </p:spPr>
      </p:pic>
      <p:pic>
        <p:nvPicPr>
          <p:cNvPr id="20482" name="Picture 2" descr="C:\Program Files\Microsoft Office\MEDIA\CAGCAT10\j0222015.wmf"/>
          <p:cNvPicPr>
            <a:picLocks noChangeAspect="1" noChangeArrowheads="1"/>
          </p:cNvPicPr>
          <p:nvPr/>
        </p:nvPicPr>
        <p:blipFill>
          <a:blip r:embed="rId4" cstate="print"/>
          <a:srcRect/>
          <a:stretch>
            <a:fillRect/>
          </a:stretch>
        </p:blipFill>
        <p:spPr bwMode="auto">
          <a:xfrm>
            <a:off x="2819400" y="3276600"/>
            <a:ext cx="1780337" cy="1786738"/>
          </a:xfrm>
          <a:prstGeom prst="rect">
            <a:avLst/>
          </a:prstGeom>
          <a:noFill/>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Provide quotation to client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Factors to take into account when developing a costing </a:t>
            </a:r>
          </a:p>
          <a:p>
            <a:pPr>
              <a:spcBef>
                <a:spcPts val="600"/>
              </a:spcBef>
              <a:spcAft>
                <a:spcPts val="1200"/>
              </a:spcAft>
            </a:pPr>
            <a:r>
              <a:rPr lang="en-AU" sz="2200" dirty="0" smtClean="0">
                <a:latin typeface="Helvetica" pitchFamily="34" charset="0"/>
              </a:rPr>
              <a:t>Follow house policies </a:t>
            </a:r>
          </a:p>
          <a:p>
            <a:pPr>
              <a:spcBef>
                <a:spcPts val="600"/>
              </a:spcBef>
              <a:spcAft>
                <a:spcPts val="1200"/>
              </a:spcAft>
            </a:pPr>
            <a:r>
              <a:rPr lang="en-AU" sz="2200" dirty="0" smtClean="0">
                <a:latin typeface="Helvetica" pitchFamily="34" charset="0"/>
              </a:rPr>
              <a:t>Make sure everything is charged for </a:t>
            </a:r>
          </a:p>
          <a:p>
            <a:pPr>
              <a:spcBef>
                <a:spcPts val="600"/>
              </a:spcBef>
              <a:spcAft>
                <a:spcPts val="1200"/>
              </a:spcAft>
            </a:pPr>
            <a:r>
              <a:rPr lang="en-AU" sz="2200" dirty="0" smtClean="0">
                <a:latin typeface="Helvetica" pitchFamily="34" charset="0"/>
              </a:rPr>
              <a:t>Only include services and products the client has requested </a:t>
            </a:r>
          </a:p>
          <a:p>
            <a:pPr>
              <a:spcBef>
                <a:spcPts val="600"/>
              </a:spcBef>
              <a:spcAft>
                <a:spcPts val="1200"/>
              </a:spcAft>
            </a:pPr>
            <a:r>
              <a:rPr lang="en-AU" sz="2200" dirty="0" smtClean="0">
                <a:latin typeface="Helvetica" pitchFamily="34" charset="0"/>
              </a:rPr>
              <a:t>Double-check your figures </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21506" name="Picture 2" descr="I:\Overseas Projects\PHOTOS\2012\Office\MC900019719.WMF"/>
          <p:cNvPicPr>
            <a:picLocks noChangeAspect="1" noChangeArrowheads="1"/>
          </p:cNvPicPr>
          <p:nvPr/>
        </p:nvPicPr>
        <p:blipFill>
          <a:blip r:embed="rId3" cstate="print"/>
          <a:srcRect/>
          <a:stretch>
            <a:fillRect/>
          </a:stretch>
        </p:blipFill>
        <p:spPr bwMode="auto">
          <a:xfrm>
            <a:off x="5562600" y="4343400"/>
            <a:ext cx="2778125" cy="1622417"/>
          </a:xfrm>
          <a:prstGeom prst="rect">
            <a:avLst/>
          </a:prstGeom>
          <a:noFill/>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Provide quotation to client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Factors to take into account when developing a costing </a:t>
            </a:r>
          </a:p>
          <a:p>
            <a:pPr>
              <a:spcBef>
                <a:spcPts val="600"/>
              </a:spcBef>
              <a:spcAft>
                <a:spcPts val="1200"/>
              </a:spcAft>
            </a:pPr>
            <a:r>
              <a:rPr lang="en-AU" sz="2200" dirty="0" smtClean="0">
                <a:latin typeface="Helvetica" pitchFamily="34" charset="0"/>
              </a:rPr>
              <a:t>Identify and explain every charge </a:t>
            </a:r>
          </a:p>
          <a:p>
            <a:pPr>
              <a:spcBef>
                <a:spcPts val="600"/>
              </a:spcBef>
              <a:spcAft>
                <a:spcPts val="1200"/>
              </a:spcAft>
            </a:pPr>
            <a:r>
              <a:rPr lang="en-AU" sz="2200" dirty="0" smtClean="0">
                <a:latin typeface="Helvetica" pitchFamily="34" charset="0"/>
              </a:rPr>
              <a:t>Observe promises made </a:t>
            </a:r>
          </a:p>
          <a:p>
            <a:pPr>
              <a:spcBef>
                <a:spcPts val="600"/>
              </a:spcBef>
              <a:spcAft>
                <a:spcPts val="1200"/>
              </a:spcAft>
            </a:pPr>
            <a:r>
              <a:rPr lang="en-AU" sz="2200" dirty="0" smtClean="0">
                <a:latin typeface="Helvetica" pitchFamily="34" charset="0"/>
              </a:rPr>
              <a:t>Verify with management </a:t>
            </a:r>
          </a:p>
          <a:p>
            <a:pPr>
              <a:spcBef>
                <a:spcPts val="600"/>
              </a:spcBef>
              <a:spcAft>
                <a:spcPts val="1200"/>
              </a:spcAft>
            </a:pPr>
            <a:r>
              <a:rPr lang="en-AU" sz="2200" dirty="0" smtClean="0">
                <a:latin typeface="Helvetica" pitchFamily="34" charset="0"/>
              </a:rPr>
              <a:t>Present the quotation in person </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7" name="Picture 6" descr="MP900285131[1].JPG"/>
          <p:cNvPicPr/>
          <p:nvPr/>
        </p:nvPicPr>
        <p:blipFill>
          <a:blip r:embed="rId3" cstate="print"/>
          <a:stretch>
            <a:fillRect/>
          </a:stretch>
        </p:blipFill>
        <p:spPr>
          <a:xfrm>
            <a:off x="6400800" y="2438400"/>
            <a:ext cx="1647825" cy="2447925"/>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Negotiate and agree upon final event details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buNone/>
            </a:pPr>
            <a:r>
              <a:rPr lang="en-AU" sz="2200" dirty="0" smtClean="0">
                <a:latin typeface="Helvetica" pitchFamily="34" charset="0"/>
              </a:rPr>
              <a:t>All functions and events require some form of negotiation with the client due to the individual nature of the occasions and the unique needs and preferences of the client. </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6" name="Picture 5" descr="MP900289901.JPG"/>
          <p:cNvPicPr>
            <a:picLocks noChangeAspect="1"/>
          </p:cNvPicPr>
          <p:nvPr/>
        </p:nvPicPr>
        <p:blipFill>
          <a:blip r:embed="rId3" cstate="print">
            <a:grayscl/>
          </a:blip>
          <a:stretch>
            <a:fillRect/>
          </a:stretch>
        </p:blipFill>
        <p:spPr>
          <a:xfrm>
            <a:off x="2895600" y="3048000"/>
            <a:ext cx="3070746" cy="2057400"/>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Negotiate and agree upon final event details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600"/>
              </a:spcAft>
              <a:buNone/>
            </a:pPr>
            <a:r>
              <a:rPr lang="en-AU" sz="2000" b="1" dirty="0" smtClean="0">
                <a:latin typeface="Helvetica" pitchFamily="34" charset="0"/>
              </a:rPr>
              <a:t>Price </a:t>
            </a:r>
          </a:p>
          <a:p>
            <a:pPr marL="0">
              <a:spcBef>
                <a:spcPts val="600"/>
              </a:spcBef>
              <a:spcAft>
                <a:spcPts val="600"/>
              </a:spcAft>
              <a:buNone/>
            </a:pPr>
            <a:r>
              <a:rPr lang="en-AU" sz="2000" dirty="0" smtClean="0">
                <a:latin typeface="Helvetica" pitchFamily="34" charset="0"/>
              </a:rPr>
              <a:t>Where price is an issue the primary way of reducing it is to reduce what is to be offered. </a:t>
            </a:r>
          </a:p>
          <a:p>
            <a:pPr marL="0">
              <a:spcBef>
                <a:spcPts val="600"/>
              </a:spcBef>
              <a:spcAft>
                <a:spcPts val="600"/>
              </a:spcAft>
              <a:buNone/>
            </a:pPr>
            <a:r>
              <a:rPr lang="en-AU" sz="2000" dirty="0" smtClean="0">
                <a:latin typeface="Helvetica" pitchFamily="34" charset="0"/>
              </a:rPr>
              <a:t>This may include: </a:t>
            </a:r>
          </a:p>
          <a:p>
            <a:pPr lvl="0">
              <a:spcBef>
                <a:spcPts val="600"/>
              </a:spcBef>
              <a:spcAft>
                <a:spcPts val="600"/>
              </a:spcAft>
            </a:pPr>
            <a:r>
              <a:rPr lang="en-AU" sz="2000" dirty="0" smtClean="0">
                <a:latin typeface="Helvetica" pitchFamily="34" charset="0"/>
              </a:rPr>
              <a:t>Reducing courses at a meal</a:t>
            </a:r>
          </a:p>
          <a:p>
            <a:pPr lvl="0">
              <a:spcBef>
                <a:spcPts val="600"/>
              </a:spcBef>
              <a:spcAft>
                <a:spcPts val="600"/>
              </a:spcAft>
            </a:pPr>
            <a:r>
              <a:rPr lang="en-AU" sz="2000" dirty="0" smtClean="0">
                <a:latin typeface="Helvetica" pitchFamily="34" charset="0"/>
              </a:rPr>
              <a:t>Substituting a less expensive wine for the </a:t>
            </a:r>
            <a:br>
              <a:rPr lang="en-AU" sz="2000" dirty="0" smtClean="0">
                <a:latin typeface="Helvetica" pitchFamily="34" charset="0"/>
              </a:rPr>
            </a:br>
            <a:r>
              <a:rPr lang="en-AU" sz="2000" dirty="0" smtClean="0">
                <a:latin typeface="Helvetica" pitchFamily="34" charset="0"/>
              </a:rPr>
              <a:t>wines already quoted on </a:t>
            </a:r>
          </a:p>
          <a:p>
            <a:pPr lvl="0">
              <a:spcBef>
                <a:spcPts val="600"/>
              </a:spcBef>
              <a:spcAft>
                <a:spcPts val="600"/>
              </a:spcAft>
            </a:pPr>
            <a:r>
              <a:rPr lang="en-AU" sz="2000" dirty="0" smtClean="0">
                <a:latin typeface="Helvetica" pitchFamily="34" charset="0"/>
              </a:rPr>
              <a:t>Substituting less expensive menu items into the meal options </a:t>
            </a:r>
          </a:p>
          <a:p>
            <a:pPr lvl="0">
              <a:spcBef>
                <a:spcPts val="600"/>
              </a:spcBef>
              <a:spcAft>
                <a:spcPts val="600"/>
              </a:spcAft>
            </a:pPr>
            <a:r>
              <a:rPr lang="en-AU" sz="2000" dirty="0" smtClean="0">
                <a:latin typeface="Helvetica" pitchFamily="34" charset="0"/>
              </a:rPr>
              <a:t>Not including liquor in the function</a:t>
            </a:r>
          </a:p>
          <a:p>
            <a:pPr lvl="0">
              <a:spcBef>
                <a:spcPts val="600"/>
              </a:spcBef>
              <a:spcAft>
                <a:spcPts val="600"/>
              </a:spcAft>
            </a:pPr>
            <a:r>
              <a:rPr lang="en-AU" sz="2000" dirty="0" smtClean="0">
                <a:latin typeface="Helvetica" pitchFamily="34" charset="0"/>
              </a:rPr>
              <a:t>Limiting the time the function runs</a:t>
            </a:r>
          </a:p>
          <a:p>
            <a:pPr lvl="0">
              <a:spcBef>
                <a:spcPts val="600"/>
              </a:spcBef>
              <a:spcAft>
                <a:spcPts val="600"/>
              </a:spcAft>
            </a:pPr>
            <a:r>
              <a:rPr lang="en-AU" sz="2000" dirty="0" smtClean="0">
                <a:latin typeface="Helvetica" pitchFamily="34" charset="0"/>
              </a:rPr>
              <a:t>Removing a previously identified activity from the function</a:t>
            </a:r>
            <a:endParaRPr lang="en-AU" sz="2000" b="1" dirty="0" smtClean="0"/>
          </a:p>
          <a:p>
            <a:pPr>
              <a:buNone/>
            </a:pPr>
            <a:endParaRPr lang="en-AU"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29698" name="Picture 2" descr="C:\Documents and Settings\danielc\Local Settings\Temporary Internet Files\Content.IE5\112MAXTI\MC900078804[1].wmf"/>
          <p:cNvPicPr>
            <a:picLocks noChangeAspect="1" noChangeArrowheads="1"/>
          </p:cNvPicPr>
          <p:nvPr/>
        </p:nvPicPr>
        <p:blipFill>
          <a:blip r:embed="rId3" cstate="print"/>
          <a:srcRect/>
          <a:stretch>
            <a:fillRect/>
          </a:stretch>
        </p:blipFill>
        <p:spPr bwMode="auto">
          <a:xfrm>
            <a:off x="6400800" y="2286000"/>
            <a:ext cx="2341096" cy="2076450"/>
          </a:xfrm>
          <a:prstGeom prst="rect">
            <a:avLst/>
          </a:prstGeom>
          <a:noFill/>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Negotiate and agree upon final event details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Timing </a:t>
            </a:r>
          </a:p>
          <a:p>
            <a:pPr marL="0">
              <a:spcBef>
                <a:spcPts val="600"/>
              </a:spcBef>
              <a:spcAft>
                <a:spcPts val="1200"/>
              </a:spcAft>
              <a:buNone/>
            </a:pPr>
            <a:r>
              <a:rPr lang="en-AU" sz="2200" dirty="0" smtClean="0">
                <a:latin typeface="Helvetica" pitchFamily="34" charset="0"/>
              </a:rPr>
              <a:t>Timing negotiations can also include discussion and agreement about: </a:t>
            </a:r>
          </a:p>
          <a:p>
            <a:pPr lvl="0">
              <a:spcBef>
                <a:spcPts val="600"/>
              </a:spcBef>
              <a:spcAft>
                <a:spcPts val="1200"/>
              </a:spcAft>
            </a:pPr>
            <a:r>
              <a:rPr lang="en-AU" sz="2200" dirty="0" smtClean="0">
                <a:latin typeface="Helvetica" pitchFamily="34" charset="0"/>
              </a:rPr>
              <a:t>Days the function is to be held</a:t>
            </a:r>
          </a:p>
          <a:p>
            <a:pPr lvl="0">
              <a:spcBef>
                <a:spcPts val="600"/>
              </a:spcBef>
              <a:spcAft>
                <a:spcPts val="1200"/>
              </a:spcAft>
            </a:pPr>
            <a:r>
              <a:rPr lang="en-AU" sz="2200" dirty="0" smtClean="0">
                <a:latin typeface="Helvetica" pitchFamily="34" charset="0"/>
              </a:rPr>
              <a:t>Timing of guest arrival</a:t>
            </a:r>
          </a:p>
          <a:p>
            <a:pPr lvl="0">
              <a:spcBef>
                <a:spcPts val="600"/>
              </a:spcBef>
              <a:spcAft>
                <a:spcPts val="1200"/>
              </a:spcAft>
            </a:pPr>
            <a:r>
              <a:rPr lang="en-AU" sz="2200" dirty="0" smtClean="0">
                <a:latin typeface="Helvetica" pitchFamily="34" charset="0"/>
              </a:rPr>
              <a:t>Timing of activities within the function itself  </a:t>
            </a:r>
          </a:p>
          <a:p>
            <a:pPr lvl="0">
              <a:spcBef>
                <a:spcPts val="600"/>
              </a:spcBef>
              <a:spcAft>
                <a:spcPts val="1200"/>
              </a:spcAft>
            </a:pPr>
            <a:r>
              <a:rPr lang="en-AU" sz="2200" dirty="0" smtClean="0">
                <a:latin typeface="Helvetica" pitchFamily="34" charset="0"/>
              </a:rPr>
              <a:t>Access to the function area for                                               client personnel </a:t>
            </a:r>
          </a:p>
          <a:p>
            <a:pPr lvl="0">
              <a:spcBef>
                <a:spcPts val="600"/>
              </a:spcBef>
              <a:spcAft>
                <a:spcPts val="1200"/>
              </a:spcAft>
            </a:pPr>
            <a:r>
              <a:rPr lang="en-AU" sz="2200" dirty="0" smtClean="0">
                <a:latin typeface="Helvetica" pitchFamily="34" charset="0"/>
              </a:rPr>
              <a:t>Times/dates by which the event must                                     be finished </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6" name="Picture 5" descr="MP900438870[1].JPG"/>
          <p:cNvPicPr>
            <a:picLocks noChangeAspect="1"/>
          </p:cNvPicPr>
          <p:nvPr/>
        </p:nvPicPr>
        <p:blipFill>
          <a:blip r:embed="rId3" cstate="print"/>
          <a:stretch>
            <a:fillRect/>
          </a:stretch>
        </p:blipFill>
        <p:spPr>
          <a:xfrm>
            <a:off x="6248400" y="2743200"/>
            <a:ext cx="2057400" cy="1385316"/>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Negotiate and agree upon final event details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u="sng" dirty="0" smtClean="0">
                <a:latin typeface="Helvetica" pitchFamily="34" charset="0"/>
              </a:rPr>
              <a:t>Goods and services to be provided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may be possible to assist the client by curtailing expenses in terms of: </a:t>
            </a:r>
          </a:p>
          <a:p>
            <a:pPr lvl="0">
              <a:spcBef>
                <a:spcPts val="600"/>
              </a:spcBef>
              <a:spcAft>
                <a:spcPts val="1200"/>
              </a:spcAft>
            </a:pPr>
            <a:r>
              <a:rPr lang="en-AU" sz="2200" dirty="0" smtClean="0">
                <a:latin typeface="Helvetica" pitchFamily="34" charset="0"/>
              </a:rPr>
              <a:t>Providing their own cake</a:t>
            </a:r>
          </a:p>
          <a:p>
            <a:pPr lvl="0">
              <a:spcBef>
                <a:spcPts val="600"/>
              </a:spcBef>
              <a:spcAft>
                <a:spcPts val="1200"/>
              </a:spcAft>
            </a:pPr>
            <a:r>
              <a:rPr lang="en-AU" sz="2200" dirty="0" smtClean="0">
                <a:latin typeface="Helvetica" pitchFamily="34" charset="0"/>
              </a:rPr>
              <a:t>Proving cheaper dessert items</a:t>
            </a:r>
          </a:p>
          <a:p>
            <a:pPr lvl="0">
              <a:spcBef>
                <a:spcPts val="600"/>
              </a:spcBef>
              <a:spcAft>
                <a:spcPts val="1200"/>
              </a:spcAft>
            </a:pPr>
            <a:r>
              <a:rPr lang="en-AU" sz="2200" dirty="0" smtClean="0">
                <a:latin typeface="Helvetica" pitchFamily="34" charset="0"/>
              </a:rPr>
              <a:t>Removing the ‘pre-event’ drinks </a:t>
            </a:r>
          </a:p>
          <a:p>
            <a:pPr lvl="0">
              <a:spcBef>
                <a:spcPts val="600"/>
              </a:spcBef>
              <a:spcAft>
                <a:spcPts val="1200"/>
              </a:spcAft>
            </a:pPr>
            <a:r>
              <a:rPr lang="en-AU" sz="2200" dirty="0" smtClean="0">
                <a:latin typeface="Helvetica" pitchFamily="34" charset="0"/>
              </a:rPr>
              <a:t>Decreasing the amount, or changing the type                             of, decorations to be supplied </a:t>
            </a:r>
          </a:p>
          <a:p>
            <a:pPr lvl="0">
              <a:spcBef>
                <a:spcPts val="600"/>
              </a:spcBef>
              <a:spcAft>
                <a:spcPts val="1200"/>
              </a:spcAft>
            </a:pPr>
            <a:r>
              <a:rPr lang="en-AU" sz="2200" dirty="0" smtClean="0">
                <a:latin typeface="Helvetica" pitchFamily="34" charset="0"/>
              </a:rPr>
              <a:t>Eliminating flowers </a:t>
            </a:r>
          </a:p>
          <a:p>
            <a:pPr lvl="0">
              <a:spcBef>
                <a:spcPts val="600"/>
              </a:spcBef>
              <a:spcAft>
                <a:spcPts val="1200"/>
              </a:spcAft>
            </a:pPr>
            <a:r>
              <a:rPr lang="en-AU" sz="2200" dirty="0" smtClean="0">
                <a:latin typeface="Helvetica" pitchFamily="34" charset="0"/>
              </a:rPr>
              <a:t>Not including accommodation</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7" name="Picture 6" descr="MP900443962.JPG"/>
          <p:cNvPicPr/>
          <p:nvPr/>
        </p:nvPicPr>
        <p:blipFill>
          <a:blip r:embed="rId3" cstate="print"/>
          <a:stretch>
            <a:fillRect/>
          </a:stretch>
        </p:blipFill>
        <p:spPr>
          <a:xfrm>
            <a:off x="6172200" y="2895600"/>
            <a:ext cx="1871662" cy="1271587"/>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Function Contract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Once the function details have been verbally confirmed with the customer, standard practice requires:</a:t>
            </a:r>
          </a:p>
          <a:p>
            <a:pPr>
              <a:spcBef>
                <a:spcPts val="600"/>
              </a:spcBef>
              <a:spcAft>
                <a:spcPts val="1200"/>
              </a:spcAft>
            </a:pPr>
            <a:r>
              <a:rPr lang="en-AU" sz="2200" dirty="0" smtClean="0">
                <a:latin typeface="Helvetica" pitchFamily="34" charset="0"/>
              </a:rPr>
              <a:t>A written agreement to be drawn up</a:t>
            </a:r>
          </a:p>
          <a:p>
            <a:pPr>
              <a:spcBef>
                <a:spcPts val="600"/>
              </a:spcBef>
              <a:spcAft>
                <a:spcPts val="1200"/>
              </a:spcAft>
            </a:pPr>
            <a:r>
              <a:rPr lang="en-AU" sz="2200" dirty="0" smtClean="0">
                <a:latin typeface="Helvetica" pitchFamily="34" charset="0"/>
              </a:rPr>
              <a:t>Is signed by all parties involved</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6" name="Picture 5" descr="MP900443202.JPG"/>
          <p:cNvPicPr/>
          <p:nvPr/>
        </p:nvPicPr>
        <p:blipFill>
          <a:blip r:embed="rId3" cstate="print"/>
          <a:stretch>
            <a:fillRect/>
          </a:stretch>
        </p:blipFill>
        <p:spPr>
          <a:xfrm>
            <a:off x="3200400" y="3733800"/>
            <a:ext cx="2652713" cy="1995488"/>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Function Contract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Function Contract</a:t>
            </a:r>
          </a:p>
          <a:p>
            <a:pPr lvl="0">
              <a:spcBef>
                <a:spcPts val="600"/>
              </a:spcBef>
              <a:spcAft>
                <a:spcPts val="1200"/>
              </a:spcAft>
            </a:pPr>
            <a:r>
              <a:rPr lang="en-AU" sz="2200" dirty="0" smtClean="0">
                <a:latin typeface="Helvetica" pitchFamily="34" charset="0"/>
              </a:rPr>
              <a:t>Full contact details of the client </a:t>
            </a:r>
          </a:p>
          <a:p>
            <a:pPr lvl="0">
              <a:spcBef>
                <a:spcPts val="600"/>
              </a:spcBef>
              <a:spcAft>
                <a:spcPts val="1200"/>
              </a:spcAft>
            </a:pPr>
            <a:r>
              <a:rPr lang="en-AU" sz="2200" dirty="0" smtClean="0">
                <a:latin typeface="Helvetica" pitchFamily="34" charset="0"/>
              </a:rPr>
              <a:t>Dates and times of the function </a:t>
            </a:r>
          </a:p>
          <a:p>
            <a:pPr lvl="0">
              <a:spcBef>
                <a:spcPts val="600"/>
              </a:spcBef>
              <a:spcAft>
                <a:spcPts val="1200"/>
              </a:spcAft>
            </a:pPr>
            <a:r>
              <a:rPr lang="en-AU" sz="2200" dirty="0" smtClean="0">
                <a:latin typeface="Helvetica" pitchFamily="34" charset="0"/>
              </a:rPr>
              <a:t>Date for notification of final numbers </a:t>
            </a:r>
          </a:p>
          <a:p>
            <a:pPr lvl="0">
              <a:spcBef>
                <a:spcPts val="600"/>
              </a:spcBef>
              <a:spcAft>
                <a:spcPts val="1200"/>
              </a:spcAft>
            </a:pPr>
            <a:r>
              <a:rPr lang="en-AU" sz="2200" dirty="0" smtClean="0">
                <a:latin typeface="Helvetica" pitchFamily="34" charset="0"/>
              </a:rPr>
              <a:t>Type of function </a:t>
            </a:r>
          </a:p>
          <a:p>
            <a:pPr lvl="0">
              <a:spcBef>
                <a:spcPts val="600"/>
              </a:spcBef>
              <a:spcAft>
                <a:spcPts val="1200"/>
              </a:spcAft>
            </a:pPr>
            <a:r>
              <a:rPr lang="en-AU" sz="2200" dirty="0" smtClean="0">
                <a:latin typeface="Helvetica" pitchFamily="34" charset="0"/>
              </a:rPr>
              <a:t>Service style</a:t>
            </a:r>
          </a:p>
          <a:p>
            <a:pPr lvl="0">
              <a:spcBef>
                <a:spcPts val="600"/>
              </a:spcBef>
              <a:spcAft>
                <a:spcPts val="1200"/>
              </a:spcAft>
            </a:pPr>
            <a:r>
              <a:rPr lang="en-AU" sz="2200" dirty="0" smtClean="0">
                <a:latin typeface="Helvetica" pitchFamily="34" charset="0"/>
              </a:rPr>
              <a:t>Seating arrangements</a:t>
            </a:r>
          </a:p>
          <a:p>
            <a:pPr lvl="0">
              <a:spcBef>
                <a:spcPts val="600"/>
              </a:spcBef>
              <a:spcAft>
                <a:spcPts val="1200"/>
              </a:spcAft>
            </a:pPr>
            <a:r>
              <a:rPr lang="en-AU" sz="2200" dirty="0" smtClean="0">
                <a:latin typeface="Helvetica" pitchFamily="34" charset="0"/>
              </a:rPr>
              <a:t>Equipment</a:t>
            </a:r>
          </a:p>
          <a:p>
            <a:pPr marL="0">
              <a:spcBef>
                <a:spcPts val="600"/>
              </a:spcBef>
              <a:spcAft>
                <a:spcPts val="1200"/>
              </a:spcAft>
              <a:buNone/>
            </a:pP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22531" name="Picture 3" descr="C:\Documents and Settings\danielc\Local Settings\Temporary Internet Files\Content.IE5\3DV3UKH9\MC900233246[1].wmf"/>
          <p:cNvPicPr>
            <a:picLocks noChangeAspect="1" noChangeArrowheads="1"/>
          </p:cNvPicPr>
          <p:nvPr/>
        </p:nvPicPr>
        <p:blipFill>
          <a:blip r:embed="rId3" cstate="print"/>
          <a:srcRect/>
          <a:stretch>
            <a:fillRect/>
          </a:stretch>
        </p:blipFill>
        <p:spPr bwMode="auto">
          <a:xfrm>
            <a:off x="5943600" y="2590800"/>
            <a:ext cx="2127564" cy="2154725"/>
          </a:xfrm>
          <a:prstGeom prst="rect">
            <a:avLst/>
          </a:prstGeom>
          <a:noFill/>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Function Contract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Function Contract</a:t>
            </a:r>
          </a:p>
          <a:p>
            <a:pPr lvl="0">
              <a:spcBef>
                <a:spcPts val="600"/>
              </a:spcBef>
              <a:spcAft>
                <a:spcPts val="1200"/>
              </a:spcAft>
            </a:pPr>
            <a:r>
              <a:rPr lang="en-AU" sz="2200" dirty="0" smtClean="0">
                <a:latin typeface="Helvetica" pitchFamily="34" charset="0"/>
              </a:rPr>
              <a:t>Location of the function, name of rooms and </a:t>
            </a:r>
            <a:br>
              <a:rPr lang="en-AU" sz="2200" dirty="0" smtClean="0">
                <a:latin typeface="Helvetica" pitchFamily="34" charset="0"/>
              </a:rPr>
            </a:br>
            <a:r>
              <a:rPr lang="en-AU" sz="2200" dirty="0" smtClean="0">
                <a:latin typeface="Helvetica" pitchFamily="34" charset="0"/>
              </a:rPr>
              <a:t>facilities to be used </a:t>
            </a:r>
          </a:p>
          <a:p>
            <a:pPr lvl="0">
              <a:spcBef>
                <a:spcPts val="600"/>
              </a:spcBef>
              <a:spcAft>
                <a:spcPts val="1200"/>
              </a:spcAft>
            </a:pPr>
            <a:r>
              <a:rPr lang="en-AU" sz="2200" dirty="0" smtClean="0">
                <a:latin typeface="Helvetica" pitchFamily="34" charset="0"/>
              </a:rPr>
              <a:t>Approximate numbers attending </a:t>
            </a:r>
          </a:p>
          <a:p>
            <a:pPr lvl="0">
              <a:spcBef>
                <a:spcPts val="600"/>
              </a:spcBef>
              <a:spcAft>
                <a:spcPts val="1200"/>
              </a:spcAft>
            </a:pPr>
            <a:r>
              <a:rPr lang="en-AU" sz="2200" dirty="0" smtClean="0">
                <a:latin typeface="Helvetica" pitchFamily="34" charset="0"/>
              </a:rPr>
              <a:t>Décor, displays and table decorations </a:t>
            </a:r>
          </a:p>
          <a:p>
            <a:pPr lvl="0">
              <a:spcBef>
                <a:spcPts val="600"/>
              </a:spcBef>
              <a:spcAft>
                <a:spcPts val="1200"/>
              </a:spcAft>
            </a:pPr>
            <a:r>
              <a:rPr lang="en-AU" sz="2200" dirty="0" smtClean="0">
                <a:latin typeface="Helvetica" pitchFamily="34" charset="0"/>
              </a:rPr>
              <a:t>Food to be served – including when, type, amount </a:t>
            </a:r>
          </a:p>
          <a:p>
            <a:pPr lvl="0">
              <a:spcBef>
                <a:spcPts val="600"/>
              </a:spcBef>
              <a:spcAft>
                <a:spcPts val="1200"/>
              </a:spcAft>
            </a:pPr>
            <a:r>
              <a:rPr lang="en-AU" sz="2200" dirty="0" smtClean="0">
                <a:latin typeface="Helvetica" pitchFamily="34" charset="0"/>
              </a:rPr>
              <a:t>Beverages to be served</a:t>
            </a:r>
          </a:p>
          <a:p>
            <a:pPr>
              <a:spcBef>
                <a:spcPts val="600"/>
              </a:spcBef>
              <a:spcAft>
                <a:spcPts val="1200"/>
              </a:spcAft>
            </a:pPr>
            <a:r>
              <a:rPr lang="en-AU" sz="2200" dirty="0" smtClean="0">
                <a:latin typeface="Helvetica" pitchFamily="34" charset="0"/>
              </a:rPr>
              <a:t>Entertainment, activities and inclusions </a:t>
            </a: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buNone/>
            </a:pP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23554" name="Picture 2" descr="C:\Documents and Settings\danielc\Local Settings\Temporary Internet Files\Content.IE5\SIQ5KRQ3\MC900353310[1].wmf"/>
          <p:cNvPicPr>
            <a:picLocks noChangeAspect="1" noChangeArrowheads="1"/>
          </p:cNvPicPr>
          <p:nvPr/>
        </p:nvPicPr>
        <p:blipFill>
          <a:blip r:embed="rId3" cstate="print"/>
          <a:srcRect/>
          <a:stretch>
            <a:fillRect/>
          </a:stretch>
        </p:blipFill>
        <p:spPr bwMode="auto">
          <a:xfrm>
            <a:off x="6705600" y="1981200"/>
            <a:ext cx="1812202" cy="1815220"/>
          </a:xfrm>
          <a:prstGeom prst="rect">
            <a:avLst/>
          </a:prstGeom>
          <a:noFill/>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Function Contract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Function Contract</a:t>
            </a:r>
          </a:p>
          <a:p>
            <a:pPr lvl="0">
              <a:spcBef>
                <a:spcPts val="600"/>
              </a:spcBef>
              <a:spcAft>
                <a:spcPts val="1200"/>
              </a:spcAft>
            </a:pPr>
            <a:r>
              <a:rPr lang="en-AU" sz="2200" dirty="0" smtClean="0">
                <a:latin typeface="Helvetica" pitchFamily="34" charset="0"/>
              </a:rPr>
              <a:t>Ancillary sales:</a:t>
            </a:r>
          </a:p>
          <a:p>
            <a:pPr lvl="1">
              <a:spcBef>
                <a:spcPts val="600"/>
              </a:spcBef>
              <a:spcAft>
                <a:spcPts val="1200"/>
              </a:spcAft>
            </a:pPr>
            <a:r>
              <a:rPr lang="en-AU" sz="2200" dirty="0" smtClean="0">
                <a:latin typeface="Helvetica" pitchFamily="34" charset="0"/>
              </a:rPr>
              <a:t>Accommodation by type, number </a:t>
            </a:r>
            <a:br>
              <a:rPr lang="en-AU" sz="2200" dirty="0" smtClean="0">
                <a:latin typeface="Helvetica" pitchFamily="34" charset="0"/>
              </a:rPr>
            </a:br>
            <a:r>
              <a:rPr lang="en-AU" sz="2200" dirty="0" smtClean="0">
                <a:latin typeface="Helvetica" pitchFamily="34" charset="0"/>
              </a:rPr>
              <a:t>and dates</a:t>
            </a:r>
          </a:p>
          <a:p>
            <a:pPr lvl="1">
              <a:spcBef>
                <a:spcPts val="600"/>
              </a:spcBef>
              <a:spcAft>
                <a:spcPts val="1200"/>
              </a:spcAft>
            </a:pPr>
            <a:r>
              <a:rPr lang="en-AU" sz="2200" dirty="0" smtClean="0">
                <a:latin typeface="Helvetica" pitchFamily="34" charset="0"/>
              </a:rPr>
              <a:t>Tours</a:t>
            </a:r>
          </a:p>
          <a:p>
            <a:pPr lvl="1">
              <a:spcBef>
                <a:spcPts val="600"/>
              </a:spcBef>
              <a:spcAft>
                <a:spcPts val="1200"/>
              </a:spcAft>
            </a:pPr>
            <a:r>
              <a:rPr lang="en-AU" sz="2200" dirty="0" smtClean="0">
                <a:latin typeface="Helvetica" pitchFamily="34" charset="0"/>
              </a:rPr>
              <a:t>In-house services</a:t>
            </a:r>
          </a:p>
          <a:p>
            <a:pPr lvl="1">
              <a:spcBef>
                <a:spcPts val="600"/>
              </a:spcBef>
              <a:spcAft>
                <a:spcPts val="1200"/>
              </a:spcAft>
            </a:pPr>
            <a:r>
              <a:rPr lang="en-AU" sz="2200" dirty="0" smtClean="0">
                <a:latin typeface="Helvetica" pitchFamily="34" charset="0"/>
              </a:rPr>
              <a:t>Provision of a master of ceremonies                                (MC) or host</a:t>
            </a:r>
          </a:p>
          <a:p>
            <a:pPr lvl="1">
              <a:spcBef>
                <a:spcPts val="600"/>
              </a:spcBef>
              <a:spcAft>
                <a:spcPts val="1200"/>
              </a:spcAft>
            </a:pPr>
            <a:r>
              <a:rPr lang="en-AU" sz="2200" dirty="0" smtClean="0">
                <a:latin typeface="Helvetica" pitchFamily="34" charset="0"/>
              </a:rPr>
              <a:t>Photographers </a:t>
            </a:r>
          </a:p>
          <a:p>
            <a:pPr marL="0">
              <a:spcBef>
                <a:spcPts val="600"/>
              </a:spcBef>
              <a:spcAft>
                <a:spcPts val="1200"/>
              </a:spcAft>
              <a:buNone/>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5" name="Picture 4" descr="MP900386115.JPG"/>
          <p:cNvPicPr>
            <a:picLocks noChangeAspect="1"/>
          </p:cNvPicPr>
          <p:nvPr/>
        </p:nvPicPr>
        <p:blipFill>
          <a:blip r:embed="rId3" cstate="print"/>
          <a:stretch>
            <a:fillRect/>
          </a:stretch>
        </p:blipFill>
        <p:spPr>
          <a:xfrm>
            <a:off x="6477000" y="2590800"/>
            <a:ext cx="1672209" cy="2514600"/>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Function Contract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Function Contract</a:t>
            </a:r>
          </a:p>
          <a:p>
            <a:pPr lvl="0">
              <a:spcBef>
                <a:spcPts val="600"/>
              </a:spcBef>
              <a:spcAft>
                <a:spcPts val="1200"/>
              </a:spcAft>
            </a:pPr>
            <a:r>
              <a:rPr lang="en-AU" sz="2200" dirty="0" smtClean="0">
                <a:latin typeface="Helvetica" pitchFamily="34" charset="0"/>
              </a:rPr>
              <a:t>Services and facilities the venue has agreed to provide at no charge</a:t>
            </a:r>
          </a:p>
          <a:p>
            <a:pPr lvl="0">
              <a:spcBef>
                <a:spcPts val="600"/>
              </a:spcBef>
              <a:spcAft>
                <a:spcPts val="1200"/>
              </a:spcAft>
            </a:pPr>
            <a:r>
              <a:rPr lang="en-AU" sz="2200" dirty="0" smtClean="0">
                <a:latin typeface="Helvetica" pitchFamily="34" charset="0"/>
              </a:rPr>
              <a:t>Technology required </a:t>
            </a:r>
          </a:p>
          <a:p>
            <a:pPr lvl="0">
              <a:spcBef>
                <a:spcPts val="600"/>
              </a:spcBef>
              <a:spcAft>
                <a:spcPts val="1200"/>
              </a:spcAft>
            </a:pPr>
            <a:r>
              <a:rPr lang="en-AU" sz="2200" dirty="0" smtClean="0">
                <a:latin typeface="Helvetica" pitchFamily="34" charset="0"/>
              </a:rPr>
              <a:t>Access required by the client prior to the </a:t>
            </a:r>
            <a:br>
              <a:rPr lang="en-AU" sz="2200" dirty="0" smtClean="0">
                <a:latin typeface="Helvetica" pitchFamily="34" charset="0"/>
              </a:rPr>
            </a:br>
            <a:r>
              <a:rPr lang="en-AU" sz="2200" dirty="0" smtClean="0">
                <a:latin typeface="Helvetica" pitchFamily="34" charset="0"/>
              </a:rPr>
              <a:t>function </a:t>
            </a:r>
          </a:p>
          <a:p>
            <a:pPr lvl="0">
              <a:spcBef>
                <a:spcPts val="600"/>
              </a:spcBef>
              <a:spcAft>
                <a:spcPts val="1200"/>
              </a:spcAft>
            </a:pPr>
            <a:r>
              <a:rPr lang="en-AU" sz="2200" dirty="0" smtClean="0">
                <a:latin typeface="Helvetica" pitchFamily="34" charset="0"/>
              </a:rPr>
              <a:t>Products and services the client will be </a:t>
            </a:r>
            <a:br>
              <a:rPr lang="en-AU" sz="2200" dirty="0" smtClean="0">
                <a:latin typeface="Helvetica" pitchFamily="34" charset="0"/>
              </a:rPr>
            </a:br>
            <a:r>
              <a:rPr lang="en-AU" sz="2200" dirty="0" smtClean="0">
                <a:latin typeface="Helvetica" pitchFamily="34" charset="0"/>
              </a:rPr>
              <a:t>supplying </a:t>
            </a:r>
          </a:p>
          <a:p>
            <a:pPr lvl="0">
              <a:spcBef>
                <a:spcPts val="600"/>
              </a:spcBef>
              <a:spcAft>
                <a:spcPts val="1200"/>
              </a:spcAft>
            </a:pPr>
            <a:r>
              <a:rPr lang="en-AU" sz="2200" dirty="0" smtClean="0">
                <a:latin typeface="Helvetica" pitchFamily="34" charset="0"/>
              </a:rPr>
              <a:t>Involvement of third party suppliers </a:t>
            </a:r>
          </a:p>
          <a:p>
            <a:pPr>
              <a:spcBef>
                <a:spcPts val="600"/>
              </a:spcBef>
              <a:spcAft>
                <a:spcPts val="1200"/>
              </a:spcAft>
            </a:pPr>
            <a:r>
              <a:rPr lang="en-AU" sz="2200" dirty="0" smtClean="0">
                <a:latin typeface="Helvetica" pitchFamily="34" charset="0"/>
              </a:rPr>
              <a:t>Total cost of function</a:t>
            </a:r>
          </a:p>
          <a:p>
            <a:pPr>
              <a:buNone/>
            </a:pPr>
            <a:endParaRPr lang="en-AU" sz="2200" dirty="0" smtClean="0"/>
          </a:p>
          <a:p>
            <a:pPr>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5" name="Picture 4" descr="6123109402_e84fd8b129_m.jpg"/>
          <p:cNvPicPr>
            <a:picLocks noChangeAspect="1"/>
          </p:cNvPicPr>
          <p:nvPr/>
        </p:nvPicPr>
        <p:blipFill>
          <a:blip r:embed="rId3" cstate="print"/>
          <a:stretch>
            <a:fillRect/>
          </a:stretch>
        </p:blipFill>
        <p:spPr>
          <a:xfrm>
            <a:off x="6705600" y="2819400"/>
            <a:ext cx="1524000" cy="2286000"/>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Function Contract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Booking conditions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All venues will have specific booking conditions. These will usually appear on the website and form part of the standard function contract. </a:t>
            </a:r>
          </a:p>
          <a:p>
            <a:pPr>
              <a:spcBef>
                <a:spcPts val="600"/>
              </a:spcBef>
              <a:spcAft>
                <a:spcPts val="1200"/>
              </a:spcAft>
            </a:pPr>
            <a:r>
              <a:rPr lang="en-AU" sz="2200" dirty="0" smtClean="0">
                <a:latin typeface="Helvetica" pitchFamily="34" charset="0"/>
              </a:rPr>
              <a:t>What information is normally included                                       in booking conditions?</a:t>
            </a:r>
          </a:p>
          <a:p>
            <a:pPr>
              <a:spcBef>
                <a:spcPts val="600"/>
              </a:spcBef>
              <a:spcAft>
                <a:spcPts val="1200"/>
              </a:spcAft>
            </a:pPr>
            <a:r>
              <a:rPr lang="en-AU" sz="2200" dirty="0" smtClean="0">
                <a:latin typeface="Helvetica" pitchFamily="34" charset="0"/>
              </a:rPr>
              <a:t>What are the benefits of having                                  booking conditions?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6" name="Picture 5" descr="MP900442211.JPG"/>
          <p:cNvPicPr/>
          <p:nvPr/>
        </p:nvPicPr>
        <p:blipFill>
          <a:blip r:embed="rId3" cstate="print"/>
          <a:stretch>
            <a:fillRect/>
          </a:stretch>
        </p:blipFill>
        <p:spPr>
          <a:xfrm>
            <a:off x="6324600" y="3276600"/>
            <a:ext cx="1835581" cy="2524165"/>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Function Contract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Booking Conditions</a:t>
            </a:r>
          </a:p>
          <a:p>
            <a:pPr lvl="0">
              <a:spcBef>
                <a:spcPts val="600"/>
              </a:spcBef>
              <a:spcAft>
                <a:spcPts val="1200"/>
              </a:spcAft>
            </a:pPr>
            <a:r>
              <a:rPr lang="en-AU" sz="2200" dirty="0" smtClean="0">
                <a:latin typeface="Helvetica" pitchFamily="34" charset="0"/>
              </a:rPr>
              <a:t>How long the client has before signing the function contract </a:t>
            </a:r>
          </a:p>
          <a:p>
            <a:pPr lvl="0">
              <a:spcBef>
                <a:spcPts val="600"/>
              </a:spcBef>
              <a:spcAft>
                <a:spcPts val="1200"/>
              </a:spcAft>
            </a:pPr>
            <a:r>
              <a:rPr lang="en-AU" sz="2200" dirty="0" smtClean="0">
                <a:latin typeface="Helvetica" pitchFamily="34" charset="0"/>
              </a:rPr>
              <a:t>Need for the client to provide information </a:t>
            </a:r>
            <a:br>
              <a:rPr lang="en-AU" sz="2200" dirty="0" smtClean="0">
                <a:latin typeface="Helvetica" pitchFamily="34" charset="0"/>
              </a:rPr>
            </a:br>
            <a:r>
              <a:rPr lang="en-AU" sz="2200" dirty="0" smtClean="0">
                <a:latin typeface="Helvetica" pitchFamily="34" charset="0"/>
              </a:rPr>
              <a:t>by a set date </a:t>
            </a:r>
          </a:p>
          <a:p>
            <a:pPr lvl="0">
              <a:spcBef>
                <a:spcPts val="600"/>
              </a:spcBef>
              <a:spcAft>
                <a:spcPts val="1200"/>
              </a:spcAft>
            </a:pPr>
            <a:r>
              <a:rPr lang="en-AU" sz="2200" dirty="0" smtClean="0">
                <a:latin typeface="Helvetica" pitchFamily="34" charset="0"/>
              </a:rPr>
              <a:t>Need for the client to advise the venue </a:t>
            </a:r>
            <a:br>
              <a:rPr lang="en-AU" sz="2200" dirty="0" smtClean="0">
                <a:latin typeface="Helvetica" pitchFamily="34" charset="0"/>
              </a:rPr>
            </a:br>
            <a:r>
              <a:rPr lang="en-AU" sz="2200" dirty="0" smtClean="0">
                <a:latin typeface="Helvetica" pitchFamily="34" charset="0"/>
              </a:rPr>
              <a:t>within a set time of any inaccuracies </a:t>
            </a:r>
            <a:br>
              <a:rPr lang="en-AU" sz="2200" dirty="0" smtClean="0">
                <a:latin typeface="Helvetica" pitchFamily="34" charset="0"/>
              </a:rPr>
            </a:br>
            <a:r>
              <a:rPr lang="en-AU" sz="2200" dirty="0" smtClean="0">
                <a:latin typeface="Helvetica" pitchFamily="34" charset="0"/>
              </a:rPr>
              <a:t>contained in the contract or running sheet</a:t>
            </a:r>
          </a:p>
          <a:p>
            <a:pPr>
              <a:spcBef>
                <a:spcPts val="600"/>
              </a:spcBef>
              <a:spcAft>
                <a:spcPts val="1200"/>
              </a:spcAft>
            </a:pPr>
            <a:r>
              <a:rPr lang="en-AU" sz="2200" dirty="0" smtClean="0">
                <a:latin typeface="Helvetica" pitchFamily="34" charset="0"/>
              </a:rPr>
              <a:t>Ability of the client to make changes to expected numbers </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24578" name="Picture 2" descr="C:\Documents and Settings\danielc\Desktop\booking.png"/>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6629400" y="2971800"/>
            <a:ext cx="1721211" cy="1427252"/>
          </a:xfrm>
          <a:prstGeom prst="rect">
            <a:avLst/>
          </a:prstGeom>
          <a:noFill/>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Function Contract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Booking Conditions</a:t>
            </a:r>
          </a:p>
          <a:p>
            <a:pPr lvl="0">
              <a:spcBef>
                <a:spcPts val="600"/>
              </a:spcBef>
              <a:spcAft>
                <a:spcPts val="1200"/>
              </a:spcAft>
            </a:pPr>
            <a:r>
              <a:rPr lang="en-AU" sz="2200" dirty="0" smtClean="0">
                <a:latin typeface="Helvetica" pitchFamily="34" charset="0"/>
              </a:rPr>
              <a:t>Payment requirements</a:t>
            </a:r>
          </a:p>
          <a:p>
            <a:pPr lvl="0">
              <a:spcBef>
                <a:spcPts val="600"/>
              </a:spcBef>
              <a:spcAft>
                <a:spcPts val="1200"/>
              </a:spcAft>
            </a:pPr>
            <a:r>
              <a:rPr lang="en-AU" sz="2200" dirty="0" smtClean="0">
                <a:latin typeface="Helvetica" pitchFamily="34" charset="0"/>
              </a:rPr>
              <a:t>Cancellation policy</a:t>
            </a:r>
          </a:p>
          <a:p>
            <a:pPr lvl="0">
              <a:spcBef>
                <a:spcPts val="600"/>
              </a:spcBef>
              <a:spcAft>
                <a:spcPts val="1200"/>
              </a:spcAft>
            </a:pPr>
            <a:r>
              <a:rPr lang="en-AU" sz="2200" dirty="0" smtClean="0">
                <a:latin typeface="Helvetica" pitchFamily="34" charset="0"/>
              </a:rPr>
              <a:t>Right of the venue to make changes</a:t>
            </a:r>
          </a:p>
          <a:p>
            <a:pPr lvl="0">
              <a:spcBef>
                <a:spcPts val="600"/>
              </a:spcBef>
              <a:spcAft>
                <a:spcPts val="1200"/>
              </a:spcAft>
            </a:pPr>
            <a:r>
              <a:rPr lang="en-AU" sz="2200" dirty="0" smtClean="0">
                <a:latin typeface="Helvetica" pitchFamily="34" charset="0"/>
              </a:rPr>
              <a:t>‘Force majeure’</a:t>
            </a:r>
          </a:p>
          <a:p>
            <a:pPr lvl="0">
              <a:spcBef>
                <a:spcPts val="600"/>
              </a:spcBef>
              <a:spcAft>
                <a:spcPts val="1200"/>
              </a:spcAft>
            </a:pPr>
            <a:r>
              <a:rPr lang="en-AU" sz="2200" dirty="0" smtClean="0">
                <a:latin typeface="Helvetica" pitchFamily="34" charset="0"/>
              </a:rPr>
              <a:t>Right of the venue to refuse certain                            activities or individuals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25602" name="Picture 2" descr="C:\Documents and Settings\danielc\Local Settings\Temporary Internet Files\Content.IE5\112MAXTI\MC900311860[1].wmf"/>
          <p:cNvPicPr>
            <a:picLocks noChangeAspect="1" noChangeArrowheads="1"/>
          </p:cNvPicPr>
          <p:nvPr/>
        </p:nvPicPr>
        <p:blipFill>
          <a:blip r:embed="rId3" cstate="print"/>
          <a:srcRect/>
          <a:stretch>
            <a:fillRect/>
          </a:stretch>
        </p:blipFill>
        <p:spPr bwMode="auto">
          <a:xfrm>
            <a:off x="6172200" y="2514600"/>
            <a:ext cx="1813255" cy="1677924"/>
          </a:xfrm>
          <a:prstGeom prst="rect">
            <a:avLst/>
          </a:prstGeom>
          <a:noFill/>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Function Contract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Booking Conditions</a:t>
            </a:r>
          </a:p>
          <a:p>
            <a:pPr lvl="0">
              <a:spcBef>
                <a:spcPts val="600"/>
              </a:spcBef>
              <a:spcAft>
                <a:spcPts val="1200"/>
              </a:spcAft>
            </a:pPr>
            <a:r>
              <a:rPr lang="en-AU" sz="2200" dirty="0" smtClean="0">
                <a:latin typeface="Helvetica" pitchFamily="34" charset="0"/>
              </a:rPr>
              <a:t>Conditions that apply to decorating and using the venue</a:t>
            </a:r>
          </a:p>
          <a:p>
            <a:pPr lvl="0">
              <a:spcBef>
                <a:spcPts val="600"/>
              </a:spcBef>
              <a:spcAft>
                <a:spcPts val="1200"/>
              </a:spcAft>
            </a:pPr>
            <a:r>
              <a:rPr lang="en-AU" sz="2200" dirty="0" smtClean="0">
                <a:latin typeface="Helvetica" pitchFamily="34" charset="0"/>
              </a:rPr>
              <a:t>Loss and damage</a:t>
            </a:r>
          </a:p>
          <a:p>
            <a:pPr lvl="0">
              <a:spcBef>
                <a:spcPts val="600"/>
              </a:spcBef>
              <a:spcAft>
                <a:spcPts val="1200"/>
              </a:spcAft>
            </a:pPr>
            <a:r>
              <a:rPr lang="en-AU" sz="2200" dirty="0" smtClean="0">
                <a:latin typeface="Helvetica" pitchFamily="34" charset="0"/>
              </a:rPr>
              <a:t>Check-in and check-out times for accommodation rooms that are being included as part of the function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26626" name="Picture 2" descr="C:\Documents and Settings\danielc\Local Settings\Temporary Internet Files\Content.IE5\3DV3UKH9\MC900383492[1].wmf"/>
          <p:cNvPicPr>
            <a:picLocks noChangeAspect="1" noChangeArrowheads="1"/>
          </p:cNvPicPr>
          <p:nvPr/>
        </p:nvPicPr>
        <p:blipFill>
          <a:blip r:embed="rId3" cstate="print"/>
          <a:srcRect/>
          <a:stretch>
            <a:fillRect/>
          </a:stretch>
        </p:blipFill>
        <p:spPr bwMode="auto">
          <a:xfrm>
            <a:off x="3657600" y="4648200"/>
            <a:ext cx="1768450" cy="1811426"/>
          </a:xfrm>
          <a:prstGeom prst="rect">
            <a:avLst/>
          </a:prstGeom>
          <a:noFill/>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Obtaining deposit for function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It is standard industry practice to request a deposit when the final details of a function have been confirmed</a:t>
            </a:r>
          </a:p>
          <a:p>
            <a:pPr>
              <a:spcBef>
                <a:spcPts val="600"/>
              </a:spcBef>
              <a:spcAft>
                <a:spcPts val="1200"/>
              </a:spcAft>
            </a:pPr>
            <a:r>
              <a:rPr lang="en-AU" sz="2200" dirty="0" smtClean="0">
                <a:latin typeface="Helvetica" pitchFamily="34" charset="0"/>
              </a:rPr>
              <a:t>No function exists until a deposit has been paid</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6" name="Picture 5" descr="MP900442284.JPG"/>
          <p:cNvPicPr>
            <a:picLocks noChangeAspect="1"/>
          </p:cNvPicPr>
          <p:nvPr/>
        </p:nvPicPr>
        <p:blipFill>
          <a:blip r:embed="rId3" cstate="print"/>
          <a:stretch>
            <a:fillRect/>
          </a:stretch>
        </p:blipFill>
        <p:spPr>
          <a:xfrm>
            <a:off x="3352800" y="3657600"/>
            <a:ext cx="1657350" cy="2209800"/>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Obtaining deposit for function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Requesting the deposit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You may have blocked the required areas for an anticipated function, but it remains ‘tentative’ until a deposit has been secured and a contract signed.</a:t>
            </a:r>
          </a:p>
          <a:p>
            <a:pPr>
              <a:spcBef>
                <a:spcPts val="600"/>
              </a:spcBef>
              <a:spcAft>
                <a:spcPts val="1200"/>
              </a:spcAft>
            </a:pPr>
            <a:r>
              <a:rPr lang="en-AU" sz="2200" dirty="0" smtClean="0">
                <a:latin typeface="Helvetica" pitchFamily="34" charset="0"/>
              </a:rPr>
              <a:t>How can you make a request for a                                   deposit to be paid? </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27650" name="Picture 2" descr="I:\Overseas Projects\PHOTOS\2012\Front office 2012\shutterstock_18561934.jpg"/>
          <p:cNvPicPr>
            <a:picLocks noChangeAspect="1" noChangeArrowheads="1"/>
          </p:cNvPicPr>
          <p:nvPr/>
        </p:nvPicPr>
        <p:blipFill>
          <a:blip r:embed="rId3" cstate="print"/>
          <a:srcRect/>
          <a:stretch>
            <a:fillRect/>
          </a:stretch>
        </p:blipFill>
        <p:spPr bwMode="auto">
          <a:xfrm>
            <a:off x="6400800" y="3200400"/>
            <a:ext cx="1728788" cy="2591157"/>
          </a:xfrm>
          <a:prstGeom prst="rect">
            <a:avLst/>
          </a:prstGeom>
          <a:noFill/>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Obtaining deposit for function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Requesting the deposit</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Methods include:</a:t>
            </a:r>
          </a:p>
          <a:p>
            <a:pPr>
              <a:spcBef>
                <a:spcPts val="600"/>
              </a:spcBef>
              <a:spcAft>
                <a:spcPts val="1200"/>
              </a:spcAft>
            </a:pPr>
            <a:r>
              <a:rPr lang="en-AU" sz="2200" dirty="0" smtClean="0">
                <a:latin typeface="Helvetica" pitchFamily="34" charset="0"/>
              </a:rPr>
              <a:t>In writing</a:t>
            </a:r>
          </a:p>
          <a:p>
            <a:pPr>
              <a:spcBef>
                <a:spcPts val="600"/>
              </a:spcBef>
              <a:spcAft>
                <a:spcPts val="1200"/>
              </a:spcAft>
            </a:pPr>
            <a:r>
              <a:rPr lang="en-AU" sz="2200" dirty="0" smtClean="0">
                <a:latin typeface="Helvetica" pitchFamily="34" charset="0"/>
              </a:rPr>
              <a:t>Over the phone</a:t>
            </a:r>
          </a:p>
          <a:p>
            <a:pPr>
              <a:spcBef>
                <a:spcPts val="600"/>
              </a:spcBef>
              <a:spcAft>
                <a:spcPts val="1200"/>
              </a:spcAft>
            </a:pPr>
            <a:r>
              <a:rPr lang="en-AU" sz="2200" dirty="0" smtClean="0">
                <a:latin typeface="Helvetica" pitchFamily="34" charset="0"/>
              </a:rPr>
              <a:t>By email</a:t>
            </a:r>
          </a:p>
          <a:p>
            <a:pPr>
              <a:spcBef>
                <a:spcPts val="600"/>
              </a:spcBef>
              <a:spcAft>
                <a:spcPts val="1200"/>
              </a:spcAft>
            </a:pPr>
            <a:r>
              <a:rPr lang="en-AU" sz="2200" dirty="0" smtClean="0">
                <a:latin typeface="Helvetica" pitchFamily="34" charset="0"/>
              </a:rPr>
              <a:t>In a face to face meeting</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28674" name="Picture 2" descr="C:\Documents and Settings\danielc\Local Settings\Temporary Internet Files\Content.IE5\112MAXTI\MP900409446[1].jpg"/>
          <p:cNvPicPr>
            <a:picLocks noChangeAspect="1" noChangeArrowheads="1"/>
          </p:cNvPicPr>
          <p:nvPr/>
        </p:nvPicPr>
        <p:blipFill>
          <a:blip r:embed="rId3" cstate="print"/>
          <a:srcRect/>
          <a:stretch>
            <a:fillRect/>
          </a:stretch>
        </p:blipFill>
        <p:spPr bwMode="auto">
          <a:xfrm>
            <a:off x="4724400" y="2057400"/>
            <a:ext cx="2209800" cy="2209800"/>
          </a:xfrm>
          <a:prstGeom prst="rect">
            <a:avLst/>
          </a:prstGeom>
          <a:noFill/>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Obtaining deposit for function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Steps associated with handling deposits</a:t>
            </a:r>
          </a:p>
          <a:p>
            <a:pPr lvl="0">
              <a:spcBef>
                <a:spcPts val="600"/>
              </a:spcBef>
              <a:spcAft>
                <a:spcPts val="1200"/>
              </a:spcAft>
            </a:pPr>
            <a:r>
              <a:rPr lang="en-AU" sz="2200" dirty="0" smtClean="0">
                <a:latin typeface="Helvetica" pitchFamily="34" charset="0"/>
              </a:rPr>
              <a:t>Requesting deposit payment</a:t>
            </a:r>
          </a:p>
          <a:p>
            <a:pPr lvl="0">
              <a:spcBef>
                <a:spcPts val="600"/>
              </a:spcBef>
              <a:spcAft>
                <a:spcPts val="1200"/>
              </a:spcAft>
            </a:pPr>
            <a:r>
              <a:rPr lang="en-AU" sz="2200" dirty="0" smtClean="0">
                <a:latin typeface="Helvetica" pitchFamily="34" charset="0"/>
              </a:rPr>
              <a:t>Setting date for payment of deposit</a:t>
            </a:r>
          </a:p>
          <a:p>
            <a:pPr lvl="0">
              <a:spcBef>
                <a:spcPts val="600"/>
              </a:spcBef>
              <a:spcAft>
                <a:spcPts val="1200"/>
              </a:spcAft>
            </a:pPr>
            <a:r>
              <a:rPr lang="en-AU" sz="2200" dirty="0" smtClean="0">
                <a:latin typeface="Helvetica" pitchFamily="34" charset="0"/>
              </a:rPr>
              <a:t>Advising of payment options</a:t>
            </a:r>
          </a:p>
          <a:p>
            <a:pPr lvl="0">
              <a:spcBef>
                <a:spcPts val="600"/>
              </a:spcBef>
              <a:spcAft>
                <a:spcPts val="1200"/>
              </a:spcAft>
            </a:pPr>
            <a:r>
              <a:rPr lang="en-AU" sz="2200" dirty="0" smtClean="0">
                <a:latin typeface="Helvetica" pitchFamily="34" charset="0"/>
              </a:rPr>
              <a:t>Issuing receipt for deposit and confirmation</a:t>
            </a:r>
          </a:p>
          <a:p>
            <a:pPr>
              <a:spcBef>
                <a:spcPts val="600"/>
              </a:spcBef>
              <a:spcAft>
                <a:spcPts val="1200"/>
              </a:spcAft>
            </a:pPr>
            <a:r>
              <a:rPr lang="en-AU" sz="2200" dirty="0" smtClean="0">
                <a:latin typeface="Helvetica" pitchFamily="34" charset="0"/>
              </a:rPr>
              <a:t>Recording payment of deposit on internal documentation </a:t>
            </a:r>
          </a:p>
          <a:p>
            <a:pPr>
              <a:spcBef>
                <a:spcPts val="600"/>
              </a:spcBef>
              <a:spcAft>
                <a:spcPts val="1200"/>
              </a:spcAft>
            </a:pPr>
            <a:r>
              <a:rPr lang="en-AU" sz="2200" dirty="0" smtClean="0">
                <a:latin typeface="Helvetica" pitchFamily="34" charset="0"/>
              </a:rPr>
              <a:t>Advising customer of amount outstanding </a:t>
            </a:r>
            <a:endParaRPr lang="en-AU" sz="2200" b="1"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6" name="Picture 5" descr="MP900399478.JPG"/>
          <p:cNvPicPr/>
          <p:nvPr/>
        </p:nvPicPr>
        <p:blipFill>
          <a:blip r:embed="rId3" cstate="print"/>
          <a:stretch>
            <a:fillRect/>
          </a:stretch>
        </p:blipFill>
        <p:spPr>
          <a:xfrm>
            <a:off x="6477000" y="1981199"/>
            <a:ext cx="1527302" cy="1772283"/>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Updated financial information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When the client pays a deposit for a function an account is usually opened for them at this stage. </a:t>
            </a:r>
          </a:p>
          <a:p>
            <a:pPr>
              <a:spcBef>
                <a:spcPts val="600"/>
              </a:spcBef>
              <a:spcAft>
                <a:spcPts val="1200"/>
              </a:spcAft>
              <a:buNone/>
            </a:pPr>
            <a:r>
              <a:rPr lang="en-AU" sz="2200" dirty="0" smtClean="0">
                <a:latin typeface="Helvetica" pitchFamily="34" charset="0"/>
              </a:rPr>
              <a:t>Updating information can include:</a:t>
            </a:r>
          </a:p>
          <a:p>
            <a:pPr>
              <a:spcBef>
                <a:spcPts val="600"/>
              </a:spcBef>
              <a:spcAft>
                <a:spcPts val="1200"/>
              </a:spcAft>
            </a:pPr>
            <a:r>
              <a:rPr lang="en-AU" sz="2200" dirty="0" smtClean="0">
                <a:latin typeface="Helvetica" pitchFamily="34" charset="0"/>
              </a:rPr>
              <a:t>Ensuring payment entries are recorded</a:t>
            </a:r>
          </a:p>
          <a:p>
            <a:pPr>
              <a:spcBef>
                <a:spcPts val="600"/>
              </a:spcBef>
              <a:spcAft>
                <a:spcPts val="1200"/>
              </a:spcAft>
            </a:pPr>
            <a:r>
              <a:rPr lang="en-AU" sz="2200" dirty="0" smtClean="0">
                <a:latin typeface="Helvetica" pitchFamily="34" charset="0"/>
              </a:rPr>
              <a:t>Updating files when new payments are made</a:t>
            </a:r>
          </a:p>
          <a:p>
            <a:endParaRPr lang="en-AU" sz="2400" dirty="0" smtClean="0"/>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7" name="Picture 6" descr="MP900309203.JPG"/>
          <p:cNvPicPr/>
          <p:nvPr/>
        </p:nvPicPr>
        <p:blipFill>
          <a:blip r:embed="rId3" cstate="print"/>
          <a:stretch>
            <a:fillRect/>
          </a:stretch>
        </p:blipFill>
        <p:spPr>
          <a:xfrm>
            <a:off x="3200400" y="4343400"/>
            <a:ext cx="2243773" cy="1747838"/>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confirmations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A standard pro forma confirmation is sent to the client when they have signed the function contract and paid a deposit</a:t>
            </a:r>
          </a:p>
          <a:p>
            <a:pPr>
              <a:spcBef>
                <a:spcPts val="600"/>
              </a:spcBef>
              <a:spcAft>
                <a:spcPts val="1200"/>
              </a:spcAft>
            </a:pPr>
            <a:r>
              <a:rPr lang="en-AU" sz="2200" dirty="0" smtClean="0">
                <a:latin typeface="Helvetica" pitchFamily="34" charset="0"/>
              </a:rPr>
              <a:t>This confirmation acknowledges the contract </a:t>
            </a:r>
            <a:br>
              <a:rPr lang="en-AU" sz="2200" dirty="0" smtClean="0">
                <a:latin typeface="Helvetica" pitchFamily="34" charset="0"/>
              </a:rPr>
            </a:br>
            <a:r>
              <a:rPr lang="en-AU" sz="2200" dirty="0" smtClean="0">
                <a:latin typeface="Helvetica" pitchFamily="34" charset="0"/>
              </a:rPr>
              <a:t>has been signed and that money has been </a:t>
            </a:r>
            <a:br>
              <a:rPr lang="en-AU" sz="2200" dirty="0" smtClean="0">
                <a:latin typeface="Helvetica" pitchFamily="34" charset="0"/>
              </a:rPr>
            </a:br>
            <a:r>
              <a:rPr lang="en-AU" sz="2200" dirty="0" smtClean="0">
                <a:latin typeface="Helvetica" pitchFamily="34" charset="0"/>
              </a:rPr>
              <a:t>paid and received</a:t>
            </a:r>
          </a:p>
          <a:p>
            <a:pPr>
              <a:spcBef>
                <a:spcPts val="600"/>
              </a:spcBef>
              <a:spcAft>
                <a:spcPts val="1200"/>
              </a:spcAft>
            </a:pPr>
            <a:r>
              <a:rPr lang="en-AU" sz="2200" dirty="0" smtClean="0">
                <a:latin typeface="Helvetica" pitchFamily="34" charset="0"/>
              </a:rPr>
              <a:t>In addition a copy of Function Sheet is also </a:t>
            </a:r>
            <a:br>
              <a:rPr lang="en-AU" sz="2200" dirty="0" smtClean="0">
                <a:latin typeface="Helvetica" pitchFamily="34" charset="0"/>
              </a:rPr>
            </a:br>
            <a:r>
              <a:rPr lang="en-AU" sz="2200" dirty="0" smtClean="0">
                <a:latin typeface="Helvetica" pitchFamily="34" charset="0"/>
              </a:rPr>
              <a:t>sent </a:t>
            </a: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6" name="Picture 5" descr="MP900175607.JPG"/>
          <p:cNvPicPr/>
          <p:nvPr/>
        </p:nvPicPr>
        <p:blipFill>
          <a:blip r:embed="rId3" cstate="print"/>
          <a:stretch>
            <a:fillRect/>
          </a:stretch>
        </p:blipFill>
        <p:spPr>
          <a:xfrm>
            <a:off x="6934200" y="2667000"/>
            <a:ext cx="1325245" cy="1981200"/>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3:</a:t>
            </a:r>
          </a:p>
          <a:p>
            <a:pPr marL="0" lvl="0">
              <a:buNone/>
            </a:pPr>
            <a:r>
              <a:rPr lang="en-AU" sz="4000" dirty="0" smtClean="0">
                <a:solidFill>
                  <a:srgbClr val="FF6600"/>
                </a:solidFill>
              </a:rPr>
              <a:t>Prepare for functions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6" name="Picture 5" descr="7980134640_722153a97f_m.jpg"/>
          <p:cNvPicPr>
            <a:picLocks noChangeAspect="1"/>
          </p:cNvPicPr>
          <p:nvPr/>
        </p:nvPicPr>
        <p:blipFill>
          <a:blip r:embed="rId3" cstate="print"/>
          <a:stretch>
            <a:fillRect/>
          </a:stretch>
        </p:blipFill>
        <p:spPr>
          <a:xfrm>
            <a:off x="1905000" y="3276600"/>
            <a:ext cx="3581400" cy="2686050"/>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Prepare for functions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Maintain and update Function Sheet</a:t>
            </a:r>
          </a:p>
          <a:p>
            <a:pPr>
              <a:spcBef>
                <a:spcPts val="600"/>
              </a:spcBef>
              <a:spcAft>
                <a:spcPts val="1200"/>
              </a:spcAft>
            </a:pPr>
            <a:r>
              <a:rPr lang="en-AU" sz="2200" dirty="0" smtClean="0">
                <a:latin typeface="Helvetica" pitchFamily="34" charset="0"/>
              </a:rPr>
              <a:t>Advise colleagues and staff in relation to function</a:t>
            </a:r>
          </a:p>
          <a:p>
            <a:pPr>
              <a:spcBef>
                <a:spcPts val="600"/>
              </a:spcBef>
              <a:spcAft>
                <a:spcPts val="1200"/>
              </a:spcAft>
            </a:pPr>
            <a:r>
              <a:rPr lang="en-AU" sz="2200" dirty="0" smtClean="0">
                <a:latin typeface="Helvetica" pitchFamily="34" charset="0"/>
              </a:rPr>
              <a:t>Roster staff for function</a:t>
            </a:r>
          </a:p>
          <a:p>
            <a:pPr>
              <a:spcBef>
                <a:spcPts val="600"/>
              </a:spcBef>
              <a:spcAft>
                <a:spcPts val="1200"/>
              </a:spcAft>
            </a:pPr>
            <a:r>
              <a:rPr lang="en-AU" sz="2200" dirty="0" smtClean="0">
                <a:latin typeface="Helvetica" pitchFamily="34" charset="0"/>
              </a:rPr>
              <a:t>Minimise impact of function on normal                  establishment operation</a:t>
            </a:r>
          </a:p>
          <a:p>
            <a:pPr>
              <a:spcBef>
                <a:spcPts val="600"/>
              </a:spcBef>
              <a:spcAft>
                <a:spcPts val="1200"/>
              </a:spcAft>
            </a:pPr>
            <a:r>
              <a:rPr lang="en-AU" sz="2200" dirty="0" smtClean="0">
                <a:latin typeface="Helvetica" pitchFamily="34" charset="0"/>
              </a:rPr>
              <a:t>Arrange for external services as identified</a:t>
            </a:r>
          </a:p>
          <a:p>
            <a:pPr>
              <a:spcBef>
                <a:spcPts val="600"/>
              </a:spcBef>
              <a:spcAft>
                <a:spcPts val="1200"/>
              </a:spcAft>
            </a:pPr>
            <a:r>
              <a:rPr lang="en-AU" sz="2200" dirty="0" smtClean="0">
                <a:latin typeface="Helvetica" pitchFamily="34" charset="0"/>
              </a:rPr>
              <a:t>Purchase necessary stock for function</a:t>
            </a:r>
            <a:br>
              <a:rPr lang="en-AU" sz="2200" dirty="0" smtClean="0">
                <a:latin typeface="Helvetica" pitchFamily="34" charset="0"/>
              </a:rPr>
            </a:br>
            <a:endParaRPr lang="en-AU" sz="2200" dirty="0" smtClean="0">
              <a:latin typeface="Helvetica" pitchFamily="34" charset="0"/>
            </a:endParaRPr>
          </a:p>
          <a:p>
            <a:pPr>
              <a:spcBef>
                <a:spcPts val="600"/>
              </a:spcBef>
              <a:spcAft>
                <a:spcPts val="1200"/>
              </a:spcAft>
              <a:buNone/>
            </a:pPr>
            <a:r>
              <a:rPr lang="en-AU" sz="2200" dirty="0" smtClean="0"/>
              <a:t>(Continued)</a:t>
            </a: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6" name="Picture 2" descr="I:\Overseas Projects\PHOTOS\2012\Office\1131445_red_check_sign_in_3d.jpg"/>
          <p:cNvPicPr>
            <a:picLocks noChangeAspect="1" noChangeArrowheads="1"/>
          </p:cNvPicPr>
          <p:nvPr/>
        </p:nvPicPr>
        <p:blipFill>
          <a:blip r:embed="rId3" cstate="print"/>
          <a:srcRect/>
          <a:stretch>
            <a:fillRect/>
          </a:stretch>
        </p:blipFill>
        <p:spPr bwMode="auto">
          <a:xfrm>
            <a:off x="6781800" y="3429000"/>
            <a:ext cx="1587500" cy="1270000"/>
          </a:xfrm>
          <a:prstGeom prst="rect">
            <a:avLst/>
          </a:prstGeom>
          <a:noFill/>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Prepare for functions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Prepare Running Sheet for function</a:t>
            </a:r>
          </a:p>
          <a:p>
            <a:pPr>
              <a:spcBef>
                <a:spcPts val="600"/>
              </a:spcBef>
              <a:spcAft>
                <a:spcPts val="1200"/>
              </a:spcAft>
            </a:pPr>
            <a:r>
              <a:rPr lang="en-AU" sz="2200" dirty="0" smtClean="0">
                <a:latin typeface="Helvetica" pitchFamily="34" charset="0"/>
              </a:rPr>
              <a:t>Conduct pre-function briefings</a:t>
            </a:r>
          </a:p>
          <a:p>
            <a:pPr>
              <a:spcBef>
                <a:spcPts val="600"/>
              </a:spcBef>
              <a:spcAft>
                <a:spcPts val="1200"/>
              </a:spcAft>
            </a:pPr>
            <a:r>
              <a:rPr lang="en-AU" sz="2200" dirty="0" smtClean="0">
                <a:latin typeface="Helvetica" pitchFamily="34" charset="0"/>
              </a:rPr>
              <a:t>Finalise function details with customer,                     colleagues and staff</a:t>
            </a:r>
          </a:p>
          <a:p>
            <a:pPr>
              <a:spcBef>
                <a:spcPts val="600"/>
              </a:spcBef>
              <a:spcAft>
                <a:spcPts val="1200"/>
              </a:spcAft>
            </a:pPr>
            <a:r>
              <a:rPr lang="en-AU" sz="2200" dirty="0" smtClean="0">
                <a:latin typeface="Helvetica" pitchFamily="34" charset="0"/>
              </a:rPr>
              <a:t>Monitor set-up for the function</a:t>
            </a:r>
          </a:p>
          <a:p>
            <a:pPr>
              <a:spcBef>
                <a:spcPts val="600"/>
              </a:spcBef>
              <a:spcAft>
                <a:spcPts val="1200"/>
              </a:spcAft>
            </a:pPr>
            <a:r>
              <a:rPr lang="en-AU" sz="2200" dirty="0" smtClean="0">
                <a:latin typeface="Helvetica" pitchFamily="34" charset="0"/>
              </a:rPr>
              <a:t>Monitor service delivery</a:t>
            </a:r>
            <a:r>
              <a:rPr lang="en-AU" sz="2200" b="1" dirty="0" smtClean="0">
                <a:latin typeface="Helvetica" pitchFamily="34" charset="0"/>
              </a:rPr>
              <a:t> </a:t>
            </a:r>
            <a:r>
              <a:rPr lang="en-AU" sz="2200" dirty="0" smtClean="0">
                <a:latin typeface="Helvetica" pitchFamily="34" charset="0"/>
              </a:rPr>
              <a:t>of function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6" name="Picture 2" descr="I:\Overseas Projects\PHOTOS\2012\Office\1131445_red_check_sign_in_3d.jpg"/>
          <p:cNvPicPr>
            <a:picLocks noChangeAspect="1" noChangeArrowheads="1"/>
          </p:cNvPicPr>
          <p:nvPr/>
        </p:nvPicPr>
        <p:blipFill>
          <a:blip r:embed="rId3" cstate="print"/>
          <a:srcRect/>
          <a:stretch>
            <a:fillRect/>
          </a:stretch>
        </p:blipFill>
        <p:spPr bwMode="auto">
          <a:xfrm>
            <a:off x="6629400" y="2667000"/>
            <a:ext cx="1587500" cy="1270000"/>
          </a:xfrm>
          <a:prstGeom prst="rect">
            <a:avLst/>
          </a:prstGeom>
          <a:noFill/>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function sheets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What is a Function Sheet?</a:t>
            </a:r>
          </a:p>
          <a:p>
            <a:pPr>
              <a:spcBef>
                <a:spcPts val="600"/>
              </a:spcBef>
              <a:spcAft>
                <a:spcPts val="1200"/>
              </a:spcAft>
            </a:pPr>
            <a:r>
              <a:rPr lang="en-AU" sz="2200" dirty="0" smtClean="0">
                <a:latin typeface="Helvetica" pitchFamily="34" charset="0"/>
              </a:rPr>
              <a:t>What is it used for?</a:t>
            </a:r>
          </a:p>
          <a:p>
            <a:pPr>
              <a:spcBef>
                <a:spcPts val="600"/>
              </a:spcBef>
              <a:spcAft>
                <a:spcPts val="1200"/>
              </a:spcAft>
            </a:pPr>
            <a:r>
              <a:rPr lang="en-AU" sz="2200" dirty="0" smtClean="0">
                <a:latin typeface="Helvetica" pitchFamily="34" charset="0"/>
              </a:rPr>
              <a:t>Who uses a Function Sheet?</a:t>
            </a:r>
          </a:p>
          <a:p>
            <a:pPr>
              <a:spcBef>
                <a:spcPts val="600"/>
              </a:spcBef>
              <a:spcAft>
                <a:spcPts val="1200"/>
              </a:spcAft>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30722" name="Picture 2" descr="C:\Documents and Settings\danielc\Local Settings\Temporary Internet Files\Content.IE5\3DV3UKH9\MC900234625[1].wmf"/>
          <p:cNvPicPr>
            <a:picLocks noChangeAspect="1" noChangeArrowheads="1"/>
          </p:cNvPicPr>
          <p:nvPr/>
        </p:nvPicPr>
        <p:blipFill>
          <a:blip r:embed="rId3" cstate="print"/>
          <a:srcRect/>
          <a:stretch>
            <a:fillRect/>
          </a:stretch>
        </p:blipFill>
        <p:spPr bwMode="auto">
          <a:xfrm>
            <a:off x="5638800" y="1676400"/>
            <a:ext cx="1631290" cy="1821485"/>
          </a:xfrm>
          <a:prstGeom prst="rect">
            <a:avLst/>
          </a:prstGeom>
          <a:noFill/>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function sheets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A function sheet, sometimes also known as an ‘event order’ or ‘function order’, is an internal communication form developed to suit each venue’s needs that sets out the details of a function.</a:t>
            </a:r>
          </a:p>
          <a:p>
            <a:pPr>
              <a:spcBef>
                <a:spcPts val="600"/>
              </a:spcBef>
              <a:spcAft>
                <a:spcPts val="1200"/>
              </a:spcAft>
            </a:pPr>
            <a:r>
              <a:rPr lang="en-AU" sz="2200" dirty="0" smtClean="0">
                <a:latin typeface="Helvetica" pitchFamily="34" charset="0"/>
              </a:rPr>
              <a:t>What information is included in a </a:t>
            </a:r>
            <a:br>
              <a:rPr lang="en-AU" sz="2200" dirty="0" smtClean="0">
                <a:latin typeface="Helvetica" pitchFamily="34" charset="0"/>
              </a:rPr>
            </a:br>
            <a:r>
              <a:rPr lang="en-AU" sz="2200" dirty="0" smtClean="0">
                <a:latin typeface="Helvetica" pitchFamily="34" charset="0"/>
              </a:rPr>
              <a:t>Function Sheet?</a:t>
            </a: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31747" name="Picture 3" descr="C:\Documents and Settings\danielc\Desktop\26_200909140535021rymT.gif"/>
          <p:cNvPicPr>
            <a:picLocks noChangeAspect="1" noChangeArrowheads="1"/>
          </p:cNvPicPr>
          <p:nvPr/>
        </p:nvPicPr>
        <p:blipFill>
          <a:blip r:embed="rId3" cstate="print"/>
          <a:srcRect/>
          <a:stretch>
            <a:fillRect/>
          </a:stretch>
        </p:blipFill>
        <p:spPr bwMode="auto">
          <a:xfrm>
            <a:off x="6096000" y="3200400"/>
            <a:ext cx="1849603" cy="2914857"/>
          </a:xfrm>
          <a:prstGeom prst="rect">
            <a:avLst/>
          </a:prstGeom>
          <a:noFill/>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function sheets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function sheet</a:t>
            </a:r>
          </a:p>
          <a:p>
            <a:pPr lvl="0">
              <a:spcBef>
                <a:spcPts val="600"/>
              </a:spcBef>
              <a:spcAft>
                <a:spcPts val="1200"/>
              </a:spcAft>
            </a:pPr>
            <a:r>
              <a:rPr lang="en-AU" sz="2200" dirty="0" smtClean="0">
                <a:latin typeface="Helvetica" pitchFamily="34" charset="0"/>
              </a:rPr>
              <a:t>Type of function</a:t>
            </a:r>
          </a:p>
          <a:p>
            <a:pPr lvl="0">
              <a:spcBef>
                <a:spcPts val="600"/>
              </a:spcBef>
              <a:spcAft>
                <a:spcPts val="1200"/>
              </a:spcAft>
            </a:pPr>
            <a:r>
              <a:rPr lang="en-AU" sz="2200" dirty="0" smtClean="0">
                <a:latin typeface="Helvetica" pitchFamily="34" charset="0"/>
              </a:rPr>
              <a:t>Name, address, and contact number of client </a:t>
            </a:r>
          </a:p>
          <a:p>
            <a:pPr lvl="0">
              <a:spcBef>
                <a:spcPts val="600"/>
              </a:spcBef>
              <a:spcAft>
                <a:spcPts val="1200"/>
              </a:spcAft>
            </a:pPr>
            <a:r>
              <a:rPr lang="en-AU" sz="2200" dirty="0" smtClean="0">
                <a:latin typeface="Helvetica" pitchFamily="34" charset="0"/>
              </a:rPr>
              <a:t>Day, date and time of the function </a:t>
            </a:r>
          </a:p>
          <a:p>
            <a:pPr lvl="0">
              <a:spcBef>
                <a:spcPts val="600"/>
              </a:spcBef>
              <a:spcAft>
                <a:spcPts val="1200"/>
              </a:spcAft>
            </a:pPr>
            <a:r>
              <a:rPr lang="en-AU" sz="2200" dirty="0" smtClean="0">
                <a:latin typeface="Helvetica" pitchFamily="34" charset="0"/>
              </a:rPr>
              <a:t>Rooms and locations</a:t>
            </a:r>
          </a:p>
          <a:p>
            <a:pPr lvl="0">
              <a:spcBef>
                <a:spcPts val="600"/>
              </a:spcBef>
              <a:spcAft>
                <a:spcPts val="1200"/>
              </a:spcAft>
            </a:pPr>
            <a:r>
              <a:rPr lang="en-AU" sz="2200" dirty="0" smtClean="0">
                <a:latin typeface="Helvetica" pitchFamily="34" charset="0"/>
              </a:rPr>
              <a:t>Billing instructions</a:t>
            </a:r>
          </a:p>
          <a:p>
            <a:pPr lvl="0">
              <a:spcBef>
                <a:spcPts val="600"/>
              </a:spcBef>
              <a:spcAft>
                <a:spcPts val="1200"/>
              </a:spcAft>
            </a:pPr>
            <a:r>
              <a:rPr lang="en-AU" sz="2200" dirty="0" smtClean="0">
                <a:latin typeface="Helvetica" pitchFamily="34" charset="0"/>
              </a:rPr>
              <a:t>Menu</a:t>
            </a: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32770" name="Picture 2" descr="C:\Documents and Settings\danielc\Local Settings\Temporary Internet Files\Content.IE5\SIQ5KRQ3\MC900234431[1].wmf"/>
          <p:cNvPicPr>
            <a:picLocks noChangeAspect="1" noChangeArrowheads="1"/>
          </p:cNvPicPr>
          <p:nvPr/>
        </p:nvPicPr>
        <p:blipFill>
          <a:blip r:embed="rId3" cstate="print"/>
          <a:srcRect/>
          <a:stretch>
            <a:fillRect/>
          </a:stretch>
        </p:blipFill>
        <p:spPr bwMode="auto">
          <a:xfrm>
            <a:off x="4191000" y="3886200"/>
            <a:ext cx="3043473" cy="2071735"/>
          </a:xfrm>
          <a:prstGeom prst="rect">
            <a:avLst/>
          </a:prstGeom>
          <a:noFill/>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function sheets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function sheet</a:t>
            </a:r>
          </a:p>
          <a:p>
            <a:pPr lvl="0">
              <a:spcBef>
                <a:spcPts val="600"/>
              </a:spcBef>
              <a:spcAft>
                <a:spcPts val="1200"/>
              </a:spcAft>
            </a:pPr>
            <a:r>
              <a:rPr lang="en-AU" sz="2200" dirty="0" smtClean="0">
                <a:latin typeface="Helvetica" pitchFamily="34" charset="0"/>
              </a:rPr>
              <a:t>Beverage arrangements</a:t>
            </a:r>
          </a:p>
          <a:p>
            <a:pPr lvl="0">
              <a:spcBef>
                <a:spcPts val="600"/>
              </a:spcBef>
              <a:spcAft>
                <a:spcPts val="1200"/>
              </a:spcAft>
            </a:pPr>
            <a:r>
              <a:rPr lang="en-AU" sz="2200" dirty="0" smtClean="0">
                <a:latin typeface="Helvetica" pitchFamily="34" charset="0"/>
              </a:rPr>
              <a:t>Sequence of service</a:t>
            </a:r>
          </a:p>
          <a:p>
            <a:pPr lvl="0">
              <a:spcBef>
                <a:spcPts val="600"/>
              </a:spcBef>
              <a:spcAft>
                <a:spcPts val="1200"/>
              </a:spcAft>
            </a:pPr>
            <a:r>
              <a:rPr lang="en-AU" sz="2200" dirty="0" smtClean="0">
                <a:latin typeface="Helvetica" pitchFamily="34" charset="0"/>
              </a:rPr>
              <a:t>Entertainment</a:t>
            </a:r>
          </a:p>
          <a:p>
            <a:pPr lvl="0">
              <a:spcBef>
                <a:spcPts val="600"/>
              </a:spcBef>
              <a:spcAft>
                <a:spcPts val="1200"/>
              </a:spcAft>
            </a:pPr>
            <a:r>
              <a:rPr lang="en-AU" sz="2200" dirty="0" smtClean="0">
                <a:latin typeface="Helvetica" pitchFamily="34" charset="0"/>
              </a:rPr>
              <a:t>Room set up</a:t>
            </a:r>
          </a:p>
          <a:p>
            <a:pPr lvl="0">
              <a:spcBef>
                <a:spcPts val="600"/>
              </a:spcBef>
              <a:spcAft>
                <a:spcPts val="1200"/>
              </a:spcAft>
            </a:pPr>
            <a:r>
              <a:rPr lang="en-AU" sz="2200" dirty="0" smtClean="0">
                <a:latin typeface="Helvetica" pitchFamily="34" charset="0"/>
              </a:rPr>
              <a:t>Type of service</a:t>
            </a:r>
          </a:p>
          <a:p>
            <a:pPr lvl="0">
              <a:spcBef>
                <a:spcPts val="600"/>
              </a:spcBef>
              <a:spcAft>
                <a:spcPts val="1200"/>
              </a:spcAft>
            </a:pPr>
            <a:r>
              <a:rPr lang="en-AU" sz="2200" dirty="0" smtClean="0">
                <a:latin typeface="Helvetica" pitchFamily="34" charset="0"/>
              </a:rPr>
              <a:t>Special requirements</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7" name="Picture 6" descr="breakfast_buffet_closeup.jpg"/>
          <p:cNvPicPr>
            <a:picLocks noChangeAspect="1"/>
          </p:cNvPicPr>
          <p:nvPr/>
        </p:nvPicPr>
        <p:blipFill>
          <a:blip r:embed="rId3" cstate="print"/>
          <a:stretch>
            <a:fillRect/>
          </a:stretch>
        </p:blipFill>
        <p:spPr>
          <a:xfrm>
            <a:off x="5486400" y="2590800"/>
            <a:ext cx="2127641" cy="2121408"/>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Maintaining and updating Function Sheet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Whilst the Function Sheet may be accurate at the time of the function booking and confirmation, there will be changes which need to be updated and communicated to relevant internal departments and external suppliers.</a:t>
            </a:r>
          </a:p>
          <a:p>
            <a:pPr>
              <a:spcBef>
                <a:spcPts val="600"/>
              </a:spcBef>
              <a:spcAft>
                <a:spcPts val="1200"/>
              </a:spcAft>
              <a:buNone/>
            </a:pPr>
            <a:r>
              <a:rPr lang="en-AU" sz="2200" dirty="0" smtClean="0">
                <a:latin typeface="Helvetica" pitchFamily="34" charset="0"/>
              </a:rPr>
              <a:t>Activities include:</a:t>
            </a:r>
          </a:p>
          <a:p>
            <a:pPr>
              <a:spcBef>
                <a:spcPts val="600"/>
              </a:spcBef>
              <a:spcAft>
                <a:spcPts val="1200"/>
              </a:spcAft>
            </a:pPr>
            <a:r>
              <a:rPr lang="en-AU" sz="2200" dirty="0" smtClean="0">
                <a:latin typeface="Helvetica" pitchFamily="34" charset="0"/>
              </a:rPr>
              <a:t>Updating Function Sheet</a:t>
            </a:r>
          </a:p>
          <a:p>
            <a:pPr>
              <a:spcBef>
                <a:spcPts val="600"/>
              </a:spcBef>
              <a:spcAft>
                <a:spcPts val="1200"/>
              </a:spcAft>
            </a:pPr>
            <a:r>
              <a:rPr lang="en-AU" sz="2200" dirty="0" smtClean="0">
                <a:latin typeface="Helvetica" pitchFamily="34" charset="0"/>
              </a:rPr>
              <a:t>Identification of changes</a:t>
            </a:r>
          </a:p>
          <a:p>
            <a:pPr>
              <a:spcBef>
                <a:spcPts val="600"/>
              </a:spcBef>
              <a:spcAft>
                <a:spcPts val="1200"/>
              </a:spcAft>
            </a:pPr>
            <a:r>
              <a:rPr lang="en-AU" sz="2200" dirty="0" smtClean="0">
                <a:latin typeface="Helvetica" pitchFamily="34" charset="0"/>
              </a:rPr>
              <a:t>Discussing changes</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33795" name="Picture 3" descr="I:\Overseas Projects\PHOTOS\2012\Office\team meet 2.jpg"/>
          <p:cNvPicPr>
            <a:picLocks noChangeAspect="1" noChangeArrowheads="1"/>
          </p:cNvPicPr>
          <p:nvPr/>
        </p:nvPicPr>
        <p:blipFill>
          <a:blip r:embed="rId3" cstate="print"/>
          <a:srcRect/>
          <a:stretch>
            <a:fillRect/>
          </a:stretch>
        </p:blipFill>
        <p:spPr bwMode="auto">
          <a:xfrm>
            <a:off x="4953000" y="3276600"/>
            <a:ext cx="2857500" cy="2133600"/>
          </a:xfrm>
          <a:prstGeom prst="rect">
            <a:avLst/>
          </a:prstGeom>
          <a:noFill/>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Keeping accurate records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600"/>
              </a:spcAft>
              <a:buNone/>
            </a:pPr>
            <a:r>
              <a:rPr lang="en-AU" sz="2200" dirty="0" smtClean="0">
                <a:latin typeface="Helvetica" pitchFamily="34" charset="0"/>
              </a:rPr>
              <a:t>Details kept in the file include anything to do with the function. This might include: </a:t>
            </a:r>
          </a:p>
          <a:p>
            <a:pPr lvl="0">
              <a:spcBef>
                <a:spcPts val="600"/>
              </a:spcBef>
              <a:spcAft>
                <a:spcPts val="600"/>
              </a:spcAft>
            </a:pPr>
            <a:r>
              <a:rPr lang="en-AU" sz="2200" dirty="0" smtClean="0">
                <a:latin typeface="Helvetica" pitchFamily="34" charset="0"/>
              </a:rPr>
              <a:t>Contact details of client </a:t>
            </a:r>
          </a:p>
          <a:p>
            <a:pPr lvl="0">
              <a:spcBef>
                <a:spcPts val="600"/>
              </a:spcBef>
              <a:spcAft>
                <a:spcPts val="600"/>
              </a:spcAft>
            </a:pPr>
            <a:r>
              <a:rPr lang="en-AU" sz="2200" dirty="0" smtClean="0">
                <a:latin typeface="Helvetica" pitchFamily="34" charset="0"/>
              </a:rPr>
              <a:t>Quotations provided to client </a:t>
            </a:r>
          </a:p>
          <a:p>
            <a:pPr lvl="0">
              <a:spcBef>
                <a:spcPts val="600"/>
              </a:spcBef>
              <a:spcAft>
                <a:spcPts val="600"/>
              </a:spcAft>
            </a:pPr>
            <a:r>
              <a:rPr lang="en-AU" sz="2200" dirty="0" smtClean="0">
                <a:latin typeface="Helvetica" pitchFamily="34" charset="0"/>
              </a:rPr>
              <a:t>Quotations received from suppliers</a:t>
            </a:r>
          </a:p>
          <a:p>
            <a:pPr lvl="0">
              <a:spcBef>
                <a:spcPts val="600"/>
              </a:spcBef>
              <a:spcAft>
                <a:spcPts val="600"/>
              </a:spcAft>
            </a:pPr>
            <a:r>
              <a:rPr lang="en-AU" sz="2200" dirty="0" smtClean="0">
                <a:latin typeface="Helvetica" pitchFamily="34" charset="0"/>
              </a:rPr>
              <a:t>List of charges</a:t>
            </a:r>
          </a:p>
          <a:p>
            <a:pPr lvl="0">
              <a:spcBef>
                <a:spcPts val="600"/>
              </a:spcBef>
              <a:spcAft>
                <a:spcPts val="600"/>
              </a:spcAft>
            </a:pPr>
            <a:r>
              <a:rPr lang="en-AU" sz="2200" dirty="0" smtClean="0">
                <a:latin typeface="Helvetica" pitchFamily="34" charset="0"/>
              </a:rPr>
              <a:t>Special requirements</a:t>
            </a:r>
          </a:p>
          <a:p>
            <a:pPr lvl="0">
              <a:spcBef>
                <a:spcPts val="600"/>
              </a:spcBef>
              <a:spcAft>
                <a:spcPts val="600"/>
              </a:spcAft>
            </a:pPr>
            <a:r>
              <a:rPr lang="en-AU" sz="2200" dirty="0" smtClean="0">
                <a:latin typeface="Helvetica" pitchFamily="34" charset="0"/>
              </a:rPr>
              <a:t>Records of suggestions</a:t>
            </a:r>
          </a:p>
          <a:p>
            <a:pPr lvl="0">
              <a:spcBef>
                <a:spcPts val="600"/>
              </a:spcBef>
              <a:spcAft>
                <a:spcPts val="600"/>
              </a:spcAft>
            </a:pPr>
            <a:r>
              <a:rPr lang="en-AU" sz="2200" dirty="0" smtClean="0">
                <a:latin typeface="Helvetica" pitchFamily="34" charset="0"/>
              </a:rPr>
              <a:t>Case notes</a:t>
            </a:r>
          </a:p>
          <a:p>
            <a:pPr lvl="0">
              <a:spcBef>
                <a:spcPts val="600"/>
              </a:spcBef>
              <a:spcAft>
                <a:spcPts val="600"/>
              </a:spcAft>
            </a:pPr>
            <a:r>
              <a:rPr lang="en-AU" sz="2200" dirty="0" smtClean="0">
                <a:latin typeface="Helvetica" pitchFamily="34" charset="0"/>
              </a:rPr>
              <a:t>Written correspondence</a:t>
            </a:r>
          </a:p>
          <a:p>
            <a:pPr lvl="0">
              <a:spcBef>
                <a:spcPts val="600"/>
              </a:spcBef>
              <a:spcAft>
                <a:spcPts val="600"/>
              </a:spcAft>
            </a:pPr>
            <a:r>
              <a:rPr lang="en-AU" sz="2200" dirty="0" smtClean="0">
                <a:latin typeface="Helvetica" pitchFamily="34" charset="0"/>
              </a:rPr>
              <a:t>Copies of accounts</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7" name="Picture 6" descr="00409035.jpg"/>
          <p:cNvPicPr/>
          <p:nvPr/>
        </p:nvPicPr>
        <p:blipFill>
          <a:blip r:embed="rId3" cstate="print"/>
          <a:stretch>
            <a:fillRect/>
          </a:stretch>
        </p:blipFill>
        <p:spPr>
          <a:xfrm>
            <a:off x="6172200" y="2743200"/>
            <a:ext cx="2076450" cy="2228850"/>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Liaise with colleagues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dirty="0" smtClean="0">
                <a:latin typeface="Helvetica" pitchFamily="34" charset="0"/>
              </a:rPr>
              <a:t>All successful functions are a result of effective teamwork. </a:t>
            </a:r>
          </a:p>
          <a:p>
            <a:pPr>
              <a:spcBef>
                <a:spcPts val="600"/>
              </a:spcBef>
              <a:spcAft>
                <a:spcPts val="1200"/>
              </a:spcAft>
              <a:buNone/>
            </a:pPr>
            <a:r>
              <a:rPr lang="en-AU" sz="2200" dirty="0" smtClean="0">
                <a:latin typeface="Helvetica" pitchFamily="34" charset="0"/>
              </a:rPr>
              <a:t>There is a need to involve others in the planning phase:</a:t>
            </a:r>
          </a:p>
          <a:p>
            <a:pPr>
              <a:spcBef>
                <a:spcPts val="600"/>
              </a:spcBef>
              <a:spcAft>
                <a:spcPts val="1200"/>
              </a:spcAft>
            </a:pPr>
            <a:r>
              <a:rPr lang="en-AU" sz="2200" dirty="0" smtClean="0">
                <a:latin typeface="Helvetica" pitchFamily="34" charset="0"/>
              </a:rPr>
              <a:t>Who would you involve?</a:t>
            </a:r>
          </a:p>
          <a:p>
            <a:pPr>
              <a:spcBef>
                <a:spcPts val="600"/>
              </a:spcBef>
              <a:spcAft>
                <a:spcPts val="1200"/>
              </a:spcAft>
            </a:pPr>
            <a:r>
              <a:rPr lang="en-AU" sz="2200" dirty="0" smtClean="0">
                <a:latin typeface="Helvetica" pitchFamily="34" charset="0"/>
              </a:rPr>
              <a:t>What help can they offer?</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34818" name="Picture 2" descr="I:\Overseas Projects\PHOTOS\2012\Office\iStock_000002738475Medium_mono.jpg"/>
          <p:cNvPicPr>
            <a:picLocks noChangeAspect="1" noChangeArrowheads="1"/>
          </p:cNvPicPr>
          <p:nvPr/>
        </p:nvPicPr>
        <p:blipFill>
          <a:blip r:embed="rId3" cstate="print"/>
          <a:srcRect/>
          <a:stretch>
            <a:fillRect/>
          </a:stretch>
        </p:blipFill>
        <p:spPr bwMode="auto">
          <a:xfrm>
            <a:off x="5051781" y="3048000"/>
            <a:ext cx="2563139" cy="1752600"/>
          </a:xfrm>
          <a:prstGeom prst="rect">
            <a:avLst/>
          </a:prstGeom>
          <a:noFill/>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Liaise with colleagues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assistance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Seeking advice or suggestions</a:t>
            </a:r>
          </a:p>
          <a:p>
            <a:pPr lvl="0">
              <a:spcBef>
                <a:spcPts val="600"/>
              </a:spcBef>
              <a:spcAft>
                <a:spcPts val="1200"/>
              </a:spcAft>
            </a:pPr>
            <a:r>
              <a:rPr lang="en-AU" sz="2200" dirty="0" smtClean="0">
                <a:latin typeface="Helvetica" pitchFamily="34" charset="0"/>
              </a:rPr>
              <a:t>Confirming information</a:t>
            </a:r>
          </a:p>
          <a:p>
            <a:pPr lvl="0">
              <a:spcBef>
                <a:spcPts val="600"/>
              </a:spcBef>
              <a:spcAft>
                <a:spcPts val="1200"/>
              </a:spcAft>
            </a:pPr>
            <a:r>
              <a:rPr lang="en-AU" sz="2200" dirty="0" smtClean="0">
                <a:latin typeface="Helvetica" pitchFamily="34" charset="0"/>
              </a:rPr>
              <a:t>Updating them about preparations and purchases</a:t>
            </a:r>
          </a:p>
          <a:p>
            <a:pPr lvl="0">
              <a:spcBef>
                <a:spcPts val="600"/>
              </a:spcBef>
              <a:spcAft>
                <a:spcPts val="1200"/>
              </a:spcAft>
            </a:pPr>
            <a:r>
              <a:rPr lang="en-AU" sz="2200" dirty="0" smtClean="0">
                <a:latin typeface="Helvetica" pitchFamily="34" charset="0"/>
              </a:rPr>
              <a:t>Undertaking logistical activities and arrangements</a:t>
            </a:r>
          </a:p>
          <a:p>
            <a:pPr lvl="0">
              <a:spcBef>
                <a:spcPts val="600"/>
              </a:spcBef>
              <a:spcAft>
                <a:spcPts val="1200"/>
              </a:spcAft>
            </a:pPr>
            <a:r>
              <a:rPr lang="en-AU" sz="2200" dirty="0" smtClean="0">
                <a:latin typeface="Helvetica" pitchFamily="34" charset="0"/>
              </a:rPr>
              <a:t>Assisting them to meet function requirements</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35842" name="Picture 2" descr="C:\Documents and Settings\danielc\Local Settings\Temporary Internet Files\Content.IE5\SIQ5KRQ3\MC900105174[1].wmf"/>
          <p:cNvPicPr>
            <a:picLocks noChangeAspect="1" noChangeArrowheads="1"/>
          </p:cNvPicPr>
          <p:nvPr/>
        </p:nvPicPr>
        <p:blipFill>
          <a:blip r:embed="rId3" cstate="print"/>
          <a:srcRect/>
          <a:stretch>
            <a:fillRect/>
          </a:stretch>
        </p:blipFill>
        <p:spPr bwMode="auto">
          <a:xfrm>
            <a:off x="6019800" y="1447800"/>
            <a:ext cx="1819656" cy="1587398"/>
          </a:xfrm>
          <a:prstGeom prst="rect">
            <a:avLst/>
          </a:prstGeom>
          <a:noFill/>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Liaise with colleagues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Who might be involved?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Executive Chef </a:t>
            </a:r>
          </a:p>
          <a:p>
            <a:pPr lvl="0">
              <a:spcBef>
                <a:spcPts val="600"/>
              </a:spcBef>
              <a:spcAft>
                <a:spcPts val="1200"/>
              </a:spcAft>
            </a:pPr>
            <a:r>
              <a:rPr lang="en-AU" sz="2200" dirty="0" smtClean="0">
                <a:latin typeface="Helvetica" pitchFamily="34" charset="0"/>
              </a:rPr>
              <a:t>Beverage Manager </a:t>
            </a:r>
          </a:p>
          <a:p>
            <a:pPr lvl="0">
              <a:spcBef>
                <a:spcPts val="600"/>
              </a:spcBef>
              <a:spcAft>
                <a:spcPts val="1200"/>
              </a:spcAft>
            </a:pPr>
            <a:r>
              <a:rPr lang="en-AU" sz="2200" dirty="0" smtClean="0">
                <a:latin typeface="Helvetica" pitchFamily="34" charset="0"/>
              </a:rPr>
              <a:t>Maintenance Department</a:t>
            </a:r>
          </a:p>
          <a:p>
            <a:pPr lvl="0">
              <a:spcBef>
                <a:spcPts val="600"/>
              </a:spcBef>
              <a:spcAft>
                <a:spcPts val="1200"/>
              </a:spcAft>
            </a:pPr>
            <a:r>
              <a:rPr lang="en-AU" sz="2200" dirty="0" smtClean="0">
                <a:latin typeface="Helvetica" pitchFamily="34" charset="0"/>
              </a:rPr>
              <a:t>Executive Housekeeper</a:t>
            </a:r>
          </a:p>
          <a:p>
            <a:pPr lvl="0">
              <a:spcBef>
                <a:spcPts val="600"/>
              </a:spcBef>
              <a:spcAft>
                <a:spcPts val="1200"/>
              </a:spcAft>
            </a:pPr>
            <a:r>
              <a:rPr lang="en-AU" sz="2200" dirty="0" smtClean="0">
                <a:latin typeface="Helvetica" pitchFamily="34" charset="0"/>
              </a:rPr>
              <a:t>Catering  &amp; Conference Coordinator </a:t>
            </a:r>
          </a:p>
          <a:p>
            <a:pPr lvl="0">
              <a:spcBef>
                <a:spcPts val="600"/>
              </a:spcBef>
              <a:spcAft>
                <a:spcPts val="1200"/>
              </a:spcAft>
            </a:pPr>
            <a:r>
              <a:rPr lang="en-AU" sz="2200" dirty="0" smtClean="0">
                <a:latin typeface="Helvetica" pitchFamily="34" charset="0"/>
              </a:rPr>
              <a:t>Purchasing Manager</a:t>
            </a:r>
          </a:p>
          <a:p>
            <a:pPr lvl="0">
              <a:spcBef>
                <a:spcPts val="600"/>
              </a:spcBef>
              <a:spcAft>
                <a:spcPts val="1200"/>
              </a:spcAft>
            </a:pPr>
            <a:r>
              <a:rPr lang="en-AU" sz="2200" dirty="0" smtClean="0">
                <a:latin typeface="Helvetica" pitchFamily="34" charset="0"/>
              </a:rPr>
              <a:t>Front Office Manager</a:t>
            </a:r>
          </a:p>
          <a:p>
            <a:pPr lvl="0">
              <a:spcBef>
                <a:spcPts val="600"/>
              </a:spcBef>
              <a:spcAft>
                <a:spcPts val="1200"/>
              </a:spcAft>
            </a:pPr>
            <a:r>
              <a:rPr lang="en-AU" sz="2200" dirty="0" smtClean="0">
                <a:latin typeface="Helvetica" pitchFamily="34" charset="0"/>
              </a:rPr>
              <a:t>Security</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5" name="Picture 4" descr="11111.jpg"/>
          <p:cNvPicPr>
            <a:picLocks noChangeAspect="1"/>
          </p:cNvPicPr>
          <p:nvPr/>
        </p:nvPicPr>
        <p:blipFill>
          <a:blip r:embed="rId3" cstate="print"/>
          <a:stretch>
            <a:fillRect/>
          </a:stretch>
        </p:blipFill>
        <p:spPr>
          <a:xfrm>
            <a:off x="6477000" y="2590800"/>
            <a:ext cx="1593659" cy="2386012"/>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Liaise with colleagues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What input can these people make?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Their previous experience </a:t>
            </a:r>
          </a:p>
          <a:p>
            <a:pPr lvl="0">
              <a:spcBef>
                <a:spcPts val="600"/>
              </a:spcBef>
              <a:spcAft>
                <a:spcPts val="1200"/>
              </a:spcAft>
            </a:pPr>
            <a:r>
              <a:rPr lang="en-AU" sz="2200" dirty="0" smtClean="0">
                <a:latin typeface="Helvetica" pitchFamily="34" charset="0"/>
              </a:rPr>
              <a:t>Their specialist areas of expertise </a:t>
            </a:r>
          </a:p>
          <a:p>
            <a:pPr lvl="0">
              <a:spcBef>
                <a:spcPts val="600"/>
              </a:spcBef>
              <a:spcAft>
                <a:spcPts val="1200"/>
              </a:spcAft>
            </a:pPr>
            <a:r>
              <a:rPr lang="en-AU" sz="2200" dirty="0" smtClean="0">
                <a:latin typeface="Helvetica" pitchFamily="34" charset="0"/>
              </a:rPr>
              <a:t>Their individual knowledge of:</a:t>
            </a:r>
          </a:p>
          <a:p>
            <a:pPr lvl="1">
              <a:spcBef>
                <a:spcPts val="600"/>
              </a:spcBef>
              <a:spcAft>
                <a:spcPts val="1200"/>
              </a:spcAft>
            </a:pPr>
            <a:r>
              <a:rPr lang="en-AU" sz="2200" dirty="0" smtClean="0">
                <a:latin typeface="Helvetica" pitchFamily="34" charset="0"/>
              </a:rPr>
              <a:t>The venue </a:t>
            </a:r>
          </a:p>
          <a:p>
            <a:pPr lvl="1">
              <a:spcBef>
                <a:spcPts val="600"/>
              </a:spcBef>
              <a:spcAft>
                <a:spcPts val="1200"/>
              </a:spcAft>
            </a:pPr>
            <a:r>
              <a:rPr lang="en-AU" sz="2200" dirty="0" smtClean="0">
                <a:latin typeface="Helvetica" pitchFamily="34" charset="0"/>
              </a:rPr>
              <a:t>What it can do</a:t>
            </a:r>
          </a:p>
          <a:p>
            <a:pPr lvl="1">
              <a:spcBef>
                <a:spcPts val="600"/>
              </a:spcBef>
              <a:spcAft>
                <a:spcPts val="1200"/>
              </a:spcAft>
            </a:pPr>
            <a:r>
              <a:rPr lang="en-AU" sz="2200" dirty="0" smtClean="0">
                <a:latin typeface="Helvetica" pitchFamily="34" charset="0"/>
              </a:rPr>
              <a:t>What it has to offer</a:t>
            </a:r>
          </a:p>
          <a:p>
            <a:pPr lvl="1">
              <a:spcBef>
                <a:spcPts val="600"/>
              </a:spcBef>
              <a:spcAft>
                <a:spcPts val="1200"/>
              </a:spcAft>
            </a:pPr>
            <a:r>
              <a:rPr lang="en-AU" sz="2200" dirty="0" smtClean="0">
                <a:latin typeface="Helvetica" pitchFamily="34" charset="0"/>
              </a:rPr>
              <a:t>What it has done successfully and unsuccessfully in the past</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36866" name="Picture 2" descr="I:\Overseas Projects\PHOTOS\2012\Office\iStock_000002364450Medium.jpg"/>
          <p:cNvPicPr>
            <a:picLocks noChangeAspect="1" noChangeArrowheads="1"/>
          </p:cNvPicPr>
          <p:nvPr/>
        </p:nvPicPr>
        <p:blipFill>
          <a:blip r:embed="rId3" cstate="print"/>
          <a:srcRect/>
          <a:stretch>
            <a:fillRect/>
          </a:stretch>
        </p:blipFill>
        <p:spPr bwMode="auto">
          <a:xfrm>
            <a:off x="6019800" y="2133600"/>
            <a:ext cx="1913585" cy="2876550"/>
          </a:xfrm>
          <a:prstGeom prst="rect">
            <a:avLst/>
          </a:prstGeom>
          <a:noFill/>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One of the key requirements when planning for a function is to ensure that you are adequately staffed for the event</a:t>
            </a:r>
          </a:p>
          <a:p>
            <a:pPr>
              <a:spcBef>
                <a:spcPts val="600"/>
              </a:spcBef>
              <a:spcAft>
                <a:spcPts val="1200"/>
              </a:spcAft>
            </a:pPr>
            <a:r>
              <a:rPr lang="en-AU" sz="2200" dirty="0" smtClean="0">
                <a:latin typeface="Helvetica" pitchFamily="34" charset="0"/>
              </a:rPr>
              <a:t>This is normally undertaken through the use of a roster</a:t>
            </a:r>
          </a:p>
          <a:p>
            <a:pPr>
              <a:spcBef>
                <a:spcPts val="600"/>
              </a:spcBef>
              <a:spcAft>
                <a:spcPts val="1200"/>
              </a:spcAft>
            </a:pPr>
            <a:r>
              <a:rPr lang="en-AU" sz="2200" dirty="0" smtClean="0">
                <a:latin typeface="Helvetica" pitchFamily="34" charset="0"/>
              </a:rPr>
              <a:t>A roster is a plan that organises staff, indicating which staff are to work where and at what times</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7" name="Picture 6" descr="j0302924.jpg"/>
          <p:cNvPicPr/>
          <p:nvPr/>
        </p:nvPicPr>
        <p:blipFill>
          <a:blip r:embed="rId3" cstate="print"/>
          <a:stretch>
            <a:fillRect/>
          </a:stretch>
        </p:blipFill>
        <p:spPr>
          <a:xfrm>
            <a:off x="3429000" y="4495800"/>
            <a:ext cx="2105025" cy="1457325"/>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Purpose of rosters</a:t>
            </a:r>
          </a:p>
          <a:p>
            <a:pPr>
              <a:spcBef>
                <a:spcPts val="600"/>
              </a:spcBef>
              <a:spcAft>
                <a:spcPts val="1200"/>
              </a:spcAft>
              <a:buNone/>
            </a:pPr>
            <a:r>
              <a:rPr lang="en-AU" sz="2200" dirty="0" smtClean="0">
                <a:latin typeface="Helvetica" pitchFamily="34" charset="0"/>
              </a:rPr>
              <a:t>The purpose of rosters can be seen as ensuring that:</a:t>
            </a:r>
          </a:p>
          <a:p>
            <a:pPr>
              <a:spcBef>
                <a:spcPts val="600"/>
              </a:spcBef>
              <a:spcAft>
                <a:spcPts val="1200"/>
              </a:spcAft>
            </a:pPr>
            <a:r>
              <a:rPr lang="en-AU" sz="2200" dirty="0" smtClean="0">
                <a:latin typeface="Helvetica" pitchFamily="34" charset="0"/>
              </a:rPr>
              <a:t>The right people</a:t>
            </a:r>
          </a:p>
          <a:p>
            <a:pPr>
              <a:spcBef>
                <a:spcPts val="600"/>
              </a:spcBef>
              <a:spcAft>
                <a:spcPts val="1200"/>
              </a:spcAft>
            </a:pPr>
            <a:r>
              <a:rPr lang="en-AU" sz="2200" dirty="0" smtClean="0">
                <a:latin typeface="Helvetica" pitchFamily="34" charset="0"/>
              </a:rPr>
              <a:t>In the right number</a:t>
            </a:r>
          </a:p>
          <a:p>
            <a:pPr>
              <a:spcBef>
                <a:spcPts val="600"/>
              </a:spcBef>
              <a:spcAft>
                <a:spcPts val="1200"/>
              </a:spcAft>
            </a:pPr>
            <a:r>
              <a:rPr lang="en-AU" sz="2200" dirty="0" smtClean="0">
                <a:latin typeface="Helvetica" pitchFamily="34" charset="0"/>
              </a:rPr>
              <a:t>Are employed at the right places </a:t>
            </a:r>
          </a:p>
          <a:p>
            <a:pPr>
              <a:spcBef>
                <a:spcPts val="600"/>
              </a:spcBef>
              <a:spcAft>
                <a:spcPts val="1200"/>
              </a:spcAft>
            </a:pPr>
            <a:r>
              <a:rPr lang="en-AU" sz="2200" dirty="0" smtClean="0">
                <a:latin typeface="Helvetica" pitchFamily="34" charset="0"/>
              </a:rPr>
              <a:t>At the right time</a:t>
            </a:r>
          </a:p>
          <a:p>
            <a:pPr>
              <a:spcBef>
                <a:spcPts val="600"/>
              </a:spcBef>
              <a:spcAft>
                <a:spcPts val="1200"/>
              </a:spcAft>
              <a:buNone/>
            </a:pP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6" name="Picture 5" descr="events2.jpg"/>
          <p:cNvPicPr>
            <a:picLocks noChangeAspect="1"/>
          </p:cNvPicPr>
          <p:nvPr/>
        </p:nvPicPr>
        <p:blipFill>
          <a:blip r:embed="rId3" cstate="print"/>
          <a:stretch>
            <a:fillRect/>
          </a:stretch>
        </p:blipFill>
        <p:spPr>
          <a:xfrm>
            <a:off x="5867400" y="3124200"/>
            <a:ext cx="2362543" cy="1575816"/>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Reasons for having rosters</a:t>
            </a:r>
          </a:p>
          <a:p>
            <a:pPr>
              <a:spcBef>
                <a:spcPts val="600"/>
              </a:spcBef>
              <a:spcAft>
                <a:spcPts val="1200"/>
              </a:spcAft>
              <a:buNone/>
            </a:pPr>
            <a:r>
              <a:rPr lang="en-AU" sz="2200" dirty="0" smtClean="0">
                <a:latin typeface="Helvetica" pitchFamily="34" charset="0"/>
              </a:rPr>
              <a:t>There are five reasons why organisations have rosters:</a:t>
            </a:r>
          </a:p>
          <a:p>
            <a:pPr>
              <a:spcBef>
                <a:spcPts val="600"/>
              </a:spcBef>
              <a:spcAft>
                <a:spcPts val="1200"/>
              </a:spcAft>
            </a:pPr>
            <a:r>
              <a:rPr lang="en-AU" sz="2200" dirty="0" smtClean="0">
                <a:latin typeface="Helvetica" pitchFamily="34" charset="0"/>
              </a:rPr>
              <a:t>Organising staff </a:t>
            </a:r>
          </a:p>
          <a:p>
            <a:pPr>
              <a:spcBef>
                <a:spcPts val="600"/>
              </a:spcBef>
              <a:spcAft>
                <a:spcPts val="1200"/>
              </a:spcAft>
            </a:pPr>
            <a:r>
              <a:rPr lang="en-AU" sz="2200" dirty="0" smtClean="0">
                <a:latin typeface="Helvetica" pitchFamily="34" charset="0"/>
              </a:rPr>
              <a:t>Balancing experienced staff </a:t>
            </a:r>
          </a:p>
          <a:p>
            <a:pPr>
              <a:spcBef>
                <a:spcPts val="600"/>
              </a:spcBef>
              <a:spcAft>
                <a:spcPts val="1200"/>
              </a:spcAft>
            </a:pPr>
            <a:r>
              <a:rPr lang="en-AU" sz="2200" dirty="0" smtClean="0">
                <a:latin typeface="Helvetica" pitchFamily="34" charset="0"/>
              </a:rPr>
              <a:t>Communicating </a:t>
            </a:r>
          </a:p>
          <a:p>
            <a:pPr>
              <a:spcBef>
                <a:spcPts val="600"/>
              </a:spcBef>
              <a:spcAft>
                <a:spcPts val="1200"/>
              </a:spcAft>
            </a:pPr>
            <a:r>
              <a:rPr lang="en-AU" sz="2200" dirty="0" smtClean="0">
                <a:latin typeface="Helvetica" pitchFamily="34" charset="0"/>
              </a:rPr>
              <a:t>Cost controlling </a:t>
            </a:r>
          </a:p>
          <a:p>
            <a:pPr>
              <a:spcBef>
                <a:spcPts val="600"/>
              </a:spcBef>
              <a:spcAft>
                <a:spcPts val="1200"/>
              </a:spcAft>
            </a:pPr>
            <a:r>
              <a:rPr lang="en-AU" sz="2200" dirty="0" smtClean="0">
                <a:latin typeface="Helvetica" pitchFamily="34" charset="0"/>
              </a:rPr>
              <a:t>Aiding employees </a:t>
            </a:r>
          </a:p>
          <a:p>
            <a:pPr>
              <a:buNone/>
            </a:pPr>
            <a:endParaRPr lang="en-AU" sz="2400" dirty="0" smtClean="0"/>
          </a:p>
          <a:p>
            <a:pPr>
              <a:spcBef>
                <a:spcPts val="600"/>
              </a:spcBef>
              <a:spcAft>
                <a:spcPts val="1200"/>
              </a:spcAft>
              <a:buNone/>
            </a:pP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37890" name="Picture 2" descr="C:\Documents and Settings\danielc\Local Settings\Temporary Internet Files\Content.IE5\3DV3UKH9\MC900237108[1].wmf"/>
          <p:cNvPicPr>
            <a:picLocks noChangeAspect="1" noChangeArrowheads="1"/>
          </p:cNvPicPr>
          <p:nvPr/>
        </p:nvPicPr>
        <p:blipFill>
          <a:blip r:embed="rId3" cstate="print"/>
          <a:srcRect/>
          <a:stretch>
            <a:fillRect/>
          </a:stretch>
        </p:blipFill>
        <p:spPr bwMode="auto">
          <a:xfrm>
            <a:off x="5256413" y="3124200"/>
            <a:ext cx="3163438" cy="1905000"/>
          </a:xfrm>
          <a:prstGeom prst="rect">
            <a:avLst/>
          </a:prstGeom>
          <a:noFill/>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Impacts on staffing</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amount and type of staff required to service a function will greatly depend on the:</a:t>
            </a:r>
          </a:p>
          <a:p>
            <a:pPr lvl="0">
              <a:spcBef>
                <a:spcPts val="600"/>
              </a:spcBef>
              <a:spcAft>
                <a:spcPts val="1200"/>
              </a:spcAft>
            </a:pPr>
            <a:r>
              <a:rPr lang="en-AU" sz="2200" dirty="0" smtClean="0">
                <a:latin typeface="Helvetica" pitchFamily="34" charset="0"/>
              </a:rPr>
              <a:t>Type of function</a:t>
            </a:r>
          </a:p>
          <a:p>
            <a:pPr lvl="0">
              <a:spcBef>
                <a:spcPts val="600"/>
              </a:spcBef>
              <a:spcAft>
                <a:spcPts val="1200"/>
              </a:spcAft>
            </a:pPr>
            <a:r>
              <a:rPr lang="en-AU" sz="2200" dirty="0" smtClean="0">
                <a:latin typeface="Helvetica" pitchFamily="34" charset="0"/>
              </a:rPr>
              <a:t>Service requirements</a:t>
            </a:r>
          </a:p>
          <a:p>
            <a:pPr lvl="0">
              <a:spcBef>
                <a:spcPts val="600"/>
              </a:spcBef>
              <a:spcAft>
                <a:spcPts val="1200"/>
              </a:spcAft>
            </a:pPr>
            <a:r>
              <a:rPr lang="en-AU" sz="2200" dirty="0" smtClean="0">
                <a:latin typeface="Helvetica" pitchFamily="34" charset="0"/>
              </a:rPr>
              <a:t>Numbers attending</a:t>
            </a:r>
          </a:p>
          <a:p>
            <a:pPr lvl="0">
              <a:spcBef>
                <a:spcPts val="600"/>
              </a:spcBef>
              <a:spcAft>
                <a:spcPts val="1200"/>
              </a:spcAft>
            </a:pPr>
            <a:r>
              <a:rPr lang="en-AU" sz="2200" dirty="0" smtClean="0">
                <a:latin typeface="Helvetica" pitchFamily="34" charset="0"/>
              </a:rPr>
              <a:t>Level of service required </a:t>
            </a:r>
          </a:p>
          <a:p>
            <a:pPr lvl="0">
              <a:spcBef>
                <a:spcPts val="600"/>
              </a:spcBef>
              <a:spcAft>
                <a:spcPts val="1200"/>
              </a:spcAft>
            </a:pPr>
            <a:r>
              <a:rPr lang="en-AU" sz="2200" dirty="0" smtClean="0">
                <a:latin typeface="Helvetica" pitchFamily="34" charset="0"/>
              </a:rPr>
              <a:t>Host of associated miscellaneous details</a:t>
            </a:r>
          </a:p>
          <a:p>
            <a:pPr>
              <a:buNone/>
            </a:pPr>
            <a:endParaRPr lang="en-AU" sz="2400" dirty="0" smtClean="0"/>
          </a:p>
          <a:p>
            <a:pPr>
              <a:spcBef>
                <a:spcPts val="600"/>
              </a:spcBef>
              <a:spcAft>
                <a:spcPts val="1200"/>
              </a:spcAft>
              <a:buNone/>
            </a:pP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6" name="Picture 5" descr="W-A 6-4-04 -233_RT8 - students in Culinary class.jpg"/>
          <p:cNvPicPr>
            <a:picLocks noChangeAspect="1"/>
          </p:cNvPicPr>
          <p:nvPr/>
        </p:nvPicPr>
        <p:blipFill>
          <a:blip r:embed="rId3" cstate="print"/>
          <a:stretch>
            <a:fillRect/>
          </a:stretch>
        </p:blipFill>
        <p:spPr>
          <a:xfrm>
            <a:off x="5638800" y="3200400"/>
            <a:ext cx="2302764" cy="1535176"/>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Calculating staff numbers</a:t>
            </a:r>
            <a:endParaRPr lang="en-AU" sz="2200" dirty="0" smtClean="0">
              <a:latin typeface="Helvetica" pitchFamily="34" charset="0"/>
            </a:endParaRPr>
          </a:p>
          <a:p>
            <a:pPr marL="0">
              <a:spcBef>
                <a:spcPts val="600"/>
              </a:spcBef>
              <a:spcAft>
                <a:spcPts val="1200"/>
              </a:spcAft>
              <a:buNone/>
            </a:pPr>
            <a:r>
              <a:rPr lang="en-AU" sz="2200" dirty="0" smtClean="0"/>
              <a:t>D</a:t>
            </a:r>
            <a:r>
              <a:rPr lang="en-AU" sz="2200" dirty="0" smtClean="0">
                <a:latin typeface="Helvetica" pitchFamily="34" charset="0"/>
              </a:rPr>
              <a:t>etermining how many staff are needed or can be afforded to a function is based on a number of factors.</a:t>
            </a:r>
          </a:p>
          <a:p>
            <a:pPr marL="0">
              <a:spcBef>
                <a:spcPts val="600"/>
              </a:spcBef>
              <a:spcAft>
                <a:spcPts val="1200"/>
              </a:spcAft>
              <a:buNone/>
            </a:pPr>
            <a:r>
              <a:rPr lang="en-AU" sz="2200" dirty="0" smtClean="0">
                <a:latin typeface="Helvetica" pitchFamily="34" charset="0"/>
              </a:rPr>
              <a:t>The following slides provide an overview of staffing needs for different function types. </a:t>
            </a:r>
          </a:p>
          <a:p>
            <a:pPr>
              <a:spcBef>
                <a:spcPts val="600"/>
              </a:spcBef>
              <a:spcAft>
                <a:spcPts val="1200"/>
              </a:spcAft>
            </a:pPr>
            <a:r>
              <a:rPr lang="en-AU" sz="2200" dirty="0" smtClean="0">
                <a:latin typeface="Helvetica" pitchFamily="34" charset="0"/>
              </a:rPr>
              <a:t>What are these factors?</a:t>
            </a:r>
          </a:p>
          <a:p>
            <a:pPr>
              <a:buNone/>
            </a:pPr>
            <a:endParaRPr lang="en-AU" sz="2400" dirty="0" smtClean="0"/>
          </a:p>
          <a:p>
            <a:pPr>
              <a:spcBef>
                <a:spcPts val="600"/>
              </a:spcBef>
              <a:spcAft>
                <a:spcPts val="1200"/>
              </a:spcAft>
              <a:buNone/>
            </a:pP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7" name="Picture 6" descr="5.jpg"/>
          <p:cNvPicPr/>
          <p:nvPr/>
        </p:nvPicPr>
        <p:blipFill>
          <a:blip r:embed="rId3" cstate="print"/>
          <a:stretch>
            <a:fillRect/>
          </a:stretch>
        </p:blipFill>
        <p:spPr>
          <a:xfrm>
            <a:off x="5334000" y="3657600"/>
            <a:ext cx="2562860" cy="2092949"/>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Calculating staff numbers</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Breakfast Function – Self-service – Continental Menu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Staff to set up and service the buffet</a:t>
            </a:r>
          </a:p>
          <a:p>
            <a:pPr lvl="0">
              <a:spcBef>
                <a:spcPts val="600"/>
              </a:spcBef>
              <a:spcAft>
                <a:spcPts val="1200"/>
              </a:spcAft>
            </a:pPr>
            <a:r>
              <a:rPr lang="en-AU" sz="2200" dirty="0" smtClean="0">
                <a:latin typeface="Helvetica" pitchFamily="34" charset="0"/>
              </a:rPr>
              <a:t>Staff to greet and seat customers </a:t>
            </a:r>
          </a:p>
          <a:p>
            <a:pPr lvl="0">
              <a:spcBef>
                <a:spcPts val="600"/>
              </a:spcBef>
              <a:spcAft>
                <a:spcPts val="1200"/>
              </a:spcAft>
            </a:pPr>
            <a:r>
              <a:rPr lang="en-AU" sz="2200" dirty="0" smtClean="0">
                <a:latin typeface="Helvetica" pitchFamily="34" charset="0"/>
              </a:rPr>
              <a:t>Waiting staff to clear away unwanted </a:t>
            </a:r>
            <a:br>
              <a:rPr lang="en-AU" sz="2200" dirty="0" smtClean="0">
                <a:latin typeface="Helvetica" pitchFamily="34" charset="0"/>
              </a:rPr>
            </a:br>
            <a:r>
              <a:rPr lang="en-AU" sz="2200" dirty="0" smtClean="0">
                <a:latin typeface="Helvetica" pitchFamily="34" charset="0"/>
              </a:rPr>
              <a:t>crockery, cutlery and glassware </a:t>
            </a:r>
          </a:p>
          <a:p>
            <a:pPr>
              <a:spcBef>
                <a:spcPts val="600"/>
              </a:spcBef>
              <a:spcAft>
                <a:spcPts val="1200"/>
              </a:spcAft>
            </a:pPr>
            <a:r>
              <a:rPr lang="en-AU" sz="2200" dirty="0" smtClean="0">
                <a:latin typeface="Helvetica" pitchFamily="34" charset="0"/>
              </a:rPr>
              <a:t>Staff to clean up function and set for lunch</a:t>
            </a:r>
          </a:p>
          <a:p>
            <a:pPr>
              <a:spcBef>
                <a:spcPts val="600"/>
              </a:spcBef>
              <a:spcAft>
                <a:spcPts val="1200"/>
              </a:spcAft>
              <a:buNone/>
            </a:pP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38914" name="Picture 2" descr="I:\Overseas Projects\PHOTOS\2012\F &amp; B 2012\MP900386130.JPG"/>
          <p:cNvPicPr>
            <a:picLocks noChangeAspect="1" noChangeArrowheads="1"/>
          </p:cNvPicPr>
          <p:nvPr/>
        </p:nvPicPr>
        <p:blipFill>
          <a:blip r:embed="rId3" cstate="print"/>
          <a:srcRect/>
          <a:stretch>
            <a:fillRect/>
          </a:stretch>
        </p:blipFill>
        <p:spPr bwMode="auto">
          <a:xfrm>
            <a:off x="6934200" y="2819400"/>
            <a:ext cx="1422362" cy="2122488"/>
          </a:xfrm>
          <a:prstGeom prst="rect">
            <a:avLst/>
          </a:prstGeom>
          <a:noFill/>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Calculating staff numbers</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Cocktail Party – Informal Function – Stand up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Staff to set up function area </a:t>
            </a:r>
          </a:p>
          <a:p>
            <a:pPr lvl="0">
              <a:spcBef>
                <a:spcPts val="600"/>
              </a:spcBef>
              <a:spcAft>
                <a:spcPts val="1200"/>
              </a:spcAft>
            </a:pPr>
            <a:r>
              <a:rPr lang="en-AU" sz="2200" dirty="0" smtClean="0">
                <a:latin typeface="Helvetica" pitchFamily="34" charset="0"/>
              </a:rPr>
              <a:t>Bar staff to set up and run the bar </a:t>
            </a:r>
          </a:p>
          <a:p>
            <a:pPr lvl="0">
              <a:spcBef>
                <a:spcPts val="600"/>
              </a:spcBef>
              <a:spcAft>
                <a:spcPts val="1200"/>
              </a:spcAft>
            </a:pPr>
            <a:r>
              <a:rPr lang="en-AU" sz="2200" dirty="0" smtClean="0">
                <a:latin typeface="Helvetica" pitchFamily="34" charset="0"/>
              </a:rPr>
              <a:t>Waiting staff to carry platters of food </a:t>
            </a:r>
          </a:p>
          <a:p>
            <a:pPr>
              <a:spcBef>
                <a:spcPts val="600"/>
              </a:spcBef>
              <a:spcAft>
                <a:spcPts val="1200"/>
              </a:spcAft>
            </a:pPr>
            <a:r>
              <a:rPr lang="en-AU" sz="2200" dirty="0" smtClean="0">
                <a:latin typeface="Helvetica" pitchFamily="34" charset="0"/>
              </a:rPr>
              <a:t>Staff to clean up the area after function</a:t>
            </a: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39941" name="Picture 5" descr="I:\Overseas Projects\PHOTOS\2012\F &amp; B 2012\Bartender1.jpg"/>
          <p:cNvPicPr>
            <a:picLocks noChangeAspect="1" noChangeArrowheads="1"/>
          </p:cNvPicPr>
          <p:nvPr/>
        </p:nvPicPr>
        <p:blipFill>
          <a:blip r:embed="rId3" cstate="print"/>
          <a:srcRect/>
          <a:stretch>
            <a:fillRect/>
          </a:stretch>
        </p:blipFill>
        <p:spPr bwMode="auto">
          <a:xfrm>
            <a:off x="6172200" y="2895600"/>
            <a:ext cx="2286000" cy="1525190"/>
          </a:xfrm>
          <a:prstGeom prst="rect">
            <a:avLst/>
          </a:prstGeom>
          <a:noFill/>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Calculating staff numbers</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Formal dinner party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Staff to set up function area </a:t>
            </a:r>
          </a:p>
          <a:p>
            <a:pPr lvl="0">
              <a:spcBef>
                <a:spcPts val="600"/>
              </a:spcBef>
              <a:spcAft>
                <a:spcPts val="1200"/>
              </a:spcAft>
            </a:pPr>
            <a:r>
              <a:rPr lang="en-AU" sz="2200" dirty="0" smtClean="0">
                <a:latin typeface="Helvetica" pitchFamily="34" charset="0"/>
              </a:rPr>
              <a:t>Bar staff to set up and run the bar </a:t>
            </a:r>
          </a:p>
          <a:p>
            <a:pPr lvl="0">
              <a:spcBef>
                <a:spcPts val="600"/>
              </a:spcBef>
              <a:spcAft>
                <a:spcPts val="1200"/>
              </a:spcAft>
            </a:pPr>
            <a:r>
              <a:rPr lang="en-AU" sz="2200" dirty="0" smtClean="0">
                <a:latin typeface="Helvetica" pitchFamily="34" charset="0"/>
              </a:rPr>
              <a:t>Waiting staff to provide semi-silver service to guests </a:t>
            </a:r>
          </a:p>
          <a:p>
            <a:pPr lvl="0">
              <a:spcBef>
                <a:spcPts val="600"/>
              </a:spcBef>
              <a:spcAft>
                <a:spcPts val="1200"/>
              </a:spcAft>
            </a:pPr>
            <a:r>
              <a:rPr lang="en-AU" sz="2200" dirty="0" smtClean="0">
                <a:latin typeface="Helvetica" pitchFamily="34" charset="0"/>
              </a:rPr>
              <a:t>Staff to clean up the area after function </a:t>
            </a:r>
          </a:p>
          <a:p>
            <a:pPr lvl="0">
              <a:spcBef>
                <a:spcPts val="600"/>
              </a:spcBef>
              <a:spcAft>
                <a:spcPts val="1200"/>
              </a:spcAft>
            </a:pPr>
            <a:r>
              <a:rPr lang="en-AU" sz="2200" dirty="0" smtClean="0">
                <a:latin typeface="Helvetica" pitchFamily="34" charset="0"/>
              </a:rPr>
              <a:t>Security staff</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5" name="Picture 4" descr="7980146352_347de3a905_m.jpg"/>
          <p:cNvPicPr>
            <a:picLocks noChangeAspect="1"/>
          </p:cNvPicPr>
          <p:nvPr/>
        </p:nvPicPr>
        <p:blipFill>
          <a:blip r:embed="rId3" cstate="print"/>
          <a:stretch>
            <a:fillRect/>
          </a:stretch>
        </p:blipFill>
        <p:spPr>
          <a:xfrm>
            <a:off x="5791200" y="1905000"/>
            <a:ext cx="2235200" cy="1676400"/>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Calculating staff numbers</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General party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Staff to assist with decorations </a:t>
            </a:r>
          </a:p>
          <a:p>
            <a:pPr lvl="0">
              <a:spcBef>
                <a:spcPts val="600"/>
              </a:spcBef>
              <a:spcAft>
                <a:spcPts val="1200"/>
              </a:spcAft>
            </a:pPr>
            <a:r>
              <a:rPr lang="en-AU" sz="2200" dirty="0" smtClean="0">
                <a:latin typeface="Helvetica" pitchFamily="34" charset="0"/>
              </a:rPr>
              <a:t>Bar staff to set up and run the bar </a:t>
            </a:r>
          </a:p>
          <a:p>
            <a:pPr lvl="0">
              <a:spcBef>
                <a:spcPts val="600"/>
              </a:spcBef>
              <a:spcAft>
                <a:spcPts val="1200"/>
              </a:spcAft>
            </a:pPr>
            <a:r>
              <a:rPr lang="en-AU" sz="2200" dirty="0" smtClean="0">
                <a:latin typeface="Helvetica" pitchFamily="34" charset="0"/>
              </a:rPr>
              <a:t>Staff to coordinate and play music (DJ) </a:t>
            </a:r>
          </a:p>
          <a:p>
            <a:pPr lvl="0">
              <a:spcBef>
                <a:spcPts val="600"/>
              </a:spcBef>
              <a:spcAft>
                <a:spcPts val="1200"/>
              </a:spcAft>
            </a:pPr>
            <a:r>
              <a:rPr lang="en-AU" sz="2200" dirty="0" smtClean="0">
                <a:latin typeface="Helvetica" pitchFamily="34" charset="0"/>
              </a:rPr>
              <a:t>Staff to carry platters of food </a:t>
            </a:r>
          </a:p>
          <a:p>
            <a:pPr>
              <a:spcBef>
                <a:spcPts val="600"/>
              </a:spcBef>
              <a:spcAft>
                <a:spcPts val="1200"/>
              </a:spcAft>
            </a:pPr>
            <a:r>
              <a:rPr lang="en-AU" sz="2200" dirty="0" smtClean="0">
                <a:latin typeface="Helvetica" pitchFamily="34" charset="0"/>
              </a:rPr>
              <a:t>Security staff</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40962" name="Picture 2" descr="I:\Overseas Projects\PHOTOS\2012\Front office 2012\shutterstock_69115711.jpg"/>
          <p:cNvPicPr>
            <a:picLocks noChangeAspect="1" noChangeArrowheads="1"/>
          </p:cNvPicPr>
          <p:nvPr/>
        </p:nvPicPr>
        <p:blipFill>
          <a:blip r:embed="rId3" cstate="print"/>
          <a:srcRect/>
          <a:stretch>
            <a:fillRect/>
          </a:stretch>
        </p:blipFill>
        <p:spPr bwMode="auto">
          <a:xfrm>
            <a:off x="5562600" y="1981200"/>
            <a:ext cx="2667000" cy="1829395"/>
          </a:xfrm>
          <a:prstGeom prst="rect">
            <a:avLst/>
          </a:prstGeom>
          <a:noFill/>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Productivity standards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Every job has standards of performance that are required to be met by the employee undertaking that job</a:t>
            </a:r>
          </a:p>
          <a:p>
            <a:pPr>
              <a:spcBef>
                <a:spcPts val="600"/>
              </a:spcBef>
              <a:spcAft>
                <a:spcPts val="1200"/>
              </a:spcAft>
            </a:pPr>
            <a:r>
              <a:rPr lang="en-AU" sz="2200" dirty="0" smtClean="0">
                <a:latin typeface="Helvetica" pitchFamily="34" charset="0"/>
              </a:rPr>
              <a:t>‘Expected levels of output’</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41986" name="Picture 2" descr="C:\Documents and Settings\danielc\Local Settings\Temporary Internet Files\Content.IE5\SIQ5KRQ3\MP900387742[1].jpg"/>
          <p:cNvPicPr>
            <a:picLocks noChangeAspect="1" noChangeArrowheads="1"/>
          </p:cNvPicPr>
          <p:nvPr/>
        </p:nvPicPr>
        <p:blipFill>
          <a:blip r:embed="rId3" cstate="print"/>
          <a:srcRect/>
          <a:stretch>
            <a:fillRect/>
          </a:stretch>
        </p:blipFill>
        <p:spPr bwMode="auto">
          <a:xfrm>
            <a:off x="5257800" y="3276600"/>
            <a:ext cx="2743200" cy="1956816"/>
          </a:xfrm>
          <a:prstGeom prst="rect">
            <a:avLst/>
          </a:prstGeom>
          <a:noFill/>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Productivity standards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Performance standards are targets including:</a:t>
            </a:r>
          </a:p>
          <a:p>
            <a:pPr lvl="0">
              <a:spcBef>
                <a:spcPts val="600"/>
              </a:spcBef>
              <a:spcAft>
                <a:spcPts val="1200"/>
              </a:spcAft>
            </a:pPr>
            <a:r>
              <a:rPr lang="en-AU" sz="2200" dirty="0" smtClean="0">
                <a:latin typeface="Helvetica" pitchFamily="34" charset="0"/>
              </a:rPr>
              <a:t>Food waiters may be expected to serve X number of people </a:t>
            </a:r>
          </a:p>
          <a:p>
            <a:pPr lvl="0">
              <a:spcBef>
                <a:spcPts val="600"/>
              </a:spcBef>
              <a:spcAft>
                <a:spcPts val="1200"/>
              </a:spcAft>
            </a:pPr>
            <a:r>
              <a:rPr lang="en-AU" sz="2200" dirty="0" smtClean="0">
                <a:latin typeface="Helvetica" pitchFamily="34" charset="0"/>
              </a:rPr>
              <a:t>One bartender is used to serve X number of customers</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5" name="Picture 4" descr="Event 30.JPG"/>
          <p:cNvPicPr/>
          <p:nvPr/>
        </p:nvPicPr>
        <p:blipFill>
          <a:blip r:embed="rId3" cstate="print"/>
          <a:stretch>
            <a:fillRect/>
          </a:stretch>
        </p:blipFill>
        <p:spPr>
          <a:xfrm>
            <a:off x="3352800" y="4419600"/>
            <a:ext cx="2056130" cy="1524000"/>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Budget</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Rosters of functions need to consider relevant staff budgets </a:t>
            </a:r>
          </a:p>
          <a:p>
            <a:pPr>
              <a:spcBef>
                <a:spcPts val="600"/>
              </a:spcBef>
              <a:spcAft>
                <a:spcPts val="1200"/>
              </a:spcAft>
            </a:pPr>
            <a:r>
              <a:rPr lang="en-AU" sz="2200" dirty="0" smtClean="0">
                <a:latin typeface="Helvetica" pitchFamily="34" charset="0"/>
              </a:rPr>
              <a:t>The cost of employing someone does </a:t>
            </a:r>
            <a:br>
              <a:rPr lang="en-AU" sz="2200" dirty="0" smtClean="0">
                <a:latin typeface="Helvetica" pitchFamily="34" charset="0"/>
              </a:rPr>
            </a:br>
            <a:r>
              <a:rPr lang="en-AU" sz="2200" dirty="0" smtClean="0">
                <a:latin typeface="Helvetica" pitchFamily="34" charset="0"/>
              </a:rPr>
              <a:t>not just mean their wages, but also </a:t>
            </a:r>
            <a:br>
              <a:rPr lang="en-AU" sz="2200" dirty="0" smtClean="0">
                <a:latin typeface="Helvetica" pitchFamily="34" charset="0"/>
              </a:rPr>
            </a:br>
            <a:r>
              <a:rPr lang="en-AU" sz="2200" dirty="0" smtClean="0">
                <a:latin typeface="Helvetica" pitchFamily="34" charset="0"/>
              </a:rPr>
              <a:t>includes many other costs </a:t>
            </a: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43010" name="Picture 2" descr="I:\Overseas Projects\PHOTOS\2012\Office\884071_budget_cuts.jpg"/>
          <p:cNvPicPr>
            <a:picLocks noChangeAspect="1" noChangeArrowheads="1"/>
          </p:cNvPicPr>
          <p:nvPr/>
        </p:nvPicPr>
        <p:blipFill>
          <a:blip r:embed="rId3" cstate="print"/>
          <a:srcRect/>
          <a:stretch>
            <a:fillRect/>
          </a:stretch>
        </p:blipFill>
        <p:spPr bwMode="auto">
          <a:xfrm>
            <a:off x="6629400" y="2667000"/>
            <a:ext cx="1600200" cy="2400300"/>
          </a:xfrm>
          <a:prstGeom prst="rect">
            <a:avLst/>
          </a:prstGeom>
          <a:noFill/>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Allocating the right mix of staff</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When rostering staff it is essential to use the available skill sets and competencies of available staff to match the type of function</a:t>
            </a:r>
          </a:p>
          <a:p>
            <a:pPr>
              <a:spcBef>
                <a:spcPts val="600"/>
              </a:spcBef>
              <a:spcAft>
                <a:spcPts val="1200"/>
              </a:spcAft>
            </a:pPr>
            <a:r>
              <a:rPr lang="en-AU" sz="2200" dirty="0" smtClean="0">
                <a:latin typeface="Helvetica" pitchFamily="34" charset="0"/>
              </a:rPr>
              <a:t>Staff should complement each other and provide a balanced service</a:t>
            </a: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44035" name="Picture 3" descr="I:\Overseas Projects\PHOTOS\Accommodation 2009\Angliss RestaurantV2[1].79.jpg"/>
          <p:cNvPicPr>
            <a:picLocks noChangeAspect="1" noChangeArrowheads="1"/>
          </p:cNvPicPr>
          <p:nvPr/>
        </p:nvPicPr>
        <p:blipFill>
          <a:blip r:embed="rId3" cstate="print"/>
          <a:srcRect/>
          <a:stretch>
            <a:fillRect/>
          </a:stretch>
        </p:blipFill>
        <p:spPr bwMode="auto">
          <a:xfrm>
            <a:off x="3733800" y="4267200"/>
            <a:ext cx="2398713" cy="1598329"/>
          </a:xfrm>
          <a:prstGeom prst="rect">
            <a:avLst/>
          </a:prstGeom>
          <a:noFill/>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Factors influencing the mix of staff</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 mix of staff should </a:t>
            </a:r>
            <a:r>
              <a:rPr lang="en-AU" sz="2200" dirty="0" smtClean="0"/>
              <a:t>take into consideration</a:t>
            </a:r>
            <a:r>
              <a:rPr lang="en-AU" sz="2200" dirty="0" smtClean="0">
                <a:latin typeface="Helvetica" pitchFamily="34" charset="0"/>
              </a:rPr>
              <a:t>:</a:t>
            </a:r>
          </a:p>
          <a:p>
            <a:pPr>
              <a:spcBef>
                <a:spcPts val="600"/>
              </a:spcBef>
              <a:spcAft>
                <a:spcPts val="1200"/>
              </a:spcAft>
            </a:pPr>
            <a:r>
              <a:rPr lang="en-AU" sz="2200" dirty="0" smtClean="0">
                <a:latin typeface="Helvetica" pitchFamily="34" charset="0"/>
              </a:rPr>
              <a:t>Experienced staff and new staff</a:t>
            </a:r>
          </a:p>
          <a:p>
            <a:pPr>
              <a:spcBef>
                <a:spcPts val="600"/>
              </a:spcBef>
              <a:spcAft>
                <a:spcPts val="1200"/>
              </a:spcAft>
            </a:pPr>
            <a:r>
              <a:rPr lang="en-AU" sz="2200" dirty="0" smtClean="0">
                <a:latin typeface="Helvetica" pitchFamily="34" charset="0"/>
              </a:rPr>
              <a:t>Permanent and casually employed staff</a:t>
            </a:r>
          </a:p>
          <a:p>
            <a:pPr>
              <a:spcBef>
                <a:spcPts val="600"/>
              </a:spcBef>
              <a:spcAft>
                <a:spcPts val="1200"/>
              </a:spcAft>
            </a:pPr>
            <a:r>
              <a:rPr lang="en-AU" sz="2200" dirty="0" smtClean="0">
                <a:latin typeface="Helvetica" pitchFamily="34" charset="0"/>
              </a:rPr>
              <a:t>Males to females</a:t>
            </a:r>
          </a:p>
          <a:p>
            <a:pPr>
              <a:spcBef>
                <a:spcPts val="600"/>
              </a:spcBef>
              <a:spcAft>
                <a:spcPts val="1200"/>
              </a:spcAft>
            </a:pPr>
            <a:r>
              <a:rPr lang="en-AU" sz="2200" dirty="0" smtClean="0">
                <a:latin typeface="Helvetica" pitchFamily="34" charset="0"/>
              </a:rPr>
              <a:t>Skilled employees to semi-skilled employees</a:t>
            </a:r>
          </a:p>
          <a:p>
            <a:pPr>
              <a:spcBef>
                <a:spcPts val="600"/>
              </a:spcBef>
              <a:spcAft>
                <a:spcPts val="1200"/>
              </a:spcAft>
            </a:pPr>
            <a:r>
              <a:rPr lang="en-AU" sz="2200" dirty="0" smtClean="0">
                <a:latin typeface="Helvetica" pitchFamily="34" charset="0"/>
              </a:rPr>
              <a:t>Language skills</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6" name="Picture 5" descr="13756_15n.jpg"/>
          <p:cNvPicPr>
            <a:picLocks noChangeAspect="1"/>
          </p:cNvPicPr>
          <p:nvPr/>
        </p:nvPicPr>
        <p:blipFill>
          <a:blip r:embed="rId3" cstate="print"/>
          <a:stretch>
            <a:fillRect/>
          </a:stretch>
        </p:blipFill>
        <p:spPr>
          <a:xfrm>
            <a:off x="6477000" y="3048000"/>
            <a:ext cx="1906876" cy="1276487"/>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Accessing staff</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In many cases, functions do not have a ready pool of staff available at its disposal to cater for an event and may need to access staff from different avenues</a:t>
            </a:r>
          </a:p>
          <a:p>
            <a:pPr>
              <a:spcBef>
                <a:spcPts val="600"/>
              </a:spcBef>
              <a:spcAft>
                <a:spcPts val="1200"/>
              </a:spcAft>
            </a:pPr>
            <a:r>
              <a:rPr lang="en-AU" sz="2200" dirty="0" smtClean="0">
                <a:latin typeface="Helvetica" pitchFamily="34" charset="0"/>
              </a:rPr>
              <a:t>Where can you get staff from at short notice?</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8" name="Picture 7" descr="MP900386131[1].JPG"/>
          <p:cNvPicPr/>
          <p:nvPr/>
        </p:nvPicPr>
        <p:blipFill>
          <a:blip r:embed="rId3" cstate="print"/>
          <a:stretch>
            <a:fillRect/>
          </a:stretch>
        </p:blipFill>
        <p:spPr>
          <a:xfrm>
            <a:off x="3581400" y="4114800"/>
            <a:ext cx="1743075" cy="2000250"/>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Accessing staff</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Avenues include:</a:t>
            </a:r>
          </a:p>
          <a:p>
            <a:pPr lvl="0">
              <a:spcBef>
                <a:spcPts val="600"/>
              </a:spcBef>
              <a:spcAft>
                <a:spcPts val="1200"/>
              </a:spcAft>
            </a:pPr>
            <a:r>
              <a:rPr lang="en-AU" sz="2200" dirty="0" smtClean="0">
                <a:latin typeface="Helvetica" pitchFamily="34" charset="0"/>
              </a:rPr>
              <a:t>Other departments</a:t>
            </a:r>
          </a:p>
          <a:p>
            <a:pPr lvl="0">
              <a:spcBef>
                <a:spcPts val="600"/>
              </a:spcBef>
              <a:spcAft>
                <a:spcPts val="1200"/>
              </a:spcAft>
            </a:pPr>
            <a:r>
              <a:rPr lang="en-AU" sz="2200" dirty="0" smtClean="0">
                <a:latin typeface="Helvetica" pitchFamily="34" charset="0"/>
              </a:rPr>
              <a:t>Other hotels within the chain</a:t>
            </a:r>
          </a:p>
          <a:p>
            <a:pPr lvl="0">
              <a:spcBef>
                <a:spcPts val="600"/>
              </a:spcBef>
              <a:spcAft>
                <a:spcPts val="1200"/>
              </a:spcAft>
            </a:pPr>
            <a:r>
              <a:rPr lang="en-AU" sz="2200" dirty="0" smtClean="0">
                <a:latin typeface="Helvetica" pitchFamily="34" charset="0"/>
              </a:rPr>
              <a:t>Specialist contractors</a:t>
            </a:r>
          </a:p>
          <a:p>
            <a:pPr lvl="0">
              <a:spcBef>
                <a:spcPts val="600"/>
              </a:spcBef>
              <a:spcAft>
                <a:spcPts val="1200"/>
              </a:spcAft>
            </a:pPr>
            <a:r>
              <a:rPr lang="en-AU" sz="2200" dirty="0" smtClean="0">
                <a:latin typeface="Helvetica" pitchFamily="34" charset="0"/>
              </a:rPr>
              <a:t>Casual employment </a:t>
            </a:r>
          </a:p>
          <a:p>
            <a:pPr lvl="0">
              <a:spcBef>
                <a:spcPts val="600"/>
              </a:spcBef>
              <a:spcAft>
                <a:spcPts val="1200"/>
              </a:spcAft>
            </a:pPr>
            <a:r>
              <a:rPr lang="en-AU" sz="2200" dirty="0" smtClean="0">
                <a:latin typeface="Helvetica" pitchFamily="34" charset="0"/>
              </a:rPr>
              <a:t>Employment agencies</a:t>
            </a:r>
          </a:p>
          <a:p>
            <a:pPr lvl="0">
              <a:spcBef>
                <a:spcPts val="600"/>
              </a:spcBef>
              <a:spcAft>
                <a:spcPts val="1200"/>
              </a:spcAft>
            </a:pPr>
            <a:r>
              <a:rPr lang="en-AU" sz="2200" dirty="0" smtClean="0">
                <a:latin typeface="Helvetica" pitchFamily="34" charset="0"/>
              </a:rPr>
              <a:t>Using managers</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45059" name="Picture 3" descr="I:\Overseas Projects\PHOTOS\2012\Culinary 2011\Culinary_Academy_014.jpg"/>
          <p:cNvPicPr>
            <a:picLocks noChangeAspect="1" noChangeArrowheads="1"/>
          </p:cNvPicPr>
          <p:nvPr/>
        </p:nvPicPr>
        <p:blipFill>
          <a:blip r:embed="rId3" cstate="print"/>
          <a:srcRect/>
          <a:stretch>
            <a:fillRect/>
          </a:stretch>
        </p:blipFill>
        <p:spPr bwMode="auto">
          <a:xfrm>
            <a:off x="5029200" y="2514600"/>
            <a:ext cx="2982419" cy="1981200"/>
          </a:xfrm>
          <a:prstGeom prst="rect">
            <a:avLst/>
          </a:prstGeom>
          <a:noFill/>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Confirming staff</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Because events/functions are one-off in nature staff used on them will often need to be contacted to confirm:</a:t>
            </a:r>
          </a:p>
          <a:p>
            <a:pPr>
              <a:spcBef>
                <a:spcPts val="600"/>
              </a:spcBef>
              <a:spcAft>
                <a:spcPts val="1200"/>
              </a:spcAft>
            </a:pPr>
            <a:r>
              <a:rPr lang="en-AU" sz="2200" dirty="0" smtClean="0">
                <a:latin typeface="Helvetica" pitchFamily="34" charset="0"/>
              </a:rPr>
              <a:t>Their availability</a:t>
            </a:r>
          </a:p>
          <a:p>
            <a:pPr>
              <a:spcBef>
                <a:spcPts val="600"/>
              </a:spcBef>
              <a:spcAft>
                <a:spcPts val="1200"/>
              </a:spcAft>
            </a:pPr>
            <a:r>
              <a:rPr lang="en-AU" sz="2200" dirty="0" smtClean="0">
                <a:latin typeface="Helvetica" pitchFamily="34" charset="0"/>
              </a:rPr>
              <a:t>Their willingness to work</a:t>
            </a:r>
          </a:p>
          <a:p>
            <a:pPr>
              <a:spcBef>
                <a:spcPts val="600"/>
              </a:spcBef>
              <a:spcAft>
                <a:spcPts val="1200"/>
              </a:spcAft>
            </a:pPr>
            <a:r>
              <a:rPr lang="en-AU" sz="2200" dirty="0" smtClean="0">
                <a:latin typeface="Helvetica" pitchFamily="34" charset="0"/>
              </a:rPr>
              <a:t>Confirmation of shift details</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46082" name="Picture 2" descr="C:\Documents and Settings\danielc\Local Settings\Temporary Internet Files\Content.IE5\UMECW9PM\MC900354309[1].wmf"/>
          <p:cNvPicPr>
            <a:picLocks noChangeAspect="1" noChangeArrowheads="1"/>
          </p:cNvPicPr>
          <p:nvPr/>
        </p:nvPicPr>
        <p:blipFill>
          <a:blip r:embed="rId3" cstate="print"/>
          <a:srcRect/>
          <a:stretch>
            <a:fillRect/>
          </a:stretch>
        </p:blipFill>
        <p:spPr bwMode="auto">
          <a:xfrm>
            <a:off x="6172200" y="2971800"/>
            <a:ext cx="1330859" cy="2213572"/>
          </a:xfrm>
          <a:prstGeom prst="rect">
            <a:avLst/>
          </a:prstGeom>
          <a:noFill/>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33400" y="1524000"/>
            <a:ext cx="7467600" cy="5606008"/>
          </a:xfrm>
        </p:spPr>
        <p:txBody>
          <a:bodyPr>
            <a:normAutofit/>
          </a:bodyPr>
          <a:lstStyle/>
          <a:p>
            <a:pPr>
              <a:spcBef>
                <a:spcPts val="600"/>
              </a:spcBef>
              <a:spcAft>
                <a:spcPts val="1200"/>
              </a:spcAft>
              <a:buNone/>
            </a:pPr>
            <a:r>
              <a:rPr lang="en-AU" sz="2200" b="1" dirty="0" smtClean="0">
                <a:latin typeface="Helvetica" pitchFamily="34" charset="0"/>
              </a:rPr>
              <a:t>Methods of communicating confirmation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Because events/functions are one-off in nature staff used on them will often need to be contacted to confirm their participation. Ways to contact staff include:</a:t>
            </a:r>
          </a:p>
          <a:p>
            <a:pPr lvl="0">
              <a:spcBef>
                <a:spcPts val="600"/>
              </a:spcBef>
              <a:spcAft>
                <a:spcPts val="1200"/>
              </a:spcAft>
            </a:pPr>
            <a:r>
              <a:rPr lang="en-AU" sz="2200" dirty="0" smtClean="0">
                <a:latin typeface="Helvetica" pitchFamily="34" charset="0"/>
              </a:rPr>
              <a:t>Posted on the noticeboard within the workplace</a:t>
            </a:r>
          </a:p>
          <a:p>
            <a:pPr lvl="0">
              <a:spcBef>
                <a:spcPts val="600"/>
              </a:spcBef>
              <a:spcAft>
                <a:spcPts val="1200"/>
              </a:spcAft>
            </a:pPr>
            <a:r>
              <a:rPr lang="en-AU" sz="2200" dirty="0" smtClean="0">
                <a:latin typeface="Helvetica" pitchFamily="34" charset="0"/>
              </a:rPr>
              <a:t>Distributing hard copies to individual staff</a:t>
            </a:r>
          </a:p>
          <a:p>
            <a:pPr lvl="0">
              <a:spcBef>
                <a:spcPts val="600"/>
              </a:spcBef>
              <a:spcAft>
                <a:spcPts val="1200"/>
              </a:spcAft>
            </a:pPr>
            <a:r>
              <a:rPr lang="en-AU" sz="2200" dirty="0" smtClean="0">
                <a:latin typeface="Helvetica" pitchFamily="34" charset="0"/>
              </a:rPr>
              <a:t>Phoning or texting staff members</a:t>
            </a:r>
          </a:p>
          <a:p>
            <a:pPr lvl="0">
              <a:spcBef>
                <a:spcPts val="600"/>
              </a:spcBef>
              <a:spcAft>
                <a:spcPts val="1200"/>
              </a:spcAft>
            </a:pPr>
            <a:r>
              <a:rPr lang="en-AU" sz="2200" dirty="0" smtClean="0">
                <a:latin typeface="Helvetica" pitchFamily="34" charset="0"/>
              </a:rPr>
              <a:t>E-mailing electronic copies to staff</a:t>
            </a:r>
          </a:p>
          <a:p>
            <a:pPr lvl="0">
              <a:spcBef>
                <a:spcPts val="600"/>
              </a:spcBef>
              <a:spcAft>
                <a:spcPts val="1200"/>
              </a:spcAft>
            </a:pPr>
            <a:r>
              <a:rPr lang="en-AU" sz="2200" dirty="0" smtClean="0">
                <a:latin typeface="Helvetica" pitchFamily="34" charset="0"/>
              </a:rPr>
              <a:t>Distribution in meetings</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142</a:t>
            </a:fld>
            <a:endParaRPr lang="en-US" dirty="0"/>
          </a:p>
        </p:txBody>
      </p:sp>
      <p:pic>
        <p:nvPicPr>
          <p:cNvPr id="6" name="Picture 5" descr="March 2005  503_RT8.TIF"/>
          <p:cNvPicPr/>
          <p:nvPr/>
        </p:nvPicPr>
        <p:blipFill>
          <a:blip r:embed="rId3" cstate="print"/>
          <a:stretch>
            <a:fillRect/>
          </a:stretch>
        </p:blipFill>
        <p:spPr>
          <a:xfrm>
            <a:off x="6444703" y="3657600"/>
            <a:ext cx="1906640" cy="1209675"/>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Minimise impact of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Functions affecting other outlets</a:t>
            </a:r>
          </a:p>
          <a:p>
            <a:pPr marL="0">
              <a:spcBef>
                <a:spcPts val="600"/>
              </a:spcBef>
              <a:spcAft>
                <a:spcPts val="1200"/>
              </a:spcAft>
              <a:buNone/>
            </a:pPr>
            <a:r>
              <a:rPr lang="en-AU" sz="2200" dirty="0" smtClean="0">
                <a:latin typeface="Helvetica" pitchFamily="34" charset="0"/>
              </a:rPr>
              <a:t>Most function departments within a hotel are very busy places, with a number of events being held at the same time. </a:t>
            </a:r>
          </a:p>
          <a:p>
            <a:pPr marL="0">
              <a:spcBef>
                <a:spcPts val="600"/>
              </a:spcBef>
              <a:spcAft>
                <a:spcPts val="1200"/>
              </a:spcAft>
              <a:buNone/>
            </a:pPr>
            <a:r>
              <a:rPr lang="en-AU" sz="2200" dirty="0" smtClean="0">
                <a:latin typeface="Helvetica" pitchFamily="34" charset="0"/>
              </a:rPr>
              <a:t>It is important that each function does not greatly impact on:</a:t>
            </a:r>
          </a:p>
          <a:p>
            <a:pPr>
              <a:spcBef>
                <a:spcPts val="600"/>
              </a:spcBef>
              <a:spcAft>
                <a:spcPts val="1200"/>
              </a:spcAft>
            </a:pPr>
            <a:r>
              <a:rPr lang="en-AU" sz="2200" dirty="0" smtClean="0">
                <a:latin typeface="Helvetica" pitchFamily="34" charset="0"/>
              </a:rPr>
              <a:t>Other functions</a:t>
            </a:r>
          </a:p>
          <a:p>
            <a:pPr>
              <a:spcBef>
                <a:spcPts val="600"/>
              </a:spcBef>
              <a:spcAft>
                <a:spcPts val="1200"/>
              </a:spcAft>
            </a:pPr>
            <a:r>
              <a:rPr lang="en-AU" sz="2200" dirty="0" smtClean="0">
                <a:latin typeface="Helvetica" pitchFamily="34" charset="0"/>
              </a:rPr>
              <a:t>General hotel outlets</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143</a:t>
            </a:fld>
            <a:endParaRPr lang="en-US" dirty="0"/>
          </a:p>
        </p:txBody>
      </p:sp>
      <p:pic>
        <p:nvPicPr>
          <p:cNvPr id="47106" name="Picture 2" descr="I:\Overseas Projects\PHOTOS\2012\Front office 2012\shutterstock_79036309.jpg"/>
          <p:cNvPicPr>
            <a:picLocks noChangeAspect="1" noChangeArrowheads="1"/>
          </p:cNvPicPr>
          <p:nvPr/>
        </p:nvPicPr>
        <p:blipFill>
          <a:blip r:embed="rId3" cstate="print"/>
          <a:srcRect/>
          <a:stretch>
            <a:fillRect/>
          </a:stretch>
        </p:blipFill>
        <p:spPr bwMode="auto">
          <a:xfrm>
            <a:off x="6400800" y="3962400"/>
            <a:ext cx="1447800" cy="2170004"/>
          </a:xfrm>
          <a:prstGeom prst="rect">
            <a:avLst/>
          </a:prstGeom>
          <a:noFill/>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Minimise impact of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Impacts on functions</a:t>
            </a:r>
          </a:p>
          <a:p>
            <a:pPr marL="0">
              <a:spcBef>
                <a:spcPts val="600"/>
              </a:spcBef>
              <a:spcAft>
                <a:spcPts val="1200"/>
              </a:spcAft>
              <a:buNone/>
            </a:pPr>
            <a:r>
              <a:rPr lang="en-AU" sz="2200" dirty="0" smtClean="0">
                <a:latin typeface="Helvetica" pitchFamily="34" charset="0"/>
              </a:rPr>
              <a:t>In addition, there may be impacts that will affect a function, either caused by:</a:t>
            </a:r>
          </a:p>
          <a:p>
            <a:pPr>
              <a:spcBef>
                <a:spcPts val="600"/>
              </a:spcBef>
              <a:spcAft>
                <a:spcPts val="1200"/>
              </a:spcAft>
            </a:pPr>
            <a:r>
              <a:rPr lang="en-AU" sz="2200" dirty="0" smtClean="0">
                <a:latin typeface="Helvetica" pitchFamily="34" charset="0"/>
              </a:rPr>
              <a:t>Other functions</a:t>
            </a:r>
          </a:p>
          <a:p>
            <a:pPr>
              <a:spcBef>
                <a:spcPts val="600"/>
              </a:spcBef>
              <a:spcAft>
                <a:spcPts val="1200"/>
              </a:spcAft>
            </a:pPr>
            <a:r>
              <a:rPr lang="en-AU" sz="2200" dirty="0" smtClean="0">
                <a:latin typeface="Helvetica" pitchFamily="34" charset="0"/>
              </a:rPr>
              <a:t>General hotel outlets</a:t>
            </a:r>
          </a:p>
          <a:p>
            <a:pPr>
              <a:spcBef>
                <a:spcPts val="600"/>
              </a:spcBef>
              <a:spcAft>
                <a:spcPts val="1200"/>
              </a:spcAft>
            </a:pPr>
            <a:r>
              <a:rPr lang="en-AU" sz="2200" dirty="0" smtClean="0">
                <a:latin typeface="Helvetica" pitchFamily="34" charset="0"/>
              </a:rPr>
              <a:t>Factors outside the hotel</a:t>
            </a:r>
          </a:p>
          <a:p>
            <a:pPr>
              <a:spcBef>
                <a:spcPts val="600"/>
              </a:spcBef>
              <a:spcAft>
                <a:spcPts val="1200"/>
              </a:spcAft>
            </a:pPr>
            <a:r>
              <a:rPr lang="en-AU" sz="2200" dirty="0" smtClean="0">
                <a:latin typeface="Helvetica" pitchFamily="34" charset="0"/>
              </a:rPr>
              <a:t>General environment</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144</a:t>
            </a:fld>
            <a:endParaRPr lang="en-US" dirty="0"/>
          </a:p>
        </p:txBody>
      </p:sp>
      <p:pic>
        <p:nvPicPr>
          <p:cNvPr id="48130" name="Picture 2" descr="C:\Documents and Settings\danielc\Desktop\1398763_hammer.jpg"/>
          <p:cNvPicPr>
            <a:picLocks noChangeAspect="1" noChangeArrowheads="1"/>
          </p:cNvPicPr>
          <p:nvPr/>
        </p:nvPicPr>
        <p:blipFill>
          <a:blip r:embed="rId3" cstate="print"/>
          <a:srcRect/>
          <a:stretch>
            <a:fillRect/>
          </a:stretch>
        </p:blipFill>
        <p:spPr bwMode="auto">
          <a:xfrm>
            <a:off x="5257800" y="2819400"/>
            <a:ext cx="2857500" cy="2124075"/>
          </a:xfrm>
          <a:prstGeom prst="rect">
            <a:avLst/>
          </a:prstGeom>
          <a:noFill/>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Minimise impact of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Impacts</a:t>
            </a:r>
          </a:p>
          <a:p>
            <a:pPr>
              <a:spcBef>
                <a:spcPts val="600"/>
              </a:spcBef>
              <a:spcAft>
                <a:spcPts val="1200"/>
              </a:spcAft>
            </a:pPr>
            <a:r>
              <a:rPr lang="en-AU" sz="2200" dirty="0" smtClean="0">
                <a:latin typeface="Helvetica" pitchFamily="34" charset="0"/>
              </a:rPr>
              <a:t>Shortage of staff </a:t>
            </a:r>
          </a:p>
          <a:p>
            <a:pPr>
              <a:spcBef>
                <a:spcPts val="600"/>
              </a:spcBef>
              <a:spcAft>
                <a:spcPts val="1200"/>
              </a:spcAft>
            </a:pPr>
            <a:r>
              <a:rPr lang="en-AU" sz="2200" dirty="0" smtClean="0">
                <a:latin typeface="Helvetica" pitchFamily="34" charset="0"/>
              </a:rPr>
              <a:t>Loss of power or IT connections </a:t>
            </a:r>
          </a:p>
          <a:p>
            <a:pPr>
              <a:spcBef>
                <a:spcPts val="600"/>
              </a:spcBef>
              <a:spcAft>
                <a:spcPts val="1200"/>
              </a:spcAft>
            </a:pPr>
            <a:r>
              <a:rPr lang="en-AU" sz="2200" dirty="0" smtClean="0">
                <a:latin typeface="Helvetica" pitchFamily="34" charset="0"/>
              </a:rPr>
              <a:t>Equipment malfunctions </a:t>
            </a:r>
          </a:p>
          <a:p>
            <a:pPr>
              <a:spcBef>
                <a:spcPts val="600"/>
              </a:spcBef>
              <a:spcAft>
                <a:spcPts val="1200"/>
              </a:spcAft>
            </a:pPr>
            <a:r>
              <a:rPr lang="en-AU" sz="2200" dirty="0" smtClean="0">
                <a:latin typeface="Helvetica" pitchFamily="34" charset="0"/>
              </a:rPr>
              <a:t>Excess noise affecting other areas of the business </a:t>
            </a:r>
          </a:p>
          <a:p>
            <a:pPr>
              <a:spcBef>
                <a:spcPts val="600"/>
              </a:spcBef>
              <a:spcAft>
                <a:spcPts val="1200"/>
              </a:spcAft>
            </a:pPr>
            <a:r>
              <a:rPr lang="en-AU" sz="2200" dirty="0" smtClean="0">
                <a:latin typeface="Helvetica" pitchFamily="34" charset="0"/>
              </a:rPr>
              <a:t>Shortage of food and beverage products and any associated items </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pic>
        <p:nvPicPr>
          <p:cNvPr id="49154" name="Picture 2" descr="C:\Documents and Settings\danielc\Desktop\781615_caterers_at_work_1.jpg"/>
          <p:cNvPicPr>
            <a:picLocks noChangeAspect="1" noChangeArrowheads="1"/>
          </p:cNvPicPr>
          <p:nvPr/>
        </p:nvPicPr>
        <p:blipFill>
          <a:blip r:embed="rId3" cstate="print">
            <a:grayscl/>
          </a:blip>
          <a:srcRect/>
          <a:stretch>
            <a:fillRect/>
          </a:stretch>
        </p:blipFill>
        <p:spPr bwMode="auto">
          <a:xfrm flipH="1">
            <a:off x="5791200" y="2209800"/>
            <a:ext cx="2171700" cy="1447800"/>
          </a:xfrm>
          <a:prstGeom prst="rect">
            <a:avLst/>
          </a:prstGeom>
          <a:noFill/>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Minimise impact of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Impacts</a:t>
            </a:r>
          </a:p>
          <a:p>
            <a:pPr>
              <a:spcBef>
                <a:spcPts val="600"/>
              </a:spcBef>
              <a:spcAft>
                <a:spcPts val="1200"/>
              </a:spcAft>
            </a:pPr>
            <a:r>
              <a:rPr lang="en-AU" sz="2200" dirty="0" smtClean="0">
                <a:latin typeface="Helvetica" pitchFamily="34" charset="0"/>
              </a:rPr>
              <a:t>Unacceptable behaviour</a:t>
            </a:r>
          </a:p>
          <a:p>
            <a:pPr>
              <a:spcBef>
                <a:spcPts val="600"/>
              </a:spcBef>
              <a:spcAft>
                <a:spcPts val="1200"/>
              </a:spcAft>
            </a:pPr>
            <a:r>
              <a:rPr lang="en-AU" sz="2200" dirty="0" smtClean="0">
                <a:latin typeface="Helvetica" pitchFamily="34" charset="0"/>
              </a:rPr>
              <a:t>Disruption to normal service caused </a:t>
            </a:r>
            <a:br>
              <a:rPr lang="en-AU" sz="2200" dirty="0" smtClean="0">
                <a:latin typeface="Helvetica" pitchFamily="34" charset="0"/>
              </a:rPr>
            </a:br>
            <a:r>
              <a:rPr lang="en-AU" sz="2200" dirty="0" smtClean="0">
                <a:latin typeface="Helvetica" pitchFamily="34" charset="0"/>
              </a:rPr>
              <a:t>by closure of room/areas</a:t>
            </a:r>
          </a:p>
          <a:p>
            <a:pPr>
              <a:spcBef>
                <a:spcPts val="600"/>
              </a:spcBef>
              <a:spcAft>
                <a:spcPts val="1200"/>
              </a:spcAft>
            </a:pPr>
            <a:r>
              <a:rPr lang="en-AU" sz="2200" dirty="0" smtClean="0">
                <a:latin typeface="Helvetica" pitchFamily="34" charset="0"/>
              </a:rPr>
              <a:t>Restricted access to the venue</a:t>
            </a:r>
          </a:p>
          <a:p>
            <a:pPr>
              <a:spcBef>
                <a:spcPts val="600"/>
              </a:spcBef>
              <a:spcAft>
                <a:spcPts val="1200"/>
              </a:spcAft>
            </a:pPr>
            <a:r>
              <a:rPr lang="en-AU" sz="2200" dirty="0" smtClean="0">
                <a:latin typeface="Helvetica" pitchFamily="34" charset="0"/>
              </a:rPr>
              <a:t>Reduced availability of parking for </a:t>
            </a:r>
            <a:br>
              <a:rPr lang="en-AU" sz="2200" dirty="0" smtClean="0">
                <a:latin typeface="Helvetica" pitchFamily="34" charset="0"/>
              </a:rPr>
            </a:br>
            <a:r>
              <a:rPr lang="en-AU" sz="2200" dirty="0" smtClean="0">
                <a:latin typeface="Helvetica" pitchFamily="34" charset="0"/>
              </a:rPr>
              <a:t>regular customers</a:t>
            </a:r>
          </a:p>
          <a:p>
            <a:endParaRPr lang="en-AU" sz="2400" b="1" dirty="0" smtClean="0"/>
          </a:p>
          <a:p>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pic>
        <p:nvPicPr>
          <p:cNvPr id="50178" name="Picture 2" descr="I:\Overseas Projects\PHOTOS\2012\Office\1209813_conference_registration_sign.jpg"/>
          <p:cNvPicPr>
            <a:picLocks noChangeAspect="1" noChangeArrowheads="1"/>
          </p:cNvPicPr>
          <p:nvPr/>
        </p:nvPicPr>
        <p:blipFill>
          <a:blip r:embed="rId3" cstate="print"/>
          <a:srcRect/>
          <a:stretch>
            <a:fillRect/>
          </a:stretch>
        </p:blipFill>
        <p:spPr bwMode="auto">
          <a:xfrm>
            <a:off x="6019800" y="2971800"/>
            <a:ext cx="2286000" cy="1524000"/>
          </a:xfrm>
          <a:prstGeom prst="rect">
            <a:avLst/>
          </a:prstGeom>
          <a:noFill/>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Minimise impact of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Adequate notification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Regardless of the activity that may impact on other customers and in-house guests, some advance notification should be given</a:t>
            </a:r>
          </a:p>
          <a:p>
            <a:pPr>
              <a:spcBef>
                <a:spcPts val="600"/>
              </a:spcBef>
              <a:spcAft>
                <a:spcPts val="1200"/>
              </a:spcAft>
            </a:pPr>
            <a:r>
              <a:rPr lang="en-AU" sz="2200" dirty="0" smtClean="0">
                <a:latin typeface="Helvetica" pitchFamily="34" charset="0"/>
              </a:rPr>
              <a:t>What types of notification are appropriate                           and effective?</a:t>
            </a:r>
          </a:p>
          <a:p>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pic>
        <p:nvPicPr>
          <p:cNvPr id="6" name="Picture 5" descr="MP900302926[1].JPG"/>
          <p:cNvPicPr/>
          <p:nvPr/>
        </p:nvPicPr>
        <p:blipFill>
          <a:blip r:embed="rId3" cstate="print"/>
          <a:stretch>
            <a:fillRect/>
          </a:stretch>
        </p:blipFill>
        <p:spPr>
          <a:xfrm>
            <a:off x="3657600" y="4114800"/>
            <a:ext cx="1618933" cy="2100263"/>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Minimise impact of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dirty="0" smtClean="0">
                <a:latin typeface="Helvetica" pitchFamily="34" charset="0"/>
              </a:rPr>
              <a:t>Methods of suitable notification may include:</a:t>
            </a:r>
          </a:p>
          <a:p>
            <a:pPr lvl="0">
              <a:spcBef>
                <a:spcPts val="600"/>
              </a:spcBef>
              <a:spcAft>
                <a:spcPts val="1200"/>
              </a:spcAft>
            </a:pPr>
            <a:r>
              <a:rPr lang="en-AU" sz="2200" dirty="0" smtClean="0">
                <a:latin typeface="Helvetica" pitchFamily="34" charset="0"/>
              </a:rPr>
              <a:t>Signs in the foyer</a:t>
            </a:r>
          </a:p>
          <a:p>
            <a:pPr lvl="0">
              <a:spcBef>
                <a:spcPts val="600"/>
              </a:spcBef>
              <a:spcAft>
                <a:spcPts val="1200"/>
              </a:spcAft>
            </a:pPr>
            <a:r>
              <a:rPr lang="en-AU" sz="2200" dirty="0" smtClean="0">
                <a:latin typeface="Helvetica" pitchFamily="34" charset="0"/>
              </a:rPr>
              <a:t>Signs in elevators and bathrooms</a:t>
            </a:r>
          </a:p>
          <a:p>
            <a:pPr lvl="0">
              <a:spcBef>
                <a:spcPts val="600"/>
              </a:spcBef>
              <a:spcAft>
                <a:spcPts val="1200"/>
              </a:spcAft>
            </a:pPr>
            <a:r>
              <a:rPr lang="en-AU" sz="2200" dirty="0" smtClean="0">
                <a:latin typeface="Helvetica" pitchFamily="34" charset="0"/>
              </a:rPr>
              <a:t>Letters sent to guest rooms</a:t>
            </a:r>
          </a:p>
          <a:p>
            <a:pPr lvl="0">
              <a:spcBef>
                <a:spcPts val="600"/>
              </a:spcBef>
              <a:spcAft>
                <a:spcPts val="1200"/>
              </a:spcAft>
            </a:pPr>
            <a:r>
              <a:rPr lang="en-AU" sz="2200" dirty="0" smtClean="0">
                <a:latin typeface="Helvetica" pitchFamily="34" charset="0"/>
              </a:rPr>
              <a:t>Verbal explanation – at reception or by staff                               in other departments</a:t>
            </a:r>
          </a:p>
          <a:p>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148</a:t>
            </a:fld>
            <a:endParaRPr lang="en-US" dirty="0"/>
          </a:p>
        </p:txBody>
      </p:sp>
      <p:pic>
        <p:nvPicPr>
          <p:cNvPr id="51203" name="Picture 3" descr="C:\Documents and Settings\danielc\Local Settings\Temporary Internet Files\Content.IE5\3DV3UKH9\MP900439423[1].jpg"/>
          <p:cNvPicPr>
            <a:picLocks noChangeAspect="1" noChangeArrowheads="1"/>
          </p:cNvPicPr>
          <p:nvPr/>
        </p:nvPicPr>
        <p:blipFill>
          <a:blip r:embed="rId3" cstate="print"/>
          <a:srcRect/>
          <a:stretch>
            <a:fillRect/>
          </a:stretch>
        </p:blipFill>
        <p:spPr bwMode="auto">
          <a:xfrm>
            <a:off x="6705600" y="1600200"/>
            <a:ext cx="1447800" cy="1447800"/>
          </a:xfrm>
          <a:prstGeom prst="rect">
            <a:avLst/>
          </a:prstGeom>
          <a:noFill/>
        </p:spPr>
      </p:pic>
      <p:pic>
        <p:nvPicPr>
          <p:cNvPr id="51204" name="Picture 4" descr="C:\Documents and Settings\danielc\Local Settings\Temporary Internet Files\Content.IE5\SIQ5KRQ3\MC900198572[1].wmf"/>
          <p:cNvPicPr>
            <a:picLocks noChangeAspect="1" noChangeArrowheads="1"/>
          </p:cNvPicPr>
          <p:nvPr/>
        </p:nvPicPr>
        <p:blipFill>
          <a:blip r:embed="rId4" cstate="print"/>
          <a:srcRect/>
          <a:stretch>
            <a:fillRect/>
          </a:stretch>
        </p:blipFill>
        <p:spPr bwMode="auto">
          <a:xfrm>
            <a:off x="6934200" y="2971800"/>
            <a:ext cx="1441643" cy="1686208"/>
          </a:xfrm>
          <a:prstGeom prst="rect">
            <a:avLst/>
          </a:prstGeom>
          <a:noFill/>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Many individual functions traditionally may require the use of specialised skills or equipment which may not be available within the organisation</a:t>
            </a:r>
          </a:p>
          <a:p>
            <a:pPr>
              <a:spcBef>
                <a:spcPts val="600"/>
              </a:spcBef>
              <a:spcAft>
                <a:spcPts val="1200"/>
              </a:spcAft>
            </a:pPr>
            <a:r>
              <a:rPr lang="en-AU" sz="2200" dirty="0" smtClean="0">
                <a:latin typeface="Helvetica" pitchFamily="34" charset="0"/>
              </a:rPr>
              <a:t>At these times, external services will be utilised.</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149</a:t>
            </a:fld>
            <a:endParaRPr lang="en-US" dirty="0"/>
          </a:p>
        </p:txBody>
      </p:sp>
      <p:pic>
        <p:nvPicPr>
          <p:cNvPr id="7" name="Picture 6" descr="MP900386115.JPG"/>
          <p:cNvPicPr/>
          <p:nvPr/>
        </p:nvPicPr>
        <p:blipFill>
          <a:blip r:embed="rId3" cstate="print"/>
          <a:stretch>
            <a:fillRect/>
          </a:stretch>
        </p:blipFill>
        <p:spPr>
          <a:xfrm>
            <a:off x="2286000" y="3747911"/>
            <a:ext cx="947984" cy="1433689"/>
          </a:xfrm>
          <a:prstGeom prst="rect">
            <a:avLst/>
          </a:prstGeom>
        </p:spPr>
      </p:pic>
      <p:pic>
        <p:nvPicPr>
          <p:cNvPr id="8" name="Picture 7" descr="MP900442347.JPG"/>
          <p:cNvPicPr/>
          <p:nvPr/>
        </p:nvPicPr>
        <p:blipFill>
          <a:blip r:embed="rId4" cstate="print"/>
          <a:stretch>
            <a:fillRect/>
          </a:stretch>
        </p:blipFill>
        <p:spPr>
          <a:xfrm>
            <a:off x="3352800" y="3733800"/>
            <a:ext cx="1414639" cy="948267"/>
          </a:xfrm>
          <a:prstGeom prst="rect">
            <a:avLst/>
          </a:prstGeom>
        </p:spPr>
      </p:pic>
      <p:pic>
        <p:nvPicPr>
          <p:cNvPr id="9" name="Picture 8" descr="MP900399956.JPG"/>
          <p:cNvPicPr/>
          <p:nvPr/>
        </p:nvPicPr>
        <p:blipFill>
          <a:blip r:embed="rId5" cstate="print"/>
          <a:stretch>
            <a:fillRect/>
          </a:stretch>
        </p:blipFill>
        <p:spPr>
          <a:xfrm>
            <a:off x="4876800" y="3742267"/>
            <a:ext cx="1057063" cy="1591733"/>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external providers </a:t>
            </a:r>
          </a:p>
          <a:p>
            <a:pPr lvl="0">
              <a:spcBef>
                <a:spcPts val="600"/>
              </a:spcBef>
              <a:spcAft>
                <a:spcPts val="1200"/>
              </a:spcAft>
            </a:pPr>
            <a:r>
              <a:rPr lang="en-AU" sz="2200" dirty="0" smtClean="0">
                <a:latin typeface="Helvetica" pitchFamily="34" charset="0"/>
              </a:rPr>
              <a:t>Florists </a:t>
            </a:r>
          </a:p>
          <a:p>
            <a:pPr lvl="0">
              <a:spcBef>
                <a:spcPts val="600"/>
              </a:spcBef>
              <a:spcAft>
                <a:spcPts val="1200"/>
              </a:spcAft>
            </a:pPr>
            <a:r>
              <a:rPr lang="en-AU" sz="2200" dirty="0" smtClean="0">
                <a:latin typeface="Helvetica" pitchFamily="34" charset="0"/>
              </a:rPr>
              <a:t>Photographers</a:t>
            </a:r>
          </a:p>
          <a:p>
            <a:pPr lvl="0">
              <a:spcBef>
                <a:spcPts val="600"/>
              </a:spcBef>
              <a:spcAft>
                <a:spcPts val="1200"/>
              </a:spcAft>
            </a:pPr>
            <a:r>
              <a:rPr lang="en-AU" sz="2200" dirty="0" smtClean="0">
                <a:latin typeface="Helvetica" pitchFamily="34" charset="0"/>
              </a:rPr>
              <a:t>Party Hire companies</a:t>
            </a:r>
          </a:p>
          <a:p>
            <a:pPr lvl="0">
              <a:spcBef>
                <a:spcPts val="600"/>
              </a:spcBef>
              <a:spcAft>
                <a:spcPts val="1200"/>
              </a:spcAft>
            </a:pPr>
            <a:r>
              <a:rPr lang="en-AU" sz="2200" dirty="0" smtClean="0">
                <a:latin typeface="Helvetica" pitchFamily="34" charset="0"/>
              </a:rPr>
              <a:t>Entertainers</a:t>
            </a:r>
          </a:p>
          <a:p>
            <a:pPr lvl="0">
              <a:spcBef>
                <a:spcPts val="600"/>
              </a:spcBef>
              <a:spcAft>
                <a:spcPts val="1200"/>
              </a:spcAft>
            </a:pPr>
            <a:r>
              <a:rPr lang="en-AU" sz="2200" dirty="0" smtClean="0">
                <a:latin typeface="Helvetica" pitchFamily="34" charset="0"/>
              </a:rPr>
              <a:t>AV Technicians</a:t>
            </a:r>
          </a:p>
          <a:p>
            <a:pPr lvl="0">
              <a:spcBef>
                <a:spcPts val="600"/>
              </a:spcBef>
              <a:spcAft>
                <a:spcPts val="1200"/>
              </a:spcAft>
            </a:pPr>
            <a:r>
              <a:rPr lang="en-AU" sz="2200" dirty="0" smtClean="0">
                <a:latin typeface="Helvetica" pitchFamily="34" charset="0"/>
              </a:rPr>
              <a:t>Printers</a:t>
            </a:r>
          </a:p>
          <a:p>
            <a:pPr lvl="0"/>
            <a:endParaRPr lang="en-AU" sz="2400" dirty="0" smtClean="0"/>
          </a:p>
          <a:p>
            <a:pPr>
              <a:buNone/>
            </a:pPr>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150</a:t>
            </a:fld>
            <a:endParaRPr lang="en-US" dirty="0"/>
          </a:p>
        </p:txBody>
      </p:sp>
      <p:pic>
        <p:nvPicPr>
          <p:cNvPr id="52227" name="Picture 3" descr="C:\Documents and Settings\danielc\Local Settings\Temporary Internet Files\Content.IE5\112MAXTI\MC900060191[1].wmf"/>
          <p:cNvPicPr>
            <a:picLocks noChangeAspect="1" noChangeArrowheads="1"/>
          </p:cNvPicPr>
          <p:nvPr/>
        </p:nvPicPr>
        <p:blipFill>
          <a:blip r:embed="rId3" cstate="print"/>
          <a:srcRect/>
          <a:stretch>
            <a:fillRect/>
          </a:stretch>
        </p:blipFill>
        <p:spPr bwMode="auto">
          <a:xfrm>
            <a:off x="6096000" y="2362200"/>
            <a:ext cx="1729130" cy="1834286"/>
          </a:xfrm>
          <a:prstGeom prst="rect">
            <a:avLst/>
          </a:prstGeom>
          <a:noFill/>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Sourcing option</a:t>
            </a:r>
            <a:r>
              <a:rPr lang="en-AU" sz="2200" dirty="0" smtClean="0">
                <a:latin typeface="Helvetica" pitchFamily="34" charset="0"/>
              </a:rPr>
              <a:t> </a:t>
            </a:r>
          </a:p>
          <a:p>
            <a:pPr>
              <a:spcBef>
                <a:spcPts val="600"/>
              </a:spcBef>
              <a:spcAft>
                <a:spcPts val="1200"/>
              </a:spcAft>
            </a:pPr>
            <a:r>
              <a:rPr lang="en-AU" sz="2200" dirty="0" smtClean="0">
                <a:latin typeface="Helvetica" pitchFamily="34" charset="0"/>
              </a:rPr>
              <a:t>Like with any business, different companies will offer different products and services as a means of identifying their point of difference</a:t>
            </a:r>
          </a:p>
          <a:p>
            <a:pPr>
              <a:spcBef>
                <a:spcPts val="600"/>
              </a:spcBef>
              <a:spcAft>
                <a:spcPts val="1200"/>
              </a:spcAft>
            </a:pPr>
            <a:r>
              <a:rPr lang="en-AU" sz="2200" dirty="0" smtClean="0">
                <a:latin typeface="Helvetica" pitchFamily="34" charset="0"/>
              </a:rPr>
              <a:t>It is a good idea to source at least three </a:t>
            </a:r>
            <a:br>
              <a:rPr lang="en-AU" sz="2200" dirty="0" smtClean="0">
                <a:latin typeface="Helvetica" pitchFamily="34" charset="0"/>
              </a:rPr>
            </a:br>
            <a:r>
              <a:rPr lang="en-AU" sz="2200" dirty="0" smtClean="0">
                <a:latin typeface="Helvetica" pitchFamily="34" charset="0"/>
              </a:rPr>
              <a:t>companies</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pic>
        <p:nvPicPr>
          <p:cNvPr id="6" name="Picture 5" descr="I:\Overseas Projects\PHOTOS\2012\Front office 2012\shutterstock_14099602.jpg"/>
          <p:cNvPicPr/>
          <p:nvPr/>
        </p:nvPicPr>
        <p:blipFill>
          <a:blip r:embed="rId3" cstate="print"/>
          <a:srcRect/>
          <a:stretch>
            <a:fillRect/>
          </a:stretch>
        </p:blipFill>
        <p:spPr bwMode="auto">
          <a:xfrm>
            <a:off x="6934200" y="2819400"/>
            <a:ext cx="1422753" cy="21561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371600"/>
            <a:ext cx="7467600" cy="5606008"/>
          </a:xfrm>
        </p:spPr>
        <p:txBody>
          <a:bodyPr>
            <a:normAutofit/>
          </a:bodyPr>
          <a:lstStyle/>
          <a:p>
            <a:pPr>
              <a:spcBef>
                <a:spcPts val="600"/>
              </a:spcBef>
              <a:spcAft>
                <a:spcPts val="1200"/>
              </a:spcAft>
              <a:buNone/>
            </a:pPr>
            <a:r>
              <a:rPr lang="en-AU" sz="2200" b="1" dirty="0" smtClean="0">
                <a:latin typeface="Helvetica" pitchFamily="34" charset="0"/>
              </a:rPr>
              <a:t>Liaising with providers to understand offering</a:t>
            </a:r>
          </a:p>
          <a:p>
            <a:pPr lvl="0">
              <a:spcBef>
                <a:spcPts val="600"/>
              </a:spcBef>
              <a:spcAft>
                <a:spcPts val="1200"/>
              </a:spcAft>
            </a:pPr>
            <a:r>
              <a:rPr lang="en-AU" sz="2200" dirty="0" smtClean="0">
                <a:latin typeface="Helvetica" pitchFamily="34" charset="0"/>
              </a:rPr>
              <a:t>Range of offering</a:t>
            </a:r>
          </a:p>
          <a:p>
            <a:pPr lvl="0">
              <a:spcBef>
                <a:spcPts val="600"/>
              </a:spcBef>
              <a:spcAft>
                <a:spcPts val="1200"/>
              </a:spcAft>
            </a:pPr>
            <a:r>
              <a:rPr lang="en-AU" sz="2200" dirty="0" smtClean="0">
                <a:latin typeface="Helvetica" pitchFamily="34" charset="0"/>
              </a:rPr>
              <a:t>Pricing structure for each item</a:t>
            </a:r>
          </a:p>
          <a:p>
            <a:pPr lvl="0">
              <a:spcBef>
                <a:spcPts val="600"/>
              </a:spcBef>
              <a:spcAft>
                <a:spcPts val="1200"/>
              </a:spcAft>
            </a:pPr>
            <a:r>
              <a:rPr lang="en-AU" sz="2200" dirty="0" smtClean="0">
                <a:latin typeface="Helvetica" pitchFamily="34" charset="0"/>
              </a:rPr>
              <a:t>Service guarantees</a:t>
            </a:r>
          </a:p>
          <a:p>
            <a:pPr lvl="0">
              <a:spcBef>
                <a:spcPts val="600"/>
              </a:spcBef>
              <a:spcAft>
                <a:spcPts val="1200"/>
              </a:spcAft>
            </a:pPr>
            <a:r>
              <a:rPr lang="en-AU" sz="2200" dirty="0" smtClean="0">
                <a:latin typeface="Helvetica" pitchFamily="34" charset="0"/>
              </a:rPr>
              <a:t>Availability</a:t>
            </a:r>
          </a:p>
          <a:p>
            <a:pPr lvl="0">
              <a:spcBef>
                <a:spcPts val="600"/>
              </a:spcBef>
              <a:spcAft>
                <a:spcPts val="1200"/>
              </a:spcAft>
            </a:pPr>
            <a:r>
              <a:rPr lang="en-AU" sz="2200" dirty="0" smtClean="0">
                <a:latin typeface="Helvetica" pitchFamily="34" charset="0"/>
              </a:rPr>
              <a:t>Pre-event services</a:t>
            </a:r>
          </a:p>
          <a:p>
            <a:pPr lvl="0">
              <a:spcBef>
                <a:spcPts val="600"/>
              </a:spcBef>
              <a:spcAft>
                <a:spcPts val="1200"/>
              </a:spcAft>
            </a:pPr>
            <a:r>
              <a:rPr lang="en-AU" sz="2200" dirty="0" smtClean="0">
                <a:latin typeface="Helvetica" pitchFamily="34" charset="0"/>
              </a:rPr>
              <a:t>Event services</a:t>
            </a:r>
          </a:p>
          <a:p>
            <a:pPr lvl="0">
              <a:spcBef>
                <a:spcPts val="600"/>
              </a:spcBef>
              <a:spcAft>
                <a:spcPts val="1200"/>
              </a:spcAft>
            </a:pPr>
            <a:r>
              <a:rPr lang="en-AU" sz="2200" dirty="0" smtClean="0">
                <a:latin typeface="Helvetica" pitchFamily="34" charset="0"/>
              </a:rPr>
              <a:t>Post-event services</a:t>
            </a:r>
          </a:p>
          <a:p>
            <a:pPr lvl="0">
              <a:spcBef>
                <a:spcPts val="600"/>
              </a:spcBef>
              <a:spcAft>
                <a:spcPts val="1200"/>
              </a:spcAft>
            </a:pPr>
            <a:r>
              <a:rPr lang="en-AU" sz="2200" dirty="0" smtClean="0">
                <a:latin typeface="Helvetica" pitchFamily="34" charset="0"/>
              </a:rPr>
              <a:t>Billing and payment arrangements</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7" name="Picture 6" descr="I:\Overseas Projects\PHOTOS\2012\Front office 2012\shutterstock_100858450.jpg"/>
          <p:cNvPicPr/>
          <p:nvPr/>
        </p:nvPicPr>
        <p:blipFill>
          <a:blip r:embed="rId3" cstate="print"/>
          <a:srcRect/>
          <a:stretch>
            <a:fillRect/>
          </a:stretch>
        </p:blipFill>
        <p:spPr bwMode="auto">
          <a:xfrm>
            <a:off x="5715000" y="2895600"/>
            <a:ext cx="2063750" cy="1447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Facilitating access by external providers </a:t>
            </a:r>
          </a:p>
          <a:p>
            <a:pPr>
              <a:spcBef>
                <a:spcPts val="600"/>
              </a:spcBef>
              <a:spcAft>
                <a:spcPts val="1200"/>
              </a:spcAft>
              <a:buNone/>
            </a:pPr>
            <a:r>
              <a:rPr lang="en-AU" sz="2200" dirty="0" smtClean="0">
                <a:latin typeface="Helvetica" pitchFamily="34" charset="0"/>
              </a:rPr>
              <a:t>It is essential that providers understand:</a:t>
            </a:r>
          </a:p>
          <a:p>
            <a:pPr lvl="0">
              <a:spcBef>
                <a:spcPts val="600"/>
              </a:spcBef>
              <a:spcAft>
                <a:spcPts val="1200"/>
              </a:spcAft>
            </a:pPr>
            <a:r>
              <a:rPr lang="en-AU" sz="2200" dirty="0" smtClean="0">
                <a:latin typeface="Helvetica" pitchFamily="34" charset="0"/>
              </a:rPr>
              <a:t>What time they have access</a:t>
            </a:r>
          </a:p>
          <a:p>
            <a:pPr lvl="0">
              <a:spcBef>
                <a:spcPts val="600"/>
              </a:spcBef>
              <a:spcAft>
                <a:spcPts val="1200"/>
              </a:spcAft>
            </a:pPr>
            <a:r>
              <a:rPr lang="en-AU" sz="2200" dirty="0" smtClean="0">
                <a:latin typeface="Helvetica" pitchFamily="34" charset="0"/>
              </a:rPr>
              <a:t>Delivery and parking zones</a:t>
            </a:r>
          </a:p>
          <a:p>
            <a:pPr lvl="0">
              <a:spcBef>
                <a:spcPts val="600"/>
              </a:spcBef>
              <a:spcAft>
                <a:spcPts val="1200"/>
              </a:spcAft>
            </a:pPr>
            <a:r>
              <a:rPr lang="en-AU" sz="2200" dirty="0" smtClean="0">
                <a:latin typeface="Helvetica" pitchFamily="34" charset="0"/>
              </a:rPr>
              <a:t>Storage areas</a:t>
            </a:r>
          </a:p>
          <a:p>
            <a:pPr lvl="0">
              <a:spcBef>
                <a:spcPts val="600"/>
              </a:spcBef>
              <a:spcAft>
                <a:spcPts val="1200"/>
              </a:spcAft>
            </a:pPr>
            <a:r>
              <a:rPr lang="en-AU" sz="2200" dirty="0" smtClean="0">
                <a:latin typeface="Helvetica" pitchFamily="34" charset="0"/>
              </a:rPr>
              <a:t>Commencement and finishing times                                      of the function</a:t>
            </a:r>
          </a:p>
          <a:p>
            <a:pPr lvl="0">
              <a:spcBef>
                <a:spcPts val="600"/>
              </a:spcBef>
              <a:spcAft>
                <a:spcPts val="1200"/>
              </a:spcAft>
            </a:pPr>
            <a:r>
              <a:rPr lang="en-AU" sz="2200" dirty="0" smtClean="0">
                <a:latin typeface="Helvetica" pitchFamily="34" charset="0"/>
              </a:rPr>
              <a:t>Amount of time allocated after the                                  event for access</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7" name="Picture 6" descr="MP900386045.JPG"/>
          <p:cNvPicPr>
            <a:picLocks noChangeAspect="1"/>
          </p:cNvPicPr>
          <p:nvPr/>
        </p:nvPicPr>
        <p:blipFill>
          <a:blip r:embed="rId3" cstate="print"/>
          <a:stretch>
            <a:fillRect/>
          </a:stretch>
        </p:blipFill>
        <p:spPr>
          <a:xfrm>
            <a:off x="5943600" y="3200400"/>
            <a:ext cx="2026920" cy="1447800"/>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Connecting service providers with customer, where appropriate</a:t>
            </a:r>
          </a:p>
          <a:p>
            <a:pPr marL="0">
              <a:spcBef>
                <a:spcPts val="600"/>
              </a:spcBef>
              <a:spcAft>
                <a:spcPts val="1200"/>
              </a:spcAft>
              <a:buNone/>
            </a:pPr>
            <a:r>
              <a:rPr lang="en-AU" sz="2200" dirty="0" smtClean="0">
                <a:latin typeface="Helvetica" pitchFamily="34" charset="0"/>
              </a:rPr>
              <a:t>In many cases functions staff will suggest that external providers correspond directly with the client because:</a:t>
            </a:r>
          </a:p>
          <a:p>
            <a:pPr lvl="0">
              <a:spcBef>
                <a:spcPts val="600"/>
              </a:spcBef>
              <a:spcAft>
                <a:spcPts val="1200"/>
              </a:spcAft>
            </a:pPr>
            <a:r>
              <a:rPr lang="en-AU" sz="2200" dirty="0" smtClean="0">
                <a:latin typeface="Helvetica" pitchFamily="34" charset="0"/>
              </a:rPr>
              <a:t>Functions staff do not have the technical knowledge or understanding</a:t>
            </a:r>
          </a:p>
          <a:p>
            <a:pPr lvl="0">
              <a:spcBef>
                <a:spcPts val="600"/>
              </a:spcBef>
              <a:spcAft>
                <a:spcPts val="1200"/>
              </a:spcAft>
            </a:pPr>
            <a:r>
              <a:rPr lang="en-AU" sz="2200" dirty="0" smtClean="0">
                <a:latin typeface="Helvetica" pitchFamily="34" charset="0"/>
              </a:rPr>
              <a:t>External providers can explain what                                 they can offer and provide suggestions</a:t>
            </a:r>
          </a:p>
          <a:p>
            <a:pPr lvl="0">
              <a:spcBef>
                <a:spcPts val="600"/>
              </a:spcBef>
              <a:spcAft>
                <a:spcPts val="1200"/>
              </a:spcAft>
            </a:pPr>
            <a:r>
              <a:rPr lang="en-AU" sz="2200" dirty="0" smtClean="0">
                <a:latin typeface="Helvetica" pitchFamily="34" charset="0"/>
              </a:rPr>
              <a:t>Can remove a level of activity or                             responsibility from the functions department</a:t>
            </a:r>
          </a:p>
          <a:p>
            <a:pPr>
              <a:buNone/>
            </a:pPr>
            <a:endParaRPr lang="en-AU" sz="2400" dirty="0" smtClean="0"/>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53250" name="Picture 2" descr="C:\Documents and Settings\danielc\Local Settings\Temporary Internet Files\Content.IE5\UMECW9PM\MC900238254[1].wmf"/>
          <p:cNvPicPr>
            <a:picLocks noChangeAspect="1" noChangeArrowheads="1"/>
          </p:cNvPicPr>
          <p:nvPr/>
        </p:nvPicPr>
        <p:blipFill>
          <a:blip r:embed="rId3" cstate="print"/>
          <a:srcRect/>
          <a:stretch>
            <a:fillRect/>
          </a:stretch>
        </p:blipFill>
        <p:spPr bwMode="auto">
          <a:xfrm>
            <a:off x="6858000" y="3962400"/>
            <a:ext cx="1872029" cy="2126810"/>
          </a:xfrm>
          <a:prstGeom prst="rect">
            <a:avLst/>
          </a:prstGeom>
          <a:noFill/>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Purchase necessary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Stock is a very important aspect of a function and without it no function can take place. </a:t>
            </a:r>
          </a:p>
          <a:p>
            <a:pPr marL="0">
              <a:spcBef>
                <a:spcPts val="600"/>
              </a:spcBef>
              <a:spcAft>
                <a:spcPts val="1200"/>
              </a:spcAft>
              <a:buNone/>
            </a:pPr>
            <a:r>
              <a:rPr lang="en-AU" sz="2200" dirty="0" smtClean="0">
                <a:latin typeface="Helvetica" pitchFamily="34" charset="0"/>
              </a:rPr>
              <a:t>Many functions require a wide variety of stock items which need to be arranged, whether:</a:t>
            </a:r>
          </a:p>
          <a:p>
            <a:pPr>
              <a:spcBef>
                <a:spcPts val="600"/>
              </a:spcBef>
              <a:spcAft>
                <a:spcPts val="1200"/>
              </a:spcAft>
            </a:pPr>
            <a:r>
              <a:rPr lang="en-AU" sz="2200" dirty="0" smtClean="0">
                <a:latin typeface="Helvetica" pitchFamily="34" charset="0"/>
              </a:rPr>
              <a:t>Borrowed from other departments</a:t>
            </a:r>
          </a:p>
          <a:p>
            <a:pPr>
              <a:spcBef>
                <a:spcPts val="600"/>
              </a:spcBef>
              <a:spcAft>
                <a:spcPts val="1200"/>
              </a:spcAft>
            </a:pPr>
            <a:r>
              <a:rPr lang="en-AU" sz="2200" dirty="0" smtClean="0">
                <a:latin typeface="Helvetica" pitchFamily="34" charset="0"/>
              </a:rPr>
              <a:t>Ordered internally through the purchasing department</a:t>
            </a:r>
          </a:p>
          <a:p>
            <a:pPr>
              <a:spcBef>
                <a:spcPts val="600"/>
              </a:spcBef>
              <a:spcAft>
                <a:spcPts val="1200"/>
              </a:spcAft>
            </a:pPr>
            <a:r>
              <a:rPr lang="en-AU" sz="2200" dirty="0" smtClean="0">
                <a:latin typeface="Helvetica" pitchFamily="34" charset="0"/>
              </a:rPr>
              <a:t>Purchased or hired through external providers</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Purchase necessary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Regardless of how stock is arranged it is essential that the:</a:t>
            </a:r>
          </a:p>
          <a:p>
            <a:pPr lvl="0">
              <a:spcBef>
                <a:spcPts val="600"/>
              </a:spcBef>
              <a:spcAft>
                <a:spcPts val="1200"/>
              </a:spcAft>
            </a:pPr>
            <a:r>
              <a:rPr lang="en-AU" sz="2200" dirty="0" smtClean="0">
                <a:latin typeface="Helvetica" pitchFamily="34" charset="0"/>
              </a:rPr>
              <a:t>Right stock is available</a:t>
            </a:r>
          </a:p>
          <a:p>
            <a:pPr lvl="0">
              <a:spcBef>
                <a:spcPts val="600"/>
              </a:spcBef>
              <a:spcAft>
                <a:spcPts val="1200"/>
              </a:spcAft>
            </a:pPr>
            <a:r>
              <a:rPr lang="en-AU" sz="2200" dirty="0" smtClean="0">
                <a:latin typeface="Helvetica" pitchFamily="34" charset="0"/>
              </a:rPr>
              <a:t>In the right amount</a:t>
            </a:r>
          </a:p>
          <a:p>
            <a:pPr lvl="0">
              <a:spcBef>
                <a:spcPts val="600"/>
              </a:spcBef>
              <a:spcAft>
                <a:spcPts val="1200"/>
              </a:spcAft>
            </a:pPr>
            <a:r>
              <a:rPr lang="en-AU" sz="2200" dirty="0" smtClean="0">
                <a:latin typeface="Helvetica" pitchFamily="34" charset="0"/>
              </a:rPr>
              <a:t>In the right condition</a:t>
            </a:r>
          </a:p>
          <a:p>
            <a:pPr lvl="0">
              <a:spcBef>
                <a:spcPts val="600"/>
              </a:spcBef>
              <a:spcAft>
                <a:spcPts val="1200"/>
              </a:spcAft>
            </a:pPr>
            <a:r>
              <a:rPr lang="en-AU" sz="2200" dirty="0" smtClean="0">
                <a:latin typeface="Helvetica" pitchFamily="34" charset="0"/>
              </a:rPr>
              <a:t>At the right time</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pic>
        <p:nvPicPr>
          <p:cNvPr id="9" name="Picture 8" descr="IMG_2135.jpg"/>
          <p:cNvPicPr>
            <a:picLocks noChangeAspect="1"/>
          </p:cNvPicPr>
          <p:nvPr/>
        </p:nvPicPr>
        <p:blipFill>
          <a:blip r:embed="rId3" cstate="print"/>
          <a:stretch>
            <a:fillRect/>
          </a:stretch>
        </p:blipFill>
        <p:spPr>
          <a:xfrm>
            <a:off x="5181600" y="2590800"/>
            <a:ext cx="2844800" cy="2133600"/>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Purchase necessary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Types of stock</a:t>
            </a:r>
          </a:p>
          <a:p>
            <a:pPr lvl="0">
              <a:spcBef>
                <a:spcPts val="600"/>
              </a:spcBef>
              <a:spcAft>
                <a:spcPts val="1200"/>
              </a:spcAft>
            </a:pPr>
            <a:r>
              <a:rPr lang="en-AU" sz="2200" dirty="0" smtClean="0">
                <a:latin typeface="Helvetica" pitchFamily="34" charset="0"/>
              </a:rPr>
              <a:t>Food and beverages</a:t>
            </a:r>
          </a:p>
          <a:p>
            <a:pPr lvl="0">
              <a:spcBef>
                <a:spcPts val="600"/>
              </a:spcBef>
              <a:spcAft>
                <a:spcPts val="1200"/>
              </a:spcAft>
            </a:pPr>
            <a:r>
              <a:rPr lang="en-AU" sz="2200" dirty="0" smtClean="0">
                <a:latin typeface="Helvetica" pitchFamily="34" charset="0"/>
              </a:rPr>
              <a:t>Decorations</a:t>
            </a:r>
          </a:p>
          <a:p>
            <a:pPr lvl="0">
              <a:spcBef>
                <a:spcPts val="600"/>
              </a:spcBef>
              <a:spcAft>
                <a:spcPts val="1200"/>
              </a:spcAft>
            </a:pPr>
            <a:r>
              <a:rPr lang="en-AU" sz="2200" dirty="0" smtClean="0">
                <a:latin typeface="Helvetica" pitchFamily="34" charset="0"/>
              </a:rPr>
              <a:t>Stationery</a:t>
            </a:r>
          </a:p>
          <a:p>
            <a:pPr lvl="0">
              <a:spcBef>
                <a:spcPts val="600"/>
              </a:spcBef>
              <a:spcAft>
                <a:spcPts val="1200"/>
              </a:spcAft>
            </a:pPr>
            <a:r>
              <a:rPr lang="en-AU" sz="2200" dirty="0" smtClean="0">
                <a:latin typeface="Helvetica" pitchFamily="34" charset="0"/>
              </a:rPr>
              <a:t>Equipment</a:t>
            </a:r>
          </a:p>
          <a:p>
            <a:pPr lvl="0">
              <a:spcBef>
                <a:spcPts val="600"/>
              </a:spcBef>
              <a:spcAft>
                <a:spcPts val="1200"/>
              </a:spcAft>
            </a:pPr>
            <a:r>
              <a:rPr lang="en-AU" sz="2200" dirty="0" smtClean="0">
                <a:latin typeface="Helvetica" pitchFamily="34" charset="0"/>
              </a:rPr>
              <a:t>Linen</a:t>
            </a:r>
          </a:p>
          <a:p>
            <a:pPr marL="0">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54275" name="Picture 3" descr="C:\Documents and Settings\danielc\Local Settings\Temporary Internet Files\Content.IE5\SIQ5KRQ3\MC900290945[1].wmf"/>
          <p:cNvPicPr>
            <a:picLocks noChangeAspect="1" noChangeArrowheads="1"/>
          </p:cNvPicPr>
          <p:nvPr/>
        </p:nvPicPr>
        <p:blipFill>
          <a:blip r:embed="rId3" cstate="print"/>
          <a:srcRect/>
          <a:stretch>
            <a:fillRect/>
          </a:stretch>
        </p:blipFill>
        <p:spPr bwMode="auto">
          <a:xfrm>
            <a:off x="5486400" y="2362200"/>
            <a:ext cx="1694507" cy="950614"/>
          </a:xfrm>
          <a:prstGeom prst="rect">
            <a:avLst/>
          </a:prstGeom>
          <a:noFill/>
        </p:spPr>
      </p:pic>
      <p:pic>
        <p:nvPicPr>
          <p:cNvPr id="54276" name="Picture 4" descr="C:\Documents and Settings\danielc\Local Settings\Temporary Internet Files\Content.IE5\112MAXTI\MP900402828[1].jpg"/>
          <p:cNvPicPr>
            <a:picLocks noChangeAspect="1" noChangeArrowheads="1"/>
          </p:cNvPicPr>
          <p:nvPr/>
        </p:nvPicPr>
        <p:blipFill>
          <a:blip r:embed="rId4" cstate="print"/>
          <a:srcRect/>
          <a:stretch>
            <a:fillRect/>
          </a:stretch>
        </p:blipFill>
        <p:spPr bwMode="auto">
          <a:xfrm>
            <a:off x="6553200" y="1371600"/>
            <a:ext cx="1139952" cy="1293383"/>
          </a:xfrm>
          <a:prstGeom prst="rect">
            <a:avLst/>
          </a:prstGeom>
          <a:noFill/>
        </p:spPr>
      </p:pic>
      <p:pic>
        <p:nvPicPr>
          <p:cNvPr id="54278" name="Picture 6" descr="C:\Documents and Settings\danielc\Local Settings\Temporary Internet Files\Content.IE5\SIQ5KRQ3\MP900402832[1].jpg"/>
          <p:cNvPicPr>
            <a:picLocks noChangeAspect="1" noChangeArrowheads="1"/>
          </p:cNvPicPr>
          <p:nvPr/>
        </p:nvPicPr>
        <p:blipFill>
          <a:blip r:embed="rId5" cstate="print"/>
          <a:srcRect/>
          <a:stretch>
            <a:fillRect/>
          </a:stretch>
        </p:blipFill>
        <p:spPr bwMode="auto">
          <a:xfrm>
            <a:off x="7010400" y="2895600"/>
            <a:ext cx="1455312" cy="1377696"/>
          </a:xfrm>
          <a:prstGeom prst="rect">
            <a:avLst/>
          </a:prstGeom>
          <a:noFill/>
        </p:spPr>
      </p:pic>
      <p:pic>
        <p:nvPicPr>
          <p:cNvPr id="54279" name="Picture 7" descr="C:\Documents and Settings\danielc\Local Settings\Temporary Internet Files\Content.IE5\3DV3UKH9\MC900237619[1].wmf"/>
          <p:cNvPicPr>
            <a:picLocks noChangeAspect="1" noChangeArrowheads="1"/>
          </p:cNvPicPr>
          <p:nvPr/>
        </p:nvPicPr>
        <p:blipFill>
          <a:blip r:embed="rId6" cstate="print"/>
          <a:srcRect/>
          <a:stretch>
            <a:fillRect/>
          </a:stretch>
        </p:blipFill>
        <p:spPr bwMode="auto">
          <a:xfrm>
            <a:off x="6019800" y="3352800"/>
            <a:ext cx="909534" cy="1514946"/>
          </a:xfrm>
          <a:prstGeom prst="rect">
            <a:avLst/>
          </a:prstGeom>
          <a:noFill/>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Purchase necessary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Types of stock</a:t>
            </a:r>
          </a:p>
          <a:p>
            <a:pPr lvl="0">
              <a:spcBef>
                <a:spcPts val="600"/>
              </a:spcBef>
              <a:spcAft>
                <a:spcPts val="1200"/>
              </a:spcAft>
            </a:pPr>
            <a:r>
              <a:rPr lang="en-AU" sz="2200" dirty="0" smtClean="0">
                <a:latin typeface="Helvetica" pitchFamily="34" charset="0"/>
              </a:rPr>
              <a:t>Crockery and glassware</a:t>
            </a:r>
          </a:p>
          <a:p>
            <a:pPr lvl="0">
              <a:spcBef>
                <a:spcPts val="600"/>
              </a:spcBef>
              <a:spcAft>
                <a:spcPts val="1200"/>
              </a:spcAft>
            </a:pPr>
            <a:r>
              <a:rPr lang="en-AU" sz="2200" dirty="0" smtClean="0">
                <a:latin typeface="Helvetica" pitchFamily="34" charset="0"/>
              </a:rPr>
              <a:t>Cleaning supplies</a:t>
            </a:r>
          </a:p>
          <a:p>
            <a:pPr>
              <a:spcBef>
                <a:spcPts val="600"/>
              </a:spcBef>
              <a:spcAft>
                <a:spcPts val="1200"/>
              </a:spcAft>
            </a:pPr>
            <a:r>
              <a:rPr lang="en-AU" sz="2200" dirty="0" smtClean="0">
                <a:latin typeface="Helvetica" pitchFamily="34" charset="0"/>
              </a:rPr>
              <a:t>Consumables</a:t>
            </a: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pic>
        <p:nvPicPr>
          <p:cNvPr id="7" name="Picture 6" descr="IMG_1978.jpg"/>
          <p:cNvPicPr>
            <a:picLocks noChangeAspect="1"/>
          </p:cNvPicPr>
          <p:nvPr/>
        </p:nvPicPr>
        <p:blipFill>
          <a:blip r:embed="rId3" cstate="print">
            <a:lum bright="20000"/>
          </a:blip>
          <a:stretch>
            <a:fillRect/>
          </a:stretch>
        </p:blipFill>
        <p:spPr>
          <a:xfrm>
            <a:off x="5105400" y="2209800"/>
            <a:ext cx="2438400" cy="1828800"/>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Purchase necessary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600"/>
              </a:spcAft>
              <a:buNone/>
            </a:pPr>
            <a:r>
              <a:rPr lang="en-AU" sz="2200" b="1" dirty="0" smtClean="0">
                <a:latin typeface="Helvetica" pitchFamily="34" charset="0"/>
              </a:rPr>
              <a:t>Ordering stock externally</a:t>
            </a:r>
          </a:p>
          <a:p>
            <a:pPr marL="0">
              <a:spcBef>
                <a:spcPts val="600"/>
              </a:spcBef>
              <a:spcAft>
                <a:spcPts val="600"/>
              </a:spcAft>
              <a:buNone/>
            </a:pPr>
            <a:r>
              <a:rPr lang="en-AU" sz="2200" dirty="0" smtClean="0">
                <a:latin typeface="Helvetica" pitchFamily="34" charset="0"/>
              </a:rPr>
              <a:t>People who may have the authority to purchase items must be aware of: </a:t>
            </a:r>
          </a:p>
          <a:p>
            <a:pPr lvl="0">
              <a:spcBef>
                <a:spcPts val="600"/>
              </a:spcBef>
              <a:spcAft>
                <a:spcPts val="600"/>
              </a:spcAft>
            </a:pPr>
            <a:r>
              <a:rPr lang="en-AU" sz="2200" dirty="0" smtClean="0">
                <a:latin typeface="Helvetica" pitchFamily="34" charset="0"/>
              </a:rPr>
              <a:t>Dollar limits that apply</a:t>
            </a:r>
          </a:p>
          <a:p>
            <a:pPr lvl="0">
              <a:spcBef>
                <a:spcPts val="600"/>
              </a:spcBef>
              <a:spcAft>
                <a:spcPts val="600"/>
              </a:spcAft>
            </a:pPr>
            <a:r>
              <a:rPr lang="en-AU" sz="2200" dirty="0" smtClean="0">
                <a:latin typeface="Helvetica" pitchFamily="34" charset="0"/>
              </a:rPr>
              <a:t>Terms of trade</a:t>
            </a:r>
          </a:p>
          <a:p>
            <a:pPr lvl="0">
              <a:spcBef>
                <a:spcPts val="600"/>
              </a:spcBef>
              <a:spcAft>
                <a:spcPts val="600"/>
              </a:spcAft>
            </a:pPr>
            <a:r>
              <a:rPr lang="en-AU" sz="2200" dirty="0" smtClean="0">
                <a:latin typeface="Helvetica" pitchFamily="34" charset="0"/>
              </a:rPr>
              <a:t>Preferred suppliers</a:t>
            </a:r>
          </a:p>
          <a:p>
            <a:pPr lvl="0">
              <a:spcBef>
                <a:spcPts val="600"/>
              </a:spcBef>
              <a:spcAft>
                <a:spcPts val="600"/>
              </a:spcAft>
            </a:pPr>
            <a:r>
              <a:rPr lang="en-AU" sz="2200" dirty="0" smtClean="0">
                <a:latin typeface="Helvetica" pitchFamily="34" charset="0"/>
              </a:rPr>
              <a:t>Preferred in-house delivery requirements</a:t>
            </a:r>
          </a:p>
          <a:p>
            <a:pPr lvl="0">
              <a:spcBef>
                <a:spcPts val="600"/>
              </a:spcBef>
              <a:spcAft>
                <a:spcPts val="600"/>
              </a:spcAft>
            </a:pPr>
            <a:r>
              <a:rPr lang="en-AU" sz="2200" dirty="0" smtClean="0">
                <a:latin typeface="Helvetica" pitchFamily="34" charset="0"/>
              </a:rPr>
              <a:t>Full establishment details</a:t>
            </a:r>
          </a:p>
          <a:p>
            <a:pPr lvl="0">
              <a:spcBef>
                <a:spcPts val="600"/>
              </a:spcBef>
              <a:spcAft>
                <a:spcPts val="600"/>
              </a:spcAft>
            </a:pPr>
            <a:r>
              <a:rPr lang="en-AU" sz="2200" dirty="0" smtClean="0">
                <a:latin typeface="Helvetica" pitchFamily="34" charset="0"/>
              </a:rPr>
              <a:t>Documentation needed</a:t>
            </a:r>
          </a:p>
          <a:p>
            <a:pPr lvl="0">
              <a:spcBef>
                <a:spcPts val="600"/>
              </a:spcBef>
              <a:spcAft>
                <a:spcPts val="600"/>
              </a:spcAft>
            </a:pPr>
            <a:r>
              <a:rPr lang="en-AU" sz="2200" dirty="0" smtClean="0">
                <a:latin typeface="Helvetica" pitchFamily="34" charset="0"/>
              </a:rPr>
              <a:t>Signatures or authorisations required</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55298" name="Picture 2" descr="C:\Documents and Settings\danielc\Local Settings\Temporary Internet Files\Content.IE5\UMECW9PM\MP900438672[1].jpg"/>
          <p:cNvPicPr>
            <a:picLocks noChangeAspect="1" noChangeArrowheads="1"/>
          </p:cNvPicPr>
          <p:nvPr/>
        </p:nvPicPr>
        <p:blipFill>
          <a:blip r:embed="rId3" cstate="print"/>
          <a:srcRect/>
          <a:stretch>
            <a:fillRect/>
          </a:stretch>
        </p:blipFill>
        <p:spPr bwMode="auto">
          <a:xfrm>
            <a:off x="6019800" y="2794000"/>
            <a:ext cx="2286000" cy="1524000"/>
          </a:xfrm>
          <a:prstGeom prst="rect">
            <a:avLst/>
          </a:prstGeom>
          <a:noFill/>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Purchase necessary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Purchase orders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To purchase a service or goods from an external supplier, whether arranged directly or through internal channels, in most cases you will be required to complete a purchase order form. </a:t>
            </a:r>
          </a:p>
          <a:p>
            <a:pPr>
              <a:spcBef>
                <a:spcPts val="600"/>
              </a:spcBef>
              <a:spcAft>
                <a:spcPts val="1200"/>
              </a:spcAft>
            </a:pPr>
            <a:r>
              <a:rPr lang="en-AU" sz="2200" dirty="0" smtClean="0">
                <a:latin typeface="Helvetica" pitchFamily="34" charset="0"/>
              </a:rPr>
              <a:t>What information is included in a purchase order form?</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56322" name="Picture 2" descr="C:\Documents and Settings\danielc\Local Settings\Temporary Internet Files\Content.IE5\UMECW9PM\MC900279048[1].wmf"/>
          <p:cNvPicPr>
            <a:picLocks noChangeAspect="1" noChangeArrowheads="1"/>
          </p:cNvPicPr>
          <p:nvPr/>
        </p:nvPicPr>
        <p:blipFill>
          <a:blip r:embed="rId3" cstate="print"/>
          <a:srcRect/>
          <a:stretch>
            <a:fillRect/>
          </a:stretch>
        </p:blipFill>
        <p:spPr bwMode="auto">
          <a:xfrm>
            <a:off x="3733800" y="4495800"/>
            <a:ext cx="1827886" cy="1776679"/>
          </a:xfrm>
          <a:prstGeom prst="rect">
            <a:avLst/>
          </a:prstGeom>
          <a:noFill/>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Purchase necessary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Purchase orders information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Purchase order number </a:t>
            </a:r>
          </a:p>
          <a:p>
            <a:pPr lvl="0">
              <a:spcBef>
                <a:spcPts val="600"/>
              </a:spcBef>
              <a:spcAft>
                <a:spcPts val="1200"/>
              </a:spcAft>
            </a:pPr>
            <a:r>
              <a:rPr lang="en-AU" sz="2200" dirty="0" smtClean="0">
                <a:latin typeface="Helvetica" pitchFamily="34" charset="0"/>
              </a:rPr>
              <a:t>Supplier’s name, address, telephone number </a:t>
            </a:r>
          </a:p>
          <a:p>
            <a:pPr lvl="0">
              <a:spcBef>
                <a:spcPts val="600"/>
              </a:spcBef>
              <a:spcAft>
                <a:spcPts val="1200"/>
              </a:spcAft>
            </a:pPr>
            <a:r>
              <a:rPr lang="en-AU" sz="2200" dirty="0" smtClean="0">
                <a:latin typeface="Helvetica" pitchFamily="34" charset="0"/>
              </a:rPr>
              <a:t>Date of order </a:t>
            </a:r>
          </a:p>
          <a:p>
            <a:pPr lvl="0">
              <a:spcBef>
                <a:spcPts val="600"/>
              </a:spcBef>
              <a:spcAft>
                <a:spcPts val="1200"/>
              </a:spcAft>
            </a:pPr>
            <a:r>
              <a:rPr lang="en-AU" sz="2200" dirty="0" smtClean="0">
                <a:latin typeface="Helvetica" pitchFamily="34" charset="0"/>
              </a:rPr>
              <a:t>Description of the item and quantity required </a:t>
            </a:r>
          </a:p>
          <a:p>
            <a:pPr lvl="0">
              <a:spcBef>
                <a:spcPts val="600"/>
              </a:spcBef>
              <a:spcAft>
                <a:spcPts val="1200"/>
              </a:spcAft>
            </a:pPr>
            <a:r>
              <a:rPr lang="en-AU" sz="2200" dirty="0" smtClean="0">
                <a:latin typeface="Helvetica" pitchFamily="34" charset="0"/>
              </a:rPr>
              <a:t>Unit and total price for the hire/purchase </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pic>
        <p:nvPicPr>
          <p:cNvPr id="57346" name="Picture 2" descr="C:\Documents and Settings\danielc\Local Settings\Temporary Internet Files\Content.IE5\SIQ5KRQ3\MC900441511[1].png"/>
          <p:cNvPicPr>
            <a:picLocks noChangeAspect="1" noChangeArrowheads="1"/>
          </p:cNvPicPr>
          <p:nvPr/>
        </p:nvPicPr>
        <p:blipFill>
          <a:blip r:embed="rId3" cstate="print"/>
          <a:srcRect/>
          <a:stretch>
            <a:fillRect/>
          </a:stretch>
        </p:blipFill>
        <p:spPr bwMode="auto">
          <a:xfrm>
            <a:off x="7086600" y="3048000"/>
            <a:ext cx="1066572" cy="1066572"/>
          </a:xfrm>
          <a:prstGeom prst="rect">
            <a:avLst/>
          </a:prstGeom>
          <a:noFill/>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Purchase necessary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Purchase orders information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Date and place of delivery of the items/services </a:t>
            </a:r>
          </a:p>
          <a:p>
            <a:pPr lvl="0">
              <a:spcBef>
                <a:spcPts val="600"/>
              </a:spcBef>
              <a:spcAft>
                <a:spcPts val="1200"/>
              </a:spcAft>
            </a:pPr>
            <a:r>
              <a:rPr lang="en-AU" sz="2200" dirty="0" smtClean="0">
                <a:latin typeface="Helvetica" pitchFamily="34" charset="0"/>
              </a:rPr>
              <a:t>Payment terms and conditions </a:t>
            </a:r>
          </a:p>
          <a:p>
            <a:pPr lvl="0">
              <a:spcBef>
                <a:spcPts val="600"/>
              </a:spcBef>
              <a:spcAft>
                <a:spcPts val="1200"/>
              </a:spcAft>
            </a:pPr>
            <a:r>
              <a:rPr lang="en-AU" sz="2200" dirty="0" smtClean="0">
                <a:latin typeface="Helvetica" pitchFamily="34" charset="0"/>
              </a:rPr>
              <a:t>Name, department and signature of person placing the order</a:t>
            </a:r>
          </a:p>
          <a:p>
            <a:pPr lvl="0">
              <a:spcBef>
                <a:spcPts val="600"/>
              </a:spcBef>
              <a:spcAft>
                <a:spcPts val="1200"/>
              </a:spcAft>
            </a:pPr>
            <a:r>
              <a:rPr lang="en-AU" sz="2200" dirty="0" smtClean="0">
                <a:latin typeface="Helvetica" pitchFamily="34" charset="0"/>
              </a:rPr>
              <a:t>Reason for the order</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5" name="Picture 4" descr="00227474.jpg"/>
          <p:cNvPicPr>
            <a:picLocks noChangeAspect="1"/>
          </p:cNvPicPr>
          <p:nvPr/>
        </p:nvPicPr>
        <p:blipFill>
          <a:blip r:embed="rId3" cstate="print"/>
          <a:stretch>
            <a:fillRect/>
          </a:stretch>
        </p:blipFill>
        <p:spPr>
          <a:xfrm>
            <a:off x="5562600" y="3962400"/>
            <a:ext cx="2283178" cy="1541145"/>
          </a:xfrm>
          <a:prstGeom prst="rect">
            <a:avLst/>
          </a:prstGeom>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Delivery of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Delivery of stock</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All incoming stock must be checked against purchase and supply agreements, in all necessary details.</a:t>
            </a:r>
          </a:p>
          <a:p>
            <a:pPr>
              <a:spcBef>
                <a:spcPts val="600"/>
              </a:spcBef>
              <a:spcAft>
                <a:spcPts val="1200"/>
              </a:spcAft>
            </a:pPr>
            <a:r>
              <a:rPr lang="en-AU" sz="2200" dirty="0" smtClean="0">
                <a:latin typeface="Helvetica" pitchFamily="34" charset="0"/>
              </a:rPr>
              <a:t>What do you check?</a:t>
            </a:r>
          </a:p>
          <a:p>
            <a:pPr>
              <a:spcBef>
                <a:spcPts val="600"/>
              </a:spcBef>
              <a:spcAft>
                <a:spcPts val="1200"/>
              </a:spcAft>
            </a:pPr>
            <a:r>
              <a:rPr lang="en-AU" sz="2200" dirty="0" smtClean="0">
                <a:latin typeface="Helvetica" pitchFamily="34" charset="0"/>
              </a:rPr>
              <a:t>What do you do with the stock once it is </a:t>
            </a:r>
            <a:br>
              <a:rPr lang="en-AU" sz="2200" dirty="0" smtClean="0">
                <a:latin typeface="Helvetica" pitchFamily="34" charset="0"/>
              </a:rPr>
            </a:br>
            <a:r>
              <a:rPr lang="en-AU" sz="2200" dirty="0" smtClean="0">
                <a:latin typeface="Helvetica" pitchFamily="34" charset="0"/>
              </a:rPr>
              <a:t>checked?</a:t>
            </a:r>
          </a:p>
          <a:p>
            <a:pPr>
              <a:spcBef>
                <a:spcPts val="600"/>
              </a:spcBef>
              <a:spcAft>
                <a:spcPts val="1200"/>
              </a:spcAft>
            </a:pPr>
            <a:r>
              <a:rPr lang="en-AU" sz="2200" dirty="0" smtClean="0">
                <a:latin typeface="Helvetica" pitchFamily="34" charset="0"/>
              </a:rPr>
              <a:t>What do you do if the items are incorrect?</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163</a:t>
            </a:fld>
            <a:endParaRPr lang="en-US" dirty="0"/>
          </a:p>
        </p:txBody>
      </p:sp>
      <p:pic>
        <p:nvPicPr>
          <p:cNvPr id="58370" name="Picture 2" descr="I:\Overseas Projects\PHOTOS\2012\Office\Doc Checking.jpg"/>
          <p:cNvPicPr>
            <a:picLocks noChangeAspect="1" noChangeArrowheads="1"/>
          </p:cNvPicPr>
          <p:nvPr/>
        </p:nvPicPr>
        <p:blipFill>
          <a:blip r:embed="rId3" cstate="print"/>
          <a:srcRect/>
          <a:stretch>
            <a:fillRect/>
          </a:stretch>
        </p:blipFill>
        <p:spPr bwMode="auto">
          <a:xfrm>
            <a:off x="6858000" y="2743200"/>
            <a:ext cx="1182688" cy="2160587"/>
          </a:xfrm>
          <a:prstGeom prst="rect">
            <a:avLst/>
          </a:prstGeom>
          <a:noFill/>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Delivery of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Checking deliveries</a:t>
            </a:r>
            <a:endParaRPr lang="en-AU" sz="2200" dirty="0" smtClean="0">
              <a:latin typeface="Helvetica" pitchFamily="34" charset="0"/>
            </a:endParaRPr>
          </a:p>
          <a:p>
            <a:pPr>
              <a:spcBef>
                <a:spcPts val="600"/>
              </a:spcBef>
              <a:spcAft>
                <a:spcPts val="1200"/>
              </a:spcAft>
              <a:buNone/>
            </a:pPr>
            <a:r>
              <a:rPr lang="en-AU" sz="2000" dirty="0" smtClean="0">
                <a:latin typeface="Helvetica" pitchFamily="34" charset="0"/>
              </a:rPr>
              <a:t>When checking a delivery, your aim is to</a:t>
            </a:r>
          </a:p>
          <a:p>
            <a:pPr>
              <a:spcBef>
                <a:spcPts val="600"/>
              </a:spcBef>
              <a:spcAft>
                <a:spcPts val="1200"/>
              </a:spcAft>
              <a:buNone/>
            </a:pPr>
            <a:r>
              <a:rPr lang="en-AU" sz="2000" dirty="0" smtClean="0">
                <a:latin typeface="Helvetica" pitchFamily="34" charset="0"/>
              </a:rPr>
              <a:t>confirm:</a:t>
            </a:r>
          </a:p>
          <a:p>
            <a:pPr lvl="0">
              <a:spcBef>
                <a:spcPts val="600"/>
              </a:spcBef>
              <a:spcAft>
                <a:spcPts val="1200"/>
              </a:spcAft>
            </a:pPr>
            <a:r>
              <a:rPr lang="en-AU" sz="2000" dirty="0" smtClean="0">
                <a:latin typeface="Helvetica" pitchFamily="34" charset="0"/>
              </a:rPr>
              <a:t>All items ordered have been supplied</a:t>
            </a:r>
          </a:p>
          <a:p>
            <a:pPr lvl="0">
              <a:spcBef>
                <a:spcPts val="600"/>
              </a:spcBef>
              <a:spcAft>
                <a:spcPts val="1200"/>
              </a:spcAft>
            </a:pPr>
            <a:r>
              <a:rPr lang="en-AU" sz="2000" dirty="0" smtClean="0">
                <a:latin typeface="Helvetica" pitchFamily="34" charset="0"/>
              </a:rPr>
              <a:t>All items listed on the paperwork have been delivered</a:t>
            </a:r>
          </a:p>
          <a:p>
            <a:pPr lvl="0">
              <a:spcBef>
                <a:spcPts val="600"/>
              </a:spcBef>
              <a:spcAft>
                <a:spcPts val="1200"/>
              </a:spcAft>
            </a:pPr>
            <a:r>
              <a:rPr lang="en-AU" sz="2000" dirty="0" smtClean="0"/>
              <a:t>A</a:t>
            </a:r>
            <a:r>
              <a:rPr lang="en-AU" sz="2000" dirty="0" smtClean="0">
                <a:latin typeface="Helvetica" pitchFamily="34" charset="0"/>
              </a:rPr>
              <a:t>ll items delivered are in good condition</a:t>
            </a:r>
          </a:p>
          <a:p>
            <a:pPr lvl="0">
              <a:spcBef>
                <a:spcPts val="600"/>
              </a:spcBef>
              <a:spcAft>
                <a:spcPts val="1200"/>
              </a:spcAft>
            </a:pPr>
            <a:r>
              <a:rPr lang="en-AU" sz="2000" dirty="0" smtClean="0">
                <a:latin typeface="Helvetica" pitchFamily="34" charset="0"/>
              </a:rPr>
              <a:t>Ensure items are of the correct size </a:t>
            </a:r>
          </a:p>
          <a:p>
            <a:pPr lvl="0">
              <a:spcBef>
                <a:spcPts val="600"/>
              </a:spcBef>
              <a:spcAft>
                <a:spcPts val="1200"/>
              </a:spcAft>
            </a:pPr>
            <a:r>
              <a:rPr lang="en-AU" sz="2000" dirty="0" smtClean="0">
                <a:latin typeface="Helvetica" pitchFamily="34" charset="0"/>
              </a:rPr>
              <a:t>Ensure items are of the correct quality </a:t>
            </a:r>
          </a:p>
          <a:p>
            <a:pPr>
              <a:spcBef>
                <a:spcPts val="600"/>
              </a:spcBef>
              <a:spcAft>
                <a:spcPts val="1200"/>
              </a:spcAft>
            </a:pPr>
            <a:r>
              <a:rPr lang="en-AU" sz="2000" dirty="0" smtClean="0">
                <a:latin typeface="Helvetica" pitchFamily="34" charset="0"/>
              </a:rPr>
              <a:t>Ensure the correct price has been charged </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164</a:t>
            </a:fld>
            <a:endParaRPr lang="en-US" dirty="0"/>
          </a:p>
        </p:txBody>
      </p:sp>
      <p:pic>
        <p:nvPicPr>
          <p:cNvPr id="59394" name="Picture 2" descr="I:\Overseas Projects\PHOTOS\2012\Office\review.jpg"/>
          <p:cNvPicPr>
            <a:picLocks noChangeAspect="1" noChangeArrowheads="1"/>
          </p:cNvPicPr>
          <p:nvPr/>
        </p:nvPicPr>
        <p:blipFill>
          <a:blip r:embed="rId3" cstate="print"/>
          <a:srcRect/>
          <a:stretch>
            <a:fillRect/>
          </a:stretch>
        </p:blipFill>
        <p:spPr bwMode="auto">
          <a:xfrm>
            <a:off x="6324600" y="1447800"/>
            <a:ext cx="1533181" cy="1528763"/>
          </a:xfrm>
          <a:prstGeom prst="rect">
            <a:avLst/>
          </a:prstGeom>
          <a:noFill/>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Prepare Running Sheet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Along with a copy of the Function Sheet, it is common house policy to present the client with a Running Sheet for their function</a:t>
            </a:r>
          </a:p>
          <a:p>
            <a:pPr lvl="0">
              <a:spcBef>
                <a:spcPts val="600"/>
              </a:spcBef>
              <a:spcAft>
                <a:spcPts val="1200"/>
              </a:spcAft>
            </a:pPr>
            <a:r>
              <a:rPr lang="en-AU" sz="2200" dirty="0" smtClean="0">
                <a:latin typeface="Helvetica" pitchFamily="34" charset="0"/>
              </a:rPr>
              <a:t>What is the difference between a Function Sheet and a Running Sheet?</a:t>
            </a:r>
          </a:p>
          <a:p>
            <a:pPr lvl="0">
              <a:spcBef>
                <a:spcPts val="600"/>
              </a:spcBef>
              <a:spcAft>
                <a:spcPts val="1200"/>
              </a:spcAft>
            </a:pPr>
            <a:r>
              <a:rPr lang="en-AU" sz="2200" dirty="0" smtClean="0">
                <a:latin typeface="Helvetica" pitchFamily="34" charset="0"/>
              </a:rPr>
              <a:t>What is the purpose of a Running Sheet?</a:t>
            </a: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165</a:t>
            </a:fld>
            <a:endParaRPr lang="en-US" dirty="0"/>
          </a:p>
        </p:txBody>
      </p:sp>
      <p:graphicFrame>
        <p:nvGraphicFramePr>
          <p:cNvPr id="7" name="Table 6"/>
          <p:cNvGraphicFramePr>
            <a:graphicFrameLocks noGrp="1"/>
          </p:cNvGraphicFramePr>
          <p:nvPr/>
        </p:nvGraphicFramePr>
        <p:xfrm>
          <a:off x="1524000" y="4572000"/>
          <a:ext cx="6096000" cy="1735074"/>
        </p:xfrm>
        <a:graphic>
          <a:graphicData uri="http://schemas.openxmlformats.org/drawingml/2006/table">
            <a:tbl>
              <a:tblPr/>
              <a:tblGrid>
                <a:gridCol w="3047661"/>
                <a:gridCol w="3048339"/>
              </a:tblGrid>
              <a:tr h="81915">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Guest arrival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6:30PM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r>
              <a:tr h="81915">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Pre-dinner drinks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6:45PM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r>
              <a:tr h="81915">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Seated for dinner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7:15PM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r>
              <a:tr h="81915">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Entree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7:20PM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r>
              <a:tr h="81915">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Speech and presentation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7:45PM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r>
              <a:tr h="81915">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Main course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8:15PM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r>
              <a:tr h="81915">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Entertainment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9:00PM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r>
              <a:tr h="81915">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Dessert/coffee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9:30PM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r>
              <a:tr h="81915">
                <a:tc>
                  <a:txBody>
                    <a:bodyPr/>
                    <a:lstStyle/>
                    <a:p>
                      <a:pPr>
                        <a:lnSpc>
                          <a:spcPct val="115000"/>
                        </a:lnSpc>
                        <a:spcBef>
                          <a:spcPts val="400"/>
                        </a:spcBef>
                        <a:spcAft>
                          <a:spcPts val="600"/>
                        </a:spcAft>
                      </a:pPr>
                      <a:r>
                        <a:rPr lang="en-AU" sz="1100">
                          <a:solidFill>
                            <a:srgbClr val="000000"/>
                          </a:solidFill>
                          <a:latin typeface="Helvetica"/>
                          <a:ea typeface="Calibri"/>
                          <a:cs typeface="HelveticaNeueLT Std Lt"/>
                        </a:rPr>
                        <a:t>Departure </a:t>
                      </a:r>
                      <a:endParaRPr lang="en-AU" sz="120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c>
                  <a:txBody>
                    <a:bodyPr/>
                    <a:lstStyle/>
                    <a:p>
                      <a:pPr>
                        <a:lnSpc>
                          <a:spcPct val="115000"/>
                        </a:lnSpc>
                        <a:spcBef>
                          <a:spcPts val="400"/>
                        </a:spcBef>
                        <a:spcAft>
                          <a:spcPts val="600"/>
                        </a:spcAft>
                      </a:pPr>
                      <a:r>
                        <a:rPr lang="en-AU" sz="1100" dirty="0">
                          <a:solidFill>
                            <a:srgbClr val="000000"/>
                          </a:solidFill>
                          <a:latin typeface="Helvetica"/>
                          <a:ea typeface="Calibri"/>
                          <a:cs typeface="HelveticaNeueLT Std Lt"/>
                        </a:rPr>
                        <a:t>10:30PM </a:t>
                      </a:r>
                      <a:endParaRPr lang="en-AU" sz="1200" dirty="0">
                        <a:latin typeface="HelveticaNeueLT Std Med Cn"/>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F1DD"/>
                    </a:solidFill>
                  </a:tcPr>
                </a:tc>
              </a:tr>
            </a:tbl>
          </a:graphicData>
        </a:graphic>
      </p:graphicFrame>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Prepare Running Sheet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A Running Sheet identifies:</a:t>
            </a:r>
          </a:p>
          <a:p>
            <a:pPr marL="0">
              <a:spcBef>
                <a:spcPts val="600"/>
              </a:spcBef>
              <a:spcAft>
                <a:spcPts val="1200"/>
              </a:spcAft>
            </a:pPr>
            <a:r>
              <a:rPr lang="en-AU" sz="2200" dirty="0" smtClean="0">
                <a:latin typeface="Helvetica" pitchFamily="34" charset="0"/>
              </a:rPr>
              <a:t>Timing of different activities</a:t>
            </a:r>
          </a:p>
          <a:p>
            <a:pPr marL="0">
              <a:spcBef>
                <a:spcPts val="600"/>
              </a:spcBef>
              <a:spcAft>
                <a:spcPts val="1200"/>
              </a:spcAft>
            </a:pPr>
            <a:r>
              <a:rPr lang="en-AU" sz="2200" dirty="0" smtClean="0">
                <a:latin typeface="Helvetica" pitchFamily="34" charset="0"/>
              </a:rPr>
              <a:t>Supporting resources</a:t>
            </a:r>
          </a:p>
          <a:p>
            <a:pPr marL="0">
              <a:spcBef>
                <a:spcPts val="600"/>
              </a:spcBef>
              <a:spcAft>
                <a:spcPts val="1200"/>
              </a:spcAft>
            </a:pPr>
            <a:r>
              <a:rPr lang="en-AU" sz="2200" dirty="0" smtClean="0">
                <a:latin typeface="Helvetica" pitchFamily="34" charset="0"/>
              </a:rPr>
              <a:t>Actions</a:t>
            </a:r>
          </a:p>
          <a:p>
            <a:pPr marL="0">
              <a:spcBef>
                <a:spcPts val="600"/>
              </a:spcBef>
              <a:spcAft>
                <a:spcPts val="1200"/>
              </a:spcAft>
            </a:pPr>
            <a:r>
              <a:rPr lang="en-AU" sz="2200" dirty="0" smtClean="0">
                <a:latin typeface="Helvetica" pitchFamily="34" charset="0"/>
              </a:rPr>
              <a:t>Responsibilities</a:t>
            </a:r>
          </a:p>
          <a:p>
            <a:pPr marL="0">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166</a:t>
            </a:fld>
            <a:endParaRPr lang="en-US" dirty="0"/>
          </a:p>
        </p:txBody>
      </p:sp>
      <p:pic>
        <p:nvPicPr>
          <p:cNvPr id="8" name="Picture 7" descr="March 2005  390_RT8.TIF"/>
          <p:cNvPicPr>
            <a:picLocks noChangeAspect="1"/>
          </p:cNvPicPr>
          <p:nvPr/>
        </p:nvPicPr>
        <p:blipFill>
          <a:blip r:embed="rId3" cstate="print"/>
          <a:stretch>
            <a:fillRect/>
          </a:stretch>
        </p:blipFill>
        <p:spPr>
          <a:xfrm>
            <a:off x="5867400" y="4343400"/>
            <a:ext cx="2514600" cy="1676400"/>
          </a:xfrm>
          <a:prstGeom prst="rect">
            <a:avLst/>
          </a:prstGeo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Prepare Running Sheet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Benefits of timing</a:t>
            </a:r>
          </a:p>
          <a:p>
            <a:pPr marL="0">
              <a:spcBef>
                <a:spcPts val="600"/>
              </a:spcBef>
              <a:spcAft>
                <a:spcPts val="1200"/>
              </a:spcAft>
              <a:buNone/>
            </a:pPr>
            <a:r>
              <a:rPr lang="en-AU" sz="2200" dirty="0" smtClean="0">
                <a:latin typeface="Helvetica" pitchFamily="34" charset="0"/>
              </a:rPr>
              <a:t>Determining the appropriate times for the different stages of the function will ensure provisions can be timed and coordinated to coincide with the client’s timing requirements: </a:t>
            </a:r>
          </a:p>
          <a:p>
            <a:pPr>
              <a:spcBef>
                <a:spcPts val="600"/>
              </a:spcBef>
              <a:spcAft>
                <a:spcPts val="1200"/>
              </a:spcAft>
            </a:pPr>
            <a:r>
              <a:rPr lang="en-AU" sz="2200" dirty="0" smtClean="0">
                <a:latin typeface="Helvetica" pitchFamily="34" charset="0"/>
              </a:rPr>
              <a:t>Food and beverage service </a:t>
            </a:r>
          </a:p>
          <a:p>
            <a:pPr>
              <a:spcBef>
                <a:spcPts val="600"/>
              </a:spcBef>
              <a:spcAft>
                <a:spcPts val="1200"/>
              </a:spcAft>
            </a:pPr>
            <a:r>
              <a:rPr lang="en-AU" sz="2200" dirty="0" smtClean="0">
                <a:latin typeface="Helvetica" pitchFamily="34" charset="0"/>
              </a:rPr>
              <a:t>Technical arrangements </a:t>
            </a:r>
          </a:p>
          <a:p>
            <a:pPr>
              <a:spcBef>
                <a:spcPts val="600"/>
              </a:spcBef>
              <a:spcAft>
                <a:spcPts val="1200"/>
              </a:spcAft>
            </a:pPr>
            <a:r>
              <a:rPr lang="en-AU" sz="2200" dirty="0" smtClean="0">
                <a:latin typeface="Helvetica" pitchFamily="34" charset="0"/>
              </a:rPr>
              <a:t>Other service requirements</a:t>
            </a:r>
          </a:p>
          <a:p>
            <a:pPr>
              <a:spcBef>
                <a:spcPts val="600"/>
              </a:spcBef>
              <a:spcAft>
                <a:spcPts val="1200"/>
              </a:spcAft>
              <a:buNone/>
            </a:pPr>
            <a:endParaRPr lang="en-AU" sz="2400" dirty="0" smtClean="0"/>
          </a:p>
          <a:p>
            <a:pPr>
              <a:spcBef>
                <a:spcPts val="600"/>
              </a:spcBef>
              <a:spcAft>
                <a:spcPts val="1200"/>
              </a:spcAft>
              <a:buNone/>
            </a:pP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167</a:t>
            </a:fld>
            <a:endParaRPr lang="en-US" dirty="0"/>
          </a:p>
        </p:txBody>
      </p:sp>
      <p:pic>
        <p:nvPicPr>
          <p:cNvPr id="181249" name="Picture 1" descr="C:\Documents and Settings\danielc\Local Settings\Temporary Internet Files\Content.IE5\SIQ5KRQ3\MC900442060[1].wmf"/>
          <p:cNvPicPr>
            <a:picLocks noChangeAspect="1" noChangeArrowheads="1"/>
          </p:cNvPicPr>
          <p:nvPr/>
        </p:nvPicPr>
        <p:blipFill>
          <a:blip r:embed="rId3" cstate="print"/>
          <a:srcRect/>
          <a:stretch>
            <a:fillRect/>
          </a:stretch>
        </p:blipFill>
        <p:spPr bwMode="auto">
          <a:xfrm>
            <a:off x="6096000" y="3352800"/>
            <a:ext cx="1873250" cy="1730375"/>
          </a:xfrm>
          <a:prstGeom prst="rect">
            <a:avLst/>
          </a:prstGeom>
          <a:noFill/>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Prepare Running Sheet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Explaining Running Sheets</a:t>
            </a:r>
          </a:p>
          <a:p>
            <a:pPr marL="0">
              <a:spcBef>
                <a:spcPts val="600"/>
              </a:spcBef>
              <a:spcAft>
                <a:spcPts val="1200"/>
              </a:spcAft>
              <a:buNone/>
            </a:pPr>
            <a:r>
              <a:rPr lang="en-AU" sz="2200" dirty="0" smtClean="0">
                <a:latin typeface="Helvetica" pitchFamily="34" charset="0"/>
              </a:rPr>
              <a:t>Not only is it important that all relevant personnel have received a copy of the Running Sheet, but it is vital that they understand:</a:t>
            </a:r>
          </a:p>
          <a:p>
            <a:pPr lvl="0">
              <a:spcBef>
                <a:spcPts val="600"/>
              </a:spcBef>
              <a:spcAft>
                <a:spcPts val="1200"/>
              </a:spcAft>
            </a:pPr>
            <a:r>
              <a:rPr lang="en-AU" sz="2200" dirty="0" smtClean="0">
                <a:latin typeface="Helvetica" pitchFamily="34" charset="0"/>
              </a:rPr>
              <a:t>Their role in the function</a:t>
            </a:r>
          </a:p>
          <a:p>
            <a:pPr lvl="0">
              <a:spcBef>
                <a:spcPts val="600"/>
              </a:spcBef>
              <a:spcAft>
                <a:spcPts val="1200"/>
              </a:spcAft>
            </a:pPr>
            <a:r>
              <a:rPr lang="en-AU" sz="2200" dirty="0" smtClean="0">
                <a:latin typeface="Helvetica" pitchFamily="34" charset="0"/>
              </a:rPr>
              <a:t>How their role needs to interact </a:t>
            </a:r>
            <a:r>
              <a:rPr lang="en-AU" sz="2200" dirty="0" smtClean="0"/>
              <a:t>with</a:t>
            </a:r>
            <a:r>
              <a:rPr lang="en-AU" sz="2200" dirty="0" smtClean="0">
                <a:latin typeface="Helvetica" pitchFamily="34" charset="0"/>
              </a:rPr>
              <a:t> others</a:t>
            </a:r>
          </a:p>
          <a:p>
            <a:pPr>
              <a:spcBef>
                <a:spcPts val="600"/>
              </a:spcBef>
              <a:spcAft>
                <a:spcPts val="1200"/>
              </a:spcAft>
              <a:buNone/>
            </a:pPr>
            <a:endParaRPr lang="en-AU" sz="2400" dirty="0" smtClean="0"/>
          </a:p>
          <a:p>
            <a:pPr>
              <a:spcBef>
                <a:spcPts val="600"/>
              </a:spcBef>
              <a:spcAft>
                <a:spcPts val="1200"/>
              </a:spcAft>
              <a:buNone/>
            </a:pP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168</a:t>
            </a:fld>
            <a:endParaRPr lang="en-US" dirty="0"/>
          </a:p>
        </p:txBody>
      </p:sp>
      <p:pic>
        <p:nvPicPr>
          <p:cNvPr id="179202" name="Picture 2" descr="C:\Documents and Settings\danielc\Local Settings\Temporary Internet Files\Content.IE5\112MAXTI\MC900037063[1].wmf"/>
          <p:cNvPicPr>
            <a:picLocks noChangeAspect="1" noChangeArrowheads="1"/>
          </p:cNvPicPr>
          <p:nvPr/>
        </p:nvPicPr>
        <p:blipFill>
          <a:blip r:embed="rId3" cstate="print"/>
          <a:srcRect/>
          <a:stretch>
            <a:fillRect/>
          </a:stretch>
        </p:blipFill>
        <p:spPr bwMode="auto">
          <a:xfrm>
            <a:off x="6553200" y="3429000"/>
            <a:ext cx="2054789" cy="1066800"/>
          </a:xfrm>
          <a:prstGeom prst="rect">
            <a:avLst/>
          </a:prstGeom>
          <a:noFill/>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Conduct pre-function briefings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The best way to communicate to staff the requirements of an event is in the form of a pre-function briefing when staff are all together.</a:t>
            </a:r>
          </a:p>
          <a:p>
            <a:pPr>
              <a:spcBef>
                <a:spcPts val="600"/>
              </a:spcBef>
              <a:spcAft>
                <a:spcPts val="1200"/>
              </a:spcAft>
            </a:pPr>
            <a:r>
              <a:rPr lang="en-AU" sz="2200" dirty="0" smtClean="0">
                <a:latin typeface="Helvetica" pitchFamily="34" charset="0"/>
              </a:rPr>
              <a:t>What needs to be discussed?</a:t>
            </a:r>
          </a:p>
          <a:p>
            <a:pPr>
              <a:spcBef>
                <a:spcPts val="600"/>
              </a:spcBef>
              <a:spcAft>
                <a:spcPts val="1200"/>
              </a:spcAft>
            </a:pPr>
            <a:r>
              <a:rPr lang="en-AU" sz="2200" dirty="0" smtClean="0">
                <a:latin typeface="Helvetica" pitchFamily="34" charset="0"/>
              </a:rPr>
              <a:t>Who should attend?</a:t>
            </a:r>
          </a:p>
          <a:p>
            <a:pPr>
              <a:spcBef>
                <a:spcPts val="600"/>
              </a:spcBef>
              <a:spcAft>
                <a:spcPts val="1200"/>
              </a:spcAft>
              <a:buNone/>
            </a:pPr>
            <a:endParaRPr lang="en-AU" sz="2400" dirty="0" smtClean="0"/>
          </a:p>
          <a:p>
            <a:pPr>
              <a:spcBef>
                <a:spcPts val="600"/>
              </a:spcBef>
              <a:spcAft>
                <a:spcPts val="1200"/>
              </a:spcAft>
              <a:buNone/>
            </a:pP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169</a:t>
            </a:fld>
            <a:endParaRPr lang="en-US" dirty="0"/>
          </a:p>
        </p:txBody>
      </p:sp>
      <p:pic>
        <p:nvPicPr>
          <p:cNvPr id="177153" name="Picture 1" descr="I:\Overseas Projects\PHOTOS\2012\Office\MP900427762.JPG"/>
          <p:cNvPicPr>
            <a:picLocks noChangeAspect="1" noChangeArrowheads="1"/>
          </p:cNvPicPr>
          <p:nvPr/>
        </p:nvPicPr>
        <p:blipFill>
          <a:blip r:embed="rId3" cstate="print"/>
          <a:srcRect/>
          <a:stretch>
            <a:fillRect/>
          </a:stretch>
        </p:blipFill>
        <p:spPr bwMode="auto">
          <a:xfrm>
            <a:off x="5486400" y="2743200"/>
            <a:ext cx="2438400" cy="1788795"/>
          </a:xfrm>
          <a:prstGeom prst="rect">
            <a:avLst/>
          </a:prstGeom>
          <a:noFill/>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Conduct pre-function briefings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447800"/>
            <a:ext cx="7467600" cy="5606008"/>
          </a:xfrm>
        </p:spPr>
        <p:txBody>
          <a:bodyPr>
            <a:normAutofit/>
          </a:bodyPr>
          <a:lstStyle/>
          <a:p>
            <a:pPr marL="0">
              <a:spcBef>
                <a:spcPts val="600"/>
              </a:spcBef>
              <a:spcAft>
                <a:spcPts val="1200"/>
              </a:spcAft>
              <a:buNone/>
            </a:pPr>
            <a:r>
              <a:rPr lang="en-AU" sz="2200" b="1" dirty="0" smtClean="0">
                <a:latin typeface="Helvetica" pitchFamily="34" charset="0"/>
              </a:rPr>
              <a:t>Who should attend?</a:t>
            </a:r>
          </a:p>
          <a:p>
            <a:pPr lvl="0">
              <a:spcBef>
                <a:spcPts val="600"/>
              </a:spcBef>
              <a:spcAft>
                <a:spcPts val="1200"/>
              </a:spcAft>
            </a:pPr>
            <a:r>
              <a:rPr lang="en-AU" sz="2200" dirty="0" smtClean="0">
                <a:latin typeface="Helvetica" pitchFamily="34" charset="0"/>
              </a:rPr>
              <a:t>Heads of Departments</a:t>
            </a:r>
          </a:p>
          <a:p>
            <a:pPr lvl="0">
              <a:spcBef>
                <a:spcPts val="600"/>
              </a:spcBef>
              <a:spcAft>
                <a:spcPts val="1200"/>
              </a:spcAft>
            </a:pPr>
            <a:r>
              <a:rPr lang="en-AU" sz="2200" dirty="0" smtClean="0">
                <a:latin typeface="Helvetica" pitchFamily="34" charset="0"/>
              </a:rPr>
              <a:t>Waiting staff </a:t>
            </a:r>
          </a:p>
          <a:p>
            <a:pPr lvl="0">
              <a:spcBef>
                <a:spcPts val="600"/>
              </a:spcBef>
              <a:spcAft>
                <a:spcPts val="1200"/>
              </a:spcAft>
            </a:pPr>
            <a:r>
              <a:rPr lang="en-AU" sz="2200" dirty="0" smtClean="0">
                <a:latin typeface="Helvetica" pitchFamily="34" charset="0"/>
              </a:rPr>
              <a:t>Beverage staff </a:t>
            </a:r>
          </a:p>
          <a:p>
            <a:pPr lvl="0">
              <a:spcBef>
                <a:spcPts val="600"/>
              </a:spcBef>
              <a:spcAft>
                <a:spcPts val="1200"/>
              </a:spcAft>
            </a:pPr>
            <a:r>
              <a:rPr lang="en-AU" sz="2200" dirty="0" smtClean="0">
                <a:latin typeface="Helvetica" pitchFamily="34" charset="0"/>
              </a:rPr>
              <a:t>Security staff </a:t>
            </a:r>
          </a:p>
          <a:p>
            <a:pPr lvl="0">
              <a:spcBef>
                <a:spcPts val="600"/>
              </a:spcBef>
              <a:spcAft>
                <a:spcPts val="1200"/>
              </a:spcAft>
            </a:pPr>
            <a:r>
              <a:rPr lang="en-AU" sz="2200" dirty="0" smtClean="0">
                <a:latin typeface="Helvetica" pitchFamily="34" charset="0"/>
              </a:rPr>
              <a:t>Storeroom staff </a:t>
            </a:r>
          </a:p>
          <a:p>
            <a:pPr lvl="0">
              <a:spcBef>
                <a:spcPts val="600"/>
              </a:spcBef>
              <a:spcAft>
                <a:spcPts val="1200"/>
              </a:spcAft>
            </a:pPr>
            <a:r>
              <a:rPr lang="en-AU" sz="2200" dirty="0" smtClean="0">
                <a:latin typeface="Helvetica" pitchFamily="34" charset="0"/>
              </a:rPr>
              <a:t>Technical staff</a:t>
            </a:r>
          </a:p>
          <a:p>
            <a:pPr lvl="0">
              <a:spcBef>
                <a:spcPts val="600"/>
              </a:spcBef>
              <a:spcAft>
                <a:spcPts val="1200"/>
              </a:spcAft>
            </a:pPr>
            <a:r>
              <a:rPr lang="en-AU" sz="2200" dirty="0" smtClean="0">
                <a:latin typeface="Helvetica" pitchFamily="34" charset="0"/>
              </a:rPr>
              <a:t>Third party suppliers</a:t>
            </a:r>
          </a:p>
          <a:p>
            <a:pPr lvl="0">
              <a:spcBef>
                <a:spcPts val="600"/>
              </a:spcBef>
              <a:spcAft>
                <a:spcPts val="1200"/>
              </a:spcAft>
            </a:pPr>
            <a:r>
              <a:rPr lang="en-AU" sz="2200" dirty="0" smtClean="0">
                <a:latin typeface="Helvetica" pitchFamily="34" charset="0"/>
              </a:rPr>
              <a:t>The client or their representatives</a:t>
            </a:r>
            <a:endParaRPr lang="en-AU" sz="2400" dirty="0" smtClean="0"/>
          </a:p>
          <a:p>
            <a:pPr>
              <a:spcBef>
                <a:spcPts val="600"/>
              </a:spcBef>
              <a:spcAft>
                <a:spcPts val="1200"/>
              </a:spcAft>
              <a:buNone/>
            </a:pP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170</a:t>
            </a:fld>
            <a:endParaRPr lang="en-US" dirty="0"/>
          </a:p>
        </p:txBody>
      </p:sp>
      <p:pic>
        <p:nvPicPr>
          <p:cNvPr id="6" name="Picture 5" descr="Culinary Academy_017.jpg"/>
          <p:cNvPicPr/>
          <p:nvPr/>
        </p:nvPicPr>
        <p:blipFill>
          <a:blip r:embed="rId3" cstate="print"/>
          <a:stretch>
            <a:fillRect/>
          </a:stretch>
        </p:blipFill>
        <p:spPr>
          <a:xfrm>
            <a:off x="5943600" y="2590800"/>
            <a:ext cx="1447800" cy="2181225"/>
          </a:xfrm>
          <a:prstGeom prst="rect">
            <a:avLst/>
          </a:prstGeom>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Conduct pre-function briefings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Contents of a briefing</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briefing should cover any relevant information and important points about the function and include distribution of the latest running sheet to staff.</a:t>
            </a:r>
          </a:p>
          <a:p>
            <a:pPr marL="0">
              <a:spcBef>
                <a:spcPts val="600"/>
              </a:spcBef>
              <a:spcAft>
                <a:spcPts val="1200"/>
              </a:spcAft>
            </a:pPr>
            <a:r>
              <a:rPr lang="en-AU" sz="2200" dirty="0" smtClean="0">
                <a:latin typeface="Helvetica" pitchFamily="34" charset="0"/>
              </a:rPr>
              <a:t>What should be covered in a briefing?</a:t>
            </a:r>
          </a:p>
          <a:p>
            <a:pPr marL="0">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buNone/>
            </a:pP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171</a:t>
            </a:fld>
            <a:endParaRPr lang="en-US" dirty="0"/>
          </a:p>
        </p:txBody>
      </p:sp>
      <p:pic>
        <p:nvPicPr>
          <p:cNvPr id="173058" name="Picture 2" descr="writing in an agenda"/>
          <p:cNvPicPr>
            <a:picLocks noChangeAspect="1" noChangeArrowheads="1"/>
          </p:cNvPicPr>
          <p:nvPr/>
        </p:nvPicPr>
        <p:blipFill>
          <a:blip r:embed="rId3" cstate="print"/>
          <a:srcRect/>
          <a:stretch>
            <a:fillRect/>
          </a:stretch>
        </p:blipFill>
        <p:spPr bwMode="auto">
          <a:xfrm>
            <a:off x="3657600" y="4038600"/>
            <a:ext cx="2857500" cy="2143125"/>
          </a:xfrm>
          <a:prstGeom prst="rect">
            <a:avLst/>
          </a:prstGeom>
          <a:noFill/>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Conduct pre-function briefings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Contents of a briefing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Identifying customer and attendees to staff</a:t>
            </a:r>
          </a:p>
          <a:p>
            <a:pPr>
              <a:spcBef>
                <a:spcPts val="600"/>
              </a:spcBef>
              <a:spcAft>
                <a:spcPts val="1200"/>
              </a:spcAft>
            </a:pPr>
            <a:r>
              <a:rPr lang="en-AU" sz="2200" dirty="0" smtClean="0">
                <a:latin typeface="Helvetica" pitchFamily="34" charset="0"/>
              </a:rPr>
              <a:t>Overview of the function </a:t>
            </a:r>
          </a:p>
          <a:p>
            <a:pPr lvl="0">
              <a:spcBef>
                <a:spcPts val="600"/>
              </a:spcBef>
              <a:spcAft>
                <a:spcPts val="1200"/>
              </a:spcAft>
            </a:pPr>
            <a:r>
              <a:rPr lang="en-AU" sz="2200" dirty="0" smtClean="0">
                <a:latin typeface="Helvetica" pitchFamily="34" charset="0"/>
              </a:rPr>
              <a:t>Describing anticipated/planned function</a:t>
            </a:r>
          </a:p>
          <a:p>
            <a:pPr lvl="0">
              <a:spcBef>
                <a:spcPts val="600"/>
              </a:spcBef>
              <a:spcAft>
                <a:spcPts val="1200"/>
              </a:spcAft>
            </a:pPr>
            <a:r>
              <a:rPr lang="en-AU" sz="2200" dirty="0" smtClean="0">
                <a:latin typeface="Helvetica" pitchFamily="34" charset="0"/>
              </a:rPr>
              <a:t>Last minute changes to the running sheet </a:t>
            </a:r>
          </a:p>
          <a:p>
            <a:pPr lvl="0">
              <a:spcBef>
                <a:spcPts val="600"/>
              </a:spcBef>
              <a:spcAft>
                <a:spcPts val="1200"/>
              </a:spcAft>
            </a:pPr>
            <a:r>
              <a:rPr lang="en-AU" sz="2200" dirty="0" smtClean="0">
                <a:latin typeface="Helvetica" pitchFamily="34" charset="0"/>
              </a:rPr>
              <a:t>Special requests made by the client</a:t>
            </a:r>
          </a:p>
          <a:p>
            <a:pPr lvl="0">
              <a:spcBef>
                <a:spcPts val="600"/>
              </a:spcBef>
              <a:spcAft>
                <a:spcPts val="1200"/>
              </a:spcAft>
            </a:pPr>
            <a:r>
              <a:rPr lang="en-AU" sz="2200" dirty="0" smtClean="0">
                <a:latin typeface="Helvetica" pitchFamily="34" charset="0"/>
              </a:rPr>
              <a:t>Particular issues the venue expects with certain aspects of the function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172</a:t>
            </a:fld>
            <a:endParaRPr lang="en-US" dirty="0"/>
          </a:p>
        </p:txBody>
      </p:sp>
      <p:pic>
        <p:nvPicPr>
          <p:cNvPr id="171009" name="Picture 1" descr="I:\Overseas Projects\PHOTOS\2012\Office\iStock_000016019519XSmall.JPG"/>
          <p:cNvPicPr>
            <a:picLocks noChangeAspect="1" noChangeArrowheads="1"/>
          </p:cNvPicPr>
          <p:nvPr/>
        </p:nvPicPr>
        <p:blipFill>
          <a:blip r:embed="rId3" cstate="print"/>
          <a:srcRect/>
          <a:stretch>
            <a:fillRect/>
          </a:stretch>
        </p:blipFill>
        <p:spPr bwMode="auto">
          <a:xfrm>
            <a:off x="6477000" y="3352800"/>
            <a:ext cx="1901824" cy="1268662"/>
          </a:xfrm>
          <a:prstGeom prst="rect">
            <a:avLst/>
          </a:prstGeom>
          <a:noFill/>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Conduct pre-function briefings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9040" cy="5606008"/>
          </a:xfrm>
        </p:spPr>
        <p:txBody>
          <a:bodyPr>
            <a:normAutofit/>
          </a:bodyPr>
          <a:lstStyle/>
          <a:p>
            <a:pPr>
              <a:spcBef>
                <a:spcPts val="600"/>
              </a:spcBef>
              <a:spcAft>
                <a:spcPts val="1200"/>
              </a:spcAft>
              <a:buNone/>
            </a:pPr>
            <a:r>
              <a:rPr lang="en-AU" sz="2200" b="1" dirty="0" smtClean="0">
                <a:latin typeface="Helvetica" pitchFamily="34" charset="0"/>
              </a:rPr>
              <a:t>Contents of a briefing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Identifying options that exist for service </a:t>
            </a:r>
            <a:br>
              <a:rPr lang="en-AU" sz="2200" dirty="0" smtClean="0">
                <a:latin typeface="Helvetica" pitchFamily="34" charset="0"/>
              </a:rPr>
            </a:br>
            <a:r>
              <a:rPr lang="en-AU" sz="2200" dirty="0" smtClean="0">
                <a:latin typeface="Helvetica" pitchFamily="34" charset="0"/>
              </a:rPr>
              <a:t>recovery</a:t>
            </a:r>
          </a:p>
          <a:p>
            <a:pPr lvl="0">
              <a:spcBef>
                <a:spcPts val="600"/>
              </a:spcBef>
              <a:spcAft>
                <a:spcPts val="1200"/>
              </a:spcAft>
            </a:pPr>
            <a:r>
              <a:rPr lang="en-AU" sz="2200" dirty="0" smtClean="0">
                <a:latin typeface="Helvetica" pitchFamily="34" charset="0"/>
              </a:rPr>
              <a:t>Presentation of service standards </a:t>
            </a:r>
          </a:p>
          <a:p>
            <a:pPr lvl="0">
              <a:spcBef>
                <a:spcPts val="600"/>
              </a:spcBef>
              <a:spcAft>
                <a:spcPts val="1200"/>
              </a:spcAft>
            </a:pPr>
            <a:r>
              <a:rPr lang="en-AU" sz="2200" dirty="0" smtClean="0">
                <a:latin typeface="Helvetica" pitchFamily="34" charset="0"/>
              </a:rPr>
              <a:t>Security issues </a:t>
            </a:r>
          </a:p>
          <a:p>
            <a:pPr lvl="0">
              <a:spcBef>
                <a:spcPts val="600"/>
              </a:spcBef>
              <a:spcAft>
                <a:spcPts val="1200"/>
              </a:spcAft>
            </a:pPr>
            <a:r>
              <a:rPr lang="en-AU" sz="2200" dirty="0" smtClean="0">
                <a:latin typeface="Helvetica" pitchFamily="34" charset="0"/>
              </a:rPr>
              <a:t>Clarification of ‘chain of command’ for all staff</a:t>
            </a:r>
          </a:p>
          <a:p>
            <a:pPr lvl="0">
              <a:spcBef>
                <a:spcPts val="600"/>
              </a:spcBef>
              <a:spcAft>
                <a:spcPts val="1200"/>
              </a:spcAft>
            </a:pPr>
            <a:r>
              <a:rPr lang="en-AU" sz="2200" dirty="0" smtClean="0">
                <a:latin typeface="Helvetica" pitchFamily="34" charset="0"/>
              </a:rPr>
              <a:t>Arrangements for security, media access, meals, photo/filming opportunities, passes etc.</a:t>
            </a:r>
          </a:p>
          <a:p>
            <a:pPr>
              <a:spcBef>
                <a:spcPts val="600"/>
              </a:spcBef>
              <a:spcAft>
                <a:spcPts val="1200"/>
              </a:spcAft>
            </a:pPr>
            <a:r>
              <a:rPr lang="en-AU" sz="2200" dirty="0" smtClean="0">
                <a:latin typeface="Helvetica" pitchFamily="34" charset="0"/>
              </a:rPr>
              <a:t> Specific ‘Do’s and don’ts’ for the function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173</a:t>
            </a:fld>
            <a:endParaRPr lang="en-US" dirty="0"/>
          </a:p>
        </p:txBody>
      </p:sp>
      <p:pic>
        <p:nvPicPr>
          <p:cNvPr id="7" name="Picture 6" descr="MP900178816.JPG"/>
          <p:cNvPicPr/>
          <p:nvPr/>
        </p:nvPicPr>
        <p:blipFill>
          <a:blip r:embed="rId3" cstate="print"/>
          <a:stretch>
            <a:fillRect/>
          </a:stretch>
        </p:blipFill>
        <p:spPr>
          <a:xfrm>
            <a:off x="6096000" y="2590800"/>
            <a:ext cx="2057400" cy="1323975"/>
          </a:xfrm>
          <a:prstGeom prst="rect">
            <a:avLst/>
          </a:prstGeom>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Conduct pre-function briefings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Contents of a briefing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Allocating roles and responsibilities</a:t>
            </a:r>
          </a:p>
          <a:p>
            <a:pPr lvl="0">
              <a:spcBef>
                <a:spcPts val="600"/>
              </a:spcBef>
              <a:spcAft>
                <a:spcPts val="1200"/>
              </a:spcAft>
            </a:pPr>
            <a:r>
              <a:rPr lang="en-AU" sz="2200" dirty="0" smtClean="0">
                <a:latin typeface="Helvetica" pitchFamily="34" charset="0"/>
              </a:rPr>
              <a:t>Allocation of specific duties to </a:t>
            </a:r>
            <a:br>
              <a:rPr lang="en-AU" sz="2200" dirty="0" smtClean="0">
                <a:latin typeface="Helvetica" pitchFamily="34" charset="0"/>
              </a:rPr>
            </a:br>
            <a:r>
              <a:rPr lang="en-AU" sz="2200" dirty="0" smtClean="0">
                <a:latin typeface="Helvetica" pitchFamily="34" charset="0"/>
              </a:rPr>
              <a:t>specific staff</a:t>
            </a:r>
          </a:p>
          <a:p>
            <a:pPr lvl="0">
              <a:spcBef>
                <a:spcPts val="600"/>
              </a:spcBef>
              <a:spcAft>
                <a:spcPts val="1200"/>
              </a:spcAft>
            </a:pPr>
            <a:r>
              <a:rPr lang="en-AU" sz="2200" dirty="0" smtClean="0">
                <a:latin typeface="Helvetica" pitchFamily="34" charset="0"/>
              </a:rPr>
              <a:t>Allocating stations to waiting staff</a:t>
            </a:r>
          </a:p>
          <a:p>
            <a:pPr lvl="0">
              <a:spcBef>
                <a:spcPts val="600"/>
              </a:spcBef>
              <a:spcAft>
                <a:spcPts val="1200"/>
              </a:spcAft>
            </a:pPr>
            <a:r>
              <a:rPr lang="en-AU" sz="2200" dirty="0" smtClean="0">
                <a:latin typeface="Helvetica" pitchFamily="34" charset="0"/>
              </a:rPr>
              <a:t>Explain seating plan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174</a:t>
            </a:fld>
            <a:endParaRPr lang="en-US" dirty="0"/>
          </a:p>
        </p:txBody>
      </p:sp>
      <p:pic>
        <p:nvPicPr>
          <p:cNvPr id="166913" name="Picture 1" descr="C:\Documents and Settings\danielc\Desktop\wedding-seating-plan.png"/>
          <p:cNvPicPr>
            <a:picLocks noChangeAspect="1" noChangeArrowheads="1"/>
          </p:cNvPicPr>
          <p:nvPr/>
        </p:nvPicPr>
        <p:blipFill>
          <a:blip r:embed="rId3" cstate="print">
            <a:grayscl/>
          </a:blip>
          <a:srcRect/>
          <a:stretch>
            <a:fillRect/>
          </a:stretch>
        </p:blipFill>
        <p:spPr bwMode="auto">
          <a:xfrm>
            <a:off x="5943600" y="2133600"/>
            <a:ext cx="2096168" cy="2333625"/>
          </a:xfrm>
          <a:prstGeom prst="rect">
            <a:avLst/>
          </a:prstGeom>
          <a:noFill/>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Conduct pre-function briefings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Contents of a briefing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Any last minute changes</a:t>
            </a:r>
          </a:p>
          <a:p>
            <a:pPr lvl="0">
              <a:spcBef>
                <a:spcPts val="600"/>
              </a:spcBef>
              <a:spcAft>
                <a:spcPts val="1200"/>
              </a:spcAft>
            </a:pPr>
            <a:r>
              <a:rPr lang="en-AU" sz="2200" dirty="0" smtClean="0">
                <a:latin typeface="Helvetica" pitchFamily="34" charset="0"/>
              </a:rPr>
              <a:t>Checking uniforms and personal </a:t>
            </a:r>
            <a:br>
              <a:rPr lang="en-AU" sz="2200" dirty="0" smtClean="0">
                <a:latin typeface="Helvetica" pitchFamily="34" charset="0"/>
              </a:rPr>
            </a:br>
            <a:r>
              <a:rPr lang="en-AU" sz="2200" dirty="0" smtClean="0">
                <a:latin typeface="Helvetica" pitchFamily="34" charset="0"/>
              </a:rPr>
              <a:t>presentation of staff</a:t>
            </a:r>
          </a:p>
          <a:p>
            <a:pPr lvl="0">
              <a:spcBef>
                <a:spcPts val="600"/>
              </a:spcBef>
              <a:spcAft>
                <a:spcPts val="1200"/>
              </a:spcAft>
            </a:pPr>
            <a:r>
              <a:rPr lang="en-AU" sz="2200" dirty="0" smtClean="0">
                <a:latin typeface="Helvetica" pitchFamily="34" charset="0"/>
              </a:rPr>
              <a:t>Completing time sheets</a:t>
            </a:r>
          </a:p>
          <a:p>
            <a:pPr lvl="0">
              <a:spcBef>
                <a:spcPts val="600"/>
              </a:spcBef>
              <a:spcAft>
                <a:spcPts val="1200"/>
              </a:spcAft>
            </a:pPr>
            <a:r>
              <a:rPr lang="en-AU" sz="2200" dirty="0" smtClean="0">
                <a:latin typeface="Helvetica" pitchFamily="34" charset="0"/>
              </a:rPr>
              <a:t>Discussing timing of staff breaks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175</a:t>
            </a:fld>
            <a:endParaRPr lang="en-US" dirty="0"/>
          </a:p>
        </p:txBody>
      </p:sp>
      <p:pic>
        <p:nvPicPr>
          <p:cNvPr id="5" name="Picture 4" descr="Man Casual.JPG"/>
          <p:cNvPicPr>
            <a:picLocks noChangeAspect="1"/>
          </p:cNvPicPr>
          <p:nvPr/>
        </p:nvPicPr>
        <p:blipFill>
          <a:blip r:embed="rId3" cstate="print"/>
          <a:stretch>
            <a:fillRect/>
          </a:stretch>
        </p:blipFill>
        <p:spPr>
          <a:xfrm>
            <a:off x="6172200" y="2057400"/>
            <a:ext cx="1673249" cy="2514600"/>
          </a:xfrm>
          <a:prstGeom prst="rect">
            <a:avLst/>
          </a:prstGeom>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Finalising function details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Now that the function is just around the corner, it is essential that any outstanding details are confirmed with the client and communicated to all relevant stakeholders.</a:t>
            </a:r>
          </a:p>
          <a:p>
            <a:pPr>
              <a:spcBef>
                <a:spcPts val="600"/>
              </a:spcBef>
              <a:spcAft>
                <a:spcPts val="1200"/>
              </a:spcAft>
            </a:pPr>
            <a:r>
              <a:rPr lang="en-AU" sz="2200" dirty="0" smtClean="0">
                <a:latin typeface="Helvetica" pitchFamily="34" charset="0"/>
              </a:rPr>
              <a:t>What activities need to be undertaken to confirm all final function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176</a:t>
            </a:fld>
            <a:endParaRPr lang="en-US" dirty="0"/>
          </a:p>
        </p:txBody>
      </p:sp>
      <p:pic>
        <p:nvPicPr>
          <p:cNvPr id="7" name="Picture 6" descr="I:\Overseas Projects\PHOTOS\2012\Front office 2012\shutterstock_57319615.jpg"/>
          <p:cNvPicPr/>
          <p:nvPr/>
        </p:nvPicPr>
        <p:blipFill>
          <a:blip r:embed="rId3" cstate="print"/>
          <a:srcRect/>
          <a:stretch>
            <a:fillRect/>
          </a:stretch>
        </p:blipFill>
        <p:spPr bwMode="auto">
          <a:xfrm>
            <a:off x="3124200" y="3810000"/>
            <a:ext cx="3051528" cy="20432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Finalising function details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dirty="0" smtClean="0">
                <a:latin typeface="Helvetica" pitchFamily="34" charset="0"/>
              </a:rPr>
              <a:t>Finalising function details may include:</a:t>
            </a:r>
          </a:p>
          <a:p>
            <a:pPr lvl="0">
              <a:spcBef>
                <a:spcPts val="600"/>
              </a:spcBef>
              <a:spcAft>
                <a:spcPts val="1200"/>
              </a:spcAft>
            </a:pPr>
            <a:r>
              <a:rPr lang="en-AU" sz="2200" dirty="0" smtClean="0">
                <a:latin typeface="Helvetica" pitchFamily="34" charset="0"/>
              </a:rPr>
              <a:t>Meeting with the customer</a:t>
            </a:r>
          </a:p>
          <a:p>
            <a:pPr lvl="0">
              <a:spcBef>
                <a:spcPts val="600"/>
              </a:spcBef>
              <a:spcAft>
                <a:spcPts val="1200"/>
              </a:spcAft>
            </a:pPr>
            <a:r>
              <a:rPr lang="en-AU" sz="2200" dirty="0" smtClean="0">
                <a:latin typeface="Helvetica" pitchFamily="34" charset="0"/>
              </a:rPr>
              <a:t>Accommodating last minute changes </a:t>
            </a:r>
            <a:br>
              <a:rPr lang="en-AU" sz="2200" dirty="0" smtClean="0">
                <a:latin typeface="Helvetica" pitchFamily="34" charset="0"/>
              </a:rPr>
            </a:br>
            <a:r>
              <a:rPr lang="en-AU" sz="2200" dirty="0" smtClean="0">
                <a:latin typeface="Helvetica" pitchFamily="34" charset="0"/>
              </a:rPr>
              <a:t>as requested by customer</a:t>
            </a:r>
          </a:p>
          <a:p>
            <a:pPr lvl="0">
              <a:spcBef>
                <a:spcPts val="600"/>
              </a:spcBef>
              <a:spcAft>
                <a:spcPts val="1200"/>
              </a:spcAft>
            </a:pPr>
            <a:r>
              <a:rPr lang="en-AU" sz="2200" dirty="0" smtClean="0">
                <a:latin typeface="Helvetica" pitchFamily="34" charset="0"/>
              </a:rPr>
              <a:t>Obtaining additional deposit</a:t>
            </a:r>
          </a:p>
          <a:p>
            <a:pPr lvl="0">
              <a:spcBef>
                <a:spcPts val="600"/>
              </a:spcBef>
              <a:spcAft>
                <a:spcPts val="1200"/>
              </a:spcAft>
            </a:pPr>
            <a:r>
              <a:rPr lang="en-AU" sz="2200" dirty="0" smtClean="0">
                <a:latin typeface="Helvetica" pitchFamily="34" charset="0"/>
              </a:rPr>
              <a:t>Confirming amended details as set                                   out in Function Sheet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177</a:t>
            </a:fld>
            <a:endParaRPr lang="en-US" dirty="0"/>
          </a:p>
        </p:txBody>
      </p:sp>
      <p:pic>
        <p:nvPicPr>
          <p:cNvPr id="7" name="Picture 6" descr="MP900424406.JPG"/>
          <p:cNvPicPr>
            <a:picLocks noChangeAspect="1"/>
          </p:cNvPicPr>
          <p:nvPr/>
        </p:nvPicPr>
        <p:blipFill>
          <a:blip r:embed="rId3" cstate="print"/>
          <a:stretch>
            <a:fillRect/>
          </a:stretch>
        </p:blipFill>
        <p:spPr>
          <a:xfrm>
            <a:off x="6248400" y="2209800"/>
            <a:ext cx="1676623" cy="2286101"/>
          </a:xfrm>
          <a:prstGeom prst="rect">
            <a:avLst/>
          </a:prstGeom>
        </p:spPr>
      </p:pic>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Finalising function details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Distribute final Running Sheet</a:t>
            </a:r>
          </a:p>
          <a:p>
            <a:pPr marL="0" lvl="0" indent="0">
              <a:spcBef>
                <a:spcPts val="600"/>
              </a:spcBef>
              <a:spcAft>
                <a:spcPts val="1200"/>
              </a:spcAft>
              <a:buNone/>
            </a:pPr>
            <a:r>
              <a:rPr lang="en-AU" sz="2200" dirty="0" smtClean="0">
                <a:latin typeface="Helvetica" pitchFamily="34" charset="0"/>
              </a:rPr>
              <a:t>Function coordinator distributes personally to all those involved:</a:t>
            </a:r>
          </a:p>
          <a:p>
            <a:pPr lvl="0">
              <a:spcBef>
                <a:spcPts val="600"/>
              </a:spcBef>
              <a:spcAft>
                <a:spcPts val="1200"/>
              </a:spcAft>
            </a:pPr>
            <a:r>
              <a:rPr lang="en-AU" sz="2200" dirty="0" smtClean="0">
                <a:latin typeface="Helvetica" pitchFamily="34" charset="0"/>
              </a:rPr>
              <a:t>Posting on departmental notice boards </a:t>
            </a:r>
          </a:p>
          <a:p>
            <a:pPr lvl="0">
              <a:spcBef>
                <a:spcPts val="600"/>
              </a:spcBef>
              <a:spcAft>
                <a:spcPts val="1200"/>
              </a:spcAft>
            </a:pPr>
            <a:r>
              <a:rPr lang="en-AU" sz="2200" dirty="0" smtClean="0">
                <a:latin typeface="Helvetica" pitchFamily="34" charset="0"/>
              </a:rPr>
              <a:t>Giving multiple copies to departmental </a:t>
            </a:r>
            <a:br>
              <a:rPr lang="en-AU" sz="2200" dirty="0" smtClean="0">
                <a:latin typeface="Helvetica" pitchFamily="34" charset="0"/>
              </a:rPr>
            </a:br>
            <a:r>
              <a:rPr lang="en-AU" sz="2200" dirty="0" smtClean="0">
                <a:latin typeface="Helvetica" pitchFamily="34" charset="0"/>
              </a:rPr>
              <a:t>heads for them to distribute to staff </a:t>
            </a:r>
          </a:p>
          <a:p>
            <a:pPr lvl="0">
              <a:spcBef>
                <a:spcPts val="600"/>
              </a:spcBef>
              <a:spcAft>
                <a:spcPts val="1200"/>
              </a:spcAft>
            </a:pPr>
            <a:r>
              <a:rPr lang="en-AU" sz="2200" dirty="0" smtClean="0">
                <a:latin typeface="Helvetica" pitchFamily="34" charset="0"/>
              </a:rPr>
              <a:t>Email </a:t>
            </a:r>
          </a:p>
          <a:p>
            <a:pPr lvl="0">
              <a:spcBef>
                <a:spcPts val="600"/>
              </a:spcBef>
              <a:spcAft>
                <a:spcPts val="1200"/>
              </a:spcAft>
            </a:pPr>
            <a:r>
              <a:rPr lang="en-AU" sz="2200" dirty="0" smtClean="0">
                <a:latin typeface="Helvetica" pitchFamily="34" charset="0"/>
              </a:rPr>
              <a:t>Phoning – especially external suppliers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178</a:t>
            </a:fld>
            <a:endParaRPr lang="en-US" dirty="0"/>
          </a:p>
        </p:txBody>
      </p:sp>
      <p:pic>
        <p:nvPicPr>
          <p:cNvPr id="158724" name="Picture 4" descr="C:\Documents and Settings\danielc\Local Settings\Temporary Internet Files\Content.IE5\3DV3UKH9\MC900056126[1].wmf"/>
          <p:cNvPicPr>
            <a:picLocks noChangeAspect="1" noChangeArrowheads="1"/>
          </p:cNvPicPr>
          <p:nvPr/>
        </p:nvPicPr>
        <p:blipFill>
          <a:blip r:embed="rId3" cstate="print"/>
          <a:srcRect/>
          <a:stretch>
            <a:fillRect/>
          </a:stretch>
        </p:blipFill>
        <p:spPr bwMode="auto">
          <a:xfrm>
            <a:off x="6248400" y="3048000"/>
            <a:ext cx="1841602" cy="1841602"/>
          </a:xfrm>
          <a:prstGeom prst="rect">
            <a:avLst/>
          </a:prstGeom>
          <a:noFill/>
        </p:spPr>
      </p:pic>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set up of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It is critical to have the function set up and ready to go by the agreed starting time</a:t>
            </a:r>
          </a:p>
          <a:p>
            <a:pPr>
              <a:spcBef>
                <a:spcPts val="600"/>
              </a:spcBef>
              <a:spcAft>
                <a:spcPts val="1200"/>
              </a:spcAft>
            </a:pPr>
            <a:r>
              <a:rPr lang="en-AU" sz="2200" dirty="0" smtClean="0">
                <a:latin typeface="Helvetica" pitchFamily="34" charset="0"/>
              </a:rPr>
              <a:t>A key objective when monitoring set up for a function is that all necessary mise-en-place is completed</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179</a:t>
            </a:fld>
            <a:endParaRPr lang="en-US" dirty="0"/>
          </a:p>
        </p:txBody>
      </p:sp>
      <p:pic>
        <p:nvPicPr>
          <p:cNvPr id="6" name="Picture 5" descr="Table Setting.jpg"/>
          <p:cNvPicPr/>
          <p:nvPr/>
        </p:nvPicPr>
        <p:blipFill>
          <a:blip r:embed="rId3" cstate="print"/>
          <a:stretch>
            <a:fillRect/>
          </a:stretch>
        </p:blipFill>
        <p:spPr>
          <a:xfrm>
            <a:off x="3429000" y="3581400"/>
            <a:ext cx="2283207" cy="1523570"/>
          </a:xfrm>
          <a:prstGeom prst="rect">
            <a:avLst/>
          </a:prstGeom>
        </p:spPr>
      </p:pic>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i="1" dirty="0" smtClean="0">
                <a:latin typeface="Helvetica" pitchFamily="34" charset="0"/>
              </a:rPr>
              <a:t>Mise-en-place</a:t>
            </a:r>
            <a:r>
              <a:rPr lang="en-AU" sz="2200" dirty="0" smtClean="0">
                <a:latin typeface="Helvetica" pitchFamily="34" charset="0"/>
              </a:rPr>
              <a:t> is a French term that means ‘to put in place’.</a:t>
            </a:r>
          </a:p>
          <a:p>
            <a:pPr marL="0">
              <a:spcBef>
                <a:spcPts val="600"/>
              </a:spcBef>
              <a:spcAft>
                <a:spcPts val="1200"/>
              </a:spcAft>
              <a:buNone/>
            </a:pPr>
            <a:r>
              <a:rPr lang="en-AU" sz="2200" dirty="0" smtClean="0">
                <a:latin typeface="Helvetica" pitchFamily="34" charset="0"/>
              </a:rPr>
              <a:t>Therefore, ‘set up and mise-en-place’ refers to all the activities required to prepare the room for service</a:t>
            </a:r>
          </a:p>
          <a:p>
            <a:pPr>
              <a:spcBef>
                <a:spcPts val="600"/>
              </a:spcBef>
              <a:spcAft>
                <a:spcPts val="1200"/>
              </a:spcAft>
            </a:pPr>
            <a:r>
              <a:rPr lang="en-AU" sz="2200" dirty="0" smtClean="0">
                <a:latin typeface="Helvetica" pitchFamily="34" charset="0"/>
              </a:rPr>
              <a:t>What mise-en-place activities need to be undertaken when preparing a function?</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180</a:t>
            </a:fld>
            <a:endParaRPr lang="en-US" dirty="0"/>
          </a:p>
        </p:txBody>
      </p:sp>
      <p:pic>
        <p:nvPicPr>
          <p:cNvPr id="6" name="Picture 5" descr="werribee196 - student and lecturer in Food and Beverage class.jpg"/>
          <p:cNvPicPr>
            <a:picLocks noChangeAspect="1"/>
          </p:cNvPicPr>
          <p:nvPr/>
        </p:nvPicPr>
        <p:blipFill>
          <a:blip r:embed="rId3" cstate="print"/>
          <a:stretch>
            <a:fillRect/>
          </a:stretch>
        </p:blipFill>
        <p:spPr>
          <a:xfrm>
            <a:off x="3352800" y="4419600"/>
            <a:ext cx="2743200" cy="1828800"/>
          </a:xfrm>
          <a:prstGeom prst="rect">
            <a:avLst/>
          </a:prstGeom>
        </p:spPr>
      </p:pic>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lvl="0">
              <a:spcBef>
                <a:spcPts val="600"/>
              </a:spcBef>
              <a:spcAft>
                <a:spcPts val="1200"/>
              </a:spcAft>
              <a:buNone/>
            </a:pPr>
            <a:r>
              <a:rPr lang="en-AU" sz="2200" b="1" dirty="0" smtClean="0">
                <a:latin typeface="Helvetica" pitchFamily="34" charset="0"/>
              </a:rPr>
              <a:t>Set up policies and procedures</a:t>
            </a:r>
          </a:p>
          <a:p>
            <a:pPr lvl="0">
              <a:spcBef>
                <a:spcPts val="600"/>
              </a:spcBef>
              <a:spcAft>
                <a:spcPts val="1200"/>
              </a:spcAft>
            </a:pPr>
            <a:r>
              <a:rPr lang="en-AU" sz="2200" dirty="0" smtClean="0">
                <a:latin typeface="Helvetica" pitchFamily="34" charset="0"/>
              </a:rPr>
              <a:t>Following prescribed safety procedures</a:t>
            </a:r>
          </a:p>
          <a:p>
            <a:pPr lvl="0">
              <a:spcBef>
                <a:spcPts val="600"/>
              </a:spcBef>
              <a:spcAft>
                <a:spcPts val="1200"/>
              </a:spcAft>
            </a:pPr>
            <a:r>
              <a:rPr lang="en-AU" sz="2200" dirty="0" smtClean="0">
                <a:latin typeface="Helvetica" pitchFamily="34" charset="0"/>
              </a:rPr>
              <a:t>Adhering to safe food handling practices</a:t>
            </a:r>
          </a:p>
          <a:p>
            <a:pPr lvl="0">
              <a:spcBef>
                <a:spcPts val="600"/>
              </a:spcBef>
              <a:spcAft>
                <a:spcPts val="1200"/>
              </a:spcAft>
            </a:pPr>
            <a:r>
              <a:rPr lang="en-AU" sz="2200" dirty="0" smtClean="0">
                <a:latin typeface="Helvetica" pitchFamily="34" charset="0"/>
              </a:rPr>
              <a:t>Staying within allocated scopes of responsibility</a:t>
            </a:r>
          </a:p>
          <a:p>
            <a:pPr lvl="0">
              <a:spcBef>
                <a:spcPts val="600"/>
              </a:spcBef>
              <a:spcAft>
                <a:spcPts val="1200"/>
              </a:spcAft>
            </a:pPr>
            <a:r>
              <a:rPr lang="en-AU" sz="2200" dirty="0" smtClean="0">
                <a:latin typeface="Helvetica" pitchFamily="34" charset="0"/>
              </a:rPr>
              <a:t>Discharging all tasks to the best of your ability</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181</a:t>
            </a:fld>
            <a:endParaRPr lang="en-US" dirty="0"/>
          </a:p>
        </p:txBody>
      </p:sp>
      <p:pic>
        <p:nvPicPr>
          <p:cNvPr id="7" name="Picture 6" descr="MP900427641[1].JPG"/>
          <p:cNvPicPr>
            <a:picLocks noChangeAspect="1"/>
          </p:cNvPicPr>
          <p:nvPr/>
        </p:nvPicPr>
        <p:blipFill>
          <a:blip r:embed="rId3" cstate="print"/>
          <a:stretch>
            <a:fillRect/>
          </a:stretch>
        </p:blipFill>
        <p:spPr>
          <a:xfrm>
            <a:off x="3505200" y="4572000"/>
            <a:ext cx="1905000" cy="1905000"/>
          </a:xfrm>
          <a:prstGeom prst="rect">
            <a:avLst/>
          </a:prstGeom>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lvl="0">
              <a:spcBef>
                <a:spcPts val="600"/>
              </a:spcBef>
              <a:spcAft>
                <a:spcPts val="1200"/>
              </a:spcAft>
              <a:buNone/>
            </a:pPr>
            <a:r>
              <a:rPr lang="en-AU" sz="2200" b="1" dirty="0" smtClean="0">
                <a:latin typeface="Helvetica" pitchFamily="34" charset="0"/>
              </a:rPr>
              <a:t>Set up policies and procedures</a:t>
            </a:r>
          </a:p>
          <a:p>
            <a:pPr lvl="0">
              <a:spcBef>
                <a:spcPts val="600"/>
              </a:spcBef>
              <a:spcAft>
                <a:spcPts val="1200"/>
              </a:spcAft>
            </a:pPr>
            <a:r>
              <a:rPr lang="en-AU" sz="2200" dirty="0" smtClean="0">
                <a:latin typeface="Helvetica" pitchFamily="34" charset="0"/>
              </a:rPr>
              <a:t>Ensuring that all allocated tasks have been completed</a:t>
            </a:r>
          </a:p>
          <a:p>
            <a:pPr lvl="0">
              <a:spcBef>
                <a:spcPts val="600"/>
              </a:spcBef>
              <a:spcAft>
                <a:spcPts val="1200"/>
              </a:spcAft>
            </a:pPr>
            <a:r>
              <a:rPr lang="en-AU" sz="2200" dirty="0" smtClean="0">
                <a:latin typeface="Helvetica" pitchFamily="34" charset="0"/>
              </a:rPr>
              <a:t>Notifying management of a problem or hazard</a:t>
            </a:r>
          </a:p>
          <a:p>
            <a:pPr lvl="0">
              <a:spcBef>
                <a:spcPts val="600"/>
              </a:spcBef>
              <a:spcAft>
                <a:spcPts val="1200"/>
              </a:spcAft>
            </a:pPr>
            <a:r>
              <a:rPr lang="en-AU" sz="2200" dirty="0" smtClean="0">
                <a:latin typeface="Helvetica" pitchFamily="34" charset="0"/>
              </a:rPr>
              <a:t>Working only the allocated hours as stated on the roster</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182</a:t>
            </a:fld>
            <a:endParaRPr lang="en-US" dirty="0"/>
          </a:p>
        </p:txBody>
      </p:sp>
      <p:pic>
        <p:nvPicPr>
          <p:cNvPr id="150529" name="Picture 1" descr="C:\Documents and Settings\danielc\Local Settings\Temporary Internet Files\Content.IE5\3DV3UKH9\MC900434675[1].wmf"/>
          <p:cNvPicPr>
            <a:picLocks noChangeAspect="1" noChangeArrowheads="1"/>
          </p:cNvPicPr>
          <p:nvPr/>
        </p:nvPicPr>
        <p:blipFill>
          <a:blip r:embed="rId3" cstate="print"/>
          <a:srcRect/>
          <a:stretch>
            <a:fillRect/>
          </a:stretch>
        </p:blipFill>
        <p:spPr bwMode="auto">
          <a:xfrm>
            <a:off x="3352800" y="4267200"/>
            <a:ext cx="1762125" cy="1791348"/>
          </a:xfrm>
          <a:prstGeom prst="rect">
            <a:avLst/>
          </a:prstGeom>
          <a:noFill/>
        </p:spPr>
      </p:pic>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Using checklists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Importance of Checklists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An industry-wide method of monitoring completion and performance of activities is to use a series of checklists</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183</a:t>
            </a:fld>
            <a:endParaRPr lang="en-US" dirty="0"/>
          </a:p>
        </p:txBody>
      </p:sp>
      <p:pic>
        <p:nvPicPr>
          <p:cNvPr id="6" name="Picture 5" descr="cookery1.jpg"/>
          <p:cNvPicPr/>
          <p:nvPr/>
        </p:nvPicPr>
        <p:blipFill>
          <a:blip r:embed="rId3" cstate="print"/>
          <a:stretch>
            <a:fillRect/>
          </a:stretch>
        </p:blipFill>
        <p:spPr>
          <a:xfrm>
            <a:off x="4495800" y="3352800"/>
            <a:ext cx="1369695" cy="2047875"/>
          </a:xfrm>
          <a:prstGeom prst="rect">
            <a:avLst/>
          </a:prstGeom>
        </p:spPr>
      </p:pic>
      <p:pic>
        <p:nvPicPr>
          <p:cNvPr id="148481" name="Picture 1" descr="C:\Documents and Settings\danielc\Local Settings\Temporary Internet Files\Content.IE5\SIQ5KRQ3\MC900104872[1].wmf"/>
          <p:cNvPicPr>
            <a:picLocks noChangeAspect="1" noChangeArrowheads="1"/>
          </p:cNvPicPr>
          <p:nvPr/>
        </p:nvPicPr>
        <p:blipFill>
          <a:blip r:embed="rId4" cstate="print"/>
          <a:srcRect/>
          <a:stretch>
            <a:fillRect/>
          </a:stretch>
        </p:blipFill>
        <p:spPr bwMode="auto">
          <a:xfrm>
            <a:off x="3124200" y="4267200"/>
            <a:ext cx="1955902" cy="1506931"/>
          </a:xfrm>
          <a:prstGeom prst="rect">
            <a:avLst/>
          </a:prstGeom>
          <a:noFill/>
        </p:spPr>
      </p:pic>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Using checklists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Benefits of Checklists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Remind staff of what needs to take place</a:t>
            </a:r>
          </a:p>
          <a:p>
            <a:pPr>
              <a:spcBef>
                <a:spcPts val="600"/>
              </a:spcBef>
              <a:spcAft>
                <a:spcPts val="1200"/>
              </a:spcAft>
            </a:pPr>
            <a:r>
              <a:rPr lang="en-AU" sz="2200" dirty="0" smtClean="0">
                <a:latin typeface="Helvetica" pitchFamily="34" charset="0"/>
              </a:rPr>
              <a:t>It helps ensure activities are not forgotten</a:t>
            </a:r>
          </a:p>
          <a:p>
            <a:pPr>
              <a:spcBef>
                <a:spcPts val="600"/>
              </a:spcBef>
              <a:spcAft>
                <a:spcPts val="1200"/>
              </a:spcAft>
            </a:pPr>
            <a:r>
              <a:rPr lang="en-AU" sz="2200" dirty="0" smtClean="0">
                <a:latin typeface="Helvetica" pitchFamily="34" charset="0"/>
              </a:rPr>
              <a:t>Can easily be used by management and </a:t>
            </a:r>
            <a:br>
              <a:rPr lang="en-AU" sz="2200" dirty="0" smtClean="0">
                <a:latin typeface="Helvetica" pitchFamily="34" charset="0"/>
              </a:rPr>
            </a:br>
            <a:r>
              <a:rPr lang="en-AU" sz="2200" dirty="0" smtClean="0">
                <a:latin typeface="Helvetica" pitchFamily="34" charset="0"/>
              </a:rPr>
              <a:t>staff to see that activities have been:</a:t>
            </a:r>
          </a:p>
          <a:p>
            <a:pPr lvl="1">
              <a:spcBef>
                <a:spcPts val="600"/>
              </a:spcBef>
              <a:spcAft>
                <a:spcPts val="1200"/>
              </a:spcAft>
            </a:pPr>
            <a:r>
              <a:rPr lang="en-AU" sz="2200" dirty="0" smtClean="0">
                <a:latin typeface="Helvetica" pitchFamily="34" charset="0"/>
              </a:rPr>
              <a:t>Completed</a:t>
            </a:r>
          </a:p>
          <a:p>
            <a:pPr lvl="1">
              <a:spcBef>
                <a:spcPts val="600"/>
              </a:spcBef>
              <a:spcAft>
                <a:spcPts val="1200"/>
              </a:spcAft>
            </a:pPr>
            <a:r>
              <a:rPr lang="en-AU" sz="2200" dirty="0" smtClean="0">
                <a:latin typeface="Helvetica" pitchFamily="34" charset="0"/>
              </a:rPr>
              <a:t>By whom</a:t>
            </a:r>
          </a:p>
          <a:p>
            <a:pPr lvl="1">
              <a:spcBef>
                <a:spcPts val="600"/>
              </a:spcBef>
              <a:spcAft>
                <a:spcPts val="1200"/>
              </a:spcAft>
            </a:pPr>
            <a:r>
              <a:rPr lang="en-AU" sz="2200" dirty="0" smtClean="0">
                <a:latin typeface="Helvetica" pitchFamily="34" charset="0"/>
              </a:rPr>
              <a:t>At what time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184</a:t>
            </a:fld>
            <a:endParaRPr lang="en-US" dirty="0"/>
          </a:p>
        </p:txBody>
      </p:sp>
      <p:pic>
        <p:nvPicPr>
          <p:cNvPr id="146433" name="Picture 1" descr="C:\Documents and Settings\danielc\Local Settings\Temporary Internet Files\Content.IE5\UMECW9PM\MC900383516[1].wmf"/>
          <p:cNvPicPr>
            <a:picLocks noChangeAspect="1" noChangeArrowheads="1"/>
          </p:cNvPicPr>
          <p:nvPr/>
        </p:nvPicPr>
        <p:blipFill>
          <a:blip r:embed="rId3" cstate="print"/>
          <a:srcRect/>
          <a:stretch>
            <a:fillRect/>
          </a:stretch>
        </p:blipFill>
        <p:spPr bwMode="auto">
          <a:xfrm>
            <a:off x="6781800" y="2209800"/>
            <a:ext cx="1463954" cy="1826057"/>
          </a:xfrm>
          <a:prstGeom prst="rect">
            <a:avLst/>
          </a:prstGeom>
          <a:noFill/>
        </p:spPr>
      </p:pic>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Using checklists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The use of checklists by supervisors </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No aspect of the job is left out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Consistency across all staff whose performance is being monitored</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Subjectivity in monitoring</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Matters that are regularly occurring as                             non-compliance issues can be identified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185</a:t>
            </a:fld>
            <a:endParaRPr lang="en-US" dirty="0"/>
          </a:p>
        </p:txBody>
      </p:sp>
      <p:pic>
        <p:nvPicPr>
          <p:cNvPr id="144386" name="Picture 2" descr="C:\Documents and Settings\danielc\Local Settings\Temporary Internet Files\Content.IE5\3DV3UKH9\MC900205484[1].wmf"/>
          <p:cNvPicPr>
            <a:picLocks noChangeAspect="1" noChangeArrowheads="1"/>
          </p:cNvPicPr>
          <p:nvPr/>
        </p:nvPicPr>
        <p:blipFill>
          <a:blip r:embed="rId3" cstate="print"/>
          <a:srcRect/>
          <a:stretch>
            <a:fillRect/>
          </a:stretch>
        </p:blipFill>
        <p:spPr bwMode="auto">
          <a:xfrm>
            <a:off x="6400800" y="3276600"/>
            <a:ext cx="1818742" cy="1809598"/>
          </a:xfrm>
          <a:prstGeom prst="rect">
            <a:avLst/>
          </a:prstGeom>
          <a:noFill/>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Planning set up</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Many venues will have plans of previous function set-ups to guide set-ups. </a:t>
            </a:r>
          </a:p>
          <a:p>
            <a:pPr marL="0">
              <a:spcBef>
                <a:spcPts val="600"/>
              </a:spcBef>
              <a:spcAft>
                <a:spcPts val="1200"/>
              </a:spcAft>
              <a:buNone/>
            </a:pPr>
            <a:r>
              <a:rPr lang="en-AU" sz="2200" dirty="0" smtClean="0">
                <a:latin typeface="Helvetica" pitchFamily="34" charset="0"/>
              </a:rPr>
              <a:t>In all instances the room set-up must be in accordance with client wishes as set out in the contract. </a:t>
            </a:r>
          </a:p>
          <a:p>
            <a:pPr>
              <a:spcBef>
                <a:spcPts val="600"/>
              </a:spcBef>
              <a:spcAft>
                <a:spcPts val="1200"/>
              </a:spcAft>
            </a:pPr>
            <a:r>
              <a:rPr lang="en-AU" sz="2200" dirty="0" smtClean="0">
                <a:latin typeface="Helvetica" pitchFamily="34" charset="0"/>
              </a:rPr>
              <a:t>What needs to be planned?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186</a:t>
            </a:fld>
            <a:endParaRPr lang="en-US" dirty="0"/>
          </a:p>
        </p:txBody>
      </p:sp>
      <p:pic>
        <p:nvPicPr>
          <p:cNvPr id="142337" name="Picture 1" descr="C:\Documents and Settings\danielc\Local Settings\Temporary Internet Files\Content.IE5\112MAXTI\MP900385552[1].jpg"/>
          <p:cNvPicPr>
            <a:picLocks noChangeAspect="1" noChangeArrowheads="1"/>
          </p:cNvPicPr>
          <p:nvPr/>
        </p:nvPicPr>
        <p:blipFill>
          <a:blip r:embed="rId3" cstate="print"/>
          <a:srcRect/>
          <a:stretch>
            <a:fillRect/>
          </a:stretch>
        </p:blipFill>
        <p:spPr bwMode="auto">
          <a:xfrm>
            <a:off x="3429000" y="4114800"/>
            <a:ext cx="2590800" cy="1850571"/>
          </a:xfrm>
          <a:prstGeom prst="rect">
            <a:avLst/>
          </a:prstGeom>
          <a:noFill/>
        </p:spPr>
      </p:pic>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Planning set up</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9040" cy="5606008"/>
          </a:xfrm>
        </p:spPr>
        <p:txBody>
          <a:bodyPr>
            <a:normAutofit/>
          </a:bodyPr>
          <a:lstStyle/>
          <a:p>
            <a:pPr>
              <a:spcBef>
                <a:spcPts val="600"/>
              </a:spcBef>
              <a:spcAft>
                <a:spcPts val="1200"/>
              </a:spcAft>
              <a:buNone/>
            </a:pPr>
            <a:r>
              <a:rPr lang="en-AU" sz="2200" b="1" dirty="0" smtClean="0">
                <a:latin typeface="Helvetica" pitchFamily="34" charset="0"/>
              </a:rPr>
              <a:t>Setting up tables</a:t>
            </a:r>
          </a:p>
          <a:p>
            <a:pPr marL="0">
              <a:spcBef>
                <a:spcPts val="600"/>
              </a:spcBef>
              <a:spcAft>
                <a:spcPts val="1200"/>
              </a:spcAft>
              <a:buNone/>
            </a:pPr>
            <a:r>
              <a:rPr lang="en-AU" sz="2200" dirty="0" smtClean="0">
                <a:latin typeface="Helvetica" pitchFamily="34" charset="0"/>
              </a:rPr>
              <a:t>When setting up the relevant locations the function sheet should be referred to in order to determine the need for specific furniture such as:</a:t>
            </a:r>
          </a:p>
          <a:p>
            <a:pPr>
              <a:spcBef>
                <a:spcPts val="600"/>
              </a:spcBef>
              <a:spcAft>
                <a:spcPts val="1200"/>
              </a:spcAft>
            </a:pPr>
            <a:r>
              <a:rPr lang="en-AU" sz="2200" dirty="0" smtClean="0">
                <a:latin typeface="Helvetica" pitchFamily="34" charset="0"/>
              </a:rPr>
              <a:t>Display tables</a:t>
            </a:r>
          </a:p>
          <a:p>
            <a:pPr>
              <a:spcBef>
                <a:spcPts val="600"/>
              </a:spcBef>
              <a:spcAft>
                <a:spcPts val="1200"/>
              </a:spcAft>
            </a:pPr>
            <a:r>
              <a:rPr lang="en-AU" sz="2200" dirty="0" smtClean="0">
                <a:latin typeface="Helvetica" pitchFamily="34" charset="0"/>
              </a:rPr>
              <a:t>Registration tables</a:t>
            </a:r>
          </a:p>
          <a:p>
            <a:pPr>
              <a:spcBef>
                <a:spcPts val="600"/>
              </a:spcBef>
              <a:spcAft>
                <a:spcPts val="1200"/>
              </a:spcAft>
            </a:pPr>
            <a:r>
              <a:rPr lang="en-AU" sz="2200" dirty="0" smtClean="0">
                <a:latin typeface="Helvetica" pitchFamily="34" charset="0"/>
              </a:rPr>
              <a:t>Tables for merchandise and delegate materials, catering and IT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187</a:t>
            </a:fld>
            <a:endParaRPr lang="en-US" dirty="0"/>
          </a:p>
        </p:txBody>
      </p:sp>
      <p:pic>
        <p:nvPicPr>
          <p:cNvPr id="140289" name="Picture 1" descr="C:\Documents and Settings\danielc\Desktop\registration table.jpg"/>
          <p:cNvPicPr>
            <a:picLocks noChangeAspect="1" noChangeArrowheads="1"/>
          </p:cNvPicPr>
          <p:nvPr/>
        </p:nvPicPr>
        <p:blipFill>
          <a:blip r:embed="rId3" cstate="print">
            <a:lum contrast="10000"/>
          </a:blip>
          <a:srcRect l="6906" t="12278" r="10216" b="26331"/>
          <a:stretch>
            <a:fillRect/>
          </a:stretch>
        </p:blipFill>
        <p:spPr bwMode="auto">
          <a:xfrm>
            <a:off x="5867400" y="3048000"/>
            <a:ext cx="2514600" cy="1397000"/>
          </a:xfrm>
          <a:prstGeom prst="rect">
            <a:avLst/>
          </a:prstGeom>
          <a:noFill/>
        </p:spPr>
      </p:pic>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Floor-related mise-en-place tasks</a:t>
            </a:r>
          </a:p>
          <a:p>
            <a:pPr lvl="0">
              <a:spcBef>
                <a:spcPts val="600"/>
              </a:spcBef>
              <a:spcAft>
                <a:spcPts val="1200"/>
              </a:spcAft>
            </a:pPr>
            <a:r>
              <a:rPr lang="en-AU" sz="2200" dirty="0" smtClean="0">
                <a:latin typeface="Helvetica" pitchFamily="34" charset="0"/>
              </a:rPr>
              <a:t>Preparing, polishing and setting glasses on each table at each setting</a:t>
            </a:r>
          </a:p>
          <a:p>
            <a:pPr lvl="0">
              <a:spcBef>
                <a:spcPts val="600"/>
              </a:spcBef>
              <a:spcAft>
                <a:spcPts val="1200"/>
              </a:spcAft>
            </a:pPr>
            <a:r>
              <a:rPr lang="en-AU" sz="2200" dirty="0" smtClean="0">
                <a:latin typeface="Helvetica" pitchFamily="34" charset="0"/>
              </a:rPr>
              <a:t>Preparing crockery and cutlery</a:t>
            </a:r>
          </a:p>
          <a:p>
            <a:pPr lvl="0">
              <a:spcBef>
                <a:spcPts val="600"/>
              </a:spcBef>
              <a:spcAft>
                <a:spcPts val="1200"/>
              </a:spcAft>
            </a:pPr>
            <a:r>
              <a:rPr lang="en-AU" sz="2200" dirty="0" smtClean="0">
                <a:latin typeface="Helvetica" pitchFamily="34" charset="0"/>
              </a:rPr>
              <a:t>Checking support items are ready</a:t>
            </a:r>
          </a:p>
          <a:p>
            <a:pPr lvl="0">
              <a:spcBef>
                <a:spcPts val="600"/>
              </a:spcBef>
              <a:spcAft>
                <a:spcPts val="1200"/>
              </a:spcAft>
            </a:pPr>
            <a:r>
              <a:rPr lang="en-AU" sz="2200" dirty="0" smtClean="0">
                <a:latin typeface="Helvetica" pitchFamily="34" charset="0"/>
              </a:rPr>
              <a:t>Folding napkins</a:t>
            </a:r>
          </a:p>
          <a:p>
            <a:pPr lvl="0">
              <a:spcBef>
                <a:spcPts val="600"/>
              </a:spcBef>
              <a:spcAft>
                <a:spcPts val="1200"/>
              </a:spcAft>
            </a:pPr>
            <a:r>
              <a:rPr lang="en-AU" sz="2200" dirty="0" smtClean="0">
                <a:latin typeface="Helvetica" pitchFamily="34" charset="0"/>
              </a:rPr>
              <a:t>Preparing condiments</a:t>
            </a:r>
          </a:p>
          <a:p>
            <a:pPr>
              <a:spcBef>
                <a:spcPts val="600"/>
              </a:spcBef>
              <a:spcAft>
                <a:spcPts val="1200"/>
              </a:spcAft>
              <a:buNone/>
            </a:pPr>
            <a:endParaRPr lang="en-AU" sz="2400" b="1"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188</a:t>
            </a:fld>
            <a:endParaRPr lang="en-US" dirty="0"/>
          </a:p>
        </p:txBody>
      </p:sp>
      <p:pic>
        <p:nvPicPr>
          <p:cNvPr id="7" name="Picture 6" descr="March 2005  345_RT8.TIF"/>
          <p:cNvPicPr/>
          <p:nvPr/>
        </p:nvPicPr>
        <p:blipFill>
          <a:blip r:embed="rId3" cstate="print"/>
          <a:stretch>
            <a:fillRect/>
          </a:stretch>
        </p:blipFill>
        <p:spPr>
          <a:xfrm>
            <a:off x="5867400" y="3048000"/>
            <a:ext cx="2271713" cy="1590675"/>
          </a:xfrm>
          <a:prstGeom prst="rect">
            <a:avLst/>
          </a:prstGeom>
        </p:spPr>
      </p:pic>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Floor-related mise-en-place tasks</a:t>
            </a:r>
          </a:p>
          <a:p>
            <a:pPr lvl="0">
              <a:spcBef>
                <a:spcPts val="600"/>
              </a:spcBef>
              <a:spcAft>
                <a:spcPts val="1200"/>
              </a:spcAft>
            </a:pPr>
            <a:r>
              <a:rPr lang="en-AU" sz="2200" dirty="0" smtClean="0">
                <a:latin typeface="Helvetica" pitchFamily="34" charset="0"/>
              </a:rPr>
              <a:t>Preparing butters</a:t>
            </a:r>
          </a:p>
          <a:p>
            <a:pPr lvl="0">
              <a:spcBef>
                <a:spcPts val="600"/>
              </a:spcBef>
              <a:spcAft>
                <a:spcPts val="1200"/>
              </a:spcAft>
            </a:pPr>
            <a:r>
              <a:rPr lang="en-AU" sz="2200" dirty="0" smtClean="0">
                <a:latin typeface="Helvetica" pitchFamily="34" charset="0"/>
              </a:rPr>
              <a:t>Readying all equipment</a:t>
            </a:r>
          </a:p>
          <a:p>
            <a:pPr lvl="0">
              <a:spcBef>
                <a:spcPts val="600"/>
              </a:spcBef>
              <a:spcAft>
                <a:spcPts val="1200"/>
              </a:spcAft>
            </a:pPr>
            <a:r>
              <a:rPr lang="en-AU" sz="2200" dirty="0" smtClean="0">
                <a:latin typeface="Helvetica" pitchFamily="34" charset="0"/>
              </a:rPr>
              <a:t>Checking or preparing display materials</a:t>
            </a:r>
          </a:p>
          <a:p>
            <a:pPr lvl="0">
              <a:spcBef>
                <a:spcPts val="600"/>
              </a:spcBef>
              <a:spcAft>
                <a:spcPts val="1200"/>
              </a:spcAft>
            </a:pPr>
            <a:r>
              <a:rPr lang="en-AU" sz="2200" dirty="0" smtClean="0">
                <a:latin typeface="Helvetica" pitchFamily="34" charset="0"/>
              </a:rPr>
              <a:t>Preparing and checking operational readiness of cash registers</a:t>
            </a:r>
          </a:p>
          <a:p>
            <a:pPr>
              <a:spcBef>
                <a:spcPts val="600"/>
              </a:spcBef>
              <a:spcAft>
                <a:spcPts val="1200"/>
              </a:spcAft>
              <a:buNone/>
            </a:pPr>
            <a:endParaRPr lang="en-AU" sz="2400" b="1"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189</a:t>
            </a:fld>
            <a:endParaRPr lang="en-US" dirty="0"/>
          </a:p>
        </p:txBody>
      </p:sp>
      <p:pic>
        <p:nvPicPr>
          <p:cNvPr id="136195" name="Picture 3" descr="C:\Documents and Settings\danielc\Desktop\123115_wedding_butter_balls.jpg"/>
          <p:cNvPicPr>
            <a:picLocks noChangeAspect="1" noChangeArrowheads="1"/>
          </p:cNvPicPr>
          <p:nvPr/>
        </p:nvPicPr>
        <p:blipFill>
          <a:blip r:embed="rId3" cstate="print"/>
          <a:srcRect l="11189" t="14985" r="14219" b="10090"/>
          <a:stretch>
            <a:fillRect/>
          </a:stretch>
        </p:blipFill>
        <p:spPr bwMode="auto">
          <a:xfrm>
            <a:off x="6324600" y="2209800"/>
            <a:ext cx="1930400" cy="1447800"/>
          </a:xfrm>
          <a:prstGeom prst="rect">
            <a:avLst/>
          </a:prstGeom>
          <a:noFill/>
        </p:spPr>
      </p:pic>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600"/>
              </a:spcAft>
              <a:buNone/>
            </a:pPr>
            <a:r>
              <a:rPr lang="en-AU" sz="2200" b="1" dirty="0" smtClean="0">
                <a:latin typeface="Helvetica" pitchFamily="34" charset="0"/>
              </a:rPr>
              <a:t>Floor related mise-en-place tasks</a:t>
            </a:r>
          </a:p>
          <a:p>
            <a:pPr lvl="0">
              <a:spcBef>
                <a:spcPts val="600"/>
              </a:spcBef>
              <a:spcAft>
                <a:spcPts val="600"/>
              </a:spcAft>
              <a:buNone/>
            </a:pPr>
            <a:r>
              <a:rPr lang="en-AU" sz="2200" u="sng" dirty="0" smtClean="0">
                <a:latin typeface="Helvetica" pitchFamily="34" charset="0"/>
              </a:rPr>
              <a:t>Checking table dressings</a:t>
            </a:r>
          </a:p>
          <a:p>
            <a:pPr>
              <a:spcBef>
                <a:spcPts val="600"/>
              </a:spcBef>
              <a:spcAft>
                <a:spcPts val="600"/>
              </a:spcAft>
            </a:pPr>
            <a:r>
              <a:rPr lang="en-AU" sz="2200" dirty="0" smtClean="0">
                <a:latin typeface="Helvetica" pitchFamily="34" charset="0"/>
              </a:rPr>
              <a:t>Linen presentation</a:t>
            </a:r>
          </a:p>
          <a:p>
            <a:pPr>
              <a:spcBef>
                <a:spcPts val="600"/>
              </a:spcBef>
              <a:spcAft>
                <a:spcPts val="600"/>
              </a:spcAft>
            </a:pPr>
            <a:r>
              <a:rPr lang="en-AU" sz="2200" dirty="0" smtClean="0">
                <a:latin typeface="Helvetica" pitchFamily="34" charset="0"/>
              </a:rPr>
              <a:t>Paper overlays and serviettes  </a:t>
            </a:r>
          </a:p>
          <a:p>
            <a:pPr>
              <a:spcBef>
                <a:spcPts val="600"/>
              </a:spcBef>
              <a:spcAft>
                <a:spcPts val="600"/>
              </a:spcAft>
            </a:pPr>
            <a:r>
              <a:rPr lang="en-AU" sz="2200" dirty="0" smtClean="0">
                <a:latin typeface="Helvetica" pitchFamily="34" charset="0"/>
              </a:rPr>
              <a:t>Placemats  </a:t>
            </a:r>
          </a:p>
          <a:p>
            <a:pPr>
              <a:spcBef>
                <a:spcPts val="600"/>
              </a:spcBef>
              <a:spcAft>
                <a:spcPts val="600"/>
              </a:spcAft>
            </a:pPr>
            <a:r>
              <a:rPr lang="en-AU" sz="2200" dirty="0" smtClean="0">
                <a:latin typeface="Helvetica" pitchFamily="34" charset="0"/>
              </a:rPr>
              <a:t>Glassware</a:t>
            </a:r>
          </a:p>
          <a:p>
            <a:pPr>
              <a:spcBef>
                <a:spcPts val="600"/>
              </a:spcBef>
              <a:spcAft>
                <a:spcPts val="600"/>
              </a:spcAft>
            </a:pPr>
            <a:r>
              <a:rPr lang="en-AU" sz="2200" dirty="0" smtClean="0">
                <a:latin typeface="Helvetica" pitchFamily="34" charset="0"/>
              </a:rPr>
              <a:t>Service wear and flatware</a:t>
            </a:r>
          </a:p>
          <a:p>
            <a:pPr>
              <a:spcBef>
                <a:spcPts val="600"/>
              </a:spcBef>
              <a:spcAft>
                <a:spcPts val="600"/>
              </a:spcAft>
            </a:pPr>
            <a:r>
              <a:rPr lang="en-AU" sz="2200" dirty="0" smtClean="0">
                <a:latin typeface="Helvetica" pitchFamily="34" charset="0"/>
              </a:rPr>
              <a:t>Floral arrangements</a:t>
            </a:r>
          </a:p>
          <a:p>
            <a:pPr>
              <a:spcBef>
                <a:spcPts val="600"/>
              </a:spcBef>
              <a:spcAft>
                <a:spcPts val="600"/>
              </a:spcAft>
            </a:pPr>
            <a:r>
              <a:rPr lang="en-AU" sz="2200" dirty="0" smtClean="0">
                <a:latin typeface="Helvetica" pitchFamily="34" charset="0"/>
              </a:rPr>
              <a:t>Condiments</a:t>
            </a:r>
          </a:p>
          <a:p>
            <a:pPr>
              <a:spcBef>
                <a:spcPts val="600"/>
              </a:spcBef>
              <a:spcAft>
                <a:spcPts val="600"/>
              </a:spcAft>
            </a:pPr>
            <a:r>
              <a:rPr lang="en-AU" sz="2200" dirty="0" smtClean="0">
                <a:latin typeface="Helvetica" pitchFamily="34" charset="0"/>
              </a:rPr>
              <a:t>Table numbers</a:t>
            </a:r>
          </a:p>
          <a:p>
            <a:pPr lvl="0">
              <a:spcBef>
                <a:spcPts val="600"/>
              </a:spcBef>
              <a:spcAft>
                <a:spcPts val="1200"/>
              </a:spcAft>
              <a:buNone/>
            </a:pPr>
            <a:endParaRPr lang="en-AU" sz="2400" b="1" u="sng"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190</a:t>
            </a:fld>
            <a:endParaRPr lang="en-US" dirty="0"/>
          </a:p>
        </p:txBody>
      </p:sp>
      <p:pic>
        <p:nvPicPr>
          <p:cNvPr id="8" name="Picture 1" descr="I:\Overseas Projects\PHOTOS\Accommodation 2009\DSC_0110.jpg"/>
          <p:cNvPicPr>
            <a:picLocks noChangeAspect="1" noChangeArrowheads="1"/>
          </p:cNvPicPr>
          <p:nvPr/>
        </p:nvPicPr>
        <p:blipFill>
          <a:blip r:embed="rId3" cstate="print">
            <a:lum bright="10000" contrast="10000"/>
          </a:blip>
          <a:srcRect/>
          <a:stretch>
            <a:fillRect/>
          </a:stretch>
        </p:blipFill>
        <p:spPr bwMode="auto">
          <a:xfrm>
            <a:off x="5562600" y="2057400"/>
            <a:ext cx="2523583" cy="1676400"/>
          </a:xfrm>
          <a:prstGeom prst="rect">
            <a:avLst/>
          </a:prstGeom>
          <a:noFill/>
        </p:spPr>
      </p:pic>
      <p:pic>
        <p:nvPicPr>
          <p:cNvPr id="9" name="Picture 2" descr="I:\Overseas Projects\PHOTOS\2012\F &amp; B 2012\MP900422676.JPG"/>
          <p:cNvPicPr>
            <a:picLocks noChangeAspect="1" noChangeArrowheads="1"/>
          </p:cNvPicPr>
          <p:nvPr/>
        </p:nvPicPr>
        <p:blipFill>
          <a:blip r:embed="rId4" cstate="print"/>
          <a:srcRect/>
          <a:stretch>
            <a:fillRect/>
          </a:stretch>
        </p:blipFill>
        <p:spPr bwMode="auto">
          <a:xfrm>
            <a:off x="5562600" y="3886200"/>
            <a:ext cx="2505992" cy="1670009"/>
          </a:xfrm>
          <a:prstGeom prst="rect">
            <a:avLst/>
          </a:prstGeom>
          <a:noFill/>
        </p:spPr>
      </p:pic>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Floor-related mise-en-place tasks</a:t>
            </a:r>
          </a:p>
          <a:p>
            <a:pPr lvl="0">
              <a:spcBef>
                <a:spcPts val="600"/>
              </a:spcBef>
              <a:spcAft>
                <a:spcPts val="1200"/>
              </a:spcAft>
              <a:buNone/>
            </a:pPr>
            <a:r>
              <a:rPr lang="en-AU" sz="2200" u="sng" dirty="0" smtClean="0">
                <a:latin typeface="Helvetica" pitchFamily="34" charset="0"/>
              </a:rPr>
              <a:t>Setting the tables</a:t>
            </a:r>
          </a:p>
          <a:p>
            <a:pPr>
              <a:spcBef>
                <a:spcPts val="600"/>
              </a:spcBef>
              <a:spcAft>
                <a:spcPts val="1200"/>
              </a:spcAft>
              <a:buNone/>
            </a:pPr>
            <a:r>
              <a:rPr lang="en-AU" sz="2200" dirty="0" smtClean="0">
                <a:latin typeface="Helvetica" pitchFamily="34" charset="0"/>
              </a:rPr>
              <a:t>Tables must be set to:</a:t>
            </a:r>
          </a:p>
          <a:p>
            <a:pPr lvl="0">
              <a:spcBef>
                <a:spcPts val="600"/>
              </a:spcBef>
              <a:spcAft>
                <a:spcPts val="1200"/>
              </a:spcAft>
            </a:pPr>
            <a:r>
              <a:rPr lang="en-AU" sz="2200" dirty="0" smtClean="0">
                <a:latin typeface="Helvetica" pitchFamily="34" charset="0"/>
              </a:rPr>
              <a:t>Reflect the menu that is being </a:t>
            </a:r>
            <a:br>
              <a:rPr lang="en-AU" sz="2200" dirty="0" smtClean="0">
                <a:latin typeface="Helvetica" pitchFamily="34" charset="0"/>
              </a:rPr>
            </a:br>
            <a:r>
              <a:rPr lang="en-AU" sz="2200" dirty="0" smtClean="0">
                <a:latin typeface="Helvetica" pitchFamily="34" charset="0"/>
              </a:rPr>
              <a:t>used for the function </a:t>
            </a:r>
          </a:p>
          <a:p>
            <a:pPr lvl="0">
              <a:spcBef>
                <a:spcPts val="600"/>
              </a:spcBef>
              <a:spcAft>
                <a:spcPts val="1200"/>
              </a:spcAft>
            </a:pPr>
            <a:r>
              <a:rPr lang="en-AU" sz="2200" dirty="0" smtClean="0">
                <a:latin typeface="Helvetica" pitchFamily="34" charset="0"/>
              </a:rPr>
              <a:t>Reflect the floor/table plan that </a:t>
            </a:r>
            <a:br>
              <a:rPr lang="en-AU" sz="2200" dirty="0" smtClean="0">
                <a:latin typeface="Helvetica" pitchFamily="34" charset="0"/>
              </a:rPr>
            </a:br>
            <a:r>
              <a:rPr lang="en-AU" sz="2200" dirty="0" smtClean="0">
                <a:latin typeface="Helvetica" pitchFamily="34" charset="0"/>
              </a:rPr>
              <a:t>has been prepared </a:t>
            </a:r>
          </a:p>
          <a:p>
            <a:pPr lvl="0">
              <a:spcBef>
                <a:spcPts val="600"/>
              </a:spcBef>
              <a:spcAft>
                <a:spcPts val="1200"/>
              </a:spcAft>
            </a:pPr>
            <a:r>
              <a:rPr lang="en-AU" sz="2200" dirty="0" smtClean="0">
                <a:latin typeface="Helvetica" pitchFamily="34" charset="0"/>
              </a:rPr>
              <a:t>Comply with house and function requirements</a:t>
            </a:r>
          </a:p>
          <a:p>
            <a:pPr lvl="0">
              <a:spcBef>
                <a:spcPts val="600"/>
              </a:spcBef>
              <a:spcAft>
                <a:spcPts val="1200"/>
              </a:spcAft>
            </a:pPr>
            <a:r>
              <a:rPr lang="en-AU" sz="2200" dirty="0" smtClean="0">
                <a:latin typeface="Helvetica" pitchFamily="34" charset="0"/>
              </a:rPr>
              <a:t>Ensure uniformity throughout the room</a:t>
            </a:r>
          </a:p>
          <a:p>
            <a:pPr lvl="0">
              <a:spcBef>
                <a:spcPts val="600"/>
              </a:spcBef>
              <a:spcAft>
                <a:spcPts val="1200"/>
              </a:spcAft>
              <a:buNone/>
            </a:pPr>
            <a:endParaRPr lang="en-AU" sz="2400" b="1" u="sng"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191</a:t>
            </a:fld>
            <a:endParaRPr lang="en-US" dirty="0"/>
          </a:p>
        </p:txBody>
      </p:sp>
      <p:pic>
        <p:nvPicPr>
          <p:cNvPr id="132098" name="Picture 2" descr="I:\Overseas Projects\PHOTOS\Accommodation 2009\DSC_0102.jpg"/>
          <p:cNvPicPr>
            <a:picLocks noChangeAspect="1" noChangeArrowheads="1"/>
          </p:cNvPicPr>
          <p:nvPr/>
        </p:nvPicPr>
        <p:blipFill>
          <a:blip r:embed="rId3" cstate="print"/>
          <a:srcRect/>
          <a:stretch>
            <a:fillRect/>
          </a:stretch>
        </p:blipFill>
        <p:spPr bwMode="auto">
          <a:xfrm>
            <a:off x="5715000" y="3124200"/>
            <a:ext cx="2523587" cy="1676400"/>
          </a:xfrm>
          <a:prstGeom prst="rect">
            <a:avLst/>
          </a:prstGeom>
          <a:noFill/>
        </p:spPr>
      </p:pic>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Floor related mise-en-place tasks</a:t>
            </a:r>
          </a:p>
          <a:p>
            <a:pPr marL="0">
              <a:spcBef>
                <a:spcPts val="600"/>
              </a:spcBef>
              <a:spcAft>
                <a:spcPts val="1200"/>
              </a:spcAft>
              <a:buNone/>
            </a:pPr>
            <a:r>
              <a:rPr lang="en-AU" sz="2200" dirty="0" smtClean="0">
                <a:latin typeface="Helvetica" pitchFamily="34" charset="0"/>
              </a:rPr>
              <a:t>Tables and chairs should be checked prior to service to ensure:</a:t>
            </a:r>
          </a:p>
          <a:p>
            <a:pPr lvl="0">
              <a:spcBef>
                <a:spcPts val="600"/>
              </a:spcBef>
              <a:spcAft>
                <a:spcPts val="1200"/>
              </a:spcAft>
            </a:pPr>
            <a:r>
              <a:rPr lang="en-AU" sz="2200" dirty="0" smtClean="0">
                <a:latin typeface="Helvetica" pitchFamily="34" charset="0"/>
              </a:rPr>
              <a:t>Guest comfort</a:t>
            </a:r>
          </a:p>
          <a:p>
            <a:pPr lvl="0">
              <a:spcBef>
                <a:spcPts val="600"/>
              </a:spcBef>
              <a:spcAft>
                <a:spcPts val="1200"/>
              </a:spcAft>
            </a:pPr>
            <a:r>
              <a:rPr lang="en-AU" sz="2200" dirty="0" smtClean="0">
                <a:latin typeface="Helvetica" pitchFamily="34" charset="0"/>
              </a:rPr>
              <a:t>Guest safety</a:t>
            </a:r>
          </a:p>
          <a:p>
            <a:pPr>
              <a:spcBef>
                <a:spcPts val="600"/>
              </a:spcBef>
              <a:spcAft>
                <a:spcPts val="1200"/>
              </a:spcAft>
            </a:pPr>
            <a:r>
              <a:rPr lang="en-AU" sz="2200" dirty="0" smtClean="0">
                <a:latin typeface="Helvetica" pitchFamily="34" charset="0"/>
              </a:rPr>
              <a:t>Appropriate access</a:t>
            </a:r>
            <a:endParaRPr lang="en-AU" sz="2200" b="1" u="sng"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192</a:t>
            </a:fld>
            <a:endParaRPr lang="en-US" dirty="0"/>
          </a:p>
        </p:txBody>
      </p:sp>
      <p:pic>
        <p:nvPicPr>
          <p:cNvPr id="8" name="Picture 7" descr="MP900406513.JPG"/>
          <p:cNvPicPr>
            <a:picLocks noChangeAspect="1"/>
          </p:cNvPicPr>
          <p:nvPr/>
        </p:nvPicPr>
        <p:blipFill>
          <a:blip r:embed="rId3" cstate="print"/>
          <a:stretch>
            <a:fillRect/>
          </a:stretch>
        </p:blipFill>
        <p:spPr>
          <a:xfrm>
            <a:off x="4648200" y="2971800"/>
            <a:ext cx="2647950" cy="2118360"/>
          </a:xfrm>
          <a:prstGeom prst="rect">
            <a:avLst/>
          </a:prstGeom>
        </p:spPr>
      </p:pic>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33400" y="1371600"/>
            <a:ext cx="7467600" cy="5606008"/>
          </a:xfrm>
        </p:spPr>
        <p:txBody>
          <a:bodyPr>
            <a:normAutofit/>
          </a:bodyPr>
          <a:lstStyle/>
          <a:p>
            <a:pPr>
              <a:spcBef>
                <a:spcPts val="600"/>
              </a:spcBef>
              <a:spcAft>
                <a:spcPts val="1200"/>
              </a:spcAft>
              <a:buNone/>
            </a:pPr>
            <a:r>
              <a:rPr lang="en-AU" sz="2200" b="1" dirty="0" smtClean="0">
                <a:latin typeface="Helvetica" pitchFamily="34" charset="0"/>
              </a:rPr>
              <a:t>Bar related mise-en-place tasks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Storing beverages that have been delivered to the bar</a:t>
            </a:r>
          </a:p>
          <a:p>
            <a:pPr lvl="0">
              <a:spcBef>
                <a:spcPts val="600"/>
              </a:spcBef>
              <a:spcAft>
                <a:spcPts val="1200"/>
              </a:spcAft>
            </a:pPr>
            <a:r>
              <a:rPr lang="en-AU" sz="2200" dirty="0" smtClean="0">
                <a:latin typeface="Helvetica" pitchFamily="34" charset="0"/>
              </a:rPr>
              <a:t>Preparing bar garnishes</a:t>
            </a:r>
          </a:p>
          <a:p>
            <a:pPr lvl="0">
              <a:spcBef>
                <a:spcPts val="600"/>
              </a:spcBef>
              <a:spcAft>
                <a:spcPts val="1200"/>
              </a:spcAft>
            </a:pPr>
            <a:r>
              <a:rPr lang="en-AU" sz="2200" dirty="0" smtClean="0">
                <a:latin typeface="Helvetica" pitchFamily="34" charset="0"/>
              </a:rPr>
              <a:t>Preparing ice</a:t>
            </a:r>
          </a:p>
          <a:p>
            <a:pPr lvl="0">
              <a:spcBef>
                <a:spcPts val="600"/>
              </a:spcBef>
              <a:spcAft>
                <a:spcPts val="1200"/>
              </a:spcAft>
            </a:pPr>
            <a:r>
              <a:rPr lang="en-AU" sz="2200" dirty="0" smtClean="0">
                <a:latin typeface="Helvetica" pitchFamily="34" charset="0"/>
              </a:rPr>
              <a:t>Preparing and checking operational </a:t>
            </a:r>
            <a:br>
              <a:rPr lang="en-AU" sz="2200" dirty="0" smtClean="0">
                <a:latin typeface="Helvetica" pitchFamily="34" charset="0"/>
              </a:rPr>
            </a:br>
            <a:r>
              <a:rPr lang="en-AU" sz="2200" dirty="0" smtClean="0">
                <a:latin typeface="Helvetica" pitchFamily="34" charset="0"/>
              </a:rPr>
              <a:t>readiness of cash registers</a:t>
            </a:r>
          </a:p>
          <a:p>
            <a:pPr>
              <a:spcBef>
                <a:spcPts val="600"/>
              </a:spcBef>
              <a:spcAft>
                <a:spcPts val="1200"/>
              </a:spcAft>
            </a:pPr>
            <a:r>
              <a:rPr lang="en-AU" sz="2200" dirty="0" smtClean="0">
                <a:latin typeface="Helvetica" pitchFamily="34" charset="0"/>
              </a:rPr>
              <a:t>Checking to see that all beverages listed                           on running sheets are available</a:t>
            </a:r>
            <a:endParaRPr lang="en-AU" sz="2200" b="1" u="sng"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193</a:t>
            </a:fld>
            <a:endParaRPr lang="en-US" dirty="0"/>
          </a:p>
        </p:txBody>
      </p:sp>
      <p:pic>
        <p:nvPicPr>
          <p:cNvPr id="6" name="Picture 5" descr="IMG_1976.jpg"/>
          <p:cNvPicPr/>
          <p:nvPr/>
        </p:nvPicPr>
        <p:blipFill>
          <a:blip r:embed="rId3" cstate="print"/>
          <a:stretch>
            <a:fillRect/>
          </a:stretch>
        </p:blipFill>
        <p:spPr>
          <a:xfrm>
            <a:off x="6477000" y="2743200"/>
            <a:ext cx="1585913" cy="1985963"/>
          </a:xfrm>
          <a:prstGeom prst="rect">
            <a:avLst/>
          </a:prstGeom>
        </p:spPr>
      </p:pic>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Bar related mise-en-place tasks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Checking the post-mix</a:t>
            </a:r>
          </a:p>
          <a:p>
            <a:pPr lvl="0">
              <a:spcBef>
                <a:spcPts val="600"/>
              </a:spcBef>
              <a:spcAft>
                <a:spcPts val="1200"/>
              </a:spcAft>
            </a:pPr>
            <a:r>
              <a:rPr lang="en-AU" sz="2200" dirty="0" smtClean="0">
                <a:latin typeface="Helvetica" pitchFamily="34" charset="0"/>
              </a:rPr>
              <a:t>Turning on espresso coffee machine</a:t>
            </a:r>
          </a:p>
          <a:p>
            <a:pPr lvl="0">
              <a:spcBef>
                <a:spcPts val="600"/>
              </a:spcBef>
              <a:spcAft>
                <a:spcPts val="1200"/>
              </a:spcAft>
            </a:pPr>
            <a:r>
              <a:rPr lang="en-AU" sz="2200" dirty="0" smtClean="0">
                <a:latin typeface="Helvetica" pitchFamily="34" charset="0"/>
              </a:rPr>
              <a:t>Setting out drip trays</a:t>
            </a:r>
          </a:p>
          <a:p>
            <a:pPr lvl="0">
              <a:spcBef>
                <a:spcPts val="600"/>
              </a:spcBef>
              <a:spcAft>
                <a:spcPts val="1200"/>
              </a:spcAft>
            </a:pPr>
            <a:r>
              <a:rPr lang="en-AU" sz="2200" dirty="0" smtClean="0">
                <a:latin typeface="Helvetica" pitchFamily="34" charset="0"/>
              </a:rPr>
              <a:t>Setting out </a:t>
            </a:r>
            <a:r>
              <a:rPr lang="en-AU" sz="2200" dirty="0" err="1" smtClean="0">
                <a:latin typeface="Helvetica" pitchFamily="34" charset="0"/>
              </a:rPr>
              <a:t>undertrays</a:t>
            </a:r>
            <a:r>
              <a:rPr lang="en-AU" sz="2200" dirty="0" smtClean="0">
                <a:latin typeface="Helvetica" pitchFamily="34" charset="0"/>
              </a:rPr>
              <a:t> and racks for                            dirty glassware</a:t>
            </a:r>
          </a:p>
          <a:p>
            <a:pPr lvl="0">
              <a:spcBef>
                <a:spcPts val="600"/>
              </a:spcBef>
              <a:spcAft>
                <a:spcPts val="1200"/>
              </a:spcAft>
            </a:pPr>
            <a:r>
              <a:rPr lang="en-AU" sz="2200" dirty="0" smtClean="0">
                <a:latin typeface="Helvetica" pitchFamily="34" charset="0"/>
              </a:rPr>
              <a:t>Checking equipment and bar utensils                               are clean and in working order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194</a:t>
            </a:fld>
            <a:endParaRPr lang="en-US" dirty="0"/>
          </a:p>
        </p:txBody>
      </p:sp>
      <p:pic>
        <p:nvPicPr>
          <p:cNvPr id="8" name="Picture 7" descr="MP900422980.JPG"/>
          <p:cNvPicPr>
            <a:picLocks noChangeAspect="1"/>
          </p:cNvPicPr>
          <p:nvPr/>
        </p:nvPicPr>
        <p:blipFill>
          <a:blip r:embed="rId3" cstate="print"/>
          <a:stretch>
            <a:fillRect/>
          </a:stretch>
        </p:blipFill>
        <p:spPr>
          <a:xfrm>
            <a:off x="6400800" y="2362200"/>
            <a:ext cx="1466850" cy="2133600"/>
          </a:xfrm>
          <a:prstGeom prst="rect">
            <a:avLst/>
          </a:prstGeom>
        </p:spPr>
      </p:pic>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Bar related mise-en-place tasks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Checking glassware to ensure no cracks, chips, lipstick marks etc.</a:t>
            </a:r>
          </a:p>
          <a:p>
            <a:pPr lvl="0">
              <a:spcBef>
                <a:spcPts val="600"/>
              </a:spcBef>
              <a:spcAft>
                <a:spcPts val="1200"/>
              </a:spcAft>
            </a:pPr>
            <a:r>
              <a:rPr lang="en-AU" sz="2200" dirty="0" smtClean="0">
                <a:latin typeface="Helvetica" pitchFamily="34" charset="0"/>
              </a:rPr>
              <a:t>Placing spirit pourers on the appropriate bottles</a:t>
            </a:r>
          </a:p>
          <a:p>
            <a:pPr lvl="0">
              <a:spcBef>
                <a:spcPts val="600"/>
              </a:spcBef>
              <a:spcAft>
                <a:spcPts val="1200"/>
              </a:spcAft>
            </a:pPr>
            <a:r>
              <a:rPr lang="en-AU" sz="2200" dirty="0" smtClean="0">
                <a:latin typeface="Helvetica" pitchFamily="34" charset="0"/>
              </a:rPr>
              <a:t>Stacking and ensuring cleanliness of service trays</a:t>
            </a:r>
          </a:p>
          <a:p>
            <a:pPr lvl="0">
              <a:spcBef>
                <a:spcPts val="600"/>
              </a:spcBef>
              <a:spcAft>
                <a:spcPts val="1200"/>
              </a:spcAft>
            </a:pPr>
            <a:r>
              <a:rPr lang="en-AU" sz="2200" dirty="0" smtClean="0">
                <a:latin typeface="Helvetica" pitchFamily="34" charset="0"/>
              </a:rPr>
              <a:t>Filling up ice buckets</a:t>
            </a:r>
          </a:p>
          <a:p>
            <a:pPr lvl="0">
              <a:spcBef>
                <a:spcPts val="600"/>
              </a:spcBef>
              <a:spcAft>
                <a:spcPts val="1200"/>
              </a:spcAft>
            </a:pPr>
            <a:r>
              <a:rPr lang="en-AU" sz="2200" dirty="0" smtClean="0">
                <a:latin typeface="Helvetica" pitchFamily="34" charset="0"/>
              </a:rPr>
              <a:t>Opening pre-selected wines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195</a:t>
            </a:fld>
            <a:endParaRPr lang="en-US" dirty="0"/>
          </a:p>
        </p:txBody>
      </p:sp>
      <p:pic>
        <p:nvPicPr>
          <p:cNvPr id="123905" name="Picture 1" descr="C:\Documents and Settings\danielc\Local Settings\Temporary Internet Files\Content.IE5\SIQ5KRQ3\MC900280985[1].wmf"/>
          <p:cNvPicPr>
            <a:picLocks noChangeAspect="1" noChangeArrowheads="1"/>
          </p:cNvPicPr>
          <p:nvPr/>
        </p:nvPicPr>
        <p:blipFill>
          <a:blip r:embed="rId3" cstate="print"/>
          <a:srcRect/>
          <a:stretch>
            <a:fillRect/>
          </a:stretch>
        </p:blipFill>
        <p:spPr bwMode="auto">
          <a:xfrm>
            <a:off x="6172200" y="4191000"/>
            <a:ext cx="2195465" cy="2097386"/>
          </a:xfrm>
          <a:prstGeom prst="rect">
            <a:avLst/>
          </a:prstGeom>
          <a:noFill/>
        </p:spPr>
      </p:pic>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Bar related mise-en-place tasks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Preparing and filling water jugs or other items</a:t>
            </a:r>
          </a:p>
          <a:p>
            <a:pPr lvl="0">
              <a:spcBef>
                <a:spcPts val="600"/>
              </a:spcBef>
              <a:spcAft>
                <a:spcPts val="1200"/>
              </a:spcAft>
            </a:pPr>
            <a:r>
              <a:rPr lang="en-AU" sz="2200" dirty="0" smtClean="0">
                <a:latin typeface="Helvetica" pitchFamily="34" charset="0"/>
              </a:rPr>
              <a:t>Preparing pre-ordered drinks</a:t>
            </a:r>
          </a:p>
          <a:p>
            <a:pPr>
              <a:spcBef>
                <a:spcPts val="600"/>
              </a:spcBef>
              <a:spcAft>
                <a:spcPts val="1200"/>
              </a:spcAft>
            </a:pPr>
            <a:r>
              <a:rPr lang="en-AU" sz="2200" dirty="0" smtClean="0">
                <a:latin typeface="Helvetica" pitchFamily="34" charset="0"/>
              </a:rPr>
              <a:t>Set out appropriate glassware on the tables</a:t>
            </a:r>
          </a:p>
          <a:p>
            <a:pPr>
              <a:spcBef>
                <a:spcPts val="600"/>
              </a:spcBef>
              <a:spcAft>
                <a:spcPts val="1200"/>
              </a:spcAft>
            </a:pPr>
            <a:r>
              <a:rPr lang="en-AU" sz="2200" dirty="0" smtClean="0">
                <a:latin typeface="Helvetica" pitchFamily="34" charset="0"/>
              </a:rPr>
              <a:t>Preparing service trays and drinks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196</a:t>
            </a:fld>
            <a:endParaRPr lang="en-US" dirty="0"/>
          </a:p>
        </p:txBody>
      </p:sp>
      <p:pic>
        <p:nvPicPr>
          <p:cNvPr id="121857" name="Picture 1" descr="C:\Documents and Settings\danielc\Local Settings\Temporary Internet Files\Content.IE5\112MAXTI\MC900054539[1].wmf"/>
          <p:cNvPicPr>
            <a:picLocks noChangeAspect="1" noChangeArrowheads="1"/>
          </p:cNvPicPr>
          <p:nvPr/>
        </p:nvPicPr>
        <p:blipFill>
          <a:blip r:embed="rId3" cstate="print"/>
          <a:srcRect/>
          <a:stretch>
            <a:fillRect/>
          </a:stretch>
        </p:blipFill>
        <p:spPr bwMode="auto">
          <a:xfrm>
            <a:off x="6705600" y="2590800"/>
            <a:ext cx="1488338" cy="1825845"/>
          </a:xfrm>
          <a:prstGeom prst="rect">
            <a:avLst/>
          </a:prstGeom>
          <a:noFill/>
        </p:spPr>
      </p:pic>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service delivery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GB" sz="2200" dirty="0" smtClean="0">
                <a:latin typeface="Helvetica" pitchFamily="34" charset="0"/>
              </a:rPr>
              <a:t>Not only is it important that activities are monitored in the lead up to a function, it is absolutely essential that they are monitored as the function is taking place</a:t>
            </a:r>
          </a:p>
          <a:p>
            <a:pPr>
              <a:spcBef>
                <a:spcPts val="600"/>
              </a:spcBef>
              <a:spcAft>
                <a:spcPts val="1200"/>
              </a:spcAft>
            </a:pPr>
            <a:r>
              <a:rPr lang="en-GB" sz="2200" dirty="0" smtClean="0">
                <a:latin typeface="Helvetica" pitchFamily="34" charset="0"/>
              </a:rPr>
              <a:t>Managers must ensure that work activities designated to staff or which make up their job role, must be completed in an acceptable manner within the desired timeframes</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197</a:t>
            </a:fld>
            <a:endParaRPr lang="en-US" dirty="0"/>
          </a:p>
        </p:txBody>
      </p:sp>
      <p:pic>
        <p:nvPicPr>
          <p:cNvPr id="119809" name="Picture 1" descr="I:\Overseas Projects\PHOTOS\2012\Front office 2012\shutterstock_102376840.jpg"/>
          <p:cNvPicPr>
            <a:picLocks noChangeAspect="1" noChangeArrowheads="1"/>
          </p:cNvPicPr>
          <p:nvPr/>
        </p:nvPicPr>
        <p:blipFill>
          <a:blip r:embed="rId3" cstate="print"/>
          <a:srcRect/>
          <a:stretch>
            <a:fillRect/>
          </a:stretch>
        </p:blipFill>
        <p:spPr bwMode="auto">
          <a:xfrm>
            <a:off x="3505200" y="4114800"/>
            <a:ext cx="1858406" cy="1981200"/>
          </a:xfrm>
          <a:prstGeom prst="rect">
            <a:avLst/>
          </a:prstGeom>
          <a:noFill/>
        </p:spPr>
      </p:pic>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service delivery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GB" sz="2200" b="1" dirty="0" smtClean="0">
                <a:latin typeface="Helvetica" pitchFamily="34" charset="0"/>
              </a:rPr>
              <a:t>Common monitoring methods</a:t>
            </a:r>
            <a:endParaRPr lang="en-AU" sz="2200" b="1" dirty="0" smtClean="0">
              <a:latin typeface="Helvetica" pitchFamily="34" charset="0"/>
            </a:endParaRPr>
          </a:p>
          <a:p>
            <a:pPr>
              <a:spcBef>
                <a:spcPts val="600"/>
              </a:spcBef>
              <a:spcAft>
                <a:spcPts val="1200"/>
              </a:spcAft>
            </a:pPr>
            <a:r>
              <a:rPr lang="en-GB" sz="2200" dirty="0" smtClean="0">
                <a:latin typeface="Helvetica" pitchFamily="34" charset="0"/>
              </a:rPr>
              <a:t>Workplace observation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Talking to staff</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Feedback from the function co-ordinator or customers of the function</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198</a:t>
            </a:fld>
            <a:endParaRPr lang="en-US" dirty="0"/>
          </a:p>
        </p:txBody>
      </p:sp>
      <p:pic>
        <p:nvPicPr>
          <p:cNvPr id="117761" name="Picture 1" descr="I:\Overseas Projects\PHOTOS\Accommodation 2009\Angliss RestaurantV2[1].43.jpg"/>
          <p:cNvPicPr>
            <a:picLocks noChangeAspect="1" noChangeArrowheads="1"/>
          </p:cNvPicPr>
          <p:nvPr/>
        </p:nvPicPr>
        <p:blipFill>
          <a:blip r:embed="rId3" cstate="print"/>
          <a:srcRect/>
          <a:stretch>
            <a:fillRect/>
          </a:stretch>
        </p:blipFill>
        <p:spPr bwMode="auto">
          <a:xfrm>
            <a:off x="5410200" y="1600200"/>
            <a:ext cx="2401523" cy="1600200"/>
          </a:xfrm>
          <a:prstGeom prst="rect">
            <a:avLst/>
          </a:prstGeom>
          <a:noFill/>
        </p:spPr>
      </p:pic>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Monitoring the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Areas to monitor</a:t>
            </a:r>
          </a:p>
          <a:p>
            <a:pPr>
              <a:spcBef>
                <a:spcPts val="600"/>
              </a:spcBef>
              <a:spcAft>
                <a:spcPts val="1200"/>
              </a:spcAft>
            </a:pPr>
            <a:r>
              <a:rPr lang="en-SG" sz="2200" dirty="0" smtClean="0">
                <a:latin typeface="Helvetica" pitchFamily="34" charset="0"/>
              </a:rPr>
              <a:t>Checking running times</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Adjusting service delivery to align with Running Sheet</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Arranging changes to the agreed Running </a:t>
            </a:r>
            <a:br>
              <a:rPr lang="en-SG" sz="2200" dirty="0" smtClean="0">
                <a:latin typeface="Helvetica" pitchFamily="34" charset="0"/>
              </a:rPr>
            </a:br>
            <a:r>
              <a:rPr lang="en-SG" sz="2200" dirty="0" smtClean="0">
                <a:latin typeface="Helvetica" pitchFamily="34" charset="0"/>
              </a:rPr>
              <a:t>Sheet to accommodate the need to do so </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Ensuring quality service delivery</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Ensuring all customer requirements are met</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199</a:t>
            </a:fld>
            <a:endParaRPr lang="en-US" dirty="0"/>
          </a:p>
        </p:txBody>
      </p:sp>
      <p:pic>
        <p:nvPicPr>
          <p:cNvPr id="6" name="Picture 5" descr="MP900438870[1].JPG"/>
          <p:cNvPicPr/>
          <p:nvPr/>
        </p:nvPicPr>
        <p:blipFill>
          <a:blip r:embed="rId3" cstate="print"/>
          <a:stretch>
            <a:fillRect/>
          </a:stretch>
        </p:blipFill>
        <p:spPr>
          <a:xfrm rot="5400000">
            <a:off x="6936105" y="3579495"/>
            <a:ext cx="1615440" cy="1162050"/>
          </a:xfrm>
          <a:prstGeom prst="rect">
            <a:avLst/>
          </a:prstGeom>
        </p:spPr>
      </p:pic>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Monitoring the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Areas to monitor</a:t>
            </a:r>
          </a:p>
          <a:p>
            <a:pPr>
              <a:spcBef>
                <a:spcPts val="600"/>
              </a:spcBef>
              <a:spcAft>
                <a:spcPts val="1200"/>
              </a:spcAft>
            </a:pPr>
            <a:r>
              <a:rPr lang="en-SG" sz="2200" dirty="0" smtClean="0">
                <a:latin typeface="Helvetica" pitchFamily="34" charset="0"/>
              </a:rPr>
              <a:t>Responding to queries and requests from clients and guests </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Liaising with customer during function to </a:t>
            </a:r>
            <a:br>
              <a:rPr lang="en-SG" sz="2200" dirty="0" smtClean="0">
                <a:latin typeface="Helvetica" pitchFamily="34" charset="0"/>
              </a:rPr>
            </a:br>
            <a:r>
              <a:rPr lang="en-SG" sz="2200" dirty="0" smtClean="0">
                <a:latin typeface="Helvetica" pitchFamily="34" charset="0"/>
              </a:rPr>
              <a:t>check level of satisfaction</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Enquiring if customer has additional </a:t>
            </a:r>
            <a:br>
              <a:rPr lang="en-SG" sz="2200" dirty="0" smtClean="0">
                <a:latin typeface="Helvetica" pitchFamily="34" charset="0"/>
              </a:rPr>
            </a:br>
            <a:r>
              <a:rPr lang="en-SG" sz="2200" dirty="0" smtClean="0">
                <a:latin typeface="Helvetica" pitchFamily="34" charset="0"/>
              </a:rPr>
              <a:t>requirements during service</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Providing additional items as required</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Clearing rubbish and used items</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200</a:t>
            </a:fld>
            <a:endParaRPr lang="en-US" dirty="0"/>
          </a:p>
        </p:txBody>
      </p:sp>
      <p:pic>
        <p:nvPicPr>
          <p:cNvPr id="7" name="Picture 6" descr="Culinaryacademy142.TIF"/>
          <p:cNvPicPr/>
          <p:nvPr/>
        </p:nvPicPr>
        <p:blipFill>
          <a:blip r:embed="rId3" cstate="print"/>
          <a:stretch>
            <a:fillRect/>
          </a:stretch>
        </p:blipFill>
        <p:spPr>
          <a:xfrm>
            <a:off x="6324600" y="3505200"/>
            <a:ext cx="2049780" cy="1524000"/>
          </a:xfrm>
          <a:prstGeom prst="rect">
            <a:avLst/>
          </a:prstGeom>
        </p:spPr>
      </p:pic>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Taking action to address service problems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33400" y="1709192"/>
            <a:ext cx="7467600" cy="5606008"/>
          </a:xfrm>
        </p:spPr>
        <p:txBody>
          <a:bodyPr>
            <a:normAutofit/>
          </a:bodyPr>
          <a:lstStyle/>
          <a:p>
            <a:pPr>
              <a:spcBef>
                <a:spcPts val="600"/>
              </a:spcBef>
              <a:spcAft>
                <a:spcPts val="1200"/>
              </a:spcAft>
            </a:pPr>
            <a:r>
              <a:rPr lang="en-AU" sz="2200" dirty="0" smtClean="0">
                <a:latin typeface="Helvetica" pitchFamily="34" charset="0"/>
              </a:rPr>
              <a:t>It is a fact of life there will be problems of some sort at any function</a:t>
            </a:r>
          </a:p>
          <a:p>
            <a:pPr>
              <a:spcBef>
                <a:spcPts val="600"/>
              </a:spcBef>
              <a:spcAft>
                <a:spcPts val="1200"/>
              </a:spcAft>
            </a:pPr>
            <a:r>
              <a:rPr lang="en-AU" sz="2200" dirty="0" smtClean="0">
                <a:latin typeface="Helvetica" pitchFamily="34" charset="0"/>
              </a:rPr>
              <a:t>Even where appropriate planning and </a:t>
            </a:r>
            <a:br>
              <a:rPr lang="en-AU" sz="2200" dirty="0" smtClean="0">
                <a:latin typeface="Helvetica" pitchFamily="34" charset="0"/>
              </a:rPr>
            </a:br>
            <a:r>
              <a:rPr lang="en-AU" sz="2200" dirty="0" smtClean="0">
                <a:latin typeface="Helvetica" pitchFamily="34" charset="0"/>
              </a:rPr>
              <a:t>preparation has taken place it is still likely </a:t>
            </a:r>
            <a:br>
              <a:rPr lang="en-AU" sz="2200" dirty="0" smtClean="0">
                <a:latin typeface="Helvetica" pitchFamily="34" charset="0"/>
              </a:rPr>
            </a:br>
            <a:r>
              <a:rPr lang="en-AU" sz="2200" dirty="0" smtClean="0">
                <a:latin typeface="Helvetica" pitchFamily="34" charset="0"/>
              </a:rPr>
              <a:t>there will be problems</a:t>
            </a:r>
          </a:p>
          <a:p>
            <a:pPr>
              <a:spcBef>
                <a:spcPts val="600"/>
              </a:spcBef>
              <a:spcAft>
                <a:spcPts val="1200"/>
              </a:spcAft>
            </a:pPr>
            <a:r>
              <a:rPr lang="en-AU" sz="2200" dirty="0" smtClean="0">
                <a:latin typeface="Helvetica" pitchFamily="34" charset="0"/>
              </a:rPr>
              <a:t>Problems may be caused by equipment failure, shortage of materials, patrons. Many problems </a:t>
            </a:r>
            <a:br>
              <a:rPr lang="en-AU" sz="2200" dirty="0" smtClean="0">
                <a:latin typeface="Helvetica" pitchFamily="34" charset="0"/>
              </a:rPr>
            </a:br>
            <a:r>
              <a:rPr lang="en-AU" sz="2200" dirty="0" smtClean="0">
                <a:latin typeface="Helvetica" pitchFamily="34" charset="0"/>
              </a:rPr>
              <a:t>relate to timing issues</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201</a:t>
            </a:fld>
            <a:endParaRPr lang="en-US" dirty="0"/>
          </a:p>
        </p:txBody>
      </p:sp>
      <p:pic>
        <p:nvPicPr>
          <p:cNvPr id="8" name="Picture 7" descr="MP900422224[1].JPG"/>
          <p:cNvPicPr>
            <a:picLocks noChangeAspect="1"/>
          </p:cNvPicPr>
          <p:nvPr/>
        </p:nvPicPr>
        <p:blipFill>
          <a:blip r:embed="rId3" cstate="print"/>
          <a:stretch>
            <a:fillRect/>
          </a:stretch>
        </p:blipFill>
        <p:spPr>
          <a:xfrm>
            <a:off x="7086600" y="2362200"/>
            <a:ext cx="1270620" cy="1905000"/>
          </a:xfrm>
          <a:prstGeom prst="rect">
            <a:avLst/>
          </a:prstGeom>
        </p:spPr>
      </p:pic>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Taking action to address service problems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709192"/>
            <a:ext cx="7467600" cy="5606008"/>
          </a:xfrm>
        </p:spPr>
        <p:txBody>
          <a:bodyPr>
            <a:normAutofit/>
          </a:bodyPr>
          <a:lstStyle/>
          <a:p>
            <a:pPr>
              <a:spcBef>
                <a:spcPts val="600"/>
              </a:spcBef>
              <a:spcAft>
                <a:spcPts val="1200"/>
              </a:spcAft>
            </a:pPr>
            <a:r>
              <a:rPr lang="en-AU" sz="2200" dirty="0" smtClean="0">
                <a:latin typeface="Helvetica" pitchFamily="34" charset="0"/>
              </a:rPr>
              <a:t>Actively monitor all aspects of the function </a:t>
            </a:r>
          </a:p>
          <a:p>
            <a:pPr>
              <a:spcBef>
                <a:spcPts val="600"/>
              </a:spcBef>
              <a:spcAft>
                <a:spcPts val="1200"/>
              </a:spcAft>
            </a:pPr>
            <a:r>
              <a:rPr lang="en-AU" sz="2200" dirty="0" smtClean="0">
                <a:latin typeface="Helvetica" pitchFamily="34" charset="0"/>
              </a:rPr>
              <a:t>Communicate with relevant people </a:t>
            </a:r>
            <a:br>
              <a:rPr lang="en-AU" sz="2200" dirty="0" smtClean="0">
                <a:latin typeface="Helvetica" pitchFamily="34" charset="0"/>
              </a:rPr>
            </a:br>
            <a:r>
              <a:rPr lang="en-AU" sz="2200" dirty="0" smtClean="0">
                <a:latin typeface="Helvetica" pitchFamily="34" charset="0"/>
              </a:rPr>
              <a:t>about what is happening </a:t>
            </a:r>
          </a:p>
          <a:p>
            <a:pPr>
              <a:spcBef>
                <a:spcPts val="600"/>
              </a:spcBef>
              <a:spcAft>
                <a:spcPts val="1200"/>
              </a:spcAft>
            </a:pPr>
            <a:r>
              <a:rPr lang="en-AU" sz="2200" dirty="0" smtClean="0">
                <a:latin typeface="Helvetica" pitchFamily="34" charset="0"/>
              </a:rPr>
              <a:t>Take immediate action </a:t>
            </a:r>
          </a:p>
          <a:p>
            <a:pPr marL="0">
              <a:spcBef>
                <a:spcPts val="600"/>
              </a:spcBef>
              <a:spcAft>
                <a:spcPts val="1200"/>
              </a:spcAft>
              <a:buNone/>
            </a:pPr>
            <a:r>
              <a:rPr lang="en-AU" sz="2200" dirty="0" smtClean="0">
                <a:latin typeface="Helvetica" pitchFamily="34" charset="0"/>
              </a:rPr>
              <a:t>As soon as you notice a problem or a timing issue you have to immediately begin to do something to resolve or address the situation. </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202</a:t>
            </a:fld>
            <a:endParaRPr lang="en-US" dirty="0"/>
          </a:p>
        </p:txBody>
      </p:sp>
      <p:pic>
        <p:nvPicPr>
          <p:cNvPr id="109569" name="Picture 1" descr="I:\Overseas Projects\PHOTOS\Accommodation 2009\Angliss RestaurantV2Low Res[1].18.jpg"/>
          <p:cNvPicPr>
            <a:picLocks noChangeAspect="1" noChangeArrowheads="1"/>
          </p:cNvPicPr>
          <p:nvPr/>
        </p:nvPicPr>
        <p:blipFill>
          <a:blip r:embed="rId3" cstate="print"/>
          <a:srcRect/>
          <a:stretch>
            <a:fillRect/>
          </a:stretch>
        </p:blipFill>
        <p:spPr bwMode="auto">
          <a:xfrm>
            <a:off x="6096000" y="2209800"/>
            <a:ext cx="2209800" cy="1472449"/>
          </a:xfrm>
          <a:prstGeom prst="rect">
            <a:avLst/>
          </a:prstGeom>
          <a:noFill/>
        </p:spPr>
      </p:pic>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4:</a:t>
            </a:r>
          </a:p>
          <a:p>
            <a:pPr marL="0" lvl="0">
              <a:buNone/>
            </a:pPr>
            <a:r>
              <a:rPr lang="en-AU" sz="4000" dirty="0" smtClean="0">
                <a:solidFill>
                  <a:srgbClr val="FF6600"/>
                </a:solidFill>
              </a:rPr>
              <a:t>Follow-up after functions</a:t>
            </a:r>
            <a:endParaRPr lang="en-AU" sz="2200" dirty="0" smtClean="0">
              <a:solidFill>
                <a:srgbClr val="FF6600"/>
              </a:solidFill>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203</a:t>
            </a:fld>
            <a:endParaRPr lang="en-US" dirty="0"/>
          </a:p>
        </p:txBody>
      </p:sp>
      <p:pic>
        <p:nvPicPr>
          <p:cNvPr id="107521" name="Picture 1" descr="C:\Documents and Settings\danielc\Local Settings\Temporary Internet Files\Content.IE5\UMECW9PM\MP900174882[1].jpg"/>
          <p:cNvPicPr>
            <a:picLocks noChangeAspect="1" noChangeArrowheads="1"/>
          </p:cNvPicPr>
          <p:nvPr/>
        </p:nvPicPr>
        <p:blipFill>
          <a:blip r:embed="rId3" cstate="print"/>
          <a:srcRect/>
          <a:stretch>
            <a:fillRect/>
          </a:stretch>
        </p:blipFill>
        <p:spPr bwMode="auto">
          <a:xfrm>
            <a:off x="3352800" y="3200400"/>
            <a:ext cx="1930400" cy="2895600"/>
          </a:xfrm>
          <a:prstGeom prst="rect">
            <a:avLst/>
          </a:prstGeom>
          <a:noFill/>
        </p:spPr>
      </p:pic>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Follow-up after functions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Obtain feedback from customer</a:t>
            </a:r>
          </a:p>
          <a:p>
            <a:pPr>
              <a:spcBef>
                <a:spcPts val="600"/>
              </a:spcBef>
              <a:spcAft>
                <a:spcPts val="1200"/>
              </a:spcAft>
            </a:pPr>
            <a:r>
              <a:rPr lang="en-AU" sz="2200" dirty="0" smtClean="0">
                <a:latin typeface="Helvetica" pitchFamily="34" charset="0"/>
              </a:rPr>
              <a:t>Obtain payment for function</a:t>
            </a:r>
          </a:p>
          <a:p>
            <a:pPr>
              <a:spcBef>
                <a:spcPts val="600"/>
              </a:spcBef>
              <a:spcAft>
                <a:spcPts val="1200"/>
              </a:spcAft>
            </a:pPr>
            <a:r>
              <a:rPr lang="en-AU" sz="2200" dirty="0" smtClean="0">
                <a:latin typeface="Helvetica" pitchFamily="34" charset="0"/>
              </a:rPr>
              <a:t>Debrief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204</a:t>
            </a:fld>
            <a:endParaRPr lang="en-US" dirty="0"/>
          </a:p>
        </p:txBody>
      </p:sp>
      <p:pic>
        <p:nvPicPr>
          <p:cNvPr id="6" name="Picture 2" descr="I:\Overseas Projects\PHOTOS\2012\Office\1131445_red_check_sign_in_3d.jpg"/>
          <p:cNvPicPr>
            <a:picLocks noChangeAspect="1" noChangeArrowheads="1"/>
          </p:cNvPicPr>
          <p:nvPr/>
        </p:nvPicPr>
        <p:blipFill>
          <a:blip r:embed="rId3" cstate="print"/>
          <a:srcRect/>
          <a:stretch>
            <a:fillRect/>
          </a:stretch>
        </p:blipFill>
        <p:spPr bwMode="auto">
          <a:xfrm>
            <a:off x="6096000" y="2209800"/>
            <a:ext cx="1587500" cy="1270000"/>
          </a:xfrm>
          <a:prstGeom prst="rect">
            <a:avLst/>
          </a:prstGeom>
          <a:noFill/>
        </p:spPr>
      </p:pic>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 feedback from customers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It should be standard practice during and after every function to seek feedback that may be used to assist in the planning and implementation of future functions. </a:t>
            </a:r>
          </a:p>
          <a:p>
            <a:pPr>
              <a:spcBef>
                <a:spcPts val="600"/>
              </a:spcBef>
              <a:spcAft>
                <a:spcPts val="1200"/>
              </a:spcAft>
            </a:pPr>
            <a:r>
              <a:rPr lang="en-AU" sz="2200" dirty="0" smtClean="0">
                <a:latin typeface="Helvetica" pitchFamily="34" charset="0"/>
              </a:rPr>
              <a:t>When is the best time to get feedback?</a:t>
            </a:r>
          </a:p>
          <a:p>
            <a:pPr>
              <a:spcBef>
                <a:spcPts val="600"/>
              </a:spcBef>
              <a:spcAft>
                <a:spcPts val="1200"/>
              </a:spcAft>
            </a:pPr>
            <a:r>
              <a:rPr lang="en-AU" sz="2200" dirty="0" smtClean="0">
                <a:latin typeface="Helvetica" pitchFamily="34" charset="0"/>
              </a:rPr>
              <a:t>How can you get feedback?</a:t>
            </a:r>
          </a:p>
          <a:p>
            <a:pPr>
              <a:spcBef>
                <a:spcPts val="600"/>
              </a:spcBef>
              <a:spcAft>
                <a:spcPts val="1200"/>
              </a:spcAft>
            </a:pPr>
            <a:r>
              <a:rPr lang="en-AU" sz="2200" dirty="0" smtClean="0">
                <a:latin typeface="Helvetica" pitchFamily="34" charset="0"/>
              </a:rPr>
              <a:t>What do you want to know?</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205</a:t>
            </a:fld>
            <a:endParaRPr lang="en-US" dirty="0"/>
          </a:p>
        </p:txBody>
      </p:sp>
      <p:pic>
        <p:nvPicPr>
          <p:cNvPr id="7" name="Picture 6" descr="MP900442744.JPG"/>
          <p:cNvPicPr/>
          <p:nvPr/>
        </p:nvPicPr>
        <p:blipFill>
          <a:blip r:embed="rId3" cstate="print"/>
          <a:stretch>
            <a:fillRect/>
          </a:stretch>
        </p:blipFill>
        <p:spPr>
          <a:xfrm>
            <a:off x="5867400" y="3429000"/>
            <a:ext cx="2486025" cy="1757363"/>
          </a:xfrm>
          <a:prstGeom prst="rect">
            <a:avLst/>
          </a:prstGeom>
        </p:spPr>
      </p:pic>
    </p:spTree>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Client feedback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During the function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An important task is to seek feedback from the client and guests during the course of a function. </a:t>
            </a:r>
          </a:p>
          <a:p>
            <a:pPr>
              <a:spcBef>
                <a:spcPts val="600"/>
              </a:spcBef>
              <a:spcAft>
                <a:spcPts val="1200"/>
              </a:spcAft>
            </a:pPr>
            <a:r>
              <a:rPr lang="en-AU" sz="2200" dirty="0" smtClean="0">
                <a:latin typeface="Helvetica" pitchFamily="34" charset="0"/>
              </a:rPr>
              <a:t>Positive feedback confirms the function is running as expected and expectations are being met</a:t>
            </a:r>
          </a:p>
          <a:p>
            <a:pPr>
              <a:spcBef>
                <a:spcPts val="600"/>
              </a:spcBef>
              <a:spcAft>
                <a:spcPts val="1200"/>
              </a:spcAft>
            </a:pPr>
            <a:r>
              <a:rPr lang="en-AU" sz="2200" dirty="0" smtClean="0">
                <a:latin typeface="Helvetica" pitchFamily="34" charset="0"/>
              </a:rPr>
              <a:t>Negative feedback provides an opportunity to rectify a less than satisfactory situation</a:t>
            </a:r>
            <a:r>
              <a:rPr lang="en-AU" sz="2400" dirty="0" smtClean="0"/>
              <a:t> </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206</a:t>
            </a:fld>
            <a:endParaRPr lang="en-US" dirty="0"/>
          </a:p>
        </p:txBody>
      </p:sp>
      <p:pic>
        <p:nvPicPr>
          <p:cNvPr id="101377" name="Picture 1" descr="C:\Documents and Settings\danielc\Local Settings\Temporary Internet Files\Content.IE5\3DV3UKH9\MC900157971[1].wmf"/>
          <p:cNvPicPr>
            <a:picLocks noChangeAspect="1" noChangeArrowheads="1"/>
          </p:cNvPicPr>
          <p:nvPr/>
        </p:nvPicPr>
        <p:blipFill>
          <a:blip r:embed="rId3" cstate="print"/>
          <a:srcRect/>
          <a:stretch>
            <a:fillRect/>
          </a:stretch>
        </p:blipFill>
        <p:spPr bwMode="auto">
          <a:xfrm>
            <a:off x="3505200" y="4800600"/>
            <a:ext cx="1839773" cy="1674266"/>
          </a:xfrm>
          <a:prstGeom prst="rect">
            <a:avLst/>
          </a:prstGeom>
          <a:noFill/>
        </p:spPr>
      </p:pic>
    </p:spTree>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Client feedback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After the function </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After the function it is good industry </a:t>
            </a:r>
            <a:br>
              <a:rPr lang="en-AU" sz="2200" dirty="0" smtClean="0">
                <a:latin typeface="Helvetica" pitchFamily="34" charset="0"/>
              </a:rPr>
            </a:br>
            <a:r>
              <a:rPr lang="en-AU" sz="2200" dirty="0" smtClean="0">
                <a:latin typeface="Helvetica" pitchFamily="34" charset="0"/>
              </a:rPr>
              <a:t>practice to speak or meet with the </a:t>
            </a:r>
            <a:br>
              <a:rPr lang="en-AU" sz="2200" dirty="0" smtClean="0">
                <a:latin typeface="Helvetica" pitchFamily="34" charset="0"/>
              </a:rPr>
            </a:br>
            <a:r>
              <a:rPr lang="en-AU" sz="2200" dirty="0" smtClean="0">
                <a:latin typeface="Helvetica" pitchFamily="34" charset="0"/>
              </a:rPr>
              <a:t>client to determine their level of </a:t>
            </a:r>
            <a:br>
              <a:rPr lang="en-AU" sz="2200" dirty="0" smtClean="0">
                <a:latin typeface="Helvetica" pitchFamily="34" charset="0"/>
              </a:rPr>
            </a:br>
            <a:r>
              <a:rPr lang="en-AU" sz="2200" dirty="0" smtClean="0">
                <a:latin typeface="Helvetica" pitchFamily="34" charset="0"/>
              </a:rPr>
              <a:t>satisfaction and seek feedback</a:t>
            </a:r>
          </a:p>
          <a:p>
            <a:pPr>
              <a:spcBef>
                <a:spcPts val="600"/>
              </a:spcBef>
              <a:spcAft>
                <a:spcPts val="1200"/>
              </a:spcAft>
            </a:pPr>
            <a:r>
              <a:rPr lang="en-AU" sz="2200" dirty="0" smtClean="0">
                <a:latin typeface="Helvetica" pitchFamily="34" charset="0"/>
              </a:rPr>
              <a:t>It is important the venue identifies anything that failed to meet promises or expectations so they can be flagged for extra attention in forthcoming functions</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207</a:t>
            </a:fld>
            <a:endParaRPr lang="en-US" dirty="0"/>
          </a:p>
        </p:txBody>
      </p:sp>
      <p:pic>
        <p:nvPicPr>
          <p:cNvPr id="6" name="Picture 2" descr="I:\Overseas Projects\PHOTOS\2012\F &amp; B 2012\shutterstock_89437837.jpg"/>
          <p:cNvPicPr>
            <a:picLocks noChangeAspect="1" noChangeArrowheads="1"/>
          </p:cNvPicPr>
          <p:nvPr/>
        </p:nvPicPr>
        <p:blipFill>
          <a:blip r:embed="rId3" cstate="print"/>
          <a:srcRect/>
          <a:stretch>
            <a:fillRect/>
          </a:stretch>
        </p:blipFill>
        <p:spPr bwMode="auto">
          <a:xfrm>
            <a:off x="6096000" y="2133600"/>
            <a:ext cx="2133600" cy="1497965"/>
          </a:xfrm>
          <a:prstGeom prst="rect">
            <a:avLst/>
          </a:prstGeom>
          <a:noFill/>
        </p:spPr>
      </p:pic>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 feedback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Staff feedback is vital, given that they are the people who can provide a firsthand account of how the event went.</a:t>
            </a:r>
          </a:p>
          <a:p>
            <a:pPr>
              <a:spcBef>
                <a:spcPts val="600"/>
              </a:spcBef>
              <a:spcAft>
                <a:spcPts val="1200"/>
              </a:spcAft>
            </a:pPr>
            <a:r>
              <a:rPr lang="en-AU" sz="2200" dirty="0" smtClean="0">
                <a:latin typeface="Helvetica" pitchFamily="34" charset="0"/>
              </a:rPr>
              <a:t>Positive feedback reaffirms the current procedures are working well</a:t>
            </a:r>
          </a:p>
          <a:p>
            <a:pPr>
              <a:spcBef>
                <a:spcPts val="600"/>
              </a:spcBef>
              <a:spcAft>
                <a:spcPts val="1200"/>
              </a:spcAft>
            </a:pPr>
            <a:r>
              <a:rPr lang="en-AU" sz="2200" dirty="0" smtClean="0">
                <a:latin typeface="Helvetica" pitchFamily="34" charset="0"/>
              </a:rPr>
              <a:t>Negative feedback may indicate current procedures and methods need to be revised</a:t>
            </a: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208</a:t>
            </a:fld>
            <a:endParaRPr lang="en-US" dirty="0"/>
          </a:p>
        </p:txBody>
      </p:sp>
      <p:pic>
        <p:nvPicPr>
          <p:cNvPr id="97283" name="Picture 3" descr="I:\Overseas Projects\PHOTOS\2012\F &amp; B 2012\shutterstock_58874759.jpg"/>
          <p:cNvPicPr>
            <a:picLocks noChangeAspect="1" noChangeArrowheads="1"/>
          </p:cNvPicPr>
          <p:nvPr/>
        </p:nvPicPr>
        <p:blipFill>
          <a:blip r:embed="rId3" cstate="print"/>
          <a:srcRect/>
          <a:stretch>
            <a:fillRect/>
          </a:stretch>
        </p:blipFill>
        <p:spPr bwMode="auto">
          <a:xfrm>
            <a:off x="3505200" y="4495800"/>
            <a:ext cx="2438400" cy="1626870"/>
          </a:xfrm>
          <a:prstGeom prst="rect">
            <a:avLst/>
          </a:prstGeom>
          <a:noFill/>
        </p:spPr>
      </p:pic>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Staff feedback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Group staff feedback</a:t>
            </a:r>
          </a:p>
          <a:p>
            <a:pPr marL="0">
              <a:spcBef>
                <a:spcPts val="600"/>
              </a:spcBef>
              <a:spcAft>
                <a:spcPts val="1200"/>
              </a:spcAft>
              <a:buNone/>
            </a:pPr>
            <a:r>
              <a:rPr lang="en-AU" sz="2200" dirty="0" smtClean="0">
                <a:latin typeface="Helvetica" pitchFamily="34" charset="0"/>
              </a:rPr>
              <a:t>Staff feedback, which can form part of an individual group discussion, will focus on trying to identify:</a:t>
            </a:r>
          </a:p>
          <a:p>
            <a:pPr lvl="0">
              <a:spcBef>
                <a:spcPts val="600"/>
              </a:spcBef>
              <a:spcAft>
                <a:spcPts val="1200"/>
              </a:spcAft>
            </a:pPr>
            <a:r>
              <a:rPr lang="en-AU" sz="2200" dirty="0" smtClean="0">
                <a:latin typeface="Helvetica" pitchFamily="34" charset="0"/>
              </a:rPr>
              <a:t>What went right and how this can be </a:t>
            </a:r>
            <a:br>
              <a:rPr lang="en-AU" sz="2200" dirty="0" smtClean="0">
                <a:latin typeface="Helvetica" pitchFamily="34" charset="0"/>
              </a:rPr>
            </a:br>
            <a:r>
              <a:rPr lang="en-AU" sz="2200" dirty="0" smtClean="0">
                <a:latin typeface="Helvetica" pitchFamily="34" charset="0"/>
              </a:rPr>
              <a:t>replicated</a:t>
            </a:r>
          </a:p>
          <a:p>
            <a:pPr lvl="0">
              <a:spcBef>
                <a:spcPts val="600"/>
              </a:spcBef>
              <a:spcAft>
                <a:spcPts val="1200"/>
              </a:spcAft>
            </a:pPr>
            <a:r>
              <a:rPr lang="en-AU" sz="2200" dirty="0" smtClean="0">
                <a:latin typeface="Helvetica" pitchFamily="34" charset="0"/>
              </a:rPr>
              <a:t>What went wrong and what changes need </a:t>
            </a:r>
            <a:br>
              <a:rPr lang="en-AU" sz="2200" dirty="0" smtClean="0">
                <a:latin typeface="Helvetica" pitchFamily="34" charset="0"/>
              </a:rPr>
            </a:br>
            <a:r>
              <a:rPr lang="en-AU" sz="2200" dirty="0" smtClean="0">
                <a:latin typeface="Helvetica" pitchFamily="34" charset="0"/>
              </a:rPr>
              <a:t>to be made to correct this in the future</a:t>
            </a:r>
          </a:p>
          <a:p>
            <a:pPr lvl="0">
              <a:spcBef>
                <a:spcPts val="600"/>
              </a:spcBef>
              <a:spcAft>
                <a:spcPts val="1200"/>
              </a:spcAft>
            </a:pPr>
            <a:r>
              <a:rPr lang="en-AU" sz="2200" dirty="0" smtClean="0">
                <a:latin typeface="Helvetica" pitchFamily="34" charset="0"/>
              </a:rPr>
              <a:t>Any ideas or suggestions for improvement</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209</a:t>
            </a:fld>
            <a:endParaRPr lang="en-US" dirty="0"/>
          </a:p>
        </p:txBody>
      </p:sp>
      <p:pic>
        <p:nvPicPr>
          <p:cNvPr id="95233" name="Picture 1" descr="I:\Overseas Projects\PHOTOS\2012\Front office 2012\shutterstock_47532625.jpg"/>
          <p:cNvPicPr>
            <a:picLocks noChangeAspect="1" noChangeArrowheads="1"/>
          </p:cNvPicPr>
          <p:nvPr/>
        </p:nvPicPr>
        <p:blipFill>
          <a:blip r:embed="rId3" cstate="print"/>
          <a:srcRect/>
          <a:stretch>
            <a:fillRect/>
          </a:stretch>
        </p:blipFill>
        <p:spPr bwMode="auto">
          <a:xfrm>
            <a:off x="6477000" y="2895600"/>
            <a:ext cx="1830388" cy="1830388"/>
          </a:xfrm>
          <a:prstGeom prst="rect">
            <a:avLst/>
          </a:prstGeom>
          <a:noFill/>
        </p:spPr>
      </p:pic>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External provider feedback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dirty="0" smtClean="0">
                <a:latin typeface="Helvetica" pitchFamily="34" charset="0"/>
              </a:rPr>
              <a:t>Matters which could be addressed include: </a:t>
            </a:r>
          </a:p>
          <a:p>
            <a:pPr>
              <a:spcBef>
                <a:spcPts val="600"/>
              </a:spcBef>
              <a:spcAft>
                <a:spcPts val="1200"/>
              </a:spcAft>
            </a:pPr>
            <a:r>
              <a:rPr lang="en-SG" sz="2200" dirty="0" smtClean="0">
                <a:latin typeface="Helvetica" pitchFamily="34" charset="0"/>
              </a:rPr>
              <a:t>Did they have sufficient information to enable them to provide the goods and services?</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What extra information do they need </a:t>
            </a:r>
            <a:br>
              <a:rPr lang="en-SG" sz="2200" dirty="0" smtClean="0">
                <a:latin typeface="Helvetica" pitchFamily="34" charset="0"/>
              </a:rPr>
            </a:br>
            <a:r>
              <a:rPr lang="en-SG" sz="2200" dirty="0" smtClean="0">
                <a:latin typeface="Helvetica" pitchFamily="34" charset="0"/>
              </a:rPr>
              <a:t>next time?</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What issues </a:t>
            </a:r>
            <a:r>
              <a:rPr lang="en-SG" sz="2200" dirty="0" smtClean="0"/>
              <a:t>were</a:t>
            </a:r>
            <a:r>
              <a:rPr lang="en-SG" sz="2200" dirty="0" smtClean="0">
                <a:latin typeface="Helvetica" pitchFamily="34" charset="0"/>
              </a:rPr>
              <a:t> evident?</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What suggestions do they have that may assist in the planning and execution of future functions?</a:t>
            </a: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210</a:t>
            </a:fld>
            <a:endParaRPr lang="en-US" dirty="0"/>
          </a:p>
        </p:txBody>
      </p:sp>
      <p:pic>
        <p:nvPicPr>
          <p:cNvPr id="93185" name="Picture 1" descr="I:\Overseas Projects\PHOTOS\2011\wai_a_kym_254.jpg"/>
          <p:cNvPicPr>
            <a:picLocks noChangeAspect="1" noChangeArrowheads="1"/>
          </p:cNvPicPr>
          <p:nvPr/>
        </p:nvPicPr>
        <p:blipFill>
          <a:blip r:embed="rId3" cstate="print"/>
          <a:srcRect/>
          <a:stretch>
            <a:fillRect/>
          </a:stretch>
        </p:blipFill>
        <p:spPr bwMode="auto">
          <a:xfrm>
            <a:off x="6019800" y="2819400"/>
            <a:ext cx="2286000" cy="1528763"/>
          </a:xfrm>
          <a:prstGeom prst="rect">
            <a:avLst/>
          </a:prstGeom>
          <a:noFill/>
        </p:spPr>
      </p:pic>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 payment for function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Once the function has been concluded and all the feedback has been collected by the customer, it is now time for the client to settle the account.</a:t>
            </a:r>
          </a:p>
          <a:p>
            <a:pPr>
              <a:spcBef>
                <a:spcPts val="600"/>
              </a:spcBef>
              <a:spcAft>
                <a:spcPts val="1200"/>
              </a:spcAft>
            </a:pPr>
            <a:r>
              <a:rPr lang="en-AU" sz="2200" dirty="0" smtClean="0">
                <a:latin typeface="Helvetica" pitchFamily="34" charset="0"/>
              </a:rPr>
              <a:t>What steps are involved in preparing the account?</a:t>
            </a:r>
          </a:p>
          <a:p>
            <a:pPr>
              <a:spcBef>
                <a:spcPts val="600"/>
              </a:spcBef>
              <a:spcAft>
                <a:spcPts val="1200"/>
              </a:spcAft>
            </a:pPr>
            <a:r>
              <a:rPr lang="en-AU" sz="2200" dirty="0" smtClean="0">
                <a:latin typeface="Helvetica" pitchFamily="34" charset="0"/>
              </a:rPr>
              <a:t>How can a client settle an account?</a:t>
            </a:r>
          </a:p>
          <a:p>
            <a:pPr>
              <a:spcBef>
                <a:spcPts val="600"/>
              </a:spcBef>
              <a:spcAft>
                <a:spcPts val="1200"/>
              </a:spcAft>
            </a:pPr>
            <a:r>
              <a:rPr lang="en-AU" sz="2200" dirty="0" smtClean="0">
                <a:latin typeface="Helvetica" pitchFamily="34" charset="0"/>
              </a:rPr>
              <a:t>What happens if the client doesn’t </a:t>
            </a:r>
            <a:br>
              <a:rPr lang="en-AU" sz="2200" dirty="0" smtClean="0">
                <a:latin typeface="Helvetica" pitchFamily="34" charset="0"/>
              </a:rPr>
            </a:br>
            <a:r>
              <a:rPr lang="en-AU" sz="2200" dirty="0" smtClean="0">
                <a:latin typeface="Helvetica" pitchFamily="34" charset="0"/>
              </a:rPr>
              <a:t>agree with the price?</a:t>
            </a:r>
          </a:p>
          <a:p>
            <a:pPr>
              <a:spcBef>
                <a:spcPts val="600"/>
              </a:spcBef>
              <a:spcAft>
                <a:spcPts val="1200"/>
              </a:spcAft>
            </a:pPr>
            <a:r>
              <a:rPr lang="en-AU" sz="2200" dirty="0" smtClean="0">
                <a:latin typeface="Helvetica" pitchFamily="34" charset="0"/>
              </a:rPr>
              <a:t>What if they don’t pay?</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211</a:t>
            </a:fld>
            <a:endParaRPr lang="en-US" dirty="0"/>
          </a:p>
        </p:txBody>
      </p:sp>
      <p:pic>
        <p:nvPicPr>
          <p:cNvPr id="91137" name="Picture 1" descr="I:\Overseas Projects\PHOTOS\Accommodation 2009\35234.jpg"/>
          <p:cNvPicPr>
            <a:picLocks noChangeAspect="1" noChangeArrowheads="1"/>
          </p:cNvPicPr>
          <p:nvPr/>
        </p:nvPicPr>
        <p:blipFill>
          <a:blip r:embed="rId3" cstate="print"/>
          <a:srcRect/>
          <a:stretch>
            <a:fillRect/>
          </a:stretch>
        </p:blipFill>
        <p:spPr bwMode="auto">
          <a:xfrm>
            <a:off x="6019800" y="3581400"/>
            <a:ext cx="2318388" cy="1525938"/>
          </a:xfrm>
          <a:prstGeom prst="rect">
            <a:avLst/>
          </a:prstGeom>
          <a:noFill/>
        </p:spPr>
      </p:pic>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account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Possible charges</a:t>
            </a:r>
          </a:p>
          <a:p>
            <a:pPr>
              <a:spcBef>
                <a:spcPts val="600"/>
              </a:spcBef>
              <a:spcAft>
                <a:spcPts val="1200"/>
              </a:spcAft>
              <a:buNone/>
            </a:pPr>
            <a:r>
              <a:rPr lang="en-AU" sz="2200" dirty="0" smtClean="0">
                <a:latin typeface="Helvetica" pitchFamily="34" charset="0"/>
              </a:rPr>
              <a:t>Charges may include: </a:t>
            </a:r>
          </a:p>
          <a:p>
            <a:pPr lvl="0">
              <a:spcBef>
                <a:spcPts val="600"/>
              </a:spcBef>
              <a:spcAft>
                <a:spcPts val="1200"/>
              </a:spcAft>
            </a:pPr>
            <a:r>
              <a:rPr lang="en-AU" sz="2200" dirty="0" smtClean="0">
                <a:latin typeface="Helvetica" pitchFamily="34" charset="0"/>
              </a:rPr>
              <a:t>Food and beverage</a:t>
            </a:r>
          </a:p>
          <a:p>
            <a:pPr lvl="0">
              <a:spcBef>
                <a:spcPts val="600"/>
              </a:spcBef>
              <a:spcAft>
                <a:spcPts val="1200"/>
              </a:spcAft>
            </a:pPr>
            <a:r>
              <a:rPr lang="en-AU" sz="2200" dirty="0" smtClean="0">
                <a:latin typeface="Helvetica" pitchFamily="34" charset="0"/>
              </a:rPr>
              <a:t>Entertainment</a:t>
            </a:r>
          </a:p>
          <a:p>
            <a:pPr lvl="0">
              <a:spcBef>
                <a:spcPts val="600"/>
              </a:spcBef>
              <a:spcAft>
                <a:spcPts val="1200"/>
              </a:spcAft>
            </a:pPr>
            <a:r>
              <a:rPr lang="en-AU" sz="2200" dirty="0" smtClean="0">
                <a:latin typeface="Helvetica" pitchFamily="34" charset="0"/>
              </a:rPr>
              <a:t>Venue hire</a:t>
            </a:r>
          </a:p>
          <a:p>
            <a:pPr lvl="0">
              <a:spcBef>
                <a:spcPts val="600"/>
              </a:spcBef>
              <a:spcAft>
                <a:spcPts val="1200"/>
              </a:spcAft>
            </a:pPr>
            <a:r>
              <a:rPr lang="en-AU" sz="2200" dirty="0" smtClean="0">
                <a:latin typeface="Helvetica" pitchFamily="34" charset="0"/>
              </a:rPr>
              <a:t>Labour</a:t>
            </a: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212</a:t>
            </a:fld>
            <a:endParaRPr lang="en-US" dirty="0"/>
          </a:p>
        </p:txBody>
      </p:sp>
      <p:pic>
        <p:nvPicPr>
          <p:cNvPr id="6" name="Picture 5" descr="MP900431290.JPG"/>
          <p:cNvPicPr/>
          <p:nvPr/>
        </p:nvPicPr>
        <p:blipFill>
          <a:blip r:embed="rId3" cstate="print"/>
          <a:stretch>
            <a:fillRect/>
          </a:stretch>
        </p:blipFill>
        <p:spPr>
          <a:xfrm>
            <a:off x="5791200" y="2438400"/>
            <a:ext cx="2085975" cy="2085975"/>
          </a:xfrm>
          <a:prstGeom prst="rect">
            <a:avLst/>
          </a:prstGeom>
        </p:spPr>
      </p:pic>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account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Possible charges</a:t>
            </a:r>
          </a:p>
          <a:p>
            <a:pPr lvl="0">
              <a:spcBef>
                <a:spcPts val="600"/>
              </a:spcBef>
              <a:spcAft>
                <a:spcPts val="1200"/>
              </a:spcAft>
            </a:pPr>
            <a:r>
              <a:rPr lang="en-AU" sz="2200" dirty="0" smtClean="0">
                <a:latin typeface="Helvetica" pitchFamily="34" charset="0"/>
              </a:rPr>
              <a:t>Flowers </a:t>
            </a:r>
          </a:p>
          <a:p>
            <a:pPr lvl="0">
              <a:spcBef>
                <a:spcPts val="600"/>
              </a:spcBef>
              <a:spcAft>
                <a:spcPts val="1200"/>
              </a:spcAft>
            </a:pPr>
            <a:r>
              <a:rPr lang="en-AU" sz="2200" dirty="0" smtClean="0">
                <a:latin typeface="Helvetica" pitchFamily="34" charset="0"/>
              </a:rPr>
              <a:t>Audio-visual equipment hire</a:t>
            </a:r>
          </a:p>
          <a:p>
            <a:pPr lvl="0">
              <a:spcBef>
                <a:spcPts val="600"/>
              </a:spcBef>
              <a:spcAft>
                <a:spcPts val="1200"/>
              </a:spcAft>
            </a:pPr>
            <a:r>
              <a:rPr lang="en-AU" sz="2200" dirty="0" smtClean="0">
                <a:latin typeface="Helvetica" pitchFamily="34" charset="0"/>
              </a:rPr>
              <a:t>Printing, photocopying, secretarial </a:t>
            </a:r>
            <a:br>
              <a:rPr lang="en-AU" sz="2200" dirty="0" smtClean="0">
                <a:latin typeface="Helvetica" pitchFamily="34" charset="0"/>
              </a:rPr>
            </a:br>
            <a:r>
              <a:rPr lang="en-AU" sz="2200" dirty="0" smtClean="0">
                <a:latin typeface="Helvetica" pitchFamily="34" charset="0"/>
              </a:rPr>
              <a:t>services, phone and fax usage </a:t>
            </a:r>
          </a:p>
          <a:p>
            <a:pPr lvl="0">
              <a:spcBef>
                <a:spcPts val="600"/>
              </a:spcBef>
              <a:spcAft>
                <a:spcPts val="1200"/>
              </a:spcAft>
            </a:pPr>
            <a:r>
              <a:rPr lang="en-AU" sz="2200" dirty="0" smtClean="0">
                <a:latin typeface="Helvetica" pitchFamily="34" charset="0"/>
              </a:rPr>
              <a:t>Ice or margarine carvings, balloons, </a:t>
            </a:r>
            <a:br>
              <a:rPr lang="en-AU" sz="2200" dirty="0" smtClean="0">
                <a:latin typeface="Helvetica" pitchFamily="34" charset="0"/>
              </a:rPr>
            </a:br>
            <a:r>
              <a:rPr lang="en-AU" sz="2200" dirty="0" smtClean="0">
                <a:latin typeface="Helvetica" pitchFamily="34" charset="0"/>
              </a:rPr>
              <a:t>streamers and other specialised decorations </a:t>
            </a:r>
          </a:p>
          <a:p>
            <a:pPr lvl="0">
              <a:spcBef>
                <a:spcPts val="600"/>
              </a:spcBef>
              <a:spcAft>
                <a:spcPts val="1200"/>
              </a:spcAft>
            </a:pPr>
            <a:r>
              <a:rPr lang="en-AU" sz="2200" dirty="0" smtClean="0">
                <a:latin typeface="Helvetica" pitchFamily="34" charset="0"/>
              </a:rPr>
              <a:t>Dance floor hire</a:t>
            </a: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213</a:t>
            </a:fld>
            <a:endParaRPr lang="en-US" dirty="0"/>
          </a:p>
        </p:txBody>
      </p:sp>
      <p:pic>
        <p:nvPicPr>
          <p:cNvPr id="87041" name="Picture 1" descr="I:\Overseas Projects\PHOTOS\2012\Front office 2012\Photocopier.jpg"/>
          <p:cNvPicPr>
            <a:picLocks noChangeAspect="1" noChangeArrowheads="1"/>
          </p:cNvPicPr>
          <p:nvPr/>
        </p:nvPicPr>
        <p:blipFill>
          <a:blip r:embed="rId3" cstate="print"/>
          <a:srcRect/>
          <a:stretch>
            <a:fillRect/>
          </a:stretch>
        </p:blipFill>
        <p:spPr bwMode="auto">
          <a:xfrm>
            <a:off x="6553200" y="2514600"/>
            <a:ext cx="1714500" cy="2143125"/>
          </a:xfrm>
          <a:prstGeom prst="rect">
            <a:avLst/>
          </a:prstGeom>
          <a:noFill/>
        </p:spPr>
      </p:pic>
      <p:pic>
        <p:nvPicPr>
          <p:cNvPr id="87045" name="Picture 5" descr="C:\Documents and Settings\danielc\Local Settings\Temporary Internet Files\Content.IE5\SIQ5KRQ3\MP910221078[1].jpg"/>
          <p:cNvPicPr>
            <a:picLocks noChangeAspect="1" noChangeArrowheads="1"/>
          </p:cNvPicPr>
          <p:nvPr/>
        </p:nvPicPr>
        <p:blipFill>
          <a:blip r:embed="rId4" cstate="print"/>
          <a:srcRect/>
          <a:stretch>
            <a:fillRect/>
          </a:stretch>
        </p:blipFill>
        <p:spPr bwMode="auto">
          <a:xfrm>
            <a:off x="6248400" y="381000"/>
            <a:ext cx="1297825" cy="2243489"/>
          </a:xfrm>
          <a:prstGeom prst="rect">
            <a:avLst/>
          </a:prstGeom>
          <a:noFill/>
        </p:spPr>
      </p:pic>
    </p:spTree>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account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Verifying the account with management</a:t>
            </a:r>
          </a:p>
          <a:p>
            <a:pPr marL="0">
              <a:spcBef>
                <a:spcPts val="600"/>
              </a:spcBef>
              <a:spcAft>
                <a:spcPts val="1200"/>
              </a:spcAft>
              <a:buNone/>
            </a:pPr>
            <a:r>
              <a:rPr lang="en-AU" sz="2200" dirty="0" smtClean="0">
                <a:latin typeface="Helvetica" pitchFamily="34" charset="0"/>
              </a:rPr>
              <a:t>Before the account is presented to the client it should be shown to management:</a:t>
            </a:r>
          </a:p>
          <a:p>
            <a:pPr>
              <a:spcBef>
                <a:spcPts val="600"/>
              </a:spcBef>
              <a:spcAft>
                <a:spcPts val="1200"/>
              </a:spcAft>
            </a:pPr>
            <a:r>
              <a:rPr lang="en-AU" sz="2200" dirty="0" smtClean="0">
                <a:latin typeface="Helvetica" pitchFamily="34" charset="0"/>
              </a:rPr>
              <a:t>For their final approval </a:t>
            </a:r>
          </a:p>
          <a:p>
            <a:pPr>
              <a:spcBef>
                <a:spcPts val="600"/>
              </a:spcBef>
              <a:spcAft>
                <a:spcPts val="1200"/>
              </a:spcAft>
            </a:pPr>
            <a:r>
              <a:rPr lang="en-AU" sz="2200" dirty="0" smtClean="0">
                <a:latin typeface="Helvetica" pitchFamily="34" charset="0"/>
              </a:rPr>
              <a:t>So all charges may be verified</a:t>
            </a:r>
          </a:p>
          <a:p>
            <a:pPr>
              <a:spcBef>
                <a:spcPts val="600"/>
              </a:spcBef>
              <a:spcAft>
                <a:spcPts val="1200"/>
              </a:spcAft>
            </a:pPr>
            <a:r>
              <a:rPr lang="en-AU" sz="2200" dirty="0" smtClean="0">
                <a:latin typeface="Helvetica" pitchFamily="34" charset="0"/>
              </a:rPr>
              <a:t>All monies expended may be recouped </a:t>
            </a:r>
          </a:p>
          <a:p>
            <a:pPr>
              <a:buNone/>
            </a:pPr>
            <a:endParaRPr lang="en-AU" sz="2400" dirty="0" smtClean="0"/>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214</a:t>
            </a:fld>
            <a:endParaRPr lang="en-US" dirty="0"/>
          </a:p>
        </p:txBody>
      </p:sp>
      <p:pic>
        <p:nvPicPr>
          <p:cNvPr id="84993" name="Picture 1" descr="I:\Overseas Projects\PHOTOS\2012\Front office 2012\shutterstock_105269162.jpg"/>
          <p:cNvPicPr>
            <a:picLocks noChangeAspect="1" noChangeArrowheads="1"/>
          </p:cNvPicPr>
          <p:nvPr/>
        </p:nvPicPr>
        <p:blipFill>
          <a:blip r:embed="rId3" cstate="print"/>
          <a:srcRect/>
          <a:stretch>
            <a:fillRect/>
          </a:stretch>
        </p:blipFill>
        <p:spPr bwMode="auto">
          <a:xfrm>
            <a:off x="6324600" y="2819400"/>
            <a:ext cx="1876425" cy="1936955"/>
          </a:xfrm>
          <a:prstGeom prst="rect">
            <a:avLst/>
          </a:prstGeom>
          <a:noFill/>
        </p:spPr>
      </p:pic>
    </p:spTree>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account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Presenting the account</a:t>
            </a:r>
          </a:p>
          <a:p>
            <a:pPr>
              <a:spcBef>
                <a:spcPts val="600"/>
              </a:spcBef>
              <a:spcAft>
                <a:spcPts val="1200"/>
              </a:spcAft>
            </a:pPr>
            <a:r>
              <a:rPr lang="en-AU" sz="2200" dirty="0" smtClean="0">
                <a:latin typeface="Helvetica" pitchFamily="34" charset="0"/>
              </a:rPr>
              <a:t>A copy of the account must then be </a:t>
            </a:r>
            <a:br>
              <a:rPr lang="en-AU" sz="2200" dirty="0" smtClean="0">
                <a:latin typeface="Helvetica" pitchFamily="34" charset="0"/>
              </a:rPr>
            </a:br>
            <a:r>
              <a:rPr lang="en-AU" sz="2200" dirty="0" smtClean="0">
                <a:latin typeface="Helvetica" pitchFamily="34" charset="0"/>
              </a:rPr>
              <a:t>presented to the correct person</a:t>
            </a:r>
          </a:p>
          <a:p>
            <a:pPr>
              <a:spcBef>
                <a:spcPts val="600"/>
              </a:spcBef>
              <a:spcAft>
                <a:spcPts val="1200"/>
              </a:spcAft>
            </a:pPr>
            <a:r>
              <a:rPr lang="en-AU" sz="2200" dirty="0" smtClean="0">
                <a:latin typeface="Helvetica" pitchFamily="34" charset="0"/>
              </a:rPr>
              <a:t>Care must be taken here to ensure </a:t>
            </a:r>
            <a:br>
              <a:rPr lang="en-AU" sz="2200" dirty="0" smtClean="0">
                <a:latin typeface="Helvetica" pitchFamily="34" charset="0"/>
              </a:rPr>
            </a:br>
            <a:r>
              <a:rPr lang="en-AU" sz="2200" dirty="0" smtClean="0">
                <a:latin typeface="Helvetica" pitchFamily="34" charset="0"/>
              </a:rPr>
              <a:t>that the ‘right’ person gets the bill</a:t>
            </a:r>
          </a:p>
          <a:p>
            <a:pPr>
              <a:spcBef>
                <a:spcPts val="600"/>
              </a:spcBef>
              <a:spcAft>
                <a:spcPts val="1200"/>
              </a:spcAft>
              <a:buNone/>
            </a:pPr>
            <a:endParaRPr lang="en-AU" sz="2200" dirty="0" smtClean="0">
              <a:latin typeface="Helvetica" pitchFamily="34" charset="0"/>
            </a:endParaRPr>
          </a:p>
          <a:p>
            <a:pPr>
              <a:buNone/>
            </a:pPr>
            <a:endParaRPr lang="en-AU" sz="2400" dirty="0" smtClean="0"/>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215</a:t>
            </a:fld>
            <a:endParaRPr lang="en-US" dirty="0"/>
          </a:p>
        </p:txBody>
      </p:sp>
      <p:pic>
        <p:nvPicPr>
          <p:cNvPr id="82945" name="Picture 1" descr="I:\Overseas Projects\PHOTOS\2012\Front office 2012\shutterstock_18561934.jpg"/>
          <p:cNvPicPr>
            <a:picLocks noChangeAspect="1" noChangeArrowheads="1"/>
          </p:cNvPicPr>
          <p:nvPr/>
        </p:nvPicPr>
        <p:blipFill>
          <a:blip r:embed="rId3" cstate="print"/>
          <a:srcRect/>
          <a:stretch>
            <a:fillRect/>
          </a:stretch>
        </p:blipFill>
        <p:spPr bwMode="auto">
          <a:xfrm>
            <a:off x="6172200" y="1981200"/>
            <a:ext cx="2033587" cy="3048000"/>
          </a:xfrm>
          <a:prstGeom prst="rect">
            <a:avLst/>
          </a:prstGeom>
          <a:noFill/>
        </p:spPr>
      </p:pic>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account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Methods of payment</a:t>
            </a:r>
          </a:p>
          <a:p>
            <a:pPr>
              <a:spcBef>
                <a:spcPts val="600"/>
              </a:spcBef>
              <a:spcAft>
                <a:spcPts val="1200"/>
              </a:spcAft>
            </a:pPr>
            <a:r>
              <a:rPr lang="en-AU" sz="2200" dirty="0" smtClean="0">
                <a:latin typeface="Helvetica" pitchFamily="34" charset="0"/>
              </a:rPr>
              <a:t>What methods of payment are acceptable </a:t>
            </a:r>
            <a:br>
              <a:rPr lang="en-AU" sz="2200" dirty="0" smtClean="0">
                <a:latin typeface="Helvetica" pitchFamily="34" charset="0"/>
              </a:rPr>
            </a:br>
            <a:r>
              <a:rPr lang="en-AU" sz="2200" dirty="0" smtClean="0">
                <a:latin typeface="Helvetica" pitchFamily="34" charset="0"/>
              </a:rPr>
              <a:t>for a function?</a:t>
            </a:r>
          </a:p>
          <a:p>
            <a:pPr>
              <a:spcBef>
                <a:spcPts val="600"/>
              </a:spcBef>
              <a:spcAft>
                <a:spcPts val="1200"/>
              </a:spcAft>
            </a:pPr>
            <a:r>
              <a:rPr lang="en-AU" sz="2200" dirty="0" smtClean="0">
                <a:latin typeface="Helvetica" pitchFamily="34" charset="0"/>
              </a:rPr>
              <a:t>When does an account need to be paid </a:t>
            </a:r>
            <a:br>
              <a:rPr lang="en-AU" sz="2200" dirty="0" smtClean="0">
                <a:latin typeface="Helvetica" pitchFamily="34" charset="0"/>
              </a:rPr>
            </a:br>
            <a:r>
              <a:rPr lang="en-AU" sz="2200" dirty="0" smtClean="0">
                <a:latin typeface="Helvetica" pitchFamily="34" charset="0"/>
              </a:rPr>
              <a:t>by?</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216</a:t>
            </a:fld>
            <a:endParaRPr lang="en-US" dirty="0"/>
          </a:p>
        </p:txBody>
      </p:sp>
      <p:pic>
        <p:nvPicPr>
          <p:cNvPr id="6" name="Picture 5" descr="MP900422348.JPG"/>
          <p:cNvPicPr/>
          <p:nvPr/>
        </p:nvPicPr>
        <p:blipFill>
          <a:blip r:embed="rId3" cstate="print"/>
          <a:stretch>
            <a:fillRect/>
          </a:stretch>
        </p:blipFill>
        <p:spPr>
          <a:xfrm>
            <a:off x="6629400" y="2209800"/>
            <a:ext cx="1558925" cy="2109788"/>
          </a:xfrm>
          <a:prstGeom prst="rect">
            <a:avLst/>
          </a:prstGeom>
        </p:spPr>
      </p:pic>
    </p:spTree>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Complete administration documentation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It is quite common for the Functions manager to complete a range of documentation at the completion of a function</a:t>
            </a:r>
          </a:p>
          <a:p>
            <a:pPr>
              <a:spcBef>
                <a:spcPts val="600"/>
              </a:spcBef>
              <a:spcAft>
                <a:spcPts val="1200"/>
              </a:spcAft>
            </a:pPr>
            <a:r>
              <a:rPr lang="en-AU" sz="2200" dirty="0" smtClean="0">
                <a:latin typeface="Helvetica" pitchFamily="34" charset="0"/>
              </a:rPr>
              <a:t>There is generally an urgency associated with this as the venue will commonly seek to finalise this aspect of the function as soon as possible</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217</a:t>
            </a:fld>
            <a:endParaRPr lang="en-US" dirty="0"/>
          </a:p>
        </p:txBody>
      </p:sp>
      <p:pic>
        <p:nvPicPr>
          <p:cNvPr id="78849" name="Picture 1" descr="I:\Overseas Projects\PHOTOS\2012\Front office 2012\Form.jpg"/>
          <p:cNvPicPr>
            <a:picLocks noChangeAspect="1" noChangeArrowheads="1"/>
          </p:cNvPicPr>
          <p:nvPr/>
        </p:nvPicPr>
        <p:blipFill>
          <a:blip r:embed="rId3" cstate="print"/>
          <a:srcRect/>
          <a:stretch>
            <a:fillRect/>
          </a:stretch>
        </p:blipFill>
        <p:spPr bwMode="auto">
          <a:xfrm>
            <a:off x="2895600" y="4038600"/>
            <a:ext cx="3048000" cy="2033588"/>
          </a:xfrm>
          <a:prstGeom prst="rect">
            <a:avLst/>
          </a:prstGeom>
          <a:noFill/>
        </p:spPr>
      </p:pic>
    </p:spTree>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Complete administration documentation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lvl="0">
              <a:spcBef>
                <a:spcPts val="600"/>
              </a:spcBef>
              <a:spcAft>
                <a:spcPts val="1200"/>
              </a:spcAft>
            </a:pPr>
            <a:r>
              <a:rPr lang="en-AU" sz="2200" dirty="0" smtClean="0">
                <a:latin typeface="Helvetica" pitchFamily="34" charset="0"/>
              </a:rPr>
              <a:t>Collating feedback</a:t>
            </a:r>
          </a:p>
          <a:p>
            <a:pPr lvl="0">
              <a:spcBef>
                <a:spcPts val="600"/>
              </a:spcBef>
              <a:spcAft>
                <a:spcPts val="1200"/>
              </a:spcAft>
            </a:pPr>
            <a:r>
              <a:rPr lang="en-AU" sz="2200" dirty="0" smtClean="0">
                <a:latin typeface="Helvetica" pitchFamily="34" charset="0"/>
              </a:rPr>
              <a:t>Paying out monies to any entertainers or outside suppliers</a:t>
            </a:r>
          </a:p>
          <a:p>
            <a:pPr lvl="0">
              <a:spcBef>
                <a:spcPts val="600"/>
              </a:spcBef>
              <a:spcAft>
                <a:spcPts val="1200"/>
              </a:spcAft>
            </a:pPr>
            <a:r>
              <a:rPr lang="en-AU" sz="2200" dirty="0" smtClean="0">
                <a:latin typeface="Helvetica" pitchFamily="34" charset="0"/>
              </a:rPr>
              <a:t>Receiving final payment of the client’s account</a:t>
            </a:r>
          </a:p>
          <a:p>
            <a:pPr lvl="0">
              <a:spcBef>
                <a:spcPts val="600"/>
              </a:spcBef>
              <a:spcAft>
                <a:spcPts val="1200"/>
              </a:spcAft>
            </a:pPr>
            <a:r>
              <a:rPr lang="en-AU" sz="2200" dirty="0" smtClean="0">
                <a:latin typeface="Helvetica" pitchFamily="34" charset="0"/>
              </a:rPr>
              <a:t>Signing off staff time sheets</a:t>
            </a:r>
          </a:p>
          <a:p>
            <a:pPr lvl="0">
              <a:spcBef>
                <a:spcPts val="600"/>
              </a:spcBef>
              <a:spcAft>
                <a:spcPts val="1200"/>
              </a:spcAft>
            </a:pPr>
            <a:r>
              <a:rPr lang="en-AU" sz="2200" dirty="0" smtClean="0">
                <a:latin typeface="Helvetica" pitchFamily="34" charset="0"/>
              </a:rPr>
              <a:t>Checking the facilities to determine if                           repairs are need</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218</a:t>
            </a:fld>
            <a:endParaRPr lang="en-US" dirty="0"/>
          </a:p>
        </p:txBody>
      </p:sp>
      <p:pic>
        <p:nvPicPr>
          <p:cNvPr id="7" name="Picture 1" descr="I:\Overseas Projects\PHOTOS\2012\Front office 2012\shutterstock_83733166.jpg"/>
          <p:cNvPicPr>
            <a:picLocks noChangeAspect="1" noChangeArrowheads="1"/>
          </p:cNvPicPr>
          <p:nvPr/>
        </p:nvPicPr>
        <p:blipFill>
          <a:blip r:embed="rId3" cstate="print"/>
          <a:srcRect/>
          <a:stretch>
            <a:fillRect/>
          </a:stretch>
        </p:blipFill>
        <p:spPr bwMode="auto">
          <a:xfrm>
            <a:off x="6096000" y="3657600"/>
            <a:ext cx="2189163" cy="1453741"/>
          </a:xfrm>
          <a:prstGeom prst="rect">
            <a:avLst/>
          </a:prstGeom>
          <a:noFill/>
        </p:spPr>
      </p:pic>
    </p:spTree>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Complete administration documentation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lvl="0">
              <a:spcBef>
                <a:spcPts val="600"/>
              </a:spcBef>
              <a:spcAft>
                <a:spcPts val="1200"/>
              </a:spcAft>
            </a:pPr>
            <a:r>
              <a:rPr lang="en-AU" sz="2200" dirty="0" smtClean="0">
                <a:latin typeface="Helvetica" pitchFamily="34" charset="0"/>
              </a:rPr>
              <a:t>Processing payment and posting </a:t>
            </a:r>
            <a:br>
              <a:rPr lang="en-AU" sz="2200" dirty="0" smtClean="0">
                <a:latin typeface="Helvetica" pitchFamily="34" charset="0"/>
              </a:rPr>
            </a:br>
            <a:r>
              <a:rPr lang="en-AU" sz="2200" dirty="0" smtClean="0">
                <a:latin typeface="Helvetica" pitchFamily="34" charset="0"/>
              </a:rPr>
              <a:t>payment record on account</a:t>
            </a:r>
          </a:p>
          <a:p>
            <a:pPr lvl="0">
              <a:spcBef>
                <a:spcPts val="600"/>
              </a:spcBef>
              <a:spcAft>
                <a:spcPts val="1200"/>
              </a:spcAft>
            </a:pPr>
            <a:r>
              <a:rPr lang="en-AU" sz="2200" dirty="0" smtClean="0">
                <a:latin typeface="Helvetica" pitchFamily="34" charset="0"/>
              </a:rPr>
              <a:t>Issuing receipt and ‘Thank you’ </a:t>
            </a:r>
            <a:br>
              <a:rPr lang="en-AU" sz="2200" dirty="0" smtClean="0">
                <a:latin typeface="Helvetica" pitchFamily="34" charset="0"/>
              </a:rPr>
            </a:br>
            <a:r>
              <a:rPr lang="en-AU" sz="2200" dirty="0" smtClean="0">
                <a:latin typeface="Helvetica" pitchFamily="34" charset="0"/>
              </a:rPr>
              <a:t>letter to the client</a:t>
            </a:r>
          </a:p>
          <a:p>
            <a:pPr lvl="0">
              <a:spcBef>
                <a:spcPts val="600"/>
              </a:spcBef>
              <a:spcAft>
                <a:spcPts val="1200"/>
              </a:spcAft>
            </a:pPr>
            <a:r>
              <a:rPr lang="en-AU" sz="2200" dirty="0" smtClean="0">
                <a:latin typeface="Helvetica" pitchFamily="34" charset="0"/>
              </a:rPr>
              <a:t>Completing a feedback form</a:t>
            </a:r>
          </a:p>
          <a:p>
            <a:pPr lvl="0">
              <a:spcBef>
                <a:spcPts val="600"/>
              </a:spcBef>
              <a:spcAft>
                <a:spcPts val="1200"/>
              </a:spcAft>
            </a:pPr>
            <a:r>
              <a:rPr lang="en-AU" sz="2200" dirty="0" smtClean="0">
                <a:latin typeface="Helvetica" pitchFamily="34" charset="0"/>
              </a:rPr>
              <a:t>Preparing final comments about the function</a:t>
            </a:r>
          </a:p>
          <a:p>
            <a:pPr lvl="0">
              <a:spcBef>
                <a:spcPts val="600"/>
              </a:spcBef>
              <a:spcAft>
                <a:spcPts val="1200"/>
              </a:spcAft>
            </a:pPr>
            <a:r>
              <a:rPr lang="en-AU" sz="2200" dirty="0" smtClean="0">
                <a:latin typeface="Helvetica" pitchFamily="34" charset="0"/>
              </a:rPr>
              <a:t>Identifying preferences that may be helpful for future functions by the client</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219</a:t>
            </a:fld>
            <a:endParaRPr lang="en-US" dirty="0"/>
          </a:p>
        </p:txBody>
      </p:sp>
      <p:pic>
        <p:nvPicPr>
          <p:cNvPr id="74754" name="Picture 2" descr="I:\Overseas Projects\PHOTOS\2012\Front office 2012\Hotel receptionist accept payment.jpg"/>
          <p:cNvPicPr>
            <a:picLocks noChangeAspect="1" noChangeArrowheads="1"/>
          </p:cNvPicPr>
          <p:nvPr/>
        </p:nvPicPr>
        <p:blipFill>
          <a:blip r:embed="rId3" cstate="print"/>
          <a:srcRect/>
          <a:stretch>
            <a:fillRect/>
          </a:stretch>
        </p:blipFill>
        <p:spPr bwMode="auto">
          <a:xfrm>
            <a:off x="5638800" y="2057400"/>
            <a:ext cx="2344737" cy="1564380"/>
          </a:xfrm>
          <a:prstGeom prst="rect">
            <a:avLst/>
          </a:prstGeom>
          <a:noFill/>
        </p:spPr>
      </p:pic>
    </p:spTree>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Complete administration documentation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lvl="0">
              <a:spcBef>
                <a:spcPts val="600"/>
              </a:spcBef>
              <a:spcAft>
                <a:spcPts val="1200"/>
              </a:spcAft>
            </a:pPr>
            <a:r>
              <a:rPr lang="en-AU" sz="2200" dirty="0" smtClean="0">
                <a:latin typeface="Helvetica" pitchFamily="34" charset="0"/>
              </a:rPr>
              <a:t>Adding customer comment cards</a:t>
            </a:r>
          </a:p>
          <a:p>
            <a:pPr lvl="0">
              <a:spcBef>
                <a:spcPts val="600"/>
              </a:spcBef>
              <a:spcAft>
                <a:spcPts val="1200"/>
              </a:spcAft>
            </a:pPr>
            <a:r>
              <a:rPr lang="en-AU" sz="2200" dirty="0" smtClean="0">
                <a:latin typeface="Helvetica" pitchFamily="34" charset="0"/>
              </a:rPr>
              <a:t>Adding photos taken onto a database to be used as a marketing tool</a:t>
            </a:r>
          </a:p>
          <a:p>
            <a:pPr lvl="0">
              <a:spcBef>
                <a:spcPts val="600"/>
              </a:spcBef>
              <a:spcAft>
                <a:spcPts val="1200"/>
              </a:spcAft>
            </a:pPr>
            <a:r>
              <a:rPr lang="en-AU" sz="2200" dirty="0" smtClean="0">
                <a:latin typeface="Helvetica" pitchFamily="34" charset="0"/>
              </a:rPr>
              <a:t>Finalising all financial documentation </a:t>
            </a:r>
            <a:br>
              <a:rPr lang="en-AU" sz="2200" dirty="0" smtClean="0">
                <a:latin typeface="Helvetica" pitchFamily="34" charset="0"/>
              </a:rPr>
            </a:br>
            <a:r>
              <a:rPr lang="en-AU" sz="2200" dirty="0" smtClean="0">
                <a:latin typeface="Helvetica" pitchFamily="34" charset="0"/>
              </a:rPr>
              <a:t>including closure of accounts and </a:t>
            </a:r>
            <a:br>
              <a:rPr lang="en-AU" sz="2200" dirty="0" smtClean="0">
                <a:latin typeface="Helvetica" pitchFamily="34" charset="0"/>
              </a:rPr>
            </a:br>
            <a:r>
              <a:rPr lang="en-AU" sz="2200" dirty="0" smtClean="0">
                <a:latin typeface="Helvetica" pitchFamily="34" charset="0"/>
              </a:rPr>
              <a:t>printing of final accounts and payments</a:t>
            </a:r>
          </a:p>
          <a:p>
            <a:pPr lvl="0">
              <a:spcBef>
                <a:spcPts val="600"/>
              </a:spcBef>
              <a:spcAft>
                <a:spcPts val="1200"/>
              </a:spcAft>
            </a:pPr>
            <a:r>
              <a:rPr lang="en-AU" sz="2200" dirty="0" smtClean="0">
                <a:latin typeface="Helvetica" pitchFamily="34" charset="0"/>
              </a:rPr>
              <a:t>Storing the account file in an appropriate </a:t>
            </a:r>
            <a:br>
              <a:rPr lang="en-AU" sz="2200" dirty="0" smtClean="0">
                <a:latin typeface="Helvetica" pitchFamily="34" charset="0"/>
              </a:rPr>
            </a:br>
            <a:r>
              <a:rPr lang="en-AU" sz="2200" dirty="0" smtClean="0">
                <a:latin typeface="Helvetica" pitchFamily="34" charset="0"/>
              </a:rPr>
              <a:t>storage folder or area</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220</a:t>
            </a:fld>
            <a:endParaRPr lang="en-US" dirty="0"/>
          </a:p>
        </p:txBody>
      </p:sp>
      <p:pic>
        <p:nvPicPr>
          <p:cNvPr id="72705" name="Picture 1" descr="I:\Overseas Projects\PHOTOS\2012\Front office 2012\shutterstock_68013823.jpg"/>
          <p:cNvPicPr>
            <a:picLocks noChangeAspect="1" noChangeArrowheads="1"/>
          </p:cNvPicPr>
          <p:nvPr/>
        </p:nvPicPr>
        <p:blipFill>
          <a:blip r:embed="rId3" cstate="print"/>
          <a:srcRect/>
          <a:stretch>
            <a:fillRect/>
          </a:stretch>
        </p:blipFill>
        <p:spPr bwMode="auto">
          <a:xfrm>
            <a:off x="6477000" y="2971800"/>
            <a:ext cx="1846263" cy="1846263"/>
          </a:xfrm>
          <a:prstGeom prst="rect">
            <a:avLst/>
          </a:prstGeom>
          <a:noFill/>
        </p:spPr>
      </p:pic>
    </p:spTree>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De-brief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buNone/>
            </a:pPr>
            <a:r>
              <a:rPr lang="en-AU" sz="2200" dirty="0" smtClean="0">
                <a:latin typeface="Helvetica" pitchFamily="34" charset="0"/>
              </a:rPr>
              <a:t>In the same way that some properties encourage or require supervisors to hold a briefing session with staff at the start of a session, they also encourage a debriefing session to be held at the completion of the session.</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221</a:t>
            </a:fld>
            <a:endParaRPr lang="en-US" dirty="0"/>
          </a:p>
        </p:txBody>
      </p:sp>
      <p:pic>
        <p:nvPicPr>
          <p:cNvPr id="70657" name="Picture 1" descr="C:\Documents and Settings\danielc\Local Settings\Temporary Internet Files\Content.IE5\SIQ5KRQ3\MC900289953[1].wmf"/>
          <p:cNvPicPr>
            <a:picLocks noChangeAspect="1" noChangeArrowheads="1"/>
          </p:cNvPicPr>
          <p:nvPr/>
        </p:nvPicPr>
        <p:blipFill>
          <a:blip r:embed="rId3" cstate="print"/>
          <a:srcRect/>
          <a:stretch>
            <a:fillRect/>
          </a:stretch>
        </p:blipFill>
        <p:spPr bwMode="auto">
          <a:xfrm>
            <a:off x="2819400" y="3352800"/>
            <a:ext cx="3493129" cy="2562131"/>
          </a:xfrm>
          <a:prstGeom prst="rect">
            <a:avLst/>
          </a:prstGeom>
          <a:noFill/>
        </p:spPr>
      </p:pic>
    </p:spTree>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Debrief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Topics in a debriefing session</a:t>
            </a:r>
          </a:p>
          <a:p>
            <a:pPr lvl="0">
              <a:spcBef>
                <a:spcPts val="600"/>
              </a:spcBef>
              <a:spcAft>
                <a:spcPts val="1200"/>
              </a:spcAft>
            </a:pPr>
            <a:r>
              <a:rPr lang="en-AU" sz="2200" dirty="0" smtClean="0">
                <a:latin typeface="Helvetica" pitchFamily="34" charset="0"/>
              </a:rPr>
              <a:t>Congratulating staff on work</a:t>
            </a:r>
          </a:p>
          <a:p>
            <a:pPr lvl="0">
              <a:spcBef>
                <a:spcPts val="600"/>
              </a:spcBef>
              <a:spcAft>
                <a:spcPts val="1200"/>
              </a:spcAft>
            </a:pPr>
            <a:r>
              <a:rPr lang="en-AU" sz="2200" dirty="0" smtClean="0">
                <a:latin typeface="Helvetica" pitchFamily="34" charset="0"/>
              </a:rPr>
              <a:t>Discussing staffing issues </a:t>
            </a:r>
          </a:p>
          <a:p>
            <a:pPr lvl="0">
              <a:spcBef>
                <a:spcPts val="600"/>
              </a:spcBef>
              <a:spcAft>
                <a:spcPts val="1200"/>
              </a:spcAft>
            </a:pPr>
            <a:r>
              <a:rPr lang="en-AU" sz="2200" dirty="0" smtClean="0">
                <a:latin typeface="Helvetica" pitchFamily="34" charset="0"/>
              </a:rPr>
              <a:t>Get suggestions from staff</a:t>
            </a:r>
          </a:p>
          <a:p>
            <a:pPr lvl="0">
              <a:spcBef>
                <a:spcPts val="600"/>
              </a:spcBef>
              <a:spcAft>
                <a:spcPts val="1200"/>
              </a:spcAft>
            </a:pPr>
            <a:r>
              <a:rPr lang="en-AU" sz="2200" dirty="0" smtClean="0">
                <a:latin typeface="Helvetica" pitchFamily="34" charset="0"/>
              </a:rPr>
              <a:t>Highlighting problems and issues that arose</a:t>
            </a:r>
          </a:p>
          <a:p>
            <a:pPr lvl="0">
              <a:spcBef>
                <a:spcPts val="600"/>
              </a:spcBef>
              <a:spcAft>
                <a:spcPts val="1200"/>
              </a:spcAft>
            </a:pPr>
            <a:r>
              <a:rPr lang="en-AU" sz="2200" dirty="0" smtClean="0">
                <a:latin typeface="Helvetica" pitchFamily="34" charset="0"/>
              </a:rPr>
              <a:t>Providing the staff with feedback</a:t>
            </a:r>
          </a:p>
          <a:p>
            <a:pPr marL="0">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222</a:t>
            </a:fld>
            <a:endParaRPr lang="en-US" dirty="0"/>
          </a:p>
        </p:txBody>
      </p:sp>
      <p:pic>
        <p:nvPicPr>
          <p:cNvPr id="68610" name="Picture 2" descr="C:\Documents and Settings\danielc\Local Settings\Temporary Internet Files\Content.IE5\112MAXTI\MC900174351[1].wmf"/>
          <p:cNvPicPr>
            <a:picLocks noChangeAspect="1" noChangeArrowheads="1"/>
          </p:cNvPicPr>
          <p:nvPr/>
        </p:nvPicPr>
        <p:blipFill>
          <a:blip r:embed="rId3" cstate="print"/>
          <a:srcRect/>
          <a:stretch>
            <a:fillRect/>
          </a:stretch>
        </p:blipFill>
        <p:spPr bwMode="auto">
          <a:xfrm>
            <a:off x="6705600" y="3505200"/>
            <a:ext cx="1819656" cy="1560881"/>
          </a:xfrm>
          <a:prstGeom prst="rect">
            <a:avLst/>
          </a:prstGeom>
          <a:noFill/>
        </p:spPr>
      </p:pic>
      <p:pic>
        <p:nvPicPr>
          <p:cNvPr id="68611" name="Picture 3" descr="C:\Documents and Settings\danielc\Local Settings\Temporary Internet Files\Content.IE5\3DV3UKH9\MC900334236[1].wmf"/>
          <p:cNvPicPr>
            <a:picLocks noChangeAspect="1" noChangeArrowheads="1"/>
          </p:cNvPicPr>
          <p:nvPr/>
        </p:nvPicPr>
        <p:blipFill>
          <a:blip r:embed="rId4" cstate="print"/>
          <a:srcRect/>
          <a:stretch>
            <a:fillRect/>
          </a:stretch>
        </p:blipFill>
        <p:spPr bwMode="auto">
          <a:xfrm>
            <a:off x="6629400" y="1981200"/>
            <a:ext cx="1815998" cy="1413662"/>
          </a:xfrm>
          <a:prstGeom prst="rect">
            <a:avLst/>
          </a:prstGeom>
          <a:noFill/>
        </p:spPr>
      </p:pic>
    </p:spTree>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De-brief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Topics in a debriefing session</a:t>
            </a:r>
          </a:p>
          <a:p>
            <a:pPr lvl="0">
              <a:spcBef>
                <a:spcPts val="600"/>
              </a:spcBef>
              <a:spcAft>
                <a:spcPts val="1200"/>
              </a:spcAft>
            </a:pPr>
            <a:r>
              <a:rPr lang="en-AU" sz="2200" dirty="0" smtClean="0">
                <a:latin typeface="Helvetica" pitchFamily="34" charset="0"/>
              </a:rPr>
              <a:t>Discussing feedback received by staff from those who attended </a:t>
            </a:r>
          </a:p>
          <a:p>
            <a:pPr lvl="0">
              <a:spcBef>
                <a:spcPts val="600"/>
              </a:spcBef>
              <a:spcAft>
                <a:spcPts val="1200"/>
              </a:spcAft>
            </a:pPr>
            <a:r>
              <a:rPr lang="en-AU" sz="2200" dirty="0" smtClean="0">
                <a:latin typeface="Helvetica" pitchFamily="34" charset="0"/>
              </a:rPr>
              <a:t>Reviewing the quality of service </a:t>
            </a:r>
            <a:br>
              <a:rPr lang="en-AU" sz="2200" dirty="0" smtClean="0">
                <a:latin typeface="Helvetica" pitchFamily="34" charset="0"/>
              </a:rPr>
            </a:br>
            <a:r>
              <a:rPr lang="en-AU" sz="2200" dirty="0" smtClean="0">
                <a:latin typeface="Helvetica" pitchFamily="34" charset="0"/>
              </a:rPr>
              <a:t>delivery provided</a:t>
            </a:r>
          </a:p>
          <a:p>
            <a:pPr lvl="0">
              <a:spcBef>
                <a:spcPts val="600"/>
              </a:spcBef>
              <a:spcAft>
                <a:spcPts val="1200"/>
              </a:spcAft>
            </a:pPr>
            <a:r>
              <a:rPr lang="en-AU" sz="2200" dirty="0" smtClean="0">
                <a:latin typeface="Helvetica" pitchFamily="34" charset="0"/>
              </a:rPr>
              <a:t>Encouraging staff to identify issues </a:t>
            </a:r>
            <a:br>
              <a:rPr lang="en-AU" sz="2200" dirty="0" smtClean="0">
                <a:latin typeface="Helvetica" pitchFamily="34" charset="0"/>
              </a:rPr>
            </a:br>
            <a:r>
              <a:rPr lang="en-AU" sz="2200" dirty="0" smtClean="0">
                <a:latin typeface="Helvetica" pitchFamily="34" charset="0"/>
              </a:rPr>
              <a:t>of concern to them</a:t>
            </a:r>
          </a:p>
          <a:p>
            <a:pPr lvl="0">
              <a:spcBef>
                <a:spcPts val="600"/>
              </a:spcBef>
              <a:spcAft>
                <a:spcPts val="1200"/>
              </a:spcAft>
            </a:pPr>
            <a:r>
              <a:rPr lang="en-AU" sz="2200" dirty="0" smtClean="0">
                <a:latin typeface="Helvetica" pitchFamily="34" charset="0"/>
              </a:rPr>
              <a:t>Discussing patron issues</a:t>
            </a:r>
          </a:p>
          <a:p>
            <a:pPr marL="0">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223</a:t>
            </a:fld>
            <a:endParaRPr lang="en-US" dirty="0"/>
          </a:p>
        </p:txBody>
      </p:sp>
      <p:pic>
        <p:nvPicPr>
          <p:cNvPr id="10" name="Picture 3" descr="I:\Overseas Projects\PHOTOS\Accommodation 2009\DSCF1561.JPG"/>
          <p:cNvPicPr>
            <a:picLocks noChangeAspect="1" noChangeArrowheads="1"/>
          </p:cNvPicPr>
          <p:nvPr/>
        </p:nvPicPr>
        <p:blipFill>
          <a:blip r:embed="rId3" cstate="print"/>
          <a:srcRect l="12189" t="13002"/>
          <a:stretch>
            <a:fillRect/>
          </a:stretch>
        </p:blipFill>
        <p:spPr bwMode="auto">
          <a:xfrm>
            <a:off x="5943600" y="3124200"/>
            <a:ext cx="2439988" cy="1813056"/>
          </a:xfrm>
          <a:prstGeom prst="rect">
            <a:avLst/>
          </a:prstGeom>
          <a:noFill/>
        </p:spPr>
      </p:pic>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De-brief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Topics in a debriefing session</a:t>
            </a:r>
          </a:p>
          <a:p>
            <a:pPr lvl="0">
              <a:spcBef>
                <a:spcPts val="600"/>
              </a:spcBef>
              <a:spcAft>
                <a:spcPts val="1200"/>
              </a:spcAft>
            </a:pPr>
            <a:r>
              <a:rPr lang="en-AU" sz="2200" dirty="0" smtClean="0">
                <a:latin typeface="Helvetica" pitchFamily="34" charset="0"/>
              </a:rPr>
              <a:t>Discussing operation of ancillary services provided as part of the function</a:t>
            </a:r>
          </a:p>
          <a:p>
            <a:pPr lvl="0">
              <a:spcBef>
                <a:spcPts val="600"/>
              </a:spcBef>
              <a:spcAft>
                <a:spcPts val="1200"/>
              </a:spcAft>
            </a:pPr>
            <a:r>
              <a:rPr lang="en-AU" sz="2200" dirty="0" smtClean="0">
                <a:latin typeface="Helvetica" pitchFamily="34" charset="0"/>
              </a:rPr>
              <a:t>Presenting issues or details of next shift</a:t>
            </a:r>
          </a:p>
          <a:p>
            <a:pPr lvl="0">
              <a:spcBef>
                <a:spcPts val="600"/>
              </a:spcBef>
              <a:spcAft>
                <a:spcPts val="1200"/>
              </a:spcAft>
            </a:pPr>
            <a:r>
              <a:rPr lang="en-AU" sz="2200" dirty="0" smtClean="0">
                <a:latin typeface="Helvetica" pitchFamily="34" charset="0"/>
              </a:rPr>
              <a:t>Determining staff who will work on future </a:t>
            </a:r>
            <a:br>
              <a:rPr lang="en-AU" sz="2200" dirty="0" smtClean="0">
                <a:latin typeface="Helvetica" pitchFamily="34" charset="0"/>
              </a:rPr>
            </a:br>
            <a:r>
              <a:rPr lang="en-AU" sz="2200" dirty="0" smtClean="0">
                <a:latin typeface="Helvetica" pitchFamily="34" charset="0"/>
              </a:rPr>
              <a:t>functions</a:t>
            </a:r>
          </a:p>
          <a:p>
            <a:pPr>
              <a:spcBef>
                <a:spcPts val="600"/>
              </a:spcBef>
              <a:spcAft>
                <a:spcPts val="1200"/>
              </a:spcAft>
            </a:pPr>
            <a:r>
              <a:rPr lang="en-AU" sz="2200" dirty="0" smtClean="0">
                <a:latin typeface="Helvetica" pitchFamily="34" charset="0"/>
              </a:rPr>
              <a:t>Thanking staff for their efforts and contribution</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224</a:t>
            </a:fld>
            <a:endParaRPr lang="en-US" dirty="0"/>
          </a:p>
        </p:txBody>
      </p:sp>
      <p:pic>
        <p:nvPicPr>
          <p:cNvPr id="64513" name="Picture 1" descr="C:\Documents and Settings\danielc\Local Settings\Temporary Internet Files\Content.IE5\SIQ5KRQ3\MC900230987[1].wmf"/>
          <p:cNvPicPr>
            <a:picLocks noChangeAspect="1" noChangeArrowheads="1"/>
          </p:cNvPicPr>
          <p:nvPr/>
        </p:nvPicPr>
        <p:blipFill>
          <a:blip r:embed="rId3" cstate="print"/>
          <a:srcRect/>
          <a:stretch>
            <a:fillRect/>
          </a:stretch>
        </p:blipFill>
        <p:spPr bwMode="auto">
          <a:xfrm>
            <a:off x="6400800" y="2819400"/>
            <a:ext cx="2215081" cy="1632642"/>
          </a:xfrm>
          <a:prstGeom prst="rect">
            <a:avLst/>
          </a:prstGeom>
          <a:noFill/>
        </p:spPr>
      </p:pic>
    </p:spTree>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The End:</a:t>
            </a:r>
          </a:p>
          <a:p>
            <a:pPr>
              <a:buNone/>
            </a:pPr>
            <a:r>
              <a:rPr lang="en-AU" sz="4000" dirty="0" smtClean="0">
                <a:solidFill>
                  <a:srgbClr val="FF6600"/>
                </a:solidFill>
              </a:rPr>
              <a:t>Thank you!</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225</a:t>
            </a:fld>
            <a:endParaRPr lang="en-US" dirty="0"/>
          </a:p>
        </p:txBody>
      </p:sp>
      <p:pic>
        <p:nvPicPr>
          <p:cNvPr id="6" name="Picture 5" descr="2.jpg"/>
          <p:cNvPicPr>
            <a:picLocks noChangeAspect="1"/>
          </p:cNvPicPr>
          <p:nvPr/>
        </p:nvPicPr>
        <p:blipFill>
          <a:blip r:embed="rId3" cstate="print"/>
          <a:stretch>
            <a:fillRect/>
          </a:stretch>
        </p:blipFill>
        <p:spPr>
          <a:xfrm>
            <a:off x="5105400" y="1828800"/>
            <a:ext cx="2199514" cy="3302496"/>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od_&amp;_Bev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2822</TotalTime>
  <Words>15641</Words>
  <Application>Microsoft Office PowerPoint</Application>
  <PresentationFormat>On-screen Show (4:3)</PresentationFormat>
  <Paragraphs>3087</Paragraphs>
  <Slides>225</Slides>
  <Notes>225</Notes>
  <HiddenSlides>0</HiddenSlides>
  <MMClips>0</MMClips>
  <ScaleCrop>false</ScaleCrop>
  <HeadingPairs>
    <vt:vector size="4" baseType="variant">
      <vt:variant>
        <vt:lpstr>Theme</vt:lpstr>
      </vt:variant>
      <vt:variant>
        <vt:i4>1</vt:i4>
      </vt:variant>
      <vt:variant>
        <vt:lpstr>Slide Titles</vt:lpstr>
      </vt:variant>
      <vt:variant>
        <vt:i4>225</vt:i4>
      </vt:variant>
    </vt:vector>
  </HeadingPairs>
  <TitlesOfParts>
    <vt:vector size="226" baseType="lpstr">
      <vt:lpstr>PPT_Food_&amp;_Bev_template_250612</vt:lpstr>
      <vt:lpstr>ORGANISE FUNCTIONS</vt:lpstr>
      <vt:lpstr>Subject Elements</vt:lpstr>
      <vt:lpstr>Assessment</vt:lpstr>
      <vt:lpstr>Slide 4</vt:lpstr>
      <vt:lpstr>Identify function facilities and procedures at the host establishment</vt:lpstr>
      <vt:lpstr>Identify function facilities and procedures at the host establishment</vt:lpstr>
      <vt:lpstr>Functions</vt:lpstr>
      <vt:lpstr>Benefits of functions</vt:lpstr>
      <vt:lpstr>Benefits of functions</vt:lpstr>
      <vt:lpstr>Functions Booking book</vt:lpstr>
      <vt:lpstr>Functions Booking book</vt:lpstr>
      <vt:lpstr>Functions facilities</vt:lpstr>
      <vt:lpstr>Functions facilities</vt:lpstr>
      <vt:lpstr>Functions facilities</vt:lpstr>
      <vt:lpstr>Functions facilities</vt:lpstr>
      <vt:lpstr>Functions facilities</vt:lpstr>
      <vt:lpstr>Functions facilities</vt:lpstr>
      <vt:lpstr>Functions facilities</vt:lpstr>
      <vt:lpstr>Types of functions</vt:lpstr>
      <vt:lpstr>Types of functions</vt:lpstr>
      <vt:lpstr>Types of functions</vt:lpstr>
      <vt:lpstr>Types of functions</vt:lpstr>
      <vt:lpstr>Types of functions</vt:lpstr>
      <vt:lpstr>Styles of service</vt:lpstr>
      <vt:lpstr>Styles of service</vt:lpstr>
      <vt:lpstr>Styles of service</vt:lpstr>
      <vt:lpstr>Styles of service</vt:lpstr>
      <vt:lpstr>Styles of service</vt:lpstr>
      <vt:lpstr>Styles of service</vt:lpstr>
      <vt:lpstr>Styles of service</vt:lpstr>
      <vt:lpstr>Styles of service</vt:lpstr>
      <vt:lpstr>Function set up options</vt:lpstr>
      <vt:lpstr>Function set up options</vt:lpstr>
      <vt:lpstr>Function set up options</vt:lpstr>
      <vt:lpstr>Function set up options</vt:lpstr>
      <vt:lpstr>Function set up options</vt:lpstr>
      <vt:lpstr>Function menu options</vt:lpstr>
      <vt:lpstr>Types of food and beverage menus</vt:lpstr>
      <vt:lpstr>Types of food and beverage menus</vt:lpstr>
      <vt:lpstr>Types of food and beverage menus</vt:lpstr>
      <vt:lpstr>Types of food and beverage menus</vt:lpstr>
      <vt:lpstr>Types of food and beverage menus</vt:lpstr>
      <vt:lpstr>Types of food and beverage menus</vt:lpstr>
      <vt:lpstr>Types of food and beverage menus</vt:lpstr>
      <vt:lpstr>Types of food and beverage menus</vt:lpstr>
      <vt:lpstr>Types of food and beverage menus</vt:lpstr>
      <vt:lpstr>Types of food and beverage menus</vt:lpstr>
      <vt:lpstr>Types of food and beverage packages</vt:lpstr>
      <vt:lpstr>Types of food and beverage packages</vt:lpstr>
      <vt:lpstr>Types of food and beverage packages</vt:lpstr>
      <vt:lpstr>Types of food and beverage packages</vt:lpstr>
      <vt:lpstr>Types of food and beverage packages</vt:lpstr>
      <vt:lpstr>Types of function costs</vt:lpstr>
      <vt:lpstr>Function Kit</vt:lpstr>
      <vt:lpstr>Function Kit</vt:lpstr>
      <vt:lpstr>Function Kit</vt:lpstr>
      <vt:lpstr>Function Kit</vt:lpstr>
      <vt:lpstr>Function related documentation</vt:lpstr>
      <vt:lpstr>Function related documentation</vt:lpstr>
      <vt:lpstr>Function related documentation</vt:lpstr>
      <vt:lpstr>Function related documentation</vt:lpstr>
      <vt:lpstr>Function related documentation</vt:lpstr>
      <vt:lpstr>Function related documentation</vt:lpstr>
      <vt:lpstr>Function related documentation</vt:lpstr>
      <vt:lpstr>Slide 65</vt:lpstr>
      <vt:lpstr>Liaise with function customers</vt:lpstr>
      <vt:lpstr>Liaise with function customers</vt:lpstr>
      <vt:lpstr>Determine customer needs</vt:lpstr>
      <vt:lpstr>Determine customer needs</vt:lpstr>
      <vt:lpstr>Determine customer needs</vt:lpstr>
      <vt:lpstr>Determine customer needs</vt:lpstr>
      <vt:lpstr>Determine customer needs</vt:lpstr>
      <vt:lpstr>Researching options for functions</vt:lpstr>
      <vt:lpstr>Researching options for functions</vt:lpstr>
      <vt:lpstr>Matching resources to match client needs</vt:lpstr>
      <vt:lpstr>Matching resources to match client needs</vt:lpstr>
      <vt:lpstr>Matching resources to match client needs</vt:lpstr>
      <vt:lpstr>Matching resources to match client needs</vt:lpstr>
      <vt:lpstr>Matching resources to match client needs</vt:lpstr>
      <vt:lpstr>Matching resources to match client needs</vt:lpstr>
      <vt:lpstr>Providing options and suggestions</vt:lpstr>
      <vt:lpstr>Providing options and suggestions</vt:lpstr>
      <vt:lpstr>Providing options and suggestions</vt:lpstr>
      <vt:lpstr>Providing options and suggestions</vt:lpstr>
      <vt:lpstr>Maximise sales opportunities</vt:lpstr>
      <vt:lpstr>Maximise sales opportunities</vt:lpstr>
      <vt:lpstr>Record function requirements</vt:lpstr>
      <vt:lpstr>Record function requirements</vt:lpstr>
      <vt:lpstr>Record function requirements</vt:lpstr>
      <vt:lpstr>Provide quotation to client </vt:lpstr>
      <vt:lpstr>Provide quotation to client </vt:lpstr>
      <vt:lpstr>Provide quotation to client </vt:lpstr>
      <vt:lpstr>Negotiate and agree upon final event details</vt:lpstr>
      <vt:lpstr>Negotiate and agree upon final event details</vt:lpstr>
      <vt:lpstr>Negotiate and agree upon final event details</vt:lpstr>
      <vt:lpstr>Negotiate and agree upon final event details</vt:lpstr>
      <vt:lpstr>Preparing the Function Contract </vt:lpstr>
      <vt:lpstr>Preparing the Function Contract </vt:lpstr>
      <vt:lpstr>Preparing the Function Contract </vt:lpstr>
      <vt:lpstr>Preparing the Function Contract </vt:lpstr>
      <vt:lpstr>Preparing the Function Contract </vt:lpstr>
      <vt:lpstr>Preparing the Function Contract </vt:lpstr>
      <vt:lpstr>Preparing the Function Contract </vt:lpstr>
      <vt:lpstr>Preparing the Function Contract </vt:lpstr>
      <vt:lpstr>Preparing the Function Contract </vt:lpstr>
      <vt:lpstr>Obtaining deposit for function</vt:lpstr>
      <vt:lpstr>Obtaining deposit for function</vt:lpstr>
      <vt:lpstr>Obtaining deposit for function</vt:lpstr>
      <vt:lpstr>Obtaining deposit for function</vt:lpstr>
      <vt:lpstr>Updated financial information</vt:lpstr>
      <vt:lpstr>Preparing confirmations </vt:lpstr>
      <vt:lpstr>Slide 112</vt:lpstr>
      <vt:lpstr>Prepare for functions</vt:lpstr>
      <vt:lpstr>Prepare for functions</vt:lpstr>
      <vt:lpstr>Preparing function sheets </vt:lpstr>
      <vt:lpstr>Preparing function sheets </vt:lpstr>
      <vt:lpstr>Preparing function sheets </vt:lpstr>
      <vt:lpstr>Preparing function sheets </vt:lpstr>
      <vt:lpstr>Maintaining and updating Function Sheet</vt:lpstr>
      <vt:lpstr>Keeping accurate records</vt:lpstr>
      <vt:lpstr>Liaise with colleagues</vt:lpstr>
      <vt:lpstr>Liaise with colleagues</vt:lpstr>
      <vt:lpstr>Liaise with colleagues</vt:lpstr>
      <vt:lpstr>Liaise with colleagues</vt:lpstr>
      <vt:lpstr>Rostering staff</vt:lpstr>
      <vt:lpstr>Rostering staff</vt:lpstr>
      <vt:lpstr>Rostering staff</vt:lpstr>
      <vt:lpstr>Rostering staff</vt:lpstr>
      <vt:lpstr>Rostering staff</vt:lpstr>
      <vt:lpstr>Rostering staff</vt:lpstr>
      <vt:lpstr>Rostering staff</vt:lpstr>
      <vt:lpstr>Rostering staff</vt:lpstr>
      <vt:lpstr>Rostering staff</vt:lpstr>
      <vt:lpstr>Rostering staff</vt:lpstr>
      <vt:lpstr>Rostering staff</vt:lpstr>
      <vt:lpstr>Rostering staff</vt:lpstr>
      <vt:lpstr>Rostering staff</vt:lpstr>
      <vt:lpstr>Rostering staff</vt:lpstr>
      <vt:lpstr>Rostering staff</vt:lpstr>
      <vt:lpstr>Rostering staff</vt:lpstr>
      <vt:lpstr>Rostering staff</vt:lpstr>
      <vt:lpstr>Rostering staff</vt:lpstr>
      <vt:lpstr>Minimise impact of function</vt:lpstr>
      <vt:lpstr>Minimise impact of function</vt:lpstr>
      <vt:lpstr>Minimise impact of function</vt:lpstr>
      <vt:lpstr>Minimise impact of function</vt:lpstr>
      <vt:lpstr>Minimise impact of function</vt:lpstr>
      <vt:lpstr>Minimise impact of function</vt:lpstr>
      <vt:lpstr>Arrange external services</vt:lpstr>
      <vt:lpstr>Arrange external services</vt:lpstr>
      <vt:lpstr>Arrange external services</vt:lpstr>
      <vt:lpstr>Arrange external services</vt:lpstr>
      <vt:lpstr>Arrange external services</vt:lpstr>
      <vt:lpstr>Arrange external services</vt:lpstr>
      <vt:lpstr>Purchase necessary stock</vt:lpstr>
      <vt:lpstr>Purchase necessary stock</vt:lpstr>
      <vt:lpstr>Purchase necessary stock</vt:lpstr>
      <vt:lpstr>Purchase necessary stock</vt:lpstr>
      <vt:lpstr>Purchase necessary stock</vt:lpstr>
      <vt:lpstr>Purchase necessary stock</vt:lpstr>
      <vt:lpstr>Purchase necessary stock</vt:lpstr>
      <vt:lpstr>Purchase necessary stock</vt:lpstr>
      <vt:lpstr>Delivery of stock</vt:lpstr>
      <vt:lpstr>Delivery of stock</vt:lpstr>
      <vt:lpstr>Prepare Running Sheet</vt:lpstr>
      <vt:lpstr>Prepare Running Sheet</vt:lpstr>
      <vt:lpstr>Prepare Running Sheet</vt:lpstr>
      <vt:lpstr>Prepare Running Sheet</vt:lpstr>
      <vt:lpstr>Conduct pre-function briefings</vt:lpstr>
      <vt:lpstr>Conduct pre-function briefings</vt:lpstr>
      <vt:lpstr>Conduct pre-function briefings</vt:lpstr>
      <vt:lpstr>Conduct pre-function briefings</vt:lpstr>
      <vt:lpstr>Conduct pre-function briefings</vt:lpstr>
      <vt:lpstr>Conduct pre-function briefings</vt:lpstr>
      <vt:lpstr>Conduct pre-function briefings</vt:lpstr>
      <vt:lpstr>Finalising function details</vt:lpstr>
      <vt:lpstr>Finalising function details</vt:lpstr>
      <vt:lpstr>Finalising function details</vt:lpstr>
      <vt:lpstr>Monitor set up of function</vt:lpstr>
      <vt:lpstr>Mise-en-place</vt:lpstr>
      <vt:lpstr>Mise-en-place</vt:lpstr>
      <vt:lpstr>Mise-en-place</vt:lpstr>
      <vt:lpstr>Using checklists</vt:lpstr>
      <vt:lpstr>Using checklists</vt:lpstr>
      <vt:lpstr>Using checklists</vt:lpstr>
      <vt:lpstr>Planning set up</vt:lpstr>
      <vt:lpstr>Planning set up</vt:lpstr>
      <vt:lpstr>Mise-en-place</vt:lpstr>
      <vt:lpstr>Mise-en-place</vt:lpstr>
      <vt:lpstr>Mise-en-place</vt:lpstr>
      <vt:lpstr>Mise-en-place</vt:lpstr>
      <vt:lpstr>Mise-en-place</vt:lpstr>
      <vt:lpstr>Mise-en-place</vt:lpstr>
      <vt:lpstr>Mise-en-place</vt:lpstr>
      <vt:lpstr>Mise-en-place</vt:lpstr>
      <vt:lpstr>Mise-en-place</vt:lpstr>
      <vt:lpstr>Monitor service delivery</vt:lpstr>
      <vt:lpstr>Monitor service delivery</vt:lpstr>
      <vt:lpstr>Monitoring the function</vt:lpstr>
      <vt:lpstr>Monitoring the function</vt:lpstr>
      <vt:lpstr>Taking action to address service problems </vt:lpstr>
      <vt:lpstr>Taking action to address service problems </vt:lpstr>
      <vt:lpstr>Slide 203</vt:lpstr>
      <vt:lpstr>Follow-up after functions</vt:lpstr>
      <vt:lpstr>Obtain feedback from customers</vt:lpstr>
      <vt:lpstr>Client feedback</vt:lpstr>
      <vt:lpstr>Client feedback</vt:lpstr>
      <vt:lpstr>Staff feedback</vt:lpstr>
      <vt:lpstr>Staff feedback</vt:lpstr>
      <vt:lpstr>External provider feedback</vt:lpstr>
      <vt:lpstr>Obtain payment for function</vt:lpstr>
      <vt:lpstr>Preparing the account </vt:lpstr>
      <vt:lpstr>Preparing the account </vt:lpstr>
      <vt:lpstr>Preparing the account </vt:lpstr>
      <vt:lpstr>Preparing the account </vt:lpstr>
      <vt:lpstr>Preparing the account </vt:lpstr>
      <vt:lpstr>Complete administration documentation</vt:lpstr>
      <vt:lpstr>Complete administration documentation</vt:lpstr>
      <vt:lpstr>Complete administration documentation</vt:lpstr>
      <vt:lpstr>Complete administration documentation</vt:lpstr>
      <vt:lpstr>De-brief staff</vt:lpstr>
      <vt:lpstr>Debrief staff</vt:lpstr>
      <vt:lpstr>De-brief staff</vt:lpstr>
      <vt:lpstr>De-brief staff</vt:lpstr>
      <vt:lpstr>Slide 225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ORGANISE FUNCTIONS</dc:title>
  <dc:creator>fgvghyujil</dc:creator>
  <cp:lastModifiedBy>Daniel James Chee</cp:lastModifiedBy>
  <cp:revision>283</cp:revision>
  <dcterms:created xsi:type="dcterms:W3CDTF">2012-10-07T10:58:03Z</dcterms:created>
  <dcterms:modified xsi:type="dcterms:W3CDTF">2013-01-15T03:18:07Z</dcterms:modified>
</cp:coreProperties>
</file>