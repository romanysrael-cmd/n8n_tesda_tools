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22"/>
  </p:notesMasterIdLst>
  <p:handoutMasterIdLst>
    <p:handoutMasterId r:id="rId123"/>
  </p:handoutMasterIdLst>
  <p:sldIdLst>
    <p:sldId id="256" r:id="rId2"/>
    <p:sldId id="257" r:id="rId3"/>
    <p:sldId id="258" r:id="rId4"/>
    <p:sldId id="259" r:id="rId5"/>
    <p:sldId id="260" r:id="rId6"/>
    <p:sldId id="288" r:id="rId7"/>
    <p:sldId id="289" r:id="rId8"/>
    <p:sldId id="290" r:id="rId9"/>
    <p:sldId id="291" r:id="rId10"/>
    <p:sldId id="292" r:id="rId11"/>
    <p:sldId id="293" r:id="rId12"/>
    <p:sldId id="294" r:id="rId13"/>
    <p:sldId id="295" r:id="rId14"/>
    <p:sldId id="296" r:id="rId15"/>
    <p:sldId id="265" r:id="rId16"/>
    <p:sldId id="266" r:id="rId17"/>
    <p:sldId id="267" r:id="rId18"/>
    <p:sldId id="297" r:id="rId19"/>
    <p:sldId id="298" r:id="rId20"/>
    <p:sldId id="299" r:id="rId21"/>
    <p:sldId id="300" r:id="rId22"/>
    <p:sldId id="301" r:id="rId23"/>
    <p:sldId id="302" r:id="rId24"/>
    <p:sldId id="303" r:id="rId25"/>
    <p:sldId id="304" r:id="rId26"/>
    <p:sldId id="305" r:id="rId27"/>
    <p:sldId id="306" r:id="rId28"/>
    <p:sldId id="307" r:id="rId29"/>
    <p:sldId id="309" r:id="rId30"/>
    <p:sldId id="308" r:id="rId31"/>
    <p:sldId id="310" r:id="rId32"/>
    <p:sldId id="311" r:id="rId33"/>
    <p:sldId id="312" r:id="rId34"/>
    <p:sldId id="313" r:id="rId35"/>
    <p:sldId id="314" r:id="rId36"/>
    <p:sldId id="315" r:id="rId37"/>
    <p:sldId id="316" r:id="rId38"/>
    <p:sldId id="317" r:id="rId39"/>
    <p:sldId id="318" r:id="rId40"/>
    <p:sldId id="319" r:id="rId41"/>
    <p:sldId id="320" r:id="rId42"/>
    <p:sldId id="321" r:id="rId43"/>
    <p:sldId id="323" r:id="rId44"/>
    <p:sldId id="322" r:id="rId45"/>
    <p:sldId id="325" r:id="rId46"/>
    <p:sldId id="324" r:id="rId47"/>
    <p:sldId id="326" r:id="rId48"/>
    <p:sldId id="327" r:id="rId49"/>
    <p:sldId id="328" r:id="rId50"/>
    <p:sldId id="329" r:id="rId51"/>
    <p:sldId id="330" r:id="rId52"/>
    <p:sldId id="331" r:id="rId53"/>
    <p:sldId id="332" r:id="rId54"/>
    <p:sldId id="333" r:id="rId55"/>
    <p:sldId id="334" r:id="rId56"/>
    <p:sldId id="335" r:id="rId57"/>
    <p:sldId id="336" r:id="rId58"/>
    <p:sldId id="337" r:id="rId59"/>
    <p:sldId id="339" r:id="rId60"/>
    <p:sldId id="338" r:id="rId61"/>
    <p:sldId id="340" r:id="rId62"/>
    <p:sldId id="341" r:id="rId63"/>
    <p:sldId id="342" r:id="rId64"/>
    <p:sldId id="343" r:id="rId65"/>
    <p:sldId id="344" r:id="rId66"/>
    <p:sldId id="345" r:id="rId67"/>
    <p:sldId id="346" r:id="rId68"/>
    <p:sldId id="347" r:id="rId69"/>
    <p:sldId id="348" r:id="rId70"/>
    <p:sldId id="349" r:id="rId71"/>
    <p:sldId id="274" r:id="rId72"/>
    <p:sldId id="275" r:id="rId73"/>
    <p:sldId id="350" r:id="rId74"/>
    <p:sldId id="351" r:id="rId75"/>
    <p:sldId id="352" r:id="rId76"/>
    <p:sldId id="353" r:id="rId77"/>
    <p:sldId id="354" r:id="rId78"/>
    <p:sldId id="355" r:id="rId79"/>
    <p:sldId id="356" r:id="rId80"/>
    <p:sldId id="357" r:id="rId81"/>
    <p:sldId id="358" r:id="rId82"/>
    <p:sldId id="359" r:id="rId83"/>
    <p:sldId id="360" r:id="rId84"/>
    <p:sldId id="361" r:id="rId85"/>
    <p:sldId id="362" r:id="rId86"/>
    <p:sldId id="363" r:id="rId87"/>
    <p:sldId id="364" r:id="rId88"/>
    <p:sldId id="365" r:id="rId89"/>
    <p:sldId id="366" r:id="rId90"/>
    <p:sldId id="367" r:id="rId91"/>
    <p:sldId id="368" r:id="rId92"/>
    <p:sldId id="369" r:id="rId93"/>
    <p:sldId id="370" r:id="rId94"/>
    <p:sldId id="371" r:id="rId95"/>
    <p:sldId id="372" r:id="rId96"/>
    <p:sldId id="373" r:id="rId97"/>
    <p:sldId id="281" r:id="rId98"/>
    <p:sldId id="282" r:id="rId99"/>
    <p:sldId id="374" r:id="rId100"/>
    <p:sldId id="375" r:id="rId101"/>
    <p:sldId id="376" r:id="rId102"/>
    <p:sldId id="377" r:id="rId103"/>
    <p:sldId id="378" r:id="rId104"/>
    <p:sldId id="379" r:id="rId105"/>
    <p:sldId id="380" r:id="rId106"/>
    <p:sldId id="381" r:id="rId107"/>
    <p:sldId id="382" r:id="rId108"/>
    <p:sldId id="383" r:id="rId109"/>
    <p:sldId id="384" r:id="rId110"/>
    <p:sldId id="385" r:id="rId111"/>
    <p:sldId id="386" r:id="rId112"/>
    <p:sldId id="387" r:id="rId113"/>
    <p:sldId id="388" r:id="rId114"/>
    <p:sldId id="389" r:id="rId115"/>
    <p:sldId id="390" r:id="rId116"/>
    <p:sldId id="391" r:id="rId117"/>
    <p:sldId id="392" r:id="rId118"/>
    <p:sldId id="393" r:id="rId119"/>
    <p:sldId id="394" r:id="rId120"/>
    <p:sldId id="395" r:id="rId121"/>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368" autoAdjust="0"/>
    <p:restoredTop sz="86748" autoAdjust="0"/>
  </p:normalViewPr>
  <p:slideViewPr>
    <p:cSldViewPr>
      <p:cViewPr>
        <p:scale>
          <a:sx n="72" d="100"/>
          <a:sy n="72" d="100"/>
        </p:scale>
        <p:origin x="-269"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handoutMaster" Target="handoutMasters/handout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pPr/>
              <a:t>1/13/2015</a:t>
            </a:fld>
            <a:endParaRPr lang="en-GB" dirty="0"/>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pPr/>
              <a:t>‹#›</a:t>
            </a:fld>
            <a:endParaRPr lang="en-GB" dirty="0"/>
          </a:p>
        </p:txBody>
      </p:sp>
    </p:spTree>
    <p:extLst>
      <p:ext uri="{BB962C8B-B14F-4D97-AF65-F5344CB8AC3E}">
        <p14:creationId xmlns:p14="http://schemas.microsoft.com/office/powerpoint/2010/main" val="1493299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vl1pPr>
          </a:lstStyle>
          <a:p>
            <a:fld id="{BC34F173-2430-41D6-9CA5-C9CD3BDF7E96}" type="datetimeFigureOut">
              <a:rPr lang="en-US" smtClean="0"/>
              <a:pPr/>
              <a:t>1/13/2015</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3155990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dirty="0" smtClean="0">
                <a:solidFill>
                  <a:schemeClr val="tx1"/>
                </a:solidFill>
                <a:effectLst/>
                <a:latin typeface="+mn-lt"/>
                <a:ea typeface="+mn-ea"/>
                <a:cs typeface="+mn-cs"/>
              </a:rPr>
              <a:t>Trainer welcomes students to class.</a:t>
            </a:r>
          </a:p>
          <a:p>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latin typeface="+mn-lt"/>
                <a:ea typeface="+mn-ea"/>
                <a:cs typeface="+mn-cs"/>
              </a:rPr>
              <a:t>Trainer advises this Unit comprises four Elements, as listed on the slide explaining:</a:t>
            </a:r>
          </a:p>
          <a:p>
            <a:r>
              <a:rPr lang="en-AU" sz="1200" kern="1200" baseline="0" dirty="0" smtClean="0">
                <a:solidFill>
                  <a:schemeClr val="tx1"/>
                </a:solidFill>
                <a:latin typeface="+mn-lt"/>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latin typeface="+mn-lt"/>
                <a:ea typeface="+mn-ea"/>
                <a:cs typeface="+mn-cs"/>
              </a:rPr>
              <a:t>• Trainees can obtain more detail from their Trainee Manual</a:t>
            </a:r>
          </a:p>
          <a:p>
            <a:r>
              <a:rPr lang="en-AU" sz="1200" kern="1200" baseline="0" dirty="0" smtClean="0">
                <a:solidFill>
                  <a:schemeClr val="tx1"/>
                </a:solidFill>
                <a:latin typeface="+mn-lt"/>
                <a:ea typeface="+mn-ea"/>
                <a:cs typeface="+mn-cs"/>
              </a:rPr>
              <a:t>• At times the course presents advice and information about various protocols but where their workplace requirements differ to what is presented, the workplace practices and standards, as well as policies and procedures must be observed.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latin typeface="+mn-lt"/>
                <a:ea typeface="+mn-ea"/>
                <a:cs typeface="+mn-cs"/>
              </a:rPr>
              <a:t>Trainer advises that assessment for this Unit may take several forms all of which are aimed at verifying they have achieved competency for the Unit as required.</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Trainer indicates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is a quotation?</a:t>
            </a:r>
          </a:p>
          <a:p>
            <a:pPr>
              <a:buFont typeface="Arial" pitchFamily="34" charset="0"/>
              <a:buChar char="•"/>
            </a:pPr>
            <a:r>
              <a:rPr lang="en-AU" sz="1200" kern="1200" baseline="0" dirty="0" smtClean="0">
                <a:solidFill>
                  <a:schemeClr val="tx1"/>
                </a:solidFill>
                <a:latin typeface="+mn-lt"/>
                <a:ea typeface="+mn-ea"/>
                <a:cs typeface="+mn-cs"/>
              </a:rPr>
              <a:t>What is it’s purpose?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 &amp; Show</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information is included in a proposal?</a:t>
            </a:r>
          </a:p>
          <a:p>
            <a:pPr>
              <a:buFont typeface="Arial" pitchFamily="34" charset="0"/>
              <a:buChar char="•"/>
            </a:pPr>
            <a:r>
              <a:rPr lang="en-AU" sz="1200" kern="1200" baseline="0" dirty="0" smtClean="0">
                <a:solidFill>
                  <a:schemeClr val="tx1"/>
                </a:solidFill>
                <a:latin typeface="+mn-lt"/>
                <a:ea typeface="+mn-ea"/>
                <a:cs typeface="+mn-cs"/>
              </a:rPr>
              <a:t>Trainer to show audience copies of an itinerary.</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Questions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How do most proposals come in?</a:t>
            </a:r>
          </a:p>
          <a:p>
            <a:pPr>
              <a:buFont typeface="Arial" pitchFamily="34" charset="0"/>
              <a:buChar char="•"/>
            </a:pPr>
            <a:r>
              <a:rPr lang="en-AU" sz="1200" kern="1200" baseline="0" dirty="0" smtClean="0">
                <a:solidFill>
                  <a:schemeClr val="tx1"/>
                </a:solidFill>
                <a:latin typeface="+mn-lt"/>
                <a:ea typeface="+mn-ea"/>
                <a:cs typeface="+mn-cs"/>
              </a:rPr>
              <a:t>Who uses travel agents to prepare travel documentation?</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Questions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How would quotations vary taking into consideration these points?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Questions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How would quotations vary taking into consideration these points?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Questions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How can you collect their personal information?</a:t>
            </a:r>
          </a:p>
          <a:p>
            <a:pPr>
              <a:buFont typeface="Arial" pitchFamily="34" charset="0"/>
              <a:buChar char="•"/>
            </a:pPr>
            <a:r>
              <a:rPr lang="en-AU" sz="1200" kern="1200" baseline="0" dirty="0" smtClean="0">
                <a:solidFill>
                  <a:schemeClr val="tx1"/>
                </a:solidFill>
                <a:latin typeface="+mn-lt"/>
                <a:ea typeface="+mn-ea"/>
                <a:cs typeface="+mn-cs"/>
              </a:rPr>
              <a:t>How can you identify travel needs?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General Discussion </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Discuss information to be collected for each of these points.</a:t>
            </a:r>
          </a:p>
          <a:p>
            <a:endParaRPr lang="en-AU" sz="1200" kern="1200" baseline="0" dirty="0" smtClean="0">
              <a:solidFill>
                <a:schemeClr val="tx1"/>
              </a:solidFill>
              <a:latin typeface="+mn-lt"/>
              <a:ea typeface="+mn-ea"/>
              <a:cs typeface="+mn-cs"/>
            </a:endParaRPr>
          </a:p>
          <a:p>
            <a:r>
              <a:rPr lang="en-AU" sz="1200" b="1" kern="1200" baseline="0" dirty="0" smtClean="0">
                <a:solidFill>
                  <a:schemeClr val="tx1"/>
                </a:solidFill>
                <a:latin typeface="+mn-lt"/>
                <a:ea typeface="+mn-ea"/>
                <a:cs typeface="+mn-cs"/>
              </a:rPr>
              <a:t>Role Play</a:t>
            </a:r>
          </a:p>
          <a:p>
            <a:r>
              <a:rPr lang="en-AU" sz="1200" kern="1200" baseline="0" dirty="0" smtClean="0">
                <a:solidFill>
                  <a:schemeClr val="tx1"/>
                </a:solidFill>
                <a:latin typeface="+mn-lt"/>
                <a:ea typeface="+mn-ea"/>
                <a:cs typeface="+mn-cs"/>
              </a:rPr>
              <a:t>In pairs, one person is the travel agent and the other person the customer seeking a travel quotation.</a:t>
            </a:r>
          </a:p>
          <a:p>
            <a:r>
              <a:rPr lang="en-AU" sz="1200" kern="1200" baseline="0" dirty="0" smtClean="0">
                <a:solidFill>
                  <a:schemeClr val="tx1"/>
                </a:solidFill>
                <a:latin typeface="+mn-lt"/>
                <a:ea typeface="+mn-ea"/>
                <a:cs typeface="+mn-cs"/>
              </a:rPr>
              <a:t>The travel quotation will be based on the thoughts of the customer.</a:t>
            </a:r>
          </a:p>
          <a:p>
            <a:r>
              <a:rPr lang="en-AU" sz="1200" kern="1200" baseline="0" dirty="0" smtClean="0">
                <a:solidFill>
                  <a:schemeClr val="tx1"/>
                </a:solidFill>
                <a:latin typeface="+mn-lt"/>
                <a:ea typeface="+mn-ea"/>
                <a:cs typeface="+mn-cs"/>
              </a:rPr>
              <a:t>The travel agent must gather information and write answers done in an accurate manner.</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General Discussion </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Discuss information to be collected for each of these points.</a:t>
            </a:r>
          </a:p>
          <a:p>
            <a:endParaRPr lang="en-AU" sz="1200" kern="1200" baseline="0" dirty="0" smtClean="0">
              <a:solidFill>
                <a:schemeClr val="tx1"/>
              </a:solidFill>
              <a:latin typeface="+mn-lt"/>
              <a:ea typeface="+mn-ea"/>
              <a:cs typeface="+mn-cs"/>
            </a:endParaRPr>
          </a:p>
          <a:p>
            <a:r>
              <a:rPr lang="en-AU" sz="1200" b="1" kern="1200" baseline="0" dirty="0" smtClean="0">
                <a:solidFill>
                  <a:schemeClr val="tx1"/>
                </a:solidFill>
                <a:latin typeface="+mn-lt"/>
                <a:ea typeface="+mn-ea"/>
                <a:cs typeface="+mn-cs"/>
              </a:rPr>
              <a:t>Role Play</a:t>
            </a:r>
          </a:p>
          <a:p>
            <a:r>
              <a:rPr lang="en-AU" sz="1200" kern="1200" baseline="0" dirty="0" smtClean="0">
                <a:solidFill>
                  <a:schemeClr val="tx1"/>
                </a:solidFill>
                <a:latin typeface="+mn-lt"/>
                <a:ea typeface="+mn-ea"/>
                <a:cs typeface="+mn-cs"/>
              </a:rPr>
              <a:t>In pairs, one person is the travel agent and the other person the customer seeking a travel quotation.</a:t>
            </a:r>
          </a:p>
          <a:p>
            <a:r>
              <a:rPr lang="en-AU" sz="1200" kern="1200" baseline="0" dirty="0" smtClean="0">
                <a:solidFill>
                  <a:schemeClr val="tx1"/>
                </a:solidFill>
                <a:latin typeface="+mn-lt"/>
                <a:ea typeface="+mn-ea"/>
                <a:cs typeface="+mn-cs"/>
              </a:rPr>
              <a:t>The travel quotation will be based on the thoughts of the customer.</a:t>
            </a:r>
          </a:p>
          <a:p>
            <a:r>
              <a:rPr lang="en-AU" sz="1200" kern="1200" baseline="0" dirty="0" smtClean="0">
                <a:solidFill>
                  <a:schemeClr val="tx1"/>
                </a:solidFill>
                <a:latin typeface="+mn-lt"/>
                <a:ea typeface="+mn-ea"/>
                <a:cs typeface="+mn-cs"/>
              </a:rPr>
              <a:t>The travel agent must gather information and write answers done in an accurate manner.</a:t>
            </a:r>
          </a:p>
          <a:p>
            <a:pPr>
              <a:buFont typeface="Arial" pitchFamily="34" charset="0"/>
              <a:buChar char="•"/>
            </a:pPr>
            <a:endParaRPr lang="en-AU"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General Discussion </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Discuss information to be collected for each of these points.</a:t>
            </a:r>
          </a:p>
          <a:p>
            <a:endParaRPr lang="en-AU" sz="1200" kern="1200" baseline="0" dirty="0" smtClean="0">
              <a:solidFill>
                <a:schemeClr val="tx1"/>
              </a:solidFill>
              <a:latin typeface="+mn-lt"/>
              <a:ea typeface="+mn-ea"/>
              <a:cs typeface="+mn-cs"/>
            </a:endParaRPr>
          </a:p>
          <a:p>
            <a:r>
              <a:rPr lang="en-AU" sz="1200" b="1" kern="1200" baseline="0" dirty="0" smtClean="0">
                <a:solidFill>
                  <a:schemeClr val="tx1"/>
                </a:solidFill>
                <a:latin typeface="+mn-lt"/>
                <a:ea typeface="+mn-ea"/>
                <a:cs typeface="+mn-cs"/>
              </a:rPr>
              <a:t>Role Play</a:t>
            </a:r>
          </a:p>
          <a:p>
            <a:r>
              <a:rPr lang="en-AU" sz="1200" kern="1200" baseline="0" dirty="0" smtClean="0">
                <a:solidFill>
                  <a:schemeClr val="tx1"/>
                </a:solidFill>
                <a:latin typeface="+mn-lt"/>
                <a:ea typeface="+mn-ea"/>
                <a:cs typeface="+mn-cs"/>
              </a:rPr>
              <a:t>In pairs, one person is the travel agent and the other person the customer seeking a travel quotation.</a:t>
            </a:r>
          </a:p>
          <a:p>
            <a:r>
              <a:rPr lang="en-AU" sz="1200" kern="1200" baseline="0" dirty="0" smtClean="0">
                <a:solidFill>
                  <a:schemeClr val="tx1"/>
                </a:solidFill>
                <a:latin typeface="+mn-lt"/>
                <a:ea typeface="+mn-ea"/>
                <a:cs typeface="+mn-cs"/>
              </a:rPr>
              <a:t>The travel quotation will be based on the thoughts of the customer.</a:t>
            </a:r>
          </a:p>
          <a:p>
            <a:r>
              <a:rPr lang="en-AU" sz="1200" kern="1200" baseline="0" dirty="0" smtClean="0">
                <a:solidFill>
                  <a:schemeClr val="tx1"/>
                </a:solidFill>
                <a:latin typeface="+mn-lt"/>
                <a:ea typeface="+mn-ea"/>
                <a:cs typeface="+mn-cs"/>
              </a:rPr>
              <a:t>The travel agent must gather information and write answers done in an accurate manner.</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General Discussion </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Discuss information to be collected for each of these points.</a:t>
            </a:r>
          </a:p>
          <a:p>
            <a:endParaRPr lang="en-AU" sz="1200" kern="1200" baseline="0" dirty="0" smtClean="0">
              <a:solidFill>
                <a:schemeClr val="tx1"/>
              </a:solidFill>
              <a:latin typeface="+mn-lt"/>
              <a:ea typeface="+mn-ea"/>
              <a:cs typeface="+mn-cs"/>
            </a:endParaRPr>
          </a:p>
          <a:p>
            <a:r>
              <a:rPr lang="en-AU" sz="1200" b="1" kern="1200" baseline="0" dirty="0" smtClean="0">
                <a:solidFill>
                  <a:schemeClr val="tx1"/>
                </a:solidFill>
                <a:latin typeface="+mn-lt"/>
                <a:ea typeface="+mn-ea"/>
                <a:cs typeface="+mn-cs"/>
              </a:rPr>
              <a:t>Role Play</a:t>
            </a:r>
          </a:p>
          <a:p>
            <a:r>
              <a:rPr lang="en-AU" sz="1200" kern="1200" baseline="0" dirty="0" smtClean="0">
                <a:solidFill>
                  <a:schemeClr val="tx1"/>
                </a:solidFill>
                <a:latin typeface="+mn-lt"/>
                <a:ea typeface="+mn-ea"/>
                <a:cs typeface="+mn-cs"/>
              </a:rPr>
              <a:t>In pairs, one person is the travel agent and the other person the customer seeking a travel quotation.</a:t>
            </a:r>
          </a:p>
          <a:p>
            <a:r>
              <a:rPr lang="en-AU" sz="1200" kern="1200" baseline="0" dirty="0" smtClean="0">
                <a:solidFill>
                  <a:schemeClr val="tx1"/>
                </a:solidFill>
                <a:latin typeface="+mn-lt"/>
                <a:ea typeface="+mn-ea"/>
                <a:cs typeface="+mn-cs"/>
              </a:rPr>
              <a:t>The travel quotation will be based on the thoughts of the customer.</a:t>
            </a:r>
          </a:p>
          <a:p>
            <a:r>
              <a:rPr lang="en-AU" sz="1200" kern="1200" baseline="0" dirty="0" smtClean="0">
                <a:solidFill>
                  <a:schemeClr val="tx1"/>
                </a:solidFill>
                <a:latin typeface="+mn-lt"/>
                <a:ea typeface="+mn-ea"/>
                <a:cs typeface="+mn-cs"/>
              </a:rPr>
              <a:t>The travel agent must gather information and write answers done in an accurate manner.</a:t>
            </a:r>
          </a:p>
          <a:p>
            <a:pPr>
              <a:buFont typeface="Arial" pitchFamily="34" charset="0"/>
              <a:buChar char="•"/>
            </a:pP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information is needed to prepare the quotation?</a:t>
            </a:r>
          </a:p>
          <a:p>
            <a:pPr>
              <a:buFont typeface="Arial" pitchFamily="34" charset="0"/>
              <a:buChar char="•"/>
            </a:pPr>
            <a:r>
              <a:rPr lang="en-AU" sz="1200" kern="1200" baseline="0" dirty="0" smtClean="0">
                <a:solidFill>
                  <a:schemeClr val="tx1"/>
                </a:solidFill>
                <a:latin typeface="+mn-lt"/>
                <a:ea typeface="+mn-ea"/>
                <a:cs typeface="+mn-cs"/>
              </a:rPr>
              <a:t>What activities are associated with preparing a quotation?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Questions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How can information be recorded?</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 and Questions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Discuss these considerations.</a:t>
            </a:r>
          </a:p>
          <a:p>
            <a:pPr>
              <a:buFont typeface="Arial" pitchFamily="34" charset="0"/>
              <a:buChar char="•"/>
            </a:pPr>
            <a:r>
              <a:rPr lang="en-AU" sz="1200" kern="1200" baseline="0" dirty="0" smtClean="0">
                <a:solidFill>
                  <a:schemeClr val="tx1"/>
                </a:solidFill>
                <a:latin typeface="+mn-lt"/>
                <a:ea typeface="+mn-ea"/>
                <a:cs typeface="+mn-cs"/>
              </a:rPr>
              <a:t>How would they affect the construction of a quotation?</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process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Trainer to discuss the process providing demonstrations or examples.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Questions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Why is it important to record information accurately?</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Questions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What are the benefits of record information accurately?</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Explanation of codes and quiz</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Trainer to show audience a range of industry codes for each of the points in the slide.</a:t>
            </a:r>
          </a:p>
          <a:p>
            <a:pPr>
              <a:buFont typeface="Arial" pitchFamily="34" charset="0"/>
              <a:buChar char="•"/>
            </a:pPr>
            <a:r>
              <a:rPr lang="en-AU" sz="1200" kern="1200" baseline="0" dirty="0" smtClean="0">
                <a:solidFill>
                  <a:schemeClr val="tx1"/>
                </a:solidFill>
                <a:latin typeface="+mn-lt"/>
                <a:ea typeface="+mn-ea"/>
                <a:cs typeface="+mn-cs"/>
              </a:rPr>
              <a:t>Trainer to prepare a quiz based on industry codes.</a:t>
            </a:r>
          </a:p>
          <a:p>
            <a:pPr>
              <a:buFont typeface="Arial" pitchFamily="34" charset="0"/>
              <a:buChar char="•"/>
            </a:pPr>
            <a:endParaRPr lang="en-AU" sz="1200" kern="1200" baseline="0" dirty="0" smtClean="0">
              <a:solidFill>
                <a:schemeClr val="tx1"/>
              </a:solidFill>
              <a:latin typeface="+mn-lt"/>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Demonstration and activity</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Trainer to show audience copies of a planner.</a:t>
            </a:r>
          </a:p>
          <a:p>
            <a:pPr>
              <a:buFont typeface="Arial" pitchFamily="34" charset="0"/>
              <a:buChar char="•"/>
            </a:pPr>
            <a:r>
              <a:rPr lang="en-AU" sz="1200" kern="1200" baseline="0" dirty="0" smtClean="0">
                <a:solidFill>
                  <a:schemeClr val="tx1"/>
                </a:solidFill>
                <a:latin typeface="+mn-lt"/>
                <a:ea typeface="+mn-ea"/>
                <a:cs typeface="+mn-cs"/>
              </a:rPr>
              <a:t>Audience to create their own planners or think of questions they would include in their own planners.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Discuss the importance of these points in a quotation.</a:t>
            </a:r>
          </a:p>
          <a:p>
            <a:pPr>
              <a:buFont typeface="Arial" pitchFamily="34" charset="0"/>
              <a:buChar char="•"/>
            </a:pPr>
            <a:r>
              <a:rPr lang="en-AU" sz="1200" kern="1200" baseline="0" dirty="0" smtClean="0">
                <a:solidFill>
                  <a:schemeClr val="tx1"/>
                </a:solidFill>
                <a:latin typeface="+mn-lt"/>
                <a:ea typeface="+mn-ea"/>
                <a:cs typeface="+mn-cs"/>
              </a:rPr>
              <a:t>Provide examples or specific pieces of information that must be included for each point.</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Discuss the importance of these points in a quotation.</a:t>
            </a:r>
          </a:p>
          <a:p>
            <a:pPr>
              <a:buFont typeface="Arial" pitchFamily="34" charset="0"/>
              <a:buChar char="•"/>
            </a:pPr>
            <a:r>
              <a:rPr lang="en-AU" sz="1200" kern="1200" baseline="0" dirty="0" smtClean="0">
                <a:solidFill>
                  <a:schemeClr val="tx1"/>
                </a:solidFill>
                <a:latin typeface="+mn-lt"/>
                <a:ea typeface="+mn-ea"/>
                <a:cs typeface="+mn-cs"/>
              </a:rPr>
              <a:t>Provide examples or specific pieces of information that must be included for each point.</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Discuss the importance of these points in a quotation.</a:t>
            </a:r>
          </a:p>
          <a:p>
            <a:pPr>
              <a:buFont typeface="Arial" pitchFamily="34" charset="0"/>
              <a:buChar char="•"/>
            </a:pPr>
            <a:r>
              <a:rPr lang="en-AU" sz="1200" kern="1200" baseline="0" dirty="0" smtClean="0">
                <a:solidFill>
                  <a:schemeClr val="tx1"/>
                </a:solidFill>
                <a:latin typeface="+mn-lt"/>
                <a:ea typeface="+mn-ea"/>
                <a:cs typeface="+mn-cs"/>
              </a:rPr>
              <a:t>Provide examples or specific pieces of information that must be included for each point.</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Identify products and services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Audience to prepare a list of possible products and services</a:t>
            </a:r>
          </a:p>
          <a:p>
            <a:pPr>
              <a:buFont typeface="Arial" pitchFamily="34" charset="0"/>
              <a:buNone/>
            </a:pPr>
            <a:endParaRPr lang="en-AU" sz="1200" kern="1200" baseline="0" dirty="0" smtClean="0">
              <a:solidFill>
                <a:schemeClr val="tx1"/>
              </a:solidFill>
              <a:latin typeface="+mn-lt"/>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Identify products and services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Audience to prepare a list of possible products and services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Identify products and services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Audience to prepare a list of possible products and services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Identify products and services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Audience to prepare a list of possible products and services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Identify sources of information</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Trainer to show sources of information</a:t>
            </a:r>
          </a:p>
          <a:p>
            <a:pPr>
              <a:buFont typeface="Arial" pitchFamily="34" charset="0"/>
              <a:buChar char="•"/>
            </a:pPr>
            <a:r>
              <a:rPr lang="en-AU" sz="1200" kern="1200" baseline="0" dirty="0" smtClean="0">
                <a:solidFill>
                  <a:schemeClr val="tx1"/>
                </a:solidFill>
                <a:latin typeface="+mn-lt"/>
                <a:ea typeface="+mn-ea"/>
                <a:cs typeface="+mn-cs"/>
              </a:rPr>
              <a:t>What information can be gathered from each source?</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Identify sources of information</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Trainer to show sources of information</a:t>
            </a:r>
          </a:p>
          <a:p>
            <a:pPr>
              <a:buFont typeface="Arial" pitchFamily="34" charset="0"/>
              <a:buChar char="•"/>
            </a:pPr>
            <a:r>
              <a:rPr lang="en-AU" sz="1200" kern="1200" baseline="0" dirty="0" smtClean="0">
                <a:solidFill>
                  <a:schemeClr val="tx1"/>
                </a:solidFill>
                <a:latin typeface="+mn-lt"/>
                <a:ea typeface="+mn-ea"/>
                <a:cs typeface="+mn-cs"/>
              </a:rPr>
              <a:t>What information can be gathered from each source?</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Identify sources of information</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Trainer to show sources of information</a:t>
            </a:r>
          </a:p>
          <a:p>
            <a:pPr>
              <a:buFont typeface="Arial" pitchFamily="34" charset="0"/>
              <a:buChar char="•"/>
            </a:pPr>
            <a:r>
              <a:rPr lang="en-AU" sz="1200" kern="1200" baseline="0" dirty="0" smtClean="0">
                <a:solidFill>
                  <a:schemeClr val="tx1"/>
                </a:solidFill>
                <a:latin typeface="+mn-lt"/>
                <a:ea typeface="+mn-ea"/>
                <a:cs typeface="+mn-cs"/>
              </a:rPr>
              <a:t>What information can be gathered from each source?</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Identify sources of information</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Trainer to show sources of information</a:t>
            </a:r>
          </a:p>
          <a:p>
            <a:pPr>
              <a:buFont typeface="Arial" pitchFamily="34" charset="0"/>
              <a:buChar char="•"/>
            </a:pPr>
            <a:r>
              <a:rPr lang="en-AU" sz="1200" kern="1200" baseline="0" dirty="0" smtClean="0">
                <a:solidFill>
                  <a:schemeClr val="tx1"/>
                </a:solidFill>
                <a:latin typeface="+mn-lt"/>
                <a:ea typeface="+mn-ea"/>
                <a:cs typeface="+mn-cs"/>
              </a:rPr>
              <a:t>What information can be gathered from each source?</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Identify sources of information</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Trainer to show sources of information</a:t>
            </a:r>
          </a:p>
          <a:p>
            <a:pPr>
              <a:buFont typeface="Arial" pitchFamily="34" charset="0"/>
              <a:buChar char="•"/>
            </a:pPr>
            <a:r>
              <a:rPr lang="en-AU" sz="1200" kern="1200" baseline="0" dirty="0" smtClean="0">
                <a:solidFill>
                  <a:schemeClr val="tx1"/>
                </a:solidFill>
                <a:latin typeface="+mn-lt"/>
                <a:ea typeface="+mn-ea"/>
                <a:cs typeface="+mn-cs"/>
              </a:rPr>
              <a:t>What information can be gathered from each source?</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Identify suppliers &amp; Research activity</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Trainer to discuss the different types of companies under each point</a:t>
            </a:r>
          </a:p>
          <a:p>
            <a:pPr>
              <a:buFont typeface="Arial" pitchFamily="34" charset="0"/>
              <a:buChar char="•"/>
            </a:pPr>
            <a:r>
              <a:rPr lang="en-AU" sz="1200" kern="1200" baseline="0" dirty="0" smtClean="0">
                <a:solidFill>
                  <a:schemeClr val="tx1"/>
                </a:solidFill>
                <a:latin typeface="+mn-lt"/>
                <a:ea typeface="+mn-ea"/>
                <a:cs typeface="+mn-cs"/>
              </a:rPr>
              <a:t>Audience to research companies under each of these points and identify the services they provide to travel agents and customers.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Identify preferred supplier agreement</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Trainer to show example of a preferred supplier agreement.</a:t>
            </a:r>
          </a:p>
          <a:p>
            <a:pPr>
              <a:buFont typeface="Arial" pitchFamily="34" charset="0"/>
              <a:buChar char="•"/>
            </a:pPr>
            <a:r>
              <a:rPr lang="en-AU" sz="1200" kern="1200" baseline="0" dirty="0" smtClean="0">
                <a:solidFill>
                  <a:schemeClr val="tx1"/>
                </a:solidFill>
                <a:latin typeface="+mn-lt"/>
                <a:ea typeface="+mn-ea"/>
                <a:cs typeface="+mn-cs"/>
              </a:rPr>
              <a:t>What needs to be considered when developing a preferred supplier agreement?</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a:t>
            </a:r>
            <a:r>
              <a:rPr lang="en-AU" sz="1200" b="1" dirty="0" smtClean="0">
                <a:latin typeface="Helvetica" pitchFamily="34" charset="0"/>
              </a:rPr>
              <a:t>role of suppliers</a:t>
            </a:r>
            <a:endParaRPr lang="en-AU" sz="1200" b="1"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What activities are performed under each of these points?</a:t>
            </a:r>
          </a:p>
          <a:p>
            <a:pPr>
              <a:buFont typeface="Arial" pitchFamily="34" charset="0"/>
              <a:buChar char="•"/>
            </a:pPr>
            <a:r>
              <a:rPr lang="en-AU" sz="1200" kern="1200" baseline="0" dirty="0" smtClean="0">
                <a:solidFill>
                  <a:schemeClr val="tx1"/>
                </a:solidFill>
                <a:latin typeface="+mn-lt"/>
                <a:ea typeface="+mn-ea"/>
                <a:cs typeface="+mn-cs"/>
              </a:rPr>
              <a:t>How can you improve these individual roles?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a:t>
            </a:r>
            <a:r>
              <a:rPr lang="en-AU" sz="1200" b="1" dirty="0" smtClean="0">
                <a:latin typeface="Helvetica" pitchFamily="34" charset="0"/>
              </a:rPr>
              <a:t>role of suppliers</a:t>
            </a:r>
            <a:endParaRPr lang="en-AU" sz="1200" b="1"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What activities are performed under each of these points?</a:t>
            </a:r>
          </a:p>
          <a:p>
            <a:pPr>
              <a:buFont typeface="Arial" pitchFamily="34" charset="0"/>
              <a:buChar char="•"/>
            </a:pPr>
            <a:r>
              <a:rPr lang="en-AU" sz="1200" kern="1200" baseline="0" dirty="0" smtClean="0">
                <a:solidFill>
                  <a:schemeClr val="tx1"/>
                </a:solidFill>
                <a:latin typeface="+mn-lt"/>
                <a:ea typeface="+mn-ea"/>
                <a:cs typeface="+mn-cs"/>
              </a:rPr>
              <a:t>How can you improve these individual roles?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a:t>
            </a:r>
            <a:r>
              <a:rPr lang="en-AU" sz="1200" b="1" dirty="0" smtClean="0">
                <a:latin typeface="Helvetica" pitchFamily="34" charset="0"/>
              </a:rPr>
              <a:t>role of identifying suppliers</a:t>
            </a:r>
            <a:endParaRPr lang="en-AU" sz="1200" b="1"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Discuss these activities</a:t>
            </a:r>
          </a:p>
          <a:p>
            <a:pPr>
              <a:buFont typeface="Arial" pitchFamily="34" charset="0"/>
              <a:buChar char="•"/>
            </a:pPr>
            <a:r>
              <a:rPr lang="en-AU" sz="1200" kern="1200" baseline="0" dirty="0" smtClean="0">
                <a:solidFill>
                  <a:schemeClr val="tx1"/>
                </a:solidFill>
                <a:latin typeface="+mn-lt"/>
                <a:ea typeface="+mn-ea"/>
                <a:cs typeface="+mn-cs"/>
              </a:rPr>
              <a:t>Trainer to provide personal experiences in selecting suppliers.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a:t>
            </a:r>
            <a:r>
              <a:rPr lang="en-AU" sz="1200" b="1" dirty="0" smtClean="0">
                <a:latin typeface="Helvetica" pitchFamily="34" charset="0"/>
              </a:rPr>
              <a:t>role of identifying suppliers</a:t>
            </a:r>
            <a:endParaRPr lang="en-AU" sz="1200" b="1"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Discuss these activities</a:t>
            </a:r>
          </a:p>
          <a:p>
            <a:pPr>
              <a:buFont typeface="Arial" pitchFamily="34" charset="0"/>
              <a:buChar char="•"/>
            </a:pPr>
            <a:r>
              <a:rPr lang="en-AU" sz="1200" kern="1200" baseline="0" dirty="0" smtClean="0">
                <a:solidFill>
                  <a:schemeClr val="tx1"/>
                </a:solidFill>
                <a:latin typeface="+mn-lt"/>
                <a:ea typeface="+mn-ea"/>
                <a:cs typeface="+mn-cs"/>
              </a:rPr>
              <a:t>Trainer to provide personal experiences in selecting suppliers.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costs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What costs must be taken into account when developing proposals?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a:t>
            </a:r>
            <a:r>
              <a:rPr lang="en-AU" sz="1200" b="1" dirty="0" smtClean="0">
                <a:latin typeface="Helvetica" pitchFamily="34" charset="0"/>
              </a:rPr>
              <a:t>how to calculate costs</a:t>
            </a:r>
            <a:endParaRPr lang="en-AU" sz="1200" b="1"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Discuss these activities</a:t>
            </a:r>
          </a:p>
          <a:p>
            <a:pPr>
              <a:buFont typeface="Arial" pitchFamily="34" charset="0"/>
              <a:buChar char="•"/>
            </a:pPr>
            <a:r>
              <a:rPr lang="en-AU" sz="1200" kern="1200" baseline="0" dirty="0" smtClean="0">
                <a:solidFill>
                  <a:schemeClr val="tx1"/>
                </a:solidFill>
                <a:latin typeface="+mn-lt"/>
                <a:ea typeface="+mn-ea"/>
                <a:cs typeface="+mn-cs"/>
              </a:rPr>
              <a:t>Trainer to provide personal experiences in calculating costs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a:t>
            </a:r>
            <a:r>
              <a:rPr lang="en-AU" sz="1200" b="1" dirty="0" smtClean="0">
                <a:latin typeface="Helvetica" pitchFamily="34" charset="0"/>
              </a:rPr>
              <a:t>how to calculate costs</a:t>
            </a:r>
            <a:endParaRPr lang="en-AU" sz="1200" b="1"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Discuss these activities</a:t>
            </a:r>
          </a:p>
          <a:p>
            <a:pPr>
              <a:buFont typeface="Arial" pitchFamily="34" charset="0"/>
              <a:buChar char="•"/>
            </a:pPr>
            <a:r>
              <a:rPr lang="en-AU" sz="1200" kern="1200" baseline="0" dirty="0" smtClean="0">
                <a:solidFill>
                  <a:schemeClr val="tx1"/>
                </a:solidFill>
                <a:latin typeface="+mn-lt"/>
                <a:ea typeface="+mn-ea"/>
                <a:cs typeface="+mn-cs"/>
              </a:rPr>
              <a:t>Trainer to provide personal experiences in calculating costs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a:t>
            </a:r>
            <a:r>
              <a:rPr lang="en-AU" sz="1200" b="1" dirty="0" smtClean="0">
                <a:latin typeface="Helvetica" pitchFamily="34" charset="0"/>
              </a:rPr>
              <a:t>how to negotiate costs with suppliers</a:t>
            </a:r>
            <a:endParaRPr lang="en-AU" sz="1200" b="1"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Discuss these activities</a:t>
            </a:r>
          </a:p>
          <a:p>
            <a:pPr>
              <a:buFont typeface="Arial" pitchFamily="34" charset="0"/>
              <a:buChar char="•"/>
            </a:pPr>
            <a:r>
              <a:rPr lang="en-AU" sz="1200" kern="1200" baseline="0" dirty="0" smtClean="0">
                <a:solidFill>
                  <a:schemeClr val="tx1"/>
                </a:solidFill>
                <a:latin typeface="+mn-lt"/>
                <a:ea typeface="+mn-ea"/>
                <a:cs typeface="+mn-cs"/>
              </a:rPr>
              <a:t>Trainer to provide personal experiences in negotiating costs with suppliers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a:t>
            </a:r>
            <a:r>
              <a:rPr lang="en-AU" sz="1200" b="1" dirty="0" smtClean="0">
                <a:latin typeface="Helvetica" pitchFamily="34" charset="0"/>
              </a:rPr>
              <a:t>how to negotiate costs with suppliers</a:t>
            </a:r>
            <a:endParaRPr lang="en-AU" sz="1200" b="1"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Discuss these activities</a:t>
            </a:r>
          </a:p>
          <a:p>
            <a:pPr>
              <a:buFont typeface="Arial" pitchFamily="34" charset="0"/>
              <a:buChar char="•"/>
            </a:pPr>
            <a:r>
              <a:rPr lang="en-AU" sz="1200" kern="1200" baseline="0" dirty="0" smtClean="0">
                <a:solidFill>
                  <a:schemeClr val="tx1"/>
                </a:solidFill>
                <a:latin typeface="+mn-lt"/>
                <a:ea typeface="+mn-ea"/>
                <a:cs typeface="+mn-cs"/>
              </a:rPr>
              <a:t>Trainer to provide personal experiences in negotiating costs with suppliers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a:t>
            </a:r>
            <a:r>
              <a:rPr lang="en-AU" sz="1200" b="1" dirty="0" smtClean="0">
                <a:latin typeface="Helvetica" pitchFamily="34" charset="0"/>
              </a:rPr>
              <a:t>how to calculate</a:t>
            </a:r>
            <a:r>
              <a:rPr lang="en-AU" sz="1200" b="1" baseline="0" dirty="0" smtClean="0">
                <a:latin typeface="Helvetica" pitchFamily="34" charset="0"/>
              </a:rPr>
              <a:t> mark ups and commissions</a:t>
            </a:r>
            <a:endParaRPr lang="en-AU" sz="1200" b="1"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Trainer to explain how to mark up costs</a:t>
            </a:r>
          </a:p>
          <a:p>
            <a:pPr>
              <a:buFont typeface="Arial" pitchFamily="34" charset="0"/>
              <a:buChar char="•"/>
            </a:pPr>
            <a:r>
              <a:rPr lang="en-AU" sz="1200" kern="1200" baseline="0" dirty="0" smtClean="0">
                <a:solidFill>
                  <a:schemeClr val="tx1"/>
                </a:solidFill>
                <a:latin typeface="+mn-lt"/>
                <a:ea typeface="+mn-ea"/>
                <a:cs typeface="+mn-cs"/>
              </a:rPr>
              <a:t>Trainer to show and demonstrate costing software or tools</a:t>
            </a:r>
          </a:p>
          <a:p>
            <a:pPr>
              <a:buFont typeface="Arial" pitchFamily="34" charset="0"/>
              <a:buChar char="•"/>
            </a:pPr>
            <a:r>
              <a:rPr lang="en-AU" sz="1200" kern="1200" baseline="0" dirty="0" smtClean="0">
                <a:solidFill>
                  <a:schemeClr val="tx1"/>
                </a:solidFill>
                <a:latin typeface="+mn-lt"/>
                <a:ea typeface="+mn-ea"/>
                <a:cs typeface="+mn-cs"/>
              </a:rPr>
              <a:t>Trainer to discuss the procedures associated with arranging and collecting commissions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questions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Discuss questions in the slide</a:t>
            </a:r>
            <a:endParaRPr lang="en-AU" b="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questions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Discuss questions in the slide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questions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Discuss questions in the slide</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a:t>
            </a:r>
            <a:r>
              <a:rPr lang="en-AU" sz="1200" b="1" dirty="0" smtClean="0">
                <a:latin typeface="Helvetica" pitchFamily="34" charset="0"/>
              </a:rPr>
              <a:t>how to accurately calculate</a:t>
            </a:r>
            <a:r>
              <a:rPr lang="en-AU" sz="1200" b="1" baseline="0" dirty="0" smtClean="0">
                <a:latin typeface="Helvetica" pitchFamily="34" charset="0"/>
              </a:rPr>
              <a:t> and check </a:t>
            </a:r>
            <a:r>
              <a:rPr lang="en-AU" sz="1200" b="1" dirty="0" smtClean="0">
                <a:latin typeface="Helvetica" pitchFamily="34" charset="0"/>
              </a:rPr>
              <a:t>all product and service cost</a:t>
            </a:r>
            <a:r>
              <a:rPr lang="en-AU" sz="1200" b="1" baseline="0" dirty="0" smtClean="0">
                <a:latin typeface="Helvetica" pitchFamily="34" charset="0"/>
              </a:rPr>
              <a:t> </a:t>
            </a:r>
            <a:r>
              <a:rPr lang="en-AU" sz="1200" b="1" dirty="0" smtClean="0">
                <a:latin typeface="Helvetica" pitchFamily="34" charset="0"/>
              </a:rPr>
              <a:t>components</a:t>
            </a:r>
            <a:endParaRPr lang="en-AU" sz="1200" b="1"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Trainer to explain how to check costs</a:t>
            </a:r>
          </a:p>
          <a:p>
            <a:pPr>
              <a:buFont typeface="Arial" pitchFamily="34" charset="0"/>
              <a:buChar char="•"/>
            </a:pPr>
            <a:r>
              <a:rPr lang="en-AU" sz="1200" kern="1200" baseline="0" dirty="0" smtClean="0">
                <a:solidFill>
                  <a:schemeClr val="tx1"/>
                </a:solidFill>
                <a:latin typeface="+mn-lt"/>
                <a:ea typeface="+mn-ea"/>
                <a:cs typeface="+mn-cs"/>
              </a:rPr>
              <a:t>Trainer to show and demonstrate costing software or tools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List </a:t>
            </a:r>
            <a:r>
              <a:rPr lang="en-AU" sz="1200" b="1" dirty="0" smtClean="0">
                <a:latin typeface="Helvetica" pitchFamily="34" charset="0"/>
              </a:rPr>
              <a:t>terms and conditions</a:t>
            </a:r>
            <a:endParaRPr lang="en-AU" sz="1200" b="1"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noProof="0" dirty="0" smtClean="0">
                <a:solidFill>
                  <a:schemeClr val="tx1"/>
                </a:solidFill>
                <a:latin typeface="+mn-lt"/>
                <a:ea typeface="+mn-ea"/>
                <a:cs typeface="+mn-cs"/>
              </a:rPr>
              <a:t>Audience to prepare list of all possible terms and conditions affecting travel bookings and arrangements</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a:t>
            </a:r>
            <a:r>
              <a:rPr lang="en-AU" sz="1200" b="1" dirty="0" smtClean="0">
                <a:latin typeface="Helvetica" pitchFamily="34" charset="0"/>
              </a:rPr>
              <a:t>terms and conditions</a:t>
            </a:r>
            <a:endParaRPr lang="en-AU" sz="1200" b="1"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noProof="0" dirty="0" smtClean="0">
                <a:solidFill>
                  <a:schemeClr val="tx1"/>
                </a:solidFill>
                <a:latin typeface="+mn-lt"/>
                <a:ea typeface="+mn-ea"/>
                <a:cs typeface="+mn-cs"/>
              </a:rPr>
              <a:t>What is the purpose of each of these </a:t>
            </a:r>
            <a:r>
              <a:rPr lang="en-AU" sz="1200" b="0" dirty="0" smtClean="0">
                <a:latin typeface="Helvetica" pitchFamily="34" charset="0"/>
              </a:rPr>
              <a:t>terms and conditions?</a:t>
            </a:r>
          </a:p>
          <a:p>
            <a:pPr>
              <a:buFont typeface="Arial" pitchFamily="34" charset="0"/>
              <a:buChar char="•"/>
            </a:pPr>
            <a:r>
              <a:rPr lang="en-AU" sz="1200" b="0" noProof="0" dirty="0" smtClean="0">
                <a:latin typeface="Helvetica" pitchFamily="34" charset="0"/>
              </a:rPr>
              <a:t>What are examples /</a:t>
            </a:r>
            <a:r>
              <a:rPr lang="en-AU" sz="1200" b="0" baseline="0" noProof="0" dirty="0" smtClean="0">
                <a:latin typeface="Helvetica" pitchFamily="34" charset="0"/>
              </a:rPr>
              <a:t> stipulations </a:t>
            </a:r>
            <a:r>
              <a:rPr lang="en-AU" sz="1200" b="0" kern="1200" baseline="0" noProof="0" dirty="0" smtClean="0">
                <a:solidFill>
                  <a:schemeClr val="tx1"/>
                </a:solidFill>
                <a:latin typeface="+mn-lt"/>
                <a:ea typeface="+mn-ea"/>
                <a:cs typeface="+mn-cs"/>
              </a:rPr>
              <a:t>of each of these </a:t>
            </a:r>
            <a:r>
              <a:rPr lang="en-AU" sz="1200" b="0" dirty="0" smtClean="0">
                <a:latin typeface="Helvetica" pitchFamily="34" charset="0"/>
              </a:rPr>
              <a:t>terms and conditions?</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a:t>
            </a:r>
            <a:r>
              <a:rPr lang="en-AU" sz="1200" b="1" dirty="0" smtClean="0">
                <a:latin typeface="Helvetica" pitchFamily="34" charset="0"/>
              </a:rPr>
              <a:t>terms and conditions</a:t>
            </a:r>
            <a:endParaRPr lang="en-AU" sz="1200" b="1"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noProof="0" dirty="0" smtClean="0">
                <a:solidFill>
                  <a:schemeClr val="tx1"/>
                </a:solidFill>
                <a:latin typeface="+mn-lt"/>
                <a:ea typeface="+mn-ea"/>
                <a:cs typeface="+mn-cs"/>
              </a:rPr>
              <a:t>What is the purpose of each of these </a:t>
            </a:r>
            <a:r>
              <a:rPr lang="en-AU" sz="1200" b="0" dirty="0" smtClean="0">
                <a:latin typeface="Helvetica" pitchFamily="34" charset="0"/>
              </a:rPr>
              <a:t>terms and conditions?</a:t>
            </a:r>
          </a:p>
          <a:p>
            <a:pPr>
              <a:buFont typeface="Arial" pitchFamily="34" charset="0"/>
              <a:buChar char="•"/>
            </a:pPr>
            <a:r>
              <a:rPr lang="en-AU" sz="1200" b="0" noProof="0" dirty="0" smtClean="0">
                <a:latin typeface="Helvetica" pitchFamily="34" charset="0"/>
              </a:rPr>
              <a:t>What are examples /</a:t>
            </a:r>
            <a:r>
              <a:rPr lang="en-AU" sz="1200" b="0" baseline="0" noProof="0" dirty="0" smtClean="0">
                <a:latin typeface="Helvetica" pitchFamily="34" charset="0"/>
              </a:rPr>
              <a:t> stipulations </a:t>
            </a:r>
            <a:r>
              <a:rPr lang="en-AU" sz="1200" b="0" kern="1200" baseline="0" noProof="0" dirty="0" smtClean="0">
                <a:solidFill>
                  <a:schemeClr val="tx1"/>
                </a:solidFill>
                <a:latin typeface="+mn-lt"/>
                <a:ea typeface="+mn-ea"/>
                <a:cs typeface="+mn-cs"/>
              </a:rPr>
              <a:t>of each of these </a:t>
            </a:r>
            <a:r>
              <a:rPr lang="en-AU" sz="1200" b="0" dirty="0" smtClean="0">
                <a:latin typeface="Helvetica" pitchFamily="34" charset="0"/>
              </a:rPr>
              <a:t>terms and conditions?</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a:t>
            </a:r>
            <a:r>
              <a:rPr lang="en-AU" sz="1200" b="1" dirty="0" smtClean="0">
                <a:latin typeface="Helvetica" pitchFamily="34" charset="0"/>
              </a:rPr>
              <a:t>terms and conditions</a:t>
            </a:r>
            <a:endParaRPr lang="en-AU" sz="1200" b="1"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noProof="0" dirty="0" smtClean="0">
                <a:solidFill>
                  <a:schemeClr val="tx1"/>
                </a:solidFill>
                <a:latin typeface="+mn-lt"/>
                <a:ea typeface="+mn-ea"/>
                <a:cs typeface="+mn-cs"/>
              </a:rPr>
              <a:t>What is the purpose of each of these </a:t>
            </a:r>
            <a:r>
              <a:rPr lang="en-AU" sz="1200" b="0" dirty="0" smtClean="0">
                <a:latin typeface="Helvetica" pitchFamily="34" charset="0"/>
              </a:rPr>
              <a:t>terms and conditions?</a:t>
            </a:r>
          </a:p>
          <a:p>
            <a:pPr>
              <a:buFont typeface="Arial" pitchFamily="34" charset="0"/>
              <a:buChar char="•"/>
            </a:pPr>
            <a:r>
              <a:rPr lang="en-AU" sz="1200" b="0" noProof="0" dirty="0" smtClean="0">
                <a:latin typeface="Helvetica" pitchFamily="34" charset="0"/>
              </a:rPr>
              <a:t>What are examples /</a:t>
            </a:r>
            <a:r>
              <a:rPr lang="en-AU" sz="1200" b="0" baseline="0" noProof="0" dirty="0" smtClean="0">
                <a:latin typeface="Helvetica" pitchFamily="34" charset="0"/>
              </a:rPr>
              <a:t> stipulations </a:t>
            </a:r>
            <a:r>
              <a:rPr lang="en-AU" sz="1200" b="0" kern="1200" baseline="0" noProof="0" dirty="0" smtClean="0">
                <a:solidFill>
                  <a:schemeClr val="tx1"/>
                </a:solidFill>
                <a:latin typeface="+mn-lt"/>
                <a:ea typeface="+mn-ea"/>
                <a:cs typeface="+mn-cs"/>
              </a:rPr>
              <a:t>of each of these </a:t>
            </a:r>
            <a:r>
              <a:rPr lang="en-AU" sz="1200" b="0" dirty="0" smtClean="0">
                <a:latin typeface="Helvetica" pitchFamily="34" charset="0"/>
              </a:rPr>
              <a:t>terms and conditions?</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questions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Discuss questions in the slide</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a:t>
            </a:r>
            <a:r>
              <a:rPr lang="en-AU" sz="1200" b="1" dirty="0" smtClean="0">
                <a:latin typeface="Helvetica" pitchFamily="34" charset="0"/>
              </a:rPr>
              <a:t>terms and conditions</a:t>
            </a:r>
            <a:endParaRPr lang="en-AU" sz="1200" b="1"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noProof="0" dirty="0" smtClean="0">
                <a:solidFill>
                  <a:schemeClr val="tx1"/>
                </a:solidFill>
                <a:latin typeface="+mn-lt"/>
                <a:ea typeface="+mn-ea"/>
                <a:cs typeface="+mn-cs"/>
              </a:rPr>
              <a:t>What is the purpose of each of these </a:t>
            </a:r>
            <a:r>
              <a:rPr lang="en-AU" sz="1200" b="0" dirty="0" smtClean="0">
                <a:latin typeface="Helvetica" pitchFamily="34" charset="0"/>
              </a:rPr>
              <a:t>terms and conditions?</a:t>
            </a:r>
          </a:p>
          <a:p>
            <a:pPr>
              <a:buFont typeface="Arial" pitchFamily="34" charset="0"/>
              <a:buChar char="•"/>
            </a:pPr>
            <a:r>
              <a:rPr lang="en-AU" sz="1200" b="0" noProof="0" dirty="0" smtClean="0">
                <a:latin typeface="Helvetica" pitchFamily="34" charset="0"/>
              </a:rPr>
              <a:t>What are examples /</a:t>
            </a:r>
            <a:r>
              <a:rPr lang="en-AU" sz="1200" b="0" baseline="0" noProof="0" dirty="0" smtClean="0">
                <a:latin typeface="Helvetica" pitchFamily="34" charset="0"/>
              </a:rPr>
              <a:t> stipulations </a:t>
            </a:r>
            <a:r>
              <a:rPr lang="en-AU" sz="1200" b="0" kern="1200" baseline="0" noProof="0" dirty="0" smtClean="0">
                <a:solidFill>
                  <a:schemeClr val="tx1"/>
                </a:solidFill>
                <a:latin typeface="+mn-lt"/>
                <a:ea typeface="+mn-ea"/>
                <a:cs typeface="+mn-cs"/>
              </a:rPr>
              <a:t>of each of these </a:t>
            </a:r>
            <a:r>
              <a:rPr lang="en-AU" sz="1200" b="0" dirty="0" smtClean="0">
                <a:latin typeface="Helvetica" pitchFamily="34" charset="0"/>
              </a:rPr>
              <a:t>terms and conditions?</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Prepare draft quotation  (relevant for Slides 58-62)</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noProof="0" dirty="0" smtClean="0">
                <a:solidFill>
                  <a:schemeClr val="tx1"/>
                </a:solidFill>
                <a:latin typeface="+mn-lt"/>
                <a:ea typeface="+mn-ea"/>
                <a:cs typeface="+mn-cs"/>
              </a:rPr>
              <a:t>Based on the Work Project Case Study or scenarios created by the Trainer, the Audience is to develop draft quotations for various travel scenarios.</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Prepare draft quotation</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noProof="0" dirty="0" smtClean="0">
                <a:solidFill>
                  <a:schemeClr val="tx1"/>
                </a:solidFill>
                <a:latin typeface="+mn-lt"/>
                <a:ea typeface="+mn-ea"/>
                <a:cs typeface="+mn-cs"/>
              </a:rPr>
              <a:t>Based on the Work Project Case Study or scenarios created by the Trainer, the Audience is to develop draft quotations for various travel scenarios.</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Prepare draft quotation</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noProof="0" dirty="0" smtClean="0">
                <a:solidFill>
                  <a:schemeClr val="tx1"/>
                </a:solidFill>
                <a:latin typeface="+mn-lt"/>
                <a:ea typeface="+mn-ea"/>
                <a:cs typeface="+mn-cs"/>
              </a:rPr>
              <a:t>Based on the Work Project Case Study or scenarios created by the Trainer, the Audience is to develop draft quotations for various travel scenarios.</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Prepare draft quotation</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noProof="0" dirty="0" smtClean="0">
                <a:solidFill>
                  <a:schemeClr val="tx1"/>
                </a:solidFill>
                <a:latin typeface="+mn-lt"/>
                <a:ea typeface="+mn-ea"/>
                <a:cs typeface="+mn-cs"/>
              </a:rPr>
              <a:t>Based on the Work Project Case Study or scenarios created by the Trainer, the Audience is to develop draft quotations for various travel scenarios.</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Prepare draft quotation</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noProof="0" dirty="0" smtClean="0">
                <a:solidFill>
                  <a:schemeClr val="tx1"/>
                </a:solidFill>
                <a:latin typeface="+mn-lt"/>
                <a:ea typeface="+mn-ea"/>
                <a:cs typeface="+mn-cs"/>
              </a:rPr>
              <a:t>Based on the Work Project Case Study or scenarios created by the Trainer, the Audience is to develop draft quotations for various travel scenarios.</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questions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Discuss questions in the slide</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submission points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What are key factors for each point?</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submission points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What are key factors for each point?</a:t>
            </a:r>
            <a:endParaRPr lang="en-AU" b="0" noProof="0" dirty="0" smtClean="0"/>
          </a:p>
          <a:p>
            <a:pPr>
              <a:buFont typeface="Arial" pitchFamily="34" charset="0"/>
              <a:buChar char="•"/>
            </a:pPr>
            <a:r>
              <a:rPr lang="en-AU" noProof="0" dirty="0" smtClean="0"/>
              <a:t>How should the file be recorded</a:t>
            </a:r>
            <a:r>
              <a:rPr lang="en-AU" baseline="0" noProof="0" dirty="0" smtClean="0"/>
              <a:t> and filed?</a:t>
            </a:r>
          </a:p>
          <a:p>
            <a:pPr>
              <a:buFont typeface="Arial" pitchFamily="34" charset="0"/>
              <a:buChar char="•"/>
            </a:pPr>
            <a:r>
              <a:rPr lang="en-AU" baseline="0" noProof="0" dirty="0" smtClean="0"/>
              <a:t>How can you identify the ‘latest’ version of a quotation?</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reasons for change</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What are common reasons for changes to quotations?</a:t>
            </a:r>
          </a:p>
          <a:p>
            <a:pPr>
              <a:buFont typeface="Arial" pitchFamily="34" charset="0"/>
              <a:buChar char="•"/>
            </a:pPr>
            <a:r>
              <a:rPr lang="en-AU" sz="1200" b="0" kern="1200" baseline="0" noProof="0" dirty="0" smtClean="0">
                <a:solidFill>
                  <a:schemeClr val="tx1"/>
                </a:solidFill>
                <a:latin typeface="+mn-lt"/>
                <a:ea typeface="+mn-ea"/>
                <a:cs typeface="+mn-cs"/>
              </a:rPr>
              <a:t>What causes these?</a:t>
            </a:r>
          </a:p>
          <a:p>
            <a:pPr>
              <a:buFont typeface="Arial" pitchFamily="34" charset="0"/>
              <a:buChar char="•"/>
            </a:pPr>
            <a:r>
              <a:rPr lang="en-AU" sz="1200" b="0" kern="1200" baseline="0" noProof="0" dirty="0" smtClean="0">
                <a:solidFill>
                  <a:schemeClr val="tx1"/>
                </a:solidFill>
                <a:latin typeface="+mn-lt"/>
                <a:ea typeface="+mn-ea"/>
                <a:cs typeface="+mn-cs"/>
              </a:rPr>
              <a:t>How will they impact on quotations?</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reasons for amendments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What are common reasons by each of these stakeholders</a:t>
            </a:r>
          </a:p>
          <a:p>
            <a:pPr>
              <a:buFont typeface="Arial" pitchFamily="34" charset="0"/>
              <a:buChar char="•"/>
            </a:pPr>
            <a:r>
              <a:rPr lang="en-AU" sz="1200" b="0" kern="1200" baseline="0" noProof="0" dirty="0" smtClean="0">
                <a:solidFill>
                  <a:schemeClr val="tx1"/>
                </a:solidFill>
                <a:latin typeface="+mn-lt"/>
                <a:ea typeface="+mn-ea"/>
                <a:cs typeface="+mn-cs"/>
              </a:rPr>
              <a:t>How will they impact on quotations?</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points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Discuss points</a:t>
            </a:r>
          </a:p>
          <a:p>
            <a:pPr>
              <a:buFont typeface="Arial" pitchFamily="34" charset="0"/>
              <a:buChar char="•"/>
            </a:pPr>
            <a:r>
              <a:rPr lang="en-AU" sz="1200" b="0" kern="1200" baseline="0" noProof="0" dirty="0" smtClean="0">
                <a:solidFill>
                  <a:schemeClr val="tx1"/>
                </a:solidFill>
                <a:latin typeface="+mn-lt"/>
                <a:ea typeface="+mn-ea"/>
                <a:cs typeface="+mn-cs"/>
              </a:rPr>
              <a:t>Trainer to highlight any points for consideration</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Demonstrate filing methods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Trainer show how files are to be maintained</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points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Discuss points</a:t>
            </a:r>
          </a:p>
          <a:p>
            <a:pPr>
              <a:buFont typeface="Arial" pitchFamily="34" charset="0"/>
              <a:buChar char="•"/>
            </a:pPr>
            <a:r>
              <a:rPr lang="en-AU" sz="1200" b="0" kern="1200" baseline="0" noProof="0" dirty="0" smtClean="0">
                <a:solidFill>
                  <a:schemeClr val="tx1"/>
                </a:solidFill>
                <a:latin typeface="+mn-lt"/>
                <a:ea typeface="+mn-ea"/>
                <a:cs typeface="+mn-cs"/>
              </a:rPr>
              <a:t>Trainer to highlight any points for consideration</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are considerations when sending and presenting a quotation to a customer?</a:t>
            </a:r>
          </a:p>
          <a:p>
            <a:pPr>
              <a:buFont typeface="Arial" pitchFamily="34" charset="0"/>
              <a:buChar char="•"/>
            </a:pPr>
            <a:r>
              <a:rPr lang="en-AU" sz="1200" kern="1200" baseline="0" dirty="0" smtClean="0">
                <a:solidFill>
                  <a:schemeClr val="tx1"/>
                </a:solidFill>
                <a:latin typeface="+mn-lt"/>
                <a:ea typeface="+mn-ea"/>
                <a:cs typeface="+mn-cs"/>
              </a:rPr>
              <a:t>What needs to be prepared before a presentation?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Questions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What methods exist?</a:t>
            </a:r>
          </a:p>
          <a:p>
            <a:pPr>
              <a:buFont typeface="Arial" pitchFamily="34" charset="0"/>
              <a:buChar char="•"/>
            </a:pPr>
            <a:r>
              <a:rPr lang="en-AU" sz="1200" b="0" kern="1200" baseline="0" noProof="0" dirty="0" smtClean="0">
                <a:solidFill>
                  <a:schemeClr val="tx1"/>
                </a:solidFill>
                <a:latin typeface="+mn-lt"/>
                <a:ea typeface="+mn-ea"/>
                <a:cs typeface="+mn-cs"/>
              </a:rPr>
              <a:t>What needs to be considered before selecting a submission method?</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submission methods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What are the advantages / disadvantages for each of these submission methods.</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submission considerations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How do they impact submission methods?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submission techniques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Trainer to show or explain various policies and procedures that impact on the preparation and delivery of final quotations.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Why is follow up so important?</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submission methods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What are common timelines?</a:t>
            </a:r>
          </a:p>
          <a:p>
            <a:pPr>
              <a:buFont typeface="Arial" pitchFamily="34" charset="0"/>
              <a:buChar char="•"/>
            </a:pPr>
            <a:r>
              <a:rPr lang="en-AU" sz="1200" kern="1200" baseline="0" noProof="0" dirty="0" smtClean="0">
                <a:solidFill>
                  <a:schemeClr val="tx1"/>
                </a:solidFill>
                <a:latin typeface="+mn-lt"/>
                <a:ea typeface="+mn-ea"/>
                <a:cs typeface="+mn-cs"/>
              </a:rPr>
              <a:t>How can you get it to someone ‘on the spot’?</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importance of </a:t>
            </a:r>
            <a:r>
              <a:rPr lang="en-AU" sz="1200" b="1" kern="1200" baseline="0" dirty="0" smtClean="0">
                <a:solidFill>
                  <a:schemeClr val="tx1"/>
                </a:solidFill>
                <a:latin typeface="Helvetica" pitchFamily="34" charset="0"/>
                <a:ea typeface="+mn-ea"/>
                <a:cs typeface="+mn-cs"/>
              </a:rPr>
              <a:t>c</a:t>
            </a:r>
            <a:r>
              <a:rPr lang="en-AU" sz="1200" b="1" dirty="0" smtClean="0">
                <a:latin typeface="Helvetica" pitchFamily="34" charset="0"/>
              </a:rPr>
              <a:t>ustomer service basics </a:t>
            </a:r>
            <a:endParaRPr lang="en-AU" sz="1200" b="1"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Trainer to discuss </a:t>
            </a:r>
            <a:r>
              <a:rPr lang="en-AU" sz="1200" b="0" kern="1200" baseline="0" dirty="0" smtClean="0">
                <a:solidFill>
                  <a:schemeClr val="tx1"/>
                </a:solidFill>
                <a:latin typeface="+mn-lt"/>
                <a:ea typeface="+mn-ea"/>
                <a:cs typeface="+mn-cs"/>
              </a:rPr>
              <a:t>importance of these </a:t>
            </a:r>
            <a:r>
              <a:rPr lang="en-AU" sz="1200" b="0" kern="1200" baseline="0" dirty="0" smtClean="0">
                <a:solidFill>
                  <a:schemeClr val="tx1"/>
                </a:solidFill>
                <a:latin typeface="Helvetica" pitchFamily="34" charset="0"/>
                <a:ea typeface="+mn-ea"/>
                <a:cs typeface="+mn-cs"/>
              </a:rPr>
              <a:t>c</a:t>
            </a:r>
            <a:r>
              <a:rPr lang="en-AU" sz="1200" b="0" dirty="0" smtClean="0">
                <a:latin typeface="Helvetica" pitchFamily="34" charset="0"/>
              </a:rPr>
              <a:t>ustomer service basics points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importance of </a:t>
            </a:r>
            <a:r>
              <a:rPr lang="en-AU" sz="1200" b="1" kern="1200" baseline="0" dirty="0" smtClean="0">
                <a:solidFill>
                  <a:schemeClr val="tx1"/>
                </a:solidFill>
                <a:latin typeface="Helvetica" pitchFamily="34" charset="0"/>
                <a:ea typeface="+mn-ea"/>
                <a:cs typeface="+mn-cs"/>
              </a:rPr>
              <a:t>c</a:t>
            </a:r>
            <a:r>
              <a:rPr lang="en-AU" sz="1200" b="1" dirty="0" smtClean="0">
                <a:latin typeface="Helvetica" pitchFamily="34" charset="0"/>
              </a:rPr>
              <a:t>ustomer service basics </a:t>
            </a:r>
            <a:endParaRPr lang="en-AU" sz="1200" b="1"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Trainer to discuss </a:t>
            </a:r>
            <a:r>
              <a:rPr lang="en-AU" sz="1200" b="0" kern="1200" baseline="0" dirty="0" smtClean="0">
                <a:solidFill>
                  <a:schemeClr val="tx1"/>
                </a:solidFill>
                <a:latin typeface="+mn-lt"/>
                <a:ea typeface="+mn-ea"/>
                <a:cs typeface="+mn-cs"/>
              </a:rPr>
              <a:t>importance of these </a:t>
            </a:r>
            <a:r>
              <a:rPr lang="en-AU" sz="1200" b="0" kern="1200" baseline="0" dirty="0" smtClean="0">
                <a:solidFill>
                  <a:schemeClr val="tx1"/>
                </a:solidFill>
                <a:latin typeface="Helvetica" pitchFamily="34" charset="0"/>
                <a:ea typeface="+mn-ea"/>
                <a:cs typeface="+mn-cs"/>
              </a:rPr>
              <a:t>c</a:t>
            </a:r>
            <a:r>
              <a:rPr lang="en-AU" sz="1200" b="0" dirty="0" smtClean="0">
                <a:latin typeface="Helvetica" pitchFamily="34" charset="0"/>
              </a:rPr>
              <a:t>ustomer service basics points</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preparation questions in the slide.</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Trainer to list activities or show relevant SOP or task sheet.</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a:t>
            </a:r>
            <a:r>
              <a:rPr lang="en-AU" sz="1200" b="1" kern="1200" baseline="0" noProof="0" dirty="0" smtClean="0">
                <a:solidFill>
                  <a:schemeClr val="tx1"/>
                </a:solidFill>
                <a:latin typeface="+mn-lt"/>
                <a:ea typeface="+mn-ea"/>
                <a:cs typeface="+mn-cs"/>
              </a:rPr>
              <a:t>Role Play – Providing a quotation to a customer (Slides 82-93)</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0" kern="1200" baseline="0" noProof="0" dirty="0" smtClean="0">
              <a:solidFill>
                <a:schemeClr val="tx1"/>
              </a:solidFill>
              <a:latin typeface="+mn-lt"/>
              <a:ea typeface="+mn-ea"/>
              <a:cs typeface="+mn-cs"/>
            </a:endParaRPr>
          </a:p>
          <a:p>
            <a:pPr>
              <a:buFont typeface="Arial" pitchFamily="34" charset="0"/>
              <a:buNone/>
            </a:pPr>
            <a:r>
              <a:rPr lang="en-AU" sz="1200" b="0" kern="1200" baseline="0" noProof="0" dirty="0" smtClean="0">
                <a:solidFill>
                  <a:schemeClr val="tx1"/>
                </a:solidFill>
                <a:latin typeface="+mn-lt"/>
                <a:ea typeface="+mn-ea"/>
                <a:cs typeface="+mn-cs"/>
              </a:rPr>
              <a:t>Again, in groups and either based on Work Activities case study or Trainer’s scenarios, provide quotation to a customer.</a:t>
            </a:r>
          </a:p>
          <a:p>
            <a:pPr>
              <a:buFont typeface="Arial" pitchFamily="34" charset="0"/>
              <a:buNone/>
            </a:pPr>
            <a:r>
              <a:rPr lang="en-AU" sz="1200" b="0" kern="1200" baseline="0" noProof="0" dirty="0" smtClean="0">
                <a:solidFill>
                  <a:schemeClr val="tx1"/>
                </a:solidFill>
                <a:latin typeface="+mn-lt"/>
                <a:ea typeface="+mn-ea"/>
                <a:cs typeface="+mn-cs"/>
              </a:rPr>
              <a:t>Trainer to demonstrate steps, key activities and important points.</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a:t>
            </a:r>
            <a:r>
              <a:rPr lang="en-AU" sz="1200" b="1" kern="1200" baseline="0" noProof="0" dirty="0" smtClean="0">
                <a:solidFill>
                  <a:schemeClr val="tx1"/>
                </a:solidFill>
                <a:latin typeface="+mn-lt"/>
                <a:ea typeface="+mn-ea"/>
                <a:cs typeface="+mn-cs"/>
              </a:rPr>
              <a:t>Role Play – Providing a quotation to a customer (Slides 82-93)</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0" kern="1200" baseline="0" noProof="0" dirty="0" smtClean="0">
              <a:solidFill>
                <a:schemeClr val="tx1"/>
              </a:solidFill>
              <a:latin typeface="+mn-lt"/>
              <a:ea typeface="+mn-ea"/>
              <a:cs typeface="+mn-cs"/>
            </a:endParaRPr>
          </a:p>
          <a:p>
            <a:pPr>
              <a:buFont typeface="Arial" pitchFamily="34" charset="0"/>
              <a:buNone/>
            </a:pPr>
            <a:r>
              <a:rPr lang="en-AU" sz="1200" b="0" kern="1200" baseline="0" noProof="0" dirty="0" smtClean="0">
                <a:solidFill>
                  <a:schemeClr val="tx1"/>
                </a:solidFill>
                <a:latin typeface="+mn-lt"/>
                <a:ea typeface="+mn-ea"/>
                <a:cs typeface="+mn-cs"/>
              </a:rPr>
              <a:t>Again, in groups and either based on Work Activities case study or Trainer’s scenarios, provide quotation to a customer.</a:t>
            </a:r>
          </a:p>
          <a:p>
            <a:pPr>
              <a:buFont typeface="Arial" pitchFamily="34" charset="0"/>
              <a:buNone/>
            </a:pPr>
            <a:r>
              <a:rPr lang="en-AU" sz="1200" b="0" kern="1200" baseline="0" noProof="0" dirty="0" smtClean="0">
                <a:solidFill>
                  <a:schemeClr val="tx1"/>
                </a:solidFill>
                <a:latin typeface="+mn-lt"/>
                <a:ea typeface="+mn-ea"/>
                <a:cs typeface="+mn-cs"/>
              </a:rPr>
              <a:t>Trainer to demonstrate steps, key activities and important points.</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a:t>
            </a:r>
            <a:r>
              <a:rPr lang="en-AU" sz="1200" b="1" kern="1200" baseline="0" noProof="0" dirty="0" smtClean="0">
                <a:solidFill>
                  <a:schemeClr val="tx1"/>
                </a:solidFill>
                <a:latin typeface="+mn-lt"/>
                <a:ea typeface="+mn-ea"/>
                <a:cs typeface="+mn-cs"/>
              </a:rPr>
              <a:t>Role Play – Providing a quotation to a customer (Slides 82-93)</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0" kern="1200" baseline="0" noProof="0" dirty="0" smtClean="0">
              <a:solidFill>
                <a:schemeClr val="tx1"/>
              </a:solidFill>
              <a:latin typeface="+mn-lt"/>
              <a:ea typeface="+mn-ea"/>
              <a:cs typeface="+mn-cs"/>
            </a:endParaRPr>
          </a:p>
          <a:p>
            <a:pPr>
              <a:buFont typeface="Arial" pitchFamily="34" charset="0"/>
              <a:buNone/>
            </a:pPr>
            <a:r>
              <a:rPr lang="en-AU" sz="1200" b="0" kern="1200" baseline="0" noProof="0" dirty="0" smtClean="0">
                <a:solidFill>
                  <a:schemeClr val="tx1"/>
                </a:solidFill>
                <a:latin typeface="+mn-lt"/>
                <a:ea typeface="+mn-ea"/>
                <a:cs typeface="+mn-cs"/>
              </a:rPr>
              <a:t>Again, in groups and either based on Work Activities case study or Trainer’s scenarios, provide quotation to a customer.</a:t>
            </a:r>
          </a:p>
          <a:p>
            <a:pPr>
              <a:buFont typeface="Arial" pitchFamily="34" charset="0"/>
              <a:buNone/>
            </a:pPr>
            <a:r>
              <a:rPr lang="en-AU" sz="1200" b="0" kern="1200" baseline="0" noProof="0" dirty="0" smtClean="0">
                <a:solidFill>
                  <a:schemeClr val="tx1"/>
                </a:solidFill>
                <a:latin typeface="+mn-lt"/>
                <a:ea typeface="+mn-ea"/>
                <a:cs typeface="+mn-cs"/>
              </a:rPr>
              <a:t>Trainer to demonstrate steps, key activities and important points.</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a:t>
            </a:r>
            <a:r>
              <a:rPr lang="en-AU" sz="1200" b="1" kern="1200" baseline="0" noProof="0" dirty="0" smtClean="0">
                <a:solidFill>
                  <a:schemeClr val="tx1"/>
                </a:solidFill>
                <a:latin typeface="+mn-lt"/>
                <a:ea typeface="+mn-ea"/>
                <a:cs typeface="+mn-cs"/>
              </a:rPr>
              <a:t>Role Play – Providing a quotation to a customer (Slides 82-93)</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0" kern="1200" baseline="0" noProof="0" dirty="0" smtClean="0">
              <a:solidFill>
                <a:schemeClr val="tx1"/>
              </a:solidFill>
              <a:latin typeface="+mn-lt"/>
              <a:ea typeface="+mn-ea"/>
              <a:cs typeface="+mn-cs"/>
            </a:endParaRPr>
          </a:p>
          <a:p>
            <a:pPr>
              <a:buFont typeface="Arial" pitchFamily="34" charset="0"/>
              <a:buNone/>
            </a:pPr>
            <a:r>
              <a:rPr lang="en-AU" sz="1200" b="0" kern="1200" baseline="0" noProof="0" dirty="0" smtClean="0">
                <a:solidFill>
                  <a:schemeClr val="tx1"/>
                </a:solidFill>
                <a:latin typeface="+mn-lt"/>
                <a:ea typeface="+mn-ea"/>
                <a:cs typeface="+mn-cs"/>
              </a:rPr>
              <a:t>Again, in groups and either based on Work Activities case study or Trainer’s scenarios, provide quotation to a customer.</a:t>
            </a:r>
          </a:p>
          <a:p>
            <a:pPr>
              <a:buFont typeface="Arial" pitchFamily="34" charset="0"/>
              <a:buNone/>
            </a:pPr>
            <a:r>
              <a:rPr lang="en-AU" sz="1200" b="0" kern="1200" baseline="0" noProof="0" dirty="0" smtClean="0">
                <a:solidFill>
                  <a:schemeClr val="tx1"/>
                </a:solidFill>
                <a:latin typeface="+mn-lt"/>
                <a:ea typeface="+mn-ea"/>
                <a:cs typeface="+mn-cs"/>
              </a:rPr>
              <a:t>Trainer to demonstrate steps, key activities and important points.</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a:t>
            </a:r>
            <a:r>
              <a:rPr lang="en-AU" sz="1200" b="1" kern="1200" baseline="0" noProof="0" dirty="0" smtClean="0">
                <a:solidFill>
                  <a:schemeClr val="tx1"/>
                </a:solidFill>
                <a:latin typeface="+mn-lt"/>
                <a:ea typeface="+mn-ea"/>
                <a:cs typeface="+mn-cs"/>
              </a:rPr>
              <a:t>Role Play – Providing a quotation to a customer (Slides 82-93)</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0" kern="1200" baseline="0" noProof="0" dirty="0" smtClean="0">
              <a:solidFill>
                <a:schemeClr val="tx1"/>
              </a:solidFill>
              <a:latin typeface="+mn-lt"/>
              <a:ea typeface="+mn-ea"/>
              <a:cs typeface="+mn-cs"/>
            </a:endParaRPr>
          </a:p>
          <a:p>
            <a:pPr>
              <a:buFont typeface="Arial" pitchFamily="34" charset="0"/>
              <a:buNone/>
            </a:pPr>
            <a:r>
              <a:rPr lang="en-AU" sz="1200" b="0" kern="1200" baseline="0" noProof="0" dirty="0" smtClean="0">
                <a:solidFill>
                  <a:schemeClr val="tx1"/>
                </a:solidFill>
                <a:latin typeface="+mn-lt"/>
                <a:ea typeface="+mn-ea"/>
                <a:cs typeface="+mn-cs"/>
              </a:rPr>
              <a:t>Again, in groups and either based on Work Activities case study or Trainer’s scenarios, provide quotation to a customer.</a:t>
            </a:r>
          </a:p>
          <a:p>
            <a:pPr>
              <a:buFont typeface="Arial" pitchFamily="34" charset="0"/>
              <a:buNone/>
            </a:pPr>
            <a:r>
              <a:rPr lang="en-AU" sz="1200" b="0" kern="1200" baseline="0" noProof="0" dirty="0" smtClean="0">
                <a:solidFill>
                  <a:schemeClr val="tx1"/>
                </a:solidFill>
                <a:latin typeface="+mn-lt"/>
                <a:ea typeface="+mn-ea"/>
                <a:cs typeface="+mn-cs"/>
              </a:rPr>
              <a:t>Trainer to demonstrate steps, key activities and important points.</a:t>
            </a:r>
            <a:endParaRPr lang="en-AU" b="0" noProof="0" dirty="0" smtClean="0"/>
          </a:p>
          <a:p>
            <a:pPr>
              <a:buFont typeface="Arial" pitchFamily="34" charset="0"/>
              <a:buChar char="•"/>
            </a:pPr>
            <a:endParaRPr lang="en-AU" noProof="0" dirty="0" smtClean="0"/>
          </a:p>
          <a:p>
            <a:pPr>
              <a:buFont typeface="Arial" pitchFamily="34" charset="0"/>
              <a:buChar char="•"/>
            </a:pPr>
            <a:r>
              <a:rPr lang="en-AU" noProof="0" dirty="0" smtClean="0"/>
              <a:t>What are questions that</a:t>
            </a:r>
            <a:r>
              <a:rPr lang="en-AU" baseline="0" noProof="0" dirty="0" smtClean="0"/>
              <a:t> should be asked?</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a:t>
            </a:r>
            <a:r>
              <a:rPr lang="en-AU" sz="1200" b="1" kern="1200" baseline="0" noProof="0" dirty="0" smtClean="0">
                <a:solidFill>
                  <a:schemeClr val="tx1"/>
                </a:solidFill>
                <a:latin typeface="+mn-lt"/>
                <a:ea typeface="+mn-ea"/>
                <a:cs typeface="+mn-cs"/>
              </a:rPr>
              <a:t>Role Play – Providing a quotation to a customer (Slides 82-93)</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0" kern="1200" baseline="0" noProof="0" dirty="0" smtClean="0">
              <a:solidFill>
                <a:schemeClr val="tx1"/>
              </a:solidFill>
              <a:latin typeface="+mn-lt"/>
              <a:ea typeface="+mn-ea"/>
              <a:cs typeface="+mn-cs"/>
            </a:endParaRPr>
          </a:p>
          <a:p>
            <a:pPr>
              <a:buFont typeface="Arial" pitchFamily="34" charset="0"/>
              <a:buNone/>
            </a:pPr>
            <a:r>
              <a:rPr lang="en-AU" sz="1200" b="0" kern="1200" baseline="0" noProof="0" dirty="0" smtClean="0">
                <a:solidFill>
                  <a:schemeClr val="tx1"/>
                </a:solidFill>
                <a:latin typeface="+mn-lt"/>
                <a:ea typeface="+mn-ea"/>
                <a:cs typeface="+mn-cs"/>
              </a:rPr>
              <a:t>Again, in groups and either based on Work Activities case study or Trainer’s scenarios, provide quotation to a customer.</a:t>
            </a:r>
          </a:p>
          <a:p>
            <a:pPr>
              <a:buFont typeface="Arial" pitchFamily="34" charset="0"/>
              <a:buNone/>
            </a:pPr>
            <a:r>
              <a:rPr lang="en-AU" sz="1200" b="0" kern="1200" baseline="0" noProof="0" dirty="0" smtClean="0">
                <a:solidFill>
                  <a:schemeClr val="tx1"/>
                </a:solidFill>
                <a:latin typeface="+mn-lt"/>
                <a:ea typeface="+mn-ea"/>
                <a:cs typeface="+mn-cs"/>
              </a:rPr>
              <a:t>Trainer to demonstrate steps, key activities and important points.</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a:t>
            </a:r>
            <a:r>
              <a:rPr lang="en-AU" sz="1200" b="1" kern="1200" baseline="0" noProof="0" dirty="0" smtClean="0">
                <a:solidFill>
                  <a:schemeClr val="tx1"/>
                </a:solidFill>
                <a:latin typeface="+mn-lt"/>
                <a:ea typeface="+mn-ea"/>
                <a:cs typeface="+mn-cs"/>
              </a:rPr>
              <a:t>Role Play – Providing a quotation to a customer (Slides 82-93)</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0" kern="1200" baseline="0" noProof="0" dirty="0" smtClean="0">
              <a:solidFill>
                <a:schemeClr val="tx1"/>
              </a:solidFill>
              <a:latin typeface="+mn-lt"/>
              <a:ea typeface="+mn-ea"/>
              <a:cs typeface="+mn-cs"/>
            </a:endParaRPr>
          </a:p>
          <a:p>
            <a:pPr>
              <a:buFont typeface="Arial" pitchFamily="34" charset="0"/>
              <a:buNone/>
            </a:pPr>
            <a:r>
              <a:rPr lang="en-AU" sz="1200" b="0" kern="1200" baseline="0" noProof="0" dirty="0" smtClean="0">
                <a:solidFill>
                  <a:schemeClr val="tx1"/>
                </a:solidFill>
                <a:latin typeface="+mn-lt"/>
                <a:ea typeface="+mn-ea"/>
                <a:cs typeface="+mn-cs"/>
              </a:rPr>
              <a:t>Again, in groups and either based on Work Activities case study or Trainer’s scenarios, provide quotation to a customer.</a:t>
            </a:r>
          </a:p>
          <a:p>
            <a:pPr>
              <a:buFont typeface="Arial" pitchFamily="34" charset="0"/>
              <a:buNone/>
            </a:pPr>
            <a:r>
              <a:rPr lang="en-AU" sz="1200" b="0" kern="1200" baseline="0" noProof="0" dirty="0" smtClean="0">
                <a:solidFill>
                  <a:schemeClr val="tx1"/>
                </a:solidFill>
                <a:latin typeface="+mn-lt"/>
                <a:ea typeface="+mn-ea"/>
                <a:cs typeface="+mn-cs"/>
              </a:rPr>
              <a:t>Trainer to demonstrate steps, key activities and important points.</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a:t>
            </a:r>
            <a:r>
              <a:rPr lang="en-AU" sz="1200" b="1" kern="1200" baseline="0" noProof="0" dirty="0" smtClean="0">
                <a:solidFill>
                  <a:schemeClr val="tx1"/>
                </a:solidFill>
                <a:latin typeface="+mn-lt"/>
                <a:ea typeface="+mn-ea"/>
                <a:cs typeface="+mn-cs"/>
              </a:rPr>
              <a:t>Role Play – Providing a quotation to a customer (Slides 82-93)</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0" kern="1200" baseline="0" noProof="0" dirty="0" smtClean="0">
              <a:solidFill>
                <a:schemeClr val="tx1"/>
              </a:solidFill>
              <a:latin typeface="+mn-lt"/>
              <a:ea typeface="+mn-ea"/>
              <a:cs typeface="+mn-cs"/>
            </a:endParaRPr>
          </a:p>
          <a:p>
            <a:pPr>
              <a:buFont typeface="Arial" pitchFamily="34" charset="0"/>
              <a:buNone/>
            </a:pPr>
            <a:r>
              <a:rPr lang="en-AU" sz="1200" b="0" kern="1200" baseline="0" noProof="0" dirty="0" smtClean="0">
                <a:solidFill>
                  <a:schemeClr val="tx1"/>
                </a:solidFill>
                <a:latin typeface="+mn-lt"/>
                <a:ea typeface="+mn-ea"/>
                <a:cs typeface="+mn-cs"/>
              </a:rPr>
              <a:t>Again, in groups and either based on Work Activities case study or Trainer’s scenarios, provide quotation to a customer.</a:t>
            </a:r>
          </a:p>
          <a:p>
            <a:pPr>
              <a:buFont typeface="Arial" pitchFamily="34" charset="0"/>
              <a:buNone/>
            </a:pPr>
            <a:r>
              <a:rPr lang="en-AU" sz="1200" b="0" kern="1200" baseline="0" noProof="0" dirty="0" smtClean="0">
                <a:solidFill>
                  <a:schemeClr val="tx1"/>
                </a:solidFill>
                <a:latin typeface="+mn-lt"/>
                <a:ea typeface="+mn-ea"/>
                <a:cs typeface="+mn-cs"/>
              </a:rPr>
              <a:t>Trainer to demonstrate steps, key activities and important points.</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a:t>
            </a:r>
            <a:r>
              <a:rPr lang="en-AU" sz="1200" b="1" kern="1200" baseline="0" noProof="0" dirty="0" smtClean="0">
                <a:solidFill>
                  <a:schemeClr val="tx1"/>
                </a:solidFill>
                <a:latin typeface="+mn-lt"/>
                <a:ea typeface="+mn-ea"/>
                <a:cs typeface="+mn-cs"/>
              </a:rPr>
              <a:t>Role Play – Providing a quotation to a customer (Slides 82-93)</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0" kern="1200" baseline="0" noProof="0" dirty="0" smtClean="0">
              <a:solidFill>
                <a:schemeClr val="tx1"/>
              </a:solidFill>
              <a:latin typeface="+mn-lt"/>
              <a:ea typeface="+mn-ea"/>
              <a:cs typeface="+mn-cs"/>
            </a:endParaRPr>
          </a:p>
          <a:p>
            <a:pPr>
              <a:buFont typeface="Arial" pitchFamily="34" charset="0"/>
              <a:buNone/>
            </a:pPr>
            <a:r>
              <a:rPr lang="en-AU" sz="1200" b="0" kern="1200" baseline="0" noProof="0" dirty="0" smtClean="0">
                <a:solidFill>
                  <a:schemeClr val="tx1"/>
                </a:solidFill>
                <a:latin typeface="+mn-lt"/>
                <a:ea typeface="+mn-ea"/>
                <a:cs typeface="+mn-cs"/>
              </a:rPr>
              <a:t>Again, in groups and either based on Work Activities case study or Trainer’s scenarios, provide quotation to a customer.</a:t>
            </a:r>
          </a:p>
          <a:p>
            <a:pPr>
              <a:buFont typeface="Arial" pitchFamily="34" charset="0"/>
              <a:buNone/>
            </a:pPr>
            <a:r>
              <a:rPr lang="en-AU" sz="1200" b="0" kern="1200" baseline="0" noProof="0" dirty="0" smtClean="0">
                <a:solidFill>
                  <a:schemeClr val="tx1"/>
                </a:solidFill>
                <a:latin typeface="+mn-lt"/>
                <a:ea typeface="+mn-ea"/>
                <a:cs typeface="+mn-cs"/>
              </a:rPr>
              <a:t>Trainer to demonstrate steps, key activities and important points.</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a:t>
            </a:r>
            <a:r>
              <a:rPr lang="en-AU" sz="1200" b="1" kern="1200" baseline="0" noProof="0" dirty="0" smtClean="0">
                <a:solidFill>
                  <a:schemeClr val="tx1"/>
                </a:solidFill>
                <a:latin typeface="+mn-lt"/>
                <a:ea typeface="+mn-ea"/>
                <a:cs typeface="+mn-cs"/>
              </a:rPr>
              <a:t>Role Play – Providing a quotation to a customer (Slides 82-93)</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0" kern="1200" baseline="0" noProof="0" dirty="0" smtClean="0">
              <a:solidFill>
                <a:schemeClr val="tx1"/>
              </a:solidFill>
              <a:latin typeface="+mn-lt"/>
              <a:ea typeface="+mn-ea"/>
              <a:cs typeface="+mn-cs"/>
            </a:endParaRPr>
          </a:p>
          <a:p>
            <a:pPr>
              <a:buFont typeface="Arial" pitchFamily="34" charset="0"/>
              <a:buNone/>
            </a:pPr>
            <a:r>
              <a:rPr lang="en-AU" sz="1200" b="0" kern="1200" baseline="0" noProof="0" dirty="0" smtClean="0">
                <a:solidFill>
                  <a:schemeClr val="tx1"/>
                </a:solidFill>
                <a:latin typeface="+mn-lt"/>
                <a:ea typeface="+mn-ea"/>
                <a:cs typeface="+mn-cs"/>
              </a:rPr>
              <a:t>Again, in groups and either based on Work Activities case study or Trainer’s scenarios, provide quotation to a customer.</a:t>
            </a:r>
          </a:p>
          <a:p>
            <a:pPr>
              <a:buFont typeface="Arial" pitchFamily="34" charset="0"/>
              <a:buNone/>
            </a:pPr>
            <a:r>
              <a:rPr lang="en-AU" sz="1200" b="0" kern="1200" baseline="0" noProof="0" dirty="0" smtClean="0">
                <a:solidFill>
                  <a:schemeClr val="tx1"/>
                </a:solidFill>
                <a:latin typeface="+mn-lt"/>
                <a:ea typeface="+mn-ea"/>
                <a:cs typeface="+mn-cs"/>
              </a:rPr>
              <a:t>Trainer to demonstrate steps, key activities and important points.</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a:t>
            </a:r>
            <a:r>
              <a:rPr lang="en-AU" sz="1200" b="1" kern="1200" baseline="0" noProof="0" dirty="0" smtClean="0">
                <a:solidFill>
                  <a:schemeClr val="tx1"/>
                </a:solidFill>
                <a:latin typeface="+mn-lt"/>
                <a:ea typeface="+mn-ea"/>
                <a:cs typeface="+mn-cs"/>
              </a:rPr>
              <a:t>Role Play – Providing a quotation to a customer (Slides 82-93)</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0" kern="1200" baseline="0" noProof="0" dirty="0" smtClean="0">
              <a:solidFill>
                <a:schemeClr val="tx1"/>
              </a:solidFill>
              <a:latin typeface="+mn-lt"/>
              <a:ea typeface="+mn-ea"/>
              <a:cs typeface="+mn-cs"/>
            </a:endParaRPr>
          </a:p>
          <a:p>
            <a:pPr>
              <a:buFont typeface="Arial" pitchFamily="34" charset="0"/>
              <a:buNone/>
            </a:pPr>
            <a:r>
              <a:rPr lang="en-AU" sz="1200" b="0" kern="1200" baseline="0" noProof="0" dirty="0" smtClean="0">
                <a:solidFill>
                  <a:schemeClr val="tx1"/>
                </a:solidFill>
                <a:latin typeface="+mn-lt"/>
                <a:ea typeface="+mn-ea"/>
                <a:cs typeface="+mn-cs"/>
              </a:rPr>
              <a:t>Again, in groups and either based on Work Activities case study or Trainer’s scenarios, provide quotation to a customer.</a:t>
            </a:r>
          </a:p>
          <a:p>
            <a:pPr>
              <a:buFont typeface="Arial" pitchFamily="34" charset="0"/>
              <a:buNone/>
            </a:pPr>
            <a:r>
              <a:rPr lang="en-AU" sz="1200" b="0" kern="1200" baseline="0" noProof="0" dirty="0" smtClean="0">
                <a:solidFill>
                  <a:schemeClr val="tx1"/>
                </a:solidFill>
                <a:latin typeface="+mn-lt"/>
                <a:ea typeface="+mn-ea"/>
                <a:cs typeface="+mn-cs"/>
              </a:rPr>
              <a:t>Trainer to demonstrate steps, key activities and important points.</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a:t>
            </a:r>
            <a:r>
              <a:rPr lang="en-AU" sz="1200" b="1" kern="1200" baseline="0" noProof="0" dirty="0" smtClean="0">
                <a:solidFill>
                  <a:schemeClr val="tx1"/>
                </a:solidFill>
                <a:latin typeface="+mn-lt"/>
                <a:ea typeface="+mn-ea"/>
                <a:cs typeface="+mn-cs"/>
              </a:rPr>
              <a:t>Role Play – Providing a quotation to a customer (Slides 82-93)</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0" kern="1200" baseline="0" noProof="0" dirty="0" smtClean="0">
              <a:solidFill>
                <a:schemeClr val="tx1"/>
              </a:solidFill>
              <a:latin typeface="+mn-lt"/>
              <a:ea typeface="+mn-ea"/>
              <a:cs typeface="+mn-cs"/>
            </a:endParaRPr>
          </a:p>
          <a:p>
            <a:pPr>
              <a:buFont typeface="Arial" pitchFamily="34" charset="0"/>
              <a:buNone/>
            </a:pPr>
            <a:r>
              <a:rPr lang="en-AU" sz="1200" b="0" kern="1200" baseline="0" noProof="0" dirty="0" smtClean="0">
                <a:solidFill>
                  <a:schemeClr val="tx1"/>
                </a:solidFill>
                <a:latin typeface="+mn-lt"/>
                <a:ea typeface="+mn-ea"/>
                <a:cs typeface="+mn-cs"/>
              </a:rPr>
              <a:t>Again, in groups and either based on Work Activities case study or Trainer’s scenarios, provide quotation to a customer.</a:t>
            </a:r>
          </a:p>
          <a:p>
            <a:pPr>
              <a:buFont typeface="Arial" pitchFamily="34" charset="0"/>
              <a:buNone/>
            </a:pPr>
            <a:r>
              <a:rPr lang="en-AU" sz="1200" b="0" kern="1200" baseline="0" noProof="0" dirty="0" smtClean="0">
                <a:solidFill>
                  <a:schemeClr val="tx1"/>
                </a:solidFill>
                <a:latin typeface="+mn-lt"/>
                <a:ea typeface="+mn-ea"/>
                <a:cs typeface="+mn-cs"/>
              </a:rPr>
              <a:t>Trainer to demonstrate steps, key activities and important points.</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a:t>
            </a:r>
            <a:r>
              <a:rPr lang="en-AU" sz="1200" b="1" kern="1200" baseline="0" noProof="0" dirty="0" smtClean="0">
                <a:solidFill>
                  <a:schemeClr val="tx1"/>
                </a:solidFill>
                <a:latin typeface="+mn-lt"/>
                <a:ea typeface="+mn-ea"/>
                <a:cs typeface="+mn-cs"/>
              </a:rPr>
              <a:t>- Questions</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0" kern="1200" baseline="0" noProof="0" dirty="0" smtClean="0">
              <a:solidFill>
                <a:schemeClr val="tx1"/>
              </a:solidFill>
              <a:latin typeface="+mn-lt"/>
              <a:ea typeface="+mn-ea"/>
              <a:cs typeface="+mn-cs"/>
            </a:endParaRPr>
          </a:p>
          <a:p>
            <a:pPr>
              <a:buFont typeface="Arial" pitchFamily="34" charset="0"/>
              <a:buNone/>
            </a:pPr>
            <a:r>
              <a:rPr lang="en-AU" sz="1200" b="0" kern="1200" baseline="0" noProof="0" dirty="0" smtClean="0">
                <a:solidFill>
                  <a:schemeClr val="tx1"/>
                </a:solidFill>
                <a:latin typeface="+mn-lt"/>
                <a:ea typeface="+mn-ea"/>
                <a:cs typeface="+mn-cs"/>
              </a:rPr>
              <a:t>Discuss question in the slide</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Discussion - Questions</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noProof="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noProof="0" dirty="0" smtClean="0">
                <a:solidFill>
                  <a:schemeClr val="tx1"/>
                </a:solidFill>
                <a:latin typeface="+mn-lt"/>
                <a:ea typeface="+mn-ea"/>
                <a:cs typeface="+mn-cs"/>
              </a:rPr>
              <a:t>What other buying signs are there?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noProof="0" dirty="0" smtClean="0">
                <a:solidFill>
                  <a:schemeClr val="tx1"/>
                </a:solidFill>
                <a:latin typeface="+mn-lt"/>
                <a:ea typeface="+mn-ea"/>
                <a:cs typeface="+mn-cs"/>
              </a:rPr>
              <a:t>What should you do when you see a buying sign?</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a:t>
            </a:r>
            <a:r>
              <a:rPr lang="en-AU" sz="1200" b="1" kern="1200" baseline="0" noProof="0" dirty="0" smtClean="0">
                <a:solidFill>
                  <a:schemeClr val="tx1"/>
                </a:solidFill>
                <a:latin typeface="+mn-lt"/>
                <a:ea typeface="+mn-ea"/>
                <a:cs typeface="+mn-cs"/>
              </a:rPr>
              <a:t>Role Play – Suggest actions to make a booking</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0" kern="1200" baseline="0" noProof="0" dirty="0" smtClean="0">
              <a:solidFill>
                <a:schemeClr val="tx1"/>
              </a:solidFill>
              <a:latin typeface="+mn-lt"/>
              <a:ea typeface="+mn-ea"/>
              <a:cs typeface="+mn-cs"/>
            </a:endParaRPr>
          </a:p>
          <a:p>
            <a:pPr>
              <a:buFont typeface="Arial" pitchFamily="34" charset="0"/>
              <a:buNone/>
            </a:pPr>
            <a:r>
              <a:rPr lang="en-AU" sz="1200" b="0" kern="1200" baseline="0" noProof="0" dirty="0" smtClean="0">
                <a:solidFill>
                  <a:schemeClr val="tx1"/>
                </a:solidFill>
                <a:latin typeface="+mn-lt"/>
                <a:ea typeface="+mn-ea"/>
                <a:cs typeface="+mn-cs"/>
              </a:rPr>
              <a:t>Trainer to demonstrate steps, key activities and important points.</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follow up activities need to take place?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Discussion - Questions</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noProof="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noProof="0" dirty="0" smtClean="0">
                <a:solidFill>
                  <a:schemeClr val="tx1"/>
                </a:solidFill>
                <a:latin typeface="+mn-lt"/>
                <a:ea typeface="+mn-ea"/>
                <a:cs typeface="+mn-cs"/>
              </a:rPr>
              <a:t>Why is it important that customers are kept up to date with changes?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noProof="0" dirty="0" smtClean="0">
                <a:solidFill>
                  <a:schemeClr val="tx1"/>
                </a:solidFill>
                <a:latin typeface="+mn-lt"/>
                <a:ea typeface="+mn-ea"/>
                <a:cs typeface="+mn-cs"/>
              </a:rPr>
              <a:t>How can you keep them updated?</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Discussion – Discuss changes</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noProof="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noProof="0" dirty="0" smtClean="0">
                <a:solidFill>
                  <a:schemeClr val="tx1"/>
                </a:solidFill>
                <a:latin typeface="+mn-lt"/>
                <a:ea typeface="+mn-ea"/>
                <a:cs typeface="+mn-cs"/>
              </a:rPr>
              <a:t>What is the cause?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noProof="0" dirty="0" smtClean="0">
                <a:solidFill>
                  <a:schemeClr val="tx1"/>
                </a:solidFill>
                <a:latin typeface="+mn-lt"/>
                <a:ea typeface="+mn-ea"/>
                <a:cs typeface="+mn-cs"/>
              </a:rPr>
              <a:t>How do they impact on a quotation and it’s costs?</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Discussion - Questions</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noProof="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noProof="0" dirty="0" smtClean="0">
                <a:solidFill>
                  <a:schemeClr val="tx1"/>
                </a:solidFill>
                <a:latin typeface="+mn-lt"/>
                <a:ea typeface="+mn-ea"/>
                <a:cs typeface="+mn-cs"/>
              </a:rPr>
              <a:t>Discuss question in the slide.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noProof="0" dirty="0" smtClean="0">
                <a:solidFill>
                  <a:schemeClr val="tx1"/>
                </a:solidFill>
                <a:latin typeface="+mn-lt"/>
                <a:ea typeface="+mn-ea"/>
                <a:cs typeface="+mn-cs"/>
              </a:rPr>
              <a:t>Trainer to provide examples based on personal experience.</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Discussion - Questions</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noProof="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noProof="0" dirty="0" smtClean="0">
                <a:solidFill>
                  <a:schemeClr val="tx1"/>
                </a:solidFill>
                <a:latin typeface="+mn-lt"/>
                <a:ea typeface="+mn-ea"/>
                <a:cs typeface="+mn-cs"/>
              </a:rPr>
              <a:t>Which methods are preferred and why?</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Discussion - Questions</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noProof="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noProof="0" dirty="0" smtClean="0">
                <a:solidFill>
                  <a:schemeClr val="tx1"/>
                </a:solidFill>
                <a:latin typeface="+mn-lt"/>
                <a:ea typeface="+mn-ea"/>
                <a:cs typeface="+mn-cs"/>
              </a:rPr>
              <a:t>What is the role of each these activities?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noProof="0" dirty="0" smtClean="0">
                <a:solidFill>
                  <a:schemeClr val="tx1"/>
                </a:solidFill>
                <a:latin typeface="+mn-lt"/>
                <a:ea typeface="+mn-ea"/>
                <a:cs typeface="+mn-cs"/>
              </a:rPr>
              <a:t>What are the tasks associated with each?</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Discussion - Questions</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noProof="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noProof="0" dirty="0" smtClean="0">
                <a:solidFill>
                  <a:schemeClr val="tx1"/>
                </a:solidFill>
                <a:latin typeface="+mn-lt"/>
                <a:ea typeface="+mn-ea"/>
                <a:cs typeface="+mn-cs"/>
              </a:rPr>
              <a:t>Discuss questions in the slide.</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Discussion – Activity </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noProof="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noProof="0" dirty="0" smtClean="0">
                <a:solidFill>
                  <a:schemeClr val="tx1"/>
                </a:solidFill>
                <a:latin typeface="+mn-lt"/>
                <a:ea typeface="+mn-ea"/>
                <a:cs typeface="+mn-cs"/>
              </a:rPr>
              <a:t>Trainer to lead the activity described in this slide.</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Discussion - Questions</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noProof="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noProof="0" dirty="0" smtClean="0">
                <a:solidFill>
                  <a:schemeClr val="tx1"/>
                </a:solidFill>
                <a:latin typeface="+mn-lt"/>
                <a:ea typeface="+mn-ea"/>
                <a:cs typeface="+mn-cs"/>
              </a:rPr>
              <a:t>Discuss the questions in this slide.</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Discussion </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noProof="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noProof="0" dirty="0" smtClean="0">
                <a:solidFill>
                  <a:schemeClr val="tx1"/>
                </a:solidFill>
                <a:latin typeface="+mn-lt"/>
                <a:ea typeface="+mn-ea"/>
                <a:cs typeface="+mn-cs"/>
              </a:rPr>
              <a:t>Discuss the importance of these considerations.</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Discussion – Questions &amp; Demonstration</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noProof="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noProof="0" dirty="0" smtClean="0">
                <a:solidFill>
                  <a:schemeClr val="tx1"/>
                </a:solidFill>
                <a:latin typeface="+mn-lt"/>
                <a:ea typeface="+mn-ea"/>
                <a:cs typeface="+mn-cs"/>
              </a:rPr>
              <a:t>Why is it important to record </a:t>
            </a:r>
            <a:r>
              <a:rPr lang="en-AU" sz="1200" b="0" dirty="0" smtClean="0">
                <a:latin typeface="Helvetica" pitchFamily="34" charset="0"/>
              </a:rPr>
              <a:t>client contact conversations?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noProof="0" dirty="0" smtClean="0">
                <a:latin typeface="Helvetica" pitchFamily="34" charset="0"/>
              </a:rPr>
              <a:t>How can they be recorded?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noProof="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noProof="0" dirty="0" smtClean="0">
                <a:latin typeface="Helvetica" pitchFamily="34" charset="0"/>
              </a:rPr>
              <a:t>Trainer to demonstrate how to keep updated r</a:t>
            </a:r>
            <a:r>
              <a:rPr lang="en-AU" sz="1200" b="0" dirty="0" smtClean="0">
                <a:latin typeface="Helvetica" pitchFamily="34" charset="0"/>
              </a:rPr>
              <a:t>ecordings of client contact conversations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Discussion – Role play</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noProof="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noProof="0" dirty="0" smtClean="0">
                <a:solidFill>
                  <a:schemeClr val="tx1"/>
                </a:solidFill>
                <a:latin typeface="+mn-lt"/>
                <a:ea typeface="+mn-ea"/>
                <a:cs typeface="+mn-cs"/>
              </a:rPr>
              <a:t>Trainer to demonstrate how to encourage a purchase.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noProof="0" dirty="0" smtClean="0">
                <a:solidFill>
                  <a:schemeClr val="tx1"/>
                </a:solidFill>
                <a:latin typeface="+mn-lt"/>
                <a:ea typeface="+mn-ea"/>
                <a:cs typeface="+mn-cs"/>
              </a:rPr>
              <a:t>Audience to practice in pairs.</a:t>
            </a:r>
            <a:endParaRPr lang="en-AU" sz="1200" b="0" dirty="0" smtClean="0">
              <a:latin typeface="Helvetica" pitchFamily="34" charset="0"/>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109</a:t>
            </a:fld>
            <a:endParaRPr lang="en-US" dirty="0"/>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Discussion – Role play</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noProof="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noProof="0" dirty="0" smtClean="0">
                <a:solidFill>
                  <a:schemeClr val="tx1"/>
                </a:solidFill>
                <a:latin typeface="+mn-lt"/>
                <a:ea typeface="+mn-ea"/>
                <a:cs typeface="+mn-cs"/>
              </a:rPr>
              <a:t>Trainer to demonstrate how to encourage a purchase.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noProof="0" dirty="0" smtClean="0">
                <a:solidFill>
                  <a:schemeClr val="tx1"/>
                </a:solidFill>
                <a:latin typeface="+mn-lt"/>
                <a:ea typeface="+mn-ea"/>
                <a:cs typeface="+mn-cs"/>
              </a:rPr>
              <a:t>Audience to practice in pairs.</a:t>
            </a:r>
            <a:endParaRPr lang="en-AU" sz="1200" b="0" dirty="0" smtClean="0">
              <a:latin typeface="Helvetica" pitchFamily="34" charset="0"/>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110</a:t>
            </a:fld>
            <a:endParaRPr lang="en-US" dirty="0"/>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Discussion – Role play</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noProof="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noProof="0" dirty="0" smtClean="0">
                <a:solidFill>
                  <a:schemeClr val="tx1"/>
                </a:solidFill>
                <a:latin typeface="+mn-lt"/>
                <a:ea typeface="+mn-ea"/>
                <a:cs typeface="+mn-cs"/>
              </a:rPr>
              <a:t>Trainer to demonstrate how to encourage a purchase.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noProof="0" dirty="0" smtClean="0">
                <a:solidFill>
                  <a:schemeClr val="tx1"/>
                </a:solidFill>
                <a:latin typeface="+mn-lt"/>
                <a:ea typeface="+mn-ea"/>
                <a:cs typeface="+mn-cs"/>
              </a:rPr>
              <a:t>Audience to practice in pairs.</a:t>
            </a:r>
            <a:endParaRPr lang="en-AU" sz="1200" b="0" dirty="0" smtClean="0">
              <a:latin typeface="Helvetica" pitchFamily="34" charset="0"/>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111</a:t>
            </a:fld>
            <a:endParaRPr lang="en-US" dirty="0"/>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Discussion – Questions and Role play</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noProof="0" dirty="0" smtClean="0">
                <a:solidFill>
                  <a:schemeClr val="tx1"/>
                </a:solidFill>
                <a:latin typeface="+mn-lt"/>
                <a:ea typeface="+mn-ea"/>
                <a:cs typeface="+mn-cs"/>
              </a:rPr>
              <a:t>What is the difference in these closing methods?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noProof="0" dirty="0" smtClean="0">
                <a:solidFill>
                  <a:schemeClr val="tx1"/>
                </a:solidFill>
                <a:latin typeface="+mn-lt"/>
                <a:ea typeface="+mn-ea"/>
                <a:cs typeface="+mn-cs"/>
              </a:rPr>
              <a:t>When would each of these methods be the most appropriate?</a:t>
            </a:r>
            <a:endParaRPr lang="en-AU" sz="1200" b="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noProof="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noProof="0" dirty="0" smtClean="0">
                <a:solidFill>
                  <a:schemeClr val="tx1"/>
                </a:solidFill>
                <a:latin typeface="+mn-lt"/>
                <a:ea typeface="+mn-ea"/>
                <a:cs typeface="+mn-cs"/>
              </a:rPr>
              <a:t>Trainer to demonstrate how of closing methods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noProof="0" dirty="0" smtClean="0">
                <a:solidFill>
                  <a:schemeClr val="tx1"/>
                </a:solidFill>
                <a:latin typeface="+mn-lt"/>
                <a:ea typeface="+mn-ea"/>
                <a:cs typeface="+mn-cs"/>
              </a:rPr>
              <a:t>Audience to practice in pairs.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noProof="0" dirty="0" smtClean="0">
              <a:solidFill>
                <a:schemeClr val="tx1"/>
              </a:solidFill>
              <a:latin typeface="+mn-lt"/>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112</a:t>
            </a:fld>
            <a:endParaRPr lang="en-US" dirty="0"/>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Discussion – Role play</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noProof="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noProof="0" dirty="0" smtClean="0">
                <a:solidFill>
                  <a:schemeClr val="tx1"/>
                </a:solidFill>
                <a:latin typeface="+mn-lt"/>
                <a:ea typeface="+mn-ea"/>
                <a:cs typeface="+mn-cs"/>
              </a:rPr>
              <a:t>Trainer to demonstrate how to thank the customer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noProof="0" dirty="0" smtClean="0">
                <a:solidFill>
                  <a:schemeClr val="tx1"/>
                </a:solidFill>
                <a:latin typeface="+mn-lt"/>
                <a:ea typeface="+mn-ea"/>
                <a:cs typeface="+mn-cs"/>
              </a:rPr>
              <a:t>Audience to practice in pairs.</a:t>
            </a:r>
            <a:endParaRPr lang="en-AU" sz="1200" b="0" dirty="0" smtClean="0">
              <a:latin typeface="Helvetica" pitchFamily="34" charset="0"/>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113</a:t>
            </a:fld>
            <a:endParaRPr lang="en-US" dirty="0"/>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Discussion – Questions and Role play</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questions in the slide.</a:t>
            </a:r>
            <a:endParaRPr lang="en-AU" sz="1200" b="1" kern="1200" baseline="0" noProof="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noProof="0" dirty="0" smtClean="0">
                <a:solidFill>
                  <a:schemeClr val="tx1"/>
                </a:solidFill>
                <a:latin typeface="+mn-lt"/>
                <a:ea typeface="+mn-ea"/>
                <a:cs typeface="+mn-cs"/>
              </a:rPr>
              <a:t>Trainer to demonstrate how to </a:t>
            </a:r>
            <a:r>
              <a:rPr lang="en-AU" sz="1200" b="0" kern="1200" baseline="0" noProof="0" dirty="0" smtClean="0">
                <a:solidFill>
                  <a:schemeClr val="tx1"/>
                </a:solidFill>
                <a:latin typeface="Helvetica" pitchFamily="34" charset="0"/>
                <a:ea typeface="+mn-ea"/>
                <a:cs typeface="+mn-cs"/>
              </a:rPr>
              <a:t>o</a:t>
            </a:r>
            <a:r>
              <a:rPr lang="en-AU" sz="1200" b="0" dirty="0" smtClean="0">
                <a:latin typeface="Helvetica" pitchFamily="34" charset="0"/>
              </a:rPr>
              <a:t>vercome objections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noProof="0" dirty="0" smtClean="0">
                <a:solidFill>
                  <a:schemeClr val="tx1"/>
                </a:solidFill>
                <a:latin typeface="+mn-lt"/>
                <a:ea typeface="+mn-ea"/>
                <a:cs typeface="+mn-cs"/>
              </a:rPr>
              <a:t>Audience to practice in pairs.</a:t>
            </a:r>
            <a:endParaRPr lang="en-AU" sz="1200" b="0" dirty="0" smtClean="0">
              <a:latin typeface="Helvetica" pitchFamily="34" charset="0"/>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114</a:t>
            </a:fld>
            <a:endParaRPr lang="en-US" dirty="0"/>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Discussion – Questions &amp; L</a:t>
            </a:r>
            <a:r>
              <a:rPr lang="en-AU" sz="1200" b="1" kern="1200" baseline="0" noProof="0" dirty="0" smtClean="0">
                <a:solidFill>
                  <a:schemeClr val="tx1"/>
                </a:solidFill>
                <a:latin typeface="+mn-lt"/>
                <a:ea typeface="+mn-ea"/>
                <a:cs typeface="+mn-cs"/>
              </a:rPr>
              <a:t>ist </a:t>
            </a:r>
            <a:r>
              <a:rPr lang="en-AU" sz="1200" b="1" dirty="0" smtClean="0">
                <a:latin typeface="Helvetica" pitchFamily="34" charset="0"/>
              </a:rPr>
              <a:t>post sale activities</a:t>
            </a: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question in the slide.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noProof="0" dirty="0" smtClean="0">
                <a:solidFill>
                  <a:schemeClr val="tx1"/>
                </a:solidFill>
                <a:latin typeface="+mn-lt"/>
                <a:ea typeface="+mn-ea"/>
                <a:cs typeface="+mn-cs"/>
              </a:rPr>
              <a:t>Develop a list of </a:t>
            </a:r>
            <a:r>
              <a:rPr lang="en-AU" sz="1200" b="0" dirty="0" smtClean="0">
                <a:latin typeface="Helvetica" pitchFamily="34" charset="0"/>
              </a:rPr>
              <a:t>post sale activities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115</a:t>
            </a:fld>
            <a:endParaRPr lang="en-US" dirty="0"/>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Discussion – Questions and Demonstration</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noProof="0" dirty="0" smtClean="0">
                <a:solidFill>
                  <a:schemeClr val="tx1"/>
                </a:solidFill>
                <a:latin typeface="+mn-lt"/>
                <a:ea typeface="+mn-ea"/>
                <a:cs typeface="+mn-cs"/>
              </a:rPr>
              <a:t>How and when should you record changes.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noProof="0" dirty="0" smtClean="0">
                <a:solidFill>
                  <a:schemeClr val="tx1"/>
                </a:solidFill>
                <a:latin typeface="+mn-lt"/>
                <a:ea typeface="+mn-ea"/>
                <a:cs typeface="+mn-cs"/>
              </a:rPr>
              <a:t>Trainer to demonstrate methods including being able to identify ‘most current version’</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116</a:t>
            </a:fld>
            <a:endParaRPr lang="en-US" dirty="0"/>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Discussion – Demonstrate, Discussion and Role Play</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noProof="0" dirty="0" smtClean="0">
                <a:solidFill>
                  <a:schemeClr val="tx1"/>
                </a:solidFill>
                <a:latin typeface="+mn-lt"/>
                <a:ea typeface="+mn-ea"/>
                <a:cs typeface="+mn-cs"/>
              </a:rPr>
              <a:t>Trainer to demonstrate (where possible) and discuss the different </a:t>
            </a:r>
            <a:r>
              <a:rPr lang="en-AU" sz="1200" b="0" dirty="0" smtClean="0">
                <a:latin typeface="Helvetica" pitchFamily="34" charset="0"/>
              </a:rPr>
              <a:t>post-sale activities.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noProof="0" dirty="0" smtClean="0">
                <a:solidFill>
                  <a:schemeClr val="tx1"/>
                </a:solidFill>
                <a:latin typeface="+mn-lt"/>
                <a:ea typeface="+mn-ea"/>
                <a:cs typeface="+mn-cs"/>
              </a:rPr>
              <a:t>Where possible, audience should role play </a:t>
            </a:r>
            <a:r>
              <a:rPr lang="en-AU" sz="1200" b="0" dirty="0" smtClean="0">
                <a:latin typeface="Helvetica" pitchFamily="34" charset="0"/>
              </a:rPr>
              <a:t>post-sale activities.</a:t>
            </a:r>
            <a:endParaRPr lang="en-AU" sz="1200" b="0" kern="1200" baseline="0" noProof="0" dirty="0" smtClean="0">
              <a:solidFill>
                <a:schemeClr val="tx1"/>
              </a:solidFill>
              <a:latin typeface="+mn-lt"/>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117</a:t>
            </a:fld>
            <a:endParaRPr lang="en-US" dirty="0"/>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Discussion – Demonstrate, Discussion and Role Play</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noProof="0" dirty="0" smtClean="0">
                <a:solidFill>
                  <a:schemeClr val="tx1"/>
                </a:solidFill>
                <a:latin typeface="+mn-lt"/>
                <a:ea typeface="+mn-ea"/>
                <a:cs typeface="+mn-cs"/>
              </a:rPr>
              <a:t>Trainer to demonstrate (where possible) and discuss the different </a:t>
            </a:r>
            <a:r>
              <a:rPr lang="en-AU" sz="1200" b="0" dirty="0" smtClean="0">
                <a:latin typeface="Helvetica" pitchFamily="34" charset="0"/>
              </a:rPr>
              <a:t>post-sale activities.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noProof="0" dirty="0" smtClean="0">
                <a:solidFill>
                  <a:schemeClr val="tx1"/>
                </a:solidFill>
                <a:latin typeface="+mn-lt"/>
                <a:ea typeface="+mn-ea"/>
                <a:cs typeface="+mn-cs"/>
              </a:rPr>
              <a:t>Where possible, audience should role play </a:t>
            </a:r>
            <a:r>
              <a:rPr lang="en-AU" sz="1200" b="0" dirty="0" smtClean="0">
                <a:latin typeface="Helvetica" pitchFamily="34" charset="0"/>
              </a:rPr>
              <a:t>post-sale activities.</a:t>
            </a:r>
            <a:endParaRPr lang="en-AU" sz="1200" b="0" kern="1200" baseline="0" noProof="0" dirty="0" smtClean="0">
              <a:solidFill>
                <a:schemeClr val="tx1"/>
              </a:solidFill>
              <a:latin typeface="+mn-lt"/>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118</a:t>
            </a:fld>
            <a:endParaRPr lang="en-US" dirty="0"/>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Discussion – Questions </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questions in the slide.</a:t>
            </a:r>
            <a:endParaRPr lang="en-AU" sz="1200" b="1" kern="1200" baseline="0" noProof="0" dirty="0" smtClean="0">
              <a:solidFill>
                <a:schemeClr val="tx1"/>
              </a:solidFill>
              <a:latin typeface="+mn-lt"/>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119</a:t>
            </a:fld>
            <a:endParaRPr lang="en-US" dirty="0"/>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This</a:t>
            </a:r>
            <a:r>
              <a:rPr lang="en-AU" sz="1200" kern="1200" baseline="0" dirty="0" smtClean="0">
                <a:solidFill>
                  <a:schemeClr val="tx1"/>
                </a:solidFill>
                <a:ea typeface="+mn-ea"/>
                <a:cs typeface="+mn-cs"/>
              </a:rPr>
              <a:t> is the conclusion of the subject.</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Thank the audience and deliver assessments as required.</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120</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1/13/2015</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1/13/2015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1/13/2015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1/13/2015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1/13/2015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1/13/2015</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1/13/2015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1/13/2015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1/13/2015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1/13/2015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1/13/2015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60B9F9CF-7D2C-460C-8F3E-F6213A54EF65}" type="datetime1">
              <a:rPr lang="en-US" smtClean="0"/>
              <a:pPr/>
              <a:t>1/13/2015</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99592" y="332656"/>
            <a:ext cx="7488160" cy="1296144"/>
          </a:xfrm>
        </p:spPr>
        <p:txBody>
          <a:bodyPr>
            <a:normAutofit fontScale="90000"/>
          </a:bodyPr>
          <a:lstStyle/>
          <a:p>
            <a:r>
              <a:rPr lang="en-AU" sz="4000" dirty="0">
                <a:ln w="5000" cmpd="sng">
                  <a:noFill/>
                  <a:prstDash val="solid"/>
                </a:ln>
                <a:solidFill>
                  <a:srgbClr val="FF6600"/>
                </a:solidFill>
                <a:latin typeface="Helvetica" pitchFamily="34" charset="0"/>
              </a:rPr>
              <a:t>PREPARE AND SUBMIT </a:t>
            </a:r>
            <a:r>
              <a:rPr lang="en-AU" sz="4000" dirty="0" smtClean="0">
                <a:ln w="5000" cmpd="sng">
                  <a:noFill/>
                  <a:prstDash val="solid"/>
                </a:ln>
                <a:solidFill>
                  <a:srgbClr val="FF6600"/>
                </a:solidFill>
                <a:latin typeface="Helvetica" pitchFamily="34" charset="0"/>
              </a:rPr>
              <a:t>QUOTATIONS</a:t>
            </a:r>
            <a:endParaRPr lang="en-AU" sz="4000" dirty="0">
              <a:ln w="5000" cmpd="sng">
                <a:noFill/>
                <a:prstDash val="solid"/>
              </a:ln>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AU" dirty="0" smtClean="0"/>
              <a:t> </a:t>
            </a:r>
            <a:r>
              <a:rPr lang="en-AU" dirty="0" smtClean="0">
                <a:latin typeface="Helvetica" pitchFamily="34" charset="0"/>
              </a:rPr>
              <a:t>Slide </a:t>
            </a:r>
            <a:fld id="{90BDF71C-F485-43AE-8825-5070AF1EA8C9}" type="slidenum">
              <a:rPr lang="en-AU" smtClean="0">
                <a:latin typeface="Helvetica" pitchFamily="34" charset="0"/>
              </a:rPr>
              <a:pPr/>
              <a:t>1</a:t>
            </a:fld>
            <a:endParaRPr lang="en-AU" dirty="0">
              <a:latin typeface="Helvetica" pitchFamily="34" charset="0"/>
            </a:endParaRPr>
          </a:p>
        </p:txBody>
      </p:sp>
      <p:grpSp>
        <p:nvGrpSpPr>
          <p:cNvPr id="21" name="Group 20"/>
          <p:cNvGrpSpPr/>
          <p:nvPr/>
        </p:nvGrpSpPr>
        <p:grpSpPr>
          <a:xfrm>
            <a:off x="662584" y="1628800"/>
            <a:ext cx="5709616" cy="4176464"/>
            <a:chOff x="0" y="0"/>
            <a:chExt cx="7585544" cy="6098650"/>
          </a:xfrm>
        </p:grpSpPr>
        <p:pic>
          <p:nvPicPr>
            <p:cNvPr id="22" name="Picture 21"/>
            <p:cNvPicPr>
              <a:picLocks noChangeAspect="1"/>
            </p:cNvPicPr>
            <p:nvPr/>
          </p:nvPicPr>
          <p:blipFill rotWithShape="1">
            <a:blip r:embed="rId3" cstate="print">
              <a:extLst>
                <a:ext uri="{28A0092B-C50C-407E-A947-70E740481C1C}">
                  <a14:useLocalDpi xmlns:a14="http://schemas.microsoft.com/office/drawing/2010/main" val="0"/>
                </a:ext>
              </a:extLst>
            </a:blip>
            <a:srcRect l="23382" t="8066" r="23964" b="10443"/>
            <a:stretch/>
          </p:blipFill>
          <p:spPr bwMode="auto">
            <a:xfrm>
              <a:off x="4468633" y="1502797"/>
              <a:ext cx="3069203" cy="3053300"/>
            </a:xfrm>
            <a:prstGeom prst="rect">
              <a:avLst/>
            </a:prstGeom>
            <a:ln>
              <a:noFill/>
            </a:ln>
            <a:extLst>
              <a:ext uri="{53640926-AAD7-44D8-BBD7-CCE9431645EC}">
                <a14:shadowObscured xmlns:a14="http://schemas.microsoft.com/office/drawing/2010/main"/>
              </a:ext>
            </a:extLst>
          </p:spPr>
        </p:pic>
        <p:pic>
          <p:nvPicPr>
            <p:cNvPr id="23" name="Picture 22"/>
            <p:cNvPicPr>
              <a:picLocks noChangeAspect="1"/>
            </p:cNvPicPr>
            <p:nvPr/>
          </p:nvPicPr>
          <p:blipFill rotWithShape="1">
            <a:blip r:embed="rId4" cstate="print">
              <a:extLst>
                <a:ext uri="{28A0092B-C50C-407E-A947-70E740481C1C}">
                  <a14:useLocalDpi xmlns:a14="http://schemas.microsoft.com/office/drawing/2010/main" val="0"/>
                </a:ext>
              </a:extLst>
            </a:blip>
            <a:srcRect l="2066" r="11983" b="19666"/>
            <a:stretch/>
          </p:blipFill>
          <p:spPr bwMode="auto">
            <a:xfrm>
              <a:off x="4643562" y="4269850"/>
              <a:ext cx="2910177" cy="1812898"/>
            </a:xfrm>
            <a:prstGeom prst="rect">
              <a:avLst/>
            </a:prstGeom>
            <a:ln>
              <a:noFill/>
            </a:ln>
            <a:extLst>
              <a:ext uri="{53640926-AAD7-44D8-BBD7-CCE9431645EC}">
                <a14:shadowObscured xmlns:a14="http://schemas.microsoft.com/office/drawing/2010/main"/>
              </a:ext>
            </a:extLst>
          </p:spPr>
        </p:pic>
        <p:pic>
          <p:nvPicPr>
            <p:cNvPr id="24" name="Picture 23"/>
            <p:cNvPicPr>
              <a:picLocks noChangeAspect="1"/>
            </p:cNvPicPr>
            <p:nvPr/>
          </p:nvPicPr>
          <p:blipFill rotWithShape="1">
            <a:blip r:embed="rId5" cstate="print">
              <a:extLst>
                <a:ext uri="{28A0092B-C50C-407E-A947-70E740481C1C}">
                  <a14:useLocalDpi xmlns:a14="http://schemas.microsoft.com/office/drawing/2010/main" val="0"/>
                </a:ext>
              </a:extLst>
            </a:blip>
            <a:srcRect t="3460" r="19030" b="26513"/>
            <a:stretch/>
          </p:blipFill>
          <p:spPr bwMode="auto">
            <a:xfrm>
              <a:off x="4643562" y="0"/>
              <a:ext cx="2941982" cy="1828800"/>
            </a:xfrm>
            <a:prstGeom prst="rect">
              <a:avLst/>
            </a:prstGeom>
            <a:ln>
              <a:noFill/>
            </a:ln>
            <a:extLst>
              <a:ext uri="{53640926-AAD7-44D8-BBD7-CCE9431645EC}">
                <a14:shadowObscured xmlns:a14="http://schemas.microsoft.com/office/drawing/2010/main"/>
              </a:ext>
            </a:extLst>
          </p:spPr>
        </p:pic>
        <p:pic>
          <p:nvPicPr>
            <p:cNvPr id="25" name="Picture 24"/>
            <p:cNvPicPr>
              <a:picLocks noChangeAspect="1"/>
            </p:cNvPicPr>
            <p:nvPr/>
          </p:nvPicPr>
          <p:blipFill rotWithShape="1">
            <a:blip r:embed="rId6" cstate="print">
              <a:extLst>
                <a:ext uri="{28A0092B-C50C-407E-A947-70E740481C1C}">
                  <a14:useLocalDpi xmlns:a14="http://schemas.microsoft.com/office/drawing/2010/main" val="0"/>
                </a:ext>
              </a:extLst>
            </a:blip>
            <a:srcRect l="1890" t="1444" r="5459" b="7583"/>
            <a:stretch/>
          </p:blipFill>
          <p:spPr bwMode="auto">
            <a:xfrm>
              <a:off x="0" y="0"/>
              <a:ext cx="4651513" cy="6098650"/>
            </a:xfrm>
            <a:prstGeom prst="rect">
              <a:avLst/>
            </a:prstGeom>
            <a:noFill/>
            <a:ln>
              <a:noFill/>
            </a:ln>
            <a:extLst>
              <a:ext uri="{53640926-AAD7-44D8-BBD7-CCE9431645EC}">
                <a14:shadowObscured xmlns:a14="http://schemas.microsoft.com/office/drawing/2010/main"/>
              </a:ext>
            </a:extLst>
          </p:spPr>
        </p:pic>
      </p:grpSp>
      <p:sp>
        <p:nvSpPr>
          <p:cNvPr id="3" name="Subtitle 2"/>
          <p:cNvSpPr>
            <a:spLocks noGrp="1"/>
          </p:cNvSpPr>
          <p:nvPr>
            <p:ph type="subTitle" idx="1"/>
          </p:nvPr>
        </p:nvSpPr>
        <p:spPr>
          <a:xfrm>
            <a:off x="5847156" y="1627089"/>
            <a:ext cx="2541268" cy="577775"/>
          </a:xfrm>
        </p:spPr>
        <p:txBody>
          <a:bodyPr>
            <a:noAutofit/>
          </a:bodyPr>
          <a:lstStyle/>
          <a:p>
            <a:r>
              <a:rPr lang="en-AU" b="1" dirty="0" smtClean="0">
                <a:latin typeface="Helvetica" pitchFamily="34" charset="0"/>
              </a:rPr>
              <a:t>D2.TCS.CL5.20</a:t>
            </a:r>
            <a:br>
              <a:rPr lang="en-AU" b="1" dirty="0" smtClean="0">
                <a:latin typeface="Helvetica" pitchFamily="34" charset="0"/>
              </a:rPr>
            </a:br>
            <a:r>
              <a:rPr lang="en-AU" b="1" dirty="0" smtClean="0">
                <a:latin typeface="Helvetica" pitchFamily="34" charset="0"/>
              </a:rPr>
              <a:t>D2.TTA.CL2.16</a:t>
            </a:r>
            <a:endParaRPr lang="en-AU" b="1" dirty="0">
              <a:latin typeface="Helvetic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heel(1)">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34144"/>
          </a:xfrm>
        </p:spPr>
        <p:txBody>
          <a:bodyPr>
            <a:normAutofit/>
          </a:bodyPr>
          <a:lstStyle/>
          <a:p>
            <a:r>
              <a:rPr lang="en-US" sz="3400" b="1" dirty="0" smtClean="0">
                <a:solidFill>
                  <a:srgbClr val="FF6600"/>
                </a:solidFill>
                <a:latin typeface="Helvetica" pitchFamily="34" charset="0"/>
              </a:rPr>
              <a:t>Subject elements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301208"/>
          </a:xfrm>
        </p:spPr>
        <p:txBody>
          <a:bodyPr>
            <a:normAutofit/>
          </a:bodyPr>
          <a:lstStyle/>
          <a:p>
            <a:pPr marL="0" indent="0">
              <a:spcBef>
                <a:spcPts val="600"/>
              </a:spcBef>
              <a:spcAft>
                <a:spcPts val="1200"/>
              </a:spcAft>
              <a:buNone/>
            </a:pPr>
            <a:r>
              <a:rPr lang="en-AU" sz="2200" dirty="0" smtClean="0">
                <a:latin typeface="Helvetica" pitchFamily="34" charset="0"/>
              </a:rPr>
              <a:t>This unit comprises four Elements:</a:t>
            </a:r>
          </a:p>
          <a:p>
            <a:pPr>
              <a:spcBef>
                <a:spcPts val="600"/>
              </a:spcBef>
              <a:spcAft>
                <a:spcPts val="1200"/>
              </a:spcAft>
            </a:pPr>
            <a:r>
              <a:rPr lang="en-AU" sz="2200" dirty="0" smtClean="0">
                <a:latin typeface="Helvetica" pitchFamily="34" charset="0"/>
              </a:rPr>
              <a:t>Identify the context for the quotation</a:t>
            </a:r>
          </a:p>
          <a:p>
            <a:pPr>
              <a:spcBef>
                <a:spcPts val="600"/>
              </a:spcBef>
              <a:spcAft>
                <a:spcPts val="1200"/>
              </a:spcAft>
            </a:pPr>
            <a:r>
              <a:rPr lang="en-AU" sz="2200" dirty="0" smtClean="0">
                <a:latin typeface="Helvetica" pitchFamily="34" charset="0"/>
              </a:rPr>
              <a:t>Prepare the quotation</a:t>
            </a:r>
          </a:p>
          <a:p>
            <a:pPr>
              <a:spcBef>
                <a:spcPts val="600"/>
              </a:spcBef>
              <a:spcAft>
                <a:spcPts val="1200"/>
              </a:spcAft>
            </a:pPr>
            <a:r>
              <a:rPr lang="en-AU" sz="2200" dirty="0" smtClean="0">
                <a:latin typeface="Helvetica" pitchFamily="34" charset="0"/>
              </a:rPr>
              <a:t>Submit the quotation</a:t>
            </a:r>
          </a:p>
          <a:p>
            <a:pPr>
              <a:spcBef>
                <a:spcPts val="600"/>
              </a:spcBef>
              <a:spcAft>
                <a:spcPts val="1200"/>
              </a:spcAft>
            </a:pPr>
            <a:r>
              <a:rPr lang="en-AU" sz="2200" dirty="0" smtClean="0">
                <a:latin typeface="Helvetica" pitchFamily="34" charset="0"/>
              </a:rPr>
              <a:t>Follow-up the quotation</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a:t>
            </a:fld>
            <a:endParaRPr lang="en-US" dirty="0">
              <a:latin typeface="Helvetica" pitchFamily="34" charset="0"/>
            </a:endParaRPr>
          </a:p>
        </p:txBody>
      </p:sp>
      <p:pic>
        <p:nvPicPr>
          <p:cNvPr id="5" name="Picture 4" descr="A18 shutterstock_181389116.jpg"/>
          <p:cNvPicPr/>
          <p:nvPr/>
        </p:nvPicPr>
        <p:blipFill>
          <a:blip r:embed="rId3" cstate="print"/>
          <a:stretch>
            <a:fillRect/>
          </a:stretch>
        </p:blipFill>
        <p:spPr>
          <a:xfrm>
            <a:off x="5920204" y="1988840"/>
            <a:ext cx="2232248" cy="2808312"/>
          </a:xfrm>
          <a:prstGeom prst="octagon">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525963"/>
          </a:xfrm>
        </p:spPr>
        <p:txBody>
          <a:bodyPr>
            <a:normAutofit/>
          </a:bodyPr>
          <a:lstStyle/>
          <a:p>
            <a:pPr marL="0" indent="0">
              <a:spcBef>
                <a:spcPts val="600"/>
              </a:spcBef>
              <a:spcAft>
                <a:spcPts val="1200"/>
              </a:spcAft>
              <a:buNone/>
            </a:pPr>
            <a:r>
              <a:rPr lang="en-AU" sz="2200" dirty="0" smtClean="0">
                <a:latin typeface="Helvetica" pitchFamily="34" charset="0"/>
              </a:rPr>
              <a:t>Assessment for this unit may include:</a:t>
            </a:r>
          </a:p>
          <a:p>
            <a:pPr marL="360000" indent="-360000">
              <a:spcBef>
                <a:spcPts val="600"/>
              </a:spcBef>
              <a:spcAft>
                <a:spcPts val="1200"/>
              </a:spcAft>
            </a:pPr>
            <a:r>
              <a:rPr lang="en-AU" sz="2200" dirty="0" smtClean="0">
                <a:latin typeface="Helvetica" pitchFamily="34" charset="0"/>
              </a:rPr>
              <a:t>Oral questions</a:t>
            </a:r>
          </a:p>
          <a:p>
            <a:pPr marL="360000" indent="-360000">
              <a:spcBef>
                <a:spcPts val="600"/>
              </a:spcBef>
              <a:spcAft>
                <a:spcPts val="1200"/>
              </a:spcAft>
            </a:pPr>
            <a:r>
              <a:rPr lang="en-AU" sz="2200" dirty="0" smtClean="0">
                <a:latin typeface="Helvetica" pitchFamily="34" charset="0"/>
              </a:rPr>
              <a:t>Written questions</a:t>
            </a:r>
          </a:p>
          <a:p>
            <a:pPr marL="360000" indent="-360000">
              <a:spcBef>
                <a:spcPts val="600"/>
              </a:spcBef>
              <a:spcAft>
                <a:spcPts val="1200"/>
              </a:spcAft>
            </a:pPr>
            <a:r>
              <a:rPr lang="en-AU" sz="2200" dirty="0" smtClean="0">
                <a:latin typeface="Helvetica" pitchFamily="34" charset="0"/>
              </a:rPr>
              <a:t>Work projects</a:t>
            </a:r>
          </a:p>
          <a:p>
            <a:pPr marL="360000" indent="-360000">
              <a:spcBef>
                <a:spcPts val="600"/>
              </a:spcBef>
              <a:spcAft>
                <a:spcPts val="1200"/>
              </a:spcAft>
            </a:pPr>
            <a:r>
              <a:rPr lang="en-AU" sz="2200" dirty="0" smtClean="0">
                <a:latin typeface="Helvetica" pitchFamily="34" charset="0"/>
              </a:rPr>
              <a:t>Workplace observation of practical skills</a:t>
            </a:r>
          </a:p>
          <a:p>
            <a:pPr marL="360000" indent="-360000">
              <a:spcBef>
                <a:spcPts val="600"/>
              </a:spcBef>
              <a:spcAft>
                <a:spcPts val="1200"/>
              </a:spcAft>
            </a:pPr>
            <a:r>
              <a:rPr lang="en-AU" sz="2200" dirty="0" smtClean="0">
                <a:latin typeface="Helvetica" pitchFamily="34" charset="0"/>
              </a:rPr>
              <a:t>Practical exercises</a:t>
            </a:r>
          </a:p>
          <a:p>
            <a:pPr marL="360000" indent="-360000">
              <a:spcBef>
                <a:spcPts val="600"/>
              </a:spcBef>
              <a:spcAft>
                <a:spcPts val="1200"/>
              </a:spcAft>
            </a:pPr>
            <a:r>
              <a:rPr lang="en-AU" sz="2200" dirty="0" smtClean="0">
                <a:latin typeface="Helvetica" pitchFamily="34" charset="0"/>
              </a:rPr>
              <a:t>Formal report from supervisor</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a:t>
            </a:fld>
            <a:endParaRPr lang="en-US" dirty="0">
              <a:latin typeface="Helvetica" pitchFamily="34" charset="0"/>
            </a:endParaRPr>
          </a:p>
        </p:txBody>
      </p:sp>
      <p:pic>
        <p:nvPicPr>
          <p:cNvPr id="5" name="Picture 4" descr="shutterstock_104238854.jpg"/>
          <p:cNvPicPr>
            <a:picLocks noChangeAspect="1"/>
          </p:cNvPicPr>
          <p:nvPr/>
        </p:nvPicPr>
        <p:blipFill>
          <a:blip r:embed="rId3" cstate="print"/>
          <a:stretch>
            <a:fillRect/>
          </a:stretch>
        </p:blipFill>
        <p:spPr>
          <a:xfrm>
            <a:off x="5724128" y="3946510"/>
            <a:ext cx="2806908" cy="187220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052736"/>
            <a:ext cx="7237040" cy="5184576"/>
          </a:xfrm>
        </p:spPr>
        <p:txBody>
          <a:bodyPr>
            <a:normAutofit/>
          </a:bodyPr>
          <a:lstStyle/>
          <a:p>
            <a:pPr marL="0">
              <a:buNone/>
            </a:pPr>
            <a:r>
              <a:rPr lang="en-AU" sz="4000" b="1" dirty="0" smtClean="0">
                <a:solidFill>
                  <a:srgbClr val="FF6600"/>
                </a:solidFill>
                <a:latin typeface="Helvetica" pitchFamily="34" charset="0"/>
              </a:rPr>
              <a:t>Element 1:</a:t>
            </a:r>
          </a:p>
          <a:p>
            <a:pPr marL="0">
              <a:spcBef>
                <a:spcPts val="600"/>
              </a:spcBef>
              <a:spcAft>
                <a:spcPts val="1200"/>
              </a:spcAft>
              <a:buNone/>
            </a:pPr>
            <a:r>
              <a:rPr lang="en-AU" sz="4000" b="1" i="1" dirty="0">
                <a:solidFill>
                  <a:srgbClr val="FF6600"/>
                </a:solidFill>
                <a:latin typeface="Helvetica" pitchFamily="34" charset="0"/>
              </a:rPr>
              <a:t>Identify the context for the quotation</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a:t>
            </a:fld>
            <a:endParaRPr lang="en-US" dirty="0">
              <a:latin typeface="Helvetica" pitchFamily="34" charset="0"/>
            </a:endParaRPr>
          </a:p>
        </p:txBody>
      </p:sp>
      <p:pic>
        <p:nvPicPr>
          <p:cNvPr id="5" name="Picture 4" descr="A5 shutterstock_131103662.jpg"/>
          <p:cNvPicPr>
            <a:picLocks noChangeAspect="1"/>
          </p:cNvPicPr>
          <p:nvPr/>
        </p:nvPicPr>
        <p:blipFill>
          <a:blip r:embed="rId3" cstate="print"/>
          <a:stretch>
            <a:fillRect/>
          </a:stretch>
        </p:blipFill>
        <p:spPr>
          <a:xfrm>
            <a:off x="2483768" y="3284984"/>
            <a:ext cx="3672408" cy="244949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Identify the context for the quotation</a:t>
            </a:r>
            <a:endParaRPr lang="en-AU" sz="3400" b="1" i="1" dirty="0" smtClean="0">
              <a:solidFill>
                <a:srgbClr val="FF6600"/>
              </a:solidFill>
              <a:latin typeface="Helvetica" pitchFamily="34" charset="0"/>
            </a:endParaRPr>
          </a:p>
        </p:txBody>
      </p:sp>
      <p:sp>
        <p:nvSpPr>
          <p:cNvPr id="3" name="Content Placeholder 2"/>
          <p:cNvSpPr>
            <a:spLocks noGrp="1"/>
          </p:cNvSpPr>
          <p:nvPr>
            <p:ph idx="1"/>
          </p:nvPr>
        </p:nvSpPr>
        <p:spPr>
          <a:xfrm>
            <a:off x="611560" y="1268760"/>
            <a:ext cx="7846640" cy="4896544"/>
          </a:xfrm>
        </p:spPr>
        <p:txBody>
          <a:bodyPr>
            <a:norm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Identify the focus for quotations</a:t>
            </a:r>
          </a:p>
          <a:p>
            <a:pPr>
              <a:spcBef>
                <a:spcPts val="600"/>
              </a:spcBef>
              <a:spcAft>
                <a:spcPts val="1200"/>
              </a:spcAft>
            </a:pPr>
            <a:r>
              <a:rPr lang="en-AU" sz="2200" dirty="0" smtClean="0">
                <a:latin typeface="Helvetica" pitchFamily="34" charset="0"/>
              </a:rPr>
              <a:t>Identify the details for the quotation</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a:t>
            </a:fld>
            <a:endParaRPr lang="en-US" dirty="0">
              <a:latin typeface="Helvetica" pitchFamily="34" charset="0"/>
            </a:endParaRPr>
          </a:p>
        </p:txBody>
      </p:sp>
      <p:pic>
        <p:nvPicPr>
          <p:cNvPr id="5" name="Picture 4" descr="shutterstock_93034984.jpg"/>
          <p:cNvPicPr>
            <a:picLocks noChangeAspect="1"/>
          </p:cNvPicPr>
          <p:nvPr/>
        </p:nvPicPr>
        <p:blipFill>
          <a:blip r:embed="rId3" cstate="print"/>
          <a:stretch>
            <a:fillRect/>
          </a:stretch>
        </p:blipFill>
        <p:spPr>
          <a:xfrm>
            <a:off x="2404500" y="3140968"/>
            <a:ext cx="2952328" cy="227034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Quotations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Definition of a quotation</a:t>
            </a:r>
          </a:p>
          <a:p>
            <a:pPr>
              <a:spcBef>
                <a:spcPts val="600"/>
              </a:spcBef>
              <a:spcAft>
                <a:spcPts val="1200"/>
              </a:spcAft>
            </a:pPr>
            <a:r>
              <a:rPr lang="en-AU" sz="2200" dirty="0" smtClean="0">
                <a:latin typeface="Helvetica" pitchFamily="34" charset="0"/>
              </a:rPr>
              <a:t>A quotation is a </a:t>
            </a:r>
            <a:r>
              <a:rPr lang="en-AU" sz="2200" u="sng" dirty="0" smtClean="0">
                <a:latin typeface="Helvetica" pitchFamily="34" charset="0"/>
              </a:rPr>
              <a:t>summary of costs for products and services</a:t>
            </a:r>
            <a:r>
              <a:rPr lang="en-AU" sz="2200" dirty="0" smtClean="0">
                <a:latin typeface="Helvetica" pitchFamily="34" charset="0"/>
              </a:rPr>
              <a:t> which are provided by the travel agent to potential customers who wish to travel</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a:t>
            </a:fld>
            <a:endParaRPr lang="en-US" dirty="0">
              <a:latin typeface="Helvetica" pitchFamily="34" charset="0"/>
            </a:endParaRPr>
          </a:p>
        </p:txBody>
      </p:sp>
      <p:pic>
        <p:nvPicPr>
          <p:cNvPr id="5" name="Picture 4" descr="shutterstock_88003519.jpg"/>
          <p:cNvPicPr/>
          <p:nvPr/>
        </p:nvPicPr>
        <p:blipFill>
          <a:blip r:embed="rId3" cstate="print"/>
          <a:stretch>
            <a:fillRect/>
          </a:stretch>
        </p:blipFill>
        <p:spPr>
          <a:xfrm>
            <a:off x="2555776" y="3284984"/>
            <a:ext cx="2592288" cy="273630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Quotations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Ways to receive requests for quotations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A request for the provision of a quotation is usually received by the travel professional in one of the following ways:</a:t>
            </a:r>
          </a:p>
          <a:p>
            <a:pPr lvl="0">
              <a:spcBef>
                <a:spcPts val="600"/>
              </a:spcBef>
              <a:spcAft>
                <a:spcPts val="1200"/>
              </a:spcAft>
            </a:pPr>
            <a:r>
              <a:rPr lang="en-AU" sz="2200" dirty="0" smtClean="0">
                <a:latin typeface="Helvetica" pitchFamily="34" charset="0"/>
              </a:rPr>
              <a:t>Face to face consultation</a:t>
            </a:r>
          </a:p>
          <a:p>
            <a:pPr lvl="0">
              <a:spcBef>
                <a:spcPts val="600"/>
              </a:spcBef>
              <a:spcAft>
                <a:spcPts val="1200"/>
              </a:spcAft>
            </a:pPr>
            <a:r>
              <a:rPr lang="en-AU" sz="2200" dirty="0" smtClean="0">
                <a:latin typeface="Helvetica" pitchFamily="34" charset="0"/>
              </a:rPr>
              <a:t>Verbal</a:t>
            </a:r>
          </a:p>
          <a:p>
            <a:pPr lvl="0">
              <a:spcBef>
                <a:spcPts val="600"/>
              </a:spcBef>
              <a:spcAft>
                <a:spcPts val="1200"/>
              </a:spcAft>
            </a:pPr>
            <a:r>
              <a:rPr lang="en-AU" sz="2200" dirty="0" smtClean="0">
                <a:latin typeface="Helvetica" pitchFamily="34" charset="0"/>
              </a:rPr>
              <a:t>Written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a:t>
            </a:fld>
            <a:endParaRPr lang="en-US" dirty="0">
              <a:latin typeface="Helvetica" pitchFamily="34" charset="0"/>
            </a:endParaRPr>
          </a:p>
        </p:txBody>
      </p:sp>
      <p:pic>
        <p:nvPicPr>
          <p:cNvPr id="5" name="Picture 4" descr="shutterstock_181388756.jpg"/>
          <p:cNvPicPr>
            <a:picLocks noChangeAspect="1"/>
          </p:cNvPicPr>
          <p:nvPr/>
        </p:nvPicPr>
        <p:blipFill>
          <a:blip r:embed="rId3" cstate="print"/>
          <a:stretch>
            <a:fillRect/>
          </a:stretch>
        </p:blipFill>
        <p:spPr>
          <a:xfrm>
            <a:off x="5580112" y="3863869"/>
            <a:ext cx="2816360" cy="188132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Quotations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340768"/>
            <a:ext cx="7467600" cy="4525963"/>
          </a:xfrm>
        </p:spPr>
        <p:txBody>
          <a:bodyPr>
            <a:normAutofit/>
          </a:bodyPr>
          <a:lstStyle/>
          <a:p>
            <a:pPr>
              <a:spcBef>
                <a:spcPts val="600"/>
              </a:spcBef>
              <a:spcAft>
                <a:spcPts val="1200"/>
              </a:spcAft>
              <a:buNone/>
            </a:pPr>
            <a:r>
              <a:rPr lang="en-AU" sz="2200" b="1" dirty="0" smtClean="0">
                <a:latin typeface="Helvetica" pitchFamily="34" charset="0"/>
              </a:rPr>
              <a:t>Focus audience of quotations</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Quotations may be prepared for:</a:t>
            </a:r>
          </a:p>
          <a:p>
            <a:pPr lvl="0">
              <a:spcBef>
                <a:spcPts val="600"/>
              </a:spcBef>
              <a:spcAft>
                <a:spcPts val="1200"/>
              </a:spcAft>
            </a:pPr>
            <a:r>
              <a:rPr lang="en-AU" sz="2200" dirty="0" smtClean="0">
                <a:latin typeface="Helvetica" pitchFamily="34" charset="0"/>
              </a:rPr>
              <a:t>Single or multiple products and services</a:t>
            </a:r>
          </a:p>
          <a:p>
            <a:pPr lvl="0">
              <a:spcBef>
                <a:spcPts val="600"/>
              </a:spcBef>
              <a:spcAft>
                <a:spcPts val="1200"/>
              </a:spcAft>
            </a:pPr>
            <a:r>
              <a:rPr lang="en-AU" sz="2200" dirty="0" smtClean="0">
                <a:latin typeface="Helvetica" pitchFamily="34" charset="0"/>
              </a:rPr>
              <a:t>Groups or individuals</a:t>
            </a:r>
          </a:p>
          <a:p>
            <a:pPr lvl="0">
              <a:spcBef>
                <a:spcPts val="600"/>
              </a:spcBef>
              <a:spcAft>
                <a:spcPts val="1200"/>
              </a:spcAft>
            </a:pPr>
            <a:r>
              <a:rPr lang="en-AU" sz="2200" dirty="0" smtClean="0">
                <a:latin typeface="Helvetica" pitchFamily="34" charset="0"/>
              </a:rPr>
              <a:t>One-off arrangements or a series of arrangements</a:t>
            </a:r>
          </a:p>
          <a:p>
            <a:pPr lvl="0">
              <a:spcBef>
                <a:spcPts val="600"/>
              </a:spcBef>
              <a:spcAft>
                <a:spcPts val="1200"/>
              </a:spcAft>
            </a:pPr>
            <a:r>
              <a:rPr lang="en-AU" sz="2200" dirty="0" smtClean="0">
                <a:latin typeface="Helvetica" pitchFamily="34" charset="0"/>
              </a:rPr>
              <a:t>Tours, trips, travel and transfers</a:t>
            </a:r>
          </a:p>
          <a:p>
            <a:pPr lvl="0">
              <a:spcBef>
                <a:spcPts val="600"/>
              </a:spcBef>
              <a:spcAft>
                <a:spcPts val="1200"/>
              </a:spcAft>
            </a:pPr>
            <a:r>
              <a:rPr lang="en-AU" sz="2200" dirty="0" smtClean="0">
                <a:latin typeface="Helvetica" pitchFamily="34" charset="0"/>
              </a:rPr>
              <a:t>Accommodation, meals and </a:t>
            </a:r>
            <a:br>
              <a:rPr lang="en-AU" sz="2200" dirty="0" smtClean="0">
                <a:latin typeface="Helvetica" pitchFamily="34" charset="0"/>
              </a:rPr>
            </a:br>
            <a:r>
              <a:rPr lang="en-AU" sz="2200" dirty="0" smtClean="0">
                <a:latin typeface="Helvetica" pitchFamily="34" charset="0"/>
              </a:rPr>
              <a:t>entertainment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a:t>
            </a:fld>
            <a:endParaRPr lang="en-US" dirty="0">
              <a:latin typeface="Helvetica" pitchFamily="34" charset="0"/>
            </a:endParaRPr>
          </a:p>
        </p:txBody>
      </p:sp>
      <p:pic>
        <p:nvPicPr>
          <p:cNvPr id="8" name="Picture 7" descr="shutterstock_100179557.jpg"/>
          <p:cNvPicPr>
            <a:picLocks noChangeAspect="1"/>
          </p:cNvPicPr>
          <p:nvPr/>
        </p:nvPicPr>
        <p:blipFill>
          <a:blip r:embed="rId3" cstate="print"/>
          <a:stretch>
            <a:fillRect/>
          </a:stretch>
        </p:blipFill>
        <p:spPr>
          <a:xfrm>
            <a:off x="5724128" y="4184752"/>
            <a:ext cx="2683106" cy="178963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Quotations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Focus audience of quotations</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Quotations may be prepared for:</a:t>
            </a:r>
          </a:p>
          <a:p>
            <a:pPr lvl="0">
              <a:spcBef>
                <a:spcPts val="600"/>
              </a:spcBef>
              <a:spcAft>
                <a:spcPts val="1200"/>
              </a:spcAft>
            </a:pPr>
            <a:r>
              <a:rPr lang="en-AU" sz="2200" dirty="0" smtClean="0">
                <a:latin typeface="Helvetica" pitchFamily="34" charset="0"/>
              </a:rPr>
              <a:t>Guiding services</a:t>
            </a:r>
          </a:p>
          <a:p>
            <a:pPr lvl="0">
              <a:spcBef>
                <a:spcPts val="600"/>
              </a:spcBef>
              <a:spcAft>
                <a:spcPts val="1200"/>
              </a:spcAft>
            </a:pPr>
            <a:r>
              <a:rPr lang="en-AU" sz="2200" dirty="0" smtClean="0">
                <a:latin typeface="Helvetica" pitchFamily="34" charset="0"/>
              </a:rPr>
              <a:t>Entry to attractions</a:t>
            </a:r>
          </a:p>
          <a:p>
            <a:pPr lvl="0">
              <a:spcBef>
                <a:spcPts val="600"/>
              </a:spcBef>
              <a:spcAft>
                <a:spcPts val="1200"/>
              </a:spcAft>
            </a:pPr>
            <a:r>
              <a:rPr lang="en-AU" sz="2200" dirty="0" smtClean="0">
                <a:latin typeface="Helvetica" pitchFamily="34" charset="0"/>
              </a:rPr>
              <a:t>Venue and equipment hire</a:t>
            </a:r>
          </a:p>
          <a:p>
            <a:pPr lvl="0">
              <a:spcBef>
                <a:spcPts val="600"/>
              </a:spcBef>
              <a:spcAft>
                <a:spcPts val="1200"/>
              </a:spcAft>
            </a:pPr>
            <a:r>
              <a:rPr lang="en-AU" sz="2200" dirty="0" smtClean="0">
                <a:latin typeface="Helvetica" pitchFamily="34" charset="0"/>
              </a:rPr>
              <a:t>Meetings, events, functions and conferences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a:t>
            </a:fld>
            <a:endParaRPr lang="en-US" dirty="0">
              <a:latin typeface="Helvetica" pitchFamily="34" charset="0"/>
            </a:endParaRPr>
          </a:p>
        </p:txBody>
      </p:sp>
      <p:pic>
        <p:nvPicPr>
          <p:cNvPr id="5" name="Picture 4" descr="shutterstock_190478210.jpg"/>
          <p:cNvPicPr>
            <a:picLocks noChangeAspect="1"/>
          </p:cNvPicPr>
          <p:nvPr/>
        </p:nvPicPr>
        <p:blipFill>
          <a:blip r:embed="rId3" cstate="print"/>
          <a:stretch>
            <a:fillRect/>
          </a:stretch>
        </p:blipFill>
        <p:spPr>
          <a:xfrm>
            <a:off x="5004048" y="2132856"/>
            <a:ext cx="3130782" cy="208823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quotation details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Identifying details and needs of customers</a:t>
            </a:r>
          </a:p>
          <a:p>
            <a:pPr marL="0">
              <a:spcBef>
                <a:spcPts val="600"/>
              </a:spcBef>
              <a:spcAft>
                <a:spcPts val="1200"/>
              </a:spcAft>
              <a:buNone/>
            </a:pPr>
            <a:r>
              <a:rPr lang="en-AU" sz="2200" dirty="0" smtClean="0">
                <a:latin typeface="Helvetica" pitchFamily="34" charset="0"/>
              </a:rPr>
              <a:t>Naturally before any quotation can be taken, it is important to:</a:t>
            </a:r>
          </a:p>
          <a:p>
            <a:pPr lvl="0">
              <a:spcBef>
                <a:spcPts val="600"/>
              </a:spcBef>
              <a:spcAft>
                <a:spcPts val="1200"/>
              </a:spcAft>
            </a:pPr>
            <a:r>
              <a:rPr lang="en-AU" sz="2200" dirty="0" smtClean="0">
                <a:latin typeface="Helvetica" pitchFamily="34" charset="0"/>
              </a:rPr>
              <a:t>Collect customer personal information</a:t>
            </a:r>
          </a:p>
          <a:p>
            <a:pPr lvl="0">
              <a:spcBef>
                <a:spcPts val="600"/>
              </a:spcBef>
              <a:spcAft>
                <a:spcPts val="1200"/>
              </a:spcAft>
            </a:pPr>
            <a:r>
              <a:rPr lang="en-AU" sz="2200" dirty="0" smtClean="0">
                <a:latin typeface="Helvetica" pitchFamily="34" charset="0"/>
              </a:rPr>
              <a:t>Identify the needs of the customer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a:t>
            </a:fld>
            <a:endParaRPr lang="en-US" dirty="0">
              <a:latin typeface="Helvetica" pitchFamily="34" charset="0"/>
            </a:endParaRPr>
          </a:p>
        </p:txBody>
      </p:sp>
      <p:pic>
        <p:nvPicPr>
          <p:cNvPr id="5" name="Picture 4" descr="shutterstock_62285248.jpg"/>
          <p:cNvPicPr>
            <a:picLocks noChangeAspect="1"/>
          </p:cNvPicPr>
          <p:nvPr/>
        </p:nvPicPr>
        <p:blipFill>
          <a:blip r:embed="rId3" cstate="print"/>
          <a:stretch>
            <a:fillRect/>
          </a:stretch>
        </p:blipFill>
        <p:spPr>
          <a:xfrm>
            <a:off x="2627784" y="4149080"/>
            <a:ext cx="2806909" cy="187220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quotation details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5112568"/>
          </a:xfrm>
        </p:spPr>
        <p:txBody>
          <a:bodyPr>
            <a:normAutofit/>
          </a:bodyPr>
          <a:lstStyle/>
          <a:p>
            <a:pPr>
              <a:spcBef>
                <a:spcPts val="600"/>
              </a:spcBef>
              <a:spcAft>
                <a:spcPts val="600"/>
              </a:spcAft>
              <a:buNone/>
            </a:pPr>
            <a:r>
              <a:rPr lang="en-AU" sz="2200" b="1" dirty="0" smtClean="0">
                <a:latin typeface="Helvetica" pitchFamily="34" charset="0"/>
              </a:rPr>
              <a:t>Seek customer personal information</a:t>
            </a: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Name, initial and title</a:t>
            </a:r>
          </a:p>
          <a:p>
            <a:pPr lvl="0">
              <a:spcBef>
                <a:spcPts val="600"/>
              </a:spcBef>
              <a:spcAft>
                <a:spcPts val="600"/>
              </a:spcAft>
            </a:pPr>
            <a:r>
              <a:rPr lang="en-AU" sz="2200" dirty="0" smtClean="0">
                <a:latin typeface="Helvetica" pitchFamily="34" charset="0"/>
              </a:rPr>
              <a:t>Dates of birth for passengers, in particular children</a:t>
            </a:r>
          </a:p>
          <a:p>
            <a:pPr lvl="0">
              <a:spcBef>
                <a:spcPts val="600"/>
              </a:spcBef>
              <a:spcAft>
                <a:spcPts val="600"/>
              </a:spcAft>
            </a:pPr>
            <a:r>
              <a:rPr lang="en-AU" sz="2200" dirty="0" smtClean="0">
                <a:latin typeface="Helvetica" pitchFamily="34" charset="0"/>
              </a:rPr>
              <a:t>Contact details for home, work and mobiles</a:t>
            </a:r>
          </a:p>
          <a:p>
            <a:pPr lvl="0">
              <a:spcBef>
                <a:spcPts val="600"/>
              </a:spcBef>
              <a:spcAft>
                <a:spcPts val="600"/>
              </a:spcAft>
            </a:pPr>
            <a:r>
              <a:rPr lang="en-AU" sz="2200" dirty="0" smtClean="0">
                <a:latin typeface="Helvetica" pitchFamily="34" charset="0"/>
              </a:rPr>
              <a:t>Special meal requests or seating preferences</a:t>
            </a:r>
          </a:p>
          <a:p>
            <a:pPr lvl="0">
              <a:spcBef>
                <a:spcPts val="600"/>
              </a:spcBef>
              <a:spcAft>
                <a:spcPts val="600"/>
              </a:spcAft>
            </a:pPr>
            <a:r>
              <a:rPr lang="en-AU" sz="2200" dirty="0" smtClean="0">
                <a:latin typeface="Helvetica" pitchFamily="34" charset="0"/>
              </a:rPr>
              <a:t>Frequent flyer information and club memberships</a:t>
            </a:r>
          </a:p>
          <a:p>
            <a:pPr lvl="0">
              <a:spcBef>
                <a:spcPts val="600"/>
              </a:spcBef>
              <a:spcAft>
                <a:spcPts val="600"/>
              </a:spcAft>
            </a:pPr>
            <a:r>
              <a:rPr lang="en-AU" sz="2200" dirty="0" smtClean="0">
                <a:latin typeface="Helvetica" pitchFamily="34" charset="0"/>
              </a:rPr>
              <a:t>Details of travel such as dates, places </a:t>
            </a:r>
            <a:br>
              <a:rPr lang="en-AU" sz="2200" dirty="0" smtClean="0">
                <a:latin typeface="Helvetica" pitchFamily="34" charset="0"/>
              </a:rPr>
            </a:br>
            <a:r>
              <a:rPr lang="en-AU" sz="2200" dirty="0" smtClean="0">
                <a:latin typeface="Helvetica" pitchFamily="34" charset="0"/>
              </a:rPr>
              <a:t>and products</a:t>
            </a:r>
          </a:p>
          <a:p>
            <a:pPr lvl="0">
              <a:spcBef>
                <a:spcPts val="600"/>
              </a:spcBef>
              <a:spcAft>
                <a:spcPts val="600"/>
              </a:spcAft>
            </a:pPr>
            <a:r>
              <a:rPr lang="en-AU" sz="2200" dirty="0" smtClean="0">
                <a:latin typeface="Helvetica" pitchFamily="34" charset="0"/>
              </a:rPr>
              <a:t>Payment details</a:t>
            </a:r>
          </a:p>
          <a:p>
            <a:pPr lvl="0">
              <a:spcBef>
                <a:spcPts val="600"/>
              </a:spcBef>
              <a:spcAft>
                <a:spcPts val="600"/>
              </a:spcAft>
            </a:pPr>
            <a:r>
              <a:rPr lang="en-AU" sz="2200" dirty="0" smtClean="0">
                <a:latin typeface="Helvetica" pitchFamily="34" charset="0"/>
              </a:rPr>
              <a:t>Wholesaler or Consolidator used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a:t>
            </a:fld>
            <a:endParaRPr lang="en-US" dirty="0">
              <a:latin typeface="Helvetica" pitchFamily="34" charset="0"/>
            </a:endParaRPr>
          </a:p>
        </p:txBody>
      </p:sp>
      <p:pic>
        <p:nvPicPr>
          <p:cNvPr id="5" name="Picture 4" descr="shutterstock_95857066.jpg"/>
          <p:cNvPicPr>
            <a:picLocks noChangeAspect="1"/>
          </p:cNvPicPr>
          <p:nvPr/>
        </p:nvPicPr>
        <p:blipFill>
          <a:blip r:embed="rId3" cstate="print"/>
          <a:stretch>
            <a:fillRect/>
          </a:stretch>
        </p:blipFill>
        <p:spPr>
          <a:xfrm>
            <a:off x="6444208" y="4428348"/>
            <a:ext cx="1944216" cy="160008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quotation details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a:spcBef>
                <a:spcPts val="600"/>
              </a:spcBef>
              <a:spcAft>
                <a:spcPts val="1200"/>
              </a:spcAft>
              <a:buNone/>
            </a:pPr>
            <a:r>
              <a:rPr lang="en-AU" sz="2200" b="1" dirty="0" smtClean="0">
                <a:latin typeface="Helvetica" pitchFamily="34" charset="0"/>
              </a:rPr>
              <a:t>Identify customer travel details and requirements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Name and contact details of the client</a:t>
            </a:r>
          </a:p>
          <a:p>
            <a:pPr lvl="0">
              <a:spcBef>
                <a:spcPts val="600"/>
              </a:spcBef>
              <a:spcAft>
                <a:spcPts val="1200"/>
              </a:spcAft>
            </a:pPr>
            <a:r>
              <a:rPr lang="en-AU" sz="2200" dirty="0" smtClean="0">
                <a:latin typeface="Helvetica" pitchFamily="34" charset="0"/>
              </a:rPr>
              <a:t>Details of organisers</a:t>
            </a:r>
          </a:p>
          <a:p>
            <a:pPr lvl="0">
              <a:spcBef>
                <a:spcPts val="600"/>
              </a:spcBef>
              <a:spcAft>
                <a:spcPts val="1200"/>
              </a:spcAft>
            </a:pPr>
            <a:r>
              <a:rPr lang="en-AU" sz="2200" dirty="0" smtClean="0">
                <a:latin typeface="Helvetica" pitchFamily="34" charset="0"/>
              </a:rPr>
              <a:t>Proposed itinerary</a:t>
            </a:r>
          </a:p>
          <a:p>
            <a:pPr lvl="0">
              <a:spcBef>
                <a:spcPts val="600"/>
              </a:spcBef>
              <a:spcAft>
                <a:spcPts val="1200"/>
              </a:spcAft>
            </a:pPr>
            <a:r>
              <a:rPr lang="en-AU" sz="2200" dirty="0" smtClean="0">
                <a:latin typeface="Helvetica" pitchFamily="34" charset="0"/>
              </a:rPr>
              <a:t>Destinations</a:t>
            </a:r>
          </a:p>
          <a:p>
            <a:pPr lvl="0">
              <a:spcBef>
                <a:spcPts val="600"/>
              </a:spcBef>
              <a:spcAft>
                <a:spcPts val="1200"/>
              </a:spcAft>
            </a:pPr>
            <a:r>
              <a:rPr lang="en-AU" sz="2200" dirty="0" smtClean="0">
                <a:latin typeface="Helvetica" pitchFamily="34" charset="0"/>
              </a:rPr>
              <a:t>Products and services</a:t>
            </a:r>
          </a:p>
          <a:p>
            <a:pPr lvl="0">
              <a:spcBef>
                <a:spcPts val="600"/>
              </a:spcBef>
              <a:spcAft>
                <a:spcPts val="1200"/>
              </a:spcAft>
            </a:pPr>
            <a:r>
              <a:rPr lang="en-AU" sz="2200" dirty="0" smtClean="0">
                <a:latin typeface="Helvetica" pitchFamily="34" charset="0"/>
              </a:rPr>
              <a:t>Activities required</a:t>
            </a:r>
          </a:p>
          <a:p>
            <a:pPr lvl="0">
              <a:spcBef>
                <a:spcPts val="600"/>
              </a:spcBef>
              <a:spcAft>
                <a:spcPts val="1200"/>
              </a:spcAft>
            </a:pPr>
            <a:r>
              <a:rPr lang="en-AU" sz="2200" dirty="0" smtClean="0">
                <a:latin typeface="Helvetica" pitchFamily="34" charset="0"/>
              </a:rPr>
              <a:t>Attractions to be visited </a:t>
            </a:r>
          </a:p>
          <a:p>
            <a:pPr lvl="0"/>
            <a:endParaRPr lang="en-AU"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a:t>
            </a:fld>
            <a:endParaRPr lang="en-US" dirty="0">
              <a:latin typeface="Helvetica" pitchFamily="34" charset="0"/>
            </a:endParaRPr>
          </a:p>
        </p:txBody>
      </p:sp>
      <p:pic>
        <p:nvPicPr>
          <p:cNvPr id="5" name="Picture 4" descr="Looking at map_124805341.jpg"/>
          <p:cNvPicPr/>
          <p:nvPr/>
        </p:nvPicPr>
        <p:blipFill>
          <a:blip r:embed="rId3" cstate="print"/>
          <a:stretch>
            <a:fillRect/>
          </a:stretch>
        </p:blipFill>
        <p:spPr>
          <a:xfrm>
            <a:off x="5220072" y="2924944"/>
            <a:ext cx="2878098" cy="201622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quotation details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Identify customer travel details and requirements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Accommodation</a:t>
            </a:r>
          </a:p>
          <a:p>
            <a:pPr lvl="0">
              <a:spcBef>
                <a:spcPts val="600"/>
              </a:spcBef>
              <a:spcAft>
                <a:spcPts val="1200"/>
              </a:spcAft>
            </a:pPr>
            <a:r>
              <a:rPr lang="en-AU" sz="2200" dirty="0" smtClean="0">
                <a:latin typeface="Helvetica" pitchFamily="34" charset="0"/>
              </a:rPr>
              <a:t>Dining/catering requirements</a:t>
            </a:r>
          </a:p>
          <a:p>
            <a:pPr lvl="0">
              <a:spcBef>
                <a:spcPts val="600"/>
              </a:spcBef>
              <a:spcAft>
                <a:spcPts val="1200"/>
              </a:spcAft>
            </a:pPr>
            <a:r>
              <a:rPr lang="en-AU" sz="2200" dirty="0" smtClean="0">
                <a:latin typeface="Helvetica" pitchFamily="34" charset="0"/>
              </a:rPr>
              <a:t>Budget</a:t>
            </a:r>
          </a:p>
          <a:p>
            <a:pPr lvl="0">
              <a:spcBef>
                <a:spcPts val="600"/>
              </a:spcBef>
              <a:spcAft>
                <a:spcPts val="1200"/>
              </a:spcAft>
            </a:pPr>
            <a:r>
              <a:rPr lang="en-AU" sz="2200" dirty="0" smtClean="0">
                <a:latin typeface="Helvetica" pitchFamily="34" charset="0"/>
              </a:rPr>
              <a:t>Dates and times</a:t>
            </a:r>
          </a:p>
          <a:p>
            <a:pPr lvl="0">
              <a:spcBef>
                <a:spcPts val="600"/>
              </a:spcBef>
              <a:spcAft>
                <a:spcPts val="1200"/>
              </a:spcAft>
            </a:pPr>
            <a:r>
              <a:rPr lang="en-AU" sz="2200" dirty="0" smtClean="0">
                <a:latin typeface="Helvetica" pitchFamily="34" charset="0"/>
              </a:rPr>
              <a:t>Customer numbers and classification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a:t>
            </a:fld>
            <a:endParaRPr lang="en-US" dirty="0">
              <a:latin typeface="Helvetica" pitchFamily="34" charset="0"/>
            </a:endParaRPr>
          </a:p>
        </p:txBody>
      </p:sp>
      <p:pic>
        <p:nvPicPr>
          <p:cNvPr id="6" name="Picture 5" descr="shutterstock_55090012.jpg"/>
          <p:cNvPicPr>
            <a:picLocks noChangeAspect="1"/>
          </p:cNvPicPr>
          <p:nvPr/>
        </p:nvPicPr>
        <p:blipFill>
          <a:blip r:embed="rId3" cstate="print"/>
          <a:stretch>
            <a:fillRect/>
          </a:stretch>
        </p:blipFill>
        <p:spPr>
          <a:xfrm>
            <a:off x="5220072" y="2348880"/>
            <a:ext cx="2914867" cy="1944216"/>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quotation details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Identify customer travel details and requirements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Preferred travel options</a:t>
            </a:r>
          </a:p>
          <a:p>
            <a:pPr lvl="0">
              <a:spcBef>
                <a:spcPts val="600"/>
              </a:spcBef>
              <a:spcAft>
                <a:spcPts val="1200"/>
              </a:spcAft>
            </a:pPr>
            <a:r>
              <a:rPr lang="en-AU" sz="2200" dirty="0" smtClean="0">
                <a:latin typeface="Helvetica" pitchFamily="34" charset="0"/>
              </a:rPr>
              <a:t>Destination travel requirements</a:t>
            </a:r>
          </a:p>
          <a:p>
            <a:pPr lvl="0">
              <a:spcBef>
                <a:spcPts val="600"/>
              </a:spcBef>
              <a:spcAft>
                <a:spcPts val="1200"/>
              </a:spcAft>
            </a:pPr>
            <a:r>
              <a:rPr lang="en-AU" sz="2200" dirty="0" smtClean="0">
                <a:latin typeface="Helvetica" pitchFamily="34" charset="0"/>
              </a:rPr>
              <a:t>Reasons for trip, function </a:t>
            </a:r>
          </a:p>
          <a:p>
            <a:pPr lvl="0">
              <a:spcBef>
                <a:spcPts val="600"/>
              </a:spcBef>
              <a:spcAft>
                <a:spcPts val="1200"/>
              </a:spcAft>
            </a:pPr>
            <a:r>
              <a:rPr lang="en-AU" sz="2200" dirty="0" smtClean="0">
                <a:latin typeface="Helvetica" pitchFamily="34" charset="0"/>
              </a:rPr>
              <a:t>Non-negotiable elements that relate </a:t>
            </a:r>
            <a:br>
              <a:rPr lang="en-AU" sz="2200" dirty="0" smtClean="0">
                <a:latin typeface="Helvetica" pitchFamily="34" charset="0"/>
              </a:rPr>
            </a:br>
            <a:r>
              <a:rPr lang="en-AU" sz="2200" dirty="0" smtClean="0">
                <a:latin typeface="Helvetica" pitchFamily="34" charset="0"/>
              </a:rPr>
              <a:t>to the quotation</a:t>
            </a:r>
          </a:p>
          <a:p>
            <a:pPr lvl="0">
              <a:spcBef>
                <a:spcPts val="600"/>
              </a:spcBef>
              <a:spcAft>
                <a:spcPts val="1200"/>
              </a:spcAft>
            </a:pPr>
            <a:r>
              <a:rPr lang="en-AU" sz="2200" dirty="0" smtClean="0">
                <a:latin typeface="Helvetica" pitchFamily="34" charset="0"/>
              </a:rPr>
              <a:t>Previous history of the client in </a:t>
            </a:r>
            <a:br>
              <a:rPr lang="en-AU" sz="2200" dirty="0" smtClean="0">
                <a:latin typeface="Helvetica" pitchFamily="34" charset="0"/>
              </a:rPr>
            </a:br>
            <a:r>
              <a:rPr lang="en-AU" sz="2200" dirty="0" smtClean="0">
                <a:latin typeface="Helvetica" pitchFamily="34" charset="0"/>
              </a:rPr>
              <a:t>relation to bookings made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a:t>
            </a:fld>
            <a:endParaRPr lang="en-US" dirty="0">
              <a:latin typeface="Helvetica" pitchFamily="34" charset="0"/>
            </a:endParaRPr>
          </a:p>
        </p:txBody>
      </p:sp>
      <p:pic>
        <p:nvPicPr>
          <p:cNvPr id="5" name="Picture 4" descr="shutterstock_180785885.jpg"/>
          <p:cNvPicPr>
            <a:picLocks noChangeAspect="1"/>
          </p:cNvPicPr>
          <p:nvPr/>
        </p:nvPicPr>
        <p:blipFill>
          <a:blip r:embed="rId3" cstate="print"/>
          <a:stretch>
            <a:fillRect/>
          </a:stretch>
        </p:blipFill>
        <p:spPr>
          <a:xfrm>
            <a:off x="5796136" y="4077072"/>
            <a:ext cx="2615170" cy="174431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340768"/>
            <a:ext cx="7237040" cy="4896544"/>
          </a:xfrm>
        </p:spPr>
        <p:txBody>
          <a:bodyPr>
            <a:normAutofit/>
          </a:bodyPr>
          <a:lstStyle/>
          <a:p>
            <a:pPr marL="0">
              <a:buNone/>
            </a:pPr>
            <a:r>
              <a:rPr lang="en-AU" sz="4000" b="1" dirty="0" smtClean="0">
                <a:solidFill>
                  <a:srgbClr val="FF6600"/>
                </a:solidFill>
                <a:latin typeface="Helvetica" pitchFamily="34" charset="0"/>
              </a:rPr>
              <a:t>Element 2:</a:t>
            </a:r>
          </a:p>
          <a:p>
            <a:pPr marL="0">
              <a:spcBef>
                <a:spcPts val="600"/>
              </a:spcBef>
              <a:spcAft>
                <a:spcPts val="1200"/>
              </a:spcAft>
              <a:buNone/>
            </a:pPr>
            <a:r>
              <a:rPr lang="en-AU" sz="4000" b="1" i="1" dirty="0">
                <a:solidFill>
                  <a:srgbClr val="FF6600"/>
                </a:solidFill>
                <a:latin typeface="Helvetica" pitchFamily="34" charset="0"/>
              </a:rPr>
              <a:t>Prepare the quotation</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a:t>
            </a:fld>
            <a:endParaRPr lang="en-US" dirty="0">
              <a:latin typeface="Helvetica" pitchFamily="34" charset="0"/>
            </a:endParaRPr>
          </a:p>
        </p:txBody>
      </p:sp>
      <p:pic>
        <p:nvPicPr>
          <p:cNvPr id="5" name="Picture 4" descr="shutterstock_170984318.jpg"/>
          <p:cNvPicPr/>
          <p:nvPr/>
        </p:nvPicPr>
        <p:blipFill>
          <a:blip r:embed="rId3" cstate="print"/>
          <a:stretch>
            <a:fillRect/>
          </a:stretch>
        </p:blipFill>
        <p:spPr>
          <a:xfrm>
            <a:off x="2339752" y="2780928"/>
            <a:ext cx="2952328" cy="30787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Prepare the quotation</a:t>
            </a:r>
            <a:endParaRPr lang="en-AU" sz="3400" b="1" i="1" dirty="0" smtClean="0">
              <a:solidFill>
                <a:srgbClr val="FF6600"/>
              </a:solidFill>
              <a:latin typeface="Helvetica" pitchFamily="34" charset="0"/>
            </a:endParaRPr>
          </a:p>
        </p:txBody>
      </p:sp>
      <p:sp>
        <p:nvSpPr>
          <p:cNvPr id="3" name="Content Placeholder 2"/>
          <p:cNvSpPr>
            <a:spLocks noGrp="1"/>
          </p:cNvSpPr>
          <p:nvPr>
            <p:ph idx="1"/>
          </p:nvPr>
        </p:nvSpPr>
        <p:spPr>
          <a:xfrm>
            <a:off x="611560" y="1052736"/>
            <a:ext cx="7846640" cy="5112568"/>
          </a:xfrm>
        </p:spPr>
        <p:txBody>
          <a:bodyPr>
            <a:norm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Establish files to record the quotation</a:t>
            </a:r>
          </a:p>
          <a:p>
            <a:pPr>
              <a:spcBef>
                <a:spcPts val="600"/>
              </a:spcBef>
              <a:spcAft>
                <a:spcPts val="1200"/>
              </a:spcAft>
            </a:pPr>
            <a:r>
              <a:rPr lang="en-AU" sz="2200" dirty="0" smtClean="0">
                <a:latin typeface="Helvetica" pitchFamily="34" charset="0"/>
              </a:rPr>
              <a:t>Identify appropriate supplier and provider alternatives</a:t>
            </a:r>
          </a:p>
          <a:p>
            <a:pPr>
              <a:spcBef>
                <a:spcPts val="600"/>
              </a:spcBef>
              <a:spcAft>
                <a:spcPts val="1200"/>
              </a:spcAft>
            </a:pPr>
            <a:r>
              <a:rPr lang="en-AU" sz="2200" dirty="0" smtClean="0">
                <a:latin typeface="Helvetica" pitchFamily="34" charset="0"/>
              </a:rPr>
              <a:t>Calculate costs of products and services required for the quotation</a:t>
            </a:r>
          </a:p>
          <a:p>
            <a:pPr>
              <a:spcBef>
                <a:spcPts val="600"/>
              </a:spcBef>
              <a:spcAft>
                <a:spcPts val="1200"/>
              </a:spcAft>
            </a:pPr>
            <a:r>
              <a:rPr lang="en-AU" sz="2200" dirty="0" smtClean="0">
                <a:latin typeface="Helvetica" pitchFamily="34" charset="0"/>
              </a:rPr>
              <a:t>Identify terms and conditions that </a:t>
            </a:r>
            <a:br>
              <a:rPr lang="en-AU" sz="2200" dirty="0" smtClean="0">
                <a:latin typeface="Helvetica" pitchFamily="34" charset="0"/>
              </a:rPr>
            </a:br>
            <a:r>
              <a:rPr lang="en-AU" sz="2200" dirty="0" smtClean="0">
                <a:latin typeface="Helvetica" pitchFamily="34" charset="0"/>
              </a:rPr>
              <a:t>apply to the quotation </a:t>
            </a:r>
          </a:p>
          <a:p>
            <a:pPr>
              <a:spcBef>
                <a:spcPts val="600"/>
              </a:spcBef>
              <a:spcAft>
                <a:spcPts val="1200"/>
              </a:spcAft>
            </a:pPr>
            <a:r>
              <a:rPr lang="en-AU" sz="2200" dirty="0" smtClean="0">
                <a:latin typeface="Helvetica" pitchFamily="34" charset="0"/>
              </a:rPr>
              <a:t>Submit draft quotation for approval </a:t>
            </a:r>
          </a:p>
          <a:p>
            <a:pPr>
              <a:spcBef>
                <a:spcPts val="600"/>
              </a:spcBef>
              <a:spcAft>
                <a:spcPts val="1200"/>
              </a:spcAft>
            </a:pPr>
            <a:r>
              <a:rPr lang="en-AU" sz="2200" dirty="0" smtClean="0">
                <a:latin typeface="Helvetica" pitchFamily="34" charset="0"/>
              </a:rPr>
              <a:t>Amend draft quotation, as required </a:t>
            </a:r>
          </a:p>
          <a:p>
            <a:pPr>
              <a:spcBef>
                <a:spcPts val="600"/>
              </a:spcBef>
              <a:spcAft>
                <a:spcPts val="1200"/>
              </a:spcAft>
            </a:pPr>
            <a:r>
              <a:rPr lang="en-AU" sz="2200" dirty="0" smtClean="0">
                <a:latin typeface="Helvetica" pitchFamily="34" charset="0"/>
              </a:rPr>
              <a:t>Record and file the approved quotation</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a:t>
            </a:fld>
            <a:endParaRPr lang="en-US" dirty="0">
              <a:latin typeface="Helvetica" pitchFamily="34" charset="0"/>
            </a:endParaRPr>
          </a:p>
        </p:txBody>
      </p:sp>
      <p:pic>
        <p:nvPicPr>
          <p:cNvPr id="5" name="Picture 4" descr="Globe Lugg Plan Boat Bus_85552621.jpg"/>
          <p:cNvPicPr/>
          <p:nvPr/>
        </p:nvPicPr>
        <p:blipFill>
          <a:blip r:embed="rId3" cstate="print"/>
          <a:stretch>
            <a:fillRect/>
          </a:stretch>
        </p:blipFill>
        <p:spPr>
          <a:xfrm>
            <a:off x="6084168" y="3284984"/>
            <a:ext cx="2088232" cy="1800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ways to record quotation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Purpose of having recording methods</a:t>
            </a:r>
          </a:p>
          <a:p>
            <a:pPr marL="0">
              <a:spcBef>
                <a:spcPts val="600"/>
              </a:spcBef>
              <a:spcAft>
                <a:spcPts val="1200"/>
              </a:spcAft>
              <a:buNone/>
            </a:pPr>
            <a:r>
              <a:rPr lang="en-AU" sz="2200" dirty="0" smtClean="0">
                <a:latin typeface="Helvetica" pitchFamily="34" charset="0"/>
              </a:rPr>
              <a:t>Most travel agencies will use a combination recording system to record:</a:t>
            </a:r>
          </a:p>
          <a:p>
            <a:pPr lvl="0">
              <a:spcBef>
                <a:spcPts val="600"/>
              </a:spcBef>
              <a:spcAft>
                <a:spcPts val="1200"/>
              </a:spcAft>
            </a:pPr>
            <a:r>
              <a:rPr lang="en-AU" sz="2200" dirty="0" smtClean="0">
                <a:latin typeface="Helvetica" pitchFamily="34" charset="0"/>
              </a:rPr>
              <a:t>Customer detail</a:t>
            </a:r>
          </a:p>
          <a:p>
            <a:pPr lvl="0">
              <a:spcBef>
                <a:spcPts val="600"/>
              </a:spcBef>
              <a:spcAft>
                <a:spcPts val="1200"/>
              </a:spcAft>
            </a:pPr>
            <a:r>
              <a:rPr lang="en-AU" sz="2200" dirty="0" smtClean="0">
                <a:latin typeface="Helvetica" pitchFamily="34" charset="0"/>
              </a:rPr>
              <a:t>Supplier quotations</a:t>
            </a:r>
          </a:p>
          <a:p>
            <a:pPr lvl="0">
              <a:spcBef>
                <a:spcPts val="600"/>
              </a:spcBef>
              <a:spcAft>
                <a:spcPts val="1200"/>
              </a:spcAft>
            </a:pPr>
            <a:r>
              <a:rPr lang="en-AU" sz="2200" dirty="0" smtClean="0">
                <a:latin typeface="Helvetica" pitchFamily="34" charset="0"/>
              </a:rPr>
              <a:t>Travel agency quotations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a:t>
            </a:fld>
            <a:endParaRPr lang="en-US" dirty="0">
              <a:latin typeface="Helvetica" pitchFamily="34" charset="0"/>
            </a:endParaRPr>
          </a:p>
        </p:txBody>
      </p:sp>
      <p:pic>
        <p:nvPicPr>
          <p:cNvPr id="5" name="Picture 4" descr="A8 shutterstock_149513465.jpg"/>
          <p:cNvPicPr>
            <a:picLocks noChangeAspect="1"/>
          </p:cNvPicPr>
          <p:nvPr/>
        </p:nvPicPr>
        <p:blipFill>
          <a:blip r:embed="rId3" cstate="print"/>
          <a:stretch>
            <a:fillRect/>
          </a:stretch>
        </p:blipFill>
        <p:spPr>
          <a:xfrm>
            <a:off x="5220072" y="3645023"/>
            <a:ext cx="3183172" cy="214864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sian girl with world on hand_34766518.jpg"/>
          <p:cNvPicPr/>
          <p:nvPr/>
        </p:nvPicPr>
        <p:blipFill>
          <a:blip r:embed="rId3" cstate="print"/>
          <a:stretch>
            <a:fillRect/>
          </a:stretch>
        </p:blipFill>
        <p:spPr>
          <a:xfrm>
            <a:off x="6228184" y="2243984"/>
            <a:ext cx="2016224" cy="2736304"/>
          </a:xfrm>
          <a:prstGeom prst="rect">
            <a:avLst/>
          </a:prstGeom>
        </p:spPr>
      </p:pic>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ways to record quotation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Recording method considerations</a:t>
            </a:r>
          </a:p>
          <a:p>
            <a:pPr lvl="0">
              <a:spcBef>
                <a:spcPts val="600"/>
              </a:spcBef>
              <a:spcAft>
                <a:spcPts val="1200"/>
              </a:spcAft>
            </a:pPr>
            <a:r>
              <a:rPr lang="en-AU" sz="2200" dirty="0" smtClean="0">
                <a:latin typeface="Helvetica" pitchFamily="34" charset="0"/>
              </a:rPr>
              <a:t>Customer requirements</a:t>
            </a:r>
          </a:p>
          <a:p>
            <a:pPr lvl="0">
              <a:spcBef>
                <a:spcPts val="600"/>
              </a:spcBef>
              <a:spcAft>
                <a:spcPts val="1200"/>
              </a:spcAft>
            </a:pPr>
            <a:r>
              <a:rPr lang="en-AU" sz="2200" dirty="0" smtClean="0">
                <a:latin typeface="Helvetica" pitchFamily="34" charset="0"/>
              </a:rPr>
              <a:t>Information sourced to date</a:t>
            </a:r>
          </a:p>
          <a:p>
            <a:pPr lvl="0">
              <a:spcBef>
                <a:spcPts val="600"/>
              </a:spcBef>
              <a:spcAft>
                <a:spcPts val="1200"/>
              </a:spcAft>
            </a:pPr>
            <a:r>
              <a:rPr lang="en-AU" sz="2200" dirty="0" smtClean="0">
                <a:latin typeface="Helvetica" pitchFamily="34" charset="0"/>
              </a:rPr>
              <a:t>Information provided to customers to date</a:t>
            </a:r>
          </a:p>
          <a:p>
            <a:pPr lvl="0">
              <a:spcBef>
                <a:spcPts val="600"/>
              </a:spcBef>
              <a:spcAft>
                <a:spcPts val="1200"/>
              </a:spcAft>
            </a:pPr>
            <a:r>
              <a:rPr lang="en-AU" sz="2200" dirty="0" smtClean="0">
                <a:latin typeface="Helvetica" pitchFamily="34" charset="0"/>
              </a:rPr>
              <a:t>Communication discussions taken place </a:t>
            </a:r>
            <a:br>
              <a:rPr lang="en-AU" sz="2200" dirty="0" smtClean="0">
                <a:latin typeface="Helvetica" pitchFamily="34" charset="0"/>
              </a:rPr>
            </a:br>
            <a:r>
              <a:rPr lang="en-AU" sz="2200" dirty="0" smtClean="0">
                <a:latin typeface="Helvetica" pitchFamily="34" charset="0"/>
              </a:rPr>
              <a:t>to date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a:t>
            </a:fld>
            <a:endParaRPr lang="en-US" dirty="0">
              <a:latin typeface="Helvetic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ways to record quotation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484784"/>
            <a:ext cx="7467600" cy="4824536"/>
          </a:xfrm>
        </p:spPr>
        <p:txBody>
          <a:bodyPr>
            <a:normAutofit fontScale="92500" lnSpcReduction="10000"/>
          </a:bodyPr>
          <a:lstStyle/>
          <a:p>
            <a:pPr marL="0">
              <a:spcBef>
                <a:spcPts val="600"/>
              </a:spcBef>
              <a:spcAft>
                <a:spcPts val="600"/>
              </a:spcAft>
              <a:buNone/>
            </a:pPr>
            <a:r>
              <a:rPr lang="en-AU" sz="2200" b="1" dirty="0" smtClean="0">
                <a:latin typeface="Helvetica" pitchFamily="34" charset="0"/>
              </a:rPr>
              <a:t>Process of collecting customer information and travel needs</a:t>
            </a: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Initial customer contact </a:t>
            </a:r>
          </a:p>
          <a:p>
            <a:pPr lvl="0">
              <a:spcBef>
                <a:spcPts val="600"/>
              </a:spcBef>
              <a:spcAft>
                <a:spcPts val="600"/>
              </a:spcAft>
            </a:pPr>
            <a:r>
              <a:rPr lang="en-AU" sz="2200" dirty="0" smtClean="0">
                <a:latin typeface="Helvetica" pitchFamily="34" charset="0"/>
              </a:rPr>
              <a:t>Quotation reference number allocated using internal office protocol </a:t>
            </a:r>
          </a:p>
          <a:p>
            <a:pPr lvl="0">
              <a:spcBef>
                <a:spcPts val="600"/>
              </a:spcBef>
              <a:spcAft>
                <a:spcPts val="600"/>
              </a:spcAft>
            </a:pPr>
            <a:r>
              <a:rPr lang="en-AU" sz="2200" dirty="0" smtClean="0">
                <a:latin typeface="Helvetica" pitchFamily="34" charset="0"/>
              </a:rPr>
              <a:t>Follow-up quotation work with suppliers </a:t>
            </a:r>
          </a:p>
          <a:p>
            <a:pPr lvl="0">
              <a:spcBef>
                <a:spcPts val="600"/>
              </a:spcBef>
              <a:spcAft>
                <a:spcPts val="600"/>
              </a:spcAft>
            </a:pPr>
            <a:r>
              <a:rPr lang="en-AU" sz="2200" dirty="0" smtClean="0">
                <a:latin typeface="Helvetica" pitchFamily="34" charset="0"/>
              </a:rPr>
              <a:t>Attach to pro-forma quotation planner, </a:t>
            </a:r>
            <a:br>
              <a:rPr lang="en-AU" sz="2200" dirty="0" smtClean="0">
                <a:latin typeface="Helvetica" pitchFamily="34" charset="0"/>
              </a:rPr>
            </a:br>
            <a:r>
              <a:rPr lang="en-AU" sz="2200" dirty="0" smtClean="0">
                <a:latin typeface="Helvetica" pitchFamily="34" charset="0"/>
              </a:rPr>
              <a:t>enquiry sheet </a:t>
            </a:r>
          </a:p>
          <a:p>
            <a:pPr lvl="0">
              <a:spcBef>
                <a:spcPts val="600"/>
              </a:spcBef>
              <a:spcAft>
                <a:spcPts val="600"/>
              </a:spcAft>
            </a:pPr>
            <a:r>
              <a:rPr lang="en-AU" sz="2200" dirty="0" smtClean="0">
                <a:latin typeface="Helvetica" pitchFamily="34" charset="0"/>
              </a:rPr>
              <a:t>Copies of correspondence from suppliers </a:t>
            </a:r>
          </a:p>
          <a:p>
            <a:pPr lvl="0">
              <a:spcBef>
                <a:spcPts val="600"/>
              </a:spcBef>
              <a:spcAft>
                <a:spcPts val="600"/>
              </a:spcAft>
            </a:pPr>
            <a:r>
              <a:rPr lang="en-AU" sz="2200" dirty="0" smtClean="0">
                <a:latin typeface="Helvetica" pitchFamily="34" charset="0"/>
              </a:rPr>
              <a:t>Copies of correspondence to customer </a:t>
            </a:r>
          </a:p>
          <a:p>
            <a:pPr lvl="0">
              <a:spcBef>
                <a:spcPts val="600"/>
              </a:spcBef>
              <a:spcAft>
                <a:spcPts val="600"/>
              </a:spcAft>
            </a:pPr>
            <a:r>
              <a:rPr lang="en-AU" sz="2200" dirty="0" smtClean="0">
                <a:latin typeface="Helvetica" pitchFamily="34" charset="0"/>
              </a:rPr>
              <a:t>Keep copy on file</a:t>
            </a:r>
          </a:p>
          <a:p>
            <a:pPr>
              <a:spcBef>
                <a:spcPts val="600"/>
              </a:spcBef>
              <a:spcAft>
                <a:spcPts val="600"/>
              </a:spcAft>
            </a:pPr>
            <a:r>
              <a:rPr lang="en-AU" sz="2200" dirty="0" smtClean="0">
                <a:latin typeface="Helvetica" pitchFamily="34" charset="0"/>
              </a:rPr>
              <a:t>Calendar book or diarise for follow-up</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a:t>
            </a:fld>
            <a:endParaRPr lang="en-US" dirty="0">
              <a:latin typeface="Helvetica" pitchFamily="34" charset="0"/>
            </a:endParaRPr>
          </a:p>
        </p:txBody>
      </p:sp>
      <p:pic>
        <p:nvPicPr>
          <p:cNvPr id="5" name="Picture 4" descr="shutterstock_15527185.jpg"/>
          <p:cNvPicPr/>
          <p:nvPr/>
        </p:nvPicPr>
        <p:blipFill>
          <a:blip r:embed="rId3" cstate="print"/>
          <a:stretch>
            <a:fillRect/>
          </a:stretch>
        </p:blipFill>
        <p:spPr>
          <a:xfrm>
            <a:off x="5868144" y="3933056"/>
            <a:ext cx="2592288" cy="187220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Record quotation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200" b="1" dirty="0" smtClean="0">
                <a:latin typeface="Helvetica" pitchFamily="34" charset="0"/>
              </a:rPr>
              <a:t>Importance of recording accurate information</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It is important that these records be accurately maintained to ensure:</a:t>
            </a:r>
          </a:p>
          <a:p>
            <a:pPr lvl="0">
              <a:spcBef>
                <a:spcPts val="600"/>
              </a:spcBef>
              <a:spcAft>
                <a:spcPts val="1200"/>
              </a:spcAft>
            </a:pPr>
            <a:r>
              <a:rPr lang="en-AU" sz="2200" dirty="0" smtClean="0">
                <a:latin typeface="Helvetica" pitchFamily="34" charset="0"/>
              </a:rPr>
              <a:t>Efficiency </a:t>
            </a:r>
          </a:p>
          <a:p>
            <a:pPr lvl="0">
              <a:spcBef>
                <a:spcPts val="600"/>
              </a:spcBef>
              <a:spcAft>
                <a:spcPts val="1200"/>
              </a:spcAft>
            </a:pPr>
            <a:r>
              <a:rPr lang="en-AU" sz="2200" dirty="0" smtClean="0">
                <a:latin typeface="Helvetica" pitchFamily="34" charset="0"/>
              </a:rPr>
              <a:t>Effectiveness </a:t>
            </a:r>
          </a:p>
          <a:p>
            <a:pPr lvl="0">
              <a:spcBef>
                <a:spcPts val="600"/>
              </a:spcBef>
              <a:spcAft>
                <a:spcPts val="1200"/>
              </a:spcAft>
            </a:pPr>
            <a:r>
              <a:rPr lang="en-AU" sz="2200" dirty="0" smtClean="0">
                <a:latin typeface="Helvetica" pitchFamily="34" charset="0"/>
              </a:rPr>
              <a:t>Team work </a:t>
            </a:r>
          </a:p>
          <a:p>
            <a:pPr lvl="0">
              <a:spcBef>
                <a:spcPts val="600"/>
              </a:spcBef>
              <a:spcAft>
                <a:spcPts val="1200"/>
              </a:spcAft>
            </a:pPr>
            <a:r>
              <a:rPr lang="en-AU" sz="2200" dirty="0" smtClean="0">
                <a:latin typeface="Helvetica" pitchFamily="34" charset="0"/>
              </a:rPr>
              <a:t>Profitability </a:t>
            </a:r>
          </a:p>
          <a:p>
            <a:pPr lvl="0">
              <a:spcBef>
                <a:spcPts val="600"/>
              </a:spcBef>
              <a:spcAft>
                <a:spcPts val="1200"/>
              </a:spcAft>
            </a:pPr>
            <a:r>
              <a:rPr lang="en-AU" sz="2200" dirty="0" smtClean="0">
                <a:latin typeface="Helvetica" pitchFamily="34" charset="0"/>
              </a:rPr>
              <a:t>Enhanced customer service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a:t>
            </a:fld>
            <a:endParaRPr lang="en-US" dirty="0">
              <a:latin typeface="Helvetica" pitchFamily="34" charset="0"/>
            </a:endParaRPr>
          </a:p>
        </p:txBody>
      </p:sp>
      <p:pic>
        <p:nvPicPr>
          <p:cNvPr id="5" name="Picture 4" descr="A21 shutterstock_182028425.jpg"/>
          <p:cNvPicPr/>
          <p:nvPr/>
        </p:nvPicPr>
        <p:blipFill>
          <a:blip r:embed="rId3" cstate="print"/>
          <a:stretch>
            <a:fillRect/>
          </a:stretch>
        </p:blipFill>
        <p:spPr>
          <a:xfrm>
            <a:off x="4766170" y="3140968"/>
            <a:ext cx="2845627" cy="194421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Record quotation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200" b="1" dirty="0" smtClean="0">
                <a:latin typeface="Helvetica" pitchFamily="34" charset="0"/>
              </a:rPr>
              <a:t>Benefits of accurately recording information</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If you are inundated with requests for quotations it may be possible to:</a:t>
            </a:r>
          </a:p>
          <a:p>
            <a:pPr lvl="0">
              <a:spcBef>
                <a:spcPts val="600"/>
              </a:spcBef>
              <a:spcAft>
                <a:spcPts val="1200"/>
              </a:spcAft>
            </a:pPr>
            <a:r>
              <a:rPr lang="en-AU" sz="2200" dirty="0" smtClean="0">
                <a:latin typeface="Helvetica" pitchFamily="34" charset="0"/>
              </a:rPr>
              <a:t>Review and prioritise in order of importance</a:t>
            </a:r>
          </a:p>
          <a:p>
            <a:pPr lvl="0">
              <a:spcBef>
                <a:spcPts val="600"/>
              </a:spcBef>
              <a:spcAft>
                <a:spcPts val="1200"/>
              </a:spcAft>
            </a:pPr>
            <a:r>
              <a:rPr lang="en-AU" sz="2200" dirty="0" smtClean="0">
                <a:latin typeface="Helvetica" pitchFamily="34" charset="0"/>
              </a:rPr>
              <a:t>Second one of your colleagues to assist you</a:t>
            </a:r>
          </a:p>
          <a:p>
            <a:pPr lvl="0">
              <a:spcBef>
                <a:spcPts val="600"/>
              </a:spcBef>
              <a:spcAft>
                <a:spcPts val="1200"/>
              </a:spcAft>
            </a:pPr>
            <a:r>
              <a:rPr lang="en-AU" sz="2200" dirty="0" smtClean="0">
                <a:latin typeface="Helvetica" pitchFamily="34" charset="0"/>
              </a:rPr>
              <a:t>Reset agreed deadlines with customers</a:t>
            </a:r>
          </a:p>
          <a:p>
            <a:pPr lvl="0">
              <a:spcBef>
                <a:spcPts val="600"/>
              </a:spcBef>
              <a:spcAft>
                <a:spcPts val="1200"/>
              </a:spcAft>
            </a:pPr>
            <a:r>
              <a:rPr lang="en-AU" sz="2200" dirty="0" smtClean="0">
                <a:latin typeface="Helvetica" pitchFamily="34" charset="0"/>
              </a:rPr>
              <a:t>Bring your situation to the attention </a:t>
            </a:r>
            <a:br>
              <a:rPr lang="en-AU" sz="2200" dirty="0" smtClean="0">
                <a:latin typeface="Helvetica" pitchFamily="34" charset="0"/>
              </a:rPr>
            </a:br>
            <a:r>
              <a:rPr lang="en-AU" sz="2200" dirty="0" smtClean="0">
                <a:latin typeface="Helvetica" pitchFamily="34" charset="0"/>
              </a:rPr>
              <a:t>of your manager or supervisor</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a:t>
            </a:fld>
            <a:endParaRPr lang="en-US" dirty="0">
              <a:latin typeface="Helvetica" pitchFamily="34" charset="0"/>
            </a:endParaRPr>
          </a:p>
        </p:txBody>
      </p:sp>
      <p:pic>
        <p:nvPicPr>
          <p:cNvPr id="5" name="Picture 4" descr="shutterstock_153548027.jpg"/>
          <p:cNvPicPr>
            <a:picLocks noChangeAspect="1"/>
          </p:cNvPicPr>
          <p:nvPr/>
        </p:nvPicPr>
        <p:blipFill>
          <a:blip r:embed="rId3" cstate="print"/>
          <a:stretch>
            <a:fillRect/>
          </a:stretch>
        </p:blipFill>
        <p:spPr>
          <a:xfrm>
            <a:off x="6057913" y="4142510"/>
            <a:ext cx="2376264" cy="158496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Record quotation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200" b="1" dirty="0" smtClean="0">
                <a:latin typeface="Helvetica" pitchFamily="34" charset="0"/>
              </a:rPr>
              <a:t>Use of industry codes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Airport codes</a:t>
            </a:r>
          </a:p>
          <a:p>
            <a:pPr lvl="0">
              <a:spcBef>
                <a:spcPts val="600"/>
              </a:spcBef>
              <a:spcAft>
                <a:spcPts val="1200"/>
              </a:spcAft>
            </a:pPr>
            <a:r>
              <a:rPr lang="en-AU" sz="2200" dirty="0" smtClean="0">
                <a:latin typeface="Helvetica" pitchFamily="34" charset="0"/>
              </a:rPr>
              <a:t>Airline codes</a:t>
            </a:r>
          </a:p>
          <a:p>
            <a:pPr lvl="0">
              <a:spcBef>
                <a:spcPts val="600"/>
              </a:spcBef>
              <a:spcAft>
                <a:spcPts val="1200"/>
              </a:spcAft>
            </a:pPr>
            <a:r>
              <a:rPr lang="en-AU" sz="2200" dirty="0" smtClean="0">
                <a:latin typeface="Helvetica" pitchFamily="34" charset="0"/>
              </a:rPr>
              <a:t>Tour codes</a:t>
            </a:r>
          </a:p>
          <a:p>
            <a:pPr lvl="0">
              <a:spcBef>
                <a:spcPts val="600"/>
              </a:spcBef>
              <a:spcAft>
                <a:spcPts val="1200"/>
              </a:spcAft>
            </a:pPr>
            <a:r>
              <a:rPr lang="en-AU" sz="2200" dirty="0" smtClean="0">
                <a:latin typeface="Helvetica" pitchFamily="34" charset="0"/>
              </a:rPr>
              <a:t>Room types</a:t>
            </a:r>
          </a:p>
          <a:p>
            <a:pPr lvl="0">
              <a:spcBef>
                <a:spcPts val="600"/>
              </a:spcBef>
              <a:spcAft>
                <a:spcPts val="1200"/>
              </a:spcAft>
            </a:pPr>
            <a:r>
              <a:rPr lang="en-AU" sz="2200" dirty="0" smtClean="0">
                <a:latin typeface="Helvetica" pitchFamily="34" charset="0"/>
              </a:rPr>
              <a:t>Service codes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a:t>
            </a:fld>
            <a:endParaRPr lang="en-US" dirty="0">
              <a:latin typeface="Helvetica" pitchFamily="34" charset="0"/>
            </a:endParaRPr>
          </a:p>
        </p:txBody>
      </p:sp>
      <p:pic>
        <p:nvPicPr>
          <p:cNvPr id="5" name="Picture 4" descr="Plan and boarding.jpg"/>
          <p:cNvPicPr/>
          <p:nvPr/>
        </p:nvPicPr>
        <p:blipFill>
          <a:blip r:embed="rId3" cstate="print"/>
          <a:stretch>
            <a:fillRect/>
          </a:stretch>
        </p:blipFill>
        <p:spPr>
          <a:xfrm>
            <a:off x="4264828" y="2060848"/>
            <a:ext cx="2952328" cy="316835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Record quotation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4824536"/>
          </a:xfrm>
        </p:spPr>
        <p:txBody>
          <a:bodyPr>
            <a:normAutofit/>
          </a:bodyPr>
          <a:lstStyle/>
          <a:p>
            <a:pPr>
              <a:spcBef>
                <a:spcPts val="600"/>
              </a:spcBef>
              <a:spcAft>
                <a:spcPts val="1200"/>
              </a:spcAft>
              <a:buNone/>
            </a:pPr>
            <a:r>
              <a:rPr lang="en-AU" sz="2200" b="1" dirty="0" smtClean="0">
                <a:latin typeface="Helvetica" pitchFamily="34" charset="0"/>
              </a:rPr>
              <a:t>Using a Quotation Planner</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Each organisation will have established pro-formas or documents which must be used by staff when collecting information from customers in which quotations can be based around.</a:t>
            </a:r>
          </a:p>
          <a:p>
            <a:pPr>
              <a:spcBef>
                <a:spcPts val="600"/>
              </a:spcBef>
              <a:spcAft>
                <a:spcPts val="1200"/>
              </a:spcAft>
            </a:pPr>
            <a:r>
              <a:rPr lang="en-AU" sz="2200" dirty="0" smtClean="0">
                <a:latin typeface="Helvetica" pitchFamily="34" charset="0"/>
              </a:rPr>
              <a:t>What is the benefit of using a quotation planner?</a:t>
            </a:r>
          </a:p>
          <a:p>
            <a:pPr>
              <a:spcBef>
                <a:spcPts val="600"/>
              </a:spcBef>
              <a:spcAft>
                <a:spcPts val="1200"/>
              </a:spcAft>
            </a:pPr>
            <a:r>
              <a:rPr lang="en-AU" sz="2200" dirty="0" smtClean="0">
                <a:latin typeface="Helvetica" pitchFamily="34" charset="0"/>
              </a:rPr>
              <a:t>What information do you wish to collect?</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23</a:t>
            </a:fld>
            <a:endParaRPr lang="en-US" dirty="0">
              <a:latin typeface="Helvetica" pitchFamily="34" charset="0"/>
            </a:endParaRPr>
          </a:p>
        </p:txBody>
      </p:sp>
      <p:pic>
        <p:nvPicPr>
          <p:cNvPr id="5" name="Picture 4" descr="shutterstock_91170884.jpg"/>
          <p:cNvPicPr/>
          <p:nvPr/>
        </p:nvPicPr>
        <p:blipFill>
          <a:blip r:embed="rId3" cstate="print"/>
          <a:stretch>
            <a:fillRect/>
          </a:stretch>
        </p:blipFill>
        <p:spPr>
          <a:xfrm>
            <a:off x="2411760" y="4570297"/>
            <a:ext cx="2088232" cy="16670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Record quotation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200" b="1" dirty="0" smtClean="0">
                <a:latin typeface="Helvetica" pitchFamily="34" charset="0"/>
              </a:rPr>
              <a:t>Inclusions in formal quotations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Date of quotation and reference number</a:t>
            </a:r>
          </a:p>
          <a:p>
            <a:pPr lvl="0">
              <a:spcBef>
                <a:spcPts val="600"/>
              </a:spcBef>
              <a:spcAft>
                <a:spcPts val="1200"/>
              </a:spcAft>
            </a:pPr>
            <a:r>
              <a:rPr lang="en-AU" sz="2200" dirty="0" smtClean="0">
                <a:latin typeface="Helvetica" pitchFamily="34" charset="0"/>
              </a:rPr>
              <a:t>Clients name</a:t>
            </a:r>
          </a:p>
          <a:p>
            <a:pPr lvl="0">
              <a:spcBef>
                <a:spcPts val="600"/>
              </a:spcBef>
              <a:spcAft>
                <a:spcPts val="1200"/>
              </a:spcAft>
            </a:pPr>
            <a:r>
              <a:rPr lang="en-AU" sz="2200" dirty="0" smtClean="0">
                <a:latin typeface="Helvetica" pitchFamily="34" charset="0"/>
              </a:rPr>
              <a:t>Phone contacts and fax </a:t>
            </a:r>
          </a:p>
          <a:p>
            <a:pPr lvl="0">
              <a:spcBef>
                <a:spcPts val="600"/>
              </a:spcBef>
              <a:spcAft>
                <a:spcPts val="1200"/>
              </a:spcAft>
            </a:pPr>
            <a:r>
              <a:rPr lang="en-AU" sz="2200" dirty="0" smtClean="0">
                <a:latin typeface="Helvetica" pitchFamily="34" charset="0"/>
              </a:rPr>
              <a:t>Email address</a:t>
            </a:r>
          </a:p>
          <a:p>
            <a:pPr lvl="0">
              <a:spcBef>
                <a:spcPts val="600"/>
              </a:spcBef>
              <a:spcAft>
                <a:spcPts val="1200"/>
              </a:spcAft>
            </a:pPr>
            <a:r>
              <a:rPr lang="en-AU" sz="2200" dirty="0" smtClean="0">
                <a:latin typeface="Helvetica" pitchFamily="34" charset="0"/>
              </a:rPr>
              <a:t>Address</a:t>
            </a:r>
          </a:p>
          <a:p>
            <a:pPr lvl="0">
              <a:spcBef>
                <a:spcPts val="600"/>
              </a:spcBef>
              <a:spcAft>
                <a:spcPts val="1200"/>
              </a:spcAft>
            </a:pPr>
            <a:r>
              <a:rPr lang="en-AU" sz="2200" dirty="0" smtClean="0">
                <a:latin typeface="Helvetica" pitchFamily="34" charset="0"/>
              </a:rPr>
              <a:t>Month of travel</a:t>
            </a:r>
          </a:p>
          <a:p>
            <a:pPr lvl="0">
              <a:spcBef>
                <a:spcPts val="600"/>
              </a:spcBef>
              <a:spcAft>
                <a:spcPts val="1200"/>
              </a:spcAft>
            </a:pPr>
            <a:r>
              <a:rPr lang="en-AU" sz="2200" dirty="0" smtClean="0">
                <a:latin typeface="Helvetica" pitchFamily="34" charset="0"/>
              </a:rPr>
              <a:t>Length of travel and class of travel</a:t>
            </a:r>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24</a:t>
            </a:fld>
            <a:endParaRPr lang="en-US" dirty="0">
              <a:latin typeface="Helvetica" pitchFamily="34" charset="0"/>
            </a:endParaRPr>
          </a:p>
        </p:txBody>
      </p:sp>
      <p:pic>
        <p:nvPicPr>
          <p:cNvPr id="5" name="Picture 4" descr="shutterstock_156687269.jpg"/>
          <p:cNvPicPr>
            <a:picLocks noChangeAspect="1"/>
          </p:cNvPicPr>
          <p:nvPr/>
        </p:nvPicPr>
        <p:blipFill>
          <a:blip r:embed="rId3"/>
          <a:stretch>
            <a:fillRect/>
          </a:stretch>
        </p:blipFill>
        <p:spPr>
          <a:xfrm>
            <a:off x="5220072" y="3140968"/>
            <a:ext cx="2904322" cy="194421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Record quotation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200" b="1" dirty="0" smtClean="0">
                <a:latin typeface="Helvetica" pitchFamily="34" charset="0"/>
              </a:rPr>
              <a:t>Inclusions in formal quotations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Flight details </a:t>
            </a:r>
          </a:p>
          <a:p>
            <a:pPr lvl="0">
              <a:spcBef>
                <a:spcPts val="600"/>
              </a:spcBef>
              <a:spcAft>
                <a:spcPts val="1200"/>
              </a:spcAft>
            </a:pPr>
            <a:r>
              <a:rPr lang="en-AU" sz="2200" dirty="0" smtClean="0">
                <a:latin typeface="Helvetica" pitchFamily="34" charset="0"/>
              </a:rPr>
              <a:t>Tours</a:t>
            </a:r>
          </a:p>
          <a:p>
            <a:pPr lvl="0">
              <a:spcBef>
                <a:spcPts val="600"/>
              </a:spcBef>
              <a:spcAft>
                <a:spcPts val="1200"/>
              </a:spcAft>
            </a:pPr>
            <a:r>
              <a:rPr lang="en-AU" sz="2200" dirty="0" smtClean="0">
                <a:latin typeface="Helvetica" pitchFamily="34" charset="0"/>
              </a:rPr>
              <a:t>Accommodation</a:t>
            </a:r>
          </a:p>
          <a:p>
            <a:pPr lvl="0">
              <a:spcBef>
                <a:spcPts val="600"/>
              </a:spcBef>
              <a:spcAft>
                <a:spcPts val="1200"/>
              </a:spcAft>
            </a:pPr>
            <a:r>
              <a:rPr lang="en-AU" sz="2200" dirty="0" smtClean="0">
                <a:latin typeface="Helvetica" pitchFamily="34" charset="0"/>
              </a:rPr>
              <a:t>Transfers</a:t>
            </a:r>
          </a:p>
          <a:p>
            <a:pPr lvl="0">
              <a:spcBef>
                <a:spcPts val="600"/>
              </a:spcBef>
              <a:spcAft>
                <a:spcPts val="1200"/>
              </a:spcAft>
            </a:pPr>
            <a:r>
              <a:rPr lang="en-AU" sz="2200" dirty="0" smtClean="0">
                <a:latin typeface="Helvetica" pitchFamily="34" charset="0"/>
              </a:rPr>
              <a:t>Inclusions and exclusions</a:t>
            </a:r>
          </a:p>
          <a:p>
            <a:pPr lvl="0">
              <a:spcBef>
                <a:spcPts val="600"/>
              </a:spcBef>
              <a:spcAft>
                <a:spcPts val="1200"/>
              </a:spcAft>
            </a:pPr>
            <a:r>
              <a:rPr lang="en-AU" sz="2200" dirty="0" smtClean="0">
                <a:latin typeface="Helvetica" pitchFamily="34" charset="0"/>
              </a:rPr>
              <a:t>Insurance details</a:t>
            </a:r>
          </a:p>
          <a:p>
            <a:pPr lvl="0">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25</a:t>
            </a:fld>
            <a:endParaRPr lang="en-US" dirty="0">
              <a:latin typeface="Helvetica" pitchFamily="34" charset="0"/>
            </a:endParaRPr>
          </a:p>
        </p:txBody>
      </p:sp>
      <p:pic>
        <p:nvPicPr>
          <p:cNvPr id="5" name="Picture 4" descr="shutterstock_41664772.jpg"/>
          <p:cNvPicPr>
            <a:picLocks noChangeAspect="1"/>
          </p:cNvPicPr>
          <p:nvPr/>
        </p:nvPicPr>
        <p:blipFill>
          <a:blip r:embed="rId3" cstate="print"/>
          <a:stretch>
            <a:fillRect/>
          </a:stretch>
        </p:blipFill>
        <p:spPr>
          <a:xfrm>
            <a:off x="4716016" y="2636912"/>
            <a:ext cx="3238741" cy="21602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Record quotation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200" b="1" dirty="0" smtClean="0">
                <a:latin typeface="Helvetica" pitchFamily="34" charset="0"/>
              </a:rPr>
              <a:t>Inclusions in formal quotations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Payment requirements and cancellation fees</a:t>
            </a:r>
          </a:p>
          <a:p>
            <a:pPr lvl="0">
              <a:spcBef>
                <a:spcPts val="600"/>
              </a:spcBef>
              <a:spcAft>
                <a:spcPts val="1200"/>
              </a:spcAft>
            </a:pPr>
            <a:r>
              <a:rPr lang="en-AU" sz="2200" dirty="0" smtClean="0">
                <a:latin typeface="Helvetica" pitchFamily="34" charset="0"/>
              </a:rPr>
              <a:t>Conditions of the quote</a:t>
            </a:r>
          </a:p>
          <a:p>
            <a:pPr lvl="0">
              <a:spcBef>
                <a:spcPts val="600"/>
              </a:spcBef>
              <a:spcAft>
                <a:spcPts val="1200"/>
              </a:spcAft>
            </a:pPr>
            <a:r>
              <a:rPr lang="en-AU" sz="2200" dirty="0" smtClean="0">
                <a:latin typeface="Helvetica" pitchFamily="34" charset="0"/>
              </a:rPr>
              <a:t>Deposits required</a:t>
            </a:r>
          </a:p>
          <a:p>
            <a:pPr lvl="0">
              <a:spcBef>
                <a:spcPts val="600"/>
              </a:spcBef>
              <a:spcAft>
                <a:spcPts val="1200"/>
              </a:spcAft>
            </a:pPr>
            <a:r>
              <a:rPr lang="en-AU" sz="2200" dirty="0" smtClean="0">
                <a:latin typeface="Helvetica" pitchFamily="34" charset="0"/>
              </a:rPr>
              <a:t>Service fees</a:t>
            </a:r>
          </a:p>
          <a:p>
            <a:pPr lvl="0">
              <a:spcBef>
                <a:spcPts val="600"/>
              </a:spcBef>
              <a:spcAft>
                <a:spcPts val="1200"/>
              </a:spcAft>
            </a:pPr>
            <a:r>
              <a:rPr lang="en-AU" sz="2200" dirty="0" smtClean="0">
                <a:latin typeface="Helvetica" pitchFamily="34" charset="0"/>
              </a:rPr>
              <a:t>Expiry date of the quotation</a:t>
            </a:r>
          </a:p>
          <a:p>
            <a:pPr lvl="0">
              <a:spcBef>
                <a:spcPts val="600"/>
              </a:spcBef>
              <a:spcAft>
                <a:spcPts val="1200"/>
              </a:spcAft>
            </a:pPr>
            <a:r>
              <a:rPr lang="en-AU" sz="2200" dirty="0" smtClean="0">
                <a:latin typeface="Helvetica" pitchFamily="34" charset="0"/>
              </a:rPr>
              <a:t>General conditions and rules</a:t>
            </a:r>
          </a:p>
          <a:p>
            <a:pPr lvl="0">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26</a:t>
            </a:fld>
            <a:endParaRPr lang="en-US" dirty="0">
              <a:latin typeface="Helvetica" pitchFamily="34" charset="0"/>
            </a:endParaRPr>
          </a:p>
        </p:txBody>
      </p:sp>
      <p:pic>
        <p:nvPicPr>
          <p:cNvPr id="6" name="Picture 5" descr="Air plan flight itinerary map_148488614.jpg"/>
          <p:cNvPicPr/>
          <p:nvPr/>
        </p:nvPicPr>
        <p:blipFill>
          <a:blip r:embed="rId3" cstate="print"/>
          <a:stretch>
            <a:fillRect/>
          </a:stretch>
        </p:blipFill>
        <p:spPr>
          <a:xfrm>
            <a:off x="5004048" y="2852936"/>
            <a:ext cx="2927166" cy="208823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7467600" cy="1143000"/>
          </a:xfrm>
        </p:spPr>
        <p:txBody>
          <a:bodyPr>
            <a:normAutofit/>
          </a:bodyPr>
          <a:lstStyle/>
          <a:p>
            <a:r>
              <a:rPr lang="en-US" sz="3400" b="1" dirty="0" smtClean="0">
                <a:solidFill>
                  <a:srgbClr val="FF6600"/>
                </a:solidFill>
                <a:latin typeface="Helvetica" pitchFamily="34" charset="0"/>
              </a:rPr>
              <a:t>Identify appropriate suppliers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24536"/>
          </a:xfrm>
        </p:spPr>
        <p:txBody>
          <a:bodyPr>
            <a:normAutofit/>
          </a:bodyPr>
          <a:lstStyle/>
          <a:p>
            <a:pPr>
              <a:spcBef>
                <a:spcPts val="600"/>
              </a:spcBef>
              <a:spcAft>
                <a:spcPts val="1200"/>
              </a:spcAft>
              <a:buNone/>
            </a:pPr>
            <a:r>
              <a:rPr lang="en-AU" sz="2200" b="1" dirty="0" smtClean="0">
                <a:latin typeface="Helvetica" pitchFamily="34" charset="0"/>
              </a:rPr>
              <a:t>Sourcing and selecting product and services</a:t>
            </a:r>
          </a:p>
          <a:p>
            <a:pPr>
              <a:spcBef>
                <a:spcPts val="600"/>
              </a:spcBef>
              <a:spcAft>
                <a:spcPts val="1200"/>
              </a:spcAft>
              <a:buNone/>
            </a:pPr>
            <a:r>
              <a:rPr lang="en-AU" sz="2200" dirty="0" smtClean="0">
                <a:latin typeface="Helvetica" pitchFamily="34" charset="0"/>
              </a:rPr>
              <a:t>It is also based on:</a:t>
            </a:r>
          </a:p>
          <a:p>
            <a:pPr lvl="0">
              <a:spcBef>
                <a:spcPts val="600"/>
              </a:spcBef>
              <a:spcAft>
                <a:spcPts val="1200"/>
              </a:spcAft>
            </a:pPr>
            <a:r>
              <a:rPr lang="en-AU" sz="2200" dirty="0" smtClean="0">
                <a:latin typeface="Helvetica" pitchFamily="34" charset="0"/>
              </a:rPr>
              <a:t>Availability of appropriate products and services to suit the stated or established customer needs</a:t>
            </a:r>
          </a:p>
          <a:p>
            <a:pPr lvl="0">
              <a:spcBef>
                <a:spcPts val="600"/>
              </a:spcBef>
              <a:spcAft>
                <a:spcPts val="1200"/>
              </a:spcAft>
            </a:pPr>
            <a:r>
              <a:rPr lang="en-AU" sz="2200" dirty="0" smtClean="0">
                <a:latin typeface="Helvetica" pitchFamily="34" charset="0"/>
              </a:rPr>
              <a:t>Suitable suppliers or wholesalers that </a:t>
            </a:r>
            <a:br>
              <a:rPr lang="en-AU" sz="2200" dirty="0" smtClean="0">
                <a:latin typeface="Helvetica" pitchFamily="34" charset="0"/>
              </a:rPr>
            </a:br>
            <a:r>
              <a:rPr lang="en-AU" sz="2200" dirty="0" smtClean="0">
                <a:latin typeface="Helvetica" pitchFamily="34" charset="0"/>
              </a:rPr>
              <a:t>can provide these products</a:t>
            </a:r>
          </a:p>
          <a:p>
            <a:pPr lvl="0">
              <a:spcBef>
                <a:spcPts val="600"/>
              </a:spcBef>
              <a:spcAft>
                <a:spcPts val="1200"/>
              </a:spcAft>
            </a:pPr>
            <a:r>
              <a:rPr lang="en-AU" sz="2200" dirty="0" smtClean="0">
                <a:latin typeface="Helvetica" pitchFamily="34" charset="0"/>
              </a:rPr>
              <a:t>Prices that meet the passengers budget</a:t>
            </a:r>
          </a:p>
          <a:p>
            <a:pPr lvl="0">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27</a:t>
            </a:fld>
            <a:endParaRPr lang="en-US" dirty="0">
              <a:latin typeface="Helvetica" pitchFamily="34" charset="0"/>
            </a:endParaRPr>
          </a:p>
        </p:txBody>
      </p:sp>
      <p:pic>
        <p:nvPicPr>
          <p:cNvPr id="5" name="Picture 4" descr="Globe Lugg Plan Boat Bus in red pink colour_85552621.jpg"/>
          <p:cNvPicPr/>
          <p:nvPr/>
        </p:nvPicPr>
        <p:blipFill>
          <a:blip r:embed="rId3" cstate="print"/>
          <a:stretch>
            <a:fillRect/>
          </a:stretch>
        </p:blipFill>
        <p:spPr>
          <a:xfrm>
            <a:off x="1619672" y="4581128"/>
            <a:ext cx="2664296" cy="172676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appropriate suppliers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200" b="1" dirty="0" smtClean="0">
                <a:latin typeface="Helvetica" pitchFamily="34" charset="0"/>
              </a:rPr>
              <a:t>General products and services sought by customers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Transport</a:t>
            </a:r>
          </a:p>
          <a:p>
            <a:pPr lvl="0">
              <a:spcBef>
                <a:spcPts val="600"/>
              </a:spcBef>
              <a:spcAft>
                <a:spcPts val="1200"/>
              </a:spcAft>
            </a:pPr>
            <a:r>
              <a:rPr lang="en-AU" sz="2200" dirty="0" smtClean="0">
                <a:latin typeface="Helvetica" pitchFamily="34" charset="0"/>
              </a:rPr>
              <a:t>Accommodation</a:t>
            </a:r>
          </a:p>
          <a:p>
            <a:pPr lvl="0">
              <a:spcBef>
                <a:spcPts val="600"/>
              </a:spcBef>
              <a:spcAft>
                <a:spcPts val="1200"/>
              </a:spcAft>
            </a:pPr>
            <a:r>
              <a:rPr lang="en-AU" sz="2200" dirty="0" smtClean="0">
                <a:latin typeface="Helvetica" pitchFamily="34" charset="0"/>
              </a:rPr>
              <a:t>Transfers</a:t>
            </a:r>
          </a:p>
          <a:p>
            <a:pPr lvl="0">
              <a:spcBef>
                <a:spcPts val="600"/>
              </a:spcBef>
              <a:spcAft>
                <a:spcPts val="1200"/>
              </a:spcAft>
            </a:pPr>
            <a:r>
              <a:rPr lang="en-AU" sz="2200" dirty="0" smtClean="0">
                <a:latin typeface="Helvetica" pitchFamily="34" charset="0"/>
              </a:rPr>
              <a:t>Tours</a:t>
            </a:r>
          </a:p>
          <a:p>
            <a:pPr lvl="0">
              <a:spcBef>
                <a:spcPts val="600"/>
              </a:spcBef>
              <a:spcAft>
                <a:spcPts val="1200"/>
              </a:spcAft>
            </a:pPr>
            <a:r>
              <a:rPr lang="en-AU" sz="2200" dirty="0" smtClean="0">
                <a:latin typeface="Helvetica" pitchFamily="34" charset="0"/>
              </a:rPr>
              <a:t>Meals</a:t>
            </a:r>
          </a:p>
          <a:p>
            <a:pPr lvl="0">
              <a:spcBef>
                <a:spcPts val="600"/>
              </a:spcBef>
              <a:spcAft>
                <a:spcPts val="1200"/>
              </a:spcAft>
            </a:pPr>
            <a:r>
              <a:rPr lang="en-AU" sz="2200" dirty="0" smtClean="0">
                <a:latin typeface="Helvetica" pitchFamily="34" charset="0"/>
              </a:rPr>
              <a:t>Travel Insurance</a:t>
            </a:r>
          </a:p>
          <a:p>
            <a:pPr lvl="0">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28</a:t>
            </a:fld>
            <a:endParaRPr lang="en-US" dirty="0">
              <a:latin typeface="Helvetica" pitchFamily="34" charset="0"/>
            </a:endParaRPr>
          </a:p>
        </p:txBody>
      </p:sp>
      <p:pic>
        <p:nvPicPr>
          <p:cNvPr id="5" name="Picture 4" descr="shutterstock_35558536.jpg"/>
          <p:cNvPicPr/>
          <p:nvPr/>
        </p:nvPicPr>
        <p:blipFill>
          <a:blip r:embed="rId3" cstate="print"/>
          <a:stretch>
            <a:fillRect/>
          </a:stretch>
        </p:blipFill>
        <p:spPr>
          <a:xfrm>
            <a:off x="4839131" y="2636912"/>
            <a:ext cx="3024336" cy="223224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appropriate suppliers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4824536"/>
          </a:xfrm>
        </p:spPr>
        <p:txBody>
          <a:bodyPr>
            <a:normAutofit/>
          </a:bodyPr>
          <a:lstStyle/>
          <a:p>
            <a:pPr marL="0">
              <a:spcBef>
                <a:spcPts val="600"/>
              </a:spcBef>
              <a:spcAft>
                <a:spcPts val="600"/>
              </a:spcAft>
              <a:buNone/>
            </a:pPr>
            <a:r>
              <a:rPr lang="en-AU" sz="2200" b="1" dirty="0" smtClean="0">
                <a:latin typeface="Helvetica" pitchFamily="34" charset="0"/>
              </a:rPr>
              <a:t>Specific products and services sought by customer, based on needs</a:t>
            </a: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Adventure holidays, packages and tours</a:t>
            </a:r>
          </a:p>
          <a:p>
            <a:pPr lvl="0">
              <a:spcBef>
                <a:spcPts val="600"/>
              </a:spcBef>
              <a:spcAft>
                <a:spcPts val="600"/>
              </a:spcAft>
            </a:pPr>
            <a:r>
              <a:rPr lang="en-AU" sz="2200" dirty="0" smtClean="0">
                <a:latin typeface="Helvetica" pitchFamily="34" charset="0"/>
              </a:rPr>
              <a:t>Snow skiing holidays, packages and tours</a:t>
            </a:r>
          </a:p>
          <a:p>
            <a:pPr lvl="0">
              <a:spcBef>
                <a:spcPts val="600"/>
              </a:spcBef>
              <a:spcAft>
                <a:spcPts val="600"/>
              </a:spcAft>
            </a:pPr>
            <a:r>
              <a:rPr lang="en-AU" sz="2200" dirty="0" smtClean="0">
                <a:latin typeface="Helvetica" pitchFamily="34" charset="0"/>
              </a:rPr>
              <a:t>Specific age holidays, packages and tours</a:t>
            </a:r>
          </a:p>
          <a:p>
            <a:pPr lvl="0">
              <a:spcBef>
                <a:spcPts val="600"/>
              </a:spcBef>
              <a:spcAft>
                <a:spcPts val="600"/>
              </a:spcAft>
            </a:pPr>
            <a:r>
              <a:rPr lang="en-AU" sz="2200" dirty="0" smtClean="0">
                <a:latin typeface="Helvetica" pitchFamily="34" charset="0"/>
              </a:rPr>
              <a:t>Diving</a:t>
            </a:r>
          </a:p>
          <a:p>
            <a:pPr lvl="0">
              <a:spcBef>
                <a:spcPts val="600"/>
              </a:spcBef>
              <a:spcAft>
                <a:spcPts val="600"/>
              </a:spcAft>
            </a:pPr>
            <a:r>
              <a:rPr lang="en-AU" sz="2200" dirty="0" smtClean="0">
                <a:latin typeface="Helvetica" pitchFamily="34" charset="0"/>
              </a:rPr>
              <a:t>Cruising</a:t>
            </a:r>
          </a:p>
          <a:p>
            <a:pPr lvl="0">
              <a:spcBef>
                <a:spcPts val="600"/>
              </a:spcBef>
              <a:spcAft>
                <a:spcPts val="600"/>
              </a:spcAft>
            </a:pPr>
            <a:r>
              <a:rPr lang="en-AU" sz="2200" dirty="0" smtClean="0">
                <a:latin typeface="Helvetica" pitchFamily="34" charset="0"/>
              </a:rPr>
              <a:t>Rail</a:t>
            </a:r>
          </a:p>
          <a:p>
            <a:pPr lvl="0">
              <a:spcBef>
                <a:spcPts val="600"/>
              </a:spcBef>
              <a:spcAft>
                <a:spcPts val="600"/>
              </a:spcAft>
            </a:pPr>
            <a:r>
              <a:rPr lang="en-AU" sz="2200" dirty="0" smtClean="0">
                <a:latin typeface="Helvetica" pitchFamily="34" charset="0"/>
              </a:rPr>
              <a:t>Coach</a:t>
            </a:r>
          </a:p>
          <a:p>
            <a:pPr lvl="0">
              <a:spcBef>
                <a:spcPts val="600"/>
              </a:spcBef>
              <a:spcAft>
                <a:spcPts val="600"/>
              </a:spcAft>
            </a:pPr>
            <a:r>
              <a:rPr lang="en-AU" sz="2200" dirty="0" smtClean="0">
                <a:latin typeface="Helvetica" pitchFamily="34" charset="0"/>
              </a:rPr>
              <a:t>Sporting</a:t>
            </a:r>
          </a:p>
          <a:p>
            <a:pPr lvl="0"/>
            <a:endParaRPr lang="en-AU" sz="2400" dirty="0" smtClean="0"/>
          </a:p>
          <a:p>
            <a:pPr lvl="0">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29</a:t>
            </a:fld>
            <a:endParaRPr lang="en-US" dirty="0">
              <a:latin typeface="Helvetica" pitchFamily="34" charset="0"/>
            </a:endParaRPr>
          </a:p>
        </p:txBody>
      </p:sp>
      <p:pic>
        <p:nvPicPr>
          <p:cNvPr id="6" name="Picture 5" descr="shutterstock_61369948.jpg"/>
          <p:cNvPicPr/>
          <p:nvPr/>
        </p:nvPicPr>
        <p:blipFill>
          <a:blip r:embed="rId3" cstate="print"/>
          <a:stretch>
            <a:fillRect/>
          </a:stretch>
        </p:blipFill>
        <p:spPr>
          <a:xfrm>
            <a:off x="5508104" y="4077072"/>
            <a:ext cx="2894570" cy="195390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appropriate suppliers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0">
              <a:spcBef>
                <a:spcPts val="600"/>
              </a:spcBef>
              <a:spcAft>
                <a:spcPts val="600"/>
              </a:spcAft>
              <a:buNone/>
            </a:pPr>
            <a:r>
              <a:rPr lang="en-AU" sz="2200" b="1" dirty="0" smtClean="0">
                <a:latin typeface="Helvetica" pitchFamily="34" charset="0"/>
              </a:rPr>
              <a:t>Specific products and services sought by customer, based on needs</a:t>
            </a: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Safaris</a:t>
            </a:r>
          </a:p>
          <a:p>
            <a:pPr lvl="0">
              <a:spcBef>
                <a:spcPts val="600"/>
              </a:spcBef>
              <a:spcAft>
                <a:spcPts val="600"/>
              </a:spcAft>
            </a:pPr>
            <a:r>
              <a:rPr lang="en-AU" sz="2200" dirty="0" smtClean="0">
                <a:latin typeface="Helvetica" pitchFamily="34" charset="0"/>
              </a:rPr>
              <a:t>Family</a:t>
            </a:r>
          </a:p>
          <a:p>
            <a:pPr lvl="0">
              <a:spcBef>
                <a:spcPts val="600"/>
              </a:spcBef>
              <a:spcAft>
                <a:spcPts val="600"/>
              </a:spcAft>
            </a:pPr>
            <a:r>
              <a:rPr lang="en-AU" sz="2200" dirty="0" smtClean="0">
                <a:latin typeface="Helvetica" pitchFamily="34" charset="0"/>
              </a:rPr>
              <a:t>Overland treks/walking</a:t>
            </a:r>
          </a:p>
          <a:p>
            <a:pPr lvl="0">
              <a:spcBef>
                <a:spcPts val="600"/>
              </a:spcBef>
              <a:spcAft>
                <a:spcPts val="600"/>
              </a:spcAft>
            </a:pPr>
            <a:r>
              <a:rPr lang="en-AU" sz="2200" dirty="0" smtClean="0">
                <a:latin typeface="Helvetica" pitchFamily="34" charset="0"/>
              </a:rPr>
              <a:t>Beach</a:t>
            </a:r>
          </a:p>
          <a:p>
            <a:pPr lvl="0">
              <a:spcBef>
                <a:spcPts val="600"/>
              </a:spcBef>
              <a:spcAft>
                <a:spcPts val="600"/>
              </a:spcAft>
            </a:pPr>
            <a:r>
              <a:rPr lang="en-AU" sz="2200" dirty="0" smtClean="0">
                <a:latin typeface="Helvetica" pitchFamily="34" charset="0"/>
              </a:rPr>
              <a:t>Camping</a:t>
            </a:r>
          </a:p>
          <a:p>
            <a:pPr lvl="0">
              <a:spcBef>
                <a:spcPts val="600"/>
              </a:spcBef>
              <a:spcAft>
                <a:spcPts val="600"/>
              </a:spcAft>
            </a:pPr>
            <a:r>
              <a:rPr lang="en-AU" sz="2200" dirty="0" smtClean="0">
                <a:latin typeface="Helvetica" pitchFamily="34" charset="0"/>
              </a:rPr>
              <a:t>Campervan/car rental</a:t>
            </a:r>
          </a:p>
          <a:p>
            <a:pPr lvl="0">
              <a:spcBef>
                <a:spcPts val="600"/>
              </a:spcBef>
              <a:spcAft>
                <a:spcPts val="600"/>
              </a:spcAft>
            </a:pPr>
            <a:r>
              <a:rPr lang="en-AU" sz="2200" dirty="0" smtClean="0">
                <a:latin typeface="Helvetica" pitchFamily="34" charset="0"/>
              </a:rPr>
              <a:t>Wedding ceremonies </a:t>
            </a:r>
          </a:p>
          <a:p>
            <a:pPr lvl="0">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30</a:t>
            </a:fld>
            <a:endParaRPr lang="en-US" dirty="0">
              <a:latin typeface="Helvetica" pitchFamily="34" charset="0"/>
            </a:endParaRPr>
          </a:p>
        </p:txBody>
      </p:sp>
      <p:pic>
        <p:nvPicPr>
          <p:cNvPr id="5" name="Picture 4" descr="shutterstock_2433437.jpg"/>
          <p:cNvPicPr/>
          <p:nvPr/>
        </p:nvPicPr>
        <p:blipFill>
          <a:blip r:embed="rId3" cstate="print"/>
          <a:stretch>
            <a:fillRect/>
          </a:stretch>
        </p:blipFill>
        <p:spPr>
          <a:xfrm>
            <a:off x="4876821" y="2492896"/>
            <a:ext cx="3271091" cy="25202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Product and services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0">
              <a:spcBef>
                <a:spcPts val="600"/>
              </a:spcBef>
              <a:spcAft>
                <a:spcPts val="1200"/>
              </a:spcAft>
              <a:buNone/>
            </a:pPr>
            <a:r>
              <a:rPr lang="en-AU" sz="2200" b="1" dirty="0" smtClean="0">
                <a:latin typeface="Helvetica" pitchFamily="34" charset="0"/>
              </a:rPr>
              <a:t>Sources of travel product and services information</a:t>
            </a:r>
          </a:p>
          <a:p>
            <a:pPr marL="0">
              <a:spcBef>
                <a:spcPts val="600"/>
              </a:spcBef>
              <a:spcAft>
                <a:spcPts val="1200"/>
              </a:spcAft>
            </a:pPr>
            <a:r>
              <a:rPr lang="en-AU" sz="2200" dirty="0" smtClean="0">
                <a:latin typeface="Helvetica" pitchFamily="34" charset="0"/>
              </a:rPr>
              <a:t>Brochures/DVDs </a:t>
            </a:r>
          </a:p>
          <a:p>
            <a:pPr>
              <a:spcBef>
                <a:spcPts val="600"/>
              </a:spcBef>
              <a:spcAft>
                <a:spcPts val="1200"/>
              </a:spcAft>
            </a:pPr>
            <a:r>
              <a:rPr lang="en-AU" sz="2200" dirty="0" smtClean="0">
                <a:latin typeface="Helvetica" pitchFamily="34" charset="0"/>
              </a:rPr>
              <a:t>Hotel and accommodation guides and indexes</a:t>
            </a:r>
          </a:p>
          <a:p>
            <a:pPr>
              <a:spcBef>
                <a:spcPts val="600"/>
              </a:spcBef>
              <a:spcAft>
                <a:spcPts val="1200"/>
              </a:spcAft>
            </a:pPr>
            <a:r>
              <a:rPr lang="en-AU" sz="2200" dirty="0" smtClean="0">
                <a:latin typeface="Helvetica" pitchFamily="34" charset="0"/>
              </a:rPr>
              <a:t>Atlases, maps and encyclopedias </a:t>
            </a:r>
          </a:p>
          <a:p>
            <a:pPr>
              <a:spcBef>
                <a:spcPts val="600"/>
              </a:spcBef>
              <a:spcAft>
                <a:spcPts val="1200"/>
              </a:spcAft>
            </a:pPr>
            <a:r>
              <a:rPr lang="en-AU" sz="2200" dirty="0" smtClean="0">
                <a:latin typeface="Helvetica" pitchFamily="34" charset="0"/>
              </a:rPr>
              <a:t>Travel guides </a:t>
            </a:r>
          </a:p>
          <a:p>
            <a:pPr>
              <a:spcBef>
                <a:spcPts val="600"/>
              </a:spcBef>
              <a:spcAft>
                <a:spcPts val="1200"/>
              </a:spcAft>
            </a:pPr>
            <a:r>
              <a:rPr lang="en-AU" sz="2200" dirty="0" smtClean="0">
                <a:latin typeface="Helvetica" pitchFamily="34" charset="0"/>
              </a:rPr>
              <a:t>Individual timetables </a:t>
            </a:r>
          </a:p>
          <a:p>
            <a:pPr>
              <a:spcBef>
                <a:spcPts val="600"/>
              </a:spcBef>
              <a:spcAft>
                <a:spcPts val="1200"/>
              </a:spcAft>
            </a:pPr>
            <a:r>
              <a:rPr lang="en-AU" sz="2200" dirty="0" smtClean="0">
                <a:latin typeface="Helvetica" pitchFamily="34" charset="0"/>
              </a:rPr>
              <a:t>Automated information systems </a:t>
            </a:r>
          </a:p>
          <a:p>
            <a:pPr>
              <a:spcBef>
                <a:spcPts val="600"/>
              </a:spcBef>
              <a:spcAft>
                <a:spcPts val="1200"/>
              </a:spcAft>
            </a:pPr>
            <a:r>
              <a:rPr lang="en-AU" sz="2200" dirty="0" smtClean="0">
                <a:latin typeface="Helvetica" pitchFamily="34" charset="0"/>
              </a:rPr>
              <a:t>Computerised Reservations Systems (CRS)</a:t>
            </a: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31</a:t>
            </a:fld>
            <a:endParaRPr lang="en-US" dirty="0">
              <a:latin typeface="Helvetica" pitchFamily="34" charset="0"/>
            </a:endParaRPr>
          </a:p>
        </p:txBody>
      </p:sp>
      <p:pic>
        <p:nvPicPr>
          <p:cNvPr id="5" name="Picture 4" descr="shutterstock_84545446.jpg"/>
          <p:cNvPicPr>
            <a:picLocks noChangeAspect="1"/>
          </p:cNvPicPr>
          <p:nvPr/>
        </p:nvPicPr>
        <p:blipFill>
          <a:blip r:embed="rId3" cstate="print"/>
          <a:stretch>
            <a:fillRect/>
          </a:stretch>
        </p:blipFill>
        <p:spPr>
          <a:xfrm>
            <a:off x="5364088" y="3284984"/>
            <a:ext cx="3084860" cy="2057602"/>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Product and services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0">
              <a:spcBef>
                <a:spcPts val="600"/>
              </a:spcBef>
              <a:spcAft>
                <a:spcPts val="1200"/>
              </a:spcAft>
              <a:buNone/>
            </a:pPr>
            <a:r>
              <a:rPr lang="en-AU" sz="2200" b="1" dirty="0" smtClean="0">
                <a:latin typeface="Helvetica" pitchFamily="34" charset="0"/>
              </a:rPr>
              <a:t>Sources of travel product and services information</a:t>
            </a:r>
          </a:p>
          <a:p>
            <a:pPr>
              <a:spcBef>
                <a:spcPts val="600"/>
              </a:spcBef>
              <a:spcAft>
                <a:spcPts val="1200"/>
              </a:spcAft>
            </a:pPr>
            <a:r>
              <a:rPr lang="en-AU" sz="2200" dirty="0" smtClean="0">
                <a:latin typeface="Helvetica" pitchFamily="34" charset="0"/>
              </a:rPr>
              <a:t>International airline guides </a:t>
            </a:r>
          </a:p>
          <a:p>
            <a:pPr>
              <a:spcBef>
                <a:spcPts val="600"/>
              </a:spcBef>
              <a:spcAft>
                <a:spcPts val="1200"/>
              </a:spcAft>
            </a:pPr>
            <a:r>
              <a:rPr lang="en-AU" sz="2200" dirty="0" smtClean="0">
                <a:latin typeface="Helvetica" pitchFamily="34" charset="0"/>
              </a:rPr>
              <a:t>Travel Trade Yearbook </a:t>
            </a:r>
          </a:p>
          <a:p>
            <a:pPr>
              <a:spcBef>
                <a:spcPts val="600"/>
              </a:spcBef>
              <a:spcAft>
                <a:spcPts val="1200"/>
              </a:spcAft>
            </a:pPr>
            <a:r>
              <a:rPr lang="en-AU" sz="2200" dirty="0" smtClean="0">
                <a:latin typeface="Helvetica" pitchFamily="34" charset="0"/>
              </a:rPr>
              <a:t>Travel Information Manual (TIM)</a:t>
            </a:r>
          </a:p>
          <a:p>
            <a:pPr>
              <a:spcBef>
                <a:spcPts val="600"/>
              </a:spcBef>
              <a:spcAft>
                <a:spcPts val="1200"/>
              </a:spcAft>
            </a:pPr>
            <a:r>
              <a:rPr lang="en-AU" sz="2200" dirty="0" smtClean="0">
                <a:latin typeface="Helvetica" pitchFamily="34" charset="0"/>
              </a:rPr>
              <a:t>Passenger air tariff </a:t>
            </a:r>
          </a:p>
          <a:p>
            <a:pPr>
              <a:spcBef>
                <a:spcPts val="600"/>
              </a:spcBef>
              <a:spcAft>
                <a:spcPts val="1200"/>
              </a:spcAft>
            </a:pPr>
            <a:r>
              <a:rPr lang="en-AU" sz="2200" dirty="0" smtClean="0">
                <a:latin typeface="Helvetica" pitchFamily="34" charset="0"/>
              </a:rPr>
              <a:t>Trade press </a:t>
            </a:r>
          </a:p>
          <a:p>
            <a:pPr>
              <a:spcBef>
                <a:spcPts val="600"/>
              </a:spcBef>
              <a:spcAft>
                <a:spcPts val="1200"/>
              </a:spcAft>
            </a:pPr>
            <a:r>
              <a:rPr lang="en-AU" sz="2200" dirty="0" smtClean="0">
                <a:latin typeface="Helvetica" pitchFamily="34" charset="0"/>
              </a:rPr>
              <a:t>General print and electronic media, travel magazines and even news bulletins for current issues</a:t>
            </a: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32</a:t>
            </a:fld>
            <a:endParaRPr lang="en-US" dirty="0">
              <a:latin typeface="Helvetica" pitchFamily="34" charset="0"/>
            </a:endParaRPr>
          </a:p>
        </p:txBody>
      </p:sp>
      <p:pic>
        <p:nvPicPr>
          <p:cNvPr id="5" name="Picture 4" descr="shutterstock_99668000.jpg"/>
          <p:cNvPicPr>
            <a:picLocks noChangeAspect="1"/>
          </p:cNvPicPr>
          <p:nvPr/>
        </p:nvPicPr>
        <p:blipFill>
          <a:blip r:embed="rId3" cstate="print"/>
          <a:stretch>
            <a:fillRect/>
          </a:stretch>
        </p:blipFill>
        <p:spPr>
          <a:xfrm>
            <a:off x="5139514" y="2564904"/>
            <a:ext cx="3032886" cy="202293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Product and services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0">
              <a:spcBef>
                <a:spcPts val="600"/>
              </a:spcBef>
              <a:spcAft>
                <a:spcPts val="1200"/>
              </a:spcAft>
              <a:buNone/>
            </a:pPr>
            <a:r>
              <a:rPr lang="en-AU" sz="2200" b="1" dirty="0" smtClean="0">
                <a:latin typeface="Helvetica" pitchFamily="34" charset="0"/>
              </a:rPr>
              <a:t>Sources of travel product and services information</a:t>
            </a:r>
          </a:p>
          <a:p>
            <a:pPr>
              <a:spcBef>
                <a:spcPts val="600"/>
              </a:spcBef>
              <a:spcAft>
                <a:spcPts val="1200"/>
              </a:spcAft>
            </a:pPr>
            <a:r>
              <a:rPr lang="en-AU" sz="2200" dirty="0" smtClean="0">
                <a:latin typeface="Helvetica" pitchFamily="34" charset="0"/>
              </a:rPr>
              <a:t>Educationals</a:t>
            </a:r>
          </a:p>
          <a:p>
            <a:pPr>
              <a:spcBef>
                <a:spcPts val="600"/>
              </a:spcBef>
              <a:spcAft>
                <a:spcPts val="1200"/>
              </a:spcAft>
            </a:pPr>
            <a:r>
              <a:rPr lang="en-AU" sz="2200" dirty="0" smtClean="0">
                <a:latin typeface="Helvetica" pitchFamily="34" charset="0"/>
              </a:rPr>
              <a:t>Product familiarisations</a:t>
            </a:r>
          </a:p>
          <a:p>
            <a:pPr>
              <a:spcBef>
                <a:spcPts val="600"/>
              </a:spcBef>
              <a:spcAft>
                <a:spcPts val="1200"/>
              </a:spcAft>
            </a:pPr>
            <a:r>
              <a:rPr lang="en-AU" sz="2200" dirty="0" smtClean="0">
                <a:latin typeface="Helvetica" pitchFamily="34" charset="0"/>
              </a:rPr>
              <a:t>Other organisations in the industry</a:t>
            </a:r>
          </a:p>
          <a:p>
            <a:pPr>
              <a:spcBef>
                <a:spcPts val="600"/>
              </a:spcBef>
              <a:spcAft>
                <a:spcPts val="1200"/>
              </a:spcAft>
            </a:pPr>
            <a:r>
              <a:rPr lang="en-AU" sz="2200" dirty="0" smtClean="0">
                <a:latin typeface="Helvetica" pitchFamily="34" charset="0"/>
              </a:rPr>
              <a:t>The internet, travel websites, travel advisor, blogs</a:t>
            </a:r>
          </a:p>
          <a:p>
            <a:pPr>
              <a:spcBef>
                <a:spcPts val="600"/>
              </a:spcBef>
              <a:spcAft>
                <a:spcPts val="1200"/>
              </a:spcAft>
            </a:pPr>
            <a:r>
              <a:rPr lang="en-AU" sz="2200" dirty="0" smtClean="0">
                <a:latin typeface="Helvetica" pitchFamily="34" charset="0"/>
              </a:rPr>
              <a:t>Travel companies product launches, travel shows and information nights</a:t>
            </a:r>
          </a:p>
          <a:p>
            <a:pPr>
              <a:spcBef>
                <a:spcPts val="600"/>
              </a:spcBef>
              <a:spcAft>
                <a:spcPts val="1200"/>
              </a:spcAft>
            </a:pPr>
            <a:r>
              <a:rPr lang="en-AU" sz="2200" dirty="0" smtClean="0">
                <a:latin typeface="Helvetica" pitchFamily="34" charset="0"/>
              </a:rPr>
              <a:t>Government agencies such as national parks and wildlife services or government tourism offices</a:t>
            </a: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33</a:t>
            </a:fld>
            <a:endParaRPr lang="en-US" dirty="0">
              <a:latin typeface="Helvetica" pitchFamily="34" charset="0"/>
            </a:endParaRPr>
          </a:p>
        </p:txBody>
      </p:sp>
      <p:pic>
        <p:nvPicPr>
          <p:cNvPr id="5" name="Picture 4" descr="shutterstock_72434737.jpg"/>
          <p:cNvPicPr>
            <a:picLocks noChangeAspect="1"/>
          </p:cNvPicPr>
          <p:nvPr/>
        </p:nvPicPr>
        <p:blipFill>
          <a:blip r:embed="rId3" cstate="print"/>
          <a:stretch>
            <a:fillRect/>
          </a:stretch>
        </p:blipFill>
        <p:spPr>
          <a:xfrm>
            <a:off x="5940152" y="2204864"/>
            <a:ext cx="2304256" cy="15484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7467600" cy="1143000"/>
          </a:xfrm>
        </p:spPr>
        <p:txBody>
          <a:bodyPr>
            <a:normAutofit/>
          </a:bodyPr>
          <a:lstStyle/>
          <a:p>
            <a:r>
              <a:rPr lang="en-AU" sz="3400" b="1" dirty="0" smtClean="0">
                <a:solidFill>
                  <a:srgbClr val="FF6600"/>
                </a:solidFill>
                <a:latin typeface="Helvetica" pitchFamily="34" charset="0"/>
              </a:rPr>
              <a:t>Product and services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4824536"/>
          </a:xfrm>
        </p:spPr>
        <p:txBody>
          <a:bodyPr>
            <a:normAutofit/>
          </a:bodyPr>
          <a:lstStyle/>
          <a:p>
            <a:pPr marL="0">
              <a:spcBef>
                <a:spcPts val="600"/>
              </a:spcBef>
              <a:spcAft>
                <a:spcPts val="1200"/>
              </a:spcAft>
              <a:buNone/>
            </a:pPr>
            <a:r>
              <a:rPr lang="en-AU" sz="2200" b="1" dirty="0" smtClean="0">
                <a:latin typeface="Helvetica" pitchFamily="34" charset="0"/>
              </a:rPr>
              <a:t>Sources of travel product and services information</a:t>
            </a:r>
          </a:p>
          <a:p>
            <a:pPr>
              <a:spcBef>
                <a:spcPts val="600"/>
              </a:spcBef>
              <a:spcAft>
                <a:spcPts val="1200"/>
              </a:spcAft>
            </a:pPr>
            <a:r>
              <a:rPr lang="en-AU" sz="2200" dirty="0" smtClean="0">
                <a:latin typeface="Helvetica" pitchFamily="34" charset="0"/>
              </a:rPr>
              <a:t>Intranet Websites</a:t>
            </a:r>
          </a:p>
          <a:p>
            <a:pPr lvl="0">
              <a:spcBef>
                <a:spcPts val="600"/>
              </a:spcBef>
              <a:spcAft>
                <a:spcPts val="1200"/>
              </a:spcAft>
            </a:pPr>
            <a:r>
              <a:rPr lang="en-AU" sz="2200" dirty="0" smtClean="0">
                <a:latin typeface="Helvetica" pitchFamily="34" charset="0"/>
              </a:rPr>
              <a:t>Internal information databases</a:t>
            </a:r>
          </a:p>
          <a:p>
            <a:pPr lvl="0">
              <a:spcBef>
                <a:spcPts val="600"/>
              </a:spcBef>
              <a:spcAft>
                <a:spcPts val="1200"/>
              </a:spcAft>
            </a:pPr>
            <a:r>
              <a:rPr lang="en-AU" sz="2200" dirty="0" smtClean="0">
                <a:latin typeface="Helvetica" pitchFamily="34" charset="0"/>
              </a:rPr>
              <a:t>Product manuals</a:t>
            </a:r>
          </a:p>
          <a:p>
            <a:pPr lvl="0">
              <a:spcBef>
                <a:spcPts val="600"/>
              </a:spcBef>
              <a:spcAft>
                <a:spcPts val="1200"/>
              </a:spcAft>
            </a:pPr>
            <a:r>
              <a:rPr lang="en-AU" sz="2200" dirty="0" smtClean="0">
                <a:latin typeface="Helvetica" pitchFamily="34" charset="0"/>
              </a:rPr>
              <a:t>Supplier information and sales kits and their sales representatives</a:t>
            </a:r>
          </a:p>
          <a:p>
            <a:pPr lvl="0">
              <a:spcBef>
                <a:spcPts val="600"/>
              </a:spcBef>
              <a:spcAft>
                <a:spcPts val="1200"/>
              </a:spcAft>
            </a:pPr>
            <a:r>
              <a:rPr lang="en-AU" sz="2200" dirty="0" smtClean="0">
                <a:latin typeface="Helvetica" pitchFamily="34" charset="0"/>
              </a:rPr>
              <a:t>Destination and product experts in                                          wholesale reservation call centres</a:t>
            </a: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34</a:t>
            </a:fld>
            <a:endParaRPr lang="en-US" dirty="0">
              <a:latin typeface="Helvetica" pitchFamily="34" charset="0"/>
            </a:endParaRPr>
          </a:p>
        </p:txBody>
      </p:sp>
      <p:pic>
        <p:nvPicPr>
          <p:cNvPr id="5" name="Picture 4" descr="shutterstock_122942875.jpg"/>
          <p:cNvPicPr>
            <a:picLocks noChangeAspect="1"/>
          </p:cNvPicPr>
          <p:nvPr/>
        </p:nvPicPr>
        <p:blipFill>
          <a:blip r:embed="rId3" cstate="print"/>
          <a:stretch>
            <a:fillRect/>
          </a:stretch>
        </p:blipFill>
        <p:spPr>
          <a:xfrm>
            <a:off x="5796136" y="4149080"/>
            <a:ext cx="2590992" cy="172819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Product and services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4824536"/>
          </a:xfrm>
        </p:spPr>
        <p:txBody>
          <a:bodyPr>
            <a:normAutofit/>
          </a:bodyPr>
          <a:lstStyle/>
          <a:p>
            <a:pPr marL="0">
              <a:spcBef>
                <a:spcPts val="600"/>
              </a:spcBef>
              <a:spcAft>
                <a:spcPts val="1200"/>
              </a:spcAft>
              <a:buNone/>
            </a:pPr>
            <a:r>
              <a:rPr lang="en-AU" sz="2200" b="1" dirty="0" smtClean="0">
                <a:latin typeface="Helvetica" pitchFamily="34" charset="0"/>
              </a:rPr>
              <a:t>Sources of travel product and services information</a:t>
            </a:r>
          </a:p>
          <a:p>
            <a:pPr lvl="0">
              <a:spcBef>
                <a:spcPts val="600"/>
              </a:spcBef>
              <a:spcAft>
                <a:spcPts val="1200"/>
              </a:spcAft>
            </a:pPr>
            <a:r>
              <a:rPr lang="en-AU" sz="2200" dirty="0" smtClean="0">
                <a:latin typeface="Helvetica" pitchFamily="34" charset="0"/>
              </a:rPr>
              <a:t>Confidential and general industry tariffs</a:t>
            </a:r>
          </a:p>
          <a:p>
            <a:pPr lvl="0">
              <a:spcBef>
                <a:spcPts val="600"/>
              </a:spcBef>
              <a:spcAft>
                <a:spcPts val="1200"/>
              </a:spcAft>
            </a:pPr>
            <a:r>
              <a:rPr lang="en-AU" sz="2200" dirty="0" smtClean="0">
                <a:latin typeface="Helvetica" pitchFamily="34" charset="0"/>
              </a:rPr>
              <a:t>Preferred contracts and/or agreements</a:t>
            </a:r>
          </a:p>
          <a:p>
            <a:pPr lvl="0">
              <a:spcBef>
                <a:spcPts val="600"/>
              </a:spcBef>
              <a:spcAft>
                <a:spcPts val="1200"/>
              </a:spcAft>
            </a:pPr>
            <a:r>
              <a:rPr lang="en-AU" sz="2200" dirty="0" smtClean="0">
                <a:latin typeface="Helvetica" pitchFamily="34" charset="0"/>
              </a:rPr>
              <a:t>Official country tourist offices, authorities and bureaus</a:t>
            </a:r>
          </a:p>
          <a:p>
            <a:pPr lvl="0">
              <a:spcBef>
                <a:spcPts val="600"/>
              </a:spcBef>
              <a:spcAft>
                <a:spcPts val="1200"/>
              </a:spcAft>
            </a:pPr>
            <a:r>
              <a:rPr lang="en-AU" sz="2200" dirty="0" smtClean="0">
                <a:latin typeface="Helvetica" pitchFamily="34" charset="0"/>
              </a:rPr>
              <a:t>Your own travel experience</a:t>
            </a:r>
          </a:p>
          <a:p>
            <a:pPr lvl="0">
              <a:spcBef>
                <a:spcPts val="600"/>
              </a:spcBef>
              <a:spcAft>
                <a:spcPts val="1200"/>
              </a:spcAft>
            </a:pPr>
            <a:r>
              <a:rPr lang="en-AU" sz="2200" dirty="0" smtClean="0">
                <a:latin typeface="Helvetica" pitchFamily="34" charset="0"/>
              </a:rPr>
              <a:t>Colleagues</a:t>
            </a: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35</a:t>
            </a:fld>
            <a:endParaRPr lang="en-US" dirty="0">
              <a:latin typeface="Helvetica" pitchFamily="34" charset="0"/>
            </a:endParaRPr>
          </a:p>
        </p:txBody>
      </p:sp>
      <p:pic>
        <p:nvPicPr>
          <p:cNvPr id="5" name="Picture 4" descr="shutterstock_166468943.jpg"/>
          <p:cNvPicPr>
            <a:picLocks noChangeAspect="1"/>
          </p:cNvPicPr>
          <p:nvPr/>
        </p:nvPicPr>
        <p:blipFill>
          <a:blip r:embed="rId3" cstate="print"/>
          <a:stretch>
            <a:fillRect/>
          </a:stretch>
        </p:blipFill>
        <p:spPr>
          <a:xfrm>
            <a:off x="5436096" y="3933056"/>
            <a:ext cx="2968288" cy="197914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Types of suppliers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lnSpcReduction="10000"/>
          </a:bodyPr>
          <a:lstStyle/>
          <a:p>
            <a:pPr>
              <a:spcBef>
                <a:spcPts val="600"/>
              </a:spcBef>
              <a:spcAft>
                <a:spcPts val="1200"/>
              </a:spcAft>
              <a:buNone/>
            </a:pPr>
            <a:r>
              <a:rPr lang="en-AU" sz="2200" b="1" dirty="0" smtClean="0">
                <a:latin typeface="Helvetica" pitchFamily="34" charset="0"/>
              </a:rPr>
              <a:t>Types of suppliers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Principals/suppliers</a:t>
            </a:r>
          </a:p>
          <a:p>
            <a:pPr lvl="0">
              <a:spcBef>
                <a:spcPts val="600"/>
              </a:spcBef>
              <a:spcAft>
                <a:spcPts val="1200"/>
              </a:spcAft>
            </a:pPr>
            <a:r>
              <a:rPr lang="en-AU" sz="2200" dirty="0" smtClean="0">
                <a:latin typeface="Helvetica" pitchFamily="34" charset="0"/>
              </a:rPr>
              <a:t>Wholesalers/ tour operator </a:t>
            </a:r>
          </a:p>
          <a:p>
            <a:pPr lvl="0">
              <a:spcBef>
                <a:spcPts val="600"/>
              </a:spcBef>
              <a:spcAft>
                <a:spcPts val="1200"/>
              </a:spcAft>
            </a:pPr>
            <a:r>
              <a:rPr lang="en-AU" sz="2200" dirty="0" smtClean="0">
                <a:latin typeface="Helvetica" pitchFamily="34" charset="0"/>
              </a:rPr>
              <a:t>Inbound tour operators </a:t>
            </a:r>
          </a:p>
          <a:p>
            <a:pPr lvl="0">
              <a:spcBef>
                <a:spcPts val="600"/>
              </a:spcBef>
              <a:spcAft>
                <a:spcPts val="1200"/>
              </a:spcAft>
            </a:pPr>
            <a:r>
              <a:rPr lang="en-AU" sz="2200" dirty="0" smtClean="0">
                <a:latin typeface="Helvetica" pitchFamily="34" charset="0"/>
              </a:rPr>
              <a:t>Airlines, coach companies and rail</a:t>
            </a:r>
          </a:p>
          <a:p>
            <a:pPr lvl="0">
              <a:spcBef>
                <a:spcPts val="600"/>
              </a:spcBef>
              <a:spcAft>
                <a:spcPts val="1200"/>
              </a:spcAft>
            </a:pPr>
            <a:r>
              <a:rPr lang="en-AU" sz="2200" dirty="0" smtClean="0">
                <a:latin typeface="Helvetica" pitchFamily="34" charset="0"/>
              </a:rPr>
              <a:t>Retail agents </a:t>
            </a:r>
          </a:p>
          <a:p>
            <a:pPr lvl="0">
              <a:spcBef>
                <a:spcPts val="600"/>
              </a:spcBef>
              <a:spcAft>
                <a:spcPts val="1200"/>
              </a:spcAft>
            </a:pPr>
            <a:r>
              <a:rPr lang="en-AU" sz="2200" dirty="0" smtClean="0">
                <a:latin typeface="Helvetica" pitchFamily="34" charset="0"/>
              </a:rPr>
              <a:t>Ticket consolidators</a:t>
            </a:r>
          </a:p>
          <a:p>
            <a:pPr lvl="0">
              <a:spcBef>
                <a:spcPts val="600"/>
              </a:spcBef>
              <a:spcAft>
                <a:spcPts val="1200"/>
              </a:spcAft>
            </a:pPr>
            <a:r>
              <a:rPr lang="en-AU" sz="2200" dirty="0" smtClean="0">
                <a:latin typeface="Helvetica" pitchFamily="34" charset="0"/>
              </a:rPr>
              <a:t>State and regional tourism authorities</a:t>
            </a:r>
          </a:p>
          <a:p>
            <a:pPr lvl="0">
              <a:spcBef>
                <a:spcPts val="600"/>
              </a:spcBef>
              <a:spcAft>
                <a:spcPts val="1200"/>
              </a:spcAft>
            </a:pPr>
            <a:r>
              <a:rPr lang="en-AU" sz="2200" dirty="0" smtClean="0">
                <a:latin typeface="Helvetica" pitchFamily="34" charset="0"/>
              </a:rPr>
              <a:t>Conference, event and incentive companies</a:t>
            </a: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36</a:t>
            </a:fld>
            <a:endParaRPr lang="en-US" dirty="0">
              <a:latin typeface="Helvetica" pitchFamily="34" charset="0"/>
            </a:endParaRPr>
          </a:p>
        </p:txBody>
      </p:sp>
      <p:pic>
        <p:nvPicPr>
          <p:cNvPr id="6" name="Picture 5" descr="shutterstock_57319615.jpg"/>
          <p:cNvPicPr/>
          <p:nvPr/>
        </p:nvPicPr>
        <p:blipFill>
          <a:blip r:embed="rId3" cstate="print"/>
          <a:stretch>
            <a:fillRect/>
          </a:stretch>
        </p:blipFill>
        <p:spPr>
          <a:xfrm>
            <a:off x="5508104" y="2492896"/>
            <a:ext cx="2880320" cy="21602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Existing agreements with suppliers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200" b="1" dirty="0" smtClean="0">
                <a:latin typeface="Helvetica" pitchFamily="34" charset="0"/>
              </a:rPr>
              <a:t>Consider existing agreements &amp; preferred suppliers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A preferred agreement is a formal commercial agreement between a supplier and a travel agent which facilitates the payment of extra commission and other benefits by the supplier to the travel agent in exchange for the travel agents agreement to sell the suppliers product</a:t>
            </a: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37</a:t>
            </a:fld>
            <a:endParaRPr lang="en-US" dirty="0">
              <a:latin typeface="Helvetica" pitchFamily="34" charset="0"/>
            </a:endParaRPr>
          </a:p>
        </p:txBody>
      </p:sp>
      <p:pic>
        <p:nvPicPr>
          <p:cNvPr id="5" name="Picture 4" descr="shutterstock_84545446.jpg"/>
          <p:cNvPicPr/>
          <p:nvPr/>
        </p:nvPicPr>
        <p:blipFill>
          <a:blip r:embed="rId3" cstate="print"/>
          <a:stretch>
            <a:fillRect/>
          </a:stretch>
        </p:blipFill>
        <p:spPr>
          <a:xfrm>
            <a:off x="2699792" y="4221088"/>
            <a:ext cx="2736304" cy="1800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Role of suppliers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467544" y="1412776"/>
            <a:ext cx="7467600" cy="4824536"/>
          </a:xfrm>
        </p:spPr>
        <p:txBody>
          <a:bodyPr>
            <a:normAutofit/>
          </a:bodyPr>
          <a:lstStyle/>
          <a:p>
            <a:pPr>
              <a:spcBef>
                <a:spcPts val="600"/>
              </a:spcBef>
              <a:spcAft>
                <a:spcPts val="1200"/>
              </a:spcAft>
              <a:buNone/>
            </a:pPr>
            <a:r>
              <a:rPr lang="en-AU" sz="2200" b="1" dirty="0" smtClean="0">
                <a:latin typeface="Helvetica" pitchFamily="34" charset="0"/>
              </a:rPr>
              <a:t>Identify role of suppliers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Selling destinations you need</a:t>
            </a:r>
          </a:p>
          <a:p>
            <a:pPr lvl="0">
              <a:spcBef>
                <a:spcPts val="600"/>
              </a:spcBef>
              <a:spcAft>
                <a:spcPts val="1200"/>
              </a:spcAft>
            </a:pPr>
            <a:r>
              <a:rPr lang="en-AU" sz="2200" dirty="0" smtClean="0">
                <a:latin typeface="Helvetica" pitchFamily="34" charset="0"/>
              </a:rPr>
              <a:t>Selling transport you require </a:t>
            </a:r>
          </a:p>
          <a:p>
            <a:pPr lvl="0">
              <a:spcBef>
                <a:spcPts val="600"/>
              </a:spcBef>
              <a:spcAft>
                <a:spcPts val="1200"/>
              </a:spcAft>
            </a:pPr>
            <a:r>
              <a:rPr lang="en-AU" sz="2200" dirty="0" smtClean="0">
                <a:latin typeface="Helvetica" pitchFamily="34" charset="0"/>
              </a:rPr>
              <a:t>Selling accommodation style you require </a:t>
            </a:r>
          </a:p>
          <a:p>
            <a:pPr lvl="0">
              <a:spcBef>
                <a:spcPts val="600"/>
              </a:spcBef>
              <a:spcAft>
                <a:spcPts val="1200"/>
              </a:spcAft>
            </a:pPr>
            <a:r>
              <a:rPr lang="en-AU" sz="2200" dirty="0" smtClean="0">
                <a:latin typeface="Helvetica" pitchFamily="34" charset="0"/>
              </a:rPr>
              <a:t>Selling the appropriate level of comfort and                            inclusions your client needs</a:t>
            </a:r>
          </a:p>
          <a:p>
            <a:pPr lvl="0">
              <a:spcBef>
                <a:spcPts val="600"/>
              </a:spcBef>
              <a:spcAft>
                <a:spcPts val="1200"/>
              </a:spcAft>
            </a:pPr>
            <a:r>
              <a:rPr lang="en-AU" sz="2200" dirty="0" smtClean="0">
                <a:latin typeface="Helvetica" pitchFamily="34" charset="0"/>
              </a:rPr>
              <a:t>Having competitive prices and offering                              value for money for your client</a:t>
            </a:r>
          </a:p>
          <a:p>
            <a:pPr>
              <a:spcBef>
                <a:spcPts val="600"/>
              </a:spcBef>
              <a:spcAft>
                <a:spcPts val="1200"/>
              </a:spcAft>
              <a:buNone/>
            </a:pPr>
            <a:endParaRPr lang="en-AU" sz="2200" dirty="0" smtClean="0">
              <a:latin typeface="Helvetica" pitchFamily="34" charset="0"/>
            </a:endParaRP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38</a:t>
            </a:fld>
            <a:endParaRPr lang="en-US" dirty="0">
              <a:latin typeface="Helvetica" pitchFamily="34" charset="0"/>
            </a:endParaRPr>
          </a:p>
        </p:txBody>
      </p:sp>
      <p:pic>
        <p:nvPicPr>
          <p:cNvPr id="5" name="Picture 4" descr="shutterstock_79128547.jpg"/>
          <p:cNvPicPr/>
          <p:nvPr/>
        </p:nvPicPr>
        <p:blipFill>
          <a:blip r:embed="rId3" cstate="print"/>
          <a:stretch>
            <a:fillRect/>
          </a:stretch>
        </p:blipFill>
        <p:spPr>
          <a:xfrm>
            <a:off x="6475472" y="3172095"/>
            <a:ext cx="2005579" cy="25202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Role of suppliers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4824536"/>
          </a:xfrm>
        </p:spPr>
        <p:txBody>
          <a:bodyPr>
            <a:normAutofit/>
          </a:bodyPr>
          <a:lstStyle/>
          <a:p>
            <a:pPr>
              <a:spcBef>
                <a:spcPts val="600"/>
              </a:spcBef>
              <a:spcAft>
                <a:spcPts val="1200"/>
              </a:spcAft>
              <a:buNone/>
            </a:pPr>
            <a:r>
              <a:rPr lang="en-AU" sz="2200" b="1" dirty="0" smtClean="0">
                <a:latin typeface="Helvetica" pitchFamily="34" charset="0"/>
              </a:rPr>
              <a:t>Identify role of suppliers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Having a reputation for reliability, efficiency and easy payment</a:t>
            </a:r>
          </a:p>
          <a:p>
            <a:pPr lvl="0">
              <a:spcBef>
                <a:spcPts val="600"/>
              </a:spcBef>
              <a:spcAft>
                <a:spcPts val="1200"/>
              </a:spcAft>
            </a:pPr>
            <a:r>
              <a:rPr lang="en-AU" sz="2200" dirty="0" smtClean="0">
                <a:latin typeface="Helvetica" pitchFamily="34" charset="0"/>
              </a:rPr>
              <a:t>Provide quality documentation</a:t>
            </a:r>
          </a:p>
          <a:p>
            <a:pPr lvl="0">
              <a:spcBef>
                <a:spcPts val="600"/>
              </a:spcBef>
              <a:spcAft>
                <a:spcPts val="1200"/>
              </a:spcAft>
            </a:pPr>
            <a:r>
              <a:rPr lang="en-AU" sz="2200" dirty="0" smtClean="0">
                <a:latin typeface="Helvetica" pitchFamily="34" charset="0"/>
              </a:rPr>
              <a:t>Employ helpful and knowledgeable staff</a:t>
            </a:r>
          </a:p>
          <a:p>
            <a:pPr lvl="0">
              <a:spcBef>
                <a:spcPts val="600"/>
              </a:spcBef>
              <a:spcAft>
                <a:spcPts val="1200"/>
              </a:spcAft>
            </a:pPr>
            <a:r>
              <a:rPr lang="en-AU" sz="2200" dirty="0" smtClean="0">
                <a:latin typeface="Helvetica" pitchFamily="34" charset="0"/>
              </a:rPr>
              <a:t>Pay competitive agent commission</a:t>
            </a:r>
          </a:p>
          <a:p>
            <a:pPr lvl="0">
              <a:spcBef>
                <a:spcPts val="600"/>
              </a:spcBef>
              <a:spcAft>
                <a:spcPts val="1200"/>
              </a:spcAft>
            </a:pPr>
            <a:r>
              <a:rPr lang="en-AU" sz="2200" dirty="0" smtClean="0">
                <a:latin typeface="Helvetica" pitchFamily="34" charset="0"/>
              </a:rPr>
              <a:t>Have local representation</a:t>
            </a:r>
          </a:p>
          <a:p>
            <a:pPr>
              <a:spcBef>
                <a:spcPts val="600"/>
              </a:spcBef>
              <a:spcAft>
                <a:spcPts val="1200"/>
              </a:spcAft>
              <a:buNone/>
            </a:pPr>
            <a:endParaRPr lang="en-AU" sz="2200" dirty="0" smtClean="0">
              <a:latin typeface="Helvetica" pitchFamily="34" charset="0"/>
            </a:endParaRP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39</a:t>
            </a:fld>
            <a:endParaRPr lang="en-US" dirty="0">
              <a:latin typeface="Helvetica" pitchFamily="34" charset="0"/>
            </a:endParaRPr>
          </a:p>
        </p:txBody>
      </p:sp>
      <p:pic>
        <p:nvPicPr>
          <p:cNvPr id="5" name="Picture 4" descr="W342_discussion_shutterstock_158161781.jpg"/>
          <p:cNvPicPr>
            <a:picLocks noChangeAspect="1"/>
          </p:cNvPicPr>
          <p:nvPr/>
        </p:nvPicPr>
        <p:blipFill>
          <a:blip r:embed="rId3" cstate="print"/>
          <a:stretch>
            <a:fillRect/>
          </a:stretch>
        </p:blipFill>
        <p:spPr>
          <a:xfrm>
            <a:off x="5580112" y="4077072"/>
            <a:ext cx="2793155" cy="186303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Identifying suppliers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200" b="1" dirty="0" smtClean="0">
                <a:latin typeface="Helvetica" pitchFamily="34" charset="0"/>
              </a:rPr>
              <a:t>Activities in identifying appropriate suppliers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Identifying client requirements in terms of products and services</a:t>
            </a:r>
          </a:p>
          <a:p>
            <a:pPr lvl="0">
              <a:spcBef>
                <a:spcPts val="600"/>
              </a:spcBef>
              <a:spcAft>
                <a:spcPts val="1200"/>
              </a:spcAft>
            </a:pPr>
            <a:r>
              <a:rPr lang="en-AU" sz="2200" dirty="0" smtClean="0">
                <a:latin typeface="Helvetica" pitchFamily="34" charset="0"/>
              </a:rPr>
              <a:t>Collecting information as to whom </a:t>
            </a:r>
            <a:br>
              <a:rPr lang="en-AU" sz="2200" dirty="0" smtClean="0">
                <a:latin typeface="Helvetica" pitchFamily="34" charset="0"/>
              </a:rPr>
            </a:br>
            <a:r>
              <a:rPr lang="en-AU" sz="2200" dirty="0" smtClean="0">
                <a:latin typeface="Helvetica" pitchFamily="34" charset="0"/>
              </a:rPr>
              <a:t>provides these products and services</a:t>
            </a:r>
          </a:p>
          <a:p>
            <a:pPr lvl="0">
              <a:spcBef>
                <a:spcPts val="600"/>
              </a:spcBef>
              <a:spcAft>
                <a:spcPts val="1200"/>
              </a:spcAft>
            </a:pPr>
            <a:r>
              <a:rPr lang="en-AU" sz="2200" dirty="0" smtClean="0">
                <a:latin typeface="Helvetica" pitchFamily="34" charset="0"/>
              </a:rPr>
              <a:t>Identifying suitable suppliers</a:t>
            </a:r>
          </a:p>
          <a:p>
            <a:pPr lvl="0">
              <a:spcBef>
                <a:spcPts val="600"/>
              </a:spcBef>
              <a:spcAft>
                <a:spcPts val="1200"/>
              </a:spcAft>
            </a:pPr>
            <a:r>
              <a:rPr lang="en-AU" sz="2200" dirty="0" smtClean="0">
                <a:latin typeface="Helvetica" pitchFamily="34" charset="0"/>
              </a:rPr>
              <a:t>Assessing alternatives against the </a:t>
            </a:r>
            <a:br>
              <a:rPr lang="en-AU" sz="2200" dirty="0" smtClean="0">
                <a:latin typeface="Helvetica" pitchFamily="34" charset="0"/>
              </a:rPr>
            </a:br>
            <a:r>
              <a:rPr lang="en-AU" sz="2200" dirty="0" smtClean="0">
                <a:latin typeface="Helvetica" pitchFamily="34" charset="0"/>
              </a:rPr>
              <a:t>identified requirements for the quotation</a:t>
            </a:r>
          </a:p>
          <a:p>
            <a:pPr>
              <a:spcBef>
                <a:spcPts val="600"/>
              </a:spcBef>
              <a:spcAft>
                <a:spcPts val="1200"/>
              </a:spcAft>
              <a:buNone/>
            </a:pPr>
            <a:endParaRPr lang="en-AU" sz="2200" dirty="0" smtClean="0">
              <a:latin typeface="Helvetica" pitchFamily="34" charset="0"/>
            </a:endParaRP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40</a:t>
            </a:fld>
            <a:endParaRPr lang="en-US" dirty="0">
              <a:latin typeface="Helvetica" pitchFamily="34" charset="0"/>
            </a:endParaRPr>
          </a:p>
        </p:txBody>
      </p:sp>
      <p:pic>
        <p:nvPicPr>
          <p:cNvPr id="5" name="Picture 4" descr="Best Tour_129392636.jpg"/>
          <p:cNvPicPr/>
          <p:nvPr/>
        </p:nvPicPr>
        <p:blipFill>
          <a:blip r:embed="rId3" cstate="print"/>
          <a:stretch>
            <a:fillRect/>
          </a:stretch>
        </p:blipFill>
        <p:spPr>
          <a:xfrm>
            <a:off x="6030855" y="2636912"/>
            <a:ext cx="2232248" cy="223224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323" y="332656"/>
            <a:ext cx="7467600" cy="1143000"/>
          </a:xfrm>
        </p:spPr>
        <p:txBody>
          <a:bodyPr>
            <a:normAutofit/>
          </a:bodyPr>
          <a:lstStyle/>
          <a:p>
            <a:r>
              <a:rPr lang="en-US" sz="3400" b="1" dirty="0" smtClean="0">
                <a:solidFill>
                  <a:srgbClr val="FF6600"/>
                </a:solidFill>
                <a:latin typeface="Helvetica" pitchFamily="34" charset="0"/>
              </a:rPr>
              <a:t>Identifying suppliers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200" b="1" dirty="0" smtClean="0">
                <a:latin typeface="Helvetica" pitchFamily="34" charset="0"/>
              </a:rPr>
              <a:t>Activities in identifying appropriate suppliers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Evaluating the alternatives against the given criteria for the quotation</a:t>
            </a:r>
          </a:p>
          <a:p>
            <a:pPr lvl="0">
              <a:spcBef>
                <a:spcPts val="600"/>
              </a:spcBef>
              <a:spcAft>
                <a:spcPts val="1200"/>
              </a:spcAft>
            </a:pPr>
            <a:r>
              <a:rPr lang="en-AU" sz="2200" dirty="0" smtClean="0">
                <a:latin typeface="Helvetica" pitchFamily="34" charset="0"/>
              </a:rPr>
              <a:t>Accommodating host enterprise requirements in relation to the use of preferred suppliers, providers and carriers</a:t>
            </a:r>
          </a:p>
          <a:p>
            <a:pPr lvl="0">
              <a:spcBef>
                <a:spcPts val="600"/>
              </a:spcBef>
              <a:spcAft>
                <a:spcPts val="1200"/>
              </a:spcAft>
            </a:pPr>
            <a:r>
              <a:rPr lang="en-AU" sz="2200" dirty="0" smtClean="0">
                <a:latin typeface="Helvetica" pitchFamily="34" charset="0"/>
              </a:rPr>
              <a:t>Aligning with established client preferences and individual client market research data/feedback</a:t>
            </a:r>
          </a:p>
          <a:p>
            <a:pPr lvl="0">
              <a:spcBef>
                <a:spcPts val="600"/>
              </a:spcBef>
              <a:spcAft>
                <a:spcPts val="1200"/>
              </a:spcAft>
            </a:pPr>
            <a:r>
              <a:rPr lang="en-AU" sz="2200" dirty="0" smtClean="0">
                <a:latin typeface="Helvetica" pitchFamily="34" charset="0"/>
              </a:rPr>
              <a:t>Determine and select suppliers, providers and                  carriers to be provided as options to the client</a:t>
            </a:r>
          </a:p>
          <a:p>
            <a:pPr>
              <a:buNone/>
            </a:pPr>
            <a:endParaRPr lang="en-AU" sz="2400" dirty="0" smtClean="0"/>
          </a:p>
          <a:p>
            <a:pPr>
              <a:spcBef>
                <a:spcPts val="600"/>
              </a:spcBef>
              <a:spcAft>
                <a:spcPts val="1200"/>
              </a:spcAft>
              <a:buNone/>
            </a:pPr>
            <a:endParaRPr lang="en-AU" sz="2200" dirty="0" smtClean="0">
              <a:latin typeface="Helvetica" pitchFamily="34" charset="0"/>
            </a:endParaRP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41</a:t>
            </a:fld>
            <a:endParaRPr lang="en-US" dirty="0">
              <a:latin typeface="Helvetica" pitchFamily="34" charset="0"/>
            </a:endParaRPr>
          </a:p>
        </p:txBody>
      </p:sp>
      <p:pic>
        <p:nvPicPr>
          <p:cNvPr id="5" name="Picture 4" descr="W284_tourguide_shutterstock_157035503.jpg"/>
          <p:cNvPicPr>
            <a:picLocks noChangeAspect="1"/>
          </p:cNvPicPr>
          <p:nvPr/>
        </p:nvPicPr>
        <p:blipFill>
          <a:blip r:embed="rId3" cstate="print"/>
          <a:stretch>
            <a:fillRect/>
          </a:stretch>
        </p:blipFill>
        <p:spPr>
          <a:xfrm>
            <a:off x="6809979" y="0"/>
            <a:ext cx="2334021" cy="155679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Calculating costs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0">
              <a:spcBef>
                <a:spcPts val="600"/>
              </a:spcBef>
              <a:spcAft>
                <a:spcPts val="1200"/>
              </a:spcAft>
              <a:buNone/>
            </a:pPr>
            <a:r>
              <a:rPr lang="en-AU" sz="2200" b="1" dirty="0" smtClean="0">
                <a:latin typeface="Helvetica" pitchFamily="34" charset="0"/>
              </a:rPr>
              <a:t>Calculate costs for products and services included in a quotation</a:t>
            </a:r>
          </a:p>
          <a:p>
            <a:pPr>
              <a:spcBef>
                <a:spcPts val="600"/>
              </a:spcBef>
              <a:spcAft>
                <a:spcPts val="1200"/>
              </a:spcAft>
            </a:pPr>
            <a:r>
              <a:rPr lang="en-AU" sz="2200" dirty="0" smtClean="0">
                <a:latin typeface="Helvetica" pitchFamily="34" charset="0"/>
              </a:rPr>
              <a:t>Once products and services required for inclusion in a quotation have been identified, it is now important to accurately determine the costs</a:t>
            </a:r>
          </a:p>
          <a:p>
            <a:pPr>
              <a:buNone/>
            </a:pPr>
            <a:endParaRPr lang="en-AU" sz="2400" dirty="0" smtClean="0"/>
          </a:p>
          <a:p>
            <a:pPr>
              <a:spcBef>
                <a:spcPts val="600"/>
              </a:spcBef>
              <a:spcAft>
                <a:spcPts val="1200"/>
              </a:spcAft>
              <a:buNone/>
            </a:pPr>
            <a:endParaRPr lang="en-AU" sz="2200" dirty="0" smtClean="0">
              <a:latin typeface="Helvetica" pitchFamily="34" charset="0"/>
            </a:endParaRP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42</a:t>
            </a:fld>
            <a:endParaRPr lang="en-US" dirty="0">
              <a:latin typeface="Helvetica" pitchFamily="34" charset="0"/>
            </a:endParaRPr>
          </a:p>
        </p:txBody>
      </p:sp>
      <p:pic>
        <p:nvPicPr>
          <p:cNvPr id="5" name="Picture 4" descr="A21 shutterstock_182028425.jpg"/>
          <p:cNvPicPr/>
          <p:nvPr/>
        </p:nvPicPr>
        <p:blipFill>
          <a:blip r:embed="rId3" cstate="print"/>
          <a:stretch>
            <a:fillRect/>
          </a:stretch>
        </p:blipFill>
        <p:spPr>
          <a:xfrm>
            <a:off x="2555776" y="3759964"/>
            <a:ext cx="3096344" cy="201622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Calculating costs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412776"/>
            <a:ext cx="7467600" cy="5301208"/>
          </a:xfrm>
        </p:spPr>
        <p:txBody>
          <a:bodyPr>
            <a:normAutofit fontScale="92500" lnSpcReduction="10000"/>
          </a:bodyPr>
          <a:lstStyle/>
          <a:p>
            <a:pPr marL="0">
              <a:spcBef>
                <a:spcPts val="600"/>
              </a:spcBef>
              <a:spcAft>
                <a:spcPts val="1200"/>
              </a:spcAft>
              <a:buNone/>
            </a:pPr>
            <a:r>
              <a:rPr lang="en-AU" sz="2400" b="1" dirty="0" smtClean="0">
                <a:latin typeface="Helvetica" pitchFamily="34" charset="0"/>
              </a:rPr>
              <a:t>Activities associated with calculating costs of products and services</a:t>
            </a:r>
            <a:endParaRPr lang="en-AU" sz="2400" dirty="0" smtClean="0">
              <a:latin typeface="Helvetica" pitchFamily="34" charset="0"/>
            </a:endParaRPr>
          </a:p>
          <a:p>
            <a:pPr lvl="0">
              <a:spcBef>
                <a:spcPts val="600"/>
              </a:spcBef>
              <a:spcAft>
                <a:spcPts val="1200"/>
              </a:spcAft>
            </a:pPr>
            <a:r>
              <a:rPr lang="en-AU" sz="2400" dirty="0" smtClean="0">
                <a:latin typeface="Helvetica" pitchFamily="34" charset="0"/>
              </a:rPr>
              <a:t>Ensuring comprehensiveness and accuracy of all information provided</a:t>
            </a:r>
          </a:p>
          <a:p>
            <a:pPr lvl="0">
              <a:spcBef>
                <a:spcPts val="600"/>
              </a:spcBef>
              <a:spcAft>
                <a:spcPts val="1200"/>
              </a:spcAft>
            </a:pPr>
            <a:r>
              <a:rPr lang="en-AU" sz="2400" dirty="0" smtClean="0">
                <a:latin typeface="Helvetica" pitchFamily="34" charset="0"/>
              </a:rPr>
              <a:t>Negotiating costs with suppliers, providers and carriers to obtain optimal prices</a:t>
            </a:r>
          </a:p>
          <a:p>
            <a:pPr lvl="0">
              <a:spcBef>
                <a:spcPts val="600"/>
              </a:spcBef>
              <a:spcAft>
                <a:spcPts val="1200"/>
              </a:spcAft>
            </a:pPr>
            <a:r>
              <a:rPr lang="en-AU" sz="2400" dirty="0" smtClean="0">
                <a:latin typeface="Helvetica" pitchFamily="34" charset="0"/>
              </a:rPr>
              <a:t>Calculating commissions that apply to the quotation</a:t>
            </a:r>
          </a:p>
          <a:p>
            <a:pPr lvl="0">
              <a:spcBef>
                <a:spcPts val="600"/>
              </a:spcBef>
              <a:spcAft>
                <a:spcPts val="1200"/>
              </a:spcAft>
            </a:pPr>
            <a:r>
              <a:rPr lang="en-AU" sz="2400" dirty="0" smtClean="0">
                <a:latin typeface="Helvetica" pitchFamily="34" charset="0"/>
              </a:rPr>
              <a:t>Calculating mark-up net costs</a:t>
            </a:r>
          </a:p>
          <a:p>
            <a:pPr lvl="0">
              <a:spcBef>
                <a:spcPts val="600"/>
              </a:spcBef>
              <a:spcAft>
                <a:spcPts val="1200"/>
              </a:spcAft>
            </a:pPr>
            <a:r>
              <a:rPr lang="en-AU" sz="2400" dirty="0" smtClean="0">
                <a:latin typeface="Helvetica" pitchFamily="34" charset="0"/>
              </a:rPr>
              <a:t>Applying host enterprise procedures to                                determine selling prices</a:t>
            </a:r>
          </a:p>
          <a:p>
            <a:pPr lvl="0">
              <a:spcBef>
                <a:spcPts val="600"/>
              </a:spcBef>
              <a:spcAft>
                <a:spcPts val="1200"/>
              </a:spcAft>
            </a:pPr>
            <a:r>
              <a:rPr lang="en-AU" sz="2400" dirty="0" smtClean="0">
                <a:latin typeface="Helvetica" pitchFamily="34" charset="0"/>
              </a:rPr>
              <a:t>Including all relevant and legitimate taxes,                                fees and other charges </a:t>
            </a:r>
          </a:p>
          <a:p>
            <a:pPr>
              <a:buNone/>
            </a:pPr>
            <a:endParaRPr lang="en-AU" sz="2400" dirty="0" smtClean="0"/>
          </a:p>
          <a:p>
            <a:pPr>
              <a:spcBef>
                <a:spcPts val="600"/>
              </a:spcBef>
              <a:spcAft>
                <a:spcPts val="1200"/>
              </a:spcAft>
              <a:buNone/>
            </a:pPr>
            <a:endParaRPr lang="en-AU" sz="2200" dirty="0" smtClean="0">
              <a:latin typeface="Helvetica" pitchFamily="34" charset="0"/>
            </a:endParaRP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43</a:t>
            </a:fld>
            <a:endParaRPr lang="en-US" dirty="0">
              <a:latin typeface="Helvetica" pitchFamily="34" charset="0"/>
            </a:endParaRPr>
          </a:p>
        </p:txBody>
      </p:sp>
      <p:pic>
        <p:nvPicPr>
          <p:cNvPr id="5" name="Picture 4" descr="shutterstock_179800007.jpg"/>
          <p:cNvPicPr>
            <a:picLocks noChangeAspect="1"/>
          </p:cNvPicPr>
          <p:nvPr/>
        </p:nvPicPr>
        <p:blipFill>
          <a:blip r:embed="rId3" cstate="print"/>
          <a:stretch>
            <a:fillRect/>
          </a:stretch>
        </p:blipFill>
        <p:spPr>
          <a:xfrm>
            <a:off x="6228184" y="4437112"/>
            <a:ext cx="2376264" cy="158496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Calculating costs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256584"/>
          </a:xfrm>
        </p:spPr>
        <p:txBody>
          <a:bodyPr>
            <a:normAutofit/>
          </a:bodyPr>
          <a:lstStyle/>
          <a:p>
            <a:pPr marL="0">
              <a:spcBef>
                <a:spcPts val="600"/>
              </a:spcBef>
              <a:spcAft>
                <a:spcPts val="1200"/>
              </a:spcAft>
              <a:buNone/>
            </a:pPr>
            <a:r>
              <a:rPr lang="en-AU" sz="2200" b="1" dirty="0" smtClean="0">
                <a:latin typeface="Helvetica" pitchFamily="34" charset="0"/>
              </a:rPr>
              <a:t>Activities associated with calculating costs of products and services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Incorporating currency conversions into the statement of prices</a:t>
            </a:r>
          </a:p>
          <a:p>
            <a:pPr lvl="0">
              <a:spcBef>
                <a:spcPts val="600"/>
              </a:spcBef>
              <a:spcAft>
                <a:spcPts val="1200"/>
              </a:spcAft>
            </a:pPr>
            <a:r>
              <a:rPr lang="en-AU" sz="2200" dirty="0" smtClean="0">
                <a:latin typeface="Helvetica" pitchFamily="34" charset="0"/>
              </a:rPr>
              <a:t>Factoring allowable discounts</a:t>
            </a:r>
          </a:p>
          <a:p>
            <a:pPr lvl="0">
              <a:spcBef>
                <a:spcPts val="600"/>
              </a:spcBef>
              <a:spcAft>
                <a:spcPts val="1200"/>
              </a:spcAft>
            </a:pPr>
            <a:r>
              <a:rPr lang="en-AU" sz="2200" dirty="0" smtClean="0">
                <a:latin typeface="Helvetica" pitchFamily="34" charset="0"/>
              </a:rPr>
              <a:t>Considering and including package </a:t>
            </a:r>
            <a:br>
              <a:rPr lang="en-AU" sz="2200" dirty="0" smtClean="0">
                <a:latin typeface="Helvetica" pitchFamily="34" charset="0"/>
              </a:rPr>
            </a:br>
            <a:r>
              <a:rPr lang="en-AU" sz="2200" dirty="0" smtClean="0">
                <a:latin typeface="Helvetica" pitchFamily="34" charset="0"/>
              </a:rPr>
              <a:t>deals, where appropriate</a:t>
            </a:r>
          </a:p>
          <a:p>
            <a:pPr lvl="0">
              <a:spcBef>
                <a:spcPts val="600"/>
              </a:spcBef>
              <a:spcAft>
                <a:spcPts val="1200"/>
              </a:spcAft>
            </a:pPr>
            <a:r>
              <a:rPr lang="en-AU" sz="2200" dirty="0" smtClean="0">
                <a:latin typeface="Helvetica" pitchFamily="34" charset="0"/>
              </a:rPr>
              <a:t>Taking into account seasonal and </a:t>
            </a:r>
            <a:br>
              <a:rPr lang="en-AU" sz="2200" dirty="0" smtClean="0">
                <a:latin typeface="Helvetica" pitchFamily="34" charset="0"/>
              </a:rPr>
            </a:br>
            <a:r>
              <a:rPr lang="en-AU" sz="2200" dirty="0" smtClean="0">
                <a:latin typeface="Helvetica" pitchFamily="34" charset="0"/>
              </a:rPr>
              <a:t>other premiums  that may apply to </a:t>
            </a:r>
            <a:br>
              <a:rPr lang="en-AU" sz="2200" dirty="0" smtClean="0">
                <a:latin typeface="Helvetica" pitchFamily="34" charset="0"/>
              </a:rPr>
            </a:br>
            <a:r>
              <a:rPr lang="en-AU" sz="2200" dirty="0" smtClean="0">
                <a:latin typeface="Helvetica" pitchFamily="34" charset="0"/>
              </a:rPr>
              <a:t>bookings</a:t>
            </a:r>
          </a:p>
          <a:p>
            <a:pPr lvl="0">
              <a:spcBef>
                <a:spcPts val="600"/>
              </a:spcBef>
              <a:spcAft>
                <a:spcPts val="1200"/>
              </a:spcAft>
            </a:pPr>
            <a:r>
              <a:rPr lang="en-AU" sz="2200" dirty="0" smtClean="0">
                <a:latin typeface="Helvetica" pitchFamily="34" charset="0"/>
              </a:rPr>
              <a:t>Estimations based on current year prices</a:t>
            </a:r>
          </a:p>
          <a:p>
            <a:pPr>
              <a:buNone/>
            </a:pPr>
            <a:endParaRPr lang="en-AU" sz="2400" dirty="0" smtClean="0"/>
          </a:p>
          <a:p>
            <a:pPr>
              <a:spcBef>
                <a:spcPts val="600"/>
              </a:spcBef>
              <a:spcAft>
                <a:spcPts val="1200"/>
              </a:spcAft>
              <a:buNone/>
            </a:pPr>
            <a:endParaRPr lang="en-AU" sz="2200" dirty="0" smtClean="0">
              <a:latin typeface="Helvetica" pitchFamily="34" charset="0"/>
            </a:endParaRP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44</a:t>
            </a:fld>
            <a:endParaRPr lang="en-US" dirty="0">
              <a:latin typeface="Helvetica" pitchFamily="34" charset="0"/>
            </a:endParaRPr>
          </a:p>
        </p:txBody>
      </p:sp>
      <p:pic>
        <p:nvPicPr>
          <p:cNvPr id="5" name="Picture 4" descr="shutterstock_96331862.jpg"/>
          <p:cNvPicPr>
            <a:picLocks noChangeAspect="1"/>
          </p:cNvPicPr>
          <p:nvPr/>
        </p:nvPicPr>
        <p:blipFill>
          <a:blip r:embed="rId3" cstate="print"/>
          <a:stretch>
            <a:fillRect/>
          </a:stretch>
        </p:blipFill>
        <p:spPr>
          <a:xfrm>
            <a:off x="5796136" y="2996952"/>
            <a:ext cx="2545737" cy="201622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Calculating costs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200" b="1" dirty="0" smtClean="0">
                <a:latin typeface="Helvetica" pitchFamily="34" charset="0"/>
              </a:rPr>
              <a:t>Negotiate costs with suppliers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The gross price</a:t>
            </a:r>
          </a:p>
          <a:p>
            <a:pPr lvl="0">
              <a:spcBef>
                <a:spcPts val="600"/>
              </a:spcBef>
              <a:spcAft>
                <a:spcPts val="1200"/>
              </a:spcAft>
            </a:pPr>
            <a:r>
              <a:rPr lang="en-AU" sz="2200" dirty="0" smtClean="0">
                <a:latin typeface="Helvetica" pitchFamily="34" charset="0"/>
              </a:rPr>
              <a:t>The commission</a:t>
            </a:r>
          </a:p>
          <a:p>
            <a:pPr lvl="0">
              <a:spcBef>
                <a:spcPts val="600"/>
              </a:spcBef>
              <a:spcAft>
                <a:spcPts val="1200"/>
              </a:spcAft>
            </a:pPr>
            <a:r>
              <a:rPr lang="en-AU" sz="2200" dirty="0" smtClean="0">
                <a:latin typeface="Helvetica" pitchFamily="34" charset="0"/>
              </a:rPr>
              <a:t>The Nett price</a:t>
            </a:r>
          </a:p>
          <a:p>
            <a:pPr lvl="0">
              <a:spcBef>
                <a:spcPts val="600"/>
              </a:spcBef>
              <a:spcAft>
                <a:spcPts val="1200"/>
              </a:spcAft>
            </a:pPr>
            <a:r>
              <a:rPr lang="en-AU" sz="2200" dirty="0" smtClean="0">
                <a:latin typeface="Helvetica" pitchFamily="34" charset="0"/>
              </a:rPr>
              <a:t>The currency</a:t>
            </a:r>
          </a:p>
          <a:p>
            <a:pPr lvl="0">
              <a:spcBef>
                <a:spcPts val="600"/>
              </a:spcBef>
              <a:spcAft>
                <a:spcPts val="1200"/>
              </a:spcAft>
            </a:pPr>
            <a:r>
              <a:rPr lang="en-AU" sz="2200" dirty="0" smtClean="0">
                <a:latin typeface="Helvetica" pitchFamily="34" charset="0"/>
              </a:rPr>
              <a:t>The method of payment</a:t>
            </a:r>
          </a:p>
          <a:p>
            <a:pPr lvl="0">
              <a:spcBef>
                <a:spcPts val="600"/>
              </a:spcBef>
              <a:spcAft>
                <a:spcPts val="1200"/>
              </a:spcAft>
            </a:pPr>
            <a:r>
              <a:rPr lang="en-AU" sz="2200" dirty="0" smtClean="0">
                <a:latin typeface="Helvetica" pitchFamily="34" charset="0"/>
              </a:rPr>
              <a:t>The deposit amount and deadline</a:t>
            </a:r>
          </a:p>
          <a:p>
            <a:pPr>
              <a:buNone/>
            </a:pPr>
            <a:endParaRPr lang="en-AU" sz="2400" dirty="0" smtClean="0"/>
          </a:p>
          <a:p>
            <a:pPr>
              <a:spcBef>
                <a:spcPts val="600"/>
              </a:spcBef>
              <a:spcAft>
                <a:spcPts val="1200"/>
              </a:spcAft>
              <a:buNone/>
            </a:pPr>
            <a:endParaRPr lang="en-AU" sz="2200" dirty="0" smtClean="0">
              <a:latin typeface="Helvetica" pitchFamily="34" charset="0"/>
            </a:endParaRP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45</a:t>
            </a:fld>
            <a:endParaRPr lang="en-US" dirty="0">
              <a:latin typeface="Helvetica" pitchFamily="34" charset="0"/>
            </a:endParaRPr>
          </a:p>
        </p:txBody>
      </p:sp>
      <p:pic>
        <p:nvPicPr>
          <p:cNvPr id="5" name="Picture 4" descr="shutterstock_93034984.jpg"/>
          <p:cNvPicPr/>
          <p:nvPr/>
        </p:nvPicPr>
        <p:blipFill>
          <a:blip r:embed="rId3" cstate="print"/>
          <a:stretch>
            <a:fillRect/>
          </a:stretch>
        </p:blipFill>
        <p:spPr>
          <a:xfrm>
            <a:off x="5076056" y="2315992"/>
            <a:ext cx="3096344" cy="237626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Calculating costs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340768"/>
            <a:ext cx="7467600" cy="4824536"/>
          </a:xfrm>
        </p:spPr>
        <p:txBody>
          <a:bodyPr>
            <a:normAutofit/>
          </a:bodyPr>
          <a:lstStyle/>
          <a:p>
            <a:pPr>
              <a:spcBef>
                <a:spcPts val="600"/>
              </a:spcBef>
              <a:spcAft>
                <a:spcPts val="1200"/>
              </a:spcAft>
              <a:buNone/>
            </a:pPr>
            <a:r>
              <a:rPr lang="en-AU" sz="2200" b="1" dirty="0" smtClean="0">
                <a:latin typeface="Helvetica" pitchFamily="34" charset="0"/>
              </a:rPr>
              <a:t>Negotiate costs with suppliers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The final payment deadline</a:t>
            </a:r>
          </a:p>
          <a:p>
            <a:pPr lvl="0">
              <a:spcBef>
                <a:spcPts val="600"/>
              </a:spcBef>
              <a:spcAft>
                <a:spcPts val="1200"/>
              </a:spcAft>
            </a:pPr>
            <a:r>
              <a:rPr lang="en-AU" sz="2200" dirty="0" smtClean="0">
                <a:latin typeface="Helvetica" pitchFamily="34" charset="0"/>
              </a:rPr>
              <a:t>The cancellation or amendment fees</a:t>
            </a:r>
          </a:p>
          <a:p>
            <a:pPr lvl="0">
              <a:spcBef>
                <a:spcPts val="600"/>
              </a:spcBef>
              <a:spcAft>
                <a:spcPts val="1200"/>
              </a:spcAft>
            </a:pPr>
            <a:r>
              <a:rPr lang="en-AU" sz="2200" dirty="0" smtClean="0">
                <a:latin typeface="Helvetica" pitchFamily="34" charset="0"/>
              </a:rPr>
              <a:t>The allocation of seats/rooms/cabins</a:t>
            </a:r>
          </a:p>
          <a:p>
            <a:pPr lvl="0">
              <a:spcBef>
                <a:spcPts val="600"/>
              </a:spcBef>
              <a:spcAft>
                <a:spcPts val="1200"/>
              </a:spcAft>
            </a:pPr>
            <a:r>
              <a:rPr lang="en-AU" sz="2200" dirty="0" smtClean="0">
                <a:latin typeface="Helvetica" pitchFamily="34" charset="0"/>
              </a:rPr>
              <a:t>The release back date for unsold allocations</a:t>
            </a:r>
          </a:p>
          <a:p>
            <a:pPr lvl="0">
              <a:spcBef>
                <a:spcPts val="600"/>
              </a:spcBef>
              <a:spcAft>
                <a:spcPts val="1200"/>
              </a:spcAft>
            </a:pPr>
            <a:r>
              <a:rPr lang="en-AU" sz="2200" dirty="0" smtClean="0">
                <a:latin typeface="Helvetica" pitchFamily="34" charset="0"/>
              </a:rPr>
              <a:t>The deadline for final passenger names/numbers</a:t>
            </a:r>
          </a:p>
          <a:p>
            <a:pPr>
              <a:buNone/>
            </a:pPr>
            <a:endParaRPr lang="en-AU" sz="2400" dirty="0" smtClean="0"/>
          </a:p>
          <a:p>
            <a:pPr>
              <a:spcBef>
                <a:spcPts val="600"/>
              </a:spcBef>
              <a:spcAft>
                <a:spcPts val="1200"/>
              </a:spcAft>
              <a:buNone/>
            </a:pPr>
            <a:endParaRPr lang="en-AU" sz="2200" dirty="0" smtClean="0">
              <a:latin typeface="Helvetica" pitchFamily="34" charset="0"/>
            </a:endParaRP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46</a:t>
            </a:fld>
            <a:endParaRPr lang="en-US" dirty="0">
              <a:latin typeface="Helvetica" pitchFamily="34" charset="0"/>
            </a:endParaRPr>
          </a:p>
        </p:txBody>
      </p:sp>
      <p:pic>
        <p:nvPicPr>
          <p:cNvPr id="5" name="Picture 4" descr="shutterstock_122825407.jpg"/>
          <p:cNvPicPr>
            <a:picLocks noChangeAspect="1"/>
          </p:cNvPicPr>
          <p:nvPr/>
        </p:nvPicPr>
        <p:blipFill>
          <a:blip r:embed="rId3" cstate="print"/>
          <a:stretch>
            <a:fillRect/>
          </a:stretch>
        </p:blipFill>
        <p:spPr>
          <a:xfrm>
            <a:off x="2555776" y="4738084"/>
            <a:ext cx="2808312" cy="187314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Calculating mark up and commissions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0">
              <a:spcBef>
                <a:spcPts val="600"/>
              </a:spcBef>
              <a:spcAft>
                <a:spcPts val="1200"/>
              </a:spcAft>
              <a:buNone/>
            </a:pPr>
            <a:r>
              <a:rPr lang="en-AU" sz="2200" b="1" dirty="0" smtClean="0">
                <a:latin typeface="Helvetica" pitchFamily="34" charset="0"/>
              </a:rPr>
              <a:t>Calculate mark-up nett costs and commissions to determine a profitable selling price</a:t>
            </a:r>
            <a:endParaRPr lang="en-AU" sz="2200" dirty="0" smtClean="0">
              <a:latin typeface="Helvetica" pitchFamily="34" charset="0"/>
            </a:endParaRPr>
          </a:p>
          <a:p>
            <a:pPr lvl="0">
              <a:spcBef>
                <a:spcPts val="600"/>
              </a:spcBef>
              <a:spcAft>
                <a:spcPts val="1200"/>
              </a:spcAft>
              <a:buNone/>
            </a:pPr>
            <a:r>
              <a:rPr lang="en-AU" sz="2200" dirty="0" smtClean="0">
                <a:latin typeface="Helvetica" pitchFamily="34" charset="0"/>
              </a:rPr>
              <a:t>How do you determine:</a:t>
            </a:r>
          </a:p>
          <a:p>
            <a:pPr lvl="0">
              <a:spcBef>
                <a:spcPts val="600"/>
              </a:spcBef>
              <a:spcAft>
                <a:spcPts val="1200"/>
              </a:spcAft>
            </a:pPr>
            <a:r>
              <a:rPr lang="en-AU" sz="2200" dirty="0" smtClean="0">
                <a:latin typeface="Helvetica" pitchFamily="34" charset="0"/>
              </a:rPr>
              <a:t>Appropriate mark-ups</a:t>
            </a:r>
          </a:p>
          <a:p>
            <a:pPr lvl="0">
              <a:spcBef>
                <a:spcPts val="600"/>
              </a:spcBef>
              <a:spcAft>
                <a:spcPts val="1200"/>
              </a:spcAft>
            </a:pPr>
            <a:r>
              <a:rPr lang="en-AU" sz="2200" dirty="0" smtClean="0">
                <a:latin typeface="Helvetica" pitchFamily="34" charset="0"/>
              </a:rPr>
              <a:t>Commission levels</a:t>
            </a:r>
          </a:p>
          <a:p>
            <a:pPr>
              <a:buNone/>
            </a:pPr>
            <a:endParaRPr lang="en-AU" sz="2400" dirty="0" smtClean="0"/>
          </a:p>
          <a:p>
            <a:pPr>
              <a:spcBef>
                <a:spcPts val="600"/>
              </a:spcBef>
              <a:spcAft>
                <a:spcPts val="1200"/>
              </a:spcAft>
              <a:buNone/>
            </a:pPr>
            <a:endParaRPr lang="en-AU" sz="2200" dirty="0" smtClean="0">
              <a:latin typeface="Helvetica" pitchFamily="34" charset="0"/>
            </a:endParaRP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47</a:t>
            </a:fld>
            <a:endParaRPr lang="en-US" dirty="0">
              <a:latin typeface="Helvetica" pitchFamily="34" charset="0"/>
            </a:endParaRPr>
          </a:p>
        </p:txBody>
      </p:sp>
      <p:pic>
        <p:nvPicPr>
          <p:cNvPr id="5" name="Picture 4" descr="shutterstock_38546896.jpg"/>
          <p:cNvPicPr/>
          <p:nvPr/>
        </p:nvPicPr>
        <p:blipFill>
          <a:blip r:embed="rId3" cstate="print"/>
          <a:stretch>
            <a:fillRect/>
          </a:stretch>
        </p:blipFill>
        <p:spPr>
          <a:xfrm>
            <a:off x="4572000" y="2636912"/>
            <a:ext cx="3168352" cy="208823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Calculating additional costs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0">
              <a:spcBef>
                <a:spcPts val="600"/>
              </a:spcBef>
              <a:spcAft>
                <a:spcPts val="1200"/>
              </a:spcAft>
              <a:buNone/>
            </a:pPr>
            <a:r>
              <a:rPr lang="en-AU" sz="2200" b="1" dirty="0" smtClean="0">
                <a:latin typeface="Helvetica" pitchFamily="34" charset="0"/>
              </a:rPr>
              <a:t>Accurately calculate any additional taxes, special fees and other charges</a:t>
            </a:r>
          </a:p>
          <a:p>
            <a:pPr marL="0">
              <a:spcBef>
                <a:spcPts val="600"/>
              </a:spcBef>
              <a:spcAft>
                <a:spcPts val="1200"/>
              </a:spcAft>
              <a:buNone/>
            </a:pPr>
            <a:r>
              <a:rPr lang="en-AU" sz="2200" dirty="0" smtClean="0">
                <a:latin typeface="Helvetica" pitchFamily="34" charset="0"/>
              </a:rPr>
              <a:t>What are examples of:</a:t>
            </a:r>
          </a:p>
          <a:p>
            <a:pPr marL="0">
              <a:spcBef>
                <a:spcPts val="600"/>
              </a:spcBef>
              <a:spcAft>
                <a:spcPts val="1200"/>
              </a:spcAft>
            </a:pPr>
            <a:r>
              <a:rPr lang="en-AU" sz="2200" dirty="0" smtClean="0">
                <a:latin typeface="Helvetica" pitchFamily="34" charset="0"/>
              </a:rPr>
              <a:t>Taxes</a:t>
            </a:r>
          </a:p>
          <a:p>
            <a:pPr marL="0">
              <a:spcBef>
                <a:spcPts val="600"/>
              </a:spcBef>
              <a:spcAft>
                <a:spcPts val="1200"/>
              </a:spcAft>
            </a:pPr>
            <a:r>
              <a:rPr lang="en-AU" sz="2200" dirty="0" smtClean="0">
                <a:latin typeface="Helvetica" pitchFamily="34" charset="0"/>
              </a:rPr>
              <a:t>Special fees</a:t>
            </a:r>
          </a:p>
          <a:p>
            <a:pPr marL="0">
              <a:spcBef>
                <a:spcPts val="600"/>
              </a:spcBef>
              <a:spcAft>
                <a:spcPts val="1200"/>
              </a:spcAft>
            </a:pPr>
            <a:r>
              <a:rPr lang="en-AU" sz="2200" dirty="0" smtClean="0">
                <a:latin typeface="Helvetica" pitchFamily="34" charset="0"/>
              </a:rPr>
              <a:t>Other charges </a:t>
            </a:r>
          </a:p>
          <a:p>
            <a:pPr>
              <a:spcBef>
                <a:spcPts val="600"/>
              </a:spcBef>
              <a:spcAft>
                <a:spcPts val="1200"/>
              </a:spcAft>
              <a:buNone/>
            </a:pPr>
            <a:endParaRPr lang="en-AU" sz="2200" dirty="0" smtClean="0">
              <a:latin typeface="Helvetica" pitchFamily="34" charset="0"/>
            </a:endParaRP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48</a:t>
            </a:fld>
            <a:endParaRPr lang="en-US" dirty="0">
              <a:latin typeface="Helvetica" pitchFamily="34" charset="0"/>
            </a:endParaRPr>
          </a:p>
        </p:txBody>
      </p:sp>
      <p:pic>
        <p:nvPicPr>
          <p:cNvPr id="5" name="Picture 4" descr="shutterstock_150882020.jpg"/>
          <p:cNvPicPr>
            <a:picLocks noChangeAspect="1"/>
          </p:cNvPicPr>
          <p:nvPr/>
        </p:nvPicPr>
        <p:blipFill>
          <a:blip r:embed="rId3" cstate="print"/>
          <a:stretch>
            <a:fillRect/>
          </a:stretch>
        </p:blipFill>
        <p:spPr>
          <a:xfrm>
            <a:off x="5436096" y="2276872"/>
            <a:ext cx="2736304" cy="2736304"/>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Calculating currency exchange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848872" cy="4824536"/>
          </a:xfrm>
        </p:spPr>
        <p:txBody>
          <a:bodyPr>
            <a:normAutofit/>
          </a:bodyPr>
          <a:lstStyle/>
          <a:p>
            <a:pPr>
              <a:spcBef>
                <a:spcPts val="600"/>
              </a:spcBef>
              <a:spcAft>
                <a:spcPts val="1200"/>
              </a:spcAft>
              <a:buNone/>
            </a:pPr>
            <a:r>
              <a:rPr lang="en-AU" sz="2200" b="1" dirty="0" smtClean="0">
                <a:latin typeface="Helvetica" pitchFamily="34" charset="0"/>
              </a:rPr>
              <a:t>Accurately calculate any required currency conversions</a:t>
            </a:r>
          </a:p>
          <a:p>
            <a:pPr>
              <a:spcBef>
                <a:spcPts val="600"/>
              </a:spcBef>
              <a:spcAft>
                <a:spcPts val="1200"/>
              </a:spcAft>
            </a:pPr>
            <a:r>
              <a:rPr lang="en-AU" sz="2200" dirty="0" smtClean="0">
                <a:latin typeface="Helvetica" pitchFamily="34" charset="0"/>
              </a:rPr>
              <a:t>How can you identify currency of different countries?</a:t>
            </a:r>
          </a:p>
          <a:p>
            <a:pPr>
              <a:spcBef>
                <a:spcPts val="600"/>
              </a:spcBef>
              <a:spcAft>
                <a:spcPts val="1200"/>
              </a:spcAft>
            </a:pPr>
            <a:r>
              <a:rPr lang="en-AU" sz="2200" dirty="0" smtClean="0">
                <a:latin typeface="Helvetica" pitchFamily="34" charset="0"/>
              </a:rPr>
              <a:t>How may this vary between quotation and booking?</a:t>
            </a:r>
          </a:p>
          <a:p>
            <a:pPr>
              <a:spcBef>
                <a:spcPts val="600"/>
              </a:spcBef>
              <a:spcAft>
                <a:spcPts val="1200"/>
              </a:spcAft>
              <a:buNone/>
            </a:pPr>
            <a:endParaRPr lang="en-AU" sz="2200" dirty="0" smtClean="0">
              <a:latin typeface="Helvetica" pitchFamily="34" charset="0"/>
            </a:endParaRP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49</a:t>
            </a:fld>
            <a:endParaRPr lang="en-US" dirty="0">
              <a:latin typeface="Helvetica" pitchFamily="34" charset="0"/>
            </a:endParaRPr>
          </a:p>
        </p:txBody>
      </p:sp>
      <p:pic>
        <p:nvPicPr>
          <p:cNvPr id="6" name="Picture 5" descr="shutterstock_98660465.jpg"/>
          <p:cNvPicPr/>
          <p:nvPr/>
        </p:nvPicPr>
        <p:blipFill>
          <a:blip r:embed="rId3" cstate="print"/>
          <a:stretch>
            <a:fillRect/>
          </a:stretch>
        </p:blipFill>
        <p:spPr>
          <a:xfrm>
            <a:off x="2411760" y="3284984"/>
            <a:ext cx="3528392" cy="25202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41784"/>
            <a:ext cx="8064896" cy="1143000"/>
          </a:xfrm>
        </p:spPr>
        <p:txBody>
          <a:bodyPr>
            <a:normAutofit/>
          </a:bodyPr>
          <a:lstStyle/>
          <a:p>
            <a:r>
              <a:rPr lang="en-US" sz="3400" b="1" dirty="0" smtClean="0">
                <a:solidFill>
                  <a:srgbClr val="FF6600"/>
                </a:solidFill>
                <a:latin typeface="Helvetica" pitchFamily="34" charset="0"/>
              </a:rPr>
              <a:t>Calculating supplier costs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4824536"/>
          </a:xfrm>
        </p:spPr>
        <p:txBody>
          <a:bodyPr>
            <a:normAutofit/>
          </a:bodyPr>
          <a:lstStyle/>
          <a:p>
            <a:pPr>
              <a:spcBef>
                <a:spcPts val="600"/>
              </a:spcBef>
              <a:spcAft>
                <a:spcPts val="1200"/>
              </a:spcAft>
              <a:buNone/>
            </a:pPr>
            <a:r>
              <a:rPr lang="en-AU" sz="2200" b="1" dirty="0" smtClean="0">
                <a:latin typeface="Helvetica" pitchFamily="34" charset="0"/>
              </a:rPr>
              <a:t>Securing quotes and costs from suppliers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What are general considerations when securing quotes and costs?</a:t>
            </a:r>
          </a:p>
          <a:p>
            <a:pPr>
              <a:spcBef>
                <a:spcPts val="600"/>
              </a:spcBef>
              <a:spcAft>
                <a:spcPts val="1200"/>
              </a:spcAft>
            </a:pPr>
            <a:r>
              <a:rPr lang="en-AU" sz="2200" dirty="0" smtClean="0">
                <a:latin typeface="Helvetica" pitchFamily="34" charset="0"/>
              </a:rPr>
              <a:t>What information do you need to secure quotes?</a:t>
            </a:r>
          </a:p>
          <a:p>
            <a:pPr>
              <a:spcBef>
                <a:spcPts val="600"/>
              </a:spcBef>
              <a:spcAft>
                <a:spcPts val="1200"/>
              </a:spcAft>
            </a:pPr>
            <a:r>
              <a:rPr lang="en-AU" sz="2200" dirty="0" smtClean="0">
                <a:latin typeface="Helvetica" pitchFamily="34" charset="0"/>
              </a:rPr>
              <a:t>What arrangements need to be made to secure quotes?</a:t>
            </a:r>
          </a:p>
          <a:p>
            <a:pPr>
              <a:spcBef>
                <a:spcPts val="600"/>
              </a:spcBef>
              <a:spcAft>
                <a:spcPts val="1200"/>
              </a:spcAft>
            </a:pPr>
            <a:r>
              <a:rPr lang="en-AU" sz="2200" dirty="0" smtClean="0">
                <a:latin typeface="Helvetica" pitchFamily="34" charset="0"/>
              </a:rPr>
              <a:t>How can you identify final supplier details and costs?</a:t>
            </a:r>
          </a:p>
          <a:p>
            <a:pPr>
              <a:spcBef>
                <a:spcPts val="600"/>
              </a:spcBef>
              <a:spcAft>
                <a:spcPts val="1200"/>
              </a:spcAft>
            </a:pPr>
            <a:endParaRPr lang="en-AU" sz="2200" dirty="0" smtClean="0">
              <a:latin typeface="Helvetica" pitchFamily="34" charset="0"/>
            </a:endParaRP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50</a:t>
            </a:fld>
            <a:endParaRPr lang="en-US" dirty="0">
              <a:latin typeface="Helvetica" pitchFamily="34" charset="0"/>
            </a:endParaRPr>
          </a:p>
        </p:txBody>
      </p:sp>
      <p:pic>
        <p:nvPicPr>
          <p:cNvPr id="5" name="Picture 4" descr="shutterstock_95857066.jpg"/>
          <p:cNvPicPr/>
          <p:nvPr/>
        </p:nvPicPr>
        <p:blipFill>
          <a:blip r:embed="rId3" cstate="print"/>
          <a:stretch>
            <a:fillRect/>
          </a:stretch>
        </p:blipFill>
        <p:spPr>
          <a:xfrm>
            <a:off x="2483768" y="4797153"/>
            <a:ext cx="2880320" cy="206084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shutterstock_168391730.jpg"/>
          <p:cNvPicPr/>
          <p:nvPr/>
        </p:nvPicPr>
        <p:blipFill>
          <a:blip r:embed="rId3" cstate="print"/>
          <a:stretch>
            <a:fillRect/>
          </a:stretch>
        </p:blipFill>
        <p:spPr>
          <a:xfrm>
            <a:off x="6372200" y="2708920"/>
            <a:ext cx="1872208" cy="2304256"/>
          </a:xfrm>
          <a:prstGeom prst="rect">
            <a:avLst/>
          </a:prstGeom>
        </p:spPr>
      </p:pic>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Calculating supplier costs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4824536"/>
          </a:xfrm>
        </p:spPr>
        <p:txBody>
          <a:bodyPr>
            <a:normAutofit/>
          </a:bodyPr>
          <a:lstStyle/>
          <a:p>
            <a:pPr marL="0">
              <a:spcBef>
                <a:spcPts val="600"/>
              </a:spcBef>
              <a:spcAft>
                <a:spcPts val="1200"/>
              </a:spcAft>
              <a:buNone/>
            </a:pPr>
            <a:r>
              <a:rPr lang="en-AU" sz="2200" b="1" dirty="0" smtClean="0">
                <a:latin typeface="Helvetica" pitchFamily="34" charset="0"/>
              </a:rPr>
              <a:t>Check all calculations against all product and service components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Prior to providing the customer with a quotation you must check all your calculations in relation to the prices secured.</a:t>
            </a:r>
          </a:p>
          <a:p>
            <a:pPr marL="0">
              <a:spcBef>
                <a:spcPts val="600"/>
              </a:spcBef>
              <a:spcAft>
                <a:spcPts val="1200"/>
              </a:spcAft>
              <a:buNone/>
            </a:pPr>
            <a:r>
              <a:rPr lang="en-AU" sz="2200" dirty="0" smtClean="0">
                <a:latin typeface="Helvetica" pitchFamily="34" charset="0"/>
              </a:rPr>
              <a:t>The process of collating and pricing the </a:t>
            </a:r>
            <a:br>
              <a:rPr lang="en-AU" sz="2200" dirty="0" smtClean="0">
                <a:latin typeface="Helvetica" pitchFamily="34" charset="0"/>
              </a:rPr>
            </a:br>
            <a:r>
              <a:rPr lang="en-AU" sz="2200" dirty="0" smtClean="0">
                <a:latin typeface="Helvetica" pitchFamily="34" charset="0"/>
              </a:rPr>
              <a:t>itinerary must include:</a:t>
            </a:r>
          </a:p>
          <a:p>
            <a:pPr>
              <a:spcBef>
                <a:spcPts val="600"/>
              </a:spcBef>
              <a:spcAft>
                <a:spcPts val="1200"/>
              </a:spcAft>
            </a:pPr>
            <a:r>
              <a:rPr lang="en-AU" sz="2200" dirty="0" smtClean="0">
                <a:latin typeface="Helvetica" pitchFamily="34" charset="0"/>
              </a:rPr>
              <a:t>Checking the detail of the products </a:t>
            </a:r>
            <a:br>
              <a:rPr lang="en-AU" sz="2200" dirty="0" smtClean="0">
                <a:latin typeface="Helvetica" pitchFamily="34" charset="0"/>
              </a:rPr>
            </a:br>
            <a:r>
              <a:rPr lang="en-AU" sz="2200" dirty="0" smtClean="0">
                <a:latin typeface="Helvetica" pitchFamily="34" charset="0"/>
              </a:rPr>
              <a:t>and services</a:t>
            </a:r>
          </a:p>
          <a:p>
            <a:pPr>
              <a:spcBef>
                <a:spcPts val="600"/>
              </a:spcBef>
              <a:spcAft>
                <a:spcPts val="1200"/>
              </a:spcAft>
            </a:pPr>
            <a:r>
              <a:rPr lang="en-AU" sz="2200" dirty="0" smtClean="0">
                <a:latin typeface="Helvetica" pitchFamily="34" charset="0"/>
              </a:rPr>
              <a:t>How these have been priced</a:t>
            </a:r>
          </a:p>
          <a:p>
            <a:pPr>
              <a:spcBef>
                <a:spcPts val="600"/>
              </a:spcBef>
              <a:spcAft>
                <a:spcPts val="1200"/>
              </a:spcAft>
            </a:pPr>
            <a:endParaRPr lang="en-AU" sz="2200" dirty="0" smtClean="0">
              <a:latin typeface="Helvetica" pitchFamily="34" charset="0"/>
            </a:endParaRP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51</a:t>
            </a:fld>
            <a:endParaRPr lang="en-US" dirty="0">
              <a:latin typeface="Helvetic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shutterstock_143143042.jpg"/>
          <p:cNvPicPr/>
          <p:nvPr/>
        </p:nvPicPr>
        <p:blipFill>
          <a:blip r:embed="rId3" cstate="print"/>
          <a:stretch>
            <a:fillRect/>
          </a:stretch>
        </p:blipFill>
        <p:spPr>
          <a:xfrm>
            <a:off x="6378213" y="2420888"/>
            <a:ext cx="1922580" cy="2587716"/>
          </a:xfrm>
          <a:prstGeom prst="rect">
            <a:avLst/>
          </a:prstGeom>
        </p:spPr>
      </p:pic>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Terms and conditions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4824536"/>
          </a:xfrm>
        </p:spPr>
        <p:txBody>
          <a:bodyPr>
            <a:normAutofit/>
          </a:bodyPr>
          <a:lstStyle/>
          <a:p>
            <a:pPr>
              <a:spcBef>
                <a:spcPts val="600"/>
              </a:spcBef>
              <a:spcAft>
                <a:spcPts val="1200"/>
              </a:spcAft>
              <a:buNone/>
            </a:pPr>
            <a:r>
              <a:rPr lang="en-AU" sz="2200" b="1" dirty="0" smtClean="0">
                <a:latin typeface="Helvetica" pitchFamily="34" charset="0"/>
              </a:rPr>
              <a:t>Identify terms and conditions</a:t>
            </a:r>
          </a:p>
          <a:p>
            <a:pPr marL="0">
              <a:spcBef>
                <a:spcPts val="600"/>
              </a:spcBef>
              <a:spcAft>
                <a:spcPts val="1200"/>
              </a:spcAft>
              <a:buNone/>
            </a:pPr>
            <a:r>
              <a:rPr lang="en-AU" sz="2200" dirty="0" smtClean="0">
                <a:latin typeface="Helvetica" pitchFamily="34" charset="0"/>
              </a:rPr>
              <a:t>All quotations will come with terms and conditions that will apply to various aspects of travel arrangements.</a:t>
            </a:r>
          </a:p>
          <a:p>
            <a:pPr>
              <a:spcBef>
                <a:spcPts val="600"/>
              </a:spcBef>
              <a:spcAft>
                <a:spcPts val="1200"/>
              </a:spcAft>
              <a:buNone/>
            </a:pPr>
            <a:r>
              <a:rPr lang="en-AU" sz="2200" dirty="0" smtClean="0">
                <a:latin typeface="Helvetica" pitchFamily="34" charset="0"/>
              </a:rPr>
              <a:t>Terms and conditions may be provided by:</a:t>
            </a:r>
          </a:p>
          <a:p>
            <a:pPr lvl="0">
              <a:spcBef>
                <a:spcPts val="600"/>
              </a:spcBef>
              <a:spcAft>
                <a:spcPts val="1200"/>
              </a:spcAft>
            </a:pPr>
            <a:r>
              <a:rPr lang="en-AU" sz="2200" dirty="0" smtClean="0">
                <a:latin typeface="Helvetica" pitchFamily="34" charset="0"/>
              </a:rPr>
              <a:t>The travel agent themselves</a:t>
            </a:r>
          </a:p>
          <a:p>
            <a:pPr lvl="0">
              <a:spcBef>
                <a:spcPts val="600"/>
              </a:spcBef>
              <a:spcAft>
                <a:spcPts val="1200"/>
              </a:spcAft>
            </a:pPr>
            <a:r>
              <a:rPr lang="en-AU" sz="2200" dirty="0" smtClean="0">
                <a:latin typeface="Helvetica" pitchFamily="34" charset="0"/>
              </a:rPr>
              <a:t>Suppliers</a:t>
            </a:r>
          </a:p>
          <a:p>
            <a:pPr lvl="0">
              <a:spcBef>
                <a:spcPts val="600"/>
              </a:spcBef>
              <a:spcAft>
                <a:spcPts val="1200"/>
              </a:spcAft>
            </a:pPr>
            <a:r>
              <a:rPr lang="en-AU" sz="2200" dirty="0" smtClean="0">
                <a:latin typeface="Helvetica" pitchFamily="34" charset="0"/>
              </a:rPr>
              <a:t>The  individual product or service provider </a:t>
            </a:r>
          </a:p>
          <a:p>
            <a:pPr>
              <a:spcBef>
                <a:spcPts val="600"/>
              </a:spcBef>
              <a:spcAft>
                <a:spcPts val="1200"/>
              </a:spcAft>
            </a:pPr>
            <a:endParaRPr lang="en-AU" sz="2200" dirty="0" smtClean="0">
              <a:latin typeface="Helvetica" pitchFamily="34" charset="0"/>
            </a:endParaRP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52</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Terms and conditions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200" b="1" dirty="0" smtClean="0">
                <a:latin typeface="Helvetica" pitchFamily="34" charset="0"/>
              </a:rPr>
              <a:t>Types of terms and conditions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Terms and methods of payment</a:t>
            </a:r>
          </a:p>
          <a:p>
            <a:pPr lvl="0">
              <a:spcBef>
                <a:spcPts val="600"/>
              </a:spcBef>
              <a:spcAft>
                <a:spcPts val="1200"/>
              </a:spcAft>
            </a:pPr>
            <a:r>
              <a:rPr lang="en-AU" sz="2200" dirty="0" smtClean="0">
                <a:latin typeface="Helvetica" pitchFamily="34" charset="0"/>
              </a:rPr>
              <a:t>Dates for payment of deposits and final payment</a:t>
            </a:r>
          </a:p>
          <a:p>
            <a:pPr lvl="0">
              <a:spcBef>
                <a:spcPts val="600"/>
              </a:spcBef>
              <a:spcAft>
                <a:spcPts val="1200"/>
              </a:spcAft>
            </a:pPr>
            <a:r>
              <a:rPr lang="en-AU" sz="2200" dirty="0" smtClean="0">
                <a:latin typeface="Helvetica" pitchFamily="34" charset="0"/>
              </a:rPr>
              <a:t>Notifications regarding final confirmation of the booking </a:t>
            </a:r>
          </a:p>
          <a:p>
            <a:pPr lvl="0">
              <a:spcBef>
                <a:spcPts val="600"/>
              </a:spcBef>
              <a:spcAft>
                <a:spcPts val="1200"/>
              </a:spcAft>
            </a:pPr>
            <a:r>
              <a:rPr lang="en-AU" sz="2200" dirty="0" smtClean="0">
                <a:latin typeface="Helvetica" pitchFamily="34" charset="0"/>
              </a:rPr>
              <a:t>Cancellations and penalties and charges that apply</a:t>
            </a:r>
          </a:p>
          <a:p>
            <a:pPr lvl="0">
              <a:spcBef>
                <a:spcPts val="600"/>
              </a:spcBef>
              <a:spcAft>
                <a:spcPts val="1200"/>
              </a:spcAft>
            </a:pPr>
            <a:r>
              <a:rPr lang="en-AU" sz="2200" dirty="0" smtClean="0">
                <a:latin typeface="Helvetica" pitchFamily="34" charset="0"/>
              </a:rPr>
              <a:t>Procedures and charges that apply to name and date changes for the booking</a:t>
            </a:r>
          </a:p>
          <a:p>
            <a:pPr lvl="0">
              <a:spcBef>
                <a:spcPts val="600"/>
              </a:spcBef>
              <a:spcAft>
                <a:spcPts val="1200"/>
              </a:spcAft>
            </a:pPr>
            <a:r>
              <a:rPr lang="en-AU" sz="2200" dirty="0" smtClean="0">
                <a:latin typeface="Helvetica" pitchFamily="34" charset="0"/>
              </a:rPr>
              <a:t>Guarantees and warranties that apply to the                           products and services covered by the quotation</a:t>
            </a:r>
          </a:p>
          <a:p>
            <a:pPr>
              <a:spcBef>
                <a:spcPts val="600"/>
              </a:spcBef>
              <a:spcAft>
                <a:spcPts val="1200"/>
              </a:spcAft>
            </a:pPr>
            <a:endParaRPr lang="en-AU" sz="2200" dirty="0" smtClean="0">
              <a:latin typeface="Helvetica" pitchFamily="34" charset="0"/>
            </a:endParaRP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53</a:t>
            </a:fld>
            <a:endParaRPr lang="en-US" dirty="0">
              <a:latin typeface="Helvetica" pitchFamily="34" charset="0"/>
            </a:endParaRPr>
          </a:p>
        </p:txBody>
      </p:sp>
      <p:pic>
        <p:nvPicPr>
          <p:cNvPr id="5" name="Picture 4" descr="shutterstock_165735539.jpg"/>
          <p:cNvPicPr/>
          <p:nvPr/>
        </p:nvPicPr>
        <p:blipFill>
          <a:blip r:embed="rId3" cstate="print"/>
          <a:stretch>
            <a:fillRect/>
          </a:stretch>
        </p:blipFill>
        <p:spPr>
          <a:xfrm>
            <a:off x="6660232" y="0"/>
            <a:ext cx="2483768" cy="184482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Terms and conditions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200" b="1" dirty="0" smtClean="0">
                <a:latin typeface="Helvetica" pitchFamily="34" charset="0"/>
              </a:rPr>
              <a:t>Types of terms and conditions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Exclusion and limitation of liability clauses</a:t>
            </a:r>
          </a:p>
          <a:p>
            <a:pPr lvl="0">
              <a:spcBef>
                <a:spcPts val="600"/>
              </a:spcBef>
              <a:spcAft>
                <a:spcPts val="1200"/>
              </a:spcAft>
            </a:pPr>
            <a:r>
              <a:rPr lang="en-AU" sz="2200" dirty="0" smtClean="0">
                <a:latin typeface="Helvetica" pitchFamily="34" charset="0"/>
              </a:rPr>
              <a:t>Identification of the period for which the quotation is valid</a:t>
            </a:r>
          </a:p>
          <a:p>
            <a:pPr lvl="0">
              <a:spcBef>
                <a:spcPts val="600"/>
              </a:spcBef>
              <a:spcAft>
                <a:spcPts val="1200"/>
              </a:spcAft>
            </a:pPr>
            <a:r>
              <a:rPr lang="en-AU" sz="2200" dirty="0" smtClean="0">
                <a:latin typeface="Helvetica" pitchFamily="34" charset="0"/>
              </a:rPr>
              <a:t>Whether or not the quotation is subject to change with or without notice</a:t>
            </a:r>
          </a:p>
          <a:p>
            <a:pPr lvl="0">
              <a:spcBef>
                <a:spcPts val="600"/>
              </a:spcBef>
              <a:spcAft>
                <a:spcPts val="1200"/>
              </a:spcAft>
            </a:pPr>
            <a:r>
              <a:rPr lang="en-AU" sz="2200" dirty="0" smtClean="0">
                <a:latin typeface="Helvetica" pitchFamily="34" charset="0"/>
              </a:rPr>
              <a:t>Reference to associated terms and conditions as imposed by third party providers</a:t>
            </a:r>
          </a:p>
          <a:p>
            <a:pPr lvl="0">
              <a:spcBef>
                <a:spcPts val="600"/>
              </a:spcBef>
              <a:spcAft>
                <a:spcPts val="1200"/>
              </a:spcAft>
            </a:pPr>
            <a:r>
              <a:rPr lang="en-AU" sz="2200" dirty="0" smtClean="0">
                <a:latin typeface="Helvetica" pitchFamily="34" charset="0"/>
              </a:rPr>
              <a:t>General industry rules, regulations and codes</a:t>
            </a:r>
          </a:p>
          <a:p>
            <a:pPr>
              <a:spcBef>
                <a:spcPts val="600"/>
              </a:spcBef>
              <a:spcAft>
                <a:spcPts val="1200"/>
              </a:spcAft>
            </a:pPr>
            <a:endParaRPr lang="en-AU" sz="2200" dirty="0" smtClean="0">
              <a:latin typeface="Helvetica" pitchFamily="34" charset="0"/>
            </a:endParaRP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54</a:t>
            </a:fld>
            <a:endParaRPr lang="en-US" dirty="0">
              <a:latin typeface="Helvetica" pitchFamily="34" charset="0"/>
            </a:endParaRPr>
          </a:p>
        </p:txBody>
      </p:sp>
      <p:pic>
        <p:nvPicPr>
          <p:cNvPr id="5" name="Picture 4" descr="shutterstock_156185711.jpg"/>
          <p:cNvPicPr/>
          <p:nvPr/>
        </p:nvPicPr>
        <p:blipFill>
          <a:blip r:embed="rId3" cstate="print"/>
          <a:stretch>
            <a:fillRect/>
          </a:stretch>
        </p:blipFill>
        <p:spPr>
          <a:xfrm>
            <a:off x="6588224" y="1580"/>
            <a:ext cx="2527101" cy="184324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Terms and conditions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200" b="1" dirty="0" smtClean="0">
                <a:latin typeface="Helvetica" pitchFamily="34" charset="0"/>
              </a:rPr>
              <a:t>Travel Agent Terms and Conditions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They will commonly include terms and conditions relating to:</a:t>
            </a:r>
          </a:p>
          <a:p>
            <a:pPr lvl="0">
              <a:spcBef>
                <a:spcPts val="600"/>
              </a:spcBef>
              <a:spcAft>
                <a:spcPts val="1200"/>
              </a:spcAft>
            </a:pPr>
            <a:r>
              <a:rPr lang="en-AU" sz="2200" dirty="0" smtClean="0">
                <a:latin typeface="Helvetica" pitchFamily="34" charset="0"/>
              </a:rPr>
              <a:t>Deposit and how to book</a:t>
            </a:r>
          </a:p>
          <a:p>
            <a:pPr lvl="0">
              <a:spcBef>
                <a:spcPts val="600"/>
              </a:spcBef>
              <a:spcAft>
                <a:spcPts val="1200"/>
              </a:spcAft>
            </a:pPr>
            <a:r>
              <a:rPr lang="en-AU" sz="2200" dirty="0" smtClean="0">
                <a:latin typeface="Helvetica" pitchFamily="34" charset="0"/>
              </a:rPr>
              <a:t>Payment Options</a:t>
            </a:r>
          </a:p>
          <a:p>
            <a:pPr lvl="0">
              <a:spcBef>
                <a:spcPts val="600"/>
              </a:spcBef>
              <a:spcAft>
                <a:spcPts val="1200"/>
              </a:spcAft>
            </a:pPr>
            <a:r>
              <a:rPr lang="en-AU" sz="2200" dirty="0" smtClean="0">
                <a:latin typeface="Helvetica" pitchFamily="34" charset="0"/>
              </a:rPr>
              <a:t>Amendments</a:t>
            </a:r>
          </a:p>
          <a:p>
            <a:pPr lvl="0">
              <a:spcBef>
                <a:spcPts val="600"/>
              </a:spcBef>
              <a:spcAft>
                <a:spcPts val="1200"/>
              </a:spcAft>
            </a:pPr>
            <a:r>
              <a:rPr lang="en-AU" sz="2200" dirty="0" smtClean="0">
                <a:latin typeface="Helvetica" pitchFamily="34" charset="0"/>
              </a:rPr>
              <a:t>Final Payment</a:t>
            </a:r>
          </a:p>
          <a:p>
            <a:pPr lvl="0">
              <a:spcBef>
                <a:spcPts val="600"/>
              </a:spcBef>
              <a:spcAft>
                <a:spcPts val="1200"/>
              </a:spcAft>
            </a:pPr>
            <a:r>
              <a:rPr lang="en-AU" sz="2200" dirty="0" smtClean="0">
                <a:latin typeface="Helvetica" pitchFamily="34" charset="0"/>
              </a:rPr>
              <a:t>Cancellations and refunds</a:t>
            </a:r>
          </a:p>
          <a:p>
            <a:pPr>
              <a:spcBef>
                <a:spcPts val="600"/>
              </a:spcBef>
              <a:spcAft>
                <a:spcPts val="1200"/>
              </a:spcAft>
            </a:pPr>
            <a:endParaRPr lang="en-AU" sz="2200" dirty="0" smtClean="0">
              <a:latin typeface="Helvetica" pitchFamily="34" charset="0"/>
            </a:endParaRP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55</a:t>
            </a:fld>
            <a:endParaRPr lang="en-US" dirty="0">
              <a:latin typeface="Helvetica" pitchFamily="34" charset="0"/>
            </a:endParaRPr>
          </a:p>
        </p:txBody>
      </p:sp>
      <p:pic>
        <p:nvPicPr>
          <p:cNvPr id="5" name="Picture 4" descr="shutterstock_105537884.jpg"/>
          <p:cNvPicPr/>
          <p:nvPr/>
        </p:nvPicPr>
        <p:blipFill>
          <a:blip r:embed="rId3" cstate="print"/>
          <a:stretch>
            <a:fillRect/>
          </a:stretch>
        </p:blipFill>
        <p:spPr>
          <a:xfrm>
            <a:off x="5004048" y="2924944"/>
            <a:ext cx="2520280" cy="237626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Terms and conditions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200" b="1" dirty="0" smtClean="0">
                <a:latin typeface="Helvetica" pitchFamily="34" charset="0"/>
              </a:rPr>
              <a:t>Supplier Terms and Conditions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It is important that all supplier, wholesaler, operator conditions are highlighted to the customer together with your own travel agent terms and conditions.</a:t>
            </a:r>
          </a:p>
          <a:p>
            <a:pPr>
              <a:spcBef>
                <a:spcPts val="600"/>
              </a:spcBef>
              <a:spcAft>
                <a:spcPts val="1200"/>
              </a:spcAft>
            </a:pPr>
            <a:r>
              <a:rPr lang="en-AU" sz="2200" dirty="0" smtClean="0">
                <a:latin typeface="Helvetica" pitchFamily="34" charset="0"/>
              </a:rPr>
              <a:t>What are examples of supplier terms and conditions?</a:t>
            </a: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56</a:t>
            </a:fld>
            <a:endParaRPr lang="en-US" dirty="0">
              <a:latin typeface="Helvetica" pitchFamily="34" charset="0"/>
            </a:endParaRPr>
          </a:p>
        </p:txBody>
      </p:sp>
      <p:pic>
        <p:nvPicPr>
          <p:cNvPr id="5" name="Picture 4" descr="shutterstock_188933945.jpg"/>
          <p:cNvPicPr/>
          <p:nvPr/>
        </p:nvPicPr>
        <p:blipFill>
          <a:blip r:embed="rId3" cstate="print"/>
          <a:stretch>
            <a:fillRect/>
          </a:stretch>
        </p:blipFill>
        <p:spPr>
          <a:xfrm>
            <a:off x="2411760" y="3933056"/>
            <a:ext cx="2952328" cy="211184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Terms and conditions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lnSpcReduction="10000"/>
          </a:bodyPr>
          <a:lstStyle/>
          <a:p>
            <a:pPr>
              <a:spcBef>
                <a:spcPts val="600"/>
              </a:spcBef>
              <a:spcAft>
                <a:spcPts val="1200"/>
              </a:spcAft>
              <a:buNone/>
            </a:pPr>
            <a:r>
              <a:rPr lang="en-AU" sz="2200" b="1" dirty="0" smtClean="0">
                <a:latin typeface="Helvetica" pitchFamily="34" charset="0"/>
              </a:rPr>
              <a:t>Product or service provider terms and conditions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Individual product or service providers will often have a set of terms and conditions relating to their particular product or service. </a:t>
            </a:r>
          </a:p>
          <a:p>
            <a:pPr>
              <a:spcBef>
                <a:spcPts val="600"/>
              </a:spcBef>
              <a:spcAft>
                <a:spcPts val="1200"/>
              </a:spcAft>
              <a:buNone/>
            </a:pPr>
            <a:r>
              <a:rPr lang="en-AU" sz="2200" dirty="0" smtClean="0">
                <a:latin typeface="Helvetica" pitchFamily="34" charset="0"/>
              </a:rPr>
              <a:t>These will cover, among other items:</a:t>
            </a:r>
          </a:p>
          <a:p>
            <a:pPr lvl="0">
              <a:spcBef>
                <a:spcPts val="600"/>
              </a:spcBef>
              <a:spcAft>
                <a:spcPts val="1200"/>
              </a:spcAft>
            </a:pPr>
            <a:r>
              <a:rPr lang="en-AU" sz="2200" dirty="0" smtClean="0">
                <a:latin typeface="Helvetica" pitchFamily="34" charset="0"/>
              </a:rPr>
              <a:t>Pricing policy</a:t>
            </a:r>
          </a:p>
          <a:p>
            <a:pPr lvl="0">
              <a:spcBef>
                <a:spcPts val="600"/>
              </a:spcBef>
              <a:spcAft>
                <a:spcPts val="1200"/>
              </a:spcAft>
            </a:pPr>
            <a:r>
              <a:rPr lang="en-AU" sz="2200" dirty="0" smtClean="0">
                <a:latin typeface="Helvetica" pitchFamily="34" charset="0"/>
              </a:rPr>
              <a:t>Payment conditions</a:t>
            </a:r>
          </a:p>
          <a:p>
            <a:pPr lvl="0">
              <a:spcBef>
                <a:spcPts val="600"/>
              </a:spcBef>
              <a:spcAft>
                <a:spcPts val="1200"/>
              </a:spcAft>
            </a:pPr>
            <a:r>
              <a:rPr lang="en-AU" sz="2200" dirty="0" smtClean="0">
                <a:latin typeface="Helvetica" pitchFamily="34" charset="0"/>
              </a:rPr>
              <a:t>Inclusions</a:t>
            </a:r>
          </a:p>
          <a:p>
            <a:pPr lvl="0">
              <a:spcBef>
                <a:spcPts val="600"/>
              </a:spcBef>
              <a:spcAft>
                <a:spcPts val="1200"/>
              </a:spcAft>
            </a:pPr>
            <a:r>
              <a:rPr lang="en-AU" sz="2200" dirty="0" smtClean="0">
                <a:latin typeface="Helvetica" pitchFamily="34" charset="0"/>
              </a:rPr>
              <a:t>Exclusions</a:t>
            </a:r>
          </a:p>
          <a:p>
            <a:pPr lvl="0">
              <a:spcBef>
                <a:spcPts val="600"/>
              </a:spcBef>
              <a:spcAft>
                <a:spcPts val="1200"/>
              </a:spcAft>
            </a:pPr>
            <a:r>
              <a:rPr lang="en-AU" sz="2200" dirty="0" smtClean="0">
                <a:latin typeface="Helvetica" pitchFamily="34" charset="0"/>
              </a:rPr>
              <a:t>Any restrictions or limitations</a:t>
            </a: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57</a:t>
            </a:fld>
            <a:endParaRPr lang="en-US" dirty="0">
              <a:latin typeface="Helvetica" pitchFamily="34" charset="0"/>
            </a:endParaRPr>
          </a:p>
        </p:txBody>
      </p:sp>
      <p:pic>
        <p:nvPicPr>
          <p:cNvPr id="5" name="Picture 4" descr="shutterstock_114113611.jpg"/>
          <p:cNvPicPr/>
          <p:nvPr/>
        </p:nvPicPr>
        <p:blipFill>
          <a:blip r:embed="rId3" cstate="print"/>
          <a:stretch>
            <a:fillRect/>
          </a:stretch>
        </p:blipFill>
        <p:spPr>
          <a:xfrm>
            <a:off x="5580112" y="3714938"/>
            <a:ext cx="2808312" cy="187220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Prepare draft quotation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r>
              <a:rPr lang="en-AU" sz="2200" dirty="0" smtClean="0">
                <a:latin typeface="Helvetica" pitchFamily="34" charset="0"/>
              </a:rPr>
              <a:t>Now that all the vital information relating to products and services required for inclusion in a quotation have been compiled, it is now time to prepare the actual quotation itself</a:t>
            </a: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58</a:t>
            </a:fld>
            <a:endParaRPr lang="en-US" dirty="0">
              <a:latin typeface="Helvetica" pitchFamily="34" charset="0"/>
            </a:endParaRPr>
          </a:p>
        </p:txBody>
      </p:sp>
      <p:pic>
        <p:nvPicPr>
          <p:cNvPr id="5" name="Picture 4" descr="shutterstock_118921213.jpg"/>
          <p:cNvPicPr/>
          <p:nvPr/>
        </p:nvPicPr>
        <p:blipFill>
          <a:blip r:embed="rId3" cstate="print"/>
          <a:stretch>
            <a:fillRect/>
          </a:stretch>
        </p:blipFill>
        <p:spPr>
          <a:xfrm>
            <a:off x="2555776" y="3356992"/>
            <a:ext cx="3384376" cy="230425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Prepare draft quotation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200" b="1" dirty="0" smtClean="0">
                <a:latin typeface="Helvetica" pitchFamily="34" charset="0"/>
              </a:rPr>
              <a:t>General quotation inclusions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Use official company stationery</a:t>
            </a:r>
          </a:p>
          <a:p>
            <a:pPr lvl="0">
              <a:spcBef>
                <a:spcPts val="600"/>
              </a:spcBef>
              <a:spcAft>
                <a:spcPts val="1200"/>
              </a:spcAft>
            </a:pPr>
            <a:r>
              <a:rPr lang="en-AU" sz="2200" dirty="0" smtClean="0">
                <a:latin typeface="Helvetica" pitchFamily="34" charset="0"/>
              </a:rPr>
              <a:t>Date the quote</a:t>
            </a:r>
          </a:p>
          <a:p>
            <a:pPr lvl="0">
              <a:spcBef>
                <a:spcPts val="600"/>
              </a:spcBef>
              <a:spcAft>
                <a:spcPts val="1200"/>
              </a:spcAft>
            </a:pPr>
            <a:r>
              <a:rPr lang="en-AU" sz="2200" dirty="0" smtClean="0">
                <a:latin typeface="Helvetica" pitchFamily="34" charset="0"/>
              </a:rPr>
              <a:t>Avoid the use of jargon</a:t>
            </a:r>
          </a:p>
          <a:p>
            <a:pPr lvl="0">
              <a:spcBef>
                <a:spcPts val="600"/>
              </a:spcBef>
              <a:spcAft>
                <a:spcPts val="1200"/>
              </a:spcAft>
            </a:pPr>
            <a:r>
              <a:rPr lang="en-AU" sz="2200" dirty="0" smtClean="0">
                <a:latin typeface="Helvetica" pitchFamily="34" charset="0"/>
              </a:rPr>
              <a:t>Ensure correct spelling and grammar</a:t>
            </a:r>
          </a:p>
          <a:p>
            <a:pPr lvl="0">
              <a:spcBef>
                <a:spcPts val="600"/>
              </a:spcBef>
              <a:spcAft>
                <a:spcPts val="1200"/>
              </a:spcAft>
            </a:pPr>
            <a:r>
              <a:rPr lang="en-AU" sz="2200" dirty="0" smtClean="0">
                <a:latin typeface="Helvetica" pitchFamily="34" charset="0"/>
              </a:rPr>
              <a:t>Include Customer, Passenger names</a:t>
            </a:r>
          </a:p>
          <a:p>
            <a:pPr lvl="0">
              <a:spcBef>
                <a:spcPts val="600"/>
              </a:spcBef>
              <a:spcAft>
                <a:spcPts val="1200"/>
              </a:spcAft>
            </a:pPr>
            <a:r>
              <a:rPr lang="en-AU" sz="2200" dirty="0" smtClean="0">
                <a:latin typeface="Helvetica" pitchFamily="34" charset="0"/>
              </a:rPr>
              <a:t>Specify currency </a:t>
            </a:r>
          </a:p>
          <a:p>
            <a:pPr lvl="0">
              <a:spcBef>
                <a:spcPts val="600"/>
              </a:spcBef>
              <a:spcAft>
                <a:spcPts val="1200"/>
              </a:spcAft>
            </a:pPr>
            <a:r>
              <a:rPr lang="en-AU" sz="2200" dirty="0" smtClean="0">
                <a:latin typeface="Helvetica" pitchFamily="34" charset="0"/>
              </a:rPr>
              <a:t>Provide both a per person and total price</a:t>
            </a: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59</a:t>
            </a:fld>
            <a:endParaRPr lang="en-US" dirty="0">
              <a:latin typeface="Helvetica" pitchFamily="34" charset="0"/>
            </a:endParaRPr>
          </a:p>
        </p:txBody>
      </p:sp>
      <p:pic>
        <p:nvPicPr>
          <p:cNvPr id="5" name="Picture 4" descr="shutterstock_122607490.jpg"/>
          <p:cNvPicPr>
            <a:picLocks noChangeAspect="1"/>
          </p:cNvPicPr>
          <p:nvPr/>
        </p:nvPicPr>
        <p:blipFill>
          <a:blip r:embed="rId3" cstate="print"/>
          <a:stretch>
            <a:fillRect/>
          </a:stretch>
        </p:blipFill>
        <p:spPr>
          <a:xfrm>
            <a:off x="5004048" y="1700808"/>
            <a:ext cx="3044070" cy="208823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Prepare draft quotation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200" b="1" dirty="0" smtClean="0">
                <a:latin typeface="Helvetica" pitchFamily="34" charset="0"/>
              </a:rPr>
              <a:t>General quotation inclusions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State validity of the quote</a:t>
            </a:r>
          </a:p>
          <a:p>
            <a:pPr lvl="0">
              <a:spcBef>
                <a:spcPts val="600"/>
              </a:spcBef>
              <a:spcAft>
                <a:spcPts val="1200"/>
              </a:spcAft>
            </a:pPr>
            <a:r>
              <a:rPr lang="en-AU" sz="2200" dirty="0" smtClean="0">
                <a:latin typeface="Helvetica" pitchFamily="34" charset="0"/>
              </a:rPr>
              <a:t>Detail all the arrangements included in the quote </a:t>
            </a:r>
          </a:p>
          <a:p>
            <a:pPr lvl="0">
              <a:spcBef>
                <a:spcPts val="600"/>
              </a:spcBef>
              <a:spcAft>
                <a:spcPts val="1200"/>
              </a:spcAft>
            </a:pPr>
            <a:r>
              <a:rPr lang="en-AU" sz="2200" dirty="0" smtClean="0">
                <a:latin typeface="Helvetica" pitchFamily="34" charset="0"/>
              </a:rPr>
              <a:t>Follow a logical and sequential order for arrangements</a:t>
            </a:r>
          </a:p>
          <a:p>
            <a:pPr lvl="0">
              <a:spcBef>
                <a:spcPts val="600"/>
              </a:spcBef>
              <a:spcAft>
                <a:spcPts val="1200"/>
              </a:spcAft>
            </a:pPr>
            <a:r>
              <a:rPr lang="en-AU" sz="2200" dirty="0" smtClean="0">
                <a:latin typeface="Helvetica" pitchFamily="34" charset="0"/>
              </a:rPr>
              <a:t>Detail deposit amount and date required</a:t>
            </a:r>
          </a:p>
          <a:p>
            <a:pPr lvl="0">
              <a:spcBef>
                <a:spcPts val="600"/>
              </a:spcBef>
              <a:spcAft>
                <a:spcPts val="1200"/>
              </a:spcAft>
            </a:pPr>
            <a:r>
              <a:rPr lang="en-AU" sz="2200" dirty="0" smtClean="0">
                <a:latin typeface="Helvetica" pitchFamily="34" charset="0"/>
              </a:rPr>
              <a:t>Cover payment options and any associated cost </a:t>
            </a:r>
          </a:p>
          <a:p>
            <a:pPr lvl="0">
              <a:spcBef>
                <a:spcPts val="600"/>
              </a:spcBef>
              <a:spcAft>
                <a:spcPts val="1200"/>
              </a:spcAft>
            </a:pPr>
            <a:r>
              <a:rPr lang="en-AU" sz="2200" dirty="0" smtClean="0">
                <a:latin typeface="Helvetica" pitchFamily="34" charset="0"/>
              </a:rPr>
              <a:t>Draw attention to the booking                                                             terms and conditions </a:t>
            </a: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60</a:t>
            </a:fld>
            <a:endParaRPr lang="en-US" dirty="0">
              <a:latin typeface="Helvetica" pitchFamily="34" charset="0"/>
            </a:endParaRPr>
          </a:p>
        </p:txBody>
      </p:sp>
      <p:pic>
        <p:nvPicPr>
          <p:cNvPr id="5" name="Picture 4" descr="shutterstock_118113499.jpg"/>
          <p:cNvPicPr>
            <a:picLocks noChangeAspect="1"/>
          </p:cNvPicPr>
          <p:nvPr/>
        </p:nvPicPr>
        <p:blipFill>
          <a:blip r:embed="rId3" cstate="print"/>
          <a:stretch>
            <a:fillRect/>
          </a:stretch>
        </p:blipFill>
        <p:spPr>
          <a:xfrm>
            <a:off x="6489772" y="0"/>
            <a:ext cx="2654228" cy="202517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Prepare draft quotation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200" b="1" dirty="0" smtClean="0">
                <a:latin typeface="Helvetica" pitchFamily="34" charset="0"/>
              </a:rPr>
              <a:t>General quotation inclusions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Outline any passport or visa requirements</a:t>
            </a:r>
          </a:p>
          <a:p>
            <a:pPr lvl="0">
              <a:spcBef>
                <a:spcPts val="600"/>
              </a:spcBef>
              <a:spcAft>
                <a:spcPts val="1200"/>
              </a:spcAft>
            </a:pPr>
            <a:r>
              <a:rPr lang="en-AU" sz="2200" dirty="0" smtClean="0">
                <a:latin typeface="Helvetica" pitchFamily="34" charset="0"/>
              </a:rPr>
              <a:t>Recommend Travel Insurance</a:t>
            </a:r>
          </a:p>
          <a:p>
            <a:pPr lvl="0">
              <a:spcBef>
                <a:spcPts val="600"/>
              </a:spcBef>
              <a:spcAft>
                <a:spcPts val="1200"/>
              </a:spcAft>
            </a:pPr>
            <a:r>
              <a:rPr lang="en-AU" sz="2200" dirty="0" smtClean="0">
                <a:latin typeface="Helvetica" pitchFamily="34" charset="0"/>
              </a:rPr>
              <a:t>Thank the customer for the opportunity to provide the quotation</a:t>
            </a:r>
          </a:p>
          <a:p>
            <a:pPr lvl="0">
              <a:spcBef>
                <a:spcPts val="600"/>
              </a:spcBef>
              <a:spcAft>
                <a:spcPts val="1200"/>
              </a:spcAft>
            </a:pPr>
            <a:r>
              <a:rPr lang="en-AU" sz="2200" dirty="0" smtClean="0">
                <a:latin typeface="Helvetica" pitchFamily="34" charset="0"/>
              </a:rPr>
              <a:t>Be specific when and how you will contacting                               them to follow-up</a:t>
            </a: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61</a:t>
            </a:fld>
            <a:endParaRPr lang="en-US" dirty="0">
              <a:latin typeface="Helvetica" pitchFamily="34" charset="0"/>
            </a:endParaRPr>
          </a:p>
        </p:txBody>
      </p:sp>
      <p:pic>
        <p:nvPicPr>
          <p:cNvPr id="5" name="Picture 4" descr="shutterstock_98569004.jpg"/>
          <p:cNvPicPr>
            <a:picLocks noChangeAspect="1"/>
          </p:cNvPicPr>
          <p:nvPr/>
        </p:nvPicPr>
        <p:blipFill>
          <a:blip r:embed="rId3" cstate="print"/>
          <a:stretch>
            <a:fillRect/>
          </a:stretch>
        </p:blipFill>
        <p:spPr>
          <a:xfrm>
            <a:off x="6300193" y="2307"/>
            <a:ext cx="2843808" cy="18968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Prepare draft quotation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600"/>
              </a:spcAft>
              <a:buNone/>
            </a:pPr>
            <a:r>
              <a:rPr lang="en-AU" sz="2200" b="1" dirty="0" smtClean="0">
                <a:latin typeface="Helvetica" pitchFamily="34" charset="0"/>
              </a:rPr>
              <a:t>General quotation inclusions</a:t>
            </a:r>
          </a:p>
          <a:p>
            <a:pPr marL="0" lvl="0">
              <a:spcBef>
                <a:spcPts val="600"/>
              </a:spcBef>
              <a:spcAft>
                <a:spcPts val="600"/>
              </a:spcAft>
              <a:buNone/>
            </a:pPr>
            <a:r>
              <a:rPr lang="en-AU" sz="2200" dirty="0" smtClean="0">
                <a:latin typeface="Helvetica" pitchFamily="34" charset="0"/>
              </a:rPr>
              <a:t>What information would be included in a quotation for the following required products and services:</a:t>
            </a:r>
          </a:p>
          <a:p>
            <a:pPr lvl="0">
              <a:spcBef>
                <a:spcPts val="600"/>
              </a:spcBef>
              <a:spcAft>
                <a:spcPts val="600"/>
              </a:spcAft>
            </a:pPr>
            <a:r>
              <a:rPr lang="en-AU" sz="2200" dirty="0" smtClean="0">
                <a:latin typeface="Helvetica" pitchFamily="34" charset="0"/>
              </a:rPr>
              <a:t>Flights</a:t>
            </a:r>
          </a:p>
          <a:p>
            <a:pPr>
              <a:spcBef>
                <a:spcPts val="600"/>
              </a:spcBef>
              <a:spcAft>
                <a:spcPts val="600"/>
              </a:spcAft>
            </a:pPr>
            <a:r>
              <a:rPr lang="en-AU" sz="2200" dirty="0" smtClean="0">
                <a:latin typeface="Helvetica" pitchFamily="34" charset="0"/>
              </a:rPr>
              <a:t>Accommodation</a:t>
            </a:r>
          </a:p>
          <a:p>
            <a:pPr>
              <a:spcBef>
                <a:spcPts val="600"/>
              </a:spcBef>
              <a:spcAft>
                <a:spcPts val="600"/>
              </a:spcAft>
            </a:pPr>
            <a:r>
              <a:rPr lang="en-AU" sz="2200" dirty="0" smtClean="0">
                <a:latin typeface="Helvetica" pitchFamily="34" charset="0"/>
              </a:rPr>
              <a:t>Car hire</a:t>
            </a:r>
          </a:p>
          <a:p>
            <a:pPr>
              <a:spcBef>
                <a:spcPts val="600"/>
              </a:spcBef>
              <a:spcAft>
                <a:spcPts val="600"/>
              </a:spcAft>
            </a:pPr>
            <a:r>
              <a:rPr lang="en-AU" sz="2200" dirty="0" smtClean="0">
                <a:latin typeface="Helvetica" pitchFamily="34" charset="0"/>
              </a:rPr>
              <a:t>Cruises</a:t>
            </a:r>
          </a:p>
          <a:p>
            <a:pPr>
              <a:spcBef>
                <a:spcPts val="600"/>
              </a:spcBef>
              <a:spcAft>
                <a:spcPts val="600"/>
              </a:spcAft>
            </a:pPr>
            <a:r>
              <a:rPr lang="en-AU" sz="2200" dirty="0" smtClean="0">
                <a:latin typeface="Helvetica" pitchFamily="34" charset="0"/>
              </a:rPr>
              <a:t>Tours</a:t>
            </a:r>
          </a:p>
          <a:p>
            <a:pPr>
              <a:spcBef>
                <a:spcPts val="600"/>
              </a:spcBef>
              <a:spcAft>
                <a:spcPts val="600"/>
              </a:spcAft>
            </a:pPr>
            <a:r>
              <a:rPr lang="en-AU" sz="2200" dirty="0" smtClean="0">
                <a:latin typeface="Helvetica" pitchFamily="34" charset="0"/>
              </a:rPr>
              <a:t>Transfers</a:t>
            </a:r>
          </a:p>
          <a:p>
            <a:pPr>
              <a:spcBef>
                <a:spcPts val="600"/>
              </a:spcBef>
              <a:spcAft>
                <a:spcPts val="600"/>
              </a:spcAft>
            </a:pPr>
            <a:r>
              <a:rPr lang="en-AU" sz="2200" dirty="0" smtClean="0">
                <a:latin typeface="Helvetica" pitchFamily="34" charset="0"/>
              </a:rPr>
              <a:t>Insurance</a:t>
            </a:r>
          </a:p>
          <a:p>
            <a:pPr>
              <a:spcBef>
                <a:spcPts val="600"/>
              </a:spcBef>
              <a:spcAft>
                <a:spcPts val="1200"/>
              </a:spcAft>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62</a:t>
            </a:fld>
            <a:endParaRPr lang="en-US" dirty="0">
              <a:latin typeface="Helvetica" pitchFamily="34" charset="0"/>
            </a:endParaRPr>
          </a:p>
        </p:txBody>
      </p:sp>
      <p:pic>
        <p:nvPicPr>
          <p:cNvPr id="5" name="Picture 4" descr="shutterstock_35770534.jpg"/>
          <p:cNvPicPr/>
          <p:nvPr/>
        </p:nvPicPr>
        <p:blipFill>
          <a:blip r:embed="rId3" cstate="print"/>
          <a:stretch>
            <a:fillRect/>
          </a:stretch>
        </p:blipFill>
        <p:spPr>
          <a:xfrm>
            <a:off x="3779912" y="3068960"/>
            <a:ext cx="2901353" cy="22189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Prepare draft quotation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200" b="1" dirty="0" smtClean="0">
                <a:latin typeface="Helvetica" pitchFamily="34" charset="0"/>
              </a:rPr>
              <a:t>Prepare secondary quotations with options</a:t>
            </a:r>
          </a:p>
          <a:p>
            <a:pPr marL="0">
              <a:spcBef>
                <a:spcPts val="600"/>
              </a:spcBef>
              <a:spcAft>
                <a:spcPts val="1200"/>
              </a:spcAft>
              <a:buNone/>
            </a:pPr>
            <a:r>
              <a:rPr lang="en-AU" sz="2200" dirty="0" smtClean="0">
                <a:latin typeface="Helvetica" pitchFamily="34" charset="0"/>
              </a:rPr>
              <a:t>There are situations where, as part of the consultation, a number of options are requested by the client or are suggested by the travel agent.</a:t>
            </a:r>
          </a:p>
          <a:p>
            <a:pPr>
              <a:spcBef>
                <a:spcPts val="600"/>
              </a:spcBef>
              <a:spcAft>
                <a:spcPts val="1200"/>
              </a:spcAft>
            </a:pPr>
            <a:r>
              <a:rPr lang="en-AU" sz="2200" dirty="0" smtClean="0">
                <a:latin typeface="Helvetica" pitchFamily="34" charset="0"/>
              </a:rPr>
              <a:t>What are the benefits of preparing secondary quotations?</a:t>
            </a:r>
          </a:p>
          <a:p>
            <a:pPr>
              <a:spcBef>
                <a:spcPts val="600"/>
              </a:spcBef>
              <a:spcAft>
                <a:spcPts val="1200"/>
              </a:spcAft>
            </a:pPr>
            <a:r>
              <a:rPr lang="en-AU" sz="2200" dirty="0" smtClean="0">
                <a:latin typeface="Helvetica" pitchFamily="34" charset="0"/>
              </a:rPr>
              <a:t>What information may be different?</a:t>
            </a:r>
          </a:p>
          <a:p>
            <a:pPr>
              <a:spcBef>
                <a:spcPts val="600"/>
              </a:spcBef>
              <a:spcAft>
                <a:spcPts val="1200"/>
              </a:spcAft>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63</a:t>
            </a:fld>
            <a:endParaRPr lang="en-US" dirty="0">
              <a:latin typeface="Helvetica" pitchFamily="34" charset="0"/>
            </a:endParaRPr>
          </a:p>
        </p:txBody>
      </p:sp>
      <p:pic>
        <p:nvPicPr>
          <p:cNvPr id="5" name="Picture 4" descr="shutterstock_81150025.jpg"/>
          <p:cNvPicPr/>
          <p:nvPr/>
        </p:nvPicPr>
        <p:blipFill>
          <a:blip r:embed="rId3" cstate="print"/>
          <a:stretch>
            <a:fillRect/>
          </a:stretch>
        </p:blipFill>
        <p:spPr>
          <a:xfrm>
            <a:off x="5868144" y="3933056"/>
            <a:ext cx="2555776" cy="1800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Submit draft quotation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lnSpcReduction="10000"/>
          </a:bodyPr>
          <a:lstStyle/>
          <a:p>
            <a:pPr>
              <a:spcBef>
                <a:spcPts val="600"/>
              </a:spcBef>
              <a:spcAft>
                <a:spcPts val="600"/>
              </a:spcAft>
              <a:buNone/>
            </a:pPr>
            <a:r>
              <a:rPr lang="en-AU" sz="2200" b="1" dirty="0" smtClean="0">
                <a:latin typeface="Helvetica" pitchFamily="34" charset="0"/>
              </a:rPr>
              <a:t>Submit draft quotation</a:t>
            </a:r>
            <a:endParaRPr lang="en-AU" sz="2200" dirty="0" smtClean="0">
              <a:latin typeface="Helvetica" pitchFamily="34" charset="0"/>
            </a:endParaRPr>
          </a:p>
          <a:p>
            <a:pPr marL="0">
              <a:spcBef>
                <a:spcPts val="600"/>
              </a:spcBef>
              <a:spcAft>
                <a:spcPts val="600"/>
              </a:spcAft>
              <a:buNone/>
            </a:pPr>
            <a:r>
              <a:rPr lang="en-AU" sz="2200" dirty="0" smtClean="0">
                <a:latin typeface="Helvetica" pitchFamily="34" charset="0"/>
              </a:rPr>
              <a:t>Activities associated with submitting draft quotation may include:</a:t>
            </a:r>
          </a:p>
          <a:p>
            <a:pPr lvl="0">
              <a:spcBef>
                <a:spcPts val="600"/>
              </a:spcBef>
              <a:spcAft>
                <a:spcPts val="600"/>
              </a:spcAft>
            </a:pPr>
            <a:r>
              <a:rPr lang="en-AU" sz="2200" dirty="0" smtClean="0">
                <a:latin typeface="Helvetica" pitchFamily="34" charset="0"/>
              </a:rPr>
              <a:t>Provision of draft quotation to supervisor, manager or designated internal departments</a:t>
            </a:r>
          </a:p>
          <a:p>
            <a:pPr lvl="0">
              <a:spcBef>
                <a:spcPts val="600"/>
              </a:spcBef>
              <a:spcAft>
                <a:spcPts val="600"/>
              </a:spcAft>
            </a:pPr>
            <a:r>
              <a:rPr lang="en-AU" sz="2200" dirty="0" smtClean="0">
                <a:latin typeface="Helvetica" pitchFamily="34" charset="0"/>
              </a:rPr>
              <a:t>Verifying inclusions, exclusions and calculations included in the quotation</a:t>
            </a:r>
          </a:p>
          <a:p>
            <a:pPr lvl="0">
              <a:spcBef>
                <a:spcPts val="600"/>
              </a:spcBef>
              <a:spcAft>
                <a:spcPts val="600"/>
              </a:spcAft>
            </a:pPr>
            <a:r>
              <a:rPr lang="en-AU" sz="2200" dirty="0" smtClean="0">
                <a:latin typeface="Helvetica" pitchFamily="34" charset="0"/>
              </a:rPr>
              <a:t>Checking accuracy and comprehensiveness of the quotation</a:t>
            </a:r>
            <a:r>
              <a:rPr lang="en-AU" sz="2200" b="1" dirty="0" smtClean="0">
                <a:latin typeface="Helvetica" pitchFamily="34" charset="0"/>
              </a:rPr>
              <a:t> </a:t>
            </a: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Ensuring the quotation conforms with internal formatting and presentation requirements </a:t>
            </a:r>
          </a:p>
          <a:p>
            <a:pPr lvl="0">
              <a:spcBef>
                <a:spcPts val="600"/>
              </a:spcBef>
              <a:spcAft>
                <a:spcPts val="600"/>
              </a:spcAft>
            </a:pPr>
            <a:r>
              <a:rPr lang="en-AU" sz="2200" dirty="0" smtClean="0">
                <a:latin typeface="Helvetica" pitchFamily="34" charset="0"/>
              </a:rPr>
              <a:t>Checking the legitimacy of the quotation</a:t>
            </a:r>
          </a:p>
          <a:p>
            <a:pPr>
              <a:spcBef>
                <a:spcPts val="600"/>
              </a:spcBef>
              <a:spcAft>
                <a:spcPts val="1200"/>
              </a:spcAft>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64</a:t>
            </a:fld>
            <a:endParaRPr lang="en-US" dirty="0">
              <a:latin typeface="Helvetica" pitchFamily="34" charset="0"/>
            </a:endParaRPr>
          </a:p>
        </p:txBody>
      </p:sp>
      <p:pic>
        <p:nvPicPr>
          <p:cNvPr id="5" name="Picture 4" descr="shutterstock_99009233.jpg"/>
          <p:cNvPicPr>
            <a:picLocks noChangeAspect="1"/>
          </p:cNvPicPr>
          <p:nvPr/>
        </p:nvPicPr>
        <p:blipFill>
          <a:blip r:embed="rId3" cstate="print"/>
          <a:stretch>
            <a:fillRect/>
          </a:stretch>
        </p:blipFill>
        <p:spPr>
          <a:xfrm>
            <a:off x="6576619" y="-29365"/>
            <a:ext cx="2567381" cy="166879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shutterstock_14099602.jpg"/>
          <p:cNvPicPr/>
          <p:nvPr/>
        </p:nvPicPr>
        <p:blipFill>
          <a:blip r:embed="rId3" cstate="print"/>
          <a:stretch>
            <a:fillRect/>
          </a:stretch>
        </p:blipFill>
        <p:spPr>
          <a:xfrm>
            <a:off x="5580112" y="2061963"/>
            <a:ext cx="2592288" cy="2951213"/>
          </a:xfrm>
          <a:prstGeom prst="rect">
            <a:avLst/>
          </a:prstGeom>
        </p:spPr>
      </p:pic>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Submit draft quotation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5256584" cy="5040560"/>
          </a:xfrm>
        </p:spPr>
        <p:txBody>
          <a:bodyPr>
            <a:normAutofit/>
          </a:bodyPr>
          <a:lstStyle/>
          <a:p>
            <a:pPr>
              <a:spcBef>
                <a:spcPts val="600"/>
              </a:spcBef>
              <a:spcAft>
                <a:spcPts val="1200"/>
              </a:spcAft>
              <a:buNone/>
            </a:pPr>
            <a:r>
              <a:rPr lang="en-AU" sz="2200" b="1" dirty="0" smtClean="0">
                <a:latin typeface="Helvetica" pitchFamily="34" charset="0"/>
              </a:rPr>
              <a:t>Submit draft quotation</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Depending on the review of the draft proposal the following actions may take place:</a:t>
            </a:r>
          </a:p>
          <a:p>
            <a:pPr lvl="0">
              <a:spcBef>
                <a:spcPts val="600"/>
              </a:spcBef>
              <a:spcAft>
                <a:spcPts val="1200"/>
              </a:spcAft>
            </a:pPr>
            <a:r>
              <a:rPr lang="en-AU" sz="2200" dirty="0" smtClean="0">
                <a:latin typeface="Helvetica" pitchFamily="34" charset="0"/>
              </a:rPr>
              <a:t>Amend the quotation – where changes are required</a:t>
            </a:r>
          </a:p>
          <a:p>
            <a:pPr>
              <a:spcBef>
                <a:spcPts val="600"/>
              </a:spcBef>
              <a:spcAft>
                <a:spcPts val="1200"/>
              </a:spcAft>
            </a:pPr>
            <a:r>
              <a:rPr lang="en-AU" sz="2200" dirty="0" smtClean="0">
                <a:latin typeface="Helvetica" pitchFamily="34" charset="0"/>
              </a:rPr>
              <a:t>Record and file the approved quotation</a:t>
            </a:r>
          </a:p>
          <a:p>
            <a:pPr lvl="0">
              <a:spcBef>
                <a:spcPts val="600"/>
              </a:spcBef>
              <a:spcAft>
                <a:spcPts val="1200"/>
              </a:spcAft>
            </a:pPr>
            <a:endParaRPr lang="en-AU" sz="2200" dirty="0" smtClean="0">
              <a:latin typeface="Helvetica" pitchFamily="34" charset="0"/>
            </a:endParaRP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65</a:t>
            </a:fld>
            <a:endParaRPr lang="en-US" dirty="0">
              <a:latin typeface="Helvetic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Amend draft quotation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5040560"/>
          </a:xfrm>
        </p:spPr>
        <p:txBody>
          <a:bodyPr>
            <a:normAutofit/>
          </a:bodyPr>
          <a:lstStyle/>
          <a:p>
            <a:pPr marL="0">
              <a:spcBef>
                <a:spcPts val="600"/>
              </a:spcBef>
              <a:spcAft>
                <a:spcPts val="1200"/>
              </a:spcAft>
              <a:buNone/>
            </a:pPr>
            <a:r>
              <a:rPr lang="en-AU" sz="2200" b="1" dirty="0" smtClean="0">
                <a:latin typeface="Helvetica" pitchFamily="34" charset="0"/>
              </a:rPr>
              <a:t>Making changes to quotations</a:t>
            </a:r>
          </a:p>
          <a:p>
            <a:pPr marL="0">
              <a:spcBef>
                <a:spcPts val="600"/>
              </a:spcBef>
              <a:spcAft>
                <a:spcPts val="1200"/>
              </a:spcAft>
              <a:buNone/>
            </a:pPr>
            <a:r>
              <a:rPr lang="en-AU" sz="2200" dirty="0" smtClean="0">
                <a:latin typeface="Helvetica" pitchFamily="34" charset="0"/>
              </a:rPr>
              <a:t>There are many reasons quotations can be done several times before a final package is decided upon. </a:t>
            </a:r>
          </a:p>
          <a:p>
            <a:pPr marL="0">
              <a:spcBef>
                <a:spcPts val="600"/>
              </a:spcBef>
              <a:spcAft>
                <a:spcPts val="1200"/>
              </a:spcAft>
              <a:buNone/>
            </a:pPr>
            <a:r>
              <a:rPr lang="en-AU" sz="2200" dirty="0" smtClean="0">
                <a:latin typeface="Helvetica" pitchFamily="34" charset="0"/>
              </a:rPr>
              <a:t>Regardless of the need to make changes, any changes must be:</a:t>
            </a:r>
          </a:p>
          <a:p>
            <a:pPr lvl="0">
              <a:spcBef>
                <a:spcPts val="600"/>
              </a:spcBef>
              <a:spcAft>
                <a:spcPts val="1200"/>
              </a:spcAft>
            </a:pPr>
            <a:r>
              <a:rPr lang="en-AU" sz="2200" dirty="0" smtClean="0">
                <a:latin typeface="Helvetica" pitchFamily="34" charset="0"/>
              </a:rPr>
              <a:t>Reflect need for change</a:t>
            </a:r>
          </a:p>
          <a:p>
            <a:pPr lvl="0">
              <a:spcBef>
                <a:spcPts val="600"/>
              </a:spcBef>
              <a:spcAft>
                <a:spcPts val="1200"/>
              </a:spcAft>
            </a:pPr>
            <a:r>
              <a:rPr lang="en-AU" sz="2200" dirty="0" smtClean="0">
                <a:latin typeface="Helvetica" pitchFamily="34" charset="0"/>
              </a:rPr>
              <a:t>Done in a timely manner</a:t>
            </a:r>
          </a:p>
          <a:p>
            <a:pPr lvl="0">
              <a:spcBef>
                <a:spcPts val="600"/>
              </a:spcBef>
              <a:spcAft>
                <a:spcPts val="1200"/>
              </a:spcAft>
            </a:pPr>
            <a:r>
              <a:rPr lang="en-AU" sz="2200" dirty="0" smtClean="0">
                <a:latin typeface="Helvetica" pitchFamily="34" charset="0"/>
              </a:rPr>
              <a:t>Accurate and relevant to </a:t>
            </a:r>
            <a:br>
              <a:rPr lang="en-AU" sz="2200" dirty="0" smtClean="0">
                <a:latin typeface="Helvetica" pitchFamily="34" charset="0"/>
              </a:rPr>
            </a:br>
            <a:r>
              <a:rPr lang="en-AU" sz="2200" dirty="0" smtClean="0">
                <a:latin typeface="Helvetica" pitchFamily="34" charset="0"/>
              </a:rPr>
              <a:t>the changes</a:t>
            </a:r>
          </a:p>
          <a:p>
            <a:pPr lvl="0">
              <a:spcBef>
                <a:spcPts val="600"/>
              </a:spcBef>
              <a:spcAft>
                <a:spcPts val="1200"/>
              </a:spcAft>
            </a:pPr>
            <a:endParaRPr lang="en-AU" sz="2200" dirty="0" smtClean="0">
              <a:latin typeface="Helvetica" pitchFamily="34" charset="0"/>
            </a:endParaRP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66</a:t>
            </a:fld>
            <a:endParaRPr lang="en-US" dirty="0">
              <a:latin typeface="Helvetica" pitchFamily="34" charset="0"/>
            </a:endParaRPr>
          </a:p>
        </p:txBody>
      </p:sp>
      <p:pic>
        <p:nvPicPr>
          <p:cNvPr id="5" name="Picture 4" descr="shutterstock_100858450.jpg"/>
          <p:cNvPicPr/>
          <p:nvPr/>
        </p:nvPicPr>
        <p:blipFill>
          <a:blip r:embed="rId3" cstate="print"/>
          <a:stretch>
            <a:fillRect/>
          </a:stretch>
        </p:blipFill>
        <p:spPr>
          <a:xfrm>
            <a:off x="5442252" y="3717032"/>
            <a:ext cx="2968858" cy="2099632"/>
          </a:xfrm>
          <a:prstGeom prst="rect">
            <a:avLst/>
          </a:prstGeom>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Amend draft quotation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84784"/>
            <a:ext cx="7467600" cy="5040560"/>
          </a:xfrm>
        </p:spPr>
        <p:txBody>
          <a:bodyPr>
            <a:normAutofit/>
          </a:bodyPr>
          <a:lstStyle/>
          <a:p>
            <a:pPr>
              <a:spcBef>
                <a:spcPts val="600"/>
              </a:spcBef>
              <a:spcAft>
                <a:spcPts val="1200"/>
              </a:spcAft>
              <a:buNone/>
            </a:pPr>
            <a:r>
              <a:rPr lang="en-AU" sz="2200" b="1" dirty="0" smtClean="0">
                <a:latin typeface="Helvetica" pitchFamily="34" charset="0"/>
              </a:rPr>
              <a:t>Reasons for amendments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There are endless reasons for the need to change a draft quotation including but not limited to:</a:t>
            </a:r>
          </a:p>
          <a:p>
            <a:pPr lvl="0">
              <a:spcBef>
                <a:spcPts val="600"/>
              </a:spcBef>
              <a:spcAft>
                <a:spcPts val="1200"/>
              </a:spcAft>
            </a:pPr>
            <a:r>
              <a:rPr lang="en-AU" sz="2200" dirty="0" smtClean="0">
                <a:latin typeface="Helvetica" pitchFamily="34" charset="0"/>
              </a:rPr>
              <a:t>Changes requested by customers </a:t>
            </a:r>
          </a:p>
          <a:p>
            <a:pPr lvl="0">
              <a:spcBef>
                <a:spcPts val="600"/>
              </a:spcBef>
              <a:spcAft>
                <a:spcPts val="1200"/>
              </a:spcAft>
            </a:pPr>
            <a:r>
              <a:rPr lang="en-AU" sz="2200" dirty="0" smtClean="0">
                <a:latin typeface="Helvetica" pitchFamily="34" charset="0"/>
              </a:rPr>
              <a:t>Changes requested by management </a:t>
            </a:r>
          </a:p>
          <a:p>
            <a:pPr lvl="0">
              <a:spcBef>
                <a:spcPts val="600"/>
              </a:spcBef>
              <a:spcAft>
                <a:spcPts val="1200"/>
              </a:spcAft>
            </a:pPr>
            <a:r>
              <a:rPr lang="en-AU" sz="2200" dirty="0" smtClean="0">
                <a:latin typeface="Helvetica" pitchFamily="34" charset="0"/>
              </a:rPr>
              <a:t>Changes notified by suppliers or product/service providers </a:t>
            </a:r>
          </a:p>
          <a:p>
            <a:pPr>
              <a:spcBef>
                <a:spcPts val="600"/>
              </a:spcBef>
              <a:spcAft>
                <a:spcPts val="1200"/>
              </a:spcAft>
            </a:pPr>
            <a:r>
              <a:rPr lang="en-AU" sz="2200" dirty="0" smtClean="0">
                <a:latin typeface="Helvetica" pitchFamily="34" charset="0"/>
              </a:rPr>
              <a:t>Changes notified by governments</a:t>
            </a:r>
          </a:p>
          <a:p>
            <a:pPr marL="0">
              <a:spcBef>
                <a:spcPts val="600"/>
              </a:spcBef>
              <a:spcAft>
                <a:spcPts val="600"/>
              </a:spcAft>
              <a:buNone/>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67</a:t>
            </a:fld>
            <a:endParaRPr lang="en-US" dirty="0">
              <a:latin typeface="Helvetica" pitchFamily="34" charset="0"/>
            </a:endParaRPr>
          </a:p>
        </p:txBody>
      </p:sp>
      <p:pic>
        <p:nvPicPr>
          <p:cNvPr id="5" name="Picture 4" descr="shutterstock_2953316.jpg"/>
          <p:cNvPicPr>
            <a:picLocks noChangeAspect="1"/>
          </p:cNvPicPr>
          <p:nvPr/>
        </p:nvPicPr>
        <p:blipFill>
          <a:blip r:embed="rId3" cstate="print"/>
          <a:stretch>
            <a:fillRect/>
          </a:stretch>
        </p:blipFill>
        <p:spPr>
          <a:xfrm>
            <a:off x="6604340" y="-12651"/>
            <a:ext cx="2539660" cy="207998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Amend draft quotation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5040560"/>
          </a:xfrm>
        </p:spPr>
        <p:txBody>
          <a:bodyPr>
            <a:normAutofit/>
          </a:bodyPr>
          <a:lstStyle/>
          <a:p>
            <a:pPr>
              <a:spcBef>
                <a:spcPts val="600"/>
              </a:spcBef>
              <a:spcAft>
                <a:spcPts val="1200"/>
              </a:spcAft>
              <a:buNone/>
            </a:pPr>
            <a:r>
              <a:rPr lang="en-AU" sz="2200" b="1" dirty="0" smtClean="0">
                <a:latin typeface="Helvetica" pitchFamily="34" charset="0"/>
              </a:rPr>
              <a:t>Process of amending draft quotation</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Once the desired changes have been identified amending the draft quotation may include:</a:t>
            </a:r>
          </a:p>
          <a:p>
            <a:pPr lvl="0">
              <a:spcBef>
                <a:spcPts val="600"/>
              </a:spcBef>
              <a:spcAft>
                <a:spcPts val="1200"/>
              </a:spcAft>
            </a:pPr>
            <a:r>
              <a:rPr lang="en-AU" sz="2200" dirty="0" smtClean="0">
                <a:latin typeface="Helvetica" pitchFamily="34" charset="0"/>
              </a:rPr>
              <a:t>Revising draft quotation on the basis of feedback received or errors and omissions identified</a:t>
            </a:r>
          </a:p>
          <a:p>
            <a:pPr lvl="0">
              <a:spcBef>
                <a:spcPts val="600"/>
              </a:spcBef>
              <a:spcAft>
                <a:spcPts val="1200"/>
              </a:spcAft>
            </a:pPr>
            <a:r>
              <a:rPr lang="en-AU" sz="2200" dirty="0" smtClean="0">
                <a:latin typeface="Helvetica" pitchFamily="34" charset="0"/>
              </a:rPr>
              <a:t>Representing revised draft quotation for approval</a:t>
            </a:r>
          </a:p>
          <a:p>
            <a:pPr lvl="0">
              <a:spcBef>
                <a:spcPts val="600"/>
              </a:spcBef>
              <a:spcAft>
                <a:spcPts val="1200"/>
              </a:spcAft>
            </a:pPr>
            <a:r>
              <a:rPr lang="en-AU" sz="2200" dirty="0" smtClean="0">
                <a:latin typeface="Helvetica" pitchFamily="34" charset="0"/>
              </a:rPr>
              <a:t>Preparing secondary quotations</a:t>
            </a:r>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68</a:t>
            </a:fld>
            <a:endParaRPr lang="en-US" dirty="0">
              <a:latin typeface="Helvetica" pitchFamily="34" charset="0"/>
            </a:endParaRPr>
          </a:p>
        </p:txBody>
      </p:sp>
      <p:pic>
        <p:nvPicPr>
          <p:cNvPr id="5" name="Picture 4" descr="shutterstock_161774276.jpg"/>
          <p:cNvPicPr/>
          <p:nvPr/>
        </p:nvPicPr>
        <p:blipFill>
          <a:blip r:embed="rId3" cstate="print"/>
          <a:stretch>
            <a:fillRect/>
          </a:stretch>
        </p:blipFill>
        <p:spPr>
          <a:xfrm>
            <a:off x="7524328" y="-27384"/>
            <a:ext cx="1620180" cy="223224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Record and file quotation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5040560"/>
          </a:xfrm>
        </p:spPr>
        <p:txBody>
          <a:bodyPr>
            <a:normAutofit/>
          </a:bodyPr>
          <a:lstStyle/>
          <a:p>
            <a:pPr>
              <a:spcBef>
                <a:spcPts val="600"/>
              </a:spcBef>
              <a:spcAft>
                <a:spcPts val="1200"/>
              </a:spcAft>
              <a:buNone/>
            </a:pPr>
            <a:r>
              <a:rPr lang="en-AU" sz="2200" b="1" dirty="0" smtClean="0">
                <a:latin typeface="Helvetica" pitchFamily="34" charset="0"/>
              </a:rPr>
              <a:t>Methods to record and file quotations</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Records must be kept in one of the following ways:</a:t>
            </a:r>
          </a:p>
          <a:p>
            <a:pPr lvl="0">
              <a:spcBef>
                <a:spcPts val="600"/>
              </a:spcBef>
              <a:spcAft>
                <a:spcPts val="1200"/>
              </a:spcAft>
            </a:pPr>
            <a:r>
              <a:rPr lang="en-AU" sz="2200" dirty="0" smtClean="0">
                <a:latin typeface="Helvetica" pitchFamily="34" charset="0"/>
              </a:rPr>
              <a:t>Hard copies – physical printouts filed in date order</a:t>
            </a:r>
          </a:p>
          <a:p>
            <a:pPr lvl="0">
              <a:spcBef>
                <a:spcPts val="600"/>
              </a:spcBef>
              <a:spcAft>
                <a:spcPts val="1200"/>
              </a:spcAft>
            </a:pPr>
            <a:r>
              <a:rPr lang="en-AU" sz="2200" dirty="0" smtClean="0">
                <a:latin typeface="Helvetica" pitchFamily="34" charset="0"/>
              </a:rPr>
              <a:t>Electronic copies – soft copies filed in version order</a:t>
            </a:r>
          </a:p>
          <a:p>
            <a:pPr lvl="0">
              <a:spcBef>
                <a:spcPts val="600"/>
              </a:spcBef>
              <a:spcAft>
                <a:spcPts val="1200"/>
              </a:spcAft>
            </a:pPr>
            <a:r>
              <a:rPr lang="en-AU" sz="2200" dirty="0" smtClean="0">
                <a:latin typeface="Helvetica" pitchFamily="34" charset="0"/>
              </a:rPr>
              <a:t>Emailed copies – retained in client email folder</a:t>
            </a:r>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69</a:t>
            </a:fld>
            <a:endParaRPr lang="en-US" dirty="0">
              <a:latin typeface="Helvetica" pitchFamily="34" charset="0"/>
            </a:endParaRPr>
          </a:p>
        </p:txBody>
      </p:sp>
      <p:pic>
        <p:nvPicPr>
          <p:cNvPr id="6" name="Picture 5" descr="A15 shutterstock_173608850[1].JPG"/>
          <p:cNvPicPr/>
          <p:nvPr/>
        </p:nvPicPr>
        <p:blipFill>
          <a:blip r:embed="rId3" cstate="print"/>
          <a:stretch>
            <a:fillRect/>
          </a:stretch>
        </p:blipFill>
        <p:spPr>
          <a:xfrm>
            <a:off x="2123728" y="4005064"/>
            <a:ext cx="3024336" cy="208823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Record and file quotation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5040560"/>
          </a:xfrm>
        </p:spPr>
        <p:txBody>
          <a:bodyPr>
            <a:normAutofit/>
          </a:bodyPr>
          <a:lstStyle/>
          <a:p>
            <a:pPr>
              <a:spcBef>
                <a:spcPts val="600"/>
              </a:spcBef>
              <a:spcAft>
                <a:spcPts val="1200"/>
              </a:spcAft>
              <a:buNone/>
            </a:pPr>
            <a:r>
              <a:rPr lang="en-AU" sz="2200" b="1" dirty="0" smtClean="0">
                <a:latin typeface="Helvetica" pitchFamily="34" charset="0"/>
              </a:rPr>
              <a:t>Considerations when recording and filing quotations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All relevant persons have access to files including the most current version</a:t>
            </a:r>
          </a:p>
          <a:p>
            <a:pPr lvl="0">
              <a:spcBef>
                <a:spcPts val="600"/>
              </a:spcBef>
              <a:spcAft>
                <a:spcPts val="1200"/>
              </a:spcAft>
            </a:pPr>
            <a:r>
              <a:rPr lang="en-AU" sz="2200" dirty="0" smtClean="0">
                <a:latin typeface="Helvetica" pitchFamily="34" charset="0"/>
              </a:rPr>
              <a:t>Everyone understands and follows the correct procedures</a:t>
            </a:r>
          </a:p>
          <a:p>
            <a:pPr lvl="0">
              <a:spcBef>
                <a:spcPts val="600"/>
              </a:spcBef>
              <a:spcAft>
                <a:spcPts val="1200"/>
              </a:spcAft>
            </a:pPr>
            <a:r>
              <a:rPr lang="en-AU" sz="2200" dirty="0" smtClean="0">
                <a:latin typeface="Helvetica" pitchFamily="34" charset="0"/>
              </a:rPr>
              <a:t>Updates of files are recorded and easily identified</a:t>
            </a:r>
          </a:p>
          <a:p>
            <a:pPr lvl="0">
              <a:spcBef>
                <a:spcPts val="600"/>
              </a:spcBef>
              <a:spcAft>
                <a:spcPts val="1200"/>
              </a:spcAft>
            </a:pPr>
            <a:r>
              <a:rPr lang="en-AU" sz="2200" dirty="0" smtClean="0">
                <a:latin typeface="Helvetica" pitchFamily="34" charset="0"/>
              </a:rPr>
              <a:t>The most current version is easily identifiable</a:t>
            </a:r>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70</a:t>
            </a:fld>
            <a:endParaRPr lang="en-US" dirty="0">
              <a:latin typeface="Helvetica" pitchFamily="34" charset="0"/>
            </a:endParaRPr>
          </a:p>
        </p:txBody>
      </p:sp>
      <p:pic>
        <p:nvPicPr>
          <p:cNvPr id="5" name="Picture 4" descr="shutterstock_148857527.jpg"/>
          <p:cNvPicPr/>
          <p:nvPr/>
        </p:nvPicPr>
        <p:blipFill>
          <a:blip r:embed="rId3" cstate="print"/>
          <a:stretch>
            <a:fillRect/>
          </a:stretch>
        </p:blipFill>
        <p:spPr>
          <a:xfrm>
            <a:off x="2670314" y="4941168"/>
            <a:ext cx="2765782" cy="191683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237040" cy="4680520"/>
          </a:xfrm>
        </p:spPr>
        <p:txBody>
          <a:bodyPr>
            <a:normAutofit/>
          </a:bodyPr>
          <a:lstStyle/>
          <a:p>
            <a:pPr marL="0">
              <a:buNone/>
            </a:pPr>
            <a:r>
              <a:rPr lang="en-AU" sz="4000" b="1" dirty="0" smtClean="0">
                <a:solidFill>
                  <a:srgbClr val="FF6600"/>
                </a:solidFill>
                <a:latin typeface="Helvetica" pitchFamily="34" charset="0"/>
              </a:rPr>
              <a:t>Element 3:</a:t>
            </a:r>
          </a:p>
          <a:p>
            <a:pPr marL="0">
              <a:spcBef>
                <a:spcPts val="600"/>
              </a:spcBef>
              <a:spcAft>
                <a:spcPts val="1200"/>
              </a:spcAft>
              <a:buNone/>
            </a:pPr>
            <a:r>
              <a:rPr lang="en-AU" sz="4000" b="1" i="1" dirty="0">
                <a:solidFill>
                  <a:srgbClr val="FF6600"/>
                </a:solidFill>
                <a:latin typeface="Helvetica" pitchFamily="34" charset="0"/>
              </a:rPr>
              <a:t>Submit the quotation</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71</a:t>
            </a:fld>
            <a:endParaRPr lang="en-US" dirty="0">
              <a:latin typeface="Helvetica" pitchFamily="34" charset="0"/>
            </a:endParaRPr>
          </a:p>
        </p:txBody>
      </p:sp>
      <p:pic>
        <p:nvPicPr>
          <p:cNvPr id="5" name="Picture 4" descr="shutterstock_188496518.jpg"/>
          <p:cNvPicPr>
            <a:picLocks noChangeAspect="1"/>
          </p:cNvPicPr>
          <p:nvPr/>
        </p:nvPicPr>
        <p:blipFill>
          <a:blip r:embed="rId3" cstate="print"/>
          <a:stretch>
            <a:fillRect/>
          </a:stretch>
        </p:blipFill>
        <p:spPr>
          <a:xfrm>
            <a:off x="1907704" y="3125367"/>
            <a:ext cx="3960440" cy="264161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Submit the quotation</a:t>
            </a:r>
            <a:endParaRPr lang="en-AU" sz="3400" b="1" i="1" dirty="0" smtClean="0">
              <a:solidFill>
                <a:srgbClr val="FF6600"/>
              </a:solidFill>
              <a:latin typeface="Helvetica" pitchFamily="34" charset="0"/>
            </a:endParaRPr>
          </a:p>
        </p:txBody>
      </p:sp>
      <p:sp>
        <p:nvSpPr>
          <p:cNvPr id="3" name="Content Placeholder 2"/>
          <p:cNvSpPr>
            <a:spLocks noGrp="1"/>
          </p:cNvSpPr>
          <p:nvPr>
            <p:ph idx="1"/>
          </p:nvPr>
        </p:nvSpPr>
        <p:spPr>
          <a:xfrm>
            <a:off x="611560" y="1268760"/>
            <a:ext cx="7846640" cy="4896544"/>
          </a:xfrm>
        </p:spPr>
        <p:txBody>
          <a:bodyPr>
            <a:norm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Identify the required submission method</a:t>
            </a:r>
          </a:p>
          <a:p>
            <a:pPr>
              <a:spcBef>
                <a:spcPts val="600"/>
              </a:spcBef>
              <a:spcAft>
                <a:spcPts val="1200"/>
              </a:spcAft>
            </a:pPr>
            <a:r>
              <a:rPr lang="en-AU" sz="2200" dirty="0" smtClean="0">
                <a:latin typeface="Helvetica" pitchFamily="34" charset="0"/>
              </a:rPr>
              <a:t>Provide the quotation</a:t>
            </a:r>
          </a:p>
          <a:p>
            <a:pPr>
              <a:spcBef>
                <a:spcPts val="600"/>
              </a:spcBef>
              <a:spcAft>
                <a:spcPts val="1200"/>
              </a:spcAft>
            </a:pPr>
            <a:r>
              <a:rPr lang="en-AU" sz="2200" dirty="0" smtClean="0">
                <a:latin typeface="Helvetica" pitchFamily="34" charset="0"/>
              </a:rPr>
              <a:t>Explain and expand on the quotation</a:t>
            </a:r>
          </a:p>
          <a:p>
            <a:pPr>
              <a:spcBef>
                <a:spcPts val="600"/>
              </a:spcBef>
              <a:spcAft>
                <a:spcPts val="1200"/>
              </a:spcAft>
            </a:pPr>
            <a:r>
              <a:rPr lang="en-AU" sz="2200" dirty="0" smtClean="0">
                <a:latin typeface="Helvetica" pitchFamily="34" charset="0"/>
              </a:rPr>
              <a:t>Encourage questions from the client</a:t>
            </a:r>
          </a:p>
          <a:p>
            <a:pPr>
              <a:spcBef>
                <a:spcPts val="600"/>
              </a:spcBef>
              <a:spcAft>
                <a:spcPts val="1200"/>
              </a:spcAft>
            </a:pPr>
            <a:r>
              <a:rPr lang="en-AU" sz="2200" dirty="0" smtClean="0">
                <a:latin typeface="Helvetica" pitchFamily="34" charset="0"/>
              </a:rPr>
              <a:t>Advise client of action to make booking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72</a:t>
            </a:fld>
            <a:endParaRPr lang="en-US" dirty="0">
              <a:latin typeface="Helvetica" pitchFamily="34" charset="0"/>
            </a:endParaRPr>
          </a:p>
        </p:txBody>
      </p:sp>
      <p:pic>
        <p:nvPicPr>
          <p:cNvPr id="5" name="Picture 4" descr="shutterstock_134127854.jpg"/>
          <p:cNvPicPr>
            <a:picLocks noChangeAspect="1"/>
          </p:cNvPicPr>
          <p:nvPr/>
        </p:nvPicPr>
        <p:blipFill>
          <a:blip r:embed="rId3" cstate="print"/>
          <a:stretch>
            <a:fillRect/>
          </a:stretch>
        </p:blipFill>
        <p:spPr>
          <a:xfrm>
            <a:off x="6156176" y="3896500"/>
            <a:ext cx="2472803" cy="1800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Identify submission method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pPr>
            <a:r>
              <a:rPr lang="en-AU" sz="2200" dirty="0" smtClean="0">
                <a:latin typeface="Helvetica" pitchFamily="34" charset="0"/>
              </a:rPr>
              <a:t>Once the final quotation has been confirmed and filed it is now time to present it to the customer</a:t>
            </a:r>
          </a:p>
          <a:p>
            <a:pPr>
              <a:spcBef>
                <a:spcPts val="600"/>
              </a:spcBef>
              <a:spcAft>
                <a:spcPts val="1200"/>
              </a:spcAft>
            </a:pPr>
            <a:r>
              <a:rPr lang="en-AU" sz="2200" dirty="0" smtClean="0">
                <a:latin typeface="Helvetica" pitchFamily="34" charset="0"/>
              </a:rPr>
              <a:t>One of the first steps in this process is to identify the best method in which to get the proposal to the customer</a:t>
            </a:r>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73</a:t>
            </a:fld>
            <a:endParaRPr lang="en-US" dirty="0">
              <a:latin typeface="Helvetica" pitchFamily="34" charset="0"/>
            </a:endParaRPr>
          </a:p>
        </p:txBody>
      </p:sp>
      <p:pic>
        <p:nvPicPr>
          <p:cNvPr id="5" name="Picture 4" descr="shutterstock_163282610.jpg"/>
          <p:cNvPicPr>
            <a:picLocks noChangeAspect="1"/>
          </p:cNvPicPr>
          <p:nvPr/>
        </p:nvPicPr>
        <p:blipFill>
          <a:blip r:embed="rId3" cstate="print"/>
          <a:stretch>
            <a:fillRect/>
          </a:stretch>
        </p:blipFill>
        <p:spPr>
          <a:xfrm>
            <a:off x="2915816" y="3612575"/>
            <a:ext cx="3130782" cy="208823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Identify submission method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5040560"/>
          </a:xfrm>
        </p:spPr>
        <p:txBody>
          <a:bodyPr>
            <a:normAutofit/>
          </a:bodyPr>
          <a:lstStyle/>
          <a:p>
            <a:pPr>
              <a:spcBef>
                <a:spcPts val="600"/>
              </a:spcBef>
              <a:spcAft>
                <a:spcPts val="1200"/>
              </a:spcAft>
              <a:buNone/>
            </a:pPr>
            <a:r>
              <a:rPr lang="en-AU" sz="2200" b="1" dirty="0" smtClean="0">
                <a:latin typeface="Helvetica" pitchFamily="34" charset="0"/>
              </a:rPr>
              <a:t>Submission methods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Telephone</a:t>
            </a:r>
          </a:p>
          <a:p>
            <a:pPr lvl="0">
              <a:spcBef>
                <a:spcPts val="600"/>
              </a:spcBef>
              <a:spcAft>
                <a:spcPts val="1200"/>
              </a:spcAft>
            </a:pPr>
            <a:r>
              <a:rPr lang="en-AU" sz="2200" dirty="0" smtClean="0">
                <a:latin typeface="Helvetica" pitchFamily="34" charset="0"/>
              </a:rPr>
              <a:t>Facsimile</a:t>
            </a:r>
          </a:p>
          <a:p>
            <a:pPr lvl="0">
              <a:spcBef>
                <a:spcPts val="600"/>
              </a:spcBef>
              <a:spcAft>
                <a:spcPts val="1200"/>
              </a:spcAft>
            </a:pPr>
            <a:r>
              <a:rPr lang="en-AU" sz="2200" dirty="0" smtClean="0">
                <a:latin typeface="Helvetica" pitchFamily="34" charset="0"/>
              </a:rPr>
              <a:t>E-mail </a:t>
            </a:r>
          </a:p>
          <a:p>
            <a:pPr lvl="0">
              <a:spcBef>
                <a:spcPts val="600"/>
              </a:spcBef>
              <a:spcAft>
                <a:spcPts val="1200"/>
              </a:spcAft>
            </a:pPr>
            <a:r>
              <a:rPr lang="en-AU" sz="2200" dirty="0" smtClean="0">
                <a:latin typeface="Helvetica" pitchFamily="34" charset="0"/>
              </a:rPr>
              <a:t>Mail</a:t>
            </a:r>
          </a:p>
          <a:p>
            <a:pPr lvl="0">
              <a:spcBef>
                <a:spcPts val="600"/>
              </a:spcBef>
              <a:spcAft>
                <a:spcPts val="1200"/>
              </a:spcAft>
            </a:pPr>
            <a:r>
              <a:rPr lang="en-AU" sz="2200" dirty="0" smtClean="0">
                <a:latin typeface="Helvetica" pitchFamily="34" charset="0"/>
              </a:rPr>
              <a:t>Skype or other video conferencing system</a:t>
            </a:r>
          </a:p>
          <a:p>
            <a:pPr lvl="0">
              <a:spcBef>
                <a:spcPts val="600"/>
              </a:spcBef>
              <a:spcAft>
                <a:spcPts val="1200"/>
              </a:spcAft>
            </a:pPr>
            <a:r>
              <a:rPr lang="en-AU" sz="2200" dirty="0" smtClean="0">
                <a:latin typeface="Helvetica" pitchFamily="34" charset="0"/>
              </a:rPr>
              <a:t>Internal communication to other personnel or departments</a:t>
            </a:r>
          </a:p>
          <a:p>
            <a:pPr lvl="0">
              <a:spcBef>
                <a:spcPts val="600"/>
              </a:spcBef>
              <a:spcAft>
                <a:spcPts val="1200"/>
              </a:spcAft>
            </a:pPr>
            <a:r>
              <a:rPr lang="en-AU" sz="2200" dirty="0" smtClean="0">
                <a:latin typeface="Helvetica" pitchFamily="34" charset="0"/>
              </a:rPr>
              <a:t>In-person presentation to client or group of clients</a:t>
            </a:r>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74</a:t>
            </a:fld>
            <a:endParaRPr lang="en-US" dirty="0">
              <a:latin typeface="Helvetica" pitchFamily="34" charset="0"/>
            </a:endParaRPr>
          </a:p>
        </p:txBody>
      </p:sp>
      <p:pic>
        <p:nvPicPr>
          <p:cNvPr id="5" name="Picture 4" descr="shutterstock_92144155.jpg"/>
          <p:cNvPicPr/>
          <p:nvPr/>
        </p:nvPicPr>
        <p:blipFill>
          <a:blip r:embed="rId3" cstate="print"/>
          <a:stretch>
            <a:fillRect/>
          </a:stretch>
        </p:blipFill>
        <p:spPr>
          <a:xfrm>
            <a:off x="5148064" y="1933771"/>
            <a:ext cx="2808312" cy="194421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Identify submission method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5040560"/>
          </a:xfrm>
        </p:spPr>
        <p:txBody>
          <a:bodyPr>
            <a:normAutofit/>
          </a:bodyPr>
          <a:lstStyle/>
          <a:p>
            <a:pPr>
              <a:spcBef>
                <a:spcPts val="600"/>
              </a:spcBef>
              <a:spcAft>
                <a:spcPts val="1200"/>
              </a:spcAft>
              <a:buNone/>
            </a:pPr>
            <a:r>
              <a:rPr lang="en-AU" sz="2200" b="1" dirty="0" smtClean="0">
                <a:latin typeface="Helvetica" pitchFamily="34" charset="0"/>
              </a:rPr>
              <a:t>Submission considerations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Location of the customer </a:t>
            </a:r>
          </a:p>
          <a:p>
            <a:pPr lvl="0">
              <a:spcBef>
                <a:spcPts val="600"/>
              </a:spcBef>
              <a:spcAft>
                <a:spcPts val="1200"/>
              </a:spcAft>
            </a:pPr>
            <a:r>
              <a:rPr lang="en-AU" sz="2200" dirty="0" smtClean="0">
                <a:latin typeface="Helvetica" pitchFamily="34" charset="0"/>
              </a:rPr>
              <a:t>Number of persons to receive quotation</a:t>
            </a:r>
          </a:p>
          <a:p>
            <a:pPr lvl="0">
              <a:spcBef>
                <a:spcPts val="600"/>
              </a:spcBef>
              <a:spcAft>
                <a:spcPts val="1200"/>
              </a:spcAft>
            </a:pPr>
            <a:r>
              <a:rPr lang="en-AU" sz="2200" dirty="0" smtClean="0">
                <a:latin typeface="Helvetica" pitchFamily="34" charset="0"/>
              </a:rPr>
              <a:t>Reliability of submission methods </a:t>
            </a:r>
          </a:p>
          <a:p>
            <a:pPr lvl="0">
              <a:spcBef>
                <a:spcPts val="600"/>
              </a:spcBef>
              <a:spcAft>
                <a:spcPts val="1200"/>
              </a:spcAft>
            </a:pPr>
            <a:r>
              <a:rPr lang="en-AU" sz="2200" dirty="0" smtClean="0">
                <a:latin typeface="Helvetica" pitchFamily="34" charset="0"/>
              </a:rPr>
              <a:t>Types of documentation required </a:t>
            </a:r>
          </a:p>
          <a:p>
            <a:pPr lvl="0">
              <a:spcBef>
                <a:spcPts val="600"/>
              </a:spcBef>
              <a:spcAft>
                <a:spcPts val="1200"/>
              </a:spcAft>
            </a:pPr>
            <a:r>
              <a:rPr lang="en-AU" sz="2200" dirty="0" smtClean="0">
                <a:latin typeface="Helvetica" pitchFamily="34" charset="0"/>
              </a:rPr>
              <a:t>Time frames required </a:t>
            </a:r>
          </a:p>
          <a:p>
            <a:pPr>
              <a:spcBef>
                <a:spcPts val="600"/>
              </a:spcBef>
              <a:spcAft>
                <a:spcPts val="1200"/>
              </a:spcAft>
            </a:pPr>
            <a:r>
              <a:rPr lang="en-AU" sz="2200" dirty="0" smtClean="0">
                <a:latin typeface="Helvetica" pitchFamily="34" charset="0"/>
              </a:rPr>
              <a:t>Costs </a:t>
            </a:r>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75</a:t>
            </a:fld>
            <a:endParaRPr lang="en-US" dirty="0">
              <a:latin typeface="Helvetica" pitchFamily="34" charset="0"/>
            </a:endParaRPr>
          </a:p>
        </p:txBody>
      </p:sp>
      <p:pic>
        <p:nvPicPr>
          <p:cNvPr id="5" name="Picture 4" descr="shutterstock_122942875.jpg"/>
          <p:cNvPicPr/>
          <p:nvPr/>
        </p:nvPicPr>
        <p:blipFill>
          <a:blip r:embed="rId3" cstate="print"/>
          <a:stretch>
            <a:fillRect/>
          </a:stretch>
        </p:blipFill>
        <p:spPr>
          <a:xfrm>
            <a:off x="5825463" y="4005064"/>
            <a:ext cx="2592288" cy="182990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Identify submission method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5040560"/>
          </a:xfrm>
        </p:spPr>
        <p:txBody>
          <a:bodyPr>
            <a:normAutofit lnSpcReduction="10000"/>
          </a:bodyPr>
          <a:lstStyle/>
          <a:p>
            <a:pPr>
              <a:spcBef>
                <a:spcPts val="600"/>
              </a:spcBef>
              <a:spcAft>
                <a:spcPts val="600"/>
              </a:spcAft>
              <a:buNone/>
            </a:pPr>
            <a:r>
              <a:rPr lang="en-AU" sz="2200" b="1" dirty="0" smtClean="0">
                <a:latin typeface="Helvetica" pitchFamily="34" charset="0"/>
              </a:rPr>
              <a:t>Submission requirements</a:t>
            </a: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Be on company stationery</a:t>
            </a:r>
          </a:p>
          <a:p>
            <a:pPr lvl="0">
              <a:spcBef>
                <a:spcPts val="600"/>
              </a:spcBef>
              <a:spcAft>
                <a:spcPts val="600"/>
              </a:spcAft>
            </a:pPr>
            <a:r>
              <a:rPr lang="en-AU" sz="2200" dirty="0" smtClean="0">
                <a:latin typeface="Helvetica" pitchFamily="34" charset="0"/>
              </a:rPr>
              <a:t>Follow a logical and sequential order of arrangements</a:t>
            </a:r>
          </a:p>
          <a:p>
            <a:pPr lvl="0">
              <a:spcBef>
                <a:spcPts val="600"/>
              </a:spcBef>
              <a:spcAft>
                <a:spcPts val="600"/>
              </a:spcAft>
            </a:pPr>
            <a:r>
              <a:rPr lang="en-AU" sz="2200" dirty="0" smtClean="0">
                <a:latin typeface="Helvetica" pitchFamily="34" charset="0"/>
              </a:rPr>
              <a:t>Contain no jargon</a:t>
            </a:r>
          </a:p>
          <a:p>
            <a:pPr lvl="0">
              <a:spcBef>
                <a:spcPts val="600"/>
              </a:spcBef>
              <a:spcAft>
                <a:spcPts val="600"/>
              </a:spcAft>
            </a:pPr>
            <a:r>
              <a:rPr lang="en-AU" sz="2200" dirty="0" smtClean="0">
                <a:latin typeface="Helvetica" pitchFamily="34" charset="0"/>
              </a:rPr>
              <a:t>Use good grammar and correct spelling</a:t>
            </a:r>
          </a:p>
          <a:p>
            <a:pPr lvl="0">
              <a:spcBef>
                <a:spcPts val="600"/>
              </a:spcBef>
              <a:spcAft>
                <a:spcPts val="600"/>
              </a:spcAft>
            </a:pPr>
            <a:r>
              <a:rPr lang="en-AU" sz="2200" dirty="0" smtClean="0">
                <a:latin typeface="Helvetica" pitchFamily="34" charset="0"/>
              </a:rPr>
              <a:t>Be accurate</a:t>
            </a:r>
          </a:p>
          <a:p>
            <a:pPr lvl="0">
              <a:spcBef>
                <a:spcPts val="600"/>
              </a:spcBef>
              <a:spcAft>
                <a:spcPts val="600"/>
              </a:spcAft>
            </a:pPr>
            <a:r>
              <a:rPr lang="en-AU" sz="2200" dirty="0" smtClean="0">
                <a:latin typeface="Helvetica" pitchFamily="34" charset="0"/>
              </a:rPr>
              <a:t>State validity</a:t>
            </a:r>
          </a:p>
          <a:p>
            <a:pPr lvl="0">
              <a:spcBef>
                <a:spcPts val="600"/>
              </a:spcBef>
              <a:spcAft>
                <a:spcPts val="600"/>
              </a:spcAft>
            </a:pPr>
            <a:r>
              <a:rPr lang="en-AU" sz="2200" dirty="0" smtClean="0">
                <a:latin typeface="Helvetica" pitchFamily="34" charset="0"/>
              </a:rPr>
              <a:t>Detail terms and conditions</a:t>
            </a:r>
          </a:p>
          <a:p>
            <a:pPr lvl="0">
              <a:spcBef>
                <a:spcPts val="600"/>
              </a:spcBef>
              <a:spcAft>
                <a:spcPts val="600"/>
              </a:spcAft>
            </a:pPr>
            <a:r>
              <a:rPr lang="en-AU" sz="2200" dirty="0" smtClean="0">
                <a:latin typeface="Helvetica" pitchFamily="34" charset="0"/>
              </a:rPr>
              <a:t>Outline the steps required to convert                              quotation to a booking </a:t>
            </a:r>
          </a:p>
          <a:p>
            <a:pPr lvl="0">
              <a:spcBef>
                <a:spcPts val="600"/>
              </a:spcBef>
              <a:spcAft>
                <a:spcPts val="600"/>
              </a:spcAft>
            </a:pPr>
            <a:r>
              <a:rPr lang="en-AU" sz="2200" dirty="0" smtClean="0">
                <a:latin typeface="Helvetica" pitchFamily="34" charset="0"/>
              </a:rPr>
              <a:t>Offer payment options</a:t>
            </a:r>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76</a:t>
            </a:fld>
            <a:endParaRPr lang="en-US" dirty="0">
              <a:latin typeface="Helvetica" pitchFamily="34" charset="0"/>
            </a:endParaRPr>
          </a:p>
        </p:txBody>
      </p:sp>
      <p:pic>
        <p:nvPicPr>
          <p:cNvPr id="5" name="Picture 4" descr="shutterstock_181388756.jpg"/>
          <p:cNvPicPr/>
          <p:nvPr/>
        </p:nvPicPr>
        <p:blipFill>
          <a:blip r:embed="rId3" cstate="print"/>
          <a:stretch>
            <a:fillRect/>
          </a:stretch>
        </p:blipFill>
        <p:spPr>
          <a:xfrm>
            <a:off x="5796136" y="4077072"/>
            <a:ext cx="2736304" cy="1800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Identify submission method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200" b="1" dirty="0" smtClean="0">
                <a:latin typeface="Helvetica" pitchFamily="34" charset="0"/>
              </a:rPr>
              <a:t>Follow up on submission</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The purpose of this contact is to:</a:t>
            </a:r>
          </a:p>
          <a:p>
            <a:pPr lvl="0">
              <a:spcBef>
                <a:spcPts val="600"/>
              </a:spcBef>
              <a:spcAft>
                <a:spcPts val="1200"/>
              </a:spcAft>
            </a:pPr>
            <a:r>
              <a:rPr lang="en-AU" sz="2200" dirty="0" smtClean="0">
                <a:latin typeface="Helvetica" pitchFamily="34" charset="0"/>
              </a:rPr>
              <a:t>Show that you are professional and care about the customer</a:t>
            </a:r>
          </a:p>
          <a:p>
            <a:pPr lvl="0">
              <a:spcBef>
                <a:spcPts val="600"/>
              </a:spcBef>
              <a:spcAft>
                <a:spcPts val="1200"/>
              </a:spcAft>
            </a:pPr>
            <a:r>
              <a:rPr lang="en-AU" sz="2200" dirty="0" smtClean="0">
                <a:latin typeface="Helvetica" pitchFamily="34" charset="0"/>
              </a:rPr>
              <a:t>Ensure they have received the quotation</a:t>
            </a:r>
          </a:p>
          <a:p>
            <a:pPr lvl="0">
              <a:spcBef>
                <a:spcPts val="600"/>
              </a:spcBef>
              <a:spcAft>
                <a:spcPts val="1200"/>
              </a:spcAft>
            </a:pPr>
            <a:r>
              <a:rPr lang="en-AU" sz="2200" dirty="0" smtClean="0">
                <a:latin typeface="Helvetica" pitchFamily="34" charset="0"/>
              </a:rPr>
              <a:t>Clarify any initial points they may have</a:t>
            </a:r>
          </a:p>
          <a:p>
            <a:pPr lvl="0">
              <a:spcBef>
                <a:spcPts val="600"/>
              </a:spcBef>
              <a:spcAft>
                <a:spcPts val="1200"/>
              </a:spcAft>
            </a:pPr>
            <a:r>
              <a:rPr lang="en-AU" sz="2200" dirty="0" smtClean="0">
                <a:latin typeface="Helvetica" pitchFamily="34" charset="0"/>
              </a:rPr>
              <a:t>To see if they have any further questions at this stage</a:t>
            </a:r>
          </a:p>
          <a:p>
            <a:pPr lvl="0">
              <a:spcBef>
                <a:spcPts val="600"/>
              </a:spcBef>
              <a:spcAft>
                <a:spcPts val="1200"/>
              </a:spcAft>
            </a:pPr>
            <a:r>
              <a:rPr lang="en-AU" sz="2200" dirty="0" smtClean="0">
                <a:latin typeface="Helvetica" pitchFamily="34" charset="0"/>
              </a:rPr>
              <a:t>Advise them of future steps or actions</a:t>
            </a:r>
          </a:p>
          <a:p>
            <a:pPr lvl="0">
              <a:spcBef>
                <a:spcPts val="600"/>
              </a:spcBef>
              <a:spcAft>
                <a:spcPts val="1200"/>
              </a:spcAft>
            </a:pPr>
            <a:r>
              <a:rPr lang="en-AU" sz="2200" dirty="0" smtClean="0">
                <a:latin typeface="Helvetica" pitchFamily="34" charset="0"/>
              </a:rPr>
              <a:t>To see if they want to go ahead with the booking</a:t>
            </a:r>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77</a:t>
            </a:fld>
            <a:endParaRPr lang="en-US" dirty="0">
              <a:latin typeface="Helvetica" pitchFamily="34" charset="0"/>
            </a:endParaRPr>
          </a:p>
        </p:txBody>
      </p:sp>
      <p:pic>
        <p:nvPicPr>
          <p:cNvPr id="5" name="Picture 4" descr="shutterstock_94146073(1).jpg"/>
          <p:cNvPicPr/>
          <p:nvPr/>
        </p:nvPicPr>
        <p:blipFill>
          <a:blip r:embed="rId3" cstate="print"/>
          <a:stretch>
            <a:fillRect/>
          </a:stretch>
        </p:blipFill>
        <p:spPr>
          <a:xfrm>
            <a:off x="6156176" y="1268760"/>
            <a:ext cx="1760783" cy="136815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Provide the quotation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5040560"/>
          </a:xfrm>
        </p:spPr>
        <p:txBody>
          <a:bodyPr>
            <a:normAutofit/>
          </a:bodyPr>
          <a:lstStyle/>
          <a:p>
            <a:pPr>
              <a:spcBef>
                <a:spcPts val="600"/>
              </a:spcBef>
              <a:spcAft>
                <a:spcPts val="1200"/>
              </a:spcAft>
              <a:buNone/>
            </a:pPr>
            <a:r>
              <a:rPr lang="en-AU" sz="2200" b="1" dirty="0" smtClean="0">
                <a:latin typeface="Helvetica" pitchFamily="34" charset="0"/>
              </a:rPr>
              <a:t>Providing the quotation</a:t>
            </a:r>
          </a:p>
          <a:p>
            <a:pPr marL="0">
              <a:spcBef>
                <a:spcPts val="600"/>
              </a:spcBef>
              <a:spcAft>
                <a:spcPts val="1200"/>
              </a:spcAft>
              <a:buNone/>
            </a:pPr>
            <a:r>
              <a:rPr lang="en-AU" sz="2200" dirty="0" smtClean="0">
                <a:latin typeface="Helvetica" pitchFamily="34" charset="0"/>
              </a:rPr>
              <a:t>Depending on organisation benchmarks and workload, travel agents will provide quotes:</a:t>
            </a:r>
          </a:p>
          <a:p>
            <a:pPr lvl="0">
              <a:spcBef>
                <a:spcPts val="600"/>
              </a:spcBef>
              <a:spcAft>
                <a:spcPts val="1200"/>
              </a:spcAft>
            </a:pPr>
            <a:r>
              <a:rPr lang="en-AU" sz="2200" dirty="0" smtClean="0">
                <a:latin typeface="Helvetica" pitchFamily="34" charset="0"/>
              </a:rPr>
              <a:t>On the spot</a:t>
            </a:r>
          </a:p>
          <a:p>
            <a:pPr lvl="0">
              <a:spcBef>
                <a:spcPts val="600"/>
              </a:spcBef>
              <a:spcAft>
                <a:spcPts val="1200"/>
              </a:spcAft>
            </a:pPr>
            <a:r>
              <a:rPr lang="en-AU" sz="2200" dirty="0" smtClean="0">
                <a:latin typeface="Helvetica" pitchFamily="34" charset="0"/>
              </a:rPr>
              <a:t>Within a stated and agreed time frame</a:t>
            </a:r>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78</a:t>
            </a:fld>
            <a:endParaRPr lang="en-US" dirty="0">
              <a:latin typeface="Helvetica" pitchFamily="34" charset="0"/>
            </a:endParaRPr>
          </a:p>
        </p:txBody>
      </p:sp>
      <p:pic>
        <p:nvPicPr>
          <p:cNvPr id="5" name="Picture 4" descr="shutterstock_127786346.jpg"/>
          <p:cNvPicPr/>
          <p:nvPr/>
        </p:nvPicPr>
        <p:blipFill>
          <a:blip r:embed="rId3" cstate="print"/>
          <a:stretch>
            <a:fillRect/>
          </a:stretch>
        </p:blipFill>
        <p:spPr>
          <a:xfrm>
            <a:off x="2123728" y="3933056"/>
            <a:ext cx="2952328" cy="201622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Provide the quotation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200" b="1" dirty="0" smtClean="0">
                <a:latin typeface="Helvetica" pitchFamily="34" charset="0"/>
              </a:rPr>
              <a:t>Customer service basics when presenting quotations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Have comprehensive product knowledge </a:t>
            </a:r>
          </a:p>
          <a:p>
            <a:pPr lvl="0">
              <a:spcBef>
                <a:spcPts val="600"/>
              </a:spcBef>
              <a:spcAft>
                <a:spcPts val="1200"/>
              </a:spcAft>
            </a:pPr>
            <a:r>
              <a:rPr lang="en-AU" sz="2200" dirty="0" smtClean="0">
                <a:latin typeface="Helvetica" pitchFamily="34" charset="0"/>
              </a:rPr>
              <a:t>Remember to consider customer needs, wants and preferences </a:t>
            </a:r>
          </a:p>
          <a:p>
            <a:pPr lvl="0">
              <a:spcBef>
                <a:spcPts val="600"/>
              </a:spcBef>
              <a:spcAft>
                <a:spcPts val="1200"/>
              </a:spcAft>
            </a:pPr>
            <a:r>
              <a:rPr lang="en-AU" sz="2200" dirty="0" smtClean="0">
                <a:latin typeface="Helvetica" pitchFamily="34" charset="0"/>
              </a:rPr>
              <a:t>Ask questions </a:t>
            </a:r>
          </a:p>
          <a:p>
            <a:pPr lvl="0">
              <a:spcBef>
                <a:spcPts val="600"/>
              </a:spcBef>
              <a:spcAft>
                <a:spcPts val="1200"/>
              </a:spcAft>
            </a:pPr>
            <a:r>
              <a:rPr lang="en-AU" sz="2200" dirty="0" smtClean="0">
                <a:latin typeface="Helvetica" pitchFamily="34" charset="0"/>
              </a:rPr>
              <a:t>Be proactive </a:t>
            </a:r>
          </a:p>
          <a:p>
            <a:pPr lvl="0">
              <a:spcBef>
                <a:spcPts val="600"/>
              </a:spcBef>
              <a:spcAft>
                <a:spcPts val="1200"/>
              </a:spcAft>
            </a:pPr>
            <a:r>
              <a:rPr lang="en-AU" sz="2200" dirty="0" smtClean="0">
                <a:latin typeface="Helvetica" pitchFamily="34" charset="0"/>
              </a:rPr>
              <a:t>Provide information, recommendations,                            advice and suggestions that aligns with                                  identified customer need </a:t>
            </a:r>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79</a:t>
            </a:fld>
            <a:endParaRPr lang="en-US" dirty="0">
              <a:latin typeface="Helvetica" pitchFamily="34" charset="0"/>
            </a:endParaRPr>
          </a:p>
        </p:txBody>
      </p:sp>
      <p:pic>
        <p:nvPicPr>
          <p:cNvPr id="5" name="Picture 4" descr="shutterstock_128200763.jpg"/>
          <p:cNvPicPr/>
          <p:nvPr/>
        </p:nvPicPr>
        <p:blipFill>
          <a:blip r:embed="rId3" cstate="print"/>
          <a:stretch>
            <a:fillRect/>
          </a:stretch>
        </p:blipFill>
        <p:spPr>
          <a:xfrm>
            <a:off x="6337732" y="4149080"/>
            <a:ext cx="2088232" cy="151216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Provide the quotation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5040560"/>
          </a:xfrm>
        </p:spPr>
        <p:txBody>
          <a:bodyPr>
            <a:normAutofit/>
          </a:bodyPr>
          <a:lstStyle/>
          <a:p>
            <a:pPr>
              <a:spcBef>
                <a:spcPts val="600"/>
              </a:spcBef>
              <a:spcAft>
                <a:spcPts val="1200"/>
              </a:spcAft>
              <a:buNone/>
            </a:pPr>
            <a:r>
              <a:rPr lang="en-AU" sz="2200" b="1" dirty="0" smtClean="0">
                <a:latin typeface="Helvetica" pitchFamily="34" charset="0"/>
              </a:rPr>
              <a:t>Customer service basics when presenting quotations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Sell the benefits of products and services </a:t>
            </a:r>
          </a:p>
          <a:p>
            <a:pPr lvl="0">
              <a:spcBef>
                <a:spcPts val="600"/>
              </a:spcBef>
              <a:spcAft>
                <a:spcPts val="1200"/>
              </a:spcAft>
            </a:pPr>
            <a:r>
              <a:rPr lang="en-AU" sz="2200" dirty="0" smtClean="0">
                <a:latin typeface="Helvetica" pitchFamily="34" charset="0"/>
              </a:rPr>
              <a:t>Overcome objections by customers to making a purchase </a:t>
            </a:r>
          </a:p>
          <a:p>
            <a:pPr>
              <a:spcBef>
                <a:spcPts val="600"/>
              </a:spcBef>
              <a:spcAft>
                <a:spcPts val="1200"/>
              </a:spcAft>
            </a:pPr>
            <a:r>
              <a:rPr lang="en-AU" sz="2200" dirty="0" smtClean="0">
                <a:latin typeface="Helvetica" pitchFamily="34" charset="0"/>
              </a:rPr>
              <a:t>Allow customers time and opportunity to consider their purchase</a:t>
            </a:r>
          </a:p>
          <a:p>
            <a:pPr lvl="0">
              <a:spcBef>
                <a:spcPts val="600"/>
              </a:spcBef>
              <a:spcAft>
                <a:spcPts val="1200"/>
              </a:spcAft>
            </a:pPr>
            <a:r>
              <a:rPr lang="en-AU" sz="2200" dirty="0" smtClean="0">
                <a:latin typeface="Helvetica" pitchFamily="34" charset="0"/>
              </a:rPr>
              <a:t>Make legitimate all add-on/complementary sales </a:t>
            </a:r>
          </a:p>
          <a:p>
            <a:pPr>
              <a:spcBef>
                <a:spcPts val="600"/>
              </a:spcBef>
              <a:spcAft>
                <a:spcPts val="1200"/>
              </a:spcAft>
            </a:pPr>
            <a:r>
              <a:rPr lang="en-AU" sz="2200" dirty="0" smtClean="0">
                <a:latin typeface="Helvetica" pitchFamily="34" charset="0"/>
              </a:rPr>
              <a:t>Close the sale</a:t>
            </a:r>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80</a:t>
            </a:fld>
            <a:endParaRPr lang="en-US" dirty="0">
              <a:latin typeface="Helvetica" pitchFamily="34" charset="0"/>
            </a:endParaRPr>
          </a:p>
        </p:txBody>
      </p:sp>
      <p:pic>
        <p:nvPicPr>
          <p:cNvPr id="6" name="Picture 5" descr="shutterstock_134583104.jpg"/>
          <p:cNvPicPr/>
          <p:nvPr/>
        </p:nvPicPr>
        <p:blipFill>
          <a:blip r:embed="rId3" cstate="print"/>
          <a:stretch>
            <a:fillRect/>
          </a:stretch>
        </p:blipFill>
        <p:spPr>
          <a:xfrm>
            <a:off x="3059832" y="5115502"/>
            <a:ext cx="2453112" cy="177281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Prepare for the quotation presentation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200" b="1" dirty="0" smtClean="0">
                <a:latin typeface="Helvetica" pitchFamily="34" charset="0"/>
              </a:rPr>
              <a:t>Ensure adequate planning and preparation</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What do you need to prepare before presenting a quotation to a customer?</a:t>
            </a:r>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81</a:t>
            </a:fld>
            <a:endParaRPr lang="en-US" dirty="0">
              <a:latin typeface="Helvetica" pitchFamily="34" charset="0"/>
            </a:endParaRPr>
          </a:p>
        </p:txBody>
      </p:sp>
      <p:pic>
        <p:nvPicPr>
          <p:cNvPr id="6" name="Picture 5" descr="shutterstock_150502661.jpg"/>
          <p:cNvPicPr/>
          <p:nvPr/>
        </p:nvPicPr>
        <p:blipFill>
          <a:blip r:embed="rId3" cstate="print"/>
          <a:stretch>
            <a:fillRect/>
          </a:stretch>
        </p:blipFill>
        <p:spPr>
          <a:xfrm>
            <a:off x="2555776" y="3140968"/>
            <a:ext cx="2880320" cy="208823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Expand and explain quotation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200" b="1" dirty="0" smtClean="0">
                <a:latin typeface="Helvetica" pitchFamily="34" charset="0"/>
              </a:rPr>
              <a:t>Key aspects of providing a quotation </a:t>
            </a:r>
          </a:p>
          <a:p>
            <a:pPr lvl="0">
              <a:spcBef>
                <a:spcPts val="600"/>
              </a:spcBef>
              <a:spcAft>
                <a:spcPts val="1200"/>
              </a:spcAft>
            </a:pPr>
            <a:r>
              <a:rPr lang="en-AU" sz="2200" dirty="0" smtClean="0">
                <a:latin typeface="Helvetica" pitchFamily="34" charset="0"/>
              </a:rPr>
              <a:t>Explain in more detail the key pieces of information in them</a:t>
            </a:r>
          </a:p>
          <a:p>
            <a:pPr lvl="0">
              <a:spcBef>
                <a:spcPts val="600"/>
              </a:spcBef>
              <a:spcAft>
                <a:spcPts val="1200"/>
              </a:spcAft>
            </a:pPr>
            <a:r>
              <a:rPr lang="en-AU" sz="2200" dirty="0" smtClean="0">
                <a:latin typeface="Helvetica" pitchFamily="34" charset="0"/>
              </a:rPr>
              <a:t>Answer any questions customers may have</a:t>
            </a:r>
          </a:p>
          <a:p>
            <a:pPr lvl="0">
              <a:spcBef>
                <a:spcPts val="600"/>
              </a:spcBef>
              <a:spcAft>
                <a:spcPts val="1200"/>
              </a:spcAft>
            </a:pPr>
            <a:r>
              <a:rPr lang="en-AU" sz="2200" dirty="0" smtClean="0">
                <a:latin typeface="Helvetica" pitchFamily="34" charset="0"/>
              </a:rPr>
              <a:t>Provide suggestions and recommendations</a:t>
            </a:r>
          </a:p>
          <a:p>
            <a:pPr lvl="0">
              <a:spcBef>
                <a:spcPts val="600"/>
              </a:spcBef>
              <a:spcAft>
                <a:spcPts val="1200"/>
              </a:spcAft>
            </a:pPr>
            <a:r>
              <a:rPr lang="en-AU" sz="2200" dirty="0" smtClean="0">
                <a:latin typeface="Helvetica" pitchFamily="34" charset="0"/>
              </a:rPr>
              <a:t>Outline the processes associated with confirming and organising travel arrangements </a:t>
            </a:r>
          </a:p>
          <a:p>
            <a:pPr lvl="0">
              <a:spcBef>
                <a:spcPts val="600"/>
              </a:spcBef>
              <a:spcAft>
                <a:spcPts val="1200"/>
              </a:spcAft>
            </a:pPr>
            <a:r>
              <a:rPr lang="en-AU" sz="2200" dirty="0" smtClean="0">
                <a:latin typeface="Helvetica" pitchFamily="34" charset="0"/>
              </a:rPr>
              <a:t>Guide them through the sales process</a:t>
            </a:r>
          </a:p>
          <a:p>
            <a:pPr marL="0">
              <a:spcBef>
                <a:spcPts val="600"/>
              </a:spcBef>
              <a:spcAft>
                <a:spcPts val="1200"/>
              </a:spcAft>
            </a:pPr>
            <a:endParaRPr lang="en-AU" sz="2400" dirty="0" smtClean="0"/>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82</a:t>
            </a:fld>
            <a:endParaRPr lang="en-US" dirty="0">
              <a:latin typeface="Helvetica" pitchFamily="34" charset="0"/>
            </a:endParaRPr>
          </a:p>
        </p:txBody>
      </p:sp>
      <p:pic>
        <p:nvPicPr>
          <p:cNvPr id="5" name="Picture 4" descr="shutterstock_141288652.jpg"/>
          <p:cNvPicPr/>
          <p:nvPr/>
        </p:nvPicPr>
        <p:blipFill>
          <a:blip r:embed="rId3" cstate="print"/>
          <a:stretch>
            <a:fillRect/>
          </a:stretch>
        </p:blipFill>
        <p:spPr>
          <a:xfrm>
            <a:off x="6084168" y="4617753"/>
            <a:ext cx="2304256" cy="165618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Expand and explain quotation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lnSpcReduction="10000"/>
          </a:bodyPr>
          <a:lstStyle/>
          <a:p>
            <a:pPr>
              <a:spcBef>
                <a:spcPts val="600"/>
              </a:spcBef>
              <a:spcAft>
                <a:spcPts val="1200"/>
              </a:spcAft>
              <a:buNone/>
            </a:pPr>
            <a:r>
              <a:rPr lang="en-AU" sz="2200" b="1" dirty="0" smtClean="0">
                <a:latin typeface="Helvetica" pitchFamily="34" charset="0"/>
              </a:rPr>
              <a:t>Providing quotation information </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When you provide information to customers it is absolutely essential that is it: </a:t>
            </a:r>
          </a:p>
          <a:p>
            <a:pPr lvl="0">
              <a:spcBef>
                <a:spcPts val="600"/>
              </a:spcBef>
              <a:spcAft>
                <a:spcPts val="1200"/>
              </a:spcAft>
            </a:pPr>
            <a:r>
              <a:rPr lang="en-AU" sz="2200" dirty="0" smtClean="0">
                <a:latin typeface="Helvetica" pitchFamily="34" charset="0"/>
              </a:rPr>
              <a:t>Up-to-date </a:t>
            </a:r>
          </a:p>
          <a:p>
            <a:pPr lvl="0">
              <a:spcBef>
                <a:spcPts val="600"/>
              </a:spcBef>
              <a:spcAft>
                <a:spcPts val="1200"/>
              </a:spcAft>
            </a:pPr>
            <a:r>
              <a:rPr lang="en-AU" sz="2200" dirty="0" smtClean="0">
                <a:latin typeface="Helvetica" pitchFamily="34" charset="0"/>
              </a:rPr>
              <a:t>Accurate </a:t>
            </a:r>
          </a:p>
          <a:p>
            <a:pPr lvl="0">
              <a:spcBef>
                <a:spcPts val="600"/>
              </a:spcBef>
              <a:spcAft>
                <a:spcPts val="1200"/>
              </a:spcAft>
            </a:pPr>
            <a:r>
              <a:rPr lang="en-AU" sz="2200" dirty="0" smtClean="0">
                <a:latin typeface="Helvetica" pitchFamily="34" charset="0"/>
              </a:rPr>
              <a:t>Comprehensive </a:t>
            </a:r>
          </a:p>
          <a:p>
            <a:pPr lvl="0">
              <a:spcBef>
                <a:spcPts val="600"/>
              </a:spcBef>
              <a:spcAft>
                <a:spcPts val="1200"/>
              </a:spcAft>
            </a:pPr>
            <a:r>
              <a:rPr lang="en-AU" sz="2200" dirty="0" smtClean="0">
                <a:latin typeface="Helvetica" pitchFamily="34" charset="0"/>
              </a:rPr>
              <a:t>Honest </a:t>
            </a:r>
          </a:p>
          <a:p>
            <a:pPr lvl="0">
              <a:spcBef>
                <a:spcPts val="600"/>
              </a:spcBef>
              <a:spcAft>
                <a:spcPts val="1200"/>
              </a:spcAft>
            </a:pPr>
            <a:r>
              <a:rPr lang="en-AU" sz="2200" dirty="0" smtClean="0">
                <a:latin typeface="Helvetica" pitchFamily="34" charset="0"/>
              </a:rPr>
              <a:t>Straight-forward</a:t>
            </a:r>
          </a:p>
          <a:p>
            <a:pPr lvl="0">
              <a:spcBef>
                <a:spcPts val="600"/>
              </a:spcBef>
              <a:spcAft>
                <a:spcPts val="1200"/>
              </a:spcAft>
            </a:pPr>
            <a:r>
              <a:rPr lang="en-AU" sz="2200" dirty="0" smtClean="0">
                <a:latin typeface="Helvetica" pitchFamily="34" charset="0"/>
              </a:rPr>
              <a:t>Easily interpreted and understood </a:t>
            </a:r>
          </a:p>
          <a:p>
            <a:pPr>
              <a:spcBef>
                <a:spcPts val="600"/>
              </a:spcBef>
              <a:spcAft>
                <a:spcPts val="1200"/>
              </a:spcAft>
            </a:pPr>
            <a:r>
              <a:rPr lang="en-AU" sz="2200" dirty="0" smtClean="0">
                <a:latin typeface="Helvetica" pitchFamily="34" charset="0"/>
              </a:rPr>
              <a:t>Concise</a:t>
            </a:r>
          </a:p>
          <a:p>
            <a:pPr marL="0">
              <a:spcBef>
                <a:spcPts val="600"/>
              </a:spcBef>
              <a:spcAft>
                <a:spcPts val="1200"/>
              </a:spcAft>
            </a:pPr>
            <a:endParaRPr lang="en-AU" sz="2400" dirty="0" smtClean="0"/>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83</a:t>
            </a:fld>
            <a:endParaRPr lang="en-US" dirty="0">
              <a:latin typeface="Helvetica" pitchFamily="34" charset="0"/>
            </a:endParaRPr>
          </a:p>
        </p:txBody>
      </p:sp>
      <p:pic>
        <p:nvPicPr>
          <p:cNvPr id="5" name="Picture 4" descr="W510_man and lady_holding file_185092082.jpg"/>
          <p:cNvPicPr/>
          <p:nvPr/>
        </p:nvPicPr>
        <p:blipFill>
          <a:blip r:embed="rId3" cstate="print"/>
          <a:stretch>
            <a:fillRect/>
          </a:stretch>
        </p:blipFill>
        <p:spPr>
          <a:xfrm>
            <a:off x="4644008" y="2780928"/>
            <a:ext cx="2829458" cy="237626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Expand and explain quotation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b="1" dirty="0" smtClean="0">
                <a:latin typeface="Helvetica" pitchFamily="34" charset="0"/>
              </a:rPr>
              <a:t>Interpersonal skills when providing quotation information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Engaged with the process of providing information </a:t>
            </a:r>
          </a:p>
          <a:p>
            <a:pPr lvl="0">
              <a:spcBef>
                <a:spcPts val="600"/>
              </a:spcBef>
              <a:spcAft>
                <a:spcPts val="1200"/>
              </a:spcAft>
            </a:pPr>
            <a:r>
              <a:rPr lang="en-AU" sz="2200" dirty="0" smtClean="0">
                <a:latin typeface="Helvetica" pitchFamily="34" charset="0"/>
              </a:rPr>
              <a:t>Courteous and polite </a:t>
            </a:r>
          </a:p>
          <a:p>
            <a:pPr lvl="0">
              <a:spcBef>
                <a:spcPts val="600"/>
              </a:spcBef>
              <a:spcAft>
                <a:spcPts val="1200"/>
              </a:spcAft>
            </a:pPr>
            <a:r>
              <a:rPr lang="en-AU" sz="2200" dirty="0" smtClean="0">
                <a:latin typeface="Helvetica" pitchFamily="34" charset="0"/>
              </a:rPr>
              <a:t>Sensitive and understanding </a:t>
            </a:r>
          </a:p>
          <a:p>
            <a:pPr lvl="0">
              <a:spcBef>
                <a:spcPts val="600"/>
              </a:spcBef>
              <a:spcAft>
                <a:spcPts val="1200"/>
              </a:spcAft>
            </a:pPr>
            <a:r>
              <a:rPr lang="en-AU" sz="2200" dirty="0" smtClean="0">
                <a:latin typeface="Helvetica" pitchFamily="34" charset="0"/>
              </a:rPr>
              <a:t>Committed to the exchange </a:t>
            </a:r>
          </a:p>
          <a:p>
            <a:pPr>
              <a:spcBef>
                <a:spcPts val="600"/>
              </a:spcBef>
              <a:spcAft>
                <a:spcPts val="1200"/>
              </a:spcAft>
            </a:pPr>
            <a:r>
              <a:rPr lang="en-AU" sz="2200" dirty="0" smtClean="0">
                <a:latin typeface="Helvetica" pitchFamily="34" charset="0"/>
              </a:rPr>
              <a:t>Culturally sensitive and appropriate</a:t>
            </a:r>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84</a:t>
            </a:fld>
            <a:endParaRPr lang="en-US" dirty="0">
              <a:latin typeface="Helvetica" pitchFamily="34" charset="0"/>
            </a:endParaRPr>
          </a:p>
        </p:txBody>
      </p:sp>
      <p:pic>
        <p:nvPicPr>
          <p:cNvPr id="5" name="Picture 4" descr="W248_customer_service_1_shutterstock_136084034.jpg"/>
          <p:cNvPicPr/>
          <p:nvPr/>
        </p:nvPicPr>
        <p:blipFill>
          <a:blip r:embed="rId3" cstate="print"/>
          <a:stretch>
            <a:fillRect/>
          </a:stretch>
        </p:blipFill>
        <p:spPr>
          <a:xfrm>
            <a:off x="5652120" y="3789040"/>
            <a:ext cx="2952328" cy="201622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Expand and explain quotation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484784"/>
            <a:ext cx="7467600" cy="5301208"/>
          </a:xfrm>
        </p:spPr>
        <p:txBody>
          <a:bodyPr>
            <a:normAutofit/>
          </a:bodyPr>
          <a:lstStyle/>
          <a:p>
            <a:pPr>
              <a:spcBef>
                <a:spcPts val="600"/>
              </a:spcBef>
              <a:spcAft>
                <a:spcPts val="1200"/>
              </a:spcAft>
              <a:buNone/>
            </a:pPr>
            <a:r>
              <a:rPr lang="en-AU" sz="2200" b="1" dirty="0" smtClean="0">
                <a:latin typeface="Helvetica" pitchFamily="34" charset="0"/>
              </a:rPr>
              <a:t>Process of explaining and expanding on the quotation</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Providing personal interpretation and explanation of the quotation</a:t>
            </a:r>
          </a:p>
          <a:p>
            <a:pPr lvl="0">
              <a:spcBef>
                <a:spcPts val="600"/>
              </a:spcBef>
              <a:spcAft>
                <a:spcPts val="1200"/>
              </a:spcAft>
            </a:pPr>
            <a:r>
              <a:rPr lang="en-AU" sz="2200" dirty="0" smtClean="0">
                <a:latin typeface="Helvetica" pitchFamily="34" charset="0"/>
              </a:rPr>
              <a:t>Providing supplementary information as required</a:t>
            </a:r>
          </a:p>
          <a:p>
            <a:pPr lvl="0">
              <a:spcBef>
                <a:spcPts val="600"/>
              </a:spcBef>
              <a:spcAft>
                <a:spcPts val="1200"/>
              </a:spcAft>
            </a:pPr>
            <a:r>
              <a:rPr lang="en-AU" sz="2200" dirty="0" smtClean="0">
                <a:latin typeface="Helvetica" pitchFamily="34" charset="0"/>
              </a:rPr>
              <a:t>Explaining the reasons for charges and fees included in the quotation</a:t>
            </a:r>
          </a:p>
          <a:p>
            <a:pPr lvl="0">
              <a:spcBef>
                <a:spcPts val="600"/>
              </a:spcBef>
              <a:spcAft>
                <a:spcPts val="1200"/>
              </a:spcAft>
            </a:pPr>
            <a:r>
              <a:rPr lang="en-AU" sz="2200" dirty="0" smtClean="0">
                <a:latin typeface="Helvetica" pitchFamily="34" charset="0"/>
              </a:rPr>
              <a:t>Assisting the client to understand the </a:t>
            </a:r>
            <a:br>
              <a:rPr lang="en-AU" sz="2200" dirty="0" smtClean="0">
                <a:latin typeface="Helvetica" pitchFamily="34" charset="0"/>
              </a:rPr>
            </a:br>
            <a:r>
              <a:rPr lang="en-AU" sz="2200" dirty="0" smtClean="0">
                <a:latin typeface="Helvetica" pitchFamily="34" charset="0"/>
              </a:rPr>
              <a:t>reputation and expertise of nominated </a:t>
            </a:r>
            <a:br>
              <a:rPr lang="en-AU" sz="2200" dirty="0" smtClean="0">
                <a:latin typeface="Helvetica" pitchFamily="34" charset="0"/>
              </a:rPr>
            </a:br>
            <a:r>
              <a:rPr lang="en-AU" sz="2200" dirty="0" smtClean="0">
                <a:latin typeface="Helvetica" pitchFamily="34" charset="0"/>
              </a:rPr>
              <a:t>suppliers, providers and carriers</a:t>
            </a:r>
          </a:p>
          <a:p>
            <a:pPr lvl="0">
              <a:spcBef>
                <a:spcPts val="600"/>
              </a:spcBef>
              <a:spcAft>
                <a:spcPts val="1200"/>
              </a:spcAft>
            </a:pPr>
            <a:r>
              <a:rPr lang="en-AU" sz="2200" dirty="0" smtClean="0">
                <a:latin typeface="Helvetica" pitchFamily="34" charset="0"/>
              </a:rPr>
              <a:t>Providing supporting brochures and marketing materials to assist with understanding of the quotation</a:t>
            </a:r>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85</a:t>
            </a:fld>
            <a:endParaRPr lang="en-US" dirty="0">
              <a:latin typeface="Helvetica" pitchFamily="34" charset="0"/>
            </a:endParaRPr>
          </a:p>
        </p:txBody>
      </p:sp>
      <p:pic>
        <p:nvPicPr>
          <p:cNvPr id="5" name="Picture 4" descr="W574_shutterstock_181388474.jpg"/>
          <p:cNvPicPr/>
          <p:nvPr/>
        </p:nvPicPr>
        <p:blipFill>
          <a:blip r:embed="rId3" cstate="print"/>
          <a:stretch>
            <a:fillRect/>
          </a:stretch>
        </p:blipFill>
        <p:spPr>
          <a:xfrm>
            <a:off x="6948264" y="3933056"/>
            <a:ext cx="1582784" cy="208823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Encourage customer questions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5301208"/>
          </a:xfrm>
        </p:spPr>
        <p:txBody>
          <a:bodyPr>
            <a:normAutofit/>
          </a:bodyPr>
          <a:lstStyle/>
          <a:p>
            <a:pPr>
              <a:spcBef>
                <a:spcPts val="600"/>
              </a:spcBef>
              <a:spcAft>
                <a:spcPts val="1200"/>
              </a:spcAft>
              <a:buNone/>
            </a:pPr>
            <a:r>
              <a:rPr lang="en-AU" sz="2200" b="1" dirty="0" smtClean="0">
                <a:latin typeface="Helvetica" pitchFamily="34" charset="0"/>
              </a:rPr>
              <a:t>Importance of questions</a:t>
            </a:r>
            <a:endParaRPr lang="en-AU" sz="2200" dirty="0" smtClean="0">
              <a:latin typeface="Helvetica" pitchFamily="34" charset="0"/>
            </a:endParaRPr>
          </a:p>
          <a:p>
            <a:pPr marL="0" lvl="0">
              <a:spcBef>
                <a:spcPts val="600"/>
              </a:spcBef>
              <a:spcAft>
                <a:spcPts val="1200"/>
              </a:spcAft>
              <a:buNone/>
            </a:pPr>
            <a:r>
              <a:rPr lang="en-AU" sz="2200" dirty="0" smtClean="0">
                <a:latin typeface="Helvetica" pitchFamily="34" charset="0"/>
              </a:rPr>
              <a:t>Travel agents must handle and use questions to ensure customers understand:</a:t>
            </a:r>
          </a:p>
          <a:p>
            <a:pPr lvl="0">
              <a:spcBef>
                <a:spcPts val="600"/>
              </a:spcBef>
              <a:spcAft>
                <a:spcPts val="1200"/>
              </a:spcAft>
            </a:pPr>
            <a:r>
              <a:rPr lang="en-AU" sz="2200" dirty="0" smtClean="0">
                <a:latin typeface="Helvetica" pitchFamily="34" charset="0"/>
              </a:rPr>
              <a:t>The key elements of the quotation</a:t>
            </a:r>
          </a:p>
          <a:p>
            <a:pPr lvl="0">
              <a:spcBef>
                <a:spcPts val="600"/>
              </a:spcBef>
              <a:spcAft>
                <a:spcPts val="1200"/>
              </a:spcAft>
            </a:pPr>
            <a:r>
              <a:rPr lang="en-AU" sz="2200" dirty="0" smtClean="0">
                <a:latin typeface="Helvetica" pitchFamily="34" charset="0"/>
              </a:rPr>
              <a:t>That their needs are being met in the quotation</a:t>
            </a:r>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86</a:t>
            </a:fld>
            <a:endParaRPr lang="en-US" dirty="0">
              <a:latin typeface="Helvetica" pitchFamily="34" charset="0"/>
            </a:endParaRPr>
          </a:p>
        </p:txBody>
      </p:sp>
      <p:pic>
        <p:nvPicPr>
          <p:cNvPr id="5" name="Picture 4" descr="W291_asianwoman_thinkingbubble_shutterstock_20582900.jpg"/>
          <p:cNvPicPr/>
          <p:nvPr/>
        </p:nvPicPr>
        <p:blipFill>
          <a:blip r:embed="rId3" cstate="print"/>
          <a:stretch>
            <a:fillRect/>
          </a:stretch>
        </p:blipFill>
        <p:spPr>
          <a:xfrm>
            <a:off x="2411760" y="3861048"/>
            <a:ext cx="2016224" cy="237626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Encourage customer questions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Role of questions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Demonstrate the customer is interested, paying attention and that the quotation reflects their stated needs</a:t>
            </a:r>
          </a:p>
          <a:p>
            <a:pPr lvl="0">
              <a:spcBef>
                <a:spcPts val="600"/>
              </a:spcBef>
              <a:spcAft>
                <a:spcPts val="1200"/>
              </a:spcAft>
            </a:pPr>
            <a:r>
              <a:rPr lang="en-AU" sz="2200" dirty="0" smtClean="0">
                <a:latin typeface="Helvetica" pitchFamily="34" charset="0"/>
              </a:rPr>
              <a:t>Provide an extra opportunity for the objectives to be achieved by:</a:t>
            </a:r>
          </a:p>
          <a:p>
            <a:pPr lvl="1">
              <a:spcBef>
                <a:spcPts val="600"/>
              </a:spcBef>
              <a:spcAft>
                <a:spcPts val="1200"/>
              </a:spcAft>
            </a:pPr>
            <a:r>
              <a:rPr lang="en-AU" sz="2200" dirty="0" smtClean="0">
                <a:latin typeface="Helvetica" pitchFamily="34" charset="0"/>
              </a:rPr>
              <a:t>Clarifying issues</a:t>
            </a:r>
          </a:p>
          <a:p>
            <a:pPr lvl="1">
              <a:spcBef>
                <a:spcPts val="600"/>
              </a:spcBef>
              <a:spcAft>
                <a:spcPts val="1200"/>
              </a:spcAft>
            </a:pPr>
            <a:r>
              <a:rPr lang="en-AU" sz="2200" dirty="0" smtClean="0">
                <a:latin typeface="Helvetica" pitchFamily="34" charset="0"/>
              </a:rPr>
              <a:t>Giving examples</a:t>
            </a:r>
          </a:p>
          <a:p>
            <a:pPr lvl="1">
              <a:spcBef>
                <a:spcPts val="600"/>
              </a:spcBef>
              <a:spcAft>
                <a:spcPts val="1200"/>
              </a:spcAft>
            </a:pPr>
            <a:r>
              <a:rPr lang="en-AU" sz="2200" dirty="0" smtClean="0">
                <a:latin typeface="Helvetica" pitchFamily="34" charset="0"/>
              </a:rPr>
              <a:t>Restating facts</a:t>
            </a:r>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87</a:t>
            </a:fld>
            <a:endParaRPr lang="en-US" dirty="0">
              <a:latin typeface="Helvetica" pitchFamily="34" charset="0"/>
            </a:endParaRPr>
          </a:p>
        </p:txBody>
      </p:sp>
      <p:pic>
        <p:nvPicPr>
          <p:cNvPr id="5" name="Picture 4" descr="shutterstock_101214511.jpg"/>
          <p:cNvPicPr>
            <a:picLocks noChangeAspect="1"/>
          </p:cNvPicPr>
          <p:nvPr/>
        </p:nvPicPr>
        <p:blipFill>
          <a:blip r:embed="rId3" cstate="print"/>
          <a:stretch>
            <a:fillRect/>
          </a:stretch>
        </p:blipFill>
        <p:spPr>
          <a:xfrm>
            <a:off x="5724128" y="4077072"/>
            <a:ext cx="2712624" cy="18093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Encourage customer questions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5301208"/>
          </a:xfrm>
        </p:spPr>
        <p:txBody>
          <a:bodyPr>
            <a:normAutofit/>
          </a:bodyPr>
          <a:lstStyle/>
          <a:p>
            <a:pPr>
              <a:spcBef>
                <a:spcPts val="600"/>
              </a:spcBef>
              <a:spcAft>
                <a:spcPts val="1200"/>
              </a:spcAft>
              <a:buNone/>
            </a:pPr>
            <a:r>
              <a:rPr lang="en-AU" sz="2200" b="1" dirty="0" smtClean="0">
                <a:latin typeface="Helvetica" pitchFamily="34" charset="0"/>
              </a:rPr>
              <a:t>Role of questions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Enable a check to be made on the level of understanding the customer has in relation to quotation details</a:t>
            </a:r>
          </a:p>
          <a:p>
            <a:pPr lvl="0">
              <a:spcBef>
                <a:spcPts val="600"/>
              </a:spcBef>
              <a:spcAft>
                <a:spcPts val="1200"/>
              </a:spcAft>
            </a:pPr>
            <a:r>
              <a:rPr lang="en-AU" sz="2200" dirty="0" smtClean="0">
                <a:latin typeface="Helvetica" pitchFamily="34" charset="0"/>
              </a:rPr>
              <a:t>Facilitate interaction with the customer</a:t>
            </a:r>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88</a:t>
            </a:fld>
            <a:endParaRPr lang="en-US" dirty="0">
              <a:latin typeface="Helvetica" pitchFamily="34" charset="0"/>
            </a:endParaRPr>
          </a:p>
        </p:txBody>
      </p:sp>
      <p:pic>
        <p:nvPicPr>
          <p:cNvPr id="5" name="Picture 4" descr="W208_travelagent_shutterstock.jpg"/>
          <p:cNvPicPr>
            <a:picLocks noChangeAspect="1"/>
          </p:cNvPicPr>
          <p:nvPr/>
        </p:nvPicPr>
        <p:blipFill>
          <a:blip r:embed="rId3" cstate="print"/>
          <a:stretch>
            <a:fillRect/>
          </a:stretch>
        </p:blipFill>
        <p:spPr>
          <a:xfrm>
            <a:off x="1979712" y="3861047"/>
            <a:ext cx="2952328" cy="229100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W4_Asian_Man_Professional_shutterstock_153733442.jpg"/>
          <p:cNvPicPr/>
          <p:nvPr/>
        </p:nvPicPr>
        <p:blipFill>
          <a:blip r:embed="rId3" cstate="print"/>
          <a:stretch>
            <a:fillRect/>
          </a:stretch>
        </p:blipFill>
        <p:spPr>
          <a:xfrm>
            <a:off x="5434993" y="2928279"/>
            <a:ext cx="2915816" cy="2016224"/>
          </a:xfrm>
          <a:prstGeom prst="rect">
            <a:avLst/>
          </a:prstGeom>
        </p:spPr>
      </p:pic>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Encourage customer questions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Types of listening</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We have two listening options. </a:t>
            </a:r>
          </a:p>
          <a:p>
            <a:pPr lvl="0">
              <a:spcBef>
                <a:spcPts val="600"/>
              </a:spcBef>
              <a:spcAft>
                <a:spcPts val="1200"/>
              </a:spcAft>
            </a:pPr>
            <a:r>
              <a:rPr lang="en-AU" sz="2200" dirty="0" smtClean="0">
                <a:latin typeface="Helvetica" pitchFamily="34" charset="0"/>
              </a:rPr>
              <a:t>Active listening - involves </a:t>
            </a:r>
            <a:br>
              <a:rPr lang="en-AU" sz="2200" dirty="0" smtClean="0">
                <a:latin typeface="Helvetica" pitchFamily="34" charset="0"/>
              </a:rPr>
            </a:br>
            <a:r>
              <a:rPr lang="en-AU" sz="2200" dirty="0" smtClean="0">
                <a:latin typeface="Helvetica" pitchFamily="34" charset="0"/>
              </a:rPr>
              <a:t>listening only </a:t>
            </a:r>
          </a:p>
          <a:p>
            <a:pPr lvl="0">
              <a:spcBef>
                <a:spcPts val="600"/>
              </a:spcBef>
              <a:spcAft>
                <a:spcPts val="1200"/>
              </a:spcAft>
            </a:pPr>
            <a:r>
              <a:rPr lang="en-AU" sz="2200" dirty="0" smtClean="0">
                <a:latin typeface="Helvetica" pitchFamily="34" charset="0"/>
              </a:rPr>
              <a:t>Reflective listening -  involves </a:t>
            </a:r>
            <a:br>
              <a:rPr lang="en-AU" sz="2200" dirty="0" smtClean="0">
                <a:latin typeface="Helvetica" pitchFamily="34" charset="0"/>
              </a:rPr>
            </a:br>
            <a:r>
              <a:rPr lang="en-AU" sz="2200" dirty="0" smtClean="0">
                <a:latin typeface="Helvetica" pitchFamily="34" charset="0"/>
              </a:rPr>
              <a:t>giving verbal feedback that </a:t>
            </a:r>
            <a:br>
              <a:rPr lang="en-AU" sz="2200" dirty="0" smtClean="0">
                <a:latin typeface="Helvetica" pitchFamily="34" charset="0"/>
              </a:rPr>
            </a:br>
            <a:r>
              <a:rPr lang="en-AU" sz="2200" dirty="0" smtClean="0">
                <a:latin typeface="Helvetica" pitchFamily="34" charset="0"/>
              </a:rPr>
              <a:t>ensures the channel of communication </a:t>
            </a:r>
            <a:br>
              <a:rPr lang="en-AU" sz="2200" dirty="0" smtClean="0">
                <a:latin typeface="Helvetica" pitchFamily="34" charset="0"/>
              </a:rPr>
            </a:br>
            <a:r>
              <a:rPr lang="en-AU" sz="2200" dirty="0" smtClean="0">
                <a:latin typeface="Helvetica" pitchFamily="34" charset="0"/>
              </a:rPr>
              <a:t>continues, clear and without conflict </a:t>
            </a:r>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89</a:t>
            </a:fld>
            <a:endParaRPr lang="en-US" dirty="0">
              <a:latin typeface="Helvetic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Encourage customer questions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Methods to aid effective listening</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Prepare yourself to listen </a:t>
            </a:r>
          </a:p>
          <a:p>
            <a:pPr lvl="0">
              <a:spcBef>
                <a:spcPts val="600"/>
              </a:spcBef>
              <a:spcAft>
                <a:spcPts val="1200"/>
              </a:spcAft>
            </a:pPr>
            <a:r>
              <a:rPr lang="en-AU" sz="2200" dirty="0" smtClean="0">
                <a:latin typeface="Helvetica" pitchFamily="34" charset="0"/>
              </a:rPr>
              <a:t>Become interested </a:t>
            </a:r>
          </a:p>
          <a:p>
            <a:pPr lvl="0">
              <a:spcBef>
                <a:spcPts val="600"/>
              </a:spcBef>
              <a:spcAft>
                <a:spcPts val="1200"/>
              </a:spcAft>
            </a:pPr>
            <a:r>
              <a:rPr lang="en-AU" sz="2200" dirty="0" smtClean="0">
                <a:latin typeface="Helvetica" pitchFamily="34" charset="0"/>
              </a:rPr>
              <a:t>Face the customer when they are </a:t>
            </a:r>
            <a:br>
              <a:rPr lang="en-AU" sz="2200" dirty="0" smtClean="0">
                <a:latin typeface="Helvetica" pitchFamily="34" charset="0"/>
              </a:rPr>
            </a:br>
            <a:r>
              <a:rPr lang="en-AU" sz="2200" dirty="0" smtClean="0">
                <a:latin typeface="Helvetica" pitchFamily="34" charset="0"/>
              </a:rPr>
              <a:t>asking the question </a:t>
            </a:r>
          </a:p>
          <a:p>
            <a:pPr lvl="0">
              <a:spcBef>
                <a:spcPts val="600"/>
              </a:spcBef>
              <a:spcAft>
                <a:spcPts val="1200"/>
              </a:spcAft>
            </a:pPr>
            <a:r>
              <a:rPr lang="en-AU" sz="2200" dirty="0" smtClean="0">
                <a:latin typeface="Helvetica" pitchFamily="34" charset="0"/>
              </a:rPr>
              <a:t>Keep an open mind </a:t>
            </a:r>
          </a:p>
          <a:p>
            <a:pPr lvl="0">
              <a:spcBef>
                <a:spcPts val="600"/>
              </a:spcBef>
              <a:spcAft>
                <a:spcPts val="1200"/>
              </a:spcAft>
            </a:pPr>
            <a:r>
              <a:rPr lang="en-AU" sz="2200" dirty="0" smtClean="0">
                <a:latin typeface="Helvetica" pitchFamily="34" charset="0"/>
              </a:rPr>
              <a:t>Don’t be dismissive of questions </a:t>
            </a:r>
          </a:p>
          <a:p>
            <a:pPr lvl="0">
              <a:spcBef>
                <a:spcPts val="600"/>
              </a:spcBef>
              <a:spcAft>
                <a:spcPts val="1200"/>
              </a:spcAft>
            </a:pPr>
            <a:r>
              <a:rPr lang="en-AU" sz="2200" dirty="0" smtClean="0">
                <a:latin typeface="Helvetica" pitchFamily="34" charset="0"/>
              </a:rPr>
              <a:t>Identify the main idea </a:t>
            </a: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90</a:t>
            </a:fld>
            <a:endParaRPr lang="en-US" dirty="0">
              <a:latin typeface="Helvetica" pitchFamily="34" charset="0"/>
            </a:endParaRPr>
          </a:p>
        </p:txBody>
      </p:sp>
      <p:pic>
        <p:nvPicPr>
          <p:cNvPr id="5" name="Picture 4" descr="W15_Chinese_Professional_Hotel_shutterstock_46727428.jpg"/>
          <p:cNvPicPr/>
          <p:nvPr/>
        </p:nvPicPr>
        <p:blipFill>
          <a:blip r:embed="rId3" cstate="print"/>
          <a:stretch>
            <a:fillRect/>
          </a:stretch>
        </p:blipFill>
        <p:spPr>
          <a:xfrm>
            <a:off x="6156176" y="2348880"/>
            <a:ext cx="2016224" cy="273630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Encourage customer questions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Methods to aid effective listening</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Listen critically </a:t>
            </a:r>
          </a:p>
          <a:p>
            <a:pPr lvl="0">
              <a:spcBef>
                <a:spcPts val="600"/>
              </a:spcBef>
              <a:spcAft>
                <a:spcPts val="1200"/>
              </a:spcAft>
            </a:pPr>
            <a:r>
              <a:rPr lang="en-AU" sz="2200" dirty="0" smtClean="0">
                <a:latin typeface="Helvetica" pitchFamily="34" charset="0"/>
              </a:rPr>
              <a:t>Don’t get distracted </a:t>
            </a:r>
          </a:p>
          <a:p>
            <a:pPr lvl="0">
              <a:spcBef>
                <a:spcPts val="600"/>
              </a:spcBef>
              <a:spcAft>
                <a:spcPts val="1200"/>
              </a:spcAft>
            </a:pPr>
            <a:r>
              <a:rPr lang="en-AU" sz="2200" dirty="0" smtClean="0">
                <a:latin typeface="Helvetica" pitchFamily="34" charset="0"/>
              </a:rPr>
              <a:t>Take notes </a:t>
            </a:r>
          </a:p>
          <a:p>
            <a:pPr lvl="0">
              <a:spcBef>
                <a:spcPts val="600"/>
              </a:spcBef>
              <a:spcAft>
                <a:spcPts val="1200"/>
              </a:spcAft>
            </a:pPr>
            <a:r>
              <a:rPr lang="en-AU" sz="2200" dirty="0" smtClean="0">
                <a:latin typeface="Helvetica" pitchFamily="34" charset="0"/>
              </a:rPr>
              <a:t>Help where necessary </a:t>
            </a:r>
          </a:p>
          <a:p>
            <a:pPr lvl="0">
              <a:spcBef>
                <a:spcPts val="600"/>
              </a:spcBef>
              <a:spcAft>
                <a:spcPts val="1200"/>
              </a:spcAft>
            </a:pPr>
            <a:r>
              <a:rPr lang="en-AU" sz="2200" dirty="0" smtClean="0">
                <a:latin typeface="Helvetica" pitchFamily="34" charset="0"/>
              </a:rPr>
              <a:t>Reflect on what has been said</a:t>
            </a:r>
          </a:p>
          <a:p>
            <a:pPr lvl="0">
              <a:spcBef>
                <a:spcPts val="600"/>
              </a:spcBef>
              <a:spcAft>
                <a:spcPts val="1200"/>
              </a:spcAft>
            </a:pPr>
            <a:r>
              <a:rPr lang="en-AU" sz="2200" dirty="0" smtClean="0">
                <a:latin typeface="Helvetica" pitchFamily="34" charset="0"/>
              </a:rPr>
              <a:t>Keep quiet </a:t>
            </a:r>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91</a:t>
            </a:fld>
            <a:endParaRPr lang="en-US" dirty="0">
              <a:latin typeface="Helvetica" pitchFamily="34" charset="0"/>
            </a:endParaRPr>
          </a:p>
        </p:txBody>
      </p:sp>
      <p:pic>
        <p:nvPicPr>
          <p:cNvPr id="6" name="Picture 5" descr="shutterstock_179800145.jpg"/>
          <p:cNvPicPr>
            <a:picLocks noChangeAspect="1"/>
          </p:cNvPicPr>
          <p:nvPr/>
        </p:nvPicPr>
        <p:blipFill>
          <a:blip r:embed="rId3" cstate="print"/>
          <a:stretch>
            <a:fillRect/>
          </a:stretch>
        </p:blipFill>
        <p:spPr>
          <a:xfrm>
            <a:off x="4788024" y="2060848"/>
            <a:ext cx="3384376" cy="225737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Ask questions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Ask questions to the customer</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As the travel agent, there is nothing wrong with asking questions yourself to the customer</a:t>
            </a:r>
            <a:endParaRPr lang="en-AU" sz="2200" dirty="0">
              <a:latin typeface="Helvetica" pitchFamily="34" charset="0"/>
            </a:endParaRPr>
          </a:p>
          <a:p>
            <a:pPr>
              <a:spcBef>
                <a:spcPts val="600"/>
              </a:spcBef>
              <a:spcAft>
                <a:spcPts val="1200"/>
              </a:spcAft>
            </a:pPr>
            <a:r>
              <a:rPr lang="en-AU" sz="2200" dirty="0" smtClean="0">
                <a:latin typeface="Helvetica" pitchFamily="34" charset="0"/>
              </a:rPr>
              <a:t>The asking of questions is a powerful tool in communication and ensuring the customer understands what you are presenting as part of your quotation</a:t>
            </a:r>
          </a:p>
          <a:p>
            <a:pPr mar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92</a:t>
            </a:fld>
            <a:endParaRPr lang="en-US" dirty="0">
              <a:latin typeface="Helvetica" pitchFamily="34" charset="0"/>
            </a:endParaRPr>
          </a:p>
        </p:txBody>
      </p:sp>
      <p:pic>
        <p:nvPicPr>
          <p:cNvPr id="5" name="Picture 4" descr="shutterstock_129400193.jpg"/>
          <p:cNvPicPr/>
          <p:nvPr/>
        </p:nvPicPr>
        <p:blipFill>
          <a:blip r:embed="rId3" cstate="print"/>
          <a:stretch>
            <a:fillRect/>
          </a:stretch>
        </p:blipFill>
        <p:spPr>
          <a:xfrm>
            <a:off x="2555776" y="4293096"/>
            <a:ext cx="2520280" cy="1800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AU" sz="3400" b="1" dirty="0" smtClean="0">
                <a:solidFill>
                  <a:srgbClr val="FF6600"/>
                </a:solidFill>
                <a:latin typeface="Helvetica" pitchFamily="34" charset="0"/>
              </a:rPr>
              <a:t>Advise client of action to make booking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5832648" cy="5301208"/>
          </a:xfrm>
        </p:spPr>
        <p:txBody>
          <a:bodyPr>
            <a:normAutofit/>
          </a:bodyPr>
          <a:lstStyle/>
          <a:p>
            <a:pPr marL="0">
              <a:spcBef>
                <a:spcPts val="600"/>
              </a:spcBef>
              <a:spcAft>
                <a:spcPts val="1200"/>
              </a:spcAft>
              <a:buNone/>
            </a:pPr>
            <a:r>
              <a:rPr lang="en-AU" sz="2200" dirty="0" smtClean="0">
                <a:latin typeface="Helvetica" pitchFamily="34" charset="0"/>
              </a:rPr>
              <a:t>Naturally the overriding purpose of providing a quotation to a customer, is for them to:</a:t>
            </a:r>
          </a:p>
          <a:p>
            <a:pPr>
              <a:spcBef>
                <a:spcPts val="600"/>
              </a:spcBef>
              <a:spcAft>
                <a:spcPts val="1200"/>
              </a:spcAft>
            </a:pPr>
            <a:r>
              <a:rPr lang="en-AU" sz="2200" dirty="0" smtClean="0">
                <a:latin typeface="Helvetica" pitchFamily="34" charset="0"/>
              </a:rPr>
              <a:t>Agree with what information has been presented to them </a:t>
            </a:r>
          </a:p>
          <a:p>
            <a:pPr>
              <a:spcBef>
                <a:spcPts val="600"/>
              </a:spcBef>
              <a:spcAft>
                <a:spcPts val="1200"/>
              </a:spcAft>
            </a:pPr>
            <a:r>
              <a:rPr lang="en-AU" sz="2200" dirty="0" smtClean="0">
                <a:latin typeface="Helvetica" pitchFamily="34" charset="0"/>
              </a:rPr>
              <a:t>Help facilitate the booking of travel services</a:t>
            </a: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93</a:t>
            </a:fld>
            <a:endParaRPr lang="en-US" dirty="0">
              <a:latin typeface="Helvetica" pitchFamily="34" charset="0"/>
            </a:endParaRPr>
          </a:p>
        </p:txBody>
      </p:sp>
      <p:pic>
        <p:nvPicPr>
          <p:cNvPr id="5" name="Picture 4" descr="shutterstock_181389095.jpg"/>
          <p:cNvPicPr>
            <a:picLocks noChangeAspect="1"/>
          </p:cNvPicPr>
          <p:nvPr/>
        </p:nvPicPr>
        <p:blipFill>
          <a:blip r:embed="rId3" cstate="print"/>
          <a:stretch>
            <a:fillRect/>
          </a:stretch>
        </p:blipFill>
        <p:spPr>
          <a:xfrm>
            <a:off x="6228184" y="2391372"/>
            <a:ext cx="2160240" cy="323389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AU" sz="3400" b="1" dirty="0" smtClean="0">
                <a:solidFill>
                  <a:srgbClr val="FF6600"/>
                </a:solidFill>
                <a:latin typeface="Helvetica" pitchFamily="34" charset="0"/>
              </a:rPr>
              <a:t>Identify buying signals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5301208"/>
          </a:xfrm>
        </p:spPr>
        <p:txBody>
          <a:bodyPr>
            <a:normAutofit/>
          </a:bodyPr>
          <a:lstStyle/>
          <a:p>
            <a:pPr marL="0">
              <a:spcBef>
                <a:spcPts val="600"/>
              </a:spcBef>
              <a:spcAft>
                <a:spcPts val="1200"/>
              </a:spcAft>
              <a:buNone/>
            </a:pPr>
            <a:r>
              <a:rPr lang="en-AU" sz="2200" b="1" dirty="0" smtClean="0">
                <a:latin typeface="Helvetica" pitchFamily="34" charset="0"/>
              </a:rPr>
              <a:t>Importance of identifying buying signals</a:t>
            </a:r>
          </a:p>
          <a:p>
            <a:pPr marL="0">
              <a:spcBef>
                <a:spcPts val="600"/>
              </a:spcBef>
              <a:spcAft>
                <a:spcPts val="1200"/>
              </a:spcAft>
              <a:buNone/>
            </a:pPr>
            <a:r>
              <a:rPr lang="en-AU" sz="2200" dirty="0" smtClean="0">
                <a:latin typeface="Helvetica" pitchFamily="34" charset="0"/>
              </a:rPr>
              <a:t>When closing in on the sale it is important to monitor customer buying signals and correctly identify and respond to them:</a:t>
            </a:r>
          </a:p>
          <a:p>
            <a:pPr>
              <a:spcBef>
                <a:spcPts val="600"/>
              </a:spcBef>
              <a:spcAft>
                <a:spcPts val="1200"/>
              </a:spcAft>
            </a:pPr>
            <a:r>
              <a:rPr lang="en-AU" sz="2200" dirty="0" smtClean="0">
                <a:latin typeface="Helvetica" pitchFamily="34" charset="0"/>
              </a:rPr>
              <a:t>What are examples of buying signals?</a:t>
            </a: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94</a:t>
            </a:fld>
            <a:endParaRPr lang="en-US" dirty="0">
              <a:latin typeface="Helvetica" pitchFamily="34" charset="0"/>
            </a:endParaRPr>
          </a:p>
        </p:txBody>
      </p:sp>
      <p:pic>
        <p:nvPicPr>
          <p:cNvPr id="5" name="Picture 4" descr="shutterstock_181388396.jpg"/>
          <p:cNvPicPr/>
          <p:nvPr/>
        </p:nvPicPr>
        <p:blipFill>
          <a:blip r:embed="rId3" cstate="print"/>
          <a:stretch>
            <a:fillRect/>
          </a:stretch>
        </p:blipFill>
        <p:spPr>
          <a:xfrm>
            <a:off x="5796136" y="3827132"/>
            <a:ext cx="2627784" cy="194421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AU" sz="3400" b="1" dirty="0" smtClean="0">
                <a:solidFill>
                  <a:srgbClr val="FF6600"/>
                </a:solidFill>
                <a:latin typeface="Helvetica" pitchFamily="34" charset="0"/>
              </a:rPr>
              <a:t>Identify buying signals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b="1" dirty="0" smtClean="0">
                <a:latin typeface="Helvetica" pitchFamily="34" charset="0"/>
              </a:rPr>
              <a:t>Identifying buying signals</a:t>
            </a:r>
          </a:p>
          <a:p>
            <a:pPr lvl="0">
              <a:spcBef>
                <a:spcPts val="600"/>
              </a:spcBef>
              <a:spcAft>
                <a:spcPts val="1200"/>
              </a:spcAft>
            </a:pPr>
            <a:r>
              <a:rPr lang="en-AU" sz="2200" dirty="0" smtClean="0">
                <a:latin typeface="Helvetica" pitchFamily="34" charset="0"/>
              </a:rPr>
              <a:t>Asking specific purchasing questions</a:t>
            </a:r>
          </a:p>
          <a:p>
            <a:pPr lvl="0">
              <a:spcBef>
                <a:spcPts val="600"/>
              </a:spcBef>
              <a:spcAft>
                <a:spcPts val="1200"/>
              </a:spcAft>
            </a:pPr>
            <a:r>
              <a:rPr lang="en-AU" sz="2200" dirty="0" smtClean="0">
                <a:latin typeface="Helvetica" pitchFamily="34" charset="0"/>
              </a:rPr>
              <a:t>Taking out their credit card or wallet </a:t>
            </a:r>
          </a:p>
          <a:p>
            <a:pPr lvl="0">
              <a:spcBef>
                <a:spcPts val="600"/>
              </a:spcBef>
              <a:spcAft>
                <a:spcPts val="1200"/>
              </a:spcAft>
            </a:pPr>
            <a:r>
              <a:rPr lang="en-AU" sz="2200" dirty="0" smtClean="0">
                <a:latin typeface="Helvetica" pitchFamily="34" charset="0"/>
              </a:rPr>
              <a:t>Looking for a pen to fill out a booking form</a:t>
            </a:r>
          </a:p>
          <a:p>
            <a:pPr lvl="0">
              <a:spcBef>
                <a:spcPts val="600"/>
              </a:spcBef>
              <a:spcAft>
                <a:spcPts val="1200"/>
              </a:spcAft>
            </a:pPr>
            <a:r>
              <a:rPr lang="en-AU" sz="2200" dirty="0" smtClean="0">
                <a:latin typeface="Helvetica" pitchFamily="34" charset="0"/>
              </a:rPr>
              <a:t>Spending a long time studying one particular product</a:t>
            </a:r>
          </a:p>
          <a:p>
            <a:pPr lvl="0">
              <a:spcBef>
                <a:spcPts val="600"/>
              </a:spcBef>
              <a:spcAft>
                <a:spcPts val="1200"/>
              </a:spcAft>
            </a:pPr>
            <a:r>
              <a:rPr lang="en-AU" sz="2200" dirty="0" smtClean="0">
                <a:latin typeface="Helvetica" pitchFamily="34" charset="0"/>
              </a:rPr>
              <a:t>Positive body language, leaning forward in their chair, responding to your eye contact, alert and attentive, frequently nodding</a:t>
            </a: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95</a:t>
            </a:fld>
            <a:endParaRPr lang="en-US" dirty="0">
              <a:latin typeface="Helvetica" pitchFamily="34" charset="0"/>
            </a:endParaRPr>
          </a:p>
        </p:txBody>
      </p:sp>
      <p:pic>
        <p:nvPicPr>
          <p:cNvPr id="5" name="Picture 4" descr="shutterstock_167211332.jpg"/>
          <p:cNvPicPr>
            <a:picLocks noChangeAspect="1"/>
          </p:cNvPicPr>
          <p:nvPr/>
        </p:nvPicPr>
        <p:blipFill rotWithShape="1">
          <a:blip r:embed="rId3" cstate="print"/>
          <a:srcRect r="35715"/>
          <a:stretch/>
        </p:blipFill>
        <p:spPr>
          <a:xfrm>
            <a:off x="6372200" y="1628800"/>
            <a:ext cx="1689865" cy="201622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AU" sz="3400" b="1" dirty="0" smtClean="0">
                <a:solidFill>
                  <a:srgbClr val="FF6600"/>
                </a:solidFill>
                <a:latin typeface="Helvetica" pitchFamily="34" charset="0"/>
              </a:rPr>
              <a:t>Booking actions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Actions to make booking</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Possible actions to make booking may include:</a:t>
            </a:r>
          </a:p>
          <a:p>
            <a:pPr lvl="0">
              <a:spcBef>
                <a:spcPts val="600"/>
              </a:spcBef>
              <a:spcAft>
                <a:spcPts val="1200"/>
              </a:spcAft>
            </a:pPr>
            <a:r>
              <a:rPr lang="en-AU" sz="2200" dirty="0" smtClean="0">
                <a:latin typeface="Helvetica" pitchFamily="34" charset="0"/>
              </a:rPr>
              <a:t>Including organisational contact details in the quotation</a:t>
            </a:r>
          </a:p>
          <a:p>
            <a:pPr lvl="0">
              <a:spcBef>
                <a:spcPts val="600"/>
              </a:spcBef>
              <a:spcAft>
                <a:spcPts val="1200"/>
              </a:spcAft>
            </a:pPr>
            <a:r>
              <a:rPr lang="en-AU" sz="2200" dirty="0" smtClean="0">
                <a:latin typeface="Helvetica" pitchFamily="34" charset="0"/>
              </a:rPr>
              <a:t>Advising client of web-based opportunities to lodge a booking</a:t>
            </a:r>
          </a:p>
          <a:p>
            <a:pPr lvl="0">
              <a:spcBef>
                <a:spcPts val="600"/>
              </a:spcBef>
              <a:spcAft>
                <a:spcPts val="1200"/>
              </a:spcAft>
            </a:pPr>
            <a:r>
              <a:rPr lang="en-AU" sz="2200" dirty="0" smtClean="0">
                <a:latin typeface="Helvetica" pitchFamily="34" charset="0"/>
              </a:rPr>
              <a:t>Notifying client of any early-bird discounts or bonuses that apply to placement of bookings before a nominated date</a:t>
            </a:r>
          </a:p>
          <a:p>
            <a:pPr lvl="0">
              <a:spcBef>
                <a:spcPts val="600"/>
              </a:spcBef>
              <a:spcAft>
                <a:spcPts val="1200"/>
              </a:spcAft>
            </a:pPr>
            <a:r>
              <a:rPr lang="en-AU" sz="2200" dirty="0" smtClean="0">
                <a:latin typeface="Helvetica" pitchFamily="34" charset="0"/>
              </a:rPr>
              <a:t>Confirming need for deposit to accompany booking, where applicable</a:t>
            </a: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96</a:t>
            </a:fld>
            <a:endParaRPr lang="en-US" dirty="0">
              <a:latin typeface="Helvetica" pitchFamily="34" charset="0"/>
            </a:endParaRPr>
          </a:p>
        </p:txBody>
      </p:sp>
      <p:pic>
        <p:nvPicPr>
          <p:cNvPr id="5" name="Picture 4" descr="shutterstock_148707833.jpg"/>
          <p:cNvPicPr>
            <a:picLocks noChangeAspect="1"/>
          </p:cNvPicPr>
          <p:nvPr/>
        </p:nvPicPr>
        <p:blipFill>
          <a:blip r:embed="rId3" cstate="print"/>
          <a:stretch>
            <a:fillRect/>
          </a:stretch>
        </p:blipFill>
        <p:spPr>
          <a:xfrm>
            <a:off x="6476721" y="0"/>
            <a:ext cx="2667279" cy="17790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268760"/>
            <a:ext cx="7237040" cy="4968552"/>
          </a:xfrm>
        </p:spPr>
        <p:txBody>
          <a:bodyPr>
            <a:normAutofit/>
          </a:bodyPr>
          <a:lstStyle/>
          <a:p>
            <a:pPr marL="0">
              <a:buNone/>
            </a:pPr>
            <a:r>
              <a:rPr lang="en-AU" sz="4000" b="1" dirty="0" smtClean="0">
                <a:solidFill>
                  <a:srgbClr val="FF6600"/>
                </a:solidFill>
                <a:latin typeface="Helvetica" pitchFamily="34" charset="0"/>
              </a:rPr>
              <a:t>Element 4:</a:t>
            </a:r>
          </a:p>
          <a:p>
            <a:pPr marL="0">
              <a:spcBef>
                <a:spcPts val="600"/>
              </a:spcBef>
              <a:spcAft>
                <a:spcPts val="1200"/>
              </a:spcAft>
              <a:buNone/>
            </a:pPr>
            <a:r>
              <a:rPr lang="en-AU" sz="4000" b="1" i="1" dirty="0">
                <a:solidFill>
                  <a:srgbClr val="FF6600"/>
                </a:solidFill>
                <a:latin typeface="Helvetica" pitchFamily="34" charset="0"/>
              </a:rPr>
              <a:t>Follow-up the quotation</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97</a:t>
            </a:fld>
            <a:endParaRPr lang="en-US" dirty="0">
              <a:latin typeface="Helvetica" pitchFamily="34" charset="0"/>
            </a:endParaRPr>
          </a:p>
        </p:txBody>
      </p:sp>
      <p:pic>
        <p:nvPicPr>
          <p:cNvPr id="5" name="Picture 4" descr="shutterstock_197170562.jpg"/>
          <p:cNvPicPr/>
          <p:nvPr/>
        </p:nvPicPr>
        <p:blipFill>
          <a:blip r:embed="rId3" cstate="print"/>
          <a:stretch>
            <a:fillRect/>
          </a:stretch>
        </p:blipFill>
        <p:spPr>
          <a:xfrm>
            <a:off x="2123728" y="2852936"/>
            <a:ext cx="3456384" cy="266429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shutterstock_136968575.jpg"/>
          <p:cNvPicPr>
            <a:picLocks noChangeAspect="1"/>
          </p:cNvPicPr>
          <p:nvPr/>
        </p:nvPicPr>
        <p:blipFill>
          <a:blip r:embed="rId3" cstate="print"/>
          <a:stretch>
            <a:fillRect/>
          </a:stretch>
        </p:blipFill>
        <p:spPr>
          <a:xfrm>
            <a:off x="6084168" y="1772816"/>
            <a:ext cx="2160240" cy="3238741"/>
          </a:xfrm>
          <a:prstGeom prst="rect">
            <a:avLst/>
          </a:prstGeom>
        </p:spPr>
      </p:pic>
      <p:sp>
        <p:nvSpPr>
          <p:cNvPr id="2" name="Title 1"/>
          <p:cNvSpPr>
            <a:spLocks noGrp="1"/>
          </p:cNvSpPr>
          <p:nvPr>
            <p:ph type="title"/>
          </p:nvPr>
        </p:nvSpPr>
        <p:spPr>
          <a:xfrm>
            <a:off x="611560" y="332656"/>
            <a:ext cx="8532440" cy="734144"/>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Follow-up the quotation</a:t>
            </a:r>
            <a:endParaRPr lang="en-AU" sz="3400" b="1" i="1" dirty="0" smtClean="0">
              <a:solidFill>
                <a:srgbClr val="FF6600"/>
              </a:solidFill>
              <a:latin typeface="Helvetica" pitchFamily="34" charset="0"/>
            </a:endParaRPr>
          </a:p>
        </p:txBody>
      </p:sp>
      <p:sp>
        <p:nvSpPr>
          <p:cNvPr id="3" name="Content Placeholder 2"/>
          <p:cNvSpPr>
            <a:spLocks noGrp="1"/>
          </p:cNvSpPr>
          <p:nvPr>
            <p:ph idx="1"/>
          </p:nvPr>
        </p:nvSpPr>
        <p:spPr>
          <a:xfrm>
            <a:off x="611560" y="1268760"/>
            <a:ext cx="6552728" cy="4896544"/>
          </a:xfrm>
        </p:spPr>
        <p:txBody>
          <a:bodyPr>
            <a:norm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Advise client of any changes that will affect the provided quotation</a:t>
            </a:r>
          </a:p>
          <a:p>
            <a:pPr>
              <a:spcBef>
                <a:spcPts val="600"/>
              </a:spcBef>
              <a:spcAft>
                <a:spcPts val="1200"/>
              </a:spcAft>
            </a:pPr>
            <a:r>
              <a:rPr lang="en-AU" sz="2200" dirty="0" smtClean="0">
                <a:latin typeface="Helvetica" pitchFamily="34" charset="0"/>
              </a:rPr>
              <a:t>Provide additional advice and assistance, as requested</a:t>
            </a:r>
          </a:p>
          <a:p>
            <a:pPr>
              <a:spcBef>
                <a:spcPts val="600"/>
              </a:spcBef>
              <a:spcAft>
                <a:spcPts val="1200"/>
              </a:spcAft>
            </a:pPr>
            <a:r>
              <a:rPr lang="en-AU" sz="2200" dirty="0" smtClean="0">
                <a:latin typeface="Helvetica" pitchFamily="34" charset="0"/>
              </a:rPr>
              <a:t>Maintain contact with the client</a:t>
            </a:r>
          </a:p>
          <a:p>
            <a:pPr>
              <a:spcBef>
                <a:spcPts val="600"/>
              </a:spcBef>
              <a:spcAft>
                <a:spcPts val="1200"/>
              </a:spcAft>
            </a:pPr>
            <a:r>
              <a:rPr lang="en-AU" sz="2200" dirty="0" smtClean="0">
                <a:latin typeface="Helvetica" pitchFamily="34" charset="0"/>
              </a:rPr>
              <a:t>Implement actions to close the sale</a:t>
            </a:r>
          </a:p>
          <a:p>
            <a:pPr>
              <a:spcBef>
                <a:spcPts val="600"/>
              </a:spcBef>
              <a:spcAft>
                <a:spcPts val="1200"/>
              </a:spcAft>
            </a:pPr>
            <a:r>
              <a:rPr lang="en-AU" sz="2200" dirty="0" smtClean="0">
                <a:latin typeface="Helvetica" pitchFamily="34" charset="0"/>
              </a:rPr>
              <a:t>Record changes to, and communications,                            regarding the quotation</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98</a:t>
            </a:fld>
            <a:endParaRPr lang="en-US" dirty="0">
              <a:latin typeface="Helvetic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AU" sz="3400" b="1" dirty="0" smtClean="0">
                <a:solidFill>
                  <a:srgbClr val="FF6600"/>
                </a:solidFill>
                <a:latin typeface="Helvetica" pitchFamily="34" charset="0"/>
              </a:rPr>
              <a:t>Advise any changes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5301208"/>
          </a:xfrm>
        </p:spPr>
        <p:txBody>
          <a:bodyPr>
            <a:normAutofit/>
          </a:bodyPr>
          <a:lstStyle/>
          <a:p>
            <a:pPr>
              <a:spcBef>
                <a:spcPts val="600"/>
              </a:spcBef>
              <a:spcAft>
                <a:spcPts val="1200"/>
              </a:spcAft>
              <a:buNone/>
            </a:pPr>
            <a:r>
              <a:rPr lang="en-AU" sz="2200" b="1" dirty="0" smtClean="0">
                <a:latin typeface="Helvetica" pitchFamily="34" charset="0"/>
              </a:rPr>
              <a:t>Advise client of any changes</a:t>
            </a:r>
          </a:p>
          <a:p>
            <a:pPr marL="0">
              <a:spcBef>
                <a:spcPts val="600"/>
              </a:spcBef>
              <a:spcAft>
                <a:spcPts val="1200"/>
              </a:spcAft>
              <a:buNone/>
            </a:pPr>
            <a:r>
              <a:rPr lang="en-AU" sz="2200" dirty="0" smtClean="0">
                <a:latin typeface="Helvetica" pitchFamily="34" charset="0"/>
              </a:rPr>
              <a:t>Whilst the changes may come from a variety of sources including products and service providers, suppliers, the travel agent or customers themselves, a key requirement is that customers are:</a:t>
            </a:r>
          </a:p>
          <a:p>
            <a:pPr lvl="0">
              <a:spcBef>
                <a:spcPts val="600"/>
              </a:spcBef>
              <a:spcAft>
                <a:spcPts val="1200"/>
              </a:spcAft>
            </a:pPr>
            <a:r>
              <a:rPr lang="en-AU" sz="2200" dirty="0" smtClean="0">
                <a:latin typeface="Helvetica" pitchFamily="34" charset="0"/>
              </a:rPr>
              <a:t>Aware of changes as they happen</a:t>
            </a:r>
          </a:p>
          <a:p>
            <a:pPr lvl="0">
              <a:spcBef>
                <a:spcPts val="600"/>
              </a:spcBef>
              <a:spcAft>
                <a:spcPts val="1200"/>
              </a:spcAft>
            </a:pPr>
            <a:r>
              <a:rPr lang="en-AU" sz="2200" dirty="0" smtClean="0">
                <a:latin typeface="Helvetica" pitchFamily="34" charset="0"/>
              </a:rPr>
              <a:t>Understand the changes</a:t>
            </a:r>
          </a:p>
          <a:p>
            <a:pPr lvl="0">
              <a:spcBef>
                <a:spcPts val="600"/>
              </a:spcBef>
              <a:spcAft>
                <a:spcPts val="1200"/>
              </a:spcAft>
            </a:pPr>
            <a:r>
              <a:rPr lang="en-AU" sz="2200" dirty="0" smtClean="0">
                <a:latin typeface="Helvetica" pitchFamily="34" charset="0"/>
              </a:rPr>
              <a:t>Understand the consequence of changes</a:t>
            </a:r>
          </a:p>
          <a:p>
            <a:pPr lvl="0">
              <a:spcBef>
                <a:spcPts val="600"/>
              </a:spcBef>
              <a:spcAft>
                <a:spcPts val="1200"/>
              </a:spcAft>
            </a:pPr>
            <a:r>
              <a:rPr lang="en-AU" sz="2200" dirty="0" smtClean="0">
                <a:latin typeface="Helvetica" pitchFamily="34" charset="0"/>
              </a:rPr>
              <a:t>Understand any future action to be taken</a:t>
            </a: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99</a:t>
            </a:fld>
            <a:endParaRPr lang="en-US" dirty="0">
              <a:latin typeface="Helvetica" pitchFamily="34" charset="0"/>
            </a:endParaRPr>
          </a:p>
        </p:txBody>
      </p:sp>
      <p:pic>
        <p:nvPicPr>
          <p:cNvPr id="5" name="Picture 4" descr="shutterstock_110127491.jpg"/>
          <p:cNvPicPr>
            <a:picLocks noChangeAspect="1"/>
          </p:cNvPicPr>
          <p:nvPr/>
        </p:nvPicPr>
        <p:blipFill>
          <a:blip r:embed="rId3" cstate="print"/>
          <a:stretch>
            <a:fillRect/>
          </a:stretch>
        </p:blipFill>
        <p:spPr>
          <a:xfrm>
            <a:off x="6588224" y="3242727"/>
            <a:ext cx="1800200" cy="26989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AU" sz="3400" b="1" dirty="0" smtClean="0">
                <a:solidFill>
                  <a:srgbClr val="FF6600"/>
                </a:solidFill>
                <a:latin typeface="Helvetica" pitchFamily="34" charset="0"/>
              </a:rPr>
              <a:t>Advise any changes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lnSpcReduction="10000"/>
          </a:bodyPr>
          <a:lstStyle/>
          <a:p>
            <a:pPr marL="0">
              <a:spcBef>
                <a:spcPts val="600"/>
              </a:spcBef>
              <a:spcAft>
                <a:spcPts val="1200"/>
              </a:spcAft>
              <a:buNone/>
            </a:pPr>
            <a:r>
              <a:rPr lang="en-AU" sz="2200" b="1" dirty="0" smtClean="0">
                <a:latin typeface="Helvetica" pitchFamily="34" charset="0"/>
              </a:rPr>
              <a:t>Examples of changes that may change the original quotation</a:t>
            </a:r>
          </a:p>
          <a:p>
            <a:pPr lvl="0">
              <a:spcBef>
                <a:spcPts val="600"/>
              </a:spcBef>
              <a:spcAft>
                <a:spcPts val="1200"/>
              </a:spcAft>
            </a:pPr>
            <a:r>
              <a:rPr lang="en-AU" sz="2200" dirty="0" smtClean="0">
                <a:latin typeface="Helvetica" pitchFamily="34" charset="0"/>
              </a:rPr>
              <a:t>Change of departure date </a:t>
            </a:r>
          </a:p>
          <a:p>
            <a:pPr lvl="0">
              <a:spcBef>
                <a:spcPts val="600"/>
              </a:spcBef>
              <a:spcAft>
                <a:spcPts val="1200"/>
              </a:spcAft>
            </a:pPr>
            <a:r>
              <a:rPr lang="en-AU" sz="2200" dirty="0" smtClean="0">
                <a:latin typeface="Helvetica" pitchFamily="34" charset="0"/>
              </a:rPr>
              <a:t>Change of date for a product or service</a:t>
            </a:r>
          </a:p>
          <a:p>
            <a:pPr lvl="0">
              <a:spcBef>
                <a:spcPts val="600"/>
              </a:spcBef>
              <a:spcAft>
                <a:spcPts val="1200"/>
              </a:spcAft>
            </a:pPr>
            <a:r>
              <a:rPr lang="en-AU" sz="2200" dirty="0" smtClean="0">
                <a:latin typeface="Helvetica" pitchFamily="34" charset="0"/>
              </a:rPr>
              <a:t>The number of passengers </a:t>
            </a:r>
          </a:p>
          <a:p>
            <a:pPr lvl="0">
              <a:spcBef>
                <a:spcPts val="600"/>
              </a:spcBef>
              <a:spcAft>
                <a:spcPts val="1200"/>
              </a:spcAft>
            </a:pPr>
            <a:r>
              <a:rPr lang="en-AU" sz="2200" dirty="0" smtClean="0">
                <a:latin typeface="Helvetica" pitchFamily="34" charset="0"/>
              </a:rPr>
              <a:t>Age of passengers vary to those originally provided </a:t>
            </a:r>
          </a:p>
          <a:p>
            <a:pPr lvl="0">
              <a:spcBef>
                <a:spcPts val="600"/>
              </a:spcBef>
              <a:spcAft>
                <a:spcPts val="1200"/>
              </a:spcAft>
            </a:pPr>
            <a:r>
              <a:rPr lang="en-AU" sz="2200" dirty="0" smtClean="0">
                <a:latin typeface="Helvetica" pitchFamily="34" charset="0"/>
              </a:rPr>
              <a:t>Addition or reduction of product or services</a:t>
            </a:r>
          </a:p>
          <a:p>
            <a:pPr lvl="0">
              <a:spcBef>
                <a:spcPts val="600"/>
              </a:spcBef>
              <a:spcAft>
                <a:spcPts val="1200"/>
              </a:spcAft>
            </a:pPr>
            <a:r>
              <a:rPr lang="en-AU" sz="2200" dirty="0" smtClean="0">
                <a:latin typeface="Helvetica" pitchFamily="34" charset="0"/>
              </a:rPr>
              <a:t>Late booking fees</a:t>
            </a:r>
          </a:p>
          <a:p>
            <a:pPr lvl="0">
              <a:spcBef>
                <a:spcPts val="600"/>
              </a:spcBef>
              <a:spcAft>
                <a:spcPts val="1200"/>
              </a:spcAft>
            </a:pPr>
            <a:r>
              <a:rPr lang="en-AU" sz="2200" dirty="0" smtClean="0">
                <a:latin typeface="Helvetica" pitchFamily="34" charset="0"/>
              </a:rPr>
              <a:t>Land only surcharge if air not booked</a:t>
            </a:r>
          </a:p>
          <a:p>
            <a:pPr lvl="0">
              <a:spcBef>
                <a:spcPts val="600"/>
              </a:spcBef>
              <a:spcAft>
                <a:spcPts val="1200"/>
              </a:spcAft>
            </a:pPr>
            <a:r>
              <a:rPr lang="en-AU" sz="2200" dirty="0" smtClean="0">
                <a:latin typeface="Helvetica" pitchFamily="34" charset="0"/>
              </a:rPr>
              <a:t>Expiry of the quotation </a:t>
            </a: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100</a:t>
            </a:fld>
            <a:endParaRPr lang="en-US" dirty="0">
              <a:latin typeface="Helvetica" pitchFamily="34" charset="0"/>
            </a:endParaRPr>
          </a:p>
        </p:txBody>
      </p:sp>
      <p:pic>
        <p:nvPicPr>
          <p:cNvPr id="5" name="Picture 4" descr="W40_calender.jpg"/>
          <p:cNvPicPr/>
          <p:nvPr/>
        </p:nvPicPr>
        <p:blipFill>
          <a:blip r:embed="rId3" cstate="print"/>
          <a:stretch>
            <a:fillRect/>
          </a:stretch>
        </p:blipFill>
        <p:spPr>
          <a:xfrm>
            <a:off x="6084168" y="2387047"/>
            <a:ext cx="2232248" cy="151216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AU" sz="3400" b="1" dirty="0" smtClean="0">
                <a:solidFill>
                  <a:srgbClr val="FF6600"/>
                </a:solidFill>
                <a:latin typeface="Helvetica" pitchFamily="34" charset="0"/>
              </a:rPr>
              <a:t>Advise any changes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b="1" dirty="0" smtClean="0">
                <a:latin typeface="Helvetica" pitchFamily="34" charset="0"/>
              </a:rPr>
              <a:t>Highlight any new, changed or special conditions or limitations</a:t>
            </a:r>
          </a:p>
          <a:p>
            <a:pPr>
              <a:spcBef>
                <a:spcPts val="600"/>
              </a:spcBef>
              <a:spcAft>
                <a:spcPts val="1200"/>
              </a:spcAft>
            </a:pPr>
            <a:r>
              <a:rPr lang="en-AU" sz="2200" dirty="0" smtClean="0">
                <a:latin typeface="Helvetica" pitchFamily="34" charset="0"/>
              </a:rPr>
              <a:t>What are possible examples of these?</a:t>
            </a: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101</a:t>
            </a:fld>
            <a:endParaRPr lang="en-US" dirty="0">
              <a:latin typeface="Helvetica" pitchFamily="34" charset="0"/>
            </a:endParaRPr>
          </a:p>
        </p:txBody>
      </p:sp>
      <p:pic>
        <p:nvPicPr>
          <p:cNvPr id="5" name="Picture 4" descr="shutterstock_119674882.jpg"/>
          <p:cNvPicPr>
            <a:picLocks noChangeAspect="1"/>
          </p:cNvPicPr>
          <p:nvPr/>
        </p:nvPicPr>
        <p:blipFill>
          <a:blip r:embed="rId3" cstate="print"/>
          <a:stretch>
            <a:fillRect/>
          </a:stretch>
        </p:blipFill>
        <p:spPr>
          <a:xfrm>
            <a:off x="2267744" y="3140968"/>
            <a:ext cx="3886490" cy="259228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AU" sz="3400" b="1" dirty="0" smtClean="0">
                <a:solidFill>
                  <a:srgbClr val="FF6600"/>
                </a:solidFill>
                <a:latin typeface="Helvetica" pitchFamily="34" charset="0"/>
              </a:rPr>
              <a:t>Advise any changes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Methods to notify information relating to changes</a:t>
            </a:r>
          </a:p>
          <a:p>
            <a:pPr lvl="0">
              <a:spcBef>
                <a:spcPts val="600"/>
              </a:spcBef>
              <a:spcAft>
                <a:spcPts val="1200"/>
              </a:spcAft>
            </a:pPr>
            <a:r>
              <a:rPr lang="en-AU" sz="2200" dirty="0" smtClean="0">
                <a:latin typeface="Helvetica" pitchFamily="34" charset="0"/>
              </a:rPr>
              <a:t>Provide the relevant product or service brochures</a:t>
            </a:r>
          </a:p>
          <a:p>
            <a:pPr lvl="0">
              <a:spcBef>
                <a:spcPts val="600"/>
              </a:spcBef>
              <a:spcAft>
                <a:spcPts val="1200"/>
              </a:spcAft>
            </a:pPr>
            <a:r>
              <a:rPr lang="en-AU" sz="2200" dirty="0" smtClean="0">
                <a:latin typeface="Helvetica" pitchFamily="34" charset="0"/>
              </a:rPr>
              <a:t>Refer the customer to the relevant website</a:t>
            </a:r>
          </a:p>
          <a:p>
            <a:pPr lvl="0">
              <a:spcBef>
                <a:spcPts val="600"/>
              </a:spcBef>
              <a:spcAft>
                <a:spcPts val="1200"/>
              </a:spcAft>
            </a:pPr>
            <a:r>
              <a:rPr lang="en-AU" sz="2200" dirty="0" smtClean="0">
                <a:latin typeface="Helvetica" pitchFamily="34" charset="0"/>
              </a:rPr>
              <a:t>Email a soft copy</a:t>
            </a:r>
          </a:p>
          <a:p>
            <a:pPr lvl="0">
              <a:spcBef>
                <a:spcPts val="600"/>
              </a:spcBef>
              <a:spcAft>
                <a:spcPts val="1200"/>
              </a:spcAft>
            </a:pPr>
            <a:r>
              <a:rPr lang="en-AU" sz="2200" dirty="0" smtClean="0">
                <a:latin typeface="Helvetica" pitchFamily="34" charset="0"/>
              </a:rPr>
              <a:t>Hand the customer a hard copy</a:t>
            </a:r>
          </a:p>
          <a:p>
            <a:pPr lvl="0">
              <a:spcBef>
                <a:spcPts val="600"/>
              </a:spcBef>
              <a:spcAft>
                <a:spcPts val="1200"/>
              </a:spcAft>
            </a:pPr>
            <a:r>
              <a:rPr lang="en-AU" sz="2200" dirty="0" smtClean="0">
                <a:latin typeface="Helvetica" pitchFamily="34" charset="0"/>
              </a:rPr>
              <a:t>Summarise the critical terms and                                   conditions in the quotation</a:t>
            </a: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102</a:t>
            </a:fld>
            <a:endParaRPr lang="en-US" dirty="0">
              <a:latin typeface="Helvetica" pitchFamily="34" charset="0"/>
            </a:endParaRPr>
          </a:p>
        </p:txBody>
      </p:sp>
      <p:pic>
        <p:nvPicPr>
          <p:cNvPr id="5" name="Picture 4" descr="shutterstock_148377272.jpg"/>
          <p:cNvPicPr/>
          <p:nvPr/>
        </p:nvPicPr>
        <p:blipFill>
          <a:blip r:embed="rId3" cstate="print"/>
          <a:stretch>
            <a:fillRect/>
          </a:stretch>
        </p:blipFill>
        <p:spPr>
          <a:xfrm>
            <a:off x="5641240" y="3717032"/>
            <a:ext cx="2780398" cy="187220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AU" sz="3400" b="1" dirty="0" smtClean="0">
                <a:solidFill>
                  <a:srgbClr val="FF6600"/>
                </a:solidFill>
                <a:latin typeface="Helvetica" pitchFamily="34" charset="0"/>
              </a:rPr>
              <a:t>Provide additional advice </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301208"/>
          </a:xfrm>
        </p:spPr>
        <p:txBody>
          <a:bodyPr>
            <a:normAutofit/>
          </a:bodyPr>
          <a:lstStyle/>
          <a:p>
            <a:pPr>
              <a:spcBef>
                <a:spcPts val="600"/>
              </a:spcBef>
              <a:spcAft>
                <a:spcPts val="1200"/>
              </a:spcAft>
              <a:buNone/>
            </a:pPr>
            <a:r>
              <a:rPr lang="en-AU" sz="2200" b="1" dirty="0" smtClean="0">
                <a:latin typeface="Helvetica" pitchFamily="34" charset="0"/>
              </a:rPr>
              <a:t>Provide additional advice and assistance</a:t>
            </a:r>
          </a:p>
          <a:p>
            <a:pPr marL="0">
              <a:spcBef>
                <a:spcPts val="600"/>
              </a:spcBef>
              <a:spcAft>
                <a:spcPts val="1200"/>
              </a:spcAft>
              <a:buNone/>
            </a:pPr>
            <a:r>
              <a:rPr lang="en-AU" sz="2200" dirty="0" smtClean="0">
                <a:latin typeface="Helvetica" pitchFamily="34" charset="0"/>
              </a:rPr>
              <a:t>The two key pieces of follow up customer service that can be provided before the customer decides to book or not is to:</a:t>
            </a:r>
          </a:p>
          <a:p>
            <a:pPr lvl="0">
              <a:spcBef>
                <a:spcPts val="600"/>
              </a:spcBef>
              <a:spcAft>
                <a:spcPts val="1200"/>
              </a:spcAft>
            </a:pPr>
            <a:r>
              <a:rPr lang="en-AU" sz="2200" dirty="0" smtClean="0">
                <a:latin typeface="Helvetica" pitchFamily="34" charset="0"/>
              </a:rPr>
              <a:t>Provide additional advice and assistance </a:t>
            </a:r>
          </a:p>
          <a:p>
            <a:pPr>
              <a:spcBef>
                <a:spcPts val="600"/>
              </a:spcBef>
              <a:spcAft>
                <a:spcPts val="1200"/>
              </a:spcAft>
            </a:pPr>
            <a:r>
              <a:rPr lang="en-AU" sz="2200" dirty="0" smtClean="0">
                <a:latin typeface="Helvetica" pitchFamily="34" charset="0"/>
              </a:rPr>
              <a:t>Maintain regular contact with customers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103</a:t>
            </a:fld>
            <a:endParaRPr lang="en-US" dirty="0">
              <a:latin typeface="Helvetica" pitchFamily="34" charset="0"/>
            </a:endParaRPr>
          </a:p>
        </p:txBody>
      </p:sp>
      <p:pic>
        <p:nvPicPr>
          <p:cNvPr id="5" name="Picture 4" descr="W20_elderly_chinese_coupleshutterstock_130148837.jpg"/>
          <p:cNvPicPr/>
          <p:nvPr/>
        </p:nvPicPr>
        <p:blipFill>
          <a:blip r:embed="rId3" cstate="print"/>
          <a:stretch>
            <a:fillRect/>
          </a:stretch>
        </p:blipFill>
        <p:spPr>
          <a:xfrm>
            <a:off x="2051720" y="4149080"/>
            <a:ext cx="2880320" cy="201622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AU" sz="3400" b="1" dirty="0" smtClean="0">
                <a:solidFill>
                  <a:srgbClr val="FF6600"/>
                </a:solidFill>
                <a:latin typeface="Helvetica" pitchFamily="34" charset="0"/>
              </a:rPr>
              <a:t>Provide additional advice </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Highlight, explain and promote features and benefits </a:t>
            </a:r>
          </a:p>
          <a:p>
            <a:pPr>
              <a:spcBef>
                <a:spcPts val="600"/>
              </a:spcBef>
              <a:spcAft>
                <a:spcPts val="1200"/>
              </a:spcAft>
            </a:pPr>
            <a:r>
              <a:rPr lang="en-AU" sz="2200" dirty="0" smtClean="0">
                <a:latin typeface="Helvetica" pitchFamily="34" charset="0"/>
              </a:rPr>
              <a:t>How can you do this?</a:t>
            </a:r>
          </a:p>
          <a:p>
            <a:pPr>
              <a:spcBef>
                <a:spcPts val="600"/>
              </a:spcBef>
              <a:spcAft>
                <a:spcPts val="1200"/>
              </a:spcAft>
            </a:pPr>
            <a:r>
              <a:rPr lang="en-AU" sz="2200" dirty="0" smtClean="0">
                <a:latin typeface="Helvetica" pitchFamily="34" charset="0"/>
              </a:rPr>
              <a:t>Why is this beneficial for customers?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104</a:t>
            </a:fld>
            <a:endParaRPr lang="en-US" dirty="0">
              <a:latin typeface="Helvetica" pitchFamily="34" charset="0"/>
            </a:endParaRPr>
          </a:p>
        </p:txBody>
      </p:sp>
      <p:pic>
        <p:nvPicPr>
          <p:cNvPr id="6" name="Picture 5" descr="shutterstock_77741227.jpg"/>
          <p:cNvPicPr/>
          <p:nvPr/>
        </p:nvPicPr>
        <p:blipFill>
          <a:blip r:embed="rId3" cstate="print"/>
          <a:stretch>
            <a:fillRect/>
          </a:stretch>
        </p:blipFill>
        <p:spPr>
          <a:xfrm>
            <a:off x="2123728" y="3284984"/>
            <a:ext cx="3312368" cy="2736304"/>
          </a:xfrm>
          <a:prstGeom prst="ellipse">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AU" sz="3400" b="1" dirty="0" smtClean="0">
                <a:solidFill>
                  <a:srgbClr val="FF6600"/>
                </a:solidFill>
                <a:latin typeface="Helvetica" pitchFamily="34" charset="0"/>
              </a:rPr>
              <a:t>Provide additional advice </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5301208"/>
          </a:xfrm>
        </p:spPr>
        <p:txBody>
          <a:bodyPr>
            <a:normAutofit/>
          </a:bodyPr>
          <a:lstStyle/>
          <a:p>
            <a:pPr marL="0">
              <a:spcBef>
                <a:spcPts val="600"/>
              </a:spcBef>
              <a:spcAft>
                <a:spcPts val="1200"/>
              </a:spcAft>
              <a:buNone/>
            </a:pPr>
            <a:r>
              <a:rPr lang="en-AU" sz="2200" b="1" dirty="0" smtClean="0">
                <a:latin typeface="Helvetica" pitchFamily="34" charset="0"/>
              </a:rPr>
              <a:t>Promote additional products and options to enhance an itinerary</a:t>
            </a:r>
          </a:p>
          <a:p>
            <a:pPr marL="0">
              <a:spcBef>
                <a:spcPts val="600"/>
              </a:spcBef>
              <a:spcAft>
                <a:spcPts val="1200"/>
              </a:spcAft>
              <a:buNone/>
            </a:pPr>
            <a:r>
              <a:rPr lang="en-AU" sz="2200" dirty="0" smtClean="0">
                <a:latin typeface="Helvetica" pitchFamily="34" charset="0"/>
              </a:rPr>
              <a:t>What are examples of additional products and services that can be added to a traditional booking for a:</a:t>
            </a:r>
          </a:p>
          <a:p>
            <a:pPr>
              <a:spcBef>
                <a:spcPts val="600"/>
              </a:spcBef>
              <a:spcAft>
                <a:spcPts val="1200"/>
              </a:spcAft>
            </a:pPr>
            <a:r>
              <a:rPr lang="en-AU" sz="2200" dirty="0" smtClean="0">
                <a:latin typeface="Helvetica" pitchFamily="34" charset="0"/>
              </a:rPr>
              <a:t>Family holiday</a:t>
            </a:r>
          </a:p>
          <a:p>
            <a:pPr>
              <a:spcBef>
                <a:spcPts val="600"/>
              </a:spcBef>
              <a:spcAft>
                <a:spcPts val="1200"/>
              </a:spcAft>
            </a:pPr>
            <a:r>
              <a:rPr lang="en-AU" sz="2200" dirty="0" smtClean="0">
                <a:latin typeface="Helvetica" pitchFamily="34" charset="0"/>
              </a:rPr>
              <a:t>Business trip</a:t>
            </a:r>
          </a:p>
          <a:p>
            <a:pPr>
              <a:spcBef>
                <a:spcPts val="600"/>
              </a:spcBef>
              <a:spcAft>
                <a:spcPts val="1200"/>
              </a:spcAft>
            </a:pPr>
            <a:r>
              <a:rPr lang="en-AU" sz="2200" dirty="0" smtClean="0">
                <a:latin typeface="Helvetica" pitchFamily="34" charset="0"/>
              </a:rPr>
              <a:t>Budget holiday</a:t>
            </a:r>
          </a:p>
          <a:p>
            <a:pPr>
              <a:spcBef>
                <a:spcPts val="600"/>
              </a:spcBef>
              <a:spcAft>
                <a:spcPts val="1200"/>
              </a:spcAft>
            </a:pPr>
            <a:r>
              <a:rPr lang="en-AU" sz="2200" dirty="0" smtClean="0">
                <a:latin typeface="Helvetica" pitchFamily="34" charset="0"/>
              </a:rPr>
              <a:t>Adventure trip</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105</a:t>
            </a:fld>
            <a:endParaRPr lang="en-US" dirty="0">
              <a:latin typeface="Helvetica" pitchFamily="34" charset="0"/>
            </a:endParaRPr>
          </a:p>
        </p:txBody>
      </p:sp>
      <p:pic>
        <p:nvPicPr>
          <p:cNvPr id="5" name="Picture 4" descr="shutterstock_94701796.jpg"/>
          <p:cNvPicPr/>
          <p:nvPr/>
        </p:nvPicPr>
        <p:blipFill>
          <a:blip r:embed="rId3" cstate="print"/>
          <a:stretch>
            <a:fillRect/>
          </a:stretch>
        </p:blipFill>
        <p:spPr>
          <a:xfrm>
            <a:off x="3131840" y="3212976"/>
            <a:ext cx="2592288" cy="273630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shutterstock_56758213.jpg"/>
          <p:cNvPicPr/>
          <p:nvPr/>
        </p:nvPicPr>
        <p:blipFill>
          <a:blip r:embed="rId3" cstate="print"/>
          <a:stretch>
            <a:fillRect/>
          </a:stretch>
        </p:blipFill>
        <p:spPr>
          <a:xfrm>
            <a:off x="5940152" y="1484784"/>
            <a:ext cx="1872208" cy="2376264"/>
          </a:xfrm>
          <a:prstGeom prst="rect">
            <a:avLst/>
          </a:prstGeom>
        </p:spPr>
      </p:pic>
      <p:sp>
        <p:nvSpPr>
          <p:cNvPr id="2" name="Title 1"/>
          <p:cNvSpPr>
            <a:spLocks noGrp="1"/>
          </p:cNvSpPr>
          <p:nvPr>
            <p:ph type="title"/>
          </p:nvPr>
        </p:nvSpPr>
        <p:spPr>
          <a:xfrm>
            <a:off x="611560" y="332656"/>
            <a:ext cx="8064896" cy="1143000"/>
          </a:xfrm>
        </p:spPr>
        <p:txBody>
          <a:bodyPr>
            <a:normAutofit/>
          </a:bodyPr>
          <a:lstStyle/>
          <a:p>
            <a:r>
              <a:rPr lang="en-AU" sz="3400" b="1" dirty="0" smtClean="0">
                <a:solidFill>
                  <a:srgbClr val="FF6600"/>
                </a:solidFill>
                <a:latin typeface="Helvetica" pitchFamily="34" charset="0"/>
              </a:rPr>
              <a:t>Maintain contact with customers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04856" cy="5301208"/>
          </a:xfrm>
        </p:spPr>
        <p:txBody>
          <a:bodyPr>
            <a:normAutofit/>
          </a:bodyPr>
          <a:lstStyle/>
          <a:p>
            <a:pPr marL="0">
              <a:spcBef>
                <a:spcPts val="600"/>
              </a:spcBef>
              <a:spcAft>
                <a:spcPts val="1200"/>
              </a:spcAft>
              <a:buNone/>
            </a:pPr>
            <a:r>
              <a:rPr lang="en-AU" sz="2200" b="1" dirty="0" smtClean="0">
                <a:latin typeface="Helvetica" pitchFamily="34" charset="0"/>
              </a:rPr>
              <a:t>Importance of maintaining contact</a:t>
            </a:r>
          </a:p>
          <a:p>
            <a:pPr marL="0">
              <a:spcBef>
                <a:spcPts val="600"/>
              </a:spcBef>
              <a:spcAft>
                <a:spcPts val="1200"/>
              </a:spcAft>
            </a:pPr>
            <a:r>
              <a:rPr lang="en-AU" sz="2200" dirty="0" smtClean="0">
                <a:latin typeface="Helvetica" pitchFamily="34" charset="0"/>
              </a:rPr>
              <a:t>Why is this important?</a:t>
            </a:r>
          </a:p>
          <a:p>
            <a:pPr marL="0">
              <a:spcBef>
                <a:spcPts val="600"/>
              </a:spcBef>
              <a:spcAft>
                <a:spcPts val="1200"/>
              </a:spcAft>
            </a:pPr>
            <a:r>
              <a:rPr lang="en-AU" sz="2200" dirty="0" smtClean="0">
                <a:latin typeface="Helvetica" pitchFamily="34" charset="0"/>
              </a:rPr>
              <a:t>When should you do it?</a:t>
            </a:r>
          </a:p>
          <a:p>
            <a:pPr marL="0">
              <a:spcBef>
                <a:spcPts val="600"/>
              </a:spcBef>
              <a:spcAft>
                <a:spcPts val="1200"/>
              </a:spcAft>
            </a:pPr>
            <a:r>
              <a:rPr lang="en-AU" sz="2200" dirty="0" smtClean="0">
                <a:latin typeface="Helvetica" pitchFamily="34" charset="0"/>
              </a:rPr>
              <a:t>How can you do it?</a:t>
            </a:r>
          </a:p>
          <a:p>
            <a:pPr marL="0">
              <a:spcBef>
                <a:spcPts val="600"/>
              </a:spcBef>
              <a:spcAft>
                <a:spcPts val="1200"/>
              </a:spcAft>
            </a:pPr>
            <a:r>
              <a:rPr lang="en-AU" sz="2200" dirty="0" smtClean="0">
                <a:latin typeface="Helvetica" pitchFamily="34" charset="0"/>
              </a:rPr>
              <a:t>What should be said or stated with each contact?</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106</a:t>
            </a:fld>
            <a:endParaRPr lang="en-US" dirty="0">
              <a:latin typeface="Helvetic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AU" sz="3400" b="1" dirty="0" smtClean="0">
                <a:solidFill>
                  <a:srgbClr val="FF6600"/>
                </a:solidFill>
                <a:latin typeface="Helvetica" pitchFamily="34" charset="0"/>
              </a:rPr>
              <a:t>Maintain contact with customers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5301208"/>
          </a:xfrm>
        </p:spPr>
        <p:txBody>
          <a:bodyPr>
            <a:normAutofit/>
          </a:bodyPr>
          <a:lstStyle/>
          <a:p>
            <a:pPr marL="0">
              <a:spcBef>
                <a:spcPts val="600"/>
              </a:spcBef>
              <a:spcAft>
                <a:spcPts val="1200"/>
              </a:spcAft>
              <a:buNone/>
            </a:pPr>
            <a:r>
              <a:rPr lang="en-AU" sz="2200" b="1" dirty="0" smtClean="0">
                <a:latin typeface="Helvetica" pitchFamily="34" charset="0"/>
              </a:rPr>
              <a:t>Considerations when maintaining contact with customers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Adhering to enterprise schedule of contacts with clients</a:t>
            </a:r>
          </a:p>
          <a:p>
            <a:pPr lvl="0">
              <a:spcBef>
                <a:spcPts val="600"/>
              </a:spcBef>
              <a:spcAft>
                <a:spcPts val="1200"/>
              </a:spcAft>
            </a:pPr>
            <a:r>
              <a:rPr lang="en-AU" sz="2200" dirty="0" smtClean="0">
                <a:latin typeface="Helvetica" pitchFamily="34" charset="0"/>
              </a:rPr>
              <a:t>Being sensitive to client resentment to contact</a:t>
            </a:r>
          </a:p>
          <a:p>
            <a:pPr lvl="0">
              <a:spcBef>
                <a:spcPts val="600"/>
              </a:spcBef>
              <a:spcAft>
                <a:spcPts val="1200"/>
              </a:spcAft>
            </a:pPr>
            <a:r>
              <a:rPr lang="en-AU" sz="2200" dirty="0" smtClean="0">
                <a:latin typeface="Helvetica" pitchFamily="34" charset="0"/>
              </a:rPr>
              <a:t>Determining client preferences for contact</a:t>
            </a:r>
          </a:p>
          <a:p>
            <a:pPr lvl="0">
              <a:spcBef>
                <a:spcPts val="600"/>
              </a:spcBef>
              <a:spcAft>
                <a:spcPts val="1200"/>
              </a:spcAft>
            </a:pPr>
            <a:r>
              <a:rPr lang="en-AU" sz="2200" dirty="0" smtClean="0">
                <a:latin typeface="Helvetica" pitchFamily="34" charset="0"/>
              </a:rPr>
              <a:t>Apologising for contact that is inconvenient</a:t>
            </a:r>
          </a:p>
          <a:p>
            <a:pPr lvl="0">
              <a:spcBef>
                <a:spcPts val="600"/>
              </a:spcBef>
              <a:spcAft>
                <a:spcPts val="1200"/>
              </a:spcAft>
            </a:pPr>
            <a:r>
              <a:rPr lang="en-AU" sz="2200" dirty="0" smtClean="0">
                <a:latin typeface="Helvetica" pitchFamily="34" charset="0"/>
              </a:rPr>
              <a:t>Accommodating client requests to </a:t>
            </a:r>
            <a:br>
              <a:rPr lang="en-AU" sz="2200" dirty="0" smtClean="0">
                <a:latin typeface="Helvetica" pitchFamily="34" charset="0"/>
              </a:rPr>
            </a:br>
            <a:r>
              <a:rPr lang="en-AU" sz="2200" dirty="0" smtClean="0">
                <a:latin typeface="Helvetica" pitchFamily="34" charset="0"/>
              </a:rPr>
              <a:t>cease contact</a:t>
            </a: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107</a:t>
            </a:fld>
            <a:endParaRPr lang="en-US" dirty="0">
              <a:latin typeface="Helvetica" pitchFamily="34" charset="0"/>
            </a:endParaRPr>
          </a:p>
        </p:txBody>
      </p:sp>
      <p:pic>
        <p:nvPicPr>
          <p:cNvPr id="6" name="Picture 5" descr="shutterstock_53322175.jpg"/>
          <p:cNvPicPr>
            <a:picLocks noChangeAspect="1"/>
          </p:cNvPicPr>
          <p:nvPr/>
        </p:nvPicPr>
        <p:blipFill rotWithShape="1">
          <a:blip r:embed="rId3" cstate="print"/>
          <a:srcRect r="8574"/>
          <a:stretch/>
        </p:blipFill>
        <p:spPr>
          <a:xfrm>
            <a:off x="6444208" y="3484984"/>
            <a:ext cx="2046231" cy="222246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AU" sz="3400" b="1" dirty="0" smtClean="0">
                <a:solidFill>
                  <a:srgbClr val="FF6600"/>
                </a:solidFill>
                <a:latin typeface="Helvetica" pitchFamily="34" charset="0"/>
              </a:rPr>
              <a:t>Maintain contact with customers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Recording client contact conversations</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Use a running sheet which allows you to record:</a:t>
            </a:r>
          </a:p>
          <a:p>
            <a:pPr lvl="0">
              <a:spcBef>
                <a:spcPts val="600"/>
              </a:spcBef>
              <a:spcAft>
                <a:spcPts val="1200"/>
              </a:spcAft>
            </a:pPr>
            <a:r>
              <a:rPr lang="en-AU" sz="2200" dirty="0" smtClean="0">
                <a:latin typeface="Helvetica" pitchFamily="34" charset="0"/>
              </a:rPr>
              <a:t>The date of the conversation</a:t>
            </a:r>
          </a:p>
          <a:p>
            <a:pPr lvl="0">
              <a:spcBef>
                <a:spcPts val="600"/>
              </a:spcBef>
              <a:spcAft>
                <a:spcPts val="1200"/>
              </a:spcAft>
            </a:pPr>
            <a:r>
              <a:rPr lang="en-AU" sz="2200" dirty="0" smtClean="0">
                <a:latin typeface="Helvetica" pitchFamily="34" charset="0"/>
              </a:rPr>
              <a:t>The names of the people concerned – who spoke with whom</a:t>
            </a:r>
          </a:p>
          <a:p>
            <a:pPr lvl="0">
              <a:spcBef>
                <a:spcPts val="600"/>
              </a:spcBef>
              <a:spcAft>
                <a:spcPts val="1200"/>
              </a:spcAft>
            </a:pPr>
            <a:r>
              <a:rPr lang="en-AU" sz="2200" dirty="0" smtClean="0">
                <a:latin typeface="Helvetica" pitchFamily="34" charset="0"/>
              </a:rPr>
              <a:t>The content of the conversation</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108</a:t>
            </a:fld>
            <a:endParaRPr lang="en-US" dirty="0">
              <a:latin typeface="Helvetica" pitchFamily="34" charset="0"/>
            </a:endParaRPr>
          </a:p>
        </p:txBody>
      </p:sp>
      <p:pic>
        <p:nvPicPr>
          <p:cNvPr id="6" name="Picture 5" descr="shutterstock_104238854.jpg"/>
          <p:cNvPicPr/>
          <p:nvPr/>
        </p:nvPicPr>
        <p:blipFill>
          <a:blip r:embed="rId3" cstate="print"/>
          <a:stretch>
            <a:fillRect/>
          </a:stretch>
        </p:blipFill>
        <p:spPr>
          <a:xfrm>
            <a:off x="5724128" y="3933056"/>
            <a:ext cx="2664296" cy="176722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AU" sz="3400" b="1" dirty="0" smtClean="0">
                <a:solidFill>
                  <a:srgbClr val="FF6600"/>
                </a:solidFill>
                <a:latin typeface="Helvetica" pitchFamily="34" charset="0"/>
              </a:rPr>
              <a:t>Implement actions to close sale</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5301208"/>
          </a:xfrm>
        </p:spPr>
        <p:txBody>
          <a:bodyPr>
            <a:normAutofit/>
          </a:bodyPr>
          <a:lstStyle/>
          <a:p>
            <a:pPr>
              <a:spcBef>
                <a:spcPts val="600"/>
              </a:spcBef>
              <a:spcAft>
                <a:spcPts val="600"/>
              </a:spcAft>
              <a:buNone/>
            </a:pPr>
            <a:r>
              <a:rPr lang="en-AU" sz="2200" b="1" dirty="0" smtClean="0">
                <a:latin typeface="Helvetica" pitchFamily="34" charset="0"/>
              </a:rPr>
              <a:t>Ways to encourage a purchase</a:t>
            </a: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Regular contact with the customer to offer service</a:t>
            </a:r>
          </a:p>
          <a:p>
            <a:pPr lvl="0">
              <a:spcBef>
                <a:spcPts val="600"/>
              </a:spcBef>
              <a:spcAft>
                <a:spcPts val="600"/>
              </a:spcAft>
            </a:pPr>
            <a:r>
              <a:rPr lang="en-AU" sz="2200" dirty="0" smtClean="0">
                <a:latin typeface="Helvetica" pitchFamily="34" charset="0"/>
              </a:rPr>
              <a:t>Offering positive and informed comments about the travel plans and suggested itinerary </a:t>
            </a:r>
          </a:p>
          <a:p>
            <a:pPr lvl="0">
              <a:spcBef>
                <a:spcPts val="600"/>
              </a:spcBef>
              <a:spcAft>
                <a:spcPts val="600"/>
              </a:spcAft>
            </a:pPr>
            <a:r>
              <a:rPr lang="en-AU" sz="2200" dirty="0" smtClean="0">
                <a:latin typeface="Helvetica" pitchFamily="34" charset="0"/>
              </a:rPr>
              <a:t>Mentioning the current price is only available for a limited time</a:t>
            </a:r>
          </a:p>
          <a:p>
            <a:pPr lvl="0">
              <a:spcBef>
                <a:spcPts val="600"/>
              </a:spcBef>
              <a:spcAft>
                <a:spcPts val="600"/>
              </a:spcAft>
            </a:pPr>
            <a:r>
              <a:rPr lang="en-AU" sz="2200" dirty="0" smtClean="0">
                <a:latin typeface="Helvetica" pitchFamily="34" charset="0"/>
              </a:rPr>
              <a:t>Mentioning the popularity of the travel products and services </a:t>
            </a:r>
          </a:p>
          <a:p>
            <a:pPr lvl="0">
              <a:spcBef>
                <a:spcPts val="600"/>
              </a:spcBef>
              <a:spcAft>
                <a:spcPts val="600"/>
              </a:spcAft>
            </a:pPr>
            <a:r>
              <a:rPr lang="en-AU" sz="2200" dirty="0" smtClean="0">
                <a:latin typeface="Helvetica" pitchFamily="34" charset="0"/>
              </a:rPr>
              <a:t>Highlighting the features of the travel                            products and services</a:t>
            </a:r>
          </a:p>
          <a:p>
            <a:pPr lvl="0">
              <a:spcBef>
                <a:spcPts val="600"/>
              </a:spcBef>
              <a:spcAft>
                <a:spcPts val="600"/>
              </a:spcAft>
            </a:pPr>
            <a:r>
              <a:rPr lang="en-AU" sz="2200" dirty="0" smtClean="0">
                <a:latin typeface="Helvetica" pitchFamily="34" charset="0"/>
              </a:rPr>
              <a:t>Converting the features into benefits                                 and recapping them</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109</a:t>
            </a:fld>
            <a:endParaRPr lang="en-US" dirty="0">
              <a:latin typeface="Helvetica" pitchFamily="34" charset="0"/>
            </a:endParaRPr>
          </a:p>
        </p:txBody>
      </p:sp>
      <p:pic>
        <p:nvPicPr>
          <p:cNvPr id="5" name="Picture 4" descr="shutterstock_82771591.jpg"/>
          <p:cNvPicPr>
            <a:picLocks noChangeAspect="1"/>
          </p:cNvPicPr>
          <p:nvPr/>
        </p:nvPicPr>
        <p:blipFill>
          <a:blip r:embed="rId3" cstate="print"/>
          <a:stretch>
            <a:fillRect/>
          </a:stretch>
        </p:blipFill>
        <p:spPr>
          <a:xfrm>
            <a:off x="5940152" y="4437802"/>
            <a:ext cx="2375076" cy="158417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AU" sz="3400" b="1" dirty="0" smtClean="0">
                <a:solidFill>
                  <a:srgbClr val="FF6600"/>
                </a:solidFill>
                <a:latin typeface="Helvetica" pitchFamily="34" charset="0"/>
              </a:rPr>
              <a:t>Implement actions to close sale</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5301208"/>
          </a:xfrm>
        </p:spPr>
        <p:txBody>
          <a:bodyPr>
            <a:normAutofit/>
          </a:bodyPr>
          <a:lstStyle/>
          <a:p>
            <a:pPr>
              <a:spcBef>
                <a:spcPts val="600"/>
              </a:spcBef>
              <a:spcAft>
                <a:spcPts val="1200"/>
              </a:spcAft>
              <a:buNone/>
            </a:pPr>
            <a:r>
              <a:rPr lang="en-AU" sz="2200" b="1" dirty="0" smtClean="0">
                <a:latin typeface="Helvetica" pitchFamily="34" charset="0"/>
              </a:rPr>
              <a:t>Ways to encourage a purchase</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Converting the features into benefits, as appropriate, and recapping them</a:t>
            </a:r>
          </a:p>
          <a:p>
            <a:pPr lvl="0">
              <a:spcBef>
                <a:spcPts val="600"/>
              </a:spcBef>
              <a:spcAft>
                <a:spcPts val="1200"/>
              </a:spcAft>
            </a:pPr>
            <a:r>
              <a:rPr lang="en-AU" sz="2200" dirty="0" smtClean="0">
                <a:latin typeface="Helvetica" pitchFamily="34" charset="0"/>
              </a:rPr>
              <a:t>Discussing price with a view to making a deal</a:t>
            </a:r>
          </a:p>
          <a:p>
            <a:pPr lvl="0">
              <a:spcBef>
                <a:spcPts val="600"/>
              </a:spcBef>
              <a:spcAft>
                <a:spcPts val="1200"/>
              </a:spcAft>
            </a:pPr>
            <a:r>
              <a:rPr lang="en-AU" sz="2200" dirty="0" smtClean="0">
                <a:latin typeface="Helvetica" pitchFamily="34" charset="0"/>
              </a:rPr>
              <a:t>Mentioning that there is limited availability in travel products and services </a:t>
            </a:r>
          </a:p>
          <a:p>
            <a:pPr lvl="0">
              <a:spcBef>
                <a:spcPts val="600"/>
              </a:spcBef>
              <a:spcAft>
                <a:spcPts val="1200"/>
              </a:spcAft>
            </a:pPr>
            <a:r>
              <a:rPr lang="en-AU" sz="2200" dirty="0" smtClean="0">
                <a:latin typeface="Helvetica" pitchFamily="34" charset="0"/>
              </a:rPr>
              <a:t>Advising any special bonuses that                             accompany the purchase specific                                    travel products and services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110</a:t>
            </a:fld>
            <a:endParaRPr lang="en-US" dirty="0">
              <a:latin typeface="Helvetica" pitchFamily="34" charset="0"/>
            </a:endParaRPr>
          </a:p>
        </p:txBody>
      </p:sp>
      <p:pic>
        <p:nvPicPr>
          <p:cNvPr id="5" name="Picture 4" descr="W390_booknow_shutterstock_160420643.jpg"/>
          <p:cNvPicPr/>
          <p:nvPr/>
        </p:nvPicPr>
        <p:blipFill>
          <a:blip r:embed="rId3" cstate="print"/>
          <a:stretch>
            <a:fillRect/>
          </a:stretch>
        </p:blipFill>
        <p:spPr>
          <a:xfrm>
            <a:off x="6228184" y="4149080"/>
            <a:ext cx="2088232" cy="187220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AU" sz="3400" b="1" dirty="0" smtClean="0">
                <a:solidFill>
                  <a:srgbClr val="FF6600"/>
                </a:solidFill>
                <a:latin typeface="Helvetica" pitchFamily="34" charset="0"/>
              </a:rPr>
              <a:t>Implement actions to close sale</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5301208"/>
          </a:xfrm>
        </p:spPr>
        <p:txBody>
          <a:bodyPr>
            <a:normAutofit/>
          </a:bodyPr>
          <a:lstStyle/>
          <a:p>
            <a:pPr>
              <a:spcBef>
                <a:spcPts val="600"/>
              </a:spcBef>
              <a:spcAft>
                <a:spcPts val="1200"/>
              </a:spcAft>
              <a:buNone/>
            </a:pPr>
            <a:r>
              <a:rPr lang="en-AU" sz="2200" b="1" dirty="0" smtClean="0">
                <a:latin typeface="Helvetica" pitchFamily="34" charset="0"/>
              </a:rPr>
              <a:t>Ways to encourage a purchase</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Reinforcing any positive orientations that the customer has indicated with reference to the travel plans and quotation</a:t>
            </a:r>
          </a:p>
          <a:p>
            <a:pPr lvl="0">
              <a:spcBef>
                <a:spcPts val="600"/>
              </a:spcBef>
              <a:spcAft>
                <a:spcPts val="1200"/>
              </a:spcAft>
            </a:pPr>
            <a:r>
              <a:rPr lang="en-AU" sz="2200" dirty="0" smtClean="0">
                <a:latin typeface="Helvetica" pitchFamily="34" charset="0"/>
              </a:rPr>
              <a:t>Providing approved marketing materials and gifts to encourage a buying decision</a:t>
            </a:r>
          </a:p>
          <a:p>
            <a:pPr lvl="0">
              <a:spcBef>
                <a:spcPts val="600"/>
              </a:spcBef>
              <a:spcAft>
                <a:spcPts val="1200"/>
              </a:spcAft>
            </a:pPr>
            <a:r>
              <a:rPr lang="en-AU" sz="2200" dirty="0" smtClean="0">
                <a:latin typeface="Helvetica" pitchFamily="34" charset="0"/>
              </a:rPr>
              <a:t>Providing testimonials from satisfied clients</a:t>
            </a:r>
          </a:p>
          <a:p>
            <a:pPr lvl="0">
              <a:spcBef>
                <a:spcPts val="600"/>
              </a:spcBef>
              <a:spcAft>
                <a:spcPts val="1200"/>
              </a:spcAft>
            </a:pPr>
            <a:r>
              <a:rPr lang="en-AU" sz="2200" dirty="0" smtClean="0">
                <a:latin typeface="Helvetica" pitchFamily="34" charset="0"/>
              </a:rPr>
              <a:t>Supplying sample products and services, </a:t>
            </a:r>
            <a:br>
              <a:rPr lang="en-AU" sz="2200" dirty="0" smtClean="0">
                <a:latin typeface="Helvetica" pitchFamily="34" charset="0"/>
              </a:rPr>
            </a:br>
            <a:r>
              <a:rPr lang="en-AU" sz="2200" dirty="0" smtClean="0">
                <a:latin typeface="Helvetica" pitchFamily="34" charset="0"/>
              </a:rPr>
              <a:t>including the provision of complimentary </a:t>
            </a:r>
            <a:br>
              <a:rPr lang="en-AU" sz="2200" dirty="0" smtClean="0">
                <a:latin typeface="Helvetica" pitchFamily="34" charset="0"/>
              </a:rPr>
            </a:br>
            <a:r>
              <a:rPr lang="en-AU" sz="2200" dirty="0" smtClean="0">
                <a:latin typeface="Helvetica" pitchFamily="34" charset="0"/>
              </a:rPr>
              <a:t>trips to significant, large group and/or </a:t>
            </a:r>
            <a:br>
              <a:rPr lang="en-AU" sz="2200" dirty="0" smtClean="0">
                <a:latin typeface="Helvetica" pitchFamily="34" charset="0"/>
              </a:rPr>
            </a:br>
            <a:r>
              <a:rPr lang="en-AU" sz="2200" dirty="0" smtClean="0">
                <a:latin typeface="Helvetica" pitchFamily="34" charset="0"/>
              </a:rPr>
              <a:t>VIP clients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111</a:t>
            </a:fld>
            <a:endParaRPr lang="en-US" dirty="0">
              <a:latin typeface="Helvetica" pitchFamily="34" charset="0"/>
            </a:endParaRPr>
          </a:p>
        </p:txBody>
      </p:sp>
      <p:pic>
        <p:nvPicPr>
          <p:cNvPr id="5" name="Picture 4" descr="W514_lady_sitting_smiling_185647358.jpg"/>
          <p:cNvPicPr/>
          <p:nvPr/>
        </p:nvPicPr>
        <p:blipFill>
          <a:blip r:embed="rId3" cstate="print"/>
          <a:stretch>
            <a:fillRect/>
          </a:stretch>
        </p:blipFill>
        <p:spPr>
          <a:xfrm>
            <a:off x="6300192" y="4437112"/>
            <a:ext cx="2088232" cy="141557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AU" sz="3400" b="1" dirty="0" smtClean="0">
                <a:solidFill>
                  <a:srgbClr val="FF6600"/>
                </a:solidFill>
                <a:latin typeface="Helvetica" pitchFamily="34" charset="0"/>
              </a:rPr>
              <a:t>Implement actions to close sale</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Closing methods</a:t>
            </a:r>
          </a:p>
          <a:p>
            <a:pPr marL="0">
              <a:spcBef>
                <a:spcPts val="600"/>
              </a:spcBef>
              <a:spcAft>
                <a:spcPts val="1200"/>
              </a:spcAft>
              <a:buNone/>
            </a:pPr>
            <a:r>
              <a:rPr lang="en-AU" sz="2200" dirty="0" smtClean="0">
                <a:latin typeface="Helvetica" pitchFamily="34" charset="0"/>
              </a:rPr>
              <a:t>There are three main closes that can be used to secure the sale:</a:t>
            </a:r>
          </a:p>
          <a:p>
            <a:pPr>
              <a:spcBef>
                <a:spcPts val="600"/>
              </a:spcBef>
              <a:spcAft>
                <a:spcPts val="1200"/>
              </a:spcAft>
            </a:pPr>
            <a:r>
              <a:rPr lang="en-AU" sz="2200" dirty="0" smtClean="0">
                <a:latin typeface="Helvetica" pitchFamily="34" charset="0"/>
              </a:rPr>
              <a:t>Direct method</a:t>
            </a:r>
          </a:p>
          <a:p>
            <a:pPr>
              <a:spcBef>
                <a:spcPts val="600"/>
              </a:spcBef>
              <a:spcAft>
                <a:spcPts val="1200"/>
              </a:spcAft>
            </a:pPr>
            <a:r>
              <a:rPr lang="en-AU" sz="2200" dirty="0" smtClean="0">
                <a:latin typeface="Helvetica" pitchFamily="34" charset="0"/>
              </a:rPr>
              <a:t>‘Pick one’ method</a:t>
            </a:r>
          </a:p>
          <a:p>
            <a:pPr>
              <a:spcBef>
                <a:spcPts val="600"/>
              </a:spcBef>
              <a:spcAft>
                <a:spcPts val="1200"/>
              </a:spcAft>
            </a:pPr>
            <a:r>
              <a:rPr lang="en-AU" sz="2200" dirty="0" smtClean="0">
                <a:latin typeface="Helvetica" pitchFamily="34" charset="0"/>
              </a:rPr>
              <a:t>Recap method</a:t>
            </a: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112</a:t>
            </a:fld>
            <a:endParaRPr lang="en-US" dirty="0">
              <a:latin typeface="Helvetica" pitchFamily="34" charset="0"/>
            </a:endParaRPr>
          </a:p>
        </p:txBody>
      </p:sp>
      <p:pic>
        <p:nvPicPr>
          <p:cNvPr id="5" name="Picture 4" descr="shutterstock_104307113.jpg"/>
          <p:cNvPicPr>
            <a:picLocks noChangeAspect="1"/>
          </p:cNvPicPr>
          <p:nvPr/>
        </p:nvPicPr>
        <p:blipFill>
          <a:blip r:embed="rId3" cstate="print"/>
          <a:stretch>
            <a:fillRect/>
          </a:stretch>
        </p:blipFill>
        <p:spPr>
          <a:xfrm>
            <a:off x="4355976" y="3085310"/>
            <a:ext cx="3087632" cy="201622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AU" sz="3400" b="1" dirty="0" smtClean="0">
                <a:solidFill>
                  <a:srgbClr val="FF6600"/>
                </a:solidFill>
                <a:latin typeface="Helvetica" pitchFamily="34" charset="0"/>
              </a:rPr>
              <a:t>Implement actions to close sale</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5301208"/>
          </a:xfrm>
        </p:spPr>
        <p:txBody>
          <a:bodyPr>
            <a:normAutofit/>
          </a:bodyPr>
          <a:lstStyle/>
          <a:p>
            <a:pPr>
              <a:spcBef>
                <a:spcPts val="600"/>
              </a:spcBef>
              <a:spcAft>
                <a:spcPts val="1200"/>
              </a:spcAft>
              <a:buNone/>
            </a:pPr>
            <a:r>
              <a:rPr lang="en-AU" sz="2200" b="1" dirty="0" smtClean="0">
                <a:latin typeface="Helvetica" pitchFamily="34" charset="0"/>
              </a:rPr>
              <a:t>Thanking the customer for the sale</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When a sale has been made, it is essential to thank the customer.</a:t>
            </a:r>
          </a:p>
          <a:p>
            <a:pPr>
              <a:spcBef>
                <a:spcPts val="600"/>
              </a:spcBef>
              <a:spcAft>
                <a:spcPts val="1200"/>
              </a:spcAft>
              <a:buNone/>
            </a:pPr>
            <a:r>
              <a:rPr lang="en-AU" sz="2200" dirty="0" smtClean="0">
                <a:latin typeface="Helvetica" pitchFamily="34" charset="0"/>
              </a:rPr>
              <a:t>This may come in the form of:</a:t>
            </a:r>
          </a:p>
          <a:p>
            <a:pPr lvl="0">
              <a:spcBef>
                <a:spcPts val="600"/>
              </a:spcBef>
              <a:spcAft>
                <a:spcPts val="1200"/>
              </a:spcAft>
            </a:pPr>
            <a:r>
              <a:rPr lang="en-AU" sz="2200" dirty="0" smtClean="0">
                <a:latin typeface="Helvetica" pitchFamily="34" charset="0"/>
              </a:rPr>
              <a:t>Congratulating the client when they make their positive buying decision</a:t>
            </a:r>
          </a:p>
          <a:p>
            <a:pPr lvl="0">
              <a:spcBef>
                <a:spcPts val="600"/>
              </a:spcBef>
              <a:spcAft>
                <a:spcPts val="1200"/>
              </a:spcAft>
            </a:pPr>
            <a:r>
              <a:rPr lang="en-AU" sz="2200" dirty="0" smtClean="0">
                <a:latin typeface="Helvetica" pitchFamily="34" charset="0"/>
              </a:rPr>
              <a:t>Thanking the client for their business</a:t>
            </a:r>
          </a:p>
          <a:p>
            <a:pPr lvl="0">
              <a:spcBef>
                <a:spcPts val="600"/>
              </a:spcBef>
              <a:spcAft>
                <a:spcPts val="1200"/>
              </a:spcAft>
            </a:pPr>
            <a:r>
              <a:rPr lang="en-AU" sz="2200" dirty="0" smtClean="0">
                <a:latin typeface="Helvetica" pitchFamily="34" charset="0"/>
              </a:rPr>
              <a:t>Encouraging the client to make further </a:t>
            </a:r>
            <a:br>
              <a:rPr lang="en-AU" sz="2200" dirty="0" smtClean="0">
                <a:latin typeface="Helvetica" pitchFamily="34" charset="0"/>
              </a:rPr>
            </a:br>
            <a:r>
              <a:rPr lang="en-AU" sz="2200" dirty="0" smtClean="0">
                <a:latin typeface="Helvetica" pitchFamily="34" charset="0"/>
              </a:rPr>
              <a:t>purchases</a:t>
            </a: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113</a:t>
            </a:fld>
            <a:endParaRPr lang="en-US" dirty="0">
              <a:latin typeface="Helvetica" pitchFamily="34" charset="0"/>
            </a:endParaRPr>
          </a:p>
        </p:txBody>
      </p:sp>
      <p:pic>
        <p:nvPicPr>
          <p:cNvPr id="5" name="Picture 4" descr="W514_lady_sitting_smiling_185647358.jpg"/>
          <p:cNvPicPr>
            <a:picLocks noChangeAspect="1"/>
          </p:cNvPicPr>
          <p:nvPr/>
        </p:nvPicPr>
        <p:blipFill>
          <a:blip r:embed="rId3" cstate="print"/>
          <a:stretch>
            <a:fillRect/>
          </a:stretch>
        </p:blipFill>
        <p:spPr>
          <a:xfrm>
            <a:off x="5978645" y="4077072"/>
            <a:ext cx="2423390" cy="161559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AU" sz="3400" b="1" dirty="0" smtClean="0">
                <a:solidFill>
                  <a:srgbClr val="FF6600"/>
                </a:solidFill>
                <a:latin typeface="Helvetica" pitchFamily="34" charset="0"/>
              </a:rPr>
              <a:t>Implement actions to close sale</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Overcoming objections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What are reasons for objections?</a:t>
            </a:r>
          </a:p>
          <a:p>
            <a:pPr lvl="0">
              <a:spcBef>
                <a:spcPts val="600"/>
              </a:spcBef>
              <a:spcAft>
                <a:spcPts val="1200"/>
              </a:spcAft>
            </a:pPr>
            <a:r>
              <a:rPr lang="en-AU" sz="2200" dirty="0" smtClean="0">
                <a:latin typeface="Helvetica" pitchFamily="34" charset="0"/>
              </a:rPr>
              <a:t>How should you handle them?</a:t>
            </a: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114</a:t>
            </a:fld>
            <a:endParaRPr lang="en-US" dirty="0">
              <a:latin typeface="Helvetica" pitchFamily="34" charset="0"/>
            </a:endParaRPr>
          </a:p>
        </p:txBody>
      </p:sp>
      <p:pic>
        <p:nvPicPr>
          <p:cNvPr id="5" name="Picture 4" descr="W574_shutterstock_181388474.jpg"/>
          <p:cNvPicPr/>
          <p:nvPr/>
        </p:nvPicPr>
        <p:blipFill>
          <a:blip r:embed="rId3" cstate="print"/>
          <a:stretch>
            <a:fillRect/>
          </a:stretch>
        </p:blipFill>
        <p:spPr>
          <a:xfrm>
            <a:off x="2483768" y="3212976"/>
            <a:ext cx="2448272" cy="280831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AU" sz="3400" b="1" dirty="0" smtClean="0">
                <a:solidFill>
                  <a:srgbClr val="FF6600"/>
                </a:solidFill>
                <a:latin typeface="Helvetica" pitchFamily="34" charset="0"/>
              </a:rPr>
              <a:t>Post sale activities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5301208"/>
          </a:xfrm>
        </p:spPr>
        <p:txBody>
          <a:bodyPr>
            <a:normAutofit/>
          </a:bodyPr>
          <a:lstStyle/>
          <a:p>
            <a:pPr>
              <a:spcBef>
                <a:spcPts val="600"/>
              </a:spcBef>
              <a:spcAft>
                <a:spcPts val="1200"/>
              </a:spcAft>
              <a:buNone/>
            </a:pPr>
            <a:r>
              <a:rPr lang="en-AU" sz="2200" b="1" dirty="0" smtClean="0">
                <a:latin typeface="Helvetica" pitchFamily="34" charset="0"/>
              </a:rPr>
              <a:t>Types of post sale activities</a:t>
            </a:r>
          </a:p>
          <a:p>
            <a:pPr marL="0">
              <a:spcBef>
                <a:spcPts val="600"/>
              </a:spcBef>
              <a:spcAft>
                <a:spcPts val="1200"/>
              </a:spcAft>
              <a:buNone/>
            </a:pPr>
            <a:r>
              <a:rPr lang="en-AU" sz="2200" dirty="0" smtClean="0">
                <a:latin typeface="Helvetica" pitchFamily="34" charset="0"/>
              </a:rPr>
              <a:t>Once you have closed the sale, there are still many things that need to be done.</a:t>
            </a:r>
          </a:p>
          <a:p>
            <a:pPr marL="0">
              <a:spcBef>
                <a:spcPts val="600"/>
              </a:spcBef>
              <a:spcAft>
                <a:spcPts val="1200"/>
              </a:spcAft>
              <a:buNone/>
            </a:pPr>
            <a:r>
              <a:rPr lang="en-AU" sz="2200" dirty="0" smtClean="0">
                <a:latin typeface="Helvetica" pitchFamily="34" charset="0"/>
              </a:rPr>
              <a:t>In many cases, the act of making the sale is merely the beginning of a host of activities and bookings that need to take place:</a:t>
            </a:r>
          </a:p>
          <a:p>
            <a:pPr>
              <a:spcBef>
                <a:spcPts val="600"/>
              </a:spcBef>
              <a:spcAft>
                <a:spcPts val="1200"/>
              </a:spcAft>
            </a:pPr>
            <a:r>
              <a:rPr lang="en-AU" sz="2200" dirty="0" smtClean="0">
                <a:latin typeface="Helvetica" pitchFamily="34" charset="0"/>
              </a:rPr>
              <a:t>What are examples of post sale activities?</a:t>
            </a: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115</a:t>
            </a:fld>
            <a:endParaRPr lang="en-US" dirty="0">
              <a:latin typeface="Helvetica" pitchFamily="34" charset="0"/>
            </a:endParaRPr>
          </a:p>
        </p:txBody>
      </p:sp>
      <p:pic>
        <p:nvPicPr>
          <p:cNvPr id="6" name="Picture 5" descr="W553_men_checking_file_51616180 NH.jpg"/>
          <p:cNvPicPr>
            <a:picLocks noChangeAspect="1"/>
          </p:cNvPicPr>
          <p:nvPr/>
        </p:nvPicPr>
        <p:blipFill>
          <a:blip r:embed="rId3" cstate="print"/>
          <a:stretch>
            <a:fillRect/>
          </a:stretch>
        </p:blipFill>
        <p:spPr>
          <a:xfrm>
            <a:off x="2311815" y="4509120"/>
            <a:ext cx="2489254" cy="165618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AU" sz="3400" b="1" dirty="0" smtClean="0">
                <a:solidFill>
                  <a:srgbClr val="FF6600"/>
                </a:solidFill>
                <a:latin typeface="Helvetica" pitchFamily="34" charset="0"/>
              </a:rPr>
              <a:t>Post sale activities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5301208"/>
          </a:xfrm>
        </p:spPr>
        <p:txBody>
          <a:bodyPr>
            <a:normAutofit/>
          </a:bodyPr>
          <a:lstStyle/>
          <a:p>
            <a:pPr>
              <a:spcBef>
                <a:spcPts val="600"/>
              </a:spcBef>
              <a:spcAft>
                <a:spcPts val="1200"/>
              </a:spcAft>
              <a:buNone/>
            </a:pPr>
            <a:r>
              <a:rPr lang="en-AU" sz="2200" b="1" dirty="0" smtClean="0">
                <a:latin typeface="Helvetica" pitchFamily="34" charset="0"/>
              </a:rPr>
              <a:t>Recording changes</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Recording changes may include:</a:t>
            </a:r>
          </a:p>
          <a:p>
            <a:pPr lvl="0">
              <a:spcBef>
                <a:spcPts val="600"/>
              </a:spcBef>
              <a:spcAft>
                <a:spcPts val="1200"/>
              </a:spcAft>
            </a:pPr>
            <a:r>
              <a:rPr lang="en-AU" sz="2200" dirty="0" smtClean="0">
                <a:latin typeface="Helvetica" pitchFamily="34" charset="0"/>
              </a:rPr>
              <a:t>Up-dating quotation files</a:t>
            </a:r>
          </a:p>
          <a:p>
            <a:pPr lvl="0">
              <a:spcBef>
                <a:spcPts val="600"/>
              </a:spcBef>
              <a:spcAft>
                <a:spcPts val="1200"/>
              </a:spcAft>
            </a:pPr>
            <a:r>
              <a:rPr lang="en-AU" sz="2200" dirty="0" smtClean="0">
                <a:latin typeface="Helvetica" pitchFamily="34" charset="0"/>
              </a:rPr>
              <a:t>Notifying relevant other personnel and departments</a:t>
            </a:r>
          </a:p>
          <a:p>
            <a:pPr lvl="0">
              <a:spcBef>
                <a:spcPts val="600"/>
              </a:spcBef>
              <a:spcAft>
                <a:spcPts val="1200"/>
              </a:spcAft>
            </a:pPr>
            <a:r>
              <a:rPr lang="en-AU" sz="2200" dirty="0" smtClean="0">
                <a:latin typeface="Helvetica" pitchFamily="34" charset="0"/>
              </a:rPr>
              <a:t>Notifying suppliers, providers and carriers, where appropriate</a:t>
            </a: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116</a:t>
            </a:fld>
            <a:endParaRPr lang="en-US" dirty="0">
              <a:latin typeface="Helvetica" pitchFamily="34" charset="0"/>
            </a:endParaRPr>
          </a:p>
        </p:txBody>
      </p:sp>
      <p:pic>
        <p:nvPicPr>
          <p:cNvPr id="5" name="Picture 4" descr="W607_shutterstock_169040459.jpg"/>
          <p:cNvPicPr/>
          <p:nvPr/>
        </p:nvPicPr>
        <p:blipFill>
          <a:blip r:embed="rId3" cstate="print"/>
          <a:stretch>
            <a:fillRect/>
          </a:stretch>
        </p:blipFill>
        <p:spPr>
          <a:xfrm>
            <a:off x="2699792" y="4221088"/>
            <a:ext cx="2592288" cy="1800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AU" sz="3400" b="1" dirty="0" smtClean="0">
                <a:solidFill>
                  <a:srgbClr val="FF6600"/>
                </a:solidFill>
                <a:latin typeface="Helvetica" pitchFamily="34" charset="0"/>
              </a:rPr>
              <a:t>Post sale activities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Types of post-sale activities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Make the reservations</a:t>
            </a:r>
          </a:p>
          <a:p>
            <a:pPr lvl="0">
              <a:spcBef>
                <a:spcPts val="600"/>
              </a:spcBef>
              <a:spcAft>
                <a:spcPts val="1200"/>
              </a:spcAft>
            </a:pPr>
            <a:r>
              <a:rPr lang="en-AU" sz="2200" dirty="0" smtClean="0">
                <a:latin typeface="Helvetica" pitchFamily="34" charset="0"/>
              </a:rPr>
              <a:t>Issue tickets and vouchers</a:t>
            </a:r>
          </a:p>
          <a:p>
            <a:pPr lvl="0">
              <a:spcBef>
                <a:spcPts val="600"/>
              </a:spcBef>
              <a:spcAft>
                <a:spcPts val="1200"/>
              </a:spcAft>
            </a:pPr>
            <a:r>
              <a:rPr lang="en-AU" sz="2200" dirty="0" smtClean="0">
                <a:latin typeface="Helvetica" pitchFamily="34" charset="0"/>
              </a:rPr>
              <a:t>Final detailed itinerary</a:t>
            </a:r>
          </a:p>
          <a:p>
            <a:pPr lvl="0">
              <a:spcBef>
                <a:spcPts val="600"/>
              </a:spcBef>
              <a:spcAft>
                <a:spcPts val="1200"/>
              </a:spcAft>
            </a:pPr>
            <a:r>
              <a:rPr lang="en-AU" sz="2200" dirty="0" smtClean="0">
                <a:latin typeface="Helvetica" pitchFamily="34" charset="0"/>
              </a:rPr>
              <a:t>Balance the finances, client has paid the correct amount and it has been dispersed to suppliers, wholesalers and operators</a:t>
            </a: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117</a:t>
            </a:fld>
            <a:endParaRPr lang="en-US" dirty="0">
              <a:latin typeface="Helvetica" pitchFamily="34" charset="0"/>
            </a:endParaRPr>
          </a:p>
        </p:txBody>
      </p:sp>
      <p:pic>
        <p:nvPicPr>
          <p:cNvPr id="5" name="Picture 4" descr="W5_asian_passport_shutterstock_155711105.jpg"/>
          <p:cNvPicPr/>
          <p:nvPr/>
        </p:nvPicPr>
        <p:blipFill>
          <a:blip r:embed="rId3" cstate="print"/>
          <a:stretch>
            <a:fillRect/>
          </a:stretch>
        </p:blipFill>
        <p:spPr>
          <a:xfrm>
            <a:off x="5580112" y="1052736"/>
            <a:ext cx="2232248" cy="25202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AU" sz="3400" b="1" dirty="0" smtClean="0">
                <a:solidFill>
                  <a:srgbClr val="FF6600"/>
                </a:solidFill>
                <a:latin typeface="Helvetica" pitchFamily="34" charset="0"/>
              </a:rPr>
              <a:t>Post sale activities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5301208"/>
          </a:xfrm>
        </p:spPr>
        <p:txBody>
          <a:bodyPr>
            <a:normAutofit/>
          </a:bodyPr>
          <a:lstStyle/>
          <a:p>
            <a:pPr>
              <a:spcBef>
                <a:spcPts val="600"/>
              </a:spcBef>
              <a:spcAft>
                <a:spcPts val="1200"/>
              </a:spcAft>
              <a:buNone/>
            </a:pPr>
            <a:r>
              <a:rPr lang="en-AU" sz="2200" b="1" dirty="0" smtClean="0">
                <a:latin typeface="Helvetica" pitchFamily="34" charset="0"/>
              </a:rPr>
              <a:t>Types of post-sale activities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Check final documentation</a:t>
            </a:r>
          </a:p>
          <a:p>
            <a:pPr lvl="0">
              <a:spcBef>
                <a:spcPts val="600"/>
              </a:spcBef>
              <a:spcAft>
                <a:spcPts val="1200"/>
              </a:spcAft>
            </a:pPr>
            <a:r>
              <a:rPr lang="en-AU" sz="2200" dirty="0" smtClean="0">
                <a:latin typeface="Helvetica" pitchFamily="34" charset="0"/>
              </a:rPr>
              <a:t>Flight reservations have been confirmed</a:t>
            </a:r>
          </a:p>
          <a:p>
            <a:pPr lvl="0">
              <a:spcBef>
                <a:spcPts val="600"/>
              </a:spcBef>
              <a:spcAft>
                <a:spcPts val="1200"/>
              </a:spcAft>
            </a:pPr>
            <a:r>
              <a:rPr lang="en-AU" sz="2200" dirty="0" smtClean="0">
                <a:latin typeface="Helvetica" pitchFamily="34" charset="0"/>
              </a:rPr>
              <a:t>Any changes to the itinerary have been advised to the customer</a:t>
            </a:r>
          </a:p>
          <a:p>
            <a:pPr lvl="0">
              <a:spcBef>
                <a:spcPts val="600"/>
              </a:spcBef>
              <a:spcAft>
                <a:spcPts val="1200"/>
              </a:spcAft>
            </a:pPr>
            <a:r>
              <a:rPr lang="en-AU" sz="2200" dirty="0" smtClean="0">
                <a:latin typeface="Helvetica" pitchFamily="34" charset="0"/>
              </a:rPr>
              <a:t>Monitor changes to file after the </a:t>
            </a:r>
            <a:br>
              <a:rPr lang="en-AU" sz="2200" dirty="0" smtClean="0">
                <a:latin typeface="Helvetica" pitchFamily="34" charset="0"/>
              </a:rPr>
            </a:br>
            <a:r>
              <a:rPr lang="en-AU" sz="2200" dirty="0" smtClean="0">
                <a:latin typeface="Helvetica" pitchFamily="34" charset="0"/>
              </a:rPr>
              <a:t>passenger has departed</a:t>
            </a: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118</a:t>
            </a:fld>
            <a:endParaRPr lang="en-US" dirty="0">
              <a:latin typeface="Helvetica" pitchFamily="34" charset="0"/>
            </a:endParaRPr>
          </a:p>
        </p:txBody>
      </p:sp>
      <p:pic>
        <p:nvPicPr>
          <p:cNvPr id="5" name="Picture 4" descr="shutterstock_33607714.jpg"/>
          <p:cNvPicPr>
            <a:picLocks noChangeAspect="1"/>
          </p:cNvPicPr>
          <p:nvPr/>
        </p:nvPicPr>
        <p:blipFill>
          <a:blip r:embed="rId3" cstate="print"/>
          <a:stretch>
            <a:fillRect/>
          </a:stretch>
        </p:blipFill>
        <p:spPr>
          <a:xfrm>
            <a:off x="5674188" y="4006819"/>
            <a:ext cx="2736304" cy="18251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AU" sz="3400" b="1" dirty="0" smtClean="0">
                <a:solidFill>
                  <a:srgbClr val="FF6600"/>
                </a:solidFill>
                <a:latin typeface="Helvetica" pitchFamily="34" charset="0"/>
              </a:rPr>
              <a:t>Post sale activities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Communicating with past customers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Why is this important?</a:t>
            </a:r>
          </a:p>
          <a:p>
            <a:pPr lvl="0">
              <a:spcBef>
                <a:spcPts val="600"/>
              </a:spcBef>
              <a:spcAft>
                <a:spcPts val="1200"/>
              </a:spcAft>
            </a:pPr>
            <a:r>
              <a:rPr lang="en-AU" sz="2200" dirty="0" smtClean="0">
                <a:latin typeface="Helvetica" pitchFamily="34" charset="0"/>
              </a:rPr>
              <a:t>How can you do it?</a:t>
            </a:r>
          </a:p>
          <a:p>
            <a:pPr lvl="0">
              <a:spcBef>
                <a:spcPts val="600"/>
              </a:spcBef>
              <a:spcAft>
                <a:spcPts val="1200"/>
              </a:spcAft>
            </a:pPr>
            <a:r>
              <a:rPr lang="en-AU" sz="2200" dirty="0" smtClean="0">
                <a:latin typeface="Helvetica" pitchFamily="34" charset="0"/>
              </a:rPr>
              <a:t>What is the message that should be sent when contacting past customers?</a:t>
            </a: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119</a:t>
            </a:fld>
            <a:endParaRPr lang="en-US" dirty="0">
              <a:latin typeface="Helvetica" pitchFamily="34" charset="0"/>
            </a:endParaRPr>
          </a:p>
        </p:txBody>
      </p:sp>
      <p:pic>
        <p:nvPicPr>
          <p:cNvPr id="5" name="Picture 4" descr="W23_elderly_chineseman_shutterstock_130349294.jpg"/>
          <p:cNvPicPr/>
          <p:nvPr/>
        </p:nvPicPr>
        <p:blipFill>
          <a:blip r:embed="rId3" cstate="print"/>
          <a:stretch>
            <a:fillRect/>
          </a:stretch>
        </p:blipFill>
        <p:spPr>
          <a:xfrm>
            <a:off x="5689660" y="4005064"/>
            <a:ext cx="2736304" cy="187220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15616" y="1556792"/>
            <a:ext cx="7128792" cy="4680520"/>
          </a:xfrm>
        </p:spPr>
        <p:txBody>
          <a:bodyPr>
            <a:normAutofit/>
          </a:bodyPr>
          <a:lstStyle/>
          <a:p>
            <a:pPr>
              <a:buNone/>
            </a:pPr>
            <a:r>
              <a:rPr lang="en-AU" sz="3600" b="1" dirty="0" smtClean="0">
                <a:solidFill>
                  <a:srgbClr val="FF6600"/>
                </a:solidFill>
                <a:latin typeface="Helvetica" pitchFamily="34" charset="0"/>
                <a:cs typeface="Helvetica" pitchFamily="34" charset="0"/>
              </a:rPr>
              <a:t>Finish:</a:t>
            </a:r>
          </a:p>
          <a:p>
            <a:pPr>
              <a:buNone/>
            </a:pPr>
            <a:r>
              <a:rPr lang="en-AU" sz="3600" b="1" i="1" dirty="0" smtClean="0">
                <a:solidFill>
                  <a:srgbClr val="FF6600"/>
                </a:solidFill>
                <a:latin typeface="Helvetica" pitchFamily="34" charset="0"/>
                <a:cs typeface="Helvetica" pitchFamily="34" charset="0"/>
              </a:rPr>
              <a:t>Thank you!</a:t>
            </a:r>
          </a:p>
          <a:p>
            <a:pPr>
              <a:spcBef>
                <a:spcPts val="600"/>
              </a:spcBef>
              <a:spcAft>
                <a:spcPts val="1200"/>
              </a:spcAft>
            </a:pPr>
            <a:endParaRPr lang="en-AU" sz="3600" b="1" dirty="0" smtClean="0">
              <a:latin typeface="Helvetica" pitchFamily="34" charset="0"/>
              <a:cs typeface="Helvetica" pitchFamily="34" charset="0"/>
            </a:endParaRPr>
          </a:p>
          <a:p>
            <a:pPr>
              <a:spcBef>
                <a:spcPts val="600"/>
              </a:spcBef>
              <a:spcAft>
                <a:spcPts val="1200"/>
              </a:spcAft>
              <a:buNone/>
            </a:pPr>
            <a:endParaRPr lang="en-AU" sz="3600" b="1" dirty="0" smtClean="0">
              <a:latin typeface="Helvetica" pitchFamily="34" charset="0"/>
              <a:cs typeface="Helvetica" pitchFamily="34" charset="0"/>
            </a:endParaRPr>
          </a:p>
          <a:p>
            <a:pPr lvl="0">
              <a:spcBef>
                <a:spcPts val="600"/>
              </a:spcBef>
              <a:spcAft>
                <a:spcPts val="600"/>
              </a:spcAft>
            </a:pPr>
            <a:endParaRPr lang="en-AU" sz="3600" b="1" dirty="0" smtClean="0">
              <a:latin typeface="Helvetica" pitchFamily="34" charset="0"/>
              <a:cs typeface="Helvetica" pitchFamily="34" charset="0"/>
            </a:endParaRPr>
          </a:p>
          <a:p>
            <a:pPr>
              <a:buNone/>
            </a:pPr>
            <a:endParaRPr lang="en-AU" sz="3600" b="1" dirty="0" smtClean="0">
              <a:latin typeface="Helvetica" pitchFamily="34" charset="0"/>
              <a:cs typeface="Helvetica" pitchFamily="34" charset="0"/>
            </a:endParaRPr>
          </a:p>
          <a:p>
            <a:pPr lvl="0">
              <a:spcBef>
                <a:spcPts val="600"/>
              </a:spcBef>
              <a:spcAft>
                <a:spcPts val="1200"/>
              </a:spcAft>
            </a:pPr>
            <a:endParaRPr lang="en-AU" sz="3600" b="1" dirty="0" smtClean="0">
              <a:latin typeface="Helvetica" pitchFamily="34" charset="0"/>
              <a:cs typeface="Helvetica" pitchFamily="34" charset="0"/>
            </a:endParaRPr>
          </a:p>
          <a:p>
            <a:pPr marL="0">
              <a:spcBef>
                <a:spcPts val="600"/>
              </a:spcBef>
              <a:spcAft>
                <a:spcPts val="1200"/>
              </a:spcAft>
              <a:buNone/>
            </a:pPr>
            <a:endParaRPr lang="en-AU" sz="3600" b="1" dirty="0" smtClean="0">
              <a:latin typeface="Helvetica" pitchFamily="34" charset="0"/>
              <a:cs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120</a:t>
            </a:fld>
            <a:endParaRPr lang="en-US" dirty="0"/>
          </a:p>
        </p:txBody>
      </p:sp>
      <p:pic>
        <p:nvPicPr>
          <p:cNvPr id="5" name="Picture 4" descr="W4_Asian_Man_Professional_shutterstock_153733442.jpg"/>
          <p:cNvPicPr>
            <a:picLocks noChangeAspect="1"/>
          </p:cNvPicPr>
          <p:nvPr/>
        </p:nvPicPr>
        <p:blipFill>
          <a:blip r:embed="rId3" cstate="print"/>
          <a:stretch>
            <a:fillRect/>
          </a:stretch>
        </p:blipFill>
        <p:spPr>
          <a:xfrm>
            <a:off x="4067944" y="1268760"/>
            <a:ext cx="3022824" cy="2016224"/>
          </a:xfrm>
          <a:prstGeom prst="rect">
            <a:avLst/>
          </a:prstGeom>
        </p:spPr>
      </p:pic>
    </p:spTree>
    <p:extLst>
      <p:ext uri="{BB962C8B-B14F-4D97-AF65-F5344CB8AC3E}">
        <p14:creationId xmlns:p14="http://schemas.microsoft.com/office/powerpoint/2010/main" val="2962922355"/>
      </p:ext>
    </p:extLst>
  </p:cSld>
  <p:clrMapOvr>
    <a:masterClrMapping/>
  </p:clrMapOvr>
  <p:timing>
    <p:tnLst>
      <p:par>
        <p:cTn id="1" dur="indefinite" restart="never" nodeType="tmRoot"/>
      </p:par>
    </p:tnLst>
  </p:timing>
</p:sld>
</file>

<file path=ppt/theme/theme1.xml><?xml version="1.0" encoding="utf-8"?>
<a:theme xmlns:a="http://schemas.openxmlformats.org/drawingml/2006/main" name="PPT_Tour_operation_&amp;_travel_agencies_template_130214">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PPT_Tour_operation_&amp;_travel_agencies_template_130214</Template>
  <TotalTime>787</TotalTime>
  <Words>7994</Words>
  <Application>Microsoft Office PowerPoint</Application>
  <PresentationFormat>On-screen Show (4:3)</PresentationFormat>
  <Paragraphs>1665</Paragraphs>
  <Slides>120</Slides>
  <Notes>120</Notes>
  <HiddenSlides>0</HiddenSlides>
  <MMClips>0</MMClips>
  <ScaleCrop>false</ScaleCrop>
  <HeadingPairs>
    <vt:vector size="4" baseType="variant">
      <vt:variant>
        <vt:lpstr>Theme</vt:lpstr>
      </vt:variant>
      <vt:variant>
        <vt:i4>1</vt:i4>
      </vt:variant>
      <vt:variant>
        <vt:lpstr>Slide Titles</vt:lpstr>
      </vt:variant>
      <vt:variant>
        <vt:i4>120</vt:i4>
      </vt:variant>
    </vt:vector>
  </HeadingPairs>
  <TitlesOfParts>
    <vt:vector size="121" baseType="lpstr">
      <vt:lpstr>PPT_Tour_operation_&amp;_travel_agencies_template_130214</vt:lpstr>
      <vt:lpstr>PREPARE AND SUBMIT QUOTATIONS</vt:lpstr>
      <vt:lpstr>Subject elements</vt:lpstr>
      <vt:lpstr>Assessment</vt:lpstr>
      <vt:lpstr>PowerPoint Presentation</vt:lpstr>
      <vt:lpstr>Identify the context for the quotation</vt:lpstr>
      <vt:lpstr>Quotations</vt:lpstr>
      <vt:lpstr>Quotations</vt:lpstr>
      <vt:lpstr>Quotations</vt:lpstr>
      <vt:lpstr>Quotations</vt:lpstr>
      <vt:lpstr>Identify quotation details</vt:lpstr>
      <vt:lpstr>Identify quotation details</vt:lpstr>
      <vt:lpstr>Identify quotation details</vt:lpstr>
      <vt:lpstr>Identify quotation details</vt:lpstr>
      <vt:lpstr>Identify quotation details</vt:lpstr>
      <vt:lpstr>PowerPoint Presentation</vt:lpstr>
      <vt:lpstr>Prepare the quotation</vt:lpstr>
      <vt:lpstr>Identify ways to record quotation</vt:lpstr>
      <vt:lpstr>Identify ways to record quotation</vt:lpstr>
      <vt:lpstr>Identify ways to record quotation</vt:lpstr>
      <vt:lpstr>Record quotation information</vt:lpstr>
      <vt:lpstr>Record quotation information</vt:lpstr>
      <vt:lpstr>Record quotation information</vt:lpstr>
      <vt:lpstr>Record quotation information</vt:lpstr>
      <vt:lpstr>Record quotation information</vt:lpstr>
      <vt:lpstr>Record quotation information</vt:lpstr>
      <vt:lpstr>Record quotation information</vt:lpstr>
      <vt:lpstr>Identify appropriate suppliers</vt:lpstr>
      <vt:lpstr>Identify appropriate suppliers</vt:lpstr>
      <vt:lpstr>Identify appropriate suppliers</vt:lpstr>
      <vt:lpstr>Identify appropriate suppliers</vt:lpstr>
      <vt:lpstr>Product and services information</vt:lpstr>
      <vt:lpstr>Product and services information</vt:lpstr>
      <vt:lpstr>Product and services information</vt:lpstr>
      <vt:lpstr>Product and services information</vt:lpstr>
      <vt:lpstr>Product and services information</vt:lpstr>
      <vt:lpstr>Types of suppliers</vt:lpstr>
      <vt:lpstr>Existing agreements with suppliers</vt:lpstr>
      <vt:lpstr>Role of suppliers</vt:lpstr>
      <vt:lpstr>Role of suppliers</vt:lpstr>
      <vt:lpstr>Identifying suppliers</vt:lpstr>
      <vt:lpstr>Identifying suppliers</vt:lpstr>
      <vt:lpstr>Calculating costs</vt:lpstr>
      <vt:lpstr>Calculating costs</vt:lpstr>
      <vt:lpstr>Calculating costs</vt:lpstr>
      <vt:lpstr>Calculating costs</vt:lpstr>
      <vt:lpstr>Calculating costs</vt:lpstr>
      <vt:lpstr>Calculating mark up and commissions</vt:lpstr>
      <vt:lpstr>Calculating additional costs</vt:lpstr>
      <vt:lpstr>Calculating currency exchange</vt:lpstr>
      <vt:lpstr>Calculating supplier costs</vt:lpstr>
      <vt:lpstr>Calculating supplier costs</vt:lpstr>
      <vt:lpstr>Terms and conditions</vt:lpstr>
      <vt:lpstr>Terms and conditions</vt:lpstr>
      <vt:lpstr>Terms and conditions</vt:lpstr>
      <vt:lpstr>Terms and conditions</vt:lpstr>
      <vt:lpstr>Terms and conditions</vt:lpstr>
      <vt:lpstr>Terms and conditions</vt:lpstr>
      <vt:lpstr>Prepare draft quotation</vt:lpstr>
      <vt:lpstr>Prepare draft quotation</vt:lpstr>
      <vt:lpstr>Prepare draft quotation</vt:lpstr>
      <vt:lpstr>Prepare draft quotation</vt:lpstr>
      <vt:lpstr>Prepare draft quotation</vt:lpstr>
      <vt:lpstr>Prepare draft quotation</vt:lpstr>
      <vt:lpstr>Submit draft quotation</vt:lpstr>
      <vt:lpstr>Submit draft quotation</vt:lpstr>
      <vt:lpstr>Amend draft quotation</vt:lpstr>
      <vt:lpstr>Amend draft quotation</vt:lpstr>
      <vt:lpstr>Amend draft quotation</vt:lpstr>
      <vt:lpstr>Record and file quotation</vt:lpstr>
      <vt:lpstr>Record and file quotation</vt:lpstr>
      <vt:lpstr>PowerPoint Presentation</vt:lpstr>
      <vt:lpstr>Submit the quotation</vt:lpstr>
      <vt:lpstr>Identify submission method</vt:lpstr>
      <vt:lpstr>Identify submission method</vt:lpstr>
      <vt:lpstr>Identify submission method</vt:lpstr>
      <vt:lpstr>Identify submission method</vt:lpstr>
      <vt:lpstr>Identify submission method</vt:lpstr>
      <vt:lpstr>Provide the quotation</vt:lpstr>
      <vt:lpstr>Provide the quotation</vt:lpstr>
      <vt:lpstr>Provide the quotation</vt:lpstr>
      <vt:lpstr>Prepare for the quotation presentation</vt:lpstr>
      <vt:lpstr>Expand and explain quotation</vt:lpstr>
      <vt:lpstr>Expand and explain quotation</vt:lpstr>
      <vt:lpstr>Expand and explain quotation</vt:lpstr>
      <vt:lpstr>Expand and explain quotation</vt:lpstr>
      <vt:lpstr>Encourage customer questions</vt:lpstr>
      <vt:lpstr>Encourage customer questions</vt:lpstr>
      <vt:lpstr>Encourage customer questions</vt:lpstr>
      <vt:lpstr>Encourage customer questions</vt:lpstr>
      <vt:lpstr>Encourage customer questions</vt:lpstr>
      <vt:lpstr>Encourage customer questions</vt:lpstr>
      <vt:lpstr>Ask questions</vt:lpstr>
      <vt:lpstr>Advise client of action to make booking</vt:lpstr>
      <vt:lpstr>Identify buying signals</vt:lpstr>
      <vt:lpstr>Identify buying signals</vt:lpstr>
      <vt:lpstr>Booking actions</vt:lpstr>
      <vt:lpstr>PowerPoint Presentation</vt:lpstr>
      <vt:lpstr>Follow-up the quotation</vt:lpstr>
      <vt:lpstr>Advise any changes</vt:lpstr>
      <vt:lpstr>Advise any changes</vt:lpstr>
      <vt:lpstr>Advise any changes</vt:lpstr>
      <vt:lpstr>Advise any changes</vt:lpstr>
      <vt:lpstr>Provide additional advice </vt:lpstr>
      <vt:lpstr>Provide additional advice </vt:lpstr>
      <vt:lpstr>Provide additional advice </vt:lpstr>
      <vt:lpstr>Maintain contact with customers</vt:lpstr>
      <vt:lpstr>Maintain contact with customers</vt:lpstr>
      <vt:lpstr>Maintain contact with customers</vt:lpstr>
      <vt:lpstr>Implement actions to close sale</vt:lpstr>
      <vt:lpstr>Implement actions to close sale</vt:lpstr>
      <vt:lpstr>Implement actions to close sale</vt:lpstr>
      <vt:lpstr>Implement actions to close sale</vt:lpstr>
      <vt:lpstr>Implement actions to close sale</vt:lpstr>
      <vt:lpstr>Implement actions to close sale</vt:lpstr>
      <vt:lpstr>Post sale activities</vt:lpstr>
      <vt:lpstr>Post sale activities</vt:lpstr>
      <vt:lpstr>Post sale activities</vt:lpstr>
      <vt:lpstr>Post sale activities</vt:lpstr>
      <vt:lpstr>Post sale activities</vt:lpstr>
      <vt:lpstr>PowerPoint Presentation</vt:lpstr>
    </vt:vector>
  </TitlesOfParts>
  <Company>William Angliss TAFE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PREPARE AND SUBMIT QUOTATIONS</dc:title>
  <dc:creator>Mai Vu</dc:creator>
  <cp:lastModifiedBy>Mai</cp:lastModifiedBy>
  <cp:revision>143</cp:revision>
  <dcterms:created xsi:type="dcterms:W3CDTF">2014-03-18T05:57:38Z</dcterms:created>
  <dcterms:modified xsi:type="dcterms:W3CDTF">2015-01-13T11:13:35Z</dcterms:modified>
</cp:coreProperties>
</file>