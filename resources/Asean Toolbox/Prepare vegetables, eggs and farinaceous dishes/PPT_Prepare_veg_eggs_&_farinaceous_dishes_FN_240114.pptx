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0"/>
  </p:notesMasterIdLst>
  <p:handoutMasterIdLst>
    <p:handoutMasterId r:id="rId31"/>
  </p:handoutMasterIdLst>
  <p:sldIdLst>
    <p:sldId id="256" r:id="rId2"/>
    <p:sldId id="257" r:id="rId3"/>
    <p:sldId id="262" r:id="rId4"/>
    <p:sldId id="263" r:id="rId5"/>
    <p:sldId id="264" r:id="rId6"/>
    <p:sldId id="288" r:id="rId7"/>
    <p:sldId id="265" r:id="rId8"/>
    <p:sldId id="286" r:id="rId9"/>
    <p:sldId id="266" r:id="rId10"/>
    <p:sldId id="289" r:id="rId11"/>
    <p:sldId id="267" r:id="rId12"/>
    <p:sldId id="268" r:id="rId13"/>
    <p:sldId id="269" r:id="rId14"/>
    <p:sldId id="273" r:id="rId15"/>
    <p:sldId id="274" r:id="rId16"/>
    <p:sldId id="270" r:id="rId17"/>
    <p:sldId id="271" r:id="rId18"/>
    <p:sldId id="275" r:id="rId19"/>
    <p:sldId id="276" r:id="rId20"/>
    <p:sldId id="272" r:id="rId21"/>
    <p:sldId id="277" r:id="rId22"/>
    <p:sldId id="278" r:id="rId23"/>
    <p:sldId id="279" r:id="rId24"/>
    <p:sldId id="282" r:id="rId25"/>
    <p:sldId id="283" r:id="rId26"/>
    <p:sldId id="280" r:id="rId27"/>
    <p:sldId id="281" r:id="rId28"/>
    <p:sldId id="284" r:id="rId29"/>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753" autoAdjust="0"/>
    <p:restoredTop sz="92294" autoAdjust="0"/>
  </p:normalViewPr>
  <p:slideViewPr>
    <p:cSldViewPr>
      <p:cViewPr varScale="1">
        <p:scale>
          <a:sx n="85" d="100"/>
          <a:sy n="85" d="100"/>
        </p:scale>
        <p:origin x="1362"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4/6/2015</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33767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4/6/2015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094672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Welcome Students to the class</a:t>
            </a:r>
          </a:p>
          <a:p>
            <a:endParaRPr lang="en-US" dirty="0" smtClean="0"/>
          </a:p>
          <a:p>
            <a:r>
              <a:rPr lang="en-US" dirty="0" smtClean="0"/>
              <a:t>Discus</a:t>
            </a:r>
            <a:r>
              <a:rPr lang="en-US" baseline="0" dirty="0" smtClean="0"/>
              <a:t> with Students your bone fide to lecture on this subject</a:t>
            </a:r>
          </a:p>
          <a:p>
            <a:endParaRPr lang="en-US" baseline="0" dirty="0" smtClean="0"/>
          </a:p>
          <a:p>
            <a:r>
              <a:rPr lang="en-US" baseline="0" dirty="0" smtClean="0"/>
              <a:t>Discuss you qualifications in the culinary fields of cooking and teaching background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31402862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dirty="0" smtClean="0"/>
          </a:p>
          <a:p>
            <a:r>
              <a:rPr lang="en-US" dirty="0" smtClean="0"/>
              <a:t>Trainer</a:t>
            </a:r>
            <a:r>
              <a:rPr lang="en-US" baseline="0" dirty="0" smtClean="0"/>
              <a:t> advises students that assessment for this Unit may take several forms all of which are aimed at verifying they have achieved competency for the Unit as required.</a:t>
            </a:r>
          </a:p>
          <a:p>
            <a:endParaRPr lang="en-US" baseline="0" dirty="0" smtClean="0"/>
          </a:p>
          <a:p>
            <a:r>
              <a:rPr lang="en-US" baseline="0" dirty="0" smtClean="0"/>
              <a:t>Trainer indicates to students the methods of assessment that will be applied to them for this Unit. </a:t>
            </a: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24154346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dirty="0" smtClean="0"/>
          </a:p>
          <a:p>
            <a:r>
              <a:rPr lang="en-US" dirty="0" smtClean="0"/>
              <a:t>Trainer advises students this Unit comprises four elements, as listed on the slide explaining:</a:t>
            </a:r>
          </a:p>
          <a:p>
            <a:endParaRPr lang="en-US" dirty="0" smtClean="0"/>
          </a:p>
          <a:p>
            <a:pPr>
              <a:buFont typeface="Arial" pitchFamily="34" charset="0"/>
              <a:buChar char="•"/>
            </a:pPr>
            <a:r>
              <a:rPr lang="en-US" dirty="0" smtClean="0"/>
              <a:t> Each Element comprises a number of Performance Criteria which will be identified throughout the class and explained in detail</a:t>
            </a:r>
          </a:p>
          <a:p>
            <a:pPr>
              <a:buFont typeface="Arial" pitchFamily="34" charset="0"/>
              <a:buChar char="•"/>
            </a:pPr>
            <a:r>
              <a:rPr lang="en-US" dirty="0" smtClean="0"/>
              <a:t> Students can obtain more detail from their Trainee Manual</a:t>
            </a:r>
          </a:p>
          <a:p>
            <a:pPr>
              <a:buFont typeface="Arial" pitchFamily="34" charset="0"/>
              <a:buChar char="•"/>
            </a:pPr>
            <a:r>
              <a:rPr lang="en-US" dirty="0" smtClean="0"/>
              <a:t> The course presents advice and information but where their workplace requirements differ to what is presented, the workplace practices and standards must be observed.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9963981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dirty="0" smtClean="0"/>
          </a:p>
          <a:p>
            <a:pPr>
              <a:buFontTx/>
              <a:buNone/>
            </a:pPr>
            <a:r>
              <a:rPr lang="en-US" b="0" dirty="0" smtClean="0"/>
              <a:t>Trainer to relate performance criteria to element 1</a:t>
            </a:r>
          </a:p>
          <a:p>
            <a:pPr>
              <a:buFontTx/>
              <a:buNone/>
            </a:pPr>
            <a:endParaRPr lang="en-US" b="0" dirty="0" smtClean="0"/>
          </a:p>
          <a:p>
            <a:pPr>
              <a:buFontTx/>
              <a:buNone/>
            </a:pPr>
            <a:r>
              <a:rPr lang="en-US" b="0" dirty="0" smtClean="0"/>
              <a:t>Performance criteria</a:t>
            </a:r>
            <a:r>
              <a:rPr lang="en-US" b="0" baseline="0" dirty="0" smtClean="0"/>
              <a:t> is the process by which the students training match the learning element</a:t>
            </a:r>
          </a:p>
          <a:p>
            <a:pPr>
              <a:buFontTx/>
              <a:buNone/>
            </a:pPr>
            <a:r>
              <a:rPr lang="en-US" baseline="0" dirty="0" smtClean="0"/>
              <a:t>The element is the skill</a:t>
            </a:r>
          </a:p>
          <a:p>
            <a:pPr>
              <a:buFontTx/>
              <a:buNone/>
            </a:pPr>
            <a:endParaRPr lang="en-US" baseline="0" dirty="0" smtClean="0"/>
          </a:p>
          <a:p>
            <a:pPr>
              <a:buFontTx/>
              <a:buNone/>
            </a:pPr>
            <a:r>
              <a:rPr lang="en-US" baseline="0" dirty="0" smtClean="0"/>
              <a:t>To assess competency in the skill; the performance criteria is used to outline activities that can be used to assess competency.</a:t>
            </a:r>
          </a:p>
          <a:p>
            <a:pPr>
              <a:buFontTx/>
              <a:buNone/>
            </a:pPr>
            <a:endParaRPr lang="en-US" baseline="0" dirty="0" smtClean="0"/>
          </a:p>
          <a:p>
            <a:pPr>
              <a:buFontTx/>
              <a:buNone/>
            </a:pPr>
            <a:r>
              <a:rPr lang="en-US" baseline="0" dirty="0" smtClean="0"/>
              <a:t>The trainer should relate how the performance criteria is related to the element</a:t>
            </a:r>
          </a:p>
          <a:p>
            <a:pPr>
              <a:buFontTx/>
              <a:buNone/>
            </a:pPr>
            <a:endParaRPr lang="en-US" baseline="0" dirty="0" smtClean="0"/>
          </a:p>
          <a:p>
            <a:pPr>
              <a:buFont typeface="Arial" pitchFamily="34" charset="0"/>
              <a:buNone/>
            </a:pPr>
            <a:r>
              <a:rPr lang="en-US" b="0" baseline="0" dirty="0" smtClean="0"/>
              <a:t>To be able to </a:t>
            </a:r>
            <a:r>
              <a:rPr lang="en-US" b="1" baseline="0" dirty="0" smtClean="0"/>
              <a:t>Prepare vegetable eggs and farinaceous dishes </a:t>
            </a:r>
            <a:r>
              <a:rPr lang="en-US" b="0" baseline="0" dirty="0" smtClean="0"/>
              <a:t>the students must be able to; </a:t>
            </a:r>
          </a:p>
          <a:p>
            <a:pPr>
              <a:buFont typeface="Arial" pitchFamily="34" charset="0"/>
              <a:buNone/>
            </a:pPr>
            <a:endParaRPr lang="en-US" b="0" baseline="0" dirty="0" smtClean="0"/>
          </a:p>
          <a:p>
            <a:pPr>
              <a:buFont typeface="Arial" pitchFamily="34" charset="0"/>
              <a:buNone/>
            </a:pPr>
            <a:r>
              <a:rPr lang="en-US" b="1" baseline="0" dirty="0" smtClean="0"/>
              <a:t>Prepare and cook vegetable and fruit menu items:</a:t>
            </a:r>
          </a:p>
          <a:p>
            <a:pPr>
              <a:buFont typeface="Arial" pitchFamily="34" charset="0"/>
              <a:buNone/>
            </a:pPr>
            <a:endParaRPr lang="en-US" b="1" baseline="0" dirty="0" smtClean="0"/>
          </a:p>
          <a:p>
            <a:pPr lvl="1"/>
            <a:r>
              <a:rPr lang="en-AU" sz="1200" kern="1200" dirty="0" smtClean="0">
                <a:solidFill>
                  <a:schemeClr val="tx1"/>
                </a:solidFill>
                <a:effectLst/>
                <a:latin typeface="+mn-lt"/>
                <a:ea typeface="+mn-ea"/>
                <a:cs typeface="+mn-cs"/>
              </a:rPr>
              <a:t>Select vegetables and fruits according to </a:t>
            </a:r>
            <a:r>
              <a:rPr lang="en-AU" sz="1200" i="1" kern="1200" dirty="0" smtClean="0">
                <a:solidFill>
                  <a:schemeClr val="tx1"/>
                </a:solidFill>
                <a:effectLst/>
                <a:latin typeface="+mn-lt"/>
                <a:ea typeface="+mn-ea"/>
                <a:cs typeface="+mn-cs"/>
              </a:rPr>
              <a:t>availability</a:t>
            </a:r>
            <a:endParaRPr lang="en-AU" sz="1200" kern="1200" dirty="0" smtClean="0">
              <a:solidFill>
                <a:schemeClr val="tx1"/>
              </a:solidFill>
              <a:effectLst/>
              <a:latin typeface="+mn-lt"/>
              <a:ea typeface="+mn-ea"/>
              <a:cs typeface="+mn-cs"/>
            </a:endParaRPr>
          </a:p>
          <a:p>
            <a:pPr lvl="1"/>
            <a:r>
              <a:rPr lang="en-AU" sz="1200" i="1" kern="1200" dirty="0" smtClean="0">
                <a:solidFill>
                  <a:schemeClr val="tx1"/>
                </a:solidFill>
                <a:effectLst/>
                <a:latin typeface="+mn-lt"/>
                <a:ea typeface="+mn-ea"/>
                <a:cs typeface="+mn-cs"/>
              </a:rPr>
              <a:t>Prepare</a:t>
            </a:r>
            <a:r>
              <a:rPr lang="en-AU" sz="1200" kern="1200" dirty="0" smtClean="0">
                <a:solidFill>
                  <a:schemeClr val="tx1"/>
                </a:solidFill>
                <a:effectLst/>
                <a:latin typeface="+mn-lt"/>
                <a:ea typeface="+mn-ea"/>
                <a:cs typeface="+mn-cs"/>
              </a:rPr>
              <a:t> and </a:t>
            </a:r>
            <a:r>
              <a:rPr lang="en-AU" sz="1200" i="1" kern="1200" dirty="0" smtClean="0">
                <a:solidFill>
                  <a:schemeClr val="tx1"/>
                </a:solidFill>
                <a:effectLst/>
                <a:latin typeface="+mn-lt"/>
                <a:ea typeface="+mn-ea"/>
                <a:cs typeface="+mn-cs"/>
              </a:rPr>
              <a:t>cook </a:t>
            </a:r>
            <a:r>
              <a:rPr lang="en-AU" sz="1200" kern="1200" dirty="0" smtClean="0">
                <a:solidFill>
                  <a:schemeClr val="tx1"/>
                </a:solidFill>
                <a:effectLst/>
                <a:latin typeface="+mn-lt"/>
                <a:ea typeface="+mn-ea"/>
                <a:cs typeface="+mn-cs"/>
              </a:rPr>
              <a:t>a variety of vegetable and fruit menu items </a:t>
            </a:r>
          </a:p>
          <a:p>
            <a:pPr lvl="1"/>
            <a:r>
              <a:rPr lang="en-AU" sz="1200" kern="1200" dirty="0" smtClean="0">
                <a:solidFill>
                  <a:schemeClr val="tx1"/>
                </a:solidFill>
                <a:effectLst/>
                <a:latin typeface="+mn-lt"/>
                <a:ea typeface="+mn-ea"/>
                <a:cs typeface="+mn-cs"/>
              </a:rPr>
              <a:t>Identify and prepare</a:t>
            </a:r>
            <a:r>
              <a:rPr lang="en-AU" sz="1200" b="1" kern="120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appropriate</a:t>
            </a:r>
            <a:r>
              <a:rPr lang="en-AU" sz="1200" b="1" kern="1200" dirty="0" smtClean="0">
                <a:solidFill>
                  <a:schemeClr val="tx1"/>
                </a:solidFill>
                <a:effectLst/>
                <a:latin typeface="+mn-lt"/>
                <a:ea typeface="+mn-ea"/>
                <a:cs typeface="+mn-cs"/>
              </a:rPr>
              <a:t> </a:t>
            </a:r>
            <a:r>
              <a:rPr lang="en-AU" sz="1200" i="1" kern="1200" dirty="0" smtClean="0">
                <a:solidFill>
                  <a:schemeClr val="tx1"/>
                </a:solidFill>
                <a:effectLst/>
                <a:latin typeface="+mn-lt"/>
                <a:ea typeface="+mn-ea"/>
                <a:cs typeface="+mn-cs"/>
              </a:rPr>
              <a:t>sauces, garnish and accompaniments</a:t>
            </a:r>
            <a:r>
              <a:rPr lang="en-AU" sz="1200" b="1" kern="120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as per the menu item</a:t>
            </a:r>
          </a:p>
          <a:p>
            <a:pPr lvl="1"/>
            <a:r>
              <a:rPr lang="en-AU" sz="1200" i="1" kern="1200" dirty="0" smtClean="0">
                <a:solidFill>
                  <a:schemeClr val="tx1"/>
                </a:solidFill>
                <a:effectLst/>
                <a:latin typeface="+mn-lt"/>
                <a:ea typeface="+mn-ea"/>
                <a:cs typeface="+mn-cs"/>
              </a:rPr>
              <a:t>Present</a:t>
            </a:r>
            <a:r>
              <a:rPr lang="en-AU" sz="1200" b="1" kern="120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vegetable and fruit menu items</a:t>
            </a:r>
            <a:r>
              <a:rPr lang="en-AU" sz="1200" b="1" kern="1200" dirty="0" smtClean="0">
                <a:solidFill>
                  <a:schemeClr val="tx1"/>
                </a:solidFill>
                <a:effectLst/>
                <a:latin typeface="+mn-lt"/>
                <a:ea typeface="+mn-ea"/>
                <a:cs typeface="+mn-cs"/>
              </a:rPr>
              <a:t> </a:t>
            </a:r>
            <a:endParaRPr lang="en-AU" sz="1200" kern="1200" dirty="0" smtClean="0">
              <a:solidFill>
                <a:schemeClr val="tx1"/>
              </a:solidFill>
              <a:effectLst/>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33492971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dirty="0" smtClean="0"/>
          </a:p>
          <a:p>
            <a:pPr>
              <a:buFontTx/>
              <a:buNone/>
            </a:pPr>
            <a:r>
              <a:rPr lang="en-US" dirty="0" smtClean="0"/>
              <a:t>Catering establishments need to be aware of the availability of produce to be able to offer</a:t>
            </a:r>
            <a:r>
              <a:rPr lang="en-US" baseline="0" dirty="0" smtClean="0"/>
              <a:t> the BEST that the market place has to offer; to their customers</a:t>
            </a:r>
          </a:p>
          <a:p>
            <a:pPr>
              <a:buFontTx/>
              <a:buNone/>
            </a:pPr>
            <a:endParaRPr lang="en-US" baseline="0" dirty="0" smtClean="0"/>
          </a:p>
          <a:p>
            <a:pPr>
              <a:buFontTx/>
              <a:buNone/>
            </a:pPr>
            <a:r>
              <a:rPr lang="en-US" baseline="0" dirty="0" smtClean="0"/>
              <a:t>Is the establishment selling to tourist market and supplying western style foods from foreign countries</a:t>
            </a:r>
          </a:p>
          <a:p>
            <a:pPr>
              <a:buFontTx/>
              <a:buNone/>
            </a:pPr>
            <a:endParaRPr lang="en-US" baseline="0" dirty="0" smtClean="0"/>
          </a:p>
          <a:p>
            <a:pPr>
              <a:buFontTx/>
              <a:buNone/>
            </a:pPr>
            <a:r>
              <a:rPr lang="en-US" baseline="0" dirty="0" smtClean="0"/>
              <a:t>Supplying local foods in local dishes to both local and foreign customers</a:t>
            </a:r>
          </a:p>
          <a:p>
            <a:pPr>
              <a:buFontTx/>
              <a:buNone/>
            </a:pPr>
            <a:endParaRPr lang="en-US" baseline="0" dirty="0" smtClean="0"/>
          </a:p>
          <a:p>
            <a:pPr>
              <a:buFontTx/>
              <a:buNone/>
            </a:pPr>
            <a:r>
              <a:rPr lang="en-US" baseline="0" dirty="0" smtClean="0"/>
              <a:t>Some vegetables are available all year round</a:t>
            </a:r>
          </a:p>
          <a:p>
            <a:pPr>
              <a:buFontTx/>
              <a:buNone/>
            </a:pPr>
            <a:endParaRPr lang="en-US" baseline="0" dirty="0" smtClean="0"/>
          </a:p>
          <a:p>
            <a:pPr>
              <a:buFontTx/>
              <a:buNone/>
            </a:pPr>
            <a:r>
              <a:rPr lang="en-US" baseline="0" dirty="0" smtClean="0"/>
              <a:t>Some are seasonal</a:t>
            </a:r>
          </a:p>
          <a:p>
            <a:pPr>
              <a:buFontTx/>
              <a:buNone/>
            </a:pPr>
            <a:endParaRPr lang="en-US" baseline="0" dirty="0" smtClean="0"/>
          </a:p>
          <a:p>
            <a:pPr>
              <a:buFontTx/>
              <a:buNone/>
            </a:pPr>
            <a:r>
              <a:rPr lang="en-US" baseline="0" dirty="0" smtClean="0"/>
              <a:t>Some local, some from other parts of the country and the rest will have to be imported by land, air or sea</a:t>
            </a:r>
          </a:p>
          <a:p>
            <a:pPr>
              <a:buFontTx/>
              <a:buNone/>
            </a:pPr>
            <a:endParaRPr lang="en-US" baseline="0" dirty="0" smtClean="0"/>
          </a:p>
          <a:p>
            <a:pPr>
              <a:buFontTx/>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41497712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dirty="0" smtClean="0"/>
          </a:p>
          <a:p>
            <a:pPr>
              <a:buFontTx/>
              <a:buNone/>
            </a:pPr>
            <a:r>
              <a:rPr lang="en-US" dirty="0" smtClean="0"/>
              <a:t>Alternatives can be found</a:t>
            </a:r>
            <a:r>
              <a:rPr lang="en-US" baseline="0" dirty="0" smtClean="0"/>
              <a:t> from other medium rather than fresh</a:t>
            </a:r>
          </a:p>
          <a:p>
            <a:pPr>
              <a:buFontTx/>
              <a:buNone/>
            </a:pPr>
            <a:endParaRPr lang="en-US" baseline="0" dirty="0" smtClean="0"/>
          </a:p>
          <a:p>
            <a:pPr>
              <a:buFontTx/>
              <a:buNone/>
            </a:pPr>
            <a:r>
              <a:rPr lang="en-US" baseline="0" dirty="0" smtClean="0"/>
              <a:t>What does the enterprise wish to use</a:t>
            </a:r>
          </a:p>
          <a:p>
            <a:pPr>
              <a:buFontTx/>
              <a:buNone/>
            </a:pPr>
            <a:endParaRPr lang="en-US" baseline="0" dirty="0" smtClean="0"/>
          </a:p>
          <a:p>
            <a:pPr>
              <a:buFontTx/>
              <a:buNone/>
            </a:pPr>
            <a:r>
              <a:rPr lang="en-US" baseline="0" dirty="0" smtClean="0"/>
              <a:t>All fresh</a:t>
            </a:r>
          </a:p>
          <a:p>
            <a:pPr>
              <a:buFontTx/>
              <a:buNone/>
            </a:pPr>
            <a:endParaRPr lang="en-US" baseline="0" dirty="0" smtClean="0"/>
          </a:p>
          <a:p>
            <a:pPr>
              <a:buFontTx/>
              <a:buNone/>
            </a:pPr>
            <a:r>
              <a:rPr lang="en-US" baseline="0" dirty="0" smtClean="0"/>
              <a:t>All canned</a:t>
            </a:r>
          </a:p>
          <a:p>
            <a:pPr>
              <a:buFontTx/>
              <a:buNone/>
            </a:pPr>
            <a:endParaRPr lang="en-US" baseline="0" dirty="0" smtClean="0"/>
          </a:p>
          <a:p>
            <a:pPr>
              <a:buFontTx/>
              <a:buNone/>
            </a:pPr>
            <a:r>
              <a:rPr lang="en-US" baseline="0" dirty="0" smtClean="0"/>
              <a:t>All frozen</a:t>
            </a:r>
          </a:p>
          <a:p>
            <a:pPr>
              <a:buFontTx/>
              <a:buNone/>
            </a:pPr>
            <a:endParaRPr lang="en-US" baseline="0" dirty="0" smtClean="0"/>
          </a:p>
          <a:p>
            <a:pPr>
              <a:buFontTx/>
              <a:buNone/>
            </a:pPr>
            <a:r>
              <a:rPr lang="en-US" baseline="0" dirty="0" smtClean="0"/>
              <a:t>Most establishments will have a mixture</a:t>
            </a:r>
          </a:p>
          <a:p>
            <a:pPr>
              <a:buFontTx/>
              <a:buNone/>
            </a:pPr>
            <a:endParaRPr lang="en-US" baseline="0" dirty="0" smtClean="0"/>
          </a:p>
          <a:p>
            <a:pPr>
              <a:buFontTx/>
              <a:buNone/>
            </a:pPr>
            <a:r>
              <a:rPr lang="en-US" baseline="0" dirty="0" smtClean="0"/>
              <a:t>Fresh that is supplemented with frozen followed by canned and dried depending on the dish and the preference of the enterprise management and chef</a:t>
            </a:r>
          </a:p>
          <a:p>
            <a:pPr>
              <a:buFontTx/>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3889236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dirty="0" smtClean="0"/>
          </a:p>
          <a:p>
            <a:pPr>
              <a:buFontTx/>
              <a:buNone/>
            </a:pPr>
            <a:r>
              <a:rPr lang="en-US" dirty="0" smtClean="0"/>
              <a:t>Root vegetables can be boiled roasted or baked</a:t>
            </a:r>
          </a:p>
          <a:p>
            <a:pPr>
              <a:buFontTx/>
              <a:buNone/>
            </a:pPr>
            <a:endParaRPr lang="en-US" dirty="0" smtClean="0"/>
          </a:p>
          <a:p>
            <a:pPr>
              <a:buFontTx/>
              <a:buNone/>
            </a:pPr>
            <a:r>
              <a:rPr lang="en-US" dirty="0" smtClean="0"/>
              <a:t>Leafy vegetables</a:t>
            </a:r>
            <a:r>
              <a:rPr lang="en-US" baseline="0" dirty="0" smtClean="0"/>
              <a:t> are best quickly blanched then served</a:t>
            </a:r>
          </a:p>
          <a:p>
            <a:pPr>
              <a:buFontTx/>
              <a:buNone/>
            </a:pPr>
            <a:endParaRPr lang="en-US" baseline="0" dirty="0" smtClean="0"/>
          </a:p>
          <a:p>
            <a:pPr>
              <a:buFontTx/>
              <a:buNone/>
            </a:pPr>
            <a:r>
              <a:rPr lang="en-US" baseline="0" dirty="0" smtClean="0"/>
              <a:t>Other vegetables are best cooked gently in water until texture is at a state that makes them palatable as per recipe requirements</a:t>
            </a:r>
          </a:p>
          <a:p>
            <a:pPr>
              <a:buFontTx/>
              <a:buNone/>
            </a:pPr>
            <a:endParaRPr lang="en-US" baseline="0" dirty="0" smtClean="0"/>
          </a:p>
          <a:p>
            <a:pPr>
              <a:buFontTx/>
              <a:buNone/>
            </a:pPr>
            <a:endParaRPr lang="en-US" dirty="0" smtClean="0"/>
          </a:p>
          <a:p>
            <a:pPr>
              <a:buFontTx/>
              <a:buNone/>
            </a:pP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21628268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b="1" dirty="0" smtClean="0"/>
          </a:p>
          <a:p>
            <a:pPr>
              <a:buFontTx/>
              <a:buNone/>
            </a:pPr>
            <a:endParaRPr lang="en-US" b="1" dirty="0" smtClean="0"/>
          </a:p>
          <a:p>
            <a:pPr>
              <a:buFontTx/>
              <a:buNone/>
            </a:pPr>
            <a:r>
              <a:rPr lang="en-US" b="0" dirty="0" smtClean="0"/>
              <a:t>Fruits can be eaten raw or cooked</a:t>
            </a:r>
          </a:p>
          <a:p>
            <a:pPr>
              <a:buFontTx/>
              <a:buNone/>
            </a:pPr>
            <a:endParaRPr lang="en-US" b="0" dirty="0" smtClean="0"/>
          </a:p>
          <a:p>
            <a:pPr>
              <a:buFontTx/>
              <a:buNone/>
            </a:pPr>
            <a:r>
              <a:rPr lang="en-US" b="0" dirty="0" smtClean="0"/>
              <a:t>Many fruits require minimal cooking</a:t>
            </a:r>
          </a:p>
          <a:p>
            <a:pPr>
              <a:buFontTx/>
              <a:buNone/>
            </a:pPr>
            <a:endParaRPr lang="en-US" b="0" dirty="0" smtClean="0"/>
          </a:p>
          <a:p>
            <a:pPr>
              <a:buFontTx/>
              <a:buNone/>
            </a:pPr>
            <a:r>
              <a:rPr lang="en-US" b="0" dirty="0" smtClean="0"/>
              <a:t>Soft fruits are best eaten fresh </a:t>
            </a:r>
          </a:p>
          <a:p>
            <a:pPr>
              <a:buFontTx/>
              <a:buNone/>
            </a:pPr>
            <a:r>
              <a:rPr lang="en-US" b="0" dirty="0" smtClean="0"/>
              <a:t>Hard fruits like apples and quinces need to be cooked and may require sweetening agent added to improve flavour: sugar</a:t>
            </a:r>
          </a:p>
          <a:p>
            <a:pPr>
              <a:buFontTx/>
              <a:buNone/>
            </a:pPr>
            <a:endParaRPr lang="en-US" b="0" dirty="0" smtClean="0"/>
          </a:p>
          <a:p>
            <a:pPr>
              <a:buFontTx/>
              <a:buNone/>
            </a:pPr>
            <a:r>
              <a:rPr lang="en-US" b="0" dirty="0" smtClean="0"/>
              <a:t>Spices can be used to enhance flavours</a:t>
            </a:r>
          </a:p>
          <a:p>
            <a:pPr>
              <a:buFontTx/>
              <a:buNone/>
            </a:pPr>
            <a:endParaRPr lang="en-US" b="0" dirty="0" smtClean="0"/>
          </a:p>
          <a:p>
            <a:pPr>
              <a:buFontTx/>
              <a:buNone/>
            </a:pPr>
            <a:r>
              <a:rPr lang="en-US" b="0" dirty="0" smtClean="0"/>
              <a:t>Deep frying allows for textural variety in dish with flavour from cooking method and keeping flavour of fruit in original state; Apple fritters with ice cream</a:t>
            </a:r>
          </a:p>
          <a:p>
            <a:pPr>
              <a:buFontTx/>
              <a:buNone/>
            </a:pPr>
            <a:endParaRPr lang="en-US" b="0" dirty="0" smtClean="0"/>
          </a:p>
          <a:p>
            <a:pPr>
              <a:buFontTx/>
              <a:buNone/>
            </a:pPr>
            <a:r>
              <a:rPr lang="en-US" b="0" dirty="0" smtClean="0"/>
              <a:t>Fruits that are baked in pastry have</a:t>
            </a:r>
            <a:r>
              <a:rPr lang="en-US" b="0" baseline="0" dirty="0" smtClean="0"/>
              <a:t> to be cooked before going into the pastry shell</a:t>
            </a:r>
          </a:p>
          <a:p>
            <a:pPr>
              <a:buFontTx/>
              <a:buNone/>
            </a:pPr>
            <a:endParaRPr lang="en-US" b="0" baseline="0" dirty="0" smtClean="0"/>
          </a:p>
          <a:p>
            <a:pPr>
              <a:buFontTx/>
              <a:buNone/>
            </a:pPr>
            <a:r>
              <a:rPr lang="en-US" b="0" baseline="0" dirty="0" smtClean="0"/>
              <a:t>Fruits contain much water and hard structural cell that needs to be softened before</a:t>
            </a:r>
          </a:p>
          <a:p>
            <a:pPr>
              <a:buFontTx/>
              <a:buNone/>
            </a:pPr>
            <a:endParaRPr lang="en-US" b="0" baseline="0" dirty="0" smtClean="0"/>
          </a:p>
          <a:p>
            <a:pPr>
              <a:buFontTx/>
              <a:buNone/>
            </a:pPr>
            <a:r>
              <a:rPr lang="en-US" b="0" baseline="0" dirty="0" smtClean="0"/>
              <a:t>Water leaching out of the fruit will make the party soggy and spoil the product</a:t>
            </a:r>
            <a:endParaRPr lang="en-US" b="0" dirty="0" smtClean="0"/>
          </a:p>
          <a:p>
            <a:pPr>
              <a:buFont typeface="Arial" pitchFamily="34" charset="0"/>
              <a:buChar char="•"/>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12239488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b="1" dirty="0" smtClean="0"/>
          </a:p>
          <a:p>
            <a:pPr>
              <a:buFontTx/>
              <a:buNone/>
            </a:pPr>
            <a:r>
              <a:rPr lang="en-US" dirty="0" smtClean="0"/>
              <a:t>Sauces</a:t>
            </a:r>
            <a:r>
              <a:rPr lang="en-US" baseline="0" dirty="0" smtClean="0"/>
              <a:t> can be technically complicated or simple</a:t>
            </a:r>
          </a:p>
          <a:p>
            <a:pPr>
              <a:buFontTx/>
              <a:buNone/>
            </a:pPr>
            <a:endParaRPr lang="en-US" baseline="0" dirty="0" smtClean="0"/>
          </a:p>
          <a:p>
            <a:pPr>
              <a:buFontTx/>
              <a:buNone/>
            </a:pPr>
            <a:r>
              <a:rPr lang="en-US" baseline="0" dirty="0" smtClean="0"/>
              <a:t>This is defined by the dish that is being prepared</a:t>
            </a: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40480647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b="1"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latin typeface="Helvetica" pitchFamily="34" charset="0"/>
              </a:rPr>
              <a:t>Classical dishes will have classical sauces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latin typeface="Helvetica" pitchFamily="34" charset="0"/>
              </a:rPr>
              <a:t>Modern dishes will have tasty sauces that are uncomplicated</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latin typeface="Helvetica" pitchFamily="34" charset="0"/>
              </a:rPr>
              <a:t>Sauces can be simple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latin typeface="Helvetica" pitchFamily="34" charset="0"/>
              </a:rPr>
              <a:t>Garnishes should be simple and easy to prepare</a:t>
            </a:r>
            <a:endParaRPr lang="en-US" sz="1600" dirty="0" smtClean="0">
              <a:latin typeface="Helvetica" pitchFamily="34" charset="0"/>
            </a:endParaRPr>
          </a:p>
          <a:p>
            <a:pPr>
              <a:buFontTx/>
              <a:buNone/>
            </a:pPr>
            <a:endParaRPr lang="en-US" b="1" dirty="0" smtClean="0"/>
          </a:p>
          <a:p>
            <a:pPr>
              <a:buFontTx/>
              <a:buNone/>
            </a:pP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1576558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b="1" dirty="0" smtClean="0"/>
          </a:p>
          <a:p>
            <a:pPr>
              <a:buFontTx/>
              <a:buNone/>
            </a:pPr>
            <a:r>
              <a:rPr lang="en-US" b="0" dirty="0" smtClean="0"/>
              <a:t>Keep presentations simple</a:t>
            </a:r>
          </a:p>
          <a:p>
            <a:pPr>
              <a:buFontTx/>
              <a:buNone/>
            </a:pPr>
            <a:endParaRPr lang="en-US" b="0" dirty="0" smtClean="0"/>
          </a:p>
          <a:p>
            <a:pPr>
              <a:buFontTx/>
              <a:buNone/>
            </a:pPr>
            <a:r>
              <a:rPr lang="en-US" b="0" dirty="0" smtClean="0"/>
              <a:t>Use colour to best advantage</a:t>
            </a:r>
          </a:p>
          <a:p>
            <a:pPr>
              <a:buFontTx/>
              <a:buNone/>
            </a:pPr>
            <a:endParaRPr lang="en-US" b="0" dirty="0" smtClean="0"/>
          </a:p>
          <a:p>
            <a:pPr>
              <a:buFontTx/>
              <a:buNone/>
            </a:pPr>
            <a:r>
              <a:rPr lang="en-US" b="0" dirty="0" smtClean="0"/>
              <a:t>Keep</a:t>
            </a:r>
            <a:r>
              <a:rPr lang="en-US" b="0" baseline="0" dirty="0" smtClean="0"/>
              <a:t> it simple</a:t>
            </a:r>
          </a:p>
          <a:p>
            <a:pPr>
              <a:buFontTx/>
              <a:buNone/>
            </a:pPr>
            <a:endParaRPr lang="en-US" b="0" baseline="0" dirty="0" smtClean="0"/>
          </a:p>
          <a:p>
            <a:pPr>
              <a:buFontTx/>
              <a:buNone/>
            </a:pPr>
            <a:r>
              <a:rPr lang="en-US" b="0" baseline="0" dirty="0" smtClean="0"/>
              <a:t>Keep it interesting</a:t>
            </a:r>
            <a:endParaRPr lang="en-US" b="0" dirty="0" smtClean="0"/>
          </a:p>
          <a:p>
            <a:pPr>
              <a:buFontTx/>
              <a:buNone/>
            </a:pP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15441523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dirty="0" smtClean="0"/>
          </a:p>
          <a:p>
            <a:pPr>
              <a:buFontTx/>
              <a:buNone/>
            </a:pPr>
            <a:r>
              <a:rPr lang="en-US" b="0" dirty="0" smtClean="0"/>
              <a:t>Trainer to relate performance criteria to element 2</a:t>
            </a:r>
          </a:p>
          <a:p>
            <a:pPr>
              <a:buFontTx/>
              <a:buNone/>
            </a:pPr>
            <a:endParaRPr lang="en-US" b="0" dirty="0" smtClean="0"/>
          </a:p>
          <a:p>
            <a:pPr>
              <a:buFontTx/>
              <a:buNone/>
            </a:pPr>
            <a:r>
              <a:rPr lang="en-US" b="0" dirty="0" smtClean="0"/>
              <a:t>Performance criteria</a:t>
            </a:r>
            <a:r>
              <a:rPr lang="en-US" b="0" baseline="0" dirty="0" smtClean="0"/>
              <a:t> is the process by which the students training match the learning element</a:t>
            </a:r>
          </a:p>
          <a:p>
            <a:pPr>
              <a:buFontTx/>
              <a:buNone/>
            </a:pPr>
            <a:r>
              <a:rPr lang="en-US" baseline="0" dirty="0" smtClean="0"/>
              <a:t>The element is the skill</a:t>
            </a:r>
          </a:p>
          <a:p>
            <a:pPr>
              <a:buFontTx/>
              <a:buNone/>
            </a:pPr>
            <a:endParaRPr lang="en-US" baseline="0" dirty="0" smtClean="0"/>
          </a:p>
          <a:p>
            <a:pPr>
              <a:buFontTx/>
              <a:buNone/>
            </a:pPr>
            <a:r>
              <a:rPr lang="en-US" baseline="0" dirty="0" smtClean="0"/>
              <a:t>To assess competency in the skill; the performance criteria is used to outline activities that can be used to assess competency.</a:t>
            </a:r>
          </a:p>
          <a:p>
            <a:pPr>
              <a:buFontTx/>
              <a:buNone/>
            </a:pPr>
            <a:endParaRPr lang="en-US" baseline="0" dirty="0" smtClean="0"/>
          </a:p>
          <a:p>
            <a:pPr>
              <a:buFontTx/>
              <a:buNone/>
            </a:pPr>
            <a:r>
              <a:rPr lang="en-US" baseline="0" dirty="0" smtClean="0"/>
              <a:t>The trainer should relate how the performance criteria is related to the element</a:t>
            </a:r>
          </a:p>
          <a:p>
            <a:pPr>
              <a:buFontTx/>
              <a:buNone/>
            </a:pPr>
            <a:endParaRPr lang="en-US" baseline="0" dirty="0" smtClean="0"/>
          </a:p>
          <a:p>
            <a:pPr>
              <a:buFont typeface="Arial" pitchFamily="34" charset="0"/>
              <a:buNone/>
            </a:pPr>
            <a:r>
              <a:rPr lang="en-US" b="0" baseline="0" dirty="0" smtClean="0"/>
              <a:t>To be able to </a:t>
            </a:r>
            <a:r>
              <a:rPr lang="en-US" b="1" baseline="0" dirty="0" smtClean="0"/>
              <a:t>Prepare vegetable eggs and farinaceous dishes </a:t>
            </a:r>
            <a:r>
              <a:rPr lang="en-US" b="0" baseline="0" dirty="0" smtClean="0"/>
              <a:t>the students must be able to; </a:t>
            </a:r>
          </a:p>
          <a:p>
            <a:pPr>
              <a:buFont typeface="Arial" pitchFamily="34" charset="0"/>
              <a:buNone/>
            </a:pPr>
            <a:endParaRPr lang="en-US" b="0" baseline="0" dirty="0" smtClean="0"/>
          </a:p>
          <a:p>
            <a:pPr>
              <a:buFont typeface="Arial" pitchFamily="34" charset="0"/>
              <a:buNone/>
            </a:pPr>
            <a:r>
              <a:rPr lang="en-US" b="1" baseline="0" dirty="0" smtClean="0"/>
              <a:t>Prepare and cook vegetable and fruit menu items:</a:t>
            </a:r>
          </a:p>
          <a:p>
            <a:pPr>
              <a:buFont typeface="Arial" pitchFamily="34" charset="0"/>
              <a:buNone/>
            </a:pPr>
            <a:endParaRPr lang="en-US" b="1" baseline="0" dirty="0" smtClean="0"/>
          </a:p>
          <a:p>
            <a:pPr lvl="1"/>
            <a:r>
              <a:rPr lang="en-AU" sz="1200" kern="1200" dirty="0" smtClean="0">
                <a:solidFill>
                  <a:schemeClr val="tx1"/>
                </a:solidFill>
                <a:effectLst/>
                <a:latin typeface="+mn-lt"/>
                <a:ea typeface="+mn-ea"/>
                <a:cs typeface="+mn-cs"/>
              </a:rPr>
              <a:t>Select vegetables and fruits according to </a:t>
            </a:r>
            <a:r>
              <a:rPr lang="en-AU" sz="1200" i="1" kern="1200" dirty="0" smtClean="0">
                <a:solidFill>
                  <a:schemeClr val="tx1"/>
                </a:solidFill>
                <a:effectLst/>
                <a:latin typeface="+mn-lt"/>
                <a:ea typeface="+mn-ea"/>
                <a:cs typeface="+mn-cs"/>
              </a:rPr>
              <a:t>availability</a:t>
            </a:r>
            <a:endParaRPr lang="en-AU" sz="1200" kern="1200" dirty="0" smtClean="0">
              <a:solidFill>
                <a:schemeClr val="tx1"/>
              </a:solidFill>
              <a:effectLst/>
              <a:latin typeface="+mn-lt"/>
              <a:ea typeface="+mn-ea"/>
              <a:cs typeface="+mn-cs"/>
            </a:endParaRPr>
          </a:p>
          <a:p>
            <a:pPr lvl="1"/>
            <a:r>
              <a:rPr lang="en-AU" sz="1200" i="1" kern="1200" dirty="0" smtClean="0">
                <a:solidFill>
                  <a:schemeClr val="tx1"/>
                </a:solidFill>
                <a:effectLst/>
                <a:latin typeface="+mn-lt"/>
                <a:ea typeface="+mn-ea"/>
                <a:cs typeface="+mn-cs"/>
              </a:rPr>
              <a:t>Prepare</a:t>
            </a:r>
            <a:r>
              <a:rPr lang="en-AU" sz="1200" kern="1200" dirty="0" smtClean="0">
                <a:solidFill>
                  <a:schemeClr val="tx1"/>
                </a:solidFill>
                <a:effectLst/>
                <a:latin typeface="+mn-lt"/>
                <a:ea typeface="+mn-ea"/>
                <a:cs typeface="+mn-cs"/>
              </a:rPr>
              <a:t> and </a:t>
            </a:r>
            <a:r>
              <a:rPr lang="en-AU" sz="1200" i="1" kern="1200" dirty="0" smtClean="0">
                <a:solidFill>
                  <a:schemeClr val="tx1"/>
                </a:solidFill>
                <a:effectLst/>
                <a:latin typeface="+mn-lt"/>
                <a:ea typeface="+mn-ea"/>
                <a:cs typeface="+mn-cs"/>
              </a:rPr>
              <a:t>cook </a:t>
            </a:r>
            <a:r>
              <a:rPr lang="en-AU" sz="1200" kern="1200" dirty="0" smtClean="0">
                <a:solidFill>
                  <a:schemeClr val="tx1"/>
                </a:solidFill>
                <a:effectLst/>
                <a:latin typeface="+mn-lt"/>
                <a:ea typeface="+mn-ea"/>
                <a:cs typeface="+mn-cs"/>
              </a:rPr>
              <a:t>a variety of vegetable and fruit menu items </a:t>
            </a:r>
          </a:p>
          <a:p>
            <a:pPr lvl="1"/>
            <a:r>
              <a:rPr lang="en-AU" sz="1200" kern="1200" dirty="0" smtClean="0">
                <a:solidFill>
                  <a:schemeClr val="tx1"/>
                </a:solidFill>
                <a:effectLst/>
                <a:latin typeface="+mn-lt"/>
                <a:ea typeface="+mn-ea"/>
                <a:cs typeface="+mn-cs"/>
              </a:rPr>
              <a:t>Identify and prepare</a:t>
            </a:r>
            <a:r>
              <a:rPr lang="en-AU" sz="1200" b="1" kern="120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appropriate</a:t>
            </a:r>
            <a:r>
              <a:rPr lang="en-AU" sz="1200" b="1" kern="1200" dirty="0" smtClean="0">
                <a:solidFill>
                  <a:schemeClr val="tx1"/>
                </a:solidFill>
                <a:effectLst/>
                <a:latin typeface="+mn-lt"/>
                <a:ea typeface="+mn-ea"/>
                <a:cs typeface="+mn-cs"/>
              </a:rPr>
              <a:t> </a:t>
            </a:r>
            <a:r>
              <a:rPr lang="en-AU" sz="1200" i="1" kern="1200" dirty="0" smtClean="0">
                <a:solidFill>
                  <a:schemeClr val="tx1"/>
                </a:solidFill>
                <a:effectLst/>
                <a:latin typeface="+mn-lt"/>
                <a:ea typeface="+mn-ea"/>
                <a:cs typeface="+mn-cs"/>
              </a:rPr>
              <a:t>sauces, garnish and accompaniments</a:t>
            </a:r>
            <a:r>
              <a:rPr lang="en-AU" sz="1200" b="1" kern="120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as per the menu item</a:t>
            </a:r>
          </a:p>
          <a:p>
            <a:pPr lvl="1"/>
            <a:r>
              <a:rPr lang="en-AU" sz="1200" i="1" kern="1200" dirty="0" smtClean="0">
                <a:solidFill>
                  <a:schemeClr val="tx1"/>
                </a:solidFill>
                <a:effectLst/>
                <a:latin typeface="+mn-lt"/>
                <a:ea typeface="+mn-ea"/>
                <a:cs typeface="+mn-cs"/>
              </a:rPr>
              <a:t>Present</a:t>
            </a:r>
            <a:r>
              <a:rPr lang="en-AU" sz="1200" b="1" kern="120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vegetable and fruit menu items</a:t>
            </a:r>
            <a:r>
              <a:rPr lang="en-AU" sz="1200" b="1" kern="1200" dirty="0" smtClean="0">
                <a:solidFill>
                  <a:schemeClr val="tx1"/>
                </a:solidFill>
                <a:effectLst/>
                <a:latin typeface="+mn-lt"/>
                <a:ea typeface="+mn-ea"/>
                <a:cs typeface="+mn-cs"/>
              </a:rPr>
              <a:t> </a:t>
            </a:r>
            <a:endParaRPr lang="en-AU" sz="1200" kern="1200" dirty="0" smtClean="0">
              <a:solidFill>
                <a:schemeClr val="tx1"/>
              </a:solidFill>
              <a:effectLst/>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30315993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b="1" dirty="0" smtClean="0"/>
          </a:p>
          <a:p>
            <a:pPr>
              <a:buFontTx/>
              <a:buNone/>
            </a:pPr>
            <a:r>
              <a:rPr lang="en-US" b="0" dirty="0" smtClean="0"/>
              <a:t>Eggs used are Egg of the chicken. Other eggs can be used but that is up to the individual</a:t>
            </a:r>
          </a:p>
          <a:p>
            <a:pPr>
              <a:buFontTx/>
              <a:buNone/>
            </a:pPr>
            <a:endParaRPr lang="en-US" b="0" dirty="0" smtClean="0"/>
          </a:p>
          <a:p>
            <a:pPr>
              <a:buFontTx/>
              <a:buNone/>
            </a:pPr>
            <a:r>
              <a:rPr lang="en-US" b="0" dirty="0" smtClean="0"/>
              <a:t>Eggs</a:t>
            </a:r>
            <a:r>
              <a:rPr lang="en-US" b="0" baseline="0" dirty="0" smtClean="0"/>
              <a:t> can be conveniently boiled in the shell. But when placed into cold water at room temperature and cooked until boiling</a:t>
            </a:r>
          </a:p>
          <a:p>
            <a:pPr>
              <a:buFontTx/>
              <a:buNone/>
            </a:pPr>
            <a:endParaRPr lang="en-US" b="0" baseline="0" dirty="0" smtClean="0"/>
          </a:p>
          <a:p>
            <a:pPr>
              <a:buFontTx/>
              <a:buNone/>
            </a:pPr>
            <a:r>
              <a:rPr lang="en-US" b="0" baseline="0" dirty="0" smtClean="0"/>
              <a:t>Too much boiling will cause the dark blue sulphur ring to appear at edge of yolk and spoil the look of the cut boiled egg</a:t>
            </a:r>
          </a:p>
          <a:p>
            <a:pPr>
              <a:buFontTx/>
              <a:buNone/>
            </a:pPr>
            <a:r>
              <a:rPr lang="en-US" b="0" baseline="0" dirty="0" smtClean="0"/>
              <a:t>All other methods of cooking eggs require them to be removed from the shell.</a:t>
            </a:r>
          </a:p>
          <a:p>
            <a:pPr>
              <a:buFontTx/>
              <a:buNone/>
            </a:pPr>
            <a:r>
              <a:rPr lang="en-US" b="0" baseline="0" dirty="0" smtClean="0"/>
              <a:t>Care must be taken to exclude any broken bits of shell being allowed to remain in egg while it is cooking</a:t>
            </a:r>
          </a:p>
          <a:p>
            <a:pPr>
              <a:buFontTx/>
              <a:buNone/>
            </a:pPr>
            <a:endParaRPr lang="en-US" b="0" baseline="0" dirty="0" smtClean="0"/>
          </a:p>
          <a:p>
            <a:pPr>
              <a:buFontTx/>
              <a:buNone/>
            </a:pPr>
            <a:r>
              <a:rPr lang="en-US" b="0" baseline="0" dirty="0" smtClean="0"/>
              <a:t>Shell in cooked egg can be dangerous if consumed. Larger pieces getting caught un throat of consumer. Smaller gritty pieces leave a uncomfortably feeling in mouth when ground in teeth. These customers will not be back</a:t>
            </a:r>
          </a:p>
          <a:p>
            <a:pPr>
              <a:buFontTx/>
              <a:buNone/>
            </a:pPr>
            <a:endParaRPr lang="en-US" b="0" baseline="0" dirty="0" smtClean="0"/>
          </a:p>
          <a:p>
            <a:pPr>
              <a:buFontTx/>
              <a:buNone/>
            </a:pPr>
            <a:r>
              <a:rPr lang="en-US" b="0" baseline="0" dirty="0" smtClean="0"/>
              <a:t>Fried and poached are popular ways to serve eggs.</a:t>
            </a:r>
          </a:p>
          <a:p>
            <a:pPr>
              <a:buFontTx/>
              <a:buNone/>
            </a:pPr>
            <a:endParaRPr lang="en-US" b="0" baseline="0" dirty="0" smtClean="0"/>
          </a:p>
          <a:p>
            <a:pPr>
              <a:buFontTx/>
              <a:buNone/>
            </a:pPr>
            <a:r>
              <a:rPr lang="en-US" b="0" baseline="0" dirty="0" smtClean="0"/>
              <a:t>Poached being the gentlest way to cook eggs</a:t>
            </a:r>
          </a:p>
          <a:p>
            <a:pPr>
              <a:buFontTx/>
              <a:buNone/>
            </a:pPr>
            <a:endParaRPr lang="en-US" b="0" baseline="0" dirty="0" smtClean="0"/>
          </a:p>
          <a:p>
            <a:pPr>
              <a:buFontTx/>
              <a:buNone/>
            </a:pPr>
            <a:r>
              <a:rPr lang="en-US" b="0" baseline="0" dirty="0" smtClean="0"/>
              <a:t>Classic Eggs Benedict with sauce Hollandaise; gently poached eggs 80ºC – 90ºC until egg white has set; should be soft but completely white; </a:t>
            </a:r>
          </a:p>
          <a:p>
            <a:pPr>
              <a:buFontTx/>
              <a:buNone/>
            </a:pPr>
            <a:endParaRPr lang="en-US" b="0" baseline="0" dirty="0" smtClean="0"/>
          </a:p>
          <a:p>
            <a:pPr>
              <a:buFontTx/>
              <a:buNone/>
            </a:pPr>
            <a:r>
              <a:rPr lang="en-US" b="0" baseline="0" dirty="0" smtClean="0"/>
              <a:t>Fried eggs are faster form of cooking and go well with bacon. Eggs and bacon on toast; popular in western countries as breakfast food</a:t>
            </a:r>
          </a:p>
          <a:p>
            <a:pPr>
              <a:buFontTx/>
              <a:buNone/>
            </a:pPr>
            <a:endParaRPr lang="en-US" b="0" baseline="0" dirty="0" smtClean="0"/>
          </a:p>
          <a:p>
            <a:pPr>
              <a:buFontTx/>
              <a:buNone/>
            </a:pPr>
            <a:r>
              <a:rPr lang="en-US" b="0" baseline="0" dirty="0" smtClean="0"/>
              <a:t>Scrambled eggs requires all egg to be blended until the white and the yolk cannot be distinguished; cooked gently over low heat until coagulation; this gives a soft mouth feel when eating. Overcooking will result in hard well set protein in mouth</a:t>
            </a:r>
          </a:p>
          <a:p>
            <a:pPr>
              <a:buFontTx/>
              <a:buNone/>
            </a:pPr>
            <a:endParaRPr lang="en-US" b="0" baseline="0" dirty="0" smtClean="0"/>
          </a:p>
          <a:p>
            <a:pPr>
              <a:buFontTx/>
              <a:buNone/>
            </a:pPr>
            <a:r>
              <a:rPr lang="en-US" b="0" baseline="0" dirty="0" smtClean="0"/>
              <a:t>Omelets have several derivations but classic French is cooked quickly in hot buttered pan and folded either side to have cigar shape and turned onto plate with seal folds underneath. Center of omelets should be ‘bavause’; which means soft moist and slightly runny inside; should be moist mouth feel but set.</a:t>
            </a: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23587273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dirty="0" smtClean="0"/>
          </a:p>
          <a:p>
            <a:pPr>
              <a:buFontTx/>
              <a:buNone/>
            </a:pPr>
            <a:r>
              <a:rPr lang="en-US" dirty="0" smtClean="0"/>
              <a:t>Breakfast eggs should be plain, simple, uncomplicated.</a:t>
            </a:r>
          </a:p>
          <a:p>
            <a:pPr>
              <a:buFontTx/>
              <a:buNone/>
            </a:pPr>
            <a:endParaRPr lang="en-US" dirty="0" smtClean="0"/>
          </a:p>
          <a:p>
            <a:pPr>
              <a:buFontTx/>
              <a:buNone/>
            </a:pPr>
            <a:r>
              <a:rPr lang="en-US" dirty="0" smtClean="0"/>
              <a:t>The more intricate techniques need to be kept for a time when customers have time to sit and wait for proper technique to be carried out.</a:t>
            </a:r>
          </a:p>
          <a:p>
            <a:pPr>
              <a:buFontTx/>
              <a:buNone/>
            </a:pPr>
            <a:endParaRPr lang="en-US" dirty="0" smtClean="0"/>
          </a:p>
          <a:p>
            <a:pPr>
              <a:buFontTx/>
              <a:buNone/>
            </a:pPr>
            <a:r>
              <a:rPr lang="en-US" dirty="0" smtClean="0"/>
              <a:t>Eggs for breakfast have to be cooked in minimal time especially in establishments that cater for the working people rushing off to begin the days work</a:t>
            </a:r>
          </a:p>
          <a:p>
            <a:pPr>
              <a:buFontTx/>
              <a:buNone/>
            </a:pPr>
            <a:endParaRPr lang="en-US" dirty="0" smtClean="0"/>
          </a:p>
          <a:p>
            <a:pPr>
              <a:buFontTx/>
              <a:buNone/>
            </a:pPr>
            <a:r>
              <a:rPr lang="en-US" dirty="0" smtClean="0"/>
              <a:t>More formal breakfast that are for business people have time on their side so more technique</a:t>
            </a:r>
            <a:r>
              <a:rPr lang="en-US" baseline="0" dirty="0" smtClean="0"/>
              <a:t> </a:t>
            </a:r>
            <a:r>
              <a:rPr lang="en-US" dirty="0" smtClean="0"/>
              <a:t>can be used but his extra time taken is more costly.</a:t>
            </a:r>
          </a:p>
          <a:p>
            <a:pPr>
              <a:buFontTx/>
              <a:buNone/>
            </a:pPr>
            <a:endParaRPr lang="en-US" dirty="0" smtClean="0"/>
          </a:p>
          <a:p>
            <a:pPr>
              <a:buFontTx/>
              <a:buNone/>
            </a:pPr>
            <a:r>
              <a:rPr lang="en-US" dirty="0" smtClean="0"/>
              <a:t>Sauces kept to minimum. Very few breakfast egg dishes have complicated sauces, if any.</a:t>
            </a:r>
          </a:p>
          <a:p>
            <a:pPr>
              <a:buFontTx/>
              <a:buNone/>
            </a:pPr>
            <a:endParaRPr lang="en-US" dirty="0" smtClean="0"/>
          </a:p>
          <a:p>
            <a:pPr>
              <a:buFontTx/>
              <a:buNone/>
            </a:pPr>
            <a:r>
              <a:rPr lang="en-US" dirty="0" smtClean="0"/>
              <a:t>Garnishes</a:t>
            </a:r>
            <a:r>
              <a:rPr lang="en-US" baseline="0" dirty="0" smtClean="0"/>
              <a:t> are also kept to minimum; freshly chopped herbs, parsley, is the most common.</a:t>
            </a:r>
            <a:endParaRPr lang="en-US" dirty="0" smtClean="0"/>
          </a:p>
          <a:p>
            <a:pPr>
              <a:buFontTx/>
              <a:buNone/>
            </a:pPr>
            <a:endParaRPr lang="en-US" dirty="0" smtClean="0"/>
          </a:p>
          <a:p>
            <a:pPr>
              <a:buFontTx/>
              <a:buNone/>
            </a:pPr>
            <a:endParaRPr lang="en-US" dirty="0" smtClean="0"/>
          </a:p>
          <a:p>
            <a:pPr>
              <a:buFontTx/>
              <a:buNone/>
            </a:pPr>
            <a:endParaRPr lang="en-US" dirty="0" smtClean="0"/>
          </a:p>
          <a:p>
            <a:pPr>
              <a:buFontTx/>
              <a:buNone/>
            </a:pP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18759510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b="1" dirty="0" smtClean="0"/>
          </a:p>
          <a:p>
            <a:pPr>
              <a:buFontTx/>
              <a:buNone/>
            </a:pPr>
            <a:r>
              <a:rPr lang="en-US" dirty="0" smtClean="0"/>
              <a:t>Breakfast dishes</a:t>
            </a:r>
            <a:r>
              <a:rPr lang="en-US" baseline="0" dirty="0" smtClean="0"/>
              <a:t> are served quickly and simply</a:t>
            </a:r>
          </a:p>
          <a:p>
            <a:pPr>
              <a:buFontTx/>
              <a:buNone/>
            </a:pPr>
            <a:endParaRPr lang="en-US" baseline="0" dirty="0" smtClean="0"/>
          </a:p>
          <a:p>
            <a:pPr>
              <a:buFontTx/>
              <a:buNone/>
            </a:pPr>
            <a:endParaRPr lang="en-US" baseline="0" dirty="0" smtClean="0"/>
          </a:p>
          <a:p>
            <a:pPr>
              <a:buFontTx/>
              <a:buNone/>
            </a:pPr>
            <a:r>
              <a:rPr lang="en-US" baseline="0" dirty="0" smtClean="0"/>
              <a:t>Lunch menu is again casual but more complex dishes may be offered; Frittata; Spanish omelets; Quiche</a:t>
            </a:r>
          </a:p>
          <a:p>
            <a:pPr>
              <a:buFontTx/>
              <a:buNone/>
            </a:pPr>
            <a:endParaRPr lang="en-US" baseline="0" dirty="0" smtClean="0"/>
          </a:p>
          <a:p>
            <a:pPr>
              <a:buFontTx/>
              <a:buNone/>
            </a:pPr>
            <a:r>
              <a:rPr lang="en-US" baseline="0" dirty="0" smtClean="0"/>
              <a:t>Frittata can prepare the day before and served cold with salad</a:t>
            </a:r>
          </a:p>
          <a:p>
            <a:pPr>
              <a:buFontTx/>
              <a:buNone/>
            </a:pPr>
            <a:endParaRPr lang="en-US" baseline="0" dirty="0" smtClean="0"/>
          </a:p>
          <a:p>
            <a:pPr>
              <a:buFontTx/>
              <a:buNone/>
            </a:pPr>
            <a:r>
              <a:rPr lang="en-US" baseline="0" dirty="0" smtClean="0"/>
              <a:t>Quiche; French open savoury tart uses eggs in milk and cream to carry fillings.</a:t>
            </a:r>
          </a:p>
          <a:p>
            <a:pPr>
              <a:buFontTx/>
              <a:buNone/>
            </a:pPr>
            <a:r>
              <a:rPr lang="en-US" baseline="0" dirty="0" smtClean="0"/>
              <a:t>Theses can be served hot or cold; cold is popular as it can be consumed with ease. Too higher a fat content can require this to be served warm for more palatable enjoyment.</a:t>
            </a:r>
          </a:p>
          <a:p>
            <a:pPr>
              <a:buFontTx/>
              <a:buNone/>
            </a:pPr>
            <a:endParaRPr lang="en-US" baseline="0" dirty="0" smtClean="0"/>
          </a:p>
          <a:p>
            <a:pPr>
              <a:buFontTx/>
              <a:buNone/>
            </a:pPr>
            <a:r>
              <a:rPr lang="en-US" baseline="0" dirty="0" smtClean="0"/>
              <a:t>Dinner menu may find eggs in béarnaise sauce with beef steak or in dessert soufflé</a:t>
            </a:r>
          </a:p>
          <a:p>
            <a:pPr>
              <a:buFontTx/>
              <a:buNone/>
            </a:pPr>
            <a:endParaRPr lang="en-US" baseline="0" dirty="0" smtClean="0"/>
          </a:p>
          <a:p>
            <a:pPr>
              <a:buFontTx/>
              <a:buNone/>
            </a:pPr>
            <a:r>
              <a:rPr lang="en-US" baseline="0" dirty="0" smtClean="0"/>
              <a:t> </a:t>
            </a: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25353818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dirty="0" smtClean="0"/>
          </a:p>
          <a:p>
            <a:pPr>
              <a:buFontTx/>
              <a:buNone/>
            </a:pPr>
            <a:r>
              <a:rPr lang="en-US" b="0" dirty="0" smtClean="0"/>
              <a:t>Trainer to relate performance criteria to element 3</a:t>
            </a:r>
          </a:p>
          <a:p>
            <a:pPr>
              <a:buFontTx/>
              <a:buNone/>
            </a:pPr>
            <a:endParaRPr lang="en-US" b="0" dirty="0" smtClean="0"/>
          </a:p>
          <a:p>
            <a:pPr>
              <a:buFontTx/>
              <a:buNone/>
            </a:pPr>
            <a:r>
              <a:rPr lang="en-US" b="0" dirty="0" smtClean="0"/>
              <a:t>Performance criteria</a:t>
            </a:r>
            <a:r>
              <a:rPr lang="en-US" b="0" baseline="0" dirty="0" smtClean="0"/>
              <a:t> is the process by which the students training match the learning element</a:t>
            </a:r>
          </a:p>
          <a:p>
            <a:pPr>
              <a:buFontTx/>
              <a:buNone/>
            </a:pPr>
            <a:r>
              <a:rPr lang="en-US" baseline="0" dirty="0" smtClean="0"/>
              <a:t>The element is the skill</a:t>
            </a:r>
          </a:p>
          <a:p>
            <a:pPr>
              <a:buFontTx/>
              <a:buNone/>
            </a:pPr>
            <a:endParaRPr lang="en-US" baseline="0" dirty="0" smtClean="0"/>
          </a:p>
          <a:p>
            <a:pPr>
              <a:buFontTx/>
              <a:buNone/>
            </a:pPr>
            <a:r>
              <a:rPr lang="en-US" baseline="0" dirty="0" smtClean="0"/>
              <a:t>To assess competency in the skill; the performance criteria is used to outline activities that can be used to assess competency.</a:t>
            </a:r>
          </a:p>
          <a:p>
            <a:pPr>
              <a:buFontTx/>
              <a:buNone/>
            </a:pPr>
            <a:endParaRPr lang="en-US" baseline="0" dirty="0" smtClean="0"/>
          </a:p>
          <a:p>
            <a:pPr>
              <a:buFontTx/>
              <a:buNone/>
            </a:pPr>
            <a:r>
              <a:rPr lang="en-US" baseline="0" dirty="0" smtClean="0"/>
              <a:t>The trainer should relate how the performance criteria is related to the element</a:t>
            </a:r>
          </a:p>
          <a:p>
            <a:pPr>
              <a:buFontTx/>
              <a:buNone/>
            </a:pPr>
            <a:endParaRPr lang="en-US" baseline="0" dirty="0" smtClean="0"/>
          </a:p>
          <a:p>
            <a:pPr>
              <a:buFont typeface="Arial" pitchFamily="34" charset="0"/>
              <a:buNone/>
            </a:pPr>
            <a:r>
              <a:rPr lang="en-US" b="0" baseline="0" dirty="0" smtClean="0"/>
              <a:t>To be able to </a:t>
            </a:r>
            <a:r>
              <a:rPr lang="en-US" b="1" baseline="0" dirty="0" smtClean="0"/>
              <a:t>Prepare vegetable eggs and farinaceous dishes </a:t>
            </a:r>
            <a:r>
              <a:rPr lang="en-US" b="0" baseline="0" dirty="0" smtClean="0"/>
              <a:t>the students must be able to; </a:t>
            </a:r>
          </a:p>
          <a:p>
            <a:pPr>
              <a:buFont typeface="Arial" pitchFamily="34" charset="0"/>
              <a:buNone/>
            </a:pPr>
            <a:endParaRPr lang="en-US" b="0" baseline="0" dirty="0" smtClean="0"/>
          </a:p>
          <a:p>
            <a:pPr>
              <a:buFont typeface="Arial" pitchFamily="34" charset="0"/>
              <a:buNone/>
            </a:pPr>
            <a:r>
              <a:rPr lang="en-US" b="1" baseline="0" dirty="0" smtClean="0"/>
              <a:t>Prepare and cook farinaceous menu items:</a:t>
            </a:r>
          </a:p>
          <a:p>
            <a:pPr>
              <a:buFont typeface="Arial" pitchFamily="34" charset="0"/>
              <a:buNone/>
            </a:pPr>
            <a:endParaRPr lang="en-US" b="1" baseline="0" dirty="0" smtClean="0"/>
          </a:p>
          <a:p>
            <a:pPr lvl="1"/>
            <a:r>
              <a:rPr lang="en-AU" sz="1200" kern="1200" dirty="0" smtClean="0">
                <a:solidFill>
                  <a:schemeClr val="tx1"/>
                </a:solidFill>
                <a:effectLst/>
                <a:latin typeface="+mn-lt"/>
                <a:ea typeface="+mn-ea"/>
                <a:cs typeface="+mn-cs"/>
              </a:rPr>
              <a:t>Select farinaceous items according to availability</a:t>
            </a:r>
          </a:p>
          <a:p>
            <a:pPr lvl="1"/>
            <a:r>
              <a:rPr lang="en-AU" sz="1200" kern="1200" dirty="0" smtClean="0">
                <a:solidFill>
                  <a:schemeClr val="tx1"/>
                </a:solidFill>
                <a:effectLst/>
                <a:latin typeface="+mn-lt"/>
                <a:ea typeface="+mn-ea"/>
                <a:cs typeface="+mn-cs"/>
              </a:rPr>
              <a:t>Prepare and cook a variety of farinaceous menu items</a:t>
            </a:r>
          </a:p>
          <a:p>
            <a:pPr lvl="1"/>
            <a:r>
              <a:rPr lang="en-AU" sz="1200" kern="1200" dirty="0" smtClean="0">
                <a:solidFill>
                  <a:schemeClr val="tx1"/>
                </a:solidFill>
                <a:effectLst/>
                <a:latin typeface="+mn-lt"/>
                <a:ea typeface="+mn-ea"/>
                <a:cs typeface="+mn-cs"/>
              </a:rPr>
              <a:t>Identify and prepare appropriate</a:t>
            </a:r>
            <a:r>
              <a:rPr lang="en-AU" sz="1200" b="1" kern="120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sauces, garnish and accompaniments</a:t>
            </a:r>
            <a:r>
              <a:rPr lang="en-AU" sz="1200" b="1" kern="120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as per the menu item</a:t>
            </a:r>
          </a:p>
          <a:p>
            <a:pPr lvl="1"/>
            <a:r>
              <a:rPr lang="en-AU" sz="1200" kern="1200" dirty="0" smtClean="0">
                <a:solidFill>
                  <a:schemeClr val="tx1"/>
                </a:solidFill>
                <a:effectLst/>
                <a:latin typeface="+mn-lt"/>
                <a:ea typeface="+mn-ea"/>
                <a:cs typeface="+mn-cs"/>
              </a:rPr>
              <a:t>Present</a:t>
            </a:r>
            <a:r>
              <a:rPr lang="en-AU" sz="1200" b="1" kern="120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farinaceous menu items</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9624854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b="0" dirty="0" smtClean="0"/>
          </a:p>
          <a:p>
            <a:pPr>
              <a:buFontTx/>
              <a:buNone/>
            </a:pPr>
            <a:endParaRPr lang="en-US" b="0" dirty="0" smtClean="0"/>
          </a:p>
          <a:p>
            <a:pPr>
              <a:buFontTx/>
              <a:buNone/>
            </a:pPr>
            <a:r>
              <a:rPr lang="en-US" b="0" dirty="0" smtClean="0"/>
              <a:t>Farinaceous means starch. Every person consumes starch in their meals. </a:t>
            </a:r>
          </a:p>
          <a:p>
            <a:pPr>
              <a:buFontTx/>
              <a:buNone/>
            </a:pPr>
            <a:r>
              <a:rPr lang="en-US" b="0" dirty="0" smtClean="0"/>
              <a:t>The body converts the starch that we consume into sugars and that fuels the body and allows it to function.</a:t>
            </a:r>
          </a:p>
          <a:p>
            <a:pPr>
              <a:buFontTx/>
              <a:buNone/>
            </a:pPr>
            <a:endParaRPr lang="en-US" b="0" dirty="0" smtClean="0"/>
          </a:p>
          <a:p>
            <a:pPr>
              <a:buFontTx/>
              <a:buNone/>
            </a:pPr>
            <a:r>
              <a:rPr lang="en-US" b="0" dirty="0" smtClean="0"/>
              <a:t>Starch is in many foods and preparation of these foods give variety to the diet and choice to the consumer</a:t>
            </a:r>
          </a:p>
          <a:p>
            <a:pPr>
              <a:buFontTx/>
              <a:buNone/>
            </a:pPr>
            <a:endParaRPr lang="en-US" b="0" dirty="0" smtClean="0"/>
          </a:p>
          <a:p>
            <a:pPr>
              <a:buFontTx/>
              <a:buNone/>
            </a:pPr>
            <a:r>
              <a:rPr lang="en-US" b="0" dirty="0" smtClean="0"/>
              <a:t>To make the starch edible it must be cooked with or in water.</a:t>
            </a:r>
          </a:p>
          <a:p>
            <a:pPr>
              <a:buFontTx/>
              <a:buNone/>
            </a:pPr>
            <a:endParaRPr lang="en-US" b="0" dirty="0" smtClean="0"/>
          </a:p>
          <a:p>
            <a:pPr>
              <a:buFontTx/>
              <a:buNone/>
            </a:pPr>
            <a:r>
              <a:rPr lang="en-US" b="0" dirty="0" smtClean="0"/>
              <a:t>Starch is cooked by applying heat to liquid.</a:t>
            </a:r>
          </a:p>
          <a:p>
            <a:pPr>
              <a:buFontTx/>
              <a:buNone/>
            </a:pPr>
            <a:endParaRPr lang="en-US" b="0" dirty="0" smtClean="0"/>
          </a:p>
          <a:p>
            <a:pPr>
              <a:buFontTx/>
              <a:buNone/>
            </a:pPr>
            <a:r>
              <a:rPr lang="en-US" b="0" dirty="0" smtClean="0"/>
              <a:t>As the liquid heats the starch</a:t>
            </a:r>
            <a:r>
              <a:rPr lang="en-US" b="0" baseline="0" dirty="0" smtClean="0"/>
              <a:t> absorbs the moisture and expands fully to become edible for humans.</a:t>
            </a:r>
          </a:p>
          <a:p>
            <a:pPr>
              <a:buFontTx/>
              <a:buNone/>
            </a:pPr>
            <a:endParaRPr lang="en-US" b="0" baseline="0" dirty="0" smtClean="0"/>
          </a:p>
          <a:p>
            <a:pPr>
              <a:buFontTx/>
              <a:buNone/>
            </a:pPr>
            <a:r>
              <a:rPr lang="en-US" b="0" baseline="0" dirty="0" smtClean="0"/>
              <a:t>In bread this is already completed in the mixing and  baking process so it can be consumed as it is.</a:t>
            </a:r>
          </a:p>
          <a:p>
            <a:pPr>
              <a:buFontTx/>
              <a:buNone/>
            </a:pPr>
            <a:endParaRPr lang="en-US" b="0" baseline="0" dirty="0" smtClean="0"/>
          </a:p>
          <a:p>
            <a:pPr>
              <a:buFontTx/>
              <a:buNone/>
            </a:pPr>
            <a:r>
              <a:rPr lang="en-US" b="0" baseline="0" dirty="0" smtClean="0"/>
              <a:t>Products like rice and lentils need to be cooked to make it palatable and edible. Cooked in aromatic liquids make them more appealing and flavoursome to consume</a:t>
            </a:r>
          </a:p>
          <a:p>
            <a:pPr>
              <a:buFontTx/>
              <a:buNone/>
            </a:pPr>
            <a:endParaRPr lang="en-US" b="0" baseline="0" dirty="0" smtClean="0"/>
          </a:p>
          <a:p>
            <a:pPr>
              <a:buFontTx/>
              <a:buNone/>
            </a:pPr>
            <a:r>
              <a:rPr lang="en-US" b="0" baseline="0" dirty="0" smtClean="0"/>
              <a:t>Noodles and pasta are a manufactured product that will have to be cooked before consumption. Like bread if it was unbaked.</a:t>
            </a:r>
          </a:p>
          <a:p>
            <a:pPr>
              <a:buFontTx/>
              <a:buNone/>
            </a:pPr>
            <a:endParaRPr lang="en-US" b="0" baseline="0" dirty="0" smtClean="0"/>
          </a:p>
          <a:p>
            <a:pPr>
              <a:buFontTx/>
              <a:buNone/>
            </a:pPr>
            <a:r>
              <a:rPr lang="en-US" b="0" baseline="0" dirty="0" smtClean="0"/>
              <a:t>Pasta and noodles need to be cooked in water until they have reached the stage of doneness required by the dishes cuisine. Some are firm to the tooth and some are well cooked until they are soft to the tooth.</a:t>
            </a:r>
          </a:p>
          <a:p>
            <a:pPr>
              <a:buFontTx/>
              <a:buNone/>
            </a:pPr>
            <a:endParaRPr lang="en-US" b="0" baseline="0" dirty="0" smtClean="0"/>
          </a:p>
          <a:p>
            <a:pPr>
              <a:buFontTx/>
              <a:buNone/>
            </a:pPr>
            <a:r>
              <a:rPr lang="en-US" b="0" baseline="0" dirty="0" smtClean="0"/>
              <a:t>Root vegetables like potato, pumpkin and yams are also cooked to the cuisine requirements but these can be dry cooked due to the high liquid content already in the vegetable. dry cooking is roasting or baking.</a:t>
            </a: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12175652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b="0" dirty="0" smtClean="0"/>
          </a:p>
          <a:p>
            <a:pPr>
              <a:buFontTx/>
              <a:buNone/>
            </a:pPr>
            <a:r>
              <a:rPr lang="en-US" b="0" dirty="0" smtClean="0"/>
              <a:t>Starchy farinaceous products can be dry to eat on their own. Draws the moisture from the mouth as they are eaten so they are best served with a sauce to add moisture and make consumption more enjoyable</a:t>
            </a:r>
          </a:p>
          <a:p>
            <a:pPr>
              <a:buFontTx/>
              <a:buNone/>
            </a:pPr>
            <a:endParaRPr lang="en-US" b="0" dirty="0" smtClean="0"/>
          </a:p>
          <a:p>
            <a:pPr>
              <a:buFontTx/>
              <a:buNone/>
            </a:pPr>
            <a:r>
              <a:rPr lang="en-US" b="0" dirty="0" smtClean="0"/>
              <a:t>Lentils tend to be cooked in spicy or flavoursome liquids that have spices and some other aromatics like onion</a:t>
            </a:r>
            <a:r>
              <a:rPr lang="en-US" b="0" baseline="0" dirty="0" smtClean="0"/>
              <a:t> garlic and herbs added</a:t>
            </a:r>
          </a:p>
          <a:p>
            <a:pPr>
              <a:buFontTx/>
              <a:buNone/>
            </a:pPr>
            <a:endParaRPr lang="en-US" b="0" baseline="0" dirty="0" smtClean="0"/>
          </a:p>
          <a:p>
            <a:pPr>
              <a:buFontTx/>
              <a:buNone/>
            </a:pPr>
            <a:r>
              <a:rPr lang="en-US" b="0" baseline="0" dirty="0" smtClean="0"/>
              <a:t>Flavour bases can be manufactured and added to water that lentils will be cooked in until they are deemed cooked. Some are cooked  firm while some lentils fall apart quickly to thicken the water. These are then served as a side accompaniment to main protein or as main meal for non meat eating societies</a:t>
            </a:r>
          </a:p>
          <a:p>
            <a:pPr>
              <a:buFontTx/>
              <a:buNone/>
            </a:pPr>
            <a:endParaRPr lang="en-US" b="0" baseline="0" dirty="0" smtClean="0"/>
          </a:p>
          <a:p>
            <a:pPr>
              <a:buFontTx/>
              <a:buNone/>
            </a:pPr>
            <a:r>
              <a:rPr lang="en-US" b="0" baseline="0" dirty="0" smtClean="0"/>
              <a:t>Béchamel is a savoury white sauce, milk thickened with starch and enriched with addition of butter. This is further flavoured with cheese to enhance desirability and sometimes a spice like nutmeg</a:t>
            </a:r>
          </a:p>
          <a:p>
            <a:pPr>
              <a:buFontTx/>
              <a:buNone/>
            </a:pPr>
            <a:endParaRPr lang="en-US" b="0" baseline="0" dirty="0" smtClean="0"/>
          </a:p>
          <a:p>
            <a:pPr>
              <a:buFontTx/>
              <a:buNone/>
            </a:pPr>
            <a:r>
              <a:rPr lang="en-US" b="0" baseline="0" dirty="0" smtClean="0"/>
              <a:t>This sauce is used in many western vegetable dishes. It can be poured over roasted root vegetables and glazed in hot under hot grill to gratin the top surface</a:t>
            </a:r>
          </a:p>
          <a:p>
            <a:pPr>
              <a:buFontTx/>
              <a:buNone/>
            </a:pPr>
            <a:endParaRPr lang="en-US" b="0" baseline="0" dirty="0" smtClean="0"/>
          </a:p>
          <a:p>
            <a:pPr>
              <a:buFontTx/>
              <a:buNone/>
            </a:pPr>
            <a:r>
              <a:rPr lang="en-US" b="0" baseline="0" dirty="0" smtClean="0"/>
              <a:t>Classic noodles dish is : Macaroni and cheese. A staple for working class people that needed to fill up growing children and hard working men on a low money budget</a:t>
            </a:r>
          </a:p>
          <a:p>
            <a:pPr>
              <a:buFontTx/>
              <a:buNone/>
            </a:pPr>
            <a:r>
              <a:rPr lang="en-US" b="0" baseline="0" dirty="0" smtClean="0"/>
              <a:t>Sometimes served as a side accompaniment for diets that do not have potatoes and main sauce of starch.  </a:t>
            </a:r>
          </a:p>
          <a:p>
            <a:pPr>
              <a:buFontTx/>
              <a:buNone/>
            </a:pPr>
            <a:endParaRPr lang="en-US" b="0" baseline="0" dirty="0" smtClean="0"/>
          </a:p>
          <a:p>
            <a:pPr>
              <a:buFontTx/>
              <a:buNone/>
            </a:pPr>
            <a:r>
              <a:rPr lang="en-US" b="0" baseline="0" dirty="0" smtClean="0"/>
              <a:t>All sauces need to be flavoursome and do add moisture to enhance the mouth feel of what people are consuming.</a:t>
            </a:r>
          </a:p>
          <a:p>
            <a:pPr>
              <a:buFontTx/>
              <a:buNone/>
            </a:pPr>
            <a:endParaRPr lang="en-US" b="0" baseline="0" dirty="0" smtClean="0"/>
          </a:p>
          <a:p>
            <a:pPr>
              <a:buFontTx/>
              <a:buNone/>
            </a:pPr>
            <a:r>
              <a:rPr lang="en-US" b="0" baseline="0" dirty="0" smtClean="0"/>
              <a:t>Garnishes can be chopped herbs</a:t>
            </a:r>
            <a:endParaRPr lang="en-US" b="0" dirty="0" smtClean="0"/>
          </a:p>
          <a:p>
            <a:pPr>
              <a:buFontTx/>
              <a:buNone/>
            </a:pPr>
            <a:endParaRPr lang="en-US" b="0" dirty="0" smtClean="0"/>
          </a:p>
          <a:p>
            <a:pPr>
              <a:buFont typeface="Arial" pitchFamily="34" charset="0"/>
              <a:buChar char="•"/>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18869325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dirty="0" smtClean="0"/>
          </a:p>
          <a:p>
            <a:pPr>
              <a:buFontTx/>
              <a:buNone/>
            </a:pPr>
            <a:r>
              <a:rPr lang="en-US" dirty="0" smtClean="0"/>
              <a:t>Farinaceous</a:t>
            </a:r>
            <a:r>
              <a:rPr lang="en-US" baseline="0" dirty="0" smtClean="0"/>
              <a:t> elements  or menu items can be individual serving or accompaniments to main protein  menu item</a:t>
            </a:r>
          </a:p>
          <a:p>
            <a:pPr>
              <a:buFontTx/>
              <a:buNone/>
            </a:pPr>
            <a:endParaRPr lang="en-US" baseline="0" dirty="0" smtClean="0"/>
          </a:p>
          <a:p>
            <a:pPr>
              <a:buFontTx/>
              <a:buNone/>
            </a:pPr>
            <a:r>
              <a:rPr lang="en-US" baseline="0" dirty="0" smtClean="0"/>
              <a:t>All will need to be presented or served with a sauce; the sauce will be the main flavour for the farinaceous item</a:t>
            </a:r>
          </a:p>
          <a:p>
            <a:pPr>
              <a:buFontTx/>
              <a:buNone/>
            </a:pPr>
            <a:endParaRPr lang="en-US" baseline="0" dirty="0" smtClean="0"/>
          </a:p>
          <a:p>
            <a:pPr>
              <a:buFontTx/>
              <a:buNone/>
            </a:pPr>
            <a:r>
              <a:rPr lang="en-US" baseline="0" dirty="0" smtClean="0"/>
              <a:t>Farinaceous menu items do not necessarily have much flavour, that some from sauces with which they are served.</a:t>
            </a:r>
          </a:p>
          <a:p>
            <a:pPr>
              <a:buFontTx/>
              <a:buNone/>
            </a:pPr>
            <a:endParaRPr lang="en-US" baseline="0" dirty="0" smtClean="0"/>
          </a:p>
          <a:p>
            <a:pPr>
              <a:buFontTx/>
              <a:buNone/>
            </a:pPr>
            <a:r>
              <a:rPr lang="en-US" baseline="0" dirty="0" smtClean="0"/>
              <a:t>Root vegetables like potato need added moisture to enrich the flavour</a:t>
            </a:r>
          </a:p>
          <a:p>
            <a:pPr>
              <a:buFontTx/>
              <a:buNone/>
            </a:pPr>
            <a:endParaRPr lang="en-US" baseline="0" dirty="0" smtClean="0"/>
          </a:p>
          <a:p>
            <a:pPr>
              <a:buFontTx/>
              <a:buNone/>
            </a:pPr>
            <a:r>
              <a:rPr lang="en-US" b="1" baseline="0" dirty="0" smtClean="0"/>
              <a:t>Ask Students</a:t>
            </a:r>
          </a:p>
          <a:p>
            <a:pPr>
              <a:buFontTx/>
              <a:buNone/>
            </a:pPr>
            <a:endParaRPr lang="en-US" baseline="0" dirty="0" smtClean="0"/>
          </a:p>
          <a:p>
            <a:pPr>
              <a:buFontTx/>
              <a:buNone/>
            </a:pPr>
            <a:r>
              <a:rPr lang="en-US" baseline="0" dirty="0" smtClean="0"/>
              <a:t>They eating noodles with out sauce,,,,,,,, flavour is bland</a:t>
            </a:r>
          </a:p>
          <a:p>
            <a:pPr>
              <a:buFontTx/>
              <a:buNone/>
            </a:pPr>
            <a:r>
              <a:rPr lang="en-US" baseline="0" dirty="0" smtClean="0"/>
              <a:t>Try eating rice without sauce,,,,,,,, bland </a:t>
            </a:r>
          </a:p>
          <a:p>
            <a:pPr>
              <a:buFontTx/>
              <a:buNone/>
            </a:pPr>
            <a:endParaRPr lang="en-US" baseline="0" dirty="0" smtClean="0"/>
          </a:p>
          <a:p>
            <a:pPr>
              <a:buFontTx/>
              <a:buNone/>
            </a:pPr>
            <a:r>
              <a:rPr lang="en-US" baseline="0" dirty="0" smtClean="0"/>
              <a:t>Lentils and chickpeas may have interesting textures but flavour is mild</a:t>
            </a:r>
          </a:p>
          <a:p>
            <a:pPr>
              <a:buFontTx/>
              <a:buNone/>
            </a:pPr>
            <a:endParaRPr lang="en-US" baseline="0" dirty="0" smtClean="0"/>
          </a:p>
          <a:p>
            <a:pPr>
              <a:buFontTx/>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42644656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dirty="0" smtClean="0"/>
          </a:p>
          <a:p>
            <a:pPr>
              <a:buFontTx/>
              <a:buNone/>
            </a:pPr>
            <a:r>
              <a:rPr lang="en-US" b="0" dirty="0" smtClean="0"/>
              <a:t>Trainer to relate performance criteria to element 4</a:t>
            </a:r>
          </a:p>
          <a:p>
            <a:pPr>
              <a:buFontTx/>
              <a:buNone/>
            </a:pPr>
            <a:endParaRPr lang="en-US" b="0" dirty="0" smtClean="0"/>
          </a:p>
          <a:p>
            <a:pPr>
              <a:buFontTx/>
              <a:buNone/>
            </a:pPr>
            <a:r>
              <a:rPr lang="en-US" b="0" dirty="0" smtClean="0"/>
              <a:t>Performance criteria</a:t>
            </a:r>
            <a:r>
              <a:rPr lang="en-US" b="0" baseline="0" dirty="0" smtClean="0"/>
              <a:t> is the process by which the students training match the learning element</a:t>
            </a:r>
          </a:p>
          <a:p>
            <a:pPr>
              <a:buFontTx/>
              <a:buNone/>
            </a:pPr>
            <a:r>
              <a:rPr lang="en-US" baseline="0" dirty="0" smtClean="0"/>
              <a:t>The element is the skill</a:t>
            </a:r>
          </a:p>
          <a:p>
            <a:pPr>
              <a:buFontTx/>
              <a:buNone/>
            </a:pPr>
            <a:endParaRPr lang="en-US" baseline="0" dirty="0" smtClean="0"/>
          </a:p>
          <a:p>
            <a:pPr>
              <a:buFontTx/>
              <a:buNone/>
            </a:pPr>
            <a:r>
              <a:rPr lang="en-US" baseline="0" dirty="0" smtClean="0"/>
              <a:t>To assess competency in the skill; the performance criteria is used to outline activities that can be used to assess competency.</a:t>
            </a:r>
          </a:p>
          <a:p>
            <a:pPr>
              <a:buFontTx/>
              <a:buNone/>
            </a:pPr>
            <a:endParaRPr lang="en-US" baseline="0" dirty="0" smtClean="0"/>
          </a:p>
          <a:p>
            <a:pPr>
              <a:buFontTx/>
              <a:buNone/>
            </a:pPr>
            <a:r>
              <a:rPr lang="en-US" baseline="0" dirty="0" smtClean="0"/>
              <a:t>The trainer should relate how the performance criteria is related to the element</a:t>
            </a:r>
          </a:p>
          <a:p>
            <a:pPr>
              <a:buFontTx/>
              <a:buNone/>
            </a:pPr>
            <a:endParaRPr lang="en-US" baseline="0" dirty="0" smtClean="0"/>
          </a:p>
          <a:p>
            <a:pPr>
              <a:buFont typeface="Arial" pitchFamily="34" charset="0"/>
              <a:buNone/>
            </a:pPr>
            <a:r>
              <a:rPr lang="en-US" b="0" baseline="0" dirty="0" smtClean="0"/>
              <a:t>To be able to </a:t>
            </a:r>
            <a:r>
              <a:rPr lang="en-US" b="1" baseline="0" dirty="0" smtClean="0"/>
              <a:t>Prepare vegetable eggs and farinaceous dishes </a:t>
            </a:r>
            <a:r>
              <a:rPr lang="en-US" b="0" baseline="0" dirty="0" smtClean="0"/>
              <a:t>the students must be able to; </a:t>
            </a:r>
          </a:p>
          <a:p>
            <a:pPr>
              <a:buFont typeface="Arial" pitchFamily="34" charset="0"/>
              <a:buNone/>
            </a:pPr>
            <a:endParaRPr lang="en-US" b="0" baseline="0" dirty="0" smtClean="0"/>
          </a:p>
          <a:p>
            <a:pPr>
              <a:buFont typeface="Arial" pitchFamily="34" charset="0"/>
              <a:buNone/>
            </a:pPr>
            <a:r>
              <a:rPr lang="en-US" b="1" baseline="0" dirty="0" smtClean="0"/>
              <a:t>Store vegetable, fruit, egg and farinaceous items items:</a:t>
            </a:r>
          </a:p>
          <a:p>
            <a:pPr>
              <a:buFont typeface="Arial" pitchFamily="34" charset="0"/>
              <a:buNone/>
            </a:pPr>
            <a:endParaRPr lang="en-US" b="1" baseline="0" dirty="0" smtClean="0"/>
          </a:p>
          <a:p>
            <a:pPr lvl="1"/>
            <a:r>
              <a:rPr lang="en-AU" sz="1200" i="1" kern="1200" dirty="0" smtClean="0">
                <a:solidFill>
                  <a:schemeClr val="tx1"/>
                </a:solidFill>
                <a:effectLst/>
                <a:latin typeface="+mn-lt"/>
                <a:ea typeface="+mn-ea"/>
                <a:cs typeface="+mn-cs"/>
              </a:rPr>
              <a:t>Store</a:t>
            </a:r>
            <a:r>
              <a:rPr lang="en-AU" sz="1200" kern="1200" dirty="0" smtClean="0">
                <a:solidFill>
                  <a:schemeClr val="tx1"/>
                </a:solidFill>
                <a:effectLst/>
                <a:latin typeface="+mn-lt"/>
                <a:ea typeface="+mn-ea"/>
                <a:cs typeface="+mn-cs"/>
              </a:rPr>
              <a:t> fresh prepared and/or cooked vegetable, fruit, egg and farinaceous menu items correctly</a:t>
            </a:r>
          </a:p>
          <a:p>
            <a:pPr lvl="1"/>
            <a:r>
              <a:rPr lang="en-AU" sz="1200" i="1" kern="1200" dirty="0" smtClean="0">
                <a:solidFill>
                  <a:schemeClr val="tx1"/>
                </a:solidFill>
                <a:effectLst/>
                <a:latin typeface="+mn-lt"/>
                <a:ea typeface="+mn-ea"/>
                <a:cs typeface="+mn-cs"/>
              </a:rPr>
              <a:t>Store</a:t>
            </a:r>
            <a:r>
              <a:rPr lang="en-AU" sz="1200" kern="1200" dirty="0" smtClean="0">
                <a:solidFill>
                  <a:schemeClr val="tx1"/>
                </a:solidFill>
                <a:effectLst/>
                <a:latin typeface="+mn-lt"/>
                <a:ea typeface="+mn-ea"/>
                <a:cs typeface="+mn-cs"/>
              </a:rPr>
              <a:t> fresh prepared and/or cooked vegetable, fruit, egg and farinaceous products appropriately in correct containers </a:t>
            </a:r>
          </a:p>
          <a:p>
            <a:pPr lvl="1"/>
            <a:r>
              <a:rPr lang="en-AU" sz="1200" i="1" kern="1200" dirty="0" smtClean="0">
                <a:solidFill>
                  <a:schemeClr val="tx1"/>
                </a:solidFill>
                <a:effectLst/>
                <a:latin typeface="+mn-lt"/>
                <a:ea typeface="+mn-ea"/>
                <a:cs typeface="+mn-cs"/>
              </a:rPr>
              <a:t>Label</a:t>
            </a:r>
            <a:r>
              <a:rPr lang="en-AU" sz="1200" kern="1200" dirty="0" smtClean="0">
                <a:solidFill>
                  <a:schemeClr val="tx1"/>
                </a:solidFill>
                <a:effectLst/>
                <a:latin typeface="+mn-lt"/>
                <a:ea typeface="+mn-ea"/>
                <a:cs typeface="+mn-cs"/>
              </a:rPr>
              <a:t> fresh prepared and/or cooked vegetable, fruit, egg and farinaceous products correctly</a:t>
            </a:r>
          </a:p>
          <a:p>
            <a:pPr lvl="1"/>
            <a:r>
              <a:rPr lang="en-AU" sz="1200" i="1" kern="1200" dirty="0" smtClean="0">
                <a:solidFill>
                  <a:schemeClr val="tx1"/>
                </a:solidFill>
                <a:effectLst/>
                <a:latin typeface="+mn-lt"/>
                <a:ea typeface="+mn-ea"/>
                <a:cs typeface="+mn-cs"/>
              </a:rPr>
              <a:t>Store</a:t>
            </a:r>
            <a:r>
              <a:rPr lang="en-AU" sz="1200" kern="1200" dirty="0" smtClean="0">
                <a:solidFill>
                  <a:schemeClr val="tx1"/>
                </a:solidFill>
                <a:effectLst/>
                <a:latin typeface="+mn-lt"/>
                <a:ea typeface="+mn-ea"/>
                <a:cs typeface="+mn-cs"/>
              </a:rPr>
              <a:t> fresh prepared and/or cooked vegetable, fruit, egg and farinaceous products in </a:t>
            </a:r>
            <a:r>
              <a:rPr lang="en-AU" sz="1200" i="1" kern="1200" dirty="0" smtClean="0">
                <a:solidFill>
                  <a:schemeClr val="tx1"/>
                </a:solidFill>
                <a:effectLst/>
                <a:latin typeface="+mn-lt"/>
                <a:ea typeface="+mn-ea"/>
                <a:cs typeface="+mn-cs"/>
              </a:rPr>
              <a:t>correct conditions</a:t>
            </a:r>
            <a:r>
              <a:rPr lang="en-AU" sz="1200" kern="1200" dirty="0" smtClean="0">
                <a:solidFill>
                  <a:schemeClr val="tx1"/>
                </a:solidFill>
                <a:effectLst/>
                <a:latin typeface="+mn-lt"/>
                <a:ea typeface="+mn-ea"/>
                <a:cs typeface="+mn-cs"/>
              </a:rPr>
              <a:t> to maintain freshness and quality</a:t>
            </a:r>
            <a:r>
              <a:rPr lang="en-AU" dirty="0" smtClean="0">
                <a:effectLst/>
              </a:rPr>
              <a:t> </a:t>
            </a:r>
          </a:p>
          <a:p>
            <a:pPr lvl="1"/>
            <a:endParaRPr lang="en-AU" dirty="0" smtClean="0">
              <a:effectLst/>
            </a:endParaRPr>
          </a:p>
          <a:p>
            <a:pPr lvl="1"/>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38121104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dirty="0" smtClean="0"/>
          </a:p>
          <a:p>
            <a:pPr>
              <a:buFontTx/>
              <a:buNone/>
            </a:pPr>
            <a:r>
              <a:rPr lang="en-US" dirty="0" smtClean="0"/>
              <a:t>All fresh vegetables are perishable in a very short time</a:t>
            </a:r>
          </a:p>
          <a:p>
            <a:pPr>
              <a:buFontTx/>
              <a:buNone/>
            </a:pPr>
            <a:endParaRPr lang="en-US" dirty="0" smtClean="0"/>
          </a:p>
          <a:p>
            <a:pPr>
              <a:buFontTx/>
              <a:buNone/>
            </a:pPr>
            <a:r>
              <a:rPr lang="en-US" dirty="0" smtClean="0"/>
              <a:t>Root</a:t>
            </a:r>
            <a:r>
              <a:rPr lang="en-US" baseline="0" dirty="0" smtClean="0"/>
              <a:t> vegetables alike potato, yams and pumpkin need to be stored in a cool environment that needs to be well ventilated. Not refrigerated</a:t>
            </a:r>
          </a:p>
          <a:p>
            <a:pPr>
              <a:buFontTx/>
              <a:buNone/>
            </a:pPr>
            <a:endParaRPr lang="en-US" baseline="0" dirty="0" smtClean="0"/>
          </a:p>
          <a:p>
            <a:pPr>
              <a:buFontTx/>
              <a:buNone/>
            </a:pPr>
            <a:r>
              <a:rPr lang="en-US" baseline="0" dirty="0" smtClean="0"/>
              <a:t>Fresh leafy vegetables need to be kept chilled to prolong their life; 3-4 days</a:t>
            </a:r>
          </a:p>
          <a:p>
            <a:pPr>
              <a:buFontTx/>
              <a:buNone/>
            </a:pPr>
            <a:r>
              <a:rPr lang="en-US" baseline="0" dirty="0" smtClean="0"/>
              <a:t>Store at less than 5ºC, keep covered with plastic to stop from drying the leafy vegetables and help retain moisture</a:t>
            </a:r>
          </a:p>
          <a:p>
            <a:pPr>
              <a:buFontTx/>
              <a:buNone/>
            </a:pPr>
            <a:endParaRPr lang="en-US" baseline="0" dirty="0" smtClean="0"/>
          </a:p>
          <a:p>
            <a:pPr>
              <a:buFontTx/>
              <a:buNone/>
            </a:pPr>
            <a:endParaRPr lang="en-US" baseline="0" dirty="0" smtClean="0"/>
          </a:p>
          <a:p>
            <a:pPr>
              <a:buFontTx/>
              <a:buNone/>
            </a:pPr>
            <a:r>
              <a:rPr lang="en-US" baseline="0" dirty="0" smtClean="0"/>
              <a:t>Some vegetables can be stored can be stored well between 7 and 15ºC </a:t>
            </a:r>
          </a:p>
          <a:p>
            <a:pPr>
              <a:buFontTx/>
              <a:buNone/>
            </a:pPr>
            <a:endParaRPr lang="en-US" baseline="0" dirty="0" smtClean="0"/>
          </a:p>
          <a:p>
            <a:pPr>
              <a:buFontTx/>
              <a:buNone/>
            </a:pPr>
            <a:r>
              <a:rPr lang="en-US" baseline="0" dirty="0" smtClean="0"/>
              <a:t>Best is to store for minimum period by purchasing on a daily basis what is required for the days trading</a:t>
            </a:r>
          </a:p>
          <a:p>
            <a:pPr>
              <a:buFontTx/>
              <a:buNone/>
            </a:pPr>
            <a:endParaRPr lang="en-US" baseline="0" dirty="0" smtClean="0"/>
          </a:p>
          <a:p>
            <a:pPr>
              <a:buFontTx/>
              <a:buNone/>
            </a:pPr>
            <a:r>
              <a:rPr lang="en-US" baseline="0" dirty="0" smtClean="0"/>
              <a:t>Canned vegetables need to be stored in environment that will not be detrimental to safe can storage; cool well ventilated dry environment</a:t>
            </a:r>
          </a:p>
          <a:p>
            <a:pPr>
              <a:buFontTx/>
              <a:buNone/>
            </a:pPr>
            <a:endParaRPr lang="en-US" baseline="0" dirty="0" smtClean="0"/>
          </a:p>
          <a:p>
            <a:pPr>
              <a:buFontTx/>
              <a:buNone/>
            </a:pPr>
            <a:r>
              <a:rPr lang="en-US" baseline="0" dirty="0" smtClean="0"/>
              <a:t>Frozen vegetables need constant -18ºC storage for consistency, when thawed they must be used immediately</a:t>
            </a:r>
          </a:p>
          <a:p>
            <a:pPr>
              <a:buFontTx/>
              <a:buNone/>
            </a:pPr>
            <a:endParaRPr lang="en-US" baseline="0" dirty="0" smtClean="0"/>
          </a:p>
          <a:p>
            <a:pPr>
              <a:buFontTx/>
              <a:buNone/>
            </a:pPr>
            <a:r>
              <a:rPr lang="en-US" baseline="0" dirty="0" smtClean="0"/>
              <a:t>Frozen potato (French fries) are placed into deep fryer while still frozen so must be kept that way</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38846204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b="1" dirty="0" smtClean="0"/>
          </a:p>
          <a:p>
            <a:pPr>
              <a:buFontTx/>
              <a:buNone/>
            </a:pPr>
            <a:r>
              <a:rPr lang="en-US" b="0" dirty="0" smtClean="0"/>
              <a:t>Any cooked vegetables needs to be chilled if they are going to be stored.</a:t>
            </a:r>
          </a:p>
          <a:p>
            <a:pPr>
              <a:buFontTx/>
              <a:buNone/>
            </a:pPr>
            <a:endParaRPr lang="en-US" b="0" dirty="0" smtClean="0"/>
          </a:p>
          <a:p>
            <a:pPr>
              <a:buFontTx/>
              <a:buNone/>
            </a:pPr>
            <a:r>
              <a:rPr lang="en-US" b="0" dirty="0" smtClean="0"/>
              <a:t>Storage must be at less than 5ºC for no more than 2 days</a:t>
            </a:r>
          </a:p>
          <a:p>
            <a:pPr>
              <a:buFontTx/>
              <a:buNone/>
            </a:pPr>
            <a:endParaRPr lang="en-US" b="0" dirty="0" smtClean="0"/>
          </a:p>
          <a:p>
            <a:pPr>
              <a:buFontTx/>
              <a:buNone/>
            </a:pPr>
            <a:r>
              <a:rPr lang="en-US" b="0" dirty="0" smtClean="0"/>
              <a:t>Containers must be clean and in good conditions</a:t>
            </a:r>
          </a:p>
          <a:p>
            <a:pPr>
              <a:buFontTx/>
              <a:buNone/>
            </a:pPr>
            <a:endParaRPr lang="en-US" b="0" dirty="0" smtClean="0"/>
          </a:p>
          <a:p>
            <a:pPr>
              <a:buFontTx/>
              <a:buNone/>
            </a:pPr>
            <a:r>
              <a:rPr lang="en-US" b="0" dirty="0" smtClean="0"/>
              <a:t>Stored vegetables must</a:t>
            </a:r>
            <a:r>
              <a:rPr lang="en-US" b="0" baseline="0" dirty="0" smtClean="0"/>
              <a:t> be labeled correctly</a:t>
            </a:r>
          </a:p>
          <a:p>
            <a:pPr>
              <a:buFontTx/>
              <a:buNone/>
            </a:pPr>
            <a:endParaRPr lang="en-US" b="0" baseline="0" dirty="0" smtClean="0"/>
          </a:p>
          <a:p>
            <a:pPr>
              <a:buFontTx/>
              <a:buNone/>
            </a:pPr>
            <a:r>
              <a:rPr lang="en-US" b="0" baseline="0" dirty="0" smtClean="0"/>
              <a:t>Keep stock rotation up to date</a:t>
            </a:r>
            <a:endParaRPr lang="en-US" b="0" dirty="0" smtClean="0"/>
          </a:p>
          <a:p>
            <a:pPr>
              <a:buFontTx/>
              <a:buNone/>
            </a:pPr>
            <a:endParaRPr lang="en-US" dirty="0" smtClean="0"/>
          </a:p>
          <a:p>
            <a:pPr lvl="1"/>
            <a:endParaRPr lang="en-AU" dirty="0" smtClean="0">
              <a:effectLst/>
            </a:endParaRPr>
          </a:p>
          <a:p>
            <a:pPr lvl="1"/>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11424289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b="1" dirty="0" smtClean="0"/>
          </a:p>
          <a:p>
            <a:pPr>
              <a:buFontTx/>
              <a:buNone/>
            </a:pPr>
            <a:r>
              <a:rPr lang="en-US" b="0" dirty="0" smtClean="0"/>
              <a:t>Any cooked farinaceous products need to be chilled if they are going to be stored.</a:t>
            </a:r>
          </a:p>
          <a:p>
            <a:pPr>
              <a:buFontTx/>
              <a:buNone/>
            </a:pPr>
            <a:endParaRPr lang="en-US" b="0" dirty="0" smtClean="0"/>
          </a:p>
          <a:p>
            <a:pPr>
              <a:buFontTx/>
              <a:buNone/>
            </a:pPr>
            <a:r>
              <a:rPr lang="en-US" b="0" dirty="0" smtClean="0"/>
              <a:t>Storage must be at less than 5ºC for no more than 2 days</a:t>
            </a:r>
          </a:p>
          <a:p>
            <a:pPr>
              <a:buFontTx/>
              <a:buNone/>
            </a:pPr>
            <a:endParaRPr lang="en-US" b="0" dirty="0" smtClean="0"/>
          </a:p>
          <a:p>
            <a:pPr>
              <a:buFontTx/>
              <a:buNone/>
            </a:pPr>
            <a:r>
              <a:rPr lang="en-US" b="0" dirty="0" smtClean="0"/>
              <a:t>Containers must be clean and in good conditions</a:t>
            </a:r>
          </a:p>
          <a:p>
            <a:pPr>
              <a:buFontTx/>
              <a:buNone/>
            </a:pPr>
            <a:endParaRPr lang="en-US" b="0" dirty="0" smtClean="0"/>
          </a:p>
          <a:p>
            <a:pPr>
              <a:buFontTx/>
              <a:buNone/>
            </a:pPr>
            <a:r>
              <a:rPr lang="en-US" b="0" dirty="0" smtClean="0"/>
              <a:t>Stored product must</a:t>
            </a:r>
            <a:r>
              <a:rPr lang="en-US" b="0" baseline="0" dirty="0" smtClean="0"/>
              <a:t> be labeled correctly</a:t>
            </a:r>
          </a:p>
          <a:p>
            <a:pPr>
              <a:buFontTx/>
              <a:buNone/>
            </a:pPr>
            <a:endParaRPr lang="en-US" b="0" baseline="0" dirty="0" smtClean="0"/>
          </a:p>
          <a:p>
            <a:pPr>
              <a:buFontTx/>
              <a:buNone/>
            </a:pPr>
            <a:r>
              <a:rPr lang="en-US" b="0" baseline="0" dirty="0" smtClean="0"/>
              <a:t>Keep stock rotation up to date</a:t>
            </a:r>
            <a:endParaRPr lang="en-US" b="0" dirty="0" smtClean="0"/>
          </a:p>
          <a:p>
            <a:pPr>
              <a:buFontTx/>
              <a:buNone/>
            </a:pPr>
            <a:endParaRPr lang="en-US" b="1" dirty="0" smtClean="0"/>
          </a:p>
          <a:p>
            <a:pPr>
              <a:buFontTx/>
              <a:buNone/>
            </a:pPr>
            <a:endParaRPr lang="en-US" dirty="0" smtClean="0"/>
          </a:p>
          <a:p>
            <a:pPr>
              <a:buFontTx/>
              <a:buNone/>
            </a:pPr>
            <a:endParaRPr lang="en-AU" dirty="0" smtClean="0">
              <a:effectLst/>
            </a:endParaRPr>
          </a:p>
          <a:p>
            <a:pPr lvl="1"/>
            <a:endParaRPr lang="en-AU" dirty="0" smtClean="0">
              <a:effectLst/>
            </a:endParaRPr>
          </a:p>
          <a:p>
            <a:pPr lvl="1"/>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29842478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b="1" dirty="0" smtClean="0"/>
          </a:p>
          <a:p>
            <a:pPr>
              <a:buFontTx/>
              <a:buNone/>
            </a:pPr>
            <a:r>
              <a:rPr lang="en-US" b="0" dirty="0" smtClean="0"/>
              <a:t>Any fresh farinaceous products need to be chilled if they are going to be stored</a:t>
            </a:r>
            <a:r>
              <a:rPr lang="en-US" b="0" baseline="0" dirty="0" smtClean="0"/>
              <a:t> before cooking</a:t>
            </a:r>
            <a:endParaRPr lang="en-US" b="0" dirty="0" smtClean="0"/>
          </a:p>
          <a:p>
            <a:pPr>
              <a:buFontTx/>
              <a:buNone/>
            </a:pPr>
            <a:endParaRPr lang="en-US" b="0" dirty="0" smtClean="0"/>
          </a:p>
          <a:p>
            <a:pPr>
              <a:buFontTx/>
              <a:buNone/>
            </a:pPr>
            <a:r>
              <a:rPr lang="en-US" b="0" dirty="0" smtClean="0"/>
              <a:t>Storage must be at less than 5ºC for no more than 2 days</a:t>
            </a:r>
          </a:p>
          <a:p>
            <a:pPr>
              <a:buFontTx/>
              <a:buNone/>
            </a:pPr>
            <a:endParaRPr lang="en-US" b="0" dirty="0" smtClean="0"/>
          </a:p>
          <a:p>
            <a:pPr>
              <a:buFontTx/>
              <a:buNone/>
            </a:pPr>
            <a:r>
              <a:rPr lang="en-US" b="0" dirty="0" smtClean="0"/>
              <a:t>Longer exposure may result in oxidation in</a:t>
            </a:r>
            <a:r>
              <a:rPr lang="en-US" b="0" baseline="0" dirty="0" smtClean="0"/>
              <a:t> flour resulting in grey flecks appearing in uncooked flour based product</a:t>
            </a:r>
            <a:endParaRPr lang="en-US" b="0" dirty="0" smtClean="0"/>
          </a:p>
          <a:p>
            <a:pPr>
              <a:buFontTx/>
              <a:buNone/>
            </a:pPr>
            <a:endParaRPr lang="en-US" b="0" dirty="0" smtClean="0"/>
          </a:p>
          <a:p>
            <a:pPr>
              <a:buFontTx/>
              <a:buNone/>
            </a:pPr>
            <a:r>
              <a:rPr lang="en-US" b="0" dirty="0" smtClean="0"/>
              <a:t>Containers must be clean and in good conditions</a:t>
            </a:r>
          </a:p>
          <a:p>
            <a:pPr>
              <a:buFontTx/>
              <a:buNone/>
            </a:pPr>
            <a:endParaRPr lang="en-US" b="0" dirty="0" smtClean="0"/>
          </a:p>
          <a:p>
            <a:pPr>
              <a:buFontTx/>
              <a:buNone/>
            </a:pPr>
            <a:r>
              <a:rPr lang="en-US" b="0" dirty="0" smtClean="0"/>
              <a:t>Stored product must</a:t>
            </a:r>
            <a:r>
              <a:rPr lang="en-US" b="0" baseline="0" dirty="0" smtClean="0"/>
              <a:t> be labeled correctly</a:t>
            </a:r>
          </a:p>
          <a:p>
            <a:pPr>
              <a:buFontTx/>
              <a:buNone/>
            </a:pPr>
            <a:endParaRPr lang="en-US" b="0" baseline="0" dirty="0" smtClean="0"/>
          </a:p>
          <a:p>
            <a:pPr>
              <a:buFontTx/>
              <a:buNone/>
            </a:pPr>
            <a:r>
              <a:rPr lang="en-US" b="0" baseline="0" dirty="0" smtClean="0"/>
              <a:t>Keep stock rotation up to date</a:t>
            </a:r>
            <a:endParaRPr lang="en-US" b="0" dirty="0" smtClean="0"/>
          </a:p>
          <a:p>
            <a:pPr>
              <a:buFontTx/>
              <a:buNone/>
            </a:pPr>
            <a:endParaRPr lang="en-US" b="1" dirty="0" smtClean="0"/>
          </a:p>
          <a:p>
            <a:pPr>
              <a:buFontTx/>
              <a:buNone/>
            </a:pPr>
            <a:endParaRPr lang="en-US" dirty="0" smtClean="0"/>
          </a:p>
          <a:p>
            <a:pPr lvl="1"/>
            <a:endParaRPr lang="en-AU" dirty="0" smtClean="0">
              <a:effectLst/>
            </a:endParaRPr>
          </a:p>
          <a:p>
            <a:pPr lvl="1"/>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4828086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b="1" dirty="0" smtClean="0"/>
          </a:p>
          <a:p>
            <a:pPr>
              <a:buFontTx/>
              <a:buNone/>
            </a:pPr>
            <a:r>
              <a:rPr lang="en-US" b="0" dirty="0" smtClean="0"/>
              <a:t>Dry product can be kept stored for long periods of time</a:t>
            </a:r>
          </a:p>
          <a:p>
            <a:pPr>
              <a:buFontTx/>
              <a:buNone/>
            </a:pPr>
            <a:endParaRPr lang="en-US" b="0" dirty="0" smtClean="0"/>
          </a:p>
          <a:p>
            <a:pPr>
              <a:buFontTx/>
              <a:buNone/>
            </a:pPr>
            <a:r>
              <a:rPr lang="en-US" b="0" dirty="0" smtClean="0"/>
              <a:t>Precautions with moisture must be undertaken</a:t>
            </a:r>
          </a:p>
          <a:p>
            <a:pPr>
              <a:buFontTx/>
              <a:buNone/>
            </a:pPr>
            <a:endParaRPr lang="en-US" b="0" dirty="0" smtClean="0"/>
          </a:p>
          <a:p>
            <a:pPr>
              <a:buFontTx/>
              <a:buNone/>
            </a:pPr>
            <a:r>
              <a:rPr lang="en-US" b="0" dirty="0" smtClean="0"/>
              <a:t>Any dry product that get water damaged must be discarded due to risk</a:t>
            </a:r>
            <a:r>
              <a:rPr lang="en-US" b="0" baseline="0" dirty="0" smtClean="0"/>
              <a:t> of mould growth</a:t>
            </a:r>
          </a:p>
          <a:p>
            <a:pPr>
              <a:buFontTx/>
              <a:buNone/>
            </a:pPr>
            <a:endParaRPr lang="en-US" b="0" baseline="0" dirty="0" smtClean="0"/>
          </a:p>
          <a:p>
            <a:pPr>
              <a:buFontTx/>
              <a:buNone/>
            </a:pPr>
            <a:r>
              <a:rPr lang="en-US" b="0" baseline="0" dirty="0" smtClean="0"/>
              <a:t>Keep stored off floors</a:t>
            </a:r>
          </a:p>
          <a:p>
            <a:pPr>
              <a:buFontTx/>
              <a:buNone/>
            </a:pPr>
            <a:endParaRPr lang="en-US" b="0" baseline="0" dirty="0" smtClean="0"/>
          </a:p>
          <a:p>
            <a:pPr>
              <a:buFontTx/>
              <a:buNone/>
            </a:pPr>
            <a:r>
              <a:rPr lang="en-US" b="0" baseline="0" dirty="0" smtClean="0"/>
              <a:t>If packaging is damaged product needs to be de-cantered into secure container to prevent infestation with pests</a:t>
            </a:r>
            <a:endParaRPr lang="en-US" b="0" dirty="0" smtClean="0"/>
          </a:p>
          <a:p>
            <a:pPr>
              <a:buFontTx/>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34052154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b="1" dirty="0" smtClean="0"/>
          </a:p>
          <a:p>
            <a:pPr>
              <a:buFontTx/>
              <a:buNone/>
            </a:pPr>
            <a:r>
              <a:rPr lang="en-US" b="0" dirty="0" smtClean="0"/>
              <a:t>All fruits need to be stored in secure areas</a:t>
            </a:r>
          </a:p>
          <a:p>
            <a:pPr>
              <a:buFontTx/>
              <a:buNone/>
            </a:pPr>
            <a:endParaRPr lang="en-US" b="0" dirty="0" smtClean="0"/>
          </a:p>
          <a:p>
            <a:pPr>
              <a:buFontTx/>
              <a:buNone/>
            </a:pPr>
            <a:r>
              <a:rPr lang="en-US" b="0" dirty="0" smtClean="0"/>
              <a:t>Bananas may be stored in at</a:t>
            </a:r>
            <a:r>
              <a:rPr lang="en-US" b="0" baseline="0" dirty="0" smtClean="0"/>
              <a:t> room temperature as can other fruits</a:t>
            </a:r>
          </a:p>
          <a:p>
            <a:pPr>
              <a:buFontTx/>
              <a:buNone/>
            </a:pPr>
            <a:endParaRPr lang="en-US" b="0" baseline="0" dirty="0" smtClean="0"/>
          </a:p>
          <a:p>
            <a:pPr>
              <a:buFontTx/>
              <a:buNone/>
            </a:pPr>
            <a:r>
              <a:rPr lang="en-US" b="0" baseline="0" dirty="0" smtClean="0"/>
              <a:t>Fresh berries will have a short life if not chilled and mould will grow rapidly</a:t>
            </a:r>
          </a:p>
          <a:p>
            <a:pPr>
              <a:buFontTx/>
              <a:buNone/>
            </a:pPr>
            <a:endParaRPr lang="en-US" b="0" baseline="0" dirty="0" smtClean="0"/>
          </a:p>
          <a:p>
            <a:pPr>
              <a:buFontTx/>
              <a:buNone/>
            </a:pPr>
            <a:r>
              <a:rPr lang="en-US" b="0" baseline="0" dirty="0" smtClean="0"/>
              <a:t>Dried fruits will keep well if moisture is kept away, so packaging must be secure</a:t>
            </a:r>
            <a:endParaRPr lang="en-US" b="0" dirty="0" smtClean="0"/>
          </a:p>
          <a:p>
            <a:pPr>
              <a:buFontTx/>
              <a:buNone/>
            </a:pPr>
            <a:endParaRPr lang="en-US" b="0" dirty="0" smtClean="0"/>
          </a:p>
          <a:p>
            <a:pPr lvl="1"/>
            <a:endParaRPr lang="en-AU" dirty="0" smtClean="0">
              <a:effectLst/>
            </a:endParaRPr>
          </a:p>
          <a:p>
            <a:pPr lvl="1"/>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33964781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b="1" dirty="0" smtClean="0"/>
          </a:p>
          <a:p>
            <a:pPr>
              <a:buFontTx/>
              <a:buNone/>
            </a:pPr>
            <a:r>
              <a:rPr lang="en-US" b="0" dirty="0" smtClean="0"/>
              <a:t>Product is stored for one reason</a:t>
            </a:r>
          </a:p>
          <a:p>
            <a:pPr>
              <a:buFontTx/>
              <a:buNone/>
            </a:pPr>
            <a:endParaRPr lang="en-US" b="0" dirty="0" smtClean="0"/>
          </a:p>
          <a:p>
            <a:pPr>
              <a:buFontTx/>
              <a:buNone/>
            </a:pPr>
            <a:r>
              <a:rPr lang="en-US" b="0" dirty="0" smtClean="0"/>
              <a:t>To be used at a later date</a:t>
            </a:r>
          </a:p>
          <a:p>
            <a:pPr>
              <a:buFontTx/>
              <a:buNone/>
            </a:pPr>
            <a:endParaRPr lang="en-US" b="0" dirty="0" smtClean="0"/>
          </a:p>
          <a:p>
            <a:pPr>
              <a:buFontTx/>
              <a:buNone/>
            </a:pPr>
            <a:r>
              <a:rPr lang="en-US" b="0" dirty="0" smtClean="0"/>
              <a:t>If placed into containers that are not clean to begin</a:t>
            </a:r>
            <a:r>
              <a:rPr lang="en-US" b="0" baseline="0" dirty="0" smtClean="0"/>
              <a:t> then the product may as well have been thrown in rubbish and not stored</a:t>
            </a:r>
          </a:p>
          <a:p>
            <a:pPr>
              <a:buFontTx/>
              <a:buNone/>
            </a:pPr>
            <a:endParaRPr lang="en-US" b="0" baseline="0" dirty="0" smtClean="0"/>
          </a:p>
          <a:p>
            <a:pPr>
              <a:buFontTx/>
              <a:buNone/>
            </a:pPr>
            <a:r>
              <a:rPr lang="en-US" b="0" baseline="0" dirty="0" smtClean="0"/>
              <a:t>Containers must be clean and in a good state of repair so pests are not able to enter and moisture cannot enter</a:t>
            </a:r>
          </a:p>
          <a:p>
            <a:pPr>
              <a:buFontTx/>
              <a:buNone/>
            </a:pPr>
            <a:endParaRPr lang="en-US" b="0" baseline="0" dirty="0" smtClean="0"/>
          </a:p>
          <a:p>
            <a:pPr>
              <a:buFontTx/>
              <a:buNone/>
            </a:pPr>
            <a:r>
              <a:rPr lang="en-US" b="0" baseline="0" dirty="0" smtClean="0"/>
              <a:t>Containers must be able to be closed and sealed if required</a:t>
            </a:r>
          </a:p>
          <a:p>
            <a:pPr>
              <a:buFontTx/>
              <a:buNone/>
            </a:pPr>
            <a:endParaRPr lang="en-US" b="0" baseline="0" dirty="0" smtClean="0"/>
          </a:p>
          <a:p>
            <a:pPr>
              <a:buFontTx/>
              <a:buNone/>
            </a:pPr>
            <a:r>
              <a:rPr lang="en-US" b="0" baseline="0" dirty="0" smtClean="0"/>
              <a:t>Closing the containers must not damage the product being stored</a:t>
            </a:r>
            <a:endParaRPr lang="en-US" b="0" dirty="0" smtClean="0"/>
          </a:p>
          <a:p>
            <a:pPr>
              <a:buFontTx/>
              <a:buNone/>
            </a:pPr>
            <a:endParaRPr lang="en-US" dirty="0" smtClean="0"/>
          </a:p>
          <a:p>
            <a:pPr lvl="1"/>
            <a:endParaRPr lang="en-AU" dirty="0" smtClean="0">
              <a:effectLst/>
            </a:endParaRPr>
          </a:p>
          <a:p>
            <a:pPr lvl="1"/>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41716254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b="1" dirty="0" smtClean="0"/>
          </a:p>
          <a:p>
            <a:pPr>
              <a:buFontTx/>
              <a:buNone/>
            </a:pPr>
            <a:r>
              <a:rPr lang="en-US" b="0" dirty="0" smtClean="0"/>
              <a:t>Labeling needs to be clear and defined</a:t>
            </a:r>
          </a:p>
          <a:p>
            <a:pPr>
              <a:buFontTx/>
              <a:buNone/>
            </a:pPr>
            <a:endParaRPr lang="en-US" b="0" dirty="0" smtClean="0"/>
          </a:p>
          <a:p>
            <a:pPr>
              <a:buFontTx/>
              <a:buNone/>
            </a:pPr>
            <a:r>
              <a:rPr lang="en-US" b="0" dirty="0" smtClean="0"/>
              <a:t>Must be legible</a:t>
            </a:r>
          </a:p>
          <a:p>
            <a:pPr>
              <a:buFontTx/>
              <a:buNone/>
            </a:pPr>
            <a:r>
              <a:rPr lang="en-US" b="0" dirty="0" smtClean="0"/>
              <a:t>Must</a:t>
            </a:r>
            <a:r>
              <a:rPr lang="en-US" b="0" baseline="0" dirty="0" smtClean="0"/>
              <a:t> include:</a:t>
            </a:r>
          </a:p>
          <a:p>
            <a:pPr>
              <a:buFontTx/>
              <a:buNone/>
            </a:pPr>
            <a:endParaRPr lang="en-US" b="0" baseline="0" dirty="0" smtClean="0"/>
          </a:p>
          <a:p>
            <a:pPr>
              <a:buFontTx/>
              <a:buNone/>
            </a:pPr>
            <a:r>
              <a:rPr lang="en-US" b="0" baseline="0" dirty="0" smtClean="0"/>
              <a:t>Name of product</a:t>
            </a:r>
          </a:p>
          <a:p>
            <a:pPr>
              <a:buFontTx/>
              <a:buNone/>
            </a:pPr>
            <a:endParaRPr lang="en-US" b="0" baseline="0" dirty="0" smtClean="0"/>
          </a:p>
          <a:p>
            <a:pPr>
              <a:buFontTx/>
              <a:buNone/>
            </a:pPr>
            <a:r>
              <a:rPr lang="en-US" b="0" baseline="0" dirty="0" smtClean="0"/>
              <a:t>Date of manufacture</a:t>
            </a:r>
          </a:p>
          <a:p>
            <a:pPr>
              <a:buFontTx/>
              <a:buNone/>
            </a:pPr>
            <a:endParaRPr lang="en-US" b="0" baseline="0" dirty="0" smtClean="0"/>
          </a:p>
          <a:p>
            <a:pPr>
              <a:buFontTx/>
              <a:buNone/>
            </a:pPr>
            <a:r>
              <a:rPr lang="en-US" b="0" baseline="0" dirty="0" smtClean="0"/>
              <a:t>Use by date</a:t>
            </a:r>
          </a:p>
          <a:p>
            <a:pPr>
              <a:buFontTx/>
              <a:buNone/>
            </a:pPr>
            <a:endParaRPr lang="en-US" b="0" baseline="0" dirty="0" smtClean="0"/>
          </a:p>
          <a:p>
            <a:pPr>
              <a:buFontTx/>
              <a:buNone/>
            </a:pPr>
            <a:r>
              <a:rPr lang="en-US" b="0" baseline="0" dirty="0" smtClean="0"/>
              <a:t>Person who packed or labeled product</a:t>
            </a:r>
          </a:p>
          <a:p>
            <a:pPr>
              <a:buFontTx/>
              <a:buNone/>
            </a:pPr>
            <a:endParaRPr lang="en-US" b="0" baseline="0" dirty="0" smtClean="0"/>
          </a:p>
          <a:p>
            <a:pPr>
              <a:buFontTx/>
              <a:buNone/>
            </a:pPr>
            <a:r>
              <a:rPr lang="en-US" b="0" baseline="0" dirty="0" smtClean="0"/>
              <a:t>Name of manufacturer</a:t>
            </a:r>
            <a:endParaRPr lang="en-US" b="0" dirty="0" smtClean="0"/>
          </a:p>
          <a:p>
            <a:pPr>
              <a:buFontTx/>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6348952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4/6/2015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4/6/2015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4/6/2015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4/6/2015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4/6/2015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4/6/2015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4/6/2015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4/6/2015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4/6/2015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4/6/2015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4/6/2015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0B9F9CF-7D2C-460C-8F3E-F6213A54EF65}" type="datetime1">
              <a:rPr lang="en-US" smtClean="0"/>
              <a:pPr/>
              <a:t>4/6/2015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jpeg"/><Relationship Id="rId7"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jpeg"/><Relationship Id="rId11" Type="http://schemas.openxmlformats.org/officeDocument/2006/relationships/image" Target="../media/image17.jpeg"/><Relationship Id="rId5" Type="http://schemas.openxmlformats.org/officeDocument/2006/relationships/image" Target="../media/image11.jpeg"/><Relationship Id="rId10" Type="http://schemas.openxmlformats.org/officeDocument/2006/relationships/image" Target="../media/image16.jpeg"/><Relationship Id="rId4" Type="http://schemas.openxmlformats.org/officeDocument/2006/relationships/image" Target="../media/image10.jpeg"/><Relationship Id="rId9" Type="http://schemas.openxmlformats.org/officeDocument/2006/relationships/image" Target="../media/image15.jpeg"/></Relationships>
</file>

<file path=ppt/slides/_rels/slide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0.jpeg"/><Relationship Id="rId4" Type="http://schemas.openxmlformats.org/officeDocument/2006/relationships/image" Target="../media/image19.jpeg"/></Relationships>
</file>

<file path=ppt/slides/_rels/slide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8.jpeg"/><Relationship Id="rId4" Type="http://schemas.openxmlformats.org/officeDocument/2006/relationships/image" Target="../media/image27.jpeg"/></Relationships>
</file>

<file path=ppt/slides/_rels/slide1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40" y="702956"/>
            <a:ext cx="7776192" cy="1285884"/>
          </a:xfrm>
        </p:spPr>
        <p:txBody>
          <a:bodyPr>
            <a:noAutofit/>
          </a:bodyPr>
          <a:lstStyle/>
          <a:p>
            <a:r>
              <a:rPr lang="en-AU" sz="3600" dirty="0" smtClean="0">
                <a:ln w="5000" cmpd="sng">
                  <a:noFill/>
                  <a:prstDash val="solid"/>
                </a:ln>
                <a:solidFill>
                  <a:srgbClr val="FF6600"/>
                </a:solidFill>
                <a:latin typeface="Helvetica" pitchFamily="34" charset="0"/>
              </a:rPr>
              <a:t>PREPARE VEGETABLES, EGGS AND FARINACEOUS DISHES</a:t>
            </a:r>
            <a:endParaRPr lang="en-US" sz="36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6084168" y="1988840"/>
            <a:ext cx="2397252" cy="577774"/>
          </a:xfrm>
        </p:spPr>
        <p:txBody>
          <a:bodyPr>
            <a:noAutofit/>
          </a:bodyPr>
          <a:lstStyle/>
          <a:p>
            <a:r>
              <a:rPr lang="en-AU" sz="2400" b="1" dirty="0" smtClean="0">
                <a:latin typeface="Helvetica" pitchFamily="34" charset="0"/>
              </a:rPr>
              <a:t>D1.HCC.CL2.18</a:t>
            </a:r>
            <a:endParaRPr lang="en-US" sz="24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a:t>
            </a:fld>
            <a:endParaRPr lang="en-US" dirty="0"/>
          </a:p>
        </p:txBody>
      </p:sp>
      <p:grpSp>
        <p:nvGrpSpPr>
          <p:cNvPr id="16" name="Group 15"/>
          <p:cNvGrpSpPr/>
          <p:nvPr/>
        </p:nvGrpSpPr>
        <p:grpSpPr>
          <a:xfrm>
            <a:off x="683568" y="2204864"/>
            <a:ext cx="5436352" cy="3024336"/>
            <a:chOff x="395536" y="2060848"/>
            <a:chExt cx="5436352" cy="3024336"/>
          </a:xfrm>
        </p:grpSpPr>
        <p:pic>
          <p:nvPicPr>
            <p:cNvPr id="10" name="Picture 9" descr="Fresh pasta.jpeg"/>
            <p:cNvPicPr>
              <a:picLocks noChangeAspect="1"/>
            </p:cNvPicPr>
            <p:nvPr/>
          </p:nvPicPr>
          <p:blipFill>
            <a:blip r:embed="rId3" cstate="print"/>
            <a:srcRect b="6175"/>
            <a:stretch>
              <a:fillRect/>
            </a:stretch>
          </p:blipFill>
          <p:spPr>
            <a:xfrm>
              <a:off x="395536" y="3573016"/>
              <a:ext cx="2160000" cy="1512168"/>
            </a:xfrm>
            <a:prstGeom prst="rect">
              <a:avLst/>
            </a:prstGeom>
          </p:spPr>
        </p:pic>
        <p:pic>
          <p:nvPicPr>
            <p:cNvPr id="11" name="Picture 10" descr="447422_poached_eggs.jpg"/>
            <p:cNvPicPr>
              <a:picLocks noChangeAspect="1"/>
            </p:cNvPicPr>
            <p:nvPr/>
          </p:nvPicPr>
          <p:blipFill>
            <a:blip r:embed="rId4" cstate="print"/>
            <a:stretch>
              <a:fillRect/>
            </a:stretch>
          </p:blipFill>
          <p:spPr>
            <a:xfrm>
              <a:off x="395536" y="2060848"/>
              <a:ext cx="2160000" cy="1513043"/>
            </a:xfrm>
            <a:prstGeom prst="rect">
              <a:avLst/>
            </a:prstGeom>
          </p:spPr>
        </p:pic>
        <p:pic>
          <p:nvPicPr>
            <p:cNvPr id="12" name="Picture 11" descr="MP900313729.JPG"/>
            <p:cNvPicPr>
              <a:picLocks noChangeAspect="1"/>
            </p:cNvPicPr>
            <p:nvPr/>
          </p:nvPicPr>
          <p:blipFill>
            <a:blip r:embed="rId5" cstate="print"/>
            <a:srcRect l="6286"/>
            <a:stretch>
              <a:fillRect/>
            </a:stretch>
          </p:blipFill>
          <p:spPr>
            <a:xfrm>
              <a:off x="3563888" y="3487891"/>
              <a:ext cx="2268000" cy="1597293"/>
            </a:xfrm>
            <a:prstGeom prst="rect">
              <a:avLst/>
            </a:prstGeom>
          </p:spPr>
        </p:pic>
        <p:pic>
          <p:nvPicPr>
            <p:cNvPr id="13" name="Picture 12" descr="MP910218700.JPG"/>
            <p:cNvPicPr>
              <a:picLocks noChangeAspect="1"/>
            </p:cNvPicPr>
            <p:nvPr/>
          </p:nvPicPr>
          <p:blipFill>
            <a:blip r:embed="rId6" cstate="print"/>
            <a:srcRect r="12491"/>
            <a:stretch>
              <a:fillRect/>
            </a:stretch>
          </p:blipFill>
          <p:spPr>
            <a:xfrm>
              <a:off x="2555776" y="3550157"/>
              <a:ext cx="1008112" cy="1535027"/>
            </a:xfrm>
            <a:prstGeom prst="rect">
              <a:avLst/>
            </a:prstGeom>
          </p:spPr>
        </p:pic>
        <p:pic>
          <p:nvPicPr>
            <p:cNvPr id="1026" name="Picture 2" descr="C:\Documents and Settings\danielc\Desktop\iStock_Comm on Phone.jpg"/>
            <p:cNvPicPr>
              <a:picLocks noChangeAspect="1" noChangeArrowheads="1"/>
            </p:cNvPicPr>
            <p:nvPr/>
          </p:nvPicPr>
          <p:blipFill>
            <a:blip r:embed="rId7" cstate="print"/>
            <a:stretch>
              <a:fillRect/>
            </a:stretch>
          </p:blipFill>
          <p:spPr bwMode="auto">
            <a:xfrm>
              <a:off x="2555776" y="2060848"/>
              <a:ext cx="1008000" cy="1508982"/>
            </a:xfrm>
            <a:prstGeom prst="rect">
              <a:avLst/>
            </a:prstGeom>
            <a:noFill/>
          </p:spPr>
        </p:pic>
        <p:pic>
          <p:nvPicPr>
            <p:cNvPr id="9" name="Picture 8" descr="shutterstock_96853837.jpg"/>
            <p:cNvPicPr>
              <a:picLocks noChangeAspect="1"/>
            </p:cNvPicPr>
            <p:nvPr/>
          </p:nvPicPr>
          <p:blipFill>
            <a:blip r:embed="rId8" cstate="print"/>
            <a:stretch>
              <a:fillRect/>
            </a:stretch>
          </p:blipFill>
          <p:spPr>
            <a:xfrm>
              <a:off x="3563888" y="2060848"/>
              <a:ext cx="2268000" cy="1519560"/>
            </a:xfrm>
            <a:prstGeom prst="rect">
              <a:avLst/>
            </a:prstGeom>
          </p:spPr>
        </p:pic>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332656"/>
            <a:ext cx="8568952" cy="864096"/>
          </a:xfrm>
        </p:spPr>
        <p:txBody>
          <a:bodyPr>
            <a:normAutofit/>
          </a:bodyPr>
          <a:lstStyle/>
          <a:p>
            <a:r>
              <a:rPr lang="en-US" sz="3200" b="1" dirty="0" smtClean="0">
                <a:solidFill>
                  <a:srgbClr val="FF6600"/>
                </a:solidFill>
                <a:latin typeface="Helvetica" pitchFamily="34" charset="0"/>
              </a:rPr>
              <a:t>Prepare vegetables, eggs and farinaceous </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539552" y="1340768"/>
            <a:ext cx="7539608" cy="4741987"/>
          </a:xfrm>
        </p:spPr>
        <p:txBody>
          <a:bodyPr>
            <a:normAutofit/>
          </a:bodyPr>
          <a:lstStyle/>
          <a:p>
            <a:pPr>
              <a:spcBef>
                <a:spcPts val="600"/>
              </a:spcBef>
              <a:spcAft>
                <a:spcPts val="1200"/>
              </a:spcAft>
              <a:buNone/>
            </a:pPr>
            <a:r>
              <a:rPr lang="en-US" sz="2200" b="1" dirty="0">
                <a:latin typeface="Helvetica" pitchFamily="34" charset="0"/>
              </a:rPr>
              <a:t>Assessment for this Unit may include:</a:t>
            </a:r>
          </a:p>
          <a:p>
            <a:pPr>
              <a:spcBef>
                <a:spcPts val="600"/>
              </a:spcBef>
              <a:spcAft>
                <a:spcPts val="1200"/>
              </a:spcAft>
            </a:pPr>
            <a:r>
              <a:rPr lang="en-US" sz="2200" dirty="0">
                <a:latin typeface="Helvetica" pitchFamily="34" charset="0"/>
              </a:rPr>
              <a:t>Oral questions</a:t>
            </a:r>
          </a:p>
          <a:p>
            <a:pPr>
              <a:spcBef>
                <a:spcPts val="600"/>
              </a:spcBef>
              <a:spcAft>
                <a:spcPts val="1200"/>
              </a:spcAft>
            </a:pPr>
            <a:r>
              <a:rPr lang="en-US" sz="2200" dirty="0">
                <a:latin typeface="Helvetica" pitchFamily="34" charset="0"/>
              </a:rPr>
              <a:t>Written questions</a:t>
            </a:r>
          </a:p>
          <a:p>
            <a:pPr>
              <a:spcBef>
                <a:spcPts val="600"/>
              </a:spcBef>
              <a:spcAft>
                <a:spcPts val="1200"/>
              </a:spcAft>
            </a:pPr>
            <a:r>
              <a:rPr lang="en-US" sz="2200" dirty="0">
                <a:latin typeface="Helvetica" pitchFamily="34" charset="0"/>
              </a:rPr>
              <a:t>Work projects</a:t>
            </a:r>
          </a:p>
          <a:p>
            <a:pPr>
              <a:spcBef>
                <a:spcPts val="600"/>
              </a:spcBef>
              <a:spcAft>
                <a:spcPts val="1200"/>
              </a:spcAft>
            </a:pPr>
            <a:r>
              <a:rPr lang="en-US" sz="2200" dirty="0">
                <a:latin typeface="Helvetica" pitchFamily="34" charset="0"/>
              </a:rPr>
              <a:t>Workplace observation of practical skills</a:t>
            </a:r>
          </a:p>
          <a:p>
            <a:pPr>
              <a:spcBef>
                <a:spcPts val="600"/>
              </a:spcBef>
              <a:spcAft>
                <a:spcPts val="1200"/>
              </a:spcAft>
            </a:pPr>
            <a:r>
              <a:rPr lang="en-US" sz="2200" dirty="0">
                <a:latin typeface="Helvetica" pitchFamily="34" charset="0"/>
              </a:rPr>
              <a:t>Practical exercises</a:t>
            </a:r>
          </a:p>
          <a:p>
            <a:pPr>
              <a:spcBef>
                <a:spcPts val="600"/>
              </a:spcBef>
              <a:spcAft>
                <a:spcPts val="1200"/>
              </a:spcAft>
            </a:pPr>
            <a:r>
              <a:rPr lang="en-US" sz="2200" dirty="0">
                <a:latin typeface="Helvetica" pitchFamily="34" charset="0"/>
              </a:rPr>
              <a:t>Formal report from </a:t>
            </a:r>
            <a:r>
              <a:rPr lang="en-US" sz="2200" dirty="0" smtClean="0">
                <a:latin typeface="Helvetica" pitchFamily="34" charset="0"/>
              </a:rPr>
              <a:t>employer or supervisor</a:t>
            </a:r>
            <a:endParaRPr lang="en-US" sz="2200" dirty="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a:t>
            </a:fld>
            <a:endParaRPr lang="en-US" dirty="0"/>
          </a:p>
        </p:txBody>
      </p:sp>
      <p:pic>
        <p:nvPicPr>
          <p:cNvPr id="1026" name="Picture 2" descr="C:\Documents and Settings\danielc\Local Settings\Temporary Internet Files\Content.IE5\29XKYQ1Q\MP900444315[1].jpg"/>
          <p:cNvPicPr>
            <a:picLocks noChangeAspect="1" noChangeArrowheads="1"/>
          </p:cNvPicPr>
          <p:nvPr/>
        </p:nvPicPr>
        <p:blipFill>
          <a:blip r:embed="rId3" cstate="print"/>
          <a:stretch>
            <a:fillRect/>
          </a:stretch>
        </p:blipFill>
        <p:spPr bwMode="auto">
          <a:xfrm>
            <a:off x="7020272" y="3429000"/>
            <a:ext cx="1348037" cy="1719072"/>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332656"/>
            <a:ext cx="8424936" cy="864096"/>
          </a:xfrm>
        </p:spPr>
        <p:txBody>
          <a:bodyPr>
            <a:normAutofit/>
          </a:bodyPr>
          <a:lstStyle/>
          <a:p>
            <a:r>
              <a:rPr lang="en-US" sz="3200" b="1" dirty="0" smtClean="0">
                <a:solidFill>
                  <a:srgbClr val="FF6600"/>
                </a:solidFill>
                <a:latin typeface="Helvetica" pitchFamily="34" charset="0"/>
              </a:rPr>
              <a:t>Prepare vegetables, eggs and farinaceous </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539552" y="1268760"/>
            <a:ext cx="7416824" cy="4813995"/>
          </a:xfrm>
        </p:spPr>
        <p:txBody>
          <a:bodyPr>
            <a:normAutofit/>
          </a:bodyPr>
          <a:lstStyle/>
          <a:p>
            <a:pPr marL="0" indent="0">
              <a:spcBef>
                <a:spcPts val="600"/>
              </a:spcBef>
              <a:spcAft>
                <a:spcPts val="1200"/>
              </a:spcAft>
              <a:buNone/>
            </a:pPr>
            <a:r>
              <a:rPr lang="en-US" sz="2200" b="1" dirty="0">
                <a:latin typeface="Helvetica" pitchFamily="34" charset="0"/>
              </a:rPr>
              <a:t>This unit comprises </a:t>
            </a:r>
            <a:r>
              <a:rPr lang="en-US" sz="2200" b="1" dirty="0" smtClean="0">
                <a:latin typeface="Helvetica" pitchFamily="34" charset="0"/>
              </a:rPr>
              <a:t>four </a:t>
            </a:r>
            <a:r>
              <a:rPr lang="en-US" sz="2200" b="1" dirty="0">
                <a:latin typeface="Helvetica" pitchFamily="34" charset="0"/>
              </a:rPr>
              <a:t>elements</a:t>
            </a:r>
            <a:r>
              <a:rPr lang="en-US" sz="2200" b="1" dirty="0" smtClean="0">
                <a:latin typeface="Helvetica" pitchFamily="34" charset="0"/>
              </a:rPr>
              <a:t>:</a:t>
            </a:r>
            <a:endParaRPr lang="en-US"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grpSp>
        <p:nvGrpSpPr>
          <p:cNvPr id="5" name="Group 4"/>
          <p:cNvGrpSpPr/>
          <p:nvPr/>
        </p:nvGrpSpPr>
        <p:grpSpPr>
          <a:xfrm>
            <a:off x="683567" y="1916832"/>
            <a:ext cx="6984777" cy="3386138"/>
            <a:chOff x="1752600" y="2057400"/>
            <a:chExt cx="6984777" cy="3386138"/>
          </a:xfrm>
        </p:grpSpPr>
        <p:grpSp>
          <p:nvGrpSpPr>
            <p:cNvPr id="6" name="Group 4"/>
            <p:cNvGrpSpPr>
              <a:grpSpLocks/>
            </p:cNvGrpSpPr>
            <p:nvPr/>
          </p:nvGrpSpPr>
          <p:grpSpPr bwMode="auto">
            <a:xfrm>
              <a:off x="1752600" y="2057400"/>
              <a:ext cx="762000" cy="665163"/>
              <a:chOff x="1110" y="2656"/>
              <a:chExt cx="1549" cy="1351"/>
            </a:xfrm>
          </p:grpSpPr>
          <p:sp>
            <p:nvSpPr>
              <p:cNvPr id="31" name="AutoShape 5"/>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dirty="0">
                  <a:latin typeface="Helvetica" pitchFamily="34" charset="0"/>
                </a:endParaRPr>
              </a:p>
            </p:txBody>
          </p:sp>
          <p:sp>
            <p:nvSpPr>
              <p:cNvPr id="32" name="AutoShape 6"/>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dirty="0">
                  <a:latin typeface="Helvetica" pitchFamily="34" charset="0"/>
                </a:endParaRPr>
              </a:p>
            </p:txBody>
          </p:sp>
          <p:sp>
            <p:nvSpPr>
              <p:cNvPr id="33" name="AutoShape 7"/>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a:defRPr/>
                </a:pPr>
                <a:endParaRPr lang="en-AU" dirty="0">
                  <a:latin typeface="Helvetica" pitchFamily="34" charset="0"/>
                </a:endParaRPr>
              </a:p>
            </p:txBody>
          </p:sp>
        </p:grpSp>
        <p:sp>
          <p:nvSpPr>
            <p:cNvPr id="7" name="Line 8"/>
            <p:cNvSpPr>
              <a:spLocks noChangeShapeType="1"/>
            </p:cNvSpPr>
            <p:nvPr/>
          </p:nvSpPr>
          <p:spPr bwMode="auto">
            <a:xfrm>
              <a:off x="2362200" y="2667000"/>
              <a:ext cx="6192000" cy="0"/>
            </a:xfrm>
            <a:prstGeom prst="line">
              <a:avLst/>
            </a:prstGeom>
            <a:noFill/>
            <a:ln w="25400">
              <a:solidFill>
                <a:schemeClr val="bg2"/>
              </a:solidFill>
              <a:prstDash val="sysDot"/>
              <a:round/>
              <a:headEnd/>
              <a:tailEnd type="oval" w="med" len="med"/>
            </a:ln>
          </p:spPr>
          <p:txBody>
            <a:bodyPr wrap="none" anchor="ctr"/>
            <a:lstStyle/>
            <a:p>
              <a:endParaRPr lang="en-AU" dirty="0">
                <a:latin typeface="Helvetica" pitchFamily="34" charset="0"/>
              </a:endParaRPr>
            </a:p>
          </p:txBody>
        </p:sp>
        <p:sp>
          <p:nvSpPr>
            <p:cNvPr id="8" name="Text Box 9"/>
            <p:cNvSpPr txBox="1">
              <a:spLocks noChangeArrowheads="1"/>
            </p:cNvSpPr>
            <p:nvPr/>
          </p:nvSpPr>
          <p:spPr bwMode="auto">
            <a:xfrm>
              <a:off x="2555777" y="2133600"/>
              <a:ext cx="6181600" cy="400110"/>
            </a:xfrm>
            <a:prstGeom prst="rect">
              <a:avLst/>
            </a:prstGeom>
            <a:noFill/>
            <a:ln w="9525" algn="ctr">
              <a:noFill/>
              <a:miter lim="800000"/>
              <a:headEnd/>
              <a:tailEnd/>
            </a:ln>
          </p:spPr>
          <p:txBody>
            <a:bodyPr wrap="square">
              <a:spAutoFit/>
            </a:bodyPr>
            <a:lstStyle/>
            <a:p>
              <a:pPr marL="457200" indent="-457200">
                <a:spcBef>
                  <a:spcPts val="600"/>
                </a:spcBef>
                <a:spcAft>
                  <a:spcPts val="1200"/>
                </a:spcAft>
              </a:pPr>
              <a:r>
                <a:rPr lang="en-US" sz="2000" b="1" dirty="0" smtClean="0">
                  <a:latin typeface="Helvetica" pitchFamily="34" charset="0"/>
                </a:rPr>
                <a:t>Prepare and cook vegetable and fruit menu items</a:t>
              </a:r>
              <a:endParaRPr lang="en-US" sz="2000" b="1" dirty="0">
                <a:latin typeface="Helvetica" pitchFamily="34" charset="0"/>
              </a:endParaRPr>
            </a:p>
          </p:txBody>
        </p:sp>
        <p:sp>
          <p:nvSpPr>
            <p:cNvPr id="9" name="Text Box 10"/>
            <p:cNvSpPr txBox="1">
              <a:spLocks noChangeArrowheads="1"/>
            </p:cNvSpPr>
            <p:nvPr/>
          </p:nvSpPr>
          <p:spPr bwMode="gray">
            <a:xfrm>
              <a:off x="1949450" y="2155825"/>
              <a:ext cx="354013" cy="457200"/>
            </a:xfrm>
            <a:prstGeom prst="rect">
              <a:avLst/>
            </a:prstGeom>
            <a:noFill/>
            <a:ln w="9525" algn="ctr">
              <a:noFill/>
              <a:miter lim="800000"/>
              <a:headEnd/>
              <a:tailEnd/>
            </a:ln>
          </p:spPr>
          <p:txBody>
            <a:bodyPr wrap="none">
              <a:spAutoFit/>
            </a:bodyPr>
            <a:lstStyle/>
            <a:p>
              <a:pPr algn="ctr" eaLnBrk="0" hangingPunct="0"/>
              <a:r>
                <a:rPr lang="en-AU" sz="2400" b="1" dirty="0">
                  <a:solidFill>
                    <a:schemeClr val="bg1"/>
                  </a:solidFill>
                  <a:latin typeface="Helvetica" pitchFamily="34" charset="0"/>
                </a:rPr>
                <a:t>1</a:t>
              </a:r>
            </a:p>
          </p:txBody>
        </p:sp>
        <p:grpSp>
          <p:nvGrpSpPr>
            <p:cNvPr id="10" name="Group 12"/>
            <p:cNvGrpSpPr>
              <a:grpSpLocks/>
            </p:cNvGrpSpPr>
            <p:nvPr/>
          </p:nvGrpSpPr>
          <p:grpSpPr bwMode="auto">
            <a:xfrm>
              <a:off x="1752600" y="2971800"/>
              <a:ext cx="762000" cy="665163"/>
              <a:chOff x="3174" y="2656"/>
              <a:chExt cx="1549" cy="1351"/>
            </a:xfrm>
          </p:grpSpPr>
          <p:sp>
            <p:nvSpPr>
              <p:cNvPr id="28" name="AutoShape 13"/>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dirty="0">
                  <a:latin typeface="Helvetica" pitchFamily="34" charset="0"/>
                </a:endParaRPr>
              </a:p>
            </p:txBody>
          </p:sp>
          <p:sp>
            <p:nvSpPr>
              <p:cNvPr id="29" name="AutoShape 14"/>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dirty="0">
                  <a:latin typeface="Helvetica" pitchFamily="34" charset="0"/>
                </a:endParaRPr>
              </a:p>
            </p:txBody>
          </p:sp>
          <p:sp>
            <p:nvSpPr>
              <p:cNvPr id="30" name="AutoShape 15"/>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defRPr/>
                </a:pPr>
                <a:endParaRPr lang="en-AU" dirty="0">
                  <a:latin typeface="Helvetica" pitchFamily="34" charset="0"/>
                </a:endParaRPr>
              </a:p>
            </p:txBody>
          </p:sp>
        </p:grpSp>
        <p:sp>
          <p:nvSpPr>
            <p:cNvPr id="11" name="Line 16"/>
            <p:cNvSpPr>
              <a:spLocks noChangeShapeType="1"/>
            </p:cNvSpPr>
            <p:nvPr/>
          </p:nvSpPr>
          <p:spPr bwMode="auto">
            <a:xfrm>
              <a:off x="2362200" y="3581400"/>
              <a:ext cx="5292000" cy="0"/>
            </a:xfrm>
            <a:prstGeom prst="line">
              <a:avLst/>
            </a:prstGeom>
            <a:noFill/>
            <a:ln w="25400">
              <a:solidFill>
                <a:schemeClr val="bg2"/>
              </a:solidFill>
              <a:prstDash val="sysDot"/>
              <a:round/>
              <a:headEnd/>
              <a:tailEnd type="oval" w="med" len="med"/>
            </a:ln>
          </p:spPr>
          <p:txBody>
            <a:bodyPr wrap="none" anchor="ctr"/>
            <a:lstStyle/>
            <a:p>
              <a:endParaRPr lang="en-AU" dirty="0">
                <a:latin typeface="Helvetica" pitchFamily="34" charset="0"/>
              </a:endParaRPr>
            </a:p>
          </p:txBody>
        </p:sp>
        <p:sp>
          <p:nvSpPr>
            <p:cNvPr id="12" name="Text Box 17"/>
            <p:cNvSpPr txBox="1">
              <a:spLocks noChangeArrowheads="1"/>
            </p:cNvSpPr>
            <p:nvPr/>
          </p:nvSpPr>
          <p:spPr bwMode="auto">
            <a:xfrm>
              <a:off x="2555777" y="3048000"/>
              <a:ext cx="5245496" cy="400110"/>
            </a:xfrm>
            <a:prstGeom prst="rect">
              <a:avLst/>
            </a:prstGeom>
            <a:noFill/>
            <a:ln w="9525" algn="ctr">
              <a:noFill/>
              <a:miter lim="800000"/>
              <a:headEnd/>
              <a:tailEnd/>
            </a:ln>
          </p:spPr>
          <p:txBody>
            <a:bodyPr wrap="square">
              <a:spAutoFit/>
            </a:bodyPr>
            <a:lstStyle/>
            <a:p>
              <a:pPr eaLnBrk="0" hangingPunct="0"/>
              <a:r>
                <a:rPr lang="en-US" sz="2000" b="1" dirty="0" smtClean="0">
                  <a:latin typeface="Helvetica" pitchFamily="34" charset="0"/>
                </a:rPr>
                <a:t>Produce and cook egg based menu items</a:t>
              </a:r>
              <a:endParaRPr lang="en-AU" sz="2000" dirty="0">
                <a:latin typeface="Helvetica" pitchFamily="34" charset="0"/>
              </a:endParaRPr>
            </a:p>
          </p:txBody>
        </p:sp>
        <p:sp>
          <p:nvSpPr>
            <p:cNvPr id="13" name="Text Box 18"/>
            <p:cNvSpPr txBox="1">
              <a:spLocks noChangeArrowheads="1"/>
            </p:cNvSpPr>
            <p:nvPr/>
          </p:nvSpPr>
          <p:spPr bwMode="gray">
            <a:xfrm>
              <a:off x="1949450" y="3070225"/>
              <a:ext cx="354013" cy="457200"/>
            </a:xfrm>
            <a:prstGeom prst="rect">
              <a:avLst/>
            </a:prstGeom>
            <a:noFill/>
            <a:ln w="9525" algn="ctr">
              <a:noFill/>
              <a:miter lim="800000"/>
              <a:headEnd/>
              <a:tailEnd/>
            </a:ln>
          </p:spPr>
          <p:txBody>
            <a:bodyPr wrap="none">
              <a:spAutoFit/>
            </a:bodyPr>
            <a:lstStyle/>
            <a:p>
              <a:pPr algn="ctr" eaLnBrk="0" hangingPunct="0"/>
              <a:r>
                <a:rPr lang="en-AU" sz="2400" b="1" dirty="0">
                  <a:solidFill>
                    <a:schemeClr val="bg1"/>
                  </a:solidFill>
                  <a:latin typeface="Helvetica" pitchFamily="34" charset="0"/>
                </a:rPr>
                <a:t>2</a:t>
              </a:r>
            </a:p>
          </p:txBody>
        </p:sp>
        <p:grpSp>
          <p:nvGrpSpPr>
            <p:cNvPr id="14" name="Group 20"/>
            <p:cNvGrpSpPr>
              <a:grpSpLocks/>
            </p:cNvGrpSpPr>
            <p:nvPr/>
          </p:nvGrpSpPr>
          <p:grpSpPr bwMode="auto">
            <a:xfrm>
              <a:off x="1752600" y="3863975"/>
              <a:ext cx="762000" cy="665163"/>
              <a:chOff x="1110" y="2656"/>
              <a:chExt cx="1549" cy="1351"/>
            </a:xfrm>
          </p:grpSpPr>
          <p:sp>
            <p:nvSpPr>
              <p:cNvPr id="25" name="AutoShape 21"/>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dirty="0">
                  <a:latin typeface="Helvetica" pitchFamily="34" charset="0"/>
                </a:endParaRPr>
              </a:p>
            </p:txBody>
          </p:sp>
          <p:sp>
            <p:nvSpPr>
              <p:cNvPr id="26" name="AutoShape 22"/>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dirty="0">
                  <a:latin typeface="Helvetica" pitchFamily="34" charset="0"/>
                </a:endParaRPr>
              </a:p>
            </p:txBody>
          </p:sp>
          <p:sp>
            <p:nvSpPr>
              <p:cNvPr id="27" name="AutoShape 23"/>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a:defRPr/>
                </a:pPr>
                <a:endParaRPr lang="en-AU" dirty="0">
                  <a:latin typeface="Helvetica" pitchFamily="34" charset="0"/>
                </a:endParaRPr>
              </a:p>
            </p:txBody>
          </p:sp>
        </p:grpSp>
        <p:sp>
          <p:nvSpPr>
            <p:cNvPr id="15" name="Line 24"/>
            <p:cNvSpPr>
              <a:spLocks noChangeShapeType="1"/>
            </p:cNvSpPr>
            <p:nvPr/>
          </p:nvSpPr>
          <p:spPr bwMode="auto">
            <a:xfrm>
              <a:off x="2362200" y="4473575"/>
              <a:ext cx="5400000" cy="0"/>
            </a:xfrm>
            <a:prstGeom prst="line">
              <a:avLst/>
            </a:prstGeom>
            <a:noFill/>
            <a:ln w="25400">
              <a:solidFill>
                <a:schemeClr val="bg2"/>
              </a:solidFill>
              <a:prstDash val="sysDot"/>
              <a:round/>
              <a:headEnd/>
              <a:tailEnd type="oval" w="med" len="med"/>
            </a:ln>
          </p:spPr>
          <p:txBody>
            <a:bodyPr wrap="none" anchor="ctr"/>
            <a:lstStyle/>
            <a:p>
              <a:endParaRPr lang="en-AU" dirty="0">
                <a:latin typeface="Helvetica" pitchFamily="34" charset="0"/>
              </a:endParaRPr>
            </a:p>
          </p:txBody>
        </p:sp>
        <p:sp>
          <p:nvSpPr>
            <p:cNvPr id="16" name="Text Box 25"/>
            <p:cNvSpPr txBox="1">
              <a:spLocks noChangeArrowheads="1"/>
            </p:cNvSpPr>
            <p:nvPr/>
          </p:nvSpPr>
          <p:spPr bwMode="auto">
            <a:xfrm>
              <a:off x="2555777" y="3940175"/>
              <a:ext cx="5317504" cy="400110"/>
            </a:xfrm>
            <a:prstGeom prst="rect">
              <a:avLst/>
            </a:prstGeom>
            <a:noFill/>
            <a:ln w="9525" algn="ctr">
              <a:noFill/>
              <a:miter lim="800000"/>
              <a:headEnd/>
              <a:tailEnd/>
            </a:ln>
          </p:spPr>
          <p:txBody>
            <a:bodyPr wrap="square">
              <a:spAutoFit/>
            </a:bodyPr>
            <a:lstStyle/>
            <a:p>
              <a:pPr marL="457200" indent="-457200">
                <a:spcBef>
                  <a:spcPts val="600"/>
                </a:spcBef>
                <a:spcAft>
                  <a:spcPts val="1200"/>
                </a:spcAft>
              </a:pPr>
              <a:r>
                <a:rPr lang="en-US" sz="2000" b="1" dirty="0" smtClean="0">
                  <a:latin typeface="Helvetica" pitchFamily="34" charset="0"/>
                </a:rPr>
                <a:t>Prepare and cook farinaceous menu items</a:t>
              </a:r>
              <a:endParaRPr lang="en-US" sz="2000" b="1" dirty="0">
                <a:latin typeface="Helvetica" pitchFamily="34" charset="0"/>
              </a:endParaRPr>
            </a:p>
          </p:txBody>
        </p:sp>
        <p:sp>
          <p:nvSpPr>
            <p:cNvPr id="17" name="Text Box 26"/>
            <p:cNvSpPr txBox="1">
              <a:spLocks noChangeArrowheads="1"/>
            </p:cNvSpPr>
            <p:nvPr/>
          </p:nvSpPr>
          <p:spPr bwMode="gray">
            <a:xfrm>
              <a:off x="1949450" y="3962400"/>
              <a:ext cx="354013" cy="457200"/>
            </a:xfrm>
            <a:prstGeom prst="rect">
              <a:avLst/>
            </a:prstGeom>
            <a:noFill/>
            <a:ln w="9525" algn="ctr">
              <a:noFill/>
              <a:miter lim="800000"/>
              <a:headEnd/>
              <a:tailEnd/>
            </a:ln>
          </p:spPr>
          <p:txBody>
            <a:bodyPr wrap="none">
              <a:spAutoFit/>
            </a:bodyPr>
            <a:lstStyle/>
            <a:p>
              <a:pPr algn="ctr" eaLnBrk="0" hangingPunct="0"/>
              <a:r>
                <a:rPr lang="en-AU" sz="2400" b="1" dirty="0">
                  <a:solidFill>
                    <a:schemeClr val="bg1"/>
                  </a:solidFill>
                  <a:latin typeface="Helvetica" pitchFamily="34" charset="0"/>
                </a:rPr>
                <a:t>3</a:t>
              </a:r>
            </a:p>
          </p:txBody>
        </p:sp>
        <p:grpSp>
          <p:nvGrpSpPr>
            <p:cNvPr id="18" name="Group 28"/>
            <p:cNvGrpSpPr>
              <a:grpSpLocks/>
            </p:cNvGrpSpPr>
            <p:nvPr/>
          </p:nvGrpSpPr>
          <p:grpSpPr bwMode="auto">
            <a:xfrm>
              <a:off x="1752600" y="4778375"/>
              <a:ext cx="762000" cy="665163"/>
              <a:chOff x="3174" y="2656"/>
              <a:chExt cx="1549" cy="1351"/>
            </a:xfrm>
          </p:grpSpPr>
          <p:sp>
            <p:nvSpPr>
              <p:cNvPr id="22" name="AutoShape 29"/>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dirty="0">
                  <a:latin typeface="Helvetica" pitchFamily="34" charset="0"/>
                </a:endParaRPr>
              </a:p>
            </p:txBody>
          </p:sp>
          <p:sp>
            <p:nvSpPr>
              <p:cNvPr id="23" name="AutoShape 30"/>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dirty="0">
                  <a:latin typeface="Helvetica" pitchFamily="34" charset="0"/>
                </a:endParaRPr>
              </a:p>
            </p:txBody>
          </p:sp>
          <p:sp>
            <p:nvSpPr>
              <p:cNvPr id="24" name="AutoShape 31"/>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defRPr/>
                </a:pPr>
                <a:endParaRPr lang="en-AU" dirty="0">
                  <a:latin typeface="Helvetica" pitchFamily="34" charset="0"/>
                </a:endParaRPr>
              </a:p>
            </p:txBody>
          </p:sp>
        </p:grpSp>
        <p:sp>
          <p:nvSpPr>
            <p:cNvPr id="19" name="Line 32"/>
            <p:cNvSpPr>
              <a:spLocks noChangeShapeType="1"/>
            </p:cNvSpPr>
            <p:nvPr/>
          </p:nvSpPr>
          <p:spPr bwMode="auto">
            <a:xfrm>
              <a:off x="2362200" y="5387975"/>
              <a:ext cx="6120000" cy="0"/>
            </a:xfrm>
            <a:prstGeom prst="line">
              <a:avLst/>
            </a:prstGeom>
            <a:noFill/>
            <a:ln w="25400">
              <a:solidFill>
                <a:schemeClr val="bg2"/>
              </a:solidFill>
              <a:prstDash val="sysDot"/>
              <a:round/>
              <a:headEnd/>
              <a:tailEnd type="oval" w="med" len="med"/>
            </a:ln>
          </p:spPr>
          <p:txBody>
            <a:bodyPr wrap="none" anchor="ctr"/>
            <a:lstStyle/>
            <a:p>
              <a:endParaRPr lang="en-AU" dirty="0">
                <a:latin typeface="Helvetica" pitchFamily="34" charset="0"/>
              </a:endParaRPr>
            </a:p>
          </p:txBody>
        </p:sp>
        <p:sp>
          <p:nvSpPr>
            <p:cNvPr id="20" name="Text Box 33"/>
            <p:cNvSpPr txBox="1">
              <a:spLocks noChangeArrowheads="1"/>
            </p:cNvSpPr>
            <p:nvPr/>
          </p:nvSpPr>
          <p:spPr bwMode="auto">
            <a:xfrm>
              <a:off x="2555777" y="4854575"/>
              <a:ext cx="6037584" cy="400110"/>
            </a:xfrm>
            <a:prstGeom prst="rect">
              <a:avLst/>
            </a:prstGeom>
            <a:noFill/>
            <a:ln w="9525" algn="ctr">
              <a:noFill/>
              <a:miter lim="800000"/>
              <a:headEnd/>
              <a:tailEnd/>
            </a:ln>
          </p:spPr>
          <p:txBody>
            <a:bodyPr wrap="square">
              <a:spAutoFit/>
            </a:bodyPr>
            <a:lstStyle/>
            <a:p>
              <a:pPr eaLnBrk="0" hangingPunct="0"/>
              <a:r>
                <a:rPr lang="en-US" sz="2000" b="1" dirty="0" smtClean="0">
                  <a:latin typeface="Helvetica" pitchFamily="34" charset="0"/>
                </a:rPr>
                <a:t>Store vegetable, fruit, egg and farinaceous items</a:t>
              </a:r>
              <a:endParaRPr lang="en-AU" sz="2000" dirty="0">
                <a:latin typeface="Helvetica" pitchFamily="34" charset="0"/>
              </a:endParaRPr>
            </a:p>
          </p:txBody>
        </p:sp>
        <p:sp>
          <p:nvSpPr>
            <p:cNvPr id="21" name="Text Box 34"/>
            <p:cNvSpPr txBox="1">
              <a:spLocks noChangeArrowheads="1"/>
            </p:cNvSpPr>
            <p:nvPr/>
          </p:nvSpPr>
          <p:spPr bwMode="gray">
            <a:xfrm>
              <a:off x="1949450" y="4876800"/>
              <a:ext cx="354013" cy="457200"/>
            </a:xfrm>
            <a:prstGeom prst="rect">
              <a:avLst/>
            </a:prstGeom>
            <a:noFill/>
            <a:ln w="9525" algn="ctr">
              <a:noFill/>
              <a:miter lim="800000"/>
              <a:headEnd/>
              <a:tailEnd/>
            </a:ln>
          </p:spPr>
          <p:txBody>
            <a:bodyPr wrap="none">
              <a:spAutoFit/>
            </a:bodyPr>
            <a:lstStyle/>
            <a:p>
              <a:pPr algn="ctr" eaLnBrk="0" hangingPunct="0"/>
              <a:r>
                <a:rPr lang="en-AU" sz="2400" b="1" dirty="0">
                  <a:solidFill>
                    <a:schemeClr val="bg1"/>
                  </a:solidFill>
                  <a:latin typeface="Helvetica" pitchFamily="34" charset="0"/>
                </a:rPr>
                <a:t>4</a:t>
              </a:r>
            </a:p>
          </p:txBody>
        </p:sp>
      </p:grpSp>
    </p:spTree>
    <p:extLst>
      <p:ext uri="{BB962C8B-B14F-4D97-AF65-F5344CB8AC3E}">
        <p14:creationId xmlns:p14="http://schemas.microsoft.com/office/powerpoint/2010/main" val="310323052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967769_food_melon_bread_oregano_cherry_tomatos[1].jpg"/>
          <p:cNvPicPr>
            <a:picLocks noChangeAspect="1"/>
          </p:cNvPicPr>
          <p:nvPr/>
        </p:nvPicPr>
        <p:blipFill>
          <a:blip r:embed="rId3" cstate="print"/>
          <a:stretch>
            <a:fillRect/>
          </a:stretch>
        </p:blipFill>
        <p:spPr>
          <a:xfrm>
            <a:off x="6156176" y="3645024"/>
            <a:ext cx="2077201" cy="1382198"/>
          </a:xfrm>
          <a:prstGeom prst="rect">
            <a:avLst/>
          </a:prstGeom>
        </p:spPr>
      </p:pic>
      <p:sp>
        <p:nvSpPr>
          <p:cNvPr id="2" name="Title 1"/>
          <p:cNvSpPr>
            <a:spLocks noGrp="1"/>
          </p:cNvSpPr>
          <p:nvPr>
            <p:ph type="title"/>
          </p:nvPr>
        </p:nvSpPr>
        <p:spPr>
          <a:xfrm>
            <a:off x="539552" y="332656"/>
            <a:ext cx="8424936" cy="720080"/>
          </a:xfrm>
        </p:spPr>
        <p:txBody>
          <a:bodyPr>
            <a:normAutofit/>
          </a:bodyPr>
          <a:lstStyle/>
          <a:p>
            <a:r>
              <a:rPr lang="en-US" sz="3200" b="1" dirty="0" smtClean="0">
                <a:solidFill>
                  <a:srgbClr val="FF6600"/>
                </a:solidFill>
                <a:latin typeface="Helvetica" pitchFamily="34" charset="0"/>
              </a:rPr>
              <a:t>Prepare vegetables, eggs and farinaceous </a:t>
            </a:r>
            <a:endParaRPr lang="en-US" sz="32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a:t>
            </a:fld>
            <a:endParaRPr lang="en-US" dirty="0"/>
          </a:p>
        </p:txBody>
      </p:sp>
      <p:sp>
        <p:nvSpPr>
          <p:cNvPr id="6" name="Content Placeholder 2"/>
          <p:cNvSpPr>
            <a:spLocks noGrp="1"/>
          </p:cNvSpPr>
          <p:nvPr>
            <p:ph idx="1"/>
          </p:nvPr>
        </p:nvSpPr>
        <p:spPr>
          <a:xfrm>
            <a:off x="560784" y="1268760"/>
            <a:ext cx="7467600" cy="4857403"/>
          </a:xfrm>
        </p:spPr>
        <p:txBody>
          <a:bodyPr>
            <a:normAutofit/>
          </a:bodyPr>
          <a:lstStyle/>
          <a:p>
            <a:pPr marL="0" indent="0">
              <a:spcBef>
                <a:spcPts val="600"/>
              </a:spcBef>
              <a:spcAft>
                <a:spcPts val="600"/>
              </a:spcAft>
              <a:buNone/>
            </a:pPr>
            <a:r>
              <a:rPr lang="en-US" sz="2200" b="1" dirty="0" smtClean="0">
                <a:latin typeface="Helvetica" pitchFamily="34" charset="0"/>
              </a:rPr>
              <a:t>Element 1: Prepare and cook vegetable and fruit menu items</a:t>
            </a:r>
          </a:p>
          <a:p>
            <a:pPr>
              <a:spcBef>
                <a:spcPts val="600"/>
              </a:spcBef>
              <a:spcAft>
                <a:spcPts val="600"/>
              </a:spcAft>
            </a:pPr>
            <a:r>
              <a:rPr lang="en-AU" sz="2200" dirty="0" smtClean="0">
                <a:latin typeface="Helvetica" pitchFamily="34" charset="0"/>
              </a:rPr>
              <a:t>Select vegetables and fruits according to availability</a:t>
            </a:r>
          </a:p>
          <a:p>
            <a:pPr>
              <a:spcBef>
                <a:spcPts val="600"/>
              </a:spcBef>
              <a:spcAft>
                <a:spcPts val="600"/>
              </a:spcAft>
            </a:pPr>
            <a:r>
              <a:rPr lang="en-AU" sz="2200" dirty="0" smtClean="0">
                <a:latin typeface="Helvetica" pitchFamily="34" charset="0"/>
              </a:rPr>
              <a:t>Prepare and cook a variety of vegetable and fruit menu items </a:t>
            </a:r>
          </a:p>
          <a:p>
            <a:pPr>
              <a:spcBef>
                <a:spcPts val="600"/>
              </a:spcBef>
              <a:spcAft>
                <a:spcPts val="600"/>
              </a:spcAft>
            </a:pPr>
            <a:r>
              <a:rPr lang="en-AU" sz="2200" dirty="0" smtClean="0">
                <a:latin typeface="Helvetica" pitchFamily="34" charset="0"/>
              </a:rPr>
              <a:t>Identify and prepare appropriate sauces, garnish and accompaniments as per the menu item</a:t>
            </a:r>
          </a:p>
          <a:p>
            <a:pPr>
              <a:spcBef>
                <a:spcPts val="600"/>
              </a:spcBef>
              <a:spcAft>
                <a:spcPts val="600"/>
              </a:spcAft>
            </a:pPr>
            <a:r>
              <a:rPr lang="en-AU" sz="2200" dirty="0" smtClean="0">
                <a:latin typeface="Helvetica" pitchFamily="34" charset="0"/>
              </a:rPr>
              <a:t>Present vegetable and fruit menu items</a:t>
            </a:r>
            <a:endParaRPr lang="en-AU" sz="2200" dirty="0"/>
          </a:p>
        </p:txBody>
      </p:sp>
    </p:spTree>
    <p:extLst>
      <p:ext uri="{BB962C8B-B14F-4D97-AF65-F5344CB8AC3E}">
        <p14:creationId xmlns:p14="http://schemas.microsoft.com/office/powerpoint/2010/main" val="96389406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332656"/>
            <a:ext cx="8424936" cy="720080"/>
          </a:xfrm>
        </p:spPr>
        <p:txBody>
          <a:bodyPr>
            <a:normAutofit/>
          </a:bodyPr>
          <a:lstStyle/>
          <a:p>
            <a:r>
              <a:rPr lang="en-US" sz="3200" b="1" dirty="0" smtClean="0">
                <a:solidFill>
                  <a:srgbClr val="FF6600"/>
                </a:solidFill>
                <a:latin typeface="Helvetica" pitchFamily="34" charset="0"/>
              </a:rPr>
              <a:t>Prepare vegetables, eggs and farinaceous </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539552" y="1268760"/>
            <a:ext cx="7467600" cy="4813995"/>
          </a:xfrm>
        </p:spPr>
        <p:txBody>
          <a:bodyPr>
            <a:normAutofit/>
          </a:bodyPr>
          <a:lstStyle/>
          <a:p>
            <a:pPr marL="0" indent="0">
              <a:spcBef>
                <a:spcPts val="600"/>
              </a:spcBef>
              <a:spcAft>
                <a:spcPts val="1200"/>
              </a:spcAft>
              <a:buNone/>
            </a:pPr>
            <a:r>
              <a:rPr lang="en-US" sz="2200" b="1" dirty="0" smtClean="0">
                <a:latin typeface="Helvetica" pitchFamily="34" charset="0"/>
              </a:rPr>
              <a:t>Select vegetables and fruits due to availability</a:t>
            </a:r>
          </a:p>
          <a:p>
            <a:pPr marL="0" indent="0">
              <a:spcBef>
                <a:spcPts val="600"/>
              </a:spcBef>
              <a:spcAft>
                <a:spcPts val="1200"/>
              </a:spcAft>
              <a:buNone/>
            </a:pPr>
            <a:r>
              <a:rPr lang="en-US" sz="2200" b="1" i="1" dirty="0" smtClean="0">
                <a:latin typeface="Helvetica" pitchFamily="34" charset="0"/>
              </a:rPr>
              <a:t>Vegetables and fruits:</a:t>
            </a:r>
          </a:p>
          <a:p>
            <a:pPr marL="355600" indent="-355600">
              <a:spcBef>
                <a:spcPts val="600"/>
              </a:spcBef>
              <a:spcAft>
                <a:spcPts val="1200"/>
              </a:spcAft>
            </a:pPr>
            <a:r>
              <a:rPr lang="en-US" sz="2200" dirty="0" smtClean="0">
                <a:latin typeface="Helvetica" pitchFamily="34" charset="0"/>
              </a:rPr>
              <a:t>Available all year</a:t>
            </a:r>
          </a:p>
          <a:p>
            <a:pPr marL="355600" indent="-355600">
              <a:spcBef>
                <a:spcPts val="600"/>
              </a:spcBef>
              <a:spcAft>
                <a:spcPts val="1200"/>
              </a:spcAft>
            </a:pPr>
            <a:r>
              <a:rPr lang="en-US" sz="2200" dirty="0" smtClean="0">
                <a:latin typeface="Helvetica" pitchFamily="34" charset="0"/>
              </a:rPr>
              <a:t>Seasonal:</a:t>
            </a:r>
          </a:p>
          <a:p>
            <a:pPr marL="712788" lvl="1" indent="-357188">
              <a:spcBef>
                <a:spcPts val="600"/>
              </a:spcBef>
              <a:spcAft>
                <a:spcPts val="1200"/>
              </a:spcAft>
            </a:pPr>
            <a:r>
              <a:rPr lang="en-US" sz="2200" dirty="0" smtClean="0">
                <a:latin typeface="Helvetica" pitchFamily="34" charset="0"/>
              </a:rPr>
              <a:t>Available for part of year</a:t>
            </a:r>
          </a:p>
          <a:p>
            <a:pPr marL="355600" indent="-355600">
              <a:spcBef>
                <a:spcPts val="600"/>
              </a:spcBef>
              <a:spcAft>
                <a:spcPts val="1200"/>
              </a:spcAft>
            </a:pPr>
            <a:r>
              <a:rPr lang="en-US" sz="2200" dirty="0" smtClean="0">
                <a:latin typeface="Helvetica" pitchFamily="34" charset="0"/>
              </a:rPr>
              <a:t>Fresh produce selection is guided by the above</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a:t>
            </a:fld>
            <a:endParaRPr lang="en-US" dirty="0"/>
          </a:p>
        </p:txBody>
      </p:sp>
      <p:grpSp>
        <p:nvGrpSpPr>
          <p:cNvPr id="26" name="Group 25"/>
          <p:cNvGrpSpPr/>
          <p:nvPr/>
        </p:nvGrpSpPr>
        <p:grpSpPr>
          <a:xfrm>
            <a:off x="467544" y="1412776"/>
            <a:ext cx="7923636" cy="4824536"/>
            <a:chOff x="467544" y="1412776"/>
            <a:chExt cx="7923636" cy="4824536"/>
          </a:xfrm>
        </p:grpSpPr>
        <p:pic>
          <p:nvPicPr>
            <p:cNvPr id="17" name="Picture 16" descr="Fennel bulb.jpeg"/>
            <p:cNvPicPr>
              <a:picLocks noChangeAspect="1"/>
            </p:cNvPicPr>
            <p:nvPr/>
          </p:nvPicPr>
          <p:blipFill>
            <a:blip r:embed="rId3" cstate="print"/>
            <a:stretch>
              <a:fillRect/>
            </a:stretch>
          </p:blipFill>
          <p:spPr>
            <a:xfrm>
              <a:off x="1475656" y="5229200"/>
              <a:ext cx="990997" cy="990997"/>
            </a:xfrm>
            <a:prstGeom prst="rect">
              <a:avLst/>
            </a:prstGeom>
          </p:spPr>
        </p:pic>
        <p:pic>
          <p:nvPicPr>
            <p:cNvPr id="16" name="Picture 15" descr="butternut.jpg"/>
            <p:cNvPicPr>
              <a:picLocks noChangeAspect="1"/>
            </p:cNvPicPr>
            <p:nvPr/>
          </p:nvPicPr>
          <p:blipFill>
            <a:blip r:embed="rId4" cstate="print"/>
            <a:stretch>
              <a:fillRect/>
            </a:stretch>
          </p:blipFill>
          <p:spPr>
            <a:xfrm>
              <a:off x="467544" y="5301208"/>
              <a:ext cx="1042416" cy="807720"/>
            </a:xfrm>
            <a:prstGeom prst="rect">
              <a:avLst/>
            </a:prstGeom>
          </p:spPr>
        </p:pic>
        <p:pic>
          <p:nvPicPr>
            <p:cNvPr id="18" name="Picture 17" descr="Sweet pepper.1jpg.jpg"/>
            <p:cNvPicPr>
              <a:picLocks noChangeAspect="1"/>
            </p:cNvPicPr>
            <p:nvPr/>
          </p:nvPicPr>
          <p:blipFill>
            <a:blip r:embed="rId5" cstate="print"/>
            <a:stretch>
              <a:fillRect/>
            </a:stretch>
          </p:blipFill>
          <p:spPr>
            <a:xfrm>
              <a:off x="2627784" y="5301208"/>
              <a:ext cx="756371" cy="936104"/>
            </a:xfrm>
            <a:prstGeom prst="rect">
              <a:avLst/>
            </a:prstGeom>
          </p:spPr>
        </p:pic>
        <p:pic>
          <p:nvPicPr>
            <p:cNvPr id="19" name="Picture 18" descr="Squash.jpg"/>
            <p:cNvPicPr>
              <a:picLocks noChangeAspect="1"/>
            </p:cNvPicPr>
            <p:nvPr/>
          </p:nvPicPr>
          <p:blipFill>
            <a:blip r:embed="rId6" cstate="print"/>
            <a:srcRect t="16918" b="37010"/>
            <a:stretch>
              <a:fillRect/>
            </a:stretch>
          </p:blipFill>
          <p:spPr>
            <a:xfrm>
              <a:off x="3491880" y="5373216"/>
              <a:ext cx="1087506" cy="750672"/>
            </a:xfrm>
            <a:prstGeom prst="rect">
              <a:avLst/>
            </a:prstGeom>
          </p:spPr>
        </p:pic>
        <p:pic>
          <p:nvPicPr>
            <p:cNvPr id="20" name="Picture 19" descr="Cabbage.jpeg"/>
            <p:cNvPicPr>
              <a:picLocks noChangeAspect="1"/>
            </p:cNvPicPr>
            <p:nvPr/>
          </p:nvPicPr>
          <p:blipFill>
            <a:blip r:embed="rId7" cstate="print"/>
            <a:stretch>
              <a:fillRect/>
            </a:stretch>
          </p:blipFill>
          <p:spPr>
            <a:xfrm>
              <a:off x="4860032" y="5013176"/>
              <a:ext cx="927546" cy="927546"/>
            </a:xfrm>
            <a:prstGeom prst="rect">
              <a:avLst/>
            </a:prstGeom>
          </p:spPr>
        </p:pic>
        <p:pic>
          <p:nvPicPr>
            <p:cNvPr id="22" name="Picture 21" descr="Witlof.jpg"/>
            <p:cNvPicPr>
              <a:picLocks noChangeAspect="1"/>
            </p:cNvPicPr>
            <p:nvPr/>
          </p:nvPicPr>
          <p:blipFill>
            <a:blip r:embed="rId8" cstate="print"/>
            <a:stretch>
              <a:fillRect/>
            </a:stretch>
          </p:blipFill>
          <p:spPr>
            <a:xfrm>
              <a:off x="5940152" y="4725144"/>
              <a:ext cx="1084288" cy="720873"/>
            </a:xfrm>
            <a:prstGeom prst="rect">
              <a:avLst/>
            </a:prstGeom>
          </p:spPr>
        </p:pic>
        <p:pic>
          <p:nvPicPr>
            <p:cNvPr id="23" name="Picture 22" descr="Turnip3.jpg"/>
            <p:cNvPicPr>
              <a:picLocks noChangeAspect="1"/>
            </p:cNvPicPr>
            <p:nvPr/>
          </p:nvPicPr>
          <p:blipFill>
            <a:blip r:embed="rId9" cstate="print"/>
            <a:stretch>
              <a:fillRect/>
            </a:stretch>
          </p:blipFill>
          <p:spPr>
            <a:xfrm>
              <a:off x="7308304" y="4149080"/>
              <a:ext cx="924694" cy="924694"/>
            </a:xfrm>
            <a:prstGeom prst="rect">
              <a:avLst/>
            </a:prstGeom>
          </p:spPr>
        </p:pic>
        <p:pic>
          <p:nvPicPr>
            <p:cNvPr id="24" name="Picture 23" descr="Chard .jpg"/>
            <p:cNvPicPr>
              <a:picLocks noChangeAspect="1"/>
            </p:cNvPicPr>
            <p:nvPr/>
          </p:nvPicPr>
          <p:blipFill>
            <a:blip r:embed="rId10" cstate="print"/>
            <a:stretch>
              <a:fillRect/>
            </a:stretch>
          </p:blipFill>
          <p:spPr>
            <a:xfrm>
              <a:off x="7020272" y="1412776"/>
              <a:ext cx="907260" cy="1239019"/>
            </a:xfrm>
            <a:prstGeom prst="rect">
              <a:avLst/>
            </a:prstGeom>
          </p:spPr>
        </p:pic>
        <p:pic>
          <p:nvPicPr>
            <p:cNvPr id="25" name="Picture 24" descr="Choi sum.jpg"/>
            <p:cNvPicPr>
              <a:picLocks noChangeAspect="1"/>
            </p:cNvPicPr>
            <p:nvPr/>
          </p:nvPicPr>
          <p:blipFill>
            <a:blip r:embed="rId11" cstate="print"/>
            <a:stretch>
              <a:fillRect/>
            </a:stretch>
          </p:blipFill>
          <p:spPr>
            <a:xfrm>
              <a:off x="7380312" y="2924944"/>
              <a:ext cx="1010868" cy="1072133"/>
            </a:xfrm>
            <a:prstGeom prst="rect">
              <a:avLst/>
            </a:prstGeom>
          </p:spPr>
        </p:pic>
      </p:grpSp>
    </p:spTree>
    <p:extLst>
      <p:ext uri="{BB962C8B-B14F-4D97-AF65-F5344CB8AC3E}">
        <p14:creationId xmlns:p14="http://schemas.microsoft.com/office/powerpoint/2010/main" val="375789581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332656"/>
            <a:ext cx="8568952" cy="720080"/>
          </a:xfrm>
        </p:spPr>
        <p:txBody>
          <a:bodyPr>
            <a:normAutofit/>
          </a:bodyPr>
          <a:lstStyle/>
          <a:p>
            <a:r>
              <a:rPr lang="en-US" sz="3200" b="1" dirty="0" smtClean="0">
                <a:solidFill>
                  <a:srgbClr val="FF6600"/>
                </a:solidFill>
                <a:latin typeface="Helvetica" pitchFamily="34" charset="0"/>
              </a:rPr>
              <a:t>Prepare vegetables, eggs and farinaceous </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539552" y="1268760"/>
            <a:ext cx="7467600" cy="4813995"/>
          </a:xfrm>
        </p:spPr>
        <p:txBody>
          <a:bodyPr>
            <a:normAutofit/>
          </a:bodyPr>
          <a:lstStyle/>
          <a:p>
            <a:pPr marL="0" indent="0">
              <a:spcBef>
                <a:spcPts val="600"/>
              </a:spcBef>
              <a:spcAft>
                <a:spcPts val="1200"/>
              </a:spcAft>
              <a:buNone/>
            </a:pPr>
            <a:r>
              <a:rPr lang="en-US" sz="2200" b="1" dirty="0" smtClean="0">
                <a:latin typeface="Helvetica" pitchFamily="34" charset="0"/>
              </a:rPr>
              <a:t>Select vegetables and fruits due to availability</a:t>
            </a:r>
          </a:p>
          <a:p>
            <a:pPr marL="0" indent="0">
              <a:spcBef>
                <a:spcPts val="600"/>
              </a:spcBef>
              <a:spcAft>
                <a:spcPts val="1200"/>
              </a:spcAft>
              <a:buNone/>
            </a:pPr>
            <a:r>
              <a:rPr lang="en-US" sz="2200" b="1" i="1" dirty="0" smtClean="0">
                <a:latin typeface="Helvetica" pitchFamily="34" charset="0"/>
              </a:rPr>
              <a:t>Fruits and Vegetables</a:t>
            </a:r>
          </a:p>
          <a:p>
            <a:pPr marL="0" indent="0">
              <a:spcBef>
                <a:spcPts val="600"/>
              </a:spcBef>
              <a:spcAft>
                <a:spcPts val="1200"/>
              </a:spcAft>
              <a:buNone/>
            </a:pPr>
            <a:r>
              <a:rPr lang="en-US" sz="2200" dirty="0" smtClean="0">
                <a:latin typeface="Helvetica" pitchFamily="34" charset="0"/>
              </a:rPr>
              <a:t>Can be:</a:t>
            </a:r>
          </a:p>
          <a:p>
            <a:pPr marL="285750" indent="-285750">
              <a:spcBef>
                <a:spcPts val="600"/>
              </a:spcBef>
              <a:spcAft>
                <a:spcPts val="1200"/>
              </a:spcAft>
            </a:pPr>
            <a:r>
              <a:rPr lang="en-US" sz="2200" dirty="0" smtClean="0">
                <a:latin typeface="Helvetica" pitchFamily="34" charset="0"/>
              </a:rPr>
              <a:t>Fresh</a:t>
            </a:r>
          </a:p>
          <a:p>
            <a:pPr marL="285750" indent="-285750">
              <a:spcBef>
                <a:spcPts val="600"/>
              </a:spcBef>
              <a:spcAft>
                <a:spcPts val="1200"/>
              </a:spcAft>
            </a:pPr>
            <a:r>
              <a:rPr lang="en-US" sz="2200" dirty="0" smtClean="0">
                <a:latin typeface="Helvetica" pitchFamily="34" charset="0"/>
              </a:rPr>
              <a:t>Frozen</a:t>
            </a:r>
          </a:p>
          <a:p>
            <a:pPr marL="285750" indent="-285750">
              <a:spcBef>
                <a:spcPts val="600"/>
              </a:spcBef>
              <a:spcAft>
                <a:spcPts val="1200"/>
              </a:spcAft>
            </a:pPr>
            <a:r>
              <a:rPr lang="en-US" sz="2200" dirty="0" smtClean="0">
                <a:latin typeface="Helvetica" pitchFamily="34" charset="0"/>
              </a:rPr>
              <a:t>Dried</a:t>
            </a:r>
          </a:p>
          <a:p>
            <a:pPr marL="285750" indent="-285750">
              <a:spcBef>
                <a:spcPts val="600"/>
              </a:spcBef>
              <a:spcAft>
                <a:spcPts val="1200"/>
              </a:spcAft>
            </a:pPr>
            <a:r>
              <a:rPr lang="en-US" sz="2200" dirty="0" smtClean="0">
                <a:latin typeface="Helvetica" pitchFamily="34" charset="0"/>
              </a:rPr>
              <a:t>Canned</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a:t>
            </a:fld>
            <a:endParaRPr lang="en-US" dirty="0"/>
          </a:p>
        </p:txBody>
      </p:sp>
      <p:pic>
        <p:nvPicPr>
          <p:cNvPr id="5" name="Picture 4" descr="MP900313732.JPG"/>
          <p:cNvPicPr>
            <a:picLocks noChangeAspect="1"/>
          </p:cNvPicPr>
          <p:nvPr/>
        </p:nvPicPr>
        <p:blipFill>
          <a:blip r:embed="rId3" cstate="print"/>
          <a:stretch>
            <a:fillRect/>
          </a:stretch>
        </p:blipFill>
        <p:spPr>
          <a:xfrm>
            <a:off x="6948264" y="2636912"/>
            <a:ext cx="1396752" cy="897912"/>
          </a:xfrm>
          <a:prstGeom prst="rect">
            <a:avLst/>
          </a:prstGeom>
        </p:spPr>
      </p:pic>
      <p:pic>
        <p:nvPicPr>
          <p:cNvPr id="7" name="Picture 6" descr="Redcurrants1.jpeg"/>
          <p:cNvPicPr>
            <a:picLocks noChangeAspect="1"/>
          </p:cNvPicPr>
          <p:nvPr/>
        </p:nvPicPr>
        <p:blipFill>
          <a:blip r:embed="rId4" cstate="print"/>
          <a:stretch>
            <a:fillRect/>
          </a:stretch>
        </p:blipFill>
        <p:spPr>
          <a:xfrm>
            <a:off x="5292080" y="4509120"/>
            <a:ext cx="1444487" cy="1086619"/>
          </a:xfrm>
          <a:prstGeom prst="rect">
            <a:avLst/>
          </a:prstGeom>
        </p:spPr>
      </p:pic>
      <p:pic>
        <p:nvPicPr>
          <p:cNvPr id="8" name="Picture 7" descr="Passionfruit2.jpeg"/>
          <p:cNvPicPr>
            <a:picLocks noChangeAspect="1"/>
          </p:cNvPicPr>
          <p:nvPr/>
        </p:nvPicPr>
        <p:blipFill>
          <a:blip r:embed="rId5" cstate="print"/>
          <a:stretch>
            <a:fillRect/>
          </a:stretch>
        </p:blipFill>
        <p:spPr>
          <a:xfrm>
            <a:off x="6804248" y="4077072"/>
            <a:ext cx="1427271" cy="957461"/>
          </a:xfrm>
          <a:prstGeom prst="rect">
            <a:avLst/>
          </a:prstGeom>
        </p:spPr>
      </p:pic>
    </p:spTree>
    <p:extLst>
      <p:ext uri="{BB962C8B-B14F-4D97-AF65-F5344CB8AC3E}">
        <p14:creationId xmlns:p14="http://schemas.microsoft.com/office/powerpoint/2010/main" val="125023406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332656"/>
            <a:ext cx="8568952" cy="936104"/>
          </a:xfrm>
        </p:spPr>
        <p:txBody>
          <a:bodyPr>
            <a:normAutofit/>
          </a:bodyPr>
          <a:lstStyle/>
          <a:p>
            <a:r>
              <a:rPr lang="en-US" sz="3200" b="1" dirty="0" smtClean="0">
                <a:solidFill>
                  <a:srgbClr val="FF6600"/>
                </a:solidFill>
                <a:latin typeface="Helvetica" pitchFamily="34" charset="0"/>
              </a:rPr>
              <a:t>Prepare vegetables, eggs and farinaceous </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539552" y="1340768"/>
            <a:ext cx="7704856" cy="5184576"/>
          </a:xfrm>
        </p:spPr>
        <p:txBody>
          <a:bodyPr>
            <a:noAutofit/>
          </a:bodyPr>
          <a:lstStyle/>
          <a:p>
            <a:pPr marL="0" indent="0">
              <a:spcBef>
                <a:spcPts val="600"/>
              </a:spcBef>
              <a:spcAft>
                <a:spcPts val="1200"/>
              </a:spcAft>
              <a:buNone/>
            </a:pPr>
            <a:r>
              <a:rPr lang="en-US" sz="2200" b="1" dirty="0" smtClean="0">
                <a:latin typeface="Helvetica" pitchFamily="34" charset="0"/>
              </a:rPr>
              <a:t>Prepare and cook a variety of vegetable and fruit menu items</a:t>
            </a:r>
          </a:p>
          <a:p>
            <a:pPr marL="0" indent="0">
              <a:spcBef>
                <a:spcPts val="600"/>
              </a:spcBef>
              <a:spcAft>
                <a:spcPts val="1200"/>
              </a:spcAft>
              <a:buNone/>
            </a:pPr>
            <a:r>
              <a:rPr lang="en-US" sz="2200" b="1" dirty="0" smtClean="0">
                <a:latin typeface="Helvetica" pitchFamily="34" charset="0"/>
              </a:rPr>
              <a:t>Vegetables can be:</a:t>
            </a:r>
          </a:p>
          <a:p>
            <a:pPr marL="285750" indent="-285750">
              <a:spcBef>
                <a:spcPts val="600"/>
              </a:spcBef>
              <a:spcAft>
                <a:spcPts val="1200"/>
              </a:spcAft>
            </a:pPr>
            <a:r>
              <a:rPr lang="en-US" sz="2200" dirty="0" smtClean="0">
                <a:latin typeface="Helvetica" pitchFamily="34" charset="0"/>
              </a:rPr>
              <a:t>Boiled</a:t>
            </a:r>
          </a:p>
          <a:p>
            <a:pPr marL="285750" indent="-285750">
              <a:spcBef>
                <a:spcPts val="600"/>
              </a:spcBef>
              <a:spcAft>
                <a:spcPts val="1200"/>
              </a:spcAft>
            </a:pPr>
            <a:r>
              <a:rPr lang="en-US" sz="2200" dirty="0" smtClean="0">
                <a:latin typeface="Helvetica" pitchFamily="34" charset="0"/>
              </a:rPr>
              <a:t>Steamed</a:t>
            </a:r>
          </a:p>
          <a:p>
            <a:pPr marL="285750" indent="-285750">
              <a:spcBef>
                <a:spcPts val="600"/>
              </a:spcBef>
              <a:spcAft>
                <a:spcPts val="1200"/>
              </a:spcAft>
            </a:pPr>
            <a:r>
              <a:rPr lang="en-US" sz="2200" dirty="0" smtClean="0">
                <a:latin typeface="Helvetica" pitchFamily="34" charset="0"/>
              </a:rPr>
              <a:t>Braised</a:t>
            </a:r>
          </a:p>
          <a:p>
            <a:pPr marL="285750" indent="-285750">
              <a:spcBef>
                <a:spcPts val="600"/>
              </a:spcBef>
              <a:spcAft>
                <a:spcPts val="1200"/>
              </a:spcAft>
            </a:pPr>
            <a:r>
              <a:rPr lang="en-US" sz="2200" dirty="0" smtClean="0">
                <a:latin typeface="Helvetica" pitchFamily="34" charset="0"/>
              </a:rPr>
              <a:t>Baked</a:t>
            </a:r>
          </a:p>
          <a:p>
            <a:pPr marL="285750" indent="-285750">
              <a:spcBef>
                <a:spcPts val="600"/>
              </a:spcBef>
              <a:spcAft>
                <a:spcPts val="1200"/>
              </a:spcAft>
            </a:pPr>
            <a:r>
              <a:rPr lang="en-US" sz="2200" dirty="0" smtClean="0">
                <a:latin typeface="Helvetica" pitchFamily="34" charset="0"/>
              </a:rPr>
              <a:t>Deep fried</a:t>
            </a:r>
          </a:p>
          <a:p>
            <a:pPr marL="285750" indent="-285750">
              <a:spcBef>
                <a:spcPts val="600"/>
              </a:spcBef>
              <a:spcAft>
                <a:spcPts val="1200"/>
              </a:spcAft>
            </a:pPr>
            <a:r>
              <a:rPr lang="en-US" sz="2200" dirty="0">
                <a:latin typeface="Helvetica" pitchFamily="34" charset="0"/>
              </a:rPr>
              <a:t>M</a:t>
            </a:r>
            <a:r>
              <a:rPr lang="en-US" sz="2200" dirty="0" smtClean="0">
                <a:latin typeface="Helvetica" pitchFamily="34" charset="0"/>
              </a:rPr>
              <a:t>icrowaved</a:t>
            </a:r>
          </a:p>
          <a:p>
            <a:pPr marL="0" indent="0">
              <a:spcBef>
                <a:spcPts val="600"/>
              </a:spcBef>
              <a:spcAft>
                <a:spcPts val="1200"/>
              </a:spcAft>
              <a:buNone/>
            </a:pPr>
            <a:endParaRPr lang="en-US"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a:t>
            </a:fld>
            <a:endParaRPr lang="en-US" dirty="0"/>
          </a:p>
        </p:txBody>
      </p:sp>
      <p:pic>
        <p:nvPicPr>
          <p:cNvPr id="5" name="Picture 4" descr="20244.jpg"/>
          <p:cNvPicPr>
            <a:picLocks noChangeAspect="1"/>
          </p:cNvPicPr>
          <p:nvPr/>
        </p:nvPicPr>
        <p:blipFill>
          <a:blip r:embed="rId3" cstate="print"/>
          <a:stretch>
            <a:fillRect/>
          </a:stretch>
        </p:blipFill>
        <p:spPr>
          <a:xfrm>
            <a:off x="6804248" y="3573016"/>
            <a:ext cx="1542288" cy="1560576"/>
          </a:xfrm>
          <a:prstGeom prst="rect">
            <a:avLst/>
          </a:prstGeom>
        </p:spPr>
      </p:pic>
    </p:spTree>
    <p:extLst>
      <p:ext uri="{BB962C8B-B14F-4D97-AF65-F5344CB8AC3E}">
        <p14:creationId xmlns:p14="http://schemas.microsoft.com/office/powerpoint/2010/main" val="70808256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332656"/>
            <a:ext cx="8568952" cy="864096"/>
          </a:xfrm>
        </p:spPr>
        <p:txBody>
          <a:bodyPr>
            <a:normAutofit/>
          </a:bodyPr>
          <a:lstStyle/>
          <a:p>
            <a:r>
              <a:rPr lang="en-US" sz="3200" b="1" dirty="0" smtClean="0">
                <a:solidFill>
                  <a:srgbClr val="FF6600"/>
                </a:solidFill>
                <a:latin typeface="Helvetica" pitchFamily="34" charset="0"/>
              </a:rPr>
              <a:t>Prepare vegetables, eggs and farinaceous </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539552" y="1268760"/>
            <a:ext cx="7704856" cy="5400600"/>
          </a:xfrm>
        </p:spPr>
        <p:txBody>
          <a:bodyPr>
            <a:normAutofit/>
          </a:bodyPr>
          <a:lstStyle/>
          <a:p>
            <a:pPr marL="0" indent="0">
              <a:spcBef>
                <a:spcPts val="600"/>
              </a:spcBef>
              <a:spcAft>
                <a:spcPts val="1200"/>
              </a:spcAft>
              <a:buNone/>
            </a:pPr>
            <a:r>
              <a:rPr lang="en-US" sz="2200" b="1" dirty="0" smtClean="0">
                <a:latin typeface="Helvetica" pitchFamily="34" charset="0"/>
              </a:rPr>
              <a:t>Prepare and cook a variety of vegetable and fruit menu items</a:t>
            </a:r>
          </a:p>
          <a:p>
            <a:pPr marL="0" indent="0">
              <a:spcBef>
                <a:spcPts val="600"/>
              </a:spcBef>
              <a:spcAft>
                <a:spcPts val="1200"/>
              </a:spcAft>
              <a:buNone/>
            </a:pPr>
            <a:r>
              <a:rPr lang="en-US" sz="2200" b="1" dirty="0" smtClean="0">
                <a:latin typeface="Helvetica" pitchFamily="34" charset="0"/>
              </a:rPr>
              <a:t>Fruits can be:</a:t>
            </a:r>
          </a:p>
          <a:p>
            <a:pPr marL="285750" indent="-285750">
              <a:spcBef>
                <a:spcPts val="600"/>
              </a:spcBef>
              <a:spcAft>
                <a:spcPts val="1200"/>
              </a:spcAft>
            </a:pPr>
            <a:r>
              <a:rPr lang="en-US" sz="2200" dirty="0" smtClean="0">
                <a:latin typeface="Helvetica" pitchFamily="34" charset="0"/>
              </a:rPr>
              <a:t>Poached</a:t>
            </a:r>
          </a:p>
          <a:p>
            <a:pPr marL="285750" indent="-285750">
              <a:spcBef>
                <a:spcPts val="600"/>
              </a:spcBef>
              <a:spcAft>
                <a:spcPts val="1200"/>
              </a:spcAft>
            </a:pPr>
            <a:r>
              <a:rPr lang="en-US" sz="2200" dirty="0" smtClean="0">
                <a:latin typeface="Helvetica" pitchFamily="34" charset="0"/>
              </a:rPr>
              <a:t>Stewed</a:t>
            </a:r>
          </a:p>
          <a:p>
            <a:pPr marL="285750" indent="-285750">
              <a:spcBef>
                <a:spcPts val="600"/>
              </a:spcBef>
              <a:spcAft>
                <a:spcPts val="1200"/>
              </a:spcAft>
            </a:pPr>
            <a:r>
              <a:rPr lang="en-US" sz="2200" dirty="0" smtClean="0">
                <a:latin typeface="Helvetica" pitchFamily="34" charset="0"/>
              </a:rPr>
              <a:t>Baked</a:t>
            </a:r>
          </a:p>
          <a:p>
            <a:pPr marL="285750" indent="-285750">
              <a:spcBef>
                <a:spcPts val="600"/>
              </a:spcBef>
              <a:spcAft>
                <a:spcPts val="1200"/>
              </a:spcAft>
            </a:pPr>
            <a:r>
              <a:rPr lang="en-US" sz="2200" dirty="0" smtClean="0">
                <a:latin typeface="Helvetica" pitchFamily="34" charset="0"/>
              </a:rPr>
              <a:t>Deep fried</a:t>
            </a:r>
          </a:p>
          <a:p>
            <a:pPr marL="285750" indent="-285750">
              <a:spcBef>
                <a:spcPts val="600"/>
              </a:spcBef>
              <a:spcAft>
                <a:spcPts val="1200"/>
              </a:spcAft>
            </a:pPr>
            <a:r>
              <a:rPr lang="en-US" sz="2200" dirty="0">
                <a:latin typeface="Helvetica" pitchFamily="34" charset="0"/>
              </a:rPr>
              <a:t>M</a:t>
            </a:r>
            <a:r>
              <a:rPr lang="en-US" sz="2200" dirty="0" smtClean="0">
                <a:latin typeface="Helvetica" pitchFamily="34" charset="0"/>
              </a:rPr>
              <a:t>icrowaved</a:t>
            </a:r>
          </a:p>
          <a:p>
            <a:pPr marL="0" indent="0">
              <a:spcBef>
                <a:spcPts val="600"/>
              </a:spcBef>
              <a:spcAft>
                <a:spcPts val="1200"/>
              </a:spcAft>
              <a:buNone/>
            </a:pPr>
            <a:endParaRPr lang="en-US"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a:t>
            </a:fld>
            <a:endParaRPr lang="en-US" dirty="0"/>
          </a:p>
        </p:txBody>
      </p:sp>
      <p:pic>
        <p:nvPicPr>
          <p:cNvPr id="5" name="Picture 4" descr="MP900177958.JPG"/>
          <p:cNvPicPr>
            <a:picLocks noChangeAspect="1"/>
          </p:cNvPicPr>
          <p:nvPr/>
        </p:nvPicPr>
        <p:blipFill>
          <a:blip r:embed="rId3" cstate="print"/>
          <a:stretch>
            <a:fillRect/>
          </a:stretch>
        </p:blipFill>
        <p:spPr>
          <a:xfrm>
            <a:off x="6516216" y="2708920"/>
            <a:ext cx="1828800" cy="2438400"/>
          </a:xfrm>
          <a:prstGeom prst="rect">
            <a:avLst/>
          </a:prstGeom>
        </p:spPr>
      </p:pic>
    </p:spTree>
    <p:extLst>
      <p:ext uri="{BB962C8B-B14F-4D97-AF65-F5344CB8AC3E}">
        <p14:creationId xmlns:p14="http://schemas.microsoft.com/office/powerpoint/2010/main" val="360243360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8568952" cy="792088"/>
          </a:xfrm>
        </p:spPr>
        <p:txBody>
          <a:bodyPr>
            <a:normAutofit/>
          </a:bodyPr>
          <a:lstStyle/>
          <a:p>
            <a:r>
              <a:rPr lang="en-US" sz="3200" b="1" dirty="0" smtClean="0">
                <a:solidFill>
                  <a:srgbClr val="FF6600"/>
                </a:solidFill>
                <a:latin typeface="Helvetica" pitchFamily="34" charset="0"/>
              </a:rPr>
              <a:t>Prepare vegetables, eggs and farinaceous </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467544" y="1196753"/>
            <a:ext cx="7467600" cy="5328592"/>
          </a:xfrm>
        </p:spPr>
        <p:txBody>
          <a:bodyPr>
            <a:normAutofit/>
          </a:bodyPr>
          <a:lstStyle/>
          <a:p>
            <a:pPr marL="0" indent="0">
              <a:spcBef>
                <a:spcPts val="600"/>
              </a:spcBef>
              <a:spcAft>
                <a:spcPts val="1200"/>
              </a:spcAft>
              <a:buNone/>
            </a:pPr>
            <a:r>
              <a:rPr lang="en-US" sz="2200" b="1" dirty="0" smtClean="0">
                <a:latin typeface="Helvetica" pitchFamily="34" charset="0"/>
              </a:rPr>
              <a:t>Identify and prepare appropriate sauces, garnishes and accompaniments as per menu items</a:t>
            </a:r>
          </a:p>
          <a:p>
            <a:pPr marL="355600" indent="-355600">
              <a:spcBef>
                <a:spcPts val="600"/>
              </a:spcBef>
              <a:spcAft>
                <a:spcPts val="1200"/>
              </a:spcAft>
            </a:pPr>
            <a:r>
              <a:rPr lang="en-US" sz="2200" dirty="0" smtClean="0">
                <a:latin typeface="Helvetica" pitchFamily="34" charset="0"/>
              </a:rPr>
              <a:t>Classical dishes will have classical sauces</a:t>
            </a:r>
          </a:p>
          <a:p>
            <a:pPr marL="355600" indent="-355600">
              <a:spcBef>
                <a:spcPts val="600"/>
              </a:spcBef>
              <a:spcAft>
                <a:spcPts val="1200"/>
              </a:spcAft>
            </a:pPr>
            <a:r>
              <a:rPr lang="en-US" sz="2200" dirty="0" smtClean="0">
                <a:latin typeface="Helvetica" pitchFamily="34" charset="0"/>
              </a:rPr>
              <a:t>Sauces for </a:t>
            </a:r>
            <a:r>
              <a:rPr lang="en-US" sz="2200" dirty="0">
                <a:latin typeface="Helvetica" pitchFamily="34" charset="0"/>
              </a:rPr>
              <a:t>F</a:t>
            </a:r>
            <a:r>
              <a:rPr lang="en-US" sz="2200" dirty="0" smtClean="0">
                <a:latin typeface="Helvetica" pitchFamily="34" charset="0"/>
              </a:rPr>
              <a:t>rench cuisine dishes are butter based</a:t>
            </a:r>
          </a:p>
          <a:p>
            <a:pPr marL="355600" indent="-355600">
              <a:spcBef>
                <a:spcPts val="600"/>
              </a:spcBef>
              <a:spcAft>
                <a:spcPts val="1200"/>
              </a:spcAft>
            </a:pPr>
            <a:r>
              <a:rPr lang="en-US" sz="2200" dirty="0" smtClean="0">
                <a:latin typeface="Helvetica" pitchFamily="34" charset="0"/>
              </a:rPr>
              <a:t>Melted butter added while hot</a:t>
            </a:r>
          </a:p>
          <a:p>
            <a:pPr marL="355600" indent="-355600">
              <a:spcBef>
                <a:spcPts val="600"/>
              </a:spcBef>
              <a:spcAft>
                <a:spcPts val="1200"/>
              </a:spcAft>
            </a:pPr>
            <a:r>
              <a:rPr lang="en-US" sz="2200" dirty="0" smtClean="0">
                <a:latin typeface="Helvetica" pitchFamily="34" charset="0"/>
              </a:rPr>
              <a:t>Some are milk based starch thickened with </a:t>
            </a:r>
            <a:br>
              <a:rPr lang="en-US" sz="2200" dirty="0" smtClean="0">
                <a:latin typeface="Helvetica" pitchFamily="34" charset="0"/>
              </a:rPr>
            </a:br>
            <a:r>
              <a:rPr lang="en-US" sz="2200" dirty="0" smtClean="0">
                <a:latin typeface="Helvetica" pitchFamily="34" charset="0"/>
              </a:rPr>
              <a:t>butter added for flavour and richness</a:t>
            </a:r>
          </a:p>
          <a:p>
            <a:pPr marL="355600" indent="-355600">
              <a:spcBef>
                <a:spcPts val="600"/>
              </a:spcBef>
              <a:spcAft>
                <a:spcPts val="1200"/>
              </a:spcAft>
            </a:pPr>
            <a:r>
              <a:rPr lang="en-US" sz="2200" dirty="0" smtClean="0">
                <a:latin typeface="Helvetica" pitchFamily="34" charset="0"/>
              </a:rPr>
              <a:t>Some are acidic egg yolk mixtures emulsified </a:t>
            </a:r>
            <a:br>
              <a:rPr lang="en-US" sz="2200" dirty="0" smtClean="0">
                <a:latin typeface="Helvetica" pitchFamily="34" charset="0"/>
              </a:rPr>
            </a:br>
            <a:r>
              <a:rPr lang="en-US" sz="2200" dirty="0" smtClean="0">
                <a:latin typeface="Helvetica" pitchFamily="34" charset="0"/>
              </a:rPr>
              <a:t>with melted butter</a:t>
            </a:r>
          </a:p>
          <a:p>
            <a:pPr marL="355600" indent="-355600">
              <a:spcBef>
                <a:spcPts val="600"/>
              </a:spcBef>
              <a:spcAft>
                <a:spcPts val="1200"/>
              </a:spcAft>
              <a:buNone/>
            </a:pPr>
            <a:r>
              <a:rPr lang="en-US" sz="2200" i="1"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a:t>
            </a:fld>
            <a:endParaRPr lang="en-US" dirty="0"/>
          </a:p>
        </p:txBody>
      </p:sp>
      <p:pic>
        <p:nvPicPr>
          <p:cNvPr id="5" name="Picture 4" descr="362526_4049.jpg"/>
          <p:cNvPicPr>
            <a:picLocks noChangeAspect="1"/>
          </p:cNvPicPr>
          <p:nvPr/>
        </p:nvPicPr>
        <p:blipFill>
          <a:blip r:embed="rId3" cstate="print"/>
          <a:stretch>
            <a:fillRect/>
          </a:stretch>
        </p:blipFill>
        <p:spPr>
          <a:xfrm>
            <a:off x="6588224" y="4077072"/>
            <a:ext cx="1879757" cy="1409818"/>
          </a:xfrm>
          <a:prstGeom prst="rect">
            <a:avLst/>
          </a:prstGeom>
        </p:spPr>
      </p:pic>
    </p:spTree>
    <p:extLst>
      <p:ext uri="{BB962C8B-B14F-4D97-AF65-F5344CB8AC3E}">
        <p14:creationId xmlns:p14="http://schemas.microsoft.com/office/powerpoint/2010/main" val="30163198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8496944" cy="720080"/>
          </a:xfrm>
        </p:spPr>
        <p:txBody>
          <a:bodyPr>
            <a:normAutofit/>
          </a:bodyPr>
          <a:lstStyle/>
          <a:p>
            <a:r>
              <a:rPr lang="en-US" sz="3200" b="1" dirty="0" smtClean="0">
                <a:solidFill>
                  <a:srgbClr val="FF6600"/>
                </a:solidFill>
                <a:latin typeface="Helvetica" pitchFamily="34" charset="0"/>
              </a:rPr>
              <a:t>Prepare vegetables, eggs and farinaceous </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467544" y="1268760"/>
            <a:ext cx="8064896" cy="4968552"/>
          </a:xfrm>
        </p:spPr>
        <p:txBody>
          <a:bodyPr>
            <a:normAutofit/>
          </a:bodyPr>
          <a:lstStyle/>
          <a:p>
            <a:pPr marL="0" indent="0">
              <a:spcBef>
                <a:spcPts val="600"/>
              </a:spcBef>
              <a:spcAft>
                <a:spcPts val="1200"/>
              </a:spcAft>
              <a:buNone/>
            </a:pPr>
            <a:r>
              <a:rPr lang="en-US" sz="2200" b="1" dirty="0" smtClean="0">
                <a:latin typeface="Helvetica" pitchFamily="34" charset="0"/>
              </a:rPr>
              <a:t>Identify and prepare appropriate sauces, garnishes and accompaniments as per menu items</a:t>
            </a:r>
          </a:p>
          <a:p>
            <a:pPr marL="0" indent="0">
              <a:spcBef>
                <a:spcPts val="600"/>
              </a:spcBef>
              <a:spcAft>
                <a:spcPts val="1200"/>
              </a:spcAft>
              <a:buNone/>
            </a:pPr>
            <a:r>
              <a:rPr lang="en-US" sz="2200" b="1" i="1" dirty="0" smtClean="0">
                <a:latin typeface="Helvetica" pitchFamily="34" charset="0"/>
              </a:rPr>
              <a:t>Simple Example of sauce:</a:t>
            </a:r>
          </a:p>
          <a:p>
            <a:pPr marL="355600" indent="-355600">
              <a:spcBef>
                <a:spcPts val="600"/>
              </a:spcBef>
              <a:spcAft>
                <a:spcPts val="1200"/>
              </a:spcAft>
            </a:pPr>
            <a:r>
              <a:rPr lang="en-US" sz="2200" dirty="0" smtClean="0">
                <a:latin typeface="Helvetica" pitchFamily="34" charset="0"/>
              </a:rPr>
              <a:t>Potato and carrots maybe boiled or steamed</a:t>
            </a:r>
          </a:p>
          <a:p>
            <a:pPr marL="355600" indent="-355600">
              <a:spcBef>
                <a:spcPts val="600"/>
              </a:spcBef>
              <a:spcAft>
                <a:spcPts val="1200"/>
              </a:spcAft>
            </a:pPr>
            <a:r>
              <a:rPr lang="en-US" sz="2200" dirty="0" smtClean="0">
                <a:latin typeface="Helvetica" pitchFamily="34" charset="0"/>
              </a:rPr>
              <a:t>Tossed in hot butter and served with garnish of herb</a:t>
            </a:r>
          </a:p>
          <a:p>
            <a:pPr marL="0" indent="0">
              <a:spcBef>
                <a:spcPts val="600"/>
              </a:spcBef>
              <a:spcAft>
                <a:spcPts val="1200"/>
              </a:spcAft>
              <a:buNone/>
            </a:pPr>
            <a:r>
              <a:rPr lang="en-US" sz="2200" b="1" i="1" dirty="0" smtClean="0">
                <a:latin typeface="Helvetica" pitchFamily="34" charset="0"/>
              </a:rPr>
              <a:t>Complex example of sauce:</a:t>
            </a:r>
          </a:p>
          <a:p>
            <a:pPr marL="355600" indent="-355600">
              <a:spcBef>
                <a:spcPts val="600"/>
              </a:spcBef>
              <a:spcAft>
                <a:spcPts val="1200"/>
              </a:spcAft>
            </a:pPr>
            <a:r>
              <a:rPr lang="en-US" sz="2200" dirty="0" smtClean="0">
                <a:latin typeface="Helvetica" pitchFamily="34" charset="0"/>
              </a:rPr>
              <a:t>Asparagus steamed or quickly blanched </a:t>
            </a:r>
          </a:p>
          <a:p>
            <a:pPr marL="355600" indent="-355600">
              <a:spcBef>
                <a:spcPts val="600"/>
              </a:spcBef>
              <a:spcAft>
                <a:spcPts val="1200"/>
              </a:spcAft>
            </a:pPr>
            <a:r>
              <a:rPr lang="en-US" sz="2200" dirty="0" smtClean="0">
                <a:latin typeface="Helvetica" pitchFamily="34" charset="0"/>
              </a:rPr>
              <a:t>Plated and topped with Sauce Hollandaise </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a:t>
            </a:fld>
            <a:endParaRPr lang="en-US" dirty="0"/>
          </a:p>
        </p:txBody>
      </p:sp>
      <p:pic>
        <p:nvPicPr>
          <p:cNvPr id="5" name="Picture 4" descr="1105299_43451424.jpg"/>
          <p:cNvPicPr>
            <a:picLocks noChangeAspect="1"/>
          </p:cNvPicPr>
          <p:nvPr/>
        </p:nvPicPr>
        <p:blipFill>
          <a:blip r:embed="rId3" cstate="print"/>
          <a:stretch>
            <a:fillRect/>
          </a:stretch>
        </p:blipFill>
        <p:spPr>
          <a:xfrm>
            <a:off x="6300192" y="3861048"/>
            <a:ext cx="2097947" cy="1404411"/>
          </a:xfrm>
          <a:prstGeom prst="rect">
            <a:avLst/>
          </a:prstGeom>
        </p:spPr>
      </p:pic>
    </p:spTree>
    <p:extLst>
      <p:ext uri="{BB962C8B-B14F-4D97-AF65-F5344CB8AC3E}">
        <p14:creationId xmlns:p14="http://schemas.microsoft.com/office/powerpoint/2010/main" val="144850538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332656"/>
            <a:ext cx="8568952" cy="720080"/>
          </a:xfrm>
        </p:spPr>
        <p:txBody>
          <a:bodyPr>
            <a:normAutofit/>
          </a:bodyPr>
          <a:lstStyle/>
          <a:p>
            <a:r>
              <a:rPr lang="en-US" sz="3200" b="1" dirty="0" smtClean="0">
                <a:solidFill>
                  <a:srgbClr val="FF6600"/>
                </a:solidFill>
                <a:latin typeface="Helvetica" pitchFamily="34" charset="0"/>
              </a:rPr>
              <a:t>Prepare vegetables, eggs and farinaceous </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395536" y="1124744"/>
            <a:ext cx="7467600" cy="5544616"/>
          </a:xfrm>
        </p:spPr>
        <p:txBody>
          <a:bodyPr>
            <a:noAutofit/>
          </a:bodyPr>
          <a:lstStyle/>
          <a:p>
            <a:pPr marL="0" indent="0">
              <a:spcBef>
                <a:spcPts val="600"/>
              </a:spcBef>
              <a:spcAft>
                <a:spcPts val="1200"/>
              </a:spcAft>
              <a:buNone/>
            </a:pPr>
            <a:r>
              <a:rPr lang="en-US" sz="2200" b="1" dirty="0" smtClean="0">
                <a:latin typeface="Helvetica" pitchFamily="34" charset="0"/>
              </a:rPr>
              <a:t>Present vegetable and fruit menu items</a:t>
            </a:r>
          </a:p>
          <a:p>
            <a:pPr marL="355600" indent="-355600">
              <a:spcBef>
                <a:spcPts val="600"/>
              </a:spcBef>
              <a:spcAft>
                <a:spcPts val="1200"/>
              </a:spcAft>
            </a:pPr>
            <a:r>
              <a:rPr lang="en-US" sz="2200" dirty="0" smtClean="0">
                <a:latin typeface="Helvetica" pitchFamily="34" charset="0"/>
              </a:rPr>
              <a:t>Simple presentation is best</a:t>
            </a:r>
          </a:p>
          <a:p>
            <a:pPr marL="355600" indent="-355600">
              <a:spcBef>
                <a:spcPts val="600"/>
              </a:spcBef>
              <a:spcAft>
                <a:spcPts val="1200"/>
              </a:spcAft>
            </a:pPr>
            <a:r>
              <a:rPr lang="en-US" sz="2200" dirty="0" smtClean="0">
                <a:latin typeface="Helvetica" pitchFamily="34" charset="0"/>
              </a:rPr>
              <a:t>Diversity of colour on plate</a:t>
            </a:r>
          </a:p>
          <a:p>
            <a:pPr marL="355600" indent="-355600">
              <a:spcBef>
                <a:spcPts val="600"/>
              </a:spcBef>
              <a:spcAft>
                <a:spcPts val="1200"/>
              </a:spcAft>
            </a:pPr>
            <a:r>
              <a:rPr lang="en-US" sz="2200" dirty="0" smtClean="0">
                <a:latin typeface="Helvetica" pitchFamily="34" charset="0"/>
              </a:rPr>
              <a:t>Freshest is best</a:t>
            </a:r>
          </a:p>
          <a:p>
            <a:pPr marL="355600" indent="-355600">
              <a:spcBef>
                <a:spcPts val="600"/>
              </a:spcBef>
              <a:spcAft>
                <a:spcPts val="1200"/>
              </a:spcAft>
            </a:pPr>
            <a:r>
              <a:rPr lang="en-US" sz="2200" dirty="0" smtClean="0">
                <a:latin typeface="Helvetica" pitchFamily="34" charset="0"/>
              </a:rPr>
              <a:t>Contrast of mouthfeel</a:t>
            </a:r>
          </a:p>
          <a:p>
            <a:pPr marL="355600" indent="-355600">
              <a:spcBef>
                <a:spcPts val="600"/>
              </a:spcBef>
              <a:spcAft>
                <a:spcPts val="1200"/>
              </a:spcAft>
            </a:pPr>
            <a:r>
              <a:rPr lang="en-US" sz="2200" dirty="0" smtClean="0">
                <a:latin typeface="Helvetica" pitchFamily="34" charset="0"/>
              </a:rPr>
              <a:t>Starch based: potato, pumpkin, yam, </a:t>
            </a:r>
            <a:br>
              <a:rPr lang="en-US" sz="2200" dirty="0" smtClean="0">
                <a:latin typeface="Helvetica" pitchFamily="34" charset="0"/>
              </a:rPr>
            </a:br>
            <a:r>
              <a:rPr lang="en-US" sz="2200" dirty="0" smtClean="0">
                <a:latin typeface="Helvetica" pitchFamily="34" charset="0"/>
              </a:rPr>
              <a:t>sweet potato</a:t>
            </a:r>
          </a:p>
          <a:p>
            <a:pPr marL="355600" indent="-355600">
              <a:spcBef>
                <a:spcPts val="600"/>
              </a:spcBef>
              <a:spcAft>
                <a:spcPts val="1200"/>
              </a:spcAft>
            </a:pPr>
            <a:r>
              <a:rPr lang="en-US" sz="2200" dirty="0" smtClean="0">
                <a:latin typeface="Helvetica" pitchFamily="34" charset="0"/>
              </a:rPr>
              <a:t>Leaf based: spinach, brussells sprouts</a:t>
            </a:r>
          </a:p>
          <a:p>
            <a:pPr marL="355600" indent="-355600">
              <a:spcBef>
                <a:spcPts val="600"/>
              </a:spcBef>
              <a:spcAft>
                <a:spcPts val="1200"/>
              </a:spcAft>
            </a:pPr>
            <a:r>
              <a:rPr lang="en-US" sz="2200" dirty="0" smtClean="0">
                <a:latin typeface="Helvetica" pitchFamily="34" charset="0"/>
              </a:rPr>
              <a:t>Stem based: beans, peas</a:t>
            </a:r>
          </a:p>
          <a:p>
            <a:pPr marL="355600" indent="-355600">
              <a:spcBef>
                <a:spcPts val="600"/>
              </a:spcBef>
              <a:spcAft>
                <a:spcPts val="1200"/>
              </a:spcAft>
            </a:pPr>
            <a:r>
              <a:rPr lang="en-US" sz="2200" dirty="0" smtClean="0">
                <a:latin typeface="Helvetica" pitchFamily="34" charset="0"/>
              </a:rPr>
              <a:t>Root vegetables: carrots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a:t>
            </a:fld>
            <a:endParaRPr lang="en-US" dirty="0"/>
          </a:p>
        </p:txBody>
      </p:sp>
      <p:pic>
        <p:nvPicPr>
          <p:cNvPr id="5" name="Picture 4" descr="Lamb Rack with Herb Crust.jpg"/>
          <p:cNvPicPr>
            <a:picLocks noChangeAspect="1"/>
          </p:cNvPicPr>
          <p:nvPr/>
        </p:nvPicPr>
        <p:blipFill>
          <a:blip r:embed="rId3" cstate="print"/>
          <a:stretch>
            <a:fillRect/>
          </a:stretch>
        </p:blipFill>
        <p:spPr>
          <a:xfrm>
            <a:off x="6804248" y="2852936"/>
            <a:ext cx="1552723" cy="2327920"/>
          </a:xfrm>
          <a:prstGeom prst="rect">
            <a:avLst/>
          </a:prstGeom>
        </p:spPr>
      </p:pic>
    </p:spTree>
    <p:extLst>
      <p:ext uri="{BB962C8B-B14F-4D97-AF65-F5344CB8AC3E}">
        <p14:creationId xmlns:p14="http://schemas.microsoft.com/office/powerpoint/2010/main" val="391678638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8568952" cy="720080"/>
          </a:xfrm>
        </p:spPr>
        <p:txBody>
          <a:bodyPr>
            <a:normAutofit/>
          </a:bodyPr>
          <a:lstStyle/>
          <a:p>
            <a:r>
              <a:rPr lang="en-US" sz="3200" b="1" dirty="0" smtClean="0">
                <a:solidFill>
                  <a:srgbClr val="FF6600"/>
                </a:solidFill>
                <a:latin typeface="Helvetica" pitchFamily="34" charset="0"/>
              </a:rPr>
              <a:t>Prepare vegetables, eggs and farinaceous </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467544" y="1124744"/>
            <a:ext cx="7467600" cy="4958011"/>
          </a:xfrm>
        </p:spPr>
        <p:txBody>
          <a:bodyPr>
            <a:normAutofit/>
          </a:bodyPr>
          <a:lstStyle/>
          <a:p>
            <a:pPr marL="0" indent="0">
              <a:spcBef>
                <a:spcPts val="600"/>
              </a:spcBef>
              <a:spcAft>
                <a:spcPts val="1200"/>
              </a:spcAft>
              <a:buNone/>
            </a:pPr>
            <a:r>
              <a:rPr lang="en-US" sz="2200" b="1" dirty="0" smtClean="0">
                <a:latin typeface="Helvetica" pitchFamily="34" charset="0"/>
              </a:rPr>
              <a:t>Element 2: Prepare and cook egg based menu items</a:t>
            </a:r>
          </a:p>
          <a:p>
            <a:pPr marL="0" indent="0">
              <a:spcBef>
                <a:spcPts val="600"/>
              </a:spcBef>
              <a:spcAft>
                <a:spcPts val="1200"/>
              </a:spcAft>
              <a:buNone/>
            </a:pPr>
            <a:endParaRPr lang="en-US"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a:t>
            </a:fld>
            <a:endParaRPr lang="en-US" dirty="0"/>
          </a:p>
        </p:txBody>
      </p:sp>
      <p:grpSp>
        <p:nvGrpSpPr>
          <p:cNvPr id="5" name="Group 4"/>
          <p:cNvGrpSpPr/>
          <p:nvPr/>
        </p:nvGrpSpPr>
        <p:grpSpPr>
          <a:xfrm>
            <a:off x="611560" y="1844824"/>
            <a:ext cx="7571928" cy="2471738"/>
            <a:chOff x="1752600" y="2057400"/>
            <a:chExt cx="7571928" cy="2471738"/>
          </a:xfrm>
        </p:grpSpPr>
        <p:grpSp>
          <p:nvGrpSpPr>
            <p:cNvPr id="6" name="Group 4"/>
            <p:cNvGrpSpPr>
              <a:grpSpLocks/>
            </p:cNvGrpSpPr>
            <p:nvPr/>
          </p:nvGrpSpPr>
          <p:grpSpPr bwMode="auto">
            <a:xfrm>
              <a:off x="1752600" y="2057400"/>
              <a:ext cx="762000" cy="665163"/>
              <a:chOff x="1110" y="2656"/>
              <a:chExt cx="1549" cy="1351"/>
            </a:xfrm>
          </p:grpSpPr>
          <p:sp>
            <p:nvSpPr>
              <p:cNvPr id="24" name="AutoShape 5"/>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dirty="0"/>
              </a:p>
            </p:txBody>
          </p:sp>
          <p:sp>
            <p:nvSpPr>
              <p:cNvPr id="25" name="AutoShape 6"/>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dirty="0"/>
              </a:p>
            </p:txBody>
          </p:sp>
          <p:sp>
            <p:nvSpPr>
              <p:cNvPr id="26" name="AutoShape 7"/>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a:defRPr/>
                </a:pPr>
                <a:endParaRPr lang="en-AU" dirty="0"/>
              </a:p>
            </p:txBody>
          </p:sp>
        </p:grpSp>
        <p:sp>
          <p:nvSpPr>
            <p:cNvPr id="7" name="Line 8"/>
            <p:cNvSpPr>
              <a:spLocks noChangeShapeType="1"/>
            </p:cNvSpPr>
            <p:nvPr/>
          </p:nvSpPr>
          <p:spPr bwMode="auto">
            <a:xfrm>
              <a:off x="2362200" y="2667000"/>
              <a:ext cx="6732000" cy="0"/>
            </a:xfrm>
            <a:prstGeom prst="line">
              <a:avLst/>
            </a:prstGeom>
            <a:noFill/>
            <a:ln w="25400">
              <a:solidFill>
                <a:schemeClr val="bg2"/>
              </a:solidFill>
              <a:prstDash val="sysDot"/>
              <a:round/>
              <a:headEnd/>
              <a:tailEnd type="oval" w="med" len="med"/>
            </a:ln>
          </p:spPr>
          <p:txBody>
            <a:bodyPr wrap="none" anchor="ctr"/>
            <a:lstStyle/>
            <a:p>
              <a:endParaRPr lang="en-AU" dirty="0"/>
            </a:p>
          </p:txBody>
        </p:sp>
        <p:sp>
          <p:nvSpPr>
            <p:cNvPr id="8" name="Text Box 9"/>
            <p:cNvSpPr txBox="1">
              <a:spLocks noChangeArrowheads="1"/>
            </p:cNvSpPr>
            <p:nvPr/>
          </p:nvSpPr>
          <p:spPr bwMode="auto">
            <a:xfrm>
              <a:off x="2555777" y="2133600"/>
              <a:ext cx="6696743" cy="400110"/>
            </a:xfrm>
            <a:prstGeom prst="rect">
              <a:avLst/>
            </a:prstGeom>
            <a:noFill/>
            <a:ln w="9525" algn="ctr">
              <a:noFill/>
              <a:miter lim="800000"/>
              <a:headEnd/>
              <a:tailEnd/>
            </a:ln>
          </p:spPr>
          <p:txBody>
            <a:bodyPr wrap="square">
              <a:spAutoFit/>
            </a:bodyPr>
            <a:lstStyle/>
            <a:p>
              <a:pPr eaLnBrk="0" hangingPunct="0"/>
              <a:r>
                <a:rPr lang="en-AU" sz="2000" b="1" dirty="0" smtClean="0">
                  <a:latin typeface="Helvetica" pitchFamily="34" charset="0"/>
                </a:rPr>
                <a:t>Prepare, use and or cook a variety of egg menu items</a:t>
              </a:r>
              <a:endParaRPr lang="en-AU" sz="2000" b="1" dirty="0">
                <a:latin typeface="Helvetica" pitchFamily="34" charset="0"/>
              </a:endParaRPr>
            </a:p>
          </p:txBody>
        </p:sp>
        <p:sp>
          <p:nvSpPr>
            <p:cNvPr id="9" name="Text Box 10"/>
            <p:cNvSpPr txBox="1">
              <a:spLocks noChangeArrowheads="1"/>
            </p:cNvSpPr>
            <p:nvPr/>
          </p:nvSpPr>
          <p:spPr bwMode="gray">
            <a:xfrm>
              <a:off x="1949450" y="2155825"/>
              <a:ext cx="354013" cy="457200"/>
            </a:xfrm>
            <a:prstGeom prst="rect">
              <a:avLst/>
            </a:prstGeom>
            <a:noFill/>
            <a:ln w="9525" algn="ctr">
              <a:noFill/>
              <a:miter lim="800000"/>
              <a:headEnd/>
              <a:tailEnd/>
            </a:ln>
          </p:spPr>
          <p:txBody>
            <a:bodyPr wrap="none">
              <a:spAutoFit/>
            </a:bodyPr>
            <a:lstStyle/>
            <a:p>
              <a:pPr algn="ctr" eaLnBrk="0" hangingPunct="0"/>
              <a:r>
                <a:rPr lang="en-AU" sz="2400" b="1" dirty="0">
                  <a:solidFill>
                    <a:schemeClr val="bg1"/>
                  </a:solidFill>
                </a:rPr>
                <a:t>1</a:t>
              </a:r>
            </a:p>
          </p:txBody>
        </p:sp>
        <p:grpSp>
          <p:nvGrpSpPr>
            <p:cNvPr id="10" name="Group 12"/>
            <p:cNvGrpSpPr>
              <a:grpSpLocks/>
            </p:cNvGrpSpPr>
            <p:nvPr/>
          </p:nvGrpSpPr>
          <p:grpSpPr bwMode="auto">
            <a:xfrm>
              <a:off x="1752600" y="2971800"/>
              <a:ext cx="762000" cy="665163"/>
              <a:chOff x="3174" y="2656"/>
              <a:chExt cx="1549" cy="1351"/>
            </a:xfrm>
          </p:grpSpPr>
          <p:sp>
            <p:nvSpPr>
              <p:cNvPr id="21" name="AutoShape 13"/>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dirty="0"/>
              </a:p>
            </p:txBody>
          </p:sp>
          <p:sp>
            <p:nvSpPr>
              <p:cNvPr id="22" name="AutoShape 14"/>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dirty="0"/>
              </a:p>
            </p:txBody>
          </p:sp>
          <p:sp>
            <p:nvSpPr>
              <p:cNvPr id="23" name="AutoShape 15"/>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defRPr/>
                </a:pPr>
                <a:endParaRPr lang="en-AU" dirty="0"/>
              </a:p>
            </p:txBody>
          </p:sp>
        </p:grpSp>
        <p:sp>
          <p:nvSpPr>
            <p:cNvPr id="11" name="Line 16"/>
            <p:cNvSpPr>
              <a:spLocks noChangeShapeType="1"/>
            </p:cNvSpPr>
            <p:nvPr/>
          </p:nvSpPr>
          <p:spPr bwMode="auto">
            <a:xfrm>
              <a:off x="2362200" y="3581400"/>
              <a:ext cx="6300000" cy="0"/>
            </a:xfrm>
            <a:prstGeom prst="line">
              <a:avLst/>
            </a:prstGeom>
            <a:noFill/>
            <a:ln w="25400">
              <a:solidFill>
                <a:schemeClr val="bg2"/>
              </a:solidFill>
              <a:prstDash val="sysDot"/>
              <a:round/>
              <a:headEnd/>
              <a:tailEnd type="oval" w="med" len="med"/>
            </a:ln>
          </p:spPr>
          <p:txBody>
            <a:bodyPr wrap="none" anchor="ctr"/>
            <a:lstStyle/>
            <a:p>
              <a:endParaRPr lang="en-AU" dirty="0"/>
            </a:p>
          </p:txBody>
        </p:sp>
        <p:sp>
          <p:nvSpPr>
            <p:cNvPr id="12" name="Text Box 17"/>
            <p:cNvSpPr txBox="1">
              <a:spLocks noChangeArrowheads="1"/>
            </p:cNvSpPr>
            <p:nvPr/>
          </p:nvSpPr>
          <p:spPr bwMode="auto">
            <a:xfrm>
              <a:off x="2555776" y="2865130"/>
              <a:ext cx="6768752" cy="707886"/>
            </a:xfrm>
            <a:prstGeom prst="rect">
              <a:avLst/>
            </a:prstGeom>
            <a:noFill/>
            <a:ln w="9525" algn="ctr">
              <a:noFill/>
              <a:miter lim="800000"/>
              <a:headEnd/>
              <a:tailEnd/>
            </a:ln>
          </p:spPr>
          <p:txBody>
            <a:bodyPr wrap="square">
              <a:spAutoFit/>
            </a:bodyPr>
            <a:lstStyle/>
            <a:p>
              <a:pPr eaLnBrk="0" hangingPunct="0"/>
              <a:r>
                <a:rPr lang="en-AU" sz="2000" b="1" dirty="0" smtClean="0">
                  <a:latin typeface="Helvetica" pitchFamily="34" charset="0"/>
                </a:rPr>
                <a:t>Identify and prepare appropriate sauces, garnishes and accompaniments as per the menu item</a:t>
              </a:r>
              <a:endParaRPr lang="en-AU" sz="2000" b="1" dirty="0">
                <a:latin typeface="Helvetica" pitchFamily="34" charset="0"/>
              </a:endParaRPr>
            </a:p>
          </p:txBody>
        </p:sp>
        <p:sp>
          <p:nvSpPr>
            <p:cNvPr id="13" name="Text Box 18"/>
            <p:cNvSpPr txBox="1">
              <a:spLocks noChangeArrowheads="1"/>
            </p:cNvSpPr>
            <p:nvPr/>
          </p:nvSpPr>
          <p:spPr bwMode="gray">
            <a:xfrm>
              <a:off x="1949450" y="3070225"/>
              <a:ext cx="354013" cy="457200"/>
            </a:xfrm>
            <a:prstGeom prst="rect">
              <a:avLst/>
            </a:prstGeom>
            <a:noFill/>
            <a:ln w="9525" algn="ctr">
              <a:noFill/>
              <a:miter lim="800000"/>
              <a:headEnd/>
              <a:tailEnd/>
            </a:ln>
          </p:spPr>
          <p:txBody>
            <a:bodyPr wrap="none">
              <a:spAutoFit/>
            </a:bodyPr>
            <a:lstStyle/>
            <a:p>
              <a:pPr algn="ctr" eaLnBrk="0" hangingPunct="0"/>
              <a:r>
                <a:rPr lang="en-AU" sz="2400" b="1" dirty="0">
                  <a:solidFill>
                    <a:schemeClr val="bg1"/>
                  </a:solidFill>
                </a:rPr>
                <a:t>2</a:t>
              </a:r>
            </a:p>
          </p:txBody>
        </p:sp>
        <p:grpSp>
          <p:nvGrpSpPr>
            <p:cNvPr id="14" name="Group 20"/>
            <p:cNvGrpSpPr>
              <a:grpSpLocks/>
            </p:cNvGrpSpPr>
            <p:nvPr/>
          </p:nvGrpSpPr>
          <p:grpSpPr bwMode="auto">
            <a:xfrm>
              <a:off x="1752600" y="3863975"/>
              <a:ext cx="762000" cy="665163"/>
              <a:chOff x="1110" y="2656"/>
              <a:chExt cx="1549" cy="1351"/>
            </a:xfrm>
          </p:grpSpPr>
          <p:sp>
            <p:nvSpPr>
              <p:cNvPr id="18" name="AutoShape 21"/>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dirty="0"/>
              </a:p>
            </p:txBody>
          </p:sp>
          <p:sp>
            <p:nvSpPr>
              <p:cNvPr id="19" name="AutoShape 22"/>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dirty="0"/>
              </a:p>
            </p:txBody>
          </p:sp>
          <p:sp>
            <p:nvSpPr>
              <p:cNvPr id="20" name="AutoShape 23"/>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a:defRPr/>
                </a:pPr>
                <a:endParaRPr lang="en-AU" dirty="0"/>
              </a:p>
            </p:txBody>
          </p:sp>
        </p:grpSp>
        <p:sp>
          <p:nvSpPr>
            <p:cNvPr id="15" name="Line 24"/>
            <p:cNvSpPr>
              <a:spLocks noChangeShapeType="1"/>
            </p:cNvSpPr>
            <p:nvPr/>
          </p:nvSpPr>
          <p:spPr bwMode="auto">
            <a:xfrm>
              <a:off x="2362200" y="4473575"/>
              <a:ext cx="4800600" cy="0"/>
            </a:xfrm>
            <a:prstGeom prst="line">
              <a:avLst/>
            </a:prstGeom>
            <a:noFill/>
            <a:ln w="25400">
              <a:solidFill>
                <a:schemeClr val="bg2"/>
              </a:solidFill>
              <a:prstDash val="sysDot"/>
              <a:round/>
              <a:headEnd/>
              <a:tailEnd type="oval" w="med" len="med"/>
            </a:ln>
          </p:spPr>
          <p:txBody>
            <a:bodyPr wrap="none" anchor="ctr"/>
            <a:lstStyle/>
            <a:p>
              <a:endParaRPr lang="en-AU" dirty="0"/>
            </a:p>
          </p:txBody>
        </p:sp>
        <p:sp>
          <p:nvSpPr>
            <p:cNvPr id="16" name="Text Box 25"/>
            <p:cNvSpPr txBox="1">
              <a:spLocks noChangeArrowheads="1"/>
            </p:cNvSpPr>
            <p:nvPr/>
          </p:nvSpPr>
          <p:spPr bwMode="auto">
            <a:xfrm>
              <a:off x="2555776" y="3940175"/>
              <a:ext cx="3672408" cy="400110"/>
            </a:xfrm>
            <a:prstGeom prst="rect">
              <a:avLst/>
            </a:prstGeom>
            <a:noFill/>
            <a:ln w="9525" algn="ctr">
              <a:noFill/>
              <a:miter lim="800000"/>
              <a:headEnd/>
              <a:tailEnd/>
            </a:ln>
          </p:spPr>
          <p:txBody>
            <a:bodyPr wrap="square">
              <a:spAutoFit/>
            </a:bodyPr>
            <a:lstStyle/>
            <a:p>
              <a:pPr marL="4763" lvl="1"/>
              <a:r>
                <a:rPr lang="en-AU" sz="2000" b="1" dirty="0" smtClean="0">
                  <a:latin typeface="Helvetica" pitchFamily="34" charset="0"/>
                </a:rPr>
                <a:t>Present egg menu items</a:t>
              </a:r>
              <a:endParaRPr lang="en-AU" sz="2000" b="1" dirty="0">
                <a:latin typeface="Helvetica" pitchFamily="34" charset="0"/>
              </a:endParaRPr>
            </a:p>
          </p:txBody>
        </p:sp>
        <p:sp>
          <p:nvSpPr>
            <p:cNvPr id="17" name="Text Box 26"/>
            <p:cNvSpPr txBox="1">
              <a:spLocks noChangeArrowheads="1"/>
            </p:cNvSpPr>
            <p:nvPr/>
          </p:nvSpPr>
          <p:spPr bwMode="gray">
            <a:xfrm>
              <a:off x="1949450" y="3962400"/>
              <a:ext cx="354013" cy="457200"/>
            </a:xfrm>
            <a:prstGeom prst="rect">
              <a:avLst/>
            </a:prstGeom>
            <a:noFill/>
            <a:ln w="9525" algn="ctr">
              <a:noFill/>
              <a:miter lim="800000"/>
              <a:headEnd/>
              <a:tailEnd/>
            </a:ln>
          </p:spPr>
          <p:txBody>
            <a:bodyPr wrap="none">
              <a:spAutoFit/>
            </a:bodyPr>
            <a:lstStyle/>
            <a:p>
              <a:pPr algn="ctr" eaLnBrk="0" hangingPunct="0"/>
              <a:r>
                <a:rPr lang="en-AU" sz="2400" b="1" dirty="0">
                  <a:solidFill>
                    <a:schemeClr val="bg1"/>
                  </a:solidFill>
                </a:rPr>
                <a:t>3</a:t>
              </a:r>
            </a:p>
          </p:txBody>
        </p:sp>
      </p:grpSp>
    </p:spTree>
    <p:extLst>
      <p:ext uri="{BB962C8B-B14F-4D97-AF65-F5344CB8AC3E}">
        <p14:creationId xmlns:p14="http://schemas.microsoft.com/office/powerpoint/2010/main" val="260866117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8568952" cy="720080"/>
          </a:xfrm>
        </p:spPr>
        <p:txBody>
          <a:bodyPr>
            <a:normAutofit/>
          </a:bodyPr>
          <a:lstStyle/>
          <a:p>
            <a:r>
              <a:rPr lang="en-US" sz="3200" b="1" dirty="0" smtClean="0">
                <a:solidFill>
                  <a:srgbClr val="FF6600"/>
                </a:solidFill>
                <a:latin typeface="Helvetica" pitchFamily="34" charset="0"/>
              </a:rPr>
              <a:t>Prepare vegetables, eggs and farinaceous </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467544" y="1196752"/>
            <a:ext cx="7467600" cy="4886003"/>
          </a:xfrm>
        </p:spPr>
        <p:txBody>
          <a:bodyPr>
            <a:normAutofit/>
          </a:bodyPr>
          <a:lstStyle/>
          <a:p>
            <a:pPr marL="0" indent="0">
              <a:spcBef>
                <a:spcPts val="600"/>
              </a:spcBef>
              <a:spcAft>
                <a:spcPts val="1200"/>
              </a:spcAft>
              <a:buNone/>
            </a:pPr>
            <a:r>
              <a:rPr lang="en-US" sz="2200" b="1" dirty="0" smtClean="0">
                <a:latin typeface="Helvetica" pitchFamily="34" charset="0"/>
              </a:rPr>
              <a:t>Prepare, use and cook a variety of egg dishes</a:t>
            </a:r>
          </a:p>
          <a:p>
            <a:pPr marL="0" indent="0">
              <a:spcBef>
                <a:spcPts val="600"/>
              </a:spcBef>
              <a:spcAft>
                <a:spcPts val="1200"/>
              </a:spcAft>
              <a:buNone/>
            </a:pPr>
            <a:r>
              <a:rPr lang="en-US" sz="2200" b="1" dirty="0" smtClean="0">
                <a:latin typeface="Helvetica" pitchFamily="34" charset="0"/>
              </a:rPr>
              <a:t>Breakfast:</a:t>
            </a:r>
          </a:p>
          <a:p>
            <a:pPr marL="355600" indent="-355600">
              <a:spcBef>
                <a:spcPts val="600"/>
              </a:spcBef>
              <a:spcAft>
                <a:spcPts val="1200"/>
              </a:spcAft>
            </a:pPr>
            <a:r>
              <a:rPr lang="en-US" sz="2200" dirty="0" smtClean="0">
                <a:latin typeface="Helvetica" pitchFamily="34" charset="0"/>
              </a:rPr>
              <a:t>Boiled</a:t>
            </a:r>
          </a:p>
          <a:p>
            <a:pPr marL="355600" indent="-355600">
              <a:spcBef>
                <a:spcPts val="600"/>
              </a:spcBef>
              <a:spcAft>
                <a:spcPts val="1200"/>
              </a:spcAft>
            </a:pPr>
            <a:r>
              <a:rPr lang="en-US" sz="2200" dirty="0" smtClean="0">
                <a:latin typeface="Helvetica" pitchFamily="34" charset="0"/>
              </a:rPr>
              <a:t>Fried</a:t>
            </a:r>
          </a:p>
          <a:p>
            <a:pPr marL="355600" indent="-355600">
              <a:spcBef>
                <a:spcPts val="600"/>
              </a:spcBef>
              <a:spcAft>
                <a:spcPts val="1200"/>
              </a:spcAft>
            </a:pPr>
            <a:r>
              <a:rPr lang="en-US" sz="2200" dirty="0" smtClean="0">
                <a:latin typeface="Helvetica" pitchFamily="34" charset="0"/>
              </a:rPr>
              <a:t>Scrambled</a:t>
            </a:r>
          </a:p>
          <a:p>
            <a:pPr marL="355600" indent="-355600">
              <a:spcBef>
                <a:spcPts val="600"/>
              </a:spcBef>
              <a:spcAft>
                <a:spcPts val="1200"/>
              </a:spcAft>
            </a:pPr>
            <a:r>
              <a:rPr lang="en-US" sz="2200" dirty="0" smtClean="0">
                <a:latin typeface="Helvetica" pitchFamily="34" charset="0"/>
              </a:rPr>
              <a:t>Poached</a:t>
            </a:r>
          </a:p>
          <a:p>
            <a:pPr marL="355600" indent="-355600">
              <a:spcBef>
                <a:spcPts val="600"/>
              </a:spcBef>
              <a:spcAft>
                <a:spcPts val="1200"/>
              </a:spcAft>
            </a:pPr>
            <a:r>
              <a:rPr lang="en-US" sz="2200" dirty="0" smtClean="0">
                <a:latin typeface="Helvetica" pitchFamily="34" charset="0"/>
              </a:rPr>
              <a:t>Omelets</a:t>
            </a:r>
          </a:p>
          <a:p>
            <a:pPr marL="0" indent="0">
              <a:spcBef>
                <a:spcPts val="600"/>
              </a:spcBef>
              <a:spcAft>
                <a:spcPts val="1200"/>
              </a:spcAft>
              <a:buNone/>
            </a:pPr>
            <a:endParaRPr lang="en-US"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a:t>
            </a:fld>
            <a:endParaRPr lang="en-US" dirty="0"/>
          </a:p>
        </p:txBody>
      </p:sp>
      <p:pic>
        <p:nvPicPr>
          <p:cNvPr id="5" name="Picture 4" descr="boilded egg.jpeg"/>
          <p:cNvPicPr>
            <a:picLocks noChangeAspect="1"/>
          </p:cNvPicPr>
          <p:nvPr/>
        </p:nvPicPr>
        <p:blipFill>
          <a:blip r:embed="rId3" cstate="print"/>
          <a:srcRect l="23287" r="31300" b="7529"/>
          <a:stretch>
            <a:fillRect/>
          </a:stretch>
        </p:blipFill>
        <p:spPr>
          <a:xfrm>
            <a:off x="7236296" y="3789040"/>
            <a:ext cx="1055465" cy="1351781"/>
          </a:xfrm>
          <a:prstGeom prst="rect">
            <a:avLst/>
          </a:prstGeom>
        </p:spPr>
      </p:pic>
      <p:pic>
        <p:nvPicPr>
          <p:cNvPr id="6" name="Picture 5" descr="MP900430480.JPG"/>
          <p:cNvPicPr>
            <a:picLocks noChangeAspect="1"/>
          </p:cNvPicPr>
          <p:nvPr/>
        </p:nvPicPr>
        <p:blipFill>
          <a:blip r:embed="rId4" cstate="print"/>
          <a:stretch>
            <a:fillRect/>
          </a:stretch>
        </p:blipFill>
        <p:spPr>
          <a:xfrm>
            <a:off x="7020272" y="2276872"/>
            <a:ext cx="1268760" cy="1268760"/>
          </a:xfrm>
          <a:prstGeom prst="rect">
            <a:avLst/>
          </a:prstGeom>
        </p:spPr>
      </p:pic>
      <p:pic>
        <p:nvPicPr>
          <p:cNvPr id="7" name="Picture 6" descr="1394615_untitled.jpg"/>
          <p:cNvPicPr>
            <a:picLocks noChangeAspect="1"/>
          </p:cNvPicPr>
          <p:nvPr/>
        </p:nvPicPr>
        <p:blipFill>
          <a:blip r:embed="rId5" cstate="print"/>
          <a:stretch>
            <a:fillRect/>
          </a:stretch>
        </p:blipFill>
        <p:spPr>
          <a:xfrm>
            <a:off x="5148064" y="4221088"/>
            <a:ext cx="1831256" cy="1214733"/>
          </a:xfrm>
          <a:prstGeom prst="rect">
            <a:avLst/>
          </a:prstGeom>
        </p:spPr>
      </p:pic>
    </p:spTree>
    <p:extLst>
      <p:ext uri="{BB962C8B-B14F-4D97-AF65-F5344CB8AC3E}">
        <p14:creationId xmlns:p14="http://schemas.microsoft.com/office/powerpoint/2010/main" val="406186547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332656"/>
            <a:ext cx="8568952" cy="648072"/>
          </a:xfrm>
        </p:spPr>
        <p:txBody>
          <a:bodyPr>
            <a:normAutofit/>
          </a:bodyPr>
          <a:lstStyle/>
          <a:p>
            <a:r>
              <a:rPr lang="en-US" sz="3200" b="1" dirty="0" smtClean="0">
                <a:solidFill>
                  <a:srgbClr val="FF6600"/>
                </a:solidFill>
                <a:latin typeface="Helvetica" pitchFamily="34" charset="0"/>
              </a:rPr>
              <a:t>Prepare vegetables, eggs and farinaceous </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467544" y="1124744"/>
            <a:ext cx="7992888" cy="5256584"/>
          </a:xfrm>
        </p:spPr>
        <p:txBody>
          <a:bodyPr>
            <a:normAutofit/>
          </a:bodyPr>
          <a:lstStyle/>
          <a:p>
            <a:pPr marL="0" indent="0">
              <a:spcBef>
                <a:spcPts val="600"/>
              </a:spcBef>
              <a:spcAft>
                <a:spcPts val="1200"/>
              </a:spcAft>
              <a:buNone/>
            </a:pPr>
            <a:r>
              <a:rPr lang="en-US" sz="2200" b="1" dirty="0">
                <a:latin typeface="Helvetica" pitchFamily="34" charset="0"/>
              </a:rPr>
              <a:t>Identify and prepare appropriate sauces, </a:t>
            </a:r>
            <a:r>
              <a:rPr lang="en-US" sz="2200" b="1" dirty="0" smtClean="0">
                <a:latin typeface="Helvetica" pitchFamily="34" charset="0"/>
              </a:rPr>
              <a:t>garnishes </a:t>
            </a:r>
            <a:r>
              <a:rPr lang="en-US" sz="2200" b="1" dirty="0">
                <a:latin typeface="Helvetica" pitchFamily="34" charset="0"/>
              </a:rPr>
              <a:t>and accompaniments as per menu </a:t>
            </a:r>
            <a:r>
              <a:rPr lang="en-US" sz="2200" b="1" dirty="0" smtClean="0">
                <a:latin typeface="Helvetica" pitchFamily="34" charset="0"/>
              </a:rPr>
              <a:t>items</a:t>
            </a:r>
          </a:p>
          <a:p>
            <a:pPr marL="355600" indent="-355600">
              <a:spcBef>
                <a:spcPts val="600"/>
              </a:spcBef>
              <a:spcAft>
                <a:spcPts val="1200"/>
              </a:spcAft>
            </a:pPr>
            <a:r>
              <a:rPr lang="en-US" sz="2200" dirty="0" smtClean="0">
                <a:latin typeface="Helvetica" pitchFamily="34" charset="0"/>
              </a:rPr>
              <a:t>Classical sauces: </a:t>
            </a:r>
          </a:p>
          <a:p>
            <a:pPr marL="712788" indent="-357188">
              <a:spcBef>
                <a:spcPts val="600"/>
              </a:spcBef>
              <a:spcAft>
                <a:spcPts val="1200"/>
              </a:spcAft>
              <a:buSzPct val="120000"/>
              <a:buFont typeface="Arial" pitchFamily="34" charset="0"/>
              <a:buChar char="•"/>
            </a:pPr>
            <a:r>
              <a:rPr lang="en-US" sz="2200" dirty="0" smtClean="0">
                <a:latin typeface="Helvetica" pitchFamily="34" charset="0"/>
              </a:rPr>
              <a:t>Hollandaise over poached eggs</a:t>
            </a:r>
          </a:p>
          <a:p>
            <a:pPr marL="355600" indent="-355600">
              <a:spcBef>
                <a:spcPts val="600"/>
              </a:spcBef>
              <a:spcAft>
                <a:spcPts val="1200"/>
              </a:spcAft>
            </a:pPr>
            <a:r>
              <a:rPr lang="en-US" sz="2200" dirty="0" smtClean="0">
                <a:latin typeface="Helvetica" pitchFamily="34" charset="0"/>
              </a:rPr>
              <a:t>Basic: </a:t>
            </a:r>
          </a:p>
          <a:p>
            <a:pPr marL="712788" indent="-357188">
              <a:spcBef>
                <a:spcPts val="600"/>
              </a:spcBef>
              <a:spcAft>
                <a:spcPts val="1200"/>
              </a:spcAft>
              <a:buSzPct val="120000"/>
              <a:buFont typeface="Arial" pitchFamily="34" charset="0"/>
              <a:buChar char="•"/>
            </a:pPr>
            <a:r>
              <a:rPr lang="en-US" sz="2200" dirty="0" smtClean="0">
                <a:latin typeface="Helvetica" pitchFamily="34" charset="0"/>
              </a:rPr>
              <a:t>Melted butter over omelets </a:t>
            </a:r>
          </a:p>
          <a:p>
            <a:pPr marL="355600" indent="-355600">
              <a:spcBef>
                <a:spcPts val="600"/>
              </a:spcBef>
              <a:spcAft>
                <a:spcPts val="1200"/>
              </a:spcAft>
            </a:pPr>
            <a:r>
              <a:rPr lang="en-US" sz="2200" dirty="0" smtClean="0">
                <a:latin typeface="Helvetica" pitchFamily="34" charset="0"/>
              </a:rPr>
              <a:t>Adds moisture and richness to taste</a:t>
            </a:r>
          </a:p>
          <a:p>
            <a:pPr marL="355600" indent="-355600">
              <a:spcBef>
                <a:spcPts val="600"/>
              </a:spcBef>
              <a:spcAft>
                <a:spcPts val="1200"/>
              </a:spcAft>
            </a:pPr>
            <a:r>
              <a:rPr lang="en-US" sz="2200" dirty="0" smtClean="0">
                <a:latin typeface="Helvetica" pitchFamily="34" charset="0"/>
              </a:rPr>
              <a:t>Freshly chopped herbs</a:t>
            </a:r>
          </a:p>
          <a:p>
            <a:pPr marL="0" indent="0">
              <a:spcBef>
                <a:spcPts val="600"/>
              </a:spcBef>
              <a:spcAft>
                <a:spcPts val="1200"/>
              </a:spcAft>
              <a:buNone/>
            </a:pPr>
            <a:endParaRPr lang="en-US" sz="2200" dirty="0">
              <a:latin typeface="Helvetica" pitchFamily="34" charset="0"/>
            </a:endParaRPr>
          </a:p>
          <a:p>
            <a:pPr marL="0" indent="0">
              <a:spcBef>
                <a:spcPts val="600"/>
              </a:spcBef>
              <a:spcAft>
                <a:spcPts val="1200"/>
              </a:spcAft>
              <a:buNone/>
            </a:pPr>
            <a:endParaRPr lang="en-US"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a:t>
            </a:fld>
            <a:endParaRPr lang="en-US" dirty="0"/>
          </a:p>
        </p:txBody>
      </p:sp>
      <p:pic>
        <p:nvPicPr>
          <p:cNvPr id="5" name="Picture 4" descr="Present food2.jpg"/>
          <p:cNvPicPr>
            <a:picLocks noChangeAspect="1"/>
          </p:cNvPicPr>
          <p:nvPr/>
        </p:nvPicPr>
        <p:blipFill>
          <a:blip r:embed="rId3" cstate="print"/>
          <a:stretch>
            <a:fillRect/>
          </a:stretch>
        </p:blipFill>
        <p:spPr>
          <a:xfrm>
            <a:off x="7092280" y="3284984"/>
            <a:ext cx="1313839" cy="1895872"/>
          </a:xfrm>
          <a:prstGeom prst="rect">
            <a:avLst/>
          </a:prstGeom>
        </p:spPr>
      </p:pic>
    </p:spTree>
    <p:extLst>
      <p:ext uri="{BB962C8B-B14F-4D97-AF65-F5344CB8AC3E}">
        <p14:creationId xmlns:p14="http://schemas.microsoft.com/office/powerpoint/2010/main" val="43147864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8568952" cy="792088"/>
          </a:xfrm>
        </p:spPr>
        <p:txBody>
          <a:bodyPr>
            <a:normAutofit/>
          </a:bodyPr>
          <a:lstStyle/>
          <a:p>
            <a:r>
              <a:rPr lang="en-US" sz="3200" b="1" dirty="0" smtClean="0">
                <a:solidFill>
                  <a:srgbClr val="FF6600"/>
                </a:solidFill>
                <a:latin typeface="Helvetica" pitchFamily="34" charset="0"/>
              </a:rPr>
              <a:t>Prepare vegetables, eggs and farinaceous </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467544" y="1196752"/>
            <a:ext cx="7467600" cy="5328592"/>
          </a:xfrm>
        </p:spPr>
        <p:txBody>
          <a:bodyPr>
            <a:noAutofit/>
          </a:bodyPr>
          <a:lstStyle/>
          <a:p>
            <a:pPr marL="0" indent="0">
              <a:spcBef>
                <a:spcPts val="600"/>
              </a:spcBef>
              <a:spcAft>
                <a:spcPts val="600"/>
              </a:spcAft>
              <a:buNone/>
            </a:pPr>
            <a:r>
              <a:rPr lang="en-US" sz="2200" b="1" dirty="0" smtClean="0">
                <a:latin typeface="Helvetica" pitchFamily="34" charset="0"/>
              </a:rPr>
              <a:t>Present egg menu items</a:t>
            </a:r>
            <a:endParaRPr lang="en-US" sz="2200" b="1" dirty="0">
              <a:latin typeface="Helvetica" pitchFamily="34" charset="0"/>
            </a:endParaRPr>
          </a:p>
          <a:p>
            <a:pPr marL="0" indent="0">
              <a:spcBef>
                <a:spcPts val="600"/>
              </a:spcBef>
              <a:spcAft>
                <a:spcPts val="600"/>
              </a:spcAft>
              <a:buNone/>
            </a:pPr>
            <a:r>
              <a:rPr lang="en-US" sz="2200" b="1" i="1" dirty="0" smtClean="0">
                <a:latin typeface="Helvetica" pitchFamily="34" charset="0"/>
              </a:rPr>
              <a:t>Breakfast dishes:</a:t>
            </a:r>
          </a:p>
          <a:p>
            <a:pPr marL="342900" indent="-342900">
              <a:spcBef>
                <a:spcPts val="600"/>
              </a:spcBef>
              <a:spcAft>
                <a:spcPts val="600"/>
              </a:spcAft>
            </a:pPr>
            <a:r>
              <a:rPr lang="en-US" sz="2200" dirty="0" smtClean="0">
                <a:latin typeface="Helvetica" pitchFamily="34" charset="0"/>
              </a:rPr>
              <a:t>Poached</a:t>
            </a:r>
          </a:p>
          <a:p>
            <a:pPr marL="342900" indent="-342900">
              <a:spcBef>
                <a:spcPts val="600"/>
              </a:spcBef>
              <a:spcAft>
                <a:spcPts val="600"/>
              </a:spcAft>
            </a:pPr>
            <a:r>
              <a:rPr lang="en-US" sz="2200" dirty="0" smtClean="0">
                <a:latin typeface="Helvetica" pitchFamily="34" charset="0"/>
              </a:rPr>
              <a:t>Scrambled</a:t>
            </a:r>
          </a:p>
          <a:p>
            <a:pPr marL="342900" indent="-342900">
              <a:spcBef>
                <a:spcPts val="600"/>
              </a:spcBef>
              <a:spcAft>
                <a:spcPts val="600"/>
              </a:spcAft>
            </a:pPr>
            <a:r>
              <a:rPr lang="en-US" sz="2200" dirty="0" smtClean="0">
                <a:latin typeface="Helvetica" pitchFamily="34" charset="0"/>
              </a:rPr>
              <a:t>Omelets</a:t>
            </a:r>
            <a:endParaRPr lang="en-US" sz="2200" dirty="0">
              <a:latin typeface="Helvetica" pitchFamily="34" charset="0"/>
            </a:endParaRPr>
          </a:p>
          <a:p>
            <a:pPr marL="0" indent="0">
              <a:spcBef>
                <a:spcPts val="600"/>
              </a:spcBef>
              <a:spcAft>
                <a:spcPts val="600"/>
              </a:spcAft>
              <a:buNone/>
            </a:pPr>
            <a:r>
              <a:rPr lang="en-US" sz="2200" b="1" i="1" dirty="0" smtClean="0">
                <a:latin typeface="Helvetica" pitchFamily="34" charset="0"/>
              </a:rPr>
              <a:t>Lunch menu:</a:t>
            </a:r>
          </a:p>
          <a:p>
            <a:pPr marL="342900" indent="-342900">
              <a:spcBef>
                <a:spcPts val="600"/>
              </a:spcBef>
              <a:spcAft>
                <a:spcPts val="600"/>
              </a:spcAft>
            </a:pPr>
            <a:r>
              <a:rPr lang="en-US" sz="2200" dirty="0" smtClean="0">
                <a:latin typeface="Helvetica" pitchFamily="34" charset="0"/>
              </a:rPr>
              <a:t>Frittata</a:t>
            </a:r>
          </a:p>
          <a:p>
            <a:pPr marL="342900" indent="-342900">
              <a:spcBef>
                <a:spcPts val="600"/>
              </a:spcBef>
              <a:spcAft>
                <a:spcPts val="600"/>
              </a:spcAft>
            </a:pPr>
            <a:r>
              <a:rPr lang="en-US" sz="2200" dirty="0" smtClean="0">
                <a:latin typeface="Helvetica" pitchFamily="34" charset="0"/>
              </a:rPr>
              <a:t>Quiche</a:t>
            </a:r>
            <a:endParaRPr lang="en-US" sz="2200" dirty="0">
              <a:latin typeface="Helvetica" pitchFamily="34" charset="0"/>
            </a:endParaRPr>
          </a:p>
          <a:p>
            <a:pPr marL="0" indent="0">
              <a:spcBef>
                <a:spcPts val="600"/>
              </a:spcBef>
              <a:spcAft>
                <a:spcPts val="600"/>
              </a:spcAft>
              <a:buNone/>
            </a:pPr>
            <a:r>
              <a:rPr lang="en-US" sz="2200" b="1" i="1" dirty="0" smtClean="0">
                <a:latin typeface="Helvetica" pitchFamily="34" charset="0"/>
              </a:rPr>
              <a:t>Dinner menu:</a:t>
            </a:r>
          </a:p>
          <a:p>
            <a:pPr marL="342900" indent="-342900">
              <a:spcBef>
                <a:spcPts val="600"/>
              </a:spcBef>
              <a:spcAft>
                <a:spcPts val="600"/>
              </a:spcAft>
            </a:pPr>
            <a:r>
              <a:rPr lang="en-US" sz="2200" dirty="0" smtClean="0">
                <a:latin typeface="Helvetica" pitchFamily="34" charset="0"/>
              </a:rPr>
              <a:t>Soufflé</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a:t>
            </a:fld>
            <a:endParaRPr lang="en-US" dirty="0"/>
          </a:p>
        </p:txBody>
      </p:sp>
      <p:pic>
        <p:nvPicPr>
          <p:cNvPr id="5" name="Picture 4" descr="MP900448624.JPG"/>
          <p:cNvPicPr>
            <a:picLocks noChangeAspect="1"/>
          </p:cNvPicPr>
          <p:nvPr/>
        </p:nvPicPr>
        <p:blipFill>
          <a:blip r:embed="rId3" cstate="print"/>
          <a:stretch>
            <a:fillRect/>
          </a:stretch>
        </p:blipFill>
        <p:spPr>
          <a:xfrm>
            <a:off x="5940152" y="3573016"/>
            <a:ext cx="2411760" cy="1607840"/>
          </a:xfrm>
          <a:prstGeom prst="rect">
            <a:avLst/>
          </a:prstGeom>
        </p:spPr>
      </p:pic>
    </p:spTree>
    <p:extLst>
      <p:ext uri="{BB962C8B-B14F-4D97-AF65-F5344CB8AC3E}">
        <p14:creationId xmlns:p14="http://schemas.microsoft.com/office/powerpoint/2010/main" val="298164801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8568952" cy="720080"/>
          </a:xfrm>
        </p:spPr>
        <p:txBody>
          <a:bodyPr>
            <a:normAutofit/>
          </a:bodyPr>
          <a:lstStyle/>
          <a:p>
            <a:r>
              <a:rPr lang="en-US" sz="3200" b="1" dirty="0" smtClean="0">
                <a:solidFill>
                  <a:srgbClr val="FF6600"/>
                </a:solidFill>
                <a:latin typeface="Helvetica" pitchFamily="34" charset="0"/>
              </a:rPr>
              <a:t>Prepare vegetables, eggs and farinaceous </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467544" y="119675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Element 3: Prepare and cook farinaceous menu items</a:t>
            </a:r>
          </a:p>
          <a:p>
            <a:pPr marL="0" indent="0">
              <a:spcBef>
                <a:spcPts val="600"/>
              </a:spcBef>
              <a:spcAft>
                <a:spcPts val="1200"/>
              </a:spcAft>
              <a:buNone/>
            </a:pPr>
            <a:endParaRPr lang="en-US"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a:t>
            </a:fld>
            <a:endParaRPr lang="en-US" dirty="0"/>
          </a:p>
        </p:txBody>
      </p:sp>
      <p:grpSp>
        <p:nvGrpSpPr>
          <p:cNvPr id="5" name="Group 4"/>
          <p:cNvGrpSpPr/>
          <p:nvPr/>
        </p:nvGrpSpPr>
        <p:grpSpPr>
          <a:xfrm>
            <a:off x="528465" y="1844824"/>
            <a:ext cx="7859959" cy="3386138"/>
            <a:chOff x="1752600" y="2057400"/>
            <a:chExt cx="7859959" cy="3386138"/>
          </a:xfrm>
        </p:grpSpPr>
        <p:grpSp>
          <p:nvGrpSpPr>
            <p:cNvPr id="6" name="Group 4"/>
            <p:cNvGrpSpPr>
              <a:grpSpLocks/>
            </p:cNvGrpSpPr>
            <p:nvPr/>
          </p:nvGrpSpPr>
          <p:grpSpPr bwMode="auto">
            <a:xfrm>
              <a:off x="1752600" y="2057400"/>
              <a:ext cx="762000" cy="665163"/>
              <a:chOff x="1110" y="2656"/>
              <a:chExt cx="1549" cy="1351"/>
            </a:xfrm>
          </p:grpSpPr>
          <p:sp>
            <p:nvSpPr>
              <p:cNvPr id="31" name="AutoShape 5"/>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dirty="0"/>
              </a:p>
            </p:txBody>
          </p:sp>
          <p:sp>
            <p:nvSpPr>
              <p:cNvPr id="32" name="AutoShape 6"/>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dirty="0"/>
              </a:p>
            </p:txBody>
          </p:sp>
          <p:sp>
            <p:nvSpPr>
              <p:cNvPr id="33" name="AutoShape 7"/>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a:defRPr/>
                </a:pPr>
                <a:endParaRPr lang="en-AU" dirty="0"/>
              </a:p>
            </p:txBody>
          </p:sp>
        </p:grpSp>
        <p:sp>
          <p:nvSpPr>
            <p:cNvPr id="7" name="Line 8"/>
            <p:cNvSpPr>
              <a:spLocks noChangeShapeType="1"/>
            </p:cNvSpPr>
            <p:nvPr/>
          </p:nvSpPr>
          <p:spPr bwMode="auto">
            <a:xfrm>
              <a:off x="2362200" y="2667000"/>
              <a:ext cx="5724000" cy="0"/>
            </a:xfrm>
            <a:prstGeom prst="line">
              <a:avLst/>
            </a:prstGeom>
            <a:noFill/>
            <a:ln w="25400">
              <a:solidFill>
                <a:schemeClr val="bg2"/>
              </a:solidFill>
              <a:prstDash val="sysDot"/>
              <a:round/>
              <a:headEnd/>
              <a:tailEnd type="oval" w="med" len="med"/>
            </a:ln>
          </p:spPr>
          <p:txBody>
            <a:bodyPr wrap="none" anchor="ctr"/>
            <a:lstStyle/>
            <a:p>
              <a:endParaRPr lang="en-AU" dirty="0"/>
            </a:p>
          </p:txBody>
        </p:sp>
        <p:sp>
          <p:nvSpPr>
            <p:cNvPr id="8" name="Text Box 9"/>
            <p:cNvSpPr txBox="1">
              <a:spLocks noChangeArrowheads="1"/>
            </p:cNvSpPr>
            <p:nvPr/>
          </p:nvSpPr>
          <p:spPr bwMode="auto">
            <a:xfrm>
              <a:off x="2555776" y="2133600"/>
              <a:ext cx="6120680" cy="400110"/>
            </a:xfrm>
            <a:prstGeom prst="rect">
              <a:avLst/>
            </a:prstGeom>
            <a:noFill/>
            <a:ln w="9525" algn="ctr">
              <a:noFill/>
              <a:miter lim="800000"/>
              <a:headEnd/>
              <a:tailEnd/>
            </a:ln>
          </p:spPr>
          <p:txBody>
            <a:bodyPr wrap="square">
              <a:spAutoFit/>
            </a:bodyPr>
            <a:lstStyle/>
            <a:p>
              <a:pPr marL="4763" lvl="1"/>
              <a:r>
                <a:rPr lang="en-AU" sz="2000" b="1" dirty="0" smtClean="0">
                  <a:latin typeface="Helvetica" pitchFamily="34" charset="0"/>
                </a:rPr>
                <a:t>Select farinaceous items according to availability</a:t>
              </a:r>
              <a:endParaRPr lang="en-AU" sz="2000" b="1" dirty="0">
                <a:latin typeface="Helvetica" pitchFamily="34" charset="0"/>
              </a:endParaRPr>
            </a:p>
          </p:txBody>
        </p:sp>
        <p:sp>
          <p:nvSpPr>
            <p:cNvPr id="9" name="Text Box 10"/>
            <p:cNvSpPr txBox="1">
              <a:spLocks noChangeArrowheads="1"/>
            </p:cNvSpPr>
            <p:nvPr/>
          </p:nvSpPr>
          <p:spPr bwMode="gray">
            <a:xfrm>
              <a:off x="1949450" y="2155825"/>
              <a:ext cx="354013" cy="457200"/>
            </a:xfrm>
            <a:prstGeom prst="rect">
              <a:avLst/>
            </a:prstGeom>
            <a:noFill/>
            <a:ln w="9525" algn="ctr">
              <a:noFill/>
              <a:miter lim="800000"/>
              <a:headEnd/>
              <a:tailEnd/>
            </a:ln>
          </p:spPr>
          <p:txBody>
            <a:bodyPr wrap="none">
              <a:spAutoFit/>
            </a:bodyPr>
            <a:lstStyle/>
            <a:p>
              <a:pPr algn="ctr" eaLnBrk="0" hangingPunct="0"/>
              <a:r>
                <a:rPr lang="en-AU" sz="2400" b="1" dirty="0">
                  <a:solidFill>
                    <a:schemeClr val="bg1"/>
                  </a:solidFill>
                </a:rPr>
                <a:t>1</a:t>
              </a:r>
            </a:p>
          </p:txBody>
        </p:sp>
        <p:grpSp>
          <p:nvGrpSpPr>
            <p:cNvPr id="10" name="Group 12"/>
            <p:cNvGrpSpPr>
              <a:grpSpLocks/>
            </p:cNvGrpSpPr>
            <p:nvPr/>
          </p:nvGrpSpPr>
          <p:grpSpPr bwMode="auto">
            <a:xfrm>
              <a:off x="1752600" y="2971800"/>
              <a:ext cx="762000" cy="665163"/>
              <a:chOff x="3174" y="2656"/>
              <a:chExt cx="1549" cy="1351"/>
            </a:xfrm>
          </p:grpSpPr>
          <p:sp>
            <p:nvSpPr>
              <p:cNvPr id="28" name="AutoShape 13"/>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dirty="0"/>
              </a:p>
            </p:txBody>
          </p:sp>
          <p:sp>
            <p:nvSpPr>
              <p:cNvPr id="29" name="AutoShape 14"/>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dirty="0"/>
              </a:p>
            </p:txBody>
          </p:sp>
          <p:sp>
            <p:nvSpPr>
              <p:cNvPr id="30" name="AutoShape 15"/>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defRPr/>
                </a:pPr>
                <a:endParaRPr lang="en-AU" dirty="0"/>
              </a:p>
            </p:txBody>
          </p:sp>
        </p:grpSp>
        <p:sp>
          <p:nvSpPr>
            <p:cNvPr id="11" name="Line 16"/>
            <p:cNvSpPr>
              <a:spLocks noChangeShapeType="1"/>
            </p:cNvSpPr>
            <p:nvPr/>
          </p:nvSpPr>
          <p:spPr bwMode="auto">
            <a:xfrm>
              <a:off x="2362200" y="3581400"/>
              <a:ext cx="7056000" cy="0"/>
            </a:xfrm>
            <a:prstGeom prst="line">
              <a:avLst/>
            </a:prstGeom>
            <a:noFill/>
            <a:ln w="25400">
              <a:solidFill>
                <a:schemeClr val="bg2"/>
              </a:solidFill>
              <a:prstDash val="sysDot"/>
              <a:round/>
              <a:headEnd/>
              <a:tailEnd type="oval" w="med" len="med"/>
            </a:ln>
          </p:spPr>
          <p:txBody>
            <a:bodyPr wrap="none" anchor="ctr"/>
            <a:lstStyle/>
            <a:p>
              <a:endParaRPr lang="en-AU" dirty="0"/>
            </a:p>
          </p:txBody>
        </p:sp>
        <p:sp>
          <p:nvSpPr>
            <p:cNvPr id="12" name="Text Box 17"/>
            <p:cNvSpPr txBox="1">
              <a:spLocks noChangeArrowheads="1"/>
            </p:cNvSpPr>
            <p:nvPr/>
          </p:nvSpPr>
          <p:spPr bwMode="auto">
            <a:xfrm>
              <a:off x="2483768" y="3048000"/>
              <a:ext cx="7128791" cy="400110"/>
            </a:xfrm>
            <a:prstGeom prst="rect">
              <a:avLst/>
            </a:prstGeom>
            <a:noFill/>
            <a:ln w="9525" algn="ctr">
              <a:noFill/>
              <a:miter lim="800000"/>
              <a:headEnd/>
              <a:tailEnd/>
            </a:ln>
          </p:spPr>
          <p:txBody>
            <a:bodyPr wrap="square">
              <a:spAutoFit/>
            </a:bodyPr>
            <a:lstStyle/>
            <a:p>
              <a:pPr marL="4763" lvl="1"/>
              <a:r>
                <a:rPr lang="en-AU" sz="2000" b="1" dirty="0" smtClean="0">
                  <a:latin typeface="Helvetica" pitchFamily="34" charset="0"/>
                </a:rPr>
                <a:t>Prepare and cook a variety of farinaceous menu items</a:t>
              </a:r>
              <a:endParaRPr lang="en-AU" sz="2000" b="1" dirty="0">
                <a:latin typeface="Helvetica" pitchFamily="34" charset="0"/>
              </a:endParaRPr>
            </a:p>
          </p:txBody>
        </p:sp>
        <p:sp>
          <p:nvSpPr>
            <p:cNvPr id="13" name="Text Box 18"/>
            <p:cNvSpPr txBox="1">
              <a:spLocks noChangeArrowheads="1"/>
            </p:cNvSpPr>
            <p:nvPr/>
          </p:nvSpPr>
          <p:spPr bwMode="gray">
            <a:xfrm>
              <a:off x="1949450" y="3070225"/>
              <a:ext cx="354013" cy="457200"/>
            </a:xfrm>
            <a:prstGeom prst="rect">
              <a:avLst/>
            </a:prstGeom>
            <a:noFill/>
            <a:ln w="9525" algn="ctr">
              <a:noFill/>
              <a:miter lim="800000"/>
              <a:headEnd/>
              <a:tailEnd/>
            </a:ln>
          </p:spPr>
          <p:txBody>
            <a:bodyPr wrap="none">
              <a:spAutoFit/>
            </a:bodyPr>
            <a:lstStyle/>
            <a:p>
              <a:pPr algn="ctr" eaLnBrk="0" hangingPunct="0"/>
              <a:r>
                <a:rPr lang="en-AU" sz="2400" b="1" dirty="0">
                  <a:solidFill>
                    <a:schemeClr val="bg1"/>
                  </a:solidFill>
                </a:rPr>
                <a:t>2</a:t>
              </a:r>
            </a:p>
          </p:txBody>
        </p:sp>
        <p:grpSp>
          <p:nvGrpSpPr>
            <p:cNvPr id="14" name="Group 20"/>
            <p:cNvGrpSpPr>
              <a:grpSpLocks/>
            </p:cNvGrpSpPr>
            <p:nvPr/>
          </p:nvGrpSpPr>
          <p:grpSpPr bwMode="auto">
            <a:xfrm>
              <a:off x="1752600" y="3863975"/>
              <a:ext cx="762000" cy="665163"/>
              <a:chOff x="1110" y="2656"/>
              <a:chExt cx="1549" cy="1351"/>
            </a:xfrm>
          </p:grpSpPr>
          <p:sp>
            <p:nvSpPr>
              <p:cNvPr id="25" name="AutoShape 21"/>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dirty="0"/>
              </a:p>
            </p:txBody>
          </p:sp>
          <p:sp>
            <p:nvSpPr>
              <p:cNvPr id="26" name="AutoShape 22"/>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dirty="0"/>
              </a:p>
            </p:txBody>
          </p:sp>
          <p:sp>
            <p:nvSpPr>
              <p:cNvPr id="27" name="AutoShape 23"/>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a:defRPr/>
                </a:pPr>
                <a:endParaRPr lang="en-AU" dirty="0"/>
              </a:p>
            </p:txBody>
          </p:sp>
        </p:grpSp>
        <p:sp>
          <p:nvSpPr>
            <p:cNvPr id="15" name="Line 24"/>
            <p:cNvSpPr>
              <a:spLocks noChangeShapeType="1"/>
            </p:cNvSpPr>
            <p:nvPr/>
          </p:nvSpPr>
          <p:spPr bwMode="auto">
            <a:xfrm>
              <a:off x="2362200" y="4473575"/>
              <a:ext cx="6156000" cy="0"/>
            </a:xfrm>
            <a:prstGeom prst="line">
              <a:avLst/>
            </a:prstGeom>
            <a:noFill/>
            <a:ln w="25400">
              <a:solidFill>
                <a:schemeClr val="bg2"/>
              </a:solidFill>
              <a:prstDash val="sysDot"/>
              <a:round/>
              <a:headEnd/>
              <a:tailEnd type="oval" w="med" len="med"/>
            </a:ln>
          </p:spPr>
          <p:txBody>
            <a:bodyPr wrap="none" anchor="ctr"/>
            <a:lstStyle/>
            <a:p>
              <a:endParaRPr lang="en-AU" dirty="0"/>
            </a:p>
          </p:txBody>
        </p:sp>
        <p:sp>
          <p:nvSpPr>
            <p:cNvPr id="16" name="Text Box 25"/>
            <p:cNvSpPr txBox="1">
              <a:spLocks noChangeArrowheads="1"/>
            </p:cNvSpPr>
            <p:nvPr/>
          </p:nvSpPr>
          <p:spPr bwMode="auto">
            <a:xfrm>
              <a:off x="2555777" y="3789040"/>
              <a:ext cx="6480720" cy="707886"/>
            </a:xfrm>
            <a:prstGeom prst="rect">
              <a:avLst/>
            </a:prstGeom>
            <a:noFill/>
            <a:ln w="9525" algn="ctr">
              <a:noFill/>
              <a:miter lim="800000"/>
              <a:headEnd/>
              <a:tailEnd/>
            </a:ln>
          </p:spPr>
          <p:txBody>
            <a:bodyPr wrap="square">
              <a:spAutoFit/>
            </a:bodyPr>
            <a:lstStyle/>
            <a:p>
              <a:pPr marL="0" lvl="1" eaLnBrk="0" hangingPunct="0"/>
              <a:r>
                <a:rPr lang="en-AU" sz="2000" b="1" dirty="0" smtClean="0">
                  <a:latin typeface="Helvetica" pitchFamily="34" charset="0"/>
                </a:rPr>
                <a:t>Identify and prepare appropriate sauces, garnish </a:t>
              </a:r>
              <a:br>
                <a:rPr lang="en-AU" sz="2000" b="1" dirty="0" smtClean="0">
                  <a:latin typeface="Helvetica" pitchFamily="34" charset="0"/>
                </a:rPr>
              </a:br>
              <a:r>
                <a:rPr lang="en-AU" sz="2000" b="1" dirty="0" smtClean="0">
                  <a:latin typeface="Helvetica" pitchFamily="34" charset="0"/>
                </a:rPr>
                <a:t>and accompaniments as per the menu item</a:t>
              </a:r>
            </a:p>
          </p:txBody>
        </p:sp>
        <p:sp>
          <p:nvSpPr>
            <p:cNvPr id="17" name="Text Box 26"/>
            <p:cNvSpPr txBox="1">
              <a:spLocks noChangeArrowheads="1"/>
            </p:cNvSpPr>
            <p:nvPr/>
          </p:nvSpPr>
          <p:spPr bwMode="gray">
            <a:xfrm>
              <a:off x="1949450" y="3962400"/>
              <a:ext cx="354013" cy="457200"/>
            </a:xfrm>
            <a:prstGeom prst="rect">
              <a:avLst/>
            </a:prstGeom>
            <a:noFill/>
            <a:ln w="9525" algn="ctr">
              <a:noFill/>
              <a:miter lim="800000"/>
              <a:headEnd/>
              <a:tailEnd/>
            </a:ln>
          </p:spPr>
          <p:txBody>
            <a:bodyPr wrap="none">
              <a:spAutoFit/>
            </a:bodyPr>
            <a:lstStyle/>
            <a:p>
              <a:pPr algn="ctr" eaLnBrk="0" hangingPunct="0"/>
              <a:r>
                <a:rPr lang="en-AU" sz="2400" b="1" dirty="0">
                  <a:solidFill>
                    <a:schemeClr val="bg1"/>
                  </a:solidFill>
                </a:rPr>
                <a:t>3</a:t>
              </a:r>
            </a:p>
          </p:txBody>
        </p:sp>
        <p:grpSp>
          <p:nvGrpSpPr>
            <p:cNvPr id="18" name="Group 28"/>
            <p:cNvGrpSpPr>
              <a:grpSpLocks/>
            </p:cNvGrpSpPr>
            <p:nvPr/>
          </p:nvGrpSpPr>
          <p:grpSpPr bwMode="auto">
            <a:xfrm>
              <a:off x="1752600" y="4778375"/>
              <a:ext cx="762000" cy="665163"/>
              <a:chOff x="3174" y="2656"/>
              <a:chExt cx="1549" cy="1351"/>
            </a:xfrm>
          </p:grpSpPr>
          <p:sp>
            <p:nvSpPr>
              <p:cNvPr id="22" name="AutoShape 29"/>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dirty="0"/>
              </a:p>
            </p:txBody>
          </p:sp>
          <p:sp>
            <p:nvSpPr>
              <p:cNvPr id="23" name="AutoShape 30"/>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dirty="0"/>
              </a:p>
            </p:txBody>
          </p:sp>
          <p:sp>
            <p:nvSpPr>
              <p:cNvPr id="24" name="AutoShape 31"/>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defRPr/>
                </a:pPr>
                <a:endParaRPr lang="en-AU" dirty="0"/>
              </a:p>
            </p:txBody>
          </p:sp>
        </p:grpSp>
        <p:sp>
          <p:nvSpPr>
            <p:cNvPr id="19" name="Line 32"/>
            <p:cNvSpPr>
              <a:spLocks noChangeShapeType="1"/>
            </p:cNvSpPr>
            <p:nvPr/>
          </p:nvSpPr>
          <p:spPr bwMode="auto">
            <a:xfrm>
              <a:off x="2362200" y="5387975"/>
              <a:ext cx="4212000" cy="0"/>
            </a:xfrm>
            <a:prstGeom prst="line">
              <a:avLst/>
            </a:prstGeom>
            <a:noFill/>
            <a:ln w="25400">
              <a:solidFill>
                <a:schemeClr val="bg2"/>
              </a:solidFill>
              <a:prstDash val="sysDot"/>
              <a:round/>
              <a:headEnd/>
              <a:tailEnd type="oval" w="med" len="med"/>
            </a:ln>
          </p:spPr>
          <p:txBody>
            <a:bodyPr wrap="none" anchor="ctr"/>
            <a:lstStyle/>
            <a:p>
              <a:endParaRPr lang="en-AU" dirty="0"/>
            </a:p>
          </p:txBody>
        </p:sp>
        <p:sp>
          <p:nvSpPr>
            <p:cNvPr id="20" name="Text Box 33"/>
            <p:cNvSpPr txBox="1">
              <a:spLocks noChangeArrowheads="1"/>
            </p:cNvSpPr>
            <p:nvPr/>
          </p:nvSpPr>
          <p:spPr bwMode="auto">
            <a:xfrm>
              <a:off x="2555776" y="4854575"/>
              <a:ext cx="4104456" cy="400110"/>
            </a:xfrm>
            <a:prstGeom prst="rect">
              <a:avLst/>
            </a:prstGeom>
            <a:noFill/>
            <a:ln w="9525" algn="ctr">
              <a:noFill/>
              <a:miter lim="800000"/>
              <a:headEnd/>
              <a:tailEnd/>
            </a:ln>
          </p:spPr>
          <p:txBody>
            <a:bodyPr wrap="square">
              <a:spAutoFit/>
            </a:bodyPr>
            <a:lstStyle/>
            <a:p>
              <a:pPr marL="4763" lvl="1"/>
              <a:r>
                <a:rPr lang="en-AU" sz="2000" b="1" dirty="0" smtClean="0">
                  <a:latin typeface="Helvetica" pitchFamily="34" charset="0"/>
                </a:rPr>
                <a:t>Present farinaceous menu items</a:t>
              </a:r>
              <a:endParaRPr lang="en-AU" sz="2000" b="1" dirty="0">
                <a:latin typeface="Helvetica" pitchFamily="34" charset="0"/>
              </a:endParaRPr>
            </a:p>
          </p:txBody>
        </p:sp>
        <p:sp>
          <p:nvSpPr>
            <p:cNvPr id="21" name="Text Box 34"/>
            <p:cNvSpPr txBox="1">
              <a:spLocks noChangeArrowheads="1"/>
            </p:cNvSpPr>
            <p:nvPr/>
          </p:nvSpPr>
          <p:spPr bwMode="gray">
            <a:xfrm>
              <a:off x="1949450" y="4876800"/>
              <a:ext cx="354013" cy="457200"/>
            </a:xfrm>
            <a:prstGeom prst="rect">
              <a:avLst/>
            </a:prstGeom>
            <a:noFill/>
            <a:ln w="9525" algn="ctr">
              <a:noFill/>
              <a:miter lim="800000"/>
              <a:headEnd/>
              <a:tailEnd/>
            </a:ln>
          </p:spPr>
          <p:txBody>
            <a:bodyPr wrap="none">
              <a:spAutoFit/>
            </a:bodyPr>
            <a:lstStyle/>
            <a:p>
              <a:pPr algn="ctr" eaLnBrk="0" hangingPunct="0"/>
              <a:r>
                <a:rPr lang="en-AU" sz="2400" b="1" dirty="0">
                  <a:solidFill>
                    <a:schemeClr val="bg1"/>
                  </a:solidFill>
                </a:rPr>
                <a:t>4</a:t>
              </a:r>
            </a:p>
          </p:txBody>
        </p:sp>
      </p:grpSp>
    </p:spTree>
    <p:extLst>
      <p:ext uri="{BB962C8B-B14F-4D97-AF65-F5344CB8AC3E}">
        <p14:creationId xmlns:p14="http://schemas.microsoft.com/office/powerpoint/2010/main" val="26264536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8568952" cy="720080"/>
          </a:xfrm>
        </p:spPr>
        <p:txBody>
          <a:bodyPr>
            <a:normAutofit/>
          </a:bodyPr>
          <a:lstStyle/>
          <a:p>
            <a:r>
              <a:rPr lang="en-US" sz="3200" b="1" dirty="0" smtClean="0">
                <a:solidFill>
                  <a:srgbClr val="FF6600"/>
                </a:solidFill>
                <a:latin typeface="Helvetica" pitchFamily="34" charset="0"/>
              </a:rPr>
              <a:t>Prepare vegetables, eggs and farinaceous </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467544" y="1207293"/>
            <a:ext cx="7776864" cy="4958011"/>
          </a:xfrm>
        </p:spPr>
        <p:txBody>
          <a:bodyPr>
            <a:normAutofit/>
          </a:bodyPr>
          <a:lstStyle/>
          <a:p>
            <a:pPr marL="0" indent="0">
              <a:spcBef>
                <a:spcPts val="600"/>
              </a:spcBef>
              <a:spcAft>
                <a:spcPts val="1200"/>
              </a:spcAft>
              <a:buNone/>
            </a:pPr>
            <a:r>
              <a:rPr lang="en-US" sz="2200" b="1" dirty="0" smtClean="0">
                <a:latin typeface="Helvetica" pitchFamily="34" charset="0"/>
              </a:rPr>
              <a:t>Select farinaceous items according to menu items</a:t>
            </a:r>
          </a:p>
          <a:p>
            <a:pPr marL="0" indent="0">
              <a:spcBef>
                <a:spcPts val="600"/>
              </a:spcBef>
              <a:spcAft>
                <a:spcPts val="1200"/>
              </a:spcAft>
              <a:buNone/>
            </a:pPr>
            <a:r>
              <a:rPr lang="en-US" sz="2200" b="1" i="1" dirty="0" smtClean="0">
                <a:latin typeface="Helvetica" pitchFamily="34" charset="0"/>
              </a:rPr>
              <a:t>Every menu in every country contain farinaceous:</a:t>
            </a:r>
          </a:p>
          <a:p>
            <a:pPr marL="355600" indent="-355600">
              <a:spcBef>
                <a:spcPts val="600"/>
              </a:spcBef>
              <a:spcAft>
                <a:spcPts val="1200"/>
              </a:spcAft>
            </a:pPr>
            <a:r>
              <a:rPr lang="en-US" sz="2200" dirty="0" smtClean="0">
                <a:latin typeface="Helvetica" pitchFamily="34" charset="0"/>
              </a:rPr>
              <a:t>Rice</a:t>
            </a:r>
          </a:p>
          <a:p>
            <a:pPr marL="355600" indent="-355600">
              <a:spcBef>
                <a:spcPts val="600"/>
              </a:spcBef>
              <a:spcAft>
                <a:spcPts val="1200"/>
              </a:spcAft>
            </a:pPr>
            <a:r>
              <a:rPr lang="en-US" sz="2200" dirty="0" smtClean="0">
                <a:latin typeface="Helvetica" pitchFamily="34" charset="0"/>
              </a:rPr>
              <a:t>Pasta</a:t>
            </a:r>
          </a:p>
          <a:p>
            <a:pPr marL="355600" indent="-355600">
              <a:spcBef>
                <a:spcPts val="600"/>
              </a:spcBef>
              <a:spcAft>
                <a:spcPts val="1200"/>
              </a:spcAft>
            </a:pPr>
            <a:r>
              <a:rPr lang="en-US" sz="2200" dirty="0" smtClean="0">
                <a:latin typeface="Helvetica" pitchFamily="34" charset="0"/>
              </a:rPr>
              <a:t>Noodles</a:t>
            </a:r>
          </a:p>
          <a:p>
            <a:pPr marL="355600" indent="-355600">
              <a:spcBef>
                <a:spcPts val="600"/>
              </a:spcBef>
              <a:spcAft>
                <a:spcPts val="1200"/>
              </a:spcAft>
            </a:pPr>
            <a:r>
              <a:rPr lang="en-US" sz="2200" dirty="0" smtClean="0">
                <a:latin typeface="Helvetica" pitchFamily="34" charset="0"/>
              </a:rPr>
              <a:t>Lentils</a:t>
            </a:r>
          </a:p>
          <a:p>
            <a:pPr marL="355600" indent="-355600">
              <a:spcBef>
                <a:spcPts val="600"/>
              </a:spcBef>
              <a:spcAft>
                <a:spcPts val="1200"/>
              </a:spcAft>
            </a:pPr>
            <a:r>
              <a:rPr lang="en-US" sz="2200" dirty="0" smtClean="0">
                <a:latin typeface="Helvetica" pitchFamily="34" charset="0"/>
              </a:rPr>
              <a:t>Breads</a:t>
            </a:r>
          </a:p>
          <a:p>
            <a:pPr marL="355600" indent="-355600">
              <a:spcBef>
                <a:spcPts val="600"/>
              </a:spcBef>
              <a:spcAft>
                <a:spcPts val="1200"/>
              </a:spcAft>
            </a:pPr>
            <a:r>
              <a:rPr lang="en-US" sz="2200" dirty="0" smtClean="0">
                <a:latin typeface="Helvetica" pitchFamily="34" charset="0"/>
              </a:rPr>
              <a:t>Root vegetables</a:t>
            </a:r>
          </a:p>
          <a:p>
            <a:pPr marL="0" indent="0">
              <a:spcBef>
                <a:spcPts val="600"/>
              </a:spcBef>
              <a:spcAft>
                <a:spcPts val="1200"/>
              </a:spcAft>
              <a:buNone/>
            </a:pPr>
            <a:endParaRPr lang="en-US"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a:t>
            </a:fld>
            <a:endParaRPr lang="en-US" dirty="0"/>
          </a:p>
        </p:txBody>
      </p:sp>
      <p:pic>
        <p:nvPicPr>
          <p:cNvPr id="5" name="Picture 4" descr="shutterstock_96853837.jpg"/>
          <p:cNvPicPr>
            <a:picLocks noChangeAspect="1"/>
          </p:cNvPicPr>
          <p:nvPr/>
        </p:nvPicPr>
        <p:blipFill>
          <a:blip r:embed="rId3" cstate="print"/>
          <a:stretch>
            <a:fillRect/>
          </a:stretch>
        </p:blipFill>
        <p:spPr>
          <a:xfrm>
            <a:off x="6876256" y="4149080"/>
            <a:ext cx="1524000" cy="1021080"/>
          </a:xfrm>
          <a:prstGeom prst="rect">
            <a:avLst/>
          </a:prstGeom>
        </p:spPr>
      </p:pic>
    </p:spTree>
    <p:extLst>
      <p:ext uri="{BB962C8B-B14F-4D97-AF65-F5344CB8AC3E}">
        <p14:creationId xmlns:p14="http://schemas.microsoft.com/office/powerpoint/2010/main" val="366951114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8568952" cy="792088"/>
          </a:xfrm>
        </p:spPr>
        <p:txBody>
          <a:bodyPr>
            <a:normAutofit/>
          </a:bodyPr>
          <a:lstStyle/>
          <a:p>
            <a:r>
              <a:rPr lang="en-US" sz="3200" b="1" dirty="0" smtClean="0">
                <a:solidFill>
                  <a:srgbClr val="FF6600"/>
                </a:solidFill>
                <a:latin typeface="Helvetica" pitchFamily="34" charset="0"/>
              </a:rPr>
              <a:t>Prepare vegetables, eggs and farinaceous </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488776" y="1124744"/>
            <a:ext cx="8043664" cy="5184576"/>
          </a:xfrm>
        </p:spPr>
        <p:txBody>
          <a:bodyPr>
            <a:normAutofit/>
          </a:bodyPr>
          <a:lstStyle/>
          <a:p>
            <a:pPr marL="0" indent="0">
              <a:spcBef>
                <a:spcPts val="600"/>
              </a:spcBef>
              <a:spcAft>
                <a:spcPts val="1200"/>
              </a:spcAft>
              <a:buNone/>
            </a:pPr>
            <a:r>
              <a:rPr lang="en-AU" sz="2200" b="1" dirty="0" smtClean="0">
                <a:latin typeface="Helvetica" pitchFamily="34" charset="0"/>
              </a:rPr>
              <a:t>Identify and prepare appropriate sauces, garnishes and accompaniments as per menu items</a:t>
            </a:r>
          </a:p>
          <a:p>
            <a:pPr marL="0" indent="0">
              <a:spcBef>
                <a:spcPts val="600"/>
              </a:spcBef>
              <a:spcAft>
                <a:spcPts val="1200"/>
              </a:spcAft>
              <a:buNone/>
            </a:pPr>
            <a:r>
              <a:rPr lang="en-AU" sz="2200" b="1" i="1" dirty="0" smtClean="0">
                <a:latin typeface="Helvetica" pitchFamily="34" charset="0"/>
              </a:rPr>
              <a:t>Sauces:</a:t>
            </a:r>
          </a:p>
          <a:p>
            <a:pPr marL="355600" indent="-355600">
              <a:spcBef>
                <a:spcPts val="600"/>
              </a:spcBef>
              <a:spcAft>
                <a:spcPts val="1200"/>
              </a:spcAft>
            </a:pPr>
            <a:r>
              <a:rPr lang="en-AU" sz="2200" dirty="0" smtClean="0">
                <a:latin typeface="Helvetica" pitchFamily="34" charset="0"/>
              </a:rPr>
              <a:t>Highly flavoured spicy:</a:t>
            </a:r>
          </a:p>
          <a:p>
            <a:pPr marL="712788" indent="-355600">
              <a:spcBef>
                <a:spcPts val="600"/>
              </a:spcBef>
              <a:spcAft>
                <a:spcPts val="1200"/>
              </a:spcAft>
              <a:buSzPct val="120000"/>
              <a:buFont typeface="Arial" pitchFamily="34" charset="0"/>
              <a:buChar char="•"/>
            </a:pPr>
            <a:r>
              <a:rPr lang="en-AU" sz="2200" dirty="0" smtClean="0">
                <a:latin typeface="Helvetica" pitchFamily="34" charset="0"/>
              </a:rPr>
              <a:t>Curry base for lentils</a:t>
            </a:r>
          </a:p>
          <a:p>
            <a:pPr marL="355600" indent="-355600">
              <a:spcBef>
                <a:spcPts val="600"/>
              </a:spcBef>
              <a:spcAft>
                <a:spcPts val="1200"/>
              </a:spcAft>
            </a:pPr>
            <a:r>
              <a:rPr lang="en-AU" sz="2200" dirty="0" smtClean="0">
                <a:latin typeface="Helvetica" pitchFamily="34" charset="0"/>
              </a:rPr>
              <a:t>Simple single flavours:</a:t>
            </a:r>
          </a:p>
          <a:p>
            <a:pPr marL="712788" indent="-355600">
              <a:spcBef>
                <a:spcPts val="600"/>
              </a:spcBef>
              <a:spcAft>
                <a:spcPts val="1200"/>
              </a:spcAft>
              <a:buSzPct val="120000"/>
              <a:buFont typeface="Arial" pitchFamily="34" charset="0"/>
              <a:buChar char="•"/>
            </a:pPr>
            <a:r>
              <a:rPr lang="en-AU" sz="2200" dirty="0" smtClean="0">
                <a:latin typeface="Helvetica" pitchFamily="34" charset="0"/>
              </a:rPr>
              <a:t>Béchamel base with cheese for mornay</a:t>
            </a:r>
          </a:p>
          <a:p>
            <a:pPr marL="355600" indent="-355600">
              <a:spcBef>
                <a:spcPts val="600"/>
              </a:spcBef>
              <a:spcAft>
                <a:spcPts val="1200"/>
              </a:spcAft>
            </a:pPr>
            <a:r>
              <a:rPr lang="en-AU" sz="2200" dirty="0" smtClean="0">
                <a:latin typeface="Helvetica" pitchFamily="34" charset="0"/>
              </a:rPr>
              <a:t>Flavour</a:t>
            </a:r>
          </a:p>
          <a:p>
            <a:pPr marL="355600" indent="-355600">
              <a:spcBef>
                <a:spcPts val="600"/>
              </a:spcBef>
              <a:spcAft>
                <a:spcPts val="1200"/>
              </a:spcAft>
            </a:pPr>
            <a:r>
              <a:rPr lang="en-AU" sz="2200" dirty="0" smtClean="0">
                <a:latin typeface="Helvetica" pitchFamily="34" charset="0"/>
              </a:rPr>
              <a:t>Moisture adding</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a:t>
            </a:fld>
            <a:endParaRPr lang="en-US" dirty="0"/>
          </a:p>
        </p:txBody>
      </p:sp>
      <p:pic>
        <p:nvPicPr>
          <p:cNvPr id="6" name="Picture 5" descr="Lamb chop.jpg"/>
          <p:cNvPicPr>
            <a:picLocks noChangeAspect="1"/>
          </p:cNvPicPr>
          <p:nvPr/>
        </p:nvPicPr>
        <p:blipFill>
          <a:blip r:embed="rId3" cstate="print"/>
          <a:stretch>
            <a:fillRect/>
          </a:stretch>
        </p:blipFill>
        <p:spPr>
          <a:xfrm>
            <a:off x="7092280" y="3356992"/>
            <a:ext cx="1283503" cy="1965173"/>
          </a:xfrm>
          <a:prstGeom prst="rect">
            <a:avLst/>
          </a:prstGeom>
        </p:spPr>
      </p:pic>
    </p:spTree>
    <p:extLst>
      <p:ext uri="{BB962C8B-B14F-4D97-AF65-F5344CB8AC3E}">
        <p14:creationId xmlns:p14="http://schemas.microsoft.com/office/powerpoint/2010/main" val="19635254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8496944" cy="864096"/>
          </a:xfrm>
        </p:spPr>
        <p:txBody>
          <a:bodyPr>
            <a:normAutofit/>
          </a:bodyPr>
          <a:lstStyle/>
          <a:p>
            <a:r>
              <a:rPr lang="en-US" sz="3200" b="1" dirty="0" smtClean="0">
                <a:solidFill>
                  <a:srgbClr val="FF6600"/>
                </a:solidFill>
                <a:latin typeface="Helvetica" pitchFamily="34" charset="0"/>
              </a:rPr>
              <a:t>Prepare vegetables, eggs and farinaceous </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467544" y="1196752"/>
            <a:ext cx="7467600" cy="4886003"/>
          </a:xfrm>
        </p:spPr>
        <p:txBody>
          <a:bodyPr>
            <a:normAutofit/>
          </a:bodyPr>
          <a:lstStyle/>
          <a:p>
            <a:pPr marL="0" indent="0">
              <a:spcBef>
                <a:spcPts val="600"/>
              </a:spcBef>
              <a:spcAft>
                <a:spcPts val="1200"/>
              </a:spcAft>
              <a:buNone/>
            </a:pPr>
            <a:r>
              <a:rPr lang="en-US" sz="2200" b="1" dirty="0" smtClean="0">
                <a:latin typeface="Helvetica" pitchFamily="34" charset="0"/>
              </a:rPr>
              <a:t>Present farinaceous menu items</a:t>
            </a:r>
          </a:p>
          <a:p>
            <a:pPr marL="355600" indent="-355600">
              <a:spcBef>
                <a:spcPts val="600"/>
              </a:spcBef>
              <a:spcAft>
                <a:spcPts val="1200"/>
              </a:spcAft>
            </a:pPr>
            <a:r>
              <a:rPr lang="en-US" sz="2200" dirty="0" smtClean="0">
                <a:latin typeface="Helvetica" pitchFamily="34" charset="0"/>
              </a:rPr>
              <a:t>Potatoes:</a:t>
            </a:r>
          </a:p>
          <a:p>
            <a:pPr marL="712788" indent="-357188">
              <a:spcBef>
                <a:spcPts val="600"/>
              </a:spcBef>
              <a:spcAft>
                <a:spcPts val="1200"/>
              </a:spcAft>
              <a:buSzPct val="120000"/>
              <a:buFont typeface="Arial" pitchFamily="34" charset="0"/>
              <a:buChar char="•"/>
            </a:pPr>
            <a:r>
              <a:rPr lang="en-US" sz="2200" dirty="0" smtClean="0">
                <a:latin typeface="Helvetica" pitchFamily="34" charset="0"/>
              </a:rPr>
              <a:t>Roasted, mashed, deep fried</a:t>
            </a:r>
          </a:p>
          <a:p>
            <a:pPr marL="355600" indent="-355600">
              <a:spcBef>
                <a:spcPts val="600"/>
              </a:spcBef>
              <a:spcAft>
                <a:spcPts val="1200"/>
              </a:spcAft>
            </a:pPr>
            <a:r>
              <a:rPr lang="en-US" sz="2200" dirty="0" smtClean="0">
                <a:latin typeface="Helvetica" pitchFamily="34" charset="0"/>
              </a:rPr>
              <a:t>Pasta noodles</a:t>
            </a:r>
          </a:p>
          <a:p>
            <a:pPr marL="355600" indent="-355600">
              <a:spcBef>
                <a:spcPts val="600"/>
              </a:spcBef>
              <a:spcAft>
                <a:spcPts val="1200"/>
              </a:spcAft>
            </a:pPr>
            <a:r>
              <a:rPr lang="en-US" sz="2200" dirty="0" smtClean="0">
                <a:latin typeface="Helvetica" pitchFamily="34" charset="0"/>
              </a:rPr>
              <a:t>Lentils and legumes</a:t>
            </a:r>
          </a:p>
          <a:p>
            <a:pPr marL="0" indent="0">
              <a:spcBef>
                <a:spcPts val="600"/>
              </a:spcBef>
              <a:spcAft>
                <a:spcPts val="1200"/>
              </a:spcAft>
              <a:buNone/>
            </a:pPr>
            <a:endParaRPr lang="en-US" sz="2200" b="1" dirty="0">
              <a:latin typeface="Helvetica" pitchFamily="34" charset="0"/>
            </a:endParaRPr>
          </a:p>
          <a:p>
            <a:pPr marL="0" indent="0">
              <a:spcBef>
                <a:spcPts val="600"/>
              </a:spcBef>
              <a:spcAft>
                <a:spcPts val="1200"/>
              </a:spcAft>
              <a:buNone/>
            </a:pPr>
            <a:endParaRPr lang="en-US" sz="2200" b="1" dirty="0">
              <a:latin typeface="Helvetica" pitchFamily="34" charset="0"/>
            </a:endParaRPr>
          </a:p>
          <a:p>
            <a:pPr marL="0" indent="0">
              <a:spcBef>
                <a:spcPts val="600"/>
              </a:spcBef>
              <a:spcAft>
                <a:spcPts val="1200"/>
              </a:spcAft>
              <a:buNone/>
            </a:pPr>
            <a:endParaRPr lang="en-US" sz="2200" b="1" dirty="0">
              <a:latin typeface="Helvetica" pitchFamily="34" charset="0"/>
            </a:endParaRPr>
          </a:p>
          <a:p>
            <a:pPr marL="0" indent="0">
              <a:spcBef>
                <a:spcPts val="600"/>
              </a:spcBef>
              <a:spcAft>
                <a:spcPts val="1200"/>
              </a:spcAft>
              <a:buNone/>
            </a:pPr>
            <a:endParaRPr lang="en-US"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a:t>
            </a:fld>
            <a:endParaRPr lang="en-US" dirty="0"/>
          </a:p>
        </p:txBody>
      </p:sp>
      <p:pic>
        <p:nvPicPr>
          <p:cNvPr id="5" name="Picture 4" descr="1261446_93935398.jpg"/>
          <p:cNvPicPr>
            <a:picLocks noChangeAspect="1"/>
          </p:cNvPicPr>
          <p:nvPr/>
        </p:nvPicPr>
        <p:blipFill>
          <a:blip r:embed="rId3" cstate="print"/>
          <a:stretch>
            <a:fillRect/>
          </a:stretch>
        </p:blipFill>
        <p:spPr>
          <a:xfrm>
            <a:off x="6228184" y="3789040"/>
            <a:ext cx="2123728" cy="1415819"/>
          </a:xfrm>
          <a:prstGeom prst="rect">
            <a:avLst/>
          </a:prstGeom>
        </p:spPr>
      </p:pic>
    </p:spTree>
    <p:extLst>
      <p:ext uri="{BB962C8B-B14F-4D97-AF65-F5344CB8AC3E}">
        <p14:creationId xmlns:p14="http://schemas.microsoft.com/office/powerpoint/2010/main" val="1390381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332656"/>
            <a:ext cx="8568952" cy="936104"/>
          </a:xfrm>
        </p:spPr>
        <p:txBody>
          <a:bodyPr>
            <a:normAutofit/>
          </a:bodyPr>
          <a:lstStyle/>
          <a:p>
            <a:r>
              <a:rPr lang="en-US" sz="3200" b="1" dirty="0" smtClean="0">
                <a:solidFill>
                  <a:srgbClr val="FF6600"/>
                </a:solidFill>
                <a:latin typeface="Helvetica" pitchFamily="34" charset="0"/>
              </a:rPr>
              <a:t>Prepare vegetables, eggs and farinaceous </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539552" y="1196752"/>
            <a:ext cx="8064896" cy="4886003"/>
          </a:xfrm>
        </p:spPr>
        <p:txBody>
          <a:bodyPr>
            <a:normAutofit/>
          </a:bodyPr>
          <a:lstStyle/>
          <a:p>
            <a:pPr marL="0" indent="0">
              <a:spcBef>
                <a:spcPts val="600"/>
              </a:spcBef>
              <a:spcAft>
                <a:spcPts val="1200"/>
              </a:spcAft>
              <a:buNone/>
            </a:pPr>
            <a:r>
              <a:rPr lang="en-US" sz="2200" b="1" dirty="0" smtClean="0">
                <a:latin typeface="Helvetica" pitchFamily="34" charset="0"/>
              </a:rPr>
              <a:t>Element 4: Store vegetable, fruit, egg and farinaceous items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a:t>
            </a:fld>
            <a:endParaRPr lang="en-US" dirty="0"/>
          </a:p>
        </p:txBody>
      </p:sp>
      <p:grpSp>
        <p:nvGrpSpPr>
          <p:cNvPr id="5" name="Group 4"/>
          <p:cNvGrpSpPr/>
          <p:nvPr/>
        </p:nvGrpSpPr>
        <p:grpSpPr>
          <a:xfrm>
            <a:off x="539552" y="2124145"/>
            <a:ext cx="8136904" cy="3465095"/>
            <a:chOff x="1752600" y="1978443"/>
            <a:chExt cx="8136904" cy="3465095"/>
          </a:xfrm>
        </p:grpSpPr>
        <p:grpSp>
          <p:nvGrpSpPr>
            <p:cNvPr id="6" name="Group 4"/>
            <p:cNvGrpSpPr>
              <a:grpSpLocks/>
            </p:cNvGrpSpPr>
            <p:nvPr/>
          </p:nvGrpSpPr>
          <p:grpSpPr bwMode="auto">
            <a:xfrm>
              <a:off x="1752600" y="2057400"/>
              <a:ext cx="762000" cy="665163"/>
              <a:chOff x="1110" y="2656"/>
              <a:chExt cx="1549" cy="1351"/>
            </a:xfrm>
          </p:grpSpPr>
          <p:sp>
            <p:nvSpPr>
              <p:cNvPr id="31" name="AutoShape 5"/>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dirty="0"/>
              </a:p>
            </p:txBody>
          </p:sp>
          <p:sp>
            <p:nvSpPr>
              <p:cNvPr id="32" name="AutoShape 6"/>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dirty="0"/>
              </a:p>
            </p:txBody>
          </p:sp>
          <p:sp>
            <p:nvSpPr>
              <p:cNvPr id="33" name="AutoShape 7"/>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a:defRPr/>
                </a:pPr>
                <a:endParaRPr lang="en-AU" dirty="0"/>
              </a:p>
            </p:txBody>
          </p:sp>
        </p:grpSp>
        <p:sp>
          <p:nvSpPr>
            <p:cNvPr id="7" name="Line 8"/>
            <p:cNvSpPr>
              <a:spLocks noChangeShapeType="1"/>
            </p:cNvSpPr>
            <p:nvPr/>
          </p:nvSpPr>
          <p:spPr bwMode="auto">
            <a:xfrm>
              <a:off x="2362200" y="2667000"/>
              <a:ext cx="4824000" cy="0"/>
            </a:xfrm>
            <a:prstGeom prst="line">
              <a:avLst/>
            </a:prstGeom>
            <a:noFill/>
            <a:ln w="25400">
              <a:solidFill>
                <a:schemeClr val="bg2"/>
              </a:solidFill>
              <a:prstDash val="sysDot"/>
              <a:round/>
              <a:headEnd/>
              <a:tailEnd type="oval" w="med" len="med"/>
            </a:ln>
          </p:spPr>
          <p:txBody>
            <a:bodyPr wrap="none" anchor="ctr"/>
            <a:lstStyle/>
            <a:p>
              <a:endParaRPr lang="en-AU" dirty="0"/>
            </a:p>
          </p:txBody>
        </p:sp>
        <p:sp>
          <p:nvSpPr>
            <p:cNvPr id="8" name="Text Box 9"/>
            <p:cNvSpPr txBox="1">
              <a:spLocks noChangeArrowheads="1"/>
            </p:cNvSpPr>
            <p:nvPr/>
          </p:nvSpPr>
          <p:spPr bwMode="auto">
            <a:xfrm>
              <a:off x="2544688" y="1978443"/>
              <a:ext cx="5904656" cy="584775"/>
            </a:xfrm>
            <a:prstGeom prst="rect">
              <a:avLst/>
            </a:prstGeom>
            <a:noFill/>
            <a:ln w="9525" algn="ctr">
              <a:noFill/>
              <a:miter lim="800000"/>
              <a:headEnd/>
              <a:tailEnd/>
            </a:ln>
          </p:spPr>
          <p:txBody>
            <a:bodyPr wrap="square">
              <a:spAutoFit/>
            </a:bodyPr>
            <a:lstStyle/>
            <a:p>
              <a:pPr marL="4763" lvl="1"/>
              <a:r>
                <a:rPr lang="en-AU" sz="1600" b="1" dirty="0" smtClean="0">
                  <a:latin typeface="Helvetica" pitchFamily="34" charset="0"/>
                </a:rPr>
                <a:t>Store fresh prepared and or cooked vegetable, </a:t>
              </a:r>
              <a:br>
                <a:rPr lang="en-AU" sz="1600" b="1" dirty="0" smtClean="0">
                  <a:latin typeface="Helvetica" pitchFamily="34" charset="0"/>
                </a:rPr>
              </a:br>
              <a:r>
                <a:rPr lang="en-AU" sz="1600" b="1" dirty="0" smtClean="0">
                  <a:latin typeface="Helvetica" pitchFamily="34" charset="0"/>
                </a:rPr>
                <a:t>fruit, egg and farinaceous menu items correctly</a:t>
              </a:r>
              <a:endParaRPr lang="en-AU" sz="1600" b="1" dirty="0">
                <a:latin typeface="Helvetica" pitchFamily="34" charset="0"/>
              </a:endParaRPr>
            </a:p>
          </p:txBody>
        </p:sp>
        <p:sp>
          <p:nvSpPr>
            <p:cNvPr id="9" name="Text Box 10"/>
            <p:cNvSpPr txBox="1">
              <a:spLocks noChangeArrowheads="1"/>
            </p:cNvSpPr>
            <p:nvPr/>
          </p:nvSpPr>
          <p:spPr bwMode="gray">
            <a:xfrm>
              <a:off x="1949450" y="2155825"/>
              <a:ext cx="354013" cy="457200"/>
            </a:xfrm>
            <a:prstGeom prst="rect">
              <a:avLst/>
            </a:prstGeom>
            <a:noFill/>
            <a:ln w="9525" algn="ctr">
              <a:noFill/>
              <a:miter lim="800000"/>
              <a:headEnd/>
              <a:tailEnd/>
            </a:ln>
          </p:spPr>
          <p:txBody>
            <a:bodyPr wrap="none">
              <a:spAutoFit/>
            </a:bodyPr>
            <a:lstStyle/>
            <a:p>
              <a:pPr algn="ctr" eaLnBrk="0" hangingPunct="0"/>
              <a:r>
                <a:rPr lang="en-AU" sz="2400" b="1" dirty="0">
                  <a:solidFill>
                    <a:schemeClr val="bg1"/>
                  </a:solidFill>
                </a:rPr>
                <a:t>1</a:t>
              </a:r>
            </a:p>
          </p:txBody>
        </p:sp>
        <p:grpSp>
          <p:nvGrpSpPr>
            <p:cNvPr id="10" name="Group 12"/>
            <p:cNvGrpSpPr>
              <a:grpSpLocks/>
            </p:cNvGrpSpPr>
            <p:nvPr/>
          </p:nvGrpSpPr>
          <p:grpSpPr bwMode="auto">
            <a:xfrm>
              <a:off x="1752600" y="2971800"/>
              <a:ext cx="762000" cy="665163"/>
              <a:chOff x="3174" y="2656"/>
              <a:chExt cx="1549" cy="1351"/>
            </a:xfrm>
          </p:grpSpPr>
          <p:sp>
            <p:nvSpPr>
              <p:cNvPr id="28" name="AutoShape 13"/>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dirty="0"/>
              </a:p>
            </p:txBody>
          </p:sp>
          <p:sp>
            <p:nvSpPr>
              <p:cNvPr id="29" name="AutoShape 14"/>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dirty="0"/>
              </a:p>
            </p:txBody>
          </p:sp>
          <p:sp>
            <p:nvSpPr>
              <p:cNvPr id="30" name="AutoShape 15"/>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defRPr/>
                </a:pPr>
                <a:endParaRPr lang="en-AU" dirty="0"/>
              </a:p>
            </p:txBody>
          </p:sp>
        </p:grpSp>
        <p:sp>
          <p:nvSpPr>
            <p:cNvPr id="11" name="Line 16"/>
            <p:cNvSpPr>
              <a:spLocks noChangeShapeType="1"/>
            </p:cNvSpPr>
            <p:nvPr/>
          </p:nvSpPr>
          <p:spPr bwMode="auto">
            <a:xfrm>
              <a:off x="2362200" y="3581400"/>
              <a:ext cx="6012000" cy="0"/>
            </a:xfrm>
            <a:prstGeom prst="line">
              <a:avLst/>
            </a:prstGeom>
            <a:noFill/>
            <a:ln w="25400">
              <a:solidFill>
                <a:schemeClr val="bg2"/>
              </a:solidFill>
              <a:prstDash val="sysDot"/>
              <a:round/>
              <a:headEnd/>
              <a:tailEnd type="oval" w="med" len="med"/>
            </a:ln>
          </p:spPr>
          <p:txBody>
            <a:bodyPr wrap="none" anchor="ctr"/>
            <a:lstStyle/>
            <a:p>
              <a:endParaRPr lang="en-AU" dirty="0"/>
            </a:p>
          </p:txBody>
        </p:sp>
        <p:sp>
          <p:nvSpPr>
            <p:cNvPr id="12" name="Text Box 17"/>
            <p:cNvSpPr txBox="1">
              <a:spLocks noChangeArrowheads="1"/>
            </p:cNvSpPr>
            <p:nvPr/>
          </p:nvSpPr>
          <p:spPr bwMode="auto">
            <a:xfrm>
              <a:off x="2472680" y="2921496"/>
              <a:ext cx="6840760" cy="584775"/>
            </a:xfrm>
            <a:prstGeom prst="rect">
              <a:avLst/>
            </a:prstGeom>
            <a:noFill/>
            <a:ln w="9525" algn="ctr">
              <a:noFill/>
              <a:miter lim="800000"/>
              <a:headEnd/>
              <a:tailEnd/>
            </a:ln>
          </p:spPr>
          <p:txBody>
            <a:bodyPr wrap="square">
              <a:spAutoFit/>
            </a:bodyPr>
            <a:lstStyle/>
            <a:p>
              <a:pPr marL="4763" lvl="1"/>
              <a:r>
                <a:rPr lang="en-AU" sz="1600" b="1" dirty="0" smtClean="0">
                  <a:latin typeface="Helvetica" pitchFamily="34" charset="0"/>
                </a:rPr>
                <a:t>Store fresh prepared and or cooked vegetable, fruit, egg </a:t>
              </a:r>
              <a:br>
                <a:rPr lang="en-AU" sz="1600" b="1" dirty="0" smtClean="0">
                  <a:latin typeface="Helvetica" pitchFamily="34" charset="0"/>
                </a:rPr>
              </a:br>
              <a:r>
                <a:rPr lang="en-AU" sz="1600" b="1" dirty="0" smtClean="0">
                  <a:latin typeface="Helvetica" pitchFamily="34" charset="0"/>
                </a:rPr>
                <a:t>and farinaceous products appropriately in correct containers </a:t>
              </a:r>
              <a:endParaRPr lang="en-AU" sz="1600" b="1" dirty="0">
                <a:latin typeface="Helvetica" pitchFamily="34" charset="0"/>
              </a:endParaRPr>
            </a:p>
          </p:txBody>
        </p:sp>
        <p:sp>
          <p:nvSpPr>
            <p:cNvPr id="13" name="Text Box 18"/>
            <p:cNvSpPr txBox="1">
              <a:spLocks noChangeArrowheads="1"/>
            </p:cNvSpPr>
            <p:nvPr/>
          </p:nvSpPr>
          <p:spPr bwMode="gray">
            <a:xfrm>
              <a:off x="1949450" y="3070225"/>
              <a:ext cx="354013" cy="457200"/>
            </a:xfrm>
            <a:prstGeom prst="rect">
              <a:avLst/>
            </a:prstGeom>
            <a:noFill/>
            <a:ln w="9525" algn="ctr">
              <a:noFill/>
              <a:miter lim="800000"/>
              <a:headEnd/>
              <a:tailEnd/>
            </a:ln>
          </p:spPr>
          <p:txBody>
            <a:bodyPr wrap="none">
              <a:spAutoFit/>
            </a:bodyPr>
            <a:lstStyle/>
            <a:p>
              <a:pPr algn="ctr" eaLnBrk="0" hangingPunct="0"/>
              <a:r>
                <a:rPr lang="en-AU" sz="2400" b="1" dirty="0">
                  <a:solidFill>
                    <a:schemeClr val="bg1"/>
                  </a:solidFill>
                </a:rPr>
                <a:t>2</a:t>
              </a:r>
            </a:p>
          </p:txBody>
        </p:sp>
        <p:grpSp>
          <p:nvGrpSpPr>
            <p:cNvPr id="14" name="Group 20"/>
            <p:cNvGrpSpPr>
              <a:grpSpLocks/>
            </p:cNvGrpSpPr>
            <p:nvPr/>
          </p:nvGrpSpPr>
          <p:grpSpPr bwMode="auto">
            <a:xfrm>
              <a:off x="1752600" y="3863975"/>
              <a:ext cx="762000" cy="665163"/>
              <a:chOff x="1110" y="2656"/>
              <a:chExt cx="1549" cy="1351"/>
            </a:xfrm>
          </p:grpSpPr>
          <p:sp>
            <p:nvSpPr>
              <p:cNvPr id="25" name="AutoShape 21"/>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dirty="0"/>
              </a:p>
            </p:txBody>
          </p:sp>
          <p:sp>
            <p:nvSpPr>
              <p:cNvPr id="26" name="AutoShape 22"/>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dirty="0"/>
              </a:p>
            </p:txBody>
          </p:sp>
          <p:sp>
            <p:nvSpPr>
              <p:cNvPr id="27" name="AutoShape 23"/>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a:defRPr/>
                </a:pPr>
                <a:endParaRPr lang="en-AU" dirty="0"/>
              </a:p>
            </p:txBody>
          </p:sp>
        </p:grpSp>
        <p:sp>
          <p:nvSpPr>
            <p:cNvPr id="15" name="Line 24"/>
            <p:cNvSpPr>
              <a:spLocks noChangeShapeType="1"/>
            </p:cNvSpPr>
            <p:nvPr/>
          </p:nvSpPr>
          <p:spPr bwMode="auto">
            <a:xfrm>
              <a:off x="2362200" y="4473575"/>
              <a:ext cx="5292000" cy="0"/>
            </a:xfrm>
            <a:prstGeom prst="line">
              <a:avLst/>
            </a:prstGeom>
            <a:noFill/>
            <a:ln w="25400">
              <a:solidFill>
                <a:schemeClr val="bg2"/>
              </a:solidFill>
              <a:prstDash val="sysDot"/>
              <a:round/>
              <a:headEnd/>
              <a:tailEnd type="oval" w="med" len="med"/>
            </a:ln>
          </p:spPr>
          <p:txBody>
            <a:bodyPr wrap="none" anchor="ctr"/>
            <a:lstStyle/>
            <a:p>
              <a:endParaRPr lang="en-AU" dirty="0"/>
            </a:p>
          </p:txBody>
        </p:sp>
        <p:sp>
          <p:nvSpPr>
            <p:cNvPr id="16" name="Text Box 25"/>
            <p:cNvSpPr txBox="1">
              <a:spLocks noChangeArrowheads="1"/>
            </p:cNvSpPr>
            <p:nvPr/>
          </p:nvSpPr>
          <p:spPr bwMode="auto">
            <a:xfrm>
              <a:off x="2544689" y="3785592"/>
              <a:ext cx="5976664" cy="584775"/>
            </a:xfrm>
            <a:prstGeom prst="rect">
              <a:avLst/>
            </a:prstGeom>
            <a:noFill/>
            <a:ln w="9525" algn="ctr">
              <a:noFill/>
              <a:miter lim="800000"/>
              <a:headEnd/>
              <a:tailEnd/>
            </a:ln>
          </p:spPr>
          <p:txBody>
            <a:bodyPr wrap="square">
              <a:spAutoFit/>
            </a:bodyPr>
            <a:lstStyle/>
            <a:p>
              <a:pPr eaLnBrk="0" hangingPunct="0"/>
              <a:r>
                <a:rPr lang="en-AU" sz="1600" b="1" dirty="0" smtClean="0">
                  <a:latin typeface="Helvetica" pitchFamily="34" charset="0"/>
                </a:rPr>
                <a:t>Label fresh prepared and or cooked vegetable, fruit, </a:t>
              </a:r>
              <a:br>
                <a:rPr lang="en-AU" sz="1600" b="1" dirty="0" smtClean="0">
                  <a:latin typeface="Helvetica" pitchFamily="34" charset="0"/>
                </a:rPr>
              </a:br>
              <a:r>
                <a:rPr lang="en-AU" sz="1600" b="1" dirty="0" smtClean="0">
                  <a:latin typeface="Helvetica" pitchFamily="34" charset="0"/>
                </a:rPr>
                <a:t>egg and farinaceous products correctly</a:t>
              </a:r>
              <a:endParaRPr lang="en-AU" sz="1600" b="1" dirty="0">
                <a:latin typeface="Helvetica" pitchFamily="34" charset="0"/>
              </a:endParaRPr>
            </a:p>
          </p:txBody>
        </p:sp>
        <p:sp>
          <p:nvSpPr>
            <p:cNvPr id="17" name="Text Box 26"/>
            <p:cNvSpPr txBox="1">
              <a:spLocks noChangeArrowheads="1"/>
            </p:cNvSpPr>
            <p:nvPr/>
          </p:nvSpPr>
          <p:spPr bwMode="gray">
            <a:xfrm>
              <a:off x="1949450" y="3962400"/>
              <a:ext cx="354013" cy="457200"/>
            </a:xfrm>
            <a:prstGeom prst="rect">
              <a:avLst/>
            </a:prstGeom>
            <a:noFill/>
            <a:ln w="9525" algn="ctr">
              <a:noFill/>
              <a:miter lim="800000"/>
              <a:headEnd/>
              <a:tailEnd/>
            </a:ln>
          </p:spPr>
          <p:txBody>
            <a:bodyPr wrap="none">
              <a:spAutoFit/>
            </a:bodyPr>
            <a:lstStyle/>
            <a:p>
              <a:pPr algn="ctr" eaLnBrk="0" hangingPunct="0"/>
              <a:r>
                <a:rPr lang="en-AU" sz="2400" b="1" dirty="0">
                  <a:solidFill>
                    <a:schemeClr val="bg1"/>
                  </a:solidFill>
                </a:rPr>
                <a:t>3</a:t>
              </a:r>
            </a:p>
          </p:txBody>
        </p:sp>
        <p:grpSp>
          <p:nvGrpSpPr>
            <p:cNvPr id="18" name="Group 28"/>
            <p:cNvGrpSpPr>
              <a:grpSpLocks/>
            </p:cNvGrpSpPr>
            <p:nvPr/>
          </p:nvGrpSpPr>
          <p:grpSpPr bwMode="auto">
            <a:xfrm>
              <a:off x="1752600" y="4778375"/>
              <a:ext cx="762000" cy="665163"/>
              <a:chOff x="3174" y="2656"/>
              <a:chExt cx="1549" cy="1351"/>
            </a:xfrm>
          </p:grpSpPr>
          <p:sp>
            <p:nvSpPr>
              <p:cNvPr id="22" name="AutoShape 29"/>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dirty="0"/>
              </a:p>
            </p:txBody>
          </p:sp>
          <p:sp>
            <p:nvSpPr>
              <p:cNvPr id="23" name="AutoShape 30"/>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dirty="0"/>
              </a:p>
            </p:txBody>
          </p:sp>
          <p:sp>
            <p:nvSpPr>
              <p:cNvPr id="24" name="AutoShape 31"/>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defRPr/>
                </a:pPr>
                <a:endParaRPr lang="en-AU" dirty="0"/>
              </a:p>
            </p:txBody>
          </p:sp>
        </p:grpSp>
        <p:sp>
          <p:nvSpPr>
            <p:cNvPr id="19" name="Line 32"/>
            <p:cNvSpPr>
              <a:spLocks noChangeShapeType="1"/>
            </p:cNvSpPr>
            <p:nvPr/>
          </p:nvSpPr>
          <p:spPr bwMode="auto">
            <a:xfrm>
              <a:off x="2362200" y="5387975"/>
              <a:ext cx="7272000" cy="0"/>
            </a:xfrm>
            <a:prstGeom prst="line">
              <a:avLst/>
            </a:prstGeom>
            <a:noFill/>
            <a:ln w="25400">
              <a:solidFill>
                <a:schemeClr val="bg2"/>
              </a:solidFill>
              <a:prstDash val="sysDot"/>
              <a:round/>
              <a:headEnd/>
              <a:tailEnd type="oval" w="med" len="med"/>
            </a:ln>
          </p:spPr>
          <p:txBody>
            <a:bodyPr wrap="none" anchor="ctr"/>
            <a:lstStyle/>
            <a:p>
              <a:endParaRPr lang="en-AU" dirty="0"/>
            </a:p>
          </p:txBody>
        </p:sp>
        <p:sp>
          <p:nvSpPr>
            <p:cNvPr id="20" name="Text Box 33"/>
            <p:cNvSpPr txBox="1">
              <a:spLocks noChangeArrowheads="1"/>
            </p:cNvSpPr>
            <p:nvPr/>
          </p:nvSpPr>
          <p:spPr bwMode="auto">
            <a:xfrm>
              <a:off x="2544688" y="4721696"/>
              <a:ext cx="7344816" cy="584775"/>
            </a:xfrm>
            <a:prstGeom prst="rect">
              <a:avLst/>
            </a:prstGeom>
            <a:noFill/>
            <a:ln w="9525" algn="ctr">
              <a:noFill/>
              <a:miter lim="800000"/>
              <a:headEnd/>
              <a:tailEnd/>
            </a:ln>
          </p:spPr>
          <p:txBody>
            <a:bodyPr wrap="square">
              <a:spAutoFit/>
            </a:bodyPr>
            <a:lstStyle/>
            <a:p>
              <a:pPr eaLnBrk="0" hangingPunct="0"/>
              <a:r>
                <a:rPr lang="en-AU" sz="1600" b="1" dirty="0" smtClean="0">
                  <a:latin typeface="Helvetica" pitchFamily="34" charset="0"/>
                </a:rPr>
                <a:t>Store fresh prepared and or cooked vegetable, fruit, egg and farinaceous products in correct conditions to maintain freshness and quality</a:t>
              </a:r>
              <a:endParaRPr lang="en-AU" sz="1600" b="1" dirty="0">
                <a:latin typeface="Helvetica" pitchFamily="34" charset="0"/>
              </a:endParaRPr>
            </a:p>
          </p:txBody>
        </p:sp>
        <p:sp>
          <p:nvSpPr>
            <p:cNvPr id="21" name="Text Box 34"/>
            <p:cNvSpPr txBox="1">
              <a:spLocks noChangeArrowheads="1"/>
            </p:cNvSpPr>
            <p:nvPr/>
          </p:nvSpPr>
          <p:spPr bwMode="gray">
            <a:xfrm>
              <a:off x="1949450" y="4876800"/>
              <a:ext cx="354013" cy="457200"/>
            </a:xfrm>
            <a:prstGeom prst="rect">
              <a:avLst/>
            </a:prstGeom>
            <a:noFill/>
            <a:ln w="9525" algn="ctr">
              <a:noFill/>
              <a:miter lim="800000"/>
              <a:headEnd/>
              <a:tailEnd/>
            </a:ln>
          </p:spPr>
          <p:txBody>
            <a:bodyPr wrap="none">
              <a:spAutoFit/>
            </a:bodyPr>
            <a:lstStyle/>
            <a:p>
              <a:pPr algn="ctr" eaLnBrk="0" hangingPunct="0"/>
              <a:r>
                <a:rPr lang="en-AU" sz="2400" b="1" dirty="0">
                  <a:solidFill>
                    <a:schemeClr val="bg1"/>
                  </a:solidFill>
                </a:rPr>
                <a:t>4</a:t>
              </a:r>
            </a:p>
          </p:txBody>
        </p:sp>
      </p:grpSp>
    </p:spTree>
    <p:extLst>
      <p:ext uri="{BB962C8B-B14F-4D97-AF65-F5344CB8AC3E}">
        <p14:creationId xmlns:p14="http://schemas.microsoft.com/office/powerpoint/2010/main" val="14150946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8568952" cy="864096"/>
          </a:xfrm>
        </p:spPr>
        <p:txBody>
          <a:bodyPr>
            <a:normAutofit/>
          </a:bodyPr>
          <a:lstStyle/>
          <a:p>
            <a:r>
              <a:rPr lang="en-US" sz="3200" b="1" dirty="0" smtClean="0">
                <a:solidFill>
                  <a:srgbClr val="FF6600"/>
                </a:solidFill>
                <a:latin typeface="Helvetica" pitchFamily="34" charset="0"/>
              </a:rPr>
              <a:t>Prepare vegetables, eggs and farinaceous </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467544" y="1268760"/>
            <a:ext cx="7704856" cy="5112568"/>
          </a:xfrm>
        </p:spPr>
        <p:txBody>
          <a:bodyPr>
            <a:normAutofit/>
          </a:bodyPr>
          <a:lstStyle/>
          <a:p>
            <a:pPr marL="0" indent="0">
              <a:spcBef>
                <a:spcPts val="600"/>
              </a:spcBef>
              <a:spcAft>
                <a:spcPts val="1200"/>
              </a:spcAft>
              <a:buNone/>
            </a:pPr>
            <a:r>
              <a:rPr lang="en-US" sz="2200" b="1" dirty="0" smtClean="0">
                <a:latin typeface="Helvetica" pitchFamily="34" charset="0"/>
              </a:rPr>
              <a:t>Store fresh vegetables items</a:t>
            </a:r>
          </a:p>
          <a:p>
            <a:pPr marL="355600" indent="-355600">
              <a:spcBef>
                <a:spcPts val="600"/>
              </a:spcBef>
              <a:spcAft>
                <a:spcPts val="1200"/>
              </a:spcAft>
            </a:pPr>
            <a:r>
              <a:rPr lang="en-US" sz="2200" dirty="0" smtClean="0">
                <a:latin typeface="Helvetica" pitchFamily="34" charset="0"/>
              </a:rPr>
              <a:t>Clean environment</a:t>
            </a:r>
          </a:p>
          <a:p>
            <a:pPr marL="355600" indent="-355600">
              <a:spcBef>
                <a:spcPts val="600"/>
              </a:spcBef>
              <a:spcAft>
                <a:spcPts val="1200"/>
              </a:spcAft>
            </a:pPr>
            <a:r>
              <a:rPr lang="en-US" sz="2200" dirty="0" smtClean="0">
                <a:latin typeface="Helvetica" pitchFamily="34" charset="0"/>
              </a:rPr>
              <a:t>Clean containers</a:t>
            </a:r>
          </a:p>
          <a:p>
            <a:pPr marL="355600" indent="-355600">
              <a:spcBef>
                <a:spcPts val="600"/>
              </a:spcBef>
              <a:spcAft>
                <a:spcPts val="1200"/>
              </a:spcAft>
            </a:pPr>
            <a:r>
              <a:rPr lang="en-US" sz="2200" dirty="0" smtClean="0">
                <a:latin typeface="Helvetica" pitchFamily="34" charset="0"/>
              </a:rPr>
              <a:t>Environment suitable for maximum storage life</a:t>
            </a:r>
          </a:p>
          <a:p>
            <a:pPr marL="355600" indent="-355600">
              <a:spcBef>
                <a:spcPts val="600"/>
              </a:spcBef>
              <a:spcAft>
                <a:spcPts val="1200"/>
              </a:spcAft>
            </a:pPr>
            <a:r>
              <a:rPr lang="en-US" sz="2200" dirty="0" smtClean="0">
                <a:latin typeface="Helvetica" pitchFamily="34" charset="0"/>
              </a:rPr>
              <a:t>Fresh </a:t>
            </a:r>
          </a:p>
          <a:p>
            <a:pPr marL="355600" indent="-355600">
              <a:spcBef>
                <a:spcPts val="600"/>
              </a:spcBef>
              <a:spcAft>
                <a:spcPts val="1200"/>
              </a:spcAft>
            </a:pPr>
            <a:r>
              <a:rPr lang="en-US" sz="2200" dirty="0" smtClean="0">
                <a:latin typeface="Helvetica" pitchFamily="34" charset="0"/>
              </a:rPr>
              <a:t>Frozen</a:t>
            </a:r>
          </a:p>
          <a:p>
            <a:pPr marL="355600" indent="-355600">
              <a:spcBef>
                <a:spcPts val="600"/>
              </a:spcBef>
              <a:spcAft>
                <a:spcPts val="1200"/>
              </a:spcAft>
            </a:pPr>
            <a:r>
              <a:rPr lang="en-US" sz="2200" dirty="0" smtClean="0">
                <a:latin typeface="Helvetica" pitchFamily="34" charset="0"/>
              </a:rPr>
              <a:t>Canned or dried </a:t>
            </a: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a:t>
            </a:fld>
            <a:endParaRPr lang="en-US" dirty="0"/>
          </a:p>
        </p:txBody>
      </p:sp>
      <p:pic>
        <p:nvPicPr>
          <p:cNvPr id="5" name="Picture 4" descr="1154421_vegetables.jpg"/>
          <p:cNvPicPr>
            <a:picLocks noChangeAspect="1"/>
          </p:cNvPicPr>
          <p:nvPr/>
        </p:nvPicPr>
        <p:blipFill>
          <a:blip r:embed="rId3" cstate="print"/>
          <a:stretch>
            <a:fillRect/>
          </a:stretch>
        </p:blipFill>
        <p:spPr>
          <a:xfrm>
            <a:off x="6804248" y="3140968"/>
            <a:ext cx="1597005" cy="2281436"/>
          </a:xfrm>
          <a:prstGeom prst="rect">
            <a:avLst/>
          </a:prstGeom>
        </p:spPr>
      </p:pic>
    </p:spTree>
    <p:extLst>
      <p:ext uri="{BB962C8B-B14F-4D97-AF65-F5344CB8AC3E}">
        <p14:creationId xmlns:p14="http://schemas.microsoft.com/office/powerpoint/2010/main" val="31817162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8496944" cy="936104"/>
          </a:xfrm>
        </p:spPr>
        <p:txBody>
          <a:bodyPr>
            <a:normAutofit/>
          </a:bodyPr>
          <a:lstStyle/>
          <a:p>
            <a:r>
              <a:rPr lang="en-US" sz="3200" b="1" dirty="0" smtClean="0">
                <a:solidFill>
                  <a:srgbClr val="FF6600"/>
                </a:solidFill>
                <a:latin typeface="Helvetica" pitchFamily="34" charset="0"/>
              </a:rPr>
              <a:t>Prepare vegetables, eggs and farinaceous </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467544" y="1340768"/>
            <a:ext cx="7776864" cy="5112568"/>
          </a:xfrm>
        </p:spPr>
        <p:txBody>
          <a:bodyPr>
            <a:normAutofit/>
          </a:bodyPr>
          <a:lstStyle/>
          <a:p>
            <a:pPr marL="0" indent="0">
              <a:spcBef>
                <a:spcPts val="600"/>
              </a:spcBef>
              <a:spcAft>
                <a:spcPts val="1200"/>
              </a:spcAft>
              <a:buNone/>
            </a:pPr>
            <a:r>
              <a:rPr lang="en-US" sz="2200" b="1" dirty="0" smtClean="0">
                <a:latin typeface="Helvetica" pitchFamily="34" charset="0"/>
              </a:rPr>
              <a:t>Store cooked vegetable items</a:t>
            </a:r>
          </a:p>
          <a:p>
            <a:pPr marL="355600" indent="-355600">
              <a:spcBef>
                <a:spcPts val="600"/>
              </a:spcBef>
              <a:spcAft>
                <a:spcPts val="1200"/>
              </a:spcAft>
            </a:pPr>
            <a:r>
              <a:rPr lang="en-US" sz="2200" dirty="0" smtClean="0">
                <a:latin typeface="Helvetica" pitchFamily="34" charset="0"/>
              </a:rPr>
              <a:t>Chilled, below 5ºC</a:t>
            </a:r>
          </a:p>
          <a:p>
            <a:pPr marL="355600" indent="-355600">
              <a:spcBef>
                <a:spcPts val="600"/>
              </a:spcBef>
              <a:spcAft>
                <a:spcPts val="1200"/>
              </a:spcAft>
            </a:pPr>
            <a:r>
              <a:rPr lang="en-US" sz="2200" dirty="0" smtClean="0">
                <a:latin typeface="Helvetica" pitchFamily="34" charset="0"/>
              </a:rPr>
              <a:t>Clean containers</a:t>
            </a:r>
          </a:p>
          <a:p>
            <a:pPr marL="355600" indent="-355600">
              <a:spcBef>
                <a:spcPts val="600"/>
              </a:spcBef>
              <a:spcAft>
                <a:spcPts val="1200"/>
              </a:spcAft>
            </a:pPr>
            <a:r>
              <a:rPr lang="en-US" sz="2200" dirty="0" smtClean="0">
                <a:latin typeface="Helvetica" pitchFamily="34" charset="0"/>
              </a:rPr>
              <a:t>Keep covered</a:t>
            </a:r>
          </a:p>
          <a:p>
            <a:pPr marL="355600" indent="-355600">
              <a:spcBef>
                <a:spcPts val="600"/>
              </a:spcBef>
              <a:spcAft>
                <a:spcPts val="1200"/>
              </a:spcAft>
            </a:pPr>
            <a:r>
              <a:rPr lang="en-US" sz="2200" dirty="0" smtClean="0">
                <a:latin typeface="Helvetica" pitchFamily="34" charset="0"/>
              </a:rPr>
              <a:t>Date</a:t>
            </a:r>
          </a:p>
          <a:p>
            <a:pPr marL="355600" indent="-355600">
              <a:spcBef>
                <a:spcPts val="600"/>
              </a:spcBef>
              <a:spcAft>
                <a:spcPts val="1200"/>
              </a:spcAft>
            </a:pPr>
            <a:r>
              <a:rPr lang="en-US" sz="2200" dirty="0" smtClean="0">
                <a:latin typeface="Helvetica" pitchFamily="34" charset="0"/>
              </a:rPr>
              <a:t>Rotate stock on FIFO basis</a:t>
            </a:r>
          </a:p>
          <a:p>
            <a:pPr marL="355600" indent="-355600">
              <a:spcBef>
                <a:spcPts val="600"/>
              </a:spcBef>
              <a:spcAft>
                <a:spcPts val="1200"/>
              </a:spcAft>
            </a:pPr>
            <a:r>
              <a:rPr lang="en-US" sz="2200" dirty="0" smtClean="0">
                <a:latin typeface="Helvetica" pitchFamily="34" charset="0"/>
              </a:rPr>
              <a:t>Maximum 2 days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a:t>
            </a:fld>
            <a:endParaRPr lang="en-US" dirty="0"/>
          </a:p>
        </p:txBody>
      </p:sp>
      <p:pic>
        <p:nvPicPr>
          <p:cNvPr id="5" name="Picture 4" descr="1097510833_4240353410_thumbnail.jpg"/>
          <p:cNvPicPr>
            <a:picLocks noChangeAspect="1"/>
          </p:cNvPicPr>
          <p:nvPr/>
        </p:nvPicPr>
        <p:blipFill>
          <a:blip r:embed="rId3" cstate="print"/>
          <a:stretch>
            <a:fillRect/>
          </a:stretch>
        </p:blipFill>
        <p:spPr>
          <a:xfrm>
            <a:off x="6660232" y="3427292"/>
            <a:ext cx="1709627" cy="1729900"/>
          </a:xfrm>
          <a:prstGeom prst="rect">
            <a:avLst/>
          </a:prstGeom>
        </p:spPr>
      </p:pic>
    </p:spTree>
    <p:extLst>
      <p:ext uri="{BB962C8B-B14F-4D97-AF65-F5344CB8AC3E}">
        <p14:creationId xmlns:p14="http://schemas.microsoft.com/office/powerpoint/2010/main" val="35186271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8568952" cy="864096"/>
          </a:xfrm>
        </p:spPr>
        <p:txBody>
          <a:bodyPr>
            <a:normAutofit/>
          </a:bodyPr>
          <a:lstStyle/>
          <a:p>
            <a:r>
              <a:rPr lang="en-US" sz="3200" b="1" dirty="0" smtClean="0">
                <a:solidFill>
                  <a:srgbClr val="FF6600"/>
                </a:solidFill>
                <a:latin typeface="Helvetica" pitchFamily="34" charset="0"/>
              </a:rPr>
              <a:t>Prepare vegetables, eggs and farinaceous </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467544" y="1268760"/>
            <a:ext cx="7704856" cy="5040560"/>
          </a:xfrm>
        </p:spPr>
        <p:txBody>
          <a:bodyPr>
            <a:normAutofit/>
          </a:bodyPr>
          <a:lstStyle/>
          <a:p>
            <a:pPr marL="0" indent="0">
              <a:spcBef>
                <a:spcPts val="600"/>
              </a:spcBef>
              <a:spcAft>
                <a:spcPts val="1200"/>
              </a:spcAft>
              <a:buNone/>
            </a:pPr>
            <a:r>
              <a:rPr lang="en-US" sz="2200" b="1" dirty="0" smtClean="0">
                <a:latin typeface="Helvetica" pitchFamily="34" charset="0"/>
              </a:rPr>
              <a:t>Store cooked farinaceous items</a:t>
            </a:r>
          </a:p>
          <a:p>
            <a:pPr marL="355600" indent="-355600">
              <a:spcBef>
                <a:spcPts val="600"/>
              </a:spcBef>
              <a:spcAft>
                <a:spcPts val="1200"/>
              </a:spcAft>
            </a:pPr>
            <a:r>
              <a:rPr lang="en-US" sz="2200" dirty="0">
                <a:latin typeface="Helvetica" pitchFamily="34" charset="0"/>
              </a:rPr>
              <a:t>Chilled, below 5ºC</a:t>
            </a:r>
          </a:p>
          <a:p>
            <a:pPr marL="355600" indent="-355600">
              <a:spcBef>
                <a:spcPts val="600"/>
              </a:spcBef>
              <a:spcAft>
                <a:spcPts val="1200"/>
              </a:spcAft>
            </a:pPr>
            <a:r>
              <a:rPr lang="en-US" sz="2200" dirty="0">
                <a:latin typeface="Helvetica" pitchFamily="34" charset="0"/>
              </a:rPr>
              <a:t>Clean containers</a:t>
            </a:r>
          </a:p>
          <a:p>
            <a:pPr marL="355600" indent="-355600">
              <a:spcBef>
                <a:spcPts val="600"/>
              </a:spcBef>
              <a:spcAft>
                <a:spcPts val="1200"/>
              </a:spcAft>
            </a:pPr>
            <a:r>
              <a:rPr lang="en-US" sz="2200" dirty="0">
                <a:latin typeface="Helvetica" pitchFamily="34" charset="0"/>
              </a:rPr>
              <a:t>Keep covered</a:t>
            </a:r>
          </a:p>
          <a:p>
            <a:pPr marL="355600" indent="-355600">
              <a:spcBef>
                <a:spcPts val="600"/>
              </a:spcBef>
              <a:spcAft>
                <a:spcPts val="1200"/>
              </a:spcAft>
            </a:pPr>
            <a:r>
              <a:rPr lang="en-US" sz="2200" dirty="0">
                <a:latin typeface="Helvetica" pitchFamily="34" charset="0"/>
              </a:rPr>
              <a:t>Date</a:t>
            </a:r>
          </a:p>
          <a:p>
            <a:pPr marL="355600" indent="-355600">
              <a:spcBef>
                <a:spcPts val="600"/>
              </a:spcBef>
              <a:spcAft>
                <a:spcPts val="1200"/>
              </a:spcAft>
            </a:pPr>
            <a:r>
              <a:rPr lang="en-US" sz="2200" dirty="0">
                <a:latin typeface="Helvetica" pitchFamily="34" charset="0"/>
              </a:rPr>
              <a:t>Rotate stock on FIFO basis</a:t>
            </a:r>
          </a:p>
          <a:p>
            <a:pPr marL="355600" indent="-355600">
              <a:spcBef>
                <a:spcPts val="600"/>
              </a:spcBef>
              <a:spcAft>
                <a:spcPts val="1200"/>
              </a:spcAft>
            </a:pPr>
            <a:r>
              <a:rPr lang="en-US" sz="2200" dirty="0">
                <a:latin typeface="Helvetica" pitchFamily="34" charset="0"/>
              </a:rPr>
              <a:t>Maximum 2 </a:t>
            </a:r>
            <a:r>
              <a:rPr lang="en-US" sz="2200" dirty="0" smtClean="0">
                <a:latin typeface="Helvetica" pitchFamily="34" charset="0"/>
              </a:rPr>
              <a:t>days</a:t>
            </a: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a:t>
            </a:fld>
            <a:endParaRPr lang="en-US" dirty="0"/>
          </a:p>
        </p:txBody>
      </p:sp>
      <p:pic>
        <p:nvPicPr>
          <p:cNvPr id="5" name="Picture 4" descr="1002200_gnocchi.jpg"/>
          <p:cNvPicPr>
            <a:picLocks noChangeAspect="1"/>
          </p:cNvPicPr>
          <p:nvPr/>
        </p:nvPicPr>
        <p:blipFill>
          <a:blip r:embed="rId3" cstate="print"/>
          <a:stretch>
            <a:fillRect/>
          </a:stretch>
        </p:blipFill>
        <p:spPr>
          <a:xfrm>
            <a:off x="6876256" y="3356992"/>
            <a:ext cx="1497400" cy="1872208"/>
          </a:xfrm>
          <a:prstGeom prst="rect">
            <a:avLst/>
          </a:prstGeom>
        </p:spPr>
      </p:pic>
    </p:spTree>
    <p:extLst>
      <p:ext uri="{BB962C8B-B14F-4D97-AF65-F5344CB8AC3E}">
        <p14:creationId xmlns:p14="http://schemas.microsoft.com/office/powerpoint/2010/main" val="37852643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8568952" cy="936104"/>
          </a:xfrm>
        </p:spPr>
        <p:txBody>
          <a:bodyPr>
            <a:normAutofit/>
          </a:bodyPr>
          <a:lstStyle/>
          <a:p>
            <a:r>
              <a:rPr lang="en-US" sz="3200" b="1" dirty="0" smtClean="0">
                <a:solidFill>
                  <a:srgbClr val="FF6600"/>
                </a:solidFill>
                <a:latin typeface="Helvetica" pitchFamily="34" charset="0"/>
              </a:rPr>
              <a:t>Prepare vegetables, eggs and farinaceous </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467544" y="1268760"/>
            <a:ext cx="7467600" cy="4813995"/>
          </a:xfrm>
        </p:spPr>
        <p:txBody>
          <a:bodyPr>
            <a:normAutofit/>
          </a:bodyPr>
          <a:lstStyle/>
          <a:p>
            <a:pPr marL="0" indent="0">
              <a:spcBef>
                <a:spcPts val="600"/>
              </a:spcBef>
              <a:spcAft>
                <a:spcPts val="1200"/>
              </a:spcAft>
              <a:buNone/>
            </a:pPr>
            <a:r>
              <a:rPr lang="en-US" sz="2200" b="1" dirty="0" smtClean="0">
                <a:latin typeface="Helvetica" pitchFamily="34" charset="0"/>
              </a:rPr>
              <a:t>Store fresh farinaceous items</a:t>
            </a:r>
          </a:p>
          <a:p>
            <a:pPr marL="355600" indent="-355600">
              <a:spcBef>
                <a:spcPts val="600"/>
              </a:spcBef>
              <a:spcAft>
                <a:spcPts val="1200"/>
              </a:spcAft>
            </a:pPr>
            <a:r>
              <a:rPr lang="en-US" sz="2200" dirty="0">
                <a:latin typeface="Helvetica" pitchFamily="34" charset="0"/>
              </a:rPr>
              <a:t>Chilled, below 5ºC</a:t>
            </a:r>
          </a:p>
          <a:p>
            <a:pPr marL="355600" indent="-355600">
              <a:spcBef>
                <a:spcPts val="600"/>
              </a:spcBef>
              <a:spcAft>
                <a:spcPts val="1200"/>
              </a:spcAft>
            </a:pPr>
            <a:r>
              <a:rPr lang="en-US" sz="2200" dirty="0">
                <a:latin typeface="Helvetica" pitchFamily="34" charset="0"/>
              </a:rPr>
              <a:t>Clean containers</a:t>
            </a:r>
          </a:p>
          <a:p>
            <a:pPr marL="355600" indent="-355600">
              <a:spcBef>
                <a:spcPts val="600"/>
              </a:spcBef>
              <a:spcAft>
                <a:spcPts val="1200"/>
              </a:spcAft>
            </a:pPr>
            <a:r>
              <a:rPr lang="en-US" sz="2200" dirty="0">
                <a:latin typeface="Helvetica" pitchFamily="34" charset="0"/>
              </a:rPr>
              <a:t>Keep covered</a:t>
            </a:r>
          </a:p>
          <a:p>
            <a:pPr marL="355600" indent="-355600">
              <a:spcBef>
                <a:spcPts val="600"/>
              </a:spcBef>
              <a:spcAft>
                <a:spcPts val="1200"/>
              </a:spcAft>
            </a:pPr>
            <a:r>
              <a:rPr lang="en-US" sz="2200" dirty="0">
                <a:latin typeface="Helvetica" pitchFamily="34" charset="0"/>
              </a:rPr>
              <a:t>Date</a:t>
            </a:r>
          </a:p>
          <a:p>
            <a:pPr marL="355600" indent="-355600">
              <a:spcBef>
                <a:spcPts val="600"/>
              </a:spcBef>
              <a:spcAft>
                <a:spcPts val="1200"/>
              </a:spcAft>
            </a:pPr>
            <a:r>
              <a:rPr lang="en-US" sz="2200" dirty="0">
                <a:latin typeface="Helvetica" pitchFamily="34" charset="0"/>
              </a:rPr>
              <a:t>Rotate stock on FIFO basis</a:t>
            </a:r>
          </a:p>
          <a:p>
            <a:pPr marL="355600" indent="-355600">
              <a:spcBef>
                <a:spcPts val="600"/>
              </a:spcBef>
              <a:spcAft>
                <a:spcPts val="1200"/>
              </a:spcAft>
            </a:pPr>
            <a:r>
              <a:rPr lang="en-US" sz="2200" dirty="0">
                <a:latin typeface="Helvetica" pitchFamily="34" charset="0"/>
              </a:rPr>
              <a:t>Maximum 2 </a:t>
            </a:r>
            <a:r>
              <a:rPr lang="en-US" sz="2200" dirty="0" smtClean="0">
                <a:latin typeface="Helvetica" pitchFamily="34" charset="0"/>
              </a:rPr>
              <a:t>days</a:t>
            </a:r>
          </a:p>
          <a:p>
            <a:pPr marL="355600" indent="-355600">
              <a:spcBef>
                <a:spcPts val="600"/>
              </a:spcBef>
              <a:spcAft>
                <a:spcPts val="1200"/>
              </a:spcAft>
            </a:pPr>
            <a:r>
              <a:rPr lang="en-US" sz="2200" dirty="0" smtClean="0">
                <a:latin typeface="Helvetica" pitchFamily="34" charset="0"/>
              </a:rPr>
              <a:t>Freeze if longer storage is required</a:t>
            </a:r>
            <a:endParaRPr lang="en-US" sz="2200" dirty="0">
              <a:latin typeface="Helvetica" pitchFamily="34" charset="0"/>
            </a:endParaRPr>
          </a:p>
          <a:p>
            <a:pPr marL="0" indent="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24</a:t>
            </a:fld>
            <a:endParaRPr lang="en-US" dirty="0"/>
          </a:p>
        </p:txBody>
      </p:sp>
      <p:pic>
        <p:nvPicPr>
          <p:cNvPr id="5" name="Picture 4" descr="527898_cooking_an_egg.jpg"/>
          <p:cNvPicPr>
            <a:picLocks noChangeAspect="1"/>
          </p:cNvPicPr>
          <p:nvPr/>
        </p:nvPicPr>
        <p:blipFill>
          <a:blip r:embed="rId3" cstate="print"/>
          <a:stretch>
            <a:fillRect/>
          </a:stretch>
        </p:blipFill>
        <p:spPr>
          <a:xfrm>
            <a:off x="6876256" y="3789040"/>
            <a:ext cx="1509316" cy="1509316"/>
          </a:xfrm>
          <a:prstGeom prst="rect">
            <a:avLst/>
          </a:prstGeom>
        </p:spPr>
      </p:pic>
    </p:spTree>
    <p:extLst>
      <p:ext uri="{BB962C8B-B14F-4D97-AF65-F5344CB8AC3E}">
        <p14:creationId xmlns:p14="http://schemas.microsoft.com/office/powerpoint/2010/main" val="6076276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8568952" cy="864096"/>
          </a:xfrm>
        </p:spPr>
        <p:txBody>
          <a:bodyPr>
            <a:normAutofit/>
          </a:bodyPr>
          <a:lstStyle/>
          <a:p>
            <a:r>
              <a:rPr lang="en-US" sz="3200" b="1" dirty="0" smtClean="0">
                <a:solidFill>
                  <a:srgbClr val="FF6600"/>
                </a:solidFill>
                <a:latin typeface="Helvetica" pitchFamily="34" charset="0"/>
              </a:rPr>
              <a:t>Prepare vegetables, eggs and farinaceous </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539552" y="1268760"/>
            <a:ext cx="7704856" cy="4968552"/>
          </a:xfrm>
        </p:spPr>
        <p:txBody>
          <a:bodyPr>
            <a:normAutofit/>
          </a:bodyPr>
          <a:lstStyle/>
          <a:p>
            <a:pPr marL="0" indent="0">
              <a:spcBef>
                <a:spcPts val="600"/>
              </a:spcBef>
              <a:spcAft>
                <a:spcPts val="1200"/>
              </a:spcAft>
              <a:buNone/>
            </a:pPr>
            <a:r>
              <a:rPr lang="en-US" sz="2200" b="1" dirty="0" smtClean="0">
                <a:latin typeface="Helvetica" pitchFamily="34" charset="0"/>
              </a:rPr>
              <a:t>Store dry farinaceous items</a:t>
            </a:r>
          </a:p>
          <a:p>
            <a:pPr marL="355600" indent="-355600">
              <a:spcBef>
                <a:spcPts val="600"/>
              </a:spcBef>
              <a:spcAft>
                <a:spcPts val="1200"/>
              </a:spcAft>
            </a:pPr>
            <a:r>
              <a:rPr lang="en-US" sz="2200" dirty="0" smtClean="0">
                <a:latin typeface="Helvetica" pitchFamily="34" charset="0"/>
              </a:rPr>
              <a:t>Clean </a:t>
            </a:r>
            <a:r>
              <a:rPr lang="en-US" sz="2200" dirty="0">
                <a:latin typeface="Helvetica" pitchFamily="34" charset="0"/>
              </a:rPr>
              <a:t>containers</a:t>
            </a:r>
          </a:p>
          <a:p>
            <a:pPr marL="355600" indent="-355600">
              <a:spcBef>
                <a:spcPts val="600"/>
              </a:spcBef>
              <a:spcAft>
                <a:spcPts val="1200"/>
              </a:spcAft>
            </a:pPr>
            <a:r>
              <a:rPr lang="en-US" sz="2200" dirty="0">
                <a:latin typeface="Helvetica" pitchFamily="34" charset="0"/>
              </a:rPr>
              <a:t>Keep </a:t>
            </a:r>
            <a:r>
              <a:rPr lang="en-US" sz="2200" dirty="0" smtClean="0">
                <a:latin typeface="Helvetica" pitchFamily="34" charset="0"/>
              </a:rPr>
              <a:t>in original packaging until required</a:t>
            </a:r>
          </a:p>
          <a:p>
            <a:pPr marL="355600" indent="-355600">
              <a:spcBef>
                <a:spcPts val="600"/>
              </a:spcBef>
              <a:spcAft>
                <a:spcPts val="1200"/>
              </a:spcAft>
            </a:pPr>
            <a:r>
              <a:rPr lang="en-US" sz="2200" dirty="0" smtClean="0">
                <a:latin typeface="Helvetica" pitchFamily="34" charset="0"/>
              </a:rPr>
              <a:t>Place left over dry product into </a:t>
            </a:r>
            <a:br>
              <a:rPr lang="en-US" sz="2200" dirty="0" smtClean="0">
                <a:latin typeface="Helvetica" pitchFamily="34" charset="0"/>
              </a:rPr>
            </a:br>
            <a:r>
              <a:rPr lang="en-US" sz="2200" dirty="0" smtClean="0">
                <a:latin typeface="Helvetica" pitchFamily="34" charset="0"/>
              </a:rPr>
              <a:t>sealed container</a:t>
            </a:r>
          </a:p>
          <a:p>
            <a:pPr marL="355600" indent="-355600">
              <a:spcBef>
                <a:spcPts val="600"/>
              </a:spcBef>
              <a:spcAft>
                <a:spcPts val="1200"/>
              </a:spcAft>
            </a:pPr>
            <a:r>
              <a:rPr lang="en-US" sz="2200" dirty="0" smtClean="0">
                <a:latin typeface="Helvetica" pitchFamily="34" charset="0"/>
              </a:rPr>
              <a:t>Do not leave exposed</a:t>
            </a:r>
            <a:endParaRPr lang="en-US" sz="2200" dirty="0">
              <a:latin typeface="Helvetica" pitchFamily="34" charset="0"/>
            </a:endParaRPr>
          </a:p>
          <a:p>
            <a:pPr marL="355600" indent="-355600">
              <a:spcBef>
                <a:spcPts val="600"/>
              </a:spcBef>
              <a:spcAft>
                <a:spcPts val="1200"/>
              </a:spcAft>
            </a:pPr>
            <a:r>
              <a:rPr lang="en-US" sz="2200" dirty="0">
                <a:latin typeface="Helvetica" pitchFamily="34" charset="0"/>
              </a:rPr>
              <a:t>Date</a:t>
            </a:r>
          </a:p>
          <a:p>
            <a:pPr marL="355600" indent="-355600">
              <a:spcBef>
                <a:spcPts val="600"/>
              </a:spcBef>
              <a:spcAft>
                <a:spcPts val="1200"/>
              </a:spcAft>
            </a:pPr>
            <a:r>
              <a:rPr lang="en-US" sz="2200" dirty="0">
                <a:latin typeface="Helvetica" pitchFamily="34" charset="0"/>
              </a:rPr>
              <a:t>Rotate stock on FIFO </a:t>
            </a:r>
            <a:r>
              <a:rPr lang="en-US" sz="2200" dirty="0" smtClean="0">
                <a:latin typeface="Helvetica" pitchFamily="34" charset="0"/>
              </a:rPr>
              <a:t>basis</a:t>
            </a:r>
          </a:p>
          <a:p>
            <a:pPr marL="0" indent="0">
              <a:spcBef>
                <a:spcPts val="600"/>
              </a:spcBef>
              <a:spcAft>
                <a:spcPts val="1200"/>
              </a:spcAft>
              <a:buNone/>
            </a:pPr>
            <a:endParaRPr lang="en-US" sz="2200" dirty="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a:latin typeface="Helvetica" pitchFamily="34" charset="0"/>
            </a:endParaRPr>
          </a:p>
          <a:p>
            <a:pPr marL="0" indent="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25</a:t>
            </a:fld>
            <a:endParaRPr lang="en-US" dirty="0"/>
          </a:p>
        </p:txBody>
      </p:sp>
      <p:pic>
        <p:nvPicPr>
          <p:cNvPr id="5" name="Picture 4" descr="MP900177959(1).JPG"/>
          <p:cNvPicPr>
            <a:picLocks noChangeAspect="1"/>
          </p:cNvPicPr>
          <p:nvPr/>
        </p:nvPicPr>
        <p:blipFill>
          <a:blip r:embed="rId3" cstate="print"/>
          <a:stretch>
            <a:fillRect/>
          </a:stretch>
        </p:blipFill>
        <p:spPr>
          <a:xfrm>
            <a:off x="6876256" y="2996952"/>
            <a:ext cx="1502296" cy="2253444"/>
          </a:xfrm>
          <a:prstGeom prst="rect">
            <a:avLst/>
          </a:prstGeom>
        </p:spPr>
      </p:pic>
    </p:spTree>
    <p:extLst>
      <p:ext uri="{BB962C8B-B14F-4D97-AF65-F5344CB8AC3E}">
        <p14:creationId xmlns:p14="http://schemas.microsoft.com/office/powerpoint/2010/main" val="8934563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ruits.jpg"/>
          <p:cNvPicPr>
            <a:picLocks noChangeAspect="1"/>
          </p:cNvPicPr>
          <p:nvPr/>
        </p:nvPicPr>
        <p:blipFill>
          <a:blip r:embed="rId3" cstate="print"/>
          <a:srcRect r="4939" b="7217"/>
          <a:stretch>
            <a:fillRect/>
          </a:stretch>
        </p:blipFill>
        <p:spPr>
          <a:xfrm>
            <a:off x="5580416" y="3284985"/>
            <a:ext cx="2736000" cy="1776949"/>
          </a:xfrm>
          <a:prstGeom prst="rect">
            <a:avLst/>
          </a:prstGeom>
        </p:spPr>
      </p:pic>
      <p:sp>
        <p:nvSpPr>
          <p:cNvPr id="2" name="Title 1"/>
          <p:cNvSpPr>
            <a:spLocks noGrp="1"/>
          </p:cNvSpPr>
          <p:nvPr>
            <p:ph type="title"/>
          </p:nvPr>
        </p:nvSpPr>
        <p:spPr>
          <a:xfrm>
            <a:off x="467544" y="332656"/>
            <a:ext cx="8568952" cy="864096"/>
          </a:xfrm>
        </p:spPr>
        <p:txBody>
          <a:bodyPr>
            <a:normAutofit/>
          </a:bodyPr>
          <a:lstStyle/>
          <a:p>
            <a:r>
              <a:rPr lang="en-US" sz="3200" b="1" dirty="0" smtClean="0">
                <a:solidFill>
                  <a:srgbClr val="FF6600"/>
                </a:solidFill>
                <a:latin typeface="Helvetica" pitchFamily="34" charset="0"/>
              </a:rPr>
              <a:t>Prepare vegetables, eggs and farinaceous </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467544" y="1196752"/>
            <a:ext cx="7467600" cy="4968552"/>
          </a:xfrm>
        </p:spPr>
        <p:txBody>
          <a:bodyPr>
            <a:normAutofit/>
          </a:bodyPr>
          <a:lstStyle/>
          <a:p>
            <a:pPr marL="0" indent="0">
              <a:spcBef>
                <a:spcPts val="600"/>
              </a:spcBef>
              <a:spcAft>
                <a:spcPts val="1200"/>
              </a:spcAft>
              <a:buNone/>
            </a:pPr>
            <a:r>
              <a:rPr lang="en-US" sz="2200" b="1" dirty="0" smtClean="0">
                <a:latin typeface="Helvetica" pitchFamily="34" charset="0"/>
              </a:rPr>
              <a:t>Store fresh fruit</a:t>
            </a:r>
          </a:p>
          <a:p>
            <a:pPr marL="355600" indent="-355600">
              <a:spcBef>
                <a:spcPts val="600"/>
              </a:spcBef>
              <a:spcAft>
                <a:spcPts val="1200"/>
              </a:spcAft>
            </a:pPr>
            <a:r>
              <a:rPr lang="en-US" sz="2200" dirty="0">
                <a:latin typeface="Helvetica" pitchFamily="34" charset="0"/>
              </a:rPr>
              <a:t>Chilled, below 5ºC</a:t>
            </a:r>
          </a:p>
          <a:p>
            <a:pPr marL="355600" indent="-355600">
              <a:spcBef>
                <a:spcPts val="600"/>
              </a:spcBef>
              <a:spcAft>
                <a:spcPts val="1200"/>
              </a:spcAft>
            </a:pPr>
            <a:r>
              <a:rPr lang="en-US" sz="2200" dirty="0">
                <a:latin typeface="Helvetica" pitchFamily="34" charset="0"/>
              </a:rPr>
              <a:t>Clean containers</a:t>
            </a:r>
          </a:p>
          <a:p>
            <a:pPr marL="355600" indent="-355600">
              <a:spcBef>
                <a:spcPts val="600"/>
              </a:spcBef>
              <a:spcAft>
                <a:spcPts val="1200"/>
              </a:spcAft>
            </a:pPr>
            <a:r>
              <a:rPr lang="en-US" sz="2200" dirty="0">
                <a:latin typeface="Helvetica" pitchFamily="34" charset="0"/>
              </a:rPr>
              <a:t>Keep covered</a:t>
            </a:r>
          </a:p>
          <a:p>
            <a:pPr marL="355600" indent="-355600">
              <a:spcBef>
                <a:spcPts val="600"/>
              </a:spcBef>
              <a:spcAft>
                <a:spcPts val="1200"/>
              </a:spcAft>
            </a:pPr>
            <a:r>
              <a:rPr lang="en-US" sz="2200" dirty="0">
                <a:latin typeface="Helvetica" pitchFamily="34" charset="0"/>
              </a:rPr>
              <a:t>Date</a:t>
            </a:r>
          </a:p>
          <a:p>
            <a:pPr marL="355600" indent="-355600">
              <a:spcBef>
                <a:spcPts val="600"/>
              </a:spcBef>
              <a:spcAft>
                <a:spcPts val="1200"/>
              </a:spcAft>
            </a:pPr>
            <a:r>
              <a:rPr lang="en-US" sz="2200" dirty="0">
                <a:latin typeface="Helvetica" pitchFamily="34" charset="0"/>
              </a:rPr>
              <a:t>Rotate stock on FIFO basis</a:t>
            </a:r>
          </a:p>
          <a:p>
            <a:pPr marL="355600" indent="-355600">
              <a:spcBef>
                <a:spcPts val="600"/>
              </a:spcBef>
              <a:spcAft>
                <a:spcPts val="1200"/>
              </a:spcAft>
            </a:pPr>
            <a:r>
              <a:rPr lang="en-US" sz="2200" dirty="0" smtClean="0">
                <a:latin typeface="Helvetica" pitchFamily="34" charset="0"/>
              </a:rPr>
              <a:t>Time frame changes for specific fruits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26</a:t>
            </a:fld>
            <a:endParaRPr lang="en-US" dirty="0"/>
          </a:p>
        </p:txBody>
      </p:sp>
    </p:spTree>
    <p:extLst>
      <p:ext uri="{BB962C8B-B14F-4D97-AF65-F5344CB8AC3E}">
        <p14:creationId xmlns:p14="http://schemas.microsoft.com/office/powerpoint/2010/main" val="26638087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8568952" cy="792088"/>
          </a:xfrm>
        </p:spPr>
        <p:txBody>
          <a:bodyPr>
            <a:normAutofit/>
          </a:bodyPr>
          <a:lstStyle/>
          <a:p>
            <a:r>
              <a:rPr lang="en-US" sz="3200" b="1" dirty="0" smtClean="0">
                <a:solidFill>
                  <a:srgbClr val="FF6600"/>
                </a:solidFill>
                <a:latin typeface="Helvetica" pitchFamily="34" charset="0"/>
              </a:rPr>
              <a:t>Prepare vegetables, eggs and farinaceous </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467544" y="1268760"/>
            <a:ext cx="7467600" cy="4968552"/>
          </a:xfrm>
        </p:spPr>
        <p:txBody>
          <a:bodyPr>
            <a:normAutofit/>
          </a:bodyPr>
          <a:lstStyle/>
          <a:p>
            <a:pPr marL="0" indent="0">
              <a:spcBef>
                <a:spcPts val="600"/>
              </a:spcBef>
              <a:spcAft>
                <a:spcPts val="1200"/>
              </a:spcAft>
              <a:buNone/>
            </a:pPr>
            <a:r>
              <a:rPr lang="en-US" sz="2200" b="1" dirty="0" smtClean="0">
                <a:latin typeface="Helvetica" pitchFamily="34" charset="0"/>
              </a:rPr>
              <a:t>Store in appropriate containers</a:t>
            </a:r>
          </a:p>
          <a:p>
            <a:pPr marL="355600" indent="-355600">
              <a:spcBef>
                <a:spcPts val="600"/>
              </a:spcBef>
              <a:spcAft>
                <a:spcPts val="1200"/>
              </a:spcAft>
            </a:pPr>
            <a:r>
              <a:rPr lang="en-US" sz="2200" dirty="0" smtClean="0">
                <a:latin typeface="Helvetica" pitchFamily="34" charset="0"/>
              </a:rPr>
              <a:t>Clean</a:t>
            </a:r>
          </a:p>
          <a:p>
            <a:pPr marL="355600" indent="-355600">
              <a:spcBef>
                <a:spcPts val="600"/>
              </a:spcBef>
              <a:spcAft>
                <a:spcPts val="1200"/>
              </a:spcAft>
            </a:pPr>
            <a:r>
              <a:rPr lang="en-US" sz="2200" dirty="0" smtClean="0">
                <a:latin typeface="Helvetica" pitchFamily="34" charset="0"/>
              </a:rPr>
              <a:t>In good repair</a:t>
            </a:r>
          </a:p>
          <a:p>
            <a:pPr marL="355600" indent="-355600">
              <a:spcBef>
                <a:spcPts val="600"/>
              </a:spcBef>
              <a:spcAft>
                <a:spcPts val="1200"/>
              </a:spcAft>
            </a:pPr>
            <a:r>
              <a:rPr lang="en-US" sz="2200" dirty="0" smtClean="0">
                <a:latin typeface="Helvetica" pitchFamily="34" charset="0"/>
              </a:rPr>
              <a:t>Able to be sealed if required</a:t>
            </a:r>
          </a:p>
          <a:p>
            <a:pPr marL="355600" indent="-355600">
              <a:spcBef>
                <a:spcPts val="600"/>
              </a:spcBef>
              <a:spcAft>
                <a:spcPts val="1200"/>
              </a:spcAft>
            </a:pPr>
            <a:r>
              <a:rPr lang="en-US" sz="2200" dirty="0" smtClean="0">
                <a:latin typeface="Helvetica" pitchFamily="34" charset="0"/>
              </a:rPr>
              <a:t>Must not cause damage to </a:t>
            </a:r>
            <a:br>
              <a:rPr lang="en-US" sz="2200" dirty="0" smtClean="0">
                <a:latin typeface="Helvetica" pitchFamily="34" charset="0"/>
              </a:rPr>
            </a:br>
            <a:r>
              <a:rPr lang="en-US" sz="2200" dirty="0" smtClean="0">
                <a:latin typeface="Helvetica" pitchFamily="34" charset="0"/>
              </a:rPr>
              <a:t>stored product</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27</a:t>
            </a:fld>
            <a:endParaRPr lang="en-US" dirty="0"/>
          </a:p>
        </p:txBody>
      </p:sp>
      <p:pic>
        <p:nvPicPr>
          <p:cNvPr id="5" name="Picture 4" descr="1097510833_4240353410_thumbnail.jpg"/>
          <p:cNvPicPr>
            <a:picLocks noChangeAspect="1"/>
          </p:cNvPicPr>
          <p:nvPr/>
        </p:nvPicPr>
        <p:blipFill>
          <a:blip r:embed="rId3" cstate="print"/>
          <a:srcRect l="2475" t="21200" r="3476" b="19400"/>
          <a:stretch>
            <a:fillRect/>
          </a:stretch>
        </p:blipFill>
        <p:spPr>
          <a:xfrm>
            <a:off x="5508104" y="3284984"/>
            <a:ext cx="2736304" cy="1728191"/>
          </a:xfrm>
          <a:prstGeom prst="rect">
            <a:avLst/>
          </a:prstGeom>
        </p:spPr>
      </p:pic>
    </p:spTree>
    <p:extLst>
      <p:ext uri="{BB962C8B-B14F-4D97-AF65-F5344CB8AC3E}">
        <p14:creationId xmlns:p14="http://schemas.microsoft.com/office/powerpoint/2010/main" val="203264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8568952" cy="936104"/>
          </a:xfrm>
        </p:spPr>
        <p:txBody>
          <a:bodyPr>
            <a:normAutofit/>
          </a:bodyPr>
          <a:lstStyle/>
          <a:p>
            <a:r>
              <a:rPr lang="en-US" sz="3200" b="1" dirty="0" smtClean="0">
                <a:solidFill>
                  <a:srgbClr val="FF6600"/>
                </a:solidFill>
                <a:latin typeface="Helvetica" pitchFamily="34" charset="0"/>
              </a:rPr>
              <a:t>Prepare vegetables, eggs and farinaceous </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539552" y="1268760"/>
            <a:ext cx="7467600" cy="4813995"/>
          </a:xfrm>
        </p:spPr>
        <p:txBody>
          <a:bodyPr>
            <a:normAutofit/>
          </a:bodyPr>
          <a:lstStyle/>
          <a:p>
            <a:pPr marL="0" indent="0">
              <a:spcBef>
                <a:spcPts val="600"/>
              </a:spcBef>
              <a:spcAft>
                <a:spcPts val="1200"/>
              </a:spcAft>
              <a:buNone/>
            </a:pPr>
            <a:r>
              <a:rPr lang="en-US" sz="2200" b="1" dirty="0" smtClean="0">
                <a:latin typeface="Helvetica" pitchFamily="34" charset="0"/>
              </a:rPr>
              <a:t>Label containers appropriately</a:t>
            </a:r>
          </a:p>
          <a:p>
            <a:pPr marL="355600" indent="-355600">
              <a:spcBef>
                <a:spcPts val="600"/>
              </a:spcBef>
              <a:spcAft>
                <a:spcPts val="1200"/>
              </a:spcAft>
            </a:pPr>
            <a:r>
              <a:rPr lang="en-US" sz="2200" dirty="0" smtClean="0">
                <a:latin typeface="Helvetica" pitchFamily="34" charset="0"/>
              </a:rPr>
              <a:t>Easily read and definition of product clear</a:t>
            </a:r>
          </a:p>
          <a:p>
            <a:pPr marL="355600" indent="-355600">
              <a:spcBef>
                <a:spcPts val="600"/>
              </a:spcBef>
              <a:spcAft>
                <a:spcPts val="1200"/>
              </a:spcAft>
            </a:pPr>
            <a:r>
              <a:rPr lang="en-US" sz="2200" dirty="0" smtClean="0">
                <a:latin typeface="Helvetica" pitchFamily="34" charset="0"/>
              </a:rPr>
              <a:t>In common language understood by all</a:t>
            </a:r>
          </a:p>
          <a:p>
            <a:pPr marL="355600" indent="-355600">
              <a:spcBef>
                <a:spcPts val="600"/>
              </a:spcBef>
              <a:spcAft>
                <a:spcPts val="1200"/>
              </a:spcAft>
            </a:pPr>
            <a:r>
              <a:rPr lang="en-US" sz="2200" dirty="0" smtClean="0">
                <a:latin typeface="Helvetica" pitchFamily="34" charset="0"/>
              </a:rPr>
              <a:t>Name of product</a:t>
            </a:r>
          </a:p>
          <a:p>
            <a:pPr marL="355600" indent="-355600">
              <a:spcBef>
                <a:spcPts val="600"/>
              </a:spcBef>
              <a:spcAft>
                <a:spcPts val="1200"/>
              </a:spcAft>
            </a:pPr>
            <a:r>
              <a:rPr lang="en-US" sz="2200" dirty="0" smtClean="0">
                <a:latin typeface="Helvetica" pitchFamily="34" charset="0"/>
              </a:rPr>
              <a:t>Date of manufacture</a:t>
            </a:r>
          </a:p>
          <a:p>
            <a:pPr marL="355600" indent="-355600">
              <a:spcBef>
                <a:spcPts val="600"/>
              </a:spcBef>
              <a:spcAft>
                <a:spcPts val="1200"/>
              </a:spcAft>
            </a:pPr>
            <a:r>
              <a:rPr lang="en-US" sz="2200" dirty="0" smtClean="0">
                <a:latin typeface="Helvetica" pitchFamily="34" charset="0"/>
              </a:rPr>
              <a:t>Use by date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28</a:t>
            </a:fld>
            <a:endParaRPr lang="en-US" dirty="0"/>
          </a:p>
        </p:txBody>
      </p:sp>
      <p:pic>
        <p:nvPicPr>
          <p:cNvPr id="5" name="Picture 4" descr="Best before stamp.jpg"/>
          <p:cNvPicPr>
            <a:picLocks noChangeAspect="1"/>
          </p:cNvPicPr>
          <p:nvPr/>
        </p:nvPicPr>
        <p:blipFill>
          <a:blip r:embed="rId3" cstate="print"/>
          <a:srcRect t="20748" b="23924"/>
          <a:stretch>
            <a:fillRect/>
          </a:stretch>
        </p:blipFill>
        <p:spPr>
          <a:xfrm>
            <a:off x="6012160" y="3429000"/>
            <a:ext cx="2209048" cy="1728192"/>
          </a:xfrm>
          <a:prstGeom prst="rect">
            <a:avLst/>
          </a:prstGeom>
        </p:spPr>
      </p:pic>
    </p:spTree>
    <p:extLst>
      <p:ext uri="{BB962C8B-B14F-4D97-AF65-F5344CB8AC3E}">
        <p14:creationId xmlns:p14="http://schemas.microsoft.com/office/powerpoint/2010/main" val="3902162772"/>
      </p:ext>
    </p:extLst>
  </p:cSld>
  <p:clrMapOvr>
    <a:masterClrMapping/>
  </p:clrMapOvr>
</p:sld>
</file>

<file path=ppt/theme/theme1.xml><?xml version="1.0" encoding="utf-8"?>
<a:theme xmlns:a="http://schemas.openxmlformats.org/drawingml/2006/main" name="ASEAN PPT Template 010611 MV">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ASEAN PPT Template 010611 MV</Template>
  <TotalTime>14617</TotalTime>
  <Words>3912</Words>
  <Application>Microsoft Office PowerPoint</Application>
  <PresentationFormat>On-screen Show (4:3)</PresentationFormat>
  <Paragraphs>680</Paragraphs>
  <Slides>28</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Franklin Gothic Book</vt:lpstr>
      <vt:lpstr>Helvetica</vt:lpstr>
      <vt:lpstr>Wingdings 2</vt:lpstr>
      <vt:lpstr>ASEAN PPT Template 010611 MV</vt:lpstr>
      <vt:lpstr>PREPARE VEGETABLES, EGGS AND FARINACEOUS DISHES</vt:lpstr>
      <vt:lpstr>Prepare vegetables, eggs and farinaceous </vt:lpstr>
      <vt:lpstr>Prepare vegetables, eggs and farinaceous </vt:lpstr>
      <vt:lpstr>Prepare vegetables, eggs and farinaceous </vt:lpstr>
      <vt:lpstr>Prepare vegetables, eggs and farinaceous </vt:lpstr>
      <vt:lpstr>Prepare vegetables, eggs and farinaceous </vt:lpstr>
      <vt:lpstr>Prepare vegetables, eggs and farinaceous </vt:lpstr>
      <vt:lpstr>Prepare vegetables, eggs and farinaceous </vt:lpstr>
      <vt:lpstr>Prepare vegetables, eggs and farinaceous </vt:lpstr>
      <vt:lpstr>Prepare vegetables, eggs and farinaceous </vt:lpstr>
      <vt:lpstr>Prepare vegetables, eggs and farinaceous </vt:lpstr>
      <vt:lpstr>Prepare vegetables, eggs and farinaceous </vt:lpstr>
      <vt:lpstr>Prepare vegetables, eggs and farinaceous </vt:lpstr>
      <vt:lpstr>Prepare vegetables, eggs and farinaceous </vt:lpstr>
      <vt:lpstr>Prepare vegetables, eggs and farinaceous </vt:lpstr>
      <vt:lpstr>Prepare vegetables, eggs and farinaceous </vt:lpstr>
      <vt:lpstr>Prepare vegetables, eggs and farinaceous </vt:lpstr>
      <vt:lpstr>Prepare vegetables, eggs and farinaceous </vt:lpstr>
      <vt:lpstr>Prepare vegetables, eggs and farinaceous </vt:lpstr>
      <vt:lpstr>Prepare vegetables, eggs and farinaceous </vt:lpstr>
      <vt:lpstr>Prepare vegetables, eggs and farinaceous </vt:lpstr>
      <vt:lpstr>Prepare vegetables, eggs and farinaceous </vt:lpstr>
      <vt:lpstr>Prepare vegetables, eggs and farinaceous </vt:lpstr>
      <vt:lpstr>Prepare vegetables, eggs and farinaceous </vt:lpstr>
      <vt:lpstr>Prepare vegetables, eggs and farinaceous </vt:lpstr>
      <vt:lpstr>Prepare vegetables, eggs and farinaceous </vt:lpstr>
      <vt:lpstr>Prepare vegetables, eggs and farinaceous </vt:lpstr>
      <vt:lpstr>Prepare vegetables, eggs and farinaceous </vt:lpstr>
    </vt:vector>
  </TitlesOfParts>
  <Company>William Angliss Institute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PREPARE VEGETABLES, EGGS AND FARINACEOUS DISHES</dc:title>
  <dc:creator>Administrator</dc:creator>
  <cp:lastModifiedBy>Ma. Christina Aquino</cp:lastModifiedBy>
  <cp:revision>1204</cp:revision>
  <dcterms:created xsi:type="dcterms:W3CDTF">2012-03-28T01:00:01Z</dcterms:created>
  <dcterms:modified xsi:type="dcterms:W3CDTF">2015-04-06T05:34:23Z</dcterms:modified>
</cp:coreProperties>
</file>