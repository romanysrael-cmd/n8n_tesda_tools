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27"/>
  </p:notesMasterIdLst>
  <p:handoutMasterIdLst>
    <p:handoutMasterId r:id="rId128"/>
  </p:handoutMasterIdLst>
  <p:sldIdLst>
    <p:sldId id="256" r:id="rId2"/>
    <p:sldId id="264" r:id="rId3"/>
    <p:sldId id="265" r:id="rId4"/>
    <p:sldId id="266" r:id="rId5"/>
    <p:sldId id="257" r:id="rId6"/>
    <p:sldId id="286" r:id="rId7"/>
    <p:sldId id="287" r:id="rId8"/>
    <p:sldId id="288" r:id="rId9"/>
    <p:sldId id="289" r:id="rId10"/>
    <p:sldId id="290" r:id="rId11"/>
    <p:sldId id="291" r:id="rId12"/>
    <p:sldId id="267" r:id="rId13"/>
    <p:sldId id="292" r:id="rId14"/>
    <p:sldId id="293" r:id="rId15"/>
    <p:sldId id="294" r:id="rId16"/>
    <p:sldId id="268" r:id="rId17"/>
    <p:sldId id="295" r:id="rId18"/>
    <p:sldId id="296" r:id="rId19"/>
    <p:sldId id="297" r:id="rId20"/>
    <p:sldId id="298" r:id="rId21"/>
    <p:sldId id="299" r:id="rId22"/>
    <p:sldId id="300" r:id="rId23"/>
    <p:sldId id="301" r:id="rId24"/>
    <p:sldId id="302" r:id="rId25"/>
    <p:sldId id="315" r:id="rId26"/>
    <p:sldId id="303" r:id="rId27"/>
    <p:sldId id="269" r:id="rId28"/>
    <p:sldId id="316" r:id="rId29"/>
    <p:sldId id="317" r:id="rId30"/>
    <p:sldId id="318" r:id="rId31"/>
    <p:sldId id="319" r:id="rId32"/>
    <p:sldId id="320" r:id="rId33"/>
    <p:sldId id="270" r:id="rId34"/>
    <p:sldId id="321" r:id="rId35"/>
    <p:sldId id="322" r:id="rId36"/>
    <p:sldId id="368" r:id="rId37"/>
    <p:sldId id="361" r:id="rId38"/>
    <p:sldId id="362" r:id="rId39"/>
    <p:sldId id="363" r:id="rId40"/>
    <p:sldId id="364" r:id="rId41"/>
    <p:sldId id="323" r:id="rId42"/>
    <p:sldId id="324" r:id="rId43"/>
    <p:sldId id="325" r:id="rId44"/>
    <p:sldId id="337" r:id="rId45"/>
    <p:sldId id="338" r:id="rId46"/>
    <p:sldId id="326" r:id="rId47"/>
    <p:sldId id="339" r:id="rId48"/>
    <p:sldId id="340" r:id="rId49"/>
    <p:sldId id="341" r:id="rId50"/>
    <p:sldId id="342" r:id="rId51"/>
    <p:sldId id="343" r:id="rId52"/>
    <p:sldId id="271" r:id="rId53"/>
    <p:sldId id="344" r:id="rId54"/>
    <p:sldId id="345" r:id="rId55"/>
    <p:sldId id="346" r:id="rId56"/>
    <p:sldId id="347" r:id="rId57"/>
    <p:sldId id="348" r:id="rId58"/>
    <p:sldId id="349" r:id="rId59"/>
    <p:sldId id="350" r:id="rId60"/>
    <p:sldId id="351" r:id="rId61"/>
    <p:sldId id="352" r:id="rId62"/>
    <p:sldId id="272" r:id="rId63"/>
    <p:sldId id="369" r:id="rId64"/>
    <p:sldId id="273" r:id="rId65"/>
    <p:sldId id="370" r:id="rId66"/>
    <p:sldId id="371" r:id="rId67"/>
    <p:sldId id="372" r:id="rId68"/>
    <p:sldId id="274" r:id="rId69"/>
    <p:sldId id="373" r:id="rId70"/>
    <p:sldId id="374" r:id="rId71"/>
    <p:sldId id="375" r:id="rId72"/>
    <p:sldId id="376" r:id="rId73"/>
    <p:sldId id="377" r:id="rId74"/>
    <p:sldId id="378" r:id="rId75"/>
    <p:sldId id="379" r:id="rId76"/>
    <p:sldId id="380" r:id="rId77"/>
    <p:sldId id="381" r:id="rId78"/>
    <p:sldId id="382" r:id="rId79"/>
    <p:sldId id="383" r:id="rId80"/>
    <p:sldId id="384" r:id="rId81"/>
    <p:sldId id="275" r:id="rId82"/>
    <p:sldId id="385" r:id="rId83"/>
    <p:sldId id="386" r:id="rId84"/>
    <p:sldId id="387" r:id="rId85"/>
    <p:sldId id="388" r:id="rId86"/>
    <p:sldId id="389" r:id="rId87"/>
    <p:sldId id="390" r:id="rId88"/>
    <p:sldId id="391" r:id="rId89"/>
    <p:sldId id="276" r:id="rId90"/>
    <p:sldId id="392" r:id="rId91"/>
    <p:sldId id="277" r:id="rId92"/>
    <p:sldId id="393" r:id="rId93"/>
    <p:sldId id="394" r:id="rId94"/>
    <p:sldId id="278" r:id="rId95"/>
    <p:sldId id="395" r:id="rId96"/>
    <p:sldId id="396" r:id="rId97"/>
    <p:sldId id="397" r:id="rId98"/>
    <p:sldId id="398" r:id="rId99"/>
    <p:sldId id="279" r:id="rId100"/>
    <p:sldId id="399" r:id="rId101"/>
    <p:sldId id="400" r:id="rId102"/>
    <p:sldId id="401" r:id="rId103"/>
    <p:sldId id="402" r:id="rId104"/>
    <p:sldId id="403" r:id="rId105"/>
    <p:sldId id="404" r:id="rId106"/>
    <p:sldId id="405" r:id="rId107"/>
    <p:sldId id="280" r:id="rId108"/>
    <p:sldId id="406" r:id="rId109"/>
    <p:sldId id="407" r:id="rId110"/>
    <p:sldId id="281" r:id="rId111"/>
    <p:sldId id="408" r:id="rId112"/>
    <p:sldId id="409" r:id="rId113"/>
    <p:sldId id="410" r:id="rId114"/>
    <p:sldId id="411" r:id="rId115"/>
    <p:sldId id="418" r:id="rId116"/>
    <p:sldId id="412" r:id="rId117"/>
    <p:sldId id="282" r:id="rId118"/>
    <p:sldId id="419" r:id="rId119"/>
    <p:sldId id="420" r:id="rId120"/>
    <p:sldId id="428" r:id="rId121"/>
    <p:sldId id="429" r:id="rId122"/>
    <p:sldId id="430" r:id="rId123"/>
    <p:sldId id="431" r:id="rId124"/>
    <p:sldId id="432" r:id="rId125"/>
    <p:sldId id="433" r:id="rId126"/>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5592" autoAdjust="0"/>
  </p:normalViewPr>
  <p:slideViewPr>
    <p:cSldViewPr>
      <p:cViewPr varScale="1">
        <p:scale>
          <a:sx n="70" d="100"/>
          <a:sy n="70" d="100"/>
        </p:scale>
        <p:origin x="180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7/19/2016</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7/19/2016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www.tourism.australia.com/industry-advice/what-is-sustainability.aspx"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iztzg.hr/en/odrzivi_razvoj/sustainable_tourism/" TargetMode="External"/><Relationship Id="rId2" Type="http://schemas.openxmlformats.org/officeDocument/2006/relationships/slide" Target="../slides/slide6.xml"/><Relationship Id="rId1" Type="http://schemas.openxmlformats.org/officeDocument/2006/relationships/notesMaster" Target="../notesMasters/notesMaster1.xml"/><Relationship Id="rId5" Type="http://schemas.openxmlformats.org/officeDocument/2006/relationships/hyperlink" Target="http://www.sustainabletourism.net/" TargetMode="External"/><Relationship Id="rId4" Type="http://schemas.openxmlformats.org/officeDocument/2006/relationships/hyperlink" Target="http://www.unesco.org/education/tlsf/mods/theme_c/mod16.html"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businesseventsthailand.com/fileadmin/user_upload/documents/mice-publications/Asean_Travel_Tourism.pdf"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www.asean.org/resources/publications/asean-publications/item/asean-tourism-marketing-strategy-2012-2015-2"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unep.org/resourceefficiency/Business/SectoralActivities/Tourism/FactsandFiguresaboutTourism/ImpactsofTourism/tabid/78774/Default.aspx"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www.slideshare.net/tofujay/carrying-capacity-16284835"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www.google.com/url?sa=t&amp;rct=j&amp;q=&amp;esrc=s&amp;source=web&amp;cd=3&amp;ved=0CDcQFjAC&amp;url=http://www.danubecc.org/upl/E-learning%20Modules/Module%205%20-%20Tourism%20carrying%20capacity.doc&amp;ei=fHVrVbLyLZD98QWf-4OgAw&amp;usg=AFQjCNHcxtceGSLuL43c7uLhc3MsiCptOQ&amp;sig2=XNjpn4KWDS3PsUfn10Eobw&amp;bvm=bv.94455598,d.dGc" TargetMode="External"/><Relationship Id="rId4" Type="http://schemas.openxmlformats.org/officeDocument/2006/relationships/hyperlink" Target="http://www.biodiversity.ru/coastlearn/tourism-eng/con_capacity.html"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www.unep.org/resourceefficiency/Home/Business/SectoralActivities/Tourism/WhyTourism/ImpactsofTourism/EnvironmentalImpacts/tabid/78775/Default.aspx"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www.unep.org/resourceefficiency/Home/Business/SectoralActivities/Tourism/WhyTourism/ImpactsofTourism/SocioCulturalImpacts/tabid/78780/Default.aspx"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unep.org/resourceefficiency/Business/SectoralActivities/Tourism/FactsandFiguresaboutTourism/ImpactsofTourism/Socio-CulturalImpacts/NegativeSocio-CulturalImpactsFromTourism/tabid/78781/Default.aspx"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www.unep.org/10yfp/Portals/50150/downloads/Asia_Pacific_10YFP_Roadmap_2014_2015_FINAL.pdf"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www.eucentre.sg/wp-content/uploads/2013/12/EUCResearchBrief_TourismEU27ASEAN.pdf" TargetMode="Externa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www.unep.org/resourceefficiency/Business/SectoralActivities/Tourism/FactsandFiguresaboutTourism/ImpactsofTourism/EconomicImpactsofTourism/NegativeEconomicImpactsofTourism/tabid/78784/Default.aspx"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www.slideshare.net/reymarieoohlala/overview-of-tourism-impacts" TargetMode="Externa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crctourism.com.au/wms/upload/resources/bookshop/3-3_socialimpacts_v01_web.pdf"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cdn.intechopen.com/pdfs-wm/35710.pdf" TargetMode="External"/><Relationship Id="rId4" Type="http://schemas.openxmlformats.org/officeDocument/2006/relationships/hyperlink" Target="http://ijbssnet.com/journals/Vol_4_No_3_March_2013/2.pdf"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gdrc.org/uem/eco-tour/apec_pata-code.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www.environment.gov.au/system/files/resources/9c8f5084-3565-4f26-8801-77da3458f497/files/steps.pdf"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www.aseantourism.travel/downloaddoc/doc/2488" TargetMode="External"/><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3" Type="http://schemas.openxmlformats.org/officeDocument/2006/relationships/hyperlink" Target="http://www.infrastructureaustralia.gov.au/policy-publications/submissions/published/files/259_tourismandtransportforum_SUB.pdf" TargetMode="External"/><Relationship Id="rId2" Type="http://schemas.openxmlformats.org/officeDocument/2006/relationships/slide" Target="../slides/slide57.xml"/><Relationship Id="rId1" Type="http://schemas.openxmlformats.org/officeDocument/2006/relationships/notesMaster" Target="../notesMasters/notesMaster1.xml"/><Relationship Id="rId4" Type="http://schemas.openxmlformats.org/officeDocument/2006/relationships/hyperlink" Target="http://www.asean.org/communities/asean-economic-community/item/plan-of-action-on-asean-cooperation-in-tourism" TargetMode="Externa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3" Type="http://schemas.openxmlformats.org/officeDocument/2006/relationships/hyperlink" Target="http://crctourism.com.au/wms/upload/resources/bookshop/Ham_ToolEvalInterp.pdf" TargetMode="External"/><Relationship Id="rId2" Type="http://schemas.openxmlformats.org/officeDocument/2006/relationships/slide" Target="../slides/slide76.xml"/><Relationship Id="rId1" Type="http://schemas.openxmlformats.org/officeDocument/2006/relationships/notesMaster" Target="../notesMasters/notesMaster1.xml"/><Relationship Id="rId4" Type="http://schemas.openxmlformats.org/officeDocument/2006/relationships/hyperlink" Target="http://www.nzcycletrail.com/sites/default/files/uploads/NZCT%20Final%20Report%20-%20Angus%20and%20Angus.pdf" TargetMode="Externa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3" Type="http://schemas.openxmlformats.org/officeDocument/2006/relationships/hyperlink" Target="http://unesdoc.unesco.org/images/0018/001826/182646e.pdf" TargetMode="External"/><Relationship Id="rId2" Type="http://schemas.openxmlformats.org/officeDocument/2006/relationships/slide" Target="../slides/slide80.xml"/><Relationship Id="rId1" Type="http://schemas.openxmlformats.org/officeDocument/2006/relationships/notesMaster" Target="../notesMasters/notesMaster1.xml"/><Relationship Id="rId4" Type="http://schemas.openxmlformats.org/officeDocument/2006/relationships/hyperlink" Target="http://www.slideshare.net/ejaysamson/sociocultural-impacts-of-tourism" TargetMode="Externa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733321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four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020399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709016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is meant by minimal impact operations?</a:t>
            </a:r>
          </a:p>
          <a:p>
            <a:pPr marL="171450" indent="-171450">
              <a:buFont typeface="Arial" pitchFamily="34" charset="0"/>
              <a:buChar char="•"/>
            </a:pPr>
            <a:r>
              <a:rPr lang="en-US" baseline="0" dirty="0" smtClean="0"/>
              <a:t>Why is it important to consider/learn about this?</a:t>
            </a:r>
          </a:p>
          <a:p>
            <a:pPr marL="171450" indent="-171450">
              <a:buFont typeface="Arial" pitchFamily="34" charset="0"/>
              <a:buChar char="•"/>
            </a:pPr>
            <a:r>
              <a:rPr lang="en-US" baseline="0" dirty="0" smtClean="0"/>
              <a:t>What are some examples of it?</a:t>
            </a:r>
          </a:p>
          <a:p>
            <a:pPr marL="171450" indent="-171450">
              <a:buFont typeface="Arial" pitchFamily="34" charset="0"/>
              <a:buChar char="•"/>
            </a:pPr>
            <a:r>
              <a:rPr lang="en-US" baseline="0" dirty="0" smtClean="0"/>
              <a:t>What are the possible problems associated with not implementing minimal impact tourism operations?</a:t>
            </a:r>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29101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a:t>
            </a:r>
          </a:p>
          <a:p>
            <a:pPr marL="171450" indent="-171450">
              <a:buFont typeface="Arial" pitchFamily="34" charset="0"/>
              <a:buChar char="•"/>
            </a:pPr>
            <a:r>
              <a:rPr lang="en-AU" sz="1200" kern="1200" dirty="0" smtClean="0">
                <a:solidFill>
                  <a:schemeClr val="tx1"/>
                </a:solidFill>
                <a:ea typeface="+mn-ea"/>
                <a:cs typeface="+mn-cs"/>
              </a:rPr>
              <a:t>There is no single, universally-agreed definition of minimal impact tourism</a:t>
            </a:r>
          </a:p>
          <a:p>
            <a:pPr marL="171450" indent="-171450">
              <a:buFont typeface="Arial" pitchFamily="34" charset="0"/>
              <a:buChar char="•"/>
            </a:pPr>
            <a:r>
              <a:rPr lang="en-AU" sz="1200" kern="1200" dirty="0" smtClean="0">
                <a:solidFill>
                  <a:schemeClr val="tx1"/>
                </a:solidFill>
                <a:ea typeface="+mn-ea"/>
                <a:cs typeface="+mn-cs"/>
              </a:rPr>
              <a:t>In practice, it is known more commonly as ‘sustainable tourism’</a:t>
            </a:r>
          </a:p>
          <a:p>
            <a:pPr marL="171450" indent="-171450">
              <a:buFont typeface="Arial" pitchFamily="34" charset="0"/>
              <a:buChar char="•"/>
            </a:pPr>
            <a:r>
              <a:rPr lang="en-AU" sz="1200" kern="1200" dirty="0" smtClean="0">
                <a:solidFill>
                  <a:schemeClr val="tx1"/>
                </a:solidFill>
                <a:ea typeface="+mn-ea"/>
                <a:cs typeface="+mn-cs"/>
              </a:rPr>
              <a:t>It may also be referred to by other terms such as:</a:t>
            </a:r>
          </a:p>
          <a:p>
            <a:pPr marL="628650" lvl="1" indent="-171450">
              <a:buFont typeface="Arial" pitchFamily="34" charset="0"/>
              <a:buChar char="•"/>
            </a:pPr>
            <a:r>
              <a:rPr lang="en-AU" sz="1200" kern="1200" dirty="0" smtClean="0">
                <a:solidFill>
                  <a:schemeClr val="tx1"/>
                </a:solidFill>
                <a:ea typeface="+mn-ea"/>
                <a:cs typeface="+mn-cs"/>
              </a:rPr>
              <a:t>Green tourism</a:t>
            </a:r>
          </a:p>
          <a:p>
            <a:pPr marL="628650" lvl="1" indent="-171450">
              <a:buFont typeface="Arial" pitchFamily="34" charset="0"/>
              <a:buChar char="•"/>
            </a:pPr>
            <a:r>
              <a:rPr lang="en-AU" sz="1200" kern="1200" dirty="0" smtClean="0">
                <a:solidFill>
                  <a:schemeClr val="tx1"/>
                </a:solidFill>
                <a:ea typeface="+mn-ea"/>
                <a:cs typeface="+mn-cs"/>
              </a:rPr>
              <a:t>Responsible tourism</a:t>
            </a:r>
          </a:p>
          <a:p>
            <a:pPr marL="628650" lvl="1" indent="-171450">
              <a:buFont typeface="Arial" pitchFamily="34" charset="0"/>
              <a:buChar char="•"/>
            </a:pPr>
            <a:r>
              <a:rPr lang="en-AU" sz="1200" kern="1200" dirty="0" smtClean="0">
                <a:solidFill>
                  <a:schemeClr val="tx1"/>
                </a:solidFill>
                <a:ea typeface="+mn-ea"/>
                <a:cs typeface="+mn-cs"/>
              </a:rPr>
              <a:t>Eco-tourism</a:t>
            </a:r>
          </a:p>
          <a:p>
            <a:pPr marL="628650" lvl="1" indent="-171450">
              <a:buFont typeface="Arial" pitchFamily="34" charset="0"/>
              <a:buChar char="•"/>
            </a:pPr>
            <a:r>
              <a:rPr lang="en-AU" sz="1200" kern="1200" dirty="0" smtClean="0">
                <a:solidFill>
                  <a:schemeClr val="tx1"/>
                </a:solidFill>
                <a:ea typeface="+mn-ea"/>
                <a:cs typeface="+mn-cs"/>
              </a:rPr>
              <a:t>Environmental tourism</a:t>
            </a:r>
          </a:p>
          <a:p>
            <a:pPr marL="628650" lvl="1" indent="-171450">
              <a:buFont typeface="Arial" pitchFamily="34" charset="0"/>
              <a:buChar char="•"/>
            </a:pPr>
            <a:r>
              <a:rPr lang="en-AU" sz="1200" kern="1200" dirty="0" smtClean="0">
                <a:solidFill>
                  <a:schemeClr val="tx1"/>
                </a:solidFill>
                <a:ea typeface="+mn-ea"/>
                <a:cs typeface="+mn-cs"/>
              </a:rPr>
              <a:t>Ethical tourism. </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http://www.tourism.australia.com/industry-advice/what-is-sustainability.aspx</a:t>
            </a:r>
            <a:r>
              <a:rPr lang="en-AU" sz="1200" u="none" kern="1200" dirty="0" smtClean="0">
                <a:solidFill>
                  <a:schemeClr val="tx1"/>
                </a:solidFill>
                <a:ea typeface="+mn-ea"/>
                <a:cs typeface="+mn-cs"/>
              </a:rPr>
              <a:t> – regarding consideration of definition and social responsibility.</a:t>
            </a:r>
            <a:endParaRPr lang="en-US" b="0" u="none"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176476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ea typeface="+mn-ea"/>
                <a:cs typeface="+mn-cs"/>
              </a:rPr>
              <a:t>critical in the notion are Tourism Operators taking action to: </a:t>
            </a:r>
          </a:p>
          <a:p>
            <a:pPr marL="171450" indent="-171450">
              <a:buFont typeface="Arial" pitchFamily="34" charset="0"/>
              <a:buChar char="•"/>
            </a:pPr>
            <a:r>
              <a:rPr lang="en-AU" sz="1200" kern="1200" dirty="0" smtClean="0">
                <a:solidFill>
                  <a:schemeClr val="tx1"/>
                </a:solidFill>
                <a:ea typeface="+mn-ea"/>
                <a:cs typeface="+mn-cs"/>
              </a:rPr>
              <a:t>Avoid damage to the area visited</a:t>
            </a:r>
          </a:p>
          <a:p>
            <a:pPr marL="171450" indent="-171450">
              <a:buFont typeface="Arial" pitchFamily="34" charset="0"/>
              <a:buChar char="•"/>
            </a:pPr>
            <a:r>
              <a:rPr lang="en-AU" sz="1200" kern="1200" dirty="0" smtClean="0">
                <a:solidFill>
                  <a:schemeClr val="tx1"/>
                </a:solidFill>
                <a:ea typeface="+mn-ea"/>
                <a:cs typeface="+mn-cs"/>
              </a:rPr>
              <a:t>Minimise impact on the area visited</a:t>
            </a:r>
          </a:p>
          <a:p>
            <a:pPr marL="171450" indent="-171450">
              <a:buFont typeface="Arial" pitchFamily="34" charset="0"/>
              <a:buChar char="•"/>
            </a:pPr>
            <a:r>
              <a:rPr lang="en-AU" sz="1200" kern="1200" dirty="0" smtClean="0">
                <a:solidFill>
                  <a:schemeClr val="tx1"/>
                </a:solidFill>
                <a:ea typeface="+mn-ea"/>
                <a:cs typeface="+mn-cs"/>
              </a:rPr>
              <a:t>Repair previous damage.</a:t>
            </a:r>
          </a:p>
          <a:p>
            <a:pPr>
              <a:buFont typeface="Arial" pitchFamily="34" charset="0"/>
              <a:buChar char="•"/>
            </a:pPr>
            <a:endParaRPr lang="en-AU" sz="1200" kern="1200" noProof="0" dirty="0" smtClean="0">
              <a:solidFill>
                <a:schemeClr val="tx1"/>
              </a:solidFill>
              <a:ea typeface="+mn-ea"/>
              <a:cs typeface="+mn-cs"/>
            </a:endParaRPr>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ea typeface="+mn-ea"/>
                <a:cs typeface="+mn-cs"/>
                <a:hlinkClick r:id="rId3"/>
              </a:rPr>
              <a:t>http://www.iztzg.hr/en/odrzivi_razvoj/sustainable_tourism/</a:t>
            </a:r>
            <a:r>
              <a:rPr lang="en-AU" sz="1200" kern="1200" dirty="0" smtClean="0">
                <a:solidFill>
                  <a:schemeClr val="tx1"/>
                </a:solidFill>
                <a:ea typeface="+mn-ea"/>
                <a:cs typeface="+mn-cs"/>
              </a:rPr>
              <a:t> - What is sustainable tourism</a:t>
            </a:r>
          </a:p>
          <a:p>
            <a:r>
              <a:rPr lang="en-AU" sz="1200" u="sng" kern="1200" dirty="0" smtClean="0">
                <a:solidFill>
                  <a:schemeClr val="tx1"/>
                </a:solidFill>
                <a:ea typeface="+mn-ea"/>
                <a:cs typeface="+mn-cs"/>
                <a:hlinkClick r:id="rId4"/>
              </a:rPr>
              <a:t>http://www.unesco.org/education/tlsf/mods/theme_c/mod16.html</a:t>
            </a:r>
            <a:r>
              <a:rPr lang="en-AU" sz="1200" kern="1200" dirty="0" smtClean="0">
                <a:solidFill>
                  <a:schemeClr val="tx1"/>
                </a:solidFill>
                <a:ea typeface="+mn-ea"/>
                <a:cs typeface="+mn-cs"/>
              </a:rPr>
              <a:t> - Sustainable tourism</a:t>
            </a:r>
          </a:p>
          <a:p>
            <a:r>
              <a:rPr lang="en-AU" sz="1200" u="sng" kern="1200" dirty="0" smtClean="0">
                <a:solidFill>
                  <a:schemeClr val="tx1"/>
                </a:solidFill>
                <a:ea typeface="+mn-ea"/>
                <a:cs typeface="+mn-cs"/>
                <a:hlinkClick r:id="rId5"/>
              </a:rPr>
              <a:t>http://www.sustainabletourism.net/</a:t>
            </a:r>
            <a:r>
              <a:rPr lang="en-AU" sz="1200" kern="1200" dirty="0" smtClean="0">
                <a:solidFill>
                  <a:schemeClr val="tx1"/>
                </a:solidFill>
                <a:ea typeface="+mn-ea"/>
                <a:cs typeface="+mn-cs"/>
              </a:rPr>
              <a:t> - Sustaining tourism.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761659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emphasises ASEAN is committed to sustainable, with reference to </a:t>
            </a:r>
            <a:r>
              <a:rPr lang="en-AU" sz="1200" kern="1200" dirty="0" smtClean="0">
                <a:solidFill>
                  <a:schemeClr val="tx1"/>
                </a:solidFill>
                <a:ea typeface="+mn-ea"/>
                <a:cs typeface="+mn-cs"/>
              </a:rPr>
              <a:t>The ASEAN Tourism Strategic Plan (ATSP) 2011- 2015.</a:t>
            </a:r>
          </a:p>
          <a:p>
            <a:pPr>
              <a:buFont typeface="Arial" pitchFamily="34" charset="0"/>
              <a:buNone/>
            </a:pPr>
            <a:endParaRPr lang="en-AU" sz="1200" kern="1200" noProof="0" dirty="0" smtClean="0">
              <a:solidFill>
                <a:schemeClr val="tx1"/>
              </a:solidFill>
              <a:ea typeface="+mn-ea"/>
              <a:cs typeface="+mn-cs"/>
            </a:endParaRPr>
          </a:p>
          <a:p>
            <a:pPr lvl="1"/>
            <a:r>
              <a:rPr lang="en-AU" sz="1200" kern="1200" dirty="0" smtClean="0">
                <a:solidFill>
                  <a:schemeClr val="tx1"/>
                </a:solidFill>
                <a:ea typeface="+mn-ea"/>
                <a:cs typeface="+mn-cs"/>
              </a:rPr>
              <a:t>“By 2015, ASEAN will provide an increasing number of visitors to the region with authentic and  diverse products, enhanced connectivity, a safe and secure environment, increased quality of services, while at the same time ensuring an increased quality of life and opportunities for residents through  responsible and sustainable tourism development by working effectively with a wide range of stakeholders”</a:t>
            </a:r>
          </a:p>
          <a:p>
            <a:pPr lvl="0"/>
            <a:r>
              <a:rPr lang="en-AU" sz="1200" kern="1200" dirty="0" smtClean="0">
                <a:solidFill>
                  <a:schemeClr val="tx1"/>
                </a:solidFill>
                <a:ea typeface="+mn-ea"/>
                <a:cs typeface="+mn-cs"/>
              </a:rPr>
              <a:t>emphasising:</a:t>
            </a:r>
          </a:p>
          <a:p>
            <a:pPr lvl="1"/>
            <a:r>
              <a:rPr lang="en-AU" sz="1200" kern="1200" dirty="0" smtClean="0">
                <a:solidFill>
                  <a:schemeClr val="tx1"/>
                </a:solidFill>
                <a:ea typeface="+mn-ea"/>
                <a:cs typeface="+mn-cs"/>
              </a:rPr>
              <a:t>“All strategic directions and actions in the ATSP are guided by responsible and sustainable tourism principles recognizing the significant role that tourism plays in poverty reduction, climate change, gender and minority issues, capacity building, cultural preservation and natural conservation.”</a:t>
            </a:r>
          </a:p>
          <a:p>
            <a:pPr>
              <a:buFont typeface="Arial" pitchFamily="34" charset="0"/>
              <a:buNone/>
            </a:pPr>
            <a:endParaRPr lang="en-AU" sz="1200" kern="1200" noProof="0" dirty="0" smtClean="0">
              <a:solidFill>
                <a:schemeClr val="tx1"/>
              </a:solidFill>
              <a:ea typeface="+mn-ea"/>
              <a:cs typeface="+mn-cs"/>
            </a:endParaRPr>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http://www.businesseventsthailand.com/fileadmin/user_upload/documents/mice-publications/Asean_Travel_Tourism.pdf</a:t>
            </a:r>
            <a:endParaRPr lang="en-AU" sz="1200" u="sng" kern="1200" dirty="0" smtClean="0">
              <a:solidFill>
                <a:schemeClr val="tx1"/>
              </a:solidFill>
              <a:ea typeface="+mn-ea"/>
              <a:cs typeface="+mn-cs"/>
            </a:endParaRPr>
          </a:p>
          <a:p>
            <a:pPr>
              <a:buFont typeface="Arial" pitchFamily="34" charset="0"/>
              <a:buNone/>
            </a:pPr>
            <a:r>
              <a:rPr lang="en-AU" sz="1200" u="sng" kern="1200" dirty="0" smtClean="0">
                <a:solidFill>
                  <a:schemeClr val="tx1"/>
                </a:solidFill>
                <a:ea typeface="+mn-ea"/>
                <a:cs typeface="+mn-cs"/>
                <a:hlinkClick r:id="rId4"/>
              </a:rPr>
              <a:t>http://www.asean.org/resources/publications/asean-publications/item/asean-tourism-marketing-strategy-2012-2015-2</a:t>
            </a:r>
            <a:r>
              <a:rPr lang="en-AU" sz="1200" kern="1200" dirty="0" smtClean="0">
                <a:solidFill>
                  <a:schemeClr val="tx1"/>
                </a:solidFill>
                <a:ea typeface="+mn-ea"/>
                <a:cs typeface="+mn-cs"/>
              </a:rPr>
              <a:t> - ASEAN Tourism Marketing Strategy 2012 – 2015 (can be downloaded via link from this site)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065562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the industry is also committed to sustainable tourism with reference to </a:t>
            </a:r>
            <a:r>
              <a:rPr lang="en-AU" sz="1200" kern="1200" dirty="0" smtClean="0">
                <a:solidFill>
                  <a:schemeClr val="tx1"/>
                </a:solidFill>
                <a:ea typeface="+mn-ea"/>
                <a:cs typeface="+mn-cs"/>
              </a:rPr>
              <a:t>APEC/PATA Code for Sustainable Tourism which states in part its stance is: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 to encourage and assist in the development of travel industries throughout Pacific-Asia in a manner which recognises the urgent importance to practice an environmental ethic that supports responsible conservation and restoration of Pacific Asia’s unique combination of natural, social and cultural resources”.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23897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within the construct of minimal impact/sustainable tourism (as described) individual Tourism Operators can demonstrate responsible practice by planning and trialling tourism operations for minimal impact before implementing them as standard practice in their business.</a:t>
            </a:r>
          </a:p>
          <a:p>
            <a:r>
              <a:rPr lang="en-AU" sz="1200" kern="1200" dirty="0" smtClean="0">
                <a:solidFill>
                  <a:schemeClr val="tx1"/>
                </a:solidFill>
                <a:ea typeface="+mn-ea"/>
                <a:cs typeface="+mn-cs"/>
              </a:rPr>
              <a:t> </a:t>
            </a:r>
          </a:p>
          <a:p>
            <a:r>
              <a:rPr lang="en-AU" sz="1200" kern="1200" dirty="0" smtClean="0">
                <a:solidFill>
                  <a:schemeClr val="tx1"/>
                </a:solidFill>
                <a:ea typeface="+mn-ea"/>
                <a:cs typeface="+mn-cs"/>
              </a:rPr>
              <a:t>The first step in this process is the need to identify proposed activities or operations to be conducted so they can be:</a:t>
            </a:r>
          </a:p>
          <a:p>
            <a:pPr marL="171450" indent="-171450">
              <a:buFont typeface="Arial" pitchFamily="34" charset="0"/>
              <a:buChar char="•"/>
            </a:pPr>
            <a:r>
              <a:rPr lang="en-AU" sz="1200" kern="1200" dirty="0" smtClean="0">
                <a:solidFill>
                  <a:schemeClr val="tx1"/>
                </a:solidFill>
                <a:ea typeface="+mn-ea"/>
                <a:cs typeface="+mn-cs"/>
              </a:rPr>
              <a:t>Properly described and quantified</a:t>
            </a:r>
          </a:p>
          <a:p>
            <a:pPr marL="171450" indent="-171450">
              <a:buFont typeface="Arial" pitchFamily="34" charset="0"/>
              <a:buChar char="•"/>
            </a:pPr>
            <a:r>
              <a:rPr lang="en-AU" sz="1200" kern="1200" dirty="0" smtClean="0">
                <a:solidFill>
                  <a:schemeClr val="tx1"/>
                </a:solidFill>
                <a:ea typeface="+mn-ea"/>
                <a:cs typeface="+mn-cs"/>
              </a:rPr>
              <a:t>Geographically located</a:t>
            </a:r>
          </a:p>
          <a:p>
            <a:pPr marL="171450" indent="-171450">
              <a:buFont typeface="Arial" pitchFamily="34" charset="0"/>
              <a:buChar char="•"/>
            </a:pPr>
            <a:r>
              <a:rPr lang="en-AU" sz="1200" kern="1200" dirty="0" smtClean="0">
                <a:solidFill>
                  <a:schemeClr val="tx1"/>
                </a:solidFill>
                <a:ea typeface="+mn-ea"/>
                <a:cs typeface="+mn-cs"/>
              </a:rPr>
              <a:t>Researched to determine the factors that may be impacted by the proposed activity</a:t>
            </a:r>
          </a:p>
          <a:p>
            <a:pPr marL="171450" indent="-171450">
              <a:buFont typeface="Arial" pitchFamily="34" charset="0"/>
              <a:buChar char="•"/>
            </a:pPr>
            <a:r>
              <a:rPr lang="en-AU" sz="1200" kern="1200" dirty="0" smtClean="0">
                <a:solidFill>
                  <a:schemeClr val="tx1"/>
                </a:solidFill>
                <a:ea typeface="+mn-ea"/>
                <a:cs typeface="+mn-cs"/>
              </a:rPr>
              <a:t>Analysed to identify relevant compliance requirements that need to be met</a:t>
            </a:r>
          </a:p>
          <a:p>
            <a:pPr marL="171450" indent="-171450">
              <a:buFont typeface="Arial" pitchFamily="34" charset="0"/>
              <a:buChar char="•"/>
            </a:pPr>
            <a:r>
              <a:rPr lang="en-AU" sz="1200" kern="1200" dirty="0" smtClean="0">
                <a:solidFill>
                  <a:schemeClr val="tx1"/>
                </a:solidFill>
                <a:ea typeface="+mn-ea"/>
                <a:cs typeface="+mn-cs"/>
              </a:rPr>
              <a:t>Properly planned with reference to a suitable and detailed, written proposal and plan of action. </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local Tour Operator to attend and:</a:t>
            </a:r>
          </a:p>
          <a:p>
            <a:pPr marL="171450" indent="-171450">
              <a:buFont typeface="Arial" pitchFamily="34" charset="0"/>
              <a:buChar char="•"/>
            </a:pPr>
            <a:r>
              <a:rPr lang="en-AU" b="0" noProof="0" dirty="0" smtClean="0"/>
              <a:t>Discuss their orientation to sustainable tourism</a:t>
            </a:r>
          </a:p>
          <a:p>
            <a:pPr marL="171450" indent="-171450">
              <a:buFont typeface="Arial" pitchFamily="34" charset="0"/>
              <a:buChar char="•"/>
            </a:pPr>
            <a:r>
              <a:rPr lang="en-AU" b="0" noProof="0" dirty="0" smtClean="0"/>
              <a:t>Explain how they demonstrate their commitment</a:t>
            </a:r>
          </a:p>
          <a:p>
            <a:pPr marL="171450" indent="-171450">
              <a:buFont typeface="Arial" pitchFamily="34" charset="0"/>
              <a:buChar char="•"/>
            </a:pPr>
            <a:r>
              <a:rPr lang="en-AU" b="0" noProof="0" dirty="0" smtClean="0"/>
              <a:t>Identify</a:t>
            </a:r>
            <a:r>
              <a:rPr lang="en-AU" b="0" baseline="0" noProof="0" dirty="0" smtClean="0"/>
              <a:t> Codes and other arrangements/agreements they comply with as part of their commitment</a:t>
            </a:r>
          </a:p>
          <a:p>
            <a:pPr marL="171450" indent="-171450">
              <a:buFont typeface="Arial" pitchFamily="34" charset="0"/>
              <a:buChar char="•"/>
            </a:pPr>
            <a:r>
              <a:rPr lang="en-AU" b="0" baseline="0" noProof="0" dirty="0" smtClean="0"/>
              <a:t>Detail  a sustainable tourism initiative they have introduced/been involved with.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4613769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activities which may need to be planned as part of sustainable tourism/minimal impact tourism:</a:t>
            </a:r>
          </a:p>
          <a:p>
            <a:pPr marL="171450" indent="-171450">
              <a:buFont typeface="Arial" pitchFamily="34" charset="0"/>
              <a:buChar char="•"/>
            </a:pPr>
            <a:r>
              <a:rPr lang="en-AU" sz="1200" kern="1200" dirty="0" smtClean="0">
                <a:solidFill>
                  <a:schemeClr val="tx1"/>
                </a:solidFill>
                <a:ea typeface="+mn-ea"/>
                <a:cs typeface="+mn-cs"/>
              </a:rPr>
              <a:t>Constructing facilities – such as:</a:t>
            </a:r>
          </a:p>
          <a:p>
            <a:pPr marL="628650" lvl="1" indent="-171450">
              <a:buFont typeface="Arial" pitchFamily="34" charset="0"/>
              <a:buChar char="•"/>
            </a:pPr>
            <a:r>
              <a:rPr lang="en-AU" sz="1200" kern="1200" dirty="0" smtClean="0">
                <a:solidFill>
                  <a:schemeClr val="tx1"/>
                </a:solidFill>
                <a:ea typeface="+mn-ea"/>
                <a:cs typeface="+mn-cs"/>
              </a:rPr>
              <a:t>Access roads </a:t>
            </a:r>
          </a:p>
          <a:p>
            <a:pPr marL="628650" lvl="1" indent="-171450">
              <a:buFont typeface="Arial" pitchFamily="34" charset="0"/>
              <a:buChar char="•"/>
            </a:pPr>
            <a:r>
              <a:rPr lang="en-AU" sz="1200" kern="1200" dirty="0" smtClean="0">
                <a:solidFill>
                  <a:schemeClr val="tx1"/>
                </a:solidFill>
                <a:ea typeface="+mn-ea"/>
                <a:cs typeface="+mn-cs"/>
              </a:rPr>
              <a:t>Buildings </a:t>
            </a:r>
          </a:p>
          <a:p>
            <a:pPr marL="628650" lvl="1" indent="-171450">
              <a:buFont typeface="Arial" pitchFamily="34" charset="0"/>
              <a:buChar char="•"/>
            </a:pPr>
            <a:r>
              <a:rPr lang="en-AU" sz="1200" kern="1200" dirty="0" smtClean="0">
                <a:solidFill>
                  <a:schemeClr val="tx1"/>
                </a:solidFill>
                <a:ea typeface="+mn-ea"/>
                <a:cs typeface="+mn-cs"/>
              </a:rPr>
              <a:t>Infrastructure</a:t>
            </a:r>
          </a:p>
          <a:p>
            <a:pPr marL="171450" indent="-171450">
              <a:buFont typeface="Arial" pitchFamily="34" charset="0"/>
              <a:buChar char="•"/>
            </a:pPr>
            <a:r>
              <a:rPr lang="en-AU" sz="1200" kern="1200" dirty="0" smtClean="0">
                <a:solidFill>
                  <a:schemeClr val="tx1"/>
                </a:solidFill>
                <a:ea typeface="+mn-ea"/>
                <a:cs typeface="+mn-cs"/>
              </a:rPr>
              <a:t>Introducing tours – into areas where there was previously no tours </a:t>
            </a:r>
          </a:p>
          <a:p>
            <a:pPr marL="171450" indent="-171450">
              <a:buFont typeface="Arial" pitchFamily="34" charset="0"/>
              <a:buChar char="•"/>
            </a:pPr>
            <a:r>
              <a:rPr lang="en-AU" sz="1200" kern="1200" dirty="0" smtClean="0">
                <a:solidFill>
                  <a:schemeClr val="tx1"/>
                </a:solidFill>
                <a:ea typeface="+mn-ea"/>
                <a:cs typeface="+mn-cs"/>
              </a:rPr>
              <a:t>Increasing the tourist footprint – in terms of, for example:</a:t>
            </a:r>
          </a:p>
          <a:p>
            <a:pPr marL="628650" lvl="1" indent="-171450">
              <a:buFont typeface="Arial" pitchFamily="34" charset="0"/>
              <a:buChar char="•"/>
            </a:pPr>
            <a:r>
              <a:rPr lang="en-AU" sz="1200" kern="1200" dirty="0" smtClean="0">
                <a:solidFill>
                  <a:schemeClr val="tx1"/>
                </a:solidFill>
                <a:ea typeface="+mn-ea"/>
                <a:cs typeface="+mn-cs"/>
              </a:rPr>
              <a:t>Bringing in more visitors</a:t>
            </a:r>
          </a:p>
          <a:p>
            <a:pPr marL="628650" lvl="1" indent="-171450">
              <a:buFont typeface="Arial" pitchFamily="34" charset="0"/>
              <a:buChar char="•"/>
            </a:pPr>
            <a:r>
              <a:rPr lang="en-AU" sz="1200" kern="1200" dirty="0" smtClean="0">
                <a:solidFill>
                  <a:schemeClr val="tx1"/>
                </a:solidFill>
                <a:ea typeface="+mn-ea"/>
                <a:cs typeface="+mn-cs"/>
              </a:rPr>
              <a:t>Increasing the number of tours to the area</a:t>
            </a:r>
          </a:p>
          <a:p>
            <a:pPr marL="628650" lvl="1" indent="-171450">
              <a:buFont typeface="Arial" pitchFamily="34" charset="0"/>
              <a:buChar char="•"/>
            </a:pPr>
            <a:r>
              <a:rPr lang="en-AU" sz="1200" kern="1200" dirty="0" smtClean="0">
                <a:solidFill>
                  <a:schemeClr val="tx1"/>
                </a:solidFill>
                <a:ea typeface="+mn-ea"/>
                <a:cs typeface="+mn-cs"/>
              </a:rPr>
              <a:t>Increasing the duration of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339671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identify activities which may need to be planned as part of sustainable tourism/minimal impact tourism:</a:t>
            </a:r>
          </a:p>
          <a:p>
            <a:pPr marL="171450" indent="-171450">
              <a:buFont typeface="Arial" pitchFamily="34" charset="0"/>
              <a:buChar char="•"/>
            </a:pPr>
            <a:r>
              <a:rPr lang="en-AU" sz="1200" kern="1200" dirty="0" smtClean="0">
                <a:solidFill>
                  <a:schemeClr val="tx1"/>
                </a:solidFill>
                <a:ea typeface="+mn-ea"/>
                <a:cs typeface="+mn-cs"/>
              </a:rPr>
              <a:t>Introducing interpretive activities – which may require:</a:t>
            </a:r>
          </a:p>
          <a:p>
            <a:pPr marL="628650" lvl="1" indent="-171450">
              <a:buFont typeface="Arial" pitchFamily="34" charset="0"/>
              <a:buChar char="•"/>
            </a:pPr>
            <a:r>
              <a:rPr lang="en-AU" sz="1200" kern="1200" dirty="0" smtClean="0">
                <a:solidFill>
                  <a:schemeClr val="tx1"/>
                </a:solidFill>
                <a:ea typeface="+mn-ea"/>
                <a:cs typeface="+mn-cs"/>
              </a:rPr>
              <a:t>Access to new/different areas </a:t>
            </a:r>
          </a:p>
          <a:p>
            <a:pPr marL="628650" lvl="1" indent="-171450">
              <a:buFont typeface="Arial" pitchFamily="34" charset="0"/>
              <a:buChar char="•"/>
            </a:pPr>
            <a:r>
              <a:rPr lang="en-AU" sz="1200" kern="1200" dirty="0" smtClean="0">
                <a:solidFill>
                  <a:schemeClr val="tx1"/>
                </a:solidFill>
                <a:ea typeface="+mn-ea"/>
                <a:cs typeface="+mn-cs"/>
              </a:rPr>
              <a:t>Use of local resources</a:t>
            </a:r>
          </a:p>
          <a:p>
            <a:pPr marL="628650" lvl="1" indent="-171450">
              <a:buFont typeface="Arial" pitchFamily="34" charset="0"/>
              <a:buChar char="•"/>
            </a:pPr>
            <a:r>
              <a:rPr lang="en-AU" sz="1200" kern="1200" dirty="0" smtClean="0">
                <a:solidFill>
                  <a:schemeClr val="tx1"/>
                </a:solidFill>
                <a:ea typeface="+mn-ea"/>
                <a:cs typeface="+mn-cs"/>
              </a:rPr>
              <a:t>Involvement of local communities</a:t>
            </a:r>
          </a:p>
          <a:p>
            <a:pPr marL="171450" indent="-171450">
              <a:buFont typeface="Arial" pitchFamily="34" charset="0"/>
              <a:buChar char="•"/>
            </a:pPr>
            <a:r>
              <a:rPr lang="en-AU" sz="1200" kern="1200" dirty="0" smtClean="0">
                <a:solidFill>
                  <a:schemeClr val="tx1"/>
                </a:solidFill>
                <a:ea typeface="+mn-ea"/>
                <a:cs typeface="+mn-cs"/>
              </a:rPr>
              <a:t>Establishing camps – for over-night and/or longer stays where there will be a demand for:</a:t>
            </a:r>
          </a:p>
          <a:p>
            <a:pPr marL="628650" lvl="1" indent="-171450">
              <a:buFont typeface="Arial" pitchFamily="34" charset="0"/>
              <a:buChar char="•"/>
            </a:pPr>
            <a:r>
              <a:rPr lang="en-AU" sz="1200" kern="1200" dirty="0" smtClean="0">
                <a:solidFill>
                  <a:schemeClr val="tx1"/>
                </a:solidFill>
                <a:ea typeface="+mn-ea"/>
                <a:cs typeface="+mn-cs"/>
              </a:rPr>
              <a:t>Toilet and washing facilities</a:t>
            </a:r>
          </a:p>
          <a:p>
            <a:pPr marL="628650" lvl="1" indent="-171450">
              <a:buFont typeface="Arial" pitchFamily="34" charset="0"/>
              <a:buChar char="•"/>
            </a:pPr>
            <a:r>
              <a:rPr lang="en-AU" sz="1200" kern="1200" dirty="0" smtClean="0">
                <a:solidFill>
                  <a:schemeClr val="tx1"/>
                </a:solidFill>
                <a:ea typeface="+mn-ea"/>
                <a:cs typeface="+mn-cs"/>
              </a:rPr>
              <a:t>Cooking and eating facilities</a:t>
            </a:r>
          </a:p>
          <a:p>
            <a:pPr marL="171450" indent="-171450">
              <a:buFont typeface="Arial" pitchFamily="34" charset="0"/>
              <a:buChar char="•"/>
            </a:pPr>
            <a:r>
              <a:rPr lang="en-AU" sz="1200" kern="1200" dirty="0" smtClean="0">
                <a:solidFill>
                  <a:schemeClr val="tx1"/>
                </a:solidFill>
                <a:ea typeface="+mn-ea"/>
                <a:cs typeface="+mn-cs"/>
              </a:rPr>
              <a:t>Interacting with wildlife – as:</a:t>
            </a:r>
          </a:p>
          <a:p>
            <a:pPr marL="628650" lvl="1" indent="-171450">
              <a:buFont typeface="Arial" pitchFamily="34" charset="0"/>
              <a:buChar char="•"/>
            </a:pPr>
            <a:r>
              <a:rPr lang="en-AU" sz="1200" kern="1200" dirty="0" smtClean="0">
                <a:solidFill>
                  <a:schemeClr val="tx1"/>
                </a:solidFill>
                <a:ea typeface="+mn-ea"/>
                <a:cs typeface="+mn-cs"/>
              </a:rPr>
              <a:t>Part of a tour</a:t>
            </a:r>
          </a:p>
          <a:p>
            <a:pPr marL="628650" lvl="1" indent="-171450">
              <a:buFont typeface="Arial" pitchFamily="34" charset="0"/>
              <a:buChar char="•"/>
            </a:pPr>
            <a:r>
              <a:rPr lang="en-AU" sz="1200" kern="1200" dirty="0" smtClean="0">
                <a:solidFill>
                  <a:schemeClr val="tx1"/>
                </a:solidFill>
                <a:ea typeface="+mn-ea"/>
                <a:cs typeface="+mn-cs"/>
              </a:rPr>
              <a:t>Caused by tourist intrusion (camps; travel through regions) into their natural habitat. </a:t>
            </a: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local Tour Guide to attend and:</a:t>
            </a:r>
          </a:p>
          <a:p>
            <a:pPr marL="171450" indent="-171450">
              <a:buFont typeface="Arial" pitchFamily="34" charset="0"/>
              <a:buChar char="•"/>
            </a:pPr>
            <a:r>
              <a:rPr lang="en-AU" b="0" noProof="0" dirty="0" smtClean="0"/>
              <a:t>Discuss their orientation to sustainable tourism</a:t>
            </a:r>
          </a:p>
          <a:p>
            <a:pPr marL="171450" indent="-171450">
              <a:buFont typeface="Arial" pitchFamily="34" charset="0"/>
              <a:buChar char="•"/>
            </a:pPr>
            <a:r>
              <a:rPr lang="en-AU" b="0" noProof="0" dirty="0" smtClean="0"/>
              <a:t>Describe how they operate to comply with the principle of sustainable tourism</a:t>
            </a:r>
          </a:p>
          <a:p>
            <a:pPr marL="171450" indent="-171450">
              <a:buFont typeface="Arial" pitchFamily="34" charset="0"/>
              <a:buChar char="•"/>
            </a:pPr>
            <a:r>
              <a:rPr lang="en-AU" b="0" noProof="0" dirty="0" smtClean="0"/>
              <a:t>Indicate what they see as issues to consider when planning and introducing a sustainable tourism initiative.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587868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an important first step in planning a sustainable tourism initiative is the need to identify </a:t>
            </a:r>
            <a:r>
              <a:rPr lang="en-AU" sz="1200" kern="1200" dirty="0" smtClean="0">
                <a:solidFill>
                  <a:schemeClr val="tx1"/>
                </a:solidFill>
                <a:ea typeface="+mn-ea"/>
                <a:cs typeface="+mn-cs"/>
              </a:rPr>
              <a:t>the location of the tourism activity or operation highlighting this refers to:</a:t>
            </a:r>
          </a:p>
          <a:p>
            <a:pPr marL="171450" indent="-171450">
              <a:buFont typeface="Arial" pitchFamily="34" charset="0"/>
              <a:buChar char="•"/>
            </a:pPr>
            <a:r>
              <a:rPr lang="en-AU" sz="1200" kern="1200" dirty="0" smtClean="0">
                <a:solidFill>
                  <a:schemeClr val="tx1"/>
                </a:solidFill>
                <a:ea typeface="+mn-ea"/>
                <a:cs typeface="+mn-cs"/>
              </a:rPr>
              <a:t>Describing the immediate geographic vicinity in which the activity/operation itself is proposed – which may occur with reference to:</a:t>
            </a:r>
          </a:p>
          <a:p>
            <a:pPr marL="628650" lvl="1" indent="-171450">
              <a:buFont typeface="Arial" pitchFamily="34" charset="0"/>
              <a:buChar char="•"/>
            </a:pPr>
            <a:r>
              <a:rPr lang="en-AU" sz="1200" kern="1200" dirty="0" smtClean="0">
                <a:solidFill>
                  <a:schemeClr val="tx1"/>
                </a:solidFill>
                <a:ea typeface="+mn-ea"/>
                <a:cs typeface="+mn-cs"/>
              </a:rPr>
              <a:t>Specific latitudinal and longitudinal points</a:t>
            </a:r>
          </a:p>
          <a:p>
            <a:pPr marL="628650" lvl="1" indent="-171450">
              <a:buFont typeface="Arial" pitchFamily="34" charset="0"/>
              <a:buChar char="•"/>
            </a:pPr>
            <a:r>
              <a:rPr lang="en-AU" sz="1200" kern="1200" dirty="0" smtClean="0">
                <a:solidFill>
                  <a:schemeClr val="tx1"/>
                </a:solidFill>
                <a:ea typeface="+mn-ea"/>
                <a:cs typeface="+mn-cs"/>
              </a:rPr>
              <a:t>Name of country/countries</a:t>
            </a:r>
          </a:p>
          <a:p>
            <a:pPr marL="628650" lvl="1" indent="-171450">
              <a:buFont typeface="Arial" pitchFamily="34" charset="0"/>
              <a:buChar char="•"/>
            </a:pPr>
            <a:r>
              <a:rPr lang="en-AU" sz="1200" kern="1200" dirty="0" smtClean="0">
                <a:solidFill>
                  <a:schemeClr val="tx1"/>
                </a:solidFill>
                <a:ea typeface="+mn-ea"/>
                <a:cs typeface="+mn-cs"/>
              </a:rPr>
              <a:t>Local (recognised or generally accepted and understood) names –for towns, villages, communities, areas, regions, locales and/or points of interest</a:t>
            </a:r>
          </a:p>
          <a:p>
            <a:pPr marL="628650" lvl="1" indent="-171450">
              <a:buFont typeface="Arial" pitchFamily="34" charset="0"/>
              <a:buChar char="•"/>
            </a:pPr>
            <a:r>
              <a:rPr lang="en-AU" sz="1200" kern="1200" dirty="0" smtClean="0">
                <a:solidFill>
                  <a:schemeClr val="tx1"/>
                </a:solidFill>
                <a:ea typeface="+mn-ea"/>
                <a:cs typeface="+mn-cs"/>
              </a:rPr>
              <a:t>Geographic features – such as mountains, rivers, lakes, coastlines, islands and other prominent landforms</a:t>
            </a:r>
          </a:p>
          <a:p>
            <a:pPr marL="171450" indent="-171450">
              <a:buFont typeface="Arial" pitchFamily="34" charset="0"/>
              <a:buChar char="•"/>
            </a:pPr>
            <a:r>
              <a:rPr lang="en-AU" sz="1200" kern="1200" dirty="0" smtClean="0">
                <a:solidFill>
                  <a:schemeClr val="tx1"/>
                </a:solidFill>
                <a:ea typeface="+mn-ea"/>
                <a:cs typeface="+mn-cs"/>
              </a:rPr>
              <a:t>Stating associated geographic locations that may be impacted by the activity/operation – which may require specification of:</a:t>
            </a:r>
          </a:p>
          <a:p>
            <a:pPr marL="628650" lvl="1" indent="-171450">
              <a:buFont typeface="Arial" pitchFamily="34" charset="0"/>
              <a:buChar char="•"/>
            </a:pPr>
            <a:r>
              <a:rPr lang="en-AU" sz="1200" kern="1200" dirty="0" smtClean="0">
                <a:solidFill>
                  <a:schemeClr val="tx1"/>
                </a:solidFill>
                <a:ea typeface="+mn-ea"/>
                <a:cs typeface="+mn-cs"/>
              </a:rPr>
              <a:t>Camp sites not intrinsic to the proposed tour activity</a:t>
            </a:r>
          </a:p>
          <a:p>
            <a:pPr marL="628650" lvl="1" indent="-171450">
              <a:buFont typeface="Arial" pitchFamily="34" charset="0"/>
              <a:buChar char="•"/>
            </a:pPr>
            <a:r>
              <a:rPr lang="en-AU" sz="1200" kern="1200" dirty="0" smtClean="0">
                <a:solidFill>
                  <a:schemeClr val="tx1"/>
                </a:solidFill>
                <a:ea typeface="+mn-ea"/>
                <a:cs typeface="+mn-cs"/>
              </a:rPr>
              <a:t>Position of supporting facilities – such as parking and loading/unloading areas, airfields/landing areas, storage space for permanent plant and equipment, infrastructure, </a:t>
            </a:r>
          </a:p>
          <a:p>
            <a:pPr marL="628650" lvl="1" indent="-171450">
              <a:buFont typeface="Arial" pitchFamily="34" charset="0"/>
              <a:buChar char="•"/>
            </a:pPr>
            <a:r>
              <a:rPr lang="en-AU" sz="1200" kern="1200" dirty="0" smtClean="0">
                <a:solidFill>
                  <a:schemeClr val="tx1"/>
                </a:solidFill>
                <a:ea typeface="+mn-ea"/>
                <a:cs typeface="+mn-cs"/>
              </a:rPr>
              <a:t>Routes that will enable access (ingress and egress) to the activity/operation – including details of land, water and air travel.</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7942871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ea typeface="+mn-ea"/>
                <a:cs typeface="+mn-cs"/>
              </a:rPr>
              <a:t>exact location/s for proposed tourism activities and operations need to be correctly and specifically determined in order to:</a:t>
            </a:r>
          </a:p>
          <a:p>
            <a:pPr marL="171450" indent="-171450">
              <a:buFont typeface="Arial" pitchFamily="34" charset="0"/>
              <a:buChar char="•"/>
            </a:pPr>
            <a:r>
              <a:rPr lang="en-AU" sz="1200" kern="1200" dirty="0" smtClean="0">
                <a:solidFill>
                  <a:schemeClr val="tx1"/>
                </a:solidFill>
                <a:ea typeface="+mn-ea"/>
                <a:cs typeface="+mn-cs"/>
              </a:rPr>
              <a:t>Demonstrate transparency and openness in the proposal – which is an essential pre-requisite for generating genuine support and positive commitment to the initiative from all stakeholders</a:t>
            </a:r>
          </a:p>
          <a:p>
            <a:pPr marL="171450" indent="-171450">
              <a:buFont typeface="Arial" pitchFamily="34" charset="0"/>
              <a:buChar char="•"/>
            </a:pPr>
            <a:r>
              <a:rPr lang="en-AU" sz="1200" kern="1200" dirty="0" smtClean="0">
                <a:solidFill>
                  <a:schemeClr val="tx1"/>
                </a:solidFill>
                <a:ea typeface="+mn-ea"/>
                <a:cs typeface="+mn-cs"/>
              </a:rPr>
              <a:t>Ensure all those potentially impacted can be made aware of the proposal – and make whatever input or comment they believe is appropriate and relevant</a:t>
            </a:r>
          </a:p>
          <a:p>
            <a:pPr marL="171450" indent="-171450">
              <a:buFont typeface="Arial" pitchFamily="34" charset="0"/>
              <a:buChar char="•"/>
            </a:pPr>
            <a:r>
              <a:rPr lang="en-AU" sz="1200" kern="1200" dirty="0" smtClean="0">
                <a:solidFill>
                  <a:schemeClr val="tx1"/>
                </a:solidFill>
                <a:ea typeface="+mn-ea"/>
                <a:cs typeface="+mn-cs"/>
              </a:rPr>
              <a:t>Make sure the correct/necessary people (communities, locals, government agencies) are involved – and can be involved in the planning and subsequent stages</a:t>
            </a:r>
          </a:p>
          <a:p>
            <a:pPr marL="171450" indent="-171450">
              <a:buFont typeface="Arial" pitchFamily="34" charset="0"/>
              <a:buChar char="•"/>
            </a:pPr>
            <a:r>
              <a:rPr lang="en-AU" sz="1200" kern="1200" dirty="0" smtClean="0">
                <a:solidFill>
                  <a:schemeClr val="tx1"/>
                </a:solidFill>
                <a:ea typeface="+mn-ea"/>
                <a:cs typeface="+mn-cs"/>
              </a:rPr>
              <a:t>Begin the process of researching government funding which may be available for the area – to support sustainable/minimal impact tourism initiatives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671194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need to identify location for initiative/s – in order to:</a:t>
            </a:r>
          </a:p>
          <a:p>
            <a:pPr marL="171450" indent="-171450">
              <a:buFont typeface="Arial" pitchFamily="34" charset="0"/>
              <a:buChar char="•"/>
            </a:pPr>
            <a:r>
              <a:rPr lang="en-AU" sz="1200" kern="1200" dirty="0" smtClean="0">
                <a:solidFill>
                  <a:schemeClr val="tx1"/>
                </a:solidFill>
                <a:ea typeface="+mn-ea"/>
                <a:cs typeface="+mn-cs"/>
              </a:rPr>
              <a:t>Research standard factors that may be impacted by the proposed activity – more later but standard classification of these factors include:</a:t>
            </a:r>
          </a:p>
          <a:p>
            <a:pPr marL="628650" lvl="1" indent="-171450">
              <a:buFont typeface="Arial" pitchFamily="34" charset="0"/>
              <a:buChar char="•"/>
            </a:pPr>
            <a:r>
              <a:rPr lang="en-AU" sz="1200" kern="1200" dirty="0" smtClean="0">
                <a:solidFill>
                  <a:schemeClr val="tx1"/>
                </a:solidFill>
                <a:ea typeface="+mn-ea"/>
                <a:cs typeface="+mn-cs"/>
              </a:rPr>
              <a:t>Environmental</a:t>
            </a:r>
          </a:p>
          <a:p>
            <a:pPr marL="628650" lvl="1" indent="-171450">
              <a:buFont typeface="Arial" pitchFamily="34" charset="0"/>
              <a:buChar char="•"/>
            </a:pPr>
            <a:r>
              <a:rPr lang="en-AU" sz="1200" kern="1200" dirty="0" smtClean="0">
                <a:solidFill>
                  <a:schemeClr val="tx1"/>
                </a:solidFill>
                <a:ea typeface="+mn-ea"/>
                <a:cs typeface="+mn-cs"/>
              </a:rPr>
              <a:t>Socio-cultural</a:t>
            </a:r>
          </a:p>
          <a:p>
            <a:pPr marL="628650" lvl="1" indent="-171450">
              <a:buFont typeface="Arial" pitchFamily="34" charset="0"/>
              <a:buChar char="•"/>
            </a:pPr>
            <a:r>
              <a:rPr lang="en-AU" sz="1200" kern="1200" dirty="0" smtClean="0">
                <a:solidFill>
                  <a:schemeClr val="tx1"/>
                </a:solidFill>
                <a:ea typeface="+mn-ea"/>
                <a:cs typeface="+mn-cs"/>
              </a:rPr>
              <a:t>Economic</a:t>
            </a:r>
          </a:p>
          <a:p>
            <a:pPr marL="171450" indent="-171450">
              <a:buFont typeface="Arial" pitchFamily="34" charset="0"/>
              <a:buChar char="•"/>
            </a:pPr>
            <a:r>
              <a:rPr lang="en-AU" sz="1200" kern="1200" dirty="0" smtClean="0">
                <a:solidFill>
                  <a:schemeClr val="tx1"/>
                </a:solidFill>
                <a:ea typeface="+mn-ea"/>
                <a:cs typeface="+mn-cs"/>
              </a:rPr>
              <a:t>Identify the country/countries involved – as this will have significant importance regarding legislation and local requirements which need to be accommodated: more later </a:t>
            </a:r>
          </a:p>
          <a:p>
            <a:pPr marL="171450" indent="-171450">
              <a:buFont typeface="Arial" pitchFamily="34" charset="0"/>
              <a:buChar char="•"/>
            </a:pPr>
            <a:r>
              <a:rPr lang="en-AU" sz="1200" kern="1200" dirty="0" smtClean="0">
                <a:solidFill>
                  <a:schemeClr val="tx1"/>
                </a:solidFill>
                <a:ea typeface="+mn-ea"/>
                <a:cs typeface="+mn-cs"/>
              </a:rPr>
              <a:t>Start the process of identifying other Tourism Operators who may be operating in the area – to help determine the </a:t>
            </a:r>
            <a:r>
              <a:rPr lang="en-AU" sz="1200" i="1" kern="1200" dirty="0" smtClean="0">
                <a:solidFill>
                  <a:schemeClr val="tx1"/>
                </a:solidFill>
                <a:ea typeface="+mn-ea"/>
                <a:cs typeface="+mn-cs"/>
              </a:rPr>
              <a:t>cumulative</a:t>
            </a:r>
            <a:r>
              <a:rPr lang="en-AU" sz="1200" kern="1200" dirty="0" smtClean="0">
                <a:solidFill>
                  <a:schemeClr val="tx1"/>
                </a:solidFill>
                <a:ea typeface="+mn-ea"/>
                <a:cs typeface="+mn-cs"/>
              </a:rPr>
              <a:t> impact/total of all tours and tourists to the area</a:t>
            </a:r>
          </a:p>
          <a:p>
            <a:pPr marL="171450" indent="-171450">
              <a:buFont typeface="Arial" pitchFamily="34" charset="0"/>
              <a:buChar char="•"/>
            </a:pPr>
            <a:r>
              <a:rPr lang="en-AU" sz="1200" kern="1200" dirty="0" smtClean="0">
                <a:solidFill>
                  <a:schemeClr val="tx1"/>
                </a:solidFill>
                <a:ea typeface="+mn-ea"/>
                <a:cs typeface="+mn-cs"/>
              </a:rPr>
              <a:t>Enable identification of other non-legislated requirements which apply – in terms of (for example) existing industry Codes of Practice (COP), government plans, commercial agreements negotiated with local communities (more later)</a:t>
            </a:r>
          </a:p>
          <a:p>
            <a:pPr marL="171450" indent="-171450">
              <a:buFont typeface="Arial" pitchFamily="34" charset="0"/>
              <a:buChar char="•"/>
            </a:pPr>
            <a:r>
              <a:rPr lang="en-AU" sz="1200" kern="1200" dirty="0" smtClean="0">
                <a:solidFill>
                  <a:schemeClr val="tx1"/>
                </a:solidFill>
                <a:ea typeface="+mn-ea"/>
                <a:cs typeface="+mn-cs"/>
              </a:rPr>
              <a:t>Provide a real-world context for the written plan which will be prepared – more later on preparing plan.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41651949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ways to </a:t>
            </a:r>
            <a:r>
              <a:rPr lang="en-AU" sz="1200" kern="1200" dirty="0" smtClean="0">
                <a:solidFill>
                  <a:schemeClr val="tx1"/>
                </a:solidFill>
                <a:ea typeface="+mn-ea"/>
                <a:cs typeface="+mn-cs"/>
              </a:rPr>
              <a:t>define the location of a proposed activity/operation:</a:t>
            </a:r>
            <a:endParaRPr lang="en-AU" noProof="0" dirty="0" smtClean="0"/>
          </a:p>
          <a:p>
            <a:pPr marL="171450" indent="-171450">
              <a:buFont typeface="Arial" pitchFamily="34" charset="0"/>
              <a:buChar char="•"/>
            </a:pPr>
            <a:r>
              <a:rPr lang="en-AU" sz="1200" kern="1200" dirty="0" smtClean="0">
                <a:solidFill>
                  <a:schemeClr val="tx1"/>
                </a:solidFill>
                <a:ea typeface="+mn-ea"/>
                <a:cs typeface="+mn-cs"/>
              </a:rPr>
              <a:t>Visit the site/area – ensuring:</a:t>
            </a:r>
          </a:p>
          <a:p>
            <a:pPr marL="628650" lvl="1" indent="-171450">
              <a:buFont typeface="Arial" pitchFamily="34" charset="0"/>
              <a:buChar char="•"/>
            </a:pPr>
            <a:r>
              <a:rPr lang="en-AU" sz="1200" kern="1200" dirty="0" smtClean="0">
                <a:solidFill>
                  <a:schemeClr val="tx1"/>
                </a:solidFill>
                <a:ea typeface="+mn-ea"/>
                <a:cs typeface="+mn-cs"/>
              </a:rPr>
              <a:t>Notes are taken to describe required and/or preferred locations</a:t>
            </a:r>
          </a:p>
          <a:p>
            <a:pPr marL="628650" lvl="1" indent="-171450">
              <a:buFont typeface="Arial" pitchFamily="34" charset="0"/>
              <a:buChar char="•"/>
            </a:pPr>
            <a:r>
              <a:rPr lang="en-AU" sz="1200" kern="1200" dirty="0" smtClean="0">
                <a:solidFill>
                  <a:schemeClr val="tx1"/>
                </a:solidFill>
                <a:ea typeface="+mn-ea"/>
                <a:cs typeface="+mn-cs"/>
              </a:rPr>
              <a:t>GPS technology is used to record points</a:t>
            </a:r>
          </a:p>
          <a:p>
            <a:pPr marL="171450" indent="-171450">
              <a:buFont typeface="Arial" pitchFamily="34" charset="0"/>
              <a:buChar char="•"/>
            </a:pPr>
            <a:r>
              <a:rPr lang="en-AU" sz="1200" kern="1200" dirty="0" smtClean="0">
                <a:solidFill>
                  <a:schemeClr val="tx1"/>
                </a:solidFill>
                <a:ea typeface="+mn-ea"/>
                <a:cs typeface="+mn-cs"/>
              </a:rPr>
              <a:t>Talk to locals – to:</a:t>
            </a:r>
          </a:p>
          <a:p>
            <a:pPr marL="628650" lvl="1" indent="-171450">
              <a:buFont typeface="Arial" pitchFamily="34" charset="0"/>
              <a:buChar char="•"/>
            </a:pPr>
            <a:r>
              <a:rPr lang="en-AU" sz="1200" kern="1200" dirty="0" smtClean="0">
                <a:solidFill>
                  <a:schemeClr val="tx1"/>
                </a:solidFill>
                <a:ea typeface="+mn-ea"/>
                <a:cs typeface="+mn-cs"/>
              </a:rPr>
              <a:t>Identify local names</a:t>
            </a:r>
          </a:p>
          <a:p>
            <a:pPr marL="628650" lvl="1" indent="-171450">
              <a:buFont typeface="Arial" pitchFamily="34" charset="0"/>
              <a:buChar char="•"/>
            </a:pPr>
            <a:r>
              <a:rPr lang="en-AU" sz="1200" kern="1200" dirty="0" smtClean="0">
                <a:solidFill>
                  <a:schemeClr val="tx1"/>
                </a:solidFill>
                <a:ea typeface="+mn-ea"/>
                <a:cs typeface="+mn-cs"/>
              </a:rPr>
              <a:t>Initiate contact and relationship building</a:t>
            </a:r>
          </a:p>
          <a:p>
            <a:pPr marL="628650" lvl="1" indent="-171450">
              <a:buFont typeface="Arial" pitchFamily="34" charset="0"/>
              <a:buChar char="•"/>
            </a:pPr>
            <a:r>
              <a:rPr lang="en-AU" sz="1200" kern="1200" dirty="0" smtClean="0">
                <a:solidFill>
                  <a:schemeClr val="tx1"/>
                </a:solidFill>
                <a:ea typeface="+mn-ea"/>
                <a:cs typeface="+mn-cs"/>
              </a:rPr>
              <a:t>Find out other tours/activities already being conducted</a:t>
            </a:r>
          </a:p>
          <a:p>
            <a:pPr marL="171450" indent="-171450">
              <a:buFont typeface="Arial" pitchFamily="34" charset="0"/>
              <a:buChar char="•"/>
            </a:pPr>
            <a:r>
              <a:rPr lang="en-AU" sz="1200" kern="1200" dirty="0" smtClean="0">
                <a:solidFill>
                  <a:schemeClr val="tx1"/>
                </a:solidFill>
                <a:ea typeface="+mn-ea"/>
                <a:cs typeface="+mn-cs"/>
              </a:rPr>
              <a:t>Speak to industry bodies – to:</a:t>
            </a:r>
          </a:p>
          <a:p>
            <a:pPr marL="628650" lvl="1" indent="-171450">
              <a:buFont typeface="Arial" pitchFamily="34" charset="0"/>
              <a:buChar char="•"/>
            </a:pPr>
            <a:r>
              <a:rPr lang="en-AU" sz="1200" kern="1200" dirty="0" smtClean="0">
                <a:solidFill>
                  <a:schemeClr val="tx1"/>
                </a:solidFill>
                <a:ea typeface="+mn-ea"/>
                <a:cs typeface="+mn-cs"/>
              </a:rPr>
              <a:t>Obtain applicable Codes</a:t>
            </a:r>
          </a:p>
          <a:p>
            <a:pPr marL="628650" lvl="1" indent="-171450">
              <a:buFont typeface="Arial" pitchFamily="34" charset="0"/>
              <a:buChar char="•"/>
            </a:pPr>
            <a:r>
              <a:rPr lang="en-AU" sz="1200" kern="1200" dirty="0" smtClean="0">
                <a:solidFill>
                  <a:schemeClr val="tx1"/>
                </a:solidFill>
                <a:ea typeface="+mn-ea"/>
                <a:cs typeface="+mn-cs"/>
              </a:rPr>
              <a:t>Obtain relevant reports and/or research on the area</a:t>
            </a:r>
          </a:p>
          <a:p>
            <a:pPr marL="171450" indent="-171450">
              <a:buFont typeface="Arial" pitchFamily="34" charset="0"/>
              <a:buChar char="•"/>
            </a:pPr>
            <a:r>
              <a:rPr lang="en-AU" sz="1200" kern="1200" dirty="0" smtClean="0">
                <a:solidFill>
                  <a:schemeClr val="tx1"/>
                </a:solidFill>
                <a:ea typeface="+mn-ea"/>
                <a:cs typeface="+mn-cs"/>
              </a:rPr>
              <a:t> Liaise with government agencies – to:</a:t>
            </a:r>
          </a:p>
          <a:p>
            <a:pPr marL="628650" lvl="1" indent="-171450">
              <a:buFont typeface="Arial" pitchFamily="34" charset="0"/>
              <a:buChar char="•"/>
            </a:pPr>
            <a:r>
              <a:rPr lang="en-AU" sz="1200" kern="1200" dirty="0" smtClean="0">
                <a:solidFill>
                  <a:schemeClr val="tx1"/>
                </a:solidFill>
                <a:ea typeface="+mn-ea"/>
                <a:cs typeface="+mn-cs"/>
              </a:rPr>
              <a:t>Obtain information they have on the proposal/site</a:t>
            </a:r>
          </a:p>
          <a:p>
            <a:pPr marL="628650" lvl="1" indent="-171450">
              <a:buFont typeface="Arial" pitchFamily="34" charset="0"/>
              <a:buChar char="•"/>
            </a:pPr>
            <a:r>
              <a:rPr lang="en-AU" sz="1200" kern="1200" dirty="0" smtClean="0">
                <a:solidFill>
                  <a:schemeClr val="tx1"/>
                </a:solidFill>
                <a:ea typeface="+mn-ea"/>
                <a:cs typeface="+mn-cs"/>
              </a:rPr>
              <a:t>Determine their orientation to the proposed activity</a:t>
            </a:r>
          </a:p>
          <a:p>
            <a:pPr marL="628650" lvl="1" indent="-171450">
              <a:buFont typeface="Arial" pitchFamily="34" charset="0"/>
              <a:buChar char="•"/>
            </a:pPr>
            <a:r>
              <a:rPr lang="en-AU" sz="1200" kern="1200" dirty="0" smtClean="0">
                <a:solidFill>
                  <a:schemeClr val="tx1"/>
                </a:solidFill>
                <a:ea typeface="+mn-ea"/>
                <a:cs typeface="+mn-cs"/>
              </a:rPr>
              <a:t>Obtain copies of applicable legislation</a:t>
            </a:r>
          </a:p>
          <a:p>
            <a:pPr marL="171450" indent="-171450">
              <a:buFont typeface="Arial" pitchFamily="34" charset="0"/>
              <a:buChar char="•"/>
            </a:pPr>
            <a:r>
              <a:rPr lang="en-AU" sz="1200" kern="1200" dirty="0" smtClean="0">
                <a:solidFill>
                  <a:schemeClr val="tx1"/>
                </a:solidFill>
                <a:ea typeface="+mn-ea"/>
                <a:cs typeface="+mn-cs"/>
              </a:rPr>
              <a:t>Use suitably detailed maps – commonly a combination of:</a:t>
            </a:r>
          </a:p>
          <a:p>
            <a:pPr marL="628650" lvl="1" indent="-171450">
              <a:buFont typeface="Arial" pitchFamily="34" charset="0"/>
              <a:buChar char="•"/>
            </a:pPr>
            <a:r>
              <a:rPr lang="en-US" sz="1200" kern="1200" dirty="0" smtClean="0">
                <a:solidFill>
                  <a:schemeClr val="tx1"/>
                </a:solidFill>
                <a:ea typeface="+mn-ea"/>
                <a:cs typeface="+mn-cs"/>
              </a:rPr>
              <a:t>General reference maps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Topographic maps.</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Individual Exercise</a:t>
            </a:r>
          </a:p>
          <a:p>
            <a:pPr>
              <a:buFont typeface="Arial" pitchFamily="34" charset="0"/>
              <a:buNone/>
            </a:pPr>
            <a:r>
              <a:rPr lang="en-AU" b="0" noProof="0" dirty="0" smtClean="0"/>
              <a:t>Trainer asks students to identify a sustainable tourism initiative and provides them with necessary resources and advice to enable them to clearly and accurately define/describe the geographic location for where the initiative is</a:t>
            </a:r>
            <a:r>
              <a:rPr lang="en-AU" b="0" baseline="0" noProof="0" dirty="0" smtClean="0"/>
              <a:t> proposed.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196712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it </a:t>
            </a:r>
            <a:r>
              <a:rPr lang="en-AU" sz="1200" kern="1200" dirty="0" smtClean="0">
                <a:solidFill>
                  <a:schemeClr val="tx1"/>
                </a:solidFill>
                <a:ea typeface="+mn-ea"/>
                <a:cs typeface="+mn-cs"/>
              </a:rPr>
              <a:t>is essential to understand:</a:t>
            </a:r>
          </a:p>
          <a:p>
            <a:pPr marL="171450" indent="-171450">
              <a:buFont typeface="Arial" pitchFamily="34" charset="0"/>
              <a:buChar char="•"/>
            </a:pPr>
            <a:r>
              <a:rPr lang="en-AU" sz="1200" kern="1200" dirty="0" smtClean="0">
                <a:solidFill>
                  <a:schemeClr val="tx1"/>
                </a:solidFill>
                <a:ea typeface="+mn-ea"/>
                <a:cs typeface="+mn-cs"/>
              </a:rPr>
              <a:t>It is one of the fundamental tenets underpinning acceptance of minimal impact tourism that all tourism activity has </a:t>
            </a:r>
            <a:r>
              <a:rPr lang="en-AU" sz="1200" i="1" kern="1200" dirty="0" smtClean="0">
                <a:solidFill>
                  <a:schemeClr val="tx1"/>
                </a:solidFill>
                <a:ea typeface="+mn-ea"/>
                <a:cs typeface="+mn-cs"/>
              </a:rPr>
              <a:t>some</a:t>
            </a:r>
            <a:r>
              <a:rPr lang="en-AU" sz="1200" kern="1200" dirty="0" smtClean="0">
                <a:solidFill>
                  <a:schemeClr val="tx1"/>
                </a:solidFill>
                <a:ea typeface="+mn-ea"/>
                <a:cs typeface="+mn-cs"/>
              </a:rPr>
              <a:t> impact – no initiative in this regard is ever </a:t>
            </a:r>
            <a:r>
              <a:rPr lang="en-AU" sz="1200" i="1" kern="1200" dirty="0" smtClean="0">
                <a:solidFill>
                  <a:schemeClr val="tx1"/>
                </a:solidFill>
                <a:ea typeface="+mn-ea"/>
                <a:cs typeface="+mn-cs"/>
              </a:rPr>
              <a:t>totally</a:t>
            </a:r>
            <a:r>
              <a:rPr lang="en-AU" sz="1200" kern="1200" dirty="0" smtClean="0">
                <a:solidFill>
                  <a:schemeClr val="tx1"/>
                </a:solidFill>
                <a:ea typeface="+mn-ea"/>
                <a:cs typeface="+mn-cs"/>
              </a:rPr>
              <a:t> free of impact</a:t>
            </a:r>
          </a:p>
          <a:p>
            <a:pPr marL="171450" indent="-171450">
              <a:buFont typeface="Arial" pitchFamily="34" charset="0"/>
              <a:buChar char="•"/>
            </a:pPr>
            <a:r>
              <a:rPr lang="en-AU" sz="1200" kern="1200" dirty="0" smtClean="0">
                <a:solidFill>
                  <a:schemeClr val="tx1"/>
                </a:solidFill>
                <a:ea typeface="+mn-ea"/>
                <a:cs typeface="+mn-cs"/>
              </a:rPr>
              <a:t>The number and extent of the impact can and will vary between initiatives – meaning each proposed initiative needs to be researched on a case-by-case basis</a:t>
            </a:r>
          </a:p>
          <a:p>
            <a:pPr marL="171450" indent="-171450">
              <a:buFont typeface="Arial" pitchFamily="34" charset="0"/>
              <a:buChar char="•"/>
            </a:pPr>
            <a:r>
              <a:rPr lang="en-AU" sz="1200" kern="1200" dirty="0" smtClean="0">
                <a:solidFill>
                  <a:schemeClr val="tx1"/>
                </a:solidFill>
                <a:ea typeface="+mn-ea"/>
                <a:cs typeface="+mn-cs"/>
              </a:rPr>
              <a:t>Previous, like initiatives can provide an indication of impacts of other similar initiatives – but the link is not necessarily a direct 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5231129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giving context for this noting:</a:t>
            </a:r>
          </a:p>
          <a:p>
            <a:pPr marL="171450" indent="-171450">
              <a:buFont typeface="Arial" pitchFamily="34" charset="0"/>
              <a:buChar char="•"/>
            </a:pPr>
            <a:r>
              <a:rPr lang="en-AU" sz="1200" kern="1200" dirty="0" smtClean="0">
                <a:solidFill>
                  <a:schemeClr val="tx1"/>
                </a:solidFill>
                <a:ea typeface="+mn-ea"/>
                <a:cs typeface="+mn-cs"/>
              </a:rPr>
              <a:t>Impacts can be positive or negative – a positive impact in one area/set of factors can also result in a negative impact in one or more other areas/sets of factors: the impact is not </a:t>
            </a:r>
            <a:r>
              <a:rPr lang="en-AU" sz="1200" i="1" kern="1200" dirty="0" smtClean="0">
                <a:solidFill>
                  <a:schemeClr val="tx1"/>
                </a:solidFill>
                <a:ea typeface="+mn-ea"/>
                <a:cs typeface="+mn-cs"/>
              </a:rPr>
              <a:t>always</a:t>
            </a:r>
            <a:r>
              <a:rPr lang="en-AU" sz="1200" kern="1200" dirty="0" smtClean="0">
                <a:solidFill>
                  <a:schemeClr val="tx1"/>
                </a:solidFill>
                <a:ea typeface="+mn-ea"/>
                <a:cs typeface="+mn-cs"/>
              </a:rPr>
              <a:t> unilaterally positive or negative for any given initiative</a:t>
            </a:r>
          </a:p>
          <a:p>
            <a:pPr marL="171450" indent="-171450">
              <a:buFont typeface="Arial" pitchFamily="34" charset="0"/>
              <a:buChar char="•"/>
            </a:pPr>
            <a:r>
              <a:rPr lang="en-AU" sz="1200" kern="1200" dirty="0" smtClean="0">
                <a:solidFill>
                  <a:schemeClr val="tx1"/>
                </a:solidFill>
                <a:ea typeface="+mn-ea"/>
                <a:cs typeface="+mn-cs"/>
              </a:rPr>
              <a:t>There is often a lack of clarity and/or consensus about what the projected impacts of a minimal impact tourism initiative will be – despite consultation, debate and discussion there can be quite heated disagreement about the way research was done, assumptions which were made, stakeholders who were involved and the amount and type of consultation entered into</a:t>
            </a:r>
          </a:p>
          <a:p>
            <a:pPr marL="171450" indent="-171450">
              <a:buFont typeface="Arial" pitchFamily="34" charset="0"/>
              <a:buChar char="•"/>
            </a:pPr>
            <a:r>
              <a:rPr lang="en-AU" sz="1200" kern="1200" dirty="0" smtClean="0">
                <a:solidFill>
                  <a:schemeClr val="tx1"/>
                </a:solidFill>
                <a:ea typeface="+mn-ea"/>
                <a:cs typeface="+mn-cs"/>
              </a:rPr>
              <a:t>Tourism Operators who subscribe to an industry Code relating to sustainable/minimal impact tourism development/operation are commonly required by that Code to research impact on these factors – as standard practice</a:t>
            </a:r>
          </a:p>
          <a:p>
            <a:pPr marL="171450" indent="-171450">
              <a:buFont typeface="Arial" pitchFamily="34" charset="0"/>
              <a:buChar char="•"/>
            </a:pPr>
            <a:r>
              <a:rPr lang="en-AU" sz="1200" kern="1200" dirty="0" smtClean="0">
                <a:solidFill>
                  <a:schemeClr val="tx1"/>
                </a:solidFill>
                <a:ea typeface="+mn-ea"/>
                <a:cs typeface="+mn-cs"/>
              </a:rPr>
              <a:t>There is often a mandatory </a:t>
            </a:r>
            <a:r>
              <a:rPr lang="en-AU" sz="1200" i="1" kern="1200" dirty="0" smtClean="0">
                <a:solidFill>
                  <a:schemeClr val="tx1"/>
                </a:solidFill>
                <a:ea typeface="+mn-ea"/>
                <a:cs typeface="+mn-cs"/>
              </a:rPr>
              <a:t>external</a:t>
            </a:r>
            <a:r>
              <a:rPr lang="en-AU" sz="1200" kern="1200" dirty="0" smtClean="0">
                <a:solidFill>
                  <a:schemeClr val="tx1"/>
                </a:solidFill>
                <a:ea typeface="+mn-ea"/>
                <a:cs typeface="+mn-cs"/>
              </a:rPr>
              <a:t> requirement for research of this type to be undertaken – before a proposal can be approved by local communities, government agencies or industry bodies (and/or for funding).</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Officer/representative from local government tourism agency to attend and:</a:t>
            </a:r>
          </a:p>
          <a:p>
            <a:pPr marL="171450" indent="-171450">
              <a:buFont typeface="Arial" pitchFamily="34" charset="0"/>
              <a:buChar char="•"/>
            </a:pPr>
            <a:r>
              <a:rPr lang="en-AU" b="0" noProof="0" dirty="0" smtClean="0"/>
              <a:t>Detail their orientation to sustainable tourism</a:t>
            </a:r>
          </a:p>
          <a:p>
            <a:pPr marL="171450" indent="-171450">
              <a:buFont typeface="Arial" pitchFamily="34" charset="0"/>
              <a:buChar char="•"/>
            </a:pPr>
            <a:r>
              <a:rPr lang="en-AU" b="0" noProof="0" dirty="0" smtClean="0"/>
              <a:t>Explain support available to industry for sustainable tourism initiatives</a:t>
            </a:r>
          </a:p>
          <a:p>
            <a:pPr marL="171450" indent="-171450">
              <a:buFont typeface="Arial" pitchFamily="34" charset="0"/>
              <a:buChar char="•"/>
            </a:pPr>
            <a:r>
              <a:rPr lang="en-AU" b="0" noProof="0" dirty="0" smtClean="0"/>
              <a:t>Describe compliance requirements for local tourism initiatives.</a:t>
            </a:r>
          </a:p>
          <a:p>
            <a:pPr>
              <a:buFont typeface="Arial" pitchFamily="34" charset="0"/>
              <a:buChar char="•"/>
            </a:pPr>
            <a:endParaRPr lang="en-AU" b="0" noProof="0" dirty="0" smtClean="0"/>
          </a:p>
          <a:p>
            <a:pPr>
              <a:buFont typeface="Arial" pitchFamily="34" charset="0"/>
              <a:buChar char="•"/>
            </a:pPr>
            <a:endParaRPr lang="en-AU" b="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931314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a:t>
            </a:r>
            <a:r>
              <a:rPr lang="en-AU" sz="1200" kern="1200" dirty="0" smtClean="0">
                <a:solidFill>
                  <a:schemeClr val="tx1"/>
                </a:solidFill>
                <a:ea typeface="+mn-ea"/>
                <a:cs typeface="+mn-cs"/>
              </a:rPr>
              <a:t>it is accepted tourism generally impacts:</a:t>
            </a:r>
          </a:p>
          <a:p>
            <a:pPr marL="171450" indent="-171450">
              <a:buFont typeface="Arial" pitchFamily="34" charset="0"/>
              <a:buChar char="•"/>
            </a:pPr>
            <a:r>
              <a:rPr lang="en-AU" sz="1200" kern="1200" dirty="0" smtClean="0">
                <a:solidFill>
                  <a:schemeClr val="tx1"/>
                </a:solidFill>
                <a:ea typeface="+mn-ea"/>
                <a:cs typeface="+mn-cs"/>
              </a:rPr>
              <a:t>The environment</a:t>
            </a:r>
          </a:p>
          <a:p>
            <a:pPr marL="171450" indent="-171450">
              <a:buFont typeface="Arial" pitchFamily="34" charset="0"/>
              <a:buChar char="•"/>
            </a:pPr>
            <a:r>
              <a:rPr lang="en-AU" sz="1200" kern="1200" dirty="0" smtClean="0">
                <a:solidFill>
                  <a:schemeClr val="tx1"/>
                </a:solidFill>
                <a:ea typeface="+mn-ea"/>
                <a:cs typeface="+mn-cs"/>
              </a:rPr>
              <a:t>Society and culture</a:t>
            </a:r>
          </a:p>
          <a:p>
            <a:pPr marL="171450" indent="-171450">
              <a:buFont typeface="Arial" pitchFamily="34" charset="0"/>
              <a:buChar char="•"/>
            </a:pPr>
            <a:r>
              <a:rPr lang="en-AU" sz="1200" kern="1200" dirty="0" smtClean="0">
                <a:solidFill>
                  <a:schemeClr val="tx1"/>
                </a:solidFill>
                <a:ea typeface="+mn-ea"/>
                <a:cs typeface="+mn-cs"/>
              </a:rPr>
              <a:t>The economy.</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http://www.unep.org/resourceefficiency/Business/SectoralActivities/Tourism/FactsandFiguresaboutTourism/ImpactsofTourism/tabid/78774/Default.aspx</a:t>
            </a:r>
            <a:r>
              <a:rPr lang="en-AU" sz="1200" kern="1200" dirty="0" smtClean="0">
                <a:solidFill>
                  <a:schemeClr val="tx1"/>
                </a:solidFill>
                <a:ea typeface="+mn-ea"/>
                <a:cs typeface="+mn-cs"/>
              </a:rPr>
              <a:t> - Impacts of tourism</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2544836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also mentions there is a need to  consider the carrying capacity of the location, with reference to:</a:t>
            </a:r>
          </a:p>
          <a:p>
            <a:pPr marL="171450" indent="-171450">
              <a:buFont typeface="Arial" pitchFamily="34" charset="0"/>
              <a:buChar char="•"/>
            </a:pPr>
            <a:r>
              <a:rPr lang="en-AU" sz="1200" kern="1200" dirty="0" smtClean="0">
                <a:solidFill>
                  <a:schemeClr val="tx1"/>
                </a:solidFill>
                <a:ea typeface="+mn-ea"/>
                <a:cs typeface="+mn-cs"/>
              </a:rPr>
              <a:t>Ecological carrying capacity relates to the maximum use of a tourist resource without causing any harm to the environment</a:t>
            </a:r>
          </a:p>
          <a:p>
            <a:pPr marL="171450" indent="-171450">
              <a:buFont typeface="Arial" pitchFamily="34" charset="0"/>
              <a:buChar char="•"/>
            </a:pPr>
            <a:r>
              <a:rPr lang="en-AU" sz="1200" kern="1200" dirty="0" smtClean="0">
                <a:solidFill>
                  <a:schemeClr val="tx1"/>
                </a:solidFill>
                <a:ea typeface="+mn-ea"/>
                <a:cs typeface="+mn-cs"/>
              </a:rPr>
              <a:t>Social carrying capacity relates to the reaction of the local people to the tourist development of the place, which should never be negative</a:t>
            </a:r>
          </a:p>
          <a:p>
            <a:pPr marL="171450" indent="-171450">
              <a:buFont typeface="Arial" pitchFamily="34" charset="0"/>
              <a:buChar char="•"/>
            </a:pPr>
            <a:r>
              <a:rPr lang="en-AU" sz="1200" kern="1200" dirty="0" smtClean="0">
                <a:solidFill>
                  <a:schemeClr val="tx1"/>
                </a:solidFill>
                <a:ea typeface="+mn-ea"/>
                <a:cs typeface="+mn-cs"/>
              </a:rPr>
              <a:t>Psychological carrying capacity relates to the quality of visitors’ satisfaction with a certain tourist destination, which is not to be decreased</a:t>
            </a:r>
          </a:p>
          <a:p>
            <a:pPr marL="171450" indent="-171450">
              <a:buFont typeface="Arial" pitchFamily="34" charset="0"/>
              <a:buChar char="•"/>
            </a:pPr>
            <a:r>
              <a:rPr lang="en-AU" sz="1200" kern="1200" dirty="0" smtClean="0">
                <a:solidFill>
                  <a:schemeClr val="tx1"/>
                </a:solidFill>
                <a:ea typeface="+mn-ea"/>
                <a:cs typeface="+mn-cs"/>
              </a:rPr>
              <a:t>Economic carrying capacity relates to the level of acceptable dependence between the local economy and the level of the tourist development of a place, which should never become too heavy. </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http://www.slideshare.net/tofujay/carrying-capacity-16284835</a:t>
            </a:r>
            <a:r>
              <a:rPr lang="en-AU" sz="1200" kern="1200" dirty="0" smtClean="0">
                <a:solidFill>
                  <a:schemeClr val="tx1"/>
                </a:solidFill>
                <a:ea typeface="+mn-ea"/>
                <a:cs typeface="+mn-cs"/>
              </a:rPr>
              <a:t> - Carrying capacity</a:t>
            </a:r>
            <a:endParaRPr lang="en-AU" sz="1200" u="sng" kern="1200" dirty="0" smtClean="0">
              <a:solidFill>
                <a:schemeClr val="tx1"/>
              </a:solidFill>
              <a:ea typeface="+mn-ea"/>
              <a:cs typeface="+mn-cs"/>
              <a:hlinkClick r:id="rId4"/>
            </a:endParaRPr>
          </a:p>
          <a:p>
            <a:pPr>
              <a:buFont typeface="Arial" pitchFamily="34" charset="0"/>
              <a:buNone/>
            </a:pPr>
            <a:r>
              <a:rPr lang="en-AU" sz="1200" u="sng" kern="1200" dirty="0" smtClean="0">
                <a:solidFill>
                  <a:schemeClr val="tx1"/>
                </a:solidFill>
                <a:ea typeface="+mn-ea"/>
                <a:cs typeface="+mn-cs"/>
                <a:hlinkClick r:id="rId4"/>
              </a:rPr>
              <a:t>http://www.biodiversity.ru/coastlearn/tourism-eng/con_capacity.html</a:t>
            </a:r>
            <a:r>
              <a:rPr lang="en-AU" sz="1200" kern="1200" dirty="0" smtClean="0">
                <a:solidFill>
                  <a:schemeClr val="tx1"/>
                </a:solidFill>
                <a:ea typeface="+mn-ea"/>
                <a:cs typeface="+mn-cs"/>
              </a:rPr>
              <a:t> - Sustainable Tourism</a:t>
            </a:r>
          </a:p>
          <a:p>
            <a:pPr>
              <a:buFont typeface="Arial" pitchFamily="34" charset="0"/>
              <a:buNone/>
            </a:pPr>
            <a:r>
              <a:rPr lang="en-AU" sz="1200" u="sng" kern="1200" dirty="0" smtClean="0">
                <a:solidFill>
                  <a:schemeClr val="tx1"/>
                </a:solidFill>
                <a:ea typeface="+mn-ea"/>
                <a:cs typeface="+mn-cs"/>
                <a:hlinkClick r:id="rId5"/>
              </a:rPr>
              <a:t>http://www.google.com/url?sa=t&amp;rct=j&amp;q=&amp;esrc=s&amp;source=web&amp;cd=3&amp;ved=0CDcQFjAC&amp;url=http%3A%2F%2Fwww.danubecc.org%2Fupl%2FE-learning%2520Modules%2FModule%25205%2520-%2520Tourism%2520carrying%2520capacity.doc&amp;ei=fHVrVbLyLZD98QWf-4OgAw&amp;usg=AFQjCNHcxtceGSLuL43c7uLhc3MsiCptOQ&amp;sig2=XNjpn4KWDS3PsUfn10Eobw&amp;bvm=bv.94455598,d.dGc</a:t>
            </a:r>
            <a:r>
              <a:rPr lang="en-AU" sz="1200" kern="1200" dirty="0" smtClean="0">
                <a:solidFill>
                  <a:schemeClr val="tx1"/>
                </a:solidFill>
                <a:ea typeface="+mn-ea"/>
                <a:cs typeface="+mn-cs"/>
              </a:rPr>
              <a:t> – Module 5:Tourism carrying capacity</a:t>
            </a:r>
          </a:p>
          <a:p>
            <a:pPr>
              <a:buFont typeface="Arial" pitchFamily="34" charset="0"/>
              <a:buNone/>
            </a:pPr>
            <a:r>
              <a:rPr lang="en-AU" sz="1200" kern="1200" dirty="0" smtClean="0">
                <a:solidFill>
                  <a:schemeClr val="tx1"/>
                </a:solidFill>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39737968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explains possible environmental factors impacted by a tourism initiative can be related to:</a:t>
            </a:r>
          </a:p>
          <a:p>
            <a:pPr marL="171450" indent="-171450">
              <a:buFont typeface="Arial" pitchFamily="34" charset="0"/>
              <a:buChar char="•"/>
            </a:pPr>
            <a:r>
              <a:rPr lang="en-AU" sz="1200" kern="1200" dirty="0" smtClean="0">
                <a:solidFill>
                  <a:schemeClr val="tx1"/>
                </a:solidFill>
                <a:ea typeface="+mn-ea"/>
                <a:cs typeface="+mn-cs"/>
              </a:rPr>
              <a:t>The natural environment – which may include:</a:t>
            </a:r>
          </a:p>
          <a:p>
            <a:pPr marL="628650" lvl="1" indent="-171450">
              <a:buFont typeface="Arial" pitchFamily="34" charset="0"/>
              <a:buChar char="•"/>
            </a:pPr>
            <a:r>
              <a:rPr lang="en-AU" sz="1200" kern="1200" dirty="0" smtClean="0">
                <a:solidFill>
                  <a:schemeClr val="tx1"/>
                </a:solidFill>
                <a:ea typeface="+mn-ea"/>
                <a:cs typeface="+mn-cs"/>
              </a:rPr>
              <a:t>Possible air pollution – caused by vehicles and camp fires</a:t>
            </a:r>
          </a:p>
          <a:p>
            <a:pPr marL="628650" lvl="1" indent="-171450">
              <a:buFont typeface="Arial" pitchFamily="34" charset="0"/>
              <a:buChar char="•"/>
            </a:pPr>
            <a:r>
              <a:rPr lang="en-AU" sz="1200" kern="1200" dirty="0" smtClean="0">
                <a:solidFill>
                  <a:schemeClr val="tx1"/>
                </a:solidFill>
                <a:ea typeface="+mn-ea"/>
                <a:cs typeface="+mn-cs"/>
              </a:rPr>
              <a:t>Contamination of fresh water, sea water and drinking water – through litter and sewage</a:t>
            </a:r>
          </a:p>
          <a:p>
            <a:pPr marL="628650" lvl="1" indent="-171450">
              <a:buFont typeface="Arial" pitchFamily="34" charset="0"/>
              <a:buChar char="•"/>
            </a:pPr>
            <a:r>
              <a:rPr lang="en-AU" sz="1200" kern="1200" dirty="0" smtClean="0">
                <a:solidFill>
                  <a:schemeClr val="tx1"/>
                </a:solidFill>
                <a:ea typeface="+mn-ea"/>
                <a:cs typeface="+mn-cs"/>
              </a:rPr>
              <a:t>Degradation of land/landscape – as a result of vehicles, presence of tourists, tourism activities on-site, camping </a:t>
            </a:r>
          </a:p>
          <a:p>
            <a:pPr marL="628650" lvl="1" indent="-171450">
              <a:buFont typeface="Arial" pitchFamily="34" charset="0"/>
              <a:buChar char="•"/>
            </a:pPr>
            <a:r>
              <a:rPr lang="en-AU" sz="1200" kern="1200" dirty="0" smtClean="0">
                <a:solidFill>
                  <a:schemeClr val="tx1"/>
                </a:solidFill>
                <a:ea typeface="+mn-ea"/>
                <a:cs typeface="+mn-cs"/>
              </a:rPr>
              <a:t>Increased use of scarce local resources – such as fuel, drinking water, </a:t>
            </a:r>
          </a:p>
          <a:p>
            <a:pPr marL="628650" lvl="1" indent="-171450">
              <a:buFont typeface="Arial" pitchFamily="34" charset="0"/>
              <a:buChar char="•"/>
            </a:pPr>
            <a:r>
              <a:rPr lang="en-AU" sz="1200" kern="1200" dirty="0" smtClean="0">
                <a:solidFill>
                  <a:schemeClr val="tx1"/>
                </a:solidFill>
                <a:ea typeface="+mn-ea"/>
                <a:cs typeface="+mn-cs"/>
              </a:rPr>
              <a:t>Greater levels of noise – caused by the extra vehicles, activities and people</a:t>
            </a:r>
          </a:p>
          <a:p>
            <a:pPr marL="628650" lvl="1" indent="-171450">
              <a:buFont typeface="Arial" pitchFamily="34" charset="0"/>
              <a:buChar char="•"/>
            </a:pPr>
            <a:r>
              <a:rPr lang="en-AU" sz="1200" kern="1200" dirty="0" smtClean="0">
                <a:solidFill>
                  <a:schemeClr val="tx1"/>
                </a:solidFill>
                <a:ea typeface="+mn-ea"/>
                <a:cs typeface="+mn-cs"/>
              </a:rPr>
              <a:t>Aesthetic pollution – simply caused by presence of vehicles, people and man-made items in a natural environment</a:t>
            </a:r>
          </a:p>
          <a:p>
            <a:pPr marL="628650" lvl="1" indent="-171450">
              <a:buFont typeface="Arial" pitchFamily="34" charset="0"/>
              <a:buChar char="•"/>
            </a:pPr>
            <a:r>
              <a:rPr lang="en-AU" sz="1200" kern="1200" dirty="0" smtClean="0">
                <a:solidFill>
                  <a:schemeClr val="tx1"/>
                </a:solidFill>
                <a:ea typeface="+mn-ea"/>
                <a:cs typeface="+mn-cs"/>
              </a:rPr>
              <a:t>Increase in waste (litter and rubbish) generated by tourists and their presence/activities</a:t>
            </a:r>
          </a:p>
          <a:p>
            <a:pPr marL="171450" indent="-171450">
              <a:buFont typeface="Arial" pitchFamily="34" charset="0"/>
              <a:buChar char="•"/>
            </a:pPr>
            <a:r>
              <a:rPr lang="en-AU" sz="1200" kern="1200" dirty="0" smtClean="0">
                <a:solidFill>
                  <a:schemeClr val="tx1"/>
                </a:solidFill>
                <a:ea typeface="+mn-ea"/>
                <a:cs typeface="+mn-cs"/>
              </a:rPr>
              <a:t>The built environment – in relation to the impact of extra people/tourists in relation to:</a:t>
            </a:r>
          </a:p>
          <a:p>
            <a:pPr marL="628650" lvl="1" indent="-171450">
              <a:buFont typeface="Arial" pitchFamily="34" charset="0"/>
              <a:buChar char="•"/>
            </a:pPr>
            <a:r>
              <a:rPr lang="en-AU" sz="1200" kern="1200" dirty="0" smtClean="0">
                <a:solidFill>
                  <a:schemeClr val="tx1"/>
                </a:solidFill>
                <a:ea typeface="+mn-ea"/>
                <a:cs typeface="+mn-cs"/>
              </a:rPr>
              <a:t>How their presence will affect the existing infrastructure – such as impact of tourists coaches and vehicles on local roads; impact of extra people at monument sites and buildings (museums, public toilets, hospitals, transport hubs)</a:t>
            </a:r>
          </a:p>
          <a:p>
            <a:pPr marL="628650" lvl="1" indent="-171450">
              <a:buFont typeface="Arial" pitchFamily="34" charset="0"/>
              <a:buChar char="•"/>
            </a:pPr>
            <a:r>
              <a:rPr lang="en-AU" sz="1200" kern="1200" dirty="0" smtClean="0">
                <a:solidFill>
                  <a:schemeClr val="tx1"/>
                </a:solidFill>
                <a:ea typeface="+mn-ea"/>
                <a:cs typeface="+mn-cs"/>
              </a:rPr>
              <a:t>Need to build/provide new infrastructure/buildings – to cater for proposed traffic (vehicular and pedestrian/foot)</a:t>
            </a:r>
          </a:p>
          <a:p>
            <a:pPr marL="171450" indent="-171450">
              <a:buFont typeface="Arial" pitchFamily="34" charset="0"/>
              <a:buChar char="•"/>
            </a:pPr>
            <a:r>
              <a:rPr lang="en-AU" sz="1200" kern="1200" dirty="0" smtClean="0">
                <a:solidFill>
                  <a:schemeClr val="tx1"/>
                </a:solidFill>
                <a:ea typeface="+mn-ea"/>
                <a:cs typeface="+mn-cs"/>
              </a:rPr>
              <a:t>The ecology – and the impact of tourism on:</a:t>
            </a:r>
          </a:p>
          <a:p>
            <a:pPr marL="628650" lvl="1" indent="-171450">
              <a:buFont typeface="Arial" pitchFamily="34" charset="0"/>
              <a:buChar char="•"/>
            </a:pPr>
            <a:r>
              <a:rPr lang="en-AU" sz="1200" kern="1200" dirty="0" smtClean="0">
                <a:solidFill>
                  <a:schemeClr val="tx1"/>
                </a:solidFill>
                <a:ea typeface="+mn-ea"/>
                <a:cs typeface="+mn-cs"/>
              </a:rPr>
              <a:t>Animals and their habitat; Plants; Other organisms.</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http://www.unep.org/resourceefficiency/Home/Business/SectoralActivities/Tourism/WhyTourism/ImpactsofTourism/EnvironmentalImpacts/tabid/78775/Default.aspx</a:t>
            </a:r>
            <a:r>
              <a:rPr lang="en-AU" sz="1200" u="sng" kern="1200" dirty="0" smtClean="0">
                <a:solidFill>
                  <a:schemeClr val="tx1"/>
                </a:solidFill>
                <a:ea typeface="+mn-ea"/>
                <a:cs typeface="+mn-cs"/>
              </a:rPr>
              <a:t> </a:t>
            </a:r>
            <a:r>
              <a:rPr lang="en-AU" sz="1200" u="none" kern="1200" dirty="0" smtClean="0">
                <a:solidFill>
                  <a:schemeClr val="tx1"/>
                </a:solidFill>
                <a:ea typeface="+mn-ea"/>
                <a:cs typeface="+mn-cs"/>
              </a:rPr>
              <a:t>– Environmental impacts.</a:t>
            </a:r>
            <a:endParaRPr lang="en-AU" u="none"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8706244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possible socio-cultural factors impacted by a tourism initiative can be related to:</a:t>
            </a:r>
          </a:p>
          <a:p>
            <a:pPr marL="171450" indent="-171450">
              <a:buFont typeface="Arial" pitchFamily="34" charset="0"/>
              <a:buChar char="•"/>
            </a:pPr>
            <a:r>
              <a:rPr lang="en-AU" sz="1200" kern="1200" dirty="0" smtClean="0">
                <a:solidFill>
                  <a:schemeClr val="tx1"/>
                </a:solidFill>
                <a:ea typeface="+mn-ea"/>
                <a:cs typeface="+mn-cs"/>
              </a:rPr>
              <a:t>Commodification of a community/society – where their rituals and culture are converted into a ‘product’ to be sold, creating what they call a ‘reconstructed ethnicity’ which is altered for commercial purposes</a:t>
            </a:r>
          </a:p>
          <a:p>
            <a:pPr marL="171450" indent="-171450">
              <a:buFont typeface="Arial" pitchFamily="34" charset="0"/>
              <a:buChar char="•"/>
            </a:pPr>
            <a:r>
              <a:rPr lang="en-AU" sz="1200" kern="1200" dirty="0" smtClean="0">
                <a:solidFill>
                  <a:schemeClr val="tx1"/>
                </a:solidFill>
                <a:ea typeface="+mn-ea"/>
                <a:cs typeface="+mn-cs"/>
              </a:rPr>
              <a:t>Standardisation – meaning the unique nature of a culture/society is standardised to meet the expectations of (some) tourists</a:t>
            </a:r>
          </a:p>
          <a:p>
            <a:pPr marL="171450" indent="-171450">
              <a:buFont typeface="Arial" pitchFamily="34" charset="0"/>
              <a:buChar char="•"/>
            </a:pPr>
            <a:r>
              <a:rPr lang="en-AU" sz="1200" kern="1200" dirty="0" smtClean="0">
                <a:solidFill>
                  <a:schemeClr val="tx1"/>
                </a:solidFill>
                <a:ea typeface="+mn-ea"/>
                <a:cs typeface="+mn-cs"/>
              </a:rPr>
              <a:t>Loss of authenticity – as the people adapt to accommodate the actual or perceived needs of the tourists, producing sometimes what the UN refers to as ‘staged authenticity’</a:t>
            </a:r>
          </a:p>
          <a:p>
            <a:pPr marL="171450" indent="-171450">
              <a:buFont typeface="Arial" pitchFamily="34" charset="0"/>
              <a:buChar char="•"/>
            </a:pPr>
            <a:r>
              <a:rPr lang="en-AU" sz="1200" kern="1200" dirty="0" smtClean="0">
                <a:solidFill>
                  <a:schemeClr val="tx1"/>
                </a:solidFill>
                <a:ea typeface="+mn-ea"/>
                <a:cs typeface="+mn-cs"/>
              </a:rPr>
              <a:t>Adaptation to tourist demands – as local communities focus of producing artefacts and items suited to the demands of tourists rather than their own needs.</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http://www.unep.org/resourceefficiency/Home/Business/SectoralActivities/Tourism/WhyTourism/ImpactsofTourism/SocioCulturalImpacts/tabid/78780/Default.aspx</a:t>
            </a:r>
            <a:r>
              <a:rPr lang="en-AU" sz="1200" u="none" kern="1200" dirty="0" smtClean="0">
                <a:solidFill>
                  <a:schemeClr val="tx1"/>
                </a:solidFill>
                <a:ea typeface="+mn-ea"/>
                <a:cs typeface="+mn-cs"/>
              </a:rPr>
              <a:t> – Socio-cultural impacts.</a:t>
            </a:r>
            <a:endParaRPr lang="en-AU" u="none"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5641589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possible socio-cultural factors impacted by a tourism initiative can be related to:</a:t>
            </a:r>
          </a:p>
          <a:p>
            <a:pPr marL="171450" indent="-171450">
              <a:buFont typeface="Arial" pitchFamily="34" charset="0"/>
              <a:buChar char="•"/>
            </a:pPr>
            <a:r>
              <a:rPr lang="en-AU" sz="1200" kern="1200" dirty="0" smtClean="0">
                <a:solidFill>
                  <a:schemeClr val="tx1"/>
                </a:solidFill>
                <a:ea typeface="+mn-ea"/>
                <a:cs typeface="+mn-cs"/>
              </a:rPr>
              <a:t>Cultural clashes – where people from different cultures do not mix, perhaps based on:</a:t>
            </a:r>
          </a:p>
          <a:p>
            <a:pPr marL="628650" lvl="1" indent="-171450">
              <a:buFont typeface="Arial" pitchFamily="34" charset="0"/>
              <a:buChar char="•"/>
            </a:pPr>
            <a:r>
              <a:rPr lang="en-AU" sz="1200" kern="1200" dirty="0" smtClean="0">
                <a:solidFill>
                  <a:schemeClr val="tx1"/>
                </a:solidFill>
                <a:ea typeface="+mn-ea"/>
                <a:cs typeface="+mn-cs"/>
              </a:rPr>
              <a:t>Economic inequality between cultures/peoples</a:t>
            </a:r>
          </a:p>
          <a:p>
            <a:pPr marL="628650" lvl="1" indent="-171450">
              <a:buFont typeface="Arial" pitchFamily="34" charset="0"/>
              <a:buChar char="•"/>
            </a:pPr>
            <a:r>
              <a:rPr lang="en-AU" sz="1200" kern="1200" dirty="0" smtClean="0">
                <a:solidFill>
                  <a:schemeClr val="tx1"/>
                </a:solidFill>
                <a:ea typeface="+mn-ea"/>
                <a:cs typeface="+mn-cs"/>
              </a:rPr>
              <a:t>Irritation regarding the behaviour displayed by tourists while at the location</a:t>
            </a:r>
          </a:p>
          <a:p>
            <a:pPr marL="628650" lvl="1" indent="-171450">
              <a:buFont typeface="Arial" pitchFamily="34" charset="0"/>
              <a:buChar char="•"/>
            </a:pPr>
            <a:r>
              <a:rPr lang="en-AU" sz="1200" kern="1200" dirty="0" smtClean="0">
                <a:solidFill>
                  <a:schemeClr val="tx1"/>
                </a:solidFill>
                <a:ea typeface="+mn-ea"/>
                <a:cs typeface="+mn-cs"/>
              </a:rPr>
              <a:t>Job level friction – in that local people are often employed in lower level/lower paying jobs than other workers employed by the Tourism Operator</a:t>
            </a:r>
          </a:p>
          <a:p>
            <a:pPr marL="171450" indent="-171450">
              <a:buFont typeface="Arial" pitchFamily="34" charset="0"/>
              <a:buChar char="•"/>
            </a:pPr>
            <a:r>
              <a:rPr lang="en-AU" sz="1200" kern="1200" dirty="0" smtClean="0">
                <a:solidFill>
                  <a:schemeClr val="tx1"/>
                </a:solidFill>
                <a:ea typeface="+mn-ea"/>
                <a:cs typeface="+mn-cs"/>
              </a:rPr>
              <a:t>Increase in crime rates – caused when locals steal from tourists</a:t>
            </a:r>
          </a:p>
          <a:p>
            <a:pPr marL="171450" indent="-171450">
              <a:buFont typeface="Arial" pitchFamily="34" charset="0"/>
              <a:buChar char="•"/>
            </a:pPr>
            <a:r>
              <a:rPr lang="en-AU" sz="1200" kern="1200" dirty="0" smtClean="0">
                <a:solidFill>
                  <a:schemeClr val="tx1"/>
                </a:solidFill>
                <a:ea typeface="+mn-ea"/>
                <a:cs typeface="+mn-cs"/>
              </a:rPr>
              <a:t>Child labour </a:t>
            </a:r>
          </a:p>
          <a:p>
            <a:pPr marL="171450" indent="-171450">
              <a:buFont typeface="Arial" pitchFamily="34" charset="0"/>
              <a:buChar char="•"/>
            </a:pPr>
            <a:r>
              <a:rPr lang="en-AU" sz="1200" kern="1200" dirty="0" smtClean="0">
                <a:solidFill>
                  <a:schemeClr val="tx1"/>
                </a:solidFill>
                <a:ea typeface="+mn-ea"/>
                <a:cs typeface="+mn-cs"/>
              </a:rPr>
              <a:t>Prostitution and sex tourism.</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http://www.unep.org/resourceefficiency/Business/SectoralActivities/Tourism/FactsandFiguresaboutTourism/ImpactsofTourism/Socio-CulturalImpacts/NegativeSocio-CulturalImpactsFromTourism/tabid/78781/Default.aspx</a:t>
            </a:r>
            <a:r>
              <a:rPr lang="en-AU" sz="1200" u="none" kern="1200" dirty="0" smtClean="0">
                <a:solidFill>
                  <a:schemeClr val="tx1"/>
                </a:solidFill>
                <a:ea typeface="+mn-ea"/>
                <a:cs typeface="+mn-cs"/>
              </a:rPr>
              <a:t> – Negative socio-cultural impacts from tourism.</a:t>
            </a:r>
            <a:endParaRPr lang="en-AU" u="none"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343104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explains possible economic factors impacted by a tourism initiative can be related to:</a:t>
            </a:r>
          </a:p>
          <a:p>
            <a:pPr marL="171450" indent="-171450">
              <a:buFont typeface="Arial" pitchFamily="34" charset="0"/>
              <a:buChar char="•"/>
            </a:pPr>
            <a:r>
              <a:rPr lang="en-AU" sz="1200" kern="1200" dirty="0" smtClean="0">
                <a:solidFill>
                  <a:schemeClr val="tx1"/>
                </a:solidFill>
                <a:ea typeface="+mn-ea"/>
                <a:cs typeface="+mn-cs"/>
              </a:rPr>
              <a:t>Employment – and:</a:t>
            </a:r>
          </a:p>
          <a:p>
            <a:pPr marL="628650" lvl="1" indent="-171450">
              <a:buFont typeface="Arial" pitchFamily="34" charset="0"/>
              <a:buChar char="•"/>
            </a:pPr>
            <a:r>
              <a:rPr lang="en-AU" sz="1200" kern="1200" dirty="0" smtClean="0">
                <a:solidFill>
                  <a:schemeClr val="tx1"/>
                </a:solidFill>
                <a:ea typeface="+mn-ea"/>
                <a:cs typeface="+mn-cs"/>
              </a:rPr>
              <a:t>The number of jobs created – and the status of these jobs as measured by indicators (such as) number of hours per week, number of full-time jobs, number of part-time jobs, number of casual jobs or hours</a:t>
            </a:r>
          </a:p>
          <a:p>
            <a:pPr marL="628650" lvl="1" indent="-171450">
              <a:buFont typeface="Arial" pitchFamily="34" charset="0"/>
              <a:buChar char="•"/>
            </a:pPr>
            <a:r>
              <a:rPr lang="en-AU" sz="1200" kern="1200" dirty="0" smtClean="0">
                <a:solidFill>
                  <a:schemeClr val="tx1"/>
                </a:solidFill>
                <a:ea typeface="+mn-ea"/>
                <a:cs typeface="+mn-cs"/>
              </a:rPr>
              <a:t>The level of these jobs – in terms of whether they are permanently low-level positions or whether they allow for genuine career development</a:t>
            </a:r>
          </a:p>
          <a:p>
            <a:pPr marL="628650" lvl="1" indent="-171450">
              <a:buFont typeface="Arial" pitchFamily="34" charset="0"/>
              <a:buChar char="•"/>
            </a:pPr>
            <a:r>
              <a:rPr lang="en-AU" sz="1200" kern="1200" dirty="0" smtClean="0">
                <a:solidFill>
                  <a:schemeClr val="tx1"/>
                </a:solidFill>
                <a:ea typeface="+mn-ea"/>
                <a:cs typeface="+mn-cs"/>
              </a:rPr>
              <a:t>Conditions of employment provided by employers for the workers </a:t>
            </a:r>
          </a:p>
          <a:p>
            <a:pPr marL="171450" indent="-171450">
              <a:buFont typeface="Arial" pitchFamily="34" charset="0"/>
              <a:buChar char="•"/>
            </a:pPr>
            <a:r>
              <a:rPr lang="en-AU" sz="1200" kern="1200" dirty="0" smtClean="0">
                <a:solidFill>
                  <a:schemeClr val="tx1"/>
                </a:solidFill>
                <a:ea typeface="+mn-ea"/>
                <a:cs typeface="+mn-cs"/>
              </a:rPr>
              <a:t>Investment – in terms of issues such as:</a:t>
            </a:r>
          </a:p>
          <a:p>
            <a:pPr marL="628650" lvl="1" indent="-171450">
              <a:buFont typeface="Arial" pitchFamily="34" charset="0"/>
              <a:buChar char="•"/>
            </a:pPr>
            <a:r>
              <a:rPr lang="en-AU" sz="1200" kern="1200" dirty="0" smtClean="0">
                <a:solidFill>
                  <a:schemeClr val="tx1"/>
                </a:solidFill>
                <a:ea typeface="+mn-ea"/>
                <a:cs typeface="+mn-cs"/>
              </a:rPr>
              <a:t>Infrastructure</a:t>
            </a:r>
          </a:p>
          <a:p>
            <a:pPr marL="628650" lvl="1" indent="-171450">
              <a:buFont typeface="Arial" pitchFamily="34" charset="0"/>
              <a:buChar char="•"/>
            </a:pPr>
            <a:r>
              <a:rPr lang="en-AU" sz="1200" kern="1200" dirty="0" smtClean="0">
                <a:solidFill>
                  <a:schemeClr val="tx1"/>
                </a:solidFill>
                <a:ea typeface="+mn-ea"/>
                <a:cs typeface="+mn-cs"/>
              </a:rPr>
              <a:t>Buildings</a:t>
            </a:r>
          </a:p>
          <a:p>
            <a:pPr marL="628650" lvl="1" indent="-171450">
              <a:buFont typeface="Arial" pitchFamily="34" charset="0"/>
              <a:buChar char="•"/>
            </a:pPr>
            <a:r>
              <a:rPr lang="en-AU" sz="1200" kern="1200" dirty="0" smtClean="0">
                <a:solidFill>
                  <a:schemeClr val="tx1"/>
                </a:solidFill>
                <a:ea typeface="+mn-ea"/>
                <a:cs typeface="+mn-cs"/>
              </a:rPr>
              <a:t>Training and development</a:t>
            </a:r>
          </a:p>
          <a:p>
            <a:pPr marL="628650" lvl="1" indent="-171450">
              <a:buFont typeface="Arial" pitchFamily="34" charset="0"/>
              <a:buChar char="•"/>
            </a:pPr>
            <a:r>
              <a:rPr lang="en-AU" sz="1200" kern="1200" dirty="0" smtClean="0">
                <a:solidFill>
                  <a:schemeClr val="tx1"/>
                </a:solidFill>
                <a:ea typeface="+mn-ea"/>
                <a:cs typeface="+mn-cs"/>
              </a:rPr>
              <a:t>Repairing damage to the environment</a:t>
            </a:r>
          </a:p>
          <a:p>
            <a:pPr marL="171450" indent="-171450">
              <a:buFont typeface="Arial" pitchFamily="34" charset="0"/>
              <a:buChar char="•"/>
            </a:pPr>
            <a:r>
              <a:rPr lang="en-AU" sz="1200" kern="1200" dirty="0" smtClean="0">
                <a:solidFill>
                  <a:schemeClr val="tx1"/>
                </a:solidFill>
                <a:ea typeface="+mn-ea"/>
                <a:cs typeface="+mn-cs"/>
              </a:rPr>
              <a:t>Inflation – and how this affects:</a:t>
            </a:r>
          </a:p>
          <a:p>
            <a:pPr marL="628650" lvl="1" indent="-171450">
              <a:buFont typeface="Arial" pitchFamily="34" charset="0"/>
              <a:buChar char="•"/>
            </a:pPr>
            <a:r>
              <a:rPr lang="en-AU" sz="1200" kern="1200" dirty="0" smtClean="0">
                <a:solidFill>
                  <a:schemeClr val="tx1"/>
                </a:solidFill>
                <a:ea typeface="+mn-ea"/>
                <a:cs typeface="+mn-cs"/>
              </a:rPr>
              <a:t>Price of land and houses for locals – when Tourism operators purchase land and buildings: there may be a need to protect the interests of locals by limiting the amount, location or type of purchases which can be made by Tourism organisations</a:t>
            </a:r>
          </a:p>
          <a:p>
            <a:pPr marL="628650" lvl="1" indent="-171450">
              <a:buFont typeface="Arial" pitchFamily="34" charset="0"/>
              <a:buChar char="•"/>
            </a:pPr>
            <a:r>
              <a:rPr lang="en-AU" sz="1200" kern="1200" dirty="0" smtClean="0">
                <a:solidFill>
                  <a:schemeClr val="tx1"/>
                </a:solidFill>
                <a:ea typeface="+mn-ea"/>
                <a:cs typeface="+mn-cs"/>
              </a:rPr>
              <a:t>Cost of limited resources/raw materials – as these are bought for tourism purposes, they commonly become more expensive for locals so there may be a need to limit what can be purchased or to require Tourism Operators to carry in all the resources they want to use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468679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continues to explain possible economic factors impacted by a tourism initiative can be related to:</a:t>
            </a:r>
          </a:p>
          <a:p>
            <a:pPr marL="171450" indent="-171450">
              <a:buFont typeface="Arial" pitchFamily="34" charset="0"/>
              <a:buChar char="•"/>
            </a:pPr>
            <a:r>
              <a:rPr lang="en-AU" sz="1200" kern="1200" dirty="0" smtClean="0">
                <a:solidFill>
                  <a:schemeClr val="tx1"/>
                </a:solidFill>
                <a:ea typeface="+mn-ea"/>
                <a:cs typeface="+mn-cs"/>
              </a:rPr>
              <a:t>Local income – and how this:</a:t>
            </a:r>
          </a:p>
          <a:p>
            <a:pPr marL="628650" lvl="1" indent="-171450">
              <a:buFont typeface="Arial" pitchFamily="34" charset="0"/>
              <a:buChar char="•"/>
            </a:pPr>
            <a:r>
              <a:rPr lang="en-AU" sz="1200" kern="1200" dirty="0" smtClean="0">
                <a:solidFill>
                  <a:schemeClr val="tx1"/>
                </a:solidFill>
                <a:ea typeface="+mn-ea"/>
                <a:cs typeface="+mn-cs"/>
              </a:rPr>
              <a:t>Enables tangible benefits for the recipients – as defined by the relevant community (which may be in terms of housing acquisition; standard of living indicators; access to food, medical, education and/or other services)</a:t>
            </a:r>
          </a:p>
          <a:p>
            <a:pPr marL="628650" lvl="1" indent="-171450">
              <a:buFont typeface="Arial" pitchFamily="34" charset="0"/>
              <a:buChar char="•"/>
            </a:pPr>
            <a:r>
              <a:rPr lang="en-AU" sz="1200" kern="1200" dirty="0" smtClean="0">
                <a:solidFill>
                  <a:schemeClr val="tx1"/>
                </a:solidFill>
                <a:ea typeface="+mn-ea"/>
                <a:cs typeface="+mn-cs"/>
              </a:rPr>
              <a:t>Circulates throughout the local economy – known as the ‘multiplier effect’, economists believe money earned by one person in a community can circulate throughout the economy up to four times (as people spend that money within their community) bringing an economic benefit for four people not just the original one person</a:t>
            </a:r>
          </a:p>
          <a:p>
            <a:pPr marL="171450" indent="-171450">
              <a:buFont typeface="Arial" pitchFamily="34" charset="0"/>
              <a:buChar char="•"/>
            </a:pPr>
            <a:r>
              <a:rPr lang="en-AU" sz="1200" kern="1200" dirty="0" smtClean="0">
                <a:solidFill>
                  <a:schemeClr val="tx1"/>
                </a:solidFill>
                <a:ea typeface="+mn-ea"/>
                <a:cs typeface="+mn-cs"/>
              </a:rPr>
              <a:t>Opportunity cost – meaning the money spent on tourism cannot be spent on something else which may have brought a larger benefit to the area/people</a:t>
            </a:r>
          </a:p>
          <a:p>
            <a:pPr marL="171450" indent="-171450">
              <a:buFont typeface="Arial" pitchFamily="34" charset="0"/>
              <a:buChar char="•"/>
            </a:pPr>
            <a:r>
              <a:rPr lang="en-AU" sz="1200" kern="1200" dirty="0" smtClean="0">
                <a:solidFill>
                  <a:schemeClr val="tx1"/>
                </a:solidFill>
                <a:ea typeface="+mn-ea"/>
                <a:cs typeface="+mn-cs"/>
              </a:rPr>
              <a:t>The extent of reliance on tourism-related income and contribution made by tourism to regional development – in general:</a:t>
            </a:r>
          </a:p>
          <a:p>
            <a:pPr marL="628650" lvl="1" indent="-171450">
              <a:buFont typeface="Arial" pitchFamily="34" charset="0"/>
              <a:buChar char="•"/>
            </a:pPr>
            <a:r>
              <a:rPr lang="en-AU" sz="1200" kern="1200" dirty="0" smtClean="0">
                <a:solidFill>
                  <a:schemeClr val="tx1"/>
                </a:solidFill>
                <a:ea typeface="+mn-ea"/>
                <a:cs typeface="+mn-cs"/>
              </a:rPr>
              <a:t>Total dependence on tourism is seen as a bad thing – subject to seasonal influences, global trends, and rapid changes caused by external events</a:t>
            </a:r>
          </a:p>
          <a:p>
            <a:pPr marL="628650" lvl="1" indent="-171450">
              <a:buFont typeface="Arial" pitchFamily="34" charset="0"/>
              <a:buChar char="•"/>
            </a:pPr>
            <a:r>
              <a:rPr lang="en-AU" sz="1200" kern="1200" dirty="0" smtClean="0">
                <a:solidFill>
                  <a:schemeClr val="tx1"/>
                </a:solidFill>
                <a:ea typeface="+mn-ea"/>
                <a:cs typeface="+mn-cs"/>
              </a:rPr>
              <a:t>Partial reliance on tourism is regarded as a positive element of a wider economic plan.</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ea typeface="+mn-ea"/>
                <a:cs typeface="+mn-cs"/>
                <a:hlinkClick r:id="rId3"/>
              </a:rPr>
              <a:t>http://www.unep.org/10yfp/Portals/50150/downloads/Asia_Pacific_10YFP_Roadmap_2014_2015_FINAL.pdf</a:t>
            </a:r>
            <a:r>
              <a:rPr lang="en-AU" sz="1200" kern="1200" dirty="0" smtClean="0">
                <a:solidFill>
                  <a:schemeClr val="tx1"/>
                </a:solidFill>
                <a:ea typeface="+mn-ea"/>
                <a:cs typeface="+mn-cs"/>
              </a:rPr>
              <a:t> - The 10 Year Framework of Programmes on Sustainable Consumption and Production (10YFP): Roadmap for the 10YFP implementation in Asia and the Pacific 2014 –­ 2015 with particular attention to Section C.1.D ‘Sustainable tourism including eco-tourism’</a:t>
            </a:r>
          </a:p>
          <a:p>
            <a:r>
              <a:rPr lang="en-AU" sz="1200" u="sng" kern="1200" dirty="0" smtClean="0">
                <a:solidFill>
                  <a:schemeClr val="tx1"/>
                </a:solidFill>
                <a:ea typeface="+mn-ea"/>
                <a:cs typeface="+mn-cs"/>
                <a:hlinkClick r:id="rId4"/>
              </a:rPr>
              <a:t>http://www.eucentre.sg/wp-content/uploads/2013/12/EUCResearchBrief_TourismEU27ASEAN.pdf</a:t>
            </a:r>
            <a:r>
              <a:rPr lang="en-AU" sz="1200" kern="1200" dirty="0" smtClean="0">
                <a:solidFill>
                  <a:schemeClr val="tx1"/>
                </a:solidFill>
                <a:ea typeface="+mn-ea"/>
                <a:cs typeface="+mn-cs"/>
              </a:rPr>
              <a:t> - Tourism as a driver of economic growth and development in the EU-27 and ASEAN regions</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30924584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possible economic factors impacted by a tourism initiative can be related to:</a:t>
            </a:r>
          </a:p>
          <a:p>
            <a:pPr marL="171450" indent="-171450">
              <a:buFont typeface="Arial" pitchFamily="34" charset="0"/>
              <a:buChar char="•"/>
            </a:pPr>
            <a:r>
              <a:rPr lang="en-AU" sz="1200" kern="1200" dirty="0" smtClean="0">
                <a:solidFill>
                  <a:schemeClr val="tx1"/>
                </a:solidFill>
                <a:ea typeface="+mn-ea"/>
                <a:cs typeface="+mn-cs"/>
              </a:rPr>
              <a:t>Leakage – which refers to the amount of money lost to a local community after all expenses to governments (taxes, levies, fees, charges) are paid, and after all payments to </a:t>
            </a:r>
            <a:r>
              <a:rPr lang="en-AU" sz="1200" i="1" kern="1200" dirty="0" smtClean="0">
                <a:solidFill>
                  <a:schemeClr val="tx1"/>
                </a:solidFill>
                <a:ea typeface="+mn-ea"/>
                <a:cs typeface="+mn-cs"/>
              </a:rPr>
              <a:t>external</a:t>
            </a:r>
            <a:r>
              <a:rPr lang="en-AU" sz="1200" kern="1200" dirty="0" smtClean="0">
                <a:solidFill>
                  <a:schemeClr val="tx1"/>
                </a:solidFill>
                <a:ea typeface="+mn-ea"/>
                <a:cs typeface="+mn-cs"/>
              </a:rPr>
              <a:t> organisations (the businesses who own the tour companies, hotels, transport companies, catering outlets) are made</a:t>
            </a:r>
          </a:p>
          <a:p>
            <a:pPr marL="171450" indent="-171450">
              <a:buFont typeface="Arial" pitchFamily="34" charset="0"/>
              <a:buChar char="•"/>
            </a:pPr>
            <a:r>
              <a:rPr lang="en-AU" sz="1200" kern="1200" dirty="0" smtClean="0">
                <a:solidFill>
                  <a:schemeClr val="tx1"/>
                </a:solidFill>
                <a:ea typeface="+mn-ea"/>
                <a:cs typeface="+mn-cs"/>
              </a:rPr>
              <a:t>Enclave tourism – where tourists visit an area but spend most of their money in the one location (a hotel, cruise ship, resort) rather than spreading it around among local community people or smaller local businesses</a:t>
            </a:r>
          </a:p>
          <a:p>
            <a:pPr marL="171450" indent="-171450">
              <a:buFont typeface="Arial" pitchFamily="34" charset="0"/>
              <a:buChar char="•"/>
            </a:pPr>
            <a:r>
              <a:rPr lang="en-AU" sz="1200" kern="1200" dirty="0" smtClean="0">
                <a:solidFill>
                  <a:schemeClr val="tx1"/>
                </a:solidFill>
                <a:ea typeface="+mn-ea"/>
                <a:cs typeface="+mn-cs"/>
              </a:rPr>
              <a:t>Infrastructure costs – where local governments are forced to pay the cost of building roads and providing support services (police, medical, tax relief for tourists) to enable tourism to function.</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http://www.unep.org/resourceefficiency/Business/SectoralActivities/Tourism/FactsandFiguresaboutTourism/ImpactsofTourism/EconomicImpactsofTourism/NegativeEconomicImpactsofTourism/tabid/78784/Default.aspx</a:t>
            </a:r>
            <a:r>
              <a:rPr lang="en-AU" sz="1200" u="sng" kern="1200" dirty="0" smtClean="0">
                <a:solidFill>
                  <a:schemeClr val="tx1"/>
                </a:solidFill>
                <a:ea typeface="+mn-ea"/>
                <a:cs typeface="+mn-cs"/>
              </a:rPr>
              <a:t> - </a:t>
            </a:r>
            <a:r>
              <a:rPr lang="en-AU" sz="1200" kern="1200" dirty="0" smtClean="0">
                <a:solidFill>
                  <a:schemeClr val="tx1"/>
                </a:solidFill>
                <a:ea typeface="+mn-ea"/>
                <a:cs typeface="+mn-cs"/>
              </a:rPr>
              <a:t>Negative economic impacts of tourism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4"/>
              </a:rPr>
              <a:t>http://www.slideshare.net/reymarieoohlala/overview-of-tourism-impacts</a:t>
            </a:r>
            <a:r>
              <a:rPr lang="en-AU" sz="1200" kern="1200" dirty="0" smtClean="0">
                <a:solidFill>
                  <a:schemeClr val="tx1"/>
                </a:solidFill>
                <a:ea typeface="+mn-ea"/>
                <a:cs typeface="+mn-cs"/>
              </a:rPr>
              <a:t> - Overview of tourism impacts.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26292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strategies for researching </a:t>
            </a:r>
            <a:r>
              <a:rPr lang="en-AU" sz="1200" kern="1200" dirty="0" smtClean="0">
                <a:solidFill>
                  <a:schemeClr val="tx1"/>
                </a:solidFill>
                <a:ea typeface="+mn-ea"/>
                <a:cs typeface="+mn-cs"/>
              </a:rPr>
              <a:t>the factors likely to be impacted by a tourism initiative  noting  a blend of options is the most effective approach to use:</a:t>
            </a:r>
          </a:p>
          <a:p>
            <a:pPr marL="171450" indent="-171450">
              <a:buFont typeface="Arial" pitchFamily="34" charset="0"/>
              <a:buChar char="•"/>
            </a:pPr>
            <a:r>
              <a:rPr lang="en-AU" sz="1200" kern="1200" dirty="0" smtClean="0">
                <a:solidFill>
                  <a:schemeClr val="tx1"/>
                </a:solidFill>
                <a:ea typeface="+mn-ea"/>
                <a:cs typeface="+mn-cs"/>
              </a:rPr>
              <a:t>Talk to those who have conducted similar operations in similar areas – to obtain their input</a:t>
            </a:r>
          </a:p>
          <a:p>
            <a:pPr marL="171450" indent="-171450">
              <a:buFont typeface="Arial" pitchFamily="34" charset="0"/>
              <a:buChar char="•"/>
            </a:pPr>
            <a:r>
              <a:rPr lang="en-AU" sz="1200" kern="1200" dirty="0" smtClean="0">
                <a:solidFill>
                  <a:schemeClr val="tx1"/>
                </a:solidFill>
                <a:ea typeface="+mn-ea"/>
                <a:cs typeface="+mn-cs"/>
              </a:rPr>
              <a:t>Read reports on previous similar activities – many of these exist to provide data on other tourism initiatives</a:t>
            </a:r>
          </a:p>
          <a:p>
            <a:pPr marL="171450" indent="-171450">
              <a:buFont typeface="Arial" pitchFamily="34" charset="0"/>
              <a:buChar char="•"/>
            </a:pPr>
            <a:r>
              <a:rPr lang="en-AU" sz="1200" kern="1200" dirty="0" smtClean="0">
                <a:solidFill>
                  <a:schemeClr val="tx1"/>
                </a:solidFill>
                <a:ea typeface="+mn-ea"/>
                <a:cs typeface="+mn-cs"/>
              </a:rPr>
              <a:t>Speak with local communities who have been the subject of previous activities</a:t>
            </a:r>
          </a:p>
          <a:p>
            <a:pPr marL="171450" indent="-171450">
              <a:buFont typeface="Arial" pitchFamily="34" charset="0"/>
              <a:buChar char="•"/>
            </a:pPr>
            <a:r>
              <a:rPr lang="en-AU" sz="1200" kern="1200" dirty="0" smtClean="0">
                <a:solidFill>
                  <a:schemeClr val="tx1"/>
                </a:solidFill>
                <a:ea typeface="+mn-ea"/>
                <a:cs typeface="+mn-cs"/>
              </a:rPr>
              <a:t>Communicate with those expected to be impacted by the proposed activity</a:t>
            </a:r>
          </a:p>
          <a:p>
            <a:pPr marL="171450" indent="-171450">
              <a:buFont typeface="Arial" pitchFamily="34" charset="0"/>
              <a:buChar char="•"/>
            </a:pPr>
            <a:r>
              <a:rPr lang="en-AU" sz="1200" kern="1200" dirty="0" smtClean="0">
                <a:solidFill>
                  <a:schemeClr val="tx1"/>
                </a:solidFill>
                <a:ea typeface="+mn-ea"/>
                <a:cs typeface="+mn-cs"/>
              </a:rPr>
              <a:t>Establish baseline data/benchmarks – to use as reference points for future monitoring and evaluation </a:t>
            </a:r>
          </a:p>
          <a:p>
            <a:pPr marL="171450" indent="-171450">
              <a:buFont typeface="Arial" pitchFamily="34" charset="0"/>
              <a:buChar char="•"/>
            </a:pPr>
            <a:r>
              <a:rPr lang="en-AU" sz="1200" kern="1200" dirty="0" smtClean="0">
                <a:solidFill>
                  <a:schemeClr val="tx1"/>
                </a:solidFill>
                <a:ea typeface="+mn-ea"/>
                <a:cs typeface="+mn-cs"/>
              </a:rPr>
              <a:t>Visit the area – to gain first-hand experience of the location and meet face-to-face with the community and those who will/may be impacted.</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ea typeface="+mn-ea"/>
                <a:cs typeface="+mn-cs"/>
                <a:hlinkClick r:id="rId3"/>
              </a:rPr>
              <a:t>http://crctourism.com.au/wms/upload/resources/bookshop/3-3_socialimpacts_v01_web.pdf</a:t>
            </a:r>
            <a:r>
              <a:rPr lang="en-AU" sz="1200" kern="1200" dirty="0" smtClean="0">
                <a:solidFill>
                  <a:schemeClr val="tx1"/>
                </a:solidFill>
                <a:ea typeface="+mn-ea"/>
                <a:cs typeface="+mn-cs"/>
              </a:rPr>
              <a:t> – Social impact of tourism on the Gold Coast</a:t>
            </a:r>
          </a:p>
          <a:p>
            <a:r>
              <a:rPr lang="en-AU" sz="1200" u="sng" kern="1200" dirty="0" smtClean="0">
                <a:solidFill>
                  <a:schemeClr val="tx1"/>
                </a:solidFill>
                <a:ea typeface="+mn-ea"/>
                <a:cs typeface="+mn-cs"/>
                <a:hlinkClick r:id="rId4"/>
              </a:rPr>
              <a:t>http://ijbssnet.com/journals/Vol_4_No_3_March_2013/2.pdf</a:t>
            </a:r>
            <a:r>
              <a:rPr lang="en-AU" sz="1200" kern="1200" dirty="0" smtClean="0">
                <a:solidFill>
                  <a:schemeClr val="tx1"/>
                </a:solidFill>
                <a:ea typeface="+mn-ea"/>
                <a:cs typeface="+mn-cs"/>
              </a:rPr>
              <a:t> – Understanding the economic impact of tourism in the Asia Pacific region using the Tourism Satellite Account</a:t>
            </a:r>
          </a:p>
          <a:p>
            <a:r>
              <a:rPr lang="en-AU" sz="1200" u="sng" kern="1200" dirty="0" smtClean="0">
                <a:solidFill>
                  <a:schemeClr val="tx1"/>
                </a:solidFill>
                <a:ea typeface="+mn-ea"/>
                <a:cs typeface="+mn-cs"/>
                <a:hlinkClick r:id="rId5"/>
              </a:rPr>
              <a:t>http://cdn.intechopen.com/pdfs-wm/35710.pdf</a:t>
            </a:r>
            <a:r>
              <a:rPr lang="en-AU" sz="1200" kern="1200" dirty="0" smtClean="0">
                <a:solidFill>
                  <a:schemeClr val="tx1"/>
                </a:solidFill>
                <a:ea typeface="+mn-ea"/>
                <a:cs typeface="+mn-cs"/>
              </a:rPr>
              <a:t> – A model for assessing the level of tourism impacts and sustainability of coastal cities.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10007663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AU" noProof="0" dirty="0" smtClean="0"/>
              <a:t>Trainer identifies possible sources of compliance requirements:</a:t>
            </a:r>
          </a:p>
          <a:p>
            <a:pPr marL="171450" indent="-171450">
              <a:buFont typeface="Arial" pitchFamily="34" charset="0"/>
              <a:buChar char="•"/>
            </a:pPr>
            <a:r>
              <a:rPr lang="en-AU" sz="1200" kern="1200" dirty="0" smtClean="0">
                <a:solidFill>
                  <a:schemeClr val="tx1"/>
                </a:solidFill>
                <a:ea typeface="+mn-ea"/>
                <a:cs typeface="+mn-cs"/>
              </a:rPr>
              <a:t>Legislation – these are the laws (the Acts) which need to be complied with</a:t>
            </a:r>
          </a:p>
          <a:p>
            <a:pPr marL="628650" lvl="1" indent="-171450">
              <a:buFont typeface="Arial" pitchFamily="34" charset="0"/>
              <a:buChar char="•"/>
            </a:pPr>
            <a:r>
              <a:rPr lang="en-AU" sz="1200" kern="1200" dirty="0" smtClean="0">
                <a:solidFill>
                  <a:schemeClr val="tx1"/>
                </a:solidFill>
                <a:ea typeface="+mn-ea"/>
                <a:cs typeface="+mn-cs"/>
              </a:rPr>
              <a:t>There may be a need to comply with the laws of individual countries in which tourism activities are being conducted and/or relevant aspects of laws which may emerge on the establishment of the ASEAN Community (AC)</a:t>
            </a:r>
          </a:p>
          <a:p>
            <a:pPr marL="171450" indent="-171450">
              <a:buFont typeface="Arial" pitchFamily="34" charset="0"/>
              <a:buChar char="•"/>
            </a:pPr>
            <a:r>
              <a:rPr lang="en-AU" sz="1200" kern="1200" dirty="0" smtClean="0">
                <a:solidFill>
                  <a:schemeClr val="tx1"/>
                </a:solidFill>
                <a:ea typeface="+mn-ea"/>
                <a:cs typeface="+mn-cs"/>
              </a:rPr>
              <a:t>By-laws – these are mandatory rules and regulations imposed by various ‘bodies’ such as:</a:t>
            </a:r>
          </a:p>
          <a:p>
            <a:pPr marL="628650" lvl="1" indent="-171450">
              <a:buFont typeface="Arial" pitchFamily="34" charset="0"/>
              <a:buChar char="•"/>
            </a:pPr>
            <a:r>
              <a:rPr lang="en-AU" sz="1200" kern="1200" dirty="0" smtClean="0">
                <a:solidFill>
                  <a:schemeClr val="tx1"/>
                </a:solidFill>
                <a:ea typeface="+mn-ea"/>
                <a:cs typeface="+mn-cs"/>
              </a:rPr>
              <a:t>Government agencies; Local Councils; Local communities</a:t>
            </a:r>
          </a:p>
          <a:p>
            <a:pPr marL="171450" indent="-171450">
              <a:buFont typeface="Arial" pitchFamily="34" charset="0"/>
              <a:buChar char="•"/>
            </a:pPr>
            <a:r>
              <a:rPr lang="en-AU" sz="1200" kern="1200" dirty="0" smtClean="0">
                <a:solidFill>
                  <a:schemeClr val="tx1"/>
                </a:solidFill>
                <a:ea typeface="+mn-ea"/>
                <a:cs typeface="+mn-cs"/>
              </a:rPr>
              <a:t>Voluntary Codes of Practice – which may be:</a:t>
            </a:r>
          </a:p>
          <a:p>
            <a:pPr marL="628650" lvl="1" indent="-171450">
              <a:buFont typeface="Arial" pitchFamily="34" charset="0"/>
              <a:buChar char="•"/>
            </a:pPr>
            <a:r>
              <a:rPr lang="en-AU" sz="1200" kern="1200" dirty="0" smtClean="0">
                <a:solidFill>
                  <a:schemeClr val="tx1"/>
                </a:solidFill>
                <a:ea typeface="+mn-ea"/>
                <a:cs typeface="+mn-cs"/>
              </a:rPr>
              <a:t>Generated by an industry body – in consultation with membership to set industry-wide standards for its members</a:t>
            </a:r>
          </a:p>
          <a:p>
            <a:pPr marL="628650" lvl="1" indent="-171450">
              <a:buFont typeface="Arial" pitchFamily="34" charset="0"/>
              <a:buChar char="•"/>
            </a:pPr>
            <a:r>
              <a:rPr lang="en-AU" sz="1200" kern="1200" dirty="0" smtClean="0">
                <a:solidFill>
                  <a:schemeClr val="tx1"/>
                </a:solidFill>
                <a:ea typeface="+mn-ea"/>
                <a:cs typeface="+mn-cs"/>
              </a:rPr>
              <a:t>Imposed by a government agency – who develop them to support attainment of strategic plans they have made</a:t>
            </a:r>
          </a:p>
          <a:p>
            <a:pPr marL="628650" lvl="1" indent="-171450">
              <a:buFont typeface="Arial" pitchFamily="34" charset="0"/>
              <a:buChar char="•"/>
            </a:pPr>
            <a:r>
              <a:rPr lang="en-AU" sz="1200" kern="1200" dirty="0" smtClean="0">
                <a:solidFill>
                  <a:schemeClr val="tx1"/>
                </a:solidFill>
                <a:ea typeface="+mn-ea"/>
                <a:cs typeface="+mn-cs"/>
              </a:rPr>
              <a:t>Developed by individual Tourism Operators – as a public statement they make about themselves to customers to advertise and demonstrate their orientation and practices in regard to responsible tourism. Operators may seek to create an individual COP that provides a ‘point of difference’ for them when compared with their competitors </a:t>
            </a:r>
          </a:p>
          <a:p>
            <a:pPr marL="171450" indent="-171450">
              <a:buFont typeface="Arial" pitchFamily="34" charset="0"/>
              <a:buChar char="•"/>
            </a:pPr>
            <a:r>
              <a:rPr lang="en-AU" sz="1200" kern="1200" dirty="0" smtClean="0">
                <a:solidFill>
                  <a:schemeClr val="tx1"/>
                </a:solidFill>
                <a:ea typeface="+mn-ea"/>
                <a:cs typeface="+mn-cs"/>
              </a:rPr>
              <a:t>Mandatory Codes of Practice – which are written by government agencies and are legally-binding requirements</a:t>
            </a:r>
          </a:p>
          <a:p>
            <a:pPr marL="628650" lvl="1" indent="-171450">
              <a:buFont typeface="Arial" pitchFamily="34" charset="0"/>
              <a:buChar char="•"/>
            </a:pPr>
            <a:r>
              <a:rPr lang="en-AU" sz="1200" kern="1200" dirty="0" smtClean="0">
                <a:solidFill>
                  <a:schemeClr val="tx1"/>
                </a:solidFill>
                <a:ea typeface="+mn-ea"/>
                <a:cs typeface="+mn-cs"/>
              </a:rPr>
              <a:t>These COPs are created under the authority of nominated pieces of legislation and are written to show organisations how they can/must operate in order to fulfil their legal obligations. In effect. If the business follows the COP, they are complying with the law </a:t>
            </a:r>
          </a:p>
          <a:p>
            <a:pPr marL="171450" indent="-171450">
              <a:buFont typeface="Arial" pitchFamily="34" charset="0"/>
              <a:buChar char="•"/>
            </a:pPr>
            <a:r>
              <a:rPr lang="en-AU" sz="1200" kern="1200" dirty="0" smtClean="0">
                <a:solidFill>
                  <a:schemeClr val="tx1"/>
                </a:solidFill>
                <a:ea typeface="+mn-ea"/>
                <a:cs typeface="+mn-cs"/>
              </a:rPr>
              <a:t>Agreements which are already in place with local communities – as they have been negotiated with other Tourism Operators for previous tourism activities</a:t>
            </a:r>
          </a:p>
          <a:p>
            <a:pPr marL="171450" indent="-171450">
              <a:buFont typeface="Arial" pitchFamily="34" charset="0"/>
              <a:buChar char="•"/>
            </a:pPr>
            <a:r>
              <a:rPr lang="en-AU" sz="1200" kern="1200" dirty="0" smtClean="0">
                <a:solidFill>
                  <a:schemeClr val="tx1"/>
                </a:solidFill>
                <a:ea typeface="+mn-ea"/>
                <a:cs typeface="+mn-cs"/>
              </a:rPr>
              <a:t>Arrangements already agreed to by the Tourism Operator – which may be imposed by virtue of:</a:t>
            </a:r>
          </a:p>
          <a:p>
            <a:pPr marL="628650" lvl="1" indent="-171450">
              <a:buFont typeface="Arial" pitchFamily="34" charset="0"/>
              <a:buChar char="•"/>
            </a:pPr>
            <a:r>
              <a:rPr lang="en-AU" sz="1200" kern="1200" dirty="0" smtClean="0">
                <a:solidFill>
                  <a:schemeClr val="tx1"/>
                </a:solidFill>
                <a:ea typeface="+mn-ea"/>
                <a:cs typeface="+mn-cs"/>
              </a:rPr>
              <a:t>Formal, written contracts with suppliers and/or clients</a:t>
            </a:r>
          </a:p>
          <a:p>
            <a:pPr marL="628650" lvl="1" indent="-171450">
              <a:buFont typeface="Arial" pitchFamily="34" charset="0"/>
              <a:buChar char="•"/>
            </a:pPr>
            <a:r>
              <a:rPr lang="en-AU" sz="1200" kern="1200" dirty="0" smtClean="0">
                <a:solidFill>
                  <a:schemeClr val="tx1"/>
                </a:solidFill>
                <a:ea typeface="+mn-ea"/>
                <a:cs typeface="+mn-cs"/>
              </a:rPr>
              <a:t>Verbal agreements and ‘promises made’ with partners, businesses and stakeholders.</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legislation, COPs and other documentation as identified on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13196025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there </a:t>
            </a:r>
            <a:r>
              <a:rPr lang="en-AU" sz="1200" kern="1200" dirty="0" smtClean="0">
                <a:solidFill>
                  <a:schemeClr val="tx1"/>
                </a:solidFill>
                <a:ea typeface="+mn-ea"/>
                <a:cs typeface="+mn-cs"/>
              </a:rPr>
              <a:t>is always a need to read documentation relevant to individual proposals to gain a proper understanding of what is necessary emphasising in practical terms, compliance requirements may be:</a:t>
            </a:r>
          </a:p>
          <a:p>
            <a:pPr marL="171450" indent="-171450">
              <a:buFont typeface="Arial" pitchFamily="34" charset="0"/>
              <a:buChar char="•"/>
            </a:pPr>
            <a:r>
              <a:rPr lang="en-AU" sz="1200" kern="1200" dirty="0" smtClean="0">
                <a:solidFill>
                  <a:schemeClr val="tx1"/>
                </a:solidFill>
                <a:ea typeface="+mn-ea"/>
                <a:cs typeface="+mn-cs"/>
              </a:rPr>
              <a:t>Drivers for action – in that laws may provide tax concessions for investment in tourism initiatives</a:t>
            </a:r>
          </a:p>
          <a:p>
            <a:pPr marL="171450" indent="-171450">
              <a:buFont typeface="Arial" pitchFamily="34" charset="0"/>
              <a:buChar char="•"/>
            </a:pPr>
            <a:r>
              <a:rPr lang="en-AU" sz="1200" kern="1200" dirty="0" smtClean="0">
                <a:solidFill>
                  <a:schemeClr val="tx1"/>
                </a:solidFill>
                <a:ea typeface="+mn-ea"/>
                <a:cs typeface="+mn-cs"/>
              </a:rPr>
              <a:t>Obstacles to development – by limiting (or prescribing) what can be done, where it can be done, when it can be done and how it can be done.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4823293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t>
            </a:r>
            <a:r>
              <a:rPr lang="en-AU" sz="1200" kern="1200" dirty="0" smtClean="0">
                <a:solidFill>
                  <a:schemeClr val="tx1"/>
                </a:solidFill>
                <a:ea typeface="+mn-ea"/>
                <a:cs typeface="+mn-cs"/>
              </a:rPr>
              <a:t>indicates requirements which can be imposed by Acts, regulations established under those Acts and mandatory COPs may relate to:</a:t>
            </a:r>
          </a:p>
          <a:p>
            <a:pPr marL="171450" indent="-171450">
              <a:buFont typeface="Arial" pitchFamily="34" charset="0"/>
              <a:buChar char="•"/>
            </a:pPr>
            <a:r>
              <a:rPr lang="en-AU" sz="1200" kern="1200" dirty="0" smtClean="0">
                <a:solidFill>
                  <a:schemeClr val="tx1"/>
                </a:solidFill>
                <a:ea typeface="+mn-ea"/>
                <a:cs typeface="+mn-cs"/>
              </a:rPr>
              <a:t>Employment – with possible reference to selection and hiring of staff as well as employment contracts and conditions of employment</a:t>
            </a:r>
          </a:p>
          <a:p>
            <a:pPr marL="171450" indent="-171450">
              <a:buFont typeface="Arial" pitchFamily="34" charset="0"/>
              <a:buChar char="•"/>
            </a:pPr>
            <a:r>
              <a:rPr lang="en-AU" sz="1200" kern="1200" dirty="0" smtClean="0">
                <a:solidFill>
                  <a:schemeClr val="tx1"/>
                </a:solidFill>
                <a:ea typeface="+mn-ea"/>
                <a:cs typeface="+mn-cs"/>
              </a:rPr>
              <a:t>Building and construction – including zoning</a:t>
            </a:r>
          </a:p>
          <a:p>
            <a:pPr marL="171450" indent="-171450">
              <a:buFont typeface="Arial" pitchFamily="34" charset="0"/>
              <a:buChar char="•"/>
            </a:pPr>
            <a:r>
              <a:rPr lang="en-AU" sz="1200" kern="1200" dirty="0" smtClean="0">
                <a:solidFill>
                  <a:schemeClr val="tx1"/>
                </a:solidFill>
                <a:ea typeface="+mn-ea"/>
                <a:cs typeface="+mn-cs"/>
              </a:rPr>
              <a:t>Incorporation and registration of organisations and operating entities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local Council representative/official to attend and:</a:t>
            </a:r>
          </a:p>
          <a:p>
            <a:pPr marL="171450" indent="-171450">
              <a:buFont typeface="Arial" pitchFamily="34" charset="0"/>
              <a:buChar char="•"/>
            </a:pPr>
            <a:r>
              <a:rPr lang="en-AU" b="0" noProof="0" dirty="0" smtClean="0"/>
              <a:t>Discuss local compliance requirements for Tour Operators seeking to initiate a new tourism activity</a:t>
            </a:r>
          </a:p>
          <a:p>
            <a:pPr marL="171450" indent="-171450">
              <a:buFont typeface="Arial" pitchFamily="34" charset="0"/>
              <a:buChar char="•"/>
            </a:pPr>
            <a:r>
              <a:rPr lang="en-AU" b="0" noProof="0" dirty="0" smtClean="0"/>
              <a:t>Talk about local support for tourism initiatives</a:t>
            </a:r>
          </a:p>
          <a:p>
            <a:pPr marL="171450" indent="-171450">
              <a:buFont typeface="Arial" pitchFamily="34" charset="0"/>
              <a:buChar char="•"/>
            </a:pPr>
            <a:r>
              <a:rPr lang="en-AU" b="0" noProof="0" dirty="0" smtClean="0"/>
              <a:t>Describe</a:t>
            </a:r>
            <a:r>
              <a:rPr lang="en-AU" b="0" baseline="0" noProof="0" dirty="0" smtClean="0"/>
              <a:t> local tourism activities they have been involved with and how they have supported them.</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4014544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talk about possible legislated obligations:</a:t>
            </a:r>
          </a:p>
          <a:p>
            <a:pPr marL="171450" indent="-171450">
              <a:buFont typeface="Arial" pitchFamily="34" charset="0"/>
              <a:buChar char="•"/>
            </a:pPr>
            <a:r>
              <a:rPr lang="en-AU" sz="1200" kern="1200" dirty="0" smtClean="0">
                <a:solidFill>
                  <a:schemeClr val="tx1"/>
                </a:solidFill>
                <a:ea typeface="+mn-ea"/>
                <a:cs typeface="+mn-cs"/>
              </a:rPr>
              <a:t>Safety, health and welfare – as it applies to workers, customers/tourists and members of the public</a:t>
            </a:r>
          </a:p>
          <a:p>
            <a:pPr marL="171450" indent="-171450">
              <a:buFont typeface="Arial" pitchFamily="34" charset="0"/>
              <a:buChar char="•"/>
            </a:pPr>
            <a:r>
              <a:rPr lang="en-AU" sz="1200" kern="1200" dirty="0" smtClean="0">
                <a:solidFill>
                  <a:schemeClr val="tx1"/>
                </a:solidFill>
                <a:ea typeface="+mn-ea"/>
                <a:cs typeface="+mn-cs"/>
              </a:rPr>
              <a:t>Taxation – and registration as a business and payment of applicable rates of tax which can include import taxes, company tax, bed tax, consumption tax, service tax and others</a:t>
            </a:r>
          </a:p>
          <a:p>
            <a:pPr marL="171450" indent="-171450">
              <a:buFont typeface="Arial" pitchFamily="34" charset="0"/>
              <a:buChar char="•"/>
            </a:pPr>
            <a:r>
              <a:rPr lang="en-AU" sz="1200" kern="1200" dirty="0" smtClean="0">
                <a:solidFill>
                  <a:schemeClr val="tx1"/>
                </a:solidFill>
                <a:ea typeface="+mn-ea"/>
                <a:cs typeface="+mn-cs"/>
              </a:rPr>
              <a:t>Operational matters – such as laws governing:</a:t>
            </a:r>
          </a:p>
          <a:p>
            <a:pPr marL="628650" lvl="1" indent="-171450">
              <a:buFont typeface="Arial" pitchFamily="34" charset="0"/>
              <a:buChar char="•"/>
            </a:pPr>
            <a:r>
              <a:rPr lang="en-AU" sz="1200" kern="1200" dirty="0" smtClean="0">
                <a:solidFill>
                  <a:schemeClr val="tx1"/>
                </a:solidFill>
                <a:ea typeface="+mn-ea"/>
                <a:cs typeface="+mn-cs"/>
              </a:rPr>
              <a:t>Sale/use of alcohol</a:t>
            </a:r>
          </a:p>
          <a:p>
            <a:pPr marL="628650" lvl="1" indent="-171450">
              <a:buFont typeface="Arial" pitchFamily="34" charset="0"/>
              <a:buChar char="•"/>
            </a:pPr>
            <a:r>
              <a:rPr lang="en-AU" sz="1200" kern="1200" dirty="0" smtClean="0">
                <a:solidFill>
                  <a:schemeClr val="tx1"/>
                </a:solidFill>
                <a:ea typeface="+mn-ea"/>
                <a:cs typeface="+mn-cs"/>
              </a:rPr>
              <a:t>Food preparation, service and storage, vehicle registration</a:t>
            </a:r>
          </a:p>
          <a:p>
            <a:pPr marL="628650" lvl="1" indent="-171450">
              <a:buFont typeface="Arial" pitchFamily="34" charset="0"/>
              <a:buChar char="•"/>
            </a:pPr>
            <a:r>
              <a:rPr lang="en-AU" sz="1200" kern="1200" dirty="0" smtClean="0">
                <a:solidFill>
                  <a:schemeClr val="tx1"/>
                </a:solidFill>
                <a:ea typeface="+mn-ea"/>
                <a:cs typeface="+mn-cs"/>
              </a:rPr>
              <a:t>Vehicles – in terms of vehicle registration, licensing of drivers and obeying road rules.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8137414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voluntary </a:t>
            </a:r>
            <a:r>
              <a:rPr lang="en-AU" sz="1200" b="0" kern="1200" dirty="0" smtClean="0">
                <a:solidFill>
                  <a:schemeClr val="tx1"/>
                </a:solidFill>
                <a:ea typeface="+mn-ea"/>
                <a:cs typeface="+mn-cs"/>
              </a:rPr>
              <a:t>Codes developed by industry bodies and/or individual operators are likely to contain requirements about:</a:t>
            </a:r>
            <a:endParaRPr lang="en-AU" sz="1200" b="1"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Complying with all applicable laws</a:t>
            </a:r>
          </a:p>
          <a:p>
            <a:pPr marL="171450" indent="-171450">
              <a:buFont typeface="Arial" pitchFamily="34" charset="0"/>
              <a:buChar char="•"/>
            </a:pPr>
            <a:r>
              <a:rPr lang="en-AU" sz="1200" kern="1200" dirty="0" smtClean="0">
                <a:solidFill>
                  <a:schemeClr val="tx1"/>
                </a:solidFill>
                <a:ea typeface="+mn-ea"/>
                <a:cs typeface="+mn-cs"/>
              </a:rPr>
              <a:t>Respecting the local community, people and the environment</a:t>
            </a:r>
          </a:p>
          <a:p>
            <a:pPr marL="171450" indent="-171450">
              <a:buFont typeface="Arial" pitchFamily="34" charset="0"/>
              <a:buChar char="•"/>
            </a:pPr>
            <a:r>
              <a:rPr lang="en-AU" sz="1200" kern="1200" dirty="0" smtClean="0">
                <a:solidFill>
                  <a:schemeClr val="tx1"/>
                </a:solidFill>
                <a:ea typeface="+mn-ea"/>
                <a:cs typeface="+mn-cs"/>
              </a:rPr>
              <a:t>Leaving an area, when on tour, in the same condition as when it was entered – referring to the need to ‘carry everything in and carry everything out’ (which may include carrying out not only all litter/rubbish but also human waste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015319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talk about possible voluntary COP obligations:</a:t>
            </a:r>
          </a:p>
          <a:p>
            <a:pPr marL="171450" indent="-171450">
              <a:buFont typeface="Arial" pitchFamily="34" charset="0"/>
              <a:buChar char="•"/>
            </a:pPr>
            <a:r>
              <a:rPr lang="en-AU" sz="1200" kern="1200" dirty="0" smtClean="0">
                <a:solidFill>
                  <a:schemeClr val="tx1"/>
                </a:solidFill>
                <a:ea typeface="+mn-ea"/>
                <a:cs typeface="+mn-cs"/>
              </a:rPr>
              <a:t>Doing no harm – to people (regarding bullying, harassment, discrimination) or physical or natural resources</a:t>
            </a:r>
          </a:p>
          <a:p>
            <a:pPr marL="171450" indent="-171450">
              <a:buFont typeface="Arial" pitchFamily="34" charset="0"/>
              <a:buChar char="•"/>
            </a:pPr>
            <a:r>
              <a:rPr lang="en-AU" sz="1200" kern="1200" dirty="0" smtClean="0">
                <a:solidFill>
                  <a:schemeClr val="tx1"/>
                </a:solidFill>
                <a:ea typeface="+mn-ea"/>
                <a:cs typeface="+mn-cs"/>
              </a:rPr>
              <a:t>Acting in an ethical and responsible manner with care, professionalism and diligence – based on sound knowledge and training</a:t>
            </a:r>
          </a:p>
          <a:p>
            <a:pPr marL="171450" indent="-171450">
              <a:buFont typeface="Arial" pitchFamily="34" charset="0"/>
              <a:buChar char="•"/>
            </a:pPr>
            <a:r>
              <a:rPr lang="en-AU" sz="1200" kern="1200" dirty="0" smtClean="0">
                <a:solidFill>
                  <a:schemeClr val="tx1"/>
                </a:solidFill>
                <a:ea typeface="+mn-ea"/>
                <a:cs typeface="+mn-cs"/>
              </a:rPr>
              <a:t>Providing a genuine tourism experience – supported by identified or relevant information, staff, information, food, accommodation, transport and activities.</a:t>
            </a:r>
          </a:p>
          <a:p>
            <a:pPr>
              <a:buFont typeface="Arial" pitchFamily="34" charset="0"/>
              <a:buNone/>
            </a:pPr>
            <a:endParaRPr lang="en-AU" noProof="0" dirty="0" smtClean="0"/>
          </a:p>
          <a:p>
            <a:pPr>
              <a:buFont typeface="Arial" pitchFamily="34" charset="0"/>
              <a:buNone/>
            </a:pPr>
            <a:r>
              <a:rPr lang="en-US" b="1" noProof="0" dirty="0" smtClean="0"/>
              <a:t>Classroom Activity (1)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http://www.gdrc.org/uem/eco-tour/apec_pata-code.html</a:t>
            </a:r>
            <a:r>
              <a:rPr lang="en-AU" sz="1200" u="sng" kern="1200" dirty="0" smtClean="0">
                <a:solidFill>
                  <a:schemeClr val="tx1"/>
                </a:solidFill>
                <a:ea typeface="+mn-ea"/>
                <a:cs typeface="+mn-cs"/>
              </a:rPr>
              <a:t> - </a:t>
            </a:r>
            <a:r>
              <a:rPr lang="en-AU" sz="1200" kern="1200" dirty="0" smtClean="0">
                <a:solidFill>
                  <a:schemeClr val="tx1"/>
                </a:solidFill>
                <a:ea typeface="+mn-ea"/>
                <a:cs typeface="+mn-cs"/>
              </a:rPr>
              <a:t>The APEC/PATA Code for Sustainable Tourism. </a:t>
            </a:r>
            <a:endParaRPr lang="en-AU" noProof="0" dirty="0" smtClean="0"/>
          </a:p>
          <a:p>
            <a:pPr>
              <a:buFont typeface="Arial" pitchFamily="34" charset="0"/>
              <a:buNone/>
            </a:pPr>
            <a:endParaRPr lang="en-AU" noProof="0" dirty="0" smtClean="0"/>
          </a:p>
          <a:p>
            <a:pPr>
              <a:buFont typeface="Arial" pitchFamily="34" charset="0"/>
              <a:buNone/>
            </a:pPr>
            <a:r>
              <a:rPr lang="en-US" b="1" noProof="0" dirty="0" smtClean="0"/>
              <a:t>Classroom Activity (2) – Group Discussion</a:t>
            </a:r>
          </a:p>
          <a:p>
            <a:pPr>
              <a:buFont typeface="Arial" pitchFamily="34" charset="0"/>
              <a:buNone/>
            </a:pPr>
            <a:r>
              <a:rPr lang="en-US" b="0" noProof="0" dirty="0" smtClean="0"/>
              <a:t>Trainer leads class in discussion of practical examples of what constitutes “</a:t>
            </a:r>
            <a:r>
              <a:rPr lang="en-AU" sz="1200" kern="1200" dirty="0" smtClean="0">
                <a:solidFill>
                  <a:schemeClr val="tx1"/>
                </a:solidFill>
                <a:ea typeface="+mn-ea"/>
                <a:cs typeface="+mn-cs"/>
              </a:rPr>
              <a:t>an ethical and responsible manner with care, professionalism and diligence”. </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14252314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reiterates need for sustainable tourism initiatives to be planned </a:t>
            </a:r>
            <a:r>
              <a:rPr lang="en-AU" sz="1200" kern="1200" dirty="0" smtClean="0">
                <a:solidFill>
                  <a:schemeClr val="tx1"/>
                </a:solidFill>
                <a:ea typeface="+mn-ea"/>
                <a:cs typeface="+mn-cs"/>
              </a:rPr>
              <a:t>highlighting the plan must be:</a:t>
            </a:r>
          </a:p>
          <a:p>
            <a:pPr marL="171450" indent="-171450">
              <a:buFont typeface="Arial" pitchFamily="34" charset="0"/>
              <a:buChar char="•"/>
            </a:pPr>
            <a:r>
              <a:rPr lang="en-AU" sz="1200" kern="1200" dirty="0" smtClean="0">
                <a:solidFill>
                  <a:schemeClr val="tx1"/>
                </a:solidFill>
                <a:ea typeface="+mn-ea"/>
                <a:cs typeface="+mn-cs"/>
              </a:rPr>
              <a:t>In writing – so there is surety about it and the plan can be easily shared with others</a:t>
            </a:r>
          </a:p>
          <a:p>
            <a:pPr marL="171450" indent="-171450">
              <a:buFont typeface="Arial" pitchFamily="34" charset="0"/>
              <a:buChar char="•"/>
            </a:pPr>
            <a:r>
              <a:rPr lang="en-AU" sz="1200" kern="1200" dirty="0" smtClean="0">
                <a:solidFill>
                  <a:schemeClr val="tx1"/>
                </a:solidFill>
                <a:ea typeface="+mn-ea"/>
                <a:cs typeface="+mn-cs"/>
              </a:rPr>
              <a:t>The result of adequate consideration and consultation – with identified stakeholders</a:t>
            </a:r>
          </a:p>
          <a:p>
            <a:pPr marL="171450" indent="-171450">
              <a:buFont typeface="Arial" pitchFamily="34" charset="0"/>
              <a:buChar char="•"/>
            </a:pPr>
            <a:r>
              <a:rPr lang="en-AU" sz="1200" kern="1200" dirty="0" smtClean="0">
                <a:solidFill>
                  <a:schemeClr val="tx1"/>
                </a:solidFill>
                <a:ea typeface="+mn-ea"/>
                <a:cs typeface="+mn-cs"/>
              </a:rPr>
              <a:t>Realistic and achievable – within the context of the business environment for the proposer.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589924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standard requirements of this type of plan include:</a:t>
            </a:r>
          </a:p>
          <a:p>
            <a:pPr marL="171450" indent="-171450">
              <a:buFont typeface="Arial" pitchFamily="34" charset="0"/>
              <a:buChar char="•"/>
            </a:pPr>
            <a:r>
              <a:rPr lang="en-AU" sz="1200" kern="1200" dirty="0" smtClean="0">
                <a:solidFill>
                  <a:schemeClr val="tx1"/>
                </a:solidFill>
                <a:ea typeface="+mn-ea"/>
                <a:cs typeface="+mn-cs"/>
              </a:rPr>
              <a:t>Explanation of how the proposal meets identified local needs – while at the same time addressing identified concerns by including action to minimise negative effects and maximise positive impacts</a:t>
            </a:r>
          </a:p>
          <a:p>
            <a:pPr marL="171450" indent="-171450">
              <a:buFont typeface="Arial" pitchFamily="34" charset="0"/>
              <a:buChar char="•"/>
            </a:pPr>
            <a:r>
              <a:rPr lang="en-AU" sz="1200" kern="1200" dirty="0" smtClean="0">
                <a:solidFill>
                  <a:schemeClr val="tx1"/>
                </a:solidFill>
                <a:ea typeface="+mn-ea"/>
                <a:cs typeface="+mn-cs"/>
              </a:rPr>
              <a:t>Description of the extent and type of activities and operations proposed – including specification of the site/location to be used and the nature of the activities/operations to be conducted</a:t>
            </a:r>
          </a:p>
          <a:p>
            <a:pPr marL="171450" indent="-171450">
              <a:buFont typeface="Arial" pitchFamily="34" charset="0"/>
              <a:buChar char="•"/>
            </a:pPr>
            <a:r>
              <a:rPr lang="en-AU" sz="1200" kern="1200" dirty="0" smtClean="0">
                <a:solidFill>
                  <a:schemeClr val="tx1"/>
                </a:solidFill>
                <a:ea typeface="+mn-ea"/>
                <a:cs typeface="+mn-cs"/>
              </a:rPr>
              <a:t>Identification of timing details – including development time, commencement dates, duration of the activity/operation and specification of daily hours of operation</a:t>
            </a:r>
          </a:p>
          <a:p>
            <a:pPr marL="171450" indent="-171450">
              <a:buFont typeface="Arial" pitchFamily="34" charset="0"/>
              <a:buChar char="•"/>
            </a:pPr>
            <a:r>
              <a:rPr lang="en-AU" sz="1200" kern="1200" dirty="0" smtClean="0">
                <a:solidFill>
                  <a:schemeClr val="tx1"/>
                </a:solidFill>
                <a:ea typeface="+mn-ea"/>
                <a:cs typeface="+mn-cs"/>
              </a:rPr>
              <a:t>Provision of evidence proving required approvals, permissions, authorities, licenses and registrations have been approved/granted – by local communities and authorities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2900511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to present standard requirements of the plan:</a:t>
            </a:r>
          </a:p>
          <a:p>
            <a:pPr marL="171450" indent="-171450">
              <a:buFont typeface="Arial" pitchFamily="34" charset="0"/>
              <a:buChar char="•"/>
            </a:pPr>
            <a:r>
              <a:rPr lang="en-AU" sz="1200" kern="1200" dirty="0" smtClean="0">
                <a:solidFill>
                  <a:schemeClr val="tx1"/>
                </a:solidFill>
                <a:ea typeface="+mn-ea"/>
                <a:cs typeface="+mn-cs"/>
              </a:rPr>
              <a:t>Development of behaviour stipulations for tour group members – when they visit the site, participate in activities and/or engage with local people and communities</a:t>
            </a:r>
          </a:p>
          <a:p>
            <a:pPr marL="171450" indent="-171450">
              <a:buFont typeface="Arial" pitchFamily="34" charset="0"/>
              <a:buChar char="•"/>
            </a:pPr>
            <a:r>
              <a:rPr lang="en-AU" sz="1200" kern="1200" dirty="0" smtClean="0">
                <a:solidFill>
                  <a:schemeClr val="tx1"/>
                </a:solidFill>
                <a:ea typeface="+mn-ea"/>
                <a:cs typeface="+mn-cs"/>
              </a:rPr>
              <a:t>Identification of the process that will be followed for trialling the initiative – prior to full implementation of the proposal</a:t>
            </a:r>
          </a:p>
          <a:p>
            <a:pPr marL="171450" indent="-171450">
              <a:buFont typeface="Arial" pitchFamily="34" charset="0"/>
              <a:buChar char="•"/>
            </a:pPr>
            <a:r>
              <a:rPr lang="en-AU" sz="1200" kern="1200" dirty="0" smtClean="0">
                <a:solidFill>
                  <a:schemeClr val="tx1"/>
                </a:solidFill>
                <a:ea typeface="+mn-ea"/>
                <a:cs typeface="+mn-cs"/>
              </a:rPr>
              <a:t>Explanation of how objectors can register their objection to the proposal – together with explanation of the process that will be followed when an objection is received</a:t>
            </a:r>
          </a:p>
          <a:p>
            <a:pPr marL="171450" indent="-171450">
              <a:buFont typeface="Arial" pitchFamily="34" charset="0"/>
              <a:buChar char="•"/>
            </a:pPr>
            <a:r>
              <a:rPr lang="en-AU" sz="1200" kern="1200" dirty="0" smtClean="0">
                <a:solidFill>
                  <a:schemeClr val="tx1"/>
                </a:solidFill>
                <a:ea typeface="+mn-ea"/>
                <a:cs typeface="+mn-cs"/>
              </a:rPr>
              <a:t>Consultation that will occur with relevant communities and individuals – prior to final implementation decision being made</a:t>
            </a:r>
          </a:p>
          <a:p>
            <a:pPr marL="171450" indent="-171450">
              <a:buFont typeface="Arial" pitchFamily="34" charset="0"/>
              <a:buChar char="•"/>
            </a:pPr>
            <a:r>
              <a:rPr lang="en-AU" sz="1200" kern="1200" dirty="0" smtClean="0">
                <a:solidFill>
                  <a:schemeClr val="tx1"/>
                </a:solidFill>
                <a:ea typeface="+mn-ea"/>
                <a:cs typeface="+mn-cs"/>
              </a:rPr>
              <a:t>Description of monitoring protocols – to assess impact of proposal on local environment and communities.</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http://www.environment.gov.au/system/files/resources/9c8f5084-3565-4f26-8801-77da3458f497/files/steps.pdf</a:t>
            </a:r>
            <a:r>
              <a:rPr lang="en-AU" sz="1200" u="sng" kern="1200" dirty="0" smtClean="0">
                <a:solidFill>
                  <a:schemeClr val="tx1"/>
                </a:solidFill>
                <a:ea typeface="+mn-ea"/>
                <a:cs typeface="+mn-cs"/>
              </a:rPr>
              <a:t> - </a:t>
            </a:r>
            <a:r>
              <a:rPr lang="en-AU" sz="1200" kern="1200" dirty="0" smtClean="0">
                <a:solidFill>
                  <a:schemeClr val="tx1"/>
                </a:solidFill>
                <a:ea typeface="+mn-ea"/>
                <a:cs typeface="+mn-cs"/>
              </a:rPr>
              <a:t>Steps to Sustainable Tourism: planning for a sustainable future for tourism, heritage and the environment.</a:t>
            </a:r>
          </a:p>
          <a:p>
            <a:pPr>
              <a:buFont typeface="Arial" pitchFamily="34" charset="0"/>
              <a:buNone/>
            </a:pPr>
            <a:r>
              <a:rPr lang="en-AU" sz="1200" b="0" kern="1200" noProof="0" dirty="0" smtClean="0">
                <a:solidFill>
                  <a:schemeClr val="tx1"/>
                </a:solidFill>
                <a:ea typeface="+mn-ea"/>
                <a:cs typeface="+mn-cs"/>
              </a:rPr>
              <a:t>Attention must be paid to:</a:t>
            </a:r>
          </a:p>
          <a:p>
            <a:pPr marL="171450" indent="-171450">
              <a:buFont typeface="Arial" pitchFamily="34" charset="0"/>
              <a:buChar char="•"/>
            </a:pPr>
            <a:r>
              <a:rPr lang="en-AU" sz="1200" b="0" kern="1200" noProof="0" dirty="0" smtClean="0">
                <a:solidFill>
                  <a:schemeClr val="tx1"/>
                </a:solidFill>
                <a:ea typeface="+mn-ea"/>
                <a:cs typeface="+mn-cs"/>
              </a:rPr>
              <a:t>The 10 Steps: pages 7 – 55 </a:t>
            </a:r>
          </a:p>
          <a:p>
            <a:pPr marL="171450" indent="-171450">
              <a:buFont typeface="Arial" pitchFamily="34" charset="0"/>
              <a:buChar char="•"/>
            </a:pPr>
            <a:r>
              <a:rPr lang="en-AU" sz="1200" b="0" kern="1200" noProof="0" dirty="0" smtClean="0">
                <a:solidFill>
                  <a:schemeClr val="tx1"/>
                </a:solidFill>
                <a:ea typeface="+mn-ea"/>
                <a:cs typeface="+mn-cs"/>
              </a:rPr>
              <a:t>Ways to use the document:</a:t>
            </a:r>
            <a:r>
              <a:rPr lang="en-AU" sz="1200" b="0" kern="1200" baseline="0" noProof="0" dirty="0" smtClean="0">
                <a:solidFill>
                  <a:schemeClr val="tx1"/>
                </a:solidFill>
                <a:ea typeface="+mn-ea"/>
                <a:cs typeface="+mn-cs"/>
              </a:rPr>
              <a:t> page 11</a:t>
            </a:r>
          </a:p>
          <a:p>
            <a:pPr marL="171450" indent="-171450">
              <a:buFont typeface="Arial" pitchFamily="34" charset="0"/>
              <a:buChar char="•"/>
            </a:pPr>
            <a:r>
              <a:rPr lang="en-AU" sz="1200" b="0" kern="1200" baseline="0" noProof="0" dirty="0" smtClean="0">
                <a:solidFill>
                  <a:schemeClr val="tx1"/>
                </a:solidFill>
                <a:ea typeface="+mn-ea"/>
                <a:cs typeface="+mn-cs"/>
              </a:rPr>
              <a:t>Those who might use the document: page 12</a:t>
            </a:r>
          </a:p>
          <a:p>
            <a:pPr marL="171450" indent="-171450">
              <a:buFont typeface="Arial" pitchFamily="34" charset="0"/>
              <a:buChar char="•"/>
            </a:pPr>
            <a:r>
              <a:rPr lang="en-AU" sz="1200" b="0" kern="1200" baseline="0" noProof="0" dirty="0" smtClean="0">
                <a:solidFill>
                  <a:schemeClr val="tx1"/>
                </a:solidFill>
                <a:ea typeface="+mn-ea"/>
                <a:cs typeface="+mn-cs"/>
              </a:rPr>
              <a:t>Four guiding principles: pages 13 – 14 </a:t>
            </a:r>
          </a:p>
          <a:p>
            <a:pPr marL="171450" indent="-171450">
              <a:buFont typeface="Arial" pitchFamily="34" charset="0"/>
              <a:buChar char="•"/>
            </a:pPr>
            <a:r>
              <a:rPr lang="en-AU" sz="1200" b="0" kern="1200" baseline="0" noProof="0" dirty="0" smtClean="0">
                <a:solidFill>
                  <a:schemeClr val="tx1"/>
                </a:solidFill>
                <a:ea typeface="+mn-ea"/>
                <a:cs typeface="+mn-cs"/>
              </a:rPr>
              <a:t>Step 9 - How to do it: pages 51 – 53 </a:t>
            </a:r>
          </a:p>
          <a:p>
            <a:pPr marL="171450" indent="-171450">
              <a:buFont typeface="Arial" pitchFamily="34" charset="0"/>
              <a:buChar char="•"/>
            </a:pPr>
            <a:r>
              <a:rPr lang="en-AU" sz="1200" b="0" kern="1200" baseline="0" noProof="0" dirty="0" smtClean="0">
                <a:solidFill>
                  <a:schemeClr val="tx1"/>
                </a:solidFill>
                <a:ea typeface="+mn-ea"/>
                <a:cs typeface="+mn-cs"/>
              </a:rPr>
              <a:t>Summary checklist: pages 56 – 57. </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408138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ea typeface="+mn-ea"/>
                <a:cs typeface="+mn-cs"/>
              </a:rPr>
              <a:t>details of the trial (or ‘pilot’) to be contained in the plan and the nature of the content will vary between the type of activities being planned stating for example, the plan for the trial of an initiative to conduct an overnight tour into a new location may require specification of:</a:t>
            </a:r>
          </a:p>
          <a:p>
            <a:pPr marL="171450" indent="-171450">
              <a:buFont typeface="Arial" pitchFamily="34" charset="0"/>
              <a:buChar char="•"/>
            </a:pPr>
            <a:r>
              <a:rPr lang="en-AU" sz="1200" kern="1200" dirty="0" smtClean="0">
                <a:solidFill>
                  <a:schemeClr val="tx1"/>
                </a:solidFill>
                <a:ea typeface="+mn-ea"/>
                <a:cs typeface="+mn-cs"/>
              </a:rPr>
              <a:t>Date/s of the trial tours</a:t>
            </a:r>
          </a:p>
          <a:p>
            <a:pPr marL="171450" indent="-171450">
              <a:buFont typeface="Arial" pitchFamily="34" charset="0"/>
              <a:buChar char="•"/>
            </a:pPr>
            <a:r>
              <a:rPr lang="en-AU" sz="1200" kern="1200" dirty="0" smtClean="0">
                <a:solidFill>
                  <a:schemeClr val="tx1"/>
                </a:solidFill>
                <a:ea typeface="+mn-ea"/>
                <a:cs typeface="+mn-cs"/>
              </a:rPr>
              <a:t>Time/s the tour group/s will arrive</a:t>
            </a:r>
          </a:p>
          <a:p>
            <a:pPr marL="171450" indent="-171450">
              <a:buFont typeface="Arial" pitchFamily="34" charset="0"/>
              <a:buChar char="•"/>
            </a:pPr>
            <a:r>
              <a:rPr lang="en-AU" sz="1200" kern="1200" dirty="0" smtClean="0">
                <a:solidFill>
                  <a:schemeClr val="tx1"/>
                </a:solidFill>
                <a:ea typeface="+mn-ea"/>
                <a:cs typeface="+mn-cs"/>
              </a:rPr>
              <a:t>Duration of tour/s on each date</a:t>
            </a:r>
          </a:p>
          <a:p>
            <a:pPr marL="171450" indent="-171450">
              <a:buFont typeface="Arial" pitchFamily="34" charset="0"/>
              <a:buChar char="•"/>
            </a:pPr>
            <a:r>
              <a:rPr lang="en-AU" sz="1200" kern="1200" dirty="0" smtClean="0">
                <a:solidFill>
                  <a:schemeClr val="tx1"/>
                </a:solidFill>
                <a:ea typeface="+mn-ea"/>
                <a:cs typeface="+mn-cs"/>
              </a:rPr>
              <a:t>Number of people in each tour group</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5349300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sample contents of pilot/trial plan:</a:t>
            </a:r>
          </a:p>
          <a:p>
            <a:pPr marL="171450" indent="-171450">
              <a:buFont typeface="Arial" pitchFamily="34" charset="0"/>
              <a:buChar char="•"/>
            </a:pPr>
            <a:r>
              <a:rPr lang="en-AU" sz="1200" kern="1200" dirty="0" smtClean="0">
                <a:solidFill>
                  <a:schemeClr val="tx1"/>
                </a:solidFill>
                <a:ea typeface="+mn-ea"/>
                <a:cs typeface="+mn-cs"/>
              </a:rPr>
              <a:t>Group profile – by relevant demographic characteristics (where appropriate for the type of activity/tour being offered – for example the Tourism Operator may be seeking to target children for school camps/excursions, or seeking to target senior citizens)</a:t>
            </a:r>
          </a:p>
          <a:p>
            <a:pPr marL="171450" indent="-171450">
              <a:buFont typeface="Arial" pitchFamily="34" charset="0"/>
              <a:buChar char="•"/>
            </a:pPr>
            <a:r>
              <a:rPr lang="en-AU" sz="1200" kern="1200" dirty="0" smtClean="0">
                <a:solidFill>
                  <a:schemeClr val="tx1"/>
                </a:solidFill>
                <a:ea typeface="+mn-ea"/>
                <a:cs typeface="+mn-cs"/>
              </a:rPr>
              <a:t>Itinerary for each tour</a:t>
            </a:r>
          </a:p>
          <a:p>
            <a:pPr marL="171450" indent="-171450">
              <a:buFont typeface="Arial" pitchFamily="34" charset="0"/>
              <a:buChar char="•"/>
            </a:pPr>
            <a:r>
              <a:rPr lang="en-AU" sz="1200" kern="1200" dirty="0" smtClean="0">
                <a:solidFill>
                  <a:schemeClr val="tx1"/>
                </a:solidFill>
                <a:ea typeface="+mn-ea"/>
                <a:cs typeface="+mn-cs"/>
              </a:rPr>
              <a:t>Route/s to be used – in relation to:</a:t>
            </a:r>
          </a:p>
          <a:p>
            <a:pPr marL="628650" lvl="1" indent="-171450">
              <a:buFont typeface="Arial" pitchFamily="34" charset="0"/>
              <a:buChar char="•"/>
            </a:pPr>
            <a:r>
              <a:rPr lang="en-US" sz="1200" kern="1200" dirty="0" smtClean="0">
                <a:solidFill>
                  <a:schemeClr val="tx1"/>
                </a:solidFill>
                <a:ea typeface="+mn-ea"/>
                <a:cs typeface="+mn-cs"/>
              </a:rPr>
              <a:t>Entry to the site/area and exit from it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Travel within the area</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Foot traffic and vehicles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Location and size of camp site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850034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identifying sample contents of pilot/trial plan:</a:t>
            </a:r>
          </a:p>
          <a:p>
            <a:pPr marL="171450" indent="-171450">
              <a:buFont typeface="Arial" pitchFamily="34" charset="0"/>
              <a:buChar char="•"/>
            </a:pPr>
            <a:r>
              <a:rPr lang="en-AU" sz="1200" kern="1200" dirty="0" smtClean="0">
                <a:solidFill>
                  <a:schemeClr val="tx1"/>
                </a:solidFill>
                <a:ea typeface="+mn-ea"/>
                <a:cs typeface="+mn-cs"/>
              </a:rPr>
              <a:t>Facilities within the camp</a:t>
            </a:r>
          </a:p>
          <a:p>
            <a:pPr marL="171450" indent="-171450">
              <a:buFont typeface="Arial" pitchFamily="34" charset="0"/>
              <a:buChar char="•"/>
            </a:pPr>
            <a:r>
              <a:rPr lang="en-AU" sz="1200" kern="1200" dirty="0" smtClean="0">
                <a:solidFill>
                  <a:schemeClr val="tx1"/>
                </a:solidFill>
                <a:ea typeface="+mn-ea"/>
                <a:cs typeface="+mn-cs"/>
              </a:rPr>
              <a:t>Interpretive activities to be conducted</a:t>
            </a:r>
          </a:p>
          <a:p>
            <a:pPr marL="171450" indent="-171450">
              <a:buFont typeface="Arial" pitchFamily="34" charset="0"/>
              <a:buChar char="•"/>
            </a:pPr>
            <a:r>
              <a:rPr lang="en-AU" sz="1200" kern="1200" dirty="0" smtClean="0">
                <a:solidFill>
                  <a:schemeClr val="tx1"/>
                </a:solidFill>
                <a:ea typeface="+mn-ea"/>
                <a:cs typeface="+mn-cs"/>
              </a:rPr>
              <a:t>Estimated use of local resources and facilities – which might reference things such as water, wood, fuel, shops, toilet facilities, huts, cooking and dining areas and camp sites </a:t>
            </a:r>
          </a:p>
          <a:p>
            <a:pPr marL="171450" indent="-171450">
              <a:buFont typeface="Arial" pitchFamily="34" charset="0"/>
              <a:buChar char="•"/>
            </a:pPr>
            <a:r>
              <a:rPr lang="en-AU" sz="1200" kern="1200" dirty="0" smtClean="0">
                <a:solidFill>
                  <a:schemeClr val="tx1"/>
                </a:solidFill>
                <a:ea typeface="+mn-ea"/>
                <a:cs typeface="+mn-cs"/>
              </a:rPr>
              <a:t>Details of resources to be carried into the area by the Tourism Operator – and details of items which have been declared ‘prohibited items’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16732842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sample contents of pilot/trial plan:</a:t>
            </a:r>
          </a:p>
          <a:p>
            <a:pPr marL="171450" indent="-171450">
              <a:buFont typeface="Arial" pitchFamily="34" charset="0"/>
              <a:buChar char="•"/>
            </a:pPr>
            <a:r>
              <a:rPr lang="en-AU" sz="1200" kern="1200" dirty="0" smtClean="0">
                <a:solidFill>
                  <a:schemeClr val="tx1"/>
                </a:solidFill>
                <a:ea typeface="+mn-ea"/>
                <a:cs typeface="+mn-cs"/>
              </a:rPr>
              <a:t>Role of local communities in the operation of the tour – such as voluntary commitment or paid work as:</a:t>
            </a:r>
          </a:p>
          <a:p>
            <a:pPr marL="628650" lvl="1" indent="-171450">
              <a:buFont typeface="Arial" pitchFamily="34" charset="0"/>
              <a:buChar char="•"/>
            </a:pPr>
            <a:r>
              <a:rPr lang="en-US" sz="1200" kern="1200" dirty="0" smtClean="0">
                <a:solidFill>
                  <a:schemeClr val="tx1"/>
                </a:solidFill>
                <a:ea typeface="+mn-ea"/>
                <a:cs typeface="+mn-cs"/>
              </a:rPr>
              <a:t>Local area tour guides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Participants in certain interpretive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Labour for unpacking tour vehicles, pitching tents, setting up camps and breaking camp and packing for departure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Food workers employed to prepare, cook and serve meals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Arrangements for latrines and washing facilities</a:t>
            </a:r>
          </a:p>
          <a:p>
            <a:pPr marL="171450" indent="-171450">
              <a:buFont typeface="Arial" pitchFamily="34" charset="0"/>
              <a:buChar char="•"/>
            </a:pPr>
            <a:r>
              <a:rPr lang="en-AU" sz="1200" kern="1200" dirty="0" smtClean="0">
                <a:solidFill>
                  <a:schemeClr val="tx1"/>
                </a:solidFill>
                <a:ea typeface="+mn-ea"/>
                <a:cs typeface="+mn-cs"/>
              </a:rPr>
              <a:t>Details of waste management – which may require ‘carrying out’ of waste</a:t>
            </a:r>
          </a:p>
          <a:p>
            <a:pPr marL="171450" indent="-171450">
              <a:buFont typeface="Arial" pitchFamily="34" charset="0"/>
              <a:buChar char="•"/>
            </a:pPr>
            <a:r>
              <a:rPr lang="en-AU" sz="1200" kern="1200" dirty="0" smtClean="0">
                <a:solidFill>
                  <a:schemeClr val="tx1"/>
                </a:solidFill>
                <a:ea typeface="+mn-ea"/>
                <a:cs typeface="+mn-cs"/>
              </a:rPr>
              <a:t>‘Code of Conduct’ for tourists and tour staff when in the area</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4394210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identifying sample contents of pilot/trial plan:</a:t>
            </a:r>
          </a:p>
          <a:p>
            <a:pPr marL="171450" indent="-171450">
              <a:buFont typeface="Arial" pitchFamily="34" charset="0"/>
              <a:buChar char="•"/>
            </a:pPr>
            <a:r>
              <a:rPr lang="en-AU" sz="1200" kern="1200" dirty="0" smtClean="0">
                <a:solidFill>
                  <a:schemeClr val="tx1"/>
                </a:solidFill>
                <a:ea typeface="+mn-ea"/>
                <a:cs typeface="+mn-cs"/>
              </a:rPr>
              <a:t>‘Emergency Management Plans’ to address events identified by standard risk management (that is, risk identification, risk assessment/evaluation and risk control) for the area, the nature of the tour and the expected/known profile/s of the tour groups</a:t>
            </a:r>
          </a:p>
          <a:p>
            <a:pPr marL="171450" indent="-171450">
              <a:buFont typeface="Arial" pitchFamily="34" charset="0"/>
              <a:buChar char="•"/>
            </a:pPr>
            <a:r>
              <a:rPr lang="en-AU" sz="1200" kern="1200" dirty="0" smtClean="0">
                <a:solidFill>
                  <a:schemeClr val="tx1"/>
                </a:solidFill>
                <a:ea typeface="+mn-ea"/>
                <a:cs typeface="+mn-cs"/>
              </a:rPr>
              <a:t>Description of the monitoring activities to be conducted – and names of those with responsibility for undertaking them</a:t>
            </a:r>
          </a:p>
          <a:p>
            <a:pPr marL="171450" indent="-171450">
              <a:buFont typeface="Arial" pitchFamily="34" charset="0"/>
              <a:buChar char="•"/>
            </a:pPr>
            <a:r>
              <a:rPr lang="en-AU" sz="1200" kern="1200" dirty="0" smtClean="0">
                <a:solidFill>
                  <a:schemeClr val="tx1"/>
                </a:solidFill>
                <a:ea typeface="+mn-ea"/>
                <a:cs typeface="+mn-cs"/>
              </a:rPr>
              <a:t>Description of the process to be followed to analyse and evaluate the data captured during the monitoring phase.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1686841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‘The </a:t>
            </a:r>
            <a:r>
              <a:rPr lang="en-AU" sz="1200" kern="1200" dirty="0" smtClean="0">
                <a:solidFill>
                  <a:schemeClr val="tx1"/>
                </a:solidFill>
                <a:ea typeface="+mn-ea"/>
                <a:cs typeface="+mn-cs"/>
              </a:rPr>
              <a:t>ASEAN Tourism Standards’ highlighting they:</a:t>
            </a:r>
          </a:p>
          <a:p>
            <a:pPr marL="171450" indent="-171450">
              <a:buFont typeface="Arial" pitchFamily="34" charset="0"/>
              <a:buChar char="•"/>
            </a:pPr>
            <a:r>
              <a:rPr lang="en-AU" sz="1200" kern="1200" dirty="0" smtClean="0">
                <a:solidFill>
                  <a:schemeClr val="tx1"/>
                </a:solidFill>
                <a:ea typeface="+mn-ea"/>
                <a:cs typeface="+mn-cs"/>
              </a:rPr>
              <a:t>The ASEAN National Tourism Organizations have agreed on six ASEAN Tourism Standards to help ASEAN be a Quality Single Destination</a:t>
            </a:r>
          </a:p>
          <a:p>
            <a:pPr marL="171450" indent="-171450">
              <a:buFont typeface="Arial" pitchFamily="34" charset="0"/>
              <a:buChar char="•"/>
            </a:pPr>
            <a:r>
              <a:rPr lang="en-AU" sz="1200" kern="1200" dirty="0" smtClean="0">
                <a:solidFill>
                  <a:schemeClr val="tx1"/>
                </a:solidFill>
                <a:ea typeface="+mn-ea"/>
                <a:cs typeface="+mn-cs"/>
              </a:rPr>
              <a:t>This initiative uses a certification process to ensure tourism service providers adhere to require standards which will enable sustainable tourism and provide standardised products to visitors</a:t>
            </a:r>
          </a:p>
          <a:p>
            <a:pPr marL="171450" indent="-171450">
              <a:buFont typeface="Arial" pitchFamily="34" charset="0"/>
              <a:buChar char="•"/>
            </a:pPr>
            <a:r>
              <a:rPr lang="en-AU" sz="1200" kern="1200" dirty="0" smtClean="0">
                <a:solidFill>
                  <a:schemeClr val="tx1"/>
                </a:solidFill>
                <a:ea typeface="+mn-ea"/>
                <a:cs typeface="+mn-cs"/>
              </a:rPr>
              <a:t>Those preparing plans for pilot sustainable/ minimal impact tourism projects should integrate the matters identified by this initiative in their planning. </a:t>
            </a:r>
          </a:p>
          <a:p>
            <a:pPr>
              <a:buFont typeface="Arial" pitchFamily="34" charset="0"/>
              <a:buNone/>
            </a:pPr>
            <a:r>
              <a:rPr lang="en-AU" sz="1200" kern="1200" dirty="0" smtClean="0">
                <a:solidFill>
                  <a:schemeClr val="tx1"/>
                </a:solidFill>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4996737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‘The </a:t>
            </a:r>
            <a:r>
              <a:rPr lang="en-AU" sz="1200" kern="1200" dirty="0" smtClean="0">
                <a:solidFill>
                  <a:schemeClr val="tx1"/>
                </a:solidFill>
                <a:ea typeface="+mn-ea"/>
                <a:cs typeface="+mn-cs"/>
              </a:rPr>
              <a:t>ASEAN Tourism Standards’ are:</a:t>
            </a:r>
          </a:p>
          <a:p>
            <a:pPr marL="228600" indent="-228600">
              <a:buFont typeface="+mj-lt"/>
              <a:buAutoNum type="arabicPeriod"/>
            </a:pPr>
            <a:r>
              <a:rPr lang="en-AU" sz="1200" kern="1200" dirty="0" smtClean="0">
                <a:solidFill>
                  <a:schemeClr val="tx1"/>
                </a:solidFill>
                <a:ea typeface="+mn-ea"/>
                <a:cs typeface="+mn-cs"/>
              </a:rPr>
              <a:t>Green Hotel</a:t>
            </a:r>
          </a:p>
          <a:p>
            <a:pPr marL="228600" indent="-228600">
              <a:buFont typeface="+mj-lt"/>
              <a:buAutoNum type="arabicPeriod"/>
            </a:pPr>
            <a:r>
              <a:rPr lang="en-AU" sz="1200" kern="1200" dirty="0" smtClean="0">
                <a:solidFill>
                  <a:schemeClr val="tx1"/>
                </a:solidFill>
                <a:ea typeface="+mn-ea"/>
                <a:cs typeface="+mn-cs"/>
              </a:rPr>
              <a:t>Food and Beverage Services</a:t>
            </a:r>
          </a:p>
          <a:p>
            <a:pPr marL="228600" indent="-228600">
              <a:buFont typeface="+mj-lt"/>
              <a:buAutoNum type="arabicPeriod"/>
            </a:pPr>
            <a:r>
              <a:rPr lang="en-AU" sz="1200" kern="1200" dirty="0" smtClean="0">
                <a:solidFill>
                  <a:schemeClr val="tx1"/>
                </a:solidFill>
                <a:ea typeface="+mn-ea"/>
                <a:cs typeface="+mn-cs"/>
              </a:rPr>
              <a:t>Public Restroom</a:t>
            </a:r>
          </a:p>
          <a:p>
            <a:pPr marL="228600" indent="-228600">
              <a:buFont typeface="+mj-lt"/>
              <a:buAutoNum type="arabicPeriod"/>
            </a:pPr>
            <a:r>
              <a:rPr lang="en-AU" sz="1200" kern="1200" dirty="0" smtClean="0">
                <a:solidFill>
                  <a:schemeClr val="tx1"/>
                </a:solidFill>
                <a:ea typeface="+mn-ea"/>
                <a:cs typeface="+mn-cs"/>
              </a:rPr>
              <a:t>Home Stay</a:t>
            </a:r>
          </a:p>
          <a:p>
            <a:pPr marL="228600" indent="-228600">
              <a:buFont typeface="+mj-lt"/>
              <a:buAutoNum type="arabicPeriod"/>
            </a:pPr>
            <a:r>
              <a:rPr lang="en-AU" sz="1200" kern="1200" dirty="0" smtClean="0">
                <a:solidFill>
                  <a:schemeClr val="tx1"/>
                </a:solidFill>
                <a:ea typeface="+mn-ea"/>
                <a:cs typeface="+mn-cs"/>
              </a:rPr>
              <a:t>Ecotourism</a:t>
            </a:r>
          </a:p>
          <a:p>
            <a:pPr marL="228600" indent="-228600">
              <a:buFont typeface="+mj-lt"/>
              <a:buAutoNum type="arabicPeriod"/>
            </a:pPr>
            <a:r>
              <a:rPr lang="en-AU" sz="1200" kern="1200" dirty="0" smtClean="0">
                <a:solidFill>
                  <a:schemeClr val="tx1"/>
                </a:solidFill>
                <a:ea typeface="+mn-ea"/>
                <a:cs typeface="+mn-cs"/>
              </a:rPr>
              <a:t>Tourism Heritage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4451189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a:t>
            </a:r>
            <a:r>
              <a:rPr lang="en-AU" baseline="0" noProof="0" dirty="0" smtClean="0"/>
              <a:t> overview of the Standards:</a:t>
            </a:r>
          </a:p>
          <a:p>
            <a:pPr marL="0" indent="0">
              <a:buFont typeface="+mj-lt"/>
              <a:buNone/>
            </a:pPr>
            <a:r>
              <a:rPr lang="en-AU" sz="1200" kern="1200" dirty="0" smtClean="0">
                <a:solidFill>
                  <a:schemeClr val="tx1"/>
                </a:solidFill>
                <a:ea typeface="+mn-ea"/>
                <a:cs typeface="+mn-cs"/>
              </a:rPr>
              <a:t>1. Green Hotel</a:t>
            </a:r>
          </a:p>
          <a:p>
            <a:pPr lvl="1"/>
            <a:r>
              <a:rPr lang="en-AU" sz="1200" kern="1200" dirty="0" smtClean="0">
                <a:solidFill>
                  <a:schemeClr val="tx1"/>
                </a:solidFill>
                <a:ea typeface="+mn-ea"/>
                <a:cs typeface="+mn-cs"/>
              </a:rPr>
              <a:t>Green Hotel is a hotel which is environmentally-friendly and adopts energy conservation measures.</a:t>
            </a:r>
          </a:p>
          <a:p>
            <a:r>
              <a:rPr lang="en-AU" sz="1200" kern="1200" dirty="0" smtClean="0">
                <a:solidFill>
                  <a:schemeClr val="tx1"/>
                </a:solidFill>
                <a:ea typeface="+mn-ea"/>
                <a:cs typeface="+mn-cs"/>
              </a:rPr>
              <a:t>2. Food &amp; Beverage Services</a:t>
            </a:r>
          </a:p>
          <a:p>
            <a:pPr lvl="1"/>
            <a:r>
              <a:rPr lang="en-AU" sz="1200" kern="1200" dirty="0" smtClean="0">
                <a:solidFill>
                  <a:schemeClr val="tx1"/>
                </a:solidFill>
                <a:ea typeface="+mn-ea"/>
                <a:cs typeface="+mn-cs"/>
              </a:rPr>
              <a:t>Local Food and Beverage Service is a form of service where traditional and typical food and beverages are produced and / or sold by local people in food stalls, local restaurants or other similar outlets.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40180627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a:t>
            </a:r>
            <a:r>
              <a:rPr lang="en-AU" baseline="0" noProof="0" dirty="0" smtClean="0"/>
              <a:t> overview of the Standards:</a:t>
            </a:r>
          </a:p>
          <a:p>
            <a:r>
              <a:rPr lang="en-AU" sz="1200" kern="1200" dirty="0" smtClean="0">
                <a:solidFill>
                  <a:schemeClr val="tx1"/>
                </a:solidFill>
                <a:ea typeface="+mn-ea"/>
                <a:cs typeface="+mn-cs"/>
              </a:rPr>
              <a:t>3. Public Restroom</a:t>
            </a:r>
          </a:p>
          <a:p>
            <a:pPr lvl="1"/>
            <a:r>
              <a:rPr lang="en-AU" sz="1200" kern="1200" dirty="0" smtClean="0">
                <a:solidFill>
                  <a:schemeClr val="tx1"/>
                </a:solidFill>
                <a:ea typeface="+mn-ea"/>
                <a:cs typeface="+mn-cs"/>
              </a:rPr>
              <a:t>Public Restroom is a room or booth shared by all people for urination and defecation consisting of at least a bowl fitted with or without a seat and connected to a waste pipe and a flushing apparatus.</a:t>
            </a:r>
          </a:p>
          <a:p>
            <a:r>
              <a:rPr lang="en-AU" sz="1200" kern="1200" dirty="0" smtClean="0">
                <a:solidFill>
                  <a:schemeClr val="tx1"/>
                </a:solidFill>
                <a:ea typeface="+mn-ea"/>
                <a:cs typeface="+mn-cs"/>
              </a:rPr>
              <a:t>4. Home Stay</a:t>
            </a:r>
          </a:p>
          <a:p>
            <a:pPr lvl="1"/>
            <a:r>
              <a:rPr lang="en-AU" sz="1200" kern="1200" dirty="0" smtClean="0">
                <a:solidFill>
                  <a:schemeClr val="tx1"/>
                </a:solidFill>
                <a:ea typeface="+mn-ea"/>
                <a:cs typeface="+mn-cs"/>
              </a:rPr>
              <a:t>Home Stay is an alternative form of family furnished accommodation generally located in a house, providing guests opportunities to experience family/community lifestyle as well as tourist attractions.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25979104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a:t>
            </a:r>
            <a:r>
              <a:rPr lang="en-AU" baseline="0" noProof="0" dirty="0" smtClean="0"/>
              <a:t> overview of the Standards:</a:t>
            </a:r>
          </a:p>
          <a:p>
            <a:r>
              <a:rPr lang="en-AU" sz="1200" kern="1200" dirty="0" smtClean="0">
                <a:solidFill>
                  <a:schemeClr val="tx1"/>
                </a:solidFill>
                <a:ea typeface="+mn-ea"/>
                <a:cs typeface="+mn-cs"/>
              </a:rPr>
              <a:t>5. Ecotourism</a:t>
            </a:r>
          </a:p>
          <a:p>
            <a:pPr lvl="1"/>
            <a:r>
              <a:rPr lang="en-AU" sz="1200" kern="1200" dirty="0" smtClean="0">
                <a:solidFill>
                  <a:schemeClr val="tx1"/>
                </a:solidFill>
                <a:ea typeface="+mn-ea"/>
                <a:cs typeface="+mn-cs"/>
              </a:rPr>
              <a:t>Ecotourism is responsible travel to destinations with ecological diversity that involves in activities, environmental and cultural conservation measures, and community participation providing benefits for the local people and the country.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7836374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a:t>
            </a:r>
            <a:r>
              <a:rPr lang="en-AU" baseline="0" noProof="0" dirty="0" smtClean="0"/>
              <a:t> overview of the Standards:</a:t>
            </a:r>
          </a:p>
          <a:p>
            <a:r>
              <a:rPr lang="en-AU" sz="1200" kern="1200" dirty="0" smtClean="0">
                <a:solidFill>
                  <a:schemeClr val="tx1"/>
                </a:solidFill>
                <a:ea typeface="+mn-ea"/>
                <a:cs typeface="+mn-cs"/>
              </a:rPr>
              <a:t>6. Tourism Heritage</a:t>
            </a:r>
          </a:p>
          <a:p>
            <a:pPr lvl="1"/>
            <a:r>
              <a:rPr lang="en-AU" sz="1200" kern="1200" dirty="0" smtClean="0">
                <a:solidFill>
                  <a:schemeClr val="tx1"/>
                </a:solidFill>
                <a:ea typeface="+mn-ea"/>
                <a:cs typeface="+mn-cs"/>
              </a:rPr>
              <a:t>Tourism Heritage is an outstanding cultural or heritage area of a country that is protected, conserved and managed in a sustainable manner provided with easy access and support facilities for the enjoyment of visiting tourists</a:t>
            </a:r>
          </a:p>
          <a:p>
            <a:pPr marL="1085850" lvl="2" indent="-171450">
              <a:buFont typeface="Arial" panose="020B0604020202020204" pitchFamily="34" charset="0"/>
              <a:buChar char="•"/>
            </a:pPr>
            <a:r>
              <a:rPr lang="en-AU" sz="1200" kern="1200" dirty="0" smtClean="0">
                <a:solidFill>
                  <a:schemeClr val="tx1"/>
                </a:solidFill>
                <a:ea typeface="+mn-ea"/>
                <a:cs typeface="+mn-cs"/>
              </a:rPr>
              <a:t>Cultural Heritage refers to outstanding monuments and groups of buildings in a country that have authentic, historical, archaeological, scientific, anthropological and ethnic value</a:t>
            </a:r>
          </a:p>
          <a:p>
            <a:pPr marL="1085850" lvl="2" indent="-171450">
              <a:buFont typeface="Arial" panose="020B0604020202020204" pitchFamily="34" charset="0"/>
              <a:buChar char="•"/>
            </a:pPr>
            <a:r>
              <a:rPr lang="en-AU" sz="1200" kern="1200" dirty="0" smtClean="0">
                <a:solidFill>
                  <a:schemeClr val="tx1"/>
                </a:solidFill>
                <a:ea typeface="+mn-ea"/>
                <a:cs typeface="+mn-cs"/>
              </a:rPr>
              <a:t> Natural Heritage refers to outstanding physical, biological and geological formations including its habitat and species that may be threatened and endangered.</a:t>
            </a:r>
            <a:endParaRPr lang="en-AU" noProof="0" dirty="0" smtClean="0"/>
          </a:p>
          <a:p>
            <a:pPr>
              <a:buFont typeface="Arial" pitchFamily="34" charset="0"/>
              <a:buNone/>
            </a:pPr>
            <a:endParaRPr lang="en-AU" baseline="0"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www.aseantourism.travel/downloaddoc/doc/2488</a:t>
            </a:r>
            <a:r>
              <a:rPr lang="en-AU" sz="1200" u="none" kern="1200" dirty="0" smtClean="0">
                <a:solidFill>
                  <a:schemeClr val="tx1"/>
                </a:solidFill>
                <a:ea typeface="+mn-ea"/>
                <a:cs typeface="+mn-cs"/>
              </a:rPr>
              <a:t> – ASEAN Tourism Standards.</a:t>
            </a:r>
          </a:p>
          <a:p>
            <a:pPr>
              <a:buFont typeface="Arial" pitchFamily="34" charset="0"/>
              <a:buNone/>
            </a:pPr>
            <a:r>
              <a:rPr lang="en-AU" sz="1200" u="none" kern="1200" baseline="0" noProof="0" dirty="0" smtClean="0">
                <a:solidFill>
                  <a:schemeClr val="tx1"/>
                </a:solidFill>
                <a:ea typeface="+mn-ea"/>
                <a:cs typeface="+mn-cs"/>
              </a:rPr>
              <a:t>Special attention must be paid to:</a:t>
            </a:r>
          </a:p>
          <a:p>
            <a:pPr>
              <a:buFont typeface="Arial" pitchFamily="34" charset="0"/>
              <a:buChar char="•"/>
            </a:pPr>
            <a:r>
              <a:rPr lang="en-AU" sz="1200" u="none" kern="1200" baseline="0" noProof="0" dirty="0" smtClean="0">
                <a:solidFill>
                  <a:schemeClr val="tx1"/>
                </a:solidFill>
                <a:ea typeface="+mn-ea"/>
                <a:cs typeface="+mn-cs"/>
              </a:rPr>
              <a:t>Major Criteria and Requirements for the six standards: pages 6 – 17. </a:t>
            </a:r>
            <a:endParaRPr lang="en-AU" u="none"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26443028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943082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662450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417450583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277764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involved in these trials?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are they important/necessary?</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is involved?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monitoring activities might be conducted?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factors might be monitored?</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59530030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confirming </a:t>
            </a:r>
            <a:r>
              <a:rPr lang="en-AU" sz="1200" kern="1200" dirty="0" smtClean="0">
                <a:solidFill>
                  <a:schemeClr val="tx1"/>
                </a:solidFill>
                <a:ea typeface="+mn-ea"/>
                <a:cs typeface="+mn-cs"/>
              </a:rPr>
              <a:t>the plans/details for the trial/pilot of an activity may:</a:t>
            </a:r>
          </a:p>
          <a:p>
            <a:pPr marL="171450" indent="-171450">
              <a:buFont typeface="Arial" pitchFamily="34" charset="0"/>
              <a:buChar char="•"/>
            </a:pPr>
            <a:r>
              <a:rPr lang="en-AU" sz="1200" kern="1200" dirty="0" smtClean="0">
                <a:solidFill>
                  <a:schemeClr val="tx1"/>
                </a:solidFill>
                <a:ea typeface="+mn-ea"/>
                <a:cs typeface="+mn-cs"/>
              </a:rPr>
              <a:t>Require presentation and explanation of final trial plans – in a face-to-face meeting with stakeholders/local communities</a:t>
            </a:r>
          </a:p>
          <a:p>
            <a:pPr marL="171450" indent="-171450">
              <a:buFont typeface="Arial" pitchFamily="34" charset="0"/>
              <a:buChar char="•"/>
            </a:pPr>
            <a:r>
              <a:rPr lang="en-AU" sz="1200" kern="1200" dirty="0" smtClean="0">
                <a:solidFill>
                  <a:schemeClr val="tx1"/>
                </a:solidFill>
                <a:ea typeface="+mn-ea"/>
                <a:cs typeface="+mn-cs"/>
              </a:rPr>
              <a:t>Involve explanation of details</a:t>
            </a:r>
          </a:p>
          <a:p>
            <a:pPr marL="171450" indent="-171450">
              <a:buFont typeface="Arial" pitchFamily="34" charset="0"/>
              <a:buChar char="•"/>
            </a:pPr>
            <a:r>
              <a:rPr lang="en-AU" sz="1200" kern="1200" dirty="0" smtClean="0">
                <a:solidFill>
                  <a:schemeClr val="tx1"/>
                </a:solidFill>
                <a:ea typeface="+mn-ea"/>
                <a:cs typeface="+mn-cs"/>
              </a:rPr>
              <a:t>Necessitate responses to questions and concerns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25354707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discussing confirming trial/pilot plans</a:t>
            </a:r>
          </a:p>
          <a:p>
            <a:pPr marL="171450" indent="-171450">
              <a:buFont typeface="Arial" pitchFamily="34" charset="0"/>
              <a:buChar char="•"/>
            </a:pPr>
            <a:r>
              <a:rPr lang="en-AU" sz="1200" kern="1200" dirty="0" smtClean="0">
                <a:solidFill>
                  <a:schemeClr val="tx1"/>
                </a:solidFill>
                <a:ea typeface="+mn-ea"/>
                <a:cs typeface="+mn-cs"/>
              </a:rPr>
              <a:t>Verify checks and monitoring activities which have been provided as an integral element of the trial</a:t>
            </a:r>
          </a:p>
          <a:p>
            <a:pPr marL="171450" indent="-171450">
              <a:buFont typeface="Arial" pitchFamily="34" charset="0"/>
              <a:buChar char="•"/>
            </a:pPr>
            <a:r>
              <a:rPr lang="en-AU" sz="1200" kern="1200" dirty="0" smtClean="0">
                <a:solidFill>
                  <a:schemeClr val="tx1"/>
                </a:solidFill>
                <a:ea typeface="+mn-ea"/>
                <a:cs typeface="+mn-cs"/>
              </a:rPr>
              <a:t>Demand readiness to make last-minute changes which may be required by key stakeholders – or to address valid issues which have been overlooked</a:t>
            </a:r>
          </a:p>
          <a:p>
            <a:pPr marL="171450" indent="-171450">
              <a:buFont typeface="Arial" pitchFamily="34" charset="0"/>
              <a:buChar char="•"/>
            </a:pPr>
            <a:r>
              <a:rPr lang="en-AU" sz="1200" kern="1200" dirty="0" smtClean="0">
                <a:solidFill>
                  <a:schemeClr val="tx1"/>
                </a:solidFill>
                <a:ea typeface="+mn-ea"/>
                <a:cs typeface="+mn-cs"/>
              </a:rPr>
              <a:t>Result in re-formulating draft trial plans.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340409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emphasises the</a:t>
            </a:r>
            <a:r>
              <a:rPr lang="en-AU" sz="1200" kern="1200" dirty="0" smtClean="0">
                <a:solidFill>
                  <a:schemeClr val="tx1"/>
                </a:solidFill>
                <a:ea typeface="+mn-ea"/>
                <a:cs typeface="+mn-cs"/>
              </a:rPr>
              <a:t> need for communicating with stakeholders cannot be over-stated and at this stage of the process communication can require:</a:t>
            </a:r>
          </a:p>
          <a:p>
            <a:pPr marL="171450" indent="-171450">
              <a:buFont typeface="Arial" pitchFamily="34" charset="0"/>
              <a:buChar char="•"/>
            </a:pPr>
            <a:r>
              <a:rPr lang="en-AU" sz="1200" kern="1200" dirty="0" smtClean="0">
                <a:solidFill>
                  <a:schemeClr val="tx1"/>
                </a:solidFill>
                <a:ea typeface="+mn-ea"/>
                <a:cs typeface="+mn-cs"/>
              </a:rPr>
              <a:t>Sharing hard copy plans with them – which may mean:</a:t>
            </a:r>
          </a:p>
          <a:p>
            <a:pPr marL="628650" lvl="1" indent="-171450">
              <a:buFont typeface="Arial" pitchFamily="34" charset="0"/>
              <a:buChar char="•"/>
            </a:pPr>
            <a:r>
              <a:rPr lang="en-US" sz="1200" kern="1200" dirty="0" smtClean="0">
                <a:solidFill>
                  <a:schemeClr val="tx1"/>
                </a:solidFill>
                <a:ea typeface="+mn-ea"/>
                <a:cs typeface="+mn-cs"/>
              </a:rPr>
              <a:t>Distributing hard and/or soft copies prior to meetings – so attendees can read them and think about them prior to meetings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Providing handouts at meetings – to those who have not already received them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Screening PowerPoint versions of the plan at group meetings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Verbally explaining the plan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Verifying approval/s – which have previously been promised, or provisionally given</a:t>
            </a:r>
          </a:p>
          <a:p>
            <a:pPr marL="171450" indent="-171450">
              <a:buFont typeface="Arial" pitchFamily="34" charset="0"/>
              <a:buChar char="•"/>
            </a:pPr>
            <a:r>
              <a:rPr lang="en-AU" sz="1200" kern="1200" dirty="0" smtClean="0">
                <a:solidFill>
                  <a:schemeClr val="tx1"/>
                </a:solidFill>
                <a:ea typeface="+mn-ea"/>
                <a:cs typeface="+mn-cs"/>
              </a:rPr>
              <a:t>Encouraging and/or obtaining cooperation – with the trial process</a:t>
            </a:r>
          </a:p>
          <a:p>
            <a:pPr marL="171450" indent="-171450">
              <a:buFont typeface="Arial" pitchFamily="34" charset="0"/>
              <a:buChar char="•"/>
            </a:pPr>
            <a:r>
              <a:rPr lang="en-AU" sz="1200" kern="1200" dirty="0" smtClean="0">
                <a:solidFill>
                  <a:schemeClr val="tx1"/>
                </a:solidFill>
                <a:ea typeface="+mn-ea"/>
                <a:cs typeface="+mn-cs"/>
              </a:rPr>
              <a:t>Negotiating final details – as/if required and/or negotiating ‘agreed amendments’ to the trial</a:t>
            </a:r>
          </a:p>
          <a:p>
            <a:pPr marL="171450" indent="-171450">
              <a:buFont typeface="Arial" pitchFamily="34" charset="0"/>
              <a:buChar char="•"/>
            </a:pPr>
            <a:r>
              <a:rPr lang="en-AU" sz="1200" kern="1200" dirty="0" smtClean="0">
                <a:solidFill>
                  <a:schemeClr val="tx1"/>
                </a:solidFill>
                <a:ea typeface="+mn-ea"/>
                <a:cs typeface="+mn-cs"/>
              </a:rPr>
              <a:t>Maintaining positive relationships which have been established.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5894508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communication </a:t>
            </a:r>
            <a:r>
              <a:rPr lang="en-AU" sz="1200" kern="1200" dirty="0" smtClean="0">
                <a:solidFill>
                  <a:schemeClr val="tx1"/>
                </a:solidFill>
                <a:ea typeface="+mn-ea"/>
                <a:cs typeface="+mn-cs"/>
              </a:rPr>
              <a:t>may feature:</a:t>
            </a:r>
          </a:p>
          <a:p>
            <a:pPr marL="171450" indent="-171450">
              <a:buFont typeface="Arial" pitchFamily="34" charset="0"/>
              <a:buChar char="•"/>
            </a:pPr>
            <a:r>
              <a:rPr lang="en-AU" sz="1200" kern="1200" dirty="0" smtClean="0">
                <a:solidFill>
                  <a:schemeClr val="tx1"/>
                </a:solidFill>
                <a:ea typeface="+mn-ea"/>
                <a:cs typeface="+mn-cs"/>
              </a:rPr>
              <a:t>Community meetings – on-site and/or with local communities at a place of their choosing</a:t>
            </a:r>
          </a:p>
          <a:p>
            <a:pPr marL="171450" indent="-171450">
              <a:buFont typeface="Arial" pitchFamily="34" charset="0"/>
              <a:buChar char="•"/>
            </a:pPr>
            <a:r>
              <a:rPr lang="en-AU" sz="1200" kern="1200" dirty="0" smtClean="0">
                <a:solidFill>
                  <a:schemeClr val="tx1"/>
                </a:solidFill>
                <a:ea typeface="+mn-ea"/>
                <a:cs typeface="+mn-cs"/>
              </a:rPr>
              <a:t>Face-to-face discussions with key individuals</a:t>
            </a:r>
          </a:p>
          <a:p>
            <a:pPr marL="171450" indent="-171450">
              <a:buFont typeface="Arial" pitchFamily="34" charset="0"/>
              <a:buChar char="•"/>
            </a:pPr>
            <a:r>
              <a:rPr lang="en-AU" sz="1200" kern="1200" dirty="0" smtClean="0">
                <a:solidFill>
                  <a:schemeClr val="tx1"/>
                </a:solidFill>
                <a:ea typeface="+mn-ea"/>
                <a:cs typeface="+mn-cs"/>
              </a:rPr>
              <a:t>Telephone contact</a:t>
            </a:r>
          </a:p>
          <a:p>
            <a:pPr marL="171450" indent="-171450">
              <a:buFont typeface="Arial" pitchFamily="34" charset="0"/>
              <a:buChar char="•"/>
            </a:pPr>
            <a:r>
              <a:rPr lang="en-AU" sz="1200" kern="1200" dirty="0" smtClean="0">
                <a:solidFill>
                  <a:schemeClr val="tx1"/>
                </a:solidFill>
                <a:ea typeface="+mn-ea"/>
                <a:cs typeface="+mn-cs"/>
              </a:rPr>
              <a:t>Distribution of hard copy plans – supported by verbal explanations and other explanatory documentation, as required (such as copies of legislation, COPs, reports).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representative of a local community to attend and:</a:t>
            </a:r>
          </a:p>
          <a:p>
            <a:pPr marL="171450" indent="-171450">
              <a:buFont typeface="Arial" pitchFamily="34" charset="0"/>
              <a:buChar char="•"/>
            </a:pPr>
            <a:r>
              <a:rPr lang="en-AU" b="0" noProof="0" dirty="0" smtClean="0"/>
              <a:t>Identify their concerns regarding tourism initiatives</a:t>
            </a:r>
          </a:p>
          <a:p>
            <a:pPr marL="171450" indent="-171450">
              <a:buFont typeface="Arial" pitchFamily="34" charset="0"/>
              <a:buChar char="•"/>
            </a:pPr>
            <a:r>
              <a:rPr lang="en-AU" b="0" noProof="0" dirty="0" smtClean="0"/>
              <a:t>Discuss their involvement with previous</a:t>
            </a:r>
            <a:r>
              <a:rPr lang="en-AU" b="0" baseline="0" noProof="0" dirty="0" smtClean="0"/>
              <a:t> initiatives</a:t>
            </a:r>
          </a:p>
          <a:p>
            <a:pPr marL="171450" indent="-171450">
              <a:buFont typeface="Arial" pitchFamily="34" charset="0"/>
              <a:buChar char="•"/>
            </a:pPr>
            <a:r>
              <a:rPr lang="en-AU" b="0" baseline="0" noProof="0" dirty="0" smtClean="0"/>
              <a:t>Explain their requirements/preferences for communication with proponents.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56811865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establishment of required infrastructure</a:t>
            </a:r>
            <a:r>
              <a:rPr lang="en-AU" baseline="0" noProof="0" dirty="0" smtClean="0"/>
              <a:t> noting:</a:t>
            </a:r>
          </a:p>
          <a:p>
            <a:pPr marL="171450" indent="-171450">
              <a:buFont typeface="Arial" pitchFamily="34" charset="0"/>
              <a:buChar char="•"/>
            </a:pPr>
            <a:r>
              <a:rPr lang="en-AU" sz="1200" kern="1200" dirty="0" smtClean="0">
                <a:solidFill>
                  <a:schemeClr val="tx1"/>
                </a:solidFill>
                <a:ea typeface="+mn-ea"/>
                <a:cs typeface="+mn-cs"/>
              </a:rPr>
              <a:t>This is not required for all initiatives – as it is possible the necessary infrastructure may already exist</a:t>
            </a:r>
          </a:p>
          <a:p>
            <a:pPr marL="171450" indent="-171450">
              <a:buFont typeface="Arial" pitchFamily="34" charset="0"/>
              <a:buChar char="•"/>
            </a:pPr>
            <a:r>
              <a:rPr lang="en-AU" sz="1200" kern="1200" dirty="0" smtClean="0">
                <a:solidFill>
                  <a:schemeClr val="tx1"/>
                </a:solidFill>
                <a:ea typeface="+mn-ea"/>
                <a:cs typeface="+mn-cs"/>
              </a:rPr>
              <a:t>Tourism Operators are reluctant to pay significant sums of money for trials – because there is no guarantee the trial will translate into an ongoing activity/operation</a:t>
            </a:r>
          </a:p>
          <a:p>
            <a:pPr marL="171450" indent="-171450">
              <a:buFont typeface="Arial" pitchFamily="34" charset="0"/>
              <a:buChar char="•"/>
            </a:pPr>
            <a:r>
              <a:rPr lang="en-AU" sz="1200" kern="1200" dirty="0" smtClean="0">
                <a:solidFill>
                  <a:schemeClr val="tx1"/>
                </a:solidFill>
                <a:ea typeface="+mn-ea"/>
                <a:cs typeface="+mn-cs"/>
              </a:rPr>
              <a:t>Where there is support from government agencies there is a likelihood they will contribute some ‘seeding’ funding to initiate the project and demonstrate their commitment to the project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0587962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observes</a:t>
            </a:r>
            <a:r>
              <a:rPr lang="en-AU" baseline="0" noProof="0" dirty="0" smtClean="0"/>
              <a:t> the </a:t>
            </a:r>
            <a:r>
              <a:rPr lang="en-AU" sz="1200" kern="1200" dirty="0" smtClean="0">
                <a:solidFill>
                  <a:schemeClr val="tx1"/>
                </a:solidFill>
                <a:ea typeface="+mn-ea"/>
                <a:cs typeface="+mn-cs"/>
              </a:rPr>
              <a:t>definition of infrastructure in the context of a trial takes on a slightly different and ‘reduced’ meaning – in that it often refers to the building of smaller buildings than normal and the creation of temporary facilities rather than permanent ones highlighting it might involve:</a:t>
            </a:r>
          </a:p>
          <a:p>
            <a:pPr marL="171450" indent="-171450">
              <a:buFont typeface="Arial" pitchFamily="34" charset="0"/>
              <a:buChar char="•"/>
            </a:pPr>
            <a:r>
              <a:rPr lang="en-AU" sz="1200" kern="1200" dirty="0" smtClean="0">
                <a:solidFill>
                  <a:schemeClr val="tx1"/>
                </a:solidFill>
                <a:ea typeface="+mn-ea"/>
                <a:cs typeface="+mn-cs"/>
              </a:rPr>
              <a:t>Pegging out (or grading) of tracks to be used – as opposed to the actual building of roads or boardwalks</a:t>
            </a:r>
          </a:p>
          <a:p>
            <a:pPr marL="171450" indent="-171450">
              <a:buFont typeface="Arial" pitchFamily="34" charset="0"/>
              <a:buChar char="•"/>
            </a:pPr>
            <a:r>
              <a:rPr lang="en-AU" sz="1200" kern="1200" dirty="0" smtClean="0">
                <a:solidFill>
                  <a:schemeClr val="tx1"/>
                </a:solidFill>
                <a:ea typeface="+mn-ea"/>
                <a:cs typeface="+mn-cs"/>
              </a:rPr>
              <a:t>Trucking in portable facilities – rather than building them on-site</a:t>
            </a:r>
          </a:p>
          <a:p>
            <a:pPr marL="171450" indent="-171450">
              <a:buFont typeface="Arial" pitchFamily="34" charset="0"/>
              <a:buChar char="•"/>
            </a:pPr>
            <a:r>
              <a:rPr lang="en-AU" sz="1200" kern="1200" dirty="0" smtClean="0">
                <a:solidFill>
                  <a:schemeClr val="tx1"/>
                </a:solidFill>
                <a:ea typeface="+mn-ea"/>
                <a:cs typeface="+mn-cs"/>
              </a:rPr>
              <a:t>Making arrangements with local people, communities and/or businesses to supply the identified needs for the initiative – as distinct to creating/establishing them from scratch, or transporting all goods into the area</a:t>
            </a:r>
          </a:p>
          <a:p>
            <a:pPr marL="171450" indent="-171450">
              <a:buFont typeface="Arial" pitchFamily="34" charset="0"/>
              <a:buChar char="•"/>
            </a:pPr>
            <a:r>
              <a:rPr lang="en-AU" sz="1200" kern="1200" dirty="0" smtClean="0">
                <a:solidFill>
                  <a:schemeClr val="tx1"/>
                </a:solidFill>
                <a:ea typeface="+mn-ea"/>
                <a:cs typeface="+mn-cs"/>
              </a:rPr>
              <a:t>Consideration of transport, social, environmental and collaborative infrastructure.</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pPr>
              <a:buFont typeface="Arial" pitchFamily="34" charset="0"/>
              <a:buNone/>
            </a:pPr>
            <a:r>
              <a:rPr lang="en-AU" sz="1200" u="sng" kern="1200" dirty="0" smtClean="0">
                <a:solidFill>
                  <a:schemeClr val="tx1"/>
                </a:solidFill>
                <a:ea typeface="+mn-ea"/>
                <a:cs typeface="+mn-cs"/>
                <a:hlinkClick r:id="rId3"/>
              </a:rPr>
              <a:t>http://www.infrastructureaustralia.gov.au/policy-publications/submissions/published/files/259_tourismandtransportforum_SUB.pdf</a:t>
            </a:r>
            <a:r>
              <a:rPr lang="en-AU" sz="1200" u="none" kern="1200" dirty="0" smtClean="0">
                <a:solidFill>
                  <a:schemeClr val="tx1"/>
                </a:solidFill>
                <a:ea typeface="+mn-ea"/>
                <a:cs typeface="+mn-cs"/>
              </a:rPr>
              <a:t> – with attention to page 1</a:t>
            </a:r>
          </a:p>
          <a:p>
            <a:pPr>
              <a:buFont typeface="Arial" pitchFamily="34" charset="0"/>
              <a:buNone/>
            </a:pPr>
            <a:r>
              <a:rPr lang="en-AU" sz="1200" u="sng" kern="1200" dirty="0" smtClean="0">
                <a:solidFill>
                  <a:schemeClr val="tx1"/>
                </a:solidFill>
                <a:ea typeface="+mn-ea"/>
                <a:cs typeface="+mn-cs"/>
                <a:hlinkClick r:id="rId4"/>
              </a:rPr>
              <a:t>http://www.asean.org/communities/asean-economic-community/item/plan-of-action-on-asean-cooperation-in-tourism</a:t>
            </a:r>
            <a:r>
              <a:rPr lang="en-AU" sz="1200" u="sng" kern="1200" dirty="0" smtClean="0">
                <a:solidFill>
                  <a:schemeClr val="tx1"/>
                </a:solidFill>
                <a:ea typeface="+mn-ea"/>
                <a:cs typeface="+mn-cs"/>
              </a:rPr>
              <a:t> </a:t>
            </a:r>
            <a:r>
              <a:rPr lang="en-AU" sz="1200" u="none" kern="1200" dirty="0" smtClean="0">
                <a:solidFill>
                  <a:schemeClr val="tx1"/>
                </a:solidFill>
                <a:ea typeface="+mn-ea"/>
                <a:cs typeface="+mn-cs"/>
              </a:rPr>
              <a:t>– with attention to Strategy 5.</a:t>
            </a:r>
            <a:endParaRPr lang="en-AU" u="none"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9906910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ea typeface="+mn-ea"/>
                <a:cs typeface="+mn-cs"/>
              </a:rPr>
              <a:t>the monitoring resources for the trial will have been identified in the plan for the trial and requirements traditionally are:</a:t>
            </a:r>
          </a:p>
          <a:p>
            <a:pPr marL="171450" indent="-171450">
              <a:buFont typeface="Arial" pitchFamily="34" charset="0"/>
              <a:buChar char="•"/>
            </a:pPr>
            <a:r>
              <a:rPr lang="en-AU" sz="1200" kern="1200" dirty="0" smtClean="0">
                <a:solidFill>
                  <a:schemeClr val="tx1"/>
                </a:solidFill>
                <a:ea typeface="+mn-ea"/>
                <a:cs typeface="+mn-cs"/>
              </a:rPr>
              <a:t>Presented by the proponent as the strategies to use</a:t>
            </a:r>
          </a:p>
          <a:p>
            <a:pPr marL="171450" indent="-171450">
              <a:buFont typeface="Arial" pitchFamily="34" charset="0"/>
              <a:buChar char="•"/>
            </a:pPr>
            <a:r>
              <a:rPr lang="en-AU" sz="1200" kern="1200" dirty="0" smtClean="0">
                <a:solidFill>
                  <a:schemeClr val="tx1"/>
                </a:solidFill>
                <a:ea typeface="+mn-ea"/>
                <a:cs typeface="+mn-cs"/>
              </a:rPr>
              <a:t>Compulsorily required by government agencies</a:t>
            </a:r>
          </a:p>
          <a:p>
            <a:pPr marL="171450" indent="-171450">
              <a:buFont typeface="Arial" pitchFamily="34" charset="0"/>
              <a:buChar char="•"/>
            </a:pPr>
            <a:r>
              <a:rPr lang="en-AU" sz="1200" kern="1200" dirty="0" smtClean="0">
                <a:solidFill>
                  <a:schemeClr val="tx1"/>
                </a:solidFill>
                <a:ea typeface="+mn-ea"/>
                <a:cs typeface="+mn-cs"/>
              </a:rPr>
              <a:t>Insisted on by local communities</a:t>
            </a:r>
          </a:p>
          <a:p>
            <a:pPr marL="171450" indent="-171450">
              <a:buFont typeface="Arial" pitchFamily="34" charset="0"/>
              <a:buChar char="•"/>
            </a:pPr>
            <a:r>
              <a:rPr lang="en-AU" sz="1200" kern="1200" dirty="0" smtClean="0">
                <a:solidFill>
                  <a:schemeClr val="tx1"/>
                </a:solidFill>
                <a:ea typeface="+mn-ea"/>
                <a:cs typeface="+mn-cs"/>
              </a:rPr>
              <a:t>Suggested by paid/third party consultants</a:t>
            </a:r>
          </a:p>
          <a:p>
            <a:pPr marL="171450" indent="-171450">
              <a:buFont typeface="Arial" pitchFamily="34" charset="0"/>
              <a:buChar char="•"/>
            </a:pPr>
            <a:r>
              <a:rPr lang="en-AU" sz="1200" kern="1200" dirty="0" smtClean="0">
                <a:solidFill>
                  <a:schemeClr val="tx1"/>
                </a:solidFill>
                <a:ea typeface="+mn-ea"/>
                <a:cs typeface="+mn-cs"/>
              </a:rPr>
              <a:t>Responsive to particular identified concerns for the area and/or the type of initiative being trialled – these concerns may be (for example) about the impact on local people, the effect on the environment, and/or the use of local resources</a:t>
            </a:r>
          </a:p>
          <a:p>
            <a:pPr marL="171450" indent="-171450">
              <a:buFont typeface="Arial" pitchFamily="34" charset="0"/>
              <a:buChar char="•"/>
            </a:pPr>
            <a:r>
              <a:rPr lang="en-AU" sz="1200" kern="1200" dirty="0" smtClean="0">
                <a:solidFill>
                  <a:schemeClr val="tx1"/>
                </a:solidFill>
                <a:ea typeface="+mn-ea"/>
                <a:cs typeface="+mn-cs"/>
              </a:rPr>
              <a:t>Based on effective techniques used in other similar trials.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Examples of monitoring equipment and systems can range from basic resources to high-technology equipment – see later slides for data/information gathering options.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93438993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most </a:t>
            </a:r>
            <a:r>
              <a:rPr lang="en-AU" sz="1200" kern="1200" dirty="0" smtClean="0">
                <a:solidFill>
                  <a:schemeClr val="tx1"/>
                </a:solidFill>
                <a:ea typeface="+mn-ea"/>
                <a:cs typeface="+mn-cs"/>
              </a:rPr>
              <a:t>trials will set criteria by which the trial will be evaluated and some will not.</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Standard practice is to pre-determine how the trial will be assessed </a:t>
            </a:r>
            <a:r>
              <a:rPr lang="en-AU" sz="1200" i="1" kern="1200" dirty="0" smtClean="0">
                <a:solidFill>
                  <a:schemeClr val="tx1"/>
                </a:solidFill>
                <a:ea typeface="+mn-ea"/>
                <a:cs typeface="+mn-cs"/>
              </a:rPr>
              <a:t>before</a:t>
            </a:r>
            <a:r>
              <a:rPr lang="en-AU" sz="1200" kern="1200" dirty="0" smtClean="0">
                <a:solidFill>
                  <a:schemeClr val="tx1"/>
                </a:solidFill>
                <a:ea typeface="+mn-ea"/>
                <a:cs typeface="+mn-cs"/>
              </a:rPr>
              <a:t> the trial commences with reference to:</a:t>
            </a:r>
          </a:p>
          <a:p>
            <a:pPr marL="171450" indent="-171450">
              <a:buFont typeface="Arial" pitchFamily="34" charset="0"/>
              <a:buChar char="•"/>
            </a:pPr>
            <a:r>
              <a:rPr lang="en-AU" sz="1200" kern="1200" dirty="0" smtClean="0">
                <a:solidFill>
                  <a:schemeClr val="tx1"/>
                </a:solidFill>
                <a:ea typeface="+mn-ea"/>
                <a:cs typeface="+mn-cs"/>
              </a:rPr>
              <a:t>Topics of interest or concern (‘criteria’) for local communities or other stakeholders – such as (for example):</a:t>
            </a:r>
          </a:p>
          <a:p>
            <a:pPr marL="628650" lvl="1" indent="-171450">
              <a:buFont typeface="Arial" pitchFamily="34" charset="0"/>
              <a:buChar char="•"/>
            </a:pPr>
            <a:r>
              <a:rPr lang="en-US" sz="1200" kern="1200" dirty="0" smtClean="0">
                <a:solidFill>
                  <a:schemeClr val="tx1"/>
                </a:solidFill>
                <a:ea typeface="+mn-ea"/>
                <a:cs typeface="+mn-cs"/>
              </a:rPr>
              <a:t>Quality of local water or a designated water source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Noise levels generated by tour groups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Crimes reported as a consequence of the initiative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Money spent in local community by tour groups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Satisfaction of tour group members with the experience (activity/project)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Parameters for determining whether or not the trial was ‘acceptable’ (and could therefore go ahead) or ‘not acceptable’ (and would need to be abandoned or amended and re-trialled), such as:</a:t>
            </a:r>
          </a:p>
          <a:p>
            <a:pPr marL="628650" lvl="1" indent="-171450">
              <a:buFont typeface="Arial" pitchFamily="34" charset="0"/>
              <a:buChar char="•"/>
            </a:pPr>
            <a:r>
              <a:rPr lang="en-US" sz="1200" kern="1200" dirty="0" smtClean="0">
                <a:solidFill>
                  <a:schemeClr val="tx1"/>
                </a:solidFill>
                <a:ea typeface="+mn-ea"/>
                <a:cs typeface="+mn-cs"/>
              </a:rPr>
              <a:t>‘Up to 10% use of drinking water is acceptable’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‘Decrease of over 5% of XYZ flora or fauna is unacceptable’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’10 complaints from the local community’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‘Minimum 75% satisfaction rating from tour group members’.</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6187749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organisation of the trial also requires </a:t>
            </a:r>
            <a:r>
              <a:rPr lang="en-AU" sz="1200" kern="1200" dirty="0" smtClean="0">
                <a:solidFill>
                  <a:schemeClr val="tx1"/>
                </a:solidFill>
                <a:ea typeface="+mn-ea"/>
                <a:cs typeface="+mn-cs"/>
              </a:rPr>
              <a:t>the trial process is characterised by openness and honesty so a vital element of organising the trial is to publicly commit to transparency in relation to:</a:t>
            </a:r>
          </a:p>
          <a:p>
            <a:pPr marL="171450" indent="-171450">
              <a:buFont typeface="Arial" pitchFamily="34" charset="0"/>
              <a:buChar char="•"/>
            </a:pPr>
            <a:r>
              <a:rPr lang="en-AU" sz="1200" kern="1200" dirty="0" smtClean="0">
                <a:solidFill>
                  <a:schemeClr val="tx1"/>
                </a:solidFill>
                <a:ea typeface="+mn-ea"/>
                <a:cs typeface="+mn-cs"/>
              </a:rPr>
              <a:t>Conducting the trial – and enabling stakeholders and relevant others to watch what occurs</a:t>
            </a:r>
          </a:p>
          <a:p>
            <a:pPr marL="171450" indent="-171450">
              <a:buFont typeface="Arial" pitchFamily="34" charset="0"/>
              <a:buChar char="•"/>
            </a:pPr>
            <a:r>
              <a:rPr lang="en-AU" sz="1200" kern="1200" dirty="0" smtClean="0">
                <a:solidFill>
                  <a:schemeClr val="tx1"/>
                </a:solidFill>
                <a:ea typeface="+mn-ea"/>
                <a:cs typeface="+mn-cs"/>
              </a:rPr>
              <a:t>Observing the monitoring process – and how and when data is gathered</a:t>
            </a:r>
          </a:p>
          <a:p>
            <a:pPr marL="171450" indent="-171450">
              <a:buFont typeface="Arial" pitchFamily="34" charset="0"/>
              <a:buChar char="•"/>
            </a:pPr>
            <a:r>
              <a:rPr lang="en-AU" sz="1200" kern="1200" dirty="0" smtClean="0">
                <a:solidFill>
                  <a:schemeClr val="tx1"/>
                </a:solidFill>
                <a:ea typeface="+mn-ea"/>
                <a:cs typeface="+mn-cs"/>
              </a:rPr>
              <a:t>Allowing and facilitating stakeholder participation in the monitoring process – to demonstrate inclusivity</a:t>
            </a:r>
          </a:p>
          <a:p>
            <a:pPr marL="171450" indent="-171450">
              <a:buFont typeface="Arial" pitchFamily="34" charset="0"/>
              <a:buChar char="•"/>
            </a:pPr>
            <a:r>
              <a:rPr lang="en-AU" sz="1200" kern="1200" dirty="0" smtClean="0">
                <a:solidFill>
                  <a:schemeClr val="tx1"/>
                </a:solidFill>
                <a:ea typeface="+mn-ea"/>
                <a:cs typeface="+mn-cs"/>
              </a:rPr>
              <a:t>Releasing truthful, comprehensive and accurate findings of the trial – based on actual evidence gathered</a:t>
            </a:r>
          </a:p>
          <a:p>
            <a:pPr marL="171450" indent="-171450">
              <a:buFont typeface="Arial" pitchFamily="34" charset="0"/>
              <a:buChar char="•"/>
            </a:pPr>
            <a:r>
              <a:rPr lang="en-AU" sz="1200" kern="1200" dirty="0" smtClean="0">
                <a:solidFill>
                  <a:schemeClr val="tx1"/>
                </a:solidFill>
                <a:ea typeface="+mn-ea"/>
                <a:cs typeface="+mn-cs"/>
              </a:rPr>
              <a:t>Facilitating stakeholder engagement with process – by providing venues and facilities for meetings to discuss the initiative and the evaluation.</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The commitment to transparency should be made at the outset when first contact is made with stakeholders and other interested parties.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40398873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stresses the </a:t>
            </a:r>
            <a:r>
              <a:rPr lang="en-AU" sz="1200" kern="1200" dirty="0" smtClean="0">
                <a:solidFill>
                  <a:schemeClr val="tx1"/>
                </a:solidFill>
                <a:ea typeface="+mn-ea"/>
                <a:cs typeface="+mn-cs"/>
              </a:rPr>
              <a:t>establishment of initial baseline data against which comparisons will be made following the trial is a critical reference point for post-trial evaluations and an important part of the organisation process.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baseline data provides details of the area (and topics of interest) at the start of the initiative before the trial commences and no trial can/should begin until these benchmarks have been identified and agreed to.</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benchmarks chosen:</a:t>
            </a:r>
          </a:p>
          <a:p>
            <a:pPr marL="171450" indent="-171450">
              <a:buFont typeface="Arial" pitchFamily="34" charset="0"/>
              <a:buChar char="•"/>
            </a:pPr>
            <a:r>
              <a:rPr lang="en-AU" sz="1200" kern="1200" dirty="0" smtClean="0">
                <a:solidFill>
                  <a:schemeClr val="tx1"/>
                </a:solidFill>
                <a:ea typeface="+mn-ea"/>
                <a:cs typeface="+mn-cs"/>
              </a:rPr>
              <a:t>May be decided on by one or more of the stakeholders</a:t>
            </a:r>
          </a:p>
          <a:p>
            <a:pPr marL="171450" indent="-171450">
              <a:buFont typeface="Arial" pitchFamily="34" charset="0"/>
              <a:buChar char="•"/>
            </a:pPr>
            <a:r>
              <a:rPr lang="en-AU" sz="1200" kern="1200" dirty="0" smtClean="0">
                <a:solidFill>
                  <a:schemeClr val="tx1"/>
                </a:solidFill>
                <a:ea typeface="+mn-ea"/>
                <a:cs typeface="+mn-cs"/>
              </a:rPr>
              <a:t>Must be relevant to the individual proposal/initiative</a:t>
            </a:r>
          </a:p>
          <a:p>
            <a:pPr marL="171450" indent="-171450">
              <a:buFont typeface="Arial" pitchFamily="34" charset="0"/>
              <a:buChar char="•"/>
            </a:pPr>
            <a:r>
              <a:rPr lang="en-AU" sz="1200" kern="1200" dirty="0" smtClean="0">
                <a:solidFill>
                  <a:schemeClr val="tx1"/>
                </a:solidFill>
                <a:ea typeface="+mn-ea"/>
                <a:cs typeface="+mn-cs"/>
              </a:rPr>
              <a:t>Should be decided on in consultation with stakeholders</a:t>
            </a:r>
          </a:p>
          <a:p>
            <a:pPr marL="171450" indent="-171450">
              <a:buFont typeface="Arial" pitchFamily="34" charset="0"/>
              <a:buChar char="•"/>
            </a:pPr>
            <a:r>
              <a:rPr lang="en-AU" sz="1200" kern="1200" dirty="0" smtClean="0">
                <a:solidFill>
                  <a:schemeClr val="tx1"/>
                </a:solidFill>
                <a:ea typeface="+mn-ea"/>
                <a:cs typeface="+mn-cs"/>
              </a:rPr>
              <a:t>Must address identified issues and concerns</a:t>
            </a:r>
          </a:p>
          <a:p>
            <a:pPr marL="171450" indent="-171450">
              <a:buFont typeface="Arial" pitchFamily="34" charset="0"/>
              <a:buChar char="•"/>
            </a:pPr>
            <a:r>
              <a:rPr lang="en-AU" sz="1200" kern="1200" dirty="0" smtClean="0">
                <a:solidFill>
                  <a:schemeClr val="tx1"/>
                </a:solidFill>
                <a:ea typeface="+mn-ea"/>
                <a:cs typeface="+mn-cs"/>
              </a:rPr>
              <a:t>Will form the basis of deciding the evaluation criteria and determining their parameters.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3383075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states when </a:t>
            </a:r>
            <a:r>
              <a:rPr lang="en-AU" sz="1200" kern="1200" dirty="0" smtClean="0">
                <a:solidFill>
                  <a:schemeClr val="tx1"/>
                </a:solidFill>
                <a:ea typeface="+mn-ea"/>
                <a:cs typeface="+mn-cs"/>
              </a:rPr>
              <a:t>implementing the trial for a proposed sustainable tourism activity or operation there is a need to:</a:t>
            </a:r>
          </a:p>
          <a:p>
            <a:pPr marL="171450" indent="-171450">
              <a:buFont typeface="Arial" pitchFamily="34" charset="0"/>
              <a:buChar char="•"/>
            </a:pPr>
            <a:r>
              <a:rPr lang="en-AU" sz="1200" kern="1200" dirty="0" smtClean="0">
                <a:solidFill>
                  <a:schemeClr val="tx1"/>
                </a:solidFill>
                <a:ea typeface="+mn-ea"/>
                <a:cs typeface="+mn-cs"/>
              </a:rPr>
              <a:t>Conduct the trial exactly as planned – so outcomes can be readily matched against planned actions as this is an essential pre-requisite for a viable evaluation of the trial</a:t>
            </a:r>
          </a:p>
          <a:p>
            <a:pPr marL="171450" indent="-171450">
              <a:buFont typeface="Arial" pitchFamily="34" charset="0"/>
              <a:buChar char="•"/>
            </a:pPr>
            <a:r>
              <a:rPr lang="en-AU" sz="1200" kern="1200" dirty="0" smtClean="0">
                <a:solidFill>
                  <a:schemeClr val="tx1"/>
                </a:solidFill>
                <a:ea typeface="+mn-ea"/>
                <a:cs typeface="+mn-cs"/>
              </a:rPr>
              <a:t>The publicly stated details of (say) a tour must be adhered to – in terms of things such as group numbers, vehicles used, duration, activities, arrival and departure dates</a:t>
            </a:r>
          </a:p>
          <a:p>
            <a:pPr marL="171450" indent="-171450">
              <a:buFont typeface="Arial" pitchFamily="34" charset="0"/>
              <a:buChar char="•"/>
            </a:pPr>
            <a:r>
              <a:rPr lang="en-AU" sz="1200" kern="1200" dirty="0" smtClean="0">
                <a:solidFill>
                  <a:schemeClr val="tx1"/>
                </a:solidFill>
                <a:ea typeface="+mn-ea"/>
                <a:cs typeface="+mn-cs"/>
              </a:rPr>
              <a:t>Meet with those who have monitoring responsibilities – to confirm:</a:t>
            </a:r>
          </a:p>
          <a:p>
            <a:pPr marL="628650" lvl="1" indent="-171450">
              <a:buFont typeface="Arial" pitchFamily="34" charset="0"/>
              <a:buChar char="•"/>
            </a:pPr>
            <a:r>
              <a:rPr lang="en-AU" sz="1200" kern="1200" dirty="0" smtClean="0">
                <a:solidFill>
                  <a:schemeClr val="tx1"/>
                </a:solidFill>
                <a:ea typeface="+mn-ea"/>
                <a:cs typeface="+mn-cs"/>
              </a:rPr>
              <a:t>They have been trained</a:t>
            </a:r>
          </a:p>
          <a:p>
            <a:pPr marL="628650" lvl="1" indent="-171450">
              <a:buFont typeface="Arial" pitchFamily="34" charset="0"/>
              <a:buChar char="•"/>
            </a:pPr>
            <a:r>
              <a:rPr lang="en-AU" sz="1200" kern="1200" dirty="0" smtClean="0">
                <a:solidFill>
                  <a:schemeClr val="tx1"/>
                </a:solidFill>
                <a:ea typeface="+mn-ea"/>
                <a:cs typeface="+mn-cs"/>
              </a:rPr>
              <a:t>They are ready and able to undertake their allocated duties</a:t>
            </a:r>
          </a:p>
          <a:p>
            <a:pPr marL="628650" lvl="1" indent="-171450">
              <a:buFont typeface="Arial" pitchFamily="34" charset="0"/>
              <a:buChar char="•"/>
            </a:pPr>
            <a:r>
              <a:rPr lang="en-AU" sz="1200" kern="1200" dirty="0" smtClean="0">
                <a:solidFill>
                  <a:schemeClr val="tx1"/>
                </a:solidFill>
                <a:ea typeface="+mn-ea"/>
                <a:cs typeface="+mn-cs"/>
              </a:rPr>
              <a:t>They have the necessary resources to compete their role/s</a:t>
            </a:r>
          </a:p>
          <a:p>
            <a:pPr marL="628650" lvl="1" indent="-171450">
              <a:buFont typeface="Arial" pitchFamily="34" charset="0"/>
              <a:buChar char="•"/>
            </a:pPr>
            <a:r>
              <a:rPr lang="en-AU" sz="1200" kern="1200" dirty="0" smtClean="0">
                <a:solidFill>
                  <a:schemeClr val="tx1"/>
                </a:solidFill>
                <a:ea typeface="+mn-ea"/>
                <a:cs typeface="+mn-cs"/>
              </a:rPr>
              <a:t>They understand what is expected of them</a:t>
            </a:r>
          </a:p>
          <a:p>
            <a:pPr marL="171450" indent="-171450">
              <a:buFont typeface="Arial" pitchFamily="34" charset="0"/>
              <a:buChar char="•"/>
            </a:pPr>
            <a:r>
              <a:rPr lang="en-AU" sz="1200" kern="1200" dirty="0" smtClean="0">
                <a:solidFill>
                  <a:schemeClr val="tx1"/>
                </a:solidFill>
                <a:ea typeface="+mn-ea"/>
                <a:cs typeface="+mn-cs"/>
              </a:rPr>
              <a:t>Record any variations that are necessary to the planned implementation – this acknowledges things rarely go exactly as planned and there is a need to adapt on-the-spot as the need to do so arises.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03732857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indicate requirements when </a:t>
            </a:r>
            <a:r>
              <a:rPr lang="en-AU" sz="1200" kern="1200" dirty="0" smtClean="0">
                <a:solidFill>
                  <a:schemeClr val="tx1"/>
                </a:solidFill>
                <a:ea typeface="+mn-ea"/>
                <a:cs typeface="+mn-cs"/>
              </a:rPr>
              <a:t>implementing the trial for a proposed sustainable tourism activity or operation:</a:t>
            </a:r>
          </a:p>
          <a:p>
            <a:pPr marL="171450" indent="-171450">
              <a:buFont typeface="Arial" pitchFamily="34" charset="0"/>
              <a:buChar char="•"/>
            </a:pPr>
            <a:r>
              <a:rPr lang="en-AU" sz="1200" kern="1200" dirty="0" smtClean="0">
                <a:solidFill>
                  <a:schemeClr val="tx1"/>
                </a:solidFill>
                <a:ea typeface="+mn-ea"/>
                <a:cs typeface="+mn-cs"/>
              </a:rPr>
              <a:t>Take action to ensure implementation of the trial reflects future actual tourist activity </a:t>
            </a:r>
            <a:r>
              <a:rPr lang="en-AU" sz="1200" i="1" kern="1200" dirty="0" smtClean="0">
                <a:solidFill>
                  <a:schemeClr val="tx1"/>
                </a:solidFill>
                <a:ea typeface="+mn-ea"/>
                <a:cs typeface="+mn-cs"/>
              </a:rPr>
              <a:t>after</a:t>
            </a:r>
            <a:r>
              <a:rPr lang="en-AU" sz="1200" kern="1200" dirty="0" smtClean="0">
                <a:solidFill>
                  <a:schemeClr val="tx1"/>
                </a:solidFill>
                <a:ea typeface="+mn-ea"/>
                <a:cs typeface="+mn-cs"/>
              </a:rPr>
              <a:t> the trial – that is, nothing must be done to influence the behaviour, impact or presence of tourists or the group </a:t>
            </a:r>
            <a:r>
              <a:rPr lang="en-AU" sz="1200" i="1" kern="1200" dirty="0" smtClean="0">
                <a:solidFill>
                  <a:schemeClr val="tx1"/>
                </a:solidFill>
                <a:ea typeface="+mn-ea"/>
                <a:cs typeface="+mn-cs"/>
              </a:rPr>
              <a:t>during</a:t>
            </a:r>
            <a:r>
              <a:rPr lang="en-AU" sz="1200" kern="1200" dirty="0" smtClean="0">
                <a:solidFill>
                  <a:schemeClr val="tx1"/>
                </a:solidFill>
                <a:ea typeface="+mn-ea"/>
                <a:cs typeface="+mn-cs"/>
              </a:rPr>
              <a:t> the trial period</a:t>
            </a:r>
          </a:p>
          <a:p>
            <a:pPr marL="171450" indent="-171450">
              <a:buFont typeface="Arial" pitchFamily="34" charset="0"/>
              <a:buChar char="•"/>
            </a:pPr>
            <a:r>
              <a:rPr lang="en-AU" sz="1200" kern="1200" dirty="0" smtClean="0">
                <a:solidFill>
                  <a:schemeClr val="tx1"/>
                </a:solidFill>
                <a:ea typeface="+mn-ea"/>
                <a:cs typeface="+mn-cs"/>
              </a:rPr>
              <a:t>The monitoring data captured needs to be a real reflection of tourist impact/s so evaluation decisions are based on genuine information, not false or otherwise misleading information</a:t>
            </a:r>
          </a:p>
          <a:p>
            <a:pPr marL="171450" indent="-171450">
              <a:buFont typeface="Arial" pitchFamily="34" charset="0"/>
              <a:buChar char="•"/>
            </a:pPr>
            <a:r>
              <a:rPr lang="en-AU" sz="1200" kern="1200" dirty="0" smtClean="0">
                <a:solidFill>
                  <a:schemeClr val="tx1"/>
                </a:solidFill>
                <a:ea typeface="+mn-ea"/>
                <a:cs typeface="+mn-cs"/>
              </a:rPr>
              <a:t>Seek permission from stakeholders to vary the agreed plan in advance of making any changes to previously agreed protocols – if this is possible</a:t>
            </a:r>
          </a:p>
          <a:p>
            <a:pPr marL="171450" indent="-171450">
              <a:buFont typeface="Arial" pitchFamily="34" charset="0"/>
              <a:buChar char="•"/>
            </a:pPr>
            <a:r>
              <a:rPr lang="en-AU" sz="1200" kern="1200" dirty="0" smtClean="0">
                <a:solidFill>
                  <a:schemeClr val="tx1"/>
                </a:solidFill>
                <a:ea typeface="+mn-ea"/>
                <a:cs typeface="+mn-cs"/>
              </a:rPr>
              <a:t>Be prepared to delay implementation if there are significant unexpected or unforeseen issues arising – which common sense demands require input from, or the approval from, stakeholders</a:t>
            </a:r>
          </a:p>
          <a:p>
            <a:pPr marL="171450" indent="-171450">
              <a:buFont typeface="Arial" pitchFamily="34" charset="0"/>
              <a:buChar char="•"/>
            </a:pPr>
            <a:r>
              <a:rPr lang="en-AU" sz="1200" kern="1200" dirty="0" smtClean="0">
                <a:solidFill>
                  <a:schemeClr val="tx1"/>
                </a:solidFill>
                <a:ea typeface="+mn-ea"/>
                <a:cs typeface="+mn-cs"/>
              </a:rPr>
              <a:t>Be available – so:</a:t>
            </a:r>
          </a:p>
          <a:p>
            <a:pPr marL="628650" lvl="1" indent="-171450">
              <a:buFont typeface="Arial" pitchFamily="34" charset="0"/>
              <a:buChar char="•"/>
            </a:pPr>
            <a:r>
              <a:rPr lang="en-US" sz="1200" kern="1200" dirty="0" smtClean="0">
                <a:solidFill>
                  <a:schemeClr val="tx1"/>
                </a:solidFill>
                <a:ea typeface="+mn-ea"/>
                <a:cs typeface="+mn-cs"/>
              </a:rPr>
              <a:t>Stakeholders can discuss important/urgent issues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Monitoring information can be received and acknowledged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Problems arising can be decided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Interest in the trial can be demonstrated.</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85498843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standard </a:t>
            </a:r>
            <a:r>
              <a:rPr lang="en-AU" sz="1200" kern="1200" dirty="0" smtClean="0">
                <a:solidFill>
                  <a:schemeClr val="tx1"/>
                </a:solidFill>
                <a:ea typeface="+mn-ea"/>
                <a:cs typeface="+mn-cs"/>
              </a:rPr>
              <a:t>industry protocols when implementing monitoring activities are:</a:t>
            </a:r>
          </a:p>
          <a:p>
            <a:pPr marL="171450" indent="-171450">
              <a:buFont typeface="Arial" pitchFamily="34" charset="0"/>
              <a:buChar char="•"/>
            </a:pPr>
            <a:r>
              <a:rPr lang="en-AU" sz="1200" kern="1200" dirty="0" smtClean="0">
                <a:solidFill>
                  <a:schemeClr val="tx1"/>
                </a:solidFill>
                <a:ea typeface="+mn-ea"/>
                <a:cs typeface="+mn-cs"/>
              </a:rPr>
              <a:t>Train the people who are to undertake monitoring activities – so they:</a:t>
            </a:r>
          </a:p>
          <a:p>
            <a:pPr marL="628650" lvl="1" indent="-171450">
              <a:buFont typeface="Arial" pitchFamily="34" charset="0"/>
              <a:buChar char="•"/>
            </a:pPr>
            <a:r>
              <a:rPr lang="en-AU" sz="1200" kern="1200" dirty="0" smtClean="0">
                <a:solidFill>
                  <a:schemeClr val="tx1"/>
                </a:solidFill>
                <a:ea typeface="+mn-ea"/>
                <a:cs typeface="+mn-cs"/>
              </a:rPr>
              <a:t>Know what to do in relation to their allocated role/topic</a:t>
            </a:r>
          </a:p>
          <a:p>
            <a:pPr marL="628650" lvl="1" indent="-171450">
              <a:buFont typeface="Arial" pitchFamily="34" charset="0"/>
              <a:buChar char="•"/>
            </a:pPr>
            <a:r>
              <a:rPr lang="en-AU" sz="1200" kern="1200" dirty="0" smtClean="0">
                <a:solidFill>
                  <a:schemeClr val="tx1"/>
                </a:solidFill>
                <a:ea typeface="+mn-ea"/>
                <a:cs typeface="+mn-cs"/>
              </a:rPr>
              <a:t>Are competent in what they need to do</a:t>
            </a:r>
          </a:p>
          <a:p>
            <a:pPr marL="628650" lvl="1" indent="-171450">
              <a:buFont typeface="Arial" pitchFamily="34" charset="0"/>
              <a:buChar char="•"/>
            </a:pPr>
            <a:r>
              <a:rPr lang="en-US" sz="1200" kern="1200" dirty="0" smtClean="0">
                <a:solidFill>
                  <a:schemeClr val="tx1"/>
                </a:solidFill>
                <a:ea typeface="+mn-ea"/>
                <a:cs typeface="+mn-cs"/>
              </a:rPr>
              <a:t>Know how to gather sufficient, valid, reliable and objective quantitative and qualitative data</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Establish one contact point for the monitoring process – so people involved in the monitoring activity have a single, known person to:</a:t>
            </a:r>
          </a:p>
          <a:p>
            <a:pPr marL="628650" lvl="1" indent="-171450">
              <a:buFont typeface="Arial" pitchFamily="34" charset="0"/>
              <a:buChar char="•"/>
            </a:pPr>
            <a:r>
              <a:rPr lang="en-AU" sz="1200" kern="1200" dirty="0" smtClean="0">
                <a:solidFill>
                  <a:schemeClr val="tx1"/>
                </a:solidFill>
                <a:ea typeface="+mn-ea"/>
                <a:cs typeface="+mn-cs"/>
              </a:rPr>
              <a:t>Contact if they have a question, concern or problem</a:t>
            </a:r>
          </a:p>
          <a:p>
            <a:pPr marL="628650" lvl="1" indent="-171450">
              <a:buFont typeface="Arial" pitchFamily="34" charset="0"/>
              <a:buChar char="•"/>
            </a:pPr>
            <a:r>
              <a:rPr lang="en-AU" sz="1200" kern="1200" dirty="0" smtClean="0">
                <a:solidFill>
                  <a:schemeClr val="tx1"/>
                </a:solidFill>
                <a:ea typeface="+mn-ea"/>
                <a:cs typeface="+mn-cs"/>
              </a:rPr>
              <a:t>Forward their data/information to</a:t>
            </a:r>
          </a:p>
          <a:p>
            <a:pPr marL="171450" indent="-171450">
              <a:buFont typeface="Arial" pitchFamily="34" charset="0"/>
              <a:buChar char="•"/>
            </a:pPr>
            <a:r>
              <a:rPr lang="en-AU" sz="1200" kern="1200" dirty="0" smtClean="0">
                <a:solidFill>
                  <a:schemeClr val="tx1"/>
                </a:solidFill>
                <a:ea typeface="+mn-ea"/>
                <a:cs typeface="+mn-cs"/>
              </a:rPr>
              <a:t>Verify required resources have been provided – which can include: </a:t>
            </a:r>
          </a:p>
          <a:p>
            <a:pPr marL="628650" lvl="1" indent="-171450">
              <a:buFont typeface="Arial" pitchFamily="34" charset="0"/>
              <a:buChar char="•"/>
            </a:pPr>
            <a:r>
              <a:rPr lang="en-US" sz="1200" kern="1200" dirty="0" smtClean="0">
                <a:solidFill>
                  <a:schemeClr val="tx1"/>
                </a:solidFill>
                <a:ea typeface="+mn-ea"/>
                <a:cs typeface="+mn-cs"/>
              </a:rPr>
              <a:t>Double-checking individuals have received their log books, sighting forms and similar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Making sure equipment/technology to be used is in place, has been correctly calibrated and is operating as intended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Set dates for the return of information which has been captured – to give sufficient time for the data to be analysed and evaluated so required decisions can be made and necessary reports can be written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5810995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to identify standard </a:t>
            </a:r>
            <a:r>
              <a:rPr lang="en-AU" sz="1200" kern="1200" dirty="0" smtClean="0">
                <a:solidFill>
                  <a:schemeClr val="tx1"/>
                </a:solidFill>
                <a:ea typeface="+mn-ea"/>
                <a:cs typeface="+mn-cs"/>
              </a:rPr>
              <a:t>industry protocols when implementing monitoring activities:</a:t>
            </a:r>
          </a:p>
          <a:p>
            <a:pPr marL="171450" indent="-171450">
              <a:buFont typeface="Arial" pitchFamily="34" charset="0"/>
              <a:buChar char="•"/>
            </a:pPr>
            <a:r>
              <a:rPr lang="en-AU" sz="1200" kern="1200" dirty="0" smtClean="0">
                <a:solidFill>
                  <a:schemeClr val="tx1"/>
                </a:solidFill>
                <a:ea typeface="+mn-ea"/>
                <a:cs typeface="+mn-cs"/>
              </a:rPr>
              <a:t>Provide easy-to-use channels to facilitate the return of information – such as:</a:t>
            </a:r>
          </a:p>
          <a:p>
            <a:pPr marL="628650" lvl="1" indent="-171450">
              <a:buFont typeface="Arial" pitchFamily="34" charset="0"/>
              <a:buChar char="•"/>
            </a:pPr>
            <a:r>
              <a:rPr lang="en-US" sz="1200" kern="1200" dirty="0" smtClean="0">
                <a:solidFill>
                  <a:schemeClr val="tx1"/>
                </a:solidFill>
                <a:ea typeface="+mn-ea"/>
                <a:cs typeface="+mn-cs"/>
              </a:rPr>
              <a:t>One telephone number; A website or email address; A postal address; People who will travel to the data collectors to collect the data from them</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Oversee and manage the monitoring process – by, for example:</a:t>
            </a:r>
          </a:p>
          <a:p>
            <a:pPr marL="628650" lvl="1" indent="-171450">
              <a:buFont typeface="Arial" pitchFamily="34" charset="0"/>
              <a:buChar char="•"/>
            </a:pPr>
            <a:r>
              <a:rPr lang="en-US" sz="1200" kern="1200" dirty="0" smtClean="0">
                <a:solidFill>
                  <a:schemeClr val="tx1"/>
                </a:solidFill>
                <a:ea typeface="+mn-ea"/>
                <a:cs typeface="+mn-cs"/>
              </a:rPr>
              <a:t>Being proactive in communicating with those who are monitoring the trial to determine if they have issues or need assistance; Ensuring identified monitoring practices are being undertaken as planned/promised; Following up with people when expected data is not submitted by the due time/date;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Arranging for extra or different personnel to perform monitoring activities as the need to do so emerges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Make public the raw data as it is obtained – to demonstrate the commitment to transparency, honesty and openness. This may be done by:</a:t>
            </a:r>
          </a:p>
          <a:p>
            <a:pPr marL="628650" lvl="1" indent="-171450">
              <a:buFont typeface="Arial" pitchFamily="34" charset="0"/>
              <a:buChar char="•"/>
            </a:pPr>
            <a:r>
              <a:rPr lang="en-US" sz="1200" kern="1200" dirty="0" smtClean="0">
                <a:solidFill>
                  <a:schemeClr val="tx1"/>
                </a:solidFill>
                <a:ea typeface="+mn-ea"/>
                <a:cs typeface="+mn-cs"/>
              </a:rPr>
              <a:t>Posting data on a nominated website; Issuing press releases showing the information captured; Making public statements regarding the data gathered.</a:t>
            </a:r>
          </a:p>
          <a:p>
            <a:pPr lvl="1">
              <a:buFont typeface="Arial" pitchFamily="34" charset="0"/>
              <a:buChar char="•"/>
            </a:pPr>
            <a:endParaRPr lang="en-US" sz="1200" kern="1200" dirty="0" smtClean="0">
              <a:solidFill>
                <a:schemeClr val="tx1"/>
              </a:solidFill>
              <a:ea typeface="+mn-ea"/>
              <a:cs typeface="+mn-cs"/>
            </a:endParaRPr>
          </a:p>
          <a:p>
            <a:pPr lvl="0">
              <a:buFont typeface="Arial" pitchFamily="34" charset="0"/>
              <a:buNone/>
            </a:pPr>
            <a:r>
              <a:rPr lang="en-US" sz="1200" b="1" kern="1200" dirty="0" smtClean="0">
                <a:solidFill>
                  <a:schemeClr val="tx1"/>
                </a:solidFill>
                <a:ea typeface="+mn-ea"/>
                <a:cs typeface="+mn-cs"/>
              </a:rPr>
              <a:t>Classroom Activity – Guest Speaker</a:t>
            </a:r>
          </a:p>
          <a:p>
            <a:pPr lvl="0">
              <a:buFont typeface="Arial" pitchFamily="34" charset="0"/>
              <a:buNone/>
            </a:pPr>
            <a:r>
              <a:rPr lang="en-AU" sz="1200" b="0" kern="1200" dirty="0" smtClean="0">
                <a:solidFill>
                  <a:schemeClr val="tx1"/>
                </a:solidFill>
                <a:ea typeface="+mn-ea"/>
                <a:cs typeface="+mn-cs"/>
              </a:rPr>
              <a:t>Trainer arranges for experienced Tourism Operator to attend and:</a:t>
            </a:r>
          </a:p>
          <a:p>
            <a:pPr marL="171450" lvl="0" indent="-171450">
              <a:buFont typeface="Arial" pitchFamily="34" charset="0"/>
              <a:buChar char="•"/>
            </a:pPr>
            <a:r>
              <a:rPr lang="en-AU" sz="1200" b="0" kern="1200" dirty="0" smtClean="0">
                <a:solidFill>
                  <a:schemeClr val="tx1"/>
                </a:solidFill>
                <a:ea typeface="+mn-ea"/>
                <a:cs typeface="+mn-cs"/>
              </a:rPr>
              <a:t>Discuss sustainable tourism initiatives they have trialled</a:t>
            </a:r>
          </a:p>
          <a:p>
            <a:pPr marL="171450" lvl="0" indent="-171450">
              <a:buFont typeface="Arial" pitchFamily="34" charset="0"/>
              <a:buChar char="•"/>
            </a:pPr>
            <a:r>
              <a:rPr lang="en-AU" sz="1200" b="0" kern="1200" dirty="0" smtClean="0">
                <a:solidFill>
                  <a:schemeClr val="tx1"/>
                </a:solidFill>
                <a:ea typeface="+mn-ea"/>
                <a:cs typeface="+mn-cs"/>
              </a:rPr>
              <a:t>Describe implementation practices</a:t>
            </a:r>
            <a:r>
              <a:rPr lang="en-AU" sz="1200" b="0" kern="1200" baseline="0" dirty="0" smtClean="0">
                <a:solidFill>
                  <a:schemeClr val="tx1"/>
                </a:solidFill>
                <a:ea typeface="+mn-ea"/>
                <a:cs typeface="+mn-cs"/>
              </a:rPr>
              <a:t> for pilots</a:t>
            </a:r>
          </a:p>
          <a:p>
            <a:pPr marL="171450" lvl="0" indent="-171450">
              <a:buFont typeface="Arial" pitchFamily="34" charset="0"/>
              <a:buChar char="•"/>
            </a:pPr>
            <a:r>
              <a:rPr lang="en-AU" sz="1200" b="0" kern="1200" baseline="0" dirty="0" smtClean="0">
                <a:solidFill>
                  <a:schemeClr val="tx1"/>
                </a:solidFill>
                <a:ea typeface="+mn-ea"/>
                <a:cs typeface="+mn-cs"/>
              </a:rPr>
              <a:t>Give advise for planning, trialling and implementing minimal impact tourism initiatives.</a:t>
            </a:r>
            <a:endParaRPr lang="en-AU" sz="1200" b="0" kern="1200" dirty="0" smtClean="0">
              <a:solidFill>
                <a:schemeClr val="tx1"/>
              </a:solidFill>
              <a:ea typeface="+mn-ea"/>
              <a:cs typeface="+mn-cs"/>
            </a:endParaRPr>
          </a:p>
          <a:p>
            <a:pPr lvl="0">
              <a:buFont typeface="Arial" pitchFamily="34" charset="0"/>
              <a:buNone/>
            </a:pP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38027797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data </a:t>
            </a:r>
            <a:r>
              <a:rPr lang="en-AU" sz="1200" kern="1200" dirty="0" smtClean="0">
                <a:solidFill>
                  <a:schemeClr val="tx1"/>
                </a:solidFill>
                <a:ea typeface="+mn-ea"/>
                <a:cs typeface="+mn-cs"/>
              </a:rPr>
              <a:t>gathering for the purposes of monitoring the impacts of a sustainable tourism project may involve:</a:t>
            </a:r>
          </a:p>
          <a:p>
            <a:pPr marL="171450" indent="-171450">
              <a:buFont typeface="Arial" pitchFamily="34" charset="0"/>
              <a:buChar char="•"/>
            </a:pPr>
            <a:r>
              <a:rPr lang="en-AU" sz="1200" kern="1200" dirty="0" smtClean="0">
                <a:solidFill>
                  <a:schemeClr val="tx1"/>
                </a:solidFill>
                <a:ea typeface="+mn-ea"/>
                <a:cs typeface="+mn-cs"/>
              </a:rPr>
              <a:t>Completing hand-written (or computer/lap-top/tablet-based) documents such as:</a:t>
            </a:r>
          </a:p>
          <a:p>
            <a:pPr marL="628650" lvl="1" indent="-171450">
              <a:buFont typeface="Arial" pitchFamily="34" charset="0"/>
              <a:buChar char="•"/>
            </a:pPr>
            <a:r>
              <a:rPr lang="en-US" sz="1200" kern="1200" dirty="0" smtClean="0">
                <a:solidFill>
                  <a:schemeClr val="tx1"/>
                </a:solidFill>
                <a:ea typeface="+mn-ea"/>
                <a:cs typeface="+mn-cs"/>
              </a:rPr>
              <a:t>Logs – these will record what happened and when it happened and will be used to record dates, times, numbers, times, statistics, observations, names of groups, points of interest or concern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Sighting forms – these can be targeted to record observations in relation to nominated topics which might relate to:</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Movement or sighting of animals/wildlife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Identification of introduced threats, risks, dangers or hazards to the area</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Observed actions/behaviour of tour groups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Observed impacts of the tourism initiative on local communities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Notebooks – which can be used to allow designated persons to record their generic observations, thoughts and feelings about the initiative as it unfolds.</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the use of sample data gathering tools</a:t>
            </a:r>
            <a:r>
              <a:rPr lang="en-AU" b="0" baseline="0" noProof="0" dirty="0" smtClean="0"/>
              <a:t> as identified on the slide.</a:t>
            </a:r>
            <a:r>
              <a:rPr lang="en-AU" b="1" noProof="0" dirty="0" smtClean="0"/>
              <a:t> </a:t>
            </a: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8387235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to present data gathering options:</a:t>
            </a:r>
          </a:p>
          <a:p>
            <a:pPr marL="171450" indent="-171450">
              <a:buFont typeface="Arial" pitchFamily="34" charset="0"/>
              <a:buChar char="•"/>
            </a:pPr>
            <a:r>
              <a:rPr lang="en-AU" sz="1200" kern="1200" dirty="0" smtClean="0">
                <a:solidFill>
                  <a:schemeClr val="tx1"/>
                </a:solidFill>
                <a:ea typeface="+mn-ea"/>
                <a:cs typeface="+mn-cs"/>
              </a:rPr>
              <a:t>Obtaining photographic evidence – may require distribution of still and movie cameras to allow:</a:t>
            </a:r>
          </a:p>
          <a:p>
            <a:pPr marL="628650" lvl="1" indent="-171450">
              <a:buFont typeface="Arial" pitchFamily="34" charset="0"/>
              <a:buChar char="•"/>
            </a:pPr>
            <a:r>
              <a:rPr lang="en-US" sz="1200" kern="1200" dirty="0" smtClean="0">
                <a:solidFill>
                  <a:schemeClr val="tx1"/>
                </a:solidFill>
                <a:ea typeface="+mn-ea"/>
                <a:cs typeface="+mn-cs"/>
              </a:rPr>
              <a:t>Capture proof of ‘before and after’ scenarios and the actual operation of the trial (such as the conduct of interpretive activities; the camp site used; the way tour groups interact with the community and landscape)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Gather visual data to support, supplement and/or explain other observations as contained (for example) in logs, notebooks, personal observations and anecdotal evidence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Using technology and equipment to take basic measurements – such as:</a:t>
            </a:r>
          </a:p>
          <a:p>
            <a:pPr marL="628650" lvl="1" indent="-171450">
              <a:buFont typeface="Arial" pitchFamily="34" charset="0"/>
              <a:buChar char="•"/>
            </a:pPr>
            <a:r>
              <a:rPr lang="en-US" sz="1200" kern="1200" dirty="0" smtClean="0">
                <a:solidFill>
                  <a:schemeClr val="tx1"/>
                </a:solidFill>
                <a:ea typeface="+mn-ea"/>
                <a:cs typeface="+mn-cs"/>
              </a:rPr>
              <a:t>Taking temperature/s; Noting weather conditions ; Calculating estimations of percentage cover of flora in an area</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Determining fauna movement/s; Recording water flow; Measuring water volumes; Monitoring air quality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Counting customer traffic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 Gathering anecdotal evidence – through being proactive and:</a:t>
            </a:r>
          </a:p>
          <a:p>
            <a:pPr marL="628650" lvl="1" indent="-171450">
              <a:buFont typeface="Arial" pitchFamily="34" charset="0"/>
              <a:buChar char="•"/>
            </a:pPr>
            <a:r>
              <a:rPr lang="en-US" sz="1200" kern="1200" dirty="0" smtClean="0">
                <a:solidFill>
                  <a:schemeClr val="tx1"/>
                </a:solidFill>
                <a:ea typeface="+mn-ea"/>
                <a:cs typeface="+mn-cs"/>
              </a:rPr>
              <a:t>Talking to tour group members about their experience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Discussing initiative one-on-one or in a group setting with local communities and encouraging them to discuss their observations, feelings and concerns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Listening and noting what people (members of the public, stakeholders, those with monitoring responsibilities) say ‘by the way’ when they submit formal data or make contact for any reason in relation to the trial</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Liaising with key stakeholders – which can include:</a:t>
            </a:r>
          </a:p>
          <a:p>
            <a:pPr marL="628650" lvl="1" indent="-171450">
              <a:buFont typeface="Arial" pitchFamily="34" charset="0"/>
              <a:buChar char="•"/>
            </a:pPr>
            <a:r>
              <a:rPr lang="en-US" sz="1200" kern="1200" dirty="0" smtClean="0">
                <a:solidFill>
                  <a:schemeClr val="tx1"/>
                </a:solidFill>
                <a:ea typeface="+mn-ea"/>
                <a:cs typeface="+mn-cs"/>
              </a:rPr>
              <a:t>Asking tour leaders/project managers to compete feedback forms/reports</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Holding meetings to facilitate exchanges and contributions</a:t>
            </a:r>
          </a:p>
          <a:p>
            <a:pPr marL="628650" lvl="1" indent="-171450">
              <a:buFont typeface="Arial" pitchFamily="34" charset="0"/>
              <a:buChar char="•"/>
            </a:pPr>
            <a:r>
              <a:rPr lang="en-AU" sz="1200" kern="1200" dirty="0" smtClean="0">
                <a:solidFill>
                  <a:schemeClr val="tx1"/>
                </a:solidFill>
                <a:ea typeface="+mn-ea"/>
                <a:cs typeface="+mn-cs"/>
              </a:rPr>
              <a:t>Recording details of what is said and who says them.</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34420972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when </a:t>
            </a:r>
            <a:r>
              <a:rPr lang="en-AU" sz="1200" kern="1200" dirty="0" smtClean="0">
                <a:solidFill>
                  <a:schemeClr val="tx1"/>
                </a:solidFill>
                <a:ea typeface="+mn-ea"/>
                <a:cs typeface="+mn-cs"/>
              </a:rPr>
              <a:t>evaluating the information generated by the trial it is important to:</a:t>
            </a:r>
          </a:p>
          <a:p>
            <a:pPr marL="171450" indent="-171450">
              <a:buFont typeface="Arial" pitchFamily="34" charset="0"/>
              <a:buChar char="•"/>
            </a:pPr>
            <a:r>
              <a:rPr lang="en-AU" sz="1200" kern="1200" dirty="0" smtClean="0">
                <a:solidFill>
                  <a:schemeClr val="tx1"/>
                </a:solidFill>
                <a:ea typeface="+mn-ea"/>
                <a:cs typeface="+mn-cs"/>
              </a:rPr>
              <a:t>Base decisions on facts and evidence – all findings must be able to be supported by proof, and defended or be able to be validated if challenged</a:t>
            </a:r>
          </a:p>
          <a:p>
            <a:pPr marL="171450" indent="-171450">
              <a:buFont typeface="Arial" pitchFamily="34" charset="0"/>
              <a:buChar char="•"/>
            </a:pPr>
            <a:r>
              <a:rPr lang="en-AU" sz="1200" kern="1200" dirty="0" smtClean="0">
                <a:solidFill>
                  <a:schemeClr val="tx1"/>
                </a:solidFill>
                <a:ea typeface="+mn-ea"/>
                <a:cs typeface="+mn-cs"/>
              </a:rPr>
              <a:t>Reference evaluations to the criteria and parameters established for the trial – as these are the keys for determining the final outcome/s for the trial</a:t>
            </a:r>
          </a:p>
          <a:p>
            <a:pPr marL="171450" indent="-171450">
              <a:buFont typeface="Arial" pitchFamily="34" charset="0"/>
              <a:buChar char="•"/>
            </a:pPr>
            <a:r>
              <a:rPr lang="en-AU" sz="1200" kern="1200" dirty="0" smtClean="0">
                <a:solidFill>
                  <a:schemeClr val="tx1"/>
                </a:solidFill>
                <a:ea typeface="+mn-ea"/>
                <a:cs typeface="+mn-cs"/>
              </a:rPr>
              <a:t>Consider quantitative data and qualitative information – as both of these have a role (‘two sides of the same coin’) in the total evaluation of any trial, providing factual evidence as well as descriptive references</a:t>
            </a:r>
          </a:p>
          <a:p>
            <a:pPr marL="171450" indent="-171450">
              <a:buFont typeface="Arial" pitchFamily="34" charset="0"/>
              <a:buChar char="•"/>
            </a:pPr>
            <a:r>
              <a:rPr lang="en-AU" sz="1200" kern="1200" dirty="0" smtClean="0">
                <a:solidFill>
                  <a:schemeClr val="tx1"/>
                </a:solidFill>
                <a:ea typeface="+mn-ea"/>
                <a:cs typeface="+mn-cs"/>
              </a:rPr>
              <a:t>Align relevant data to identified topics – so there is a direct link between criteria established for the trial and the data which was captured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69744384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important points when evaluating trial data:</a:t>
            </a:r>
          </a:p>
          <a:p>
            <a:pPr marL="171450" indent="-171450">
              <a:buFont typeface="Arial" pitchFamily="34" charset="0"/>
              <a:buChar char="•"/>
            </a:pPr>
            <a:r>
              <a:rPr lang="en-AU" sz="1200" kern="1200" dirty="0" smtClean="0">
                <a:solidFill>
                  <a:schemeClr val="tx1"/>
                </a:solidFill>
                <a:ea typeface="+mn-ea"/>
                <a:cs typeface="+mn-cs"/>
              </a:rPr>
              <a:t>Analyse positive and negative impacts – in theory, every tourism trial holds the potential to generate positive and negative outcomes so the evaluation needs to be alert to identifying, describing and quantifying both potential results in order to achieve balanced and unbiased  findings </a:t>
            </a:r>
          </a:p>
          <a:p>
            <a:pPr marL="171450" indent="-171450">
              <a:buFont typeface="Arial" pitchFamily="34" charset="0"/>
              <a:buChar char="•"/>
            </a:pPr>
            <a:r>
              <a:rPr lang="en-AU" sz="1200" kern="1200" dirty="0" smtClean="0">
                <a:solidFill>
                  <a:schemeClr val="tx1"/>
                </a:solidFill>
                <a:ea typeface="+mn-ea"/>
                <a:cs typeface="+mn-cs"/>
              </a:rPr>
              <a:t>Highlight any difficulties, problems or issues which occurred during the trial period – and which may have (or actually </a:t>
            </a:r>
            <a:r>
              <a:rPr lang="en-AU" sz="1200" i="1" kern="1200" dirty="0" smtClean="0">
                <a:solidFill>
                  <a:schemeClr val="tx1"/>
                </a:solidFill>
                <a:ea typeface="+mn-ea"/>
                <a:cs typeface="+mn-cs"/>
              </a:rPr>
              <a:t>did</a:t>
            </a:r>
            <a:r>
              <a:rPr lang="en-AU" sz="1200" kern="1200" dirty="0" smtClean="0">
                <a:solidFill>
                  <a:schemeClr val="tx1"/>
                </a:solidFill>
                <a:ea typeface="+mn-ea"/>
                <a:cs typeface="+mn-cs"/>
              </a:rPr>
              <a:t>) impact on the trial ad data which was collected </a:t>
            </a:r>
          </a:p>
          <a:p>
            <a:pPr marL="171450" indent="-171450">
              <a:buFont typeface="Arial" pitchFamily="34" charset="0"/>
              <a:buChar char="•"/>
            </a:pPr>
            <a:r>
              <a:rPr lang="en-AU" sz="1200" kern="1200" dirty="0" smtClean="0">
                <a:solidFill>
                  <a:schemeClr val="tx1"/>
                </a:solidFill>
                <a:ea typeface="+mn-ea"/>
                <a:cs typeface="+mn-cs"/>
              </a:rPr>
              <a:t>Involve the stakeholders in the process to demonstrate transparency – and to avoid conducting the evaluation behind closed doors and generating results and recommendations (‘findings’ of the trial) in private</a:t>
            </a:r>
          </a:p>
          <a:p>
            <a:pPr marL="171450" indent="-171450">
              <a:buFont typeface="Arial" pitchFamily="34" charset="0"/>
              <a:buChar char="•"/>
            </a:pPr>
            <a:r>
              <a:rPr lang="en-AU" sz="1200" kern="1200" dirty="0" smtClean="0">
                <a:solidFill>
                  <a:schemeClr val="tx1"/>
                </a:solidFill>
                <a:ea typeface="+mn-ea"/>
                <a:cs typeface="+mn-cs"/>
              </a:rPr>
              <a:t>Generate additional data if required – this may occur when:</a:t>
            </a:r>
          </a:p>
          <a:p>
            <a:pPr marL="628650" lvl="1" indent="-171450">
              <a:buFont typeface="Arial" pitchFamily="34" charset="0"/>
              <a:buChar char="•"/>
            </a:pPr>
            <a:r>
              <a:rPr lang="en-AU" sz="1200" kern="1200" dirty="0" smtClean="0">
                <a:solidFill>
                  <a:schemeClr val="tx1"/>
                </a:solidFill>
                <a:ea typeface="+mn-ea"/>
                <a:cs typeface="+mn-cs"/>
              </a:rPr>
              <a:t>Where insufficient data exists on which to base decisions</a:t>
            </a:r>
          </a:p>
          <a:p>
            <a:pPr marL="628650" lvl="1" indent="-171450">
              <a:buFont typeface="Arial" pitchFamily="34" charset="0"/>
              <a:buChar char="•"/>
            </a:pPr>
            <a:r>
              <a:rPr lang="en-AU" sz="1200" kern="1200" dirty="0" smtClean="0">
                <a:solidFill>
                  <a:schemeClr val="tx1"/>
                </a:solidFill>
                <a:ea typeface="+mn-ea"/>
                <a:cs typeface="+mn-cs"/>
              </a:rPr>
              <a:t>When the data is deemed not to be reliable or valid</a:t>
            </a:r>
          </a:p>
          <a:p>
            <a:pPr marL="628650" lvl="1" indent="-171450">
              <a:buFont typeface="Arial" pitchFamily="34" charset="0"/>
              <a:buChar char="•"/>
            </a:pPr>
            <a:r>
              <a:rPr lang="en-AU" sz="1200" kern="1200" dirty="0" smtClean="0">
                <a:solidFill>
                  <a:schemeClr val="tx1"/>
                </a:solidFill>
                <a:ea typeface="+mn-ea"/>
                <a:cs typeface="+mn-cs"/>
              </a:rPr>
              <a:t>An issue has arisen necessitating more or different data t be gathered</a:t>
            </a:r>
          </a:p>
          <a:p>
            <a:pPr marL="628650" lvl="1" indent="-171450">
              <a:buFont typeface="Arial" pitchFamily="34" charset="0"/>
              <a:buChar char="•"/>
            </a:pPr>
            <a:r>
              <a:rPr lang="en-AU" sz="1200" kern="1200" dirty="0" smtClean="0">
                <a:solidFill>
                  <a:schemeClr val="tx1"/>
                </a:solidFill>
                <a:ea typeface="+mn-ea"/>
                <a:cs typeface="+mn-cs"/>
              </a:rPr>
              <a:t>An error in data collection has been identified</a:t>
            </a:r>
          </a:p>
          <a:p>
            <a:pPr marL="628650" lvl="1" indent="-171450">
              <a:buFont typeface="Arial" pitchFamily="34" charset="0"/>
              <a:buChar char="•"/>
            </a:pPr>
            <a:r>
              <a:rPr lang="en-AU" sz="1200" kern="1200" dirty="0" smtClean="0">
                <a:solidFill>
                  <a:schemeClr val="tx1"/>
                </a:solidFill>
                <a:ea typeface="+mn-ea"/>
                <a:cs typeface="+mn-cs"/>
              </a:rPr>
              <a:t>Significant disagreement exists among stakeholders about the legitimacy of the data being relied 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1275990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important points when evaluating trial data:</a:t>
            </a:r>
          </a:p>
          <a:p>
            <a:pPr marL="171450" indent="-171450">
              <a:buFont typeface="Arial" pitchFamily="34" charset="0"/>
              <a:buChar char="•"/>
            </a:pPr>
            <a:r>
              <a:rPr lang="en-AU" sz="1200" kern="1200" dirty="0" smtClean="0">
                <a:solidFill>
                  <a:schemeClr val="tx1"/>
                </a:solidFill>
                <a:ea typeface="+mn-ea"/>
                <a:cs typeface="+mn-cs"/>
              </a:rPr>
              <a:t>Explain the methodology used to undertake the evaluation – so those reading the findings can understand:</a:t>
            </a:r>
          </a:p>
          <a:p>
            <a:pPr marL="628650" lvl="1" indent="-171450">
              <a:buFont typeface="Arial" pitchFamily="34" charset="0"/>
              <a:buChar char="•"/>
            </a:pPr>
            <a:r>
              <a:rPr lang="en-AU" sz="1200" kern="1200" dirty="0" smtClean="0">
                <a:solidFill>
                  <a:schemeClr val="tx1"/>
                </a:solidFill>
                <a:ea typeface="+mn-ea"/>
                <a:cs typeface="+mn-cs"/>
              </a:rPr>
              <a:t>How the data was collected and analysed</a:t>
            </a:r>
          </a:p>
          <a:p>
            <a:pPr marL="628650" lvl="1" indent="-171450">
              <a:buFont typeface="Arial" pitchFamily="34" charset="0"/>
              <a:buChar char="•"/>
            </a:pPr>
            <a:r>
              <a:rPr lang="en-AU" sz="1200" kern="1200" dirty="0" smtClean="0">
                <a:solidFill>
                  <a:schemeClr val="tx1"/>
                </a:solidFill>
                <a:ea typeface="+mn-ea"/>
                <a:cs typeface="+mn-cs"/>
              </a:rPr>
              <a:t>How the decisions made as a result of the trial were arrived at</a:t>
            </a:r>
          </a:p>
          <a:p>
            <a:pPr marL="171450" indent="-171450">
              <a:buFont typeface="Arial" pitchFamily="34" charset="0"/>
              <a:buChar char="•"/>
            </a:pPr>
            <a:r>
              <a:rPr lang="en-AU" sz="1200" kern="1200" dirty="0" smtClean="0">
                <a:solidFill>
                  <a:schemeClr val="tx1"/>
                </a:solidFill>
                <a:ea typeface="+mn-ea"/>
                <a:cs typeface="+mn-cs"/>
              </a:rPr>
              <a:t>Generate a set of clear and distinct findings as a result of the evaluation – which will be presented as the basis for moving the sustainable tourism project forward</a:t>
            </a:r>
          </a:p>
          <a:p>
            <a:pPr marL="171450" indent="-171450">
              <a:buFont typeface="Arial" pitchFamily="34" charset="0"/>
              <a:buChar char="•"/>
            </a:pPr>
            <a:r>
              <a:rPr lang="en-AU" sz="1200" kern="1200" dirty="0" smtClean="0">
                <a:solidFill>
                  <a:schemeClr val="tx1"/>
                </a:solidFill>
                <a:ea typeface="+mn-ea"/>
                <a:cs typeface="+mn-cs"/>
              </a:rPr>
              <a:t>Communicate the outcomes of the trial – by sharing, publishing or otherwise widely communicating the findings.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54417078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positive environmental impacts:</a:t>
            </a:r>
          </a:p>
          <a:p>
            <a:pPr marL="171450" indent="-171450">
              <a:buFont typeface="Arial" pitchFamily="34" charset="0"/>
              <a:buChar char="•"/>
            </a:pPr>
            <a:r>
              <a:rPr lang="en-AU" sz="1200" kern="1200" dirty="0" smtClean="0">
                <a:solidFill>
                  <a:schemeClr val="tx1"/>
                </a:solidFill>
                <a:ea typeface="+mn-ea"/>
                <a:cs typeface="+mn-cs"/>
              </a:rPr>
              <a:t>Opportunities for conservation and protection of buildings and facilities – as a consequence of Tourism Operators wanting to preserve these things and/or enhance them for the benefit of tourists</a:t>
            </a:r>
          </a:p>
          <a:p>
            <a:pPr marL="171450" indent="-171450">
              <a:buFont typeface="Arial" pitchFamily="34" charset="0"/>
              <a:buChar char="•"/>
            </a:pPr>
            <a:r>
              <a:rPr lang="en-AU" sz="1200" kern="1200" dirty="0" smtClean="0">
                <a:solidFill>
                  <a:schemeClr val="tx1"/>
                </a:solidFill>
                <a:ea typeface="+mn-ea"/>
                <a:cs typeface="+mn-cs"/>
              </a:rPr>
              <a:t>Opportunities for conservation and protection of the natural environment – where the Tourism Operator is prepared to take action to protect the landscape against threats in order to preserve it for tour groups to experience and enjoy</a:t>
            </a:r>
          </a:p>
          <a:p>
            <a:pPr marL="171450" indent="-171450">
              <a:buFont typeface="Arial" pitchFamily="34" charset="0"/>
              <a:buChar char="•"/>
            </a:pPr>
            <a:r>
              <a:rPr lang="en-AU" sz="1200" kern="1200" dirty="0" smtClean="0">
                <a:solidFill>
                  <a:schemeClr val="tx1"/>
                </a:solidFill>
                <a:ea typeface="+mn-ea"/>
                <a:cs typeface="+mn-cs"/>
              </a:rPr>
              <a:t>Education of visitors relating to local environmental issues – meaning the message about local problems and challenges can be spread around the world and awareness of the problem/s might stimulate action to mitigate problems</a:t>
            </a:r>
          </a:p>
          <a:p>
            <a:pPr marL="171450" indent="-171450">
              <a:buFont typeface="Arial" pitchFamily="34" charset="0"/>
              <a:buChar char="•"/>
            </a:pPr>
            <a:r>
              <a:rPr lang="en-AU" sz="1200" kern="1200" dirty="0" smtClean="0">
                <a:solidFill>
                  <a:schemeClr val="tx1"/>
                </a:solidFill>
                <a:ea typeface="+mn-ea"/>
                <a:cs typeface="+mn-cs"/>
              </a:rPr>
              <a:t>Potential to improve sites that have been de-graded prior to the initiative – in that Tourism Operators are often prepared to pay for the repair and/or upkeep of buildings and the natural environment.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54111984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negative environmental impacts:</a:t>
            </a:r>
          </a:p>
          <a:p>
            <a:pPr marL="171450" indent="-171450">
              <a:buFont typeface="Arial" pitchFamily="34" charset="0"/>
              <a:buChar char="•"/>
            </a:pPr>
            <a:r>
              <a:rPr lang="en-AU" sz="1200" kern="1200" dirty="0" smtClean="0">
                <a:solidFill>
                  <a:schemeClr val="tx1"/>
                </a:solidFill>
                <a:ea typeface="+mn-ea"/>
                <a:cs typeface="+mn-cs"/>
              </a:rPr>
              <a:t>Physical damage to building and facilities – caused by pedestrian traffic, vehicles, use/extra use (normal ‘wear and tear’) as well as accidental and deliberate damage</a:t>
            </a:r>
          </a:p>
          <a:p>
            <a:pPr marL="171450" indent="-171450">
              <a:buFont typeface="Arial" pitchFamily="34" charset="0"/>
              <a:buChar char="•"/>
            </a:pPr>
            <a:r>
              <a:rPr lang="en-AU" sz="1200" kern="1200" dirty="0" smtClean="0">
                <a:solidFill>
                  <a:schemeClr val="tx1"/>
                </a:solidFill>
                <a:ea typeface="+mn-ea"/>
                <a:cs typeface="+mn-cs"/>
              </a:rPr>
              <a:t>Damage to the natural environment – including soil/land erosion, compacting of soil, use of land for buildings, car parks, camp sites</a:t>
            </a:r>
          </a:p>
          <a:p>
            <a:pPr marL="171450" indent="-171450">
              <a:buFont typeface="Arial" pitchFamily="34" charset="0"/>
              <a:buChar char="•"/>
            </a:pPr>
            <a:r>
              <a:rPr lang="en-AU" sz="1200" kern="1200" dirty="0" smtClean="0">
                <a:solidFill>
                  <a:schemeClr val="tx1"/>
                </a:solidFill>
                <a:ea typeface="+mn-ea"/>
                <a:cs typeface="+mn-cs"/>
              </a:rPr>
              <a:t>Pollution – which may involve air (smoke) pollution, water pollution, noise pollution</a:t>
            </a:r>
          </a:p>
          <a:p>
            <a:pPr marL="171450" indent="-171450">
              <a:buFont typeface="Arial" pitchFamily="34" charset="0"/>
              <a:buChar char="•"/>
            </a:pPr>
            <a:r>
              <a:rPr lang="en-AU" sz="1200" kern="1200" dirty="0" smtClean="0">
                <a:solidFill>
                  <a:schemeClr val="tx1"/>
                </a:solidFill>
                <a:ea typeface="+mn-ea"/>
                <a:cs typeface="+mn-cs"/>
              </a:rPr>
              <a:t>Presence of waste – or additional litter/rubbish and human waste  </a:t>
            </a:r>
          </a:p>
          <a:p>
            <a:pPr marL="171450" indent="-171450">
              <a:buFont typeface="Arial" pitchFamily="34" charset="0"/>
              <a:buChar char="•"/>
            </a:pPr>
            <a:r>
              <a:rPr lang="en-AU" sz="1200" kern="1200" dirty="0" smtClean="0">
                <a:solidFill>
                  <a:schemeClr val="tx1"/>
                </a:solidFill>
                <a:ea typeface="+mn-ea"/>
                <a:cs typeface="+mn-cs"/>
              </a:rPr>
              <a:t>Use of local limited energy resources (water and wood) </a:t>
            </a:r>
          </a:p>
          <a:p>
            <a:pPr marL="171450" indent="-171450">
              <a:buFont typeface="Arial" pitchFamily="34" charset="0"/>
              <a:buChar char="•"/>
            </a:pPr>
            <a:r>
              <a:rPr lang="en-AU" sz="1200" kern="1200" dirty="0" smtClean="0">
                <a:solidFill>
                  <a:schemeClr val="tx1"/>
                </a:solidFill>
                <a:ea typeface="+mn-ea"/>
                <a:cs typeface="+mn-cs"/>
              </a:rPr>
              <a:t>Adverse visual impacts on the site/area – as the initiative negatively affects the beauty of the area or interrupts or interferes with the ‘look and feel’ of the location.</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303738442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positive social environmental impacts:</a:t>
            </a:r>
          </a:p>
          <a:p>
            <a:pPr marL="171450" indent="-171450">
              <a:buFont typeface="Arial" pitchFamily="34" charset="0"/>
              <a:buChar char="•"/>
            </a:pPr>
            <a:r>
              <a:rPr lang="en-AU" sz="1200" kern="1200" dirty="0" smtClean="0">
                <a:solidFill>
                  <a:schemeClr val="tx1"/>
                </a:solidFill>
                <a:ea typeface="+mn-ea"/>
                <a:cs typeface="+mn-cs"/>
              </a:rPr>
              <a:t>Improved facilities and infrastructure – which can be used by local communities and/or which provide enhanced experiences (such as comfort and safety) for tourists </a:t>
            </a:r>
          </a:p>
          <a:p>
            <a:pPr marL="171450" indent="-171450">
              <a:buFont typeface="Arial" pitchFamily="34" charset="0"/>
              <a:buChar char="•"/>
            </a:pPr>
            <a:r>
              <a:rPr lang="en-AU" sz="1200" kern="1200" dirty="0" smtClean="0">
                <a:solidFill>
                  <a:schemeClr val="tx1"/>
                </a:solidFill>
                <a:ea typeface="+mn-ea"/>
                <a:cs typeface="+mn-cs"/>
              </a:rPr>
              <a:t>Improved understanding regarding local issues – so there is wider awareness, and appreciation of these problems which can lead to a better understanding of the communities and </a:t>
            </a:r>
            <a:r>
              <a:rPr lang="en-AU" sz="1200" i="1" kern="1200" dirty="0" smtClean="0">
                <a:solidFill>
                  <a:schemeClr val="tx1"/>
                </a:solidFill>
                <a:ea typeface="+mn-ea"/>
                <a:cs typeface="+mn-cs"/>
              </a:rPr>
              <a:t>may</a:t>
            </a:r>
            <a:r>
              <a:rPr lang="en-AU" sz="1200" kern="1200" dirty="0" smtClean="0">
                <a:solidFill>
                  <a:schemeClr val="tx1"/>
                </a:solidFill>
                <a:ea typeface="+mn-ea"/>
                <a:cs typeface="+mn-cs"/>
              </a:rPr>
              <a:t> trigger external assistance for problems</a:t>
            </a:r>
          </a:p>
          <a:p>
            <a:pPr marL="171450" indent="-171450">
              <a:buFont typeface="Arial" pitchFamily="34" charset="0"/>
              <a:buChar char="•"/>
            </a:pPr>
            <a:r>
              <a:rPr lang="en-AU" sz="1200" kern="1200" dirty="0" smtClean="0">
                <a:solidFill>
                  <a:schemeClr val="tx1"/>
                </a:solidFill>
                <a:ea typeface="+mn-ea"/>
                <a:cs typeface="+mn-cs"/>
              </a:rPr>
              <a:t>Improved relationships between the local community and other communities – based on the knowledge which flows when there is interaction between the two</a:t>
            </a:r>
          </a:p>
          <a:p>
            <a:pPr marL="171450" indent="-171450">
              <a:buFont typeface="Arial" pitchFamily="34" charset="0"/>
              <a:buChar char="•"/>
            </a:pPr>
            <a:r>
              <a:rPr lang="en-AU" sz="1200" kern="1200" dirty="0" smtClean="0">
                <a:solidFill>
                  <a:schemeClr val="tx1"/>
                </a:solidFill>
                <a:ea typeface="+mn-ea"/>
                <a:cs typeface="+mn-cs"/>
              </a:rPr>
              <a:t>More things for local communities to do – and increased opportunities for them to interact with others and expands their horizons to become more aware of other cultures, countries and communities.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883541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negative social impacts:</a:t>
            </a:r>
          </a:p>
          <a:p>
            <a:pPr marL="171450" indent="-171450">
              <a:buFont typeface="Arial" pitchFamily="34" charset="0"/>
              <a:buChar char="•"/>
            </a:pPr>
            <a:r>
              <a:rPr lang="en-AU" sz="1200" kern="1200" dirty="0" smtClean="0">
                <a:solidFill>
                  <a:schemeClr val="tx1"/>
                </a:solidFill>
                <a:ea typeface="+mn-ea"/>
                <a:cs typeface="+mn-cs"/>
              </a:rPr>
              <a:t>Social dislocation – which disrupts the established pattern of communities and may cause changes to ‘regular’ things such as where people live, how they work and changes to traditional lifestyles and values</a:t>
            </a:r>
          </a:p>
          <a:p>
            <a:pPr marL="171450" indent="-171450">
              <a:buFont typeface="Arial" pitchFamily="34" charset="0"/>
              <a:buChar char="•"/>
            </a:pPr>
            <a:r>
              <a:rPr lang="en-AU" sz="1200" kern="1200" dirty="0" smtClean="0">
                <a:solidFill>
                  <a:schemeClr val="tx1"/>
                </a:solidFill>
                <a:ea typeface="+mn-ea"/>
                <a:cs typeface="+mn-cs"/>
              </a:rPr>
              <a:t>Potential for increase in criminal activities – caused commonly by tourists stealing from local communities, or by local communities stealing from tourists</a:t>
            </a:r>
          </a:p>
          <a:p>
            <a:pPr marL="628650" lvl="1" indent="-171450">
              <a:buFont typeface="Arial" pitchFamily="34" charset="0"/>
              <a:buChar char="•"/>
            </a:pPr>
            <a:r>
              <a:rPr lang="en-AU" sz="1200" kern="1200" dirty="0" smtClean="0">
                <a:solidFill>
                  <a:schemeClr val="tx1"/>
                </a:solidFill>
                <a:ea typeface="+mn-ea"/>
                <a:cs typeface="+mn-cs"/>
              </a:rPr>
              <a:t>The potential for assaults, prostitution and child sex may also be an issue</a:t>
            </a:r>
          </a:p>
          <a:p>
            <a:pPr marL="171450" indent="-171450">
              <a:buFont typeface="Arial" pitchFamily="34" charset="0"/>
              <a:buChar char="•"/>
            </a:pPr>
            <a:r>
              <a:rPr lang="en-AU" sz="1200" kern="1200" dirty="0" smtClean="0">
                <a:solidFill>
                  <a:schemeClr val="tx1"/>
                </a:solidFill>
                <a:ea typeface="+mn-ea"/>
                <a:cs typeface="+mn-cs"/>
              </a:rPr>
              <a:t>Reduced focus on (and potential interruptions to) traditional social interactions and activities between people in the local communities – caused by:</a:t>
            </a:r>
          </a:p>
          <a:p>
            <a:pPr marL="628650" lvl="1" indent="-171450">
              <a:buFont typeface="Arial" pitchFamily="34" charset="0"/>
              <a:buChar char="•"/>
            </a:pPr>
            <a:r>
              <a:rPr lang="en-AU" sz="1200" kern="1200" dirty="0" smtClean="0">
                <a:solidFill>
                  <a:schemeClr val="tx1"/>
                </a:solidFill>
                <a:ea typeface="+mn-ea"/>
                <a:cs typeface="+mn-cs"/>
              </a:rPr>
              <a:t>The physical presence of tourists </a:t>
            </a:r>
          </a:p>
          <a:p>
            <a:pPr marL="628650" lvl="1" indent="-171450">
              <a:buFont typeface="Arial" pitchFamily="34" charset="0"/>
              <a:buChar char="•"/>
            </a:pPr>
            <a:r>
              <a:rPr lang="en-AU" sz="1200" kern="1200" dirty="0" smtClean="0">
                <a:solidFill>
                  <a:schemeClr val="tx1"/>
                </a:solidFill>
                <a:ea typeface="+mn-ea"/>
                <a:cs typeface="+mn-cs"/>
              </a:rPr>
              <a:t>Competing pressures on time</a:t>
            </a:r>
          </a:p>
          <a:p>
            <a:pPr marL="628650" lvl="1" indent="-171450">
              <a:buFont typeface="Arial" pitchFamily="34" charset="0"/>
              <a:buChar char="•"/>
            </a:pPr>
            <a:r>
              <a:rPr lang="en-AU" sz="1200" kern="1200" dirty="0" smtClean="0">
                <a:solidFill>
                  <a:schemeClr val="tx1"/>
                </a:solidFill>
                <a:ea typeface="+mn-ea"/>
                <a:cs typeface="+mn-cs"/>
              </a:rPr>
              <a:t>Stress caused by the need to accommodate tourist-related needs/demands.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14772778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positive ecological environmental impacts:</a:t>
            </a:r>
          </a:p>
          <a:p>
            <a:pPr marL="171450" indent="-171450">
              <a:buFont typeface="Arial" pitchFamily="34" charset="0"/>
              <a:buChar char="•"/>
            </a:pPr>
            <a:r>
              <a:rPr lang="en-AU" sz="1200" kern="1200" dirty="0" smtClean="0">
                <a:solidFill>
                  <a:schemeClr val="tx1"/>
                </a:solidFill>
                <a:ea typeface="+mn-ea"/>
                <a:cs typeface="+mn-cs"/>
              </a:rPr>
              <a:t>Increased awareness of ecological issues – these will vary between locations but it is generally accepted raising awareness of ecological problems that exist in an area is a good thing in that it:</a:t>
            </a:r>
          </a:p>
          <a:p>
            <a:pPr marL="628650" lvl="1" indent="-171450">
              <a:buFont typeface="Arial" pitchFamily="34" charset="0"/>
              <a:buChar char="•"/>
            </a:pPr>
            <a:r>
              <a:rPr lang="en-AU" sz="1200" kern="1200" dirty="0" smtClean="0">
                <a:solidFill>
                  <a:schemeClr val="tx1"/>
                </a:solidFill>
                <a:ea typeface="+mn-ea"/>
                <a:cs typeface="+mn-cs"/>
              </a:rPr>
              <a:t>Can encourage action to stop or reduce activity that is causing the problem</a:t>
            </a:r>
          </a:p>
          <a:p>
            <a:pPr marL="628650" lvl="1" indent="-171450">
              <a:buFont typeface="Arial" pitchFamily="34" charset="0"/>
              <a:buChar char="•"/>
            </a:pPr>
            <a:r>
              <a:rPr lang="en-AU" sz="1200" kern="1200" dirty="0" smtClean="0">
                <a:solidFill>
                  <a:schemeClr val="tx1"/>
                </a:solidFill>
                <a:ea typeface="+mn-ea"/>
                <a:cs typeface="+mn-cs"/>
              </a:rPr>
              <a:t>Attract external assistance to mitigate the rate of degradation which is occurring</a:t>
            </a:r>
          </a:p>
          <a:p>
            <a:pPr marL="171450" indent="-171450">
              <a:buFont typeface="Arial" pitchFamily="34" charset="0"/>
              <a:buChar char="•"/>
            </a:pPr>
            <a:r>
              <a:rPr lang="en-AU" sz="1200" kern="1200" dirty="0" smtClean="0">
                <a:solidFill>
                  <a:schemeClr val="tx1"/>
                </a:solidFill>
                <a:ea typeface="+mn-ea"/>
                <a:cs typeface="+mn-cs"/>
              </a:rPr>
              <a:t>Potential for investment in the area – to:</a:t>
            </a:r>
          </a:p>
          <a:p>
            <a:pPr marL="628650" lvl="1" indent="-171450">
              <a:buFont typeface="Arial" pitchFamily="34" charset="0"/>
              <a:buChar char="•"/>
            </a:pPr>
            <a:r>
              <a:rPr lang="en-AU" sz="1200" kern="1200" dirty="0" smtClean="0">
                <a:solidFill>
                  <a:schemeClr val="tx1"/>
                </a:solidFill>
                <a:ea typeface="+mn-ea"/>
                <a:cs typeface="+mn-cs"/>
              </a:rPr>
              <a:t>Create additional habitat to encourage the growth and development in numbers and species of flora and fauna</a:t>
            </a:r>
          </a:p>
          <a:p>
            <a:pPr marL="628650" lvl="1" indent="-171450">
              <a:buFont typeface="Arial" pitchFamily="34" charset="0"/>
              <a:buChar char="•"/>
            </a:pPr>
            <a:r>
              <a:rPr lang="en-AU" sz="1200" kern="1200" dirty="0" smtClean="0">
                <a:solidFill>
                  <a:schemeClr val="tx1"/>
                </a:solidFill>
                <a:ea typeface="+mn-ea"/>
                <a:cs typeface="+mn-cs"/>
              </a:rPr>
              <a:t>Rehabilitate damaged land</a:t>
            </a:r>
          </a:p>
          <a:p>
            <a:pPr marL="628650" lvl="1" indent="-171450">
              <a:buFont typeface="Arial" pitchFamily="34" charset="0"/>
              <a:buChar char="•"/>
            </a:pPr>
            <a:r>
              <a:rPr lang="en-AU" sz="1200" kern="1200" dirty="0" smtClean="0">
                <a:solidFill>
                  <a:schemeClr val="tx1"/>
                </a:solidFill>
                <a:ea typeface="+mn-ea"/>
                <a:cs typeface="+mn-cs"/>
              </a:rPr>
              <a:t>Protect existing areas from damage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407502749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negative ecological environmental impacts:</a:t>
            </a:r>
          </a:p>
          <a:p>
            <a:pPr marL="171450" indent="-171450">
              <a:buFont typeface="Arial" pitchFamily="34" charset="0"/>
              <a:buChar char="•"/>
            </a:pPr>
            <a:r>
              <a:rPr lang="en-AU" sz="1200" kern="1200" dirty="0" smtClean="0">
                <a:solidFill>
                  <a:schemeClr val="tx1"/>
                </a:solidFill>
                <a:ea typeface="+mn-ea"/>
                <a:cs typeface="+mn-cs"/>
              </a:rPr>
              <a:t>Damage to flora – which may be:</a:t>
            </a:r>
          </a:p>
          <a:p>
            <a:pPr marL="628650" lvl="1" indent="-171450">
              <a:buFont typeface="Arial" pitchFamily="34" charset="0"/>
              <a:buChar char="•"/>
            </a:pPr>
            <a:r>
              <a:rPr lang="en-AU" sz="1200" kern="1200" dirty="0" smtClean="0">
                <a:solidFill>
                  <a:schemeClr val="tx1"/>
                </a:solidFill>
                <a:ea typeface="+mn-ea"/>
                <a:cs typeface="+mn-cs"/>
              </a:rPr>
              <a:t>Trampled by foot and vehicle traffic</a:t>
            </a:r>
          </a:p>
          <a:p>
            <a:pPr marL="628650" lvl="1" indent="-171450">
              <a:buFont typeface="Arial" pitchFamily="34" charset="0"/>
              <a:buChar char="•"/>
            </a:pPr>
            <a:r>
              <a:rPr lang="en-AU" sz="1200" kern="1200" dirty="0" smtClean="0">
                <a:solidFill>
                  <a:schemeClr val="tx1"/>
                </a:solidFill>
                <a:ea typeface="+mn-ea"/>
                <a:cs typeface="+mn-cs"/>
              </a:rPr>
              <a:t>Illegally picked/removed</a:t>
            </a:r>
          </a:p>
          <a:p>
            <a:pPr marL="628650" lvl="1" indent="-171450">
              <a:buFont typeface="Arial" pitchFamily="34" charset="0"/>
              <a:buChar char="•"/>
            </a:pPr>
            <a:r>
              <a:rPr lang="en-AU" sz="1200" kern="1200" dirty="0" smtClean="0">
                <a:solidFill>
                  <a:schemeClr val="tx1"/>
                </a:solidFill>
                <a:ea typeface="+mn-ea"/>
                <a:cs typeface="+mn-cs"/>
              </a:rPr>
              <a:t>Overcome by introduced plant-life</a:t>
            </a:r>
          </a:p>
          <a:p>
            <a:pPr marL="171450" indent="-171450">
              <a:buFont typeface="Arial" pitchFamily="34" charset="0"/>
              <a:buChar char="•"/>
            </a:pPr>
            <a:r>
              <a:rPr lang="en-AU" sz="1200" kern="1200" dirty="0" smtClean="0">
                <a:solidFill>
                  <a:schemeClr val="tx1"/>
                </a:solidFill>
                <a:ea typeface="+mn-ea"/>
                <a:cs typeface="+mn-cs"/>
              </a:rPr>
              <a:t>Disturbance to fauna – which may entail them:</a:t>
            </a:r>
          </a:p>
          <a:p>
            <a:pPr marL="628650" lvl="1" indent="-171450">
              <a:buFont typeface="Arial" pitchFamily="34" charset="0"/>
              <a:buChar char="•"/>
            </a:pPr>
            <a:r>
              <a:rPr lang="en-US" sz="1200" kern="1200" dirty="0" smtClean="0">
                <a:solidFill>
                  <a:schemeClr val="tx1"/>
                </a:solidFill>
                <a:ea typeface="+mn-ea"/>
                <a:cs typeface="+mn-cs"/>
              </a:rPr>
              <a:t>Being scared away from the area by the tourist activity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Being hunted by tourists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Being preyed on by feral/exotic species.</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ea typeface="+mn-ea"/>
                <a:cs typeface="+mn-cs"/>
                <a:hlinkClick r:id="rId3"/>
              </a:rPr>
              <a:t>http://crctourism.com.au/wms/upload/resources/bookshop/Ham_ToolEvalInterp.pdf</a:t>
            </a:r>
            <a:r>
              <a:rPr lang="en-AU" sz="1200" kern="1200" dirty="0" smtClean="0">
                <a:solidFill>
                  <a:schemeClr val="tx1"/>
                </a:solidFill>
                <a:ea typeface="+mn-ea"/>
                <a:cs typeface="+mn-cs"/>
              </a:rPr>
              <a:t> - Development of a Research-Based Tool for Evaluating Interpretation</a:t>
            </a:r>
          </a:p>
          <a:p>
            <a:r>
              <a:rPr lang="en-AU" sz="1200" u="sng" kern="1200" dirty="0" smtClean="0">
                <a:solidFill>
                  <a:schemeClr val="tx1"/>
                </a:solidFill>
                <a:ea typeface="+mn-ea"/>
                <a:cs typeface="+mn-cs"/>
                <a:hlinkClick r:id="rId4"/>
              </a:rPr>
              <a:t>http://www.nzcycletrail.com/sites/default/files/uploads/NZCT%20Final%20Report%20-%20Angus%20and%20Angus.pdf</a:t>
            </a:r>
            <a:r>
              <a:rPr lang="en-AU" sz="1200" kern="1200" dirty="0" smtClean="0">
                <a:solidFill>
                  <a:schemeClr val="tx1"/>
                </a:solidFill>
                <a:ea typeface="+mn-ea"/>
                <a:cs typeface="+mn-cs"/>
              </a:rPr>
              <a:t> – Final Report: New Zealand Cycle Trail Evaluation – Train Case Studies.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83823656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positive economic impacts:</a:t>
            </a:r>
          </a:p>
          <a:p>
            <a:pPr marL="171450" indent="-171450">
              <a:buFont typeface="Arial" pitchFamily="34" charset="0"/>
              <a:buChar char="•"/>
            </a:pPr>
            <a:r>
              <a:rPr lang="en-AU" sz="1200" kern="1200" dirty="0" smtClean="0">
                <a:solidFill>
                  <a:schemeClr val="tx1"/>
                </a:solidFill>
                <a:ea typeface="+mn-ea"/>
                <a:cs typeface="+mn-cs"/>
              </a:rPr>
              <a:t>Increased employment opportunities for local population – giving:</a:t>
            </a:r>
          </a:p>
          <a:p>
            <a:pPr marL="628650" lvl="1" indent="-171450">
              <a:buFont typeface="Arial" pitchFamily="34" charset="0"/>
              <a:buChar char="•"/>
            </a:pPr>
            <a:r>
              <a:rPr lang="en-US" sz="1200" kern="1200" dirty="0" smtClean="0">
                <a:solidFill>
                  <a:schemeClr val="tx1"/>
                </a:solidFill>
                <a:ea typeface="+mn-ea"/>
                <a:cs typeface="+mn-cs"/>
              </a:rPr>
              <a:t>Higher levels of disposable income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Improved standards of living from a material perspective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Increased investment in the local area – which:</a:t>
            </a:r>
          </a:p>
          <a:p>
            <a:pPr marL="628650" lvl="1" indent="-171450">
              <a:buFont typeface="Arial" pitchFamily="34" charset="0"/>
              <a:buChar char="•"/>
            </a:pPr>
            <a:r>
              <a:rPr lang="en-US" sz="1200" kern="1200" dirty="0" smtClean="0">
                <a:solidFill>
                  <a:schemeClr val="tx1"/>
                </a:solidFill>
                <a:ea typeface="+mn-ea"/>
                <a:cs typeface="+mn-cs"/>
              </a:rPr>
              <a:t>Generates all the benefits of the multiplier effect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Tends to be self-perpetuating in that one lot of investment often attracts more investment from other parties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Increased local revenue – which has flow-on effects on:</a:t>
            </a:r>
          </a:p>
          <a:p>
            <a:pPr marL="628650" lvl="1" indent="-171450">
              <a:buFont typeface="Arial" pitchFamily="34" charset="0"/>
              <a:buChar char="•"/>
            </a:pPr>
            <a:r>
              <a:rPr lang="en-US" sz="1200" kern="1200" dirty="0" smtClean="0">
                <a:solidFill>
                  <a:schemeClr val="tx1"/>
                </a:solidFill>
                <a:ea typeface="+mn-ea"/>
                <a:cs typeface="+mn-cs"/>
              </a:rPr>
              <a:t>Foreign exchange earnings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Taxation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Local spending potential on local facilities.</a:t>
            </a:r>
            <a:endParaRPr lang="en-AU" sz="1200" kern="1200" dirty="0" smtClean="0">
              <a:solidFill>
                <a:schemeClr val="tx1"/>
              </a:solidFill>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16333738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negative economic environmental impacts:</a:t>
            </a:r>
          </a:p>
          <a:p>
            <a:pPr marL="171450" indent="-171450">
              <a:buFont typeface="Arial" pitchFamily="34" charset="0"/>
              <a:buChar char="•"/>
            </a:pPr>
            <a:r>
              <a:rPr lang="en-AU" sz="1200" kern="1200" dirty="0" smtClean="0">
                <a:solidFill>
                  <a:schemeClr val="tx1"/>
                </a:solidFill>
                <a:ea typeface="+mn-ea"/>
                <a:cs typeface="+mn-cs"/>
              </a:rPr>
              <a:t>Potential for unacceptable levels of inflation – as prices of local commodities (food, housing, land, resources) increase as a result of the standard economic ‘supply and demand’ principle</a:t>
            </a:r>
          </a:p>
          <a:p>
            <a:pPr marL="171450" indent="-171450">
              <a:buFont typeface="Arial" pitchFamily="34" charset="0"/>
              <a:buChar char="•"/>
            </a:pPr>
            <a:r>
              <a:rPr lang="en-AU" sz="1200" kern="1200" dirty="0" smtClean="0">
                <a:solidFill>
                  <a:schemeClr val="tx1"/>
                </a:solidFill>
                <a:ea typeface="+mn-ea"/>
                <a:cs typeface="+mn-cs"/>
              </a:rPr>
              <a:t>Diversion of a country’s limited funds from other necessary projects towards tourism activities – thereby causing increased hardship on locals</a:t>
            </a:r>
          </a:p>
          <a:p>
            <a:pPr marL="171450" indent="-171450">
              <a:buFont typeface="Arial" pitchFamily="34" charset="0"/>
              <a:buChar char="•"/>
            </a:pPr>
            <a:r>
              <a:rPr lang="en-AU" sz="1200" kern="1200" dirty="0" smtClean="0">
                <a:solidFill>
                  <a:schemeClr val="tx1"/>
                </a:solidFill>
                <a:ea typeface="+mn-ea"/>
                <a:cs typeface="+mn-cs"/>
              </a:rPr>
              <a:t>Problems resulting from ‘too much’ reliance on tourism income when there is an unexpected and dramatic downturn in tourist numbers/spending.</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170561816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positive cultural impacts:</a:t>
            </a:r>
          </a:p>
          <a:p>
            <a:pPr marL="171450" indent="-171450">
              <a:buFont typeface="Arial" pitchFamily="34" charset="0"/>
              <a:buChar char="•"/>
            </a:pPr>
            <a:r>
              <a:rPr lang="en-AU" sz="1200" kern="1200" dirty="0" smtClean="0">
                <a:solidFill>
                  <a:schemeClr val="tx1"/>
                </a:solidFill>
                <a:ea typeface="+mn-ea"/>
                <a:cs typeface="+mn-cs"/>
              </a:rPr>
              <a:t>Sharing of culture with the wider community – which can bring greater recognition to communities regarding their rites, celebrations and their unique nature which serves to generate greater interest in the area and attract more tourists, </a:t>
            </a:r>
          </a:p>
          <a:p>
            <a:pPr marL="171450" indent="-171450">
              <a:buFont typeface="Arial" pitchFamily="34" charset="0"/>
              <a:buChar char="•"/>
            </a:pPr>
            <a:r>
              <a:rPr lang="en-AU" sz="1200" kern="1200" dirty="0" smtClean="0">
                <a:solidFill>
                  <a:schemeClr val="tx1"/>
                </a:solidFill>
                <a:ea typeface="+mn-ea"/>
                <a:cs typeface="+mn-cs"/>
              </a:rPr>
              <a:t>Better understanding of culture amongst other communities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375075660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possible negative cultural environmental impacts:</a:t>
            </a:r>
          </a:p>
          <a:p>
            <a:pPr marL="171450" indent="-171450">
              <a:buFont typeface="Arial" pitchFamily="34" charset="0"/>
              <a:buChar char="•"/>
            </a:pPr>
            <a:r>
              <a:rPr lang="en-AU" sz="1200" kern="1200" dirty="0" smtClean="0">
                <a:solidFill>
                  <a:schemeClr val="tx1"/>
                </a:solidFill>
                <a:ea typeface="+mn-ea"/>
                <a:cs typeface="+mn-cs"/>
              </a:rPr>
              <a:t>Trivialisation of the culture – and exploitation of it for commercial gain and to satisfy the interests of outsiders</a:t>
            </a:r>
          </a:p>
          <a:p>
            <a:pPr marL="171450" indent="-171450">
              <a:buFont typeface="Arial" pitchFamily="34" charset="0"/>
              <a:buChar char="•"/>
            </a:pPr>
            <a:r>
              <a:rPr lang="en-AU" sz="1200" kern="1200" dirty="0" smtClean="0">
                <a:solidFill>
                  <a:schemeClr val="tx1"/>
                </a:solidFill>
                <a:ea typeface="+mn-ea"/>
                <a:cs typeface="+mn-cs"/>
              </a:rPr>
              <a:t>Offence (often unintended) given to locals by the comments, dress and behaviour of visitors</a:t>
            </a:r>
          </a:p>
          <a:p>
            <a:pPr marL="171450" indent="-171450">
              <a:buFont typeface="Arial" pitchFamily="34" charset="0"/>
              <a:buChar char="•"/>
            </a:pPr>
            <a:r>
              <a:rPr lang="en-AU" sz="1200" kern="1200" dirty="0" smtClean="0">
                <a:solidFill>
                  <a:schemeClr val="tx1"/>
                </a:solidFill>
                <a:ea typeface="+mn-ea"/>
                <a:cs typeface="+mn-cs"/>
              </a:rPr>
              <a:t>Potential for established culture to be altered against the will of and despite the activities of the local community – such as the so-called ‘Westernisation’ of communities and a diminution on the importance of family. </a:t>
            </a:r>
          </a:p>
          <a:p>
            <a:pPr>
              <a:buFont typeface="Arial" pitchFamily="34" charset="0"/>
              <a:buNone/>
            </a:pPr>
            <a:endParaRPr lang="en-AU" noProof="0" dirty="0" smtClean="0"/>
          </a:p>
          <a:p>
            <a:pPr>
              <a:buFont typeface="Arial" pitchFamily="34" charset="0"/>
              <a:buNone/>
            </a:pPr>
            <a:r>
              <a:rPr lang="en-US" b="1" noProof="0" dirty="0" smtClean="0"/>
              <a:t>Classroom Activity – Internet Research</a:t>
            </a:r>
          </a:p>
          <a:p>
            <a:pPr>
              <a:buFont typeface="Arial" pitchFamily="34" charset="0"/>
              <a:buNone/>
            </a:pPr>
            <a:r>
              <a:rPr lang="en-US" b="0" noProof="0" dirty="0" smtClean="0"/>
              <a:t>Trainer facilitates research and discussion of:</a:t>
            </a:r>
          </a:p>
          <a:p>
            <a:r>
              <a:rPr lang="en-AU" sz="1200" u="sng" kern="1200" dirty="0" smtClean="0">
                <a:solidFill>
                  <a:schemeClr val="tx1"/>
                </a:solidFill>
                <a:ea typeface="+mn-ea"/>
                <a:cs typeface="+mn-cs"/>
                <a:hlinkClick r:id="rId3"/>
              </a:rPr>
              <a:t>http://unesdoc.unesco.org/images/0018/001826/182646e.pdf</a:t>
            </a:r>
            <a:r>
              <a:rPr lang="en-AU" sz="1200" kern="1200" dirty="0" smtClean="0">
                <a:solidFill>
                  <a:schemeClr val="tx1"/>
                </a:solidFill>
                <a:ea typeface="+mn-ea"/>
                <a:cs typeface="+mn-cs"/>
              </a:rPr>
              <a:t> - The effects of tourism on culture and the environment in Asia and the Pacific</a:t>
            </a:r>
          </a:p>
          <a:p>
            <a:r>
              <a:rPr lang="en-AU" sz="1200" u="sng" kern="1200" dirty="0" smtClean="0">
                <a:solidFill>
                  <a:schemeClr val="tx1"/>
                </a:solidFill>
                <a:ea typeface="+mn-ea"/>
                <a:cs typeface="+mn-cs"/>
                <a:hlinkClick r:id="rId4"/>
              </a:rPr>
              <a:t>http://www.slideshare.net/ejaysamson/sociocultural-impacts-of-tourism</a:t>
            </a:r>
            <a:r>
              <a:rPr lang="en-AU" sz="1200" kern="1200" dirty="0" smtClean="0">
                <a:solidFill>
                  <a:schemeClr val="tx1"/>
                </a:solidFill>
                <a:ea typeface="+mn-ea"/>
                <a:cs typeface="+mn-cs"/>
              </a:rPr>
              <a:t> - Socio-cultural impacts of tourism.</a:t>
            </a:r>
          </a:p>
          <a:p>
            <a:pPr>
              <a:buFont typeface="Arial" pitchFamily="34" charset="0"/>
              <a:buNone/>
            </a:pP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1800070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ea typeface="+mn-ea"/>
                <a:cs typeface="+mn-cs"/>
              </a:rPr>
              <a:t>following the evaluation of a trial it is important to understand:</a:t>
            </a:r>
          </a:p>
          <a:p>
            <a:pPr marL="171450" indent="-171450">
              <a:buFont typeface="Arial" pitchFamily="34" charset="0"/>
              <a:buChar char="•"/>
            </a:pPr>
            <a:r>
              <a:rPr lang="en-AU" sz="1200" kern="1200" dirty="0" smtClean="0">
                <a:solidFill>
                  <a:schemeClr val="tx1"/>
                </a:solidFill>
                <a:ea typeface="+mn-ea"/>
                <a:cs typeface="+mn-cs"/>
              </a:rPr>
              <a:t>The findings of the evaluation must be used to guide future action – these finding cannot be ignored and must not be manipulated to make them fit/accommodate pre-determined ends or objectives</a:t>
            </a:r>
          </a:p>
          <a:p>
            <a:pPr marL="171450" indent="-171450">
              <a:buFont typeface="Arial" pitchFamily="34" charset="0"/>
              <a:buChar char="•"/>
            </a:pPr>
            <a:r>
              <a:rPr lang="en-AU" sz="1200" kern="1200" dirty="0" smtClean="0">
                <a:solidFill>
                  <a:schemeClr val="tx1"/>
                </a:solidFill>
                <a:ea typeface="+mn-ea"/>
                <a:cs typeface="+mn-cs"/>
              </a:rPr>
              <a:t>Involvement of stakeholders must continue – their inclusion in the project needs to be of an ongoing and remain characterised by transparency and honesty </a:t>
            </a:r>
          </a:p>
          <a:p>
            <a:pPr marL="171450" indent="-171450">
              <a:buFont typeface="Arial" pitchFamily="34" charset="0"/>
              <a:buChar char="•"/>
            </a:pPr>
            <a:r>
              <a:rPr lang="en-AU" sz="1200" kern="1200" dirty="0" smtClean="0">
                <a:solidFill>
                  <a:schemeClr val="tx1"/>
                </a:solidFill>
                <a:ea typeface="+mn-ea"/>
                <a:cs typeface="+mn-cs"/>
              </a:rPr>
              <a:t>There can be a need to run a supplementary trial – where the evidence and/or evaluation proved to be:</a:t>
            </a:r>
          </a:p>
          <a:p>
            <a:pPr marL="628650" lvl="1" indent="-171450">
              <a:buFont typeface="Arial" pitchFamily="34" charset="0"/>
              <a:buChar char="•"/>
            </a:pPr>
            <a:r>
              <a:rPr lang="en-AU" sz="1200" kern="1200" dirty="0" smtClean="0">
                <a:solidFill>
                  <a:schemeClr val="tx1"/>
                </a:solidFill>
                <a:ea typeface="+mn-ea"/>
                <a:cs typeface="+mn-cs"/>
              </a:rPr>
              <a:t>Lacking the detail required in relation to the identified criteria and parameters</a:t>
            </a:r>
          </a:p>
          <a:p>
            <a:pPr marL="628650" lvl="1" indent="-171450">
              <a:buFont typeface="Arial" pitchFamily="34" charset="0"/>
              <a:buChar char="•"/>
            </a:pPr>
            <a:r>
              <a:rPr lang="en-AU" sz="1200" kern="1200" dirty="0" smtClean="0">
                <a:solidFill>
                  <a:schemeClr val="tx1"/>
                </a:solidFill>
                <a:ea typeface="+mn-ea"/>
                <a:cs typeface="+mn-cs"/>
              </a:rPr>
              <a:t>Insufficient to allow decisions to be made </a:t>
            </a:r>
          </a:p>
          <a:p>
            <a:pPr marL="628650" lvl="1" indent="-171450">
              <a:buFont typeface="Arial" pitchFamily="34" charset="0"/>
              <a:buChar char="•"/>
            </a:pPr>
            <a:r>
              <a:rPr lang="en-AU" sz="1200" kern="1200" dirty="0" smtClean="0">
                <a:solidFill>
                  <a:schemeClr val="tx1"/>
                </a:solidFill>
                <a:ea typeface="+mn-ea"/>
                <a:cs typeface="+mn-cs"/>
              </a:rPr>
              <a:t>Significantly controversial</a:t>
            </a:r>
          </a:p>
          <a:p>
            <a:pPr marL="628650" lvl="1" indent="-171450">
              <a:buFont typeface="Arial" pitchFamily="34" charset="0"/>
              <a:buChar char="•"/>
            </a:pPr>
            <a:r>
              <a:rPr lang="en-AU" sz="1200" kern="1200" dirty="0" smtClean="0">
                <a:solidFill>
                  <a:schemeClr val="tx1"/>
                </a:solidFill>
                <a:ea typeface="+mn-ea"/>
                <a:cs typeface="+mn-cs"/>
              </a:rPr>
              <a:t>Obviously flawed.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9368850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it </a:t>
            </a:r>
            <a:r>
              <a:rPr lang="en-AU" sz="1200" kern="1200" dirty="0" smtClean="0">
                <a:solidFill>
                  <a:schemeClr val="tx1"/>
                </a:solidFill>
                <a:ea typeface="+mn-ea"/>
                <a:cs typeface="+mn-cs"/>
              </a:rPr>
              <a:t>is possible, based on the finding of the evaluation of the trial there can be a need to:</a:t>
            </a:r>
          </a:p>
          <a:p>
            <a:pPr marL="171450" indent="-171450">
              <a:buFont typeface="Arial" pitchFamily="34" charset="0"/>
              <a:buChar char="•"/>
            </a:pPr>
            <a:r>
              <a:rPr lang="en-AU" sz="1200" kern="1200" dirty="0" smtClean="0">
                <a:solidFill>
                  <a:schemeClr val="tx1"/>
                </a:solidFill>
                <a:ea typeface="+mn-ea"/>
                <a:cs typeface="+mn-cs"/>
              </a:rPr>
              <a:t>Cancel the proposed activity/operation – Tourism Operators must be prepared to do this if the data from the trial indicates the initiative:</a:t>
            </a:r>
          </a:p>
          <a:p>
            <a:pPr marL="628650" lvl="1" indent="-171450">
              <a:buFont typeface="Arial" pitchFamily="34" charset="0"/>
              <a:buChar char="•"/>
            </a:pPr>
            <a:r>
              <a:rPr lang="en-AU" sz="1200" kern="1200" dirty="0" smtClean="0">
                <a:solidFill>
                  <a:schemeClr val="tx1"/>
                </a:solidFill>
                <a:ea typeface="+mn-ea"/>
                <a:cs typeface="+mn-cs"/>
              </a:rPr>
              <a:t>Will have significant/unacceptable impacts on the area and/or local community</a:t>
            </a:r>
          </a:p>
          <a:p>
            <a:pPr marL="628650" lvl="1" indent="-171450">
              <a:buFont typeface="Arial" pitchFamily="34" charset="0"/>
              <a:buChar char="•"/>
            </a:pPr>
            <a:r>
              <a:rPr lang="en-AU" sz="1200" kern="1200" dirty="0" smtClean="0">
                <a:solidFill>
                  <a:schemeClr val="tx1"/>
                </a:solidFill>
                <a:ea typeface="+mn-ea"/>
                <a:cs typeface="+mn-cs"/>
              </a:rPr>
              <a:t>Does not have necessary support</a:t>
            </a:r>
          </a:p>
          <a:p>
            <a:pPr marL="171450" indent="-171450">
              <a:buFont typeface="Arial" pitchFamily="34" charset="0"/>
              <a:buChar char="•"/>
            </a:pPr>
            <a:r>
              <a:rPr lang="en-AU" sz="1200" kern="1200" dirty="0" smtClean="0">
                <a:solidFill>
                  <a:schemeClr val="tx1"/>
                </a:solidFill>
                <a:ea typeface="+mn-ea"/>
                <a:cs typeface="+mn-cs"/>
              </a:rPr>
              <a:t>Revise aspects of the plan that were highlighted as negative as a consequence of the trial – this can necessitate:</a:t>
            </a:r>
          </a:p>
          <a:p>
            <a:pPr marL="628650" lvl="1" indent="-171450">
              <a:buFont typeface="Arial" pitchFamily="34" charset="0"/>
              <a:buChar char="•"/>
            </a:pPr>
            <a:r>
              <a:rPr lang="en-AU" sz="1200" kern="1200" dirty="0" smtClean="0">
                <a:solidFill>
                  <a:schemeClr val="tx1"/>
                </a:solidFill>
                <a:ea typeface="+mn-ea"/>
                <a:cs typeface="+mn-cs"/>
              </a:rPr>
              <a:t>Altering the types and nature of tour activities </a:t>
            </a:r>
          </a:p>
          <a:p>
            <a:pPr marL="628650" lvl="1" indent="-171450">
              <a:buFont typeface="Arial" pitchFamily="34" charset="0"/>
              <a:buChar char="•"/>
            </a:pPr>
            <a:r>
              <a:rPr lang="en-AU" sz="1200" kern="1200" dirty="0" smtClean="0">
                <a:solidFill>
                  <a:schemeClr val="tx1"/>
                </a:solidFill>
                <a:ea typeface="+mn-ea"/>
                <a:cs typeface="+mn-cs"/>
              </a:rPr>
              <a:t>Shifting the physical location of routes, sites used and/or interpretive activities</a:t>
            </a:r>
          </a:p>
          <a:p>
            <a:pPr marL="628650" lvl="1" indent="-171450">
              <a:buFont typeface="Arial" pitchFamily="34" charset="0"/>
              <a:buChar char="•"/>
            </a:pPr>
            <a:r>
              <a:rPr lang="en-AU" sz="1200" kern="1200" dirty="0" smtClean="0">
                <a:solidFill>
                  <a:schemeClr val="tx1"/>
                </a:solidFill>
                <a:ea typeface="+mn-ea"/>
                <a:cs typeface="+mn-cs"/>
              </a:rPr>
              <a:t>Varying the size or scope of the proposal</a:t>
            </a:r>
          </a:p>
          <a:p>
            <a:pPr marL="628650" lvl="1" indent="-171450">
              <a:buFont typeface="Arial" pitchFamily="34" charset="0"/>
              <a:buChar char="•"/>
            </a:pPr>
            <a:r>
              <a:rPr lang="en-AU" sz="1200" kern="1200" dirty="0" smtClean="0">
                <a:solidFill>
                  <a:schemeClr val="tx1"/>
                </a:solidFill>
                <a:ea typeface="+mn-ea"/>
                <a:cs typeface="+mn-cs"/>
              </a:rPr>
              <a:t>Changing timing considerations </a:t>
            </a:r>
          </a:p>
          <a:p>
            <a:pPr marL="628650" lvl="1" indent="-171450">
              <a:buFont typeface="Arial" pitchFamily="34" charset="0"/>
              <a:buChar char="•"/>
            </a:pPr>
            <a:r>
              <a:rPr lang="en-AU" sz="1200" kern="1200" dirty="0" smtClean="0">
                <a:solidFill>
                  <a:schemeClr val="tx1"/>
                </a:solidFill>
                <a:ea typeface="+mn-ea"/>
                <a:cs typeface="+mn-cs"/>
              </a:rPr>
              <a:t>Increasing the amount of investment</a:t>
            </a:r>
          </a:p>
          <a:p>
            <a:pPr marL="628650" lvl="1" indent="-171450">
              <a:buFont typeface="Arial" pitchFamily="34" charset="0"/>
              <a:buChar char="•"/>
            </a:pPr>
            <a:r>
              <a:rPr lang="en-AU" sz="1200" kern="1200" dirty="0" smtClean="0">
                <a:solidFill>
                  <a:schemeClr val="tx1"/>
                </a:solidFill>
                <a:ea typeface="+mn-ea"/>
                <a:cs typeface="+mn-cs"/>
              </a:rPr>
              <a:t>Using different personnel</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413792177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possible action required following trial:</a:t>
            </a:r>
          </a:p>
          <a:p>
            <a:pPr marL="171450" indent="-171450">
              <a:buFont typeface="Arial" pitchFamily="34" charset="0"/>
              <a:buChar char="•"/>
            </a:pPr>
            <a:r>
              <a:rPr lang="en-AU" sz="1200" kern="1200" dirty="0" smtClean="0">
                <a:solidFill>
                  <a:schemeClr val="tx1"/>
                </a:solidFill>
                <a:ea typeface="+mn-ea"/>
                <a:cs typeface="+mn-cs"/>
              </a:rPr>
              <a:t>Constrain the impact of the plans – by:</a:t>
            </a:r>
          </a:p>
          <a:p>
            <a:pPr marL="628650" lvl="1" indent="-171450">
              <a:buFont typeface="Arial" pitchFamily="34" charset="0"/>
              <a:buChar char="•"/>
            </a:pPr>
            <a:r>
              <a:rPr lang="en-US" sz="1200" kern="1200" dirty="0" smtClean="0">
                <a:solidFill>
                  <a:schemeClr val="tx1"/>
                </a:solidFill>
                <a:ea typeface="+mn-ea"/>
                <a:cs typeface="+mn-cs"/>
              </a:rPr>
              <a:t>Reducing the area/s visited or involved in the initiative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Lowering numbers in tour groups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Visiting the area on a less frequent basis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Conducting fewer interpretive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Restricting vehicle access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Expand plans for those aspects of the plan that received a positive trial result – which may mean:</a:t>
            </a:r>
          </a:p>
          <a:p>
            <a:pPr marL="628650" lvl="1" indent="-171450">
              <a:buFont typeface="Arial" pitchFamily="34" charset="0"/>
              <a:buChar char="•"/>
            </a:pPr>
            <a:r>
              <a:rPr lang="en-US" sz="1200" kern="1200" dirty="0" smtClean="0">
                <a:solidFill>
                  <a:schemeClr val="tx1"/>
                </a:solidFill>
                <a:ea typeface="+mn-ea"/>
                <a:cs typeface="+mn-cs"/>
              </a:rPr>
              <a:t>Increasing the duration of tours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Extending  the initiative into other areas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Raising tour group numbers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Including extra interpretive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Creating additional sustainable initiatives to be</a:t>
            </a:r>
            <a:r>
              <a:rPr lang="en-AU" sz="1200" kern="1200" dirty="0" smtClean="0">
                <a:solidFill>
                  <a:schemeClr val="tx1"/>
                </a:solidFill>
                <a:ea typeface="+mn-ea"/>
                <a:cs typeface="+mn-cs"/>
              </a:rPr>
              <a:t> trialled</a:t>
            </a:r>
            <a:r>
              <a:rPr lang="en-US" sz="1200" kern="1200" dirty="0" smtClean="0">
                <a:solidFill>
                  <a:schemeClr val="tx1"/>
                </a:solidFill>
                <a:ea typeface="+mn-ea"/>
                <a:cs typeface="+mn-cs"/>
              </a:rPr>
              <a:t> in the same location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Gain necessary approvals and authorisations from key stakeholders for any revised plans which are to be developed – following the same consultative process which has been used to-date.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65804944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91760924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18383694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179223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354833800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might be important considerations involved in implementing minimal impact tourism operations?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do you think would be keys in the process?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pre-requisites should preceded this stage?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would be involved?</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06257872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when </a:t>
            </a:r>
            <a:r>
              <a:rPr lang="en-AU" sz="1200" kern="1200" dirty="0" smtClean="0">
                <a:solidFill>
                  <a:schemeClr val="tx1"/>
                </a:solidFill>
                <a:ea typeface="+mn-ea"/>
                <a:cs typeface="+mn-cs"/>
              </a:rPr>
              <a:t>applying the revised plans for the sustainable tourism initiative it is vital to:</a:t>
            </a:r>
          </a:p>
          <a:p>
            <a:pPr marL="171450" indent="-171450">
              <a:buFont typeface="Arial" pitchFamily="34" charset="0"/>
              <a:buChar char="•"/>
            </a:pPr>
            <a:r>
              <a:rPr lang="en-AU" sz="1200" kern="1200" dirty="0" smtClean="0">
                <a:solidFill>
                  <a:schemeClr val="tx1"/>
                </a:solidFill>
                <a:ea typeface="+mn-ea"/>
                <a:cs typeface="+mn-cs"/>
              </a:rPr>
              <a:t>Confirm the plan has been revised and approved for implementation by relevant stakeholders – this can mean:</a:t>
            </a:r>
          </a:p>
          <a:p>
            <a:pPr marL="628650" lvl="1" indent="-171450">
              <a:buFont typeface="Arial" pitchFamily="34" charset="0"/>
              <a:buChar char="•"/>
            </a:pPr>
            <a:r>
              <a:rPr lang="en-AU" sz="1200" kern="1200" dirty="0" smtClean="0">
                <a:solidFill>
                  <a:schemeClr val="tx1"/>
                </a:solidFill>
                <a:ea typeface="+mn-ea"/>
                <a:cs typeface="+mn-cs"/>
              </a:rPr>
              <a:t>Sighting an appropriately signed document</a:t>
            </a:r>
          </a:p>
          <a:p>
            <a:pPr marL="628650" lvl="1" indent="-171450">
              <a:buFont typeface="Arial" pitchFamily="34" charset="0"/>
              <a:buChar char="•"/>
            </a:pPr>
            <a:r>
              <a:rPr lang="en-AU" sz="1200" kern="1200" dirty="0" smtClean="0">
                <a:solidFill>
                  <a:schemeClr val="tx1"/>
                </a:solidFill>
                <a:ea typeface="+mn-ea"/>
                <a:cs typeface="+mn-cs"/>
              </a:rPr>
              <a:t>Attending a stakeholder meeting and obtaining permission/vote to proceed with the revised plan </a:t>
            </a:r>
          </a:p>
          <a:p>
            <a:pPr marL="171450" indent="-171450">
              <a:buFont typeface="Arial" pitchFamily="34" charset="0"/>
              <a:buChar char="•"/>
            </a:pPr>
            <a:r>
              <a:rPr lang="en-AU" sz="1200" kern="1200" dirty="0" smtClean="0">
                <a:solidFill>
                  <a:schemeClr val="tx1"/>
                </a:solidFill>
                <a:ea typeface="+mn-ea"/>
                <a:cs typeface="+mn-cs"/>
              </a:rPr>
              <a:t>Share the revised plans – which can require:</a:t>
            </a:r>
          </a:p>
          <a:p>
            <a:pPr marL="628650" lvl="1" indent="-171450">
              <a:buFont typeface="Arial" pitchFamily="34" charset="0"/>
              <a:buChar char="•"/>
            </a:pPr>
            <a:r>
              <a:rPr lang="en-US" sz="1200" kern="1200" dirty="0" smtClean="0">
                <a:solidFill>
                  <a:schemeClr val="tx1"/>
                </a:solidFill>
                <a:ea typeface="+mn-ea"/>
                <a:cs typeface="+mn-cs"/>
              </a:rPr>
              <a:t>Involving the media by advising them of progress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Inviting media to participate in a reviewed activity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Going into local communities to talk to them and distribute copies of new plans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Communicating revised plans to general public – by (for example) posting on organisational website, and advertising in the media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Implement the plans as revised – which means:</a:t>
            </a:r>
          </a:p>
          <a:p>
            <a:pPr marL="628650" lvl="1" indent="-171450">
              <a:buFont typeface="Arial" pitchFamily="34" charset="0"/>
              <a:buChar char="•"/>
            </a:pPr>
            <a:r>
              <a:rPr lang="en-AU" sz="1200" kern="1200" dirty="0" smtClean="0">
                <a:solidFill>
                  <a:schemeClr val="tx1"/>
                </a:solidFill>
                <a:ea typeface="+mn-ea"/>
                <a:cs typeface="+mn-cs"/>
              </a:rPr>
              <a:t>Adhering strictly to the requirements of the revised plan</a:t>
            </a:r>
          </a:p>
          <a:p>
            <a:pPr marL="628650" lvl="1" indent="-171450">
              <a:buFont typeface="Arial" pitchFamily="34" charset="0"/>
              <a:buChar char="•"/>
            </a:pPr>
            <a:r>
              <a:rPr lang="en-AU" sz="1200" kern="1200" dirty="0" smtClean="0">
                <a:solidFill>
                  <a:schemeClr val="tx1"/>
                </a:solidFill>
                <a:ea typeface="+mn-ea"/>
                <a:cs typeface="+mn-cs"/>
              </a:rPr>
              <a:t>Not straying off track and ‘inadvertently’ returning to actions and activities in the draft/pilot plan</a:t>
            </a:r>
          </a:p>
          <a:p>
            <a:pPr marL="628650" lvl="1" indent="-171450">
              <a:buFont typeface="Arial" pitchFamily="34" charset="0"/>
              <a:buChar char="•"/>
            </a:pPr>
            <a:r>
              <a:rPr lang="en-AU" sz="1200" kern="1200" dirty="0" smtClean="0">
                <a:solidFill>
                  <a:schemeClr val="tx1"/>
                </a:solidFill>
                <a:ea typeface="+mn-ea"/>
                <a:cs typeface="+mn-cs"/>
              </a:rPr>
              <a:t>Resourcing activities as necessary to ensure the plan for the initiative can be applied as intended</a:t>
            </a:r>
          </a:p>
          <a:p>
            <a:pPr marL="628650" lvl="1" indent="-171450">
              <a:buFont typeface="Arial" pitchFamily="34" charset="0"/>
              <a:buChar char="•"/>
            </a:pPr>
            <a:r>
              <a:rPr lang="en-AU" sz="1200" kern="1200" dirty="0" smtClean="0">
                <a:solidFill>
                  <a:schemeClr val="tx1"/>
                </a:solidFill>
                <a:ea typeface="+mn-ea"/>
                <a:cs typeface="+mn-cs"/>
              </a:rPr>
              <a:t>Using nominated personnel, communities, locations, activities, access routes, dates and times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467847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to identify requirements when implementing revised plans:</a:t>
            </a:r>
          </a:p>
          <a:p>
            <a:pPr marL="171450" indent="-171450">
              <a:buFont typeface="Arial" pitchFamily="34" charset="0"/>
              <a:buChar char="•"/>
            </a:pPr>
            <a:r>
              <a:rPr lang="en-AU" sz="1200" kern="1200" dirty="0" smtClean="0">
                <a:solidFill>
                  <a:schemeClr val="tx1"/>
                </a:solidFill>
                <a:ea typeface="+mn-ea"/>
                <a:cs typeface="+mn-cs"/>
              </a:rPr>
              <a:t>Use minimal impact techniques – these will depend on the individual initiative but can involve or provide opportunity for:</a:t>
            </a:r>
          </a:p>
          <a:p>
            <a:pPr marL="628650" lvl="1" indent="-171450">
              <a:buFont typeface="Arial" pitchFamily="34" charset="0"/>
              <a:buChar char="•"/>
            </a:pPr>
            <a:r>
              <a:rPr lang="en-AU" sz="1200" kern="1200" dirty="0" smtClean="0">
                <a:solidFill>
                  <a:schemeClr val="tx1"/>
                </a:solidFill>
                <a:ea typeface="+mn-ea"/>
                <a:cs typeface="+mn-cs"/>
              </a:rPr>
              <a:t>Providing suitable education on appropriate </a:t>
            </a:r>
            <a:r>
              <a:rPr lang="en-US" sz="1200" kern="1200" dirty="0" smtClean="0">
                <a:solidFill>
                  <a:schemeClr val="tx1"/>
                </a:solidFill>
                <a:ea typeface="+mn-ea"/>
                <a:cs typeface="+mn-cs"/>
              </a:rPr>
              <a:t>behaviour for tour leaders/staff and tour group members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Undertaking necessary site hardening to enable sites to cater for the known or expected visitor numbers – this may involve construction of buildings, putting hard surfaces on tracks to protect against erosion, or surfacing of roads,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Applying technological solutions to identified problems – as appropriate to each type of challenge/difficulty identified: which may involve for example: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use of solar energy to provide power</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use of ICT and mobile technologies to disseminate/provide visitor information – instead of paper-based materials/handouts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Restricting or limiting access to sites and areas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Staged authenticity – where events and activities are re-created in a managed/controlled way and presented as an ‘authentic’ representation of the real/actual event/s thus: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protecting the privacy of local communities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enabling issues relating to unwanted intrusion to be dealt with</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allowing more people/’everyone’ to see or experience the event/s ,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Align with the six ASEAN Tourism Standards – as described previously</a:t>
            </a:r>
          </a:p>
          <a:p>
            <a:pPr marL="171450" indent="-171450">
              <a:buFont typeface="Arial" pitchFamily="34" charset="0"/>
              <a:buChar char="•"/>
            </a:pPr>
            <a:r>
              <a:rPr lang="en-AU" sz="1200" kern="1200" dirty="0" smtClean="0">
                <a:solidFill>
                  <a:schemeClr val="tx1"/>
                </a:solidFill>
                <a:ea typeface="+mn-ea"/>
                <a:cs typeface="+mn-cs"/>
              </a:rPr>
              <a:t>Liaise with key stakeholders by communicating frequently with them via meetings and other identified/preferred methods of contact – to:</a:t>
            </a:r>
          </a:p>
          <a:p>
            <a:pPr marL="628650" lvl="1" indent="-171450">
              <a:buFont typeface="Arial" pitchFamily="34" charset="0"/>
              <a:buChar char="•"/>
            </a:pPr>
            <a:r>
              <a:rPr lang="en-US" sz="1200" kern="1200" dirty="0" smtClean="0">
                <a:solidFill>
                  <a:schemeClr val="tx1"/>
                </a:solidFill>
                <a:ea typeface="+mn-ea"/>
                <a:cs typeface="+mn-cs"/>
              </a:rPr>
              <a:t>Ensure ongoing support and positive relationships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Solicit stakeholders feedback and input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Share problems and issues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 help from stakeholders to resolve problems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Communicate progress reports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Respond appropriately to problems and comments.</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385142805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there </a:t>
            </a:r>
            <a:r>
              <a:rPr lang="en-AU" sz="1200" kern="1200" dirty="0" smtClean="0">
                <a:solidFill>
                  <a:schemeClr val="tx1"/>
                </a:solidFill>
                <a:ea typeface="+mn-ea"/>
                <a:cs typeface="+mn-cs"/>
              </a:rPr>
              <a:t>is a need to conduct sustainable tourism initiatives in a way that encourages others to do the same in order to:</a:t>
            </a:r>
          </a:p>
          <a:p>
            <a:pPr marL="171450" indent="-171450">
              <a:buFont typeface="Arial" pitchFamily="34" charset="0"/>
              <a:buChar char="•"/>
            </a:pPr>
            <a:r>
              <a:rPr lang="en-AU" sz="1200" kern="1200" dirty="0" smtClean="0">
                <a:solidFill>
                  <a:schemeClr val="tx1"/>
                </a:solidFill>
                <a:ea typeface="+mn-ea"/>
                <a:cs typeface="+mn-cs"/>
              </a:rPr>
              <a:t>Demonstrate the professionalism of the organisation – to the wider community</a:t>
            </a:r>
          </a:p>
          <a:p>
            <a:pPr marL="171450" indent="-171450">
              <a:buFont typeface="Arial" pitchFamily="34" charset="0"/>
              <a:buChar char="•"/>
            </a:pPr>
            <a:r>
              <a:rPr lang="en-AU" sz="1200" kern="1200" dirty="0" smtClean="0">
                <a:solidFill>
                  <a:schemeClr val="tx1"/>
                </a:solidFill>
                <a:ea typeface="+mn-ea"/>
                <a:cs typeface="+mn-cs"/>
              </a:rPr>
              <a:t>Show genuine commitment to ‘sustainability’ – by doing ‘a little bit extra’ than the minimum that is required</a:t>
            </a:r>
          </a:p>
          <a:p>
            <a:pPr marL="171450" indent="-171450">
              <a:buFont typeface="Arial" pitchFamily="34" charset="0"/>
              <a:buChar char="•"/>
            </a:pPr>
            <a:r>
              <a:rPr lang="en-AU" sz="1200" kern="1200" dirty="0" smtClean="0">
                <a:solidFill>
                  <a:schemeClr val="tx1"/>
                </a:solidFill>
                <a:ea typeface="+mn-ea"/>
                <a:cs typeface="+mn-cs"/>
              </a:rPr>
              <a:t>Demonstrate transparency – in the entire implementation process by proving the organisation is prepared to let other see what they are doing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218564138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reasons to </a:t>
            </a:r>
            <a:r>
              <a:rPr lang="en-US" sz="1200" dirty="0" smtClean="0">
                <a:latin typeface="Helvetica" pitchFamily="34" charset="0"/>
              </a:rPr>
              <a:t>conduct </a:t>
            </a:r>
            <a:r>
              <a:rPr lang="en-AU" sz="1200" dirty="0" smtClean="0">
                <a:latin typeface="Helvetica" pitchFamily="34" charset="0"/>
              </a:rPr>
              <a:t>sustainable tourism initiatives in a way that encourages others to do the same:</a:t>
            </a:r>
          </a:p>
          <a:p>
            <a:pPr marL="171450" indent="-171450">
              <a:buFont typeface="Arial" pitchFamily="34" charset="0"/>
              <a:buChar char="•"/>
            </a:pPr>
            <a:r>
              <a:rPr lang="en-AU" sz="1200" kern="1200" dirty="0" smtClean="0">
                <a:solidFill>
                  <a:schemeClr val="tx1"/>
                </a:solidFill>
                <a:ea typeface="+mn-ea"/>
                <a:cs typeface="+mn-cs"/>
              </a:rPr>
              <a:t>Prove organisational interest in ‘sustainability’ is ongoing – and not just focussed on </a:t>
            </a:r>
            <a:r>
              <a:rPr lang="en-AU" sz="1200" i="1" kern="1200" dirty="0" smtClean="0">
                <a:solidFill>
                  <a:schemeClr val="tx1"/>
                </a:solidFill>
                <a:ea typeface="+mn-ea"/>
                <a:cs typeface="+mn-cs"/>
              </a:rPr>
              <a:t>this</a:t>
            </a:r>
            <a:r>
              <a:rPr lang="en-AU" sz="1200" kern="1200" dirty="0" smtClean="0">
                <a:solidFill>
                  <a:schemeClr val="tx1"/>
                </a:solidFill>
                <a:ea typeface="+mn-ea"/>
                <a:cs typeface="+mn-cs"/>
              </a:rPr>
              <a:t> initiative</a:t>
            </a:r>
          </a:p>
          <a:p>
            <a:pPr marL="171450" indent="-171450">
              <a:buFont typeface="Arial" pitchFamily="34" charset="0"/>
              <a:buChar char="•"/>
            </a:pPr>
            <a:r>
              <a:rPr lang="en-AU" sz="1200" kern="1200" dirty="0" smtClean="0">
                <a:solidFill>
                  <a:schemeClr val="tx1"/>
                </a:solidFill>
                <a:ea typeface="+mn-ea"/>
                <a:cs typeface="+mn-cs"/>
              </a:rPr>
              <a:t>Attract public attention to the areas/issues of concern – and highlight how these are being effectively addressed  </a:t>
            </a:r>
          </a:p>
          <a:p>
            <a:pPr marL="171450" indent="-171450">
              <a:buFont typeface="Arial" pitchFamily="34" charset="0"/>
              <a:buChar char="•"/>
            </a:pPr>
            <a:r>
              <a:rPr lang="en-AU" sz="1200" kern="1200" dirty="0" smtClean="0">
                <a:solidFill>
                  <a:schemeClr val="tx1"/>
                </a:solidFill>
                <a:ea typeface="+mn-ea"/>
                <a:cs typeface="+mn-cs"/>
              </a:rPr>
              <a:t>Promote the ‘Six ASEAN Tourism Standards’ – and related policies</a:t>
            </a:r>
          </a:p>
          <a:p>
            <a:pPr marL="171450" indent="-171450">
              <a:buFont typeface="Arial" pitchFamily="34" charset="0"/>
              <a:buChar char="•"/>
            </a:pPr>
            <a:r>
              <a:rPr lang="en-AU" sz="1200" kern="1200" dirty="0" smtClean="0">
                <a:solidFill>
                  <a:schemeClr val="tx1"/>
                </a:solidFill>
                <a:ea typeface="+mn-ea"/>
                <a:cs typeface="+mn-cs"/>
              </a:rPr>
              <a:t>Provide a truthful basis for making positive public statements about the organisation and its ‘sustainable’ credentials – in advertisements and on the website.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79996536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AU" noProof="0" dirty="0" smtClean="0"/>
              <a:t>Trainer presents strategies to encourage others to engage with ‘sustainability’:</a:t>
            </a:r>
          </a:p>
          <a:p>
            <a:pPr marL="171450" indent="-171450">
              <a:buFont typeface="Arial" pitchFamily="34" charset="0"/>
              <a:buChar char="•"/>
            </a:pPr>
            <a:r>
              <a:rPr lang="en-AU" sz="1200" kern="1200" dirty="0" smtClean="0">
                <a:solidFill>
                  <a:schemeClr val="tx1"/>
                </a:solidFill>
                <a:ea typeface="+mn-ea"/>
                <a:cs typeface="+mn-cs"/>
              </a:rPr>
              <a:t>Acting as a role model for action – by, for example: </a:t>
            </a:r>
          </a:p>
          <a:p>
            <a:pPr marL="628650" lvl="1" indent="-171450">
              <a:buFont typeface="Arial" pitchFamily="34" charset="0"/>
              <a:buChar char="•"/>
            </a:pPr>
            <a:r>
              <a:rPr lang="en-AU" sz="1200" kern="1200" dirty="0" smtClean="0">
                <a:solidFill>
                  <a:schemeClr val="tx1"/>
                </a:solidFill>
                <a:ea typeface="+mn-ea"/>
                <a:cs typeface="+mn-cs"/>
              </a:rPr>
              <a:t>Taking responsible decisions; Putting the planet before profit; Involving stakeholders and local communities</a:t>
            </a:r>
          </a:p>
          <a:p>
            <a:pPr marL="628650" lvl="1" indent="-171450">
              <a:buFont typeface="Arial" pitchFamily="34" charset="0"/>
              <a:buChar char="•"/>
            </a:pPr>
            <a:r>
              <a:rPr lang="en-AU" sz="1200" kern="1200" dirty="0" smtClean="0">
                <a:solidFill>
                  <a:schemeClr val="tx1"/>
                </a:solidFill>
                <a:ea typeface="+mn-ea"/>
                <a:cs typeface="+mn-cs"/>
              </a:rPr>
              <a:t>Listening to stakeholders and local communities; Responding to stakeholders and local communities by altering plans – and, where necessary, abandoning project/s</a:t>
            </a:r>
          </a:p>
          <a:p>
            <a:pPr marL="171450" indent="-171450">
              <a:buFont typeface="Arial" pitchFamily="34" charset="0"/>
              <a:buChar char="•"/>
            </a:pPr>
            <a:r>
              <a:rPr lang="en-AU" sz="1200" kern="1200" dirty="0" smtClean="0">
                <a:solidFill>
                  <a:schemeClr val="tx1"/>
                </a:solidFill>
                <a:ea typeface="+mn-ea"/>
                <a:cs typeface="+mn-cs"/>
              </a:rPr>
              <a:t>Sharing lessons learned with industry, government agencies and other Tourism Operators – which may involve:</a:t>
            </a:r>
          </a:p>
          <a:p>
            <a:pPr marL="628650" lvl="1" indent="-171450">
              <a:buFont typeface="Arial" pitchFamily="34" charset="0"/>
              <a:buChar char="•"/>
            </a:pPr>
            <a:r>
              <a:rPr lang="en-AU" sz="1200" kern="1200" dirty="0" smtClean="0">
                <a:solidFill>
                  <a:schemeClr val="tx1"/>
                </a:solidFill>
                <a:ea typeface="+mn-ea"/>
                <a:cs typeface="+mn-cs"/>
              </a:rPr>
              <a:t>Posting information on a public website; Distributing reports, evaluations and findings; Actively helping others who wish to commence a sustainable tourism project</a:t>
            </a:r>
          </a:p>
          <a:p>
            <a:pPr marL="171450" indent="-171450">
              <a:buFont typeface="Arial" pitchFamily="34" charset="0"/>
              <a:buChar char="•"/>
            </a:pPr>
            <a:r>
              <a:rPr lang="en-AU" sz="1200" kern="1200" dirty="0" smtClean="0">
                <a:solidFill>
                  <a:schemeClr val="tx1"/>
                </a:solidFill>
                <a:ea typeface="+mn-ea"/>
                <a:cs typeface="+mn-cs"/>
              </a:rPr>
              <a:t>Becoming an advocate for sustainability – and, perhaps:</a:t>
            </a:r>
          </a:p>
          <a:p>
            <a:pPr marL="628650" lvl="1" indent="-171450">
              <a:buFont typeface="Arial" pitchFamily="34" charset="0"/>
              <a:buChar char="•"/>
            </a:pPr>
            <a:r>
              <a:rPr lang="en-AU" sz="1200" kern="1200" dirty="0" smtClean="0">
                <a:solidFill>
                  <a:schemeClr val="tx1"/>
                </a:solidFill>
                <a:ea typeface="+mn-ea"/>
                <a:cs typeface="+mn-cs"/>
              </a:rPr>
              <a:t>Speaking on behalf of ‘sustainability’ at public meetings and industry events</a:t>
            </a:r>
          </a:p>
          <a:p>
            <a:pPr marL="628650" lvl="1" indent="-171450">
              <a:buFont typeface="Arial" pitchFamily="34" charset="0"/>
              <a:buChar char="•"/>
            </a:pPr>
            <a:r>
              <a:rPr lang="en-AU" sz="1200" kern="1200" dirty="0" smtClean="0">
                <a:solidFill>
                  <a:schemeClr val="tx1"/>
                </a:solidFill>
                <a:ea typeface="+mn-ea"/>
                <a:cs typeface="+mn-cs"/>
              </a:rPr>
              <a:t>Talking about the benefits which have flowed from having taken a ‘sustainable’ approach to tourism projects</a:t>
            </a:r>
          </a:p>
          <a:p>
            <a:pPr marL="171450" indent="-171450">
              <a:buFont typeface="Arial" pitchFamily="34" charset="0"/>
              <a:buChar char="•"/>
            </a:pPr>
            <a:r>
              <a:rPr lang="en-AU" sz="1200" kern="1200" dirty="0" smtClean="0">
                <a:solidFill>
                  <a:schemeClr val="tx1"/>
                </a:solidFill>
                <a:ea typeface="+mn-ea"/>
                <a:cs typeface="+mn-cs"/>
              </a:rPr>
              <a:t> Using the media to spread the word about sustainable tourism – in the form of:</a:t>
            </a:r>
          </a:p>
          <a:p>
            <a:pPr marL="628650" lvl="1" indent="-171450">
              <a:buFont typeface="Arial" pitchFamily="34" charset="0"/>
              <a:buChar char="•"/>
            </a:pPr>
            <a:r>
              <a:rPr lang="en-AU" sz="1200" kern="1200" dirty="0" smtClean="0">
                <a:solidFill>
                  <a:schemeClr val="tx1"/>
                </a:solidFill>
                <a:ea typeface="+mn-ea"/>
                <a:cs typeface="+mn-cs"/>
              </a:rPr>
              <a:t>Writing articles for local newspapers or magazines on sustainable tourism and how it may be achieved</a:t>
            </a:r>
          </a:p>
          <a:p>
            <a:pPr marL="628650" lvl="1" indent="-171450">
              <a:buFont typeface="Arial" pitchFamily="34" charset="0"/>
              <a:buChar char="•"/>
            </a:pPr>
            <a:r>
              <a:rPr lang="en-AU" sz="1200" kern="1200" dirty="0" smtClean="0">
                <a:solidFill>
                  <a:schemeClr val="tx1"/>
                </a:solidFill>
                <a:ea typeface="+mn-ea"/>
                <a:cs typeface="+mn-cs"/>
              </a:rPr>
              <a:t>Writing articles on the benefits to operators of engaging with sustainable tourism</a:t>
            </a:r>
          </a:p>
          <a:p>
            <a:pPr marL="628650" lvl="1" indent="-171450">
              <a:buFont typeface="Arial" pitchFamily="34" charset="0"/>
              <a:buChar char="•"/>
            </a:pPr>
            <a:r>
              <a:rPr lang="en-AU" sz="1200" kern="1200" dirty="0" smtClean="0">
                <a:solidFill>
                  <a:schemeClr val="tx1"/>
                </a:solidFill>
                <a:ea typeface="+mn-ea"/>
                <a:cs typeface="+mn-cs"/>
              </a:rPr>
              <a:t>Doing radio and television interviews on a range of ‘sustainable tourism’ topics</a:t>
            </a:r>
          </a:p>
          <a:p>
            <a:pPr marL="628650" lvl="1" indent="-171450">
              <a:buFont typeface="Arial" pitchFamily="34" charset="0"/>
              <a:buChar char="•"/>
            </a:pPr>
            <a:r>
              <a:rPr lang="en-AU" sz="1200" kern="1200" dirty="0" smtClean="0">
                <a:solidFill>
                  <a:schemeClr val="tx1"/>
                </a:solidFill>
                <a:ea typeface="+mn-ea"/>
                <a:cs typeface="+mn-cs"/>
              </a:rPr>
              <a:t>Involving media in initiative and inviting them to participate ‘free of charge’ in exchange for some media exposure</a:t>
            </a:r>
          </a:p>
          <a:p>
            <a:pPr marL="628650" lvl="1" indent="-171450">
              <a:buFont typeface="Arial" pitchFamily="34" charset="0"/>
              <a:buChar char="•"/>
            </a:pPr>
            <a:r>
              <a:rPr lang="en-AU" sz="1200" kern="1200" dirty="0" smtClean="0">
                <a:solidFill>
                  <a:schemeClr val="tx1"/>
                </a:solidFill>
                <a:ea typeface="+mn-ea"/>
                <a:cs typeface="+mn-cs"/>
              </a:rPr>
              <a:t>Developing press releases on a different ‘sustainability’ topics and the progress of the initiative/s.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local media representative to attend and:</a:t>
            </a:r>
          </a:p>
          <a:p>
            <a:pPr marL="171450" indent="-171450">
              <a:buFont typeface="Arial" pitchFamily="34" charset="0"/>
              <a:buChar char="•"/>
            </a:pPr>
            <a:r>
              <a:rPr lang="en-AU" b="0" noProof="0" dirty="0" smtClean="0"/>
              <a:t>Discuss how the media can help/become involved with sustainability</a:t>
            </a:r>
          </a:p>
          <a:p>
            <a:pPr marL="171450" indent="-171450">
              <a:buFont typeface="Arial" pitchFamily="34" charset="0"/>
              <a:buChar char="•"/>
            </a:pPr>
            <a:r>
              <a:rPr lang="en-AU" b="0" noProof="0" dirty="0" smtClean="0"/>
              <a:t>Describe</a:t>
            </a:r>
            <a:r>
              <a:rPr lang="en-AU" b="0" baseline="0" noProof="0" dirty="0" smtClean="0"/>
              <a:t> the relationship which could/should exist between a Tourism Operator and the media explaining how this can be established</a:t>
            </a:r>
          </a:p>
          <a:p>
            <a:pPr marL="171450" indent="-171450">
              <a:buFont typeface="Arial" pitchFamily="34" charset="0"/>
              <a:buChar char="•"/>
            </a:pPr>
            <a:r>
              <a:rPr lang="en-AU" b="0" baseline="0" noProof="0" dirty="0" smtClean="0"/>
              <a:t>Illustrate how the media can help the tourism industry and how the industry can help the media</a:t>
            </a:r>
          </a:p>
          <a:p>
            <a:pPr marL="171450" indent="-171450">
              <a:buFont typeface="Arial" pitchFamily="34" charset="0"/>
              <a:buChar char="•"/>
            </a:pPr>
            <a:r>
              <a:rPr lang="en-AU" b="0" baseline="0" noProof="0" dirty="0" smtClean="0"/>
              <a:t>Identify requirements/arrangements for obtaining media coverage of an event or initiative.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99607507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keys to implementing monitoring protocols:</a:t>
            </a:r>
          </a:p>
          <a:p>
            <a:pPr marL="171450" indent="-171450">
              <a:buFont typeface="Arial" pitchFamily="34" charset="0"/>
              <a:buChar char="•"/>
            </a:pPr>
            <a:r>
              <a:rPr lang="en-AU" sz="1200" kern="1200" dirty="0" smtClean="0">
                <a:solidFill>
                  <a:schemeClr val="tx1"/>
                </a:solidFill>
                <a:ea typeface="+mn-ea"/>
                <a:cs typeface="+mn-cs"/>
              </a:rPr>
              <a:t>Check necessary training has been delivered – to all allocated responsibilities for monitoring activities and data gathering</a:t>
            </a:r>
          </a:p>
          <a:p>
            <a:pPr marL="171450" indent="-171450">
              <a:buFont typeface="Arial" pitchFamily="34" charset="0"/>
              <a:buChar char="•"/>
            </a:pPr>
            <a:r>
              <a:rPr lang="en-AU" sz="1200" kern="1200" dirty="0" smtClean="0">
                <a:solidFill>
                  <a:schemeClr val="tx1"/>
                </a:solidFill>
                <a:ea typeface="+mn-ea"/>
                <a:cs typeface="+mn-cs"/>
              </a:rPr>
              <a:t>Verify all required resources have been supplied as promised – to enable identified monitoring to occur and be recorded as planned</a:t>
            </a:r>
          </a:p>
          <a:p>
            <a:pPr marL="171450" indent="-171450">
              <a:buFont typeface="Arial" pitchFamily="34" charset="0"/>
              <a:buChar char="•"/>
            </a:pPr>
            <a:r>
              <a:rPr lang="en-AU" sz="1200" kern="1200" dirty="0" smtClean="0">
                <a:solidFill>
                  <a:schemeClr val="tx1"/>
                </a:solidFill>
                <a:ea typeface="+mn-ea"/>
                <a:cs typeface="+mn-cs"/>
              </a:rPr>
              <a:t>Ensure technologies used and confirmed in the pilot are used – or varied as required on basis of evaluation. This may require:</a:t>
            </a:r>
          </a:p>
          <a:p>
            <a:pPr marL="628650" lvl="1" indent="-171450">
              <a:buFont typeface="Arial" pitchFamily="34" charset="0"/>
              <a:buChar char="•"/>
            </a:pPr>
            <a:r>
              <a:rPr lang="en-US" sz="1200" kern="1200" dirty="0" smtClean="0">
                <a:solidFill>
                  <a:schemeClr val="tx1"/>
                </a:solidFill>
                <a:ea typeface="+mn-ea"/>
                <a:cs typeface="+mn-cs"/>
              </a:rPr>
              <a:t>Using different technology/systems to gather data</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Gathering data at different/more frequent times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different data. </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84575878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keys to implementing monitoring protocols:</a:t>
            </a:r>
          </a:p>
          <a:p>
            <a:pPr marL="171450" indent="-171450">
              <a:buFont typeface="Arial" pitchFamily="34" charset="0"/>
              <a:buChar char="•"/>
            </a:pPr>
            <a:r>
              <a:rPr lang="en-AU" sz="1200" kern="1200" dirty="0" smtClean="0">
                <a:solidFill>
                  <a:schemeClr val="tx1"/>
                </a:solidFill>
                <a:ea typeface="+mn-ea"/>
                <a:cs typeface="+mn-cs"/>
              </a:rPr>
              <a:t>Take action to make sure the agreed ‘other’ monitoring activities are being undertaken as planned – by the people who have been designated and with the required frequency. This relates to the activities such as personal observations, entries in log books/note books, taking of still and moving images, surveying of land used and similar</a:t>
            </a:r>
          </a:p>
          <a:p>
            <a:pPr marL="171450" indent="-171450">
              <a:buFont typeface="Arial" pitchFamily="34" charset="0"/>
              <a:buChar char="•"/>
            </a:pPr>
            <a:r>
              <a:rPr lang="en-AU" sz="1200" kern="1200" dirty="0" smtClean="0">
                <a:solidFill>
                  <a:schemeClr val="tx1"/>
                </a:solidFill>
                <a:ea typeface="+mn-ea"/>
                <a:cs typeface="+mn-cs"/>
              </a:rPr>
              <a:t>Follow-up with those who have responsibility for monitoring activities – as required. This may be a commo requirement because many of the data collectors are often unpaid volunteers. Follow-up may be required:</a:t>
            </a:r>
          </a:p>
          <a:p>
            <a:pPr marL="628650" lvl="1" indent="-171450">
              <a:buFont typeface="Arial" pitchFamily="34" charset="0"/>
              <a:buChar char="•"/>
            </a:pPr>
            <a:r>
              <a:rPr lang="en-AU" sz="1200" kern="1200" dirty="0" smtClean="0">
                <a:solidFill>
                  <a:schemeClr val="tx1"/>
                </a:solidFill>
                <a:ea typeface="+mn-ea"/>
                <a:cs typeface="+mn-cs"/>
              </a:rPr>
              <a:t>If no monitoring information/data is being received</a:t>
            </a:r>
          </a:p>
          <a:p>
            <a:pPr marL="628650" lvl="1" indent="-171450">
              <a:buFont typeface="Arial" pitchFamily="34" charset="0"/>
              <a:buChar char="•"/>
            </a:pPr>
            <a:r>
              <a:rPr lang="en-AU" sz="1200" kern="1200" dirty="0" smtClean="0">
                <a:solidFill>
                  <a:schemeClr val="tx1"/>
                </a:solidFill>
                <a:ea typeface="+mn-ea"/>
                <a:cs typeface="+mn-cs"/>
              </a:rPr>
              <a:t>Where there are requests for help</a:t>
            </a:r>
          </a:p>
          <a:p>
            <a:pPr marL="628650" lvl="1" indent="-171450">
              <a:buFont typeface="Arial" pitchFamily="34" charset="0"/>
              <a:buChar char="•"/>
            </a:pPr>
            <a:r>
              <a:rPr lang="en-AU" sz="1200" kern="1200" dirty="0" smtClean="0">
                <a:solidFill>
                  <a:schemeClr val="tx1"/>
                </a:solidFill>
                <a:ea typeface="+mn-ea"/>
                <a:cs typeface="+mn-cs"/>
              </a:rPr>
              <a:t>If problems arise</a:t>
            </a:r>
          </a:p>
          <a:p>
            <a:pPr marL="628650" lvl="1" indent="-171450">
              <a:buFont typeface="Arial" pitchFamily="34" charset="0"/>
              <a:buChar char="•"/>
            </a:pPr>
            <a:r>
              <a:rPr lang="en-AU" sz="1200" kern="1200" dirty="0" smtClean="0">
                <a:solidFill>
                  <a:schemeClr val="tx1"/>
                </a:solidFill>
                <a:ea typeface="+mn-ea"/>
                <a:cs typeface="+mn-cs"/>
              </a:rPr>
              <a:t>Where there is significant variation in the data received from what is normally obtained, or from what is expected</a:t>
            </a:r>
          </a:p>
          <a:p>
            <a:pPr marL="171450" indent="-171450">
              <a:buFont typeface="Arial" pitchFamily="34" charset="0"/>
              <a:buChar char="•"/>
            </a:pPr>
            <a:r>
              <a:rPr lang="en-AU" sz="1200" kern="1200" dirty="0" smtClean="0">
                <a:solidFill>
                  <a:schemeClr val="tx1"/>
                </a:solidFill>
                <a:ea typeface="+mn-ea"/>
                <a:cs typeface="+mn-cs"/>
              </a:rPr>
              <a:t>Be actively and personally involved to show those involved (and others) there is real organisational engagement with the project, genuine desire to monitor the impacts and hands-on management of the project – this may be achieved by:</a:t>
            </a:r>
          </a:p>
          <a:p>
            <a:pPr marL="628650" lvl="1" indent="-171450">
              <a:buFont typeface="Arial" pitchFamily="34" charset="0"/>
              <a:buChar char="•"/>
            </a:pPr>
            <a:r>
              <a:rPr lang="en-AU" sz="1200" kern="1200" dirty="0" smtClean="0">
                <a:solidFill>
                  <a:schemeClr val="tx1"/>
                </a:solidFill>
                <a:ea typeface="+mn-ea"/>
                <a:cs typeface="+mn-cs"/>
              </a:rPr>
              <a:t>Helping personnel with their data gathering/monitoring activities</a:t>
            </a:r>
          </a:p>
          <a:p>
            <a:pPr marL="628650" lvl="1" indent="-171450">
              <a:buFont typeface="Arial" pitchFamily="34" charset="0"/>
              <a:buChar char="•"/>
            </a:pPr>
            <a:r>
              <a:rPr lang="en-AU" sz="1200" kern="1200" dirty="0" smtClean="0">
                <a:solidFill>
                  <a:schemeClr val="tx1"/>
                </a:solidFill>
                <a:ea typeface="+mn-ea"/>
                <a:cs typeface="+mn-cs"/>
              </a:rPr>
              <a:t>Showing people how to optimise their information gathering</a:t>
            </a:r>
          </a:p>
          <a:p>
            <a:pPr marL="628650" lvl="1" indent="-171450">
              <a:buFont typeface="Arial" pitchFamily="34" charset="0"/>
              <a:buChar char="•"/>
            </a:pPr>
            <a:r>
              <a:rPr lang="en-AU" sz="1200" kern="1200" dirty="0" smtClean="0">
                <a:solidFill>
                  <a:schemeClr val="tx1"/>
                </a:solidFill>
                <a:ea typeface="+mn-ea"/>
                <a:cs typeface="+mn-cs"/>
              </a:rPr>
              <a:t>Providing a visible on-site presence</a:t>
            </a:r>
          </a:p>
          <a:p>
            <a:pPr marL="628650" lvl="1" indent="-171450">
              <a:buFont typeface="Arial" pitchFamily="34" charset="0"/>
              <a:buChar char="•"/>
            </a:pPr>
            <a:r>
              <a:rPr lang="en-AU" sz="1200" kern="1200" dirty="0" smtClean="0">
                <a:solidFill>
                  <a:schemeClr val="tx1"/>
                </a:solidFill>
                <a:ea typeface="+mn-ea"/>
                <a:cs typeface="+mn-cs"/>
              </a:rPr>
              <a:t>Actually doing some data gathering.</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78944405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70485968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162632885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dirty="0" smtClean="0">
                <a:solidFill>
                  <a:schemeClr val="tx1"/>
                </a:solidFill>
                <a:ea typeface="+mn-ea"/>
                <a:cs typeface="+mn-cs"/>
              </a:rPr>
              <a:t>Why is there a need to evaluate the sustainability initiatives?</a:t>
            </a:r>
          </a:p>
          <a:p>
            <a:pPr marL="171450" indent="-171450">
              <a:buFont typeface="Arial" pitchFamily="34" charset="0"/>
              <a:buChar char="•"/>
            </a:pPr>
            <a:r>
              <a:rPr lang="en-US" sz="1200" kern="1200" baseline="0" dirty="0" smtClean="0">
                <a:solidFill>
                  <a:schemeClr val="tx1"/>
                </a:solidFill>
                <a:ea typeface="+mn-ea"/>
                <a:cs typeface="+mn-cs"/>
              </a:rPr>
              <a:t>Who is involved in the process?</a:t>
            </a:r>
          </a:p>
          <a:p>
            <a:pPr marL="171450" indent="-171450">
              <a:buFont typeface="Arial" pitchFamily="34" charset="0"/>
              <a:buChar char="•"/>
            </a:pPr>
            <a:r>
              <a:rPr lang="en-US" sz="1200" kern="1200" baseline="0" dirty="0" smtClean="0">
                <a:solidFill>
                  <a:schemeClr val="tx1"/>
                </a:solidFill>
                <a:ea typeface="+mn-ea"/>
                <a:cs typeface="+mn-cs"/>
              </a:rPr>
              <a:t>When and where does the evaluation occur?</a:t>
            </a:r>
          </a:p>
          <a:p>
            <a:pPr marL="171450" indent="-171450">
              <a:buFont typeface="Arial" pitchFamily="34" charset="0"/>
              <a:buChar char="•"/>
            </a:pPr>
            <a:r>
              <a:rPr lang="en-US" sz="1200" kern="1200" baseline="0" dirty="0" smtClean="0">
                <a:solidFill>
                  <a:schemeClr val="tx1"/>
                </a:solidFill>
                <a:ea typeface="+mn-ea"/>
                <a:cs typeface="+mn-cs"/>
              </a:rPr>
              <a:t>What are the possible outcomes?</a:t>
            </a:r>
          </a:p>
          <a:p>
            <a:pPr marL="171450" indent="-171450">
              <a:buFont typeface="Arial" pitchFamily="34" charset="0"/>
              <a:buChar char="•"/>
            </a:pPr>
            <a:r>
              <a:rPr lang="en-US" sz="1200" kern="1200" baseline="0" dirty="0" smtClean="0">
                <a:solidFill>
                  <a:schemeClr val="tx1"/>
                </a:solidFill>
                <a:ea typeface="+mn-ea"/>
                <a:cs typeface="+mn-cs"/>
              </a:rPr>
              <a:t>How binding are the findings of the evaluation?</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730548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the </a:t>
            </a:r>
            <a:r>
              <a:rPr lang="en-AU" sz="1200" kern="1200" dirty="0" smtClean="0">
                <a:solidFill>
                  <a:schemeClr val="tx1"/>
                </a:solidFill>
                <a:ea typeface="+mn-ea"/>
                <a:cs typeface="+mn-cs"/>
              </a:rPr>
              <a:t>necessity of implementing the planned data gathering procedures exactly as planned and agreed to by stakeholders cannot be stressed too highly emphasising whatever was presented as being planned data gathering procedures </a:t>
            </a:r>
            <a:r>
              <a:rPr lang="en-AU" sz="1200" b="1" kern="1200" dirty="0" smtClean="0">
                <a:solidFill>
                  <a:schemeClr val="tx1"/>
                </a:solidFill>
                <a:ea typeface="+mn-ea"/>
                <a:cs typeface="+mn-cs"/>
              </a:rPr>
              <a:t>must be undertaken</a:t>
            </a:r>
            <a:r>
              <a:rPr lang="en-AU" sz="1200" kern="1200" dirty="0" smtClean="0">
                <a:solidFill>
                  <a:schemeClr val="tx1"/>
                </a:solidFill>
                <a:ea typeface="+mn-ea"/>
                <a:cs typeface="+mn-cs"/>
              </a:rPr>
              <a:t>.</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As soon as a proponent starts to deviate from the planned data gathering procedures:</a:t>
            </a:r>
          </a:p>
          <a:p>
            <a:pPr marL="171450" indent="-171450">
              <a:buFont typeface="Arial" pitchFamily="34" charset="0"/>
              <a:buChar char="•"/>
            </a:pPr>
            <a:r>
              <a:rPr lang="en-AU" sz="1200" kern="1200" dirty="0" smtClean="0">
                <a:solidFill>
                  <a:schemeClr val="tx1"/>
                </a:solidFill>
                <a:ea typeface="+mn-ea"/>
                <a:cs typeface="+mn-cs"/>
              </a:rPr>
              <a:t>The opponents of the initiative may seize on this as ‘evidence’ of the organisation having something to hide</a:t>
            </a:r>
          </a:p>
          <a:p>
            <a:pPr marL="171450" indent="-171450">
              <a:buFont typeface="Arial" pitchFamily="34" charset="0"/>
              <a:buChar char="•"/>
            </a:pPr>
            <a:r>
              <a:rPr lang="en-AU" sz="1200" kern="1200" dirty="0" smtClean="0">
                <a:solidFill>
                  <a:schemeClr val="tx1"/>
                </a:solidFill>
                <a:ea typeface="+mn-ea"/>
                <a:cs typeface="+mn-cs"/>
              </a:rPr>
              <a:t>The validity of the entire project starts to be questioned – if </a:t>
            </a:r>
            <a:r>
              <a:rPr lang="en-AU" sz="1200" i="1" kern="1200" dirty="0" smtClean="0">
                <a:solidFill>
                  <a:schemeClr val="tx1"/>
                </a:solidFill>
                <a:ea typeface="+mn-ea"/>
                <a:cs typeface="+mn-cs"/>
              </a:rPr>
              <a:t>this</a:t>
            </a:r>
            <a:r>
              <a:rPr lang="en-AU" sz="1200" kern="1200" dirty="0" smtClean="0">
                <a:solidFill>
                  <a:schemeClr val="tx1"/>
                </a:solidFill>
                <a:ea typeface="+mn-ea"/>
                <a:cs typeface="+mn-cs"/>
              </a:rPr>
              <a:t> needs changing, what else might also be wrong/need changing or is going to be changed?</a:t>
            </a:r>
          </a:p>
          <a:p>
            <a:pPr marL="171450" indent="-171450">
              <a:buFont typeface="Arial" pitchFamily="34" charset="0"/>
              <a:buChar char="•"/>
            </a:pPr>
            <a:r>
              <a:rPr lang="en-AU" sz="1200" kern="1200" dirty="0" smtClean="0">
                <a:solidFill>
                  <a:schemeClr val="tx1"/>
                </a:solidFill>
                <a:ea typeface="+mn-ea"/>
                <a:cs typeface="+mn-cs"/>
              </a:rPr>
              <a:t>The credibility of the organisation suffers as people start thinking ‘they only said they were going to do it in order to get approval to proceed: not why have gained their approval they are not going to do what they promised’.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267448112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if it ever </a:t>
            </a:r>
            <a:r>
              <a:rPr lang="en-AU" sz="1200" kern="1200" dirty="0" smtClean="0">
                <a:solidFill>
                  <a:schemeClr val="tx1"/>
                </a:solidFill>
                <a:ea typeface="+mn-ea"/>
                <a:cs typeface="+mn-cs"/>
              </a:rPr>
              <a:t>emerges there is a legitimate need to vary the planned data gathering procedures the procedure for achieving this should involve:</a:t>
            </a:r>
          </a:p>
          <a:p>
            <a:pPr marL="171450" indent="-171450">
              <a:buFont typeface="Arial" pitchFamily="34" charset="0"/>
              <a:buChar char="•"/>
            </a:pPr>
            <a:r>
              <a:rPr lang="en-AU" sz="1200" kern="1200" dirty="0" smtClean="0">
                <a:solidFill>
                  <a:schemeClr val="tx1"/>
                </a:solidFill>
                <a:ea typeface="+mn-ea"/>
                <a:cs typeface="+mn-cs"/>
              </a:rPr>
              <a:t>Prompt communication with stakeholders</a:t>
            </a:r>
          </a:p>
          <a:p>
            <a:pPr marL="171450" indent="-171450">
              <a:buFont typeface="Arial" pitchFamily="34" charset="0"/>
              <a:buChar char="•"/>
            </a:pPr>
            <a:r>
              <a:rPr lang="en-AU" sz="1200" kern="1200" dirty="0" smtClean="0">
                <a:solidFill>
                  <a:schemeClr val="tx1"/>
                </a:solidFill>
                <a:ea typeface="+mn-ea"/>
                <a:cs typeface="+mn-cs"/>
              </a:rPr>
              <a:t>Detailed description of the need for the change</a:t>
            </a:r>
          </a:p>
          <a:p>
            <a:pPr marL="171450" indent="-171450">
              <a:buFont typeface="Arial" pitchFamily="34" charset="0"/>
              <a:buChar char="•"/>
            </a:pPr>
            <a:r>
              <a:rPr lang="en-AU" sz="1200" kern="1200" dirty="0" smtClean="0">
                <a:solidFill>
                  <a:schemeClr val="tx1"/>
                </a:solidFill>
                <a:ea typeface="+mn-ea"/>
                <a:cs typeface="+mn-cs"/>
              </a:rPr>
              <a:t>Provision of supporting data/evidence of the need for change</a:t>
            </a:r>
          </a:p>
          <a:p>
            <a:pPr marL="171450" indent="-171450">
              <a:buFont typeface="Arial" pitchFamily="34" charset="0"/>
              <a:buChar char="•"/>
            </a:pPr>
            <a:r>
              <a:rPr lang="en-AU" sz="1200" kern="1200" dirty="0" smtClean="0">
                <a:solidFill>
                  <a:schemeClr val="tx1"/>
                </a:solidFill>
                <a:ea typeface="+mn-ea"/>
                <a:cs typeface="+mn-cs"/>
              </a:rPr>
              <a:t>Presentation of changes intended explaining why and how they will achieve the objective/s described in the ‘need for change’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31226310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explain action to take if there is a need to change agreed monitoring arrangements:</a:t>
            </a:r>
          </a:p>
          <a:p>
            <a:pPr marL="171450" indent="-171450">
              <a:buFont typeface="Arial" pitchFamily="34" charset="0"/>
              <a:buChar char="•"/>
            </a:pPr>
            <a:r>
              <a:rPr lang="en-AU" sz="1200" kern="1200" dirty="0" smtClean="0">
                <a:solidFill>
                  <a:schemeClr val="tx1"/>
                </a:solidFill>
                <a:ea typeface="+mn-ea"/>
                <a:cs typeface="+mn-cs"/>
              </a:rPr>
              <a:t>Request for approval for the identified changes to be implemented</a:t>
            </a:r>
          </a:p>
          <a:p>
            <a:pPr marL="171450" indent="-171450">
              <a:buFont typeface="Arial" pitchFamily="34" charset="0"/>
              <a:buChar char="•"/>
            </a:pPr>
            <a:r>
              <a:rPr lang="en-AU" sz="1200" kern="1200" dirty="0" smtClean="0">
                <a:solidFill>
                  <a:schemeClr val="tx1"/>
                </a:solidFill>
                <a:ea typeface="+mn-ea"/>
                <a:cs typeface="+mn-cs"/>
              </a:rPr>
              <a:t>Allocation of responsibilities for new data gathering procedures</a:t>
            </a:r>
          </a:p>
          <a:p>
            <a:pPr marL="171450" indent="-171450">
              <a:buFont typeface="Arial" pitchFamily="34" charset="0"/>
              <a:buChar char="•"/>
            </a:pPr>
            <a:r>
              <a:rPr lang="en-AU" sz="1200" kern="1200" dirty="0" smtClean="0">
                <a:solidFill>
                  <a:schemeClr val="tx1"/>
                </a:solidFill>
                <a:ea typeface="+mn-ea"/>
                <a:cs typeface="+mn-cs"/>
              </a:rPr>
              <a:t>Provision of necessary training an resources</a:t>
            </a:r>
          </a:p>
          <a:p>
            <a:pPr marL="171450" indent="-171450">
              <a:buFont typeface="Arial" pitchFamily="34" charset="0"/>
              <a:buChar char="•"/>
            </a:pPr>
            <a:r>
              <a:rPr lang="en-AU" sz="1200" kern="1200" dirty="0" smtClean="0">
                <a:solidFill>
                  <a:schemeClr val="tx1"/>
                </a:solidFill>
                <a:ea typeface="+mn-ea"/>
                <a:cs typeface="+mn-cs"/>
              </a:rPr>
              <a:t>Integration of new strategies into established other monitoring activities.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156913421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highlights </a:t>
            </a:r>
            <a:r>
              <a:rPr lang="en-AU" sz="1200" kern="1200" dirty="0" smtClean="0">
                <a:solidFill>
                  <a:schemeClr val="tx1"/>
                </a:solidFill>
                <a:ea typeface="+mn-ea"/>
                <a:cs typeface="+mn-cs"/>
              </a:rPr>
              <a:t>there is always a need to collect qualitative and quantitative data as a part of the monitoring for any sustainable tourism initiatives.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collection of quantitative data includes the gathering of objective environmental data. </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‘Objective’ data is data is fact-based data free of personal bias, influence, opinion or thought – it is information gained as a result of some form of testing. It refers to data which is measurable and observable.</a:t>
            </a:r>
          </a:p>
          <a:p>
            <a:pPr>
              <a:buFont typeface="Arial" pitchFamily="34" charset="0"/>
              <a:buNone/>
            </a:pP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By contrast, ‘subjective’ data is personal opinion, thoughts, perceptions and feelings.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464839977"/>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ea typeface="+mn-ea"/>
                <a:cs typeface="+mn-cs"/>
              </a:rPr>
              <a:t>objective data may be captured as a result of:</a:t>
            </a:r>
          </a:p>
          <a:p>
            <a:pPr marL="171450" indent="-171450">
              <a:buFont typeface="Arial" pitchFamily="34" charset="0"/>
              <a:buChar char="•"/>
            </a:pPr>
            <a:r>
              <a:rPr lang="en-AU" sz="1200" kern="1200" dirty="0" smtClean="0">
                <a:solidFill>
                  <a:schemeClr val="tx1"/>
                </a:solidFill>
                <a:ea typeface="+mn-ea"/>
                <a:cs typeface="+mn-cs"/>
              </a:rPr>
              <a:t>Personal observation – of visible and measurable actions such as (for example):</a:t>
            </a:r>
          </a:p>
          <a:p>
            <a:pPr marL="628650" lvl="1" indent="-171450">
              <a:buFont typeface="Arial" pitchFamily="34" charset="0"/>
              <a:buChar char="•"/>
            </a:pPr>
            <a:r>
              <a:rPr lang="en-AU" sz="1200" kern="1200" dirty="0" smtClean="0">
                <a:solidFill>
                  <a:schemeClr val="tx1"/>
                </a:solidFill>
                <a:ea typeface="+mn-ea"/>
                <a:cs typeface="+mn-cs"/>
              </a:rPr>
              <a:t>Number of people who visit a site or use a facility</a:t>
            </a:r>
          </a:p>
          <a:p>
            <a:pPr marL="628650" lvl="1" indent="-171450">
              <a:buFont typeface="Arial" pitchFamily="34" charset="0"/>
              <a:buChar char="•"/>
            </a:pPr>
            <a:r>
              <a:rPr lang="en-AU" sz="1200" kern="1200" dirty="0" smtClean="0">
                <a:solidFill>
                  <a:schemeClr val="tx1"/>
                </a:solidFill>
                <a:ea typeface="+mn-ea"/>
                <a:cs typeface="+mn-cs"/>
              </a:rPr>
              <a:t>Length of time people spend at a location</a:t>
            </a:r>
          </a:p>
          <a:p>
            <a:pPr marL="628650" lvl="1" indent="-171450">
              <a:buFont typeface="Arial" pitchFamily="34" charset="0"/>
              <a:buChar char="•"/>
            </a:pPr>
            <a:r>
              <a:rPr lang="en-AU" sz="1200" kern="1200" dirty="0" smtClean="0">
                <a:solidFill>
                  <a:schemeClr val="tx1"/>
                </a:solidFill>
                <a:ea typeface="+mn-ea"/>
                <a:cs typeface="+mn-cs"/>
              </a:rPr>
              <a:t>Number of vehicles that use a road or enter an area </a:t>
            </a:r>
          </a:p>
          <a:p>
            <a:pPr marL="171450" indent="-171450">
              <a:buFont typeface="Arial" pitchFamily="34" charset="0"/>
              <a:buChar char="•"/>
            </a:pPr>
            <a:r>
              <a:rPr lang="en-AU" sz="1200" kern="1200" dirty="0" smtClean="0">
                <a:solidFill>
                  <a:schemeClr val="tx1"/>
                </a:solidFill>
                <a:ea typeface="+mn-ea"/>
                <a:cs typeface="+mn-cs"/>
              </a:rPr>
              <a:t>Conducting tests – which may seek to track statistical evidence of what happens when (for example):</a:t>
            </a:r>
          </a:p>
          <a:p>
            <a:pPr marL="628650" lvl="1" indent="-171450">
              <a:buFont typeface="Arial" pitchFamily="34" charset="0"/>
              <a:buChar char="•"/>
            </a:pPr>
            <a:r>
              <a:rPr lang="en-US" sz="1200" kern="1200" dirty="0" smtClean="0">
                <a:solidFill>
                  <a:schemeClr val="tx1"/>
                </a:solidFill>
                <a:ea typeface="+mn-ea"/>
                <a:cs typeface="+mn-cs"/>
              </a:rPr>
              <a:t>There is a change in routes taken by tour groups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Interpretive activities provided to a group are altered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 arrival and departure times of a tour/group are varied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Undertaking a physical examination of land or an area or other nominated site or object – such as:</a:t>
            </a:r>
          </a:p>
          <a:p>
            <a:pPr marL="628650" lvl="1" indent="-171450">
              <a:buFont typeface="Arial" pitchFamily="34" charset="0"/>
              <a:buChar char="•"/>
            </a:pPr>
            <a:r>
              <a:rPr lang="en-US" sz="1200" kern="1200" dirty="0" smtClean="0">
                <a:solidFill>
                  <a:schemeClr val="tx1"/>
                </a:solidFill>
                <a:ea typeface="+mn-ea"/>
                <a:cs typeface="+mn-cs"/>
              </a:rPr>
              <a:t>Counting the number of a species in a designated area</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Monitoring re-generation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Measuring waste.</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93449104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indicate ways to capture objective data:</a:t>
            </a:r>
          </a:p>
          <a:p>
            <a:pPr marL="171450" indent="-171450">
              <a:buFont typeface="Arial" pitchFamily="34" charset="0"/>
              <a:buChar char="•"/>
            </a:pPr>
            <a:r>
              <a:rPr lang="en-AU" sz="1200" kern="1200" dirty="0" smtClean="0">
                <a:solidFill>
                  <a:schemeClr val="tx1"/>
                </a:solidFill>
                <a:ea typeface="+mn-ea"/>
                <a:cs typeface="+mn-cs"/>
              </a:rPr>
              <a:t>Reading the meters or print-outs of technical equipment/technology which has been bought or rented for the purpose of the project – such as:</a:t>
            </a:r>
          </a:p>
          <a:p>
            <a:pPr marL="628650" lvl="1" indent="-171450">
              <a:buFont typeface="Arial" pitchFamily="34" charset="0"/>
              <a:buChar char="•"/>
            </a:pPr>
            <a:r>
              <a:rPr lang="en-US" sz="1200" kern="1200" dirty="0" smtClean="0">
                <a:solidFill>
                  <a:schemeClr val="tx1"/>
                </a:solidFill>
                <a:ea typeface="+mn-ea"/>
                <a:cs typeface="+mn-cs"/>
              </a:rPr>
              <a:t>Hand-held water quality meters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Air monitors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Dust monitors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Soil samplers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Sound level meters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Vibration monitors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Thermometers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Water depth and flow gauges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Traffic (road count) meters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Turnstiles.</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representative</a:t>
            </a:r>
            <a:r>
              <a:rPr lang="en-AU" b="0" baseline="0" noProof="0" dirty="0" smtClean="0"/>
              <a:t> from commercial monitoring organisation to attend and:</a:t>
            </a:r>
          </a:p>
          <a:p>
            <a:pPr marL="171450" indent="-171450">
              <a:buFont typeface="Arial" pitchFamily="34" charset="0"/>
              <a:buChar char="•"/>
            </a:pPr>
            <a:r>
              <a:rPr lang="en-AU" b="0" baseline="0" noProof="0" dirty="0" smtClean="0"/>
              <a:t>Identify equipment and services they can provide in relation to a tourism initiative</a:t>
            </a:r>
          </a:p>
          <a:p>
            <a:pPr marL="171450" indent="-171450">
              <a:buFont typeface="Arial" pitchFamily="34" charset="0"/>
              <a:buChar char="•"/>
            </a:pPr>
            <a:r>
              <a:rPr lang="en-AU" b="0" baseline="0" noProof="0" dirty="0" smtClean="0"/>
              <a:t>Present and demonstrate use of equipment, monitors and meters</a:t>
            </a:r>
          </a:p>
          <a:p>
            <a:pPr marL="171450" indent="-171450">
              <a:buFont typeface="Arial" pitchFamily="34" charset="0"/>
              <a:buChar char="•"/>
            </a:pPr>
            <a:r>
              <a:rPr lang="en-AU" b="0" baseline="0" noProof="0" dirty="0" smtClean="0"/>
              <a:t>Provide advice on monitoring tourism initiatives and collecting data.</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92134529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presents considerations when collecting data:</a:t>
            </a:r>
          </a:p>
          <a:p>
            <a:pPr marL="171450" indent="-171450">
              <a:buFont typeface="Arial" pitchFamily="34" charset="0"/>
              <a:buChar char="•"/>
            </a:pPr>
            <a:r>
              <a:rPr lang="en-AU" sz="1200" kern="1200" dirty="0" smtClean="0">
                <a:solidFill>
                  <a:schemeClr val="tx1"/>
                </a:solidFill>
                <a:ea typeface="+mn-ea"/>
                <a:cs typeface="+mn-cs"/>
              </a:rPr>
              <a:t>Try to involve stakeholders/local communities – in order to:</a:t>
            </a:r>
          </a:p>
          <a:p>
            <a:pPr marL="628650" lvl="1" indent="-171450">
              <a:buFont typeface="Arial" pitchFamily="34" charset="0"/>
              <a:buChar char="•"/>
            </a:pPr>
            <a:r>
              <a:rPr lang="en-US" sz="1200" kern="1200" dirty="0" smtClean="0">
                <a:solidFill>
                  <a:schemeClr val="tx1"/>
                </a:solidFill>
                <a:ea typeface="+mn-ea"/>
                <a:cs typeface="+mn-cs"/>
              </a:rPr>
              <a:t>Give them a sense of ownership in the initiative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Demonstrate inclusivity and collaboration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Prove openness and transparency of the project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Supplement use of local communities and stakeholders with the use of a recognised professional, external consultant – who has experience with tourism initiatives and environmental monitoring, so they:</a:t>
            </a:r>
          </a:p>
          <a:p>
            <a:pPr marL="628650" lvl="1" indent="-171450">
              <a:buFont typeface="Arial" pitchFamily="34" charset="0"/>
              <a:buChar char="•"/>
            </a:pPr>
            <a:r>
              <a:rPr lang="en-US" sz="1200" kern="1200" dirty="0" smtClean="0">
                <a:solidFill>
                  <a:schemeClr val="tx1"/>
                </a:solidFill>
                <a:ea typeface="+mn-ea"/>
                <a:cs typeface="+mn-cs"/>
              </a:rPr>
              <a:t>Can provide important third party reports for the project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Assist volunteers in their monitoring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Identify the need for ‘other’ monitoring activities to be introduced to the operation as the initiative unfolds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Advise of concerning issues at the earliest possible time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Verify the testing and monitoring equipment has been correctly calibrated – which may require:</a:t>
            </a:r>
          </a:p>
          <a:p>
            <a:pPr marL="628650" lvl="1" indent="-171450">
              <a:buFont typeface="Arial" pitchFamily="34" charset="0"/>
              <a:buChar char="•"/>
            </a:pPr>
            <a:r>
              <a:rPr lang="en-US" sz="1200" kern="1200" dirty="0" smtClean="0">
                <a:solidFill>
                  <a:schemeClr val="tx1"/>
                </a:solidFill>
                <a:ea typeface="+mn-ea"/>
                <a:cs typeface="+mn-cs"/>
              </a:rPr>
              <a:t>Getting all hand-held monitors used by volunteers or project staff are tested/calibrated and certified prior to use so their readings can be deemed ‘reliable and accurate’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written proof (such as a Certificate of Confirmation) from third party consultants that their equipment has been appropriately verified and certified for use as intended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Follow-up as required – that is, communicating with those who have been allocated data collection responsibilities if:</a:t>
            </a:r>
          </a:p>
          <a:p>
            <a:pPr marL="628650" lvl="1" indent="-171450">
              <a:buFont typeface="Arial" pitchFamily="34" charset="0"/>
              <a:buChar char="•"/>
            </a:pPr>
            <a:r>
              <a:rPr lang="en-US" sz="1200" kern="1200" dirty="0" smtClean="0">
                <a:solidFill>
                  <a:schemeClr val="tx1"/>
                </a:solidFill>
                <a:ea typeface="+mn-ea"/>
                <a:cs typeface="+mn-cs"/>
              </a:rPr>
              <a:t>Have a query or a problem and need assistance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Their data is not received as and when expected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Data provided by them is incorrect or insufficient for the intended purpose, as explained to them during their training</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17300717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to present considerations when collecting data:</a:t>
            </a:r>
          </a:p>
          <a:p>
            <a:pPr marL="171450" indent="-171450">
              <a:buFont typeface="Arial" pitchFamily="34" charset="0"/>
              <a:buChar char="•"/>
            </a:pPr>
            <a:r>
              <a:rPr lang="en-AU" sz="1200" kern="1200" dirty="0" smtClean="0">
                <a:solidFill>
                  <a:schemeClr val="tx1"/>
                </a:solidFill>
                <a:ea typeface="+mn-ea"/>
                <a:cs typeface="+mn-cs"/>
              </a:rPr>
              <a:t>Physically collect the data – which may require:</a:t>
            </a:r>
          </a:p>
          <a:p>
            <a:pPr marL="628650" lvl="1" indent="-171450">
              <a:buFont typeface="Arial" pitchFamily="34" charset="0"/>
              <a:buChar char="•"/>
            </a:pPr>
            <a:r>
              <a:rPr lang="en-US" sz="1200" kern="1200" dirty="0" smtClean="0">
                <a:solidFill>
                  <a:schemeClr val="tx1"/>
                </a:solidFill>
                <a:ea typeface="+mn-ea"/>
                <a:cs typeface="+mn-cs"/>
              </a:rPr>
              <a:t>Travelling to sites to read meters and equipment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hard copy sheets of data from on-site collectors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Using telemetry connected to metering devices to obtain readings remotely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Liaising with consultants to capture their information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Retrieving data sent electronically (or otherwise) to a designated site/location – such as by email, posting to a site, text, any digital platform or mail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Collate the data – by: </a:t>
            </a:r>
          </a:p>
          <a:p>
            <a:pPr marL="628650" lvl="1" indent="-171450">
              <a:buFont typeface="Arial" pitchFamily="34" charset="0"/>
              <a:buChar char="•"/>
            </a:pPr>
            <a:r>
              <a:rPr lang="en-AU" sz="1200" kern="1200" dirty="0" smtClean="0">
                <a:solidFill>
                  <a:schemeClr val="tx1"/>
                </a:solidFill>
                <a:ea typeface="+mn-ea"/>
                <a:cs typeface="+mn-cs"/>
              </a:rPr>
              <a:t>Assessing it to determine exactly what the data is about/what it represents or refers to</a:t>
            </a:r>
          </a:p>
          <a:p>
            <a:pPr marL="628650" lvl="1" indent="-171450">
              <a:buFont typeface="Arial" pitchFamily="34" charset="0"/>
              <a:buChar char="•"/>
            </a:pPr>
            <a:r>
              <a:rPr lang="en-US" sz="1200" kern="1200" dirty="0" smtClean="0">
                <a:solidFill>
                  <a:schemeClr val="tx1"/>
                </a:solidFill>
                <a:ea typeface="+mn-ea"/>
                <a:cs typeface="+mn-cs"/>
              </a:rPr>
              <a:t>Entering the information provided </a:t>
            </a:r>
            <a:r>
              <a:rPr lang="en-AU" sz="1200" kern="1200" dirty="0" smtClean="0">
                <a:solidFill>
                  <a:schemeClr val="tx1"/>
                </a:solidFill>
                <a:ea typeface="+mn-ea"/>
                <a:cs typeface="+mn-cs"/>
              </a:rPr>
              <a:t>into prescribed ‘fields’ in a paper-based or electronic database</a:t>
            </a:r>
          </a:p>
          <a:p>
            <a:pPr marL="171450" indent="-171450">
              <a:buFont typeface="Arial" pitchFamily="34" charset="0"/>
              <a:buChar char="•"/>
            </a:pPr>
            <a:r>
              <a:rPr lang="en-AU" sz="1200" kern="1200" dirty="0" smtClean="0">
                <a:solidFill>
                  <a:schemeClr val="tx1"/>
                </a:solidFill>
                <a:ea typeface="+mn-ea"/>
                <a:cs typeface="+mn-cs"/>
              </a:rPr>
              <a:t>Manipulate the data – which traditionally involves: </a:t>
            </a:r>
          </a:p>
          <a:p>
            <a:pPr marL="628650" lvl="1" indent="-171450">
              <a:buFont typeface="Arial" pitchFamily="34" charset="0"/>
              <a:buChar char="•"/>
            </a:pPr>
            <a:r>
              <a:rPr lang="en-AU" sz="1200" kern="1200" dirty="0" smtClean="0">
                <a:solidFill>
                  <a:schemeClr val="tx1"/>
                </a:solidFill>
                <a:ea typeface="+mn-ea"/>
                <a:cs typeface="+mn-cs"/>
              </a:rPr>
              <a:t>Performing addition, subtraction, multiplication, division to generate relevant totals, percentages, and ratios</a:t>
            </a:r>
          </a:p>
          <a:p>
            <a:pPr marL="628650" lvl="1" indent="-171450">
              <a:buFont typeface="Arial" pitchFamily="34" charset="0"/>
              <a:buChar char="•"/>
            </a:pPr>
            <a:r>
              <a:rPr lang="en-AU" sz="1200" kern="1200" dirty="0" smtClean="0">
                <a:solidFill>
                  <a:schemeClr val="tx1"/>
                </a:solidFill>
                <a:ea typeface="+mn-ea"/>
                <a:cs typeface="+mn-cs"/>
              </a:rPr>
              <a:t>Identifying trends which emerge from the data</a:t>
            </a:r>
          </a:p>
          <a:p>
            <a:pPr marL="628650" lvl="1" indent="-171450">
              <a:buFont typeface="Arial" pitchFamily="34" charset="0"/>
              <a:buChar char="•"/>
            </a:pPr>
            <a:r>
              <a:rPr lang="en-AU" sz="1200" kern="1200" dirty="0" smtClean="0">
                <a:solidFill>
                  <a:schemeClr val="tx1"/>
                </a:solidFill>
                <a:ea typeface="+mn-ea"/>
                <a:cs typeface="+mn-cs"/>
              </a:rPr>
              <a:t>Drawing distinctions and comparisons between ‘before’ and ‘after’ data</a:t>
            </a:r>
          </a:p>
          <a:p>
            <a:pPr marL="628650" lvl="1" indent="-171450">
              <a:buFont typeface="Arial" pitchFamily="34" charset="0"/>
              <a:buChar char="•"/>
            </a:pPr>
            <a:r>
              <a:rPr lang="en-AU" sz="1200" kern="1200" dirty="0" smtClean="0">
                <a:solidFill>
                  <a:schemeClr val="tx1"/>
                </a:solidFill>
                <a:ea typeface="+mn-ea"/>
                <a:cs typeface="+mn-cs"/>
              </a:rPr>
              <a:t>Generating findings from the data based on statistical/fact-based evidence</a:t>
            </a:r>
          </a:p>
          <a:p>
            <a:pPr marL="171450" indent="-171450">
              <a:buFont typeface="Arial" pitchFamily="34" charset="0"/>
              <a:buChar char="•"/>
            </a:pPr>
            <a:r>
              <a:rPr lang="en-AU" sz="1200" kern="1200" dirty="0" smtClean="0">
                <a:solidFill>
                  <a:schemeClr val="tx1"/>
                </a:solidFill>
                <a:ea typeface="+mn-ea"/>
                <a:cs typeface="+mn-cs"/>
              </a:rPr>
              <a:t>Share the data and the findings – through a blend of approaches appropriate to the project, which may include:</a:t>
            </a:r>
          </a:p>
          <a:p>
            <a:pPr marL="628650" lvl="1" indent="-171450">
              <a:buFont typeface="Arial" pitchFamily="34" charset="0"/>
              <a:buChar char="•"/>
            </a:pPr>
            <a:r>
              <a:rPr lang="en-AU" sz="1200" kern="1200" dirty="0" smtClean="0">
                <a:solidFill>
                  <a:schemeClr val="tx1"/>
                </a:solidFill>
                <a:ea typeface="+mn-ea"/>
                <a:cs typeface="+mn-cs"/>
              </a:rPr>
              <a:t>Stakeholder meetings and public meetings</a:t>
            </a:r>
          </a:p>
          <a:p>
            <a:pPr marL="628650" lvl="1" indent="-171450">
              <a:buFont typeface="Arial" pitchFamily="34" charset="0"/>
              <a:buChar char="•"/>
            </a:pPr>
            <a:r>
              <a:rPr lang="en-AU" sz="1200" kern="1200" dirty="0" smtClean="0">
                <a:solidFill>
                  <a:schemeClr val="tx1"/>
                </a:solidFill>
                <a:ea typeface="+mn-ea"/>
                <a:cs typeface="+mn-cs"/>
              </a:rPr>
              <a:t>Press releases and interviews with the media</a:t>
            </a:r>
          </a:p>
          <a:p>
            <a:pPr marL="628650" lvl="1" indent="-171450">
              <a:buFont typeface="Arial" pitchFamily="34" charset="0"/>
              <a:buChar char="•"/>
            </a:pPr>
            <a:r>
              <a:rPr lang="en-AU" sz="1200" kern="1200" dirty="0" smtClean="0">
                <a:solidFill>
                  <a:schemeClr val="tx1"/>
                </a:solidFill>
                <a:ea typeface="+mn-ea"/>
                <a:cs typeface="+mn-cs"/>
              </a:rPr>
              <a:t>Electronic and/or paper based distribution of information</a:t>
            </a:r>
          </a:p>
          <a:p>
            <a:pPr marL="628650" lvl="1" indent="-171450">
              <a:buFont typeface="Arial" pitchFamily="34" charset="0"/>
              <a:buChar char="•"/>
            </a:pPr>
            <a:r>
              <a:rPr lang="en-AU" sz="1200" kern="1200" dirty="0" smtClean="0">
                <a:solidFill>
                  <a:schemeClr val="tx1"/>
                </a:solidFill>
                <a:ea typeface="+mn-ea"/>
                <a:cs typeface="+mn-cs"/>
              </a:rPr>
              <a:t>Posting information on a nominated website</a:t>
            </a:r>
          </a:p>
          <a:p>
            <a:pPr marL="628650" lvl="1" indent="-171450">
              <a:buFont typeface="Arial" pitchFamily="34" charset="0"/>
              <a:buChar char="•"/>
            </a:pPr>
            <a:r>
              <a:rPr lang="en-AU" sz="1200" kern="1200" dirty="0" smtClean="0">
                <a:solidFill>
                  <a:schemeClr val="tx1"/>
                </a:solidFill>
                <a:ea typeface="+mn-ea"/>
                <a:cs typeface="+mn-cs"/>
              </a:rPr>
              <a:t>Encouraging comment and feedback.</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365020318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gives context by noting feedback </a:t>
            </a:r>
            <a:r>
              <a:rPr lang="en-AU" sz="1200" kern="1200" dirty="0" smtClean="0">
                <a:solidFill>
                  <a:schemeClr val="tx1"/>
                </a:solidFill>
                <a:ea typeface="+mn-ea"/>
                <a:cs typeface="+mn-cs"/>
              </a:rPr>
              <a:t>may be:</a:t>
            </a:r>
          </a:p>
          <a:p>
            <a:pPr marL="171450" indent="-171450">
              <a:buFont typeface="Arial" pitchFamily="34" charset="0"/>
              <a:buChar char="•"/>
            </a:pPr>
            <a:r>
              <a:rPr lang="en-AU" sz="1200" kern="1200" dirty="0" smtClean="0">
                <a:solidFill>
                  <a:schemeClr val="tx1"/>
                </a:solidFill>
                <a:ea typeface="+mn-ea"/>
                <a:cs typeface="+mn-cs"/>
              </a:rPr>
              <a:t>Provided verbally or in written form – the organisation must be prepared to record oral feedback and capture it in written or electronic form</a:t>
            </a:r>
          </a:p>
          <a:p>
            <a:pPr marL="171450" indent="-171450">
              <a:buFont typeface="Arial" pitchFamily="34" charset="0"/>
              <a:buChar char="•"/>
            </a:pPr>
            <a:r>
              <a:rPr lang="en-AU" sz="1200" kern="1200" dirty="0" smtClean="0">
                <a:solidFill>
                  <a:schemeClr val="tx1"/>
                </a:solidFill>
                <a:ea typeface="+mn-ea"/>
                <a:cs typeface="+mn-cs"/>
              </a:rPr>
              <a:t>Positive or negative – the organisation cannot choose to only believe the positive/good feedback it receives because many valid and important points are raised as a result of negative feedback</a:t>
            </a:r>
          </a:p>
          <a:p>
            <a:pPr marL="171450" indent="-171450">
              <a:buFont typeface="Arial" pitchFamily="34" charset="0"/>
              <a:buChar char="•"/>
            </a:pPr>
            <a:r>
              <a:rPr lang="en-AU" sz="1200" kern="1200" dirty="0" smtClean="0">
                <a:solidFill>
                  <a:schemeClr val="tx1"/>
                </a:solidFill>
                <a:ea typeface="+mn-ea"/>
                <a:cs typeface="+mn-cs"/>
              </a:rPr>
              <a:t>Offered willingly without having to be requested or sought out – or it may need to be asked for</a:t>
            </a:r>
          </a:p>
          <a:p>
            <a:pPr marL="171450" indent="-171450">
              <a:buFont typeface="Arial" pitchFamily="34" charset="0"/>
              <a:buChar char="•"/>
            </a:pPr>
            <a:r>
              <a:rPr lang="en-AU" sz="1200" kern="1200" dirty="0" smtClean="0">
                <a:solidFill>
                  <a:schemeClr val="tx1"/>
                </a:solidFill>
                <a:ea typeface="+mn-ea"/>
                <a:cs typeface="+mn-cs"/>
              </a:rPr>
              <a:t>Given by a person or a group – some individuals prefer the anonymity of contributing feedback by being part of a larger cohort of people  </a:t>
            </a:r>
          </a:p>
          <a:p>
            <a:pPr marL="171450" indent="-171450">
              <a:buFont typeface="Arial" pitchFamily="34" charset="0"/>
              <a:buChar char="•"/>
            </a:pPr>
            <a:r>
              <a:rPr lang="en-AU" sz="1200" kern="1200" dirty="0" smtClean="0">
                <a:solidFill>
                  <a:schemeClr val="tx1"/>
                </a:solidFill>
                <a:ea typeface="+mn-ea"/>
                <a:cs typeface="+mn-cs"/>
              </a:rPr>
              <a:t>‘Compulsory’ – while communities may make input based on their inherent involvement in the initiative and the way it is likely to impact them, others (staff, consultants, paid members of the local community) may be ‘required’ to submit feedback as part of the arrangement that is made with them.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245047410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 ways to encourage feedback:</a:t>
            </a:r>
          </a:p>
          <a:p>
            <a:pPr marL="171450" indent="-171450">
              <a:buFont typeface="Arial" pitchFamily="34" charset="0"/>
              <a:buChar char="•"/>
            </a:pPr>
            <a:r>
              <a:rPr lang="en-AU" sz="1200" kern="1200" dirty="0" smtClean="0">
                <a:solidFill>
                  <a:schemeClr val="tx1"/>
                </a:solidFill>
                <a:ea typeface="+mn-ea"/>
                <a:cs typeface="+mn-cs"/>
              </a:rPr>
              <a:t>Make people aware from the outset that feedback is being sought – and that the organisation:</a:t>
            </a:r>
          </a:p>
          <a:p>
            <a:pPr marL="628650" lvl="1" indent="-171450">
              <a:buFont typeface="Arial" pitchFamily="34" charset="0"/>
              <a:buChar char="•"/>
            </a:pPr>
            <a:r>
              <a:rPr lang="en-AU" sz="1200" kern="1200" dirty="0" smtClean="0">
                <a:solidFill>
                  <a:schemeClr val="tx1"/>
                </a:solidFill>
                <a:ea typeface="+mn-ea"/>
                <a:cs typeface="+mn-cs"/>
              </a:rPr>
              <a:t>Welcomes it</a:t>
            </a:r>
          </a:p>
          <a:p>
            <a:pPr marL="628650" lvl="1" indent="-171450">
              <a:buFont typeface="Arial" pitchFamily="34" charset="0"/>
              <a:buChar char="•"/>
            </a:pPr>
            <a:r>
              <a:rPr lang="en-AU" sz="1200" kern="1200" dirty="0" smtClean="0">
                <a:solidFill>
                  <a:schemeClr val="tx1"/>
                </a:solidFill>
                <a:ea typeface="+mn-ea"/>
                <a:cs typeface="+mn-cs"/>
              </a:rPr>
              <a:t>Provides mechanisms for people to provide it</a:t>
            </a:r>
          </a:p>
          <a:p>
            <a:pPr marL="628650" lvl="1" indent="-171450">
              <a:buFont typeface="Arial" pitchFamily="34" charset="0"/>
              <a:buChar char="•"/>
            </a:pPr>
            <a:r>
              <a:rPr lang="en-AU" sz="1200" kern="1200" dirty="0" smtClean="0">
                <a:solidFill>
                  <a:schemeClr val="tx1"/>
                </a:solidFill>
                <a:ea typeface="+mn-ea"/>
                <a:cs typeface="+mn-cs"/>
              </a:rPr>
              <a:t>Values it</a:t>
            </a:r>
          </a:p>
          <a:p>
            <a:pPr marL="628650" lvl="1" indent="-171450">
              <a:buFont typeface="Arial" pitchFamily="34" charset="0"/>
              <a:buChar char="•"/>
            </a:pPr>
            <a:r>
              <a:rPr lang="en-AU" sz="1200" kern="1200" dirty="0" smtClean="0">
                <a:solidFill>
                  <a:schemeClr val="tx1"/>
                </a:solidFill>
                <a:ea typeface="+mn-ea"/>
                <a:cs typeface="+mn-cs"/>
              </a:rPr>
              <a:t>Will take notice of it</a:t>
            </a:r>
          </a:p>
          <a:p>
            <a:pPr marL="171450" indent="-171450">
              <a:buFont typeface="Arial" pitchFamily="34" charset="0"/>
              <a:buChar char="•"/>
            </a:pPr>
            <a:r>
              <a:rPr lang="en-AU" sz="1200" kern="1200" dirty="0" smtClean="0">
                <a:solidFill>
                  <a:schemeClr val="tx1"/>
                </a:solidFill>
                <a:ea typeface="+mn-ea"/>
                <a:cs typeface="+mn-cs"/>
              </a:rPr>
              <a:t>Maintain a feedback database/file – so all feedback provided and/or captured is recorded and can be classified and used:</a:t>
            </a:r>
          </a:p>
          <a:p>
            <a:pPr marL="628650" lvl="1" indent="-171450">
              <a:buFont typeface="Arial" pitchFamily="34" charset="0"/>
              <a:buChar char="•"/>
            </a:pPr>
            <a:r>
              <a:rPr lang="en-AU" sz="1200" kern="1200" dirty="0" smtClean="0">
                <a:solidFill>
                  <a:schemeClr val="tx1"/>
                </a:solidFill>
                <a:ea typeface="+mn-ea"/>
                <a:cs typeface="+mn-cs"/>
              </a:rPr>
              <a:t>To guide ongoing actions to achieve a minimal impact result</a:t>
            </a:r>
          </a:p>
          <a:p>
            <a:pPr marL="628650" lvl="1" indent="-171450">
              <a:buFont typeface="Arial" pitchFamily="34" charset="0"/>
              <a:buChar char="•"/>
            </a:pPr>
            <a:r>
              <a:rPr lang="en-AU" sz="1200" kern="1200" dirty="0" smtClean="0">
                <a:solidFill>
                  <a:schemeClr val="tx1"/>
                </a:solidFill>
                <a:ea typeface="+mn-ea"/>
                <a:cs typeface="+mn-cs"/>
              </a:rPr>
              <a:t>As part of the evaluation process</a:t>
            </a:r>
          </a:p>
          <a:p>
            <a:pPr marL="171450" indent="-171450">
              <a:buFont typeface="Arial" pitchFamily="34" charset="0"/>
              <a:buChar char="•"/>
            </a:pPr>
            <a:r>
              <a:rPr lang="en-AU" sz="1200" kern="1200" dirty="0" smtClean="0">
                <a:solidFill>
                  <a:schemeClr val="tx1"/>
                </a:solidFill>
                <a:ea typeface="+mn-ea"/>
                <a:cs typeface="+mn-cs"/>
              </a:rPr>
              <a:t>Proactively seek feedback – the organisation must not only signal their initial desire for feedback but they must also:</a:t>
            </a:r>
          </a:p>
          <a:p>
            <a:pPr marL="628650" lvl="1" indent="-171450">
              <a:buFont typeface="Arial" pitchFamily="34" charset="0"/>
              <a:buChar char="•"/>
            </a:pPr>
            <a:r>
              <a:rPr lang="en-US" sz="1200" kern="1200" dirty="0" smtClean="0">
                <a:solidFill>
                  <a:schemeClr val="tx1"/>
                </a:solidFill>
                <a:ea typeface="+mn-ea"/>
                <a:cs typeface="+mn-cs"/>
              </a:rPr>
              <a:t>Ask for it at all meetings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Supply forms for people to complete to record their contributions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Apply questionnaires and surveys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Hold focus groups with tour group members, local communities and other involved parties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Conduct consultation and feedback meetings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110894329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ways to encourage feedback:</a:t>
            </a:r>
          </a:p>
          <a:p>
            <a:pPr marL="171450" indent="-171450">
              <a:buFont typeface="Arial" pitchFamily="34" charset="0"/>
              <a:buChar char="•"/>
            </a:pPr>
            <a:r>
              <a:rPr lang="en-AU" sz="1200" kern="1200" dirty="0" smtClean="0">
                <a:solidFill>
                  <a:schemeClr val="tx1"/>
                </a:solidFill>
                <a:ea typeface="+mn-ea"/>
                <a:cs typeface="+mn-cs"/>
              </a:rPr>
              <a:t>Thank people for making contributions – because this:</a:t>
            </a:r>
          </a:p>
          <a:p>
            <a:pPr marL="628650" lvl="1" indent="-171450">
              <a:buFont typeface="Arial" pitchFamily="34" charset="0"/>
              <a:buChar char="•"/>
            </a:pPr>
            <a:r>
              <a:rPr lang="en-US" sz="1200" kern="1200" dirty="0" smtClean="0">
                <a:solidFill>
                  <a:schemeClr val="tx1"/>
                </a:solidFill>
                <a:ea typeface="+mn-ea"/>
                <a:cs typeface="+mn-cs"/>
              </a:rPr>
              <a:t>Is polite and respectful</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Generates moiré feedback</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Demonstrates the positive orientation of the organisation to feedback </a:t>
            </a:r>
            <a:r>
              <a:rPr lang="en-US" sz="1200" i="1" kern="1200" dirty="0" smtClean="0">
                <a:solidFill>
                  <a:schemeClr val="tx1"/>
                </a:solidFill>
                <a:ea typeface="+mn-ea"/>
                <a:cs typeface="+mn-cs"/>
              </a:rPr>
              <a:t>even if it is negative comment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De-brief with staff who have been involved with the activity – which can occur:</a:t>
            </a:r>
          </a:p>
          <a:p>
            <a:pPr marL="628650" lvl="1" indent="-171450">
              <a:buFont typeface="Arial" pitchFamily="34" charset="0"/>
              <a:buChar char="•"/>
            </a:pPr>
            <a:r>
              <a:rPr lang="en-US" sz="1200" kern="1200" dirty="0" smtClean="0">
                <a:solidFill>
                  <a:schemeClr val="tx1"/>
                </a:solidFill>
                <a:ea typeface="+mn-ea"/>
                <a:cs typeface="+mn-cs"/>
              </a:rPr>
              <a:t>Face-to-face at the conclusion of tours or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At staff meetings and briefings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Through the completion of mandatory Reports to be compiled at the end of each tour or activity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Meet on-site with other parties which may be done by integrating them into a standard tour group or holding a dedicated tour/activity just for them – to:</a:t>
            </a:r>
          </a:p>
          <a:p>
            <a:pPr marL="628650" lvl="1" indent="-171450">
              <a:buFont typeface="Arial" pitchFamily="34" charset="0"/>
              <a:buChar char="•"/>
            </a:pPr>
            <a:r>
              <a:rPr lang="en-US" sz="1200" kern="1200" dirty="0" smtClean="0">
                <a:solidFill>
                  <a:schemeClr val="tx1"/>
                </a:solidFill>
                <a:ea typeface="+mn-ea"/>
                <a:cs typeface="+mn-cs"/>
              </a:rPr>
              <a:t>Enable them to experience the initiative first-hand – as opposed to them thinking they know what the activity/operation is all about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Seek and record their impressions as they experience the initiative, and at the conclusion of the activity</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Sharing the feedback – with key stakeholders:</a:t>
            </a:r>
          </a:p>
          <a:p>
            <a:pPr marL="628650" lvl="1" indent="-171450">
              <a:buFont typeface="Arial" pitchFamily="34" charset="0"/>
              <a:buChar char="•"/>
            </a:pPr>
            <a:r>
              <a:rPr lang="en-US" sz="1200" kern="1200" dirty="0" smtClean="0">
                <a:solidFill>
                  <a:schemeClr val="tx1"/>
                </a:solidFill>
                <a:ea typeface="+mn-ea"/>
                <a:cs typeface="+mn-cs"/>
              </a:rPr>
              <a:t>Verbally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Electronically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Using hard copy information. </a:t>
            </a:r>
            <a:endParaRPr lang="en-AU" sz="1200" kern="1200" dirty="0" smtClean="0">
              <a:solidFill>
                <a:schemeClr val="tx1"/>
              </a:solidFill>
              <a:ea typeface="+mn-ea"/>
              <a:cs typeface="+mn-cs"/>
            </a:endParaRP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58090148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provides context observing:</a:t>
            </a:r>
          </a:p>
          <a:p>
            <a:pPr marL="171450" indent="-171450">
              <a:buFont typeface="Arial" pitchFamily="34" charset="0"/>
              <a:buChar char="•"/>
            </a:pPr>
            <a:r>
              <a:rPr lang="en-AU" sz="1200" kern="1200" dirty="0" smtClean="0">
                <a:solidFill>
                  <a:schemeClr val="tx1"/>
                </a:solidFill>
                <a:ea typeface="+mn-ea"/>
                <a:cs typeface="+mn-cs"/>
              </a:rPr>
              <a:t>The Tourism Operator has a commercial objective – that is, they want to make money and obtain a satisfactory ROI from the project </a:t>
            </a:r>
          </a:p>
          <a:p>
            <a:pPr marL="628650" lvl="1" indent="-171450">
              <a:buFont typeface="Arial" pitchFamily="34" charset="0"/>
              <a:buChar char="•"/>
            </a:pPr>
            <a:r>
              <a:rPr lang="en-AU" sz="1200" kern="1200" dirty="0" smtClean="0">
                <a:solidFill>
                  <a:schemeClr val="tx1"/>
                </a:solidFill>
                <a:ea typeface="+mn-ea"/>
                <a:cs typeface="+mn-cs"/>
              </a:rPr>
              <a:t>This is just a simple fact of business life but it often runs contrary to the aims of other stakeholders</a:t>
            </a:r>
          </a:p>
          <a:p>
            <a:pPr marL="171450" indent="-171450">
              <a:buFont typeface="Arial" pitchFamily="34" charset="0"/>
              <a:buChar char="•"/>
            </a:pPr>
            <a:r>
              <a:rPr lang="en-AU" sz="1200" kern="1200" dirty="0" smtClean="0">
                <a:solidFill>
                  <a:schemeClr val="tx1"/>
                </a:solidFill>
                <a:ea typeface="+mn-ea"/>
                <a:cs typeface="+mn-cs"/>
              </a:rPr>
              <a:t>Impacts can be positive or negative – not all outcomes will be advantages to a community but nor will they necessarily all be bad.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1426865765"/>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provide context noting:</a:t>
            </a:r>
          </a:p>
          <a:p>
            <a:pPr marL="171450" indent="-171450">
              <a:buFont typeface="Arial" pitchFamily="34" charset="0"/>
              <a:buChar char="•"/>
            </a:pPr>
            <a:r>
              <a:rPr lang="en-AU" sz="1200" kern="1200" dirty="0" smtClean="0">
                <a:solidFill>
                  <a:schemeClr val="tx1"/>
                </a:solidFill>
                <a:ea typeface="+mn-ea"/>
                <a:cs typeface="+mn-cs"/>
              </a:rPr>
              <a:t>Different people have different perspectives and priorities – what is important for one person/group is not necessarily what is important for another person/group </a:t>
            </a:r>
          </a:p>
          <a:p>
            <a:pPr marL="628650" lvl="1" indent="-171450">
              <a:buFont typeface="Arial" pitchFamily="34" charset="0"/>
              <a:buChar char="•"/>
            </a:pPr>
            <a:r>
              <a:rPr lang="en-AU" sz="1200" kern="1200" dirty="0" smtClean="0">
                <a:solidFill>
                  <a:schemeClr val="tx1"/>
                </a:solidFill>
                <a:ea typeface="+mn-ea"/>
                <a:cs typeface="+mn-cs"/>
              </a:rPr>
              <a:t>The key is often to find a consensus outcome (which often needs to be negotiated – that is, there needs to be ‘give and take’ between the parties) which satisfies all those who are interested or impacted</a:t>
            </a:r>
          </a:p>
          <a:p>
            <a:pPr marL="171450" indent="-171450">
              <a:buFont typeface="Arial" pitchFamily="34" charset="0"/>
              <a:buChar char="•"/>
            </a:pPr>
            <a:r>
              <a:rPr lang="en-AU" sz="1200" kern="1200" dirty="0" smtClean="0">
                <a:solidFill>
                  <a:schemeClr val="tx1"/>
                </a:solidFill>
                <a:ea typeface="+mn-ea"/>
                <a:cs typeface="+mn-cs"/>
              </a:rPr>
              <a:t>Issues and impacts vary over time and between different projects – based on factors which are relevant to the project and/or that apply ‘at the time’</a:t>
            </a:r>
          </a:p>
          <a:p>
            <a:pPr marL="628650" lvl="1" indent="-171450">
              <a:buFont typeface="Arial" pitchFamily="34" charset="0"/>
              <a:buChar char="•"/>
            </a:pPr>
            <a:r>
              <a:rPr lang="en-AU" sz="1200" kern="1200" dirty="0" smtClean="0">
                <a:solidFill>
                  <a:schemeClr val="tx1"/>
                </a:solidFill>
                <a:ea typeface="+mn-ea"/>
                <a:cs typeface="+mn-cs"/>
              </a:rPr>
              <a:t>In practice, no two minimal impact tourism initiatives are the same even though they may appear similar and even though </a:t>
            </a:r>
            <a:r>
              <a:rPr lang="en-AU" sz="1200" i="1" kern="1200" dirty="0" smtClean="0">
                <a:solidFill>
                  <a:schemeClr val="tx1"/>
                </a:solidFill>
                <a:ea typeface="+mn-ea"/>
                <a:cs typeface="+mn-cs"/>
              </a:rPr>
              <a:t>some</a:t>
            </a:r>
            <a:r>
              <a:rPr lang="en-AU" sz="1200" kern="1200" dirty="0" smtClean="0">
                <a:solidFill>
                  <a:schemeClr val="tx1"/>
                </a:solidFill>
                <a:ea typeface="+mn-ea"/>
                <a:cs typeface="+mn-cs"/>
              </a:rPr>
              <a:t> lessons learned from one operation can be successfully transferred/applied to another project</a:t>
            </a:r>
          </a:p>
          <a:p>
            <a:pPr marL="171450" indent="-171450">
              <a:buFont typeface="Arial" pitchFamily="34" charset="0"/>
              <a:buChar char="•"/>
            </a:pPr>
            <a:r>
              <a:rPr lang="en-AU" sz="1200" kern="1200" dirty="0" smtClean="0">
                <a:solidFill>
                  <a:schemeClr val="tx1"/>
                </a:solidFill>
                <a:ea typeface="+mn-ea"/>
                <a:cs typeface="+mn-cs"/>
              </a:rPr>
              <a:t>An organisation that is genuine in its orientation to minimal impact tourism operations must be prepared to walk away from an initiative when it is obvious the impacts of the proposal are just too severe – this is the only sensible and responsible thing that can be done</a:t>
            </a:r>
          </a:p>
          <a:p>
            <a:pPr marL="628650" lvl="1" indent="-171450">
              <a:buFont typeface="Arial" pitchFamily="34" charset="0"/>
              <a:buChar char="•"/>
            </a:pPr>
            <a:r>
              <a:rPr lang="en-AU" sz="1200" kern="1200" dirty="0" smtClean="0">
                <a:solidFill>
                  <a:schemeClr val="tx1"/>
                </a:solidFill>
                <a:ea typeface="+mn-ea"/>
                <a:cs typeface="+mn-cs"/>
              </a:rPr>
              <a:t>Abandoning/cancelling a project for this reason may be costly to the organisation but it has benefits in terms of its industry reputation and the credibility such a decision will create with customers, government agencies and local communities generally</a:t>
            </a:r>
          </a:p>
          <a:p>
            <a:pPr marL="628650" lvl="1" indent="-171450">
              <a:buFont typeface="Arial" pitchFamily="34" charset="0"/>
              <a:buChar char="•"/>
            </a:pPr>
            <a:r>
              <a:rPr lang="en-AU" sz="1200" kern="1200" dirty="0" smtClean="0">
                <a:solidFill>
                  <a:schemeClr val="tx1"/>
                </a:solidFill>
                <a:ea typeface="+mn-ea"/>
                <a:cs typeface="+mn-cs"/>
              </a:rPr>
              <a:t>Such a decision also tends to make future minimal impact tourism initiatives much easier to plan, trial and implement.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423476413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the four basic options </a:t>
            </a:r>
            <a:r>
              <a:rPr lang="en-AU" sz="1200" kern="1200" dirty="0" smtClean="0">
                <a:solidFill>
                  <a:schemeClr val="tx1"/>
                </a:solidFill>
                <a:ea typeface="+mn-ea"/>
                <a:cs typeface="+mn-cs"/>
              </a:rPr>
              <a:t>at this stage:</a:t>
            </a:r>
          </a:p>
          <a:p>
            <a:pPr marL="171450" indent="-171450">
              <a:buFont typeface="Arial" pitchFamily="34" charset="0"/>
              <a:buChar char="•"/>
            </a:pPr>
            <a:r>
              <a:rPr lang="en-AU" sz="1200" kern="1200" dirty="0" smtClean="0">
                <a:solidFill>
                  <a:schemeClr val="tx1"/>
                </a:solidFill>
                <a:ea typeface="+mn-ea"/>
                <a:cs typeface="+mn-cs"/>
              </a:rPr>
              <a:t>Abandon the project – which may require:</a:t>
            </a:r>
          </a:p>
          <a:p>
            <a:pPr marL="628650" lvl="1" indent="-171450">
              <a:buFont typeface="Arial" pitchFamily="34" charset="0"/>
              <a:buChar char="•"/>
            </a:pPr>
            <a:r>
              <a:rPr lang="en-US" sz="1200" kern="1200" dirty="0" smtClean="0">
                <a:solidFill>
                  <a:schemeClr val="tx1"/>
                </a:solidFill>
                <a:ea typeface="+mn-ea"/>
                <a:cs typeface="+mn-cs"/>
              </a:rPr>
              <a:t>Removing structures and/or infrastructure built in the location on a permanent/temporary basis for the initiative (or these may remain as a donation/gift by the Tourism Operator to the local community, if agreeable to both parties)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Re-generating damaged or impacted land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Replenishing depleted resources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Paying compensation to the local community</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Do nothing – which means, for example:</a:t>
            </a:r>
          </a:p>
          <a:p>
            <a:pPr marL="628650" lvl="1" indent="-171450">
              <a:buFont typeface="Arial" pitchFamily="34" charset="0"/>
              <a:buChar char="•"/>
            </a:pPr>
            <a:r>
              <a:rPr lang="en-AU" sz="1200" kern="1200" dirty="0" smtClean="0">
                <a:solidFill>
                  <a:schemeClr val="tx1"/>
                </a:solidFill>
                <a:ea typeface="+mn-ea"/>
                <a:cs typeface="+mn-cs"/>
              </a:rPr>
              <a:t>Continue running tours as previously done</a:t>
            </a:r>
          </a:p>
          <a:p>
            <a:pPr marL="628650" lvl="1" indent="-171450">
              <a:buFont typeface="Arial" pitchFamily="34" charset="0"/>
              <a:buChar char="•"/>
            </a:pPr>
            <a:r>
              <a:rPr lang="en-AU" sz="1200" kern="1200" dirty="0" smtClean="0">
                <a:solidFill>
                  <a:schemeClr val="tx1"/>
                </a:solidFill>
                <a:ea typeface="+mn-ea"/>
                <a:cs typeface="+mn-cs"/>
              </a:rPr>
              <a:t>Employ the same people</a:t>
            </a:r>
          </a:p>
          <a:p>
            <a:pPr marL="628650" lvl="1" indent="-171450">
              <a:buFont typeface="Arial" pitchFamily="34" charset="0"/>
              <a:buChar char="•"/>
            </a:pPr>
            <a:r>
              <a:rPr lang="en-AU" sz="1200" kern="1200" dirty="0" smtClean="0">
                <a:solidFill>
                  <a:schemeClr val="tx1"/>
                </a:solidFill>
                <a:ea typeface="+mn-ea"/>
                <a:cs typeface="+mn-cs"/>
              </a:rPr>
              <a:t>Visit/conduct activities in the same location with the same frequency</a:t>
            </a:r>
          </a:p>
          <a:p>
            <a:pPr marL="628650" lvl="1" indent="-171450">
              <a:buFont typeface="Arial" pitchFamily="34" charset="0"/>
              <a:buChar char="•"/>
            </a:pPr>
            <a:r>
              <a:rPr lang="en-AU" sz="1200" kern="1200" dirty="0" smtClean="0">
                <a:solidFill>
                  <a:schemeClr val="tx1"/>
                </a:solidFill>
                <a:ea typeface="+mn-ea"/>
                <a:cs typeface="+mn-cs"/>
              </a:rPr>
              <a:t>Maintain visitor/tour/activity numbers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8168359"/>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to discuss basic options at this stage:</a:t>
            </a:r>
          </a:p>
          <a:p>
            <a:pPr marL="171450" indent="-171450">
              <a:buFont typeface="Arial" pitchFamily="34" charset="0"/>
              <a:buChar char="•"/>
            </a:pPr>
            <a:r>
              <a:rPr lang="en-AU" sz="1200" kern="1200" dirty="0" smtClean="0">
                <a:solidFill>
                  <a:schemeClr val="tx1"/>
                </a:solidFill>
                <a:ea typeface="+mn-ea"/>
                <a:cs typeface="+mn-cs"/>
              </a:rPr>
              <a:t>Capitalise on any positive outcomes – which may involve, for example:</a:t>
            </a:r>
          </a:p>
          <a:p>
            <a:pPr marL="628650" lvl="1" indent="-171450">
              <a:buFont typeface="Arial" pitchFamily="34" charset="0"/>
              <a:buChar char="•"/>
            </a:pPr>
            <a:r>
              <a:rPr lang="en-AU" sz="1200" kern="1200" dirty="0" smtClean="0">
                <a:solidFill>
                  <a:schemeClr val="tx1"/>
                </a:solidFill>
                <a:ea typeface="+mn-ea"/>
                <a:cs typeface="+mn-cs"/>
              </a:rPr>
              <a:t>Building extra buildings or roads</a:t>
            </a:r>
          </a:p>
          <a:p>
            <a:pPr marL="628650" lvl="1" indent="-171450">
              <a:buFont typeface="Arial" pitchFamily="34" charset="0"/>
              <a:buChar char="•"/>
            </a:pPr>
            <a:r>
              <a:rPr lang="en-AU" sz="1200" kern="1200" dirty="0" smtClean="0">
                <a:solidFill>
                  <a:schemeClr val="tx1"/>
                </a:solidFill>
                <a:ea typeface="+mn-ea"/>
                <a:cs typeface="+mn-cs"/>
              </a:rPr>
              <a:t>Employing more people</a:t>
            </a:r>
          </a:p>
          <a:p>
            <a:pPr marL="628650" lvl="1" indent="-171450">
              <a:buFont typeface="Arial" pitchFamily="34" charset="0"/>
              <a:buChar char="•"/>
            </a:pPr>
            <a:r>
              <a:rPr lang="en-AU" sz="1200" kern="1200" dirty="0" smtClean="0">
                <a:solidFill>
                  <a:schemeClr val="tx1"/>
                </a:solidFill>
                <a:ea typeface="+mn-ea"/>
                <a:cs typeface="+mn-cs"/>
              </a:rPr>
              <a:t>Conducting more tours or activities</a:t>
            </a:r>
          </a:p>
          <a:p>
            <a:pPr marL="628650" lvl="1" indent="-171450">
              <a:buFont typeface="Arial" pitchFamily="34" charset="0"/>
              <a:buChar char="•"/>
            </a:pPr>
            <a:r>
              <a:rPr lang="en-AU" sz="1200" kern="1200" dirty="0" smtClean="0">
                <a:solidFill>
                  <a:schemeClr val="tx1"/>
                </a:solidFill>
                <a:ea typeface="+mn-ea"/>
                <a:cs typeface="+mn-cs"/>
              </a:rPr>
              <a:t>Expanding the area used by the pilot program and subsequent activities</a:t>
            </a:r>
          </a:p>
          <a:p>
            <a:pPr marL="628650" lvl="1" indent="-171450">
              <a:buFont typeface="Arial" pitchFamily="34" charset="0"/>
              <a:buChar char="•"/>
            </a:pPr>
            <a:r>
              <a:rPr lang="en-AU" sz="1200" kern="1200" dirty="0" smtClean="0">
                <a:solidFill>
                  <a:schemeClr val="tx1"/>
                </a:solidFill>
                <a:ea typeface="+mn-ea"/>
                <a:cs typeface="+mn-cs"/>
              </a:rPr>
              <a:t>Increasing the duration of tours/activities</a:t>
            </a:r>
          </a:p>
          <a:p>
            <a:pPr marL="628650" lvl="1" indent="-171450">
              <a:buFont typeface="Arial" pitchFamily="34" charset="0"/>
              <a:buChar char="•"/>
            </a:pPr>
            <a:r>
              <a:rPr lang="en-AU" sz="1200" kern="1200" dirty="0" smtClean="0">
                <a:solidFill>
                  <a:schemeClr val="tx1"/>
                </a:solidFill>
                <a:ea typeface="+mn-ea"/>
                <a:cs typeface="+mn-cs"/>
              </a:rPr>
              <a:t>Transferring the initiative to another site/community</a:t>
            </a:r>
          </a:p>
          <a:p>
            <a:pPr marL="171450" indent="-171450">
              <a:buFont typeface="Arial" pitchFamily="34" charset="0"/>
              <a:buChar char="•"/>
            </a:pPr>
            <a:r>
              <a:rPr lang="en-AU" sz="1200" kern="1200" dirty="0" smtClean="0">
                <a:solidFill>
                  <a:schemeClr val="tx1"/>
                </a:solidFill>
                <a:ea typeface="+mn-ea"/>
                <a:cs typeface="+mn-cs"/>
              </a:rPr>
              <a:t>Reduce/eliminate all negative outcomes – which may require action such as:</a:t>
            </a:r>
          </a:p>
          <a:p>
            <a:pPr marL="628650" lvl="1" indent="-171450">
              <a:buFont typeface="Arial" pitchFamily="34" charset="0"/>
              <a:buChar char="•"/>
            </a:pPr>
            <a:r>
              <a:rPr lang="en-US" sz="1200" kern="1200" dirty="0" smtClean="0">
                <a:solidFill>
                  <a:schemeClr val="tx1"/>
                </a:solidFill>
                <a:ea typeface="+mn-ea"/>
                <a:cs typeface="+mn-cs"/>
              </a:rPr>
              <a:t>Re-locating elements of tour/activity to different geographic site – to preserve sites which are getting damaged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Lowering interaction between tour groups and aspects of the site/local community’ – so there is less social impact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Reducing frequency and/or the number of tourists in each group – to lower the likelihood of negative outcomes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Restricting tour/activity site – by limiting activities and routes to more confined areas which will again protect delicate areas and reduce the potential for negative social impacts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Altering inclusions – so environmental concerns are addressed by removing interaction with (for example) a threatened geographical feature or a natural feature which has shown adverse readings in the monitoring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Changing Code of Behaviour for tourists who engage with the local community as part of the tour/activity – so the revised requirements address issues which are causing damage or offence to the social structure of the community</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Negotiating a trade-off with the local community – whereby they may be paid for things which have had a harmful impact on them, or be given (for example) assistance in terms of medical help, food, clothing, buildings, fuel or other goods and services deemed by them to be necessary and appropriate.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836220235"/>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activities in the collaboration process:</a:t>
            </a:r>
          </a:p>
          <a:p>
            <a:pPr marL="171450" indent="-171450">
              <a:buFont typeface="Arial" pitchFamily="34" charset="0"/>
              <a:buChar char="•"/>
            </a:pPr>
            <a:r>
              <a:rPr lang="en-AU" sz="1200" kern="1200" dirty="0" smtClean="0">
                <a:solidFill>
                  <a:schemeClr val="tx1"/>
                </a:solidFill>
                <a:ea typeface="+mn-ea"/>
                <a:cs typeface="+mn-cs"/>
              </a:rPr>
              <a:t>Attend all meetings convened by the local authorities – to demonstrate engagement and willingness with this stage of the process</a:t>
            </a:r>
          </a:p>
          <a:p>
            <a:pPr marL="171450" indent="-171450">
              <a:buFont typeface="Arial" pitchFamily="34" charset="0"/>
              <a:buChar char="•"/>
            </a:pPr>
            <a:r>
              <a:rPr lang="en-AU" sz="1200" kern="1200" dirty="0" smtClean="0">
                <a:solidFill>
                  <a:schemeClr val="tx1"/>
                </a:solidFill>
                <a:ea typeface="+mn-ea"/>
                <a:cs typeface="+mn-cs"/>
              </a:rPr>
              <a:t>Provide requested all information/data to the local authorities – as, how and when requested</a:t>
            </a:r>
          </a:p>
          <a:p>
            <a:pPr marL="171450" indent="-171450">
              <a:buFont typeface="Arial" pitchFamily="34" charset="0"/>
              <a:buChar char="•"/>
            </a:pPr>
            <a:r>
              <a:rPr lang="en-AU" sz="1200" kern="1200" dirty="0" smtClean="0">
                <a:solidFill>
                  <a:schemeClr val="tx1"/>
                </a:solidFill>
                <a:ea typeface="+mn-ea"/>
                <a:cs typeface="+mn-cs"/>
              </a:rPr>
              <a:t>Fund the management process – which may entail:</a:t>
            </a:r>
          </a:p>
          <a:p>
            <a:pPr marL="628650" lvl="1" indent="-171450">
              <a:buFont typeface="Arial" pitchFamily="34" charset="0"/>
              <a:buChar char="•"/>
            </a:pPr>
            <a:r>
              <a:rPr lang="en-US" sz="1200" kern="1200" dirty="0" smtClean="0">
                <a:solidFill>
                  <a:schemeClr val="tx1"/>
                </a:solidFill>
                <a:ea typeface="+mn-ea"/>
                <a:cs typeface="+mn-cs"/>
              </a:rPr>
              <a:t>Pay for required changes to be paid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Pay nominated persons to attend/participate in the management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Supply food and beverages and other support resources for the conduct of meetings and related other actions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Adhere to and honour any previous promises made about what the organisation would do if the monitoring process revealed a certain outcome – the Tourist Operator must remain ‘true to their word’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337130977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activities in the collaboration process:</a:t>
            </a:r>
          </a:p>
          <a:p>
            <a:pPr marL="171450" indent="-171450">
              <a:buFont typeface="Arial" pitchFamily="34" charset="0"/>
              <a:buChar char="•"/>
            </a:pPr>
            <a:r>
              <a:rPr lang="en-AU" sz="1200" kern="1200" dirty="0" smtClean="0">
                <a:solidFill>
                  <a:schemeClr val="tx1"/>
                </a:solidFill>
                <a:ea typeface="+mn-ea"/>
                <a:cs typeface="+mn-cs"/>
              </a:rPr>
              <a:t>Listen to what those who disagree have to say – because it may be the case they have a valid point which needs to be addressed</a:t>
            </a:r>
          </a:p>
          <a:p>
            <a:pPr marL="171450" indent="-171450">
              <a:buFont typeface="Arial" pitchFamily="34" charset="0"/>
              <a:buChar char="•"/>
            </a:pPr>
            <a:r>
              <a:rPr lang="en-AU" sz="1200" kern="1200" dirty="0" smtClean="0">
                <a:solidFill>
                  <a:schemeClr val="tx1"/>
                </a:solidFill>
                <a:ea typeface="+mn-ea"/>
                <a:cs typeface="+mn-cs"/>
              </a:rPr>
              <a:t>Be open and transparent when discussing issues – this can mean:</a:t>
            </a:r>
          </a:p>
          <a:p>
            <a:pPr marL="628650" lvl="1" indent="-171450">
              <a:buFont typeface="Arial" pitchFamily="34" charset="0"/>
              <a:buChar char="•"/>
            </a:pPr>
            <a:r>
              <a:rPr lang="en-US" sz="1200" kern="1200" dirty="0" smtClean="0">
                <a:solidFill>
                  <a:schemeClr val="tx1"/>
                </a:solidFill>
                <a:ea typeface="+mn-ea"/>
                <a:cs typeface="+mn-cs"/>
              </a:rPr>
              <a:t>Showing actual evidence gathered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Making all information/data available – which may mean releasing information which may be regarded as damaging to the Tourist Operator</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Be hard but be fair – the management process is not one where the Tourist Operator just accepts what everyone else says and does what everyone else wants, but is one where:</a:t>
            </a:r>
          </a:p>
          <a:p>
            <a:pPr marL="628650" lvl="1" indent="-171450">
              <a:buFont typeface="Arial" pitchFamily="34" charset="0"/>
              <a:buChar char="•"/>
            </a:pPr>
            <a:r>
              <a:rPr lang="en-US" sz="1200" kern="1200" dirty="0" smtClean="0">
                <a:solidFill>
                  <a:schemeClr val="tx1"/>
                </a:solidFill>
                <a:ea typeface="+mn-ea"/>
                <a:cs typeface="+mn-cs"/>
              </a:rPr>
              <a:t>They are entitled to have their say and argue their point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They should present evidence to support their case/their side of the argument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They are free to contest ill-informed or incorrect points which are raised by opponents of the initiative</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765004856"/>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activities in the collaboration process:</a:t>
            </a:r>
          </a:p>
          <a:p>
            <a:pPr marL="171450" indent="-171450">
              <a:buFont typeface="Arial" pitchFamily="34" charset="0"/>
              <a:buChar char="•"/>
            </a:pPr>
            <a:r>
              <a:rPr lang="en-AU" sz="1200" kern="1200" dirty="0" smtClean="0">
                <a:solidFill>
                  <a:schemeClr val="tx1"/>
                </a:solidFill>
                <a:ea typeface="+mn-ea"/>
                <a:cs typeface="+mn-cs"/>
              </a:rPr>
              <a:t>Conduct additional research and/or monitoring – as/if required to obtain more or different data to enable an informed decision to be made about a topic which is proving to be challenging or difficult to reconcile</a:t>
            </a:r>
          </a:p>
          <a:p>
            <a:pPr marL="171450" indent="-171450">
              <a:buFont typeface="Arial" pitchFamily="34" charset="0"/>
              <a:buChar char="•"/>
            </a:pPr>
            <a:r>
              <a:rPr lang="en-AU" sz="1200" kern="1200" dirty="0" smtClean="0">
                <a:solidFill>
                  <a:schemeClr val="tx1"/>
                </a:solidFill>
                <a:ea typeface="+mn-ea"/>
                <a:cs typeface="+mn-cs"/>
              </a:rPr>
              <a:t>Record the discussions and findings – for future reference so there is a true and accurate record of:</a:t>
            </a:r>
          </a:p>
          <a:p>
            <a:pPr marL="628650" lvl="1" indent="-171450">
              <a:buFont typeface="Arial" pitchFamily="34" charset="0"/>
              <a:buChar char="•"/>
            </a:pPr>
            <a:r>
              <a:rPr lang="en-US" sz="1200" kern="1200" dirty="0" smtClean="0">
                <a:solidFill>
                  <a:schemeClr val="tx1"/>
                </a:solidFill>
                <a:ea typeface="+mn-ea"/>
                <a:cs typeface="+mn-cs"/>
              </a:rPr>
              <a:t>When meetings were conducted, where they occurred and who attended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What was said and discussed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Who said what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Votes that were taken and the results of the votes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Share the deliberations, discussions  and decisions – so:</a:t>
            </a:r>
          </a:p>
          <a:p>
            <a:pPr marL="628650" lvl="1" indent="-171450">
              <a:buFont typeface="Arial" pitchFamily="34" charset="0"/>
              <a:buChar char="•"/>
            </a:pPr>
            <a:r>
              <a:rPr lang="en-US" sz="1200" kern="1200" dirty="0" smtClean="0">
                <a:solidFill>
                  <a:schemeClr val="tx1"/>
                </a:solidFill>
                <a:ea typeface="+mn-ea"/>
                <a:cs typeface="+mn-cs"/>
              </a:rPr>
              <a:t>All stakeholders are aware of the process and know what took place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Transparency of decision making can be maintained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Make suggestions for action – this must be done to accommodate the identified issues and concerns raised by the initiative but also needs to be done in a way that:</a:t>
            </a:r>
          </a:p>
          <a:p>
            <a:pPr marL="628650" lvl="1" indent="-171450">
              <a:buFont typeface="Arial" pitchFamily="34" charset="0"/>
              <a:buChar char="•"/>
            </a:pPr>
            <a:r>
              <a:rPr lang="en-US" sz="1200" kern="1200" dirty="0" smtClean="0">
                <a:solidFill>
                  <a:schemeClr val="tx1"/>
                </a:solidFill>
                <a:ea typeface="+mn-ea"/>
                <a:cs typeface="+mn-cs"/>
              </a:rPr>
              <a:t>Meets the commercial imperatives of the Tourist Operator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Demonstrates the professionalism and industry knowledge and expertise of the Operator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Optimises the potential for future minimal impact tourism to be well received.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1004264856"/>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context for this step observing </a:t>
            </a:r>
            <a:r>
              <a:rPr lang="en-AU" sz="1200" kern="1200" dirty="0" smtClean="0">
                <a:solidFill>
                  <a:schemeClr val="tx1"/>
                </a:solidFill>
                <a:ea typeface="+mn-ea"/>
                <a:cs typeface="+mn-cs"/>
              </a:rPr>
              <a:t>the changes which are made to the plans:</a:t>
            </a:r>
          </a:p>
          <a:p>
            <a:pPr marL="171450" indent="-171450">
              <a:buFont typeface="Arial" pitchFamily="34" charset="0"/>
              <a:buChar char="•"/>
            </a:pPr>
            <a:r>
              <a:rPr lang="en-AU" sz="1200" kern="1200" dirty="0" smtClean="0">
                <a:solidFill>
                  <a:schemeClr val="tx1"/>
                </a:solidFill>
                <a:ea typeface="+mn-ea"/>
                <a:cs typeface="+mn-cs"/>
              </a:rPr>
              <a:t>Must address identified need</a:t>
            </a:r>
          </a:p>
          <a:p>
            <a:pPr marL="171450" indent="-171450">
              <a:buFont typeface="Arial" pitchFamily="34" charset="0"/>
              <a:buChar char="•"/>
            </a:pPr>
            <a:r>
              <a:rPr lang="en-AU" sz="1200" kern="1200" dirty="0" smtClean="0">
                <a:solidFill>
                  <a:schemeClr val="tx1"/>
                </a:solidFill>
                <a:ea typeface="+mn-ea"/>
                <a:cs typeface="+mn-cs"/>
              </a:rPr>
              <a:t>Must be put in writing</a:t>
            </a:r>
          </a:p>
          <a:p>
            <a:pPr marL="171450" indent="-171450">
              <a:buFont typeface="Arial" pitchFamily="34" charset="0"/>
              <a:buChar char="•"/>
            </a:pPr>
            <a:r>
              <a:rPr lang="en-AU" sz="1200" kern="1200" dirty="0" smtClean="0">
                <a:solidFill>
                  <a:schemeClr val="tx1"/>
                </a:solidFill>
                <a:ea typeface="+mn-ea"/>
                <a:cs typeface="+mn-cs"/>
              </a:rPr>
              <a:t>Must be integrated into the existing plan</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302441640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give context for this stage observing changes:</a:t>
            </a:r>
          </a:p>
          <a:p>
            <a:pPr marL="171450" indent="-171450">
              <a:buFont typeface="Arial" pitchFamily="34" charset="0"/>
              <a:buChar char="•"/>
            </a:pPr>
            <a:r>
              <a:rPr lang="en-AU" sz="1200" kern="1200" dirty="0" smtClean="0">
                <a:solidFill>
                  <a:schemeClr val="tx1"/>
                </a:solidFill>
                <a:ea typeface="+mn-ea"/>
                <a:cs typeface="+mn-cs"/>
              </a:rPr>
              <a:t>Must be based on actual/factual evidence </a:t>
            </a:r>
          </a:p>
          <a:p>
            <a:pPr marL="171450" indent="-171450">
              <a:buFont typeface="Arial" pitchFamily="34" charset="0"/>
              <a:buChar char="•"/>
            </a:pPr>
            <a:r>
              <a:rPr lang="en-AU" sz="1200" kern="1200" dirty="0" smtClean="0">
                <a:solidFill>
                  <a:schemeClr val="tx1"/>
                </a:solidFill>
                <a:ea typeface="+mn-ea"/>
                <a:cs typeface="+mn-cs"/>
              </a:rPr>
              <a:t>Must be approved by those in the project management team</a:t>
            </a:r>
          </a:p>
          <a:p>
            <a:pPr marL="171450" indent="-171450">
              <a:buFont typeface="Arial" pitchFamily="34" charset="0"/>
              <a:buChar char="•"/>
            </a:pPr>
            <a:r>
              <a:rPr lang="en-AU" sz="1200" kern="1200" dirty="0" smtClean="0">
                <a:solidFill>
                  <a:schemeClr val="tx1"/>
                </a:solidFill>
                <a:ea typeface="+mn-ea"/>
                <a:cs typeface="+mn-cs"/>
              </a:rPr>
              <a:t>Must be communicated with relevant stakeholders and with those who have responsibility allocated to them under the revised plan.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123096821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changes to plans may include:</a:t>
            </a:r>
          </a:p>
          <a:p>
            <a:pPr marL="171450" indent="-171450">
              <a:buFont typeface="Arial" pitchFamily="34" charset="0"/>
              <a:buChar char="•"/>
            </a:pPr>
            <a:r>
              <a:rPr lang="en-AU" sz="1200" kern="1200" dirty="0" smtClean="0">
                <a:solidFill>
                  <a:schemeClr val="tx1"/>
                </a:solidFill>
                <a:ea typeface="+mn-ea"/>
                <a:cs typeface="+mn-cs"/>
              </a:rPr>
              <a:t>Changing the type/nature of the operation, project, activity or initiative – which may mean:</a:t>
            </a:r>
          </a:p>
          <a:p>
            <a:pPr marL="628650" lvl="1" indent="-171450">
              <a:buFont typeface="Arial" pitchFamily="34" charset="0"/>
              <a:buChar char="•"/>
            </a:pPr>
            <a:r>
              <a:rPr lang="en-US" sz="1200" kern="1200" dirty="0" smtClean="0">
                <a:solidFill>
                  <a:schemeClr val="tx1"/>
                </a:solidFill>
                <a:ea typeface="+mn-ea"/>
                <a:cs typeface="+mn-cs"/>
              </a:rPr>
              <a:t>Giving the initiative a different focus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Targeting a different market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Promoting in a different way</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Changing the interpretive activities included – so activities which are causing problems are replaced by ones:</a:t>
            </a:r>
          </a:p>
          <a:p>
            <a:pPr marL="628650" lvl="1" indent="-171450">
              <a:buFont typeface="Arial" pitchFamily="34" charset="0"/>
              <a:buChar char="•"/>
            </a:pPr>
            <a:r>
              <a:rPr lang="en-US" sz="1200" kern="1200" dirty="0" smtClean="0">
                <a:solidFill>
                  <a:schemeClr val="tx1"/>
                </a:solidFill>
                <a:ea typeface="+mn-ea"/>
                <a:cs typeface="+mn-cs"/>
              </a:rPr>
              <a:t>Likely to cause less of an impact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More acceptable to local communities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Changing the physical/geographic location of the initiative – such that an acceptable tour/activity is re-located to an area which causes less unacceptable impact/s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404119863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changes to plans may include:</a:t>
            </a:r>
          </a:p>
          <a:p>
            <a:pPr marL="171450" indent="-171450">
              <a:buFont typeface="Arial" pitchFamily="34" charset="0"/>
              <a:buChar char="•"/>
            </a:pPr>
            <a:r>
              <a:rPr lang="en-AU" sz="1200" kern="1200" dirty="0" smtClean="0">
                <a:solidFill>
                  <a:schemeClr val="tx1"/>
                </a:solidFill>
                <a:ea typeface="+mn-ea"/>
                <a:cs typeface="+mn-cs"/>
              </a:rPr>
              <a:t>Changing inclusions – so that inclusions causing problems are removed and (perhaps) replaced by a more acceptable alternative, for example:</a:t>
            </a:r>
          </a:p>
          <a:p>
            <a:pPr marL="628650" lvl="1" indent="-171450">
              <a:buFont typeface="Arial" pitchFamily="34" charset="0"/>
              <a:buChar char="•"/>
            </a:pPr>
            <a:r>
              <a:rPr lang="en-US" sz="1200" kern="1200" dirty="0" smtClean="0">
                <a:solidFill>
                  <a:schemeClr val="tx1"/>
                </a:solidFill>
                <a:ea typeface="+mn-ea"/>
                <a:cs typeface="+mn-cs"/>
              </a:rPr>
              <a:t>Replacing a 5-day camp with an overnight stay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Replacing the distribution of pre-prepared F&amp;B  to tour group members with freshly-cooked food prepared by locals (for which they are paid)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Adding a local artifact as a ‘free gift’ from the Tourist Operator as part of the package (which is purchased from local artisans)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Using different tour staff and volunteer workers/local community people – where there appears a need for:</a:t>
            </a:r>
          </a:p>
          <a:p>
            <a:pPr marL="628650" lvl="1" indent="-171450">
              <a:buFont typeface="Arial" pitchFamily="34" charset="0"/>
              <a:buChar char="•"/>
            </a:pPr>
            <a:r>
              <a:rPr lang="en-US" sz="1200" kern="1200" dirty="0" smtClean="0">
                <a:solidFill>
                  <a:schemeClr val="tx1"/>
                </a:solidFill>
                <a:ea typeface="+mn-ea"/>
                <a:cs typeface="+mn-cs"/>
              </a:rPr>
              <a:t>A different blend of workers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People with new/different skills and expertise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More people to help control visitors and monitor impacts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Altering timing of tours/activities – in terms of:</a:t>
            </a:r>
          </a:p>
          <a:p>
            <a:pPr marL="628650" lvl="1" indent="-171450">
              <a:buFont typeface="Arial" pitchFamily="34" charset="0"/>
              <a:buChar char="•"/>
            </a:pPr>
            <a:r>
              <a:rPr lang="en-US" sz="1200" kern="1200" dirty="0" smtClean="0">
                <a:solidFill>
                  <a:schemeClr val="tx1"/>
                </a:solidFill>
                <a:ea typeface="+mn-ea"/>
                <a:cs typeface="+mn-cs"/>
              </a:rPr>
              <a:t>Seasons and/or dates for tours/activities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Frequencies of tours/activities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Arrival and departure times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Start and finish times for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Keeping the same activities but varying the sequence of things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Adjusting the size and/or composition of tourists and visitors – such that, for example:</a:t>
            </a:r>
          </a:p>
          <a:p>
            <a:pPr marL="628650" lvl="1" indent="-171450">
              <a:buFont typeface="Arial" pitchFamily="34" charset="0"/>
              <a:buChar char="•"/>
            </a:pPr>
            <a:r>
              <a:rPr lang="en-US" sz="1200" kern="1200" dirty="0" smtClean="0">
                <a:solidFill>
                  <a:schemeClr val="tx1"/>
                </a:solidFill>
                <a:ea typeface="+mn-ea"/>
                <a:cs typeface="+mn-cs"/>
              </a:rPr>
              <a:t>Group numbers/participant numbers are reduced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Babies/young people are prohibited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Local sensitivities regarding age and gender are respected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478612358"/>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changes to plans may include:</a:t>
            </a:r>
          </a:p>
          <a:p>
            <a:pPr marL="171450" indent="-171450">
              <a:buFont typeface="Arial" pitchFamily="34" charset="0"/>
              <a:buChar char="•"/>
            </a:pPr>
            <a:r>
              <a:rPr lang="en-AU" sz="1200" kern="1200" dirty="0" smtClean="0">
                <a:solidFill>
                  <a:schemeClr val="tx1"/>
                </a:solidFill>
                <a:ea typeface="+mn-ea"/>
                <a:cs typeface="+mn-cs"/>
              </a:rPr>
              <a:t>Limiting the locations tourists can enter – when they are physically in the local community, so that, perhaps:</a:t>
            </a:r>
          </a:p>
          <a:p>
            <a:pPr marL="628650" lvl="1" indent="-171450">
              <a:buFont typeface="Arial" pitchFamily="34" charset="0"/>
              <a:buChar char="•"/>
            </a:pPr>
            <a:r>
              <a:rPr lang="en-US" sz="1200" kern="1200" dirty="0" smtClean="0">
                <a:solidFill>
                  <a:schemeClr val="tx1"/>
                </a:solidFill>
                <a:ea typeface="+mn-ea"/>
                <a:cs typeface="+mn-cs"/>
              </a:rPr>
              <a:t>Certain houses or buildings are ‘off limits’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Prescribed walking routes must be adhered to</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Time limits are applied to the length of time to be spent in nominated locations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Nominated activities are banned in prescribed areas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Reducing or increasing participation of the local community and the roles they play within activities – which can mean:</a:t>
            </a:r>
          </a:p>
          <a:p>
            <a:pPr marL="628650" lvl="1" indent="-171450">
              <a:buFont typeface="Arial" pitchFamily="34" charset="0"/>
              <a:buChar char="•"/>
            </a:pPr>
            <a:r>
              <a:rPr lang="en-US" sz="1200" kern="1200" dirty="0" smtClean="0">
                <a:solidFill>
                  <a:schemeClr val="tx1"/>
                </a:solidFill>
                <a:ea typeface="+mn-ea"/>
                <a:cs typeface="+mn-cs"/>
              </a:rPr>
              <a:t>Local people may be employed as part of the crew/team for a tour in positions such as food preparation and cooking, food and beverage service, entertainment, local guides, presenters of interpretive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External workers are brought in to replace positions previously filled by local people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Revising required Code of Conduct that will be communicated to visitors prior to their engagement with the local community – with common changes being made to topics addressing:</a:t>
            </a:r>
          </a:p>
          <a:p>
            <a:pPr marL="628650" lvl="1" indent="-171450">
              <a:buFont typeface="Arial" pitchFamily="34" charset="0"/>
              <a:buChar char="•"/>
            </a:pPr>
            <a:r>
              <a:rPr lang="en-US" sz="1200" kern="1200" dirty="0" smtClean="0">
                <a:solidFill>
                  <a:schemeClr val="tx1"/>
                </a:solidFill>
                <a:ea typeface="+mn-ea"/>
                <a:cs typeface="+mn-cs"/>
              </a:rPr>
              <a:t>Dress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Behaviour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Respect for communities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Language used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Local customs to be observed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18038426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 continues to identify changes to plans may include:</a:t>
            </a:r>
          </a:p>
          <a:p>
            <a:pPr marL="171450" indent="-171450">
              <a:buFont typeface="Arial" pitchFamily="34" charset="0"/>
              <a:buChar char="•"/>
            </a:pPr>
            <a:r>
              <a:rPr lang="en-AU" sz="1200" kern="1200" dirty="0" smtClean="0">
                <a:solidFill>
                  <a:schemeClr val="tx1"/>
                </a:solidFill>
                <a:ea typeface="+mn-ea"/>
                <a:cs typeface="+mn-cs"/>
              </a:rPr>
              <a:t>Increasing the amount and/or type of resources allocated to the operation – there is commonly never a need to </a:t>
            </a:r>
            <a:r>
              <a:rPr lang="en-AU" sz="1200" i="1" kern="1200" dirty="0" smtClean="0">
                <a:solidFill>
                  <a:schemeClr val="tx1"/>
                </a:solidFill>
                <a:ea typeface="+mn-ea"/>
                <a:cs typeface="+mn-cs"/>
              </a:rPr>
              <a:t>reduce</a:t>
            </a:r>
            <a:r>
              <a:rPr lang="en-AU" sz="1200" kern="1200" dirty="0" smtClean="0">
                <a:solidFill>
                  <a:schemeClr val="tx1"/>
                </a:solidFill>
                <a:ea typeface="+mn-ea"/>
                <a:cs typeface="+mn-cs"/>
              </a:rPr>
              <a:t> the amount or type of resources committed to an initiative, but there can be a need to:</a:t>
            </a:r>
          </a:p>
          <a:p>
            <a:pPr marL="628650" lvl="1" indent="-171450">
              <a:buFont typeface="Arial" pitchFamily="34" charset="0"/>
              <a:buChar char="•"/>
            </a:pPr>
            <a:r>
              <a:rPr lang="en-US" sz="1200" kern="1200" dirty="0" smtClean="0">
                <a:solidFill>
                  <a:schemeClr val="tx1"/>
                </a:solidFill>
                <a:ea typeface="+mn-ea"/>
                <a:cs typeface="+mn-cs"/>
              </a:rPr>
              <a:t>Employ more staff</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Use different staff – and/or provide nominated training to staff</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Pay local communities more money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Acquire and use more physical items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Changing the supporting/underpinning infrastructure – in that there can be a need to:</a:t>
            </a:r>
          </a:p>
          <a:p>
            <a:pPr marL="628650" lvl="1" indent="-171450">
              <a:buFont typeface="Arial" pitchFamily="34" charset="0"/>
              <a:buChar char="•"/>
            </a:pPr>
            <a:r>
              <a:rPr lang="en-US" sz="1200" kern="1200" dirty="0" smtClean="0">
                <a:solidFill>
                  <a:schemeClr val="tx1"/>
                </a:solidFill>
                <a:ea typeface="+mn-ea"/>
                <a:cs typeface="+mn-cs"/>
              </a:rPr>
              <a:t>Create more tracks roads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Upgrade, grade or seal tracks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Erect more buildings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Construct additional landing areas for water craft and aircraft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Build toilets, camp sites, kitchen and dining facilities, accommodation and other support structures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Changing the monitoring protocols for nominated issues/topics – which can involve:</a:t>
            </a:r>
          </a:p>
          <a:p>
            <a:pPr marL="628650" lvl="1" indent="-171450">
              <a:buFont typeface="Arial" pitchFamily="34" charset="0"/>
              <a:buChar char="•"/>
            </a:pPr>
            <a:r>
              <a:rPr lang="en-US" sz="1200" kern="1200" dirty="0" smtClean="0">
                <a:solidFill>
                  <a:schemeClr val="tx1"/>
                </a:solidFill>
                <a:ea typeface="+mn-ea"/>
                <a:cs typeface="+mn-cs"/>
              </a:rPr>
              <a:t>Adding new technologies/metering to monitor new topics/environmental concerns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Taking readings at more frequent intervals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readings/monitoring data from different sites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Changing the delivery method for information – and, as necessary:</a:t>
            </a:r>
          </a:p>
          <a:p>
            <a:pPr marL="628650" lvl="1" indent="-171450">
              <a:buFont typeface="Arial" pitchFamily="34" charset="0"/>
              <a:buChar char="•"/>
            </a:pPr>
            <a:r>
              <a:rPr lang="en-US" sz="1200" kern="1200" dirty="0" smtClean="0">
                <a:solidFill>
                  <a:schemeClr val="tx1"/>
                </a:solidFill>
                <a:ea typeface="+mn-ea"/>
                <a:cs typeface="+mn-cs"/>
              </a:rPr>
              <a:t>Using a more technology-reliant option rather than, say, a human to provide a commentary/information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Allowing (for example) self-discovery to replace lectures, displays and presentations.</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41573621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406235559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09419323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5325212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7/19/2016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3400" b="1">
                <a:solidFill>
                  <a:srgbClr val="FF6600"/>
                </a:solidFill>
                <a:latin typeface="Helvetica" panose="020B0604020202020204" pitchFamily="34" charset="0"/>
                <a:cs typeface="Helvetica" panose="020B0604020202020204" pitchFamily="34" charset="0"/>
              </a:defRPr>
            </a:lvl1pPr>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457200" y="1988840"/>
            <a:ext cx="4114800" cy="4137323"/>
          </a:xfrm>
        </p:spPr>
        <p:txBody>
          <a:bodyPr>
            <a:normAutofit/>
          </a:bodyPr>
          <a:lstStyle>
            <a:lvl1pPr>
              <a:spcBef>
                <a:spcPts val="600"/>
              </a:spcBef>
              <a:spcAft>
                <a:spcPts val="600"/>
              </a:spcAft>
              <a:defRPr sz="2200">
                <a:latin typeface="Helvetica" panose="020B0604020202020204" pitchFamily="34" charset="0"/>
                <a:cs typeface="Helvetica" panose="020B0604020202020204" pitchFamily="34" charset="0"/>
              </a:defRPr>
            </a:lvl1pPr>
            <a:lvl2pPr>
              <a:spcBef>
                <a:spcPts val="600"/>
              </a:spcBef>
              <a:spcAft>
                <a:spcPts val="600"/>
              </a:spcAft>
              <a:defRPr sz="2200">
                <a:latin typeface="Helvetica" panose="020B0604020202020204" pitchFamily="34" charset="0"/>
                <a:cs typeface="Helvetica" panose="020B0604020202020204" pitchFamily="34" charset="0"/>
              </a:defRPr>
            </a:lvl2pPr>
            <a:lvl3pPr>
              <a:defRPr sz="2200">
                <a:latin typeface="Helvetica" panose="020B0604020202020204" pitchFamily="34" charset="0"/>
                <a:cs typeface="Helvetica" panose="020B0604020202020204" pitchFamily="34" charset="0"/>
              </a:defRPr>
            </a:lvl3pPr>
            <a:lvl4pPr>
              <a:defRPr sz="2200">
                <a:latin typeface="Helvetica" panose="020B0604020202020204" pitchFamily="34" charset="0"/>
                <a:cs typeface="Helvetica" panose="020B0604020202020204" pitchFamily="34" charset="0"/>
              </a:defRPr>
            </a:lvl4pPr>
            <a:lvl5pPr>
              <a:defRPr sz="2200">
                <a:latin typeface="Helvetica" panose="020B0604020202020204" pitchFamily="34" charset="0"/>
                <a:cs typeface="Helvetica" panose="020B0604020202020204"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7/19/2016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7/19/2016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7/19/2016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7/19/2016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7/19/2016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7/19/2016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3490" y="404664"/>
            <a:ext cx="7654262" cy="1080120"/>
          </a:xfrm>
        </p:spPr>
        <p:txBody>
          <a:bodyPr>
            <a:noAutofit/>
          </a:bodyPr>
          <a:lstStyle/>
          <a:p>
            <a:pPr algn="l"/>
            <a:r>
              <a:rPr lang="en-AU" sz="3600" dirty="0">
                <a:ln w="5000" cmpd="sng">
                  <a:noFill/>
                  <a:prstDash val="solid"/>
                </a:ln>
                <a:solidFill>
                  <a:srgbClr val="FF6600"/>
                </a:solidFill>
                <a:latin typeface="Helvetica" pitchFamily="34" charset="0"/>
              </a:rPr>
              <a:t>PLAN, TRIAL AND IMPLEMENT MINIMAL IMPACT </a:t>
            </a:r>
            <a:r>
              <a:rPr lang="en-AU" sz="3600" dirty="0" smtClean="0">
                <a:ln w="5000" cmpd="sng">
                  <a:noFill/>
                  <a:prstDash val="solid"/>
                </a:ln>
                <a:solidFill>
                  <a:srgbClr val="FF6600"/>
                </a:solidFill>
                <a:latin typeface="Helvetica" pitchFamily="34" charset="0"/>
              </a:rPr>
              <a:t>OPERATIONS</a:t>
            </a:r>
            <a:endParaRPr lang="en-AU" sz="36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740100"/>
            <a:ext cx="2541268" cy="289742"/>
          </a:xfrm>
        </p:spPr>
        <p:txBody>
          <a:bodyPr>
            <a:normAutofit lnSpcReduction="10000"/>
          </a:bodyPr>
          <a:lstStyle/>
          <a:p>
            <a:r>
              <a:rPr lang="en-AU" sz="2100" b="1" dirty="0" smtClean="0">
                <a:latin typeface="Helvetica" pitchFamily="34" charset="0"/>
              </a:rPr>
              <a:t>D2.TTG.CL3.15</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1741810"/>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Plan, trial and implement minimal impact operations</a:t>
            </a:r>
            <a:endParaRPr lang="en-US" dirty="0"/>
          </a:p>
        </p:txBody>
      </p:sp>
      <p:sp>
        <p:nvSpPr>
          <p:cNvPr id="3" name="Content Placeholder 2"/>
          <p:cNvSpPr>
            <a:spLocks noGrp="1"/>
          </p:cNvSpPr>
          <p:nvPr>
            <p:ph idx="1"/>
          </p:nvPr>
        </p:nvSpPr>
        <p:spPr/>
        <p:txBody>
          <a:bodyPr/>
          <a:lstStyle/>
          <a:p>
            <a:pPr marL="36576" indent="0">
              <a:buNone/>
            </a:pPr>
            <a:r>
              <a:rPr lang="en-US" dirty="0" smtClean="0"/>
              <a:t>This Unit comprises four Elements:</a:t>
            </a:r>
          </a:p>
          <a:p>
            <a:pPr marL="493776" indent="-457200">
              <a:buFont typeface="+mj-lt"/>
              <a:buAutoNum type="arabicPeriod"/>
            </a:pPr>
            <a:r>
              <a:rPr lang="en-US" dirty="0" smtClean="0"/>
              <a:t>Plan minimal impact operations</a:t>
            </a:r>
          </a:p>
          <a:p>
            <a:pPr marL="493776" indent="-457200">
              <a:buFont typeface="+mj-lt"/>
              <a:buAutoNum type="arabicPeriod"/>
            </a:pPr>
            <a:r>
              <a:rPr lang="en-US" dirty="0" smtClean="0"/>
              <a:t>Trial minimal impact operations</a:t>
            </a:r>
          </a:p>
          <a:p>
            <a:pPr marL="493776" indent="-457200">
              <a:buFont typeface="+mj-lt"/>
              <a:buAutoNum type="arabicPeriod"/>
            </a:pPr>
            <a:r>
              <a:rPr lang="en-US" dirty="0" smtClean="0"/>
              <a:t>Implement minimal impact operations</a:t>
            </a:r>
          </a:p>
          <a:p>
            <a:pPr marL="493776" indent="-457200">
              <a:buFont typeface="+mj-lt"/>
              <a:buAutoNum type="arabicPeriod"/>
            </a:pPr>
            <a:r>
              <a:rPr lang="en-US" dirty="0" smtClean="0"/>
              <a:t>Evaluate minimal impact operations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Assessment</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Assessment for this unit may include:</a:t>
            </a:r>
          </a:p>
          <a:p>
            <a:r>
              <a:rPr lang="en-US" dirty="0" smtClean="0"/>
              <a:t>Oral questions</a:t>
            </a:r>
          </a:p>
          <a:p>
            <a:r>
              <a:rPr lang="en-US" dirty="0" smtClean="0"/>
              <a:t>Written questions</a:t>
            </a:r>
          </a:p>
          <a:p>
            <a:r>
              <a:rPr lang="en-US" dirty="0" smtClean="0"/>
              <a:t>Work projects</a:t>
            </a:r>
          </a:p>
          <a:p>
            <a:r>
              <a:rPr lang="en-US" dirty="0" smtClean="0"/>
              <a:t>Workplace observation of practical skills</a:t>
            </a:r>
          </a:p>
          <a:p>
            <a:r>
              <a:rPr lang="en-US" dirty="0" smtClean="0"/>
              <a:t>Practical exercises</a:t>
            </a:r>
          </a:p>
          <a:p>
            <a:r>
              <a:rPr lang="en-US" dirty="0" smtClean="0"/>
              <a:t>Formal report from employer/supervisor</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364479" y="1995894"/>
            <a:ext cx="2801731" cy="1865153"/>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1 – Plan minimal impact operations</a:t>
            </a:r>
            <a:endParaRPr lang="en-US" dirty="0"/>
          </a:p>
        </p:txBody>
      </p:sp>
      <p:sp>
        <p:nvSpPr>
          <p:cNvPr id="3" name="Content Placeholder 2"/>
          <p:cNvSpPr>
            <a:spLocks noGrp="1"/>
          </p:cNvSpPr>
          <p:nvPr>
            <p:ph idx="1"/>
          </p:nvPr>
        </p:nvSpPr>
        <p:spPr>
          <a:xfrm>
            <a:off x="457200" y="1988840"/>
            <a:ext cx="5410944" cy="4433224"/>
          </a:xfrm>
        </p:spPr>
        <p:txBody>
          <a:bodyPr>
            <a:normAutofit fontScale="92500" lnSpcReduction="20000"/>
          </a:bodyPr>
          <a:lstStyle/>
          <a:p>
            <a:pPr marL="36576" indent="0">
              <a:buNone/>
            </a:pPr>
            <a:r>
              <a:rPr lang="en-US" dirty="0" smtClean="0"/>
              <a:t>Performance Criteria for this Element are:</a:t>
            </a:r>
          </a:p>
          <a:p>
            <a:r>
              <a:rPr lang="en-AU" dirty="0" smtClean="0"/>
              <a:t>Identify the proposed activity/operation </a:t>
            </a:r>
            <a:br>
              <a:rPr lang="en-AU" dirty="0" smtClean="0"/>
            </a:br>
            <a:r>
              <a:rPr lang="en-AU" dirty="0" smtClean="0"/>
              <a:t>to be conducted</a:t>
            </a:r>
            <a:endParaRPr lang="en-US" dirty="0" smtClean="0"/>
          </a:p>
          <a:p>
            <a:r>
              <a:rPr lang="en-AU" dirty="0" smtClean="0"/>
              <a:t>Identify the location in which the </a:t>
            </a:r>
            <a:br>
              <a:rPr lang="en-AU" dirty="0" smtClean="0"/>
            </a:br>
            <a:r>
              <a:rPr lang="en-AU" dirty="0" smtClean="0"/>
              <a:t>identified activity/operation is proposed </a:t>
            </a:r>
            <a:br>
              <a:rPr lang="en-AU" dirty="0" smtClean="0"/>
            </a:br>
            <a:r>
              <a:rPr lang="en-AU" dirty="0" smtClean="0"/>
              <a:t>to be conducted</a:t>
            </a:r>
          </a:p>
          <a:p>
            <a:r>
              <a:rPr lang="en-AU" dirty="0" smtClean="0"/>
              <a:t>Research the factors that may be impacted by the proposed activity</a:t>
            </a:r>
          </a:p>
          <a:p>
            <a:r>
              <a:rPr lang="en-AU" dirty="0" smtClean="0"/>
              <a:t>Research the compliance requirements that apply to the proposed activity/operation and location</a:t>
            </a:r>
          </a:p>
          <a:p>
            <a:r>
              <a:rPr lang="en-AU" dirty="0" smtClean="0"/>
              <a:t>Develop a plan that details the experiences and activities to be implemented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7776" y="1988840"/>
            <a:ext cx="2372133" cy="16747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‘Minimal impact tourism’ = ‘Sustainable tourism’ – also known as:</a:t>
            </a:r>
          </a:p>
          <a:p>
            <a:r>
              <a:rPr lang="en-US" dirty="0" smtClean="0"/>
              <a:t>Green tourism</a:t>
            </a:r>
          </a:p>
          <a:p>
            <a:r>
              <a:rPr lang="en-US" dirty="0" smtClean="0"/>
              <a:t>Responsible tourism</a:t>
            </a:r>
          </a:p>
          <a:p>
            <a:r>
              <a:rPr lang="en-US" dirty="0" smtClean="0"/>
              <a:t>Eco-tourism</a:t>
            </a:r>
          </a:p>
          <a:p>
            <a:r>
              <a:rPr lang="en-US" dirty="0" smtClean="0"/>
              <a:t>Environmental tourism</a:t>
            </a:r>
          </a:p>
          <a:p>
            <a:r>
              <a:rPr lang="en-US" dirty="0" smtClean="0"/>
              <a:t>Ethical tourism</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7938" y="2050508"/>
            <a:ext cx="3048000" cy="20330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Critical aspects include the need for Tourism Operators to:</a:t>
            </a:r>
          </a:p>
          <a:p>
            <a:r>
              <a:rPr lang="en-AU" dirty="0" smtClean="0"/>
              <a:t>Avoid damage to the area visited</a:t>
            </a:r>
          </a:p>
          <a:p>
            <a:r>
              <a:rPr lang="en-AU" dirty="0" smtClean="0"/>
              <a:t>Minimise impact on the area visited</a:t>
            </a:r>
          </a:p>
          <a:p>
            <a:r>
              <a:rPr lang="en-AU" dirty="0" smtClean="0"/>
              <a:t>Repair previous damage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8718" y="1988840"/>
            <a:ext cx="3048000" cy="20330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ASEAN:</a:t>
            </a:r>
          </a:p>
          <a:p>
            <a:r>
              <a:rPr lang="en-US" dirty="0" smtClean="0"/>
              <a:t>Is committed to sustainable tourism</a:t>
            </a:r>
          </a:p>
          <a:p>
            <a:r>
              <a:rPr lang="en-US" dirty="0" smtClean="0"/>
              <a:t>Records this commitment in its ATSP</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0112" y="1992742"/>
            <a:ext cx="2033016" cy="304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a:xfrm>
            <a:off x="457200" y="1988840"/>
            <a:ext cx="4258816" cy="4320480"/>
          </a:xfrm>
        </p:spPr>
        <p:txBody>
          <a:bodyPr>
            <a:normAutofit fontScale="92500" lnSpcReduction="20000"/>
          </a:bodyPr>
          <a:lstStyle/>
          <a:p>
            <a:pPr marL="36576" indent="0">
              <a:buNone/>
            </a:pPr>
            <a:r>
              <a:rPr lang="en-US" dirty="0" smtClean="0"/>
              <a:t>‘The industry’ is also committed to the concept as can be seen from </a:t>
            </a:r>
            <a:r>
              <a:rPr lang="en-AU" dirty="0" smtClean="0"/>
              <a:t>APEC/PATA Code for Sustainable Tourism whose stance is</a:t>
            </a:r>
            <a:r>
              <a:rPr lang="en-US" dirty="0" smtClean="0"/>
              <a:t>:</a:t>
            </a:r>
          </a:p>
          <a:p>
            <a:r>
              <a:rPr lang="en-AU" dirty="0" smtClean="0"/>
              <a:t>“… to encourage and assist in the development of travel industries throughout Pacific-Asia in a manner which recognises the urgent importance to practice an environmental ethic that supports responsible conservation and restoration of Pacific Asia’s unique combination of natural, social and cultural resources</a:t>
            </a:r>
            <a:r>
              <a:rPr lang="en-US" dirty="0" smtClean="0"/>
              <a:t>”</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10173" y="2010090"/>
            <a:ext cx="3048000" cy="20238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Tour Operators can demonstrate their commitment by: 1</a:t>
            </a:r>
          </a:p>
          <a:p>
            <a:r>
              <a:rPr lang="en-US" dirty="0" smtClean="0"/>
              <a:t>Planning and trialling </a:t>
            </a:r>
            <a:r>
              <a:rPr lang="en-AU" dirty="0" smtClean="0"/>
              <a:t>tourism operations for minimal impact before implementation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04048" y="1772816"/>
            <a:ext cx="2767123" cy="374441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Activities which may need to be planned in this context can include:</a:t>
            </a:r>
          </a:p>
          <a:p>
            <a:r>
              <a:rPr lang="en-US" dirty="0" smtClean="0"/>
              <a:t>Constructing facilities</a:t>
            </a:r>
          </a:p>
          <a:p>
            <a:r>
              <a:rPr lang="en-US" dirty="0" smtClean="0"/>
              <a:t>Introducing tours</a:t>
            </a:r>
          </a:p>
          <a:p>
            <a:r>
              <a:rPr lang="en-US" dirty="0" smtClean="0"/>
              <a:t>Increasing tourist footprint</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2348880"/>
            <a:ext cx="2267568" cy="32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Identify the proposed activity/operation to be conducted</a:t>
            </a:r>
            <a:endParaRPr lang="en-US" dirty="0"/>
          </a:p>
        </p:txBody>
      </p:sp>
      <p:sp>
        <p:nvSpPr>
          <p:cNvPr id="3" name="Content Placeholder 2"/>
          <p:cNvSpPr>
            <a:spLocks noGrp="1"/>
          </p:cNvSpPr>
          <p:nvPr>
            <p:ph idx="1"/>
          </p:nvPr>
        </p:nvSpPr>
        <p:spPr/>
        <p:txBody>
          <a:bodyPr/>
          <a:lstStyle/>
          <a:p>
            <a:r>
              <a:rPr lang="en-US" dirty="0" smtClean="0"/>
              <a:t>Introducing interpretive activities</a:t>
            </a:r>
          </a:p>
          <a:p>
            <a:r>
              <a:rPr lang="en-US" dirty="0" smtClean="0"/>
              <a:t>Establishing camps</a:t>
            </a:r>
          </a:p>
          <a:p>
            <a:r>
              <a:rPr lang="en-US" dirty="0" smtClean="0"/>
              <a:t>Interacting with wildlife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878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Identify location in which the identified activity/operation is proposed to be conducted</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Step 1 in planning is to identify the location for the initiative – this refers to:</a:t>
            </a:r>
          </a:p>
          <a:p>
            <a:r>
              <a:rPr lang="en-AU" dirty="0" smtClean="0"/>
              <a:t>Describing the immediate geographic vicinity in which the activity/operation itself is proposed</a:t>
            </a:r>
            <a:endParaRPr lang="en-US" dirty="0" smtClean="0"/>
          </a:p>
          <a:p>
            <a:r>
              <a:rPr lang="en-AU" dirty="0" smtClean="0"/>
              <a:t>Stating associated geographic locations that may be impacted by the activity/operation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3400" y="1988840"/>
            <a:ext cx="2880000" cy="216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Identify location in which the identified activity/operation is proposed to be conducted</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AU" dirty="0" smtClean="0"/>
              <a:t>Exact location is necessary to</a:t>
            </a:r>
            <a:r>
              <a:rPr lang="en-US" dirty="0" smtClean="0"/>
              <a:t>:</a:t>
            </a:r>
          </a:p>
          <a:p>
            <a:r>
              <a:rPr lang="en-AU" dirty="0" smtClean="0"/>
              <a:t>Demonstrate transparency and openness</a:t>
            </a:r>
            <a:endParaRPr lang="en-US" dirty="0" smtClean="0"/>
          </a:p>
          <a:p>
            <a:r>
              <a:rPr lang="en-AU" dirty="0" smtClean="0"/>
              <a:t>Ensure those potentially impacted can be made aware of the proposal </a:t>
            </a:r>
          </a:p>
          <a:p>
            <a:r>
              <a:rPr lang="en-AU" dirty="0" smtClean="0"/>
              <a:t>Make sure correct/necessary people are involved </a:t>
            </a:r>
          </a:p>
          <a:p>
            <a:r>
              <a:rPr lang="en-AU" dirty="0" smtClean="0"/>
              <a:t>Begin process of researching funding which may be available</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7974" y="2276872"/>
            <a:ext cx="3048000" cy="2032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Identify location in which the identified activity/operation is proposed to be conducted</a:t>
            </a:r>
            <a:endParaRPr lang="en-US" dirty="0"/>
          </a:p>
        </p:txBody>
      </p:sp>
      <p:sp>
        <p:nvSpPr>
          <p:cNvPr id="3" name="Content Placeholder 2"/>
          <p:cNvSpPr>
            <a:spLocks noGrp="1"/>
          </p:cNvSpPr>
          <p:nvPr>
            <p:ph idx="1"/>
          </p:nvPr>
        </p:nvSpPr>
        <p:spPr/>
        <p:txBody>
          <a:bodyPr>
            <a:normAutofit fontScale="92500" lnSpcReduction="10000"/>
          </a:bodyPr>
          <a:lstStyle/>
          <a:p>
            <a:r>
              <a:rPr lang="en-AU" dirty="0" smtClean="0"/>
              <a:t>Research standard factors that may be impacted </a:t>
            </a:r>
            <a:endParaRPr lang="en-US" dirty="0" smtClean="0"/>
          </a:p>
          <a:p>
            <a:r>
              <a:rPr lang="en-AU" dirty="0" smtClean="0"/>
              <a:t>Identify the country/countries involved </a:t>
            </a:r>
          </a:p>
          <a:p>
            <a:r>
              <a:rPr lang="en-AU" dirty="0" smtClean="0"/>
              <a:t>Start process of identifying other Tourism Operators who may be operating in the area </a:t>
            </a:r>
          </a:p>
          <a:p>
            <a:r>
              <a:rPr lang="en-AU" dirty="0" smtClean="0"/>
              <a:t>Enable identification of other non-legislated requirements which apply </a:t>
            </a:r>
          </a:p>
          <a:p>
            <a:r>
              <a:rPr lang="en-AU" dirty="0" smtClean="0"/>
              <a:t>Provide a real-world context for the written plan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00" y="2048493"/>
            <a:ext cx="3048000" cy="2032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Identify location in which the identified activity/operation is proposed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Ways to identify location of an initiative:</a:t>
            </a:r>
          </a:p>
          <a:p>
            <a:r>
              <a:rPr lang="en-AU" dirty="0" smtClean="0"/>
              <a:t>Visit the site/area</a:t>
            </a:r>
            <a:endParaRPr lang="en-US" dirty="0" smtClean="0"/>
          </a:p>
          <a:p>
            <a:r>
              <a:rPr lang="en-US" dirty="0" smtClean="0"/>
              <a:t>Talk to locals</a:t>
            </a:r>
          </a:p>
          <a:p>
            <a:r>
              <a:rPr lang="en-AU" dirty="0" smtClean="0"/>
              <a:t>Speak to industry bodies </a:t>
            </a:r>
          </a:p>
          <a:p>
            <a:r>
              <a:rPr lang="en-AU" dirty="0" smtClean="0"/>
              <a:t>Liaise with government agencies </a:t>
            </a:r>
          </a:p>
          <a:p>
            <a:r>
              <a:rPr lang="en-AU" dirty="0" smtClean="0"/>
              <a:t>Use suitably detailed maps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9064" y="1988840"/>
            <a:ext cx="3024336" cy="201622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pPr marL="36576" indent="0">
              <a:buNone/>
            </a:pPr>
            <a:r>
              <a:rPr lang="en-US" dirty="0" smtClean="0"/>
              <a:t>It is important to understand:</a:t>
            </a:r>
          </a:p>
          <a:p>
            <a:r>
              <a:rPr lang="en-US" dirty="0" smtClean="0"/>
              <a:t>All tourism initiatives have some impact</a:t>
            </a:r>
          </a:p>
          <a:p>
            <a:r>
              <a:rPr lang="en-US" dirty="0" smtClean="0"/>
              <a:t>Impacts type and extent vary between initiatives</a:t>
            </a:r>
          </a:p>
          <a:p>
            <a:r>
              <a:rPr lang="en-US" dirty="0" smtClean="0"/>
              <a:t>Previous initiatives may indicate impacts of other similar ones</a:t>
            </a:r>
          </a:p>
          <a:p>
            <a:pPr marL="36576" indent="0">
              <a:buNone/>
            </a:pPr>
            <a:r>
              <a:rPr lang="en-US" sz="1400" b="1"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5508104" y="2348880"/>
            <a:ext cx="1645232" cy="3240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a:xfrm>
            <a:off x="457200" y="1988840"/>
            <a:ext cx="4114800" cy="4433224"/>
          </a:xfrm>
        </p:spPr>
        <p:txBody>
          <a:bodyPr>
            <a:normAutofit fontScale="92500"/>
          </a:bodyPr>
          <a:lstStyle/>
          <a:p>
            <a:r>
              <a:rPr lang="en-AU" dirty="0" smtClean="0"/>
              <a:t>Impacts can be positive or negative </a:t>
            </a:r>
            <a:endParaRPr lang="en-US" dirty="0" smtClean="0"/>
          </a:p>
          <a:p>
            <a:r>
              <a:rPr lang="en-AU" dirty="0" smtClean="0"/>
              <a:t>Often lack of clarity/consensus about projected impacts will be </a:t>
            </a:r>
          </a:p>
          <a:p>
            <a:r>
              <a:rPr lang="en-AU" dirty="0" smtClean="0"/>
              <a:t>Tourism Operators who subscribe to industry Code are commonly required to research impact on these factors</a:t>
            </a:r>
          </a:p>
          <a:p>
            <a:r>
              <a:rPr lang="en-AU" dirty="0" smtClean="0"/>
              <a:t>There is often a mandatory external requirement for research of this type to be undertaken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220072" y="1995354"/>
            <a:ext cx="2933328" cy="249830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pPr marL="36576" indent="0">
              <a:buNone/>
            </a:pPr>
            <a:r>
              <a:rPr lang="en-US" dirty="0" smtClean="0"/>
              <a:t>It is generally understood tourism initiatives have the potential to have impacts on:</a:t>
            </a:r>
          </a:p>
          <a:p>
            <a:r>
              <a:rPr lang="en-US" dirty="0" smtClean="0"/>
              <a:t>The environment</a:t>
            </a:r>
          </a:p>
          <a:p>
            <a:r>
              <a:rPr lang="en-US" dirty="0" smtClean="0"/>
              <a:t>Society and culture</a:t>
            </a:r>
          </a:p>
          <a:p>
            <a:r>
              <a:rPr lang="en-US" dirty="0" smtClean="0"/>
              <a:t>The economy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5029" y="2020924"/>
            <a:ext cx="3242615" cy="2160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pPr marL="36576" indent="0">
              <a:buNone/>
            </a:pPr>
            <a:r>
              <a:rPr lang="en-US" dirty="0" smtClean="0"/>
              <a:t>There is also a need to look at ‘carrying capacity’ with reference to:</a:t>
            </a:r>
          </a:p>
          <a:p>
            <a:r>
              <a:rPr lang="en-US" dirty="0" smtClean="0"/>
              <a:t>Ecological carrying capacity</a:t>
            </a:r>
          </a:p>
          <a:p>
            <a:r>
              <a:rPr lang="en-US" dirty="0" smtClean="0"/>
              <a:t>Social carrying capacity</a:t>
            </a:r>
          </a:p>
          <a:p>
            <a:r>
              <a:rPr lang="en-US" dirty="0" smtClean="0"/>
              <a:t>Psychological carrying capacity</a:t>
            </a:r>
          </a:p>
          <a:p>
            <a:r>
              <a:rPr lang="en-US" dirty="0" smtClean="0"/>
              <a:t>Economic carrying capacity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36096" y="2276872"/>
            <a:ext cx="2312119" cy="3240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pPr marL="36576" indent="0">
              <a:buNone/>
            </a:pPr>
            <a:r>
              <a:rPr lang="en-AU" dirty="0" smtClean="0"/>
              <a:t>Possible environmental factors impacted by a tourism initiative can be related to</a:t>
            </a:r>
            <a:r>
              <a:rPr lang="en-US" dirty="0" smtClean="0"/>
              <a:t>:</a:t>
            </a:r>
          </a:p>
          <a:p>
            <a:r>
              <a:rPr lang="en-US" dirty="0" smtClean="0"/>
              <a:t>The natural environment</a:t>
            </a:r>
          </a:p>
          <a:p>
            <a:r>
              <a:rPr lang="en-US" dirty="0" smtClean="0"/>
              <a:t>The built environment</a:t>
            </a:r>
          </a:p>
          <a:p>
            <a:r>
              <a:rPr lang="en-US" dirty="0" smtClean="0"/>
              <a:t>The ecology</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30536" y="2204864"/>
            <a:ext cx="4177720" cy="287996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AU" dirty="0" smtClean="0"/>
              <a:t>Possible socio-cultural factors impacted by a tourism initiative can be related to</a:t>
            </a:r>
            <a:r>
              <a:rPr lang="en-US" dirty="0" smtClean="0"/>
              <a:t>:</a:t>
            </a:r>
          </a:p>
          <a:p>
            <a:r>
              <a:rPr lang="en-AU" dirty="0" smtClean="0"/>
              <a:t>Commodification of a community/society</a:t>
            </a:r>
            <a:endParaRPr lang="en-US" dirty="0" smtClean="0"/>
          </a:p>
          <a:p>
            <a:r>
              <a:rPr lang="en-AU" dirty="0" smtClean="0"/>
              <a:t>Standardisation</a:t>
            </a:r>
            <a:endParaRPr lang="en-US" dirty="0" smtClean="0"/>
          </a:p>
          <a:p>
            <a:r>
              <a:rPr lang="en-AU" dirty="0" smtClean="0"/>
              <a:t>Loss of authenticity</a:t>
            </a:r>
            <a:endParaRPr lang="en-US" dirty="0" smtClean="0"/>
          </a:p>
          <a:p>
            <a:r>
              <a:rPr lang="en-AU" dirty="0" smtClean="0"/>
              <a:t>Adaptation to tourist demands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63430" y="1988840"/>
            <a:ext cx="4289970" cy="3240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r>
              <a:rPr lang="en-US" dirty="0" smtClean="0"/>
              <a:t>Cultural clashes</a:t>
            </a:r>
          </a:p>
          <a:p>
            <a:r>
              <a:rPr lang="en-US" dirty="0" smtClean="0"/>
              <a:t>Increase in crime rates</a:t>
            </a:r>
          </a:p>
          <a:p>
            <a:r>
              <a:rPr lang="en-US" dirty="0" smtClean="0"/>
              <a:t>Child labour</a:t>
            </a:r>
          </a:p>
          <a:p>
            <a:r>
              <a:rPr lang="en-US" dirty="0" smtClean="0"/>
              <a:t>Prostitution and sex tourism</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94212" y="1964577"/>
            <a:ext cx="2952328" cy="203710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pPr marL="36576" indent="0">
              <a:buNone/>
            </a:pPr>
            <a:r>
              <a:rPr lang="en-AU" dirty="0" smtClean="0"/>
              <a:t>Possible economic factors impacted by a tourism initiative can be related to</a:t>
            </a:r>
            <a:r>
              <a:rPr lang="en-US" dirty="0" smtClean="0"/>
              <a:t>:</a:t>
            </a:r>
          </a:p>
          <a:p>
            <a:r>
              <a:rPr lang="en-US" dirty="0" smtClean="0"/>
              <a:t>Employment</a:t>
            </a:r>
          </a:p>
          <a:p>
            <a:r>
              <a:rPr lang="en-US" dirty="0" smtClean="0"/>
              <a:t>Investment</a:t>
            </a:r>
          </a:p>
          <a:p>
            <a:r>
              <a:rPr lang="en-US" dirty="0" smtClean="0"/>
              <a:t>Inflation</a:t>
            </a:r>
          </a:p>
          <a:p>
            <a:pPr marL="36576" indent="0">
              <a:buNone/>
            </a:pPr>
            <a:r>
              <a:rPr lang="en-US" sz="1400" b="1" dirty="0" smtClean="0"/>
              <a:t>(Continued)</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8024" y="1700808"/>
            <a:ext cx="2686500" cy="324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r>
              <a:rPr lang="en-US" dirty="0" smtClean="0"/>
              <a:t>Local income</a:t>
            </a:r>
          </a:p>
          <a:p>
            <a:r>
              <a:rPr lang="en-US" dirty="0" smtClean="0"/>
              <a:t>Opportunity cost</a:t>
            </a:r>
          </a:p>
          <a:p>
            <a:r>
              <a:rPr lang="en-US" dirty="0" smtClean="0"/>
              <a:t>Extent of reliance on tourism</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8" y="2348880"/>
            <a:ext cx="2585032" cy="324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p:txBody>
          <a:bodyPr/>
          <a:lstStyle/>
          <a:p>
            <a:r>
              <a:rPr lang="en-US" dirty="0" smtClean="0"/>
              <a:t>Leakage</a:t>
            </a:r>
          </a:p>
          <a:p>
            <a:r>
              <a:rPr lang="en-US" dirty="0" smtClean="0"/>
              <a:t>Enclave tourism</a:t>
            </a:r>
          </a:p>
          <a:p>
            <a:r>
              <a:rPr lang="en-US" dirty="0" smtClean="0"/>
              <a:t>Infrastructure costs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2185" y="1969586"/>
            <a:ext cx="3048000" cy="202692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Research the factors that may be impacted by the proposed activity</a:t>
            </a:r>
            <a:endParaRPr lang="en-US" dirty="0"/>
          </a:p>
        </p:txBody>
      </p:sp>
      <p:sp>
        <p:nvSpPr>
          <p:cNvPr id="3" name="Content Placeholder 2"/>
          <p:cNvSpPr>
            <a:spLocks noGrp="1"/>
          </p:cNvSpPr>
          <p:nvPr>
            <p:ph idx="1"/>
          </p:nvPr>
        </p:nvSpPr>
        <p:spPr>
          <a:xfrm>
            <a:off x="457200" y="1988840"/>
            <a:ext cx="4474840" cy="4433224"/>
          </a:xfrm>
        </p:spPr>
        <p:txBody>
          <a:bodyPr>
            <a:normAutofit fontScale="92500" lnSpcReduction="10000"/>
          </a:bodyPr>
          <a:lstStyle/>
          <a:p>
            <a:pPr marL="36576" indent="0">
              <a:buNone/>
            </a:pPr>
            <a:r>
              <a:rPr lang="en-US" dirty="0" smtClean="0"/>
              <a:t>Ways to research factors:</a:t>
            </a:r>
          </a:p>
          <a:p>
            <a:r>
              <a:rPr lang="en-US" dirty="0" smtClean="0"/>
              <a:t>Talk to those who have conducted similar programs</a:t>
            </a:r>
          </a:p>
          <a:p>
            <a:r>
              <a:rPr lang="en-US" dirty="0" smtClean="0"/>
              <a:t>Read reports on initiatives which have already been conducted</a:t>
            </a:r>
          </a:p>
          <a:p>
            <a:r>
              <a:rPr lang="en-US" dirty="0" smtClean="0"/>
              <a:t>Speak with local communities</a:t>
            </a:r>
          </a:p>
          <a:p>
            <a:r>
              <a:rPr lang="en-US" dirty="0" smtClean="0"/>
              <a:t>Communicate with those expected to be impacted</a:t>
            </a:r>
          </a:p>
          <a:p>
            <a:r>
              <a:rPr lang="en-US" dirty="0" smtClean="0"/>
              <a:t>Establish baseline data/benchmarks</a:t>
            </a:r>
          </a:p>
          <a:p>
            <a:r>
              <a:rPr lang="en-US" dirty="0" smtClean="0"/>
              <a:t>Visit the area</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3512" y="2276872"/>
            <a:ext cx="2446200" cy="3240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Research compliance requirements that apply to proposed activity/operation and location</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Sources of information on compliance requirements may be:</a:t>
            </a:r>
          </a:p>
          <a:p>
            <a:r>
              <a:rPr lang="en-US" dirty="0" smtClean="0"/>
              <a:t>Legislation</a:t>
            </a:r>
          </a:p>
          <a:p>
            <a:r>
              <a:rPr lang="en-US" dirty="0" smtClean="0"/>
              <a:t>By-laws</a:t>
            </a:r>
          </a:p>
          <a:p>
            <a:r>
              <a:rPr lang="en-US" dirty="0" smtClean="0"/>
              <a:t>Voluntary Codes of Practice/Conduct</a:t>
            </a:r>
          </a:p>
          <a:p>
            <a:r>
              <a:rPr lang="en-US" dirty="0" smtClean="0"/>
              <a:t>Mandatory Codes</a:t>
            </a:r>
          </a:p>
          <a:p>
            <a:r>
              <a:rPr lang="en-US" dirty="0" smtClean="0"/>
              <a:t>Local agreements with communities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04048" y="1844824"/>
            <a:ext cx="2339280" cy="324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Research compliance requirements that apply to proposed activity/operation and location</a:t>
            </a:r>
            <a:endParaRPr lang="en-US" dirty="0"/>
          </a:p>
        </p:txBody>
      </p:sp>
      <p:sp>
        <p:nvSpPr>
          <p:cNvPr id="3" name="Content Placeholder 2"/>
          <p:cNvSpPr>
            <a:spLocks noGrp="1"/>
          </p:cNvSpPr>
          <p:nvPr>
            <p:ph idx="1"/>
          </p:nvPr>
        </p:nvSpPr>
        <p:spPr/>
        <p:txBody>
          <a:bodyPr/>
          <a:lstStyle/>
          <a:p>
            <a:pPr marL="36576" indent="0">
              <a:buNone/>
            </a:pPr>
            <a:r>
              <a:rPr lang="en-US" dirty="0" smtClean="0"/>
              <a:t>Compliance requirements may be seen as:</a:t>
            </a:r>
          </a:p>
          <a:p>
            <a:r>
              <a:rPr lang="en-US" dirty="0" smtClean="0"/>
              <a:t>Drives for change</a:t>
            </a:r>
          </a:p>
          <a:p>
            <a:r>
              <a:rPr lang="en-US" dirty="0" smtClean="0"/>
              <a:t>Obstacles to development</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189294" y="1988840"/>
            <a:ext cx="4299617" cy="3240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Research compliance requirements that apply to proposed activity/operation and location</a:t>
            </a:r>
            <a:endParaRPr lang="en-US" dirty="0"/>
          </a:p>
        </p:txBody>
      </p:sp>
      <p:sp>
        <p:nvSpPr>
          <p:cNvPr id="3" name="Content Placeholder 2"/>
          <p:cNvSpPr>
            <a:spLocks noGrp="1"/>
          </p:cNvSpPr>
          <p:nvPr>
            <p:ph idx="1"/>
          </p:nvPr>
        </p:nvSpPr>
        <p:spPr/>
        <p:txBody>
          <a:bodyPr/>
          <a:lstStyle/>
          <a:p>
            <a:pPr marL="36576" indent="0">
              <a:buNone/>
            </a:pPr>
            <a:r>
              <a:rPr lang="en-US" dirty="0" smtClean="0"/>
              <a:t>Legislated compliance obligations may relate to:</a:t>
            </a:r>
          </a:p>
          <a:p>
            <a:r>
              <a:rPr lang="en-US" dirty="0" smtClean="0"/>
              <a:t>Employment</a:t>
            </a:r>
          </a:p>
          <a:p>
            <a:r>
              <a:rPr lang="en-US" dirty="0" smtClean="0"/>
              <a:t>Building and construction</a:t>
            </a:r>
          </a:p>
          <a:p>
            <a:r>
              <a:rPr lang="en-US" dirty="0" smtClean="0"/>
              <a:t>Incorporation and registration of businesses</a:t>
            </a:r>
          </a:p>
          <a:p>
            <a:pPr marL="36576" indent="0">
              <a:buNone/>
            </a:pPr>
            <a:r>
              <a:rPr lang="en-US" sz="1400" b="1" dirty="0" smtClean="0"/>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932040" y="1971328"/>
            <a:ext cx="2146436" cy="3240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Research compliance requirements that apply to proposed activity/operation and location</a:t>
            </a:r>
            <a:endParaRPr lang="en-US" dirty="0"/>
          </a:p>
        </p:txBody>
      </p:sp>
      <p:sp>
        <p:nvSpPr>
          <p:cNvPr id="3" name="Content Placeholder 2"/>
          <p:cNvSpPr>
            <a:spLocks noGrp="1"/>
          </p:cNvSpPr>
          <p:nvPr>
            <p:ph idx="1"/>
          </p:nvPr>
        </p:nvSpPr>
        <p:spPr/>
        <p:txBody>
          <a:bodyPr/>
          <a:lstStyle/>
          <a:p>
            <a:r>
              <a:rPr lang="en-US" dirty="0" smtClean="0"/>
              <a:t>Safety, health and welfare issues</a:t>
            </a:r>
          </a:p>
          <a:p>
            <a:r>
              <a:rPr lang="en-US" dirty="0" smtClean="0"/>
              <a:t>Taxation</a:t>
            </a:r>
          </a:p>
          <a:p>
            <a:r>
              <a:rPr lang="en-US" dirty="0" smtClean="0"/>
              <a:t>Operational matters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a:xfrm>
            <a:off x="4117299" y="1916832"/>
            <a:ext cx="4407849" cy="3240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Research compliance requirements that apply to proposed activity/operation and location</a:t>
            </a:r>
            <a:endParaRPr lang="en-US" dirty="0"/>
          </a:p>
        </p:txBody>
      </p:sp>
      <p:sp>
        <p:nvSpPr>
          <p:cNvPr id="3" name="Content Placeholder 2"/>
          <p:cNvSpPr>
            <a:spLocks noGrp="1"/>
          </p:cNvSpPr>
          <p:nvPr>
            <p:ph idx="1"/>
          </p:nvPr>
        </p:nvSpPr>
        <p:spPr/>
        <p:txBody>
          <a:bodyPr/>
          <a:lstStyle/>
          <a:p>
            <a:pPr marL="36576" indent="0">
              <a:buNone/>
            </a:pPr>
            <a:r>
              <a:rPr lang="en-US" dirty="0" smtClean="0"/>
              <a:t>Voluntary industry COPs may impose obligations to:</a:t>
            </a:r>
          </a:p>
          <a:p>
            <a:r>
              <a:rPr lang="en-US" dirty="0" smtClean="0"/>
              <a:t>Comply with all applicable laws</a:t>
            </a:r>
          </a:p>
          <a:p>
            <a:r>
              <a:rPr lang="en-US" dirty="0" smtClean="0"/>
              <a:t>Respect local community, people and the environment</a:t>
            </a:r>
          </a:p>
          <a:p>
            <a:r>
              <a:rPr lang="en-US" dirty="0" smtClean="0"/>
              <a:t>Leave the area as it was found</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145584" y="1423282"/>
            <a:ext cx="2779216" cy="416924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Research compliance requirements that apply to proposed activity/operation and location</a:t>
            </a:r>
            <a:endParaRPr lang="en-US" dirty="0"/>
          </a:p>
        </p:txBody>
      </p:sp>
      <p:sp>
        <p:nvSpPr>
          <p:cNvPr id="3" name="Content Placeholder 2"/>
          <p:cNvSpPr>
            <a:spLocks noGrp="1"/>
          </p:cNvSpPr>
          <p:nvPr>
            <p:ph idx="1"/>
          </p:nvPr>
        </p:nvSpPr>
        <p:spPr/>
        <p:txBody>
          <a:bodyPr/>
          <a:lstStyle/>
          <a:p>
            <a:r>
              <a:rPr lang="en-US" dirty="0" smtClean="0"/>
              <a:t>Do no harm</a:t>
            </a:r>
          </a:p>
          <a:p>
            <a:r>
              <a:rPr lang="en-US" dirty="0" smtClean="0"/>
              <a:t>Act in an ethical and responsible manner</a:t>
            </a:r>
          </a:p>
          <a:p>
            <a:r>
              <a:rPr lang="en-US" dirty="0" smtClean="0"/>
              <a:t>Provide a genuine tourism experience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9168" y="2027856"/>
            <a:ext cx="2886013" cy="2160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pPr marL="36576" indent="0">
              <a:buNone/>
            </a:pPr>
            <a:r>
              <a:rPr lang="en-US" dirty="0" smtClean="0"/>
              <a:t>Sustainable tourism initiatives must be planned and the plan must be:</a:t>
            </a:r>
          </a:p>
          <a:p>
            <a:r>
              <a:rPr lang="en-US" dirty="0" smtClean="0"/>
              <a:t>In writing</a:t>
            </a:r>
          </a:p>
          <a:p>
            <a:r>
              <a:rPr lang="en-AU" dirty="0" smtClean="0"/>
              <a:t>The result of adequate consideration and consultation</a:t>
            </a:r>
          </a:p>
          <a:p>
            <a:r>
              <a:rPr lang="en-AU" dirty="0" smtClean="0"/>
              <a:t>Realistic and achievable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6096" y="1992742"/>
            <a:ext cx="2806185" cy="221688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normAutofit fontScale="92500" lnSpcReduction="20000"/>
          </a:bodyPr>
          <a:lstStyle/>
          <a:p>
            <a:pPr marL="36576" indent="0">
              <a:buNone/>
            </a:pPr>
            <a:r>
              <a:rPr lang="en-US" dirty="0" smtClean="0"/>
              <a:t>Plan should contain:</a:t>
            </a:r>
          </a:p>
          <a:p>
            <a:r>
              <a:rPr lang="en-AU" dirty="0" smtClean="0"/>
              <a:t>Explanation of how proposal meets identified local needs</a:t>
            </a:r>
            <a:endParaRPr lang="en-US" dirty="0" smtClean="0"/>
          </a:p>
          <a:p>
            <a:r>
              <a:rPr lang="en-AU" dirty="0" smtClean="0"/>
              <a:t>Description of the extent and type of activities and operations proposed</a:t>
            </a:r>
          </a:p>
          <a:p>
            <a:r>
              <a:rPr lang="en-AU" dirty="0" smtClean="0"/>
              <a:t>Identification of timing details  </a:t>
            </a:r>
          </a:p>
          <a:p>
            <a:r>
              <a:rPr lang="en-AU" dirty="0" smtClean="0"/>
              <a:t>Provision of evidence proving required approvals and permissions have been approved/granted </a:t>
            </a:r>
            <a:endParaRPr lang="en-US" dirty="0" smtClean="0"/>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04048" y="2276872"/>
            <a:ext cx="2160000" cy="3240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normAutofit fontScale="92500" lnSpcReduction="10000"/>
          </a:bodyPr>
          <a:lstStyle/>
          <a:p>
            <a:r>
              <a:rPr lang="en-AU" dirty="0" smtClean="0"/>
              <a:t>Development of behaviour stipulations for tour group members </a:t>
            </a:r>
            <a:endParaRPr lang="en-US" dirty="0" smtClean="0"/>
          </a:p>
          <a:p>
            <a:r>
              <a:rPr lang="en-AU" dirty="0" smtClean="0"/>
              <a:t>Identification of process for trialling the initiative </a:t>
            </a:r>
          </a:p>
          <a:p>
            <a:r>
              <a:rPr lang="en-AU" dirty="0" smtClean="0"/>
              <a:t>Explanation of how objectors can register objections</a:t>
            </a:r>
          </a:p>
          <a:p>
            <a:r>
              <a:rPr lang="en-AU" dirty="0" smtClean="0"/>
              <a:t>Consultation that will occur with relevant communities and individuals </a:t>
            </a:r>
          </a:p>
          <a:p>
            <a:r>
              <a:rPr lang="en-AU" dirty="0" smtClean="0"/>
              <a:t>Description of monitoring protocols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03612" y="2204864"/>
            <a:ext cx="3342147" cy="266393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Details and content of the plan will vary between initiatives</a:t>
            </a:r>
          </a:p>
          <a:p>
            <a:r>
              <a:rPr lang="en-US" dirty="0" smtClean="0"/>
              <a:t>As an example, a plan to introduce a new overnight tour to an area may contain:</a:t>
            </a:r>
          </a:p>
          <a:p>
            <a:pPr lvl="1"/>
            <a:r>
              <a:rPr lang="en-US" dirty="0" smtClean="0"/>
              <a:t>Date/s of trial</a:t>
            </a:r>
          </a:p>
          <a:p>
            <a:pPr lvl="1"/>
            <a:r>
              <a:rPr lang="en-US" dirty="0" smtClean="0"/>
              <a:t>Time/s group will arrive</a:t>
            </a:r>
          </a:p>
          <a:p>
            <a:pPr lvl="1"/>
            <a:r>
              <a:rPr lang="en-US" dirty="0" smtClean="0"/>
              <a:t>Tour duration</a:t>
            </a:r>
          </a:p>
          <a:p>
            <a:pPr lvl="1"/>
            <a:r>
              <a:rPr lang="en-US" dirty="0" smtClean="0"/>
              <a:t>Number of people in each group</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022872"/>
            <a:ext cx="2243270" cy="2880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r>
              <a:rPr lang="en-US" dirty="0" smtClean="0"/>
              <a:t>Group profile</a:t>
            </a:r>
          </a:p>
          <a:p>
            <a:r>
              <a:rPr lang="en-US" dirty="0" smtClean="0"/>
              <a:t>Itinerary</a:t>
            </a:r>
          </a:p>
          <a:p>
            <a:r>
              <a:rPr lang="en-US" dirty="0" smtClean="0"/>
              <a:t>Route/s to be used – vehicle and foot traffic</a:t>
            </a:r>
          </a:p>
          <a:p>
            <a:r>
              <a:rPr lang="en-US" dirty="0" smtClean="0"/>
              <a:t>Location and size of camp</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13400" y="1988840"/>
            <a:ext cx="3240000" cy="2160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r>
              <a:rPr lang="en-US" dirty="0" smtClean="0"/>
              <a:t>Facilities in camp</a:t>
            </a:r>
          </a:p>
          <a:p>
            <a:r>
              <a:rPr lang="en-US" dirty="0" smtClean="0"/>
              <a:t>Interpretive activities</a:t>
            </a:r>
          </a:p>
          <a:p>
            <a:r>
              <a:rPr lang="en-US" dirty="0" smtClean="0"/>
              <a:t>Estimated use of local resources and facilities</a:t>
            </a:r>
          </a:p>
          <a:p>
            <a:r>
              <a:rPr lang="en-US" dirty="0" smtClean="0"/>
              <a:t>Resources to be ‘carried in’</a:t>
            </a:r>
          </a:p>
          <a:p>
            <a:r>
              <a:rPr lang="en-US" dirty="0" smtClean="0"/>
              <a:t>Details of ‘prohibited items’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724128" y="1988840"/>
            <a:ext cx="1819718" cy="3240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r>
              <a:rPr lang="en-US" dirty="0" smtClean="0"/>
              <a:t>Role/s of local communities/personnel</a:t>
            </a:r>
          </a:p>
          <a:p>
            <a:r>
              <a:rPr lang="en-US" dirty="0" smtClean="0"/>
              <a:t>Arrangements regarding latrines and washing facilities</a:t>
            </a:r>
          </a:p>
          <a:p>
            <a:r>
              <a:rPr lang="en-US" dirty="0" smtClean="0"/>
              <a:t>Details of waste management</a:t>
            </a:r>
          </a:p>
          <a:p>
            <a:r>
              <a:rPr lang="en-US" dirty="0" smtClean="0"/>
              <a:t>Tour group ‘Code of Conduct’</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580112" y="2348880"/>
            <a:ext cx="2110629" cy="3240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r>
              <a:rPr lang="en-US" dirty="0" smtClean="0"/>
              <a:t>Emergency Management Plans</a:t>
            </a:r>
          </a:p>
          <a:p>
            <a:r>
              <a:rPr lang="en-US" dirty="0" smtClean="0"/>
              <a:t>Monitoring activities to be applied</a:t>
            </a:r>
          </a:p>
          <a:p>
            <a:r>
              <a:rPr lang="en-US" dirty="0" smtClean="0"/>
              <a:t>Process to be used to evaluate monitoring data</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8" y="1772815"/>
            <a:ext cx="3890392" cy="4237899"/>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‘The ASEAN Tourism Standards’:</a:t>
            </a:r>
          </a:p>
          <a:p>
            <a:r>
              <a:rPr lang="en-US" dirty="0" smtClean="0"/>
              <a:t>Agreed to by </a:t>
            </a:r>
            <a:r>
              <a:rPr lang="en-AU" dirty="0" smtClean="0"/>
              <a:t>ASEAN National Tourism Organizations to help ASEAN be a Quality Single Destination</a:t>
            </a:r>
            <a:endParaRPr lang="en-US" dirty="0" smtClean="0"/>
          </a:p>
          <a:p>
            <a:r>
              <a:rPr lang="en-US" dirty="0" smtClean="0"/>
              <a:t>Involves a certification process</a:t>
            </a:r>
          </a:p>
          <a:p>
            <a:r>
              <a:rPr lang="en-US" dirty="0" smtClean="0"/>
              <a:t>Should be integrated into sustainable tourism initiatives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6529" y="1988840"/>
            <a:ext cx="3571597" cy="2232248"/>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pPr marL="36576" indent="0">
              <a:buNone/>
            </a:pPr>
            <a:r>
              <a:rPr lang="en-US" dirty="0" smtClean="0"/>
              <a:t>The six standards are:</a:t>
            </a:r>
          </a:p>
          <a:p>
            <a:r>
              <a:rPr lang="en-US" dirty="0" smtClean="0"/>
              <a:t>Green Hotel</a:t>
            </a:r>
          </a:p>
          <a:p>
            <a:r>
              <a:rPr lang="en-US" dirty="0" smtClean="0"/>
              <a:t>Food and Beverage Services</a:t>
            </a:r>
          </a:p>
          <a:p>
            <a:r>
              <a:rPr lang="en-US" dirty="0" smtClean="0"/>
              <a:t>Public Restroom</a:t>
            </a:r>
          </a:p>
          <a:p>
            <a:r>
              <a:rPr lang="en-US" dirty="0" smtClean="0"/>
              <a:t>Home Stay</a:t>
            </a:r>
          </a:p>
          <a:p>
            <a:r>
              <a:rPr lang="en-US" dirty="0" smtClean="0"/>
              <a:t>Ecotourism</a:t>
            </a:r>
          </a:p>
          <a:p>
            <a:r>
              <a:rPr lang="en-US" dirty="0" smtClean="0"/>
              <a:t>Tourism Heritage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5746" y="1988840"/>
            <a:ext cx="3649054" cy="1800200"/>
          </a:xfrm>
          <a:prstGeom prst="rect">
            <a:avLst/>
          </a:prstGeom>
        </p:spPr>
      </p:pic>
      <p:sp>
        <p:nvSpPr>
          <p:cNvPr id="9" name="TextBox 8"/>
          <p:cNvSpPr txBox="1"/>
          <p:nvPr/>
        </p:nvSpPr>
        <p:spPr>
          <a:xfrm>
            <a:off x="4275746" y="3818311"/>
            <a:ext cx="3649054" cy="1692771"/>
          </a:xfrm>
          <a:prstGeom prst="rect">
            <a:avLst/>
          </a:prstGeom>
          <a:noFill/>
        </p:spPr>
        <p:txBody>
          <a:bodyPr wrap="square" rtlCol="0">
            <a:spAutoFit/>
          </a:bodyPr>
          <a:lstStyle/>
          <a:p>
            <a:r>
              <a:rPr lang="en-AU" b="1" dirty="0">
                <a:latin typeface="Helvetica" pitchFamily="34" charset="0"/>
              </a:rPr>
              <a:t>Shangri-La Hotel, Kuala Lumpur Receives The </a:t>
            </a:r>
            <a:r>
              <a:rPr lang="en-AU" b="1" dirty="0" smtClean="0">
                <a:latin typeface="Helvetica" pitchFamily="34" charset="0"/>
              </a:rPr>
              <a:t>ASEAN Green </a:t>
            </a:r>
            <a:r>
              <a:rPr lang="en-AU" b="1" dirty="0">
                <a:latin typeface="Helvetica" pitchFamily="34" charset="0"/>
              </a:rPr>
              <a:t>Hotel Award For The Fourth Time </a:t>
            </a:r>
            <a:r>
              <a:rPr lang="en-AU" b="1" dirty="0" smtClean="0">
                <a:latin typeface="Helvetica" pitchFamily="34" charset="0"/>
              </a:rPr>
              <a:t>Running (2014) …</a:t>
            </a:r>
          </a:p>
          <a:p>
            <a:r>
              <a:rPr lang="en-AU" sz="1600" b="1" dirty="0" smtClean="0">
                <a:latin typeface="Helvetica" pitchFamily="34" charset="0"/>
              </a:rPr>
              <a:t>Source: </a:t>
            </a:r>
            <a:r>
              <a:rPr lang="en-AU" sz="1600" dirty="0" smtClean="0">
                <a:latin typeface="Helvetica" pitchFamily="34" charset="0"/>
              </a:rPr>
              <a:t>eGlobal Travel Media (wwweglobaltravelmedia.com.au)</a:t>
            </a:r>
            <a:endParaRPr lang="en-AU" sz="1600" dirty="0">
              <a:latin typeface="Helvetica"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a:xfrm>
            <a:off x="457200" y="1988840"/>
            <a:ext cx="4258816" cy="4433224"/>
          </a:xfrm>
        </p:spPr>
        <p:txBody>
          <a:bodyPr>
            <a:normAutofit fontScale="92500" lnSpcReduction="10000"/>
          </a:bodyPr>
          <a:lstStyle/>
          <a:p>
            <a:r>
              <a:rPr lang="en-US" dirty="0" smtClean="0"/>
              <a:t>Green Hotel:</a:t>
            </a:r>
          </a:p>
          <a:p>
            <a:pPr lvl="1"/>
            <a:r>
              <a:rPr lang="en-AU" dirty="0" smtClean="0"/>
              <a:t>Is a hotel which is environmentally-friendly and adopts energy conservation measures</a:t>
            </a:r>
            <a:endParaRPr lang="en-US" dirty="0" smtClean="0"/>
          </a:p>
          <a:p>
            <a:r>
              <a:rPr lang="en-US" dirty="0" smtClean="0"/>
              <a:t>Food and Beverage Services:</a:t>
            </a:r>
          </a:p>
          <a:p>
            <a:pPr lvl="1"/>
            <a:r>
              <a:rPr lang="en-AU" dirty="0" smtClean="0"/>
              <a:t>Local F&amp;B Service is a form of service where traditional and typical food and beverages are produced and/or sold by local people in food stalls, local restaurants or other similar outlets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20072" y="1988839"/>
            <a:ext cx="2304256" cy="345465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a:xfrm>
            <a:off x="457200" y="1988840"/>
            <a:ext cx="4474840" cy="4608512"/>
          </a:xfrm>
        </p:spPr>
        <p:txBody>
          <a:bodyPr>
            <a:normAutofit fontScale="92500" lnSpcReduction="20000"/>
          </a:bodyPr>
          <a:lstStyle/>
          <a:p>
            <a:r>
              <a:rPr lang="en-US" dirty="0" smtClean="0"/>
              <a:t>Public Restroom:</a:t>
            </a:r>
          </a:p>
          <a:p>
            <a:pPr lvl="1"/>
            <a:r>
              <a:rPr lang="en-AU" dirty="0" smtClean="0"/>
              <a:t>Is a room or booth shared by all people for urination and defecation consisting of at least a bowl fitted with or without a seat and connected to a waste pipe and a flushing apparatus</a:t>
            </a:r>
            <a:endParaRPr lang="en-US" dirty="0" smtClean="0"/>
          </a:p>
          <a:p>
            <a:r>
              <a:rPr lang="en-US" dirty="0" smtClean="0"/>
              <a:t>Home Stay:</a:t>
            </a:r>
          </a:p>
          <a:p>
            <a:pPr lvl="1"/>
            <a:r>
              <a:rPr lang="en-AU" dirty="0" smtClean="0"/>
              <a:t>Is an alternative form of family furnished accommodation generally located in a house, providing guests opportunities to experience family/community lifestyle as well as tourist attractions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3838" y="1988840"/>
            <a:ext cx="3048000" cy="203301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pPr marL="36576" indent="0">
              <a:buNone/>
            </a:pPr>
            <a:r>
              <a:rPr lang="en-US" dirty="0" smtClean="0"/>
              <a:t>Ecotourism:</a:t>
            </a:r>
          </a:p>
          <a:p>
            <a:r>
              <a:rPr lang="en-AU" dirty="0" smtClean="0"/>
              <a:t>Is responsible travel to destinations with ecological diversity that involves in activities, environmental and cultural conservation measures, and community participation providing benefits for the local people and the country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8882" y="2030383"/>
            <a:ext cx="3048000" cy="203301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Develop a plan that details experience and activities to be implemented</a:t>
            </a:r>
            <a:endParaRPr lang="en-US" dirty="0"/>
          </a:p>
        </p:txBody>
      </p:sp>
      <p:sp>
        <p:nvSpPr>
          <p:cNvPr id="3" name="Content Placeholder 2"/>
          <p:cNvSpPr>
            <a:spLocks noGrp="1"/>
          </p:cNvSpPr>
          <p:nvPr>
            <p:ph idx="1"/>
          </p:nvPr>
        </p:nvSpPr>
        <p:spPr/>
        <p:txBody>
          <a:bodyPr/>
          <a:lstStyle/>
          <a:p>
            <a:pPr marL="36576" indent="0">
              <a:buNone/>
            </a:pPr>
            <a:r>
              <a:rPr lang="en-US" dirty="0" smtClean="0"/>
              <a:t>Tourism Heritage:</a:t>
            </a:r>
          </a:p>
          <a:p>
            <a:r>
              <a:rPr lang="en-AU" dirty="0" smtClean="0"/>
              <a:t>Is an outstanding cultural or heritage area of a country that is protected, conserved and managed in a sustainable manner provided with easy access and support facilities for the enjoyment of visiting tourists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6478"/>
            <a:ext cx="3048000" cy="232562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10000"/>
          </a:bodyPr>
          <a:lstStyle/>
          <a:p>
            <a:pPr marL="36576" indent="0">
              <a:buNone/>
            </a:pPr>
            <a:r>
              <a:rPr lang="en-US" dirty="0" smtClean="0"/>
              <a:t>When </a:t>
            </a:r>
            <a:r>
              <a:rPr lang="en-AU" dirty="0" smtClean="0"/>
              <a:t>planning minimal impact operations</a:t>
            </a:r>
            <a:r>
              <a:rPr lang="en-US" dirty="0" smtClean="0"/>
              <a:t>:</a:t>
            </a:r>
          </a:p>
          <a:p>
            <a:r>
              <a:rPr lang="en-AU" dirty="0" smtClean="0"/>
              <a:t>Seek to create a sustainable tourism outcome</a:t>
            </a:r>
          </a:p>
          <a:p>
            <a:r>
              <a:rPr lang="en-AU" dirty="0" smtClean="0"/>
              <a:t>Operate in an open, honest and transparent manner</a:t>
            </a:r>
          </a:p>
          <a:p>
            <a:r>
              <a:rPr lang="en-AU" dirty="0" smtClean="0"/>
              <a:t>Undertake all planning using a consultative and collaborative approach </a:t>
            </a:r>
          </a:p>
          <a:p>
            <a:r>
              <a:rPr lang="en-AU" dirty="0" smtClean="0"/>
              <a:t>Ensure there is certainty about the proposal</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282" r="5320"/>
          <a:stretch/>
        </p:blipFill>
        <p:spPr>
          <a:xfrm>
            <a:off x="5714628" y="2020370"/>
            <a:ext cx="1944216" cy="3048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Identify the specific geographic location where the operation will occur</a:t>
            </a:r>
          </a:p>
          <a:p>
            <a:r>
              <a:rPr lang="en-AU" dirty="0" smtClean="0"/>
              <a:t>Identify and actively include relevant stakeholders</a:t>
            </a:r>
          </a:p>
          <a:p>
            <a:r>
              <a:rPr lang="en-AU" dirty="0" smtClean="0"/>
              <a:t>Determine environmental factors which may be impacted</a:t>
            </a:r>
          </a:p>
          <a:p>
            <a:pPr marL="36576" lvl="0" indent="0">
              <a:buNone/>
            </a:pPr>
            <a:r>
              <a:rPr lang="en-US" sz="1400" b="1" dirty="0" smtClean="0"/>
              <a:t>(Continued)</a:t>
            </a:r>
            <a:endParaRPr lang="en-AU" sz="1400" b="1"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916832"/>
            <a:ext cx="2422080" cy="3240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p:txBody>
          <a:bodyPr>
            <a:normAutofit/>
          </a:bodyPr>
          <a:lstStyle/>
          <a:p>
            <a:r>
              <a:rPr lang="en-AU" dirty="0" smtClean="0"/>
              <a:t>Identify societal and cultural factors which may be impacted</a:t>
            </a:r>
          </a:p>
          <a:p>
            <a:r>
              <a:rPr lang="en-AU" dirty="0" smtClean="0"/>
              <a:t>Specify ecological factors which may be impacted</a:t>
            </a:r>
          </a:p>
          <a:p>
            <a:r>
              <a:rPr lang="en-AU" dirty="0" smtClean="0"/>
              <a:t>Describe economic factors which may be impacted</a:t>
            </a:r>
          </a:p>
          <a:p>
            <a:pPr marL="36576" lvl="0" indent="0">
              <a:buNone/>
            </a:pPr>
            <a:r>
              <a:rPr lang="en-US" sz="1400" b="1" dirty="0" smtClean="0"/>
              <a:t>(Continued)</a:t>
            </a:r>
            <a:endParaRPr lang="en-AU" sz="1400" b="1"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96104" y="1988840"/>
            <a:ext cx="3228696" cy="251992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1</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10000"/>
          </a:bodyPr>
          <a:lstStyle/>
          <a:p>
            <a:r>
              <a:rPr lang="en-AU" dirty="0" smtClean="0"/>
              <a:t>Research all factors which have been assessed as being impacted</a:t>
            </a:r>
          </a:p>
          <a:p>
            <a:r>
              <a:rPr lang="en-AU" dirty="0" smtClean="0"/>
              <a:t>Become aware of all applicable mandatory and voluntary compliance requirements attaching to implementation of the initiative</a:t>
            </a:r>
          </a:p>
          <a:p>
            <a:r>
              <a:rPr lang="en-AU" dirty="0" smtClean="0"/>
              <a:t>Prepare a detailed written plan to guide a pilot/trial of the proposal</a:t>
            </a:r>
          </a:p>
          <a:p>
            <a:r>
              <a:rPr lang="en-AU" dirty="0" smtClean="0"/>
              <a:t>Obtain approval for the plan from stakeholders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988840"/>
            <a:ext cx="2283496" cy="3240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2 – Trial minimal impact operations</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20000"/>
          </a:bodyPr>
          <a:lstStyle/>
          <a:p>
            <a:pPr marL="36576" indent="0">
              <a:buNone/>
            </a:pPr>
            <a:r>
              <a:rPr lang="en-US" dirty="0" smtClean="0"/>
              <a:t>Performance Criteria for this Element are:</a:t>
            </a:r>
          </a:p>
          <a:p>
            <a:r>
              <a:rPr lang="en-AU" dirty="0" smtClean="0"/>
              <a:t>Organise for the trial to be conducted</a:t>
            </a:r>
            <a:endParaRPr lang="en-US" dirty="0" smtClean="0"/>
          </a:p>
          <a:p>
            <a:r>
              <a:rPr lang="en-AU" dirty="0" smtClean="0"/>
              <a:t>Conduct the trial operation as planned</a:t>
            </a:r>
          </a:p>
          <a:p>
            <a:r>
              <a:rPr lang="en-AU" dirty="0" smtClean="0"/>
              <a:t>Monitor the impacts of the trial</a:t>
            </a:r>
          </a:p>
          <a:p>
            <a:r>
              <a:rPr lang="en-AU" dirty="0" smtClean="0"/>
              <a:t>Evaluate the information generated by the trial</a:t>
            </a:r>
          </a:p>
          <a:p>
            <a:r>
              <a:rPr lang="en-AU" dirty="0" smtClean="0"/>
              <a:t>Utilise the information from the trial to modify previous plans so as to minimise negative effects and maximise positive impacts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76264" cy="323392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p:txBody>
          <a:bodyPr/>
          <a:lstStyle/>
          <a:p>
            <a:pPr marL="36576" indent="0">
              <a:buNone/>
            </a:pPr>
            <a:r>
              <a:rPr lang="en-AU" dirty="0" smtClean="0"/>
              <a:t>The first step is to ‘Confirm the trial plans’ – which may</a:t>
            </a:r>
            <a:r>
              <a:rPr lang="en-US" dirty="0" smtClean="0"/>
              <a:t>:</a:t>
            </a:r>
          </a:p>
          <a:p>
            <a:r>
              <a:rPr lang="en-AU" dirty="0" smtClean="0"/>
              <a:t>Require presentation and explanation of final trial plans</a:t>
            </a:r>
            <a:endParaRPr lang="en-US" dirty="0" smtClean="0"/>
          </a:p>
          <a:p>
            <a:r>
              <a:rPr lang="en-AU" dirty="0" smtClean="0"/>
              <a:t>Involve explanation of details</a:t>
            </a:r>
          </a:p>
          <a:p>
            <a:r>
              <a:rPr lang="en-AU" dirty="0" smtClean="0"/>
              <a:t>Necessitate responses to questions and concerns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04048" y="2276872"/>
            <a:ext cx="2161080" cy="3240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p:txBody>
          <a:bodyPr/>
          <a:lstStyle/>
          <a:p>
            <a:r>
              <a:rPr lang="en-AU" dirty="0" smtClean="0"/>
              <a:t>Verify checks and monitoring activities which have been provided as an integral element of the trial</a:t>
            </a:r>
            <a:endParaRPr lang="en-US" dirty="0" smtClean="0"/>
          </a:p>
          <a:p>
            <a:r>
              <a:rPr lang="en-AU" dirty="0" smtClean="0"/>
              <a:t>Demand readiness to make last-minute changes which may be required by key stakeholders </a:t>
            </a:r>
          </a:p>
          <a:p>
            <a:r>
              <a:rPr lang="en-AU" dirty="0" smtClean="0"/>
              <a:t>Result in re-formulating draft trial plans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220072" y="1984648"/>
            <a:ext cx="2741040" cy="3240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Communication with stakeholders at this stage is vital and require:</a:t>
            </a:r>
          </a:p>
          <a:p>
            <a:r>
              <a:rPr lang="en-AU" dirty="0" smtClean="0"/>
              <a:t>Sharing hard copy plans </a:t>
            </a:r>
            <a:endParaRPr lang="en-US" dirty="0" smtClean="0"/>
          </a:p>
          <a:p>
            <a:r>
              <a:rPr lang="en-AU" dirty="0" smtClean="0"/>
              <a:t>Verifying approval/s</a:t>
            </a:r>
          </a:p>
          <a:p>
            <a:r>
              <a:rPr lang="en-AU" dirty="0" smtClean="0"/>
              <a:t>Encouraging and/or obtaining cooperation</a:t>
            </a:r>
          </a:p>
          <a:p>
            <a:r>
              <a:rPr lang="en-AU" dirty="0" smtClean="0"/>
              <a:t>Negotiating final details</a:t>
            </a:r>
          </a:p>
          <a:p>
            <a:r>
              <a:rPr lang="en-AU" dirty="0" smtClean="0"/>
              <a:t>Maintaining positive relationships which have been established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58078" y="2276872"/>
            <a:ext cx="3917386" cy="2951968"/>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p:txBody>
          <a:bodyPr/>
          <a:lstStyle/>
          <a:p>
            <a:pPr marL="36576" indent="0">
              <a:buNone/>
            </a:pPr>
            <a:r>
              <a:rPr lang="en-US" dirty="0" smtClean="0"/>
              <a:t>Communication may feature:</a:t>
            </a:r>
          </a:p>
          <a:p>
            <a:r>
              <a:rPr lang="en-US" dirty="0" smtClean="0"/>
              <a:t>Community meetings</a:t>
            </a:r>
          </a:p>
          <a:p>
            <a:r>
              <a:rPr lang="en-US" dirty="0" smtClean="0"/>
              <a:t>Face-to-face discussions</a:t>
            </a:r>
          </a:p>
          <a:p>
            <a:r>
              <a:rPr lang="en-US" dirty="0" smtClean="0"/>
              <a:t>Telephone contact</a:t>
            </a:r>
          </a:p>
          <a:p>
            <a:r>
              <a:rPr lang="en-US" dirty="0" smtClean="0"/>
              <a:t>Distribution of hard copy materials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04048" y="1844824"/>
            <a:ext cx="2339280" cy="3240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Regarding ‘establishment of required infrastructure; it is important to note:</a:t>
            </a:r>
          </a:p>
          <a:p>
            <a:r>
              <a:rPr lang="en-AU" dirty="0" smtClean="0"/>
              <a:t>This is not required for all initiatives</a:t>
            </a:r>
            <a:endParaRPr lang="en-US" dirty="0" smtClean="0"/>
          </a:p>
          <a:p>
            <a:r>
              <a:rPr lang="en-AU" dirty="0" smtClean="0"/>
              <a:t>Tourism Operators are reluctant to pay significant sums of money for trials </a:t>
            </a:r>
          </a:p>
          <a:p>
            <a:r>
              <a:rPr lang="en-AU" dirty="0" smtClean="0"/>
              <a:t>Support from government agencies = likelihood they will contribute ‘seeding’ funding</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6926" t="16401"/>
          <a:stretch/>
        </p:blipFill>
        <p:spPr>
          <a:xfrm>
            <a:off x="4932040" y="1971328"/>
            <a:ext cx="2146436" cy="3240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Establishing infrastructure may involve:</a:t>
            </a:r>
          </a:p>
          <a:p>
            <a:r>
              <a:rPr lang="en-AU" dirty="0" smtClean="0"/>
              <a:t>Pegging out (or grading) of tracks to be used</a:t>
            </a:r>
            <a:endParaRPr lang="en-US" dirty="0" smtClean="0"/>
          </a:p>
          <a:p>
            <a:r>
              <a:rPr lang="en-AU" dirty="0" smtClean="0"/>
              <a:t>Trucking in portable facilities</a:t>
            </a:r>
          </a:p>
          <a:p>
            <a:r>
              <a:rPr lang="en-AU" dirty="0" smtClean="0"/>
              <a:t>Making arrangements with local people, communities and/or businesses </a:t>
            </a:r>
          </a:p>
          <a:p>
            <a:r>
              <a:rPr lang="en-AU" dirty="0" smtClean="0"/>
              <a:t>Consideration of transport, social, environmental and collaborative infrastructure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374851" cy="324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a:xfrm>
            <a:off x="457200" y="1988839"/>
            <a:ext cx="4474840" cy="4680521"/>
          </a:xfrm>
        </p:spPr>
        <p:txBody>
          <a:bodyPr>
            <a:normAutofit fontScale="92500"/>
          </a:bodyPr>
          <a:lstStyle/>
          <a:p>
            <a:pPr marL="36576" indent="0">
              <a:buNone/>
            </a:pPr>
            <a:r>
              <a:rPr lang="en-US" dirty="0" smtClean="0"/>
              <a:t>‘Monitoring requirements’ to be organised may/will be:</a:t>
            </a:r>
          </a:p>
          <a:p>
            <a:r>
              <a:rPr lang="en-US" dirty="0" smtClean="0"/>
              <a:t>Contained in the plan for the trial</a:t>
            </a:r>
          </a:p>
          <a:p>
            <a:r>
              <a:rPr lang="en-US" dirty="0" smtClean="0"/>
              <a:t>Imposed by government agencies</a:t>
            </a:r>
          </a:p>
          <a:p>
            <a:r>
              <a:rPr lang="en-US" dirty="0" smtClean="0"/>
              <a:t>Insisted on by local communities</a:t>
            </a:r>
          </a:p>
          <a:p>
            <a:r>
              <a:rPr lang="en-US" dirty="0" smtClean="0"/>
              <a:t>Suggested by consultants</a:t>
            </a:r>
          </a:p>
          <a:p>
            <a:r>
              <a:rPr lang="en-US" dirty="0" smtClean="0"/>
              <a:t>Responsive to identified concerns</a:t>
            </a:r>
          </a:p>
          <a:p>
            <a:r>
              <a:rPr lang="en-US" dirty="0" smtClean="0"/>
              <a:t>Based on other effective trials/pilots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1151"/>
          <a:stretch/>
        </p:blipFill>
        <p:spPr>
          <a:xfrm>
            <a:off x="4411188" y="2132856"/>
            <a:ext cx="4113960" cy="3023976"/>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a:xfrm>
            <a:off x="457200" y="1988840"/>
            <a:ext cx="4114800" cy="4536504"/>
          </a:xfrm>
        </p:spPr>
        <p:txBody>
          <a:bodyPr>
            <a:normAutofit fontScale="92500"/>
          </a:bodyPr>
          <a:lstStyle/>
          <a:p>
            <a:pPr marL="36576" indent="0">
              <a:buNone/>
            </a:pPr>
            <a:r>
              <a:rPr lang="en-US" dirty="0" smtClean="0"/>
              <a:t>‘Evaluation criteria and parameters’ will:</a:t>
            </a:r>
          </a:p>
          <a:p>
            <a:r>
              <a:rPr lang="en-US" dirty="0" smtClean="0"/>
              <a:t>Be set for the trial before it starts as part of the plan – in consultation with stakeholders</a:t>
            </a:r>
          </a:p>
          <a:p>
            <a:r>
              <a:rPr lang="en-US" dirty="0" smtClean="0"/>
              <a:t>Address interests of concern relevant to the initiative</a:t>
            </a:r>
          </a:p>
          <a:p>
            <a:r>
              <a:rPr lang="en-US" dirty="0" smtClean="0"/>
              <a:t>Describe what will determine whether or not the trial is ‘acceptable’ or not</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24012" t="46837" r="24013" b="8879"/>
          <a:stretch/>
        </p:blipFill>
        <p:spPr>
          <a:xfrm>
            <a:off x="4985048" y="2041276"/>
            <a:ext cx="3168352" cy="201622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Organisation also requires </a:t>
            </a:r>
            <a:r>
              <a:rPr lang="en-AU" dirty="0" smtClean="0"/>
              <a:t>public commitment to transparency in relation to</a:t>
            </a:r>
            <a:r>
              <a:rPr lang="en-US" dirty="0" smtClean="0"/>
              <a:t>:</a:t>
            </a:r>
          </a:p>
          <a:p>
            <a:r>
              <a:rPr lang="en-AU" dirty="0" smtClean="0"/>
              <a:t>Conducting the trial </a:t>
            </a:r>
            <a:endParaRPr lang="en-US" dirty="0" smtClean="0"/>
          </a:p>
          <a:p>
            <a:r>
              <a:rPr lang="en-AU" dirty="0" smtClean="0"/>
              <a:t>Observing the monitoring process</a:t>
            </a:r>
          </a:p>
          <a:p>
            <a:r>
              <a:rPr lang="en-AU" dirty="0" smtClean="0"/>
              <a:t>Allowing and facilitating stakeholder participation</a:t>
            </a:r>
          </a:p>
          <a:p>
            <a:r>
              <a:rPr lang="en-AU" dirty="0" smtClean="0"/>
              <a:t>Releasing truthful, comprehensive and accurate findings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58393"/>
            <a:ext cx="3048000" cy="203301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Organise for the trial to be conducted</a:t>
            </a:r>
            <a:endParaRPr lang="en-US" dirty="0"/>
          </a:p>
        </p:txBody>
      </p:sp>
      <p:sp>
        <p:nvSpPr>
          <p:cNvPr id="3" name="Content Placeholder 2"/>
          <p:cNvSpPr>
            <a:spLocks noGrp="1"/>
          </p:cNvSpPr>
          <p:nvPr>
            <p:ph idx="1"/>
          </p:nvPr>
        </p:nvSpPr>
        <p:spPr>
          <a:xfrm>
            <a:off x="457200" y="1988839"/>
            <a:ext cx="4834880" cy="4608513"/>
          </a:xfrm>
        </p:spPr>
        <p:txBody>
          <a:bodyPr>
            <a:normAutofit fontScale="92500" lnSpcReduction="20000"/>
          </a:bodyPr>
          <a:lstStyle/>
          <a:p>
            <a:pPr marL="36576" indent="0">
              <a:buNone/>
            </a:pPr>
            <a:r>
              <a:rPr lang="en-US" dirty="0" smtClean="0"/>
              <a:t>Benchmarks will need to be developed to use when evaluating the trial and those chosen:</a:t>
            </a:r>
          </a:p>
          <a:p>
            <a:r>
              <a:rPr lang="en-AU" dirty="0" smtClean="0"/>
              <a:t>May be decided on by one or more of the stakeholders</a:t>
            </a:r>
          </a:p>
          <a:p>
            <a:r>
              <a:rPr lang="en-AU" dirty="0" smtClean="0"/>
              <a:t>Must be relevant to the individual proposal/initiative</a:t>
            </a:r>
          </a:p>
          <a:p>
            <a:r>
              <a:rPr lang="en-AU" dirty="0" smtClean="0"/>
              <a:t>Should be decided on in consultation with stakeholders</a:t>
            </a:r>
          </a:p>
          <a:p>
            <a:r>
              <a:rPr lang="en-AU" dirty="0" smtClean="0"/>
              <a:t>Must address identified issues and concerns</a:t>
            </a:r>
          </a:p>
          <a:p>
            <a:r>
              <a:rPr lang="en-AU" dirty="0" smtClean="0"/>
              <a:t>Will form the basis of deciding the evaluation criteria and determining their parameters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1327" y="2003085"/>
            <a:ext cx="2825427" cy="188456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Conduct the trial operation as planned</a:t>
            </a:r>
            <a:endParaRPr lang="en-US" dirty="0"/>
          </a:p>
        </p:txBody>
      </p:sp>
      <p:sp>
        <p:nvSpPr>
          <p:cNvPr id="3" name="Content Placeholder 2"/>
          <p:cNvSpPr>
            <a:spLocks noGrp="1"/>
          </p:cNvSpPr>
          <p:nvPr>
            <p:ph idx="1"/>
          </p:nvPr>
        </p:nvSpPr>
        <p:spPr>
          <a:xfrm>
            <a:off x="457200" y="1988840"/>
            <a:ext cx="4114800" cy="4680520"/>
          </a:xfrm>
        </p:spPr>
        <p:txBody>
          <a:bodyPr>
            <a:normAutofit lnSpcReduction="10000"/>
          </a:bodyPr>
          <a:lstStyle/>
          <a:p>
            <a:pPr marL="36576" indent="0">
              <a:buNone/>
            </a:pPr>
            <a:r>
              <a:rPr lang="en-US" dirty="0" smtClean="0"/>
              <a:t>Requirements when implementing trial:</a:t>
            </a:r>
          </a:p>
          <a:p>
            <a:r>
              <a:rPr lang="en-AU" dirty="0" smtClean="0"/>
              <a:t>Conduct the trial exactly as planned </a:t>
            </a:r>
            <a:endParaRPr lang="en-US" dirty="0" smtClean="0"/>
          </a:p>
          <a:p>
            <a:r>
              <a:rPr lang="en-AU" dirty="0" smtClean="0"/>
              <a:t>The publicly stated details must be adhered to</a:t>
            </a:r>
          </a:p>
          <a:p>
            <a:r>
              <a:rPr lang="en-AU" dirty="0" smtClean="0"/>
              <a:t>Meet with those who have monitoring responsibilities</a:t>
            </a:r>
          </a:p>
          <a:p>
            <a:r>
              <a:rPr lang="en-AU" dirty="0" smtClean="0"/>
              <a:t>Record any variations that are necessary to the planned implementation</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Conduct the trial operation as planned</a:t>
            </a:r>
            <a:endParaRPr lang="en-US" dirty="0"/>
          </a:p>
        </p:txBody>
      </p:sp>
      <p:sp>
        <p:nvSpPr>
          <p:cNvPr id="3" name="Content Placeholder 2"/>
          <p:cNvSpPr>
            <a:spLocks noGrp="1"/>
          </p:cNvSpPr>
          <p:nvPr>
            <p:ph idx="1"/>
          </p:nvPr>
        </p:nvSpPr>
        <p:spPr>
          <a:xfrm>
            <a:off x="457200" y="1988840"/>
            <a:ext cx="4546848" cy="4536504"/>
          </a:xfrm>
        </p:spPr>
        <p:txBody>
          <a:bodyPr>
            <a:normAutofit fontScale="92500" lnSpcReduction="20000"/>
          </a:bodyPr>
          <a:lstStyle/>
          <a:p>
            <a:r>
              <a:rPr lang="en-AU" dirty="0" smtClean="0"/>
              <a:t>Take action to ensure implementation of trial reflects future actual tourist activity after the trial </a:t>
            </a:r>
            <a:endParaRPr lang="en-US" dirty="0" smtClean="0"/>
          </a:p>
          <a:p>
            <a:r>
              <a:rPr lang="en-AU" dirty="0" smtClean="0"/>
              <a:t>Monitoring data captured needs to be a real reflection of tourist impact/s</a:t>
            </a:r>
          </a:p>
          <a:p>
            <a:r>
              <a:rPr lang="en-AU" dirty="0" smtClean="0"/>
              <a:t>Seek permission from stakeholders to vary agreed plan, if required and if possible</a:t>
            </a:r>
          </a:p>
          <a:p>
            <a:r>
              <a:rPr lang="en-AU" dirty="0" smtClean="0"/>
              <a:t>Be prepared to delay implementation if there are significant unexpected or unforeseen issues</a:t>
            </a:r>
          </a:p>
          <a:p>
            <a:r>
              <a:rPr lang="en-US" dirty="0" smtClean="0"/>
              <a:t>Be available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53000" y="2001664"/>
            <a:ext cx="2971800" cy="3048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Monitor the impacts of the trial</a:t>
            </a:r>
            <a:endParaRPr lang="en-US" dirty="0"/>
          </a:p>
        </p:txBody>
      </p:sp>
      <p:sp>
        <p:nvSpPr>
          <p:cNvPr id="3" name="Content Placeholder 2"/>
          <p:cNvSpPr>
            <a:spLocks noGrp="1"/>
          </p:cNvSpPr>
          <p:nvPr>
            <p:ph idx="1"/>
          </p:nvPr>
        </p:nvSpPr>
        <p:spPr/>
        <p:txBody>
          <a:bodyPr/>
          <a:lstStyle/>
          <a:p>
            <a:pPr marL="36576" indent="0">
              <a:buNone/>
            </a:pPr>
            <a:r>
              <a:rPr lang="en-AU" dirty="0" smtClean="0"/>
              <a:t>Standard protocols when implementing monitoring</a:t>
            </a:r>
            <a:r>
              <a:rPr lang="en-US" dirty="0" smtClean="0"/>
              <a:t>:</a:t>
            </a:r>
          </a:p>
          <a:p>
            <a:r>
              <a:rPr lang="en-AU" dirty="0" smtClean="0"/>
              <a:t>Train the people </a:t>
            </a:r>
            <a:endParaRPr lang="en-US" dirty="0" smtClean="0"/>
          </a:p>
          <a:p>
            <a:r>
              <a:rPr lang="en-AU" dirty="0" smtClean="0"/>
              <a:t>Establish one contact point for the monitoring process</a:t>
            </a:r>
          </a:p>
          <a:p>
            <a:r>
              <a:rPr lang="en-AU" dirty="0" smtClean="0"/>
              <a:t>Verify required resources have been provided</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8" name="Picture 7"/>
          <p:cNvPicPr>
            <a:picLocks noChangeAspect="1"/>
          </p:cNvPicPr>
          <p:nvPr/>
        </p:nvPicPr>
        <p:blipFill rotWithShape="1">
          <a:blip r:embed="rId3" cstate="screen">
            <a:extLst>
              <a:ext uri="{28A0092B-C50C-407E-A947-70E740481C1C}">
                <a14:useLocalDpi xmlns:a14="http://schemas.microsoft.com/office/drawing/2010/main"/>
              </a:ext>
            </a:extLst>
          </a:blip>
          <a:srcRect l="22109"/>
          <a:stretch/>
        </p:blipFill>
        <p:spPr>
          <a:xfrm>
            <a:off x="5436096" y="1988840"/>
            <a:ext cx="1775848" cy="3048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Monitor the impacts of the trial</a:t>
            </a:r>
            <a:endParaRPr lang="en-US" dirty="0"/>
          </a:p>
        </p:txBody>
      </p:sp>
      <p:sp>
        <p:nvSpPr>
          <p:cNvPr id="3" name="Content Placeholder 2"/>
          <p:cNvSpPr>
            <a:spLocks noGrp="1"/>
          </p:cNvSpPr>
          <p:nvPr>
            <p:ph idx="1"/>
          </p:nvPr>
        </p:nvSpPr>
        <p:spPr/>
        <p:txBody>
          <a:bodyPr/>
          <a:lstStyle/>
          <a:p>
            <a:r>
              <a:rPr lang="en-AU" dirty="0" smtClean="0"/>
              <a:t>Provide easy-to-use channels to facilitate the return of information </a:t>
            </a:r>
            <a:endParaRPr lang="en-US" dirty="0" smtClean="0"/>
          </a:p>
          <a:p>
            <a:r>
              <a:rPr lang="en-AU" dirty="0" smtClean="0"/>
              <a:t>Oversee and manage the monitoring process</a:t>
            </a:r>
          </a:p>
          <a:p>
            <a:r>
              <a:rPr lang="en-AU" dirty="0" smtClean="0"/>
              <a:t>Make public the raw data as it is obtained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20072" y="1984648"/>
            <a:ext cx="2356104" cy="3048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Monitor the impacts of the trial</a:t>
            </a:r>
            <a:endParaRPr lang="en-US" dirty="0"/>
          </a:p>
        </p:txBody>
      </p:sp>
      <p:sp>
        <p:nvSpPr>
          <p:cNvPr id="3" name="Content Placeholder 2"/>
          <p:cNvSpPr>
            <a:spLocks noGrp="1"/>
          </p:cNvSpPr>
          <p:nvPr>
            <p:ph idx="1"/>
          </p:nvPr>
        </p:nvSpPr>
        <p:spPr/>
        <p:txBody>
          <a:bodyPr/>
          <a:lstStyle/>
          <a:p>
            <a:pPr marL="36576" indent="0">
              <a:buNone/>
            </a:pPr>
            <a:r>
              <a:rPr lang="en-US" dirty="0" smtClean="0"/>
              <a:t>Data gathering options may include:</a:t>
            </a:r>
          </a:p>
          <a:p>
            <a:r>
              <a:rPr lang="en-US" dirty="0" smtClean="0"/>
              <a:t>Completing hand-written/electronic documents:</a:t>
            </a:r>
          </a:p>
          <a:p>
            <a:r>
              <a:rPr lang="en-US" dirty="0" smtClean="0"/>
              <a:t>Logs</a:t>
            </a:r>
          </a:p>
          <a:p>
            <a:r>
              <a:rPr lang="en-US" dirty="0" smtClean="0"/>
              <a:t>Sighting forms</a:t>
            </a:r>
          </a:p>
          <a:p>
            <a:r>
              <a:rPr lang="en-US" dirty="0" smtClean="0"/>
              <a:t>Notebooks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36096" y="1988840"/>
            <a:ext cx="2129760" cy="3060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Monitor the impacts of the trial</a:t>
            </a:r>
            <a:endParaRPr lang="en-US" dirty="0"/>
          </a:p>
        </p:txBody>
      </p:sp>
      <p:sp>
        <p:nvSpPr>
          <p:cNvPr id="3" name="Content Placeholder 2"/>
          <p:cNvSpPr>
            <a:spLocks noGrp="1"/>
          </p:cNvSpPr>
          <p:nvPr>
            <p:ph idx="1"/>
          </p:nvPr>
        </p:nvSpPr>
        <p:spPr/>
        <p:txBody>
          <a:bodyPr/>
          <a:lstStyle/>
          <a:p>
            <a:r>
              <a:rPr lang="en-US" dirty="0" smtClean="0"/>
              <a:t>Obtaining photographic evidence</a:t>
            </a:r>
          </a:p>
          <a:p>
            <a:r>
              <a:rPr lang="en-US" dirty="0" smtClean="0"/>
              <a:t>Using technology/scientific equipment</a:t>
            </a:r>
          </a:p>
          <a:p>
            <a:r>
              <a:rPr lang="en-US" dirty="0" smtClean="0"/>
              <a:t>Gathering anecdotal evidence</a:t>
            </a:r>
          </a:p>
          <a:p>
            <a:r>
              <a:rPr lang="en-US" dirty="0" smtClean="0"/>
              <a:t>Liaising with key stakeholders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2132856"/>
            <a:ext cx="2211182" cy="3060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normAutofit fontScale="92500" lnSpcReduction="20000"/>
          </a:bodyPr>
          <a:lstStyle/>
          <a:p>
            <a:pPr marL="36576" indent="0">
              <a:buNone/>
            </a:pPr>
            <a:r>
              <a:rPr lang="en-AU" dirty="0" smtClean="0"/>
              <a:t>When evaluating information generated by trial</a:t>
            </a:r>
            <a:r>
              <a:rPr lang="en-US" dirty="0" smtClean="0"/>
              <a:t>:</a:t>
            </a:r>
          </a:p>
          <a:p>
            <a:r>
              <a:rPr lang="en-AU" dirty="0" smtClean="0"/>
              <a:t>Base decisions on facts and evidence</a:t>
            </a:r>
            <a:endParaRPr lang="en-US" dirty="0" smtClean="0"/>
          </a:p>
          <a:p>
            <a:r>
              <a:rPr lang="en-AU" dirty="0" smtClean="0"/>
              <a:t>Reference evaluations to criteria and parameters established</a:t>
            </a:r>
          </a:p>
          <a:p>
            <a:r>
              <a:rPr lang="en-AU" dirty="0" smtClean="0"/>
              <a:t>Consider quantitative data and qualitative information</a:t>
            </a:r>
          </a:p>
          <a:p>
            <a:r>
              <a:rPr lang="en-AU" dirty="0" smtClean="0"/>
              <a:t>Align relevant data to identified topics</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844824"/>
            <a:ext cx="1993371" cy="30600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r>
              <a:rPr lang="en-AU" dirty="0" smtClean="0"/>
              <a:t>Analyse positive and negative impacts </a:t>
            </a:r>
            <a:endParaRPr lang="en-US" dirty="0" smtClean="0"/>
          </a:p>
          <a:p>
            <a:r>
              <a:rPr lang="en-AU" dirty="0" smtClean="0"/>
              <a:t>Highlight any difficulties, problems or issues which occurred </a:t>
            </a:r>
          </a:p>
          <a:p>
            <a:r>
              <a:rPr lang="en-AU" dirty="0" smtClean="0"/>
              <a:t>Involve stakeholders in the process </a:t>
            </a:r>
          </a:p>
          <a:p>
            <a:r>
              <a:rPr lang="en-AU" dirty="0" smtClean="0"/>
              <a:t>Generate additional data if required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r>
              <a:rPr lang="en-AU" dirty="0" smtClean="0"/>
              <a:t>Explain methodology used to undertake the evaluation </a:t>
            </a:r>
          </a:p>
          <a:p>
            <a:r>
              <a:rPr lang="en-AU" dirty="0" smtClean="0"/>
              <a:t>Generate a set of clear and distinct findings as a result </a:t>
            </a:r>
            <a:endParaRPr lang="en-US" dirty="0" smtClean="0"/>
          </a:p>
          <a:p>
            <a:r>
              <a:rPr lang="en-AU" dirty="0" smtClean="0"/>
              <a:t>Communicate outcomes of the trial</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a:xfrm>
            <a:off x="457200" y="1988840"/>
            <a:ext cx="4114800" cy="4608512"/>
          </a:xfrm>
        </p:spPr>
        <p:txBody>
          <a:bodyPr>
            <a:normAutofit fontScale="92500" lnSpcReduction="10000"/>
          </a:bodyPr>
          <a:lstStyle/>
          <a:p>
            <a:pPr marL="36576" indent="0">
              <a:buNone/>
            </a:pPr>
            <a:r>
              <a:rPr lang="en-US" dirty="0" smtClean="0"/>
              <a:t>Possible positive environmental impacts:</a:t>
            </a:r>
          </a:p>
          <a:p>
            <a:r>
              <a:rPr lang="en-AU" dirty="0" smtClean="0"/>
              <a:t>Opportunities for conservation and protection of buildings and facilities </a:t>
            </a:r>
            <a:endParaRPr lang="en-US" dirty="0" smtClean="0"/>
          </a:p>
          <a:p>
            <a:r>
              <a:rPr lang="en-AU" dirty="0" smtClean="0"/>
              <a:t>Opportunities for conservation and protection of the natural environment </a:t>
            </a:r>
          </a:p>
          <a:p>
            <a:r>
              <a:rPr lang="en-AU" dirty="0" smtClean="0"/>
              <a:t>Education of visitors relating to local environmental issues </a:t>
            </a:r>
          </a:p>
          <a:p>
            <a:r>
              <a:rPr lang="en-AU" dirty="0" smtClean="0"/>
              <a:t>Potential to improve sites that have been de-graded prior to the initiative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10000"/>
          </a:bodyPr>
          <a:lstStyle/>
          <a:p>
            <a:pPr marL="36576" indent="0">
              <a:buNone/>
            </a:pPr>
            <a:r>
              <a:rPr lang="en-US" dirty="0" smtClean="0"/>
              <a:t>Possible negative environmental impacts:</a:t>
            </a:r>
          </a:p>
          <a:p>
            <a:r>
              <a:rPr lang="en-AU" dirty="0" smtClean="0"/>
              <a:t>Physical damage to building and facilities </a:t>
            </a:r>
            <a:endParaRPr lang="en-US" dirty="0" smtClean="0"/>
          </a:p>
          <a:p>
            <a:r>
              <a:rPr lang="en-AU" dirty="0" smtClean="0"/>
              <a:t>Damage to the natural environment</a:t>
            </a:r>
          </a:p>
          <a:p>
            <a:r>
              <a:rPr lang="en-AU" dirty="0" smtClean="0"/>
              <a:t>Pollution</a:t>
            </a:r>
          </a:p>
          <a:p>
            <a:r>
              <a:rPr lang="en-AU" dirty="0" smtClean="0"/>
              <a:t>Presence of waste</a:t>
            </a:r>
          </a:p>
          <a:p>
            <a:r>
              <a:rPr lang="en-AU" dirty="0" smtClean="0"/>
              <a:t>Use of local limited energy resources</a:t>
            </a:r>
          </a:p>
          <a:p>
            <a:r>
              <a:rPr lang="en-AU" dirty="0" smtClean="0"/>
              <a:t>Adverse visual impacts on the site/area</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1772816"/>
            <a:ext cx="2283525" cy="3240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normAutofit fontScale="92500"/>
          </a:bodyPr>
          <a:lstStyle/>
          <a:p>
            <a:pPr marL="36576" indent="0">
              <a:buNone/>
            </a:pPr>
            <a:r>
              <a:rPr lang="en-US" dirty="0" smtClean="0"/>
              <a:t>Possible positive social impacts:</a:t>
            </a:r>
          </a:p>
          <a:p>
            <a:r>
              <a:rPr lang="en-AU" dirty="0" smtClean="0"/>
              <a:t>Improved facilities and infrastructure </a:t>
            </a:r>
            <a:endParaRPr lang="en-US" dirty="0" smtClean="0"/>
          </a:p>
          <a:p>
            <a:r>
              <a:rPr lang="en-AU" dirty="0" smtClean="0"/>
              <a:t>Improved understanding regarding local issues</a:t>
            </a:r>
          </a:p>
          <a:p>
            <a:r>
              <a:rPr lang="en-AU" dirty="0" smtClean="0"/>
              <a:t>Improved relationships between the local community and other communities</a:t>
            </a:r>
          </a:p>
          <a:p>
            <a:r>
              <a:rPr lang="en-AU" dirty="0" smtClean="0"/>
              <a:t>More things for local communities to do</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8" name="Picture 7"/>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Possible negative social impacts:</a:t>
            </a:r>
          </a:p>
          <a:p>
            <a:r>
              <a:rPr lang="en-US" dirty="0" smtClean="0"/>
              <a:t>Social dislocation</a:t>
            </a:r>
          </a:p>
          <a:p>
            <a:r>
              <a:rPr lang="en-AU" dirty="0" smtClean="0"/>
              <a:t>Potential for increase in criminal activities</a:t>
            </a:r>
          </a:p>
          <a:p>
            <a:r>
              <a:rPr lang="en-AU" dirty="0" smtClean="0"/>
              <a:t>Reduced focus on (and potential interruptions to) traditional social interactions and activities between people in the local communities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88840"/>
            <a:ext cx="2546260" cy="288032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pPr marL="36576" indent="0">
              <a:buNone/>
            </a:pPr>
            <a:r>
              <a:rPr lang="en-US" dirty="0" smtClean="0"/>
              <a:t>Possible positive ecological impacts:</a:t>
            </a:r>
          </a:p>
          <a:p>
            <a:r>
              <a:rPr lang="en-AU" dirty="0" smtClean="0"/>
              <a:t>Increased awareness of ecological issues </a:t>
            </a:r>
            <a:endParaRPr lang="en-US" dirty="0" smtClean="0"/>
          </a:p>
          <a:p>
            <a:r>
              <a:rPr lang="en-AU" dirty="0" smtClean="0"/>
              <a:t>Potential for investment in the area</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1988840"/>
            <a:ext cx="2295000" cy="306000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pPr marL="36576" indent="0">
              <a:buNone/>
            </a:pPr>
            <a:r>
              <a:rPr lang="en-US" dirty="0" smtClean="0"/>
              <a:t>Possible negative ecological impacts:</a:t>
            </a:r>
          </a:p>
          <a:p>
            <a:r>
              <a:rPr lang="en-US" dirty="0" smtClean="0"/>
              <a:t>Damage to flora</a:t>
            </a:r>
          </a:p>
          <a:p>
            <a:r>
              <a:rPr lang="en-US" dirty="0" smtClean="0"/>
              <a:t>Disturbance to fauna</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08570"/>
            <a:ext cx="3048000" cy="2033016"/>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pPr marL="36576" indent="0">
              <a:buNone/>
            </a:pPr>
            <a:r>
              <a:rPr lang="en-US" dirty="0" smtClean="0"/>
              <a:t>Possible positive economic impacts:</a:t>
            </a:r>
          </a:p>
          <a:p>
            <a:r>
              <a:rPr lang="en-AU" dirty="0" smtClean="0"/>
              <a:t>Increased employment opportunities for local population </a:t>
            </a:r>
            <a:endParaRPr lang="en-US" dirty="0" smtClean="0"/>
          </a:p>
          <a:p>
            <a:r>
              <a:rPr lang="en-AU" dirty="0" smtClean="0"/>
              <a:t>Increased investment in the local area</a:t>
            </a:r>
          </a:p>
          <a:p>
            <a:r>
              <a:rPr lang="en-AU" dirty="0" smtClean="0"/>
              <a:t>Increased local revenue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98686" y="1969586"/>
            <a:ext cx="3048000" cy="2033016"/>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a:xfrm>
            <a:off x="457200" y="1988840"/>
            <a:ext cx="4114800" cy="4433224"/>
          </a:xfrm>
        </p:spPr>
        <p:txBody>
          <a:bodyPr>
            <a:normAutofit lnSpcReduction="10000"/>
          </a:bodyPr>
          <a:lstStyle/>
          <a:p>
            <a:pPr marL="36576" indent="0">
              <a:buNone/>
            </a:pPr>
            <a:r>
              <a:rPr lang="en-US" dirty="0" smtClean="0"/>
              <a:t>Possible negative economic impacts:</a:t>
            </a:r>
          </a:p>
          <a:p>
            <a:r>
              <a:rPr lang="en-AU" dirty="0" smtClean="0"/>
              <a:t>Potential for unacceptable levels of inflation </a:t>
            </a:r>
            <a:endParaRPr lang="en-US" dirty="0" smtClean="0"/>
          </a:p>
          <a:p>
            <a:r>
              <a:rPr lang="en-AU" dirty="0" smtClean="0"/>
              <a:t>Diversion of a country’s limited funds from other necessary projects towards tourism activities</a:t>
            </a:r>
          </a:p>
          <a:p>
            <a:r>
              <a:rPr lang="en-AU" dirty="0" smtClean="0"/>
              <a:t>Problems resulting from ‘too much’ reliance on tourism income when there is tourism down-turn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286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pPr marL="36576" indent="0">
              <a:buNone/>
            </a:pPr>
            <a:r>
              <a:rPr lang="en-US" dirty="0" smtClean="0"/>
              <a:t>Possible positive cultural impacts:</a:t>
            </a:r>
          </a:p>
          <a:p>
            <a:r>
              <a:rPr lang="en-AU" dirty="0" smtClean="0"/>
              <a:t>Sharing of culture with the wider community </a:t>
            </a:r>
            <a:endParaRPr lang="en-US" dirty="0" smtClean="0"/>
          </a:p>
          <a:p>
            <a:r>
              <a:rPr lang="en-AU" dirty="0" smtClean="0"/>
              <a:t>Better understanding of culture amongst other communities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76800" y="1988840"/>
            <a:ext cx="3048000" cy="2429256"/>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Evaluate the information generated by the trial</a:t>
            </a:r>
            <a:endParaRPr lang="en-US" dirty="0"/>
          </a:p>
        </p:txBody>
      </p:sp>
      <p:sp>
        <p:nvSpPr>
          <p:cNvPr id="3" name="Content Placeholder 2"/>
          <p:cNvSpPr>
            <a:spLocks noGrp="1"/>
          </p:cNvSpPr>
          <p:nvPr>
            <p:ph idx="1"/>
          </p:nvPr>
        </p:nvSpPr>
        <p:spPr/>
        <p:txBody>
          <a:bodyPr/>
          <a:lstStyle/>
          <a:p>
            <a:pPr marL="36576" indent="0">
              <a:buNone/>
            </a:pPr>
            <a:r>
              <a:rPr lang="en-US" dirty="0" smtClean="0"/>
              <a:t>Possible negative cultural impacts:</a:t>
            </a:r>
          </a:p>
          <a:p>
            <a:r>
              <a:rPr lang="en-AU" dirty="0" smtClean="0"/>
              <a:t>Trivialisation of the culture </a:t>
            </a:r>
            <a:endParaRPr lang="en-US" dirty="0" smtClean="0"/>
          </a:p>
          <a:p>
            <a:r>
              <a:rPr lang="en-AU" dirty="0" smtClean="0"/>
              <a:t>Offence (often unintended) given to locals by the comments, dress and behaviour of visitors</a:t>
            </a:r>
          </a:p>
          <a:p>
            <a:r>
              <a:rPr lang="en-US" dirty="0" smtClean="0"/>
              <a:t>‘Westernisation’ of culture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1712" y="1988840"/>
            <a:ext cx="3341688" cy="2232248"/>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Utilise information from trial to modify plans to optimise impacts</a:t>
            </a:r>
            <a:endParaRPr lang="en-US" dirty="0"/>
          </a:p>
        </p:txBody>
      </p:sp>
      <p:sp>
        <p:nvSpPr>
          <p:cNvPr id="3" name="Content Placeholder 2"/>
          <p:cNvSpPr>
            <a:spLocks noGrp="1"/>
          </p:cNvSpPr>
          <p:nvPr>
            <p:ph idx="1"/>
          </p:nvPr>
        </p:nvSpPr>
        <p:spPr/>
        <p:txBody>
          <a:bodyPr/>
          <a:lstStyle/>
          <a:p>
            <a:pPr marL="36576" indent="0">
              <a:buNone/>
            </a:pPr>
            <a:r>
              <a:rPr lang="en-AU" dirty="0" smtClean="0"/>
              <a:t>Following evaluation of a trial it is important to understand</a:t>
            </a:r>
            <a:r>
              <a:rPr lang="en-US" dirty="0" smtClean="0"/>
              <a:t>:</a:t>
            </a:r>
          </a:p>
          <a:p>
            <a:r>
              <a:rPr lang="en-AU" dirty="0" smtClean="0"/>
              <a:t>Findings of evaluation must be used to guide future action </a:t>
            </a:r>
            <a:endParaRPr lang="en-US" dirty="0" smtClean="0"/>
          </a:p>
          <a:p>
            <a:r>
              <a:rPr lang="en-AU" dirty="0" smtClean="0"/>
              <a:t>Involvement of stakeholders must continue</a:t>
            </a:r>
          </a:p>
          <a:p>
            <a:r>
              <a:rPr lang="en-AU" dirty="0" smtClean="0"/>
              <a:t>There can be a need to run a supplementary trial</a:t>
            </a:r>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195432" y="1994944"/>
            <a:ext cx="3883728" cy="2880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Utilise information from trial to modify plans to optimise impacts</a:t>
            </a:r>
            <a:endParaRPr lang="en-US" dirty="0"/>
          </a:p>
        </p:txBody>
      </p:sp>
      <p:sp>
        <p:nvSpPr>
          <p:cNvPr id="3" name="Content Placeholder 2"/>
          <p:cNvSpPr>
            <a:spLocks noGrp="1"/>
          </p:cNvSpPr>
          <p:nvPr>
            <p:ph idx="1"/>
          </p:nvPr>
        </p:nvSpPr>
        <p:spPr/>
        <p:txBody>
          <a:bodyPr/>
          <a:lstStyle/>
          <a:p>
            <a:pPr marL="36576" indent="0">
              <a:buNone/>
            </a:pPr>
            <a:r>
              <a:rPr lang="en-AU" dirty="0" smtClean="0"/>
              <a:t>Based on findings of the trial there can be a need to</a:t>
            </a:r>
            <a:r>
              <a:rPr lang="en-US" dirty="0" smtClean="0"/>
              <a:t>:</a:t>
            </a:r>
          </a:p>
          <a:p>
            <a:r>
              <a:rPr lang="en-AU" dirty="0" smtClean="0"/>
              <a:t>Cancel the proposed activity/operation </a:t>
            </a:r>
            <a:endParaRPr lang="en-US" dirty="0" smtClean="0"/>
          </a:p>
          <a:p>
            <a:r>
              <a:rPr lang="en-AU" dirty="0" smtClean="0"/>
              <a:t>Revise aspects of the plan that were highlighted as negative as a consequence of the trial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2692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Utilise information from trial to modify plans to optimise impacts</a:t>
            </a:r>
            <a:endParaRPr lang="en-US" dirty="0"/>
          </a:p>
        </p:txBody>
      </p:sp>
      <p:sp>
        <p:nvSpPr>
          <p:cNvPr id="3" name="Content Placeholder 2"/>
          <p:cNvSpPr>
            <a:spLocks noGrp="1"/>
          </p:cNvSpPr>
          <p:nvPr>
            <p:ph idx="1"/>
          </p:nvPr>
        </p:nvSpPr>
        <p:spPr/>
        <p:txBody>
          <a:bodyPr/>
          <a:lstStyle/>
          <a:p>
            <a:r>
              <a:rPr lang="en-AU" dirty="0" smtClean="0"/>
              <a:t>Constrain the impact of the plans </a:t>
            </a:r>
            <a:endParaRPr lang="en-US" dirty="0" smtClean="0"/>
          </a:p>
          <a:p>
            <a:r>
              <a:rPr lang="en-AU" dirty="0" smtClean="0"/>
              <a:t>Expand plans for those aspects of the plan that received a positive trial result</a:t>
            </a:r>
          </a:p>
          <a:p>
            <a:r>
              <a:rPr lang="en-AU" dirty="0" smtClean="0"/>
              <a:t>Gain necessary approvals and authorisations from stakeholders for revised plans to be developed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8880" y="1988840"/>
            <a:ext cx="3048000" cy="207264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2</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When </a:t>
            </a:r>
            <a:r>
              <a:rPr lang="en-AU" dirty="0" smtClean="0"/>
              <a:t>trialling minimal impact operations</a:t>
            </a:r>
            <a:r>
              <a:rPr lang="en-US" dirty="0" smtClean="0"/>
              <a:t>:</a:t>
            </a:r>
          </a:p>
          <a:p>
            <a:r>
              <a:rPr lang="en-AU" dirty="0" smtClean="0"/>
              <a:t>Verify plan for the pilot has been approved</a:t>
            </a:r>
          </a:p>
          <a:p>
            <a:r>
              <a:rPr lang="en-AU" dirty="0" smtClean="0"/>
              <a:t>Implement the trial strictly in accordance with the plan</a:t>
            </a:r>
          </a:p>
          <a:p>
            <a:r>
              <a:rPr lang="en-AU" dirty="0" smtClean="0"/>
              <a:t>Provide necessary information, training, resources and infrastructure to enable the trial</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08104" y="1988839"/>
            <a:ext cx="2160240" cy="2793895"/>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2</a:t>
            </a:r>
            <a:endParaRPr lang="en-US" dirty="0"/>
          </a:p>
        </p:txBody>
      </p:sp>
      <p:sp>
        <p:nvSpPr>
          <p:cNvPr id="3" name="Content Placeholder 2"/>
          <p:cNvSpPr>
            <a:spLocks noGrp="1"/>
          </p:cNvSpPr>
          <p:nvPr>
            <p:ph idx="1"/>
          </p:nvPr>
        </p:nvSpPr>
        <p:spPr/>
        <p:txBody>
          <a:bodyPr>
            <a:normAutofit/>
          </a:bodyPr>
          <a:lstStyle/>
          <a:p>
            <a:r>
              <a:rPr lang="en-AU" dirty="0" smtClean="0"/>
              <a:t>Provide necessary monitoring training and resources</a:t>
            </a:r>
          </a:p>
          <a:p>
            <a:r>
              <a:rPr lang="en-AU" dirty="0" smtClean="0"/>
              <a:t>Communicate the plan for the trial to those who have responsibilities for action under the plan</a:t>
            </a:r>
          </a:p>
          <a:p>
            <a:r>
              <a:rPr lang="en-AU" dirty="0" smtClean="0"/>
              <a:t>Involve stakeholders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4512" y="1844823"/>
            <a:ext cx="3010288" cy="2273771"/>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2</a:t>
            </a:r>
            <a:endParaRPr lang="en-US" dirty="0"/>
          </a:p>
        </p:txBody>
      </p:sp>
      <p:sp>
        <p:nvSpPr>
          <p:cNvPr id="3" name="Content Placeholder 2"/>
          <p:cNvSpPr>
            <a:spLocks noGrp="1"/>
          </p:cNvSpPr>
          <p:nvPr>
            <p:ph idx="1"/>
          </p:nvPr>
        </p:nvSpPr>
        <p:spPr/>
        <p:txBody>
          <a:bodyPr>
            <a:normAutofit/>
          </a:bodyPr>
          <a:lstStyle/>
          <a:p>
            <a:r>
              <a:rPr lang="en-AU" dirty="0" smtClean="0"/>
              <a:t>Establish initial benchmarks</a:t>
            </a:r>
          </a:p>
          <a:p>
            <a:r>
              <a:rPr lang="en-AU" dirty="0" smtClean="0"/>
              <a:t>Gather monitoring data/information to address identified evaluation criteria and parameters</a:t>
            </a:r>
          </a:p>
          <a:p>
            <a:r>
              <a:rPr lang="en-AU" dirty="0" smtClean="0"/>
              <a:t>Follow-up as required to ensure sufficient, reliable and valid data is captured</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61126"/>
            <a:ext cx="2596874" cy="2908034"/>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2</a:t>
            </a:r>
            <a:endParaRPr lang="en-US" dirty="0"/>
          </a:p>
        </p:txBody>
      </p:sp>
      <p:sp>
        <p:nvSpPr>
          <p:cNvPr id="3" name="Content Placeholder 2"/>
          <p:cNvSpPr>
            <a:spLocks noGrp="1"/>
          </p:cNvSpPr>
          <p:nvPr>
            <p:ph idx="1"/>
          </p:nvPr>
        </p:nvSpPr>
        <p:spPr/>
        <p:txBody>
          <a:bodyPr>
            <a:normAutofit lnSpcReduction="10000"/>
          </a:bodyPr>
          <a:lstStyle/>
          <a:p>
            <a:r>
              <a:rPr lang="en-AU" dirty="0" smtClean="0"/>
              <a:t>Evaluate evidence obtained as a result of the approved monitoring activities</a:t>
            </a:r>
          </a:p>
          <a:p>
            <a:r>
              <a:rPr lang="en-AU" dirty="0" smtClean="0"/>
              <a:t>Modify trial plans on the basis of data gathered and decisions made following analysis the data</a:t>
            </a:r>
          </a:p>
          <a:p>
            <a:r>
              <a:rPr lang="en-AU" dirty="0" smtClean="0"/>
              <a:t>Seek to optimise positive impacts and reduce/eliminate negative impacts</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88840"/>
            <a:ext cx="2376264" cy="2865846"/>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3 – Implement minimal impact operations</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US" dirty="0" smtClean="0"/>
              <a:t>Performance Criteria for this Element are:</a:t>
            </a:r>
          </a:p>
          <a:p>
            <a:r>
              <a:rPr lang="en-AU" dirty="0" smtClean="0"/>
              <a:t>Apply revised plans to the practical application of minimal impact tourism activities/operations</a:t>
            </a:r>
            <a:endParaRPr lang="en-US" dirty="0" smtClean="0"/>
          </a:p>
          <a:p>
            <a:r>
              <a:rPr lang="en-AU" dirty="0" smtClean="0"/>
              <a:t>Conduct the activity/operation in such a way that encourages others to engage in minimal impact actions</a:t>
            </a:r>
            <a:endParaRPr lang="en-US" dirty="0" smtClean="0"/>
          </a:p>
          <a:p>
            <a:r>
              <a:rPr lang="en-AU" dirty="0" smtClean="0"/>
              <a:t>Implement ongoing monitoring protocols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41968" y="1844824"/>
            <a:ext cx="3311432" cy="2520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Apply revised plans to practical application of minimal impact tourism activities/operations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AU" dirty="0" smtClean="0"/>
              <a:t>When applying the revised plans for the sustainable tourism initiative it is vital to</a:t>
            </a:r>
            <a:r>
              <a:rPr lang="en-US" dirty="0" smtClean="0"/>
              <a:t>:</a:t>
            </a:r>
          </a:p>
          <a:p>
            <a:r>
              <a:rPr lang="en-AU" dirty="0" smtClean="0"/>
              <a:t>Confirm the plan has been revised and approved for implementation by relevant stakeholders </a:t>
            </a:r>
            <a:endParaRPr lang="en-US" dirty="0" smtClean="0"/>
          </a:p>
          <a:p>
            <a:r>
              <a:rPr lang="en-AU" dirty="0" smtClean="0"/>
              <a:t>Share the revised plans </a:t>
            </a:r>
            <a:endParaRPr lang="en-US" dirty="0" smtClean="0"/>
          </a:p>
          <a:p>
            <a:r>
              <a:rPr lang="en-AU" dirty="0" smtClean="0"/>
              <a:t>Implement the plans as revised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16101"/>
            <a:ext cx="3048000" cy="2033016"/>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Apply revised plans to practical application of minimal impact tourism activities/operations</a:t>
            </a:r>
            <a:endParaRPr lang="en-US" dirty="0"/>
          </a:p>
        </p:txBody>
      </p:sp>
      <p:sp>
        <p:nvSpPr>
          <p:cNvPr id="3" name="Content Placeholder 2"/>
          <p:cNvSpPr>
            <a:spLocks noGrp="1"/>
          </p:cNvSpPr>
          <p:nvPr>
            <p:ph idx="1"/>
          </p:nvPr>
        </p:nvSpPr>
        <p:spPr/>
        <p:txBody>
          <a:bodyPr/>
          <a:lstStyle/>
          <a:p>
            <a:r>
              <a:rPr lang="en-AU" dirty="0" smtClean="0"/>
              <a:t>Use minimal impact techniques </a:t>
            </a:r>
            <a:endParaRPr lang="en-US" dirty="0" smtClean="0"/>
          </a:p>
          <a:p>
            <a:r>
              <a:rPr lang="en-AU" dirty="0" smtClean="0"/>
              <a:t>Align with the six ASEAN Tourism Standards </a:t>
            </a:r>
            <a:endParaRPr lang="en-US" dirty="0" smtClean="0"/>
          </a:p>
          <a:p>
            <a:r>
              <a:rPr lang="en-AU" dirty="0" smtClean="0"/>
              <a:t>Liaise frequently with key stakeholders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2044" y="2018432"/>
            <a:ext cx="3048000" cy="2368296"/>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Conduct operation in a way that encourages others to engage in minimal impact actions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Reasons to conduct </a:t>
            </a:r>
            <a:r>
              <a:rPr lang="en-AU" dirty="0" smtClean="0"/>
              <a:t>sustainable tourism initiatives in a way that encourages others to do the same</a:t>
            </a:r>
            <a:r>
              <a:rPr lang="en-US" dirty="0" smtClean="0"/>
              <a:t>:</a:t>
            </a:r>
          </a:p>
          <a:p>
            <a:r>
              <a:rPr lang="en-AU" dirty="0" smtClean="0"/>
              <a:t>Demonstrate the professionalism of the organisation </a:t>
            </a:r>
            <a:endParaRPr lang="en-US" dirty="0" smtClean="0"/>
          </a:p>
          <a:p>
            <a:r>
              <a:rPr lang="en-AU" dirty="0" smtClean="0"/>
              <a:t>Show genuine commitment to ‘sustainability’ </a:t>
            </a:r>
            <a:endParaRPr lang="en-US" dirty="0" smtClean="0"/>
          </a:p>
          <a:p>
            <a:r>
              <a:rPr lang="en-AU" dirty="0" smtClean="0"/>
              <a:t>Demonstrate transparency</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33016"/>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Conduct operation in a way that encourages others to engage in minimal impact actions</a:t>
            </a:r>
            <a:endParaRPr lang="en-US" dirty="0"/>
          </a:p>
        </p:txBody>
      </p:sp>
      <p:sp>
        <p:nvSpPr>
          <p:cNvPr id="3" name="Content Placeholder 2"/>
          <p:cNvSpPr>
            <a:spLocks noGrp="1"/>
          </p:cNvSpPr>
          <p:nvPr>
            <p:ph idx="1"/>
          </p:nvPr>
        </p:nvSpPr>
        <p:spPr/>
        <p:txBody>
          <a:bodyPr>
            <a:normAutofit lnSpcReduction="10000"/>
          </a:bodyPr>
          <a:lstStyle/>
          <a:p>
            <a:r>
              <a:rPr lang="en-AU" dirty="0" smtClean="0"/>
              <a:t>Prove organisational interest in ‘sustainability’ is ongoing </a:t>
            </a:r>
          </a:p>
          <a:p>
            <a:r>
              <a:rPr lang="en-AU" dirty="0" smtClean="0"/>
              <a:t>Attract public attention to areas/issues of concern</a:t>
            </a:r>
          </a:p>
          <a:p>
            <a:r>
              <a:rPr lang="en-AU" dirty="0" smtClean="0"/>
              <a:t>Promote ‘Six ASEAN Tourism Standards’</a:t>
            </a:r>
            <a:endParaRPr lang="en-US" dirty="0" smtClean="0"/>
          </a:p>
          <a:p>
            <a:r>
              <a:rPr lang="en-AU" dirty="0" smtClean="0"/>
              <a:t>Provide basis for making positive public statements about the organisation and its ‘sustainable’ credentials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1988840"/>
            <a:ext cx="3048000" cy="202692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Conduct operation in a way that encourages others to engage in minimal impact actions</a:t>
            </a:r>
            <a:endParaRPr lang="en-US" dirty="0"/>
          </a:p>
        </p:txBody>
      </p:sp>
      <p:sp>
        <p:nvSpPr>
          <p:cNvPr id="3" name="Content Placeholder 2"/>
          <p:cNvSpPr>
            <a:spLocks noGrp="1"/>
          </p:cNvSpPr>
          <p:nvPr>
            <p:ph idx="1"/>
          </p:nvPr>
        </p:nvSpPr>
        <p:spPr/>
        <p:txBody>
          <a:bodyPr/>
          <a:lstStyle/>
          <a:p>
            <a:pPr marL="36576" indent="0">
              <a:buNone/>
            </a:pPr>
            <a:r>
              <a:rPr lang="en-AU" dirty="0" smtClean="0"/>
              <a:t>Strategies to encourage others to engage with ‘sustainability’</a:t>
            </a:r>
            <a:r>
              <a:rPr lang="en-US" dirty="0" smtClean="0"/>
              <a:t>:</a:t>
            </a:r>
          </a:p>
          <a:p>
            <a:r>
              <a:rPr lang="en-AU" dirty="0" smtClean="0"/>
              <a:t>Acting as a role model for action </a:t>
            </a:r>
            <a:endParaRPr lang="en-US" dirty="0" smtClean="0"/>
          </a:p>
          <a:p>
            <a:r>
              <a:rPr lang="en-AU" dirty="0" smtClean="0"/>
              <a:t>Sharing lessons learned</a:t>
            </a:r>
          </a:p>
          <a:p>
            <a:r>
              <a:rPr lang="en-AU" dirty="0" smtClean="0"/>
              <a:t>Becoming an advocate for sustainability</a:t>
            </a:r>
          </a:p>
          <a:p>
            <a:r>
              <a:rPr lang="en-AU" dirty="0" smtClean="0"/>
              <a:t>Using the media to spread the word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7533"/>
            <a:ext cx="3048000" cy="2029968"/>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ongoing monitoring protocols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AU" dirty="0" smtClean="0"/>
              <a:t>Keys to implementing monitoring protocols</a:t>
            </a:r>
            <a:r>
              <a:rPr lang="en-US" dirty="0" smtClean="0"/>
              <a:t>:</a:t>
            </a:r>
          </a:p>
          <a:p>
            <a:r>
              <a:rPr lang="en-AU" dirty="0" smtClean="0"/>
              <a:t>Check necessary training has been delivered </a:t>
            </a:r>
            <a:endParaRPr lang="en-US" dirty="0" smtClean="0"/>
          </a:p>
          <a:p>
            <a:r>
              <a:rPr lang="en-AU" dirty="0" smtClean="0"/>
              <a:t>Verify all required resources have been supplied as promised </a:t>
            </a:r>
            <a:endParaRPr lang="en-US" dirty="0" smtClean="0"/>
          </a:p>
          <a:p>
            <a:r>
              <a:rPr lang="en-AU" dirty="0" smtClean="0"/>
              <a:t>Ensure technologies used and confirmed in the pilot are used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2024485"/>
            <a:ext cx="3048000" cy="2033016"/>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Implement ongoing monitoring protocols</a:t>
            </a:r>
            <a:endParaRPr lang="en-US" dirty="0"/>
          </a:p>
        </p:txBody>
      </p:sp>
      <p:sp>
        <p:nvSpPr>
          <p:cNvPr id="3" name="Content Placeholder 2"/>
          <p:cNvSpPr>
            <a:spLocks noGrp="1"/>
          </p:cNvSpPr>
          <p:nvPr>
            <p:ph idx="1"/>
          </p:nvPr>
        </p:nvSpPr>
        <p:spPr/>
        <p:txBody>
          <a:bodyPr>
            <a:normAutofit fontScale="92500" lnSpcReduction="10000"/>
          </a:bodyPr>
          <a:lstStyle/>
          <a:p>
            <a:r>
              <a:rPr lang="en-AU" dirty="0" smtClean="0"/>
              <a:t>Take action to make sure agreed ‘other’ monitoring activities are being undertaken as planned </a:t>
            </a:r>
            <a:endParaRPr lang="en-US" dirty="0" smtClean="0"/>
          </a:p>
          <a:p>
            <a:r>
              <a:rPr lang="en-AU" dirty="0" smtClean="0"/>
              <a:t>Follow-up with those who have responsibility for monitoring activities – as required</a:t>
            </a:r>
            <a:endParaRPr lang="en-US" dirty="0" smtClean="0"/>
          </a:p>
          <a:p>
            <a:r>
              <a:rPr lang="en-AU" dirty="0" smtClean="0"/>
              <a:t>Be actively, personally involved to show there is real engagement with the project, genuine desire to monitor impacts and hands-on management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52120" y="1844824"/>
            <a:ext cx="2376264" cy="3168352"/>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3</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20000"/>
          </a:bodyPr>
          <a:lstStyle/>
          <a:p>
            <a:pPr marL="36576" indent="0">
              <a:buNone/>
            </a:pPr>
            <a:r>
              <a:rPr lang="en-US" dirty="0" smtClean="0"/>
              <a:t>When </a:t>
            </a:r>
            <a:r>
              <a:rPr lang="en-AU" dirty="0" smtClean="0"/>
              <a:t>implementing minimal impact operations</a:t>
            </a:r>
            <a:r>
              <a:rPr lang="en-US" dirty="0" smtClean="0"/>
              <a:t>:</a:t>
            </a:r>
          </a:p>
          <a:p>
            <a:r>
              <a:rPr lang="en-AU" dirty="0" smtClean="0"/>
              <a:t>Apply the approved and revised plans to the implementation of the initiative – follow the plan</a:t>
            </a:r>
          </a:p>
          <a:p>
            <a:r>
              <a:rPr lang="en-AU" dirty="0" smtClean="0"/>
              <a:t>Confirm extra/different resources and training have been provided</a:t>
            </a:r>
          </a:p>
          <a:p>
            <a:r>
              <a:rPr lang="en-AU" dirty="0" smtClean="0"/>
              <a:t>Align with ASEAN Tourism Standards</a:t>
            </a:r>
          </a:p>
          <a:p>
            <a:r>
              <a:rPr lang="en-AU" dirty="0" smtClean="0"/>
              <a:t>Be a role model for minimal impact tourism operations</a:t>
            </a:r>
          </a:p>
          <a:p>
            <a:pPr marL="36576" indent="0">
              <a:buNone/>
            </a:pPr>
            <a:r>
              <a:rPr lang="en-US" sz="16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76264" cy="3140732"/>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3</a:t>
            </a:r>
            <a:endParaRPr lang="en-US" dirty="0"/>
          </a:p>
        </p:txBody>
      </p:sp>
      <p:sp>
        <p:nvSpPr>
          <p:cNvPr id="3" name="Content Placeholder 2"/>
          <p:cNvSpPr>
            <a:spLocks noGrp="1"/>
          </p:cNvSpPr>
          <p:nvPr>
            <p:ph idx="1"/>
          </p:nvPr>
        </p:nvSpPr>
        <p:spPr/>
        <p:txBody>
          <a:bodyPr>
            <a:normAutofit/>
          </a:bodyPr>
          <a:lstStyle/>
          <a:p>
            <a:r>
              <a:rPr lang="en-AU" dirty="0" smtClean="0"/>
              <a:t>Share lessons learned with relevant others</a:t>
            </a:r>
          </a:p>
          <a:p>
            <a:r>
              <a:rPr lang="en-AU" dirty="0" smtClean="0"/>
              <a:t>Advocate for sustainable tourism</a:t>
            </a:r>
          </a:p>
          <a:p>
            <a:r>
              <a:rPr lang="en-AU" dirty="0" smtClean="0"/>
              <a:t>Gather required monitoring data as an integral part of implementation</a:t>
            </a:r>
          </a:p>
          <a:p>
            <a:r>
              <a:rPr lang="en-AU" dirty="0" smtClean="0"/>
              <a:t>Actively seek and then record feedback on the initiative</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040" y="2001677"/>
            <a:ext cx="2282880" cy="2880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Element 4 – Evaluate minimal impact operations</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20000"/>
          </a:bodyPr>
          <a:lstStyle/>
          <a:p>
            <a:pPr marL="36576" indent="0">
              <a:buNone/>
            </a:pPr>
            <a:r>
              <a:rPr lang="en-US" dirty="0" smtClean="0"/>
              <a:t>Performance Criteria for this Element are:</a:t>
            </a:r>
          </a:p>
          <a:p>
            <a:r>
              <a:rPr lang="en-AU" dirty="0" smtClean="0"/>
              <a:t>Collect objective environmental data</a:t>
            </a:r>
          </a:p>
          <a:p>
            <a:r>
              <a:rPr lang="en-AU" dirty="0" smtClean="0"/>
              <a:t>Solicit feedback from the local community and staff</a:t>
            </a:r>
          </a:p>
          <a:p>
            <a:r>
              <a:rPr lang="en-AU" dirty="0" smtClean="0"/>
              <a:t>Collaborate with local authorities to manage local environmental and social issues caused by, or related to, the minimal impact activity/operation</a:t>
            </a:r>
          </a:p>
          <a:p>
            <a:r>
              <a:rPr lang="en-AU" dirty="0" smtClean="0"/>
              <a:t>Modify previous plans on the basis of valid data obtained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916832"/>
            <a:ext cx="2073600" cy="2880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normAutofit fontScale="92500" lnSpcReduction="20000"/>
          </a:bodyPr>
          <a:lstStyle/>
          <a:p>
            <a:pPr marL="36576" indent="0">
              <a:buNone/>
            </a:pPr>
            <a:r>
              <a:rPr lang="en-US" dirty="0" smtClean="0"/>
              <a:t>Collecting data must occur as planned – if it does not:</a:t>
            </a:r>
          </a:p>
          <a:p>
            <a:r>
              <a:rPr lang="en-AU" dirty="0" smtClean="0"/>
              <a:t>Opponents of the initiative may seize on this as ‘evidence’ the organisation has something to hide</a:t>
            </a:r>
            <a:endParaRPr lang="en-US" dirty="0" smtClean="0"/>
          </a:p>
          <a:p>
            <a:r>
              <a:rPr lang="en-AU" dirty="0" smtClean="0"/>
              <a:t>The validity of the entire project starts to be questioned </a:t>
            </a:r>
            <a:endParaRPr lang="en-US" dirty="0" smtClean="0"/>
          </a:p>
          <a:p>
            <a:r>
              <a:rPr lang="en-AU" dirty="0" smtClean="0"/>
              <a:t>The credibility of the organisation suffers as people start thinking ‘they only said they were going to do it in order to get approval to proceed’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0456"/>
            <a:ext cx="1680000" cy="2520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normAutofit fontScale="92500" lnSpcReduction="10000"/>
          </a:bodyPr>
          <a:lstStyle/>
          <a:p>
            <a:pPr marL="36576" indent="0">
              <a:buNone/>
            </a:pPr>
            <a:r>
              <a:rPr lang="en-US" dirty="0" smtClean="0"/>
              <a:t>If there is a need to vary original arrangements:</a:t>
            </a:r>
          </a:p>
          <a:p>
            <a:r>
              <a:rPr lang="en-US" dirty="0" smtClean="0"/>
              <a:t>Communicate promptly with stakeholders</a:t>
            </a:r>
          </a:p>
          <a:p>
            <a:r>
              <a:rPr lang="en-US" dirty="0" smtClean="0"/>
              <a:t>Explain in detail the need for variation</a:t>
            </a:r>
          </a:p>
          <a:p>
            <a:r>
              <a:rPr lang="en-US" dirty="0" smtClean="0"/>
              <a:t>Provide evidence of need for change</a:t>
            </a:r>
          </a:p>
          <a:p>
            <a:r>
              <a:rPr lang="en-US" dirty="0" smtClean="0"/>
              <a:t>Present and explain proposed amendments</a:t>
            </a:r>
          </a:p>
          <a:p>
            <a:pPr marL="36576" indent="0">
              <a:buNone/>
            </a:pPr>
            <a:r>
              <a:rPr lang="en-US" sz="15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9" name="Picture 8"/>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88024" y="1988840"/>
            <a:ext cx="2151450" cy="2520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lstStyle/>
          <a:p>
            <a:r>
              <a:rPr lang="en-US" dirty="0" smtClean="0"/>
              <a:t>Request approval for change</a:t>
            </a:r>
          </a:p>
          <a:p>
            <a:r>
              <a:rPr lang="en-US" dirty="0" smtClean="0"/>
              <a:t>Allocate new responsibilities for implementing revised protocols</a:t>
            </a:r>
          </a:p>
          <a:p>
            <a:r>
              <a:rPr lang="en-US" dirty="0" smtClean="0"/>
              <a:t>Provide required resources and training</a:t>
            </a:r>
          </a:p>
          <a:p>
            <a:r>
              <a:rPr lang="en-US" dirty="0" smtClean="0"/>
              <a:t>Integrate new requirements into remaining original plan</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76264" cy="3233929"/>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lstStyle/>
          <a:p>
            <a:pPr marL="36576" indent="0">
              <a:buNone/>
            </a:pPr>
            <a:r>
              <a:rPr lang="en-US" dirty="0" smtClean="0"/>
              <a:t>When monitoring, collect:</a:t>
            </a:r>
          </a:p>
          <a:p>
            <a:r>
              <a:rPr lang="en-US" dirty="0" smtClean="0"/>
              <a:t>Qualitative and quantitative data</a:t>
            </a:r>
          </a:p>
          <a:p>
            <a:r>
              <a:rPr lang="en-US" dirty="0" smtClean="0"/>
              <a:t>Objective data – quantifiable and fact-based</a:t>
            </a:r>
          </a:p>
          <a:p>
            <a:r>
              <a:rPr lang="en-US" dirty="0" smtClean="0"/>
              <a:t>Subjective data – about personal feelings, thoughts and perceptions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060848"/>
            <a:ext cx="2808312" cy="280831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lstStyle/>
          <a:p>
            <a:pPr marL="36576" indent="0">
              <a:buNone/>
            </a:pPr>
            <a:r>
              <a:rPr lang="en-US" dirty="0" smtClean="0"/>
              <a:t>Objective data may be gathered through:</a:t>
            </a:r>
          </a:p>
          <a:p>
            <a:r>
              <a:rPr lang="en-US" dirty="0" smtClean="0"/>
              <a:t>Doing personal observation/s</a:t>
            </a:r>
          </a:p>
          <a:p>
            <a:r>
              <a:rPr lang="en-US" dirty="0" smtClean="0"/>
              <a:t>Conducting tests</a:t>
            </a:r>
          </a:p>
          <a:p>
            <a:r>
              <a:rPr lang="en-US" dirty="0" smtClean="0"/>
              <a:t>Undertaking physical examinations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2992" y="2060308"/>
            <a:ext cx="3048000" cy="2033016"/>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normAutofit fontScale="85000" lnSpcReduction="10000"/>
          </a:bodyPr>
          <a:lstStyle/>
          <a:p>
            <a:pPr marL="36576" indent="0">
              <a:buNone/>
            </a:pPr>
            <a:r>
              <a:rPr lang="en-US" dirty="0" smtClean="0"/>
              <a:t>Reading meters/equipment, such as:</a:t>
            </a:r>
          </a:p>
          <a:p>
            <a:r>
              <a:rPr lang="en-US" dirty="0" smtClean="0"/>
              <a:t>Water quality meters and air monitors</a:t>
            </a:r>
          </a:p>
          <a:p>
            <a:r>
              <a:rPr lang="en-US" dirty="0" smtClean="0"/>
              <a:t>Dust monitors and soil samplers</a:t>
            </a:r>
          </a:p>
          <a:p>
            <a:r>
              <a:rPr lang="en-US" dirty="0" smtClean="0"/>
              <a:t>Sound level meters and vibration monitors</a:t>
            </a:r>
          </a:p>
          <a:p>
            <a:r>
              <a:rPr lang="en-US" dirty="0" smtClean="0"/>
              <a:t>Thermometers</a:t>
            </a:r>
          </a:p>
          <a:p>
            <a:pPr lvl="1"/>
            <a:r>
              <a:rPr lang="en-US" dirty="0" smtClean="0"/>
              <a:t>Water depth and flow gauges</a:t>
            </a:r>
          </a:p>
          <a:p>
            <a:pPr lvl="1"/>
            <a:r>
              <a:rPr lang="en-US" dirty="0" smtClean="0"/>
              <a:t>Traffic meters and pedestrian turnstiles</a:t>
            </a:r>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16016" y="1988840"/>
            <a:ext cx="2790329" cy="393558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20000"/>
          </a:bodyPr>
          <a:lstStyle/>
          <a:p>
            <a:pPr marL="36576" indent="0">
              <a:buNone/>
            </a:pPr>
            <a:r>
              <a:rPr lang="en-US" dirty="0" smtClean="0"/>
              <a:t>Considerations when collecting data:</a:t>
            </a:r>
          </a:p>
          <a:p>
            <a:r>
              <a:rPr lang="en-AU" dirty="0" smtClean="0"/>
              <a:t>Try to involve stakeholders/local communities </a:t>
            </a:r>
            <a:endParaRPr lang="en-US" dirty="0" smtClean="0"/>
          </a:p>
          <a:p>
            <a:r>
              <a:rPr lang="en-AU" dirty="0" smtClean="0"/>
              <a:t>Supplement use of local communities and stakeholders with recognised professional, external consultant/s</a:t>
            </a:r>
            <a:endParaRPr lang="en-US" dirty="0" smtClean="0"/>
          </a:p>
          <a:p>
            <a:r>
              <a:rPr lang="en-AU" dirty="0" smtClean="0"/>
              <a:t>Verify testing and monitoring equipment has been correctly calibrated</a:t>
            </a:r>
          </a:p>
          <a:p>
            <a:r>
              <a:rPr lang="en-AU" dirty="0" smtClean="0"/>
              <a:t>Follow-up as required</a:t>
            </a:r>
          </a:p>
          <a:p>
            <a:pPr marL="36576" indent="0">
              <a:buNone/>
            </a:pPr>
            <a:r>
              <a:rPr lang="en-US" sz="16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7" y="2204864"/>
            <a:ext cx="3562615" cy="2376264"/>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Collect objective environmental data</a:t>
            </a:r>
            <a:endParaRPr lang="en-US" dirty="0"/>
          </a:p>
        </p:txBody>
      </p:sp>
      <p:sp>
        <p:nvSpPr>
          <p:cNvPr id="3" name="Content Placeholder 2"/>
          <p:cNvSpPr>
            <a:spLocks noGrp="1"/>
          </p:cNvSpPr>
          <p:nvPr>
            <p:ph idx="1"/>
          </p:nvPr>
        </p:nvSpPr>
        <p:spPr/>
        <p:txBody>
          <a:bodyPr/>
          <a:lstStyle/>
          <a:p>
            <a:r>
              <a:rPr lang="en-AU" dirty="0" smtClean="0"/>
              <a:t>Physically collect the data </a:t>
            </a:r>
            <a:endParaRPr lang="en-US" dirty="0" smtClean="0"/>
          </a:p>
          <a:p>
            <a:r>
              <a:rPr lang="en-AU" dirty="0" smtClean="0"/>
              <a:t>Collate the data</a:t>
            </a:r>
          </a:p>
          <a:p>
            <a:r>
              <a:rPr lang="en-AU" dirty="0" smtClean="0"/>
              <a:t>Manipulate the data</a:t>
            </a:r>
          </a:p>
          <a:p>
            <a:r>
              <a:rPr lang="en-AU" dirty="0" smtClean="0"/>
              <a:t>Share the data and the findings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93568" y="2276872"/>
            <a:ext cx="3816424" cy="274104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Solicit feedback from the local community and staff</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Feedback may be:</a:t>
            </a:r>
          </a:p>
          <a:p>
            <a:r>
              <a:rPr lang="en-US" dirty="0" smtClean="0"/>
              <a:t>Provided verbally or in writing</a:t>
            </a:r>
          </a:p>
          <a:p>
            <a:r>
              <a:rPr lang="en-US" dirty="0" smtClean="0"/>
              <a:t>Positive and/or negative</a:t>
            </a:r>
          </a:p>
          <a:p>
            <a:r>
              <a:rPr lang="en-US" dirty="0" smtClean="0"/>
              <a:t>Offered voluntarily and/or need to be sought out</a:t>
            </a:r>
          </a:p>
          <a:p>
            <a:r>
              <a:rPr lang="en-US" dirty="0" smtClean="0"/>
              <a:t>Given by an individual or a group</a:t>
            </a:r>
          </a:p>
          <a:p>
            <a:r>
              <a:rPr lang="en-US" dirty="0" smtClean="0"/>
              <a:t>A mandatory requirement from some stakeholders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8" name="Picture 7"/>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46457" y="1700808"/>
            <a:ext cx="4346457" cy="2880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Solicit feedback from the local community and staff</a:t>
            </a:r>
            <a:endParaRPr lang="en-US" dirty="0"/>
          </a:p>
        </p:txBody>
      </p:sp>
      <p:sp>
        <p:nvSpPr>
          <p:cNvPr id="3" name="Content Placeholder 2"/>
          <p:cNvSpPr>
            <a:spLocks noGrp="1"/>
          </p:cNvSpPr>
          <p:nvPr>
            <p:ph idx="1"/>
          </p:nvPr>
        </p:nvSpPr>
        <p:spPr/>
        <p:txBody>
          <a:bodyPr/>
          <a:lstStyle/>
          <a:p>
            <a:pPr marL="36576" indent="0">
              <a:buNone/>
            </a:pPr>
            <a:r>
              <a:rPr lang="en-US" dirty="0" smtClean="0"/>
              <a:t>Ways to encourage feedback:</a:t>
            </a:r>
          </a:p>
          <a:p>
            <a:r>
              <a:rPr lang="en-AU" dirty="0" smtClean="0"/>
              <a:t>Make people aware from the outset that feedback is being sought </a:t>
            </a:r>
          </a:p>
          <a:p>
            <a:r>
              <a:rPr lang="en-AU" dirty="0" smtClean="0"/>
              <a:t>Maintain a feedback database/file</a:t>
            </a:r>
          </a:p>
          <a:p>
            <a:r>
              <a:rPr lang="en-AU" dirty="0" smtClean="0"/>
              <a:t>Proactively seek feedback</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77019"/>
            <a:ext cx="2592288" cy="3539893"/>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Solicit feedback from the local community and staff</a:t>
            </a:r>
            <a:endParaRPr lang="en-US" dirty="0"/>
          </a:p>
        </p:txBody>
      </p:sp>
      <p:sp>
        <p:nvSpPr>
          <p:cNvPr id="3" name="Content Placeholder 2"/>
          <p:cNvSpPr>
            <a:spLocks noGrp="1"/>
          </p:cNvSpPr>
          <p:nvPr>
            <p:ph idx="1"/>
          </p:nvPr>
        </p:nvSpPr>
        <p:spPr/>
        <p:txBody>
          <a:bodyPr>
            <a:normAutofit lnSpcReduction="10000"/>
          </a:bodyPr>
          <a:lstStyle/>
          <a:p>
            <a:r>
              <a:rPr lang="en-AU" dirty="0" smtClean="0"/>
              <a:t>Thank people for contributions </a:t>
            </a:r>
          </a:p>
          <a:p>
            <a:r>
              <a:rPr lang="en-AU" dirty="0" smtClean="0"/>
              <a:t>De-brief with staff who have been involved</a:t>
            </a:r>
          </a:p>
          <a:p>
            <a:r>
              <a:rPr lang="en-AU" dirty="0" smtClean="0"/>
              <a:t>Meet on-site with other parties which may be done by integrating them into a standard tour group or holding a dedicated tour/activity just for them</a:t>
            </a:r>
            <a:endParaRPr lang="en-US" dirty="0" smtClean="0"/>
          </a:p>
          <a:p>
            <a:r>
              <a:rPr lang="en-AU" dirty="0" smtClean="0"/>
              <a:t>Sharing the feedback</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1939314"/>
            <a:ext cx="1632586" cy="3240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Things to note/be aware of:</a:t>
            </a:r>
          </a:p>
          <a:p>
            <a:r>
              <a:rPr lang="en-US" dirty="0" smtClean="0"/>
              <a:t>Tourism Operators have a commercial imperative</a:t>
            </a:r>
          </a:p>
          <a:p>
            <a:r>
              <a:rPr lang="en-US" dirty="0" smtClean="0"/>
              <a:t>Impacts can be positive or negative – for all classifications o stakeholders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989559" y="2204863"/>
            <a:ext cx="3294422" cy="2991601"/>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p:txBody>
          <a:bodyPr>
            <a:normAutofit fontScale="92500"/>
          </a:bodyPr>
          <a:lstStyle/>
          <a:p>
            <a:r>
              <a:rPr lang="en-AU" dirty="0" smtClean="0"/>
              <a:t>Different people have different perspectives and priorities </a:t>
            </a:r>
            <a:endParaRPr lang="en-US" dirty="0" smtClean="0"/>
          </a:p>
          <a:p>
            <a:r>
              <a:rPr lang="en-AU" dirty="0" smtClean="0"/>
              <a:t>Issues and impacts vary over time and between different projects </a:t>
            </a:r>
            <a:endParaRPr lang="en-US" dirty="0" smtClean="0"/>
          </a:p>
          <a:p>
            <a:r>
              <a:rPr lang="en-AU" dirty="0" smtClean="0"/>
              <a:t>An organisation that is genuine in its orientation to minimal impact tourism operations must be prepared to walk away from an initiative when it is obvious the impacts of the proposal are just too severe</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2320663"/>
            <a:ext cx="1828623" cy="3240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p:txBody>
          <a:bodyPr/>
          <a:lstStyle/>
          <a:p>
            <a:pPr marL="36576" indent="0">
              <a:buNone/>
            </a:pPr>
            <a:r>
              <a:rPr lang="en-US" dirty="0" smtClean="0"/>
              <a:t>Four basic options at this stage:</a:t>
            </a:r>
          </a:p>
          <a:p>
            <a:r>
              <a:rPr lang="en-US" dirty="0" smtClean="0"/>
              <a:t>Abandon the project – walk away/close it down</a:t>
            </a:r>
          </a:p>
          <a:p>
            <a:r>
              <a:rPr lang="en-US" dirty="0" smtClean="0"/>
              <a:t>Do nothing – maintain the same protocols</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8" name="Picture 7"/>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1988840"/>
            <a:ext cx="2335431" cy="3420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p:txBody>
          <a:bodyPr/>
          <a:lstStyle/>
          <a:p>
            <a:r>
              <a:rPr lang="en-US" dirty="0" smtClean="0"/>
              <a:t>Capitalise on positive outcomes</a:t>
            </a:r>
          </a:p>
          <a:p>
            <a:r>
              <a:rPr lang="en-US" dirty="0" smtClean="0"/>
              <a:t>Reduce or eliminate the impact of negative outcomes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93251" y="2042906"/>
            <a:ext cx="3481556" cy="2322198"/>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a:xfrm>
            <a:off x="457200" y="1988840"/>
            <a:ext cx="4114800" cy="4433224"/>
          </a:xfrm>
        </p:spPr>
        <p:txBody>
          <a:bodyPr>
            <a:normAutofit fontScale="92500" lnSpcReduction="20000"/>
          </a:bodyPr>
          <a:lstStyle/>
          <a:p>
            <a:pPr marL="36576" indent="0">
              <a:buNone/>
            </a:pPr>
            <a:r>
              <a:rPr lang="en-AU" dirty="0" smtClean="0"/>
              <a:t>Activities in the collaboration process</a:t>
            </a:r>
            <a:r>
              <a:rPr lang="en-US" dirty="0" smtClean="0"/>
              <a:t>:</a:t>
            </a:r>
          </a:p>
          <a:p>
            <a:r>
              <a:rPr lang="en-AU" dirty="0" smtClean="0"/>
              <a:t>Attend all meetings convened by local authorities </a:t>
            </a:r>
            <a:endParaRPr lang="en-US" dirty="0" smtClean="0"/>
          </a:p>
          <a:p>
            <a:r>
              <a:rPr lang="en-AU" dirty="0" smtClean="0"/>
              <a:t>Provide requested all information/data to local authorities </a:t>
            </a:r>
          </a:p>
          <a:p>
            <a:r>
              <a:rPr lang="en-AU" dirty="0" smtClean="0"/>
              <a:t>Fund the management process</a:t>
            </a:r>
          </a:p>
          <a:p>
            <a:r>
              <a:rPr lang="en-AU" dirty="0" smtClean="0"/>
              <a:t>Honour promises made about what the organisation would do if monitoring revealed a certain outcome</a:t>
            </a:r>
            <a:endParaRPr lang="en-US" dirty="0" smtClean="0"/>
          </a:p>
          <a:p>
            <a:pPr marL="36576" indent="0">
              <a:buNone/>
            </a:pPr>
            <a:r>
              <a:rPr lang="en-US" sz="16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67468" y="2011505"/>
            <a:ext cx="2985932" cy="1985645"/>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p:txBody>
          <a:bodyPr/>
          <a:lstStyle/>
          <a:p>
            <a:r>
              <a:rPr lang="en-AU" dirty="0" smtClean="0"/>
              <a:t>Listen to what those who disagree have to say </a:t>
            </a:r>
            <a:endParaRPr lang="en-US" dirty="0" smtClean="0"/>
          </a:p>
          <a:p>
            <a:r>
              <a:rPr lang="en-AU" dirty="0" smtClean="0"/>
              <a:t>Be open and transparent when discussing issues </a:t>
            </a:r>
            <a:endParaRPr lang="en-US" dirty="0" smtClean="0"/>
          </a:p>
          <a:p>
            <a:r>
              <a:rPr lang="en-AU" dirty="0" smtClean="0"/>
              <a:t>Be hard but be fair</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64088" y="2011069"/>
            <a:ext cx="2088232" cy="3130783"/>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Collaborate with local authorities to manage issues caused by, or related to, the activity</a:t>
            </a:r>
            <a:endParaRPr lang="en-US" dirty="0"/>
          </a:p>
        </p:txBody>
      </p:sp>
      <p:sp>
        <p:nvSpPr>
          <p:cNvPr id="3" name="Content Placeholder 2"/>
          <p:cNvSpPr>
            <a:spLocks noGrp="1"/>
          </p:cNvSpPr>
          <p:nvPr>
            <p:ph idx="1"/>
          </p:nvPr>
        </p:nvSpPr>
        <p:spPr/>
        <p:txBody>
          <a:bodyPr/>
          <a:lstStyle/>
          <a:p>
            <a:r>
              <a:rPr lang="en-AU" dirty="0" smtClean="0"/>
              <a:t>Conduct additional research and/or monitoring </a:t>
            </a:r>
            <a:endParaRPr lang="en-US" dirty="0" smtClean="0"/>
          </a:p>
          <a:p>
            <a:r>
              <a:rPr lang="en-AU" dirty="0" smtClean="0"/>
              <a:t>Record discussions and findings </a:t>
            </a:r>
            <a:endParaRPr lang="en-US" dirty="0" smtClean="0"/>
          </a:p>
          <a:p>
            <a:r>
              <a:rPr lang="en-AU" dirty="0" smtClean="0"/>
              <a:t>Share deliberations, discussions  and decisions</a:t>
            </a:r>
            <a:endParaRPr lang="en-US" dirty="0" smtClean="0"/>
          </a:p>
          <a:p>
            <a:r>
              <a:rPr lang="en-AU" dirty="0" smtClean="0"/>
              <a:t>Make suggestions for action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988840"/>
            <a:ext cx="2954086" cy="2160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Modify previous plans on the basis of valid data obtained</a:t>
            </a:r>
            <a:endParaRPr lang="en-US" dirty="0"/>
          </a:p>
        </p:txBody>
      </p:sp>
      <p:sp>
        <p:nvSpPr>
          <p:cNvPr id="3" name="Content Placeholder 2"/>
          <p:cNvSpPr>
            <a:spLocks noGrp="1"/>
          </p:cNvSpPr>
          <p:nvPr>
            <p:ph idx="1"/>
          </p:nvPr>
        </p:nvSpPr>
        <p:spPr/>
        <p:txBody>
          <a:bodyPr/>
          <a:lstStyle/>
          <a:p>
            <a:pPr marL="36576" indent="0">
              <a:buNone/>
            </a:pPr>
            <a:r>
              <a:rPr lang="en-US" dirty="0" smtClean="0"/>
              <a:t>Changes made to plans:</a:t>
            </a:r>
          </a:p>
          <a:p>
            <a:r>
              <a:rPr lang="en-US" dirty="0" smtClean="0"/>
              <a:t>Must address identified need</a:t>
            </a:r>
          </a:p>
          <a:p>
            <a:r>
              <a:rPr lang="en-US" dirty="0" smtClean="0"/>
              <a:t>Must be in writing</a:t>
            </a:r>
          </a:p>
          <a:p>
            <a:r>
              <a:rPr lang="en-US" dirty="0" smtClean="0"/>
              <a:t>Must be integrated into the rest of the original plan</a:t>
            </a:r>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60032" y="1844824"/>
            <a:ext cx="2558577" cy="3607864"/>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Modify previous plans on the basis of valid data obtained</a:t>
            </a:r>
            <a:endParaRPr lang="en-US" dirty="0"/>
          </a:p>
        </p:txBody>
      </p:sp>
      <p:sp>
        <p:nvSpPr>
          <p:cNvPr id="3" name="Content Placeholder 2"/>
          <p:cNvSpPr>
            <a:spLocks noGrp="1"/>
          </p:cNvSpPr>
          <p:nvPr>
            <p:ph idx="1"/>
          </p:nvPr>
        </p:nvSpPr>
        <p:spPr/>
        <p:txBody>
          <a:bodyPr/>
          <a:lstStyle/>
          <a:p>
            <a:r>
              <a:rPr lang="en-US" dirty="0" smtClean="0"/>
              <a:t>Must be evidence-based</a:t>
            </a:r>
          </a:p>
          <a:p>
            <a:r>
              <a:rPr lang="en-US" dirty="0" smtClean="0"/>
              <a:t>Must be approved by management team</a:t>
            </a:r>
          </a:p>
          <a:p>
            <a:r>
              <a:rPr lang="en-US" dirty="0" smtClean="0"/>
              <a:t>Must be communicated to stakeholders</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16016" y="1992926"/>
            <a:ext cx="2520280" cy="3504575"/>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Modify previous plans on the basis of valid data obtained</a:t>
            </a:r>
            <a:endParaRPr lang="en-US" dirty="0"/>
          </a:p>
        </p:txBody>
      </p:sp>
      <p:sp>
        <p:nvSpPr>
          <p:cNvPr id="3" name="Content Placeholder 2"/>
          <p:cNvSpPr>
            <a:spLocks noGrp="1"/>
          </p:cNvSpPr>
          <p:nvPr>
            <p:ph idx="1"/>
          </p:nvPr>
        </p:nvSpPr>
        <p:spPr/>
        <p:txBody>
          <a:bodyPr/>
          <a:lstStyle/>
          <a:p>
            <a:pPr marL="36576" indent="0">
              <a:buNone/>
            </a:pPr>
            <a:r>
              <a:rPr lang="en-US" dirty="0" smtClean="0"/>
              <a:t>Changes may include:</a:t>
            </a:r>
          </a:p>
          <a:p>
            <a:r>
              <a:rPr lang="en-AU" dirty="0" smtClean="0"/>
              <a:t>Changing the type/nature of the operation, project, activity or initiative </a:t>
            </a:r>
            <a:endParaRPr lang="en-US" dirty="0" smtClean="0"/>
          </a:p>
          <a:p>
            <a:r>
              <a:rPr lang="en-AU" dirty="0" smtClean="0"/>
              <a:t>Changing the interpretive activities included </a:t>
            </a:r>
            <a:endParaRPr lang="en-US" dirty="0" smtClean="0"/>
          </a:p>
          <a:p>
            <a:r>
              <a:rPr lang="en-AU" dirty="0" smtClean="0"/>
              <a:t>Changing the physical/geographic location of the initiative </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844824"/>
            <a:ext cx="2410240" cy="2880000"/>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Modify previous plans on the basis of valid data obtained</a:t>
            </a:r>
            <a:endParaRPr lang="en-US" dirty="0"/>
          </a:p>
        </p:txBody>
      </p:sp>
      <p:sp>
        <p:nvSpPr>
          <p:cNvPr id="3" name="Content Placeholder 2"/>
          <p:cNvSpPr>
            <a:spLocks noGrp="1"/>
          </p:cNvSpPr>
          <p:nvPr>
            <p:ph idx="1"/>
          </p:nvPr>
        </p:nvSpPr>
        <p:spPr/>
        <p:txBody>
          <a:bodyPr/>
          <a:lstStyle/>
          <a:p>
            <a:r>
              <a:rPr lang="en-AU" dirty="0" smtClean="0"/>
              <a:t>Changing inclusions</a:t>
            </a:r>
          </a:p>
          <a:p>
            <a:r>
              <a:rPr lang="en-AU" dirty="0" smtClean="0"/>
              <a:t>Using different tour staff and volunteer workers/local community people</a:t>
            </a:r>
          </a:p>
          <a:p>
            <a:r>
              <a:rPr lang="en-AU" dirty="0" smtClean="0"/>
              <a:t>Altering timing of tours/activities</a:t>
            </a:r>
            <a:endParaRPr lang="en-US" dirty="0" smtClean="0"/>
          </a:p>
          <a:p>
            <a:r>
              <a:rPr lang="en-AU" dirty="0" smtClean="0"/>
              <a:t>Adjusting size and/or composition of group</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00321" y="1974820"/>
            <a:ext cx="1968929" cy="2880000"/>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Modify previous plans on the basis of valid data obtained</a:t>
            </a:r>
            <a:endParaRPr lang="en-US" dirty="0"/>
          </a:p>
        </p:txBody>
      </p:sp>
      <p:sp>
        <p:nvSpPr>
          <p:cNvPr id="3" name="Content Placeholder 2"/>
          <p:cNvSpPr>
            <a:spLocks noGrp="1"/>
          </p:cNvSpPr>
          <p:nvPr>
            <p:ph idx="1"/>
          </p:nvPr>
        </p:nvSpPr>
        <p:spPr/>
        <p:txBody>
          <a:bodyPr/>
          <a:lstStyle/>
          <a:p>
            <a:r>
              <a:rPr lang="en-AU" dirty="0" smtClean="0"/>
              <a:t>Limiting locations tourists can enter </a:t>
            </a:r>
            <a:endParaRPr lang="en-US" dirty="0" smtClean="0"/>
          </a:p>
          <a:p>
            <a:r>
              <a:rPr lang="en-AU" dirty="0" smtClean="0"/>
              <a:t>Reducing or increasing participation of local community and roles they play </a:t>
            </a:r>
          </a:p>
          <a:p>
            <a:r>
              <a:rPr lang="en-AU" dirty="0" smtClean="0"/>
              <a:t>Revising visitor ‘Code of Conduct’</a:t>
            </a:r>
            <a:endParaRPr lang="en-US" dirty="0" smtClean="0"/>
          </a:p>
          <a:p>
            <a:pPr marL="36576" indent="0">
              <a:buNone/>
            </a:pPr>
            <a:r>
              <a:rPr lang="en-US" sz="1400" b="1"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1988840"/>
            <a:ext cx="2904298" cy="3312048"/>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Modify previous plans on the basis of valid data obtained</a:t>
            </a:r>
            <a:endParaRPr lang="en-US" dirty="0"/>
          </a:p>
        </p:txBody>
      </p:sp>
      <p:sp>
        <p:nvSpPr>
          <p:cNvPr id="3" name="Content Placeholder 2"/>
          <p:cNvSpPr>
            <a:spLocks noGrp="1"/>
          </p:cNvSpPr>
          <p:nvPr>
            <p:ph idx="1"/>
          </p:nvPr>
        </p:nvSpPr>
        <p:spPr/>
        <p:txBody>
          <a:bodyPr/>
          <a:lstStyle/>
          <a:p>
            <a:r>
              <a:rPr lang="en-AU" dirty="0" smtClean="0"/>
              <a:t>Increasing amount and/or type of resources allocated </a:t>
            </a:r>
            <a:endParaRPr lang="en-US" dirty="0" smtClean="0"/>
          </a:p>
          <a:p>
            <a:r>
              <a:rPr lang="en-AU" dirty="0" smtClean="0"/>
              <a:t>Changing supporting/underpinning infrastructure</a:t>
            </a:r>
          </a:p>
          <a:p>
            <a:r>
              <a:rPr lang="en-AU" dirty="0" smtClean="0"/>
              <a:t>Changing monitoring protocols for nominated issues/topics</a:t>
            </a:r>
          </a:p>
          <a:p>
            <a:r>
              <a:rPr lang="en-AU" dirty="0" smtClean="0"/>
              <a:t>Changing delivery method for information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8" y="2132856"/>
            <a:ext cx="2353176" cy="3528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4</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When </a:t>
            </a:r>
            <a:r>
              <a:rPr lang="en-AU" dirty="0" smtClean="0"/>
              <a:t>evaluating minimal impact operations</a:t>
            </a:r>
            <a:r>
              <a:rPr lang="en-US" dirty="0" smtClean="0"/>
              <a:t>:</a:t>
            </a:r>
          </a:p>
          <a:p>
            <a:r>
              <a:rPr lang="en-AU" dirty="0" smtClean="0"/>
              <a:t>Make sure the data identified as being gathered is in fact captured and recorded</a:t>
            </a:r>
          </a:p>
          <a:p>
            <a:r>
              <a:rPr lang="en-AU" dirty="0" smtClean="0"/>
              <a:t>Involve stakeholders</a:t>
            </a:r>
          </a:p>
          <a:p>
            <a:r>
              <a:rPr lang="en-AU" dirty="0" smtClean="0"/>
              <a:t>Use objective and subjective as required to evaluate the initiative</a:t>
            </a:r>
          </a:p>
          <a:p>
            <a:pPr marL="36576" lvl="0" indent="0">
              <a:buNone/>
            </a:pPr>
            <a:r>
              <a:rPr lang="en-US" sz="1400" b="1" dirty="0" smtClean="0"/>
              <a:t>(Continued)</a:t>
            </a:r>
            <a:endParaRPr lang="en-AU" sz="1400" b="1"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8" name="Picture 7"/>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23226" r="7475"/>
          <a:stretch/>
        </p:blipFill>
        <p:spPr>
          <a:xfrm>
            <a:off x="4669408" y="1844824"/>
            <a:ext cx="3367933" cy="3240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4</a:t>
            </a:r>
            <a:endParaRPr lang="en-US" dirty="0"/>
          </a:p>
        </p:txBody>
      </p:sp>
      <p:sp>
        <p:nvSpPr>
          <p:cNvPr id="3" name="Content Placeholder 2"/>
          <p:cNvSpPr>
            <a:spLocks noGrp="1"/>
          </p:cNvSpPr>
          <p:nvPr>
            <p:ph idx="1"/>
          </p:nvPr>
        </p:nvSpPr>
        <p:spPr/>
        <p:txBody>
          <a:bodyPr>
            <a:normAutofit fontScale="92500" lnSpcReduction="10000"/>
          </a:bodyPr>
          <a:lstStyle/>
          <a:p>
            <a:r>
              <a:rPr lang="en-AU" dirty="0" smtClean="0"/>
              <a:t>Solicit feedback from those involved – staff, tourists, local communities, other stakeholders </a:t>
            </a:r>
          </a:p>
          <a:p>
            <a:r>
              <a:rPr lang="en-AU" dirty="0" smtClean="0"/>
              <a:t>Conduct evaluations and manipulate data with reference to established criteria and parameters</a:t>
            </a:r>
          </a:p>
          <a:p>
            <a:r>
              <a:rPr lang="en-AU" dirty="0" smtClean="0"/>
              <a:t>Use external consultants/professionals where necessary</a:t>
            </a:r>
          </a:p>
          <a:p>
            <a:pPr marL="36576" lvl="0" indent="0">
              <a:buNone/>
            </a:pPr>
            <a:r>
              <a:rPr lang="en-US" sz="1500" b="1" dirty="0" smtClean="0"/>
              <a:t>(Continued)</a:t>
            </a:r>
            <a:endParaRPr lang="en-AU" sz="1500" b="1"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3512" y="2276872"/>
            <a:ext cx="2446200" cy="3240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 Element 4</a:t>
            </a:r>
            <a:endParaRPr lang="en-US" dirty="0"/>
          </a:p>
        </p:txBody>
      </p:sp>
      <p:sp>
        <p:nvSpPr>
          <p:cNvPr id="3" name="Content Placeholder 2"/>
          <p:cNvSpPr>
            <a:spLocks noGrp="1"/>
          </p:cNvSpPr>
          <p:nvPr>
            <p:ph idx="1"/>
          </p:nvPr>
        </p:nvSpPr>
        <p:spPr/>
        <p:txBody>
          <a:bodyPr>
            <a:normAutofit/>
          </a:bodyPr>
          <a:lstStyle/>
          <a:p>
            <a:r>
              <a:rPr lang="en-AU" dirty="0" smtClean="0"/>
              <a:t>Make decisions based on actual data</a:t>
            </a:r>
          </a:p>
          <a:p>
            <a:r>
              <a:rPr lang="en-AU" dirty="0" smtClean="0"/>
              <a:t>Share and/or publish the data and findings</a:t>
            </a:r>
          </a:p>
          <a:p>
            <a:r>
              <a:rPr lang="en-AU" dirty="0" smtClean="0"/>
              <a:t>Work cooperatively with local communities to address their concerns</a:t>
            </a:r>
          </a:p>
          <a:p>
            <a:r>
              <a:rPr lang="en-AU" dirty="0" smtClean="0"/>
              <a:t>Adjust plans to reflect the findings of the evaluation</a:t>
            </a:r>
          </a:p>
          <a:p>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8" name="Picture 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63983" y="1988840"/>
            <a:ext cx="2415913" cy="3240000"/>
          </a:xfrm>
          <a:prstGeom prst="rect">
            <a:avLst/>
          </a:prstGeom>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1058</TotalTime>
  <Words>19877</Words>
  <Application>Microsoft Office PowerPoint</Application>
  <PresentationFormat>On-screen Show (4:3)</PresentationFormat>
  <Paragraphs>2023</Paragraphs>
  <Slides>125</Slides>
  <Notes>125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125</vt:i4>
      </vt:variant>
    </vt:vector>
  </HeadingPairs>
  <TitlesOfParts>
    <vt:vector size="129" baseType="lpstr">
      <vt:lpstr>Arial</vt:lpstr>
      <vt:lpstr>Helvetica</vt:lpstr>
      <vt:lpstr>Wingdings 2</vt:lpstr>
      <vt:lpstr>PPT_Tour_operation_templates_130214</vt:lpstr>
      <vt:lpstr>PLAN, TRIAL AND IMPLEMENT MINIMAL IMPACT OPERATIONS</vt:lpstr>
      <vt:lpstr>Plan, trial and implement minimal impact operations</vt:lpstr>
      <vt:lpstr>Assessment</vt:lpstr>
      <vt:lpstr>Element 1 – Plan minimal impact operations</vt:lpstr>
      <vt:lpstr>Identify the proposed activity/operation to be conducted</vt:lpstr>
      <vt:lpstr>Identify the proposed activity/operation to be conducted</vt:lpstr>
      <vt:lpstr>Identify the proposed activity/operation to be conducted</vt:lpstr>
      <vt:lpstr>Identify the proposed activity/operation to be conducted</vt:lpstr>
      <vt:lpstr>Identify the proposed activity/operation to be conducted</vt:lpstr>
      <vt:lpstr>Identify the proposed activity/operation to be conducted</vt:lpstr>
      <vt:lpstr>Identify the proposed activity/operation to be conducted</vt:lpstr>
      <vt:lpstr>Identify location in which the identified activity/operation is proposed to be conducted</vt:lpstr>
      <vt:lpstr>Identify location in which the identified activity/operation is proposed to be conducted</vt:lpstr>
      <vt:lpstr>Identify location in which the identified activity/operation is proposed to be conducted</vt:lpstr>
      <vt:lpstr>Identify location in which the identified activity/operation is proposed to be conducted</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the factors that may be impacted by the proposed activity</vt:lpstr>
      <vt:lpstr>Research compliance requirements that apply to proposed activity/operation and location</vt:lpstr>
      <vt:lpstr>Research compliance requirements that apply to proposed activity/operation and location</vt:lpstr>
      <vt:lpstr>Research compliance requirements that apply to proposed activity/operation and location</vt:lpstr>
      <vt:lpstr>Research compliance requirements that apply to proposed activity/operation and location</vt:lpstr>
      <vt:lpstr>Research compliance requirements that apply to proposed activity/operation and location</vt:lpstr>
      <vt:lpstr>Research compliance requirements that apply to proposed activity/operation and location</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Develop a plan that details experience and activities to be implemented</vt:lpstr>
      <vt:lpstr>Summary – Element 1</vt:lpstr>
      <vt:lpstr>Summary – Element 1</vt:lpstr>
      <vt:lpstr>Summary – Element 1</vt:lpstr>
      <vt:lpstr>Summary – Element 1</vt:lpstr>
      <vt:lpstr>Element 2 – Trial minimal impact operations</vt:lpstr>
      <vt:lpstr>Organise for the trial to be conducted</vt:lpstr>
      <vt:lpstr>Organise for the trial to be conducted</vt:lpstr>
      <vt:lpstr>Organise for the trial to be conducted</vt:lpstr>
      <vt:lpstr>Organise for the trial to be conducted</vt:lpstr>
      <vt:lpstr>Organise for the trial to be conducted</vt:lpstr>
      <vt:lpstr>Organise for the trial to be conducted</vt:lpstr>
      <vt:lpstr>Organise for the trial to be conducted</vt:lpstr>
      <vt:lpstr>Organise for the trial to be conducted</vt:lpstr>
      <vt:lpstr>Organise for the trial to be conducted</vt:lpstr>
      <vt:lpstr>Organise for the trial to be conducted</vt:lpstr>
      <vt:lpstr>Conduct the trial operation as planned</vt:lpstr>
      <vt:lpstr>Conduct the trial operation as planned</vt:lpstr>
      <vt:lpstr>Monitor the impacts of the trial</vt:lpstr>
      <vt:lpstr>Monitor the impacts of the trial</vt:lpstr>
      <vt:lpstr>Monitor the impacts of the trial</vt:lpstr>
      <vt:lpstr>Monitor the impacts of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Evaluate the information generated by the trial</vt:lpstr>
      <vt:lpstr>Utilise information from trial to modify plans to optimise impacts</vt:lpstr>
      <vt:lpstr>Utilise information from trial to modify plans to optimise impacts</vt:lpstr>
      <vt:lpstr>Utilise information from trial to modify plans to optimise impacts</vt:lpstr>
      <vt:lpstr>Summary – Element 2</vt:lpstr>
      <vt:lpstr>Summary – Element 2</vt:lpstr>
      <vt:lpstr>Summary – Element 2</vt:lpstr>
      <vt:lpstr>Summary – Element 2</vt:lpstr>
      <vt:lpstr>Element 3 – Implement minimal impact operations</vt:lpstr>
      <vt:lpstr>Apply revised plans to practical application of minimal impact tourism activities/operations</vt:lpstr>
      <vt:lpstr>Apply revised plans to practical application of minimal impact tourism activities/operations</vt:lpstr>
      <vt:lpstr>Conduct operation in a way that encourages others to engage in minimal impact actions</vt:lpstr>
      <vt:lpstr>Conduct operation in a way that encourages others to engage in minimal impact actions</vt:lpstr>
      <vt:lpstr>Conduct operation in a way that encourages others to engage in minimal impact actions</vt:lpstr>
      <vt:lpstr>Implement ongoing monitoring protocols</vt:lpstr>
      <vt:lpstr>Implement ongoing monitoring protocols</vt:lpstr>
      <vt:lpstr>Summary – Element 3</vt:lpstr>
      <vt:lpstr>Summary – Element 3</vt:lpstr>
      <vt:lpstr>Element 4 – Evaluate minimal impact operations</vt:lpstr>
      <vt:lpstr>Collect objective environmental data</vt:lpstr>
      <vt:lpstr>Collect objective environmental data</vt:lpstr>
      <vt:lpstr>Collect objective environmental data</vt:lpstr>
      <vt:lpstr>Collect objective environmental data</vt:lpstr>
      <vt:lpstr>Collect objective environmental data</vt:lpstr>
      <vt:lpstr>Collect objective environmental data</vt:lpstr>
      <vt:lpstr>Collect objective environmental data</vt:lpstr>
      <vt:lpstr>Collect objective environmental data</vt:lpstr>
      <vt:lpstr>Solicit feedback from the local community and staff</vt:lpstr>
      <vt:lpstr>Solicit feedback from the local community and staff</vt:lpstr>
      <vt:lpstr>Solicit feedback from the local community and staff</vt:lpstr>
      <vt:lpstr>Collaborate with local authorities to manage issues caused by, or related to, the activity</vt:lpstr>
      <vt:lpstr>Collaborate with local authorities to manage issues caused by, or related to, the activity</vt:lpstr>
      <vt:lpstr>Collaborate with local authorities to manage issues caused by, or related to, the activity</vt:lpstr>
      <vt:lpstr>Collaborate with local authorities to manage issues caused by, or related to, the activity</vt:lpstr>
      <vt:lpstr>Collaborate with local authorities to manage issues caused by, or related to, the activity</vt:lpstr>
      <vt:lpstr>Collaborate with local authorities to manage issues caused by, or related to, the activity</vt:lpstr>
      <vt:lpstr>Collaborate with local authorities to manage issues caused by, or related to, the activity</vt:lpstr>
      <vt:lpstr>Modify previous plans on the basis of valid data obtained</vt:lpstr>
      <vt:lpstr>Modify previous plans on the basis of valid data obtained</vt:lpstr>
      <vt:lpstr>Modify previous plans on the basis of valid data obtained</vt:lpstr>
      <vt:lpstr>Modify previous plans on the basis of valid data obtained</vt:lpstr>
      <vt:lpstr>Modify previous plans on the basis of valid data obtained</vt:lpstr>
      <vt:lpstr>Modify previous plans on the basis of valid data obtained</vt:lpstr>
      <vt:lpstr>Summary – Element 4</vt:lpstr>
      <vt:lpstr>Summary – Element 4</vt:lpstr>
      <vt:lpstr>Summary – Element 4</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 TRIAL AND IMPLEMENT MINIMAL IMPACT OPERATIONS</dc:title>
  <dc:creator>Mai Vu</dc:creator>
  <cp:lastModifiedBy>Carla Angelica Co</cp:lastModifiedBy>
  <cp:revision>90</cp:revision>
  <dcterms:created xsi:type="dcterms:W3CDTF">2014-05-09T01:58:44Z</dcterms:created>
  <dcterms:modified xsi:type="dcterms:W3CDTF">2016-07-19T02:40:17Z</dcterms:modified>
</cp:coreProperties>
</file>