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9"/>
  </p:notesMasterIdLst>
  <p:handoutMasterIdLst>
    <p:handoutMasterId r:id="rId40"/>
  </p:handoutMasterIdLst>
  <p:sldIdLst>
    <p:sldId id="256" r:id="rId2"/>
    <p:sldId id="257" r:id="rId3"/>
    <p:sldId id="258" r:id="rId4"/>
    <p:sldId id="260" r:id="rId5"/>
    <p:sldId id="264" r:id="rId6"/>
    <p:sldId id="265" r:id="rId7"/>
    <p:sldId id="266" r:id="rId8"/>
    <p:sldId id="267" r:id="rId9"/>
    <p:sldId id="282" r:id="rId10"/>
    <p:sldId id="283" r:id="rId11"/>
    <p:sldId id="285" r:id="rId12"/>
    <p:sldId id="268" r:id="rId13"/>
    <p:sldId id="286" r:id="rId14"/>
    <p:sldId id="261" r:id="rId15"/>
    <p:sldId id="269" r:id="rId16"/>
    <p:sldId id="270" r:id="rId17"/>
    <p:sldId id="271" r:id="rId18"/>
    <p:sldId id="272" r:id="rId19"/>
    <p:sldId id="273" r:id="rId20"/>
    <p:sldId id="262" r:id="rId21"/>
    <p:sldId id="293" r:id="rId22"/>
    <p:sldId id="294" r:id="rId23"/>
    <p:sldId id="295" r:id="rId24"/>
    <p:sldId id="274" r:id="rId25"/>
    <p:sldId id="288" r:id="rId26"/>
    <p:sldId id="292" r:id="rId27"/>
    <p:sldId id="296" r:id="rId28"/>
    <p:sldId id="287" r:id="rId29"/>
    <p:sldId id="284" r:id="rId30"/>
    <p:sldId id="275" r:id="rId31"/>
    <p:sldId id="276" r:id="rId32"/>
    <p:sldId id="277" r:id="rId33"/>
    <p:sldId id="263" r:id="rId34"/>
    <p:sldId id="278" r:id="rId35"/>
    <p:sldId id="279" r:id="rId36"/>
    <p:sldId id="280" r:id="rId37"/>
    <p:sldId id="281" r:id="rId3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8" autoAdjust="0"/>
    <p:restoredTop sz="86559" autoAdjust="0"/>
  </p:normalViewPr>
  <p:slideViewPr>
    <p:cSldViewPr>
      <p:cViewPr varScale="1">
        <p:scale>
          <a:sx n="80" d="100"/>
          <a:sy n="80" d="100"/>
        </p:scale>
        <p:origin x="134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2668745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816323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Welcome Students to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320520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smtClean="0"/>
          </a:p>
          <a:p>
            <a:pPr>
              <a:buFontTx/>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127619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this Unit comprises four elements, as listed on the slide explaining:</a:t>
            </a:r>
          </a:p>
          <a:p>
            <a:endParaRPr lang="en-US" dirty="0" smtClean="0"/>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954437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1</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prepare and display a buffet service </a:t>
            </a:r>
            <a:r>
              <a:rPr lang="en-US" b="0" baseline="0" dirty="0" smtClean="0"/>
              <a:t>the students must be able to; </a:t>
            </a:r>
            <a:r>
              <a:rPr lang="en-US" b="1" baseline="0" dirty="0" smtClean="0"/>
              <a:t>Plan a buffet display and service appropriate to client needs</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i="1" dirty="0" smtClean="0"/>
              <a:t>Plan a buffet display </a:t>
            </a:r>
            <a:r>
              <a:rPr lang="en-AU" sz="1200" dirty="0" smtClean="0"/>
              <a:t>and service appropriate to client needs</a:t>
            </a:r>
          </a:p>
          <a:p>
            <a:pPr lvl="1"/>
            <a:r>
              <a:rPr lang="en-AU" sz="1200" dirty="0" smtClean="0"/>
              <a:t>Plan </a:t>
            </a:r>
            <a:r>
              <a:rPr lang="en-AU" sz="1200" i="1" dirty="0" smtClean="0"/>
              <a:t>layout, </a:t>
            </a:r>
            <a:r>
              <a:rPr lang="en-AU" sz="1200" dirty="0" smtClean="0"/>
              <a:t>display and presentation of the buffet</a:t>
            </a:r>
          </a:p>
          <a:p>
            <a:pPr lvl="1"/>
            <a:r>
              <a:rPr lang="en-AU" sz="1200" dirty="0" smtClean="0"/>
              <a:t>Calculate </a:t>
            </a:r>
            <a:r>
              <a:rPr lang="en-AU" sz="1200" i="1" dirty="0" smtClean="0"/>
              <a:t>quantities</a:t>
            </a:r>
            <a:r>
              <a:rPr lang="en-AU" sz="1200" dirty="0" smtClean="0"/>
              <a:t> required and food costs components of buffet</a:t>
            </a:r>
          </a:p>
          <a:p>
            <a:pPr lvl="1"/>
            <a:r>
              <a:rPr lang="en-AU" sz="1200" dirty="0" smtClean="0"/>
              <a:t>Select appropriate </a:t>
            </a:r>
            <a:r>
              <a:rPr lang="en-AU" sz="1200" i="1" dirty="0" smtClean="0"/>
              <a:t>food items</a:t>
            </a:r>
            <a:endParaRPr lang="en-AU" sz="1200" dirty="0" smtClean="0"/>
          </a:p>
          <a:p>
            <a:pPr lvl="1"/>
            <a:r>
              <a:rPr lang="en-AU" sz="1200" dirty="0" smtClean="0"/>
              <a:t>Identify and prepare a variety of buffet </a:t>
            </a:r>
            <a:r>
              <a:rPr lang="en-AU" sz="1200" i="1" dirty="0" smtClean="0"/>
              <a:t>centre pieces</a:t>
            </a:r>
            <a:endParaRPr lang="en-AU" sz="120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441611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1" dirty="0" smtClean="0"/>
          </a:p>
          <a:p>
            <a:pPr>
              <a:buFontTx/>
              <a:buNone/>
            </a:pPr>
            <a:r>
              <a:rPr lang="en-US" b="1" dirty="0" smtClean="0"/>
              <a:t>What does the client want?</a:t>
            </a:r>
          </a:p>
          <a:p>
            <a:pPr>
              <a:buFontTx/>
              <a:buNone/>
            </a:pPr>
            <a:endParaRPr lang="en-US" b="1" dirty="0" smtClean="0"/>
          </a:p>
          <a:p>
            <a:pPr>
              <a:buFontTx/>
              <a:buNone/>
            </a:pPr>
            <a:r>
              <a:rPr lang="en-US" b="1" dirty="0" smtClean="0"/>
              <a:t>What can you supply? Answer: </a:t>
            </a:r>
            <a:r>
              <a:rPr lang="en-US" b="0" dirty="0" smtClean="0"/>
              <a:t>Your establishment can meet all clients requests</a:t>
            </a:r>
            <a:r>
              <a:rPr lang="en-US" b="1" dirty="0" smtClean="0"/>
              <a:t>. Really?</a:t>
            </a:r>
          </a:p>
          <a:p>
            <a:pPr>
              <a:buFontTx/>
              <a:buNone/>
            </a:pPr>
            <a:endParaRPr lang="en-US" b="1" dirty="0" smtClean="0"/>
          </a:p>
          <a:p>
            <a:pPr>
              <a:buFontTx/>
              <a:buNone/>
            </a:pPr>
            <a:r>
              <a:rPr lang="en-US" b="0" dirty="0" smtClean="0"/>
              <a:t>Do not take on what you cannot manage or learn to manage what ever comes along. Grow the business.</a:t>
            </a:r>
          </a:p>
          <a:p>
            <a:pPr>
              <a:buFontTx/>
              <a:buNone/>
            </a:pPr>
            <a:r>
              <a:rPr lang="en-US" b="0" dirty="0" smtClean="0"/>
              <a:t>Expand the business</a:t>
            </a:r>
          </a:p>
          <a:p>
            <a:pPr>
              <a:buFontTx/>
              <a:buNone/>
            </a:pPr>
            <a:endParaRPr lang="en-US" b="0" dirty="0" smtClean="0"/>
          </a:p>
          <a:p>
            <a:pPr>
              <a:buFontTx/>
              <a:buNone/>
            </a:pPr>
            <a:r>
              <a:rPr lang="en-US" b="0" dirty="0" smtClean="0"/>
              <a:t>Before agreeing</a:t>
            </a:r>
            <a:r>
              <a:rPr lang="en-US" b="0" baseline="0" dirty="0" smtClean="0"/>
              <a:t> to client requests be sure you can deliver or direct them to business that you think can.</a:t>
            </a:r>
          </a:p>
          <a:p>
            <a:pPr>
              <a:buFontTx/>
              <a:buNone/>
            </a:pPr>
            <a:endParaRPr lang="en-US" b="0" baseline="0" dirty="0" smtClean="0"/>
          </a:p>
          <a:p>
            <a:pPr>
              <a:buFontTx/>
              <a:buNone/>
            </a:pPr>
            <a:r>
              <a:rPr lang="en-US" b="0" baseline="0" dirty="0" smtClean="0"/>
              <a:t>By doing this you gain the respect of the client and they may come back to you with something else later on as you are seen as honest in your own abilities and give good customer service</a:t>
            </a:r>
          </a:p>
          <a:p>
            <a:pPr>
              <a:buFontTx/>
              <a:buNone/>
            </a:pPr>
            <a:endParaRPr lang="en-US" b="0" baseline="0" dirty="0" smtClean="0"/>
          </a:p>
          <a:p>
            <a:pPr>
              <a:buFontTx/>
              <a:buNone/>
            </a:pPr>
            <a:r>
              <a:rPr lang="en-US" b="0" baseline="0" dirty="0" smtClean="0"/>
              <a:t>Student Activity:</a:t>
            </a:r>
          </a:p>
          <a:p>
            <a:pPr>
              <a:buFontTx/>
              <a:buNone/>
            </a:pPr>
            <a:r>
              <a:rPr lang="en-US" b="0" baseline="0" dirty="0" smtClean="0"/>
              <a:t>Start developing portfolio of different ideas for theme functions</a:t>
            </a:r>
          </a:p>
          <a:p>
            <a:pPr>
              <a:buFontTx/>
              <a:buNone/>
            </a:pPr>
            <a:r>
              <a:rPr lang="en-US" b="0" baseline="0" dirty="0" smtClean="0"/>
              <a:t>Work with front of house students and develop lists of what will be required to deliver satisfactory function to four different theme buffet</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647628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Where will the function be delivered or held</a:t>
            </a:r>
          </a:p>
          <a:p>
            <a:pPr>
              <a:buFontTx/>
              <a:buNone/>
            </a:pPr>
            <a:endParaRPr lang="en-US" b="0" dirty="0" smtClean="0"/>
          </a:p>
          <a:p>
            <a:pPr>
              <a:buFontTx/>
              <a:buNone/>
            </a:pPr>
            <a:r>
              <a:rPr lang="en-US" b="0" dirty="0" smtClean="0"/>
              <a:t>What facilities are available</a:t>
            </a:r>
          </a:p>
          <a:p>
            <a:pPr>
              <a:buFontTx/>
              <a:buNone/>
            </a:pPr>
            <a:r>
              <a:rPr lang="en-US" b="0" dirty="0" smtClean="0"/>
              <a:t>Inside</a:t>
            </a:r>
          </a:p>
          <a:p>
            <a:pPr>
              <a:buFontTx/>
              <a:buNone/>
            </a:pPr>
            <a:r>
              <a:rPr lang="en-US" b="0" dirty="0" smtClean="0"/>
              <a:t>Outside</a:t>
            </a:r>
          </a:p>
          <a:p>
            <a:pPr>
              <a:buFontTx/>
              <a:buNone/>
            </a:pPr>
            <a:r>
              <a:rPr lang="en-US" b="0" dirty="0" smtClean="0"/>
              <a:t>Offsite </a:t>
            </a:r>
          </a:p>
          <a:p>
            <a:pPr>
              <a:buFontTx/>
              <a:buNone/>
            </a:pPr>
            <a:endParaRPr lang="en-US" b="0" dirty="0" smtClean="0"/>
          </a:p>
          <a:p>
            <a:pPr>
              <a:buFontTx/>
              <a:buNone/>
            </a:pPr>
            <a:r>
              <a:rPr lang="en-US" b="0" dirty="0" smtClean="0"/>
              <a:t>Many things need to be considered when deciding to do the buffet.</a:t>
            </a:r>
          </a:p>
          <a:p>
            <a:pPr>
              <a:buFontTx/>
              <a:buNone/>
            </a:pPr>
            <a:endParaRPr lang="en-US" b="0" dirty="0" smtClean="0"/>
          </a:p>
          <a:p>
            <a:pPr>
              <a:buFontTx/>
              <a:buNone/>
            </a:pPr>
            <a:r>
              <a:rPr lang="en-US" b="0" dirty="0" smtClean="0"/>
              <a:t>Skill of the staff can be considered to be competent</a:t>
            </a:r>
            <a:r>
              <a:rPr lang="en-US" b="0" baseline="0" dirty="0" smtClean="0"/>
              <a:t> if the items are placed onto the menus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02368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Food cost is related to the requirement of the customer</a:t>
            </a:r>
          </a:p>
          <a:p>
            <a:pPr>
              <a:buFontTx/>
              <a:buNone/>
            </a:pPr>
            <a:endParaRPr lang="en-US" b="0" dirty="0" smtClean="0"/>
          </a:p>
          <a:p>
            <a:pPr>
              <a:buFontTx/>
              <a:buNone/>
            </a:pPr>
            <a:r>
              <a:rPr lang="en-US" b="0" dirty="0" smtClean="0"/>
              <a:t>If they require top quality seafood and the finest most tender meat then the cost will be high.</a:t>
            </a:r>
          </a:p>
          <a:p>
            <a:pPr>
              <a:buFontTx/>
              <a:buNone/>
            </a:pPr>
            <a:endParaRPr lang="en-US" b="0" dirty="0" smtClean="0"/>
          </a:p>
          <a:p>
            <a:pPr>
              <a:buFontTx/>
              <a:buNone/>
            </a:pPr>
            <a:r>
              <a:rPr lang="en-US" b="0" dirty="0" smtClean="0"/>
              <a:t>How many people will be attending?</a:t>
            </a:r>
          </a:p>
          <a:p>
            <a:pPr>
              <a:buFontTx/>
              <a:buNone/>
            </a:pPr>
            <a:r>
              <a:rPr lang="en-US" b="0" dirty="0" smtClean="0"/>
              <a:t>The more people then this allows for some better quality foods to be offered as the number</a:t>
            </a:r>
            <a:r>
              <a:rPr lang="en-US" b="0" baseline="0" dirty="0" smtClean="0"/>
              <a:t> served off-sets the work required.</a:t>
            </a:r>
          </a:p>
          <a:p>
            <a:pPr>
              <a:buFontTx/>
              <a:buNone/>
            </a:pPr>
            <a:r>
              <a:rPr lang="en-US" b="0" baseline="0" dirty="0" smtClean="0"/>
              <a:t>It is difficult to serve food that takes a lot of preparation time and cooking time in small numbers</a:t>
            </a:r>
          </a:p>
          <a:p>
            <a:pPr>
              <a:buFontTx/>
              <a:buNone/>
            </a:pPr>
            <a:endParaRPr lang="en-US" b="0" baseline="0" dirty="0" smtClean="0"/>
          </a:p>
          <a:p>
            <a:pPr>
              <a:buFontTx/>
              <a:buNone/>
            </a:pPr>
            <a:r>
              <a:rPr lang="en-US" b="0" baseline="0" dirty="0" smtClean="0"/>
              <a:t>It takes the same time to produce 12 chocolate cakes as it does to produce 1, relatively.</a:t>
            </a:r>
          </a:p>
          <a:p>
            <a:pPr>
              <a:buFontTx/>
              <a:buNone/>
            </a:pPr>
            <a:endParaRPr lang="en-US" b="0" baseline="0" dirty="0" smtClean="0"/>
          </a:p>
          <a:p>
            <a:pPr>
              <a:buFontTx/>
              <a:buNone/>
            </a:pPr>
            <a:r>
              <a:rPr lang="en-US" b="0" baseline="0" dirty="0" smtClean="0"/>
              <a:t>Also portion size for buffet is smaller and larger numbers can be served from standard recipes</a:t>
            </a:r>
            <a:endParaRPr lang="en-US" b="0" dirty="0" smtClean="0"/>
          </a:p>
          <a:p>
            <a:pPr>
              <a:buFontTx/>
              <a:buNone/>
            </a:pPr>
            <a:endParaRPr lang="en-US" b="0" dirty="0" smtClean="0"/>
          </a:p>
          <a:p>
            <a:pPr>
              <a:buFontTx/>
              <a:buNone/>
            </a:pPr>
            <a:endParaRPr lang="en-AU" sz="14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517102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1" dirty="0" smtClean="0"/>
          </a:p>
          <a:p>
            <a:pPr>
              <a:buFontTx/>
              <a:buNone/>
            </a:pPr>
            <a:r>
              <a:rPr lang="en-US" b="0" dirty="0" smtClean="0"/>
              <a:t>The different pricing of the menus will be related to the price per head that the customer is prepared to pay.</a:t>
            </a:r>
          </a:p>
          <a:p>
            <a:pPr>
              <a:buFontTx/>
              <a:buNone/>
            </a:pPr>
            <a:endParaRPr lang="en-US" b="0" dirty="0" smtClean="0"/>
          </a:p>
          <a:p>
            <a:pPr>
              <a:buFontTx/>
              <a:buNone/>
            </a:pPr>
            <a:r>
              <a:rPr lang="en-US" b="0" dirty="0" smtClean="0"/>
              <a:t>The</a:t>
            </a:r>
            <a:r>
              <a:rPr lang="en-US" b="0" baseline="0" dirty="0" smtClean="0"/>
              <a:t> food cost can be separate to the venue cost.</a:t>
            </a:r>
          </a:p>
          <a:p>
            <a:pPr>
              <a:buFontTx/>
              <a:buNone/>
            </a:pPr>
            <a:endParaRPr lang="en-US" b="0" baseline="0" dirty="0" smtClean="0"/>
          </a:p>
          <a:p>
            <a:pPr>
              <a:buFontTx/>
              <a:buNone/>
            </a:pPr>
            <a:r>
              <a:rPr lang="en-US" b="0" baseline="0" dirty="0" smtClean="0"/>
              <a:t>Venue management should have all this in their package that is presented to the client</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150829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Food will have to be different for each of the groups</a:t>
            </a:r>
          </a:p>
          <a:p>
            <a:pPr>
              <a:buFontTx/>
              <a:buNone/>
            </a:pPr>
            <a:endParaRPr lang="en-US" b="0" dirty="0" smtClean="0"/>
          </a:p>
          <a:p>
            <a:pPr>
              <a:buFontTx/>
              <a:buNone/>
            </a:pPr>
            <a:r>
              <a:rPr lang="en-US" b="0" dirty="0" smtClean="0"/>
              <a:t>Children’s food will be different to teenagers food</a:t>
            </a:r>
          </a:p>
          <a:p>
            <a:pPr>
              <a:buFontTx/>
              <a:buNone/>
            </a:pPr>
            <a:endParaRPr lang="en-US" b="0" dirty="0" smtClean="0"/>
          </a:p>
          <a:p>
            <a:pPr>
              <a:buFontTx/>
              <a:buNone/>
            </a:pPr>
            <a:r>
              <a:rPr lang="en-US" b="0" dirty="0" smtClean="0"/>
              <a:t>Teenager food will be more sophisticated than children’s food but more casual than business function or buffet</a:t>
            </a:r>
          </a:p>
          <a:p>
            <a:pPr>
              <a:buFontTx/>
              <a:buNone/>
            </a:pPr>
            <a:endParaRPr lang="en-US" b="0" dirty="0" smtClean="0"/>
          </a:p>
          <a:p>
            <a:pPr>
              <a:buFontTx/>
              <a:buNone/>
            </a:pPr>
            <a:endParaRPr lang="en-US" b="0" dirty="0" smtClean="0"/>
          </a:p>
          <a:p>
            <a:pPr>
              <a:buFontTx/>
              <a:buNone/>
            </a:pPr>
            <a:r>
              <a:rPr lang="en-US" b="0" dirty="0" smtClean="0"/>
              <a:t>Wedding or wedding anniversary food will be slightly different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862324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Special consideration might be made for Special Dietary requirements</a:t>
            </a:r>
          </a:p>
          <a:p>
            <a:pPr>
              <a:buFontTx/>
              <a:buNone/>
            </a:pPr>
            <a:endParaRPr lang="en-US" b="0" dirty="0" smtClean="0"/>
          </a:p>
          <a:p>
            <a:pPr>
              <a:buFontTx/>
              <a:buNone/>
            </a:pPr>
            <a:r>
              <a:rPr lang="en-US" b="0" dirty="0" smtClean="0"/>
              <a:t>If it is a religious festival and no meat is eaten by followers of this religion then meat dishes will be off the menu</a:t>
            </a:r>
          </a:p>
          <a:p>
            <a:pPr>
              <a:buFontTx/>
              <a:buNone/>
            </a:pPr>
            <a:endParaRPr lang="en-US" b="0" dirty="0" smtClean="0"/>
          </a:p>
          <a:p>
            <a:pPr>
              <a:buFontTx/>
              <a:buNone/>
            </a:pPr>
            <a:r>
              <a:rPr lang="en-US" b="0" dirty="0" smtClean="0"/>
              <a:t>Even for people who may not particularly follow the specific religious</a:t>
            </a:r>
            <a:r>
              <a:rPr lang="en-US" b="0" baseline="0" dirty="0" smtClean="0"/>
              <a:t> lifestyles it would be bad manners not to respect beliefs and practice that guide that religious lifestyle</a:t>
            </a:r>
          </a:p>
          <a:p>
            <a:pPr>
              <a:buFontTx/>
              <a:buNone/>
            </a:pPr>
            <a:endParaRPr lang="en-US" b="0" baseline="0" dirty="0" smtClean="0"/>
          </a:p>
          <a:p>
            <a:pPr>
              <a:buFontTx/>
              <a:buNone/>
            </a:pPr>
            <a:r>
              <a:rPr lang="en-US" b="1" baseline="0" dirty="0" smtClean="0"/>
              <a:t>Medical dietary limitation</a:t>
            </a:r>
          </a:p>
          <a:p>
            <a:pPr>
              <a:buFontTx/>
              <a:buNone/>
            </a:pPr>
            <a:endParaRPr lang="en-US" b="0" baseline="0" dirty="0" smtClean="0"/>
          </a:p>
          <a:p>
            <a:pPr>
              <a:buFontTx/>
              <a:buNone/>
            </a:pPr>
            <a:r>
              <a:rPr lang="en-US" b="0" baseline="0" dirty="0" smtClean="0"/>
              <a:t>Australian Food laws have changed significantly in the last ten years.</a:t>
            </a:r>
          </a:p>
          <a:p>
            <a:pPr>
              <a:buFontTx/>
              <a:buNone/>
            </a:pPr>
            <a:r>
              <a:rPr lang="en-US" b="0" baseline="0" dirty="0" smtClean="0"/>
              <a:t>Food allergens are now required to be listed on labels and menus</a:t>
            </a:r>
          </a:p>
          <a:p>
            <a:pPr>
              <a:buFontTx/>
              <a:buNone/>
            </a:pPr>
            <a:endParaRPr lang="en-US" b="0" baseline="0" dirty="0" smtClean="0"/>
          </a:p>
          <a:p>
            <a:pPr>
              <a:buFontTx/>
              <a:buNone/>
            </a:pPr>
            <a:r>
              <a:rPr lang="en-US" b="0" baseline="0" dirty="0" smtClean="0"/>
              <a:t>Keeping the customer informed makes it easier for them to make an informed choice rather than asking all the relevant questions they may need to ask when ordering food from restaurants.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059047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There may be a major theme for the buffet</a:t>
            </a:r>
          </a:p>
          <a:p>
            <a:pPr>
              <a:buFontTx/>
              <a:buNone/>
            </a:pPr>
            <a:endParaRPr lang="en-US" b="0" dirty="0" smtClean="0"/>
          </a:p>
          <a:p>
            <a:pPr>
              <a:buFontTx/>
              <a:buNone/>
            </a:pPr>
            <a:r>
              <a:rPr lang="en-US" b="0" dirty="0" smtClean="0"/>
              <a:t>How many different mediums can be utilised in the buffet display</a:t>
            </a:r>
          </a:p>
          <a:p>
            <a:pPr>
              <a:buFontTx/>
              <a:buNone/>
            </a:pPr>
            <a:endParaRPr lang="en-US" b="0" dirty="0" smtClean="0"/>
          </a:p>
          <a:p>
            <a:pPr>
              <a:buFontTx/>
              <a:buNone/>
            </a:pPr>
            <a:r>
              <a:rPr lang="en-US" b="0" dirty="0" smtClean="0"/>
              <a:t>Chocolate</a:t>
            </a:r>
            <a:r>
              <a:rPr lang="en-US" b="0" baseline="0" dirty="0" smtClean="0"/>
              <a:t>  can be used on the entremets and pastry table</a:t>
            </a:r>
          </a:p>
          <a:p>
            <a:pPr>
              <a:buFontTx/>
              <a:buNone/>
            </a:pPr>
            <a:endParaRPr lang="en-US" b="0" baseline="0" dirty="0" smtClean="0"/>
          </a:p>
          <a:p>
            <a:pPr>
              <a:buFontTx/>
              <a:buNone/>
            </a:pPr>
            <a:r>
              <a:rPr lang="en-US" b="0" baseline="0" dirty="0" smtClean="0"/>
              <a:t>Sugar can be used for the major theme display </a:t>
            </a:r>
          </a:p>
          <a:p>
            <a:pPr>
              <a:buFontTx/>
              <a:buNone/>
            </a:pPr>
            <a:r>
              <a:rPr lang="en-US" b="0" baseline="0" dirty="0" smtClean="0"/>
              <a:t>Table decorations that are sturdy and strong can use sugar; remember, they will pick at it and it will break if too fine.</a:t>
            </a:r>
          </a:p>
          <a:p>
            <a:pPr>
              <a:buFontTx/>
              <a:buNone/>
            </a:pPr>
            <a:endParaRPr lang="en-US" b="0" baseline="0" dirty="0" smtClean="0"/>
          </a:p>
          <a:p>
            <a:pPr>
              <a:buFontTx/>
              <a:buNone/>
            </a:pPr>
            <a:r>
              <a:rPr lang="en-US" b="0" baseline="0" dirty="0" smtClean="0"/>
              <a:t>Ice can be utilised for the seafood display; be sure to have drainage for melting ice</a:t>
            </a:r>
          </a:p>
          <a:p>
            <a:pPr>
              <a:buFontTx/>
              <a:buNone/>
            </a:pPr>
            <a:endParaRPr lang="en-US" b="0" baseline="0" dirty="0" smtClean="0"/>
          </a:p>
          <a:p>
            <a:pPr>
              <a:buFontTx/>
              <a:buNone/>
            </a:pPr>
            <a:r>
              <a:rPr lang="en-US" b="0" baseline="0" dirty="0" smtClean="0"/>
              <a:t>Flowers in season or imported if the client wishes to meet extra cost can be used all over</a:t>
            </a:r>
          </a:p>
          <a:p>
            <a:pPr>
              <a:buFontTx/>
              <a:buNone/>
            </a:pPr>
            <a:endParaRPr lang="en-US" b="0" baseline="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394709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discuss questions in the slide.</a:t>
            </a:r>
          </a:p>
          <a:p>
            <a:endParaRPr lang="en-US" b="1" dirty="0" smtClean="0"/>
          </a:p>
          <a:p>
            <a:pPr>
              <a:buFontTx/>
              <a:buNone/>
            </a:pPr>
            <a:endParaRPr lang="en-US" b="0" dirty="0" smtClean="0"/>
          </a:p>
          <a:p>
            <a:pPr>
              <a:buFontTx/>
              <a:buNone/>
            </a:pPr>
            <a:endParaRPr lang="en-US" b="0" baseline="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60483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How can they ensure what they are setting up is correct?</a:t>
            </a:r>
          </a:p>
          <a:p>
            <a:pPr>
              <a:buFontTx/>
              <a:buNone/>
            </a:pPr>
            <a:endParaRPr lang="en-US" b="0" baseline="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484071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2</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prepare and display a buffet service </a:t>
            </a:r>
            <a:r>
              <a:rPr lang="en-US" b="0" baseline="0" dirty="0" smtClean="0"/>
              <a:t>the students must be able to; </a:t>
            </a:r>
            <a:r>
              <a:rPr lang="en-US" b="1" baseline="0" dirty="0" smtClean="0"/>
              <a:t>Prepare and produce buffet dishes</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kern="1200" dirty="0" smtClean="0">
                <a:solidFill>
                  <a:schemeClr val="tx1"/>
                </a:solidFill>
                <a:effectLst/>
                <a:latin typeface="+mn-lt"/>
                <a:ea typeface="+mn-ea"/>
                <a:cs typeface="+mn-cs"/>
              </a:rPr>
              <a:t>Select appropriate preparation and </a:t>
            </a:r>
            <a:r>
              <a:rPr lang="en-AU" sz="1200" i="1" kern="1200" dirty="0" smtClean="0">
                <a:solidFill>
                  <a:schemeClr val="tx1"/>
                </a:solidFill>
                <a:effectLst/>
                <a:latin typeface="+mn-lt"/>
                <a:ea typeface="+mn-ea"/>
                <a:cs typeface="+mn-cs"/>
              </a:rPr>
              <a:t>cooking methods</a:t>
            </a:r>
            <a:r>
              <a:rPr lang="en-AU" sz="1200" kern="1200" dirty="0" smtClean="0">
                <a:solidFill>
                  <a:schemeClr val="tx1"/>
                </a:solidFill>
                <a:effectLst/>
                <a:latin typeface="+mn-lt"/>
                <a:ea typeface="+mn-ea"/>
                <a:cs typeface="+mn-cs"/>
              </a:rPr>
              <a:t> for dishes on buffet menu</a:t>
            </a:r>
          </a:p>
          <a:p>
            <a:pPr lvl="1"/>
            <a:r>
              <a:rPr lang="en-AU" sz="1200" i="1" kern="1200" dirty="0" smtClean="0">
                <a:solidFill>
                  <a:schemeClr val="tx1"/>
                </a:solidFill>
                <a:effectLst/>
                <a:latin typeface="+mn-lt"/>
                <a:ea typeface="+mn-ea"/>
                <a:cs typeface="+mn-cs"/>
              </a:rPr>
              <a:t>Glaze</a:t>
            </a:r>
            <a:r>
              <a:rPr lang="en-AU" sz="1200" kern="1200" dirty="0" smtClean="0">
                <a:solidFill>
                  <a:schemeClr val="tx1"/>
                </a:solidFill>
                <a:effectLst/>
                <a:latin typeface="+mn-lt"/>
                <a:ea typeface="+mn-ea"/>
                <a:cs typeface="+mn-cs"/>
              </a:rPr>
              <a:t> buffet foods were appropriate</a:t>
            </a:r>
          </a:p>
          <a:p>
            <a:pPr lvl="1"/>
            <a:r>
              <a:rPr lang="en-AU" sz="1100" i="1" kern="1200" dirty="0" smtClean="0">
                <a:solidFill>
                  <a:schemeClr val="tx1"/>
                </a:solidFill>
                <a:effectLst/>
                <a:latin typeface="+mn-lt"/>
                <a:ea typeface="+mn-ea"/>
                <a:cs typeface="+mn-cs"/>
              </a:rPr>
              <a:t>Hold</a:t>
            </a:r>
            <a:r>
              <a:rPr lang="en-AU" sz="1100" kern="1200" dirty="0" smtClean="0">
                <a:solidFill>
                  <a:schemeClr val="tx1"/>
                </a:solidFill>
                <a:effectLst/>
                <a:latin typeface="+mn-lt"/>
                <a:ea typeface="+mn-ea"/>
                <a:cs typeface="+mn-cs"/>
              </a:rPr>
              <a:t> prepared products as required prior to presenting</a:t>
            </a:r>
            <a:r>
              <a:rPr lang="en-AU" dirty="0" smtClean="0">
                <a:effectLst/>
              </a:rPr>
              <a:t> </a:t>
            </a:r>
          </a:p>
          <a:p>
            <a:pPr lvl="1"/>
            <a:r>
              <a:rPr lang="en-AU" sz="1200" kern="1200" dirty="0" smtClean="0">
                <a:solidFill>
                  <a:schemeClr val="tx1"/>
                </a:solidFill>
                <a:effectLst/>
                <a:latin typeface="+mn-lt"/>
                <a:ea typeface="+mn-ea"/>
                <a:cs typeface="+mn-cs"/>
              </a:rPr>
              <a:t>Prepare </a:t>
            </a:r>
            <a:r>
              <a:rPr lang="en-AU" sz="1200" i="1" kern="1200" dirty="0" smtClean="0">
                <a:solidFill>
                  <a:schemeClr val="tx1"/>
                </a:solidFill>
                <a:effectLst/>
                <a:latin typeface="+mn-lt"/>
                <a:ea typeface="+mn-ea"/>
                <a:cs typeface="+mn-cs"/>
              </a:rPr>
              <a:t>garnishes, sauces and accompaniments</a:t>
            </a:r>
            <a:r>
              <a:rPr lang="en-AU" sz="1200" kern="1200" dirty="0" smtClean="0">
                <a:solidFill>
                  <a:schemeClr val="tx1"/>
                </a:solidFill>
                <a:effectLst/>
                <a:latin typeface="+mn-lt"/>
                <a:ea typeface="+mn-ea"/>
                <a:cs typeface="+mn-cs"/>
              </a:rPr>
              <a:t> for appropriate buffet dishes </a:t>
            </a:r>
          </a:p>
          <a:p>
            <a:pPr lvl="1"/>
            <a:r>
              <a:rPr lang="en-AU" sz="1200" kern="1200" dirty="0" smtClean="0">
                <a:solidFill>
                  <a:schemeClr val="tx1"/>
                </a:solidFill>
                <a:effectLst/>
                <a:latin typeface="+mn-lt"/>
                <a:ea typeface="+mn-ea"/>
                <a:cs typeface="+mn-cs"/>
              </a:rPr>
              <a:t>Use </a:t>
            </a:r>
            <a:r>
              <a:rPr lang="en-AU" sz="1200" i="1" kern="1200" dirty="0" smtClean="0">
                <a:solidFill>
                  <a:schemeClr val="tx1"/>
                </a:solidFill>
                <a:effectLst/>
                <a:latin typeface="+mn-lt"/>
                <a:ea typeface="+mn-ea"/>
                <a:cs typeface="+mn-cs"/>
              </a:rPr>
              <a:t>trimming</a:t>
            </a:r>
            <a:r>
              <a:rPr lang="en-AU" sz="1200" kern="1200" dirty="0" smtClean="0">
                <a:solidFill>
                  <a:schemeClr val="tx1"/>
                </a:solidFill>
                <a:effectLst/>
                <a:latin typeface="+mn-lt"/>
                <a:ea typeface="+mn-ea"/>
                <a:cs typeface="+mn-cs"/>
              </a:rPr>
              <a:t> and leftovers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895864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 Buffet will have many methods of cooking when using a wide range dishes</a:t>
            </a:r>
          </a:p>
          <a:p>
            <a:pPr>
              <a:buFontTx/>
              <a:buNone/>
            </a:pPr>
            <a:endParaRPr lang="en-US" b="0" dirty="0" smtClean="0"/>
          </a:p>
          <a:p>
            <a:pPr>
              <a:buFontTx/>
              <a:buNone/>
            </a:pPr>
            <a:r>
              <a:rPr lang="en-US" b="0" dirty="0" smtClean="0"/>
              <a:t>What can be prepared before the buffet</a:t>
            </a:r>
            <a:r>
              <a:rPr lang="en-US" b="0" baseline="0" dirty="0" smtClean="0"/>
              <a:t> 85%</a:t>
            </a:r>
          </a:p>
          <a:p>
            <a:pPr>
              <a:buFontTx/>
              <a:buNone/>
            </a:pPr>
            <a:endParaRPr lang="en-US" b="0" baseline="0" dirty="0" smtClean="0"/>
          </a:p>
          <a:p>
            <a:pPr>
              <a:buFontTx/>
              <a:buNone/>
            </a:pPr>
            <a:r>
              <a:rPr lang="en-US" b="0" baseline="0" dirty="0" smtClean="0"/>
              <a:t>What will be cooked on the day of the buffet 10%</a:t>
            </a:r>
          </a:p>
          <a:p>
            <a:pPr>
              <a:buFontTx/>
              <a:buNone/>
            </a:pPr>
            <a:endParaRPr lang="en-US" b="0" baseline="0" dirty="0" smtClean="0"/>
          </a:p>
          <a:p>
            <a:pPr>
              <a:buFontTx/>
              <a:buNone/>
            </a:pPr>
            <a:r>
              <a:rPr lang="en-US" b="0" baseline="0" dirty="0" smtClean="0"/>
              <a:t>What will be cooked to order during the buffet to order 5%</a:t>
            </a:r>
          </a:p>
          <a:p>
            <a:pPr>
              <a:buFontTx/>
              <a:buNone/>
            </a:pPr>
            <a:endParaRPr lang="en-US" b="0" baseline="0" dirty="0" smtClean="0"/>
          </a:p>
          <a:p>
            <a:pPr>
              <a:buFontTx/>
              <a:buNone/>
            </a:pPr>
            <a:endParaRPr lang="en-US" b="0" baseline="0" dirty="0" smtClean="0"/>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620388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Glazing of buffet food has two roles</a:t>
            </a:r>
          </a:p>
          <a:p>
            <a:pPr marL="228600" indent="-228600">
              <a:buFontTx/>
              <a:buAutoNum type="arabicPeriod"/>
            </a:pPr>
            <a:r>
              <a:rPr lang="en-US" b="0" dirty="0" smtClean="0"/>
              <a:t>To add eye appeal to the food</a:t>
            </a:r>
          </a:p>
          <a:p>
            <a:pPr marL="228600" indent="-228600">
              <a:buFontTx/>
              <a:buAutoNum type="arabicPeriod"/>
            </a:pPr>
            <a:r>
              <a:rPr lang="en-US" b="0" dirty="0" smtClean="0"/>
              <a:t>To protect the food from drying and looking ‘OLD’</a:t>
            </a:r>
          </a:p>
          <a:p>
            <a:pPr marL="228600" indent="-228600">
              <a:buFontTx/>
              <a:buNone/>
            </a:pPr>
            <a:endParaRPr lang="en-US" b="0" dirty="0" smtClean="0"/>
          </a:p>
          <a:p>
            <a:pPr marL="228600" indent="-228600">
              <a:buFontTx/>
              <a:buNone/>
            </a:pPr>
            <a:r>
              <a:rPr lang="en-US" b="1" dirty="0" smtClean="0"/>
              <a:t>Decorate</a:t>
            </a:r>
            <a:r>
              <a:rPr lang="en-US" b="1" baseline="0" dirty="0" smtClean="0"/>
              <a:t> a whole fish</a:t>
            </a:r>
          </a:p>
          <a:p>
            <a:pPr marL="228600" indent="-228600">
              <a:buFontTx/>
              <a:buNone/>
            </a:pPr>
            <a:r>
              <a:rPr lang="en-US" b="0" baseline="0" dirty="0" smtClean="0"/>
              <a:t>The fish is cooked and going to be served whole</a:t>
            </a:r>
          </a:p>
          <a:p>
            <a:pPr marL="228600" indent="-228600">
              <a:buFontTx/>
              <a:buNone/>
            </a:pPr>
            <a:r>
              <a:rPr lang="en-US" b="0" baseline="0" dirty="0" smtClean="0"/>
              <a:t>The colour can look dreary,  grey and dull as they skin dries</a:t>
            </a:r>
          </a:p>
          <a:p>
            <a:pPr marL="228600" indent="-228600">
              <a:buFontTx/>
              <a:buNone/>
            </a:pPr>
            <a:endParaRPr lang="en-US" b="0" baseline="0" dirty="0" smtClean="0"/>
          </a:p>
          <a:p>
            <a:pPr marL="228600" indent="-228600">
              <a:buFontTx/>
              <a:buNone/>
            </a:pPr>
            <a:r>
              <a:rPr lang="en-US" b="0" baseline="0" dirty="0" smtClean="0"/>
              <a:t>It can be covered with clear ASPIC but the colour is still grey</a:t>
            </a:r>
          </a:p>
          <a:p>
            <a:pPr marL="228600" indent="-228600">
              <a:buFontTx/>
              <a:buNone/>
            </a:pPr>
            <a:r>
              <a:rPr lang="en-US" b="0" baseline="0" dirty="0" smtClean="0"/>
              <a:t>Chaud froid is a aspic and veloute mixture that is applied to outside of cooked cold food</a:t>
            </a:r>
          </a:p>
          <a:p>
            <a:pPr marL="228600" indent="-228600">
              <a:buFontTx/>
              <a:buNone/>
            </a:pPr>
            <a:r>
              <a:rPr lang="en-US" b="0" baseline="0" dirty="0" smtClean="0"/>
              <a:t>When it has set it leaves a blank canvas to be decorated</a:t>
            </a:r>
          </a:p>
          <a:p>
            <a:pPr marL="228600" indent="-228600">
              <a:buFontTx/>
              <a:buNone/>
            </a:pPr>
            <a:endParaRPr lang="en-US" b="0" baseline="0" dirty="0" smtClean="0"/>
          </a:p>
          <a:p>
            <a:pPr marL="228600" indent="-228600">
              <a:buFontTx/>
              <a:buNone/>
            </a:pPr>
            <a:r>
              <a:rPr lang="en-US" b="0" baseline="0" dirty="0" smtClean="0"/>
              <a:t>Decoration must be edible</a:t>
            </a:r>
          </a:p>
          <a:p>
            <a:pPr marL="228600" indent="-228600">
              <a:buFontTx/>
              <a:buNone/>
            </a:pPr>
            <a:r>
              <a:rPr lang="en-US" b="0" baseline="0" dirty="0" smtClean="0"/>
              <a:t>Coloured vegetable portions or coloured jelly cut into different shape with aspic cutters</a:t>
            </a:r>
          </a:p>
          <a:p>
            <a:pPr marL="228600" indent="-228600">
              <a:buFontTx/>
              <a:buNone/>
            </a:pPr>
            <a:endParaRPr lang="en-US" b="0" baseline="0" dirty="0" smtClean="0"/>
          </a:p>
          <a:p>
            <a:pPr marL="228600" indent="-228600">
              <a:buFontTx/>
              <a:buNone/>
            </a:pPr>
            <a:r>
              <a:rPr lang="en-US" b="1" baseline="0" dirty="0" smtClean="0"/>
              <a:t>Clear aspic jelly</a:t>
            </a:r>
          </a:p>
          <a:p>
            <a:pPr marL="228600" indent="-228600">
              <a:buFontTx/>
              <a:buNone/>
            </a:pPr>
            <a:r>
              <a:rPr lang="en-US" b="0" baseline="0" dirty="0" smtClean="0"/>
              <a:t>Is normally applied to food that needs to be protected from drying but still able to show attributes of food underneath</a:t>
            </a:r>
          </a:p>
          <a:p>
            <a:pPr marL="228600" indent="-228600">
              <a:buFontTx/>
              <a:buNone/>
            </a:pPr>
            <a:r>
              <a:rPr lang="en-US" b="0" baseline="0" dirty="0" smtClean="0"/>
              <a:t>Slices of terrine or Galantine showing many layers but still protecting the food from drying</a:t>
            </a:r>
          </a:p>
          <a:p>
            <a:pPr marL="228600" indent="-228600">
              <a:buFontTx/>
              <a:buNone/>
            </a:pPr>
            <a:endParaRPr lang="en-US" b="0" baseline="0" dirty="0" smtClean="0"/>
          </a:p>
          <a:p>
            <a:pPr marL="228600" indent="-228600">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410721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Preparing buffet foods normally requires advanced planning and preparation.</a:t>
            </a:r>
          </a:p>
          <a:p>
            <a:pPr>
              <a:buFontTx/>
              <a:buNone/>
            </a:pPr>
            <a:endParaRPr lang="en-US" b="0" dirty="0" smtClean="0"/>
          </a:p>
          <a:p>
            <a:pPr>
              <a:buFontTx/>
              <a:buNone/>
            </a:pPr>
            <a:r>
              <a:rPr lang="en-US" b="0" dirty="0" smtClean="0"/>
              <a:t>Foods can be cooked that are going to be served cold. Then have to be portioned or sliced.</a:t>
            </a:r>
          </a:p>
          <a:p>
            <a:pPr>
              <a:buFontTx/>
              <a:buNone/>
            </a:pPr>
            <a:r>
              <a:rPr lang="en-US" b="0" dirty="0" smtClean="0"/>
              <a:t>These</a:t>
            </a:r>
            <a:r>
              <a:rPr lang="en-US" b="0" baseline="0" dirty="0" smtClean="0"/>
              <a:t> then have to be stored until required, normally overnight.</a:t>
            </a:r>
          </a:p>
          <a:p>
            <a:pPr>
              <a:buFontTx/>
              <a:buNone/>
            </a:pPr>
            <a:endParaRPr lang="en-US" b="0" baseline="0" dirty="0" smtClean="0"/>
          </a:p>
          <a:p>
            <a:pPr>
              <a:buFontTx/>
              <a:buNone/>
            </a:pPr>
            <a:r>
              <a:rPr lang="en-US" b="0" baseline="0" dirty="0" smtClean="0"/>
              <a:t>These have to be kept chilled</a:t>
            </a:r>
          </a:p>
          <a:p>
            <a:pPr>
              <a:buFontTx/>
              <a:buNone/>
            </a:pPr>
            <a:r>
              <a:rPr lang="en-US" b="0" baseline="0" dirty="0" smtClean="0"/>
              <a:t>When food is prepared for specific buffet it all needs to be placed in separated space else it gets used by somebody else for their customers.</a:t>
            </a:r>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78538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Garnishes needs to be prepared for most dishes. </a:t>
            </a:r>
          </a:p>
          <a:p>
            <a:pPr>
              <a:buFontTx/>
              <a:buNone/>
            </a:pPr>
            <a:endParaRPr lang="en-US" b="0" dirty="0" smtClean="0"/>
          </a:p>
          <a:p>
            <a:pPr>
              <a:buFontTx/>
              <a:buNone/>
            </a:pPr>
            <a:r>
              <a:rPr lang="en-US" b="0" dirty="0" smtClean="0"/>
              <a:t>The object is to add colour</a:t>
            </a:r>
            <a:r>
              <a:rPr lang="en-US" b="0" baseline="0" dirty="0" smtClean="0"/>
              <a:t> and interest to the food display</a:t>
            </a:r>
          </a:p>
          <a:p>
            <a:pPr>
              <a:buFontTx/>
              <a:buNone/>
            </a:pPr>
            <a:r>
              <a:rPr lang="en-US" b="0" baseline="0" dirty="0" smtClean="0"/>
              <a:t>Buffet production requires a large variety of garnishes; </a:t>
            </a:r>
          </a:p>
          <a:p>
            <a:pPr>
              <a:buFont typeface="Arial" pitchFamily="34" charset="0"/>
              <a:buChar char="•"/>
            </a:pPr>
            <a:r>
              <a:rPr lang="en-US" b="0" baseline="0" dirty="0" smtClean="0"/>
              <a:t>you cannot have chopped herb on everything else it all looks the same</a:t>
            </a:r>
          </a:p>
          <a:p>
            <a:pPr>
              <a:buFontTx/>
              <a:buNone/>
            </a:pPr>
            <a:endParaRPr lang="en-US" b="0" baseline="0" dirty="0" smtClean="0"/>
          </a:p>
          <a:p>
            <a:pPr>
              <a:buFont typeface="Arial" pitchFamily="34" charset="0"/>
              <a:buChar char="•"/>
            </a:pPr>
            <a:r>
              <a:rPr lang="en-US" b="0" dirty="0" smtClean="0"/>
              <a:t>Herbs</a:t>
            </a:r>
          </a:p>
          <a:p>
            <a:pPr>
              <a:buFont typeface="Arial" pitchFamily="34" charset="0"/>
              <a:buChar char="•"/>
            </a:pPr>
            <a:r>
              <a:rPr lang="en-US" b="0" dirty="0" smtClean="0"/>
              <a:t>Julienne of coloured vegetables</a:t>
            </a:r>
          </a:p>
          <a:p>
            <a:pPr>
              <a:buFont typeface="Arial" pitchFamily="34" charset="0"/>
              <a:buChar char="•"/>
            </a:pPr>
            <a:r>
              <a:rPr lang="en-US" b="0" dirty="0" smtClean="0"/>
              <a:t>Shaved  hard cheese like parmesan</a:t>
            </a:r>
          </a:p>
          <a:p>
            <a:pPr>
              <a:buFont typeface="Arial" pitchFamily="34" charset="0"/>
              <a:buChar char="•"/>
            </a:pPr>
            <a:r>
              <a:rPr lang="en-US" b="0" dirty="0" smtClean="0"/>
              <a:t>Pickled vegetables like olives</a:t>
            </a:r>
          </a:p>
          <a:p>
            <a:pPr>
              <a:buFont typeface="Arial" pitchFamily="34" charset="0"/>
              <a:buChar char="•"/>
            </a:pPr>
            <a:r>
              <a:rPr lang="en-US" b="0" dirty="0" smtClean="0"/>
              <a:t>Deep fried onion or leeks</a:t>
            </a:r>
          </a:p>
          <a:p>
            <a:pPr>
              <a:buFont typeface="Arial" pitchFamily="34" charset="0"/>
              <a:buChar char="•"/>
            </a:pPr>
            <a:r>
              <a:rPr lang="en-US" b="0" dirty="0" smtClean="0"/>
              <a:t>Flower petals</a:t>
            </a:r>
          </a:p>
          <a:p>
            <a:pPr>
              <a:buFont typeface="Arial" pitchFamily="34" charset="0"/>
              <a:buChar char="•"/>
            </a:pPr>
            <a:r>
              <a:rPr lang="en-US" b="0" dirty="0" smtClean="0"/>
              <a:t>Slices of fruit</a:t>
            </a:r>
          </a:p>
          <a:p>
            <a:pPr>
              <a:buFont typeface="Arial" pitchFamily="34" charset="0"/>
              <a:buChar char="•"/>
            </a:pPr>
            <a:r>
              <a:rPr lang="en-US" b="0" dirty="0" smtClean="0"/>
              <a:t>Baked pastry shapes</a:t>
            </a:r>
          </a:p>
          <a:p>
            <a:pPr>
              <a:buFont typeface="Arial" pitchFamily="34" charset="0"/>
              <a:buChar char="•"/>
            </a:pPr>
            <a:r>
              <a:rPr lang="en-US" b="0" dirty="0" smtClean="0"/>
              <a:t>Sugared</a:t>
            </a:r>
            <a:r>
              <a:rPr lang="en-US" b="0" baseline="0" dirty="0" smtClean="0"/>
              <a:t> strips of citrus peel dried</a:t>
            </a:r>
          </a:p>
          <a:p>
            <a:pPr>
              <a:buFontTx/>
              <a:buNone/>
            </a:pPr>
            <a:r>
              <a:rPr lang="en-US" b="1" baseline="0" dirty="0" smtClean="0"/>
              <a:t>Sauces</a:t>
            </a:r>
          </a:p>
          <a:p>
            <a:pPr>
              <a:buFontTx/>
              <a:buNone/>
            </a:pPr>
            <a:r>
              <a:rPr lang="en-US" b="0" baseline="0" dirty="0" smtClean="0"/>
              <a:t>Have a selection for the one meat; allow customer to choose</a:t>
            </a:r>
          </a:p>
          <a:p>
            <a:pPr>
              <a:buFontTx/>
              <a:buNone/>
            </a:pPr>
            <a:endParaRPr lang="en-US" b="0" baseline="0" dirty="0" smtClean="0"/>
          </a:p>
          <a:p>
            <a:pPr>
              <a:buFontTx/>
              <a:buNone/>
            </a:pPr>
            <a:r>
              <a:rPr lang="en-US" b="0" baseline="0" dirty="0" smtClean="0"/>
              <a:t>Condiment served on side with easy access for customers to choose</a:t>
            </a: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410140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1" dirty="0" smtClean="0"/>
              <a:t>Leftovers</a:t>
            </a:r>
          </a:p>
          <a:p>
            <a:pPr>
              <a:buFontTx/>
              <a:buNone/>
            </a:pPr>
            <a:r>
              <a:rPr lang="en-US" b="0" dirty="0" smtClean="0"/>
              <a:t>All production in the kitchen generates trimmings and leftovers</a:t>
            </a:r>
          </a:p>
          <a:p>
            <a:pPr>
              <a:buFontTx/>
              <a:buNone/>
            </a:pPr>
            <a:endParaRPr lang="en-US" b="0" dirty="0" smtClean="0"/>
          </a:p>
          <a:p>
            <a:pPr>
              <a:buFontTx/>
              <a:buNone/>
            </a:pPr>
            <a:r>
              <a:rPr lang="en-US" b="0" dirty="0" smtClean="0"/>
              <a:t>Left</a:t>
            </a:r>
            <a:r>
              <a:rPr lang="en-US" b="0" baseline="0" dirty="0" smtClean="0"/>
              <a:t>over cooked meats that have not left the kitchen can be can be vacuum packed and stored for another function</a:t>
            </a:r>
          </a:p>
          <a:p>
            <a:pPr>
              <a:buFontTx/>
              <a:buNone/>
            </a:pPr>
            <a:endParaRPr lang="en-US" b="0" baseline="0" dirty="0" smtClean="0"/>
          </a:p>
          <a:p>
            <a:pPr>
              <a:buFontTx/>
              <a:buNone/>
            </a:pPr>
            <a:r>
              <a:rPr lang="en-US" b="0" baseline="0" dirty="0" smtClean="0"/>
              <a:t>Left over prepared salads that have not left the kitchen and not been dressed can be used for another function or staff meals the following day</a:t>
            </a:r>
          </a:p>
          <a:p>
            <a:pPr>
              <a:buFontTx/>
              <a:buNone/>
            </a:pPr>
            <a:endParaRPr lang="en-US" b="0" baseline="0" dirty="0" smtClean="0"/>
          </a:p>
          <a:p>
            <a:pPr>
              <a:buFontTx/>
              <a:buNone/>
            </a:pPr>
            <a:r>
              <a:rPr lang="en-US" b="1" baseline="0" dirty="0" smtClean="0"/>
              <a:t>Trimmings:</a:t>
            </a:r>
          </a:p>
          <a:p>
            <a:pPr>
              <a:buFontTx/>
              <a:buNone/>
            </a:pPr>
            <a:r>
              <a:rPr lang="en-US" b="0" baseline="0" dirty="0" smtClean="0"/>
              <a:t>Trimmings that have been generated from production can be utilised and value added in other dishes or sauces for future use.</a:t>
            </a:r>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660215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3</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prepare and display a buffet service </a:t>
            </a:r>
            <a:r>
              <a:rPr lang="en-US" b="0" baseline="0" dirty="0" smtClean="0"/>
              <a:t>the students must be able to; </a:t>
            </a:r>
            <a:r>
              <a:rPr lang="en-US" b="1" baseline="0" dirty="0" smtClean="0"/>
              <a:t>Display buffet dishes</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i="1" dirty="0" smtClean="0"/>
              <a:t>Present</a:t>
            </a:r>
            <a:r>
              <a:rPr lang="en-AU" sz="1200" dirty="0" smtClean="0"/>
              <a:t> buffet products</a:t>
            </a:r>
          </a:p>
          <a:p>
            <a:pPr lvl="1"/>
            <a:r>
              <a:rPr lang="en-AU" sz="1200" dirty="0" smtClean="0"/>
              <a:t>Hold prepared products as required for duration of buffet service</a:t>
            </a:r>
          </a:p>
          <a:p>
            <a:pPr lvl="1"/>
            <a:r>
              <a:rPr lang="en-AU" sz="1200" i="1" dirty="0" smtClean="0"/>
              <a:t>Minimise wastage</a:t>
            </a:r>
            <a:r>
              <a:rPr lang="en-AU" sz="1200" dirty="0" smtClean="0"/>
              <a:t> through presentation and replenishing</a:t>
            </a:r>
          </a:p>
          <a:p>
            <a:pPr lvl="1"/>
            <a:r>
              <a:rPr lang="en-AU" sz="1200" i="1" dirty="0" smtClean="0"/>
              <a:t>Display</a:t>
            </a:r>
            <a:r>
              <a:rPr lang="en-AU" sz="1200" dirty="0" smtClean="0"/>
              <a:t> buffet dishes attractively </a:t>
            </a:r>
            <a:endParaRPr lang="en-US" sz="1200" dirty="0" smtClean="0">
              <a:latin typeface="Helvetica" pitchFamily="34" charset="0"/>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405509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810380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Discuss the options under each point.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959309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Discuss </a:t>
            </a:r>
            <a:r>
              <a:rPr lang="en-US" b="0" baseline="0" smtClean="0"/>
              <a:t>the options under each point.</a:t>
            </a: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067955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179191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 typeface="Arial" pitchFamily="34" charset="0"/>
              <a:buChar char="•"/>
            </a:pPr>
            <a:r>
              <a:rPr lang="en-US" b="0" baseline="0" dirty="0" smtClean="0"/>
              <a:t>Why is this important?</a:t>
            </a:r>
          </a:p>
          <a:p>
            <a:pPr>
              <a:buFont typeface="Arial" pitchFamily="34" charset="0"/>
              <a:buChar char="•"/>
            </a:pPr>
            <a:r>
              <a:rPr lang="en-US" b="0" baseline="0" dirty="0" smtClean="0"/>
              <a:t>What else needs to be considered?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968917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discuss:</a:t>
            </a:r>
          </a:p>
          <a:p>
            <a:pPr>
              <a:buFont typeface="Arial" pitchFamily="34" charset="0"/>
              <a:buChar char="•"/>
            </a:pPr>
            <a:r>
              <a:rPr lang="en-US" b="0" baseline="0" dirty="0" smtClean="0"/>
              <a:t>How can you dress a table?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5553728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demonstrate:</a:t>
            </a:r>
          </a:p>
          <a:p>
            <a:pPr>
              <a:buFont typeface="Arial" pitchFamily="34" charset="0"/>
              <a:buChar char="•"/>
            </a:pPr>
            <a:r>
              <a:rPr lang="en-US" b="0" baseline="0" dirty="0" smtClean="0"/>
              <a:t>How </a:t>
            </a:r>
            <a:r>
              <a:rPr lang="en-US" b="0" baseline="0" smtClean="0"/>
              <a:t>to box a table</a:t>
            </a: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63057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1" dirty="0" smtClean="0"/>
              <a:t>Layout</a:t>
            </a:r>
          </a:p>
          <a:p>
            <a:pPr>
              <a:buFontTx/>
              <a:buNone/>
            </a:pPr>
            <a:r>
              <a:rPr lang="en-US" b="0" dirty="0" smtClean="0"/>
              <a:t>When presenting</a:t>
            </a:r>
            <a:r>
              <a:rPr lang="en-US" b="0" baseline="0" dirty="0" smtClean="0"/>
              <a:t> buffet foods it is good to use different shape platters as well as different sizes</a:t>
            </a:r>
          </a:p>
          <a:p>
            <a:pPr>
              <a:buFontTx/>
              <a:buNone/>
            </a:pPr>
            <a:endParaRPr lang="en-US" b="0" baseline="0" dirty="0" smtClean="0"/>
          </a:p>
          <a:p>
            <a:pPr>
              <a:buFontTx/>
              <a:buNone/>
            </a:pPr>
            <a:r>
              <a:rPr lang="en-US" b="0" baseline="0" dirty="0" smtClean="0"/>
              <a:t>Keep cold foods separated from hot section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765310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1" dirty="0" smtClean="0"/>
              <a:t>Layout</a:t>
            </a:r>
          </a:p>
          <a:p>
            <a:pPr>
              <a:buFontTx/>
              <a:buNone/>
            </a:pPr>
            <a:endParaRPr lang="en-US" b="0" dirty="0" smtClean="0"/>
          </a:p>
          <a:p>
            <a:pPr>
              <a:buFontTx/>
              <a:buNone/>
            </a:pPr>
            <a:endParaRPr lang="en-US" b="0" baseline="0" dirty="0" smtClean="0"/>
          </a:p>
          <a:p>
            <a:pPr>
              <a:buFontTx/>
              <a:buNone/>
            </a:pPr>
            <a:r>
              <a:rPr lang="en-US" b="0" baseline="0" dirty="0" smtClean="0"/>
              <a:t>By placing different small desserts, entremets, on same platter it allows for more even distribution around the room</a:t>
            </a:r>
          </a:p>
          <a:p>
            <a:pPr>
              <a:buFontTx/>
              <a:buNone/>
            </a:pPr>
            <a:endParaRPr lang="en-US" b="0" baseline="0" dirty="0" smtClean="0"/>
          </a:p>
          <a:p>
            <a:pPr>
              <a:buFont typeface="Arial" pitchFamily="34" charset="0"/>
              <a:buChar char="•"/>
            </a:pPr>
            <a:r>
              <a:rPr lang="en-US" b="0" baseline="0" dirty="0" smtClean="0"/>
              <a:t>Crème caramel. </a:t>
            </a:r>
          </a:p>
          <a:p>
            <a:pPr>
              <a:buFont typeface="Arial" pitchFamily="34" charset="0"/>
              <a:buChar char="•"/>
            </a:pPr>
            <a:r>
              <a:rPr lang="en-US" b="0" baseline="0" dirty="0" smtClean="0"/>
              <a:t>Strawberry tartlets, </a:t>
            </a:r>
          </a:p>
          <a:p>
            <a:pPr>
              <a:buFont typeface="Arial" pitchFamily="34" charset="0"/>
              <a:buChar char="•"/>
            </a:pPr>
            <a:r>
              <a:rPr lang="en-US" b="0" baseline="0" dirty="0" smtClean="0"/>
              <a:t>mini passionfruit vacherin; </a:t>
            </a:r>
          </a:p>
          <a:p>
            <a:pPr>
              <a:buFont typeface="Arial" pitchFamily="34" charset="0"/>
              <a:buChar char="•"/>
            </a:pPr>
            <a:r>
              <a:rPr lang="en-US" b="0" baseline="0" dirty="0" smtClean="0"/>
              <a:t>chocolate mousse cups</a:t>
            </a:r>
          </a:p>
          <a:p>
            <a:pPr>
              <a:buFontTx/>
              <a:buNone/>
            </a:pPr>
            <a:endParaRPr lang="en-US" b="0" baseline="0" dirty="0" smtClean="0"/>
          </a:p>
          <a:p>
            <a:pPr>
              <a:buFontTx/>
              <a:buNone/>
            </a:pPr>
            <a:r>
              <a:rPr lang="en-US" b="0" baseline="0" dirty="0" smtClean="0"/>
              <a:t>All placed on same platter adds diversity and interest to display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095731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When platters have been prepared</a:t>
            </a:r>
            <a:r>
              <a:rPr lang="en-US" b="0" baseline="0" dirty="0" smtClean="0"/>
              <a:t> they have to be stored until they are required.</a:t>
            </a:r>
          </a:p>
          <a:p>
            <a:pPr>
              <a:buFontTx/>
              <a:buNone/>
            </a:pPr>
            <a:endParaRPr lang="en-US" b="0" baseline="0" dirty="0" smtClean="0"/>
          </a:p>
          <a:p>
            <a:pPr>
              <a:buFontTx/>
              <a:buNone/>
            </a:pPr>
            <a:r>
              <a:rPr lang="en-US" b="0" baseline="0" dirty="0" smtClean="0"/>
              <a:t>Buffets are a lot of work; it cannot all be done at the same time.</a:t>
            </a:r>
          </a:p>
          <a:p>
            <a:pPr>
              <a:buFontTx/>
              <a:buNone/>
            </a:pPr>
            <a:endParaRPr lang="en-US" b="0" baseline="0" dirty="0" smtClean="0"/>
          </a:p>
          <a:p>
            <a:pPr>
              <a:buFontTx/>
              <a:buNone/>
            </a:pPr>
            <a:r>
              <a:rPr lang="en-US" b="0" baseline="0" dirty="0" smtClean="0"/>
              <a:t>Keep all hot foods above 60 degrees Celsius until ready to serve. </a:t>
            </a:r>
          </a:p>
          <a:p>
            <a:pPr>
              <a:buFont typeface="Arial" pitchFamily="34" charset="0"/>
              <a:buChar char="•"/>
            </a:pPr>
            <a:r>
              <a:rPr lang="en-US" b="0" baseline="0" dirty="0" smtClean="0"/>
              <a:t>Timing of cooking and re-heating before service</a:t>
            </a:r>
          </a:p>
          <a:p>
            <a:pPr>
              <a:buFontTx/>
              <a:buNone/>
            </a:pPr>
            <a:endParaRPr lang="en-US" b="0" baseline="0" dirty="0" smtClean="0"/>
          </a:p>
          <a:p>
            <a:pPr>
              <a:buFontTx/>
              <a:buNone/>
            </a:pPr>
            <a:r>
              <a:rPr lang="en-US" b="0" dirty="0" smtClean="0"/>
              <a:t>Cold foods need to be kept in controlled atmosphere; below 5 degrees Celsius; </a:t>
            </a:r>
          </a:p>
          <a:p>
            <a:pPr>
              <a:buFont typeface="Arial" pitchFamily="34" charset="0"/>
              <a:buChar char="•"/>
            </a:pPr>
            <a:r>
              <a:rPr lang="en-US" b="0" dirty="0" smtClean="0"/>
              <a:t>covered to protect from drying in open air; even</a:t>
            </a:r>
            <a:r>
              <a:rPr lang="en-US" b="0" baseline="0" dirty="0" smtClean="0"/>
              <a:t> in coolroom</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8637766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Keeping platters smaller make for easier handling and also better control over</a:t>
            </a:r>
            <a:r>
              <a:rPr lang="en-US" b="0" baseline="0" dirty="0" smtClean="0"/>
              <a:t> how much food sits out on buffet table at once and for length of time it sits on function table</a:t>
            </a:r>
          </a:p>
          <a:p>
            <a:pPr>
              <a:buFontTx/>
              <a:buNone/>
            </a:pPr>
            <a:endParaRPr lang="en-US" b="0" baseline="0" dirty="0" smtClean="0"/>
          </a:p>
          <a:p>
            <a:pPr>
              <a:buFontTx/>
              <a:buNone/>
            </a:pPr>
            <a:endParaRPr lang="en-US" b="0" baseline="0" dirty="0" smtClean="0"/>
          </a:p>
          <a:p>
            <a:pPr>
              <a:buFontTx/>
              <a:buNone/>
            </a:pPr>
            <a:r>
              <a:rPr lang="en-US" b="0" baseline="0" dirty="0" smtClean="0"/>
              <a:t>Keep amount of food on platters to manageable level</a:t>
            </a:r>
          </a:p>
          <a:p>
            <a:pPr>
              <a:buFontTx/>
              <a:buNone/>
            </a:pPr>
            <a:endParaRPr lang="en-US" b="0" baseline="0" dirty="0" smtClean="0"/>
          </a:p>
          <a:p>
            <a:pPr>
              <a:buFontTx/>
              <a:buNone/>
            </a:pPr>
            <a:r>
              <a:rPr lang="en-US" b="0" baseline="0" dirty="0" smtClean="0"/>
              <a:t>It may mean more work for staff or it may keep them occupied</a:t>
            </a:r>
          </a:p>
          <a:p>
            <a:pPr>
              <a:buFontTx/>
              <a:buNone/>
            </a:pPr>
            <a:endParaRPr lang="en-US" b="0" baseline="0" dirty="0" smtClean="0"/>
          </a:p>
          <a:p>
            <a:pPr>
              <a:buFont typeface="Arial" pitchFamily="34" charset="0"/>
              <a:buChar char="•"/>
            </a:pPr>
            <a:r>
              <a:rPr lang="en-US" b="0" baseline="0" dirty="0" smtClean="0"/>
              <a:t>It may mean more staff is required</a:t>
            </a:r>
          </a:p>
          <a:p>
            <a:pPr>
              <a:buFontTx/>
              <a:buNone/>
            </a:pPr>
            <a:endParaRPr lang="en-US" b="0" baseline="0" dirty="0" smtClean="0"/>
          </a:p>
          <a:p>
            <a:pPr>
              <a:buFontTx/>
              <a:buNone/>
            </a:pPr>
            <a:r>
              <a:rPr lang="en-US" b="0" dirty="0" smtClean="0"/>
              <a:t>Less food on platters means less time out of controlled temperature</a:t>
            </a:r>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749536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Use colour to make food appear more appealing</a:t>
            </a:r>
          </a:p>
          <a:p>
            <a:pPr>
              <a:buFontTx/>
              <a:buNone/>
            </a:pPr>
            <a:endParaRPr lang="en-US" b="0" dirty="0" smtClean="0"/>
          </a:p>
          <a:p>
            <a:pPr>
              <a:buFontTx/>
              <a:buNone/>
            </a:pPr>
            <a:endParaRPr lang="en-US" b="0" dirty="0" smtClean="0"/>
          </a:p>
          <a:p>
            <a:pPr>
              <a:buFontTx/>
              <a:buNone/>
            </a:pPr>
            <a:r>
              <a:rPr lang="en-US" b="0" dirty="0" smtClean="0"/>
              <a:t>Different shapes help with display</a:t>
            </a:r>
            <a:r>
              <a:rPr lang="en-US" b="0" baseline="0" dirty="0" smtClean="0"/>
              <a:t> effect</a:t>
            </a:r>
          </a:p>
          <a:p>
            <a:pPr>
              <a:buFontTx/>
              <a:buNone/>
            </a:pPr>
            <a:endParaRPr lang="en-US" b="0" baseline="0" dirty="0" smtClean="0"/>
          </a:p>
          <a:p>
            <a:pPr>
              <a:buFontTx/>
              <a:buNone/>
            </a:pPr>
            <a:r>
              <a:rPr lang="en-US" b="0" baseline="0" dirty="0" smtClean="0"/>
              <a:t>How the food is distributed around the buffet</a:t>
            </a:r>
          </a:p>
          <a:p>
            <a:pPr>
              <a:buFontTx/>
              <a:buNone/>
            </a:pPr>
            <a:endParaRPr lang="en-US" b="0" baseline="0" dirty="0" smtClean="0"/>
          </a:p>
          <a:p>
            <a:pPr>
              <a:buFontTx/>
              <a:buNone/>
            </a:pPr>
            <a:r>
              <a:rPr lang="en-US" b="0" baseline="0" dirty="0" smtClean="0"/>
              <a:t>Try to match centre pieces to style of food</a:t>
            </a:r>
          </a:p>
          <a:p>
            <a:pPr>
              <a:buFontTx/>
              <a:buNone/>
            </a:pPr>
            <a:endParaRPr lang="en-US" b="0" baseline="0" dirty="0" smtClean="0"/>
          </a:p>
          <a:p>
            <a:pPr>
              <a:buFontTx/>
              <a:buNone/>
            </a:pPr>
            <a:r>
              <a:rPr lang="en-US" b="0" baseline="0" dirty="0" smtClean="0"/>
              <a:t>Ice carving of fish where the seafood is served or a pulled sugar stylized fish with seafood presentation.</a:t>
            </a:r>
          </a:p>
          <a:p>
            <a:pPr>
              <a:buFontTx/>
              <a:buNone/>
            </a:pPr>
            <a:endParaRPr lang="en-US" b="0" baseline="0" dirty="0" smtClean="0"/>
          </a:p>
          <a:p>
            <a:pPr>
              <a:buFontTx/>
              <a:buNone/>
            </a:pPr>
            <a:endParaRPr lang="en-US" b="0" baseline="0" dirty="0" smtClean="0"/>
          </a:p>
          <a:p>
            <a:pPr>
              <a:buFontTx/>
              <a:buNone/>
            </a:pPr>
            <a:endParaRPr lang="en-US" b="0" baseline="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943794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4</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prepare and display a buffet service </a:t>
            </a:r>
            <a:r>
              <a:rPr lang="en-US" b="0" baseline="0" dirty="0" smtClean="0"/>
              <a:t>the students must be able to; </a:t>
            </a:r>
            <a:r>
              <a:rPr lang="en-US" b="1" baseline="0" dirty="0" smtClean="0"/>
              <a:t>Plan a buffet display and service</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kern="1200" dirty="0" smtClean="0">
                <a:solidFill>
                  <a:schemeClr val="tx1"/>
                </a:solidFill>
                <a:latin typeface="+mn-lt"/>
                <a:ea typeface="+mn-ea"/>
                <a:cs typeface="+mn-cs"/>
              </a:rPr>
              <a:t>Store fresh and/or Cryovac items correctly</a:t>
            </a:r>
          </a:p>
          <a:p>
            <a:pPr lvl="1"/>
            <a:r>
              <a:rPr lang="en-AU" sz="1200" kern="1200" dirty="0" smtClean="0">
                <a:solidFill>
                  <a:schemeClr val="tx1"/>
                </a:solidFill>
                <a:latin typeface="+mn-lt"/>
                <a:ea typeface="+mn-ea"/>
                <a:cs typeface="+mn-cs"/>
              </a:rPr>
              <a:t>Store buffet products appropriately in correct containers</a:t>
            </a:r>
          </a:p>
          <a:p>
            <a:pPr lvl="1"/>
            <a:r>
              <a:rPr lang="en-AU" sz="1200" kern="1200" dirty="0" smtClean="0">
                <a:solidFill>
                  <a:schemeClr val="tx1"/>
                </a:solidFill>
                <a:latin typeface="+mn-lt"/>
                <a:ea typeface="+mn-ea"/>
                <a:cs typeface="+mn-cs"/>
              </a:rPr>
              <a:t>Label stored buffet food correctly </a:t>
            </a:r>
          </a:p>
          <a:p>
            <a:pPr lvl="1"/>
            <a:r>
              <a:rPr lang="en-AU" sz="1200" kern="1200" dirty="0" smtClean="0">
                <a:solidFill>
                  <a:schemeClr val="tx1"/>
                </a:solidFill>
                <a:latin typeface="+mn-lt"/>
                <a:ea typeface="+mn-ea"/>
                <a:cs typeface="+mn-cs"/>
              </a:rPr>
              <a:t>Store in </a:t>
            </a:r>
            <a:r>
              <a:rPr lang="en-AU" sz="1200" i="1" kern="1200" dirty="0" smtClean="0">
                <a:solidFill>
                  <a:schemeClr val="tx1"/>
                </a:solidFill>
                <a:latin typeface="+mn-lt"/>
                <a:ea typeface="+mn-ea"/>
                <a:cs typeface="+mn-cs"/>
              </a:rPr>
              <a:t>correct conditions</a:t>
            </a:r>
            <a:r>
              <a:rPr lang="en-AU" sz="1200" kern="1200" dirty="0" smtClean="0">
                <a:solidFill>
                  <a:schemeClr val="tx1"/>
                </a:solidFill>
                <a:latin typeface="+mn-lt"/>
                <a:ea typeface="+mn-ea"/>
                <a:cs typeface="+mn-cs"/>
              </a:rPr>
              <a:t> to maintain freshness and quality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9893448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Correct storing of foods when receiving will help preserve until required</a:t>
            </a:r>
          </a:p>
          <a:p>
            <a:pPr>
              <a:buFontTx/>
              <a:buNone/>
            </a:pPr>
            <a:endParaRPr lang="en-US" b="0" dirty="0" smtClean="0"/>
          </a:p>
          <a:p>
            <a:pPr>
              <a:buFontTx/>
              <a:buNone/>
            </a:pPr>
            <a:endParaRPr lang="en-US" b="0" dirty="0" smtClean="0"/>
          </a:p>
          <a:p>
            <a:pPr>
              <a:buFontTx/>
              <a:buNone/>
            </a:pPr>
            <a:r>
              <a:rPr lang="en-US" b="0" dirty="0" smtClean="0"/>
              <a:t>Ensure that stock is rotated out of storage</a:t>
            </a:r>
            <a:r>
              <a:rPr lang="en-US" b="0" baseline="0" dirty="0" smtClean="0"/>
              <a:t> </a:t>
            </a:r>
          </a:p>
          <a:p>
            <a:pPr>
              <a:buFontTx/>
              <a:buNone/>
            </a:pPr>
            <a:endParaRPr lang="en-US" b="0" baseline="0" dirty="0" smtClean="0"/>
          </a:p>
          <a:p>
            <a:pPr>
              <a:buFontTx/>
              <a:buNone/>
            </a:pPr>
            <a:r>
              <a:rPr lang="en-US" b="0" baseline="0" dirty="0" smtClean="0"/>
              <a:t>Do not order food too early unless u have proper storage facilities</a:t>
            </a:r>
          </a:p>
          <a:p>
            <a:pPr>
              <a:buFontTx/>
              <a:buNone/>
            </a:pPr>
            <a:endParaRPr lang="en-US" b="0" baseline="0" dirty="0" smtClean="0"/>
          </a:p>
          <a:p>
            <a:pPr>
              <a:buFontTx/>
              <a:buNone/>
            </a:pPr>
            <a:r>
              <a:rPr lang="en-US" b="0" baseline="0" dirty="0" smtClean="0"/>
              <a:t>When vacuum sealing foods be careful not to stack too many layers on top of each other.</a:t>
            </a:r>
          </a:p>
          <a:p>
            <a:pPr>
              <a:buFontTx/>
              <a:buNone/>
            </a:pPr>
            <a:r>
              <a:rPr lang="en-US" b="0" baseline="0" dirty="0" smtClean="0"/>
              <a:t>It can damage shape of cooked foods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115267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endParaRPr lang="en-US" b="0" dirty="0" smtClean="0"/>
          </a:p>
          <a:p>
            <a:endParaRPr lang="en-US" b="0" dirty="0" smtClean="0"/>
          </a:p>
          <a:p>
            <a:r>
              <a:rPr lang="en-US" b="0" dirty="0" smtClean="0"/>
              <a:t>Ensure containers are of</a:t>
            </a:r>
            <a:r>
              <a:rPr lang="en-US" b="0" baseline="0" dirty="0" smtClean="0"/>
              <a:t> </a:t>
            </a:r>
            <a:r>
              <a:rPr lang="en-US" b="0" dirty="0" smtClean="0"/>
              <a:t>food standard </a:t>
            </a:r>
          </a:p>
          <a:p>
            <a:pPr>
              <a:buFont typeface="Arial" pitchFamily="34" charset="0"/>
              <a:buChar char="•"/>
            </a:pPr>
            <a:r>
              <a:rPr lang="en-US" b="0" dirty="0" smtClean="0"/>
              <a:t>Containers that have had</a:t>
            </a:r>
            <a:r>
              <a:rPr lang="en-US" b="0" baseline="0" dirty="0" smtClean="0"/>
              <a:t> chemical inside cannot be used for food storage</a:t>
            </a:r>
            <a:endParaRPr lang="en-US" b="0" dirty="0" smtClean="0"/>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Helvetica" pitchFamily="34" charset="0"/>
              </a:rPr>
              <a:t>Too large a container can damage product as it can move around too much</a:t>
            </a:r>
          </a:p>
          <a:p>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0307651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1</a:t>
            </a:r>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6685065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Do not overcrowd the containers</a:t>
            </a:r>
          </a:p>
          <a:p>
            <a:pPr>
              <a:buFontTx/>
              <a:buNone/>
            </a:pPr>
            <a:endParaRPr lang="en-US" b="0" dirty="0" smtClean="0"/>
          </a:p>
          <a:p>
            <a:pPr>
              <a:buFontTx/>
              <a:buNone/>
            </a:pPr>
            <a:r>
              <a:rPr lang="en-US" b="0" dirty="0" smtClean="0"/>
              <a:t>Ensure</a:t>
            </a:r>
            <a:r>
              <a:rPr lang="en-US" b="0" baseline="0" dirty="0" smtClean="0"/>
              <a:t> containers can be covered to protect the product</a:t>
            </a: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125279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waseantourism.com/ft/guest.php?dir=%2FApproved%20Toolboxes%20%26%20Competency%20standards%2FPlan%20prepare%20display%20buffet%20service" TargetMode="Externa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476672"/>
            <a:ext cx="7704184" cy="1285884"/>
          </a:xfrm>
        </p:spPr>
        <p:txBody>
          <a:bodyPr>
            <a:normAutofit fontScale="90000"/>
          </a:bodyPr>
          <a:lstStyle/>
          <a:p>
            <a:r>
              <a:rPr lang="en-AU" sz="4000" dirty="0" smtClean="0">
                <a:ln w="5000" cmpd="sng">
                  <a:noFill/>
                  <a:prstDash val="solid"/>
                </a:ln>
                <a:solidFill>
                  <a:srgbClr val="FF6600"/>
                </a:solidFill>
                <a:latin typeface="Helvetica" pitchFamily="34" charset="0"/>
              </a:rPr>
              <a:t>PLAN, PREPARE AND DISPLAY A BUFFET SERVICE</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415108" y="1844824"/>
            <a:ext cx="3117332" cy="357190"/>
          </a:xfrm>
        </p:spPr>
        <p:txBody>
          <a:bodyPr>
            <a:noAutofit/>
          </a:bodyPr>
          <a:lstStyle/>
          <a:p>
            <a:r>
              <a:rPr lang="en-AU" sz="2400" b="1" dirty="0" smtClean="0">
                <a:latin typeface="Helvetica" pitchFamily="34" charset="0"/>
              </a:rPr>
              <a:t>D1.HCC.CL2.07</a:t>
            </a:r>
            <a:endParaRPr lang="en-AU"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cs typeface="Helvetica" pitchFamily="34" charset="0"/>
              </a:rPr>
              <a:t>Slide </a:t>
            </a:r>
            <a:fld id="{90BDF71C-F485-43AE-8825-5070AF1EA8C9}" type="slidenum">
              <a:rPr lang="en-AU" smtClean="0">
                <a:latin typeface="Helvetica" pitchFamily="34" charset="0"/>
                <a:cs typeface="Helvetica" pitchFamily="34" charset="0"/>
              </a:rPr>
              <a:pPr/>
              <a:t>1</a:t>
            </a:fld>
            <a:endParaRPr lang="en-AU" dirty="0">
              <a:latin typeface="Helvetica" pitchFamily="34" charset="0"/>
              <a:cs typeface="Helvetica" pitchFamily="34" charset="0"/>
            </a:endParaRPr>
          </a:p>
        </p:txBody>
      </p:sp>
      <p:grpSp>
        <p:nvGrpSpPr>
          <p:cNvPr id="9" name="Group 8"/>
          <p:cNvGrpSpPr/>
          <p:nvPr/>
        </p:nvGrpSpPr>
        <p:grpSpPr>
          <a:xfrm>
            <a:off x="1547664" y="1844824"/>
            <a:ext cx="3672408" cy="3863979"/>
            <a:chOff x="683568" y="2214555"/>
            <a:chExt cx="3672408" cy="3863979"/>
          </a:xfrm>
        </p:grpSpPr>
        <p:grpSp>
          <p:nvGrpSpPr>
            <p:cNvPr id="8" name="Group 7"/>
            <p:cNvGrpSpPr/>
            <p:nvPr/>
          </p:nvGrpSpPr>
          <p:grpSpPr>
            <a:xfrm>
              <a:off x="683568" y="4581128"/>
              <a:ext cx="3672408" cy="1497406"/>
              <a:chOff x="683568" y="4883922"/>
              <a:chExt cx="3672408" cy="1497406"/>
            </a:xfrm>
          </p:grpSpPr>
          <p:pic>
            <p:nvPicPr>
              <p:cNvPr id="7" name="Picture 2" descr="C:\Documents and Settings\danielc\Local Settings\Temporary Internet Files\Content.IE5\9N3QFUEZ\MP900409708[1].jpg"/>
              <p:cNvPicPr>
                <a:picLocks noChangeAspect="1" noChangeArrowheads="1"/>
              </p:cNvPicPr>
              <p:nvPr/>
            </p:nvPicPr>
            <p:blipFill>
              <a:blip r:embed="rId3" cstate="print"/>
              <a:srcRect l="6767" r="5267"/>
              <a:stretch>
                <a:fillRect/>
              </a:stretch>
            </p:blipFill>
            <p:spPr bwMode="auto">
              <a:xfrm>
                <a:off x="683568" y="4941168"/>
                <a:ext cx="1872208" cy="1440160"/>
              </a:xfrm>
              <a:prstGeom prst="rect">
                <a:avLst/>
              </a:prstGeom>
              <a:noFill/>
            </p:spPr>
          </p:pic>
          <p:pic>
            <p:nvPicPr>
              <p:cNvPr id="5" name="Picture 4" descr="motion.jpg"/>
              <p:cNvPicPr>
                <a:picLocks noChangeAspect="1"/>
              </p:cNvPicPr>
              <p:nvPr/>
            </p:nvPicPr>
            <p:blipFill>
              <a:blip r:embed="rId4" cstate="print"/>
              <a:srcRect r="13979"/>
              <a:stretch>
                <a:fillRect/>
              </a:stretch>
            </p:blipFill>
            <p:spPr>
              <a:xfrm>
                <a:off x="2483768" y="4883922"/>
                <a:ext cx="1872208" cy="1497406"/>
              </a:xfrm>
              <a:prstGeom prst="rect">
                <a:avLst/>
              </a:prstGeom>
              <a:ln w="12700">
                <a:solidFill>
                  <a:schemeClr val="bg1"/>
                </a:solidFill>
              </a:ln>
            </p:spPr>
          </p:pic>
        </p:grpSp>
        <p:pic>
          <p:nvPicPr>
            <p:cNvPr id="1026" name="Picture 2" descr="C:\Documents and Settings\danielc\Desktop\iStock_Comm on Phone.jpg"/>
            <p:cNvPicPr>
              <a:picLocks noChangeAspect="1" noChangeArrowheads="1"/>
            </p:cNvPicPr>
            <p:nvPr/>
          </p:nvPicPr>
          <p:blipFill>
            <a:blip r:embed="rId5" cstate="print"/>
            <a:stretch>
              <a:fillRect/>
            </a:stretch>
          </p:blipFill>
          <p:spPr bwMode="auto">
            <a:xfrm>
              <a:off x="689210" y="2214555"/>
              <a:ext cx="3657600" cy="2424989"/>
            </a:xfrm>
            <a:prstGeom prst="rect">
              <a:avLst/>
            </a:prstGeom>
            <a:noFill/>
          </p:spPr>
        </p:pic>
      </p:grpSp>
      <p:sp>
        <p:nvSpPr>
          <p:cNvPr id="6" name="Rectangle 5"/>
          <p:cNvSpPr/>
          <p:nvPr/>
        </p:nvSpPr>
        <p:spPr>
          <a:xfrm>
            <a:off x="2568887" y="3244334"/>
            <a:ext cx="4006225" cy="369332"/>
          </a:xfrm>
          <a:prstGeom prst="rect">
            <a:avLst/>
          </a:prstGeom>
        </p:spPr>
        <p:txBody>
          <a:bodyPr wrap="none">
            <a:spAutoFit/>
          </a:bodyPr>
          <a:lstStyle/>
          <a:p>
            <a:r>
              <a:rPr lang="en-US" b="1">
                <a:hlinkClick r:id="rId6" tooltip="Go to folder"/>
              </a:rPr>
              <a:t>Plan prepare display buffet service</a:t>
            </a:r>
            <a:endParaRPr 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344816" cy="936104"/>
          </a:xfrm>
        </p:spPr>
        <p:txBody>
          <a:bodyPr>
            <a:normAutofit fontScale="90000"/>
          </a:bodyPr>
          <a:lstStyle/>
          <a:p>
            <a:r>
              <a:rPr lang="en-US" sz="3200" b="1" dirty="0" smtClean="0">
                <a:solidFill>
                  <a:srgbClr val="FF6600"/>
                </a:solidFill>
                <a:latin typeface="Helvetica" pitchFamily="34" charset="0"/>
              </a:rPr>
              <a:t>Plan, prepare and display a buffet service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a:spcBef>
                <a:spcPts val="600"/>
              </a:spcBef>
              <a:spcAft>
                <a:spcPts val="1200"/>
              </a:spcAft>
              <a:buNone/>
            </a:pPr>
            <a:r>
              <a:rPr lang="en-AU" sz="2200" b="1" dirty="0" smtClean="0">
                <a:latin typeface="Helvetica" pitchFamily="34" charset="0"/>
              </a:rPr>
              <a:t>Assessment</a:t>
            </a:r>
            <a:r>
              <a:rPr lang="en-US" sz="2200" b="1" dirty="0" smtClean="0">
                <a:latin typeface="Helvetica" pitchFamily="34" charset="0"/>
              </a:rPr>
              <a:t> </a:t>
            </a:r>
            <a:r>
              <a:rPr lang="en-US" sz="2200" b="1" dirty="0">
                <a:latin typeface="Helvetica" pitchFamily="34" charset="0"/>
              </a:rPr>
              <a:t>for this Unit may include:</a:t>
            </a:r>
          </a:p>
          <a:p>
            <a:pPr>
              <a:spcBef>
                <a:spcPts val="600"/>
              </a:spcBef>
              <a:spcAft>
                <a:spcPts val="1200"/>
              </a:spcAft>
            </a:pPr>
            <a:r>
              <a:rPr lang="en-US" sz="2200" dirty="0">
                <a:latin typeface="Helvetica" pitchFamily="34" charset="0"/>
              </a:rPr>
              <a:t>Oral questions</a:t>
            </a:r>
          </a:p>
          <a:p>
            <a:pPr>
              <a:spcBef>
                <a:spcPts val="600"/>
              </a:spcBef>
              <a:spcAft>
                <a:spcPts val="1200"/>
              </a:spcAft>
            </a:pPr>
            <a:r>
              <a:rPr lang="en-US" sz="2200" dirty="0">
                <a:latin typeface="Helvetica" pitchFamily="34" charset="0"/>
              </a:rPr>
              <a:t>Written questions</a:t>
            </a:r>
          </a:p>
          <a:p>
            <a:pPr>
              <a:spcBef>
                <a:spcPts val="600"/>
              </a:spcBef>
              <a:spcAft>
                <a:spcPts val="1200"/>
              </a:spcAft>
            </a:pPr>
            <a:r>
              <a:rPr lang="en-US" sz="2200" dirty="0">
                <a:latin typeface="Helvetica" pitchFamily="34" charset="0"/>
              </a:rPr>
              <a:t>Work projects</a:t>
            </a:r>
          </a:p>
          <a:p>
            <a:pPr>
              <a:spcBef>
                <a:spcPts val="600"/>
              </a:spcBef>
              <a:spcAft>
                <a:spcPts val="1200"/>
              </a:spcAft>
            </a:pPr>
            <a:r>
              <a:rPr lang="en-US" sz="2200" dirty="0">
                <a:latin typeface="Helvetica" pitchFamily="34" charset="0"/>
              </a:rPr>
              <a:t>Workplace observation of practical skills</a:t>
            </a:r>
          </a:p>
          <a:p>
            <a:pPr>
              <a:spcBef>
                <a:spcPts val="600"/>
              </a:spcBef>
              <a:spcAft>
                <a:spcPts val="1200"/>
              </a:spcAft>
            </a:pPr>
            <a:r>
              <a:rPr lang="en-US" sz="2200" dirty="0">
                <a:latin typeface="Helvetica" pitchFamily="34" charset="0"/>
              </a:rPr>
              <a:t>Practical exercises</a:t>
            </a:r>
          </a:p>
          <a:p>
            <a:pPr>
              <a:spcBef>
                <a:spcPts val="600"/>
              </a:spcBef>
              <a:spcAft>
                <a:spcPts val="1200"/>
              </a:spcAft>
            </a:pPr>
            <a:r>
              <a:rPr lang="en-US" sz="2200" dirty="0">
                <a:latin typeface="Helvetica" pitchFamily="34" charset="0"/>
              </a:rPr>
              <a:t>Formal report from </a:t>
            </a:r>
            <a:r>
              <a:rPr lang="en-US" sz="2200" dirty="0" smtClean="0">
                <a:latin typeface="Helvetica" pitchFamily="34" charset="0"/>
              </a:rPr>
              <a:t>employer or supervisor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a:t>
            </a:fld>
            <a:endParaRPr lang="en-US" dirty="0">
              <a:latin typeface="Helvetica" pitchFamily="34" charset="0"/>
              <a:cs typeface="Helvetica" pitchFamily="34" charset="0"/>
            </a:endParaRPr>
          </a:p>
        </p:txBody>
      </p:sp>
      <p:pic>
        <p:nvPicPr>
          <p:cNvPr id="5" name="Picture 4" descr="MC900442125.PNG"/>
          <p:cNvPicPr>
            <a:picLocks noChangeAspect="1"/>
          </p:cNvPicPr>
          <p:nvPr/>
        </p:nvPicPr>
        <p:blipFill>
          <a:blip r:embed="rId3" cstate="print"/>
          <a:stretch>
            <a:fillRect/>
          </a:stretch>
        </p:blipFill>
        <p:spPr>
          <a:xfrm>
            <a:off x="6588224" y="3501008"/>
            <a:ext cx="1800200" cy="175251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US" sz="2200" b="1" dirty="0">
                <a:latin typeface="Helvetica" pitchFamily="34" charset="0"/>
              </a:rPr>
              <a:t>This unit comprises </a:t>
            </a:r>
            <a:r>
              <a:rPr lang="en-US" sz="2200" b="1" dirty="0" smtClean="0">
                <a:latin typeface="Helvetica" pitchFamily="34" charset="0"/>
              </a:rPr>
              <a:t>four elements: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a:t>
            </a:fld>
            <a:endParaRPr lang="en-US" dirty="0">
              <a:latin typeface="Helvetica" pitchFamily="34" charset="0"/>
              <a:cs typeface="Helvetica" pitchFamily="34" charset="0"/>
            </a:endParaRPr>
          </a:p>
        </p:txBody>
      </p:sp>
      <p:grpSp>
        <p:nvGrpSpPr>
          <p:cNvPr id="5" name="Group 4"/>
          <p:cNvGrpSpPr/>
          <p:nvPr/>
        </p:nvGrpSpPr>
        <p:grpSpPr>
          <a:xfrm>
            <a:off x="734759" y="1987078"/>
            <a:ext cx="6861577" cy="3386138"/>
            <a:chOff x="1752600" y="2057400"/>
            <a:chExt cx="6861577" cy="33861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7" name="Line 8"/>
            <p:cNvSpPr>
              <a:spLocks noChangeShapeType="1"/>
            </p:cNvSpPr>
            <p:nvPr/>
          </p:nvSpPr>
          <p:spPr bwMode="auto">
            <a:xfrm>
              <a:off x="2362200" y="2667000"/>
              <a:ext cx="48006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8" name="Text Box 9"/>
            <p:cNvSpPr txBox="1">
              <a:spLocks noChangeArrowheads="1"/>
            </p:cNvSpPr>
            <p:nvPr/>
          </p:nvSpPr>
          <p:spPr bwMode="auto">
            <a:xfrm>
              <a:off x="2544688" y="2133600"/>
              <a:ext cx="5761712" cy="430887"/>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200" b="1" dirty="0" smtClean="0">
                  <a:latin typeface="Helvetica" pitchFamily="34" charset="0"/>
                </a:rPr>
                <a:t>Plan a buffet display and service</a:t>
              </a: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cs typeface="Helvetica" pitchFamily="34" charset="0"/>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1" name="Line 16"/>
            <p:cNvSpPr>
              <a:spLocks noChangeShapeType="1"/>
            </p:cNvSpPr>
            <p:nvPr/>
          </p:nvSpPr>
          <p:spPr bwMode="auto">
            <a:xfrm>
              <a:off x="2362200" y="3581400"/>
              <a:ext cx="48006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2" name="Text Box 17"/>
            <p:cNvSpPr txBox="1">
              <a:spLocks noChangeArrowheads="1"/>
            </p:cNvSpPr>
            <p:nvPr/>
          </p:nvSpPr>
          <p:spPr bwMode="auto">
            <a:xfrm>
              <a:off x="2544688" y="3048000"/>
              <a:ext cx="6069489" cy="430887"/>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200" b="1" dirty="0" smtClean="0">
                  <a:latin typeface="Helvetica" pitchFamily="34" charset="0"/>
                </a:rPr>
                <a:t>Prepare and produce buffet dishes</a:t>
              </a: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cs typeface="Helvetica" pitchFamily="34" charset="0"/>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5" name="Line 24"/>
            <p:cNvSpPr>
              <a:spLocks noChangeShapeType="1"/>
            </p:cNvSpPr>
            <p:nvPr/>
          </p:nvSpPr>
          <p:spPr bwMode="auto">
            <a:xfrm>
              <a:off x="2362200" y="4473575"/>
              <a:ext cx="48006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6" name="Text Box 25"/>
            <p:cNvSpPr txBox="1">
              <a:spLocks noChangeArrowheads="1"/>
            </p:cNvSpPr>
            <p:nvPr/>
          </p:nvSpPr>
          <p:spPr bwMode="auto">
            <a:xfrm>
              <a:off x="2544688" y="3940175"/>
              <a:ext cx="4086574" cy="430887"/>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200" b="1" dirty="0" smtClean="0">
                  <a:latin typeface="Helvetica" pitchFamily="34" charset="0"/>
                </a:rPr>
                <a:t>Display buffet dishes</a:t>
              </a: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cs typeface="Helvetica" pitchFamily="34" charset="0"/>
                </a:rPr>
                <a:t>3</a:t>
              </a: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9" name="Line 32"/>
            <p:cNvSpPr>
              <a:spLocks noChangeShapeType="1"/>
            </p:cNvSpPr>
            <p:nvPr/>
          </p:nvSpPr>
          <p:spPr bwMode="auto">
            <a:xfrm>
              <a:off x="2362200" y="5387975"/>
              <a:ext cx="48006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20" name="Text Box 33"/>
            <p:cNvSpPr txBox="1">
              <a:spLocks noChangeArrowheads="1"/>
            </p:cNvSpPr>
            <p:nvPr/>
          </p:nvSpPr>
          <p:spPr bwMode="auto">
            <a:xfrm>
              <a:off x="2544688" y="4854575"/>
              <a:ext cx="3644145" cy="430887"/>
            </a:xfrm>
            <a:prstGeom prst="rect">
              <a:avLst/>
            </a:prstGeom>
            <a:noFill/>
            <a:ln w="9525" algn="ctr">
              <a:noFill/>
              <a:miter lim="800000"/>
              <a:headEnd/>
              <a:tailEnd/>
            </a:ln>
          </p:spPr>
          <p:txBody>
            <a:bodyPr wrap="square">
              <a:spAutoFit/>
            </a:bodyPr>
            <a:lstStyle/>
            <a:p>
              <a:pPr marL="457200" indent="-457200">
                <a:spcBef>
                  <a:spcPts val="600"/>
                </a:spcBef>
                <a:spcAft>
                  <a:spcPts val="1200"/>
                </a:spcAft>
              </a:pPr>
              <a:r>
                <a:rPr lang="en-US" sz="2200" b="1" dirty="0" smtClean="0">
                  <a:latin typeface="Helvetica" pitchFamily="34" charset="0"/>
                </a:rPr>
                <a:t>Store Buffet items</a:t>
              </a:r>
              <a:endParaRPr lang="en-US" sz="2200" b="1" dirty="0">
                <a:latin typeface="Helvetica" pitchFamily="34" charset="0"/>
              </a:endParaRPr>
            </a:p>
          </p:txBody>
        </p:sp>
        <p:sp>
          <p:nvSpPr>
            <p:cNvPr id="21" name="Text Box 34"/>
            <p:cNvSpPr txBox="1">
              <a:spLocks noChangeArrowheads="1"/>
            </p:cNvSpPr>
            <p:nvPr/>
          </p:nvSpPr>
          <p:spPr bwMode="gray">
            <a:xfrm>
              <a:off x="1949450" y="48768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cs typeface="Helvetica" pitchFamily="34" charset="0"/>
                </a:rPr>
                <a:t>4</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1008112"/>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824536"/>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Element 1: Plan a buffet display and service</a:t>
            </a:r>
          </a:p>
          <a:p>
            <a:pPr>
              <a:spcBef>
                <a:spcPts val="600"/>
              </a:spcBef>
              <a:spcAft>
                <a:spcPts val="1200"/>
              </a:spcAft>
            </a:pPr>
            <a:r>
              <a:rPr lang="en-AU" sz="2200" smtClean="0">
                <a:latin typeface="Helvetica" pitchFamily="34" charset="0"/>
                <a:cs typeface="Helvetica" pitchFamily="34" charset="0"/>
              </a:rPr>
              <a:t>Plan </a:t>
            </a:r>
            <a:r>
              <a:rPr lang="en-AU" sz="2200">
                <a:latin typeface="Helvetica" pitchFamily="34" charset="0"/>
                <a:cs typeface="Helvetica" pitchFamily="34" charset="0"/>
              </a:rPr>
              <a:t>a buffet display and service appropriate to client </a:t>
            </a:r>
            <a:r>
              <a:rPr lang="en-AU" sz="2200" smtClean="0">
                <a:latin typeface="Helvetica" pitchFamily="34" charset="0"/>
                <a:cs typeface="Helvetica" pitchFamily="34" charset="0"/>
              </a:rPr>
              <a:t>needs</a:t>
            </a:r>
          </a:p>
          <a:p>
            <a:pPr>
              <a:spcBef>
                <a:spcPts val="600"/>
              </a:spcBef>
              <a:spcAft>
                <a:spcPts val="1200"/>
              </a:spcAft>
            </a:pPr>
            <a:r>
              <a:rPr lang="en-AU" sz="2200" smtClean="0">
                <a:latin typeface="Helvetica" pitchFamily="34" charset="0"/>
                <a:cs typeface="Helvetica" pitchFamily="34" charset="0"/>
              </a:rPr>
              <a:t>Plan </a:t>
            </a:r>
            <a:r>
              <a:rPr lang="en-AU" sz="2200">
                <a:latin typeface="Helvetica" pitchFamily="34" charset="0"/>
                <a:cs typeface="Helvetica" pitchFamily="34" charset="0"/>
              </a:rPr>
              <a:t>layout, display and presentation of the </a:t>
            </a:r>
            <a:r>
              <a:rPr lang="en-AU" sz="2200" smtClean="0">
                <a:latin typeface="Helvetica" pitchFamily="34" charset="0"/>
                <a:cs typeface="Helvetica" pitchFamily="34" charset="0"/>
              </a:rPr>
              <a:t>buffet</a:t>
            </a:r>
          </a:p>
          <a:p>
            <a:pPr>
              <a:spcBef>
                <a:spcPts val="600"/>
              </a:spcBef>
              <a:spcAft>
                <a:spcPts val="1200"/>
              </a:spcAft>
            </a:pPr>
            <a:r>
              <a:rPr lang="en-AU" sz="2200" smtClean="0">
                <a:latin typeface="Helvetica" pitchFamily="34" charset="0"/>
                <a:cs typeface="Helvetica" pitchFamily="34" charset="0"/>
              </a:rPr>
              <a:t>Calculate </a:t>
            </a:r>
            <a:r>
              <a:rPr lang="en-AU" sz="2200">
                <a:latin typeface="Helvetica" pitchFamily="34" charset="0"/>
                <a:cs typeface="Helvetica" pitchFamily="34" charset="0"/>
              </a:rPr>
              <a:t>quantities required and food costs components of </a:t>
            </a:r>
            <a:r>
              <a:rPr lang="en-AU" sz="2200" smtClean="0">
                <a:latin typeface="Helvetica" pitchFamily="34" charset="0"/>
                <a:cs typeface="Helvetica" pitchFamily="34" charset="0"/>
              </a:rPr>
              <a:t>buffet</a:t>
            </a:r>
          </a:p>
          <a:p>
            <a:pPr>
              <a:spcBef>
                <a:spcPts val="600"/>
              </a:spcBef>
              <a:spcAft>
                <a:spcPts val="1200"/>
              </a:spcAft>
            </a:pPr>
            <a:r>
              <a:rPr lang="en-AU" sz="2200" smtClean="0">
                <a:latin typeface="Helvetica" pitchFamily="34" charset="0"/>
                <a:cs typeface="Helvetica" pitchFamily="34" charset="0"/>
              </a:rPr>
              <a:t>Select </a:t>
            </a:r>
            <a:r>
              <a:rPr lang="en-AU" sz="2200">
                <a:latin typeface="Helvetica" pitchFamily="34" charset="0"/>
                <a:cs typeface="Helvetica" pitchFamily="34" charset="0"/>
              </a:rPr>
              <a:t>appropriate food </a:t>
            </a:r>
            <a:r>
              <a:rPr lang="en-AU" sz="2200" smtClean="0">
                <a:latin typeface="Helvetica" pitchFamily="34" charset="0"/>
                <a:cs typeface="Helvetica" pitchFamily="34" charset="0"/>
              </a:rPr>
              <a:t>items</a:t>
            </a:r>
          </a:p>
          <a:p>
            <a:pPr>
              <a:spcBef>
                <a:spcPts val="600"/>
              </a:spcBef>
              <a:spcAft>
                <a:spcPts val="1200"/>
              </a:spcAft>
            </a:pPr>
            <a:r>
              <a:rPr lang="en-AU" sz="2200" smtClean="0">
                <a:latin typeface="Helvetica" pitchFamily="34" charset="0"/>
                <a:cs typeface="Helvetica" pitchFamily="34" charset="0"/>
              </a:rPr>
              <a:t>Identify </a:t>
            </a:r>
            <a:r>
              <a:rPr lang="en-AU" sz="2200">
                <a:latin typeface="Helvetica" pitchFamily="34" charset="0"/>
                <a:cs typeface="Helvetica" pitchFamily="34" charset="0"/>
              </a:rPr>
              <a:t>and prepare a variety of buffet </a:t>
            </a:r>
            <a:r>
              <a:rPr lang="en-AU" sz="2200" smtClean="0">
                <a:latin typeface="Helvetica" pitchFamily="34" charset="0"/>
                <a:cs typeface="Helvetica" pitchFamily="34" charset="0"/>
              </a:rPr>
              <a:t/>
            </a:r>
            <a:br>
              <a:rPr lang="en-AU" sz="2200" smtClean="0">
                <a:latin typeface="Helvetica" pitchFamily="34" charset="0"/>
                <a:cs typeface="Helvetica" pitchFamily="34" charset="0"/>
              </a:rPr>
            </a:br>
            <a:r>
              <a:rPr lang="en-AU" sz="2200" smtClean="0">
                <a:latin typeface="Helvetica" pitchFamily="34" charset="0"/>
                <a:cs typeface="Helvetica" pitchFamily="34" charset="0"/>
              </a:rPr>
              <a:t>centre </a:t>
            </a:r>
            <a:r>
              <a:rPr lang="en-AU" sz="2200">
                <a:latin typeface="Helvetica" pitchFamily="34" charset="0"/>
                <a:cs typeface="Helvetica" pitchFamily="34" charset="0"/>
              </a:rPr>
              <a:t>pieces</a:t>
            </a:r>
          </a:p>
          <a:p>
            <a:pPr marL="0" indent="0">
              <a:spcBef>
                <a:spcPts val="600"/>
              </a:spcBef>
              <a:spcAft>
                <a:spcPts val="1200"/>
              </a:spcAft>
              <a:buNone/>
            </a:pPr>
            <a:endParaRPr lang="en-AU" sz="2200" smtClean="0">
              <a:latin typeface="Helvetica" pitchFamily="34" charset="0"/>
              <a:cs typeface="Helvetica" pitchFamily="34" charset="0"/>
            </a:endParaRPr>
          </a:p>
          <a:p>
            <a:pPr marL="360000" indent="-360000">
              <a:spcBef>
                <a:spcPts val="600"/>
              </a:spcBef>
              <a:spcAft>
                <a:spcPts val="1200"/>
              </a:spcAft>
              <a:buNone/>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4</a:t>
            </a:fld>
            <a:endParaRPr lang="en-US" dirty="0">
              <a:latin typeface="Helvetica" pitchFamily="34" charset="0"/>
              <a:cs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732240" y="3861048"/>
            <a:ext cx="1500758" cy="1200606"/>
          </a:xfrm>
          <a:prstGeom prst="rect">
            <a:avLst/>
          </a:prstGeom>
        </p:spPr>
      </p:pic>
    </p:spTree>
    <p:extLst>
      <p:ext uri="{BB962C8B-B14F-4D97-AF65-F5344CB8AC3E}">
        <p14:creationId xmlns:p14="http://schemas.microsoft.com/office/powerpoint/2010/main" val="565541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16824"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b="1" dirty="0" smtClean="0">
                <a:latin typeface="Helvetica" pitchFamily="34" charset="0"/>
              </a:rPr>
              <a:t>Plan a buffet display and service as client requires</a:t>
            </a:r>
          </a:p>
          <a:p>
            <a:pPr marL="457200" indent="-457200">
              <a:spcBef>
                <a:spcPts val="600"/>
              </a:spcBef>
              <a:spcAft>
                <a:spcPts val="1200"/>
              </a:spcAft>
            </a:pPr>
            <a:r>
              <a:rPr lang="en-AU" sz="2200" dirty="0" smtClean="0">
                <a:latin typeface="Helvetica" pitchFamily="34" charset="0"/>
              </a:rPr>
              <a:t>Theme:</a:t>
            </a:r>
          </a:p>
          <a:p>
            <a:pPr marL="920750" indent="-457200">
              <a:spcBef>
                <a:spcPts val="600"/>
              </a:spcBef>
              <a:spcAft>
                <a:spcPts val="1200"/>
              </a:spcAft>
              <a:buSzPct val="100000"/>
              <a:buFont typeface="Wingdings" pitchFamily="2" charset="2"/>
              <a:buChar char="§"/>
            </a:pPr>
            <a:r>
              <a:rPr lang="en-AU" sz="2200" dirty="0" smtClean="0">
                <a:latin typeface="Helvetica" pitchFamily="34" charset="0"/>
              </a:rPr>
              <a:t>Wedding</a:t>
            </a:r>
          </a:p>
          <a:p>
            <a:pPr marL="920750" indent="-457200">
              <a:spcBef>
                <a:spcPts val="600"/>
              </a:spcBef>
              <a:spcAft>
                <a:spcPts val="1200"/>
              </a:spcAft>
              <a:buSzPct val="100000"/>
              <a:buFont typeface="Wingdings" pitchFamily="2" charset="2"/>
              <a:buChar char="§"/>
            </a:pPr>
            <a:r>
              <a:rPr lang="en-AU" sz="2200" dirty="0" smtClean="0">
                <a:latin typeface="Helvetica" pitchFamily="34" charset="0"/>
              </a:rPr>
              <a:t>Birthday</a:t>
            </a:r>
          </a:p>
          <a:p>
            <a:pPr marL="920750" indent="-457200">
              <a:spcBef>
                <a:spcPts val="600"/>
              </a:spcBef>
              <a:spcAft>
                <a:spcPts val="1200"/>
              </a:spcAft>
              <a:buSzPct val="100000"/>
              <a:buFont typeface="Wingdings" pitchFamily="2" charset="2"/>
              <a:buChar char="§"/>
            </a:pPr>
            <a:r>
              <a:rPr lang="en-AU" sz="2200" dirty="0" smtClean="0">
                <a:latin typeface="Helvetica" pitchFamily="34" charset="0"/>
              </a:rPr>
              <a:t>National holiday</a:t>
            </a:r>
          </a:p>
          <a:p>
            <a:pPr marL="920750" indent="-457200">
              <a:spcBef>
                <a:spcPts val="600"/>
              </a:spcBef>
              <a:spcAft>
                <a:spcPts val="1200"/>
              </a:spcAft>
              <a:buSzPct val="100000"/>
              <a:buFont typeface="Wingdings" pitchFamily="2" charset="2"/>
              <a:buChar char="§"/>
            </a:pPr>
            <a:r>
              <a:rPr lang="en-AU" sz="2200" dirty="0" smtClean="0">
                <a:latin typeface="Helvetica" pitchFamily="34" charset="0"/>
              </a:rPr>
              <a:t>Religious celebration</a:t>
            </a:r>
          </a:p>
          <a:p>
            <a:pPr marL="920750" indent="-457200">
              <a:spcBef>
                <a:spcPts val="600"/>
              </a:spcBef>
              <a:spcAft>
                <a:spcPts val="1200"/>
              </a:spcAft>
              <a:buSzPct val="100000"/>
              <a:buFont typeface="Wingdings" pitchFamily="2" charset="2"/>
              <a:buChar char="§"/>
            </a:pPr>
            <a:r>
              <a:rPr lang="en-AU" sz="2200" dirty="0" smtClean="0">
                <a:latin typeface="Helvetica" pitchFamily="34" charset="0"/>
              </a:rPr>
              <a:t>School Reunion</a:t>
            </a: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lvl="1">
              <a:buNone/>
            </a:pPr>
            <a:endParaRPr lang="en-AU" sz="2800" dirty="0"/>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5</a:t>
            </a:fld>
            <a:endParaRPr lang="en-US" dirty="0">
              <a:latin typeface="Helvetica" pitchFamily="34" charset="0"/>
              <a:cs typeface="Helvetica" pitchFamily="34" charset="0"/>
            </a:endParaRPr>
          </a:p>
        </p:txBody>
      </p:sp>
      <p:pic>
        <p:nvPicPr>
          <p:cNvPr id="8" name="Picture 7" descr="811075_26537365.jpg"/>
          <p:cNvPicPr>
            <a:picLocks noChangeAspect="1"/>
          </p:cNvPicPr>
          <p:nvPr/>
        </p:nvPicPr>
        <p:blipFill>
          <a:blip r:embed="rId3" cstate="print"/>
          <a:stretch>
            <a:fillRect/>
          </a:stretch>
        </p:blipFill>
        <p:spPr>
          <a:xfrm>
            <a:off x="5508104" y="3284984"/>
            <a:ext cx="2915815" cy="1938707"/>
          </a:xfrm>
          <a:prstGeom prst="rect">
            <a:avLst/>
          </a:prstGeom>
        </p:spPr>
      </p:pic>
    </p:spTree>
    <p:extLst>
      <p:ext uri="{BB962C8B-B14F-4D97-AF65-F5344CB8AC3E}">
        <p14:creationId xmlns:p14="http://schemas.microsoft.com/office/powerpoint/2010/main" val="375669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b="1" smtClean="0">
                <a:latin typeface="Helvetica" pitchFamily="34" charset="0"/>
              </a:rPr>
              <a:t>Plan layout, display and presentation of the buffet</a:t>
            </a:r>
          </a:p>
          <a:p>
            <a:pPr marL="457200" indent="-457200">
              <a:spcBef>
                <a:spcPts val="600"/>
              </a:spcBef>
              <a:spcAft>
                <a:spcPts val="1200"/>
              </a:spcAft>
            </a:pPr>
            <a:r>
              <a:rPr lang="en-AU" sz="2200" smtClean="0">
                <a:latin typeface="Helvetica" pitchFamily="34" charset="0"/>
              </a:rPr>
              <a:t>What are the customer requirements?</a:t>
            </a:r>
          </a:p>
          <a:p>
            <a:pPr marL="457200" indent="-457200">
              <a:spcBef>
                <a:spcPts val="600"/>
              </a:spcBef>
              <a:spcAft>
                <a:spcPts val="1200"/>
              </a:spcAft>
            </a:pPr>
            <a:r>
              <a:rPr lang="en-AU" sz="2200" smtClean="0">
                <a:latin typeface="Helvetica" pitchFamily="34" charset="0"/>
              </a:rPr>
              <a:t>Where will it be held?</a:t>
            </a:r>
          </a:p>
          <a:p>
            <a:pPr marL="457200" indent="-457200">
              <a:spcBef>
                <a:spcPts val="600"/>
              </a:spcBef>
              <a:spcAft>
                <a:spcPts val="1200"/>
              </a:spcAft>
            </a:pPr>
            <a:r>
              <a:rPr lang="en-AU" sz="2200" smtClean="0">
                <a:latin typeface="Helvetica" pitchFamily="34" charset="0"/>
              </a:rPr>
              <a:t>What facilities will be available?</a:t>
            </a:r>
          </a:p>
          <a:p>
            <a:pPr lvl="1"/>
            <a:endParaRPr lang="en-AU" sz="2800"/>
          </a:p>
          <a:p>
            <a:pPr marL="0" indent="0">
              <a:spcBef>
                <a:spcPts val="600"/>
              </a:spcBef>
              <a:spcAft>
                <a:spcPts val="1200"/>
              </a:spcAft>
              <a:buNone/>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6</a:t>
            </a:fld>
            <a:endParaRPr lang="en-US" dirty="0">
              <a:latin typeface="Helvetica" pitchFamily="34" charset="0"/>
              <a:cs typeface="Helvetica" pitchFamily="34" charset="0"/>
            </a:endParaRPr>
          </a:p>
        </p:txBody>
      </p:sp>
      <p:pic>
        <p:nvPicPr>
          <p:cNvPr id="5" name="Picture 4" descr="767401_92325573.jpg"/>
          <p:cNvPicPr>
            <a:picLocks noChangeAspect="1"/>
          </p:cNvPicPr>
          <p:nvPr/>
        </p:nvPicPr>
        <p:blipFill>
          <a:blip r:embed="rId3" cstate="print"/>
          <a:stretch>
            <a:fillRect/>
          </a:stretch>
        </p:blipFill>
        <p:spPr>
          <a:xfrm>
            <a:off x="5508104" y="3429000"/>
            <a:ext cx="2902842" cy="1935574"/>
          </a:xfrm>
          <a:prstGeom prst="rect">
            <a:avLst/>
          </a:prstGeom>
        </p:spPr>
      </p:pic>
    </p:spTree>
    <p:extLst>
      <p:ext uri="{BB962C8B-B14F-4D97-AF65-F5344CB8AC3E}">
        <p14:creationId xmlns:p14="http://schemas.microsoft.com/office/powerpoint/2010/main" val="1276639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b="1" smtClean="0">
                <a:latin typeface="Helvetica" pitchFamily="34" charset="0"/>
              </a:rPr>
              <a:t>Calculate quantities required and food costs for buffet</a:t>
            </a:r>
          </a:p>
          <a:p>
            <a:pPr marL="457200" indent="-457200">
              <a:spcBef>
                <a:spcPts val="600"/>
              </a:spcBef>
              <a:spcAft>
                <a:spcPts val="1200"/>
              </a:spcAft>
            </a:pPr>
            <a:r>
              <a:rPr lang="en-AU" sz="2200" smtClean="0">
                <a:latin typeface="Helvetica" pitchFamily="34" charset="0"/>
              </a:rPr>
              <a:t>Types of food required</a:t>
            </a:r>
          </a:p>
          <a:p>
            <a:pPr marL="457200" indent="-457200">
              <a:spcBef>
                <a:spcPts val="600"/>
              </a:spcBef>
              <a:spcAft>
                <a:spcPts val="1200"/>
              </a:spcAft>
            </a:pPr>
            <a:r>
              <a:rPr lang="en-AU" sz="2200" smtClean="0">
                <a:latin typeface="Helvetica" pitchFamily="34" charset="0"/>
              </a:rPr>
              <a:t>Number of people</a:t>
            </a:r>
          </a:p>
          <a:p>
            <a:pPr marL="457200" indent="-457200">
              <a:spcBef>
                <a:spcPts val="600"/>
              </a:spcBef>
              <a:spcAft>
                <a:spcPts val="1200"/>
              </a:spcAft>
            </a:pPr>
            <a:r>
              <a:rPr lang="en-AU" sz="2200" smtClean="0">
                <a:latin typeface="Helvetica" pitchFamily="34" charset="0"/>
              </a:rPr>
              <a:t>Portion size allowed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7</a:t>
            </a:fld>
            <a:endParaRPr lang="en-US" dirty="0">
              <a:latin typeface="Helvetica" pitchFamily="34" charset="0"/>
              <a:cs typeface="Helvetica" pitchFamily="34" charset="0"/>
            </a:endParaRPr>
          </a:p>
        </p:txBody>
      </p:sp>
      <p:pic>
        <p:nvPicPr>
          <p:cNvPr id="6" name="Picture 5" descr="Calculator 1.jpg"/>
          <p:cNvPicPr>
            <a:picLocks noChangeAspect="1"/>
          </p:cNvPicPr>
          <p:nvPr/>
        </p:nvPicPr>
        <p:blipFill>
          <a:blip r:embed="rId3" cstate="print"/>
          <a:stretch>
            <a:fillRect/>
          </a:stretch>
        </p:blipFill>
        <p:spPr>
          <a:xfrm>
            <a:off x="5652120" y="3405092"/>
            <a:ext cx="2759968" cy="1840899"/>
          </a:xfrm>
          <a:prstGeom prst="rect">
            <a:avLst/>
          </a:prstGeom>
        </p:spPr>
      </p:pic>
    </p:spTree>
    <p:extLst>
      <p:ext uri="{BB962C8B-B14F-4D97-AF65-F5344CB8AC3E}">
        <p14:creationId xmlns:p14="http://schemas.microsoft.com/office/powerpoint/2010/main" val="3059478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b="1" smtClean="0">
                <a:latin typeface="Helvetica" pitchFamily="34" charset="0"/>
              </a:rPr>
              <a:t>Select appropriate food items</a:t>
            </a:r>
          </a:p>
          <a:p>
            <a:pPr marL="0" indent="0">
              <a:spcBef>
                <a:spcPts val="600"/>
              </a:spcBef>
              <a:spcAft>
                <a:spcPts val="1200"/>
              </a:spcAft>
              <a:buNone/>
            </a:pPr>
            <a:r>
              <a:rPr lang="en-AU" sz="2200" smtClean="0">
                <a:latin typeface="Helvetica" pitchFamily="34" charset="0"/>
              </a:rPr>
              <a:t>Buffet food items will include a wide variety of menu items from which to choose:</a:t>
            </a:r>
          </a:p>
          <a:p>
            <a:pPr marL="463550" indent="-463550">
              <a:spcBef>
                <a:spcPts val="600"/>
              </a:spcBef>
              <a:spcAft>
                <a:spcPts val="1200"/>
              </a:spcAft>
            </a:pPr>
            <a:r>
              <a:rPr lang="en-AU" sz="2200" smtClean="0">
                <a:latin typeface="Helvetica" pitchFamily="34" charset="0"/>
              </a:rPr>
              <a:t>Budget pricing</a:t>
            </a:r>
          </a:p>
          <a:p>
            <a:pPr marL="463550" indent="-463550">
              <a:spcBef>
                <a:spcPts val="600"/>
              </a:spcBef>
              <a:spcAft>
                <a:spcPts val="1200"/>
              </a:spcAft>
            </a:pPr>
            <a:r>
              <a:rPr lang="en-AU" sz="2200" smtClean="0">
                <a:latin typeface="Helvetica" pitchFamily="34" charset="0"/>
              </a:rPr>
              <a:t>Moderate pricing</a:t>
            </a:r>
          </a:p>
          <a:p>
            <a:pPr marL="463550" indent="-463550">
              <a:spcBef>
                <a:spcPts val="600"/>
              </a:spcBef>
              <a:spcAft>
                <a:spcPts val="1200"/>
              </a:spcAft>
            </a:pPr>
            <a:r>
              <a:rPr lang="en-AU" sz="2200" smtClean="0">
                <a:latin typeface="Helvetica" pitchFamily="34" charset="0"/>
              </a:rPr>
              <a:t>Top quality pricing </a:t>
            </a:r>
          </a:p>
          <a:p>
            <a:pPr marL="0" indent="0">
              <a:spcBef>
                <a:spcPts val="600"/>
              </a:spcBef>
              <a:spcAft>
                <a:spcPts val="1200"/>
              </a:spcAft>
              <a:buNone/>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8</a:t>
            </a:fld>
            <a:endParaRPr lang="en-US" dirty="0">
              <a:latin typeface="Helvetica" pitchFamily="34" charset="0"/>
              <a:cs typeface="Helvetica" pitchFamily="34" charset="0"/>
            </a:endParaRPr>
          </a:p>
        </p:txBody>
      </p:sp>
      <p:pic>
        <p:nvPicPr>
          <p:cNvPr id="6" name="Picture 5" descr="Finance_Ch3_Pt3.jpg"/>
          <p:cNvPicPr>
            <a:picLocks noChangeAspect="1"/>
          </p:cNvPicPr>
          <p:nvPr/>
        </p:nvPicPr>
        <p:blipFill>
          <a:blip r:embed="rId3" cstate="print"/>
          <a:stretch>
            <a:fillRect/>
          </a:stretch>
        </p:blipFill>
        <p:spPr>
          <a:xfrm>
            <a:off x="5652120" y="3429000"/>
            <a:ext cx="2729880" cy="1808546"/>
          </a:xfrm>
          <a:prstGeom prst="rect">
            <a:avLst/>
          </a:prstGeom>
        </p:spPr>
      </p:pic>
    </p:spTree>
    <p:extLst>
      <p:ext uri="{BB962C8B-B14F-4D97-AF65-F5344CB8AC3E}">
        <p14:creationId xmlns:p14="http://schemas.microsoft.com/office/powerpoint/2010/main" val="1597004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b="1" smtClean="0">
                <a:latin typeface="Helvetica" pitchFamily="34" charset="0"/>
              </a:rPr>
              <a:t>Select appropriate food items</a:t>
            </a:r>
          </a:p>
          <a:p>
            <a:pPr marL="0" indent="0">
              <a:spcBef>
                <a:spcPts val="600"/>
              </a:spcBef>
              <a:spcAft>
                <a:spcPts val="1200"/>
              </a:spcAft>
              <a:buNone/>
            </a:pPr>
            <a:r>
              <a:rPr lang="en-AU" sz="2200" smtClean="0">
                <a:latin typeface="Helvetica" pitchFamily="34" charset="0"/>
              </a:rPr>
              <a:t>Buffet food items will include a wide variety of menu items from which to choose:</a:t>
            </a:r>
          </a:p>
          <a:p>
            <a:pPr marL="463550" indent="-463550">
              <a:spcBef>
                <a:spcPts val="600"/>
              </a:spcBef>
              <a:spcAft>
                <a:spcPts val="1200"/>
              </a:spcAft>
            </a:pPr>
            <a:r>
              <a:rPr lang="en-AU" sz="2200" smtClean="0">
                <a:latin typeface="Helvetica" pitchFamily="34" charset="0"/>
              </a:rPr>
              <a:t>Children's party</a:t>
            </a:r>
          </a:p>
          <a:p>
            <a:pPr marL="463550" indent="-463550">
              <a:spcBef>
                <a:spcPts val="600"/>
              </a:spcBef>
              <a:spcAft>
                <a:spcPts val="1200"/>
              </a:spcAft>
            </a:pPr>
            <a:r>
              <a:rPr lang="en-AU" sz="2200" smtClean="0">
                <a:latin typeface="Helvetica" pitchFamily="34" charset="0"/>
              </a:rPr>
              <a:t>Teenager’s party</a:t>
            </a:r>
          </a:p>
          <a:p>
            <a:pPr marL="463550" indent="-463550">
              <a:spcBef>
                <a:spcPts val="600"/>
              </a:spcBef>
              <a:spcAft>
                <a:spcPts val="1200"/>
              </a:spcAft>
            </a:pPr>
            <a:r>
              <a:rPr lang="en-AU" sz="2200" smtClean="0">
                <a:latin typeface="Helvetica" pitchFamily="34" charset="0"/>
              </a:rPr>
              <a:t>Business function</a:t>
            </a:r>
          </a:p>
          <a:p>
            <a:pPr marL="463550" indent="-463550">
              <a:spcBef>
                <a:spcPts val="600"/>
              </a:spcBef>
              <a:spcAft>
                <a:spcPts val="1200"/>
              </a:spcAft>
            </a:pPr>
            <a:r>
              <a:rPr lang="en-AU" sz="2200" smtClean="0">
                <a:latin typeface="Helvetica" pitchFamily="34" charset="0"/>
              </a:rPr>
              <a:t>Wedding anniversary</a:t>
            </a:r>
          </a:p>
          <a:p>
            <a:pPr marL="0" indent="0">
              <a:spcBef>
                <a:spcPts val="600"/>
              </a:spcBef>
              <a:spcAft>
                <a:spcPts val="1200"/>
              </a:spcAft>
              <a:buNone/>
            </a:pPr>
            <a:endParaRPr lang="en-AU" sz="2200" smtClean="0">
              <a:latin typeface="Helvetica" pitchFamily="34" charset="0"/>
            </a:endParaRP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9</a:t>
            </a:fld>
            <a:endParaRPr lang="en-US" dirty="0">
              <a:latin typeface="Helvetica" pitchFamily="34" charset="0"/>
              <a:cs typeface="Helvetica" pitchFamily="34" charset="0"/>
            </a:endParaRPr>
          </a:p>
        </p:txBody>
      </p:sp>
      <p:pic>
        <p:nvPicPr>
          <p:cNvPr id="5" name="Picture 4" descr="MP900422676.JPG"/>
          <p:cNvPicPr>
            <a:picLocks noChangeAspect="1"/>
          </p:cNvPicPr>
          <p:nvPr/>
        </p:nvPicPr>
        <p:blipFill>
          <a:blip r:embed="rId3" cstate="print"/>
          <a:stretch>
            <a:fillRect/>
          </a:stretch>
        </p:blipFill>
        <p:spPr>
          <a:xfrm>
            <a:off x="5580112" y="3429000"/>
            <a:ext cx="2843808" cy="1895132"/>
          </a:xfrm>
          <a:prstGeom prst="rect">
            <a:avLst/>
          </a:prstGeom>
        </p:spPr>
      </p:pic>
    </p:spTree>
    <p:extLst>
      <p:ext uri="{BB962C8B-B14F-4D97-AF65-F5344CB8AC3E}">
        <p14:creationId xmlns:p14="http://schemas.microsoft.com/office/powerpoint/2010/main" val="1597004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Select appropriate food items</a:t>
            </a:r>
          </a:p>
          <a:p>
            <a:pPr marL="0" indent="0">
              <a:spcBef>
                <a:spcPts val="600"/>
              </a:spcBef>
              <a:spcAft>
                <a:spcPts val="1200"/>
              </a:spcAft>
              <a:buNone/>
            </a:pPr>
            <a:r>
              <a:rPr lang="en-AU" sz="2200" dirty="0" smtClean="0">
                <a:latin typeface="Helvetica" pitchFamily="34" charset="0"/>
              </a:rPr>
              <a:t>Buffet food items will include a wide variety of menu items from which to choose:</a:t>
            </a:r>
          </a:p>
          <a:p>
            <a:pPr marL="463550" indent="-463550">
              <a:spcBef>
                <a:spcPts val="600"/>
              </a:spcBef>
              <a:spcAft>
                <a:spcPts val="1200"/>
              </a:spcAft>
            </a:pPr>
            <a:r>
              <a:rPr lang="en-AU" sz="2200" dirty="0" smtClean="0">
                <a:latin typeface="Helvetica" pitchFamily="34" charset="0"/>
              </a:rPr>
              <a:t>Vegetarians</a:t>
            </a:r>
          </a:p>
          <a:p>
            <a:pPr marL="463550" indent="-463550">
              <a:spcBef>
                <a:spcPts val="600"/>
              </a:spcBef>
              <a:spcAft>
                <a:spcPts val="1200"/>
              </a:spcAft>
            </a:pPr>
            <a:r>
              <a:rPr lang="en-AU" sz="2200" dirty="0" smtClean="0">
                <a:latin typeface="Helvetica" pitchFamily="34" charset="0"/>
              </a:rPr>
              <a:t>Special dietary needs:</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Gluten free</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Nut allergies</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Seafood and fish allergies</a:t>
            </a: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10</a:t>
            </a:fld>
            <a:endParaRPr lang="en-US" dirty="0">
              <a:latin typeface="Helvetica" pitchFamily="34" charset="0"/>
              <a:cs typeface="Helvetica" pitchFamily="34" charset="0"/>
            </a:endParaRPr>
          </a:p>
        </p:txBody>
      </p:sp>
      <p:pic>
        <p:nvPicPr>
          <p:cNvPr id="5" name="Picture 4" descr="781615_54960211.jpg"/>
          <p:cNvPicPr>
            <a:picLocks noChangeAspect="1"/>
          </p:cNvPicPr>
          <p:nvPr/>
        </p:nvPicPr>
        <p:blipFill>
          <a:blip r:embed="rId3" cstate="print"/>
          <a:stretch>
            <a:fillRect/>
          </a:stretch>
        </p:blipFill>
        <p:spPr>
          <a:xfrm>
            <a:off x="5868144" y="3501008"/>
            <a:ext cx="2519772" cy="1679848"/>
          </a:xfrm>
          <a:prstGeom prst="rect">
            <a:avLst/>
          </a:prstGeom>
        </p:spPr>
      </p:pic>
    </p:spTree>
    <p:extLst>
      <p:ext uri="{BB962C8B-B14F-4D97-AF65-F5344CB8AC3E}">
        <p14:creationId xmlns:p14="http://schemas.microsoft.com/office/powerpoint/2010/main" val="159700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11</a:t>
            </a:fld>
            <a:endParaRPr lang="en-US" dirty="0">
              <a:latin typeface="Helvetica" pitchFamily="34" charset="0"/>
              <a:cs typeface="Helvetica" pitchFamily="34" charset="0"/>
            </a:endParaRPr>
          </a:p>
        </p:txBody>
      </p:sp>
      <p:grpSp>
        <p:nvGrpSpPr>
          <p:cNvPr id="8" name="Group 7"/>
          <p:cNvGrpSpPr/>
          <p:nvPr/>
        </p:nvGrpSpPr>
        <p:grpSpPr>
          <a:xfrm>
            <a:off x="4644008" y="1988840"/>
            <a:ext cx="3672408" cy="4582200"/>
            <a:chOff x="4644008" y="1916832"/>
            <a:chExt cx="3672408" cy="4582200"/>
          </a:xfrm>
        </p:grpSpPr>
        <p:pic>
          <p:nvPicPr>
            <p:cNvPr id="6" name="Picture 5" descr="1202494_party_selection_4.jpg"/>
            <p:cNvPicPr>
              <a:picLocks noChangeAspect="1"/>
            </p:cNvPicPr>
            <p:nvPr/>
          </p:nvPicPr>
          <p:blipFill>
            <a:blip r:embed="rId3" cstate="print"/>
            <a:stretch>
              <a:fillRect/>
            </a:stretch>
          </p:blipFill>
          <p:spPr>
            <a:xfrm>
              <a:off x="4644008" y="4941168"/>
              <a:ext cx="2067961" cy="1557864"/>
            </a:xfrm>
            <a:prstGeom prst="rect">
              <a:avLst/>
            </a:prstGeom>
          </p:spPr>
        </p:pic>
        <p:pic>
          <p:nvPicPr>
            <p:cNvPr id="5" name="Picture 4" descr="1158542_achievement__12.jpg"/>
            <p:cNvPicPr>
              <a:picLocks noChangeAspect="1"/>
            </p:cNvPicPr>
            <p:nvPr/>
          </p:nvPicPr>
          <p:blipFill>
            <a:blip r:embed="rId4" cstate="print"/>
            <a:stretch>
              <a:fillRect/>
            </a:stretch>
          </p:blipFill>
          <p:spPr>
            <a:xfrm>
              <a:off x="5508104" y="3429000"/>
              <a:ext cx="2112234" cy="1584176"/>
            </a:xfrm>
            <a:prstGeom prst="rect">
              <a:avLst/>
            </a:prstGeom>
          </p:spPr>
        </p:pic>
        <p:pic>
          <p:nvPicPr>
            <p:cNvPr id="7" name="Picture 6" descr="1202493_party_selection_3.jpg"/>
            <p:cNvPicPr>
              <a:picLocks noChangeAspect="1"/>
            </p:cNvPicPr>
            <p:nvPr/>
          </p:nvPicPr>
          <p:blipFill>
            <a:blip r:embed="rId5" cstate="print"/>
            <a:stretch>
              <a:fillRect/>
            </a:stretch>
          </p:blipFill>
          <p:spPr>
            <a:xfrm>
              <a:off x="6228184" y="1916832"/>
              <a:ext cx="2088232" cy="1566174"/>
            </a:xfrm>
            <a:prstGeom prst="rect">
              <a:avLst/>
            </a:prstGeom>
          </p:spPr>
        </p:pic>
      </p:gr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b="1" dirty="0" smtClean="0">
                <a:latin typeface="Helvetica" pitchFamily="34" charset="0"/>
              </a:rPr>
              <a:t>Identify and prepare a variety of Centre pieces</a:t>
            </a:r>
          </a:p>
          <a:p>
            <a:pPr marL="463550" indent="-463550">
              <a:spcBef>
                <a:spcPts val="600"/>
              </a:spcBef>
              <a:spcAft>
                <a:spcPts val="1200"/>
              </a:spcAft>
            </a:pPr>
            <a:r>
              <a:rPr lang="en-AU" sz="2200" dirty="0" smtClean="0">
                <a:latin typeface="Helvetica" pitchFamily="34" charset="0"/>
              </a:rPr>
              <a:t>Theme: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Chocolate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Sugar work</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Ice carvings</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Flowers </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dirty="0"/>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Tree>
    <p:extLst>
      <p:ext uri="{BB962C8B-B14F-4D97-AF65-F5344CB8AC3E}">
        <p14:creationId xmlns:p14="http://schemas.microsoft.com/office/powerpoint/2010/main" val="468785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12</a:t>
            </a:fld>
            <a:endParaRPr lang="en-US" dirty="0">
              <a:latin typeface="Helvetica" pitchFamily="34" charset="0"/>
              <a:cs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a:spcBef>
                <a:spcPts val="600"/>
              </a:spcBef>
              <a:spcAft>
                <a:spcPts val="1200"/>
              </a:spcAft>
              <a:buNone/>
            </a:pPr>
            <a:r>
              <a:rPr lang="en-AU" sz="2200" b="1" dirty="0" smtClean="0">
                <a:latin typeface="Helvetica" pitchFamily="34" charset="0"/>
              </a:rPr>
              <a:t>Need for artistic skills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Regardless of who is in charge of designing or setting up centrepieces or decorations it is essential that the person has suitable artistic skills to ensure the decoration:</a:t>
            </a:r>
          </a:p>
          <a:p>
            <a:pPr>
              <a:spcBef>
                <a:spcPts val="600"/>
              </a:spcBef>
              <a:spcAft>
                <a:spcPts val="1200"/>
              </a:spcAft>
            </a:pPr>
            <a:r>
              <a:rPr lang="en-US" sz="2200" dirty="0" smtClean="0">
                <a:latin typeface="Helvetica" pitchFamily="34" charset="0"/>
              </a:rPr>
              <a:t>What artistic skills do staff need?</a:t>
            </a:r>
          </a:p>
          <a:p>
            <a:pPr>
              <a:spcBef>
                <a:spcPts val="600"/>
              </a:spcBef>
              <a:spcAft>
                <a:spcPts val="1200"/>
              </a:spcAft>
            </a:pPr>
            <a:r>
              <a:rPr lang="en-US" sz="2200" dirty="0" smtClean="0">
                <a:latin typeface="Helvetica" pitchFamily="34" charset="0"/>
              </a:rPr>
              <a:t>How can they get these skills?</a:t>
            </a:r>
          </a:p>
          <a:p>
            <a:pPr>
              <a:buNone/>
            </a:pPr>
            <a:endParaRPr lang="en-AU" sz="2400" dirty="0" smtClean="0"/>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dirty="0"/>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pic>
        <p:nvPicPr>
          <p:cNvPr id="10" name="Picture 9" descr="MP900448447.JPG"/>
          <p:cNvPicPr>
            <a:picLocks noChangeAspect="1"/>
          </p:cNvPicPr>
          <p:nvPr/>
        </p:nvPicPr>
        <p:blipFill>
          <a:blip r:embed="rId3" cstate="print"/>
          <a:stretch>
            <a:fillRect/>
          </a:stretch>
        </p:blipFill>
        <p:spPr>
          <a:xfrm>
            <a:off x="7020272" y="3933056"/>
            <a:ext cx="1455831" cy="1817440"/>
          </a:xfrm>
          <a:prstGeom prst="rect">
            <a:avLst/>
          </a:prstGeom>
        </p:spPr>
      </p:pic>
    </p:spTree>
    <p:extLst>
      <p:ext uri="{BB962C8B-B14F-4D97-AF65-F5344CB8AC3E}">
        <p14:creationId xmlns:p14="http://schemas.microsoft.com/office/powerpoint/2010/main" val="468785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13</a:t>
            </a:fld>
            <a:endParaRPr lang="en-US" dirty="0">
              <a:latin typeface="Helvetica" pitchFamily="34" charset="0"/>
              <a:cs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lnSpcReduction="10000"/>
          </a:bodyPr>
          <a:lstStyle/>
          <a:p>
            <a:pPr>
              <a:spcBef>
                <a:spcPts val="600"/>
              </a:spcBef>
              <a:spcAft>
                <a:spcPts val="1200"/>
              </a:spcAft>
              <a:buNone/>
            </a:pPr>
            <a:r>
              <a:rPr lang="en-AU" sz="2200" b="1" dirty="0" smtClean="0">
                <a:latin typeface="Helvetica" pitchFamily="34" charset="0"/>
              </a:rPr>
              <a:t>Need for artistic skills</a:t>
            </a:r>
            <a:endParaRPr lang="en-AU" sz="2200" dirty="0" smtClean="0">
              <a:latin typeface="Helvetica" pitchFamily="34" charset="0"/>
            </a:endParaRPr>
          </a:p>
          <a:p>
            <a:pPr lvl="0">
              <a:spcBef>
                <a:spcPts val="600"/>
              </a:spcBef>
              <a:spcAft>
                <a:spcPts val="1200"/>
              </a:spcAft>
              <a:buNone/>
            </a:pPr>
            <a:r>
              <a:rPr lang="en-AU" sz="2200" dirty="0" smtClean="0">
                <a:latin typeface="Helvetica" pitchFamily="34" charset="0"/>
              </a:rPr>
              <a:t>Considerations:</a:t>
            </a:r>
          </a:p>
          <a:p>
            <a:pPr lvl="0">
              <a:spcBef>
                <a:spcPts val="600"/>
              </a:spcBef>
              <a:spcAft>
                <a:spcPts val="1200"/>
              </a:spcAft>
            </a:pPr>
            <a:r>
              <a:rPr lang="en-AU" sz="2200" dirty="0" smtClean="0">
                <a:latin typeface="Helvetica" pitchFamily="34" charset="0"/>
              </a:rPr>
              <a:t>Reflects the theme </a:t>
            </a:r>
          </a:p>
          <a:p>
            <a:pPr lvl="0">
              <a:spcBef>
                <a:spcPts val="600"/>
              </a:spcBef>
              <a:spcAft>
                <a:spcPts val="1200"/>
              </a:spcAft>
            </a:pPr>
            <a:r>
              <a:rPr lang="en-AU" sz="2200" dirty="0" smtClean="0">
                <a:latin typeface="Helvetica" pitchFamily="34" charset="0"/>
              </a:rPr>
              <a:t>Is suitable</a:t>
            </a:r>
          </a:p>
          <a:p>
            <a:pPr lvl="0">
              <a:spcBef>
                <a:spcPts val="600"/>
              </a:spcBef>
              <a:spcAft>
                <a:spcPts val="1200"/>
              </a:spcAft>
            </a:pPr>
            <a:r>
              <a:rPr lang="en-AU" sz="2200" dirty="0" smtClean="0">
                <a:latin typeface="Helvetica" pitchFamily="34" charset="0"/>
              </a:rPr>
              <a:t>Is made up of correct materials and colours</a:t>
            </a:r>
          </a:p>
          <a:p>
            <a:pPr lvl="0">
              <a:spcBef>
                <a:spcPts val="600"/>
              </a:spcBef>
              <a:spcAft>
                <a:spcPts val="1200"/>
              </a:spcAft>
            </a:pPr>
            <a:r>
              <a:rPr lang="en-AU" sz="2200" dirty="0" smtClean="0">
                <a:latin typeface="Helvetica" pitchFamily="34" charset="0"/>
              </a:rPr>
              <a:t>Is correctly placed and sized </a:t>
            </a:r>
          </a:p>
          <a:p>
            <a:pPr lvl="0">
              <a:spcBef>
                <a:spcPts val="600"/>
              </a:spcBef>
              <a:spcAft>
                <a:spcPts val="1200"/>
              </a:spcAft>
            </a:pPr>
            <a:r>
              <a:rPr lang="en-AU" sz="2200" dirty="0" smtClean="0">
                <a:latin typeface="Helvetica" pitchFamily="34" charset="0"/>
              </a:rPr>
              <a:t>Does not impact on the quality of food items</a:t>
            </a:r>
          </a:p>
          <a:p>
            <a:pPr lvl="0">
              <a:spcBef>
                <a:spcPts val="600"/>
              </a:spcBef>
              <a:spcAft>
                <a:spcPts val="1200"/>
              </a:spcAft>
            </a:pPr>
            <a:r>
              <a:rPr lang="en-AU" sz="2200" dirty="0" smtClean="0">
                <a:latin typeface="Helvetica" pitchFamily="34" charset="0"/>
              </a:rPr>
              <a:t>Remains in suitable condition or                           quality during the life of the buffet</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0" indent="0">
              <a:spcBef>
                <a:spcPts val="600"/>
              </a:spcBef>
              <a:spcAft>
                <a:spcPts val="1200"/>
              </a:spcAft>
              <a:buNone/>
            </a:pPr>
            <a:endParaRPr lang="en-AU" sz="2200" dirty="0"/>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pic>
        <p:nvPicPr>
          <p:cNvPr id="5" name="Picture 4" descr="MP910220920.JPG"/>
          <p:cNvPicPr>
            <a:picLocks noChangeAspect="1"/>
          </p:cNvPicPr>
          <p:nvPr/>
        </p:nvPicPr>
        <p:blipFill>
          <a:blip r:embed="rId3" cstate="print"/>
          <a:stretch>
            <a:fillRect/>
          </a:stretch>
        </p:blipFill>
        <p:spPr>
          <a:xfrm>
            <a:off x="6804248" y="4252831"/>
            <a:ext cx="1752909" cy="1164138"/>
          </a:xfrm>
          <a:prstGeom prst="rect">
            <a:avLst/>
          </a:prstGeom>
        </p:spPr>
      </p:pic>
    </p:spTree>
    <p:extLst>
      <p:ext uri="{BB962C8B-B14F-4D97-AF65-F5344CB8AC3E}">
        <p14:creationId xmlns:p14="http://schemas.microsoft.com/office/powerpoint/2010/main" val="468785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Element 2: Prepare and produce buffet dishes</a:t>
            </a:r>
          </a:p>
          <a:p>
            <a:pPr marL="463550" indent="-463550">
              <a:spcBef>
                <a:spcPts val="600"/>
              </a:spcBef>
              <a:spcAft>
                <a:spcPts val="1200"/>
              </a:spcAft>
            </a:pPr>
            <a:r>
              <a:rPr lang="en-AU" sz="2200" smtClean="0">
                <a:latin typeface="Helvetica" pitchFamily="34" charset="0"/>
                <a:cs typeface="Helvetica" pitchFamily="34" charset="0"/>
              </a:rPr>
              <a:t>Select </a:t>
            </a:r>
            <a:r>
              <a:rPr lang="en-AU" sz="2200">
                <a:latin typeface="Helvetica" pitchFamily="34" charset="0"/>
                <a:cs typeface="Helvetica" pitchFamily="34" charset="0"/>
              </a:rPr>
              <a:t>appropriate preparation and cooking methods for dishes on buffet </a:t>
            </a:r>
            <a:r>
              <a:rPr lang="en-AU" sz="2200" smtClean="0">
                <a:latin typeface="Helvetica" pitchFamily="34" charset="0"/>
                <a:cs typeface="Helvetica" pitchFamily="34" charset="0"/>
              </a:rPr>
              <a:t>menu</a:t>
            </a:r>
          </a:p>
          <a:p>
            <a:pPr marL="463550" indent="-463550">
              <a:spcBef>
                <a:spcPts val="600"/>
              </a:spcBef>
              <a:spcAft>
                <a:spcPts val="1200"/>
              </a:spcAft>
            </a:pPr>
            <a:r>
              <a:rPr lang="en-AU" sz="2200" smtClean="0">
                <a:latin typeface="Helvetica" pitchFamily="34" charset="0"/>
                <a:cs typeface="Helvetica" pitchFamily="34" charset="0"/>
              </a:rPr>
              <a:t>Glaze </a:t>
            </a:r>
            <a:r>
              <a:rPr lang="en-AU" sz="2200">
                <a:latin typeface="Helvetica" pitchFamily="34" charset="0"/>
                <a:cs typeface="Helvetica" pitchFamily="34" charset="0"/>
              </a:rPr>
              <a:t>buffet foods were </a:t>
            </a:r>
            <a:r>
              <a:rPr lang="en-AU" sz="2200" smtClean="0">
                <a:latin typeface="Helvetica" pitchFamily="34" charset="0"/>
                <a:cs typeface="Helvetica" pitchFamily="34" charset="0"/>
              </a:rPr>
              <a:t>appropriate</a:t>
            </a:r>
          </a:p>
          <a:p>
            <a:pPr marL="463550" indent="-463550">
              <a:spcBef>
                <a:spcPts val="600"/>
              </a:spcBef>
              <a:spcAft>
                <a:spcPts val="1200"/>
              </a:spcAft>
            </a:pPr>
            <a:r>
              <a:rPr lang="en-AU" sz="2200" smtClean="0">
                <a:latin typeface="Helvetica" pitchFamily="34" charset="0"/>
                <a:cs typeface="Helvetica" pitchFamily="34" charset="0"/>
              </a:rPr>
              <a:t>Hold </a:t>
            </a:r>
            <a:r>
              <a:rPr lang="en-AU" sz="2200">
                <a:latin typeface="Helvetica" pitchFamily="34" charset="0"/>
                <a:cs typeface="Helvetica" pitchFamily="34" charset="0"/>
              </a:rPr>
              <a:t>prepared products as required prior to </a:t>
            </a:r>
            <a:r>
              <a:rPr lang="en-AU" sz="2200" smtClean="0">
                <a:latin typeface="Helvetica" pitchFamily="34" charset="0"/>
                <a:cs typeface="Helvetica" pitchFamily="34" charset="0"/>
              </a:rPr>
              <a:t>presenting</a:t>
            </a:r>
          </a:p>
          <a:p>
            <a:pPr marL="463550" indent="-463550">
              <a:spcBef>
                <a:spcPts val="600"/>
              </a:spcBef>
              <a:spcAft>
                <a:spcPts val="1200"/>
              </a:spcAft>
            </a:pPr>
            <a:r>
              <a:rPr lang="en-AU" sz="2200" smtClean="0">
                <a:latin typeface="Helvetica" pitchFamily="34" charset="0"/>
                <a:cs typeface="Helvetica" pitchFamily="34" charset="0"/>
              </a:rPr>
              <a:t>Prepare </a:t>
            </a:r>
            <a:r>
              <a:rPr lang="en-AU" sz="2200">
                <a:latin typeface="Helvetica" pitchFamily="34" charset="0"/>
                <a:cs typeface="Helvetica" pitchFamily="34" charset="0"/>
              </a:rPr>
              <a:t>garnishes, sauces and accompaniments for appropriate buffet dishes </a:t>
            </a:r>
            <a:endParaRPr lang="en-AU" sz="2200" smtClean="0">
              <a:latin typeface="Helvetica" pitchFamily="34" charset="0"/>
              <a:cs typeface="Helvetica" pitchFamily="34" charset="0"/>
            </a:endParaRPr>
          </a:p>
          <a:p>
            <a:pPr marL="463550" indent="-463550">
              <a:spcBef>
                <a:spcPts val="600"/>
              </a:spcBef>
              <a:spcAft>
                <a:spcPts val="1200"/>
              </a:spcAft>
            </a:pPr>
            <a:r>
              <a:rPr lang="en-AU" sz="2200" smtClean="0">
                <a:latin typeface="Helvetica" pitchFamily="34" charset="0"/>
                <a:cs typeface="Helvetica" pitchFamily="34" charset="0"/>
              </a:rPr>
              <a:t>Use </a:t>
            </a:r>
            <a:r>
              <a:rPr lang="en-AU" sz="2200">
                <a:latin typeface="Helvetica" pitchFamily="34" charset="0"/>
                <a:cs typeface="Helvetica" pitchFamily="34" charset="0"/>
              </a:rPr>
              <a:t>trimming and leftovers</a:t>
            </a:r>
          </a:p>
          <a:p>
            <a:pPr lvl="1"/>
            <a:endParaRPr lang="en-AU" sz="2200" smtClean="0">
              <a:latin typeface="Helvetica" pitchFamily="34" charset="0"/>
              <a:cs typeface="Helvetica" pitchFamily="34" charset="0"/>
            </a:endParaRPr>
          </a:p>
          <a:p>
            <a:pPr marL="360000" indent="-360000">
              <a:spcBef>
                <a:spcPts val="600"/>
              </a:spcBef>
              <a:spcAft>
                <a:spcPts val="1200"/>
              </a:spcAft>
              <a:buNone/>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14</a:t>
            </a:fld>
            <a:endParaRPr lang="en-US" dirty="0">
              <a:latin typeface="Helvetica" pitchFamily="34" charset="0"/>
              <a:cs typeface="Helvetica" pitchFamily="34" charset="0"/>
            </a:endParaRPr>
          </a:p>
        </p:txBody>
      </p:sp>
      <p:pic>
        <p:nvPicPr>
          <p:cNvPr id="5" name="Picture 4" descr="1394469_37294048.jpg"/>
          <p:cNvPicPr>
            <a:picLocks noChangeAspect="1"/>
          </p:cNvPicPr>
          <p:nvPr/>
        </p:nvPicPr>
        <p:blipFill>
          <a:blip r:embed="rId3" cstate="print"/>
          <a:stretch>
            <a:fillRect/>
          </a:stretch>
        </p:blipFill>
        <p:spPr>
          <a:xfrm>
            <a:off x="6516216" y="4437112"/>
            <a:ext cx="2003714" cy="1502786"/>
          </a:xfrm>
          <a:prstGeom prst="rect">
            <a:avLst/>
          </a:prstGeom>
        </p:spPr>
      </p:pic>
    </p:spTree>
    <p:extLst>
      <p:ext uri="{BB962C8B-B14F-4D97-AF65-F5344CB8AC3E}">
        <p14:creationId xmlns:p14="http://schemas.microsoft.com/office/powerpoint/2010/main" val="385365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b="1" smtClean="0">
                <a:latin typeface="Helvetica" pitchFamily="34" charset="0"/>
              </a:rPr>
              <a:t>Select cooking methods for buffet dishes</a:t>
            </a:r>
          </a:p>
          <a:p>
            <a:pPr marL="463550" indent="-463550">
              <a:spcBef>
                <a:spcPts val="600"/>
              </a:spcBef>
              <a:spcAft>
                <a:spcPts val="1200"/>
              </a:spcAft>
            </a:pPr>
            <a:r>
              <a:rPr lang="en-AU" sz="2200" smtClean="0">
                <a:latin typeface="Helvetica" pitchFamily="34" charset="0"/>
              </a:rPr>
              <a:t>Preparation prior</a:t>
            </a:r>
          </a:p>
          <a:p>
            <a:pPr marL="463550" indent="-463550">
              <a:spcBef>
                <a:spcPts val="600"/>
              </a:spcBef>
              <a:spcAft>
                <a:spcPts val="1200"/>
              </a:spcAft>
            </a:pPr>
            <a:r>
              <a:rPr lang="en-AU" sz="2200" smtClean="0">
                <a:latin typeface="Helvetica" pitchFamily="34" charset="0"/>
              </a:rPr>
              <a:t>Cooking on the day</a:t>
            </a:r>
          </a:p>
          <a:p>
            <a:pPr marL="463550" indent="-463550">
              <a:spcBef>
                <a:spcPts val="600"/>
              </a:spcBef>
              <a:spcAft>
                <a:spcPts val="1200"/>
              </a:spcAft>
            </a:pPr>
            <a:r>
              <a:rPr lang="en-AU" sz="2200" smtClean="0">
                <a:latin typeface="Helvetica" pitchFamily="34" charset="0"/>
              </a:rPr>
              <a:t>Serving? Ease of</a:t>
            </a:r>
          </a:p>
          <a:p>
            <a:pPr marL="463550" indent="-463550">
              <a:spcBef>
                <a:spcPts val="600"/>
              </a:spcBef>
              <a:spcAft>
                <a:spcPts val="1200"/>
              </a:spcAft>
            </a:pPr>
            <a:r>
              <a:rPr lang="en-AU" sz="2200" smtClean="0">
                <a:latin typeface="Helvetica" pitchFamily="34" charset="0"/>
              </a:rPr>
              <a:t>Serving? Speed of</a:t>
            </a:r>
          </a:p>
          <a:p>
            <a:pPr marL="0" indent="0">
              <a:spcBef>
                <a:spcPts val="600"/>
              </a:spcBef>
              <a:spcAft>
                <a:spcPts val="1200"/>
              </a:spcAft>
              <a:buNone/>
            </a:pPr>
            <a:endParaRPr lang="en-AU" sz="2200" smtClean="0">
              <a:latin typeface="Helvetica" pitchFamily="34" charset="0"/>
            </a:endParaRPr>
          </a:p>
          <a:p>
            <a:pPr marL="0" indent="0">
              <a:spcBef>
                <a:spcPts val="600"/>
              </a:spcBef>
              <a:spcAft>
                <a:spcPts val="1200"/>
              </a:spcAft>
              <a:buNone/>
            </a:pPr>
            <a:endParaRPr lang="en-AU" sz="2200" smtClean="0">
              <a:latin typeface="Helvetica" pitchFamily="34" charset="0"/>
            </a:endParaRPr>
          </a:p>
          <a:p>
            <a:pPr marL="0" indent="0">
              <a:spcBef>
                <a:spcPts val="600"/>
              </a:spcBef>
              <a:spcAft>
                <a:spcPts val="1200"/>
              </a:spcAft>
              <a:buNone/>
            </a:pPr>
            <a:endParaRPr lang="en-AU" sz="2200" smtClean="0"/>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15</a:t>
            </a:fld>
            <a:endParaRPr lang="en-US" dirty="0">
              <a:latin typeface="Helvetica" pitchFamily="34" charset="0"/>
              <a:cs typeface="Helvetica" pitchFamily="34" charset="0"/>
            </a:endParaRPr>
          </a:p>
        </p:txBody>
      </p:sp>
      <p:pic>
        <p:nvPicPr>
          <p:cNvPr id="5" name="Picture 4" descr="634095_22309712.jpg"/>
          <p:cNvPicPr>
            <a:picLocks noChangeAspect="1"/>
          </p:cNvPicPr>
          <p:nvPr/>
        </p:nvPicPr>
        <p:blipFill>
          <a:blip r:embed="rId3" cstate="print"/>
          <a:stretch>
            <a:fillRect/>
          </a:stretch>
        </p:blipFill>
        <p:spPr>
          <a:xfrm>
            <a:off x="5652120" y="3356992"/>
            <a:ext cx="2783967" cy="2087975"/>
          </a:xfrm>
          <a:prstGeom prst="rect">
            <a:avLst/>
          </a:prstGeom>
        </p:spPr>
      </p:pic>
    </p:spTree>
    <p:extLst>
      <p:ext uri="{BB962C8B-B14F-4D97-AF65-F5344CB8AC3E}">
        <p14:creationId xmlns:p14="http://schemas.microsoft.com/office/powerpoint/2010/main" val="3124830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88832" cy="5445224"/>
          </a:xfrm>
        </p:spPr>
        <p:txBody>
          <a:bodyPr>
            <a:normAutofit/>
          </a:bodyPr>
          <a:lstStyle/>
          <a:p>
            <a:pPr marL="0" indent="0">
              <a:spcBef>
                <a:spcPts val="600"/>
              </a:spcBef>
              <a:spcAft>
                <a:spcPts val="1000"/>
              </a:spcAft>
              <a:buNone/>
            </a:pPr>
            <a:r>
              <a:rPr lang="en-AU" sz="2200" b="1" dirty="0" smtClean="0">
                <a:latin typeface="Helvetica" pitchFamily="34" charset="0"/>
              </a:rPr>
              <a:t>Glaze buffet foods</a:t>
            </a:r>
          </a:p>
          <a:p>
            <a:pPr marL="0" indent="0">
              <a:spcBef>
                <a:spcPts val="600"/>
              </a:spcBef>
              <a:spcAft>
                <a:spcPts val="1000"/>
              </a:spcAft>
              <a:buNone/>
            </a:pPr>
            <a:r>
              <a:rPr lang="en-AU" sz="2200" dirty="0" smtClean="0">
                <a:latin typeface="Helvetica" pitchFamily="34" charset="0"/>
              </a:rPr>
              <a:t>Eye appeal:</a:t>
            </a:r>
          </a:p>
          <a:p>
            <a:pPr marL="463550" indent="-463550">
              <a:spcBef>
                <a:spcPts val="600"/>
              </a:spcBef>
              <a:spcAft>
                <a:spcPts val="1000"/>
              </a:spcAft>
            </a:pPr>
            <a:r>
              <a:rPr lang="en-AU" sz="2200" dirty="0" smtClean="0">
                <a:latin typeface="Helvetica" pitchFamily="34" charset="0"/>
              </a:rPr>
              <a:t>Decorate with colour cut outs </a:t>
            </a:r>
          </a:p>
          <a:p>
            <a:pPr marL="0" indent="0">
              <a:spcBef>
                <a:spcPts val="600"/>
              </a:spcBef>
              <a:spcAft>
                <a:spcPts val="1000"/>
              </a:spcAft>
              <a:buNone/>
            </a:pPr>
            <a:r>
              <a:rPr lang="en-AU" sz="2200" dirty="0" smtClean="0">
                <a:latin typeface="Helvetica" pitchFamily="34" charset="0"/>
              </a:rPr>
              <a:t>Theme:</a:t>
            </a:r>
          </a:p>
          <a:p>
            <a:pPr marL="463550" indent="-463550">
              <a:spcBef>
                <a:spcPts val="600"/>
              </a:spcBef>
              <a:spcAft>
                <a:spcPts val="1000"/>
              </a:spcAft>
            </a:pPr>
            <a:r>
              <a:rPr lang="en-AU" sz="2200" dirty="0" smtClean="0">
                <a:latin typeface="Helvetica" pitchFamily="34" charset="0"/>
              </a:rPr>
              <a:t>Decoration on glazed</a:t>
            </a:r>
          </a:p>
          <a:p>
            <a:pPr marL="0" indent="0">
              <a:spcBef>
                <a:spcPts val="600"/>
              </a:spcBef>
              <a:spcAft>
                <a:spcPts val="1000"/>
              </a:spcAft>
              <a:buNone/>
            </a:pPr>
            <a:r>
              <a:rPr lang="en-AU" sz="2200" dirty="0" smtClean="0">
                <a:latin typeface="Helvetica" pitchFamily="34" charset="0"/>
              </a:rPr>
              <a:t>Ease of service:</a:t>
            </a:r>
          </a:p>
          <a:p>
            <a:pPr marL="463550" indent="-463550">
              <a:spcBef>
                <a:spcPts val="600"/>
              </a:spcBef>
              <a:spcAft>
                <a:spcPts val="1000"/>
              </a:spcAft>
            </a:pPr>
            <a:r>
              <a:rPr lang="en-AU" sz="2200" dirty="0" smtClean="0">
                <a:latin typeface="Helvetica" pitchFamily="34" charset="0"/>
              </a:rPr>
              <a:t>Lay one piece flat showing internal detail:</a:t>
            </a:r>
          </a:p>
          <a:p>
            <a:pPr marL="914400" lvl="1" indent="-449263">
              <a:spcBef>
                <a:spcPts val="600"/>
              </a:spcBef>
              <a:spcAft>
                <a:spcPts val="1000"/>
              </a:spcAft>
              <a:buSzPct val="100000"/>
              <a:buFont typeface="Wingdings" pitchFamily="2" charset="2"/>
              <a:buChar char="§"/>
            </a:pPr>
            <a:r>
              <a:rPr lang="en-AU" sz="2200" dirty="0" smtClean="0">
                <a:latin typeface="Helvetica" pitchFamily="34" charset="0"/>
              </a:rPr>
              <a:t>Highlights the skill of the cook and </a:t>
            </a:r>
            <a:br>
              <a:rPr lang="en-AU" sz="2200" dirty="0" smtClean="0">
                <a:latin typeface="Helvetica" pitchFamily="34" charset="0"/>
              </a:rPr>
            </a:br>
            <a:r>
              <a:rPr lang="en-AU" sz="2200" dirty="0" smtClean="0">
                <a:latin typeface="Helvetica" pitchFamily="34" charset="0"/>
              </a:rPr>
              <a:t>entices customer to select</a:t>
            </a:r>
          </a:p>
          <a:p>
            <a:pPr marL="0" indent="0">
              <a:spcBef>
                <a:spcPts val="600"/>
              </a:spcBef>
              <a:spcAft>
                <a:spcPts val="1000"/>
              </a:spcAft>
              <a:buNone/>
            </a:pPr>
            <a:endParaRPr lang="en-AU" sz="2200" dirty="0" smtClean="0">
              <a:latin typeface="Helvetica" pitchFamily="34" charset="0"/>
            </a:endParaRPr>
          </a:p>
          <a:p>
            <a:pPr marL="0" indent="0">
              <a:spcBef>
                <a:spcPts val="600"/>
              </a:spcBef>
              <a:spcAft>
                <a:spcPts val="1000"/>
              </a:spcAft>
              <a:buNone/>
            </a:pPr>
            <a:endParaRPr lang="en-AU" sz="2200" dirty="0" smtClean="0">
              <a:latin typeface="Helvetica" pitchFamily="34" charset="0"/>
            </a:endParaRPr>
          </a:p>
          <a:p>
            <a:pPr marL="0" indent="0">
              <a:spcBef>
                <a:spcPts val="600"/>
              </a:spcBef>
              <a:spcAft>
                <a:spcPts val="1000"/>
              </a:spcAft>
              <a:buNone/>
            </a:pPr>
            <a:endParaRPr lang="en-AU" sz="2200" dirty="0" smtClean="0">
              <a:latin typeface="Helvetica" pitchFamily="34" charset="0"/>
            </a:endParaRPr>
          </a:p>
          <a:p>
            <a:pPr marL="0" indent="0">
              <a:spcBef>
                <a:spcPts val="600"/>
              </a:spcBef>
              <a:spcAft>
                <a:spcPts val="1000"/>
              </a:spcAft>
              <a:buNone/>
            </a:pPr>
            <a:endParaRPr lang="en-AU" sz="2200" dirty="0" smtClean="0">
              <a:latin typeface="Helvetica" pitchFamily="34" charset="0"/>
            </a:endParaRPr>
          </a:p>
          <a:p>
            <a:pPr marL="0" indent="0">
              <a:spcBef>
                <a:spcPts val="600"/>
              </a:spcBef>
              <a:spcAft>
                <a:spcPts val="1000"/>
              </a:spcAft>
              <a:buNone/>
            </a:pPr>
            <a:endParaRPr lang="en-AU" sz="2200" dirty="0" smtClean="0"/>
          </a:p>
          <a:p>
            <a:pPr marL="360000" indent="-360000">
              <a:spcBef>
                <a:spcPts val="600"/>
              </a:spcBef>
              <a:spcAft>
                <a:spcPts val="10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16</a:t>
            </a:fld>
            <a:endParaRPr lang="en-US" dirty="0">
              <a:latin typeface="Helvetica" pitchFamily="34" charset="0"/>
              <a:cs typeface="Helvetica" pitchFamily="34" charset="0"/>
            </a:endParaRPr>
          </a:p>
        </p:txBody>
      </p:sp>
      <p:pic>
        <p:nvPicPr>
          <p:cNvPr id="5" name="Picture 4" descr="Chef cooking4.jpg"/>
          <p:cNvPicPr>
            <a:picLocks noChangeAspect="1"/>
          </p:cNvPicPr>
          <p:nvPr/>
        </p:nvPicPr>
        <p:blipFill>
          <a:blip r:embed="rId3" cstate="print"/>
          <a:stretch>
            <a:fillRect/>
          </a:stretch>
        </p:blipFill>
        <p:spPr>
          <a:xfrm>
            <a:off x="6691613" y="2636912"/>
            <a:ext cx="1696811" cy="2543944"/>
          </a:xfrm>
          <a:prstGeom prst="rect">
            <a:avLst/>
          </a:prstGeom>
        </p:spPr>
      </p:pic>
    </p:spTree>
    <p:extLst>
      <p:ext uri="{BB962C8B-B14F-4D97-AF65-F5344CB8AC3E}">
        <p14:creationId xmlns:p14="http://schemas.microsoft.com/office/powerpoint/2010/main" val="1072053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96544"/>
          </a:xfrm>
        </p:spPr>
        <p:txBody>
          <a:bodyPr>
            <a:normAutofit/>
          </a:bodyPr>
          <a:lstStyle/>
          <a:p>
            <a:pPr marL="0" indent="0">
              <a:spcBef>
                <a:spcPts val="600"/>
              </a:spcBef>
              <a:spcAft>
                <a:spcPts val="1200"/>
              </a:spcAft>
              <a:buNone/>
            </a:pPr>
            <a:r>
              <a:rPr lang="en-AU" sz="2200" b="1" dirty="0" smtClean="0">
                <a:latin typeface="Helvetica" pitchFamily="34" charset="0"/>
              </a:rPr>
              <a:t>Hold prepared products</a:t>
            </a:r>
          </a:p>
          <a:p>
            <a:pPr marL="463550" indent="-463550">
              <a:spcBef>
                <a:spcPts val="600"/>
              </a:spcBef>
              <a:spcAft>
                <a:spcPts val="1200"/>
              </a:spcAft>
            </a:pPr>
            <a:r>
              <a:rPr lang="en-AU" sz="2200" dirty="0" smtClean="0">
                <a:latin typeface="Helvetica" pitchFamily="34" charset="0"/>
              </a:rPr>
              <a:t>Storing after preparing and before serving:</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Keep on separate containers</a:t>
            </a:r>
          </a:p>
          <a:p>
            <a:pPr marL="463550" indent="-463550">
              <a:spcBef>
                <a:spcPts val="600"/>
              </a:spcBef>
              <a:spcAft>
                <a:spcPts val="1200"/>
              </a:spcAft>
            </a:pPr>
            <a:r>
              <a:rPr lang="en-AU" sz="2200" dirty="0" smtClean="0">
                <a:latin typeface="Helvetica" pitchFamily="34" charset="0"/>
              </a:rPr>
              <a:t>Available space: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Store in designated space</a:t>
            </a:r>
          </a:p>
          <a:p>
            <a:pPr marL="463550" indent="-463550">
              <a:spcBef>
                <a:spcPts val="600"/>
              </a:spcBef>
              <a:spcAft>
                <a:spcPts val="1200"/>
              </a:spcAft>
            </a:pPr>
            <a:r>
              <a:rPr lang="en-AU" sz="2200" dirty="0" smtClean="0">
                <a:latin typeface="Helvetica" pitchFamily="34" charset="0"/>
              </a:rPr>
              <a:t>Correct temperature: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Keep all cooked food chilled until </a:t>
            </a:r>
            <a:br>
              <a:rPr lang="en-AU" sz="2200" dirty="0" smtClean="0">
                <a:latin typeface="Helvetica" pitchFamily="34" charset="0"/>
              </a:rPr>
            </a:br>
            <a:r>
              <a:rPr lang="en-AU" sz="2200" dirty="0" smtClean="0">
                <a:latin typeface="Helvetica" pitchFamily="34" charset="0"/>
              </a:rPr>
              <a:t>required</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17</a:t>
            </a:fld>
            <a:endParaRPr lang="en-US" dirty="0">
              <a:latin typeface="Helvetica" pitchFamily="34" charset="0"/>
              <a:cs typeface="Helvetica" pitchFamily="34" charset="0"/>
            </a:endParaRPr>
          </a:p>
        </p:txBody>
      </p:sp>
      <p:pic>
        <p:nvPicPr>
          <p:cNvPr id="5" name="Picture 4" descr="Chef cooking2.jpg"/>
          <p:cNvPicPr>
            <a:picLocks noChangeAspect="1"/>
          </p:cNvPicPr>
          <p:nvPr/>
        </p:nvPicPr>
        <p:blipFill>
          <a:blip r:embed="rId3" cstate="print"/>
          <a:stretch>
            <a:fillRect/>
          </a:stretch>
        </p:blipFill>
        <p:spPr>
          <a:xfrm>
            <a:off x="6228184" y="3717032"/>
            <a:ext cx="2179125" cy="1444760"/>
          </a:xfrm>
          <a:prstGeom prst="rect">
            <a:avLst/>
          </a:prstGeom>
        </p:spPr>
      </p:pic>
    </p:spTree>
    <p:extLst>
      <p:ext uri="{BB962C8B-B14F-4D97-AF65-F5344CB8AC3E}">
        <p14:creationId xmlns:p14="http://schemas.microsoft.com/office/powerpoint/2010/main" val="3066798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632848" cy="4669979"/>
          </a:xfrm>
        </p:spPr>
        <p:txBody>
          <a:bodyPr>
            <a:normAutofit/>
          </a:bodyPr>
          <a:lstStyle/>
          <a:p>
            <a:pPr marL="0" indent="0">
              <a:spcBef>
                <a:spcPts val="600"/>
              </a:spcBef>
              <a:spcAft>
                <a:spcPts val="1200"/>
              </a:spcAft>
              <a:buNone/>
            </a:pPr>
            <a:r>
              <a:rPr lang="en-AU" sz="2200" b="1" dirty="0" smtClean="0">
                <a:latin typeface="Helvetica" pitchFamily="34" charset="0"/>
              </a:rPr>
              <a:t>Prepare garnishes and sauces</a:t>
            </a:r>
          </a:p>
          <a:p>
            <a:pPr marL="463550" indent="-463550">
              <a:spcBef>
                <a:spcPts val="600"/>
              </a:spcBef>
              <a:spcAft>
                <a:spcPts val="1200"/>
              </a:spcAft>
            </a:pPr>
            <a:r>
              <a:rPr lang="en-AU" sz="2200" dirty="0" smtClean="0">
                <a:latin typeface="Helvetica" pitchFamily="34" charset="0"/>
              </a:rPr>
              <a:t>Variety:</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Not all green chopped herb</a:t>
            </a:r>
          </a:p>
          <a:p>
            <a:pPr marL="463550" indent="-463550">
              <a:spcBef>
                <a:spcPts val="600"/>
              </a:spcBef>
              <a:spcAft>
                <a:spcPts val="1200"/>
              </a:spcAft>
            </a:pPr>
            <a:r>
              <a:rPr lang="en-AU" sz="2200" dirty="0" smtClean="0">
                <a:latin typeface="Helvetica" pitchFamily="34" charset="0"/>
              </a:rPr>
              <a:t>Complimenting to food display:</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Keep to the theme of buffet</a:t>
            </a:r>
          </a:p>
          <a:p>
            <a:pPr marL="463550" indent="-463550">
              <a:spcBef>
                <a:spcPts val="600"/>
              </a:spcBef>
              <a:spcAft>
                <a:spcPts val="1200"/>
              </a:spcAft>
            </a:pPr>
            <a:r>
              <a:rPr lang="en-AU" sz="2200" dirty="0" smtClean="0">
                <a:latin typeface="Helvetica" pitchFamily="34" charset="0"/>
              </a:rPr>
              <a:t>Sauces:</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Variety on side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Condiments to compliment</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18</a:t>
            </a:fld>
            <a:endParaRPr lang="en-US" dirty="0">
              <a:latin typeface="Helvetica" pitchFamily="34" charset="0"/>
              <a:cs typeface="Helvetica" pitchFamily="34" charset="0"/>
            </a:endParaRPr>
          </a:p>
        </p:txBody>
      </p:sp>
      <p:pic>
        <p:nvPicPr>
          <p:cNvPr id="6" name="Picture 5" descr="Sauces.jpg"/>
          <p:cNvPicPr>
            <a:picLocks noChangeAspect="1"/>
          </p:cNvPicPr>
          <p:nvPr/>
        </p:nvPicPr>
        <p:blipFill>
          <a:blip r:embed="rId3" cstate="print"/>
          <a:stretch>
            <a:fillRect/>
          </a:stretch>
        </p:blipFill>
        <p:spPr>
          <a:xfrm>
            <a:off x="5940152" y="2708920"/>
            <a:ext cx="2327920" cy="2309297"/>
          </a:xfrm>
          <a:prstGeom prst="rect">
            <a:avLst/>
          </a:prstGeom>
        </p:spPr>
      </p:pic>
    </p:spTree>
    <p:extLst>
      <p:ext uri="{BB962C8B-B14F-4D97-AF65-F5344CB8AC3E}">
        <p14:creationId xmlns:p14="http://schemas.microsoft.com/office/powerpoint/2010/main" val="762676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936104"/>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0" indent="0">
              <a:spcBef>
                <a:spcPts val="600"/>
              </a:spcBef>
              <a:spcAft>
                <a:spcPts val="1200"/>
              </a:spcAft>
              <a:buNone/>
            </a:pPr>
            <a:r>
              <a:rPr lang="en-AU" sz="2200" b="1" dirty="0" smtClean="0">
                <a:latin typeface="Helvetica" pitchFamily="34" charset="0"/>
              </a:rPr>
              <a:t>Use trimmings and leftovers</a:t>
            </a:r>
          </a:p>
          <a:p>
            <a:pPr marL="463550" indent="-463550">
              <a:spcBef>
                <a:spcPts val="600"/>
              </a:spcBef>
              <a:spcAft>
                <a:spcPts val="1200"/>
              </a:spcAft>
            </a:pPr>
            <a:r>
              <a:rPr lang="en-AU" sz="2200" dirty="0" smtClean="0">
                <a:latin typeface="Helvetica" pitchFamily="34" charset="0"/>
              </a:rPr>
              <a:t>Utilising valuable commodity:</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Save left over commodity for future use in menus</a:t>
            </a:r>
          </a:p>
          <a:p>
            <a:pPr marL="463550" indent="-463550">
              <a:spcBef>
                <a:spcPts val="600"/>
              </a:spcBef>
              <a:spcAft>
                <a:spcPts val="1200"/>
              </a:spcAft>
            </a:pPr>
            <a:r>
              <a:rPr lang="en-AU" sz="2200" dirty="0" smtClean="0">
                <a:latin typeface="Helvetica" pitchFamily="34" charset="0"/>
              </a:rPr>
              <a:t>Adding value:</a:t>
            </a:r>
          </a:p>
          <a:p>
            <a:pPr marL="914400" indent="-463550">
              <a:spcBef>
                <a:spcPts val="600"/>
              </a:spcBef>
              <a:spcAft>
                <a:spcPts val="1200"/>
              </a:spcAft>
              <a:buSzPct val="100000"/>
              <a:buFont typeface="Wingdings" pitchFamily="2" charset="2"/>
              <a:buChar char="§"/>
            </a:pPr>
            <a:r>
              <a:rPr lang="en-AU" sz="2200" dirty="0" smtClean="0">
                <a:latin typeface="Helvetica" pitchFamily="34" charset="0"/>
              </a:rPr>
              <a:t>Trimmings can be used in sauces </a:t>
            </a:r>
            <a:br>
              <a:rPr lang="en-AU" sz="2200" dirty="0" smtClean="0">
                <a:latin typeface="Helvetica" pitchFamily="34" charset="0"/>
              </a:rPr>
            </a:br>
            <a:r>
              <a:rPr lang="en-AU" sz="2200" dirty="0" smtClean="0">
                <a:latin typeface="Helvetica" pitchFamily="34" charset="0"/>
              </a:rPr>
              <a:t>and other dishes where applicable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19</a:t>
            </a:fld>
            <a:endParaRPr lang="en-US" dirty="0">
              <a:latin typeface="Helvetica" pitchFamily="34" charset="0"/>
              <a:cs typeface="Helvetica" pitchFamily="34" charset="0"/>
            </a:endParaRPr>
          </a:p>
        </p:txBody>
      </p:sp>
      <p:pic>
        <p:nvPicPr>
          <p:cNvPr id="5" name="Picture 4" descr="meat in tray.jpg"/>
          <p:cNvPicPr>
            <a:picLocks noChangeAspect="1"/>
          </p:cNvPicPr>
          <p:nvPr/>
        </p:nvPicPr>
        <p:blipFill>
          <a:blip r:embed="rId3" cstate="print"/>
          <a:srcRect l="21262" r="7864"/>
          <a:stretch>
            <a:fillRect/>
          </a:stretch>
        </p:blipFill>
        <p:spPr>
          <a:xfrm>
            <a:off x="6084168" y="2996952"/>
            <a:ext cx="2160240" cy="2039112"/>
          </a:xfrm>
          <a:prstGeom prst="rect">
            <a:avLst/>
          </a:prstGeom>
        </p:spPr>
      </p:pic>
    </p:spTree>
    <p:extLst>
      <p:ext uri="{BB962C8B-B14F-4D97-AF65-F5344CB8AC3E}">
        <p14:creationId xmlns:p14="http://schemas.microsoft.com/office/powerpoint/2010/main" val="2637270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864096"/>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560840" cy="4669979"/>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Element 3: Display buffet dishes</a:t>
            </a:r>
          </a:p>
          <a:p>
            <a:pPr marL="463550" indent="-463550">
              <a:spcBef>
                <a:spcPts val="600"/>
              </a:spcBef>
              <a:spcAft>
                <a:spcPts val="1200"/>
              </a:spcAft>
            </a:pPr>
            <a:r>
              <a:rPr lang="en-AU" sz="2200" smtClean="0">
                <a:latin typeface="Helvetica" pitchFamily="34" charset="0"/>
                <a:cs typeface="Helvetica" pitchFamily="34" charset="0"/>
              </a:rPr>
              <a:t>Present </a:t>
            </a:r>
            <a:r>
              <a:rPr lang="en-AU" sz="2200">
                <a:latin typeface="Helvetica" pitchFamily="34" charset="0"/>
                <a:cs typeface="Helvetica" pitchFamily="34" charset="0"/>
              </a:rPr>
              <a:t>buffet </a:t>
            </a:r>
            <a:r>
              <a:rPr lang="en-AU" sz="2200" smtClean="0">
                <a:latin typeface="Helvetica" pitchFamily="34" charset="0"/>
                <a:cs typeface="Helvetica" pitchFamily="34" charset="0"/>
              </a:rPr>
              <a:t>products</a:t>
            </a:r>
          </a:p>
          <a:p>
            <a:pPr marL="463550" indent="-463550">
              <a:spcBef>
                <a:spcPts val="600"/>
              </a:spcBef>
              <a:spcAft>
                <a:spcPts val="1200"/>
              </a:spcAft>
            </a:pPr>
            <a:r>
              <a:rPr lang="en-AU" sz="2200" smtClean="0">
                <a:latin typeface="Helvetica" pitchFamily="34" charset="0"/>
                <a:cs typeface="Helvetica" pitchFamily="34" charset="0"/>
              </a:rPr>
              <a:t>Hold </a:t>
            </a:r>
            <a:r>
              <a:rPr lang="en-AU" sz="2200">
                <a:latin typeface="Helvetica" pitchFamily="34" charset="0"/>
                <a:cs typeface="Helvetica" pitchFamily="34" charset="0"/>
              </a:rPr>
              <a:t>prepared products as required for duration of buffet </a:t>
            </a:r>
            <a:r>
              <a:rPr lang="en-AU" sz="2200" smtClean="0">
                <a:latin typeface="Helvetica" pitchFamily="34" charset="0"/>
                <a:cs typeface="Helvetica" pitchFamily="34" charset="0"/>
              </a:rPr>
              <a:t>service</a:t>
            </a:r>
          </a:p>
          <a:p>
            <a:pPr marL="463550" indent="-463550">
              <a:spcBef>
                <a:spcPts val="600"/>
              </a:spcBef>
              <a:spcAft>
                <a:spcPts val="1200"/>
              </a:spcAft>
            </a:pPr>
            <a:r>
              <a:rPr lang="en-AU" sz="2200" smtClean="0">
                <a:latin typeface="Helvetica" pitchFamily="34" charset="0"/>
                <a:cs typeface="Helvetica" pitchFamily="34" charset="0"/>
              </a:rPr>
              <a:t>Minimise </a:t>
            </a:r>
            <a:r>
              <a:rPr lang="en-AU" sz="2200">
                <a:latin typeface="Helvetica" pitchFamily="34" charset="0"/>
                <a:cs typeface="Helvetica" pitchFamily="34" charset="0"/>
              </a:rPr>
              <a:t>wastage through presentation and </a:t>
            </a:r>
            <a:r>
              <a:rPr lang="en-AU" sz="2200" smtClean="0">
                <a:latin typeface="Helvetica" pitchFamily="34" charset="0"/>
                <a:cs typeface="Helvetica" pitchFamily="34" charset="0"/>
              </a:rPr>
              <a:t>replenishing</a:t>
            </a:r>
          </a:p>
          <a:p>
            <a:pPr marL="463550" indent="-463550">
              <a:spcBef>
                <a:spcPts val="600"/>
              </a:spcBef>
              <a:spcAft>
                <a:spcPts val="1200"/>
              </a:spcAft>
            </a:pPr>
            <a:r>
              <a:rPr lang="en-AU" sz="2200" smtClean="0">
                <a:latin typeface="Helvetica" pitchFamily="34" charset="0"/>
                <a:cs typeface="Helvetica" pitchFamily="34" charset="0"/>
              </a:rPr>
              <a:t>Display </a:t>
            </a:r>
            <a:r>
              <a:rPr lang="en-AU" sz="2200">
                <a:latin typeface="Helvetica" pitchFamily="34" charset="0"/>
                <a:cs typeface="Helvetica" pitchFamily="34" charset="0"/>
              </a:rPr>
              <a:t>buffet dishes attractively </a:t>
            </a:r>
            <a:endParaRPr lang="en-AU" sz="2200" smtClean="0">
              <a:latin typeface="Helvetica" pitchFamily="34" charset="0"/>
              <a:cs typeface="Helvetica" pitchFamily="34" charset="0"/>
            </a:endParaRPr>
          </a:p>
          <a:p>
            <a:pPr marL="360000" indent="-360000">
              <a:spcBef>
                <a:spcPts val="600"/>
              </a:spcBef>
              <a:spcAft>
                <a:spcPts val="1200"/>
              </a:spcAft>
              <a:buNone/>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20</a:t>
            </a:fld>
            <a:endParaRPr lang="en-US" dirty="0">
              <a:latin typeface="Helvetica" pitchFamily="34" charset="0"/>
              <a:cs typeface="Helvetica" pitchFamily="34" charset="0"/>
            </a:endParaRPr>
          </a:p>
        </p:txBody>
      </p:sp>
      <p:pic>
        <p:nvPicPr>
          <p:cNvPr id="5" name="Picture 4" descr="Buffet.jpg"/>
          <p:cNvPicPr>
            <a:picLocks noChangeAspect="1"/>
          </p:cNvPicPr>
          <p:nvPr/>
        </p:nvPicPr>
        <p:blipFill>
          <a:blip r:embed="rId3" cstate="print"/>
          <a:stretch>
            <a:fillRect/>
          </a:stretch>
        </p:blipFill>
        <p:spPr>
          <a:xfrm>
            <a:off x="6071567" y="4005064"/>
            <a:ext cx="2388865" cy="1581361"/>
          </a:xfrm>
          <a:prstGeom prst="rect">
            <a:avLst/>
          </a:prstGeom>
        </p:spPr>
      </p:pic>
    </p:spTree>
    <p:extLst>
      <p:ext uri="{BB962C8B-B14F-4D97-AF65-F5344CB8AC3E}">
        <p14:creationId xmlns:p14="http://schemas.microsoft.com/office/powerpoint/2010/main" val="3802493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Knowledge of staff setting up buffets</a:t>
            </a:r>
          </a:p>
          <a:p>
            <a:pPr marL="0">
              <a:spcBef>
                <a:spcPts val="600"/>
              </a:spcBef>
              <a:spcAft>
                <a:spcPts val="1200"/>
              </a:spcAft>
              <a:buNone/>
            </a:pPr>
            <a:r>
              <a:rPr lang="en-AU" sz="2200" dirty="0" smtClean="0">
                <a:latin typeface="Helvetica" pitchFamily="34" charset="0"/>
              </a:rPr>
              <a:t>It is essential that staff, be it kitchen or service staff, involved in the set up of a buffet have enough knowledge to understand what needs to be set up:</a:t>
            </a:r>
          </a:p>
          <a:p>
            <a:pPr>
              <a:spcBef>
                <a:spcPts val="600"/>
              </a:spcBef>
              <a:spcAft>
                <a:spcPts val="1200"/>
              </a:spcAft>
            </a:pPr>
            <a:r>
              <a:rPr lang="en-AU" sz="2200" dirty="0" smtClean="0">
                <a:latin typeface="Helvetica" pitchFamily="34" charset="0"/>
              </a:rPr>
              <a:t>What knowledge do staff need to know about an upcoming buffet?</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21</a:t>
            </a:fld>
            <a:endParaRPr lang="en-US" dirty="0">
              <a:latin typeface="Helvetica" pitchFamily="34" charset="0"/>
              <a:cs typeface="Helvetica" pitchFamily="34" charset="0"/>
            </a:endParaRPr>
          </a:p>
        </p:txBody>
      </p:sp>
      <p:pic>
        <p:nvPicPr>
          <p:cNvPr id="6" name="Picture 5" descr="Salad Bar 2.jpg"/>
          <p:cNvPicPr>
            <a:picLocks noChangeAspect="1"/>
          </p:cNvPicPr>
          <p:nvPr/>
        </p:nvPicPr>
        <p:blipFill>
          <a:blip r:embed="rId3" cstate="print"/>
          <a:stretch>
            <a:fillRect/>
          </a:stretch>
        </p:blipFill>
        <p:spPr>
          <a:xfrm>
            <a:off x="6372200" y="4113091"/>
            <a:ext cx="2058144" cy="1543608"/>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Knowledge of staff setting up buffets</a:t>
            </a:r>
          </a:p>
          <a:p>
            <a:pPr lvl="0">
              <a:spcBef>
                <a:spcPts val="600"/>
              </a:spcBef>
              <a:spcAft>
                <a:spcPts val="1200"/>
              </a:spcAft>
            </a:pPr>
            <a:r>
              <a:rPr lang="en-AU" sz="2200" dirty="0" smtClean="0">
                <a:latin typeface="Helvetica" pitchFamily="34" charset="0"/>
              </a:rPr>
              <a:t>Policies and procedures for setting up buffets</a:t>
            </a:r>
          </a:p>
          <a:p>
            <a:pPr lvl="0">
              <a:spcBef>
                <a:spcPts val="600"/>
              </a:spcBef>
              <a:spcAft>
                <a:spcPts val="1200"/>
              </a:spcAft>
            </a:pPr>
            <a:r>
              <a:rPr lang="en-AU" sz="2200" dirty="0" smtClean="0">
                <a:latin typeface="Helvetica" pitchFamily="34" charset="0"/>
              </a:rPr>
              <a:t>How they should be set up</a:t>
            </a:r>
          </a:p>
          <a:p>
            <a:pPr lvl="0">
              <a:spcBef>
                <a:spcPts val="600"/>
              </a:spcBef>
              <a:spcAft>
                <a:spcPts val="1200"/>
              </a:spcAft>
            </a:pPr>
            <a:r>
              <a:rPr lang="en-AU" sz="2200" dirty="0" smtClean="0">
                <a:latin typeface="Helvetica" pitchFamily="34" charset="0"/>
              </a:rPr>
              <a:t>What menu items are to be served</a:t>
            </a:r>
          </a:p>
          <a:p>
            <a:pPr lvl="0">
              <a:spcBef>
                <a:spcPts val="600"/>
              </a:spcBef>
              <a:spcAft>
                <a:spcPts val="1200"/>
              </a:spcAft>
            </a:pPr>
            <a:r>
              <a:rPr lang="en-AU" sz="2200" dirty="0" smtClean="0">
                <a:latin typeface="Helvetica" pitchFamily="34" charset="0"/>
              </a:rPr>
              <a:t>How they are to be served</a:t>
            </a:r>
          </a:p>
          <a:p>
            <a:pPr lvl="0">
              <a:spcBef>
                <a:spcPts val="600"/>
              </a:spcBef>
              <a:spcAft>
                <a:spcPts val="1200"/>
              </a:spcAft>
            </a:pPr>
            <a:r>
              <a:rPr lang="en-AU" sz="2200" dirty="0" smtClean="0">
                <a:latin typeface="Helvetica" pitchFamily="34" charset="0"/>
              </a:rPr>
              <a:t>What crockery, cutlery or glassware is required</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22</a:t>
            </a:fld>
            <a:endParaRPr lang="en-US" dirty="0">
              <a:latin typeface="Helvetica" pitchFamily="34" charset="0"/>
              <a:cs typeface="Helvetica" pitchFamily="34" charset="0"/>
            </a:endParaRPr>
          </a:p>
        </p:txBody>
      </p:sp>
      <p:pic>
        <p:nvPicPr>
          <p:cNvPr id="6" name="Picture 5" descr="Buffet.jpg"/>
          <p:cNvPicPr>
            <a:picLocks noChangeAspect="1"/>
          </p:cNvPicPr>
          <p:nvPr/>
        </p:nvPicPr>
        <p:blipFill>
          <a:blip r:embed="rId3" cstate="print"/>
          <a:stretch>
            <a:fillRect/>
          </a:stretch>
        </p:blipFill>
        <p:spPr>
          <a:xfrm>
            <a:off x="6660232" y="4500246"/>
            <a:ext cx="1740024" cy="1305018"/>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Knowledge of staff setting up buffets</a:t>
            </a:r>
          </a:p>
          <a:p>
            <a:pPr lvl="0">
              <a:spcBef>
                <a:spcPts val="600"/>
              </a:spcBef>
              <a:spcAft>
                <a:spcPts val="1200"/>
              </a:spcAft>
            </a:pPr>
            <a:r>
              <a:rPr lang="en-AU" sz="2200" dirty="0" smtClean="0">
                <a:latin typeface="Helvetica" pitchFamily="34" charset="0"/>
              </a:rPr>
              <a:t>What service ware is required</a:t>
            </a:r>
          </a:p>
          <a:p>
            <a:pPr lvl="0">
              <a:spcBef>
                <a:spcPts val="600"/>
              </a:spcBef>
              <a:spcAft>
                <a:spcPts val="1200"/>
              </a:spcAft>
            </a:pPr>
            <a:r>
              <a:rPr lang="en-AU" sz="2200" dirty="0" smtClean="0">
                <a:latin typeface="Helvetica" pitchFamily="34" charset="0"/>
              </a:rPr>
              <a:t>What holding equipment is required</a:t>
            </a:r>
          </a:p>
          <a:p>
            <a:pPr lvl="0">
              <a:spcBef>
                <a:spcPts val="600"/>
              </a:spcBef>
              <a:spcAft>
                <a:spcPts val="1200"/>
              </a:spcAft>
            </a:pPr>
            <a:r>
              <a:rPr lang="en-AU" sz="2200" dirty="0" smtClean="0">
                <a:latin typeface="Helvetica" pitchFamily="34" charset="0"/>
              </a:rPr>
              <a:t>Decorations or accompaniments</a:t>
            </a:r>
          </a:p>
          <a:p>
            <a:pPr lvl="0">
              <a:spcBef>
                <a:spcPts val="600"/>
              </a:spcBef>
              <a:spcAft>
                <a:spcPts val="1200"/>
              </a:spcAft>
            </a:pPr>
            <a:r>
              <a:rPr lang="en-AU" sz="2200" dirty="0" smtClean="0">
                <a:latin typeface="Helvetica" pitchFamily="34" charset="0"/>
              </a:rPr>
              <a:t>Signs that are needed to identify food items</a:t>
            </a:r>
          </a:p>
          <a:p>
            <a:pPr lvl="0">
              <a:spcBef>
                <a:spcPts val="600"/>
              </a:spcBef>
              <a:spcAft>
                <a:spcPts val="1200"/>
              </a:spcAft>
            </a:pPr>
            <a:r>
              <a:rPr lang="en-AU" sz="2200" dirty="0" smtClean="0">
                <a:latin typeface="Helvetica" pitchFamily="34" charset="0"/>
              </a:rPr>
              <a:t>An understanding of the ingredients of menu </a:t>
            </a:r>
            <a:br>
              <a:rPr lang="en-AU" sz="2200" dirty="0" smtClean="0">
                <a:latin typeface="Helvetica" pitchFamily="34" charset="0"/>
              </a:rPr>
            </a:br>
            <a:r>
              <a:rPr lang="en-AU" sz="2200" dirty="0" smtClean="0">
                <a:latin typeface="Helvetica" pitchFamily="34" charset="0"/>
              </a:rPr>
              <a:t>items to ensure any customer enquiries </a:t>
            </a:r>
            <a:br>
              <a:rPr lang="en-AU" sz="2200" dirty="0" smtClean="0">
                <a:latin typeface="Helvetica" pitchFamily="34" charset="0"/>
              </a:rPr>
            </a:br>
            <a:r>
              <a:rPr lang="en-AU" sz="2200" dirty="0" smtClean="0">
                <a:latin typeface="Helvetica" pitchFamily="34" charset="0"/>
              </a:rPr>
              <a:t>can be answered accurately</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23</a:t>
            </a:fld>
            <a:endParaRPr lang="en-US" dirty="0">
              <a:latin typeface="Helvetica" pitchFamily="34" charset="0"/>
              <a:cs typeface="Helvetica" pitchFamily="34" charset="0"/>
            </a:endParaRPr>
          </a:p>
        </p:txBody>
      </p:sp>
      <p:pic>
        <p:nvPicPr>
          <p:cNvPr id="5" name="Picture 4" descr="Condiments.jpg"/>
          <p:cNvPicPr>
            <a:picLocks noChangeAspect="1"/>
          </p:cNvPicPr>
          <p:nvPr/>
        </p:nvPicPr>
        <p:blipFill>
          <a:blip r:embed="rId3" cstate="print"/>
          <a:stretch>
            <a:fillRect/>
          </a:stretch>
        </p:blipFill>
        <p:spPr>
          <a:xfrm>
            <a:off x="6792416" y="3501008"/>
            <a:ext cx="1524000" cy="1524000"/>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Importance of professional table settings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presentation of a buffet table says a lot to customers about the level of service they can expect to receive in an establishment. </a:t>
            </a:r>
          </a:p>
          <a:p>
            <a:pPr marL="0">
              <a:spcBef>
                <a:spcPts val="600"/>
              </a:spcBef>
              <a:spcAft>
                <a:spcPts val="1200"/>
              </a:spcAft>
              <a:buNone/>
            </a:pPr>
            <a:r>
              <a:rPr lang="en-AU" sz="2200" dirty="0" smtClean="0">
                <a:latin typeface="Helvetica" pitchFamily="34" charset="0"/>
              </a:rPr>
              <a:t>A great deal of work and attention to detail must be applied when setting buffet tables:</a:t>
            </a:r>
          </a:p>
          <a:p>
            <a:pPr marL="360000" indent="-360000">
              <a:spcBef>
                <a:spcPts val="600"/>
              </a:spcBef>
              <a:spcAft>
                <a:spcPts val="1200"/>
              </a:spcAft>
            </a:pPr>
            <a:r>
              <a:rPr lang="en-AU" sz="2200" dirty="0" smtClean="0">
                <a:latin typeface="Helvetica" pitchFamily="34" charset="0"/>
              </a:rPr>
              <a:t>What needs to be considered?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24</a:t>
            </a:fld>
            <a:endParaRPr lang="en-US" dirty="0">
              <a:latin typeface="Helvetica" pitchFamily="34" charset="0"/>
              <a:cs typeface="Helvetica" pitchFamily="34" charset="0"/>
            </a:endParaRPr>
          </a:p>
        </p:txBody>
      </p:sp>
      <p:pic>
        <p:nvPicPr>
          <p:cNvPr id="7" name="Picture 6" descr="7980189170_0de3b87499_m.jpg"/>
          <p:cNvPicPr>
            <a:picLocks noChangeAspect="1"/>
          </p:cNvPicPr>
          <p:nvPr/>
        </p:nvPicPr>
        <p:blipFill>
          <a:blip r:embed="rId3" cstate="print"/>
          <a:stretch>
            <a:fillRect/>
          </a:stretch>
        </p:blipFill>
        <p:spPr>
          <a:xfrm>
            <a:off x="7020272" y="3501008"/>
            <a:ext cx="1456928" cy="2185392"/>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5184576"/>
          </a:xfrm>
        </p:spPr>
        <p:txBody>
          <a:bodyPr>
            <a:normAutofit/>
          </a:bodyPr>
          <a:lstStyle/>
          <a:p>
            <a:pPr>
              <a:spcBef>
                <a:spcPts val="600"/>
              </a:spcBef>
              <a:spcAft>
                <a:spcPts val="1200"/>
              </a:spcAft>
              <a:buNone/>
            </a:pPr>
            <a:r>
              <a:rPr lang="en-AU" sz="2200" b="1" dirty="0" smtClean="0">
                <a:latin typeface="Helvetica" pitchFamily="34" charset="0"/>
              </a:rPr>
              <a:t>Importance of professional table settings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Considerations</a:t>
            </a:r>
          </a:p>
          <a:p>
            <a:pPr lvl="0">
              <a:spcBef>
                <a:spcPts val="600"/>
              </a:spcBef>
              <a:spcAft>
                <a:spcPts val="1200"/>
              </a:spcAft>
            </a:pPr>
            <a:r>
              <a:rPr lang="en-AU" sz="2200" dirty="0" smtClean="0">
                <a:latin typeface="Helvetica" pitchFamily="34" charset="0"/>
              </a:rPr>
              <a:t>Have all the necessary service crockery, cutlery, centrepieces, decorations and condiments, to name but a few items</a:t>
            </a:r>
          </a:p>
          <a:p>
            <a:pPr lvl="0">
              <a:spcBef>
                <a:spcPts val="600"/>
              </a:spcBef>
              <a:spcAft>
                <a:spcPts val="1200"/>
              </a:spcAft>
            </a:pPr>
            <a:r>
              <a:rPr lang="en-AU" sz="2200" dirty="0" smtClean="0">
                <a:latin typeface="Helvetica" pitchFamily="34" charset="0"/>
              </a:rPr>
              <a:t>Must be complete</a:t>
            </a:r>
          </a:p>
          <a:p>
            <a:pPr lvl="0">
              <a:spcBef>
                <a:spcPts val="600"/>
              </a:spcBef>
              <a:spcAft>
                <a:spcPts val="1200"/>
              </a:spcAft>
            </a:pPr>
            <a:r>
              <a:rPr lang="en-AU" sz="2200" dirty="0" smtClean="0">
                <a:latin typeface="Helvetica" pitchFamily="34" charset="0"/>
              </a:rPr>
              <a:t>Must be clean and hygienic</a:t>
            </a:r>
          </a:p>
          <a:p>
            <a:pPr lvl="0">
              <a:spcBef>
                <a:spcPts val="600"/>
              </a:spcBef>
              <a:spcAft>
                <a:spcPts val="1200"/>
              </a:spcAft>
            </a:pPr>
            <a:r>
              <a:rPr lang="en-AU" sz="2200" dirty="0" smtClean="0">
                <a:latin typeface="Helvetica" pitchFamily="34" charset="0"/>
              </a:rPr>
              <a:t>Must be uniform and consistent throughout                            the outlet</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25</a:t>
            </a:fld>
            <a:endParaRPr lang="en-US" dirty="0">
              <a:latin typeface="Helvetica" pitchFamily="34" charset="0"/>
              <a:cs typeface="Helvetica" pitchFamily="34" charset="0"/>
            </a:endParaRPr>
          </a:p>
        </p:txBody>
      </p:sp>
      <p:pic>
        <p:nvPicPr>
          <p:cNvPr id="5" name="Picture 4" descr="4327744633_b11563c895.jpg"/>
          <p:cNvPicPr>
            <a:picLocks noChangeAspect="1"/>
          </p:cNvPicPr>
          <p:nvPr/>
        </p:nvPicPr>
        <p:blipFill>
          <a:blip r:embed="rId3" cstate="print"/>
          <a:stretch>
            <a:fillRect/>
          </a:stretch>
        </p:blipFill>
        <p:spPr>
          <a:xfrm>
            <a:off x="6588224" y="4293096"/>
            <a:ext cx="1839021" cy="1221110"/>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Dressing tables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On special occasions, or as part of standard operating procedures, buffet tables may need to be dressed</a:t>
            </a:r>
          </a:p>
          <a:p>
            <a:pPr>
              <a:spcBef>
                <a:spcPts val="600"/>
              </a:spcBef>
              <a:spcAft>
                <a:spcPts val="1200"/>
              </a:spcAft>
            </a:pPr>
            <a:r>
              <a:rPr lang="en-AU" sz="2200" dirty="0" smtClean="0">
                <a:latin typeface="Helvetica" pitchFamily="34" charset="0"/>
              </a:rPr>
              <a:t>Dressing takes place as part of the set up and enhances presentation of the table</a:t>
            </a:r>
          </a:p>
          <a:p>
            <a:pPr>
              <a:spcBef>
                <a:spcPts val="600"/>
              </a:spcBef>
              <a:spcAft>
                <a:spcPts val="1200"/>
              </a:spcAft>
            </a:pPr>
            <a:r>
              <a:rPr lang="en-AU" sz="2200" dirty="0" smtClean="0">
                <a:latin typeface="Helvetica" pitchFamily="34" charset="0"/>
              </a:rPr>
              <a:t>It is time consuming, and frequently requires additional items to be used, so it is an uncommon activity, rather than a common one</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26</a:t>
            </a:fld>
            <a:endParaRPr lang="en-US" dirty="0">
              <a:latin typeface="Helvetica" pitchFamily="34" charset="0"/>
              <a:cs typeface="Helvetica" pitchFamily="34" charset="0"/>
            </a:endParaRPr>
          </a:p>
        </p:txBody>
      </p:sp>
      <p:pic>
        <p:nvPicPr>
          <p:cNvPr id="6" name="img_tn22" descr="http://ts4.mm.bing.net/th?id=H.4964571047461331&amp;amp;pid=15.1&amp;amp;H=115&amp;amp;W=160"/>
          <p:cNvPicPr/>
          <p:nvPr/>
        </p:nvPicPr>
        <p:blipFill>
          <a:blip r:embed="rId3" cstate="print"/>
          <a:srcRect/>
          <a:stretch>
            <a:fillRect/>
          </a:stretch>
        </p:blipFill>
        <p:spPr bwMode="auto">
          <a:xfrm>
            <a:off x="6516216" y="4437112"/>
            <a:ext cx="1872208" cy="1368152"/>
          </a:xfrm>
          <a:prstGeom prst="rect">
            <a:avLst/>
          </a:prstGeom>
          <a:noFill/>
          <a:ln w="9525">
            <a:noFill/>
            <a:miter lim="800000"/>
            <a:headEnd/>
            <a:tailEnd/>
          </a:ln>
        </p:spPr>
      </p:pic>
    </p:spTree>
    <p:extLst>
      <p:ext uri="{BB962C8B-B14F-4D97-AF65-F5344CB8AC3E}">
        <p14:creationId xmlns:p14="http://schemas.microsoft.com/office/powerpoint/2010/main" val="2496722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4741987"/>
          </a:xfrm>
        </p:spPr>
        <p:txBody>
          <a:bodyPr>
            <a:normAutofit/>
          </a:bodyPr>
          <a:lstStyle/>
          <a:p>
            <a:pPr>
              <a:spcBef>
                <a:spcPts val="600"/>
              </a:spcBef>
              <a:spcAft>
                <a:spcPts val="1200"/>
              </a:spcAft>
              <a:buNone/>
            </a:pPr>
            <a:r>
              <a:rPr lang="en-AU" sz="2200" b="1" dirty="0" smtClean="0">
                <a:latin typeface="Helvetica" pitchFamily="34" charset="0"/>
              </a:rPr>
              <a:t>Boxing tables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Tables can be boxed to enhance their appearance</a:t>
            </a:r>
          </a:p>
          <a:p>
            <a:pPr>
              <a:spcBef>
                <a:spcPts val="600"/>
              </a:spcBef>
              <a:spcAft>
                <a:spcPts val="1200"/>
              </a:spcAft>
            </a:pPr>
            <a:r>
              <a:rPr lang="en-AU" sz="2200" dirty="0" smtClean="0">
                <a:latin typeface="Helvetica" pitchFamily="34" charset="0"/>
              </a:rPr>
              <a:t>It is usual to box buffet tables at functions</a:t>
            </a:r>
          </a:p>
          <a:p>
            <a:pPr>
              <a:spcBef>
                <a:spcPts val="600"/>
              </a:spcBef>
              <a:spcAft>
                <a:spcPts val="1200"/>
              </a:spcAft>
            </a:pPr>
            <a:r>
              <a:rPr lang="en-AU" sz="2200" dirty="0" smtClean="0">
                <a:latin typeface="Helvetica" pitchFamily="34" charset="0"/>
              </a:rPr>
              <a:t>Boxing involves folding a table cloth around the vertical fall of the table so that the sides of the table and the legs are hidden from view</a:t>
            </a:r>
          </a:p>
          <a:p>
            <a:pPr>
              <a:buNone/>
            </a:pPr>
            <a:endParaRPr lang="en-AU" sz="2400" dirty="0" smtClean="0"/>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27</a:t>
            </a:fld>
            <a:endParaRPr lang="en-US" dirty="0">
              <a:latin typeface="Helvetica" pitchFamily="34" charset="0"/>
              <a:cs typeface="Helvetica" pitchFamily="34" charset="0"/>
            </a:endParaRPr>
          </a:p>
        </p:txBody>
      </p:sp>
      <p:pic>
        <p:nvPicPr>
          <p:cNvPr id="7" name="Picture 6" descr="2880131948_f502e682c1_m.jpg"/>
          <p:cNvPicPr/>
          <p:nvPr/>
        </p:nvPicPr>
        <p:blipFill>
          <a:blip r:embed="rId3" cstate="print"/>
          <a:stretch>
            <a:fillRect/>
          </a:stretch>
        </p:blipFill>
        <p:spPr>
          <a:xfrm>
            <a:off x="6444208" y="4077072"/>
            <a:ext cx="1999089" cy="1402829"/>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467600" cy="5256584"/>
          </a:xfrm>
        </p:spPr>
        <p:txBody>
          <a:bodyPr>
            <a:normAutofit/>
          </a:bodyPr>
          <a:lstStyle/>
          <a:p>
            <a:pPr marL="0" indent="0">
              <a:spcBef>
                <a:spcPts val="600"/>
              </a:spcBef>
              <a:spcAft>
                <a:spcPts val="1200"/>
              </a:spcAft>
              <a:buNone/>
            </a:pPr>
            <a:r>
              <a:rPr lang="en-AU" sz="2200" b="1" dirty="0" smtClean="0">
                <a:latin typeface="Helvetica" pitchFamily="34" charset="0"/>
              </a:rPr>
              <a:t>Present buffet products</a:t>
            </a:r>
          </a:p>
          <a:p>
            <a:pPr marL="463550" indent="-463550">
              <a:spcBef>
                <a:spcPts val="600"/>
              </a:spcBef>
              <a:spcAft>
                <a:spcPts val="1200"/>
              </a:spcAft>
            </a:pPr>
            <a:r>
              <a:rPr lang="en-AU" sz="2200" dirty="0" smtClean="0">
                <a:latin typeface="Helvetica" pitchFamily="34" charset="0"/>
              </a:rPr>
              <a:t>Shape of the platter:</a:t>
            </a:r>
          </a:p>
          <a:p>
            <a:pPr marL="914400" lvl="1" indent="-449263">
              <a:spcBef>
                <a:spcPts val="600"/>
              </a:spcBef>
              <a:spcAft>
                <a:spcPts val="1200"/>
              </a:spcAft>
              <a:buSzPct val="100000"/>
              <a:buFont typeface="Wingdings" pitchFamily="2" charset="2"/>
              <a:buChar char="§"/>
            </a:pPr>
            <a:r>
              <a:rPr lang="en-AU" sz="2200" dirty="0" smtClean="0">
                <a:latin typeface="Helvetica" pitchFamily="34" charset="0"/>
              </a:rPr>
              <a:t>Different shapes for different food add interest</a:t>
            </a:r>
          </a:p>
          <a:p>
            <a:pPr marL="463550" indent="-463550">
              <a:spcBef>
                <a:spcPts val="600"/>
              </a:spcBef>
              <a:spcAft>
                <a:spcPts val="1200"/>
              </a:spcAft>
            </a:pPr>
            <a:r>
              <a:rPr lang="en-AU" sz="2200" dirty="0" smtClean="0">
                <a:latin typeface="Helvetica" pitchFamily="34" charset="0"/>
              </a:rPr>
              <a:t>Portion numbers on each platter:</a:t>
            </a:r>
          </a:p>
          <a:p>
            <a:pPr marL="914400" lvl="1" indent="-449263">
              <a:spcBef>
                <a:spcPts val="600"/>
              </a:spcBef>
              <a:spcAft>
                <a:spcPts val="1200"/>
              </a:spcAft>
              <a:buSzPct val="100000"/>
              <a:buFont typeface="Wingdings" pitchFamily="2" charset="2"/>
              <a:buChar char="§"/>
            </a:pPr>
            <a:r>
              <a:rPr lang="en-AU" sz="2200" dirty="0" smtClean="0">
                <a:latin typeface="Helvetica" pitchFamily="34" charset="0"/>
              </a:rPr>
              <a:t>Do not overload each platter</a:t>
            </a:r>
          </a:p>
          <a:p>
            <a:pPr marL="463550" indent="-463550">
              <a:spcBef>
                <a:spcPts val="600"/>
              </a:spcBef>
              <a:spcAft>
                <a:spcPts val="1200"/>
              </a:spcAft>
            </a:pPr>
            <a:r>
              <a:rPr lang="en-AU" sz="2200" dirty="0" smtClean="0">
                <a:latin typeface="Helvetica" pitchFamily="34" charset="0"/>
              </a:rPr>
              <a:t>Colour:</a:t>
            </a:r>
          </a:p>
          <a:p>
            <a:pPr marL="914400" lvl="1" indent="-449263">
              <a:spcBef>
                <a:spcPts val="600"/>
              </a:spcBef>
              <a:spcAft>
                <a:spcPts val="1200"/>
              </a:spcAft>
              <a:buSzPct val="100000"/>
              <a:buFont typeface="Wingdings" pitchFamily="2" charset="2"/>
              <a:buChar char="§"/>
            </a:pPr>
            <a:r>
              <a:rPr lang="en-AU" sz="2200" dirty="0" smtClean="0">
                <a:latin typeface="Helvetica" pitchFamily="34" charset="0"/>
              </a:rPr>
              <a:t>Ensure garnishes are not same </a:t>
            </a:r>
            <a:br>
              <a:rPr lang="en-AU" sz="2200" dirty="0" smtClean="0">
                <a:latin typeface="Helvetica" pitchFamily="34" charset="0"/>
              </a:rPr>
            </a:br>
            <a:r>
              <a:rPr lang="en-AU" sz="2200" dirty="0" smtClean="0">
                <a:latin typeface="Helvetica" pitchFamily="34" charset="0"/>
              </a:rPr>
              <a:t>colour as food</a:t>
            </a:r>
          </a:p>
          <a:p>
            <a:pPr marL="463550" indent="-463550">
              <a:spcBef>
                <a:spcPts val="600"/>
              </a:spcBef>
              <a:spcAft>
                <a:spcPts val="1200"/>
              </a:spcAft>
            </a:pPr>
            <a:r>
              <a:rPr lang="en-AU" sz="2200" dirty="0" smtClean="0">
                <a:latin typeface="Helvetica" pitchFamily="34" charset="0"/>
              </a:rPr>
              <a:t>Appealing to customer visual stimuli</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28</a:t>
            </a:fld>
            <a:endParaRPr lang="en-US" dirty="0">
              <a:latin typeface="Helvetica" pitchFamily="34" charset="0"/>
              <a:cs typeface="Helvetica" pitchFamily="34" charset="0"/>
            </a:endParaRPr>
          </a:p>
        </p:txBody>
      </p:sp>
      <p:pic>
        <p:nvPicPr>
          <p:cNvPr id="6" name="Picture 5" descr="1351819_10121866.jpg"/>
          <p:cNvPicPr>
            <a:picLocks noChangeAspect="1"/>
          </p:cNvPicPr>
          <p:nvPr/>
        </p:nvPicPr>
        <p:blipFill>
          <a:blip r:embed="rId3" cstate="print"/>
          <a:stretch>
            <a:fillRect/>
          </a:stretch>
        </p:blipFill>
        <p:spPr>
          <a:xfrm>
            <a:off x="6016054" y="3861048"/>
            <a:ext cx="2389512" cy="1620089"/>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200" b="1" dirty="0" smtClean="0">
                <a:solidFill>
                  <a:srgbClr val="FF6600"/>
                </a:solidFill>
                <a:latin typeface="Helvetica" pitchFamily="34" charset="0"/>
              </a:rPr>
              <a:t>Display buffet dishes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467544" y="1268760"/>
            <a:ext cx="7776864" cy="4741987"/>
          </a:xfrm>
        </p:spPr>
        <p:txBody>
          <a:bodyPr>
            <a:normAutofit/>
          </a:bodyPr>
          <a:lstStyle/>
          <a:p>
            <a:pPr marL="0" indent="0">
              <a:spcBef>
                <a:spcPts val="600"/>
              </a:spcBef>
              <a:spcAft>
                <a:spcPts val="1200"/>
              </a:spcAft>
              <a:buNone/>
            </a:pPr>
            <a:r>
              <a:rPr lang="en-AU" sz="2200" b="1" dirty="0" smtClean="0">
                <a:latin typeface="Helvetica" pitchFamily="34" charset="0"/>
              </a:rPr>
              <a:t>Present buffet products</a:t>
            </a:r>
          </a:p>
          <a:p>
            <a:pPr marL="519113" indent="-519113">
              <a:spcBef>
                <a:spcPts val="600"/>
              </a:spcBef>
              <a:spcAft>
                <a:spcPts val="1200"/>
              </a:spcAft>
            </a:pPr>
            <a:r>
              <a:rPr lang="en-AU" sz="2200" dirty="0" smtClean="0">
                <a:latin typeface="Helvetica" pitchFamily="34" charset="0"/>
              </a:rPr>
              <a:t>Shapes on the platter:</a:t>
            </a:r>
          </a:p>
          <a:p>
            <a:pPr marL="914400" lvl="1" indent="-449263">
              <a:spcBef>
                <a:spcPts val="600"/>
              </a:spcBef>
              <a:spcAft>
                <a:spcPts val="1200"/>
              </a:spcAft>
              <a:buSzPct val="100000"/>
              <a:buFont typeface="Wingdings" pitchFamily="2" charset="2"/>
              <a:buChar char="§"/>
            </a:pPr>
            <a:r>
              <a:rPr lang="en-AU" sz="2200" dirty="0" smtClean="0">
                <a:latin typeface="Helvetica" pitchFamily="34" charset="0"/>
              </a:rPr>
              <a:t>Different shapes of different food add interest</a:t>
            </a:r>
          </a:p>
          <a:p>
            <a:pPr marL="519113" indent="-519113">
              <a:spcBef>
                <a:spcPts val="600"/>
              </a:spcBef>
              <a:spcAft>
                <a:spcPts val="1200"/>
              </a:spcAft>
            </a:pPr>
            <a:r>
              <a:rPr lang="en-AU" sz="2200" dirty="0" smtClean="0">
                <a:latin typeface="Helvetica" pitchFamily="34" charset="0"/>
              </a:rPr>
              <a:t>Entremets and pastries can be placed </a:t>
            </a:r>
            <a:br>
              <a:rPr lang="en-AU" sz="2200" dirty="0" smtClean="0">
                <a:latin typeface="Helvetica" pitchFamily="34" charset="0"/>
              </a:rPr>
            </a:br>
            <a:r>
              <a:rPr lang="en-AU" sz="2200" dirty="0" smtClean="0">
                <a:latin typeface="Helvetica" pitchFamily="34" charset="0"/>
              </a:rPr>
              <a:t>on same platter:</a:t>
            </a:r>
          </a:p>
          <a:p>
            <a:pPr marL="914400" indent="-449263">
              <a:spcBef>
                <a:spcPts val="600"/>
              </a:spcBef>
              <a:spcAft>
                <a:spcPts val="1200"/>
              </a:spcAft>
              <a:buSzPct val="100000"/>
              <a:buFont typeface="Wingdings" pitchFamily="2" charset="2"/>
              <a:buChar char="§"/>
            </a:pPr>
            <a:r>
              <a:rPr lang="en-AU" sz="2200" dirty="0" smtClean="0">
                <a:latin typeface="Helvetica" pitchFamily="34" charset="0"/>
              </a:rPr>
              <a:t>Square</a:t>
            </a:r>
          </a:p>
          <a:p>
            <a:pPr marL="914400" indent="-449263">
              <a:spcBef>
                <a:spcPts val="600"/>
              </a:spcBef>
              <a:spcAft>
                <a:spcPts val="1200"/>
              </a:spcAft>
              <a:buSzPct val="100000"/>
              <a:buFont typeface="Wingdings" pitchFamily="2" charset="2"/>
              <a:buChar char="§"/>
            </a:pPr>
            <a:r>
              <a:rPr lang="en-AU" sz="2200" dirty="0" smtClean="0">
                <a:latin typeface="Helvetica" pitchFamily="34" charset="0"/>
              </a:rPr>
              <a:t>Round</a:t>
            </a:r>
          </a:p>
          <a:p>
            <a:pPr marL="914400" indent="-449263">
              <a:spcBef>
                <a:spcPts val="600"/>
              </a:spcBef>
              <a:spcAft>
                <a:spcPts val="1200"/>
              </a:spcAft>
              <a:buSzPct val="100000"/>
              <a:buFont typeface="Wingdings" pitchFamily="2" charset="2"/>
              <a:buChar char="§"/>
            </a:pPr>
            <a:r>
              <a:rPr lang="en-AU" sz="2200" dirty="0" smtClean="0">
                <a:latin typeface="Helvetica" pitchFamily="34" charset="0"/>
              </a:rPr>
              <a:t>Different colour; red and yellow on </a:t>
            </a:r>
            <a:br>
              <a:rPr lang="en-AU" sz="2200" dirty="0" smtClean="0">
                <a:latin typeface="Helvetica" pitchFamily="34" charset="0"/>
              </a:rPr>
            </a:br>
            <a:r>
              <a:rPr lang="en-AU" sz="2200" dirty="0" smtClean="0">
                <a:latin typeface="Helvetica" pitchFamily="34" charset="0"/>
              </a:rPr>
              <a:t>same platter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29</a:t>
            </a:fld>
            <a:endParaRPr lang="en-US" dirty="0">
              <a:latin typeface="Helvetica" pitchFamily="34" charset="0"/>
              <a:cs typeface="Helvetica" pitchFamily="34" charset="0"/>
            </a:endParaRPr>
          </a:p>
        </p:txBody>
      </p:sp>
      <p:pic>
        <p:nvPicPr>
          <p:cNvPr id="6" name="Picture 5" descr="shutterstock_102440830.jpg"/>
          <p:cNvPicPr>
            <a:picLocks noChangeAspect="1"/>
          </p:cNvPicPr>
          <p:nvPr/>
        </p:nvPicPr>
        <p:blipFill>
          <a:blip r:embed="rId3" cstate="print"/>
          <a:stretch>
            <a:fillRect/>
          </a:stretch>
        </p:blipFill>
        <p:spPr>
          <a:xfrm>
            <a:off x="6516216" y="2924944"/>
            <a:ext cx="1875288" cy="2477263"/>
          </a:xfrm>
          <a:prstGeom prst="rect">
            <a:avLst/>
          </a:prstGeom>
        </p:spPr>
      </p:pic>
    </p:spTree>
    <p:extLst>
      <p:ext uri="{BB962C8B-B14F-4D97-AF65-F5344CB8AC3E}">
        <p14:creationId xmlns:p14="http://schemas.microsoft.com/office/powerpoint/2010/main" val="2496722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776864" cy="4741987"/>
          </a:xfrm>
        </p:spPr>
        <p:txBody>
          <a:bodyPr>
            <a:normAutofit/>
          </a:bodyPr>
          <a:lstStyle/>
          <a:p>
            <a:pPr marL="463550" indent="-463550">
              <a:spcBef>
                <a:spcPts val="600"/>
              </a:spcBef>
              <a:spcAft>
                <a:spcPts val="1200"/>
              </a:spcAft>
            </a:pPr>
            <a:r>
              <a:rPr lang="en-AU" sz="2200" smtClean="0">
                <a:latin typeface="Helvetica" pitchFamily="34" charset="0"/>
              </a:rPr>
              <a:t>Hold prepared products until required</a:t>
            </a:r>
          </a:p>
          <a:p>
            <a:pPr marL="463550" indent="-463550">
              <a:spcBef>
                <a:spcPts val="600"/>
              </a:spcBef>
              <a:spcAft>
                <a:spcPts val="1200"/>
              </a:spcAft>
            </a:pPr>
            <a:r>
              <a:rPr lang="en-AU" sz="2200" smtClean="0">
                <a:latin typeface="Helvetica" pitchFamily="34" charset="0"/>
              </a:rPr>
              <a:t>Correct temperature</a:t>
            </a:r>
          </a:p>
          <a:p>
            <a:pPr marL="463550" indent="-463550">
              <a:spcBef>
                <a:spcPts val="600"/>
              </a:spcBef>
              <a:spcAft>
                <a:spcPts val="1200"/>
              </a:spcAft>
            </a:pPr>
            <a:r>
              <a:rPr lang="en-AU" sz="2200" smtClean="0">
                <a:latin typeface="Helvetica" pitchFamily="34" charset="0"/>
              </a:rPr>
              <a:t>Time</a:t>
            </a:r>
          </a:p>
          <a:p>
            <a:pPr marL="463550" indent="-463550">
              <a:spcBef>
                <a:spcPts val="600"/>
              </a:spcBef>
              <a:spcAft>
                <a:spcPts val="1200"/>
              </a:spcAft>
            </a:pPr>
            <a:r>
              <a:rPr lang="en-AU" sz="2200" smtClean="0">
                <a:latin typeface="Helvetica" pitchFamily="34" charset="0"/>
              </a:rPr>
              <a:t>Quality</a:t>
            </a:r>
          </a:p>
          <a:p>
            <a:pPr marL="0" indent="0">
              <a:spcBef>
                <a:spcPts val="600"/>
              </a:spcBef>
              <a:spcAft>
                <a:spcPts val="1200"/>
              </a:spcAft>
            </a:pPr>
            <a:endParaRPr lang="en-AU" sz="2200" b="1" smtClean="0">
              <a:latin typeface="Helvetica" pitchFamily="34" charset="0"/>
            </a:endParaRPr>
          </a:p>
          <a:p>
            <a:pPr marL="0" indent="0">
              <a:spcBef>
                <a:spcPts val="600"/>
              </a:spcBef>
              <a:spcAft>
                <a:spcPts val="1200"/>
              </a:spcAft>
            </a:pPr>
            <a:endParaRPr lang="en-AU" sz="2200" smtClean="0">
              <a:latin typeface="Helvetica" pitchFamily="34" charset="0"/>
            </a:endParaRPr>
          </a:p>
          <a:p>
            <a:pPr marL="0" indent="0">
              <a:spcBef>
                <a:spcPts val="600"/>
              </a:spcBef>
              <a:spcAft>
                <a:spcPts val="1200"/>
              </a:spcAft>
            </a:pPr>
            <a:endParaRPr lang="en-AU" sz="2200" smtClean="0">
              <a:latin typeface="Helvetica" pitchFamily="34" charset="0"/>
            </a:endParaRPr>
          </a:p>
          <a:p>
            <a:pPr marL="0" indent="0">
              <a:spcBef>
                <a:spcPts val="600"/>
              </a:spcBef>
              <a:spcAft>
                <a:spcPts val="1200"/>
              </a:spcAft>
            </a:pPr>
            <a:endParaRPr lang="en-AU" sz="2200" smtClean="0">
              <a:latin typeface="Helvetica" pitchFamily="34" charset="0"/>
            </a:endParaRPr>
          </a:p>
          <a:p>
            <a:pPr marL="0" indent="0">
              <a:spcBef>
                <a:spcPts val="600"/>
              </a:spcBef>
              <a:spcAft>
                <a:spcPts val="1200"/>
              </a:spcAft>
            </a:pPr>
            <a:endParaRPr lang="en-AU" sz="2200" smtClean="0">
              <a:latin typeface="Helvetica" pitchFamily="34" charset="0"/>
            </a:endParaRPr>
          </a:p>
          <a:p>
            <a:pPr marL="0" indent="0">
              <a:spcBef>
                <a:spcPts val="600"/>
              </a:spcBef>
              <a:spcAft>
                <a:spcPts val="1200"/>
              </a:spcAft>
            </a:pPr>
            <a:endParaRPr lang="en-AU" sz="2200" smtClean="0">
              <a:latin typeface="Helvetica" pitchFamily="34" charset="0"/>
            </a:endParaRPr>
          </a:p>
          <a:p>
            <a:pPr marL="0" indent="-360000">
              <a:spcBef>
                <a:spcPts val="600"/>
              </a:spcBef>
              <a:spcAft>
                <a:spcPts val="1200"/>
              </a:spcAft>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30</a:t>
            </a:fld>
            <a:endParaRPr lang="en-US" dirty="0">
              <a:latin typeface="Helvetica" pitchFamily="34" charset="0"/>
              <a:cs typeface="Helvetica" pitchFamily="34" charset="0"/>
            </a:endParaRPr>
          </a:p>
        </p:txBody>
      </p:sp>
      <p:pic>
        <p:nvPicPr>
          <p:cNvPr id="6" name="Picture 5" descr="DSC00836.JPG"/>
          <p:cNvPicPr>
            <a:picLocks noChangeAspect="1"/>
          </p:cNvPicPr>
          <p:nvPr/>
        </p:nvPicPr>
        <p:blipFill>
          <a:blip r:embed="rId3" cstate="print"/>
          <a:stretch>
            <a:fillRect/>
          </a:stretch>
        </p:blipFill>
        <p:spPr>
          <a:xfrm>
            <a:off x="5868144" y="3429000"/>
            <a:ext cx="2543267" cy="1907450"/>
          </a:xfrm>
          <a:prstGeom prst="rect">
            <a:avLst/>
          </a:prstGeom>
        </p:spPr>
      </p:pic>
    </p:spTree>
    <p:extLst>
      <p:ext uri="{BB962C8B-B14F-4D97-AF65-F5344CB8AC3E}">
        <p14:creationId xmlns:p14="http://schemas.microsoft.com/office/powerpoint/2010/main" val="34501977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344816" cy="1008112"/>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463550" indent="-463550">
              <a:spcBef>
                <a:spcPts val="600"/>
              </a:spcBef>
              <a:spcAft>
                <a:spcPts val="1200"/>
              </a:spcAft>
            </a:pPr>
            <a:r>
              <a:rPr lang="en-AU" sz="2200" smtClean="0">
                <a:latin typeface="Helvetica" pitchFamily="34" charset="0"/>
              </a:rPr>
              <a:t>Minimise wastage through presentation and replenishing</a:t>
            </a:r>
          </a:p>
          <a:p>
            <a:pPr marL="463550" indent="-463550">
              <a:spcBef>
                <a:spcPts val="600"/>
              </a:spcBef>
              <a:spcAft>
                <a:spcPts val="1200"/>
              </a:spcAft>
            </a:pPr>
            <a:r>
              <a:rPr lang="en-AU" sz="2200" smtClean="0">
                <a:latin typeface="Helvetica" pitchFamily="34" charset="0"/>
              </a:rPr>
              <a:t>Size of platters used</a:t>
            </a:r>
          </a:p>
          <a:p>
            <a:pPr marL="463550" indent="-463550">
              <a:spcBef>
                <a:spcPts val="600"/>
              </a:spcBef>
              <a:spcAft>
                <a:spcPts val="1200"/>
              </a:spcAft>
            </a:pPr>
            <a:r>
              <a:rPr lang="en-AU" sz="2200" smtClean="0">
                <a:latin typeface="Helvetica" pitchFamily="34" charset="0"/>
              </a:rPr>
              <a:t>Amount of food on platter</a:t>
            </a:r>
          </a:p>
          <a:p>
            <a:pPr marL="463550" indent="-463550">
              <a:spcBef>
                <a:spcPts val="600"/>
              </a:spcBef>
              <a:spcAft>
                <a:spcPts val="1200"/>
              </a:spcAft>
            </a:pPr>
            <a:r>
              <a:rPr lang="en-AU" sz="2200" smtClean="0">
                <a:latin typeface="Helvetica" pitchFamily="34" charset="0"/>
              </a:rPr>
              <a:t>Time out of controlled atmosphere</a:t>
            </a:r>
          </a:p>
          <a:p>
            <a:pPr marL="360000" indent="-360000">
              <a:spcBef>
                <a:spcPts val="600"/>
              </a:spcBef>
              <a:spcAft>
                <a:spcPts val="1200"/>
              </a:spcAft>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31</a:t>
            </a:fld>
            <a:endParaRPr lang="en-US" dirty="0">
              <a:latin typeface="Helvetica" pitchFamily="34" charset="0"/>
              <a:cs typeface="Helvetica" pitchFamily="34" charset="0"/>
            </a:endParaRPr>
          </a:p>
        </p:txBody>
      </p:sp>
      <p:pic>
        <p:nvPicPr>
          <p:cNvPr id="5" name="Picture 4" descr="244998_8020.jpg"/>
          <p:cNvPicPr>
            <a:picLocks noChangeAspect="1"/>
          </p:cNvPicPr>
          <p:nvPr/>
        </p:nvPicPr>
        <p:blipFill>
          <a:blip r:embed="rId3" cstate="print"/>
          <a:stretch>
            <a:fillRect/>
          </a:stretch>
        </p:blipFill>
        <p:spPr>
          <a:xfrm>
            <a:off x="6559070" y="2641064"/>
            <a:ext cx="1829354" cy="2732152"/>
          </a:xfrm>
          <a:prstGeom prst="rect">
            <a:avLst/>
          </a:prstGeom>
        </p:spPr>
      </p:pic>
    </p:spTree>
    <p:extLst>
      <p:ext uri="{BB962C8B-B14F-4D97-AF65-F5344CB8AC3E}">
        <p14:creationId xmlns:p14="http://schemas.microsoft.com/office/powerpoint/2010/main" val="14194501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Display buffet dishes attractively</a:t>
            </a:r>
          </a:p>
          <a:p>
            <a:pPr marL="463550" indent="-463550">
              <a:spcBef>
                <a:spcPts val="600"/>
              </a:spcBef>
              <a:spcAft>
                <a:spcPts val="1200"/>
              </a:spcAft>
            </a:pPr>
            <a:r>
              <a:rPr lang="en-AU" sz="2200" smtClean="0">
                <a:latin typeface="Helvetica" pitchFamily="34" charset="0"/>
                <a:cs typeface="Helvetica" pitchFamily="34" charset="0"/>
              </a:rPr>
              <a:t>Colour</a:t>
            </a:r>
          </a:p>
          <a:p>
            <a:pPr marL="463550" indent="-463550">
              <a:spcBef>
                <a:spcPts val="600"/>
              </a:spcBef>
              <a:spcAft>
                <a:spcPts val="1200"/>
              </a:spcAft>
            </a:pPr>
            <a:r>
              <a:rPr lang="en-AU" sz="2200" smtClean="0">
                <a:latin typeface="Helvetica" pitchFamily="34" charset="0"/>
                <a:cs typeface="Helvetica" pitchFamily="34" charset="0"/>
              </a:rPr>
              <a:t>Shape of platters</a:t>
            </a:r>
          </a:p>
          <a:p>
            <a:pPr marL="463550" indent="-463550">
              <a:spcBef>
                <a:spcPts val="600"/>
              </a:spcBef>
              <a:spcAft>
                <a:spcPts val="1200"/>
              </a:spcAft>
            </a:pPr>
            <a:r>
              <a:rPr lang="en-AU" sz="2200" smtClean="0">
                <a:latin typeface="Helvetica" pitchFamily="34" charset="0"/>
                <a:cs typeface="Helvetica" pitchFamily="34" charset="0"/>
              </a:rPr>
              <a:t>Distribution of food</a:t>
            </a:r>
          </a:p>
          <a:p>
            <a:pPr marL="463550" indent="-463550">
              <a:spcBef>
                <a:spcPts val="600"/>
              </a:spcBef>
              <a:spcAft>
                <a:spcPts val="1200"/>
              </a:spcAft>
            </a:pPr>
            <a:r>
              <a:rPr lang="en-AU" sz="2200" smtClean="0">
                <a:latin typeface="Helvetica" pitchFamily="34" charset="0"/>
                <a:cs typeface="Helvetica" pitchFamily="34" charset="0"/>
              </a:rPr>
              <a:t>Matching Centre piece displays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32</a:t>
            </a:fld>
            <a:endParaRPr lang="en-US" dirty="0">
              <a:latin typeface="Helvetica" pitchFamily="34" charset="0"/>
              <a:cs typeface="Helvetica" pitchFamily="34" charset="0"/>
            </a:endParaRPr>
          </a:p>
        </p:txBody>
      </p:sp>
      <p:pic>
        <p:nvPicPr>
          <p:cNvPr id="5" name="Picture 4" descr="DessertBuffet2.jpg"/>
          <p:cNvPicPr>
            <a:picLocks noChangeAspect="1"/>
          </p:cNvPicPr>
          <p:nvPr/>
        </p:nvPicPr>
        <p:blipFill>
          <a:blip r:embed="rId3" cstate="print"/>
          <a:stretch>
            <a:fillRect/>
          </a:stretch>
        </p:blipFill>
        <p:spPr>
          <a:xfrm>
            <a:off x="6499424" y="2541132"/>
            <a:ext cx="1889000" cy="2832084"/>
          </a:xfrm>
          <a:prstGeom prst="rect">
            <a:avLst/>
          </a:prstGeom>
        </p:spPr>
      </p:pic>
    </p:spTree>
    <p:extLst>
      <p:ext uri="{BB962C8B-B14F-4D97-AF65-F5344CB8AC3E}">
        <p14:creationId xmlns:p14="http://schemas.microsoft.com/office/powerpoint/2010/main" val="3713738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272808"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776864" cy="4453955"/>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Element 4: Store buffet items</a:t>
            </a:r>
          </a:p>
          <a:p>
            <a:pPr marL="463550" indent="-463550">
              <a:spcBef>
                <a:spcPts val="600"/>
              </a:spcBef>
              <a:spcAft>
                <a:spcPts val="1200"/>
              </a:spcAft>
            </a:pPr>
            <a:r>
              <a:rPr lang="en-AU" sz="2200" smtClean="0">
                <a:latin typeface="Helvetica" pitchFamily="34" charset="0"/>
                <a:cs typeface="Helvetica" pitchFamily="34" charset="0"/>
              </a:rPr>
              <a:t>Store </a:t>
            </a:r>
            <a:r>
              <a:rPr lang="en-AU" sz="2200">
                <a:latin typeface="Helvetica" pitchFamily="34" charset="0"/>
                <a:cs typeface="Helvetica" pitchFamily="34" charset="0"/>
              </a:rPr>
              <a:t>fresh </a:t>
            </a:r>
            <a:r>
              <a:rPr lang="en-AU" sz="2200" smtClean="0">
                <a:latin typeface="Helvetica" pitchFamily="34" charset="0"/>
                <a:cs typeface="Helvetica" pitchFamily="34" charset="0"/>
              </a:rPr>
              <a:t>and or vacuum packed </a:t>
            </a:r>
            <a:r>
              <a:rPr lang="en-AU" sz="2200">
                <a:latin typeface="Helvetica" pitchFamily="34" charset="0"/>
                <a:cs typeface="Helvetica" pitchFamily="34" charset="0"/>
              </a:rPr>
              <a:t>items </a:t>
            </a:r>
            <a:r>
              <a:rPr lang="en-AU" sz="2200" smtClean="0">
                <a:latin typeface="Helvetica" pitchFamily="34" charset="0"/>
                <a:cs typeface="Helvetica" pitchFamily="34" charset="0"/>
              </a:rPr>
              <a:t>correctly</a:t>
            </a:r>
          </a:p>
          <a:p>
            <a:pPr marL="463550" indent="-463550">
              <a:spcBef>
                <a:spcPts val="600"/>
              </a:spcBef>
              <a:spcAft>
                <a:spcPts val="1200"/>
              </a:spcAft>
            </a:pPr>
            <a:r>
              <a:rPr lang="en-AU" sz="2200" smtClean="0">
                <a:latin typeface="Helvetica" pitchFamily="34" charset="0"/>
                <a:cs typeface="Helvetica" pitchFamily="34" charset="0"/>
              </a:rPr>
              <a:t>Store </a:t>
            </a:r>
            <a:r>
              <a:rPr lang="en-AU" sz="2200">
                <a:latin typeface="Helvetica" pitchFamily="34" charset="0"/>
                <a:cs typeface="Helvetica" pitchFamily="34" charset="0"/>
              </a:rPr>
              <a:t>buffet products appropriately in correct </a:t>
            </a:r>
            <a:r>
              <a:rPr lang="en-AU" sz="2200" smtClean="0">
                <a:latin typeface="Helvetica" pitchFamily="34" charset="0"/>
                <a:cs typeface="Helvetica" pitchFamily="34" charset="0"/>
              </a:rPr>
              <a:t>containers</a:t>
            </a:r>
          </a:p>
          <a:p>
            <a:pPr marL="463550" indent="-463550">
              <a:spcBef>
                <a:spcPts val="600"/>
              </a:spcBef>
              <a:spcAft>
                <a:spcPts val="1200"/>
              </a:spcAft>
            </a:pPr>
            <a:r>
              <a:rPr lang="en-AU" sz="2200" smtClean="0">
                <a:latin typeface="Helvetica" pitchFamily="34" charset="0"/>
                <a:cs typeface="Helvetica" pitchFamily="34" charset="0"/>
              </a:rPr>
              <a:t>Label </a:t>
            </a:r>
            <a:r>
              <a:rPr lang="en-AU" sz="2200">
                <a:latin typeface="Helvetica" pitchFamily="34" charset="0"/>
                <a:cs typeface="Helvetica" pitchFamily="34" charset="0"/>
              </a:rPr>
              <a:t>stored buffet food correctly </a:t>
            </a:r>
            <a:endParaRPr lang="en-AU" sz="2200" smtClean="0">
              <a:latin typeface="Helvetica" pitchFamily="34" charset="0"/>
              <a:cs typeface="Helvetica" pitchFamily="34" charset="0"/>
            </a:endParaRPr>
          </a:p>
          <a:p>
            <a:pPr marL="463550" indent="-463550">
              <a:spcBef>
                <a:spcPts val="600"/>
              </a:spcBef>
              <a:spcAft>
                <a:spcPts val="1200"/>
              </a:spcAft>
            </a:pPr>
            <a:r>
              <a:rPr lang="en-AU" sz="2200" smtClean="0">
                <a:latin typeface="Helvetica" pitchFamily="34" charset="0"/>
                <a:cs typeface="Helvetica" pitchFamily="34" charset="0"/>
              </a:rPr>
              <a:t>Store </a:t>
            </a:r>
            <a:r>
              <a:rPr lang="en-AU" sz="2200">
                <a:latin typeface="Helvetica" pitchFamily="34" charset="0"/>
                <a:cs typeface="Helvetica" pitchFamily="34" charset="0"/>
              </a:rPr>
              <a:t>in correct conditions to maintain </a:t>
            </a:r>
            <a:r>
              <a:rPr lang="en-AU" sz="2200" smtClean="0">
                <a:latin typeface="Helvetica" pitchFamily="34" charset="0"/>
                <a:cs typeface="Helvetica" pitchFamily="34" charset="0"/>
              </a:rPr>
              <a:t/>
            </a:r>
            <a:br>
              <a:rPr lang="en-AU" sz="2200" smtClean="0">
                <a:latin typeface="Helvetica" pitchFamily="34" charset="0"/>
                <a:cs typeface="Helvetica" pitchFamily="34" charset="0"/>
              </a:rPr>
            </a:br>
            <a:r>
              <a:rPr lang="en-AU" sz="2200" smtClean="0">
                <a:latin typeface="Helvetica" pitchFamily="34" charset="0"/>
                <a:cs typeface="Helvetica" pitchFamily="34" charset="0"/>
              </a:rPr>
              <a:t>freshness </a:t>
            </a:r>
            <a:r>
              <a:rPr lang="en-AU" sz="2200">
                <a:latin typeface="Helvetica" pitchFamily="34" charset="0"/>
                <a:cs typeface="Helvetica" pitchFamily="34" charset="0"/>
              </a:rPr>
              <a:t>and quality </a:t>
            </a: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33</a:t>
            </a:fld>
            <a:endParaRPr lang="en-US" dirty="0">
              <a:latin typeface="Helvetica" pitchFamily="34" charset="0"/>
              <a:cs typeface="Helvetica" pitchFamily="34" charset="0"/>
            </a:endParaRPr>
          </a:p>
        </p:txBody>
      </p:sp>
      <p:pic>
        <p:nvPicPr>
          <p:cNvPr id="5" name="Picture 4" descr="Best before stamp.jpg"/>
          <p:cNvPicPr>
            <a:picLocks noChangeAspect="1"/>
          </p:cNvPicPr>
          <p:nvPr/>
        </p:nvPicPr>
        <p:blipFill>
          <a:blip r:embed="rId3" cstate="print"/>
          <a:stretch>
            <a:fillRect/>
          </a:stretch>
        </p:blipFill>
        <p:spPr>
          <a:xfrm>
            <a:off x="6948264" y="3212976"/>
            <a:ext cx="1344952" cy="1901733"/>
          </a:xfrm>
          <a:prstGeom prst="rect">
            <a:avLst/>
          </a:prstGeom>
        </p:spPr>
      </p:pic>
    </p:spTree>
    <p:extLst>
      <p:ext uri="{BB962C8B-B14F-4D97-AF65-F5344CB8AC3E}">
        <p14:creationId xmlns:p14="http://schemas.microsoft.com/office/powerpoint/2010/main" val="122734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272808"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Store fresh and vacuum sealed items correctly</a:t>
            </a:r>
          </a:p>
          <a:p>
            <a:pPr marL="463550" indent="-463550">
              <a:spcBef>
                <a:spcPts val="600"/>
              </a:spcBef>
              <a:spcAft>
                <a:spcPts val="1200"/>
              </a:spcAft>
            </a:pPr>
            <a:r>
              <a:rPr lang="en-AU" sz="2200" smtClean="0">
                <a:latin typeface="Helvetica" pitchFamily="34" charset="0"/>
                <a:cs typeface="Helvetica" pitchFamily="34" charset="0"/>
              </a:rPr>
              <a:t>Correct temperature</a:t>
            </a:r>
          </a:p>
          <a:p>
            <a:pPr marL="463550" indent="-463550">
              <a:spcBef>
                <a:spcPts val="600"/>
              </a:spcBef>
              <a:spcAft>
                <a:spcPts val="1200"/>
              </a:spcAft>
            </a:pPr>
            <a:r>
              <a:rPr lang="en-AU" sz="2200" smtClean="0">
                <a:latin typeface="Helvetica" pitchFamily="34" charset="0"/>
                <a:cs typeface="Helvetica" pitchFamily="34" charset="0"/>
              </a:rPr>
              <a:t>Length of storage</a:t>
            </a:r>
          </a:p>
          <a:p>
            <a:pPr marL="463550" indent="-463550">
              <a:spcBef>
                <a:spcPts val="600"/>
              </a:spcBef>
              <a:spcAft>
                <a:spcPts val="1200"/>
              </a:spcAft>
            </a:pPr>
            <a:r>
              <a:rPr lang="en-AU" sz="2200" smtClean="0">
                <a:latin typeface="Helvetica" pitchFamily="34" charset="0"/>
                <a:cs typeface="Helvetica" pitchFamily="34" charset="0"/>
              </a:rPr>
              <a:t>Layering </a:t>
            </a:r>
          </a:p>
          <a:p>
            <a:pPr marL="360000" indent="-360000">
              <a:spcBef>
                <a:spcPts val="600"/>
              </a:spcBef>
              <a:spcAft>
                <a:spcPts val="1200"/>
              </a:spcAft>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34</a:t>
            </a:fld>
            <a:endParaRPr lang="en-US" dirty="0">
              <a:latin typeface="Helvetica" pitchFamily="34" charset="0"/>
              <a:cs typeface="Helvetica" pitchFamily="34" charset="0"/>
            </a:endParaRPr>
          </a:p>
        </p:txBody>
      </p:sp>
      <p:pic>
        <p:nvPicPr>
          <p:cNvPr id="5" name="Picture 4" descr="Vacuum packaging .jpg"/>
          <p:cNvPicPr>
            <a:picLocks noChangeAspect="1"/>
          </p:cNvPicPr>
          <p:nvPr/>
        </p:nvPicPr>
        <p:blipFill>
          <a:blip r:embed="rId3" cstate="print"/>
          <a:stretch>
            <a:fillRect/>
          </a:stretch>
        </p:blipFill>
        <p:spPr>
          <a:xfrm>
            <a:off x="6084168" y="3518022"/>
            <a:ext cx="2327920" cy="1783186"/>
          </a:xfrm>
          <a:prstGeom prst="rect">
            <a:avLst/>
          </a:prstGeom>
        </p:spPr>
      </p:pic>
    </p:spTree>
    <p:extLst>
      <p:ext uri="{BB962C8B-B14F-4D97-AF65-F5344CB8AC3E}">
        <p14:creationId xmlns:p14="http://schemas.microsoft.com/office/powerpoint/2010/main" val="3237943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344816"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b="1" dirty="0" smtClean="0">
                <a:latin typeface="Helvetica" pitchFamily="34" charset="0"/>
                <a:cs typeface="Helvetica" pitchFamily="34" charset="0"/>
              </a:rPr>
              <a:t>Store buffet items in correct size containers</a:t>
            </a:r>
          </a:p>
          <a:p>
            <a:pPr marL="463550" indent="-463550">
              <a:spcBef>
                <a:spcPts val="600"/>
              </a:spcBef>
              <a:spcAft>
                <a:spcPts val="1200"/>
              </a:spcAft>
            </a:pPr>
            <a:r>
              <a:rPr lang="en-AU" sz="2200" dirty="0" smtClean="0">
                <a:latin typeface="Helvetica" pitchFamily="34" charset="0"/>
                <a:cs typeface="Helvetica" pitchFamily="34" charset="0"/>
              </a:rPr>
              <a:t>Correct type of containers</a:t>
            </a:r>
          </a:p>
          <a:p>
            <a:pPr marL="914400" lvl="1" indent="-449263">
              <a:spcBef>
                <a:spcPts val="600"/>
              </a:spcBef>
              <a:spcAft>
                <a:spcPts val="1200"/>
              </a:spcAft>
              <a:buSzPct val="100000"/>
              <a:buFont typeface="Wingdings" pitchFamily="2" charset="2"/>
              <a:buChar char="§"/>
            </a:pPr>
            <a:r>
              <a:rPr lang="en-AU" sz="2200" dirty="0" smtClean="0">
                <a:latin typeface="Helvetica" pitchFamily="34" charset="0"/>
                <a:cs typeface="Helvetica" pitchFamily="34" charset="0"/>
              </a:rPr>
              <a:t>Food grade and undamaged</a:t>
            </a:r>
          </a:p>
          <a:p>
            <a:pPr marL="463550" indent="-463550">
              <a:spcBef>
                <a:spcPts val="600"/>
              </a:spcBef>
              <a:spcAft>
                <a:spcPts val="1200"/>
              </a:spcAft>
            </a:pPr>
            <a:r>
              <a:rPr lang="en-AU" sz="2200" dirty="0" smtClean="0">
                <a:latin typeface="Helvetica" pitchFamily="34" charset="0"/>
                <a:cs typeface="Helvetica" pitchFamily="34" charset="0"/>
              </a:rPr>
              <a:t>Size to match</a:t>
            </a:r>
          </a:p>
          <a:p>
            <a:pPr marL="463550" indent="-463550">
              <a:spcBef>
                <a:spcPts val="600"/>
              </a:spcBef>
              <a:spcAft>
                <a:spcPts val="1200"/>
              </a:spcAft>
            </a:pPr>
            <a:r>
              <a:rPr lang="en-AU" sz="2200" dirty="0" smtClean="0">
                <a:latin typeface="Helvetica" pitchFamily="34" charset="0"/>
                <a:cs typeface="Helvetica" pitchFamily="34" charset="0"/>
              </a:rPr>
              <a:t>Containers need to be large enough </a:t>
            </a:r>
            <a:br>
              <a:rPr lang="en-AU" sz="2200" dirty="0" smtClean="0">
                <a:latin typeface="Helvetica" pitchFamily="34" charset="0"/>
                <a:cs typeface="Helvetica" pitchFamily="34" charset="0"/>
              </a:rPr>
            </a:br>
            <a:r>
              <a:rPr lang="en-AU" sz="2200" dirty="0" smtClean="0">
                <a:latin typeface="Helvetica" pitchFamily="34" charset="0"/>
                <a:cs typeface="Helvetica" pitchFamily="34" charset="0"/>
              </a:rPr>
              <a:t>to hold securely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35</a:t>
            </a:fld>
            <a:endParaRPr lang="en-US" dirty="0">
              <a:latin typeface="Helvetica" pitchFamily="34" charset="0"/>
              <a:cs typeface="Helvetica" pitchFamily="34" charset="0"/>
            </a:endParaRPr>
          </a:p>
        </p:txBody>
      </p:sp>
      <p:pic>
        <p:nvPicPr>
          <p:cNvPr id="5" name="Picture 4" descr="Plastic containers.jpg"/>
          <p:cNvPicPr>
            <a:picLocks noChangeAspect="1"/>
          </p:cNvPicPr>
          <p:nvPr/>
        </p:nvPicPr>
        <p:blipFill>
          <a:blip r:embed="rId3" cstate="print"/>
          <a:stretch>
            <a:fillRect/>
          </a:stretch>
        </p:blipFill>
        <p:spPr>
          <a:xfrm>
            <a:off x="6084168" y="3645024"/>
            <a:ext cx="2274406" cy="1378290"/>
          </a:xfrm>
          <a:prstGeom prst="rect">
            <a:avLst/>
          </a:prstGeom>
        </p:spPr>
      </p:pic>
    </p:spTree>
    <p:extLst>
      <p:ext uri="{BB962C8B-B14F-4D97-AF65-F5344CB8AC3E}">
        <p14:creationId xmlns:p14="http://schemas.microsoft.com/office/powerpoint/2010/main" val="956949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16824"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463550" indent="-463550">
              <a:spcBef>
                <a:spcPts val="600"/>
              </a:spcBef>
              <a:spcAft>
                <a:spcPts val="1200"/>
              </a:spcAft>
            </a:pPr>
            <a:r>
              <a:rPr lang="en-AU" sz="2200" dirty="0" smtClean="0">
                <a:latin typeface="Helvetica" pitchFamily="34" charset="0"/>
                <a:cs typeface="Helvetica" pitchFamily="34" charset="0"/>
              </a:rPr>
              <a:t>Label stored buffet foods correctly</a:t>
            </a:r>
          </a:p>
          <a:p>
            <a:pPr marL="463550" indent="-463550">
              <a:spcBef>
                <a:spcPts val="600"/>
              </a:spcBef>
              <a:spcAft>
                <a:spcPts val="1200"/>
              </a:spcAft>
            </a:pPr>
            <a:r>
              <a:rPr lang="en-AU" sz="2200" dirty="0" smtClean="0">
                <a:latin typeface="Helvetica" pitchFamily="34" charset="0"/>
                <a:cs typeface="Helvetica" pitchFamily="34" charset="0"/>
              </a:rPr>
              <a:t>All the correct information:</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Name of the product</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Date of manufacture</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Use by date</a:t>
            </a:r>
          </a:p>
          <a:p>
            <a:pPr marL="914400" indent="-450850">
              <a:spcBef>
                <a:spcPts val="600"/>
              </a:spcBef>
              <a:spcAft>
                <a:spcPts val="1200"/>
              </a:spcAft>
              <a:buSzPct val="100000"/>
              <a:buFont typeface="Wingdings" pitchFamily="2" charset="2"/>
              <a:buChar char="§"/>
            </a:pPr>
            <a:r>
              <a:rPr lang="en-AU" sz="2200" dirty="0" smtClean="0">
                <a:latin typeface="Helvetica" pitchFamily="34" charset="0"/>
              </a:rPr>
              <a:t>Name of person who made</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36</a:t>
            </a:fld>
            <a:endParaRPr lang="en-US" dirty="0">
              <a:latin typeface="Helvetica" pitchFamily="34" charset="0"/>
              <a:cs typeface="Helvetica" pitchFamily="34" charset="0"/>
            </a:endParaRPr>
          </a:p>
        </p:txBody>
      </p:sp>
      <p:pic>
        <p:nvPicPr>
          <p:cNvPr id="5" name="Picture 4" descr="Meat packaging.jpg"/>
          <p:cNvPicPr>
            <a:picLocks noChangeAspect="1"/>
          </p:cNvPicPr>
          <p:nvPr/>
        </p:nvPicPr>
        <p:blipFill>
          <a:blip r:embed="rId3" cstate="print"/>
          <a:stretch>
            <a:fillRect/>
          </a:stretch>
        </p:blipFill>
        <p:spPr>
          <a:xfrm>
            <a:off x="1979712" y="5229200"/>
            <a:ext cx="1645507" cy="947413"/>
          </a:xfrm>
          <a:prstGeom prst="rect">
            <a:avLst/>
          </a:prstGeom>
        </p:spPr>
      </p:pic>
      <p:pic>
        <p:nvPicPr>
          <p:cNvPr id="6" name="Picture 5" descr="Expiry date.jpg"/>
          <p:cNvPicPr>
            <a:picLocks noChangeAspect="1"/>
          </p:cNvPicPr>
          <p:nvPr/>
        </p:nvPicPr>
        <p:blipFill>
          <a:blip r:embed="rId4" cstate="print"/>
          <a:stretch>
            <a:fillRect/>
          </a:stretch>
        </p:blipFill>
        <p:spPr>
          <a:xfrm>
            <a:off x="6228184" y="3212976"/>
            <a:ext cx="1916832" cy="1916832"/>
          </a:xfrm>
          <a:prstGeom prst="rect">
            <a:avLst/>
          </a:prstGeom>
        </p:spPr>
      </p:pic>
    </p:spTree>
    <p:extLst>
      <p:ext uri="{BB962C8B-B14F-4D97-AF65-F5344CB8AC3E}">
        <p14:creationId xmlns:p14="http://schemas.microsoft.com/office/powerpoint/2010/main" val="3532014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272808" cy="1143000"/>
          </a:xfrm>
        </p:spPr>
        <p:txBody>
          <a:bodyPr>
            <a:normAutofit fontScale="90000"/>
          </a:bodyPr>
          <a:lstStyle/>
          <a:p>
            <a:r>
              <a:rPr lang="en-US" sz="3600" b="1" dirty="0">
                <a:solidFill>
                  <a:srgbClr val="FF6600"/>
                </a:solidFill>
                <a:latin typeface="Helvetica" pitchFamily="34" charset="0"/>
              </a:rPr>
              <a:t>Plan, prepare and display a buffet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b="1" smtClean="0">
                <a:latin typeface="Helvetica" pitchFamily="34" charset="0"/>
                <a:cs typeface="Helvetica" pitchFamily="34" charset="0"/>
              </a:rPr>
              <a:t>Store in correct containers to maintain freshness and quality</a:t>
            </a:r>
          </a:p>
          <a:p>
            <a:pPr marL="463550" indent="-463550">
              <a:spcBef>
                <a:spcPts val="600"/>
              </a:spcBef>
              <a:spcAft>
                <a:spcPts val="1200"/>
              </a:spcAft>
            </a:pPr>
            <a:r>
              <a:rPr lang="en-AU" sz="2200" smtClean="0">
                <a:latin typeface="Helvetica" pitchFamily="34" charset="0"/>
                <a:cs typeface="Helvetica" pitchFamily="34" charset="0"/>
              </a:rPr>
              <a:t>Covering</a:t>
            </a:r>
          </a:p>
          <a:p>
            <a:pPr marL="463550" indent="-463550">
              <a:spcBef>
                <a:spcPts val="600"/>
              </a:spcBef>
              <a:spcAft>
                <a:spcPts val="1200"/>
              </a:spcAft>
            </a:pPr>
            <a:r>
              <a:rPr lang="en-AU" sz="2200" smtClean="0">
                <a:latin typeface="Helvetica" pitchFamily="34" charset="0"/>
                <a:cs typeface="Helvetica" pitchFamily="34" charset="0"/>
              </a:rPr>
              <a:t>Available space inside container</a:t>
            </a:r>
          </a:p>
          <a:p>
            <a:pPr marL="360000" indent="-360000">
              <a:spcBef>
                <a:spcPts val="600"/>
              </a:spcBef>
              <a:spcAft>
                <a:spcPts val="1200"/>
              </a:spcAft>
              <a:buNone/>
            </a:pPr>
            <a:endParaRPr lang="en-AU" sz="220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37</a:t>
            </a:fld>
            <a:endParaRPr lang="en-US" dirty="0">
              <a:latin typeface="Helvetica" pitchFamily="34" charset="0"/>
              <a:cs typeface="Helvetica" pitchFamily="34" charset="0"/>
            </a:endParaRPr>
          </a:p>
        </p:txBody>
      </p:sp>
      <p:pic>
        <p:nvPicPr>
          <p:cNvPr id="6" name="Picture 5" descr="shutterstock_98371751.jpg"/>
          <p:cNvPicPr>
            <a:picLocks noChangeAspect="1"/>
          </p:cNvPicPr>
          <p:nvPr/>
        </p:nvPicPr>
        <p:blipFill>
          <a:blip r:embed="rId3" cstate="print"/>
          <a:stretch>
            <a:fillRect/>
          </a:stretch>
        </p:blipFill>
        <p:spPr>
          <a:xfrm>
            <a:off x="6660232" y="3212976"/>
            <a:ext cx="1772884" cy="2061493"/>
          </a:xfrm>
          <a:prstGeom prst="rect">
            <a:avLst/>
          </a:prstGeom>
        </p:spPr>
      </p:pic>
    </p:spTree>
    <p:extLst>
      <p:ext uri="{BB962C8B-B14F-4D97-AF65-F5344CB8AC3E}">
        <p14:creationId xmlns:p14="http://schemas.microsoft.com/office/powerpoint/2010/main" val="1165100107"/>
      </p:ext>
    </p:extLst>
  </p:cSld>
  <p:clrMapOvr>
    <a:masterClrMapping/>
  </p:clrMapOvr>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2577</TotalTime>
  <Words>3803</Words>
  <Application>Microsoft Office PowerPoint</Application>
  <PresentationFormat>On-screen Show (4:3)</PresentationFormat>
  <Paragraphs>710</Paragraphs>
  <Slides>37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Franklin Gothic Book</vt:lpstr>
      <vt:lpstr>Helvetica</vt:lpstr>
      <vt:lpstr>Wingdings</vt:lpstr>
      <vt:lpstr>Wingdings 2</vt:lpstr>
      <vt:lpstr>ASEAN PPT Template 010611 MV</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Display buffet dishes</vt:lpstr>
      <vt:lpstr>Display buffet dishes</vt:lpstr>
      <vt:lpstr>Display buffet dishes</vt:lpstr>
      <vt:lpstr>Display buffet dishes</vt:lpstr>
      <vt:lpstr>Display buffet dishes</vt:lpstr>
      <vt:lpstr>Display buffet dishes</vt:lpstr>
      <vt:lpstr>Display buffet dishes</vt:lpstr>
      <vt:lpstr>Display buffet dishes</vt:lpstr>
      <vt:lpstr>Display buffet dishes</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lpstr>Plan, prepare and display a buffet service</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PREPARE AND DISPLAY A BUFFET SERVICE</dc:title>
  <dc:creator>Administrator</dc:creator>
  <cp:lastModifiedBy>Ma. Christina Aquino</cp:lastModifiedBy>
  <cp:revision>89</cp:revision>
  <dcterms:created xsi:type="dcterms:W3CDTF">2012-02-24T06:06:51Z</dcterms:created>
  <dcterms:modified xsi:type="dcterms:W3CDTF">2015-03-31T03:48:05Z</dcterms:modified>
</cp:coreProperties>
</file>