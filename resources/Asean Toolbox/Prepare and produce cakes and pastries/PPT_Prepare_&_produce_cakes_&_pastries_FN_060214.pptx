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3"/>
  </p:notesMasterIdLst>
  <p:handoutMasterIdLst>
    <p:handoutMasterId r:id="rId44"/>
  </p:handoutMasterIdLst>
  <p:sldIdLst>
    <p:sldId id="256" r:id="rId2"/>
    <p:sldId id="258" r:id="rId3"/>
    <p:sldId id="257" r:id="rId4"/>
    <p:sldId id="259" r:id="rId5"/>
    <p:sldId id="270" r:id="rId6"/>
    <p:sldId id="271" r:id="rId7"/>
    <p:sldId id="272" r:id="rId8"/>
    <p:sldId id="273" r:id="rId9"/>
    <p:sldId id="274" r:id="rId10"/>
    <p:sldId id="279" r:id="rId11"/>
    <p:sldId id="278" r:id="rId12"/>
    <p:sldId id="277" r:id="rId13"/>
    <p:sldId id="275" r:id="rId14"/>
    <p:sldId id="280" r:id="rId15"/>
    <p:sldId id="282" r:id="rId16"/>
    <p:sldId id="281" r:id="rId17"/>
    <p:sldId id="283" r:id="rId18"/>
    <p:sldId id="284" r:id="rId19"/>
    <p:sldId id="285" r:id="rId20"/>
    <p:sldId id="286" r:id="rId21"/>
    <p:sldId id="303" r:id="rId22"/>
    <p:sldId id="266" r:id="rId23"/>
    <p:sldId id="287" r:id="rId24"/>
    <p:sldId id="288" r:id="rId25"/>
    <p:sldId id="289" r:id="rId26"/>
    <p:sldId id="304" r:id="rId27"/>
    <p:sldId id="267" r:id="rId28"/>
    <p:sldId id="291" r:id="rId29"/>
    <p:sldId id="299" r:id="rId30"/>
    <p:sldId id="300" r:id="rId31"/>
    <p:sldId id="301" r:id="rId32"/>
    <p:sldId id="292" r:id="rId33"/>
    <p:sldId id="293" r:id="rId34"/>
    <p:sldId id="302" r:id="rId35"/>
    <p:sldId id="268" r:id="rId36"/>
    <p:sldId id="294" r:id="rId37"/>
    <p:sldId id="295" r:id="rId38"/>
    <p:sldId id="305" r:id="rId39"/>
    <p:sldId id="269" r:id="rId40"/>
    <p:sldId id="297" r:id="rId41"/>
    <p:sldId id="298" r:id="rId42"/>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52" autoAdjust="0"/>
    <p:restoredTop sz="67768" autoAdjust="0"/>
  </p:normalViewPr>
  <p:slideViewPr>
    <p:cSldViewPr>
      <p:cViewPr varScale="1">
        <p:scale>
          <a:sx n="62" d="100"/>
          <a:sy n="62" d="100"/>
        </p:scale>
        <p:origin x="223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3/31/2015</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39168913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3/31/2015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2823814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to introduce self and talk of personal bone fide to be able to teach this unit.</a:t>
            </a:r>
          </a:p>
          <a:p>
            <a:endParaRPr lang="en-US" dirty="0" smtClean="0"/>
          </a:p>
          <a:p>
            <a:r>
              <a:rPr lang="en-US" dirty="0" smtClean="0"/>
              <a:t>Give</a:t>
            </a:r>
            <a:r>
              <a:rPr lang="en-US" baseline="0" dirty="0" smtClean="0"/>
              <a:t> brief overview of your experience in patisserie and baking Industry.</a:t>
            </a:r>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205612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advises students that assessment for this Unit may take several forms all of which are aimed at verifying they have achieved competency for the Unit as required.</a:t>
            </a:r>
          </a:p>
          <a:p>
            <a:endParaRPr lang="en-US" baseline="0" dirty="0" smtClean="0"/>
          </a:p>
          <a:p>
            <a:r>
              <a:rPr lang="en-US" baseline="0" dirty="0" smtClean="0"/>
              <a:t>Trainer indicates to students the methods of assessment that will be applied to them for this Unit. </a:t>
            </a: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10599129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students this Unit comprises five Elements, as listed on the slide explaining:</a:t>
            </a:r>
          </a:p>
          <a:p>
            <a:endParaRPr lang="en-US" dirty="0" smtClean="0"/>
          </a:p>
          <a:p>
            <a:pPr>
              <a:buFont typeface="Arial" pitchFamily="34" charset="0"/>
              <a:buChar char="•"/>
            </a:pPr>
            <a:r>
              <a:rPr lang="en-US" dirty="0" smtClean="0"/>
              <a:t> Each Element comprises a number of Performance Criteria which will be identified throughout the class and explained in detail</a:t>
            </a:r>
          </a:p>
          <a:p>
            <a:pPr>
              <a:buFont typeface="Arial" pitchFamily="34" charset="0"/>
              <a:buChar char="•"/>
            </a:pPr>
            <a:r>
              <a:rPr lang="en-US" dirty="0" smtClean="0"/>
              <a:t> Students can obtain more detail from their Trainee Manual</a:t>
            </a:r>
          </a:p>
          <a:p>
            <a:pPr>
              <a:buFont typeface="Arial" pitchFamily="34" charset="0"/>
              <a:buChar char="•"/>
            </a:pPr>
            <a:r>
              <a:rPr lang="en-US" dirty="0" smtClean="0"/>
              <a:t> The course presents advice and information but where their workplace requirements differ to what is presented, the workplace practices and standards must be observed.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3761992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dirty="0" smtClean="0"/>
              <a:t>Performance criteria relating to Element 1 - </a:t>
            </a:r>
            <a:r>
              <a:rPr lang="en-AU" b="0" baseline="0" dirty="0" smtClean="0"/>
              <a:t>Prepare and bake cakes and fillings</a:t>
            </a:r>
            <a:r>
              <a:rPr lang="en-US" b="0" baseline="0" dirty="0" smtClean="0"/>
              <a:t>.</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508903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r>
              <a:rPr lang="en-US" b="0" baseline="0" dirty="0" smtClean="0"/>
              <a:t>Give a brief synopsis of all the ingredients that may be used to produces cakes and pastries.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2113682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Char char="•"/>
            </a:pPr>
            <a:r>
              <a:rPr lang="en-US" b="0" dirty="0" smtClean="0"/>
              <a:t>There are many different types of flour on the market for making cakes</a:t>
            </a:r>
          </a:p>
          <a:p>
            <a:pPr>
              <a:buFont typeface="Arial" pitchFamily="34" charset="0"/>
              <a:buChar char="•"/>
            </a:pPr>
            <a:r>
              <a:rPr lang="en-US" b="0" dirty="0" smtClean="0"/>
              <a:t>They are different to bread baking flours, they do not have the same gluten content</a:t>
            </a:r>
          </a:p>
          <a:p>
            <a:pPr>
              <a:buFont typeface="Arial" pitchFamily="34" charset="0"/>
              <a:buChar char="•"/>
            </a:pPr>
            <a:r>
              <a:rPr lang="en-US" b="0" dirty="0" smtClean="0"/>
              <a:t>They are weaker in gluten</a:t>
            </a:r>
          </a:p>
          <a:p>
            <a:pPr>
              <a:buFont typeface="Arial" pitchFamily="34" charset="0"/>
              <a:buChar char="•"/>
            </a:pPr>
            <a:r>
              <a:rPr lang="en-US" b="0" dirty="0" smtClean="0"/>
              <a:t>But of equal food value.</a:t>
            </a:r>
          </a:p>
          <a:p>
            <a:pPr>
              <a:buFont typeface="Arial" pitchFamily="34" charset="0"/>
              <a:buNone/>
            </a:pPr>
            <a:endParaRPr lang="en-US" b="0" dirty="0" smtClean="0"/>
          </a:p>
          <a:p>
            <a:pPr>
              <a:buFont typeface="Arial" pitchFamily="34" charset="0"/>
              <a:buNone/>
            </a:pPr>
            <a:r>
              <a:rPr lang="en-US" b="0" dirty="0" smtClean="0"/>
              <a:t>Each have a different role:</a:t>
            </a:r>
          </a:p>
          <a:p>
            <a:pPr>
              <a:buFont typeface="Arial" pitchFamily="34" charset="0"/>
              <a:buNone/>
            </a:pPr>
            <a:endParaRPr lang="en-US" b="0" dirty="0" smtClean="0"/>
          </a:p>
          <a:p>
            <a:pPr>
              <a:buFont typeface="Arial" pitchFamily="34" charset="0"/>
              <a:buNone/>
            </a:pPr>
            <a:r>
              <a:rPr lang="en-AU" sz="1600" b="1" dirty="0" smtClean="0"/>
              <a:t>Plain Flour</a:t>
            </a:r>
          </a:p>
          <a:p>
            <a:pPr>
              <a:buFont typeface="Arial" pitchFamily="34" charset="0"/>
              <a:buNone/>
            </a:pPr>
            <a:r>
              <a:rPr lang="en-AU" sz="1600" dirty="0" smtClean="0"/>
              <a:t>General purpose flour that can be used across wide variety</a:t>
            </a:r>
            <a:r>
              <a:rPr lang="en-AU" sz="1600" baseline="0" dirty="0" smtClean="0"/>
              <a:t> of goods.</a:t>
            </a:r>
            <a:endParaRPr lang="en-AU" sz="1600" dirty="0" smtClean="0"/>
          </a:p>
          <a:p>
            <a:pPr>
              <a:buFont typeface="Arial" pitchFamily="34" charset="0"/>
              <a:buNone/>
            </a:pPr>
            <a:endParaRPr lang="en-AU" sz="1600" b="1" dirty="0" smtClean="0"/>
          </a:p>
          <a:p>
            <a:pPr>
              <a:buFont typeface="Arial" pitchFamily="34" charset="0"/>
              <a:buNone/>
            </a:pPr>
            <a:r>
              <a:rPr lang="en-AU" sz="1600" b="1" dirty="0" smtClean="0"/>
              <a:t>Self Raising Flour</a:t>
            </a:r>
          </a:p>
          <a:p>
            <a:pPr>
              <a:buFont typeface="Arial" pitchFamily="34" charset="0"/>
              <a:buChar char="•"/>
            </a:pPr>
            <a:r>
              <a:rPr lang="en-AU" sz="1600" dirty="0" smtClean="0"/>
              <a:t>Plain flour</a:t>
            </a:r>
            <a:r>
              <a:rPr lang="en-AU" sz="1600" baseline="0" dirty="0" smtClean="0"/>
              <a:t> that has an aerating agent (baking powder) added. 60g per kilo of flour is standard. </a:t>
            </a:r>
          </a:p>
          <a:p>
            <a:pPr>
              <a:buFont typeface="Arial" pitchFamily="34" charset="0"/>
              <a:buChar char="•"/>
            </a:pPr>
            <a:r>
              <a:rPr lang="en-AU" sz="1600" baseline="0" dirty="0" smtClean="0"/>
              <a:t>Variation can be used but the majority of premixed self raising flour is in this ratio.</a:t>
            </a:r>
          </a:p>
          <a:p>
            <a:pPr>
              <a:buFont typeface="Arial" pitchFamily="34" charset="0"/>
              <a:buNone/>
            </a:pPr>
            <a:endParaRPr lang="en-AU" sz="1600" dirty="0" smtClean="0"/>
          </a:p>
          <a:p>
            <a:pPr>
              <a:buFont typeface="Arial" pitchFamily="34" charset="0"/>
              <a:buNone/>
            </a:pPr>
            <a:r>
              <a:rPr lang="en-AU" sz="1600" b="1" dirty="0" smtClean="0"/>
              <a:t>Soft Cake Flour</a:t>
            </a:r>
          </a:p>
          <a:p>
            <a:pPr>
              <a:buFont typeface="Arial" pitchFamily="34" charset="0"/>
              <a:buNone/>
            </a:pPr>
            <a:r>
              <a:rPr lang="en-AU" sz="1600" dirty="0" smtClean="0"/>
              <a:t>Plain flour with low gluten content that has been finely milled to allow for more surface area to be able to absorb and hold liquid.</a:t>
            </a:r>
          </a:p>
          <a:p>
            <a:pPr>
              <a:buFont typeface="Arial" pitchFamily="34" charset="0"/>
              <a:buNone/>
            </a:pPr>
            <a:endParaRPr lang="en-AU" sz="1600" dirty="0" smtClean="0"/>
          </a:p>
          <a:p>
            <a:pPr>
              <a:buFont typeface="Arial" pitchFamily="34" charset="0"/>
              <a:buNone/>
            </a:pPr>
            <a:r>
              <a:rPr lang="en-AU" sz="1600" b="1" dirty="0" smtClean="0"/>
              <a:t>Special Cake Flour</a:t>
            </a:r>
          </a:p>
          <a:p>
            <a:pPr>
              <a:buFont typeface="Arial" pitchFamily="34" charset="0"/>
              <a:buChar char="•"/>
            </a:pPr>
            <a:r>
              <a:rPr lang="en-AU" sz="1600" b="0" dirty="0" smtClean="0"/>
              <a:t>Flour which has had the protein denatured by </a:t>
            </a:r>
            <a:r>
              <a:rPr lang="en-AU" sz="1600" b="0" baseline="0" dirty="0" smtClean="0"/>
              <a:t>being chlorinated after milling</a:t>
            </a:r>
          </a:p>
          <a:p>
            <a:pPr>
              <a:buFont typeface="Arial" pitchFamily="34" charset="0"/>
              <a:buChar char="•"/>
            </a:pPr>
            <a:r>
              <a:rPr lang="en-AU" sz="1600" b="0" baseline="0" dirty="0" smtClean="0"/>
              <a:t>This has a bleaching effect and makes the flour appear whiter</a:t>
            </a:r>
          </a:p>
          <a:p>
            <a:pPr>
              <a:buFont typeface="Arial" pitchFamily="34" charset="0"/>
              <a:buChar char="•"/>
            </a:pPr>
            <a:r>
              <a:rPr lang="en-AU" sz="1600" b="0" dirty="0" smtClean="0"/>
              <a:t>The flour has been finely milled so it has</a:t>
            </a:r>
            <a:r>
              <a:rPr lang="en-AU" sz="1600" b="0" baseline="0" dirty="0" smtClean="0"/>
              <a:t> smaller particle size. This finer size allows for greater ability to hold liquid</a:t>
            </a:r>
          </a:p>
          <a:p>
            <a:pPr>
              <a:buFont typeface="Arial" pitchFamily="34" charset="0"/>
              <a:buChar char="•"/>
            </a:pPr>
            <a:r>
              <a:rPr lang="en-AU" sz="1600" b="0" baseline="0" dirty="0" smtClean="0"/>
              <a:t>This Special flour works with special shortenings with emulsifiers that allow for all ingredients to be placed into the same bowl and will aerate during the mixing process</a:t>
            </a:r>
          </a:p>
          <a:p>
            <a:pPr>
              <a:buFont typeface="Arial" pitchFamily="34" charset="0"/>
              <a:buChar char="•"/>
            </a:pPr>
            <a:r>
              <a:rPr lang="en-AU" sz="1600" b="0" baseline="0" dirty="0" smtClean="0"/>
              <a:t>In contrast to sugar batter and flour batter methods.</a:t>
            </a:r>
            <a:endParaRPr lang="en-AU" sz="16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3301425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Tx/>
              <a:buNone/>
            </a:pPr>
            <a:r>
              <a:rPr lang="en-US" dirty="0" smtClean="0"/>
              <a:t>Different types of sugar in the market</a:t>
            </a:r>
            <a:r>
              <a:rPr lang="en-US" baseline="0" dirty="0" smtClean="0"/>
              <a:t> place:</a:t>
            </a:r>
          </a:p>
          <a:p>
            <a:pPr>
              <a:buFont typeface="Arial" pitchFamily="34" charset="0"/>
              <a:buChar char="•"/>
            </a:pPr>
            <a:r>
              <a:rPr lang="en-US" baseline="0" dirty="0" smtClean="0"/>
              <a:t>Castor sugar is the best sugar to use in cake making because it dissolves best during the baking process and less evidence of un-dissolved grains after baking</a:t>
            </a:r>
          </a:p>
          <a:p>
            <a:pPr>
              <a:buFont typeface="Arial" pitchFamily="34" charset="0"/>
              <a:buChar char="•"/>
            </a:pPr>
            <a:r>
              <a:rPr lang="en-US" baseline="0" dirty="0" smtClean="0"/>
              <a:t>Brown sugar is normal sucrose that has a portion of molasses added to the end product</a:t>
            </a:r>
          </a:p>
          <a:p>
            <a:pPr>
              <a:buFont typeface="Arial" pitchFamily="34" charset="0"/>
              <a:buChar char="•"/>
            </a:pPr>
            <a:r>
              <a:rPr lang="en-US" baseline="0" dirty="0" smtClean="0"/>
              <a:t>Brown sugar comes in light  brown and dark brown</a:t>
            </a:r>
          </a:p>
          <a:p>
            <a:pPr>
              <a:buFont typeface="Arial" pitchFamily="34" charset="0"/>
              <a:buChar char="•"/>
            </a:pPr>
            <a:r>
              <a:rPr lang="en-US" baseline="0" dirty="0" smtClean="0"/>
              <a:t>A1 sugar crystal is the normal everyday sugar that most people know. It is not recommended for baking due to the grain size. Castor sugar is best because it has finer grain and will dissolve better in batters and pastry during the baking process.</a:t>
            </a:r>
          </a:p>
          <a:p>
            <a:pPr>
              <a:buFontTx/>
              <a:buNone/>
            </a:pPr>
            <a:endParaRPr lang="en-US" baseline="0" dirty="0" smtClean="0"/>
          </a:p>
          <a:p>
            <a:pPr>
              <a:buFontTx/>
              <a:buNone/>
            </a:pPr>
            <a:r>
              <a:rPr lang="en-US" baseline="0" dirty="0" smtClean="0"/>
              <a:t>Glucose</a:t>
            </a:r>
          </a:p>
          <a:p>
            <a:pPr>
              <a:buFont typeface="Arial" pitchFamily="34" charset="0"/>
              <a:buChar char="•"/>
            </a:pPr>
            <a:r>
              <a:rPr lang="en-US" baseline="0" dirty="0" smtClean="0"/>
              <a:t>Comes in either liquid or powder form</a:t>
            </a:r>
          </a:p>
          <a:p>
            <a:pPr>
              <a:buFont typeface="Arial" pitchFamily="34" charset="0"/>
              <a:buChar char="•"/>
            </a:pPr>
            <a:r>
              <a:rPr lang="en-US" baseline="0" dirty="0" smtClean="0"/>
              <a:t>Liquid form is used in baking and its main role beside sweetening is to help keep moisture in product</a:t>
            </a:r>
          </a:p>
          <a:p>
            <a:pPr>
              <a:buFont typeface="Arial" pitchFamily="34" charset="0"/>
              <a:buChar char="•"/>
            </a:pPr>
            <a:r>
              <a:rPr lang="en-US" baseline="0" dirty="0" smtClean="0"/>
              <a:t>Liquid glucose is derived from starch. The starch is gelatinised and an acid is added and over time it converts to a sugar; glucose.</a:t>
            </a:r>
          </a:p>
          <a:p>
            <a:pPr>
              <a:buFontTx/>
              <a:buNone/>
            </a:pPr>
            <a:endParaRPr lang="en-US" baseline="0" dirty="0" smtClean="0"/>
          </a:p>
          <a:p>
            <a:pPr>
              <a:buFontTx/>
              <a:buNone/>
            </a:pPr>
            <a:r>
              <a:rPr lang="en-US" baseline="0" dirty="0" smtClean="0"/>
              <a:t>Icing sugar</a:t>
            </a:r>
          </a:p>
          <a:p>
            <a:pPr>
              <a:buFontTx/>
              <a:buNone/>
            </a:pPr>
            <a:r>
              <a:rPr lang="en-US" baseline="0" dirty="0" smtClean="0"/>
              <a:t>Finer grind of sugar, very small particles.</a:t>
            </a:r>
          </a:p>
          <a:p>
            <a:pPr>
              <a:buFontTx/>
              <a:buNone/>
            </a:pPr>
            <a:endParaRPr lang="en-US" baseline="0" dirty="0" smtClean="0"/>
          </a:p>
          <a:p>
            <a:pPr>
              <a:buFontTx/>
              <a:buNone/>
            </a:pPr>
            <a:r>
              <a:rPr lang="en-US" baseline="0" dirty="0" smtClean="0"/>
              <a:t>Fondant</a:t>
            </a:r>
          </a:p>
          <a:p>
            <a:pPr>
              <a:buFont typeface="Arial" pitchFamily="34" charset="0"/>
              <a:buChar char="•"/>
            </a:pPr>
            <a:r>
              <a:rPr lang="en-US" baseline="0" dirty="0" smtClean="0"/>
              <a:t>Fondant is a sugar solution that has been boiled to 114-117C and then cooled and while cooling it is agitated to form a white mass</a:t>
            </a:r>
          </a:p>
          <a:p>
            <a:pPr>
              <a:buFont typeface="Arial" pitchFamily="34" charset="0"/>
              <a:buChar char="•"/>
            </a:pPr>
            <a:r>
              <a:rPr lang="en-US" baseline="0" dirty="0" smtClean="0"/>
              <a:t>Before applying it needs to be tempered.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18867434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r>
              <a:rPr lang="en-US" dirty="0" smtClean="0"/>
              <a:t>Products in the marketplace:</a:t>
            </a:r>
          </a:p>
          <a:p>
            <a:pPr>
              <a:buFont typeface="Arial" pitchFamily="34" charset="0"/>
              <a:buChar char="•"/>
            </a:pPr>
            <a:r>
              <a:rPr lang="en-AU" sz="2000" dirty="0" smtClean="0"/>
              <a:t>Eggs</a:t>
            </a:r>
          </a:p>
          <a:p>
            <a:pPr lvl="1">
              <a:buFont typeface="Arial" pitchFamily="34" charset="0"/>
              <a:buChar char="•"/>
            </a:pPr>
            <a:r>
              <a:rPr lang="en-AU" sz="2000" dirty="0" smtClean="0"/>
              <a:t>Are available in many forms</a:t>
            </a:r>
          </a:p>
          <a:p>
            <a:pPr lvl="1">
              <a:buFont typeface="Arial" pitchFamily="34" charset="0"/>
              <a:buChar char="•"/>
            </a:pPr>
            <a:r>
              <a:rPr lang="en-AU" sz="2000" dirty="0" smtClean="0"/>
              <a:t>Fresh, frozen, powdered</a:t>
            </a:r>
          </a:p>
          <a:p>
            <a:pPr>
              <a:buFont typeface="Arial" pitchFamily="34" charset="0"/>
              <a:buChar char="•"/>
            </a:pPr>
            <a:r>
              <a:rPr lang="en-AU" sz="2000" dirty="0" smtClean="0"/>
              <a:t>Milk comes in several</a:t>
            </a:r>
            <a:r>
              <a:rPr lang="en-AU" sz="2000" baseline="0" dirty="0" smtClean="0"/>
              <a:t> forms, fresh, powdered</a:t>
            </a:r>
            <a:endParaRPr lang="en-AU" sz="2000" dirty="0" smtClean="0"/>
          </a:p>
          <a:p>
            <a:pPr lvl="1">
              <a:buFont typeface="Arial" pitchFamily="34" charset="0"/>
              <a:buChar char="•"/>
            </a:pPr>
            <a:r>
              <a:rPr lang="en-AU" sz="2000" dirty="0" smtClean="0"/>
              <a:t>Cream comes both fresh and imitation</a:t>
            </a:r>
          </a:p>
          <a:p>
            <a:pPr lvl="1">
              <a:buFont typeface="Arial" pitchFamily="34" charset="0"/>
              <a:buChar char="•"/>
            </a:pPr>
            <a:r>
              <a:rPr lang="en-AU" sz="2000" dirty="0" smtClean="0"/>
              <a:t>Fresh</a:t>
            </a:r>
            <a:r>
              <a:rPr lang="en-AU" sz="2000" baseline="0" dirty="0" smtClean="0"/>
              <a:t> need refrigeration and is hard to control in hot humid climates</a:t>
            </a:r>
            <a:endParaRPr lang="en-AU" sz="2000" dirty="0" smtClean="0"/>
          </a:p>
          <a:p>
            <a:pPr>
              <a:buFont typeface="Arial" pitchFamily="34" charset="0"/>
              <a:buChar char="•"/>
            </a:pPr>
            <a:r>
              <a:rPr lang="en-AU" sz="2000" dirty="0" smtClean="0"/>
              <a:t>Fats, oils, butter, margarines</a:t>
            </a:r>
          </a:p>
          <a:p>
            <a:pPr lvl="1">
              <a:buFont typeface="Arial" pitchFamily="34" charset="0"/>
              <a:buChar char="•"/>
            </a:pPr>
            <a:r>
              <a:rPr lang="en-AU" sz="2000" dirty="0" smtClean="0"/>
              <a:t>All</a:t>
            </a:r>
            <a:r>
              <a:rPr lang="en-AU" sz="2000" baseline="0" dirty="0" smtClean="0"/>
              <a:t> are fats and come in many forms</a:t>
            </a:r>
          </a:p>
          <a:p>
            <a:pPr lvl="1">
              <a:buFont typeface="Arial" pitchFamily="34" charset="0"/>
              <a:buChar char="•"/>
            </a:pPr>
            <a:r>
              <a:rPr lang="en-AU" sz="2000" baseline="0" dirty="0" smtClean="0"/>
              <a:t>Practitioner needs to choose what is best adapted to the needs of the product.</a:t>
            </a: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41594111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r>
              <a:rPr lang="en-US" dirty="0" smtClean="0"/>
              <a:t>Products in the marketplace:</a:t>
            </a:r>
          </a:p>
          <a:p>
            <a:pPr lvl="0">
              <a:buFont typeface="Arial" pitchFamily="34" charset="0"/>
              <a:buChar char="•"/>
            </a:pPr>
            <a:r>
              <a:rPr lang="en-AU" sz="2000" dirty="0" smtClean="0"/>
              <a:t>Chocolate </a:t>
            </a:r>
          </a:p>
          <a:p>
            <a:pPr lvl="1">
              <a:buFont typeface="Arial" pitchFamily="34" charset="0"/>
              <a:buChar char="•"/>
            </a:pPr>
            <a:r>
              <a:rPr lang="en-AU" sz="2000" dirty="0" smtClean="0"/>
              <a:t>Cocoa powder</a:t>
            </a:r>
          </a:p>
          <a:p>
            <a:pPr lvl="1">
              <a:buFont typeface="Arial" pitchFamily="34" charset="0"/>
              <a:buChar char="•"/>
            </a:pPr>
            <a:r>
              <a:rPr lang="en-AU" sz="2000" dirty="0" smtClean="0"/>
              <a:t>Chocolate coverture and bakers chocolate can be used</a:t>
            </a:r>
          </a:p>
          <a:p>
            <a:pPr lvl="1">
              <a:buFont typeface="Arial" pitchFamily="34" charset="0"/>
              <a:buChar char="•"/>
            </a:pPr>
            <a:r>
              <a:rPr lang="en-AU" sz="2000" dirty="0" smtClean="0"/>
              <a:t>Cocoa powder is</a:t>
            </a:r>
            <a:r>
              <a:rPr lang="en-AU" sz="2000" baseline="0" dirty="0" smtClean="0"/>
              <a:t> the powder flavour of the cocoa pod</a:t>
            </a:r>
            <a:endParaRPr lang="en-AU" sz="2000" dirty="0" smtClean="0"/>
          </a:p>
          <a:p>
            <a:pPr lvl="0">
              <a:buFont typeface="Arial" pitchFamily="34" charset="0"/>
              <a:buChar char="•"/>
            </a:pPr>
            <a:r>
              <a:rPr lang="en-AU" sz="2000" dirty="0" smtClean="0"/>
              <a:t>Nuts</a:t>
            </a:r>
          </a:p>
          <a:p>
            <a:pPr lvl="1">
              <a:buFont typeface="Arial" pitchFamily="34" charset="0"/>
              <a:buChar char="•"/>
            </a:pPr>
            <a:r>
              <a:rPr lang="en-AU" sz="2000" dirty="0" smtClean="0"/>
              <a:t>Ground</a:t>
            </a:r>
            <a:r>
              <a:rPr lang="en-AU" sz="2000" baseline="0" dirty="0" smtClean="0"/>
              <a:t> varieties are used in bakery products, sliced and chopped may be roasted and used for decoration</a:t>
            </a:r>
            <a:endParaRPr lang="en-AU" sz="2000" dirty="0" smtClean="0"/>
          </a:p>
          <a:p>
            <a:pPr lvl="0">
              <a:buFont typeface="Arial" pitchFamily="34" charset="0"/>
              <a:buChar char="•"/>
            </a:pPr>
            <a:r>
              <a:rPr lang="en-AU" sz="2000" dirty="0" err="1" smtClean="0"/>
              <a:t>Gelatin</a:t>
            </a:r>
            <a:r>
              <a:rPr lang="en-AU" sz="2000" baseline="0" dirty="0" smtClean="0"/>
              <a:t> and</a:t>
            </a:r>
            <a:r>
              <a:rPr lang="en-AU" sz="2000" dirty="0" smtClean="0"/>
              <a:t> agar agar</a:t>
            </a:r>
            <a:r>
              <a:rPr lang="en-AU" sz="2000" baseline="0" dirty="0" smtClean="0"/>
              <a:t> a just two gelling agents that can be used</a:t>
            </a:r>
            <a:endParaRPr lang="en-AU" sz="2000" dirty="0" smtClean="0"/>
          </a:p>
          <a:p>
            <a:pPr lvl="0">
              <a:buFont typeface="Arial" pitchFamily="34" charset="0"/>
              <a:buChar char="•"/>
            </a:pPr>
            <a:r>
              <a:rPr lang="en-AU" sz="2000" dirty="0" smtClean="0"/>
              <a:t>Flavourings and essences </a:t>
            </a:r>
          </a:p>
          <a:p>
            <a:pPr lvl="1">
              <a:buFont typeface="Arial" pitchFamily="34" charset="0"/>
              <a:buChar char="•"/>
            </a:pPr>
            <a:r>
              <a:rPr lang="en-AU" sz="2000" dirty="0" smtClean="0"/>
              <a:t>Spices and liquid flavourings and colourings are also used, varieties are endless.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828545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AU" sz="2000" dirty="0" smtClean="0"/>
          </a:p>
          <a:p>
            <a:pPr>
              <a:buFont typeface="Arial" pitchFamily="34" charset="0"/>
              <a:buNone/>
            </a:pPr>
            <a:r>
              <a:rPr lang="en-AU" sz="1200" kern="1200" dirty="0" smtClean="0">
                <a:solidFill>
                  <a:schemeClr val="tx1"/>
                </a:solidFill>
                <a:latin typeface="Helvetica" pitchFamily="34" charset="0"/>
                <a:ea typeface="+mn-ea"/>
                <a:cs typeface="+mn-cs"/>
              </a:rPr>
              <a:t>Each of the following in the subsequent slides:</a:t>
            </a:r>
          </a:p>
          <a:p>
            <a:pPr>
              <a:buFont typeface="Arial" pitchFamily="34" charset="0"/>
              <a:buNone/>
            </a:pPr>
            <a:endParaRPr lang="en-US" sz="2000" dirty="0" smtClean="0">
              <a:latin typeface="Helvetica" pitchFamily="34" charset="0"/>
            </a:endParaRPr>
          </a:p>
          <a:p>
            <a:pPr marL="0" indent="-457200">
              <a:spcBef>
                <a:spcPts val="600"/>
              </a:spcBef>
              <a:spcAft>
                <a:spcPts val="1200"/>
              </a:spcAft>
              <a:buFont typeface="Arial" pitchFamily="34" charset="0"/>
              <a:buChar char="•"/>
            </a:pPr>
            <a:r>
              <a:rPr lang="en-US" sz="2000" dirty="0" smtClean="0">
                <a:latin typeface="Helvetica" pitchFamily="34" charset="0"/>
              </a:rPr>
              <a:t>Pound cakes</a:t>
            </a:r>
          </a:p>
          <a:p>
            <a:pPr marL="0" indent="-457200">
              <a:spcBef>
                <a:spcPts val="600"/>
              </a:spcBef>
              <a:spcAft>
                <a:spcPts val="1200"/>
              </a:spcAft>
              <a:buFont typeface="Arial" pitchFamily="34" charset="0"/>
              <a:buChar char="•"/>
            </a:pPr>
            <a:r>
              <a:rPr lang="en-US" sz="2000" dirty="0" smtClean="0">
                <a:latin typeface="Helvetica" pitchFamily="34" charset="0"/>
              </a:rPr>
              <a:t>High ratio cakes</a:t>
            </a:r>
          </a:p>
          <a:p>
            <a:pPr marL="0" indent="-457200">
              <a:spcBef>
                <a:spcPts val="600"/>
              </a:spcBef>
              <a:spcAft>
                <a:spcPts val="1200"/>
              </a:spcAft>
              <a:buFont typeface="Arial" pitchFamily="34" charset="0"/>
              <a:buChar char="•"/>
            </a:pPr>
            <a:r>
              <a:rPr lang="en-US" sz="2000" dirty="0" smtClean="0">
                <a:latin typeface="Helvetica" pitchFamily="34" charset="0"/>
              </a:rPr>
              <a:t>Fudge style cakes</a:t>
            </a:r>
          </a:p>
          <a:p>
            <a:pPr marL="0" indent="-457200">
              <a:spcBef>
                <a:spcPts val="600"/>
              </a:spcBef>
              <a:spcAft>
                <a:spcPts val="1200"/>
              </a:spcAft>
              <a:buFont typeface="Arial" pitchFamily="34" charset="0"/>
              <a:buChar char="•"/>
            </a:pPr>
            <a:r>
              <a:rPr lang="en-US" sz="2000" dirty="0" smtClean="0">
                <a:latin typeface="Helvetica" pitchFamily="34" charset="0"/>
              </a:rPr>
              <a:t>Special dietary needs</a:t>
            </a:r>
          </a:p>
          <a:p>
            <a:pPr marL="0" indent="-457200">
              <a:spcBef>
                <a:spcPts val="600"/>
              </a:spcBef>
              <a:spcAft>
                <a:spcPts val="1200"/>
              </a:spcAft>
              <a:buFont typeface="Arial" pitchFamily="34" charset="0"/>
              <a:buChar char="•"/>
            </a:pPr>
            <a:r>
              <a:rPr lang="en-US" sz="2000" dirty="0" smtClean="0">
                <a:latin typeface="Helvetica" pitchFamily="34" charset="0"/>
              </a:rPr>
              <a:t>Honey and spice cakes</a:t>
            </a:r>
          </a:p>
          <a:p>
            <a:pPr marL="0" indent="-457200">
              <a:spcBef>
                <a:spcPts val="600"/>
              </a:spcBef>
              <a:spcAft>
                <a:spcPts val="1200"/>
              </a:spcAft>
              <a:buFont typeface="Arial" pitchFamily="34" charset="0"/>
              <a:buChar char="•"/>
            </a:pPr>
            <a:r>
              <a:rPr lang="en-US" sz="2000" dirty="0" smtClean="0">
                <a:latin typeface="Helvetica" pitchFamily="34" charset="0"/>
              </a:rPr>
              <a:t>Fruit cakes, Light</a:t>
            </a:r>
          </a:p>
          <a:p>
            <a:pPr marL="0" indent="-457200">
              <a:spcBef>
                <a:spcPts val="600"/>
              </a:spcBef>
              <a:spcAft>
                <a:spcPts val="1200"/>
              </a:spcAft>
              <a:buFont typeface="Arial" pitchFamily="34" charset="0"/>
              <a:buChar char="•"/>
            </a:pPr>
            <a:r>
              <a:rPr lang="en-US" sz="2000" dirty="0" smtClean="0">
                <a:latin typeface="Helvetica" pitchFamily="34" charset="0"/>
              </a:rPr>
              <a:t>Fruit cakes, Dark.</a:t>
            </a:r>
          </a:p>
          <a:p>
            <a:pPr>
              <a:buFont typeface="Arial" pitchFamily="34" charset="0"/>
              <a:buNone/>
            </a:pP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18182018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AU" sz="2000" dirty="0" smtClean="0"/>
          </a:p>
          <a:p>
            <a:pPr>
              <a:buFont typeface="Arial" pitchFamily="34" charset="0"/>
              <a:buNone/>
            </a:pPr>
            <a:r>
              <a:rPr lang="en-AU" sz="2000" dirty="0" smtClean="0"/>
              <a:t>What are sponge cakes and how to prepare them:</a:t>
            </a:r>
          </a:p>
          <a:p>
            <a:pPr marL="342900" indent="-342900">
              <a:spcBef>
                <a:spcPts val="600"/>
              </a:spcBef>
              <a:spcAft>
                <a:spcPts val="1200"/>
              </a:spcAft>
              <a:buFont typeface="Arial" pitchFamily="34" charset="0"/>
              <a:buChar char="•"/>
            </a:pPr>
            <a:r>
              <a:rPr lang="en-US" sz="2000" dirty="0" err="1" smtClean="0">
                <a:latin typeface="Helvetica" pitchFamily="34" charset="0"/>
              </a:rPr>
              <a:t>Genoise</a:t>
            </a:r>
            <a:endParaRPr lang="en-US" sz="2000" dirty="0" smtClean="0">
              <a:latin typeface="Helvetica" pitchFamily="34" charset="0"/>
            </a:endParaRPr>
          </a:p>
          <a:p>
            <a:pPr marL="342900" indent="-342900">
              <a:spcBef>
                <a:spcPts val="600"/>
              </a:spcBef>
              <a:spcAft>
                <a:spcPts val="1200"/>
              </a:spcAft>
              <a:buFont typeface="Arial" pitchFamily="34" charset="0"/>
              <a:buChar char="•"/>
            </a:pPr>
            <a:r>
              <a:rPr lang="en-US" sz="2000" dirty="0" smtClean="0">
                <a:latin typeface="Helvetica" pitchFamily="34" charset="0"/>
              </a:rPr>
              <a:t>Sponge drops</a:t>
            </a:r>
          </a:p>
          <a:p>
            <a:pPr marL="342900" indent="-342900">
              <a:spcBef>
                <a:spcPts val="600"/>
              </a:spcBef>
              <a:spcAft>
                <a:spcPts val="1200"/>
              </a:spcAft>
              <a:buFont typeface="Arial" pitchFamily="34" charset="0"/>
              <a:buChar char="•"/>
            </a:pPr>
            <a:r>
              <a:rPr lang="en-US" sz="2000" dirty="0" smtClean="0">
                <a:latin typeface="Helvetica" pitchFamily="34" charset="0"/>
              </a:rPr>
              <a:t>Sponge sheets</a:t>
            </a:r>
          </a:p>
          <a:p>
            <a:pPr marL="342900" indent="-342900">
              <a:spcBef>
                <a:spcPts val="600"/>
              </a:spcBef>
              <a:spcAft>
                <a:spcPts val="1200"/>
              </a:spcAft>
              <a:buFont typeface="Arial" pitchFamily="34" charset="0"/>
              <a:buChar char="•"/>
            </a:pPr>
            <a:r>
              <a:rPr lang="en-US" sz="2000" dirty="0" smtClean="0">
                <a:latin typeface="Helvetica" pitchFamily="34" charset="0"/>
              </a:rPr>
              <a:t>Emulsified sponge.</a:t>
            </a:r>
          </a:p>
          <a:p>
            <a:pPr>
              <a:buFont typeface="Arial" pitchFamily="34" charset="0"/>
              <a:buNone/>
            </a:pP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33621649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AU" sz="2000" dirty="0" smtClean="0"/>
          </a:p>
          <a:p>
            <a:pPr marL="0" indent="0">
              <a:spcBef>
                <a:spcPts val="600"/>
              </a:spcBef>
              <a:spcAft>
                <a:spcPts val="1200"/>
              </a:spcAft>
              <a:buNone/>
            </a:pPr>
            <a:r>
              <a:rPr lang="en-US" sz="2000" dirty="0" smtClean="0">
                <a:latin typeface="Helvetica" pitchFamily="34" charset="0"/>
              </a:rPr>
              <a:t>The different varieties </a:t>
            </a:r>
            <a:r>
              <a:rPr lang="en-US" sz="2000" baseline="0" dirty="0" smtClean="0">
                <a:latin typeface="Helvetica" pitchFamily="34" charset="0"/>
              </a:rPr>
              <a:t>of p</a:t>
            </a:r>
            <a:r>
              <a:rPr lang="en-US" sz="2000" dirty="0" smtClean="0">
                <a:latin typeface="Helvetica" pitchFamily="34" charset="0"/>
              </a:rPr>
              <a:t>ound cakes and their preparation:</a:t>
            </a:r>
          </a:p>
          <a:p>
            <a:pPr marL="342900" indent="-342900">
              <a:spcBef>
                <a:spcPts val="600"/>
              </a:spcBef>
              <a:spcAft>
                <a:spcPts val="1200"/>
              </a:spcAft>
              <a:buFont typeface="Arial" pitchFamily="34" charset="0"/>
              <a:buChar char="•"/>
            </a:pPr>
            <a:r>
              <a:rPr lang="en-US" sz="2000" dirty="0" smtClean="0">
                <a:latin typeface="Helvetica" pitchFamily="34" charset="0"/>
              </a:rPr>
              <a:t>Madeira cakes</a:t>
            </a:r>
          </a:p>
          <a:p>
            <a:pPr marL="342900" indent="-342900">
              <a:spcBef>
                <a:spcPts val="600"/>
              </a:spcBef>
              <a:spcAft>
                <a:spcPts val="1200"/>
              </a:spcAft>
              <a:buFont typeface="Arial" pitchFamily="34" charset="0"/>
              <a:buChar char="•"/>
            </a:pPr>
            <a:r>
              <a:rPr lang="en-US" sz="2000" dirty="0" smtClean="0">
                <a:latin typeface="Helvetica" pitchFamily="34" charset="0"/>
              </a:rPr>
              <a:t>Butter cake</a:t>
            </a:r>
          </a:p>
          <a:p>
            <a:pPr marL="342900" indent="-342900">
              <a:spcBef>
                <a:spcPts val="600"/>
              </a:spcBef>
              <a:spcAft>
                <a:spcPts val="1200"/>
              </a:spcAft>
              <a:buFont typeface="Arial" pitchFamily="34" charset="0"/>
              <a:buChar char="•"/>
            </a:pPr>
            <a:r>
              <a:rPr lang="en-US" sz="2000" dirty="0" smtClean="0">
                <a:latin typeface="Helvetica" pitchFamily="34" charset="0"/>
              </a:rPr>
              <a:t>Pandowdy cakes</a:t>
            </a:r>
          </a:p>
          <a:p>
            <a:pPr marL="342900" indent="-342900">
              <a:spcBef>
                <a:spcPts val="600"/>
              </a:spcBef>
              <a:spcAft>
                <a:spcPts val="1200"/>
              </a:spcAft>
              <a:buFont typeface="Arial" pitchFamily="34" charset="0"/>
              <a:buChar char="•"/>
            </a:pPr>
            <a:r>
              <a:rPr lang="en-US" sz="2000" dirty="0" smtClean="0">
                <a:latin typeface="Helvetica" pitchFamily="34" charset="0"/>
              </a:rPr>
              <a:t>Carrot cake</a:t>
            </a:r>
          </a:p>
          <a:p>
            <a:pPr marL="342900" indent="-342900">
              <a:spcBef>
                <a:spcPts val="600"/>
              </a:spcBef>
              <a:spcAft>
                <a:spcPts val="1200"/>
              </a:spcAft>
              <a:buFont typeface="Arial" pitchFamily="34" charset="0"/>
              <a:buChar char="•"/>
            </a:pPr>
            <a:r>
              <a:rPr lang="en-US" sz="2000" dirty="0" smtClean="0">
                <a:latin typeface="Helvetica" pitchFamily="34" charset="0"/>
              </a:rPr>
              <a:t>Vegetable oil based cakes.</a:t>
            </a:r>
          </a:p>
          <a:p>
            <a:pPr>
              <a:buFont typeface="Arial" pitchFamily="34" charset="0"/>
              <a:buNone/>
            </a:pP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5834920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AU" sz="2000" dirty="0" smtClean="0"/>
          </a:p>
          <a:p>
            <a:pPr marL="0" indent="0">
              <a:spcBef>
                <a:spcPts val="600"/>
              </a:spcBef>
              <a:spcAft>
                <a:spcPts val="1200"/>
              </a:spcAft>
              <a:buNone/>
            </a:pPr>
            <a:r>
              <a:rPr lang="en-US" sz="2000" dirty="0" smtClean="0">
                <a:latin typeface="Helvetica" pitchFamily="34" charset="0"/>
              </a:rPr>
              <a:t>What are High ratio cakes and their preparation method:</a:t>
            </a:r>
          </a:p>
          <a:p>
            <a:pPr marL="342900" indent="-342900">
              <a:spcBef>
                <a:spcPts val="600"/>
              </a:spcBef>
              <a:spcAft>
                <a:spcPts val="1200"/>
              </a:spcAft>
              <a:buFont typeface="Arial" pitchFamily="34" charset="0"/>
              <a:buChar char="•"/>
            </a:pPr>
            <a:r>
              <a:rPr lang="en-US" sz="2000" dirty="0" smtClean="0">
                <a:latin typeface="Helvetica" pitchFamily="34" charset="0"/>
              </a:rPr>
              <a:t>Special shortening and emulsifiers used to produce fine texture and gentle eating products</a:t>
            </a:r>
          </a:p>
          <a:p>
            <a:pPr marL="342900" indent="-342900">
              <a:spcBef>
                <a:spcPts val="600"/>
              </a:spcBef>
              <a:spcAft>
                <a:spcPts val="1200"/>
              </a:spcAft>
              <a:buFont typeface="Arial" pitchFamily="34" charset="0"/>
              <a:buChar char="•"/>
            </a:pPr>
            <a:r>
              <a:rPr lang="en-US" sz="2000" dirty="0" smtClean="0">
                <a:latin typeface="Helvetica" pitchFamily="34" charset="0"/>
              </a:rPr>
              <a:t>Special flours of finer starch grain</a:t>
            </a:r>
          </a:p>
          <a:p>
            <a:pPr marL="342900" indent="-342900">
              <a:spcBef>
                <a:spcPts val="600"/>
              </a:spcBef>
              <a:spcAft>
                <a:spcPts val="1200"/>
              </a:spcAft>
              <a:buFont typeface="Arial" pitchFamily="34" charset="0"/>
              <a:buChar char="•"/>
            </a:pPr>
            <a:r>
              <a:rPr lang="en-US" sz="2000" dirty="0" smtClean="0">
                <a:latin typeface="Helvetica" pitchFamily="34" charset="0"/>
              </a:rPr>
              <a:t>Flour has protein de-natured</a:t>
            </a:r>
          </a:p>
          <a:p>
            <a:pPr marL="342900" indent="-342900">
              <a:spcBef>
                <a:spcPts val="600"/>
              </a:spcBef>
              <a:spcAft>
                <a:spcPts val="1200"/>
              </a:spcAft>
              <a:buFont typeface="Arial" pitchFamily="34" charset="0"/>
              <a:buChar char="•"/>
            </a:pPr>
            <a:r>
              <a:rPr lang="en-US" sz="2000" dirty="0" smtClean="0">
                <a:latin typeface="Helvetica" pitchFamily="34" charset="0"/>
              </a:rPr>
              <a:t>Holds more water</a:t>
            </a:r>
          </a:p>
          <a:p>
            <a:pPr marL="342900" indent="-342900">
              <a:spcBef>
                <a:spcPts val="600"/>
              </a:spcBef>
              <a:spcAft>
                <a:spcPts val="1200"/>
              </a:spcAft>
              <a:buFont typeface="Arial" pitchFamily="34" charset="0"/>
              <a:buChar char="•"/>
            </a:pPr>
            <a:r>
              <a:rPr lang="en-US" sz="2000" dirty="0" smtClean="0">
                <a:latin typeface="Helvetica" pitchFamily="34" charset="0"/>
              </a:rPr>
              <a:t>Formula contains more sugar.</a:t>
            </a:r>
          </a:p>
          <a:p>
            <a:pPr>
              <a:buFont typeface="Arial" pitchFamily="34" charset="0"/>
              <a:buNone/>
            </a:pP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28478329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AU" sz="2000" dirty="0" smtClean="0"/>
          </a:p>
          <a:p>
            <a:pPr marL="0" indent="0">
              <a:spcBef>
                <a:spcPts val="600"/>
              </a:spcBef>
              <a:spcAft>
                <a:spcPts val="1200"/>
              </a:spcAft>
              <a:buNone/>
            </a:pPr>
            <a:r>
              <a:rPr lang="en-US" sz="2000" dirty="0" smtClean="0">
                <a:latin typeface="Helvetica" pitchFamily="34" charset="0"/>
              </a:rPr>
              <a:t>What are Fudge style cakes,</a:t>
            </a:r>
            <a:r>
              <a:rPr lang="en-US" sz="2000" baseline="0" dirty="0" smtClean="0">
                <a:latin typeface="Helvetica" pitchFamily="34" charset="0"/>
              </a:rPr>
              <a:t> their varieties and preparation methods</a:t>
            </a:r>
            <a:r>
              <a:rPr lang="en-US" sz="2000" dirty="0" smtClean="0">
                <a:latin typeface="Helvetica" pitchFamily="34" charset="0"/>
              </a:rPr>
              <a:t>:</a:t>
            </a:r>
          </a:p>
          <a:p>
            <a:pPr marL="342900" indent="-342900">
              <a:spcBef>
                <a:spcPts val="600"/>
              </a:spcBef>
              <a:spcAft>
                <a:spcPts val="1200"/>
              </a:spcAft>
              <a:buFont typeface="Arial" pitchFamily="34" charset="0"/>
              <a:buChar char="•"/>
            </a:pPr>
            <a:r>
              <a:rPr lang="en-US" sz="2000" dirty="0" smtClean="0">
                <a:latin typeface="Helvetica" pitchFamily="34" charset="0"/>
              </a:rPr>
              <a:t>Caramel fudge</a:t>
            </a:r>
          </a:p>
          <a:p>
            <a:pPr marL="342900" indent="-342900">
              <a:spcBef>
                <a:spcPts val="600"/>
              </a:spcBef>
              <a:spcAft>
                <a:spcPts val="1200"/>
              </a:spcAft>
              <a:buFont typeface="Arial" pitchFamily="34" charset="0"/>
              <a:buChar char="•"/>
            </a:pPr>
            <a:r>
              <a:rPr lang="en-US" sz="2000" dirty="0" smtClean="0">
                <a:latin typeface="Helvetica" pitchFamily="34" charset="0"/>
              </a:rPr>
              <a:t>Banana</a:t>
            </a:r>
          </a:p>
          <a:p>
            <a:pPr marL="342900" indent="-342900">
              <a:spcBef>
                <a:spcPts val="600"/>
              </a:spcBef>
              <a:spcAft>
                <a:spcPts val="1200"/>
              </a:spcAft>
              <a:buFont typeface="Arial" pitchFamily="34" charset="0"/>
              <a:buChar char="•"/>
            </a:pPr>
            <a:r>
              <a:rPr lang="en-US" sz="2000" dirty="0" smtClean="0">
                <a:latin typeface="Helvetica" pitchFamily="34" charset="0"/>
              </a:rPr>
              <a:t>Chocolate fudge.</a:t>
            </a:r>
          </a:p>
          <a:p>
            <a:pPr>
              <a:buFont typeface="Arial" pitchFamily="34" charset="0"/>
              <a:buNone/>
            </a:pP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23677255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AU" sz="2000" dirty="0" smtClean="0"/>
          </a:p>
          <a:p>
            <a:pPr>
              <a:buFont typeface="Arial" pitchFamily="34" charset="0"/>
              <a:buNone/>
            </a:pPr>
            <a:r>
              <a:rPr lang="en-AU" sz="2000" dirty="0" smtClean="0"/>
              <a:t>What are the special dietary needs in preparing cakes:</a:t>
            </a:r>
          </a:p>
          <a:p>
            <a:pPr marL="342900" indent="-342900">
              <a:spcBef>
                <a:spcPts val="600"/>
              </a:spcBef>
              <a:spcAft>
                <a:spcPts val="1200"/>
              </a:spcAft>
              <a:buFont typeface="Arial" pitchFamily="34" charset="0"/>
              <a:buChar char="•"/>
            </a:pPr>
            <a:r>
              <a:rPr lang="en-US" sz="2000" dirty="0" smtClean="0">
                <a:latin typeface="Helvetica" pitchFamily="34" charset="0"/>
              </a:rPr>
              <a:t>Gluten free</a:t>
            </a:r>
          </a:p>
          <a:p>
            <a:pPr marL="342900" indent="-342900">
              <a:spcBef>
                <a:spcPts val="600"/>
              </a:spcBef>
              <a:spcAft>
                <a:spcPts val="1200"/>
              </a:spcAft>
              <a:buFont typeface="Arial" pitchFamily="34" charset="0"/>
              <a:buChar char="•"/>
            </a:pPr>
            <a:r>
              <a:rPr lang="en-US" sz="2000" dirty="0" smtClean="0">
                <a:latin typeface="Helvetica" pitchFamily="34" charset="0"/>
              </a:rPr>
              <a:t>Milk free</a:t>
            </a:r>
          </a:p>
          <a:p>
            <a:pPr marL="342900" indent="-342900">
              <a:spcBef>
                <a:spcPts val="600"/>
              </a:spcBef>
              <a:spcAft>
                <a:spcPts val="1200"/>
              </a:spcAft>
              <a:buFont typeface="Arial" pitchFamily="34" charset="0"/>
              <a:buChar char="•"/>
            </a:pPr>
            <a:r>
              <a:rPr lang="en-US" sz="2000" dirty="0" smtClean="0">
                <a:latin typeface="Helvetica" pitchFamily="34" charset="0"/>
              </a:rPr>
              <a:t>Egg free</a:t>
            </a:r>
          </a:p>
          <a:p>
            <a:pPr marL="342900" indent="-342900">
              <a:spcBef>
                <a:spcPts val="600"/>
              </a:spcBef>
              <a:spcAft>
                <a:spcPts val="1200"/>
              </a:spcAft>
              <a:buFont typeface="Arial" pitchFamily="34" charset="0"/>
              <a:buChar char="•"/>
            </a:pPr>
            <a:r>
              <a:rPr lang="en-US" sz="2000" dirty="0" smtClean="0">
                <a:latin typeface="Helvetica" pitchFamily="34" charset="0"/>
              </a:rPr>
              <a:t>Soy free</a:t>
            </a:r>
          </a:p>
          <a:p>
            <a:pPr marL="342900" indent="-342900">
              <a:spcBef>
                <a:spcPts val="600"/>
              </a:spcBef>
              <a:spcAft>
                <a:spcPts val="1200"/>
              </a:spcAft>
              <a:buFont typeface="Arial" pitchFamily="34" charset="0"/>
              <a:buChar char="•"/>
            </a:pPr>
            <a:r>
              <a:rPr lang="en-US" sz="2000" dirty="0" smtClean="0">
                <a:latin typeface="Helvetica" pitchFamily="34" charset="0"/>
              </a:rPr>
              <a:t>Low fat.</a:t>
            </a:r>
          </a:p>
          <a:p>
            <a:pPr>
              <a:buFont typeface="Arial" pitchFamily="34" charset="0"/>
              <a:buNone/>
            </a:pP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27382663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AU" sz="2000" dirty="0" smtClean="0"/>
          </a:p>
          <a:p>
            <a:pPr marL="0" indent="-457200">
              <a:spcBef>
                <a:spcPts val="600"/>
              </a:spcBef>
              <a:spcAft>
                <a:spcPts val="1200"/>
              </a:spcAft>
            </a:pPr>
            <a:r>
              <a:rPr lang="en-US" sz="2000" dirty="0" smtClean="0">
                <a:latin typeface="Helvetica" pitchFamily="34" charset="0"/>
              </a:rPr>
              <a:t>Other varieties of cakes such as:</a:t>
            </a:r>
          </a:p>
          <a:p>
            <a:pPr marL="0" indent="-457200">
              <a:spcBef>
                <a:spcPts val="600"/>
              </a:spcBef>
              <a:spcAft>
                <a:spcPts val="1200"/>
              </a:spcAft>
              <a:buFont typeface="Arial" pitchFamily="34" charset="0"/>
              <a:buChar char="•"/>
            </a:pPr>
            <a:r>
              <a:rPr lang="en-US" sz="2000" dirty="0" smtClean="0">
                <a:latin typeface="Helvetica" pitchFamily="34" charset="0"/>
              </a:rPr>
              <a:t>Honey and spice cakes</a:t>
            </a:r>
          </a:p>
          <a:p>
            <a:pPr marL="0" indent="-457200">
              <a:spcBef>
                <a:spcPts val="600"/>
              </a:spcBef>
              <a:spcAft>
                <a:spcPts val="1200"/>
              </a:spcAft>
              <a:buFont typeface="Arial" pitchFamily="34" charset="0"/>
              <a:buChar char="•"/>
            </a:pPr>
            <a:r>
              <a:rPr lang="en-US" sz="2000" dirty="0" smtClean="0">
                <a:latin typeface="Helvetica" pitchFamily="34" charset="0"/>
              </a:rPr>
              <a:t>Ginger breads</a:t>
            </a:r>
          </a:p>
          <a:p>
            <a:pPr marL="0" indent="-457200">
              <a:spcBef>
                <a:spcPts val="600"/>
              </a:spcBef>
              <a:spcAft>
                <a:spcPts val="1200"/>
              </a:spcAft>
              <a:buFont typeface="Arial" pitchFamily="34" charset="0"/>
              <a:buChar char="•"/>
            </a:pPr>
            <a:r>
              <a:rPr lang="en-US" sz="2000" dirty="0" smtClean="0">
                <a:latin typeface="Helvetica" pitchFamily="34" charset="0"/>
              </a:rPr>
              <a:t>Honey cakes.</a:t>
            </a:r>
          </a:p>
          <a:p>
            <a:pPr>
              <a:buFont typeface="Arial" pitchFamily="34" charset="0"/>
              <a:buNone/>
            </a:pP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24525592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AU" sz="2000" dirty="0" smtClean="0"/>
          </a:p>
          <a:p>
            <a:pPr>
              <a:buFont typeface="Arial" pitchFamily="34" charset="0"/>
              <a:buNone/>
            </a:pPr>
            <a:r>
              <a:rPr lang="en-AU" sz="2000" dirty="0" smtClean="0"/>
              <a:t>The different types and characteristics </a:t>
            </a:r>
            <a:r>
              <a:rPr lang="en-AU" sz="2000" baseline="0" dirty="0" smtClean="0"/>
              <a:t>of fruit cakes:</a:t>
            </a:r>
          </a:p>
          <a:p>
            <a:pPr marL="342000" indent="-342000">
              <a:spcBef>
                <a:spcPts val="600"/>
              </a:spcBef>
              <a:spcAft>
                <a:spcPts val="1200"/>
              </a:spcAft>
              <a:buFont typeface="Arial" pitchFamily="34" charset="0"/>
              <a:buChar char="•"/>
            </a:pPr>
            <a:r>
              <a:rPr lang="en-US" sz="2000" dirty="0" smtClean="0">
                <a:latin typeface="Helvetica" pitchFamily="34" charset="0"/>
              </a:rPr>
              <a:t>Fruit cakes - light</a:t>
            </a:r>
          </a:p>
          <a:p>
            <a:pPr marL="342000" indent="-342000">
              <a:spcBef>
                <a:spcPts val="600"/>
              </a:spcBef>
              <a:spcAft>
                <a:spcPts val="1200"/>
              </a:spcAft>
              <a:buFont typeface="Arial" pitchFamily="34" charset="0"/>
              <a:buChar char="•"/>
            </a:pPr>
            <a:r>
              <a:rPr lang="en-US" sz="2000" dirty="0" smtClean="0">
                <a:latin typeface="Helvetica" pitchFamily="34" charset="0"/>
              </a:rPr>
              <a:t>Fruit cakes</a:t>
            </a:r>
            <a:r>
              <a:rPr lang="en-US" sz="2000" baseline="0" dirty="0" smtClean="0">
                <a:latin typeface="Helvetica" pitchFamily="34" charset="0"/>
              </a:rPr>
              <a:t> –</a:t>
            </a:r>
            <a:r>
              <a:rPr lang="en-US" sz="2000" dirty="0" smtClean="0">
                <a:latin typeface="Helvetica" pitchFamily="34" charset="0"/>
              </a:rPr>
              <a:t> dark.</a:t>
            </a:r>
          </a:p>
          <a:p>
            <a:pPr>
              <a:buFont typeface="Arial" pitchFamily="34" charset="0"/>
              <a:buNone/>
            </a:pP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38724308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AU" sz="2000" dirty="0" smtClean="0"/>
          </a:p>
          <a:p>
            <a:pPr>
              <a:buFont typeface="Arial" pitchFamily="34" charset="0"/>
              <a:buNone/>
            </a:pPr>
            <a:r>
              <a:rPr lang="en-AU" sz="2000" dirty="0" smtClean="0"/>
              <a:t>The importance of being adaptive in</a:t>
            </a:r>
            <a:r>
              <a:rPr lang="en-AU" sz="2000" baseline="0" dirty="0" smtClean="0"/>
              <a:t> order to produce a wide variety of cakes due to the following reasons:</a:t>
            </a:r>
          </a:p>
          <a:p>
            <a:pPr marL="0" indent="-457200">
              <a:spcBef>
                <a:spcPts val="600"/>
              </a:spcBef>
              <a:spcAft>
                <a:spcPts val="1200"/>
              </a:spcAft>
              <a:buFont typeface="Arial" pitchFamily="34" charset="0"/>
              <a:buChar char="•"/>
            </a:pPr>
            <a:r>
              <a:rPr lang="en-US" sz="2000" dirty="0" smtClean="0">
                <a:latin typeface="Helvetica" pitchFamily="34" charset="0"/>
              </a:rPr>
              <a:t>Styles change</a:t>
            </a:r>
          </a:p>
          <a:p>
            <a:pPr marL="0" indent="-457200">
              <a:spcBef>
                <a:spcPts val="600"/>
              </a:spcBef>
              <a:spcAft>
                <a:spcPts val="1200"/>
              </a:spcAft>
              <a:buFont typeface="Arial" pitchFamily="34" charset="0"/>
              <a:buChar char="•"/>
            </a:pPr>
            <a:r>
              <a:rPr lang="en-US" sz="2000" dirty="0" smtClean="0">
                <a:latin typeface="Helvetica" pitchFamily="34" charset="0"/>
              </a:rPr>
              <a:t>Traditions evolve</a:t>
            </a:r>
          </a:p>
          <a:p>
            <a:pPr marL="0" indent="-457200">
              <a:spcBef>
                <a:spcPts val="600"/>
              </a:spcBef>
              <a:spcAft>
                <a:spcPts val="1200"/>
              </a:spcAft>
              <a:buFont typeface="Arial" pitchFamily="34" charset="0"/>
              <a:buChar char="•"/>
            </a:pPr>
            <a:r>
              <a:rPr lang="en-US" sz="2000" dirty="0" smtClean="0">
                <a:latin typeface="Helvetica" pitchFamily="34" charset="0"/>
              </a:rPr>
              <a:t>History gets lost</a:t>
            </a:r>
          </a:p>
          <a:p>
            <a:pPr marL="0" indent="-457200">
              <a:spcBef>
                <a:spcPts val="600"/>
              </a:spcBef>
              <a:spcAft>
                <a:spcPts val="1200"/>
              </a:spcAft>
              <a:buFont typeface="Arial" pitchFamily="34" charset="0"/>
              <a:buChar char="•"/>
            </a:pPr>
            <a:r>
              <a:rPr lang="en-US" sz="2000" dirty="0" smtClean="0">
                <a:latin typeface="Helvetica" pitchFamily="34" charset="0"/>
              </a:rPr>
              <a:t>Seasonality fades.</a:t>
            </a: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5657844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AU" sz="2000" dirty="0" smtClean="0"/>
          </a:p>
          <a:p>
            <a:pPr>
              <a:buFont typeface="Arial" pitchFamily="34" charset="0"/>
              <a:buNone/>
            </a:pPr>
            <a:r>
              <a:rPr lang="en-AU" sz="2000" dirty="0" smtClean="0"/>
              <a:t>The</a:t>
            </a:r>
            <a:r>
              <a:rPr lang="en-AU" sz="2000" baseline="0" dirty="0" smtClean="0"/>
              <a:t> appropriate equipment to prepare and bake cakes and fillings.</a:t>
            </a: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12747624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AU" sz="2000" dirty="0" smtClean="0"/>
          </a:p>
          <a:p>
            <a:pPr>
              <a:buFont typeface="Arial" pitchFamily="34" charset="0"/>
              <a:buNone/>
            </a:pPr>
            <a:r>
              <a:rPr lang="en-AU" sz="2000" dirty="0" smtClean="0"/>
              <a:t>The importance of baking to enterprise standards.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14086497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marL="0" indent="0">
              <a:spcBef>
                <a:spcPts val="600"/>
              </a:spcBef>
              <a:spcAft>
                <a:spcPts val="1200"/>
              </a:spcAft>
              <a:buFont typeface="Arial" pitchFamily="34" charset="0"/>
              <a:buChar char="•"/>
            </a:pPr>
            <a:r>
              <a:rPr lang="en-US" sz="2000" dirty="0" smtClean="0">
                <a:latin typeface="Helvetica" pitchFamily="34" charset="0"/>
              </a:rPr>
              <a:t>Standards and quality will change as enterprise changes</a:t>
            </a:r>
          </a:p>
          <a:p>
            <a:pPr marL="0" indent="0">
              <a:spcBef>
                <a:spcPts val="600"/>
              </a:spcBef>
              <a:spcAft>
                <a:spcPts val="1200"/>
              </a:spcAft>
              <a:buFont typeface="Arial" pitchFamily="34" charset="0"/>
              <a:buChar char="•"/>
            </a:pPr>
            <a:r>
              <a:rPr lang="en-US" sz="2000" dirty="0" smtClean="0">
                <a:latin typeface="Helvetica" pitchFamily="34" charset="0"/>
              </a:rPr>
              <a:t>Standards are kept by pastry cooks working to high standards and producing consistent quality no matter where they work</a:t>
            </a:r>
          </a:p>
          <a:p>
            <a:pPr marL="0" indent="0">
              <a:spcBef>
                <a:spcPts val="600"/>
              </a:spcBef>
              <a:spcAft>
                <a:spcPts val="1200"/>
              </a:spcAft>
              <a:buFont typeface="Arial" pitchFamily="34" charset="0"/>
              <a:buChar char="•"/>
            </a:pPr>
            <a:r>
              <a:rPr lang="en-US" sz="2000" dirty="0" smtClean="0">
                <a:latin typeface="Helvetica" pitchFamily="34" charset="0"/>
              </a:rPr>
              <a:t>Quality is relative to how much the customer is prepared to pay.</a:t>
            </a:r>
          </a:p>
          <a:p>
            <a:pPr marL="0" indent="0">
              <a:spcBef>
                <a:spcPts val="600"/>
              </a:spcBef>
              <a:spcAft>
                <a:spcPts val="1200"/>
              </a:spcAft>
              <a:buNone/>
            </a:pPr>
            <a:endParaRPr lang="en-US" sz="2000" dirty="0" smtClean="0">
              <a:latin typeface="Helvetica" pitchFamily="34" charset="0"/>
            </a:endParaRPr>
          </a:p>
          <a:p>
            <a:pPr marL="0" indent="0">
              <a:spcBef>
                <a:spcPts val="600"/>
              </a:spcBef>
              <a:spcAft>
                <a:spcPts val="1200"/>
              </a:spcAft>
              <a:buNone/>
            </a:pPr>
            <a:endParaRPr lang="en-US" sz="2000" dirty="0" smtClean="0">
              <a:latin typeface="Helvetica" pitchFamily="34" charset="0"/>
            </a:endParaRPr>
          </a:p>
          <a:p>
            <a:pPr marL="0" indent="0">
              <a:spcBef>
                <a:spcPts val="600"/>
              </a:spcBef>
              <a:spcAft>
                <a:spcPts val="1200"/>
              </a:spcAft>
              <a:buNone/>
            </a:pPr>
            <a:endParaRPr lang="en-US" sz="2000" dirty="0" smtClean="0">
              <a:latin typeface="Helvetica" pitchFamily="34" charset="0"/>
            </a:endParaRPr>
          </a:p>
          <a:p>
            <a:pPr marL="0" indent="0">
              <a:spcBef>
                <a:spcPts val="600"/>
              </a:spcBef>
              <a:spcAft>
                <a:spcPts val="1200"/>
              </a:spcAft>
              <a:buNone/>
            </a:pPr>
            <a:r>
              <a:rPr lang="en-US" sz="2000" dirty="0" smtClean="0">
                <a:latin typeface="Helvetica" pitchFamily="34" charset="0"/>
              </a:rPr>
              <a:t> </a:t>
            </a:r>
          </a:p>
          <a:p>
            <a:pPr>
              <a:buFont typeface="Arial" pitchFamily="34" charset="0"/>
              <a:buNone/>
            </a:pP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12952287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dirty="0" smtClean="0"/>
              <a:t>Performance criteria relating to Element 2 - Decorate and present/display cakes.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6610959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AU" sz="2000" dirty="0" smtClean="0"/>
          </a:p>
          <a:p>
            <a:pPr>
              <a:buFont typeface="Arial" pitchFamily="34" charset="0"/>
              <a:buNone/>
            </a:pPr>
            <a:r>
              <a:rPr lang="en-AU" sz="2000" dirty="0" smtClean="0"/>
              <a:t>The different types</a:t>
            </a:r>
            <a:r>
              <a:rPr lang="en-AU" sz="2000" baseline="0" dirty="0" smtClean="0"/>
              <a:t> of fillings for cakes.</a:t>
            </a: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7299300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 and provide examples:</a:t>
            </a:r>
          </a:p>
          <a:p>
            <a:pPr>
              <a:buFont typeface="Arial" pitchFamily="34" charset="0"/>
              <a:buNone/>
            </a:pPr>
            <a:endParaRPr lang="en-AU" sz="2000" dirty="0" smtClean="0"/>
          </a:p>
          <a:p>
            <a:pPr>
              <a:buFont typeface="Arial" pitchFamily="34" charset="0"/>
              <a:buNone/>
            </a:pPr>
            <a:r>
              <a:rPr lang="en-AU" sz="2000" dirty="0" smtClean="0"/>
              <a:t>The different</a:t>
            </a:r>
            <a:r>
              <a:rPr lang="en-AU" sz="2000" baseline="0" dirty="0" smtClean="0"/>
              <a:t> icings and decorations for cakes.</a:t>
            </a: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14866340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a:buFont typeface="Arial" pitchFamily="34" charset="0"/>
              <a:buNone/>
            </a:pPr>
            <a:r>
              <a:rPr lang="en-US" b="1" dirty="0" smtClean="0"/>
              <a:t>Trainer</a:t>
            </a:r>
            <a:r>
              <a:rPr lang="en-US" b="1" baseline="0" dirty="0" smtClean="0"/>
              <a:t> to discuss:</a:t>
            </a:r>
          </a:p>
          <a:p>
            <a:pPr>
              <a:buFont typeface="Arial" pitchFamily="34" charset="0"/>
              <a:buChar char="•"/>
            </a:pPr>
            <a:r>
              <a:rPr lang="en-US" sz="2000" b="0" dirty="0" smtClean="0"/>
              <a:t>Decoration  is the final part of the production of any product</a:t>
            </a:r>
          </a:p>
          <a:p>
            <a:pPr>
              <a:buFont typeface="Arial" pitchFamily="34" charset="0"/>
              <a:buChar char="•"/>
            </a:pPr>
            <a:r>
              <a:rPr lang="en-US" sz="2000" b="0" dirty="0" smtClean="0"/>
              <a:t>Some need no further additions</a:t>
            </a:r>
          </a:p>
          <a:p>
            <a:pPr>
              <a:buFont typeface="Arial" pitchFamily="34" charset="0"/>
              <a:buChar char="•"/>
            </a:pPr>
            <a:r>
              <a:rPr lang="en-US" sz="2000" b="0" dirty="0" smtClean="0"/>
              <a:t>Some are added before the baking begins.</a:t>
            </a:r>
          </a:p>
          <a:p>
            <a:pPr>
              <a:buFont typeface="Arial" pitchFamily="34" charset="0"/>
              <a:buNone/>
            </a:pPr>
            <a:endParaRPr lang="en-US" sz="2000" b="0" dirty="0" smtClean="0"/>
          </a:p>
          <a:p>
            <a:pPr>
              <a:buFont typeface="Arial" pitchFamily="34" charset="0"/>
              <a:buNone/>
            </a:pPr>
            <a:r>
              <a:rPr lang="en-US" sz="2000" b="1" dirty="0" smtClean="0"/>
              <a:t>Icing Sugar</a:t>
            </a:r>
          </a:p>
          <a:p>
            <a:pPr>
              <a:buFont typeface="Arial" pitchFamily="34" charset="0"/>
              <a:buChar char="•"/>
            </a:pPr>
            <a:r>
              <a:rPr lang="en-US" sz="2000" b="0" dirty="0" smtClean="0"/>
              <a:t>Sprinkled over product after it has come out of the oven</a:t>
            </a:r>
          </a:p>
          <a:p>
            <a:pPr>
              <a:buFont typeface="Arial" pitchFamily="34" charset="0"/>
              <a:buChar char="•"/>
            </a:pPr>
            <a:r>
              <a:rPr lang="en-US" sz="2000" b="0" dirty="0" smtClean="0"/>
              <a:t>If sprinkled while product is still hot icing sugar has</a:t>
            </a:r>
            <a:r>
              <a:rPr lang="en-US" sz="2000" b="0" baseline="0" dirty="0" smtClean="0"/>
              <a:t> a tendency to bond to the product.</a:t>
            </a:r>
          </a:p>
          <a:p>
            <a:pPr>
              <a:buFont typeface="Arial" pitchFamily="34" charset="0"/>
              <a:buNone/>
            </a:pPr>
            <a:r>
              <a:rPr lang="en-US" sz="2000" b="1" baseline="0" dirty="0" smtClean="0"/>
              <a:t>Con: </a:t>
            </a:r>
            <a:r>
              <a:rPr lang="en-US" sz="2000" b="0" baseline="0" dirty="0" smtClean="0"/>
              <a:t>when people go to eat the product and breath in it can cause people to cough, </a:t>
            </a:r>
          </a:p>
          <a:p>
            <a:pPr>
              <a:buFont typeface="Arial" pitchFamily="34" charset="0"/>
              <a:buNone/>
            </a:pPr>
            <a:r>
              <a:rPr lang="en-US" sz="2000" b="0" baseline="0" dirty="0" smtClean="0"/>
              <a:t>Customers have to lick fingers after eating.</a:t>
            </a:r>
          </a:p>
          <a:p>
            <a:pPr>
              <a:buFont typeface="Arial" pitchFamily="34" charset="0"/>
              <a:buNone/>
            </a:pPr>
            <a:endParaRPr lang="en-US" sz="2000" b="0" baseline="0" dirty="0" smtClean="0"/>
          </a:p>
          <a:p>
            <a:pPr>
              <a:buFont typeface="Arial" pitchFamily="34" charset="0"/>
              <a:buNone/>
            </a:pPr>
            <a:r>
              <a:rPr lang="en-US" sz="2000" b="1" baseline="0" dirty="0" smtClean="0"/>
              <a:t>Fondant</a:t>
            </a:r>
          </a:p>
          <a:p>
            <a:pPr>
              <a:buFont typeface="Arial" pitchFamily="34" charset="0"/>
              <a:buChar char="•"/>
            </a:pPr>
            <a:r>
              <a:rPr lang="en-US" sz="2000" b="0" baseline="0" dirty="0" smtClean="0"/>
              <a:t>Fondant is cooked sugar. It needs to be tempered so it will maintain the gloss or shine</a:t>
            </a:r>
          </a:p>
          <a:p>
            <a:pPr>
              <a:buFont typeface="Arial" pitchFamily="34" charset="0"/>
              <a:buChar char="•"/>
            </a:pPr>
            <a:r>
              <a:rPr lang="en-US" sz="2000" b="0" baseline="0" dirty="0" smtClean="0"/>
              <a:t>Used in Australia and Europe extensively. Limited use in Asia due to availability and humid conditions.</a:t>
            </a:r>
          </a:p>
          <a:p>
            <a:pPr>
              <a:buFont typeface="Arial" pitchFamily="34" charset="0"/>
              <a:buNone/>
            </a:pPr>
            <a:endParaRPr lang="en-US" sz="2000" b="0" baseline="0" dirty="0" smtClean="0"/>
          </a:p>
          <a:p>
            <a:pPr>
              <a:buFont typeface="Arial" pitchFamily="34" charset="0"/>
              <a:buNone/>
            </a:pPr>
            <a:r>
              <a:rPr lang="en-US" sz="2000" b="1" baseline="0" dirty="0" smtClean="0"/>
              <a:t>Apricot jam</a:t>
            </a:r>
          </a:p>
          <a:p>
            <a:pPr>
              <a:buFont typeface="Arial" pitchFamily="34" charset="0"/>
              <a:buChar char="•"/>
            </a:pPr>
            <a:r>
              <a:rPr lang="en-US" sz="2000" b="0" baseline="0" dirty="0" smtClean="0"/>
              <a:t>Boiling Apricot jam is applied to baked Danish and sweet yeast goods as a glaze. It must be applied to hot product so it will dry to there touch when cool</a:t>
            </a:r>
          </a:p>
          <a:p>
            <a:pPr>
              <a:buFont typeface="Arial" pitchFamily="34" charset="0"/>
              <a:buChar char="•"/>
            </a:pPr>
            <a:r>
              <a:rPr lang="en-US" sz="2000" b="0" baseline="0" dirty="0" smtClean="0"/>
              <a:t>Adds flavour and slows moisture migration from fondant icing and pastry.</a:t>
            </a:r>
          </a:p>
          <a:p>
            <a:pPr>
              <a:buFont typeface="Arial" pitchFamily="34" charset="0"/>
              <a:buNone/>
            </a:pPr>
            <a:endParaRPr lang="en-US" sz="2000" b="0" baseline="0" dirty="0" smtClean="0"/>
          </a:p>
          <a:p>
            <a:pPr>
              <a:buFont typeface="Arial" pitchFamily="34" charset="0"/>
              <a:buNone/>
            </a:pPr>
            <a:r>
              <a:rPr lang="en-US" sz="2000" b="1" baseline="0" dirty="0" smtClean="0"/>
              <a:t>Roasted Nuts</a:t>
            </a:r>
          </a:p>
          <a:p>
            <a:pPr>
              <a:buFont typeface="Arial" pitchFamily="34" charset="0"/>
              <a:buChar char="•"/>
            </a:pPr>
            <a:r>
              <a:rPr lang="en-US" sz="2000" b="0" baseline="0" dirty="0" smtClean="0"/>
              <a:t>Sliced and roasted are commonly used to decorate Danish style pastries after baking</a:t>
            </a:r>
          </a:p>
          <a:p>
            <a:pPr>
              <a:buFont typeface="Arial" pitchFamily="34" charset="0"/>
              <a:buChar char="•"/>
            </a:pPr>
            <a:r>
              <a:rPr lang="en-US" sz="2000" b="0" baseline="0" dirty="0" smtClean="0"/>
              <a:t>Can be expensive to use, use sparingly.</a:t>
            </a:r>
          </a:p>
          <a:p>
            <a:pPr>
              <a:buFont typeface="Arial" pitchFamily="34" charset="0"/>
              <a:buNone/>
            </a:pPr>
            <a:endParaRPr lang="en-US" sz="2000" b="0" baseline="0" dirty="0" smtClean="0"/>
          </a:p>
          <a:p>
            <a:pPr>
              <a:buFont typeface="Arial" pitchFamily="34" charset="0"/>
              <a:buNone/>
            </a:pPr>
            <a:r>
              <a:rPr lang="en-US" sz="2000" b="1" baseline="0" dirty="0" smtClean="0"/>
              <a:t>Glazes and gels</a:t>
            </a:r>
          </a:p>
          <a:p>
            <a:pPr>
              <a:buFont typeface="Arial" pitchFamily="34" charset="0"/>
              <a:buChar char="•"/>
            </a:pPr>
            <a:r>
              <a:rPr lang="en-US" sz="2000" b="0" baseline="0" dirty="0" smtClean="0"/>
              <a:t>These are available in the commercial market. Seaweed based gels are used to apply a shine to finished product</a:t>
            </a:r>
          </a:p>
          <a:p>
            <a:pPr>
              <a:buFont typeface="Arial" pitchFamily="34" charset="0"/>
              <a:buChar char="•"/>
            </a:pPr>
            <a:r>
              <a:rPr lang="en-US" sz="2000" b="0" baseline="0" dirty="0" smtClean="0"/>
              <a:t>Used mainly on Danish pastries with crème patisserie and fruit fillings</a:t>
            </a:r>
          </a:p>
          <a:p>
            <a:pPr>
              <a:buFont typeface="Arial" pitchFamily="34" charset="0"/>
              <a:buChar char="•"/>
            </a:pPr>
            <a:r>
              <a:rPr lang="en-US" sz="2000" b="0" baseline="0" dirty="0" smtClean="0"/>
              <a:t>Protects form dehydration, exposure to the air.</a:t>
            </a: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365366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US" b="1" baseline="0" dirty="0" smtClean="0"/>
          </a:p>
          <a:p>
            <a:pPr marL="0" indent="0">
              <a:spcBef>
                <a:spcPts val="600"/>
              </a:spcBef>
              <a:spcAft>
                <a:spcPts val="1200"/>
              </a:spcAft>
              <a:buNone/>
            </a:pPr>
            <a:r>
              <a:rPr lang="en-US" sz="1200" b="1" dirty="0" smtClean="0">
                <a:latin typeface="Helvetica" pitchFamily="34" charset="0"/>
              </a:rPr>
              <a:t>Trays</a:t>
            </a:r>
          </a:p>
          <a:p>
            <a:pPr marL="0" indent="0">
              <a:spcBef>
                <a:spcPts val="600"/>
              </a:spcBef>
              <a:spcAft>
                <a:spcPts val="1200"/>
              </a:spcAft>
              <a:buNone/>
            </a:pPr>
            <a:r>
              <a:rPr lang="en-US" sz="1200" dirty="0" smtClean="0">
                <a:latin typeface="Helvetica" pitchFamily="34" charset="0"/>
              </a:rPr>
              <a:t>After taking from oven product is</a:t>
            </a:r>
            <a:r>
              <a:rPr lang="en-US" sz="1200" baseline="0" dirty="0" smtClean="0">
                <a:latin typeface="Helvetica" pitchFamily="34" charset="0"/>
              </a:rPr>
              <a:t> placed onto cooling wires, decorated and then placed on trays or platters.</a:t>
            </a:r>
          </a:p>
          <a:p>
            <a:pPr marL="0" indent="0">
              <a:spcBef>
                <a:spcPts val="600"/>
              </a:spcBef>
              <a:spcAft>
                <a:spcPts val="1200"/>
              </a:spcAft>
              <a:buNone/>
            </a:pPr>
            <a:endParaRPr lang="en-US" sz="1200"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Tx/>
              <a:buNone/>
              <a:tabLst/>
              <a:defRPr/>
            </a:pPr>
            <a:r>
              <a:rPr lang="en-US" sz="1200" b="1" dirty="0" err="1" smtClean="0">
                <a:latin typeface="Helvetica" pitchFamily="34" charset="0"/>
              </a:rPr>
              <a:t>Doyleys</a:t>
            </a:r>
            <a:endParaRPr lang="en-US" sz="1200" b="1" dirty="0" smtClean="0">
              <a:latin typeface="Helvetica" pitchFamily="34" charset="0"/>
            </a:endParaRPr>
          </a:p>
          <a:p>
            <a:pPr marL="0" indent="0">
              <a:spcBef>
                <a:spcPts val="600"/>
              </a:spcBef>
              <a:spcAft>
                <a:spcPts val="1200"/>
              </a:spcAft>
              <a:buNone/>
            </a:pPr>
            <a:r>
              <a:rPr lang="en-US" sz="1200" dirty="0" smtClean="0">
                <a:latin typeface="Helvetica" pitchFamily="34" charset="0"/>
              </a:rPr>
              <a:t>Some larger product might be placed on to a </a:t>
            </a:r>
            <a:r>
              <a:rPr lang="en-US" sz="1200" dirty="0" err="1" smtClean="0">
                <a:latin typeface="Helvetica" pitchFamily="34" charset="0"/>
              </a:rPr>
              <a:t>doyley</a:t>
            </a:r>
            <a:r>
              <a:rPr lang="en-US" sz="1200" baseline="0" dirty="0" smtClean="0">
                <a:latin typeface="Helvetica" pitchFamily="34" charset="0"/>
              </a:rPr>
              <a:t> and displayed individually. The role of the </a:t>
            </a:r>
            <a:r>
              <a:rPr lang="en-US" sz="1200" baseline="0" dirty="0" err="1" smtClean="0">
                <a:latin typeface="Helvetica" pitchFamily="34" charset="0"/>
              </a:rPr>
              <a:t>doyley</a:t>
            </a:r>
            <a:r>
              <a:rPr lang="en-US" sz="1200" baseline="0" dirty="0" smtClean="0">
                <a:latin typeface="Helvetica" pitchFamily="34" charset="0"/>
              </a:rPr>
              <a:t> is to have a barrier under product and protect from surface contamination.</a:t>
            </a:r>
            <a:endParaRPr lang="en-US" sz="1200" dirty="0" smtClean="0">
              <a:latin typeface="Helvetica" pitchFamily="34" charset="0"/>
            </a:endParaRPr>
          </a:p>
          <a:p>
            <a:pPr marL="0" indent="0">
              <a:spcBef>
                <a:spcPts val="600"/>
              </a:spcBef>
              <a:spcAft>
                <a:spcPts val="1200"/>
              </a:spcAft>
              <a:buNone/>
            </a:pPr>
            <a:endParaRPr lang="en-US" sz="1200" b="1" dirty="0" smtClean="0">
              <a:latin typeface="Helvetica" pitchFamily="34" charset="0"/>
            </a:endParaRPr>
          </a:p>
          <a:p>
            <a:pPr marL="0" indent="0">
              <a:spcBef>
                <a:spcPts val="600"/>
              </a:spcBef>
              <a:spcAft>
                <a:spcPts val="1200"/>
              </a:spcAft>
              <a:buNone/>
            </a:pPr>
            <a:r>
              <a:rPr lang="en-US" sz="1200" b="1" dirty="0" smtClean="0">
                <a:latin typeface="Helvetica" pitchFamily="34" charset="0"/>
              </a:rPr>
              <a:t>Boxes</a:t>
            </a:r>
          </a:p>
          <a:p>
            <a:pPr marL="0" indent="0">
              <a:spcBef>
                <a:spcPts val="600"/>
              </a:spcBef>
              <a:spcAft>
                <a:spcPts val="1200"/>
              </a:spcAft>
              <a:buFont typeface="Arial" pitchFamily="34" charset="0"/>
              <a:buChar char="•"/>
            </a:pPr>
            <a:r>
              <a:rPr lang="en-US" sz="1200" b="0" dirty="0" smtClean="0">
                <a:latin typeface="Helvetica" pitchFamily="34" charset="0"/>
              </a:rPr>
              <a:t>Product might be placed into boxes and displayed for sale, lots of 6 or 12</a:t>
            </a:r>
          </a:p>
          <a:p>
            <a:pPr marL="0" indent="0">
              <a:spcBef>
                <a:spcPts val="600"/>
              </a:spcBef>
              <a:spcAft>
                <a:spcPts val="1200"/>
              </a:spcAft>
              <a:buFont typeface="Arial" pitchFamily="34" charset="0"/>
              <a:buChar char="•"/>
            </a:pPr>
            <a:r>
              <a:rPr lang="en-US" sz="1200" b="0" dirty="0" smtClean="0">
                <a:latin typeface="Helvetica" pitchFamily="34" charset="0"/>
              </a:rPr>
              <a:t>Some boxes might have see through lids.</a:t>
            </a:r>
          </a:p>
          <a:p>
            <a:pPr marL="0" indent="0">
              <a:spcBef>
                <a:spcPts val="600"/>
              </a:spcBef>
              <a:spcAft>
                <a:spcPts val="1200"/>
              </a:spcAft>
              <a:buNone/>
            </a:pPr>
            <a:endParaRPr lang="en-US" sz="1200" b="0"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Tx/>
              <a:buNone/>
              <a:tabLst/>
              <a:defRPr/>
            </a:pPr>
            <a:r>
              <a:rPr lang="en-US" sz="1200" b="1" dirty="0" smtClean="0">
                <a:latin typeface="Helvetica" pitchFamily="34" charset="0"/>
              </a:rPr>
              <a:t>Cellophane bags</a:t>
            </a:r>
          </a:p>
          <a:p>
            <a:pPr marL="0" indent="0">
              <a:spcBef>
                <a:spcPts val="600"/>
              </a:spcBef>
              <a:spcAft>
                <a:spcPts val="1200"/>
              </a:spcAft>
              <a:buNone/>
            </a:pPr>
            <a:r>
              <a:rPr lang="en-US" sz="1200" b="0" dirty="0" smtClean="0">
                <a:latin typeface="Helvetica" pitchFamily="34" charset="0"/>
              </a:rPr>
              <a:t>Bags are clear, see through. Product is placed</a:t>
            </a:r>
            <a:r>
              <a:rPr lang="en-US" sz="1200" b="0" baseline="0" dirty="0" smtClean="0">
                <a:latin typeface="Helvetica" pitchFamily="34" charset="0"/>
              </a:rPr>
              <a:t> inside bags to protect  from outside contamination and to slow the staling process. Staling is caused by air passing through product and removing moisture. Or moisture evaporates from surface.</a:t>
            </a:r>
            <a:endParaRPr lang="en-US" sz="1200" b="0" dirty="0" smtClean="0">
              <a:latin typeface="Helvetica" pitchFamily="34" charset="0"/>
            </a:endParaRPr>
          </a:p>
          <a:p>
            <a:pPr marL="0" indent="0">
              <a:spcBef>
                <a:spcPts val="600"/>
              </a:spcBef>
              <a:spcAft>
                <a:spcPts val="1200"/>
              </a:spcAft>
              <a:buNone/>
            </a:pPr>
            <a:endParaRPr lang="en-US" sz="1200" dirty="0" smtClean="0">
              <a:latin typeface="Helvetica" pitchFamily="34" charset="0"/>
            </a:endParaRPr>
          </a:p>
          <a:p>
            <a:pPr marL="0" indent="0">
              <a:spcBef>
                <a:spcPts val="600"/>
              </a:spcBef>
              <a:spcAft>
                <a:spcPts val="1200"/>
              </a:spcAft>
              <a:buNone/>
            </a:pPr>
            <a:r>
              <a:rPr lang="en-US" sz="1200" b="1" dirty="0" smtClean="0">
                <a:latin typeface="Helvetica" pitchFamily="34" charset="0"/>
              </a:rPr>
              <a:t>Labels</a:t>
            </a:r>
          </a:p>
          <a:p>
            <a:pPr marL="0" indent="0">
              <a:spcBef>
                <a:spcPts val="600"/>
              </a:spcBef>
              <a:spcAft>
                <a:spcPts val="1200"/>
              </a:spcAft>
              <a:buFont typeface="Arial" pitchFamily="34" charset="0"/>
              <a:buChar char="•"/>
            </a:pPr>
            <a:r>
              <a:rPr lang="en-US" sz="1200" dirty="0" smtClean="0">
                <a:latin typeface="Helvetica" pitchFamily="34" charset="0"/>
              </a:rPr>
              <a:t>Packaged products will have label showing ingredients, name of manufacture</a:t>
            </a:r>
            <a:r>
              <a:rPr lang="en-US" sz="1200" baseline="0" dirty="0" smtClean="0">
                <a:latin typeface="Helvetica" pitchFamily="34" charset="0"/>
              </a:rPr>
              <a:t> and other legal requirements</a:t>
            </a:r>
          </a:p>
          <a:p>
            <a:pPr marL="0" indent="0">
              <a:spcBef>
                <a:spcPts val="600"/>
              </a:spcBef>
              <a:spcAft>
                <a:spcPts val="1200"/>
              </a:spcAft>
              <a:buFont typeface="Arial" pitchFamily="34" charset="0"/>
              <a:buChar char="•"/>
            </a:pPr>
            <a:r>
              <a:rPr lang="en-US" sz="1200" baseline="0" dirty="0" smtClean="0">
                <a:latin typeface="Helvetica" pitchFamily="34" charset="0"/>
              </a:rPr>
              <a:t>They make good advertising.</a:t>
            </a:r>
            <a:endParaRPr lang="en-US" sz="12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20191151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dirty="0" smtClean="0"/>
              <a:t>Performance criteria relating to Element 3 - </a:t>
            </a:r>
            <a:r>
              <a:rPr lang="en-AU" b="0" baseline="0" dirty="0" smtClean="0"/>
              <a:t>Prepare and produce pastries and fillings</a:t>
            </a:r>
            <a:r>
              <a:rPr lang="en-US" b="0" baseline="0" dirty="0" smtClean="0"/>
              <a:t>.</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1997355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AU" sz="2000" dirty="0" smtClean="0"/>
          </a:p>
          <a:p>
            <a:pPr>
              <a:buFont typeface="Arial" pitchFamily="34" charset="0"/>
              <a:buNone/>
            </a:pPr>
            <a:r>
              <a:rPr lang="en-AU" sz="2000" dirty="0" smtClean="0"/>
              <a:t>The selection of required commodities in the preparation and production of pastries and fillings in the subsequent slides.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34149335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Char char="•"/>
            </a:pPr>
            <a:r>
              <a:rPr lang="en-US" sz="2000" b="0" dirty="0" smtClean="0"/>
              <a:t>There are many different types of flour on the market</a:t>
            </a:r>
          </a:p>
          <a:p>
            <a:pPr>
              <a:buFont typeface="Arial" pitchFamily="34" charset="0"/>
              <a:buChar char="•"/>
            </a:pPr>
            <a:r>
              <a:rPr lang="en-US" sz="2000" b="0" dirty="0" smtClean="0"/>
              <a:t>Each have a different role</a:t>
            </a:r>
          </a:p>
          <a:p>
            <a:pPr>
              <a:buFont typeface="Arial" pitchFamily="34" charset="0"/>
              <a:buChar char="•"/>
            </a:pPr>
            <a:r>
              <a:rPr lang="en-US" sz="2000" b="0" dirty="0" smtClean="0"/>
              <a:t>Gluten content is different in each.</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29918614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Tx/>
              <a:buNone/>
            </a:pPr>
            <a:r>
              <a:rPr lang="en-US" sz="2000" dirty="0" smtClean="0"/>
              <a:t>Different types of sugar in the market</a:t>
            </a:r>
            <a:r>
              <a:rPr lang="en-US" sz="2000" baseline="0" dirty="0" smtClean="0"/>
              <a:t> place:</a:t>
            </a:r>
          </a:p>
          <a:p>
            <a:pPr>
              <a:buFont typeface="Arial" pitchFamily="34" charset="0"/>
              <a:buChar char="•"/>
            </a:pPr>
            <a:r>
              <a:rPr lang="en-US" sz="2000" baseline="0" dirty="0" smtClean="0"/>
              <a:t>Castor sugar is the best sugar to use in cake making because it dissolves best during the baking process and less evidence of un-dissolved grains after baking</a:t>
            </a:r>
          </a:p>
          <a:p>
            <a:pPr>
              <a:buFont typeface="Arial" pitchFamily="34" charset="0"/>
              <a:buChar char="•"/>
            </a:pPr>
            <a:r>
              <a:rPr lang="en-US" sz="2000" baseline="0" dirty="0" smtClean="0"/>
              <a:t>Brown sugar is normal sucrose that has a portion of molasses added to the end product</a:t>
            </a:r>
          </a:p>
          <a:p>
            <a:pPr>
              <a:buFont typeface="Arial" pitchFamily="34" charset="0"/>
              <a:buChar char="•"/>
            </a:pPr>
            <a:r>
              <a:rPr lang="en-US" sz="2000" baseline="0" dirty="0" smtClean="0"/>
              <a:t>Brown sugar comes in light  brown and dark brown</a:t>
            </a:r>
          </a:p>
          <a:p>
            <a:pPr>
              <a:buFont typeface="Arial" pitchFamily="34" charset="0"/>
              <a:buChar char="•"/>
            </a:pPr>
            <a:r>
              <a:rPr lang="en-US" sz="2000" baseline="0" dirty="0" smtClean="0"/>
              <a:t>A1 sugar crystal is the normal everyday sugar that most people know. It is not recommended for baking due to the grain size. Castor sugar is best because it has finer grain and will dissolve better in batters and pastry during the baking process.</a:t>
            </a:r>
          </a:p>
          <a:p>
            <a:pPr>
              <a:buFontTx/>
              <a:buNone/>
            </a:pPr>
            <a:endParaRPr lang="en-US" sz="2000" baseline="0" dirty="0" smtClean="0"/>
          </a:p>
          <a:p>
            <a:pPr>
              <a:buFontTx/>
              <a:buNone/>
            </a:pPr>
            <a:r>
              <a:rPr lang="en-US" sz="2000" baseline="0" dirty="0" smtClean="0"/>
              <a:t>Glucose</a:t>
            </a:r>
          </a:p>
          <a:p>
            <a:pPr>
              <a:buFont typeface="Arial" pitchFamily="34" charset="0"/>
              <a:buChar char="•"/>
            </a:pPr>
            <a:r>
              <a:rPr lang="en-US" sz="2000" baseline="0" dirty="0" smtClean="0"/>
              <a:t>Comes in either liquid or powder form</a:t>
            </a:r>
          </a:p>
          <a:p>
            <a:pPr>
              <a:buFont typeface="Arial" pitchFamily="34" charset="0"/>
              <a:buChar char="•"/>
            </a:pPr>
            <a:r>
              <a:rPr lang="en-US" sz="2000" baseline="0" dirty="0" smtClean="0"/>
              <a:t>Liquid form is used in baking and its main role beside sweetening is to help keep moisture in product</a:t>
            </a:r>
          </a:p>
          <a:p>
            <a:pPr>
              <a:buFont typeface="Arial" pitchFamily="34" charset="0"/>
              <a:buChar char="•"/>
            </a:pPr>
            <a:r>
              <a:rPr lang="en-US" sz="2000" baseline="0" dirty="0" smtClean="0"/>
              <a:t>Liquid glucose is derived from starch. The starch is </a:t>
            </a:r>
            <a:r>
              <a:rPr lang="en-US" sz="2000" baseline="0" dirty="0" err="1" smtClean="0"/>
              <a:t>gelatinised</a:t>
            </a:r>
            <a:r>
              <a:rPr lang="en-US" sz="2000" baseline="0" dirty="0" smtClean="0"/>
              <a:t> and an acid is added and over time it converts to a sugar; glucose.</a:t>
            </a:r>
          </a:p>
          <a:p>
            <a:pPr>
              <a:buFontTx/>
              <a:buNone/>
            </a:pPr>
            <a:endParaRPr lang="en-US" sz="2000" baseline="0" dirty="0" smtClean="0"/>
          </a:p>
          <a:p>
            <a:pPr>
              <a:buFontTx/>
              <a:buNone/>
            </a:pPr>
            <a:r>
              <a:rPr lang="en-US" sz="2000" baseline="0" dirty="0" smtClean="0"/>
              <a:t>Icing sugar</a:t>
            </a:r>
          </a:p>
          <a:p>
            <a:pPr>
              <a:buFontTx/>
              <a:buNone/>
            </a:pPr>
            <a:r>
              <a:rPr lang="en-US" sz="2000" baseline="0" dirty="0" smtClean="0"/>
              <a:t>Finer grind of sugar, very small particles.</a:t>
            </a:r>
          </a:p>
          <a:p>
            <a:pPr>
              <a:buFontTx/>
              <a:buNone/>
            </a:pPr>
            <a:endParaRPr lang="en-US" sz="2000" baseline="0" dirty="0" smtClean="0"/>
          </a:p>
          <a:p>
            <a:pPr>
              <a:buFontTx/>
              <a:buNone/>
            </a:pPr>
            <a:r>
              <a:rPr lang="en-US" sz="2000" baseline="0" dirty="0" smtClean="0"/>
              <a:t>Fondant</a:t>
            </a:r>
          </a:p>
          <a:p>
            <a:pPr>
              <a:buFont typeface="Arial" pitchFamily="34" charset="0"/>
              <a:buChar char="•"/>
            </a:pPr>
            <a:r>
              <a:rPr lang="en-US" sz="2000" baseline="0" dirty="0" smtClean="0"/>
              <a:t>Fondant is a sugar solution that has been boiled to 114-117C and then cooled and while cooling it is agitated to form a white mass</a:t>
            </a:r>
          </a:p>
          <a:p>
            <a:pPr>
              <a:buFont typeface="Arial" pitchFamily="34" charset="0"/>
              <a:buChar char="•"/>
            </a:pPr>
            <a:r>
              <a:rPr lang="en-US" sz="2000" baseline="0" dirty="0" smtClean="0"/>
              <a:t>Before applying it needs to be tempered.</a:t>
            </a:r>
            <a:endParaRPr lang="en-US" sz="20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2000" dirty="0" smtClean="0"/>
          </a:p>
          <a:p>
            <a:pPr>
              <a:buFont typeface="Arial" pitchFamily="34" charset="0"/>
              <a:buNone/>
            </a:pP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7800749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r>
              <a:rPr lang="en-US" dirty="0" smtClean="0"/>
              <a:t>Products in the marketplace:</a:t>
            </a:r>
          </a:p>
          <a:p>
            <a:pPr>
              <a:buFont typeface="Arial" pitchFamily="34" charset="0"/>
              <a:buChar char="•"/>
            </a:pPr>
            <a:r>
              <a:rPr lang="en-AU" sz="2000" dirty="0" smtClean="0"/>
              <a:t>Eggs</a:t>
            </a:r>
          </a:p>
          <a:p>
            <a:pPr lvl="1">
              <a:buFont typeface="Arial" pitchFamily="34" charset="0"/>
              <a:buChar char="•"/>
            </a:pPr>
            <a:r>
              <a:rPr lang="en-AU" sz="2000" dirty="0" smtClean="0"/>
              <a:t>Are available in many forms</a:t>
            </a:r>
          </a:p>
          <a:p>
            <a:pPr lvl="1">
              <a:buFont typeface="Arial" pitchFamily="34" charset="0"/>
              <a:buChar char="•"/>
            </a:pPr>
            <a:r>
              <a:rPr lang="en-AU" sz="2000" dirty="0" smtClean="0"/>
              <a:t>Fresh, frozen, powdered</a:t>
            </a:r>
          </a:p>
          <a:p>
            <a:pPr>
              <a:buFont typeface="Arial" pitchFamily="34" charset="0"/>
              <a:buChar char="•"/>
            </a:pPr>
            <a:r>
              <a:rPr lang="en-AU" sz="2000" dirty="0" smtClean="0"/>
              <a:t>Milk comes in several</a:t>
            </a:r>
            <a:r>
              <a:rPr lang="en-AU" sz="2000" baseline="0" dirty="0" smtClean="0"/>
              <a:t> forms, fresh, powdered</a:t>
            </a:r>
            <a:endParaRPr lang="en-AU" sz="2000" dirty="0" smtClean="0"/>
          </a:p>
          <a:p>
            <a:pPr lvl="1">
              <a:buFont typeface="Arial" pitchFamily="34" charset="0"/>
              <a:buChar char="•"/>
            </a:pPr>
            <a:r>
              <a:rPr lang="en-AU" sz="2000" dirty="0" smtClean="0"/>
              <a:t>Cream comes both fresh and imitation</a:t>
            </a:r>
          </a:p>
          <a:p>
            <a:pPr lvl="1">
              <a:buFont typeface="Arial" pitchFamily="34" charset="0"/>
              <a:buChar char="•"/>
            </a:pPr>
            <a:r>
              <a:rPr lang="en-AU" sz="2000" dirty="0" smtClean="0"/>
              <a:t>Fresh</a:t>
            </a:r>
            <a:r>
              <a:rPr lang="en-AU" sz="2000" baseline="0" dirty="0" smtClean="0"/>
              <a:t> need refrigeration and is hard to control in hot humid climates</a:t>
            </a:r>
            <a:endParaRPr lang="en-AU" sz="2000" dirty="0" smtClean="0"/>
          </a:p>
          <a:p>
            <a:pPr>
              <a:buFont typeface="Arial" pitchFamily="34" charset="0"/>
              <a:buChar char="•"/>
            </a:pPr>
            <a:r>
              <a:rPr lang="en-AU" sz="2000" dirty="0" smtClean="0"/>
              <a:t>Fats, oils, butter, margarines</a:t>
            </a:r>
          </a:p>
          <a:p>
            <a:pPr lvl="1">
              <a:buFont typeface="Arial" pitchFamily="34" charset="0"/>
              <a:buChar char="•"/>
            </a:pPr>
            <a:r>
              <a:rPr lang="en-AU" sz="2000" dirty="0" smtClean="0"/>
              <a:t>All</a:t>
            </a:r>
            <a:r>
              <a:rPr lang="en-AU" sz="2000" baseline="0" dirty="0" smtClean="0"/>
              <a:t> are fats and come in many forms</a:t>
            </a:r>
          </a:p>
          <a:p>
            <a:pPr lvl="1">
              <a:buFont typeface="Arial" pitchFamily="34" charset="0"/>
              <a:buChar char="•"/>
            </a:pPr>
            <a:r>
              <a:rPr lang="en-AU" sz="2000" baseline="0" dirty="0" smtClean="0"/>
              <a:t>Practitioner needs to choose what is best adapted to the needs of the product.</a:t>
            </a: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6959241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AU" sz="2000" dirty="0" smtClean="0"/>
          </a:p>
          <a:p>
            <a:pPr>
              <a:buFont typeface="Arial" pitchFamily="34" charset="0"/>
              <a:buNone/>
            </a:pPr>
            <a:r>
              <a:rPr lang="en-AU" sz="2000" dirty="0" smtClean="0"/>
              <a:t>Giving examples of items made from each</a:t>
            </a:r>
            <a:r>
              <a:rPr lang="en-AU" sz="2000" baseline="0" dirty="0" smtClean="0"/>
              <a:t> of these pastry varieties.</a:t>
            </a:r>
            <a:r>
              <a:rPr lang="en-AU" sz="2000" dirty="0" smtClean="0"/>
              <a:t>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36412867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AU" sz="20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2000" dirty="0" smtClean="0"/>
              <a:t>Giving examples of items made from each</a:t>
            </a:r>
            <a:r>
              <a:rPr lang="en-AU" sz="2000" baseline="0" dirty="0" smtClean="0"/>
              <a:t> of these pastry varieties.</a:t>
            </a:r>
            <a:r>
              <a:rPr lang="en-AU" sz="2000" dirty="0" smtClean="0"/>
              <a:t> </a:t>
            </a:r>
          </a:p>
          <a:p>
            <a:pPr>
              <a:buFont typeface="Arial" pitchFamily="34" charset="0"/>
              <a:buNone/>
            </a:pP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31336286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AU" sz="20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2000" dirty="0" smtClean="0"/>
              <a:t>Giving examples of items made from each</a:t>
            </a:r>
            <a:r>
              <a:rPr lang="en-AU" sz="2000" baseline="0" dirty="0" smtClean="0"/>
              <a:t> of these pastry varieties.</a:t>
            </a:r>
            <a:r>
              <a:rPr lang="en-AU" sz="2000" dirty="0" smtClean="0"/>
              <a:t> </a:t>
            </a:r>
          </a:p>
          <a:p>
            <a:pPr>
              <a:buFont typeface="Arial" pitchFamily="34" charset="0"/>
              <a:buNone/>
            </a:pP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19918225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US" b="1"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dirty="0" smtClean="0"/>
              <a:t>Performance criteria relating to Element 4 - Decorate and present pastries.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8702197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AU" sz="20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2000" dirty="0" smtClean="0"/>
              <a:t>Examples of the use of these fillings in producing</a:t>
            </a:r>
            <a:r>
              <a:rPr lang="en-AU" sz="2000" baseline="0" dirty="0" smtClean="0"/>
              <a:t> various items/dishes.</a:t>
            </a:r>
            <a:r>
              <a:rPr lang="en-AU" sz="2000" dirty="0" smtClean="0"/>
              <a:t>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37570191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AU" sz="2000" dirty="0" smtClean="0"/>
          </a:p>
          <a:p>
            <a:pPr>
              <a:buFont typeface="Arial" pitchFamily="34" charset="0"/>
              <a:buNone/>
            </a:pPr>
            <a:r>
              <a:rPr lang="en-AU" sz="2000" dirty="0" smtClean="0"/>
              <a:t>Examples of everyday presentation,</a:t>
            </a:r>
            <a:r>
              <a:rPr lang="en-AU" sz="2000" baseline="0" dirty="0" smtClean="0"/>
              <a:t> and examples of a variety of celebratory occasions.</a:t>
            </a: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35088823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AU" sz="2000" dirty="0" smtClean="0"/>
          </a:p>
          <a:p>
            <a:pPr>
              <a:buFont typeface="Arial" pitchFamily="34" charset="0"/>
              <a:buNone/>
            </a:pPr>
            <a:r>
              <a:rPr lang="en-AU" sz="2000" dirty="0" smtClean="0"/>
              <a:t>The decoration and presentation of pastries needs to take</a:t>
            </a:r>
            <a:r>
              <a:rPr lang="en-AU" sz="2000" baseline="0" dirty="0" smtClean="0"/>
              <a:t> into account the setting and the use of the pastry items.</a:t>
            </a:r>
          </a:p>
          <a:p>
            <a:pPr>
              <a:buFont typeface="Arial" pitchFamily="34" charset="0"/>
              <a:buNone/>
            </a:pPr>
            <a:endParaRPr lang="en-AU" sz="2000" baseline="0" dirty="0" smtClean="0"/>
          </a:p>
          <a:p>
            <a:pPr>
              <a:buFont typeface="Arial" pitchFamily="34" charset="0"/>
              <a:buNone/>
            </a:pPr>
            <a:r>
              <a:rPr lang="en-AU" sz="2000" baseline="0" dirty="0" smtClean="0"/>
              <a:t>Ask the class to provide examples for each of the following:</a:t>
            </a:r>
          </a:p>
          <a:p>
            <a:pPr indent="-342000">
              <a:buFont typeface="Arial" pitchFamily="34" charset="0"/>
              <a:buChar char="•"/>
            </a:pPr>
            <a:endParaRPr lang="en-AU" sz="2000" baseline="0" dirty="0" smtClean="0"/>
          </a:p>
          <a:p>
            <a:pPr indent="-342000">
              <a:spcBef>
                <a:spcPts val="600"/>
              </a:spcBef>
              <a:spcAft>
                <a:spcPts val="600"/>
              </a:spcAft>
              <a:buFont typeface="Arial" pitchFamily="34" charset="0"/>
              <a:buChar char="•"/>
            </a:pPr>
            <a:r>
              <a:rPr lang="en-US" sz="2000" dirty="0" smtClean="0"/>
              <a:t>Formal</a:t>
            </a:r>
          </a:p>
          <a:p>
            <a:pPr indent="-342000">
              <a:spcBef>
                <a:spcPts val="600"/>
              </a:spcBef>
              <a:spcAft>
                <a:spcPts val="600"/>
              </a:spcAft>
              <a:buFont typeface="Arial" pitchFamily="34" charset="0"/>
              <a:buChar char="•"/>
            </a:pPr>
            <a:r>
              <a:rPr lang="en-US" sz="2000" dirty="0" smtClean="0"/>
              <a:t>Casual</a:t>
            </a:r>
          </a:p>
          <a:p>
            <a:pPr indent="-342000">
              <a:spcBef>
                <a:spcPts val="600"/>
              </a:spcBef>
              <a:spcAft>
                <a:spcPts val="600"/>
              </a:spcAft>
              <a:buFont typeface="Arial" pitchFamily="34" charset="0"/>
              <a:buChar char="•"/>
            </a:pPr>
            <a:r>
              <a:rPr lang="en-US" sz="2000" dirty="0" smtClean="0"/>
              <a:t>In house</a:t>
            </a:r>
          </a:p>
          <a:p>
            <a:pPr indent="-342000">
              <a:spcBef>
                <a:spcPts val="600"/>
              </a:spcBef>
              <a:spcAft>
                <a:spcPts val="600"/>
              </a:spcAft>
              <a:buFont typeface="Arial" pitchFamily="34" charset="0"/>
              <a:buChar char="•"/>
            </a:pPr>
            <a:r>
              <a:rPr lang="en-US" sz="2000" dirty="0" smtClean="0"/>
              <a:t>Take home.</a:t>
            </a:r>
          </a:p>
          <a:p>
            <a:pPr>
              <a:buFont typeface="Arial" pitchFamily="34" charset="0"/>
              <a:buNone/>
            </a:pP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3616164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US" b="1"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dirty="0" smtClean="0"/>
              <a:t>Performance criteria relating to Element 5 - Store cakes and pastries.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7110822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a:buFont typeface="Arial" pitchFamily="34" charset="0"/>
              <a:buNone/>
            </a:pPr>
            <a:endParaRPr lang="en-US" b="0" baseline="0" dirty="0" smtClean="0"/>
          </a:p>
          <a:p>
            <a:pPr>
              <a:buFont typeface="Arial" pitchFamily="34" charset="0"/>
              <a:buNone/>
            </a:pPr>
            <a:r>
              <a:rPr lang="en-US" b="0" baseline="0" dirty="0" smtClean="0"/>
              <a:t>The important aspects of each of these:</a:t>
            </a:r>
          </a:p>
          <a:p>
            <a:pPr>
              <a:buFont typeface="Arial" pitchFamily="34" charset="0"/>
              <a:buNone/>
            </a:pPr>
            <a:endParaRPr lang="en-US" b="1" baseline="0" dirty="0" smtClean="0"/>
          </a:p>
          <a:p>
            <a:pPr indent="-342000">
              <a:spcBef>
                <a:spcPts val="600"/>
              </a:spcBef>
              <a:spcAft>
                <a:spcPts val="600"/>
              </a:spcAft>
              <a:buFont typeface="Arial" pitchFamily="34" charset="0"/>
              <a:buChar char="•"/>
            </a:pPr>
            <a:r>
              <a:rPr lang="en-US" sz="2000" dirty="0" smtClean="0"/>
              <a:t>Room Temperature – Discuss</a:t>
            </a:r>
            <a:r>
              <a:rPr lang="en-US" sz="2000" baseline="0" dirty="0" smtClean="0"/>
              <a:t> variations of room temperature in various climates, particular emphasis on heat and humidity in Southeast Asian nations</a:t>
            </a:r>
            <a:endParaRPr lang="en-US" sz="2000" dirty="0" smtClean="0"/>
          </a:p>
          <a:p>
            <a:pPr indent="-342000">
              <a:spcBef>
                <a:spcPts val="600"/>
              </a:spcBef>
              <a:spcAft>
                <a:spcPts val="600"/>
              </a:spcAft>
              <a:buFont typeface="Arial" pitchFamily="34" charset="0"/>
              <a:buChar char="•"/>
            </a:pPr>
            <a:r>
              <a:rPr lang="en-US" sz="2000" dirty="0" smtClean="0"/>
              <a:t>Protect from outside contamination – Discuss</a:t>
            </a:r>
            <a:r>
              <a:rPr lang="en-US" sz="2000" baseline="0" dirty="0" smtClean="0"/>
              <a:t> various forms of contamination including chemical, biological and vermin/pests</a:t>
            </a:r>
            <a:endParaRPr lang="en-US" sz="2000" dirty="0" smtClean="0"/>
          </a:p>
          <a:p>
            <a:pPr indent="-342000">
              <a:spcBef>
                <a:spcPts val="600"/>
              </a:spcBef>
              <a:spcAft>
                <a:spcPts val="600"/>
              </a:spcAft>
              <a:buFont typeface="Arial" pitchFamily="34" charset="0"/>
              <a:buChar char="•"/>
            </a:pPr>
            <a:r>
              <a:rPr lang="en-US" sz="2000" dirty="0" smtClean="0"/>
              <a:t>Date of production – Discuss the importance of absolute freshness</a:t>
            </a:r>
            <a:r>
              <a:rPr lang="en-US" sz="2000" baseline="0" dirty="0" smtClean="0"/>
              <a:t> in pastry products</a:t>
            </a:r>
            <a:endParaRPr lang="en-US" sz="2000" dirty="0" smtClean="0"/>
          </a:p>
          <a:p>
            <a:pPr indent="-342000">
              <a:spcBef>
                <a:spcPts val="600"/>
              </a:spcBef>
              <a:spcAft>
                <a:spcPts val="600"/>
              </a:spcAft>
              <a:buFont typeface="Arial" pitchFamily="34" charset="0"/>
              <a:buChar char="•"/>
            </a:pPr>
            <a:r>
              <a:rPr lang="en-AU" sz="2000" dirty="0" smtClean="0"/>
              <a:t>Labelling – As with all fresh food products,</a:t>
            </a:r>
            <a:r>
              <a:rPr lang="en-AU" sz="2000" baseline="0" dirty="0" smtClean="0"/>
              <a:t> complete and correct labelling is vital.</a:t>
            </a:r>
            <a:endParaRPr lang="en-AU" sz="2000" dirty="0" smtClean="0"/>
          </a:p>
          <a:p>
            <a:pPr>
              <a:buFont typeface="Arial" pitchFamily="34" charset="0"/>
              <a:buNone/>
            </a:pP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14545311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Trainer</a:t>
            </a:r>
            <a:r>
              <a:rPr lang="en-US" b="1" baseline="0" dirty="0" smtClean="0"/>
              <a:t> to discuss:</a:t>
            </a:r>
          </a:p>
          <a:p>
            <a:pPr marL="0" indent="0">
              <a:spcBef>
                <a:spcPts val="600"/>
              </a:spcBef>
              <a:spcAft>
                <a:spcPts val="1200"/>
              </a:spcAft>
              <a:buFont typeface="Arial" pitchFamily="34" charset="0"/>
              <a:buChar char="•"/>
            </a:pPr>
            <a:r>
              <a:rPr lang="en-US" sz="2000" dirty="0" smtClean="0">
                <a:latin typeface="Helvetica" pitchFamily="34" charset="0"/>
              </a:rPr>
              <a:t>Produce as needed</a:t>
            </a:r>
          </a:p>
          <a:p>
            <a:pPr marL="457200" lvl="1" indent="0">
              <a:spcBef>
                <a:spcPts val="600"/>
              </a:spcBef>
              <a:spcAft>
                <a:spcPts val="1200"/>
              </a:spcAft>
              <a:buFont typeface="Arial" pitchFamily="34" charset="0"/>
              <a:buChar char="•"/>
            </a:pPr>
            <a:r>
              <a:rPr lang="en-US" sz="2000" dirty="0" smtClean="0">
                <a:latin typeface="Helvetica" pitchFamily="34" charset="0"/>
              </a:rPr>
              <a:t>Produce only what is required as the product will stale quickly</a:t>
            </a:r>
            <a:r>
              <a:rPr lang="en-US" sz="2000" baseline="0" dirty="0" smtClean="0">
                <a:latin typeface="Helvetica" pitchFamily="34" charset="0"/>
              </a:rPr>
              <a:t> and eating quality will diminish</a:t>
            </a:r>
          </a:p>
          <a:p>
            <a:pPr marL="0" indent="0">
              <a:spcBef>
                <a:spcPts val="600"/>
              </a:spcBef>
              <a:spcAft>
                <a:spcPts val="1200"/>
              </a:spcAft>
              <a:buNone/>
            </a:pPr>
            <a:endParaRPr lang="en-US" sz="2000" dirty="0" smtClean="0">
              <a:latin typeface="Helvetica" pitchFamily="34" charset="0"/>
            </a:endParaRPr>
          </a:p>
          <a:p>
            <a:pPr marL="0" indent="0">
              <a:spcBef>
                <a:spcPts val="600"/>
              </a:spcBef>
              <a:spcAft>
                <a:spcPts val="1200"/>
              </a:spcAft>
              <a:buFont typeface="Arial" pitchFamily="34" charset="0"/>
              <a:buChar char="•"/>
            </a:pPr>
            <a:r>
              <a:rPr lang="en-US" sz="2000" dirty="0" smtClean="0">
                <a:latin typeface="Helvetica" pitchFamily="34" charset="0"/>
              </a:rPr>
              <a:t>Make in small batches</a:t>
            </a:r>
          </a:p>
          <a:p>
            <a:pPr marL="457200" lvl="1" indent="0">
              <a:spcBef>
                <a:spcPts val="600"/>
              </a:spcBef>
              <a:spcAft>
                <a:spcPts val="1200"/>
              </a:spcAft>
              <a:buFont typeface="Arial" pitchFamily="34" charset="0"/>
              <a:buChar char="•"/>
            </a:pPr>
            <a:r>
              <a:rPr lang="en-US" sz="2000" dirty="0" smtClean="0">
                <a:latin typeface="Helvetica" pitchFamily="34" charset="0"/>
              </a:rPr>
              <a:t>Smaller batches will keep quality at maximum</a:t>
            </a:r>
          </a:p>
          <a:p>
            <a:pPr marL="0" indent="0">
              <a:spcBef>
                <a:spcPts val="600"/>
              </a:spcBef>
              <a:spcAft>
                <a:spcPts val="1200"/>
              </a:spcAft>
              <a:buNone/>
            </a:pPr>
            <a:endParaRPr lang="en-US" sz="2000" dirty="0" smtClean="0">
              <a:latin typeface="Helvetica" pitchFamily="34" charset="0"/>
            </a:endParaRPr>
          </a:p>
          <a:p>
            <a:pPr marL="0" indent="0">
              <a:spcBef>
                <a:spcPts val="600"/>
              </a:spcBef>
              <a:spcAft>
                <a:spcPts val="1200"/>
              </a:spcAft>
              <a:buFont typeface="Arial" pitchFamily="34" charset="0"/>
              <a:buChar char="•"/>
            </a:pPr>
            <a:r>
              <a:rPr lang="en-US" sz="2000" dirty="0" smtClean="0">
                <a:latin typeface="Helvetica" pitchFamily="34" charset="0"/>
              </a:rPr>
              <a:t>Protect from contamination</a:t>
            </a:r>
          </a:p>
          <a:p>
            <a:pPr marL="457200" lvl="1" indent="0">
              <a:spcBef>
                <a:spcPts val="600"/>
              </a:spcBef>
              <a:spcAft>
                <a:spcPts val="1200"/>
              </a:spcAft>
              <a:buFont typeface="Arial" pitchFamily="34" charset="0"/>
              <a:buChar char="•"/>
            </a:pPr>
            <a:r>
              <a:rPr lang="en-US" sz="2000" dirty="0" smtClean="0">
                <a:latin typeface="Helvetica" pitchFamily="34" charset="0"/>
              </a:rPr>
              <a:t>Keep covered to protect from outside contamination and slow staling process.</a:t>
            </a:r>
            <a:endParaRPr lang="en-AU" sz="20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792143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3/31/2015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3/31/2015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3/31/2015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3/31/2015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3/31/2015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1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0.jpeg"/><Relationship Id="rId4" Type="http://schemas.openxmlformats.org/officeDocument/2006/relationships/image" Target="../media/image29.jpeg"/></Relationships>
</file>

<file path=ppt/slides/_rels/slide2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2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692696"/>
            <a:ext cx="7776192" cy="1285884"/>
          </a:xfrm>
        </p:spPr>
        <p:txBody>
          <a:bodyPr>
            <a:normAutofit fontScale="90000"/>
          </a:bodyPr>
          <a:lstStyle/>
          <a:p>
            <a:r>
              <a:rPr lang="en-US" sz="4000" dirty="0" smtClean="0">
                <a:ln w="5000" cmpd="sng">
                  <a:noFill/>
                  <a:prstDash val="solid"/>
                </a:ln>
                <a:solidFill>
                  <a:srgbClr val="FF6600"/>
                </a:solidFill>
                <a:latin typeface="Helvetica" pitchFamily="34" charset="0"/>
              </a:rPr>
              <a:t>  </a:t>
            </a:r>
            <a:r>
              <a:rPr lang="en-AU" sz="4000" dirty="0" smtClean="0">
                <a:ln w="5000" cmpd="sng">
                  <a:noFill/>
                  <a:prstDash val="solid"/>
                </a:ln>
                <a:solidFill>
                  <a:srgbClr val="FF6600"/>
                </a:solidFill>
                <a:latin typeface="Helvetica" pitchFamily="34" charset="0"/>
              </a:rPr>
              <a:t>PREPARE AND PRODUCE CAKES AND PASTRIES</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868144" y="2204864"/>
            <a:ext cx="2469260" cy="357190"/>
          </a:xfrm>
        </p:spPr>
        <p:txBody>
          <a:bodyPr>
            <a:noAutofit/>
          </a:bodyPr>
          <a:lstStyle/>
          <a:p>
            <a:r>
              <a:rPr lang="en-AU" sz="2400" b="1" dirty="0" smtClean="0">
                <a:latin typeface="Helvetica" pitchFamily="34" charset="0"/>
              </a:rPr>
              <a:t>D1.HPA.CL4.08</a:t>
            </a:r>
            <a:endParaRPr lang="en-US" sz="24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a:t>
            </a:fld>
            <a:endParaRPr lang="en-US" dirty="0"/>
          </a:p>
        </p:txBody>
      </p:sp>
      <p:pic>
        <p:nvPicPr>
          <p:cNvPr id="6" name="Picture 2" descr="C:\Documents and Settings\Godaishu\Desktop\2012\Culinary 2012\Patisserie\20250.jpg"/>
          <p:cNvPicPr>
            <a:picLocks noChangeAspect="1" noChangeArrowheads="1"/>
          </p:cNvPicPr>
          <p:nvPr/>
        </p:nvPicPr>
        <p:blipFill>
          <a:blip r:embed="rId3" cstate="print">
            <a:lum contrast="20000"/>
          </a:blip>
          <a:srcRect/>
          <a:stretch>
            <a:fillRect/>
          </a:stretch>
        </p:blipFill>
        <p:spPr bwMode="auto">
          <a:xfrm>
            <a:off x="4071934" y="2928934"/>
            <a:ext cx="1857388" cy="18784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7" name="Picture 3" descr="C:\Documents and Settings\Godaishu\Desktop\2012\Culinary 2012\Patisserie\Decorating a cake.jpg"/>
          <p:cNvPicPr>
            <a:picLocks noChangeAspect="1" noChangeArrowheads="1"/>
          </p:cNvPicPr>
          <p:nvPr/>
        </p:nvPicPr>
        <p:blipFill>
          <a:blip r:embed="rId4" cstate="print">
            <a:lum contrast="10000"/>
          </a:blip>
          <a:srcRect/>
          <a:stretch>
            <a:fillRect/>
          </a:stretch>
        </p:blipFill>
        <p:spPr bwMode="auto">
          <a:xfrm>
            <a:off x="785786" y="1857364"/>
            <a:ext cx="1774845" cy="266063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30" name="Picture 6" descr="C:\Documents and Settings\Godaishu\Desktop\2012\Culinary 2012\Patisserie\Prepare baking.jpg"/>
          <p:cNvPicPr>
            <a:picLocks noChangeAspect="1" noChangeArrowheads="1"/>
          </p:cNvPicPr>
          <p:nvPr/>
        </p:nvPicPr>
        <p:blipFill>
          <a:blip r:embed="rId5" cstate="print"/>
          <a:srcRect/>
          <a:stretch>
            <a:fillRect/>
          </a:stretch>
        </p:blipFill>
        <p:spPr bwMode="auto">
          <a:xfrm>
            <a:off x="5929322" y="3214686"/>
            <a:ext cx="1952897" cy="22574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9" name="Picture 5" descr="C:\Documents and Settings\Godaishu\Desktop\2012\Culinary 2012\Patisserie\cutter pastry.jpg"/>
          <p:cNvPicPr>
            <a:picLocks noChangeAspect="1" noChangeArrowheads="1"/>
          </p:cNvPicPr>
          <p:nvPr/>
        </p:nvPicPr>
        <p:blipFill>
          <a:blip r:embed="rId6" cstate="print"/>
          <a:srcRect/>
          <a:stretch>
            <a:fillRect/>
          </a:stretch>
        </p:blipFill>
        <p:spPr bwMode="auto">
          <a:xfrm>
            <a:off x="2071670" y="4071942"/>
            <a:ext cx="2298487" cy="153352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a:solidFill>
                  <a:srgbClr val="FF6600"/>
                </a:solidFill>
                <a:latin typeface="Helvetica" pitchFamily="34" charset="0"/>
              </a:rPr>
              <a:t>Prepare and produce cakes and pastries</a:t>
            </a: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b="1" dirty="0">
                <a:latin typeface="Helvetica" pitchFamily="34" charset="0"/>
              </a:rPr>
              <a:t>Assessment for this Unit may include:</a:t>
            </a:r>
          </a:p>
          <a:p>
            <a:pPr>
              <a:spcBef>
                <a:spcPts val="600"/>
              </a:spcBef>
              <a:spcAft>
                <a:spcPts val="1200"/>
              </a:spcAft>
            </a:pPr>
            <a:r>
              <a:rPr lang="en-US" sz="2200" dirty="0">
                <a:latin typeface="Helvetica" pitchFamily="34" charset="0"/>
              </a:rPr>
              <a:t>Oral questions</a:t>
            </a:r>
          </a:p>
          <a:p>
            <a:pPr>
              <a:spcBef>
                <a:spcPts val="600"/>
              </a:spcBef>
              <a:spcAft>
                <a:spcPts val="1200"/>
              </a:spcAft>
            </a:pPr>
            <a:r>
              <a:rPr lang="en-US" sz="2200" dirty="0">
                <a:latin typeface="Helvetica" pitchFamily="34" charset="0"/>
              </a:rPr>
              <a:t>Written questions</a:t>
            </a:r>
          </a:p>
          <a:p>
            <a:pPr>
              <a:spcBef>
                <a:spcPts val="600"/>
              </a:spcBef>
              <a:spcAft>
                <a:spcPts val="1200"/>
              </a:spcAft>
            </a:pPr>
            <a:r>
              <a:rPr lang="en-US" sz="2200" dirty="0">
                <a:latin typeface="Helvetica" pitchFamily="34" charset="0"/>
              </a:rPr>
              <a:t>Work projects</a:t>
            </a:r>
          </a:p>
          <a:p>
            <a:pPr>
              <a:spcBef>
                <a:spcPts val="600"/>
              </a:spcBef>
              <a:spcAft>
                <a:spcPts val="1200"/>
              </a:spcAft>
            </a:pPr>
            <a:r>
              <a:rPr lang="en-US" sz="2200" dirty="0">
                <a:latin typeface="Helvetica" pitchFamily="34" charset="0"/>
              </a:rPr>
              <a:t>Workplace observation of practical skills</a:t>
            </a:r>
          </a:p>
          <a:p>
            <a:pPr>
              <a:spcBef>
                <a:spcPts val="600"/>
              </a:spcBef>
              <a:spcAft>
                <a:spcPts val="1200"/>
              </a:spcAft>
            </a:pPr>
            <a:r>
              <a:rPr lang="en-US" sz="2200" dirty="0">
                <a:latin typeface="Helvetica" pitchFamily="34" charset="0"/>
              </a:rPr>
              <a:t>Practical exercises</a:t>
            </a:r>
          </a:p>
          <a:p>
            <a:pPr>
              <a:spcBef>
                <a:spcPts val="600"/>
              </a:spcBef>
              <a:spcAft>
                <a:spcPts val="1200"/>
              </a:spcAft>
            </a:pPr>
            <a:r>
              <a:rPr lang="en-US" sz="2200" dirty="0">
                <a:latin typeface="Helvetica" pitchFamily="34" charset="0"/>
              </a:rPr>
              <a:t>Formal report from </a:t>
            </a:r>
            <a:r>
              <a:rPr lang="en-US" sz="2200" dirty="0" smtClean="0">
                <a:latin typeface="Helvetica" pitchFamily="34" charset="0"/>
              </a:rPr>
              <a:t>employer/supervisor</a:t>
            </a:r>
            <a:endParaRPr lang="en-US" sz="2200" dirty="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6" name="Picture 2" descr="C:\Documents and Settings\PhongLan\Local Settings\Temporary Internet Files\Content.IE5\D4C0BBXF\MP900431095[1].jpg"/>
          <p:cNvPicPr>
            <a:picLocks noChangeAspect="1" noChangeArrowheads="1"/>
          </p:cNvPicPr>
          <p:nvPr/>
        </p:nvPicPr>
        <p:blipFill>
          <a:blip r:embed="rId3" cstate="print"/>
          <a:srcRect/>
          <a:stretch>
            <a:fillRect/>
          </a:stretch>
        </p:blipFill>
        <p:spPr bwMode="auto">
          <a:xfrm>
            <a:off x="6357950" y="2357430"/>
            <a:ext cx="1615308" cy="24288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and produce cakes and pastries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a:latin typeface="Helvetica" pitchFamily="34" charset="0"/>
              </a:rPr>
              <a:t>This </a:t>
            </a:r>
            <a:r>
              <a:rPr lang="en-US" sz="2200" b="1" dirty="0" smtClean="0">
                <a:latin typeface="Helvetica" pitchFamily="34" charset="0"/>
              </a:rPr>
              <a:t>unit </a:t>
            </a:r>
            <a:r>
              <a:rPr lang="en-US" sz="2200" b="1" dirty="0">
                <a:latin typeface="Helvetica" pitchFamily="34" charset="0"/>
              </a:rPr>
              <a:t>comprises </a:t>
            </a:r>
            <a:r>
              <a:rPr lang="en-US" sz="2200" b="1" dirty="0" smtClean="0">
                <a:latin typeface="Helvetica" pitchFamily="34" charset="0"/>
              </a:rPr>
              <a:t>five Elements</a:t>
            </a:r>
            <a:endParaRPr lang="en-US" sz="2200" b="1" dirty="0">
              <a:latin typeface="Helvetica" pitchFamily="34" charset="0"/>
            </a:endParaRPr>
          </a:p>
          <a:p>
            <a:pPr marL="457200" indent="-457200">
              <a:spcBef>
                <a:spcPts val="600"/>
              </a:spcBef>
              <a:spcAft>
                <a:spcPts val="1200"/>
              </a:spcAft>
              <a:buSzPct val="100000"/>
              <a:buFont typeface="+mj-lt"/>
              <a:buAutoNum type="arabicPeriod"/>
            </a:pPr>
            <a:r>
              <a:rPr lang="en-US" sz="2200" dirty="0" smtClean="0">
                <a:latin typeface="Helvetica" pitchFamily="34" charset="0"/>
              </a:rPr>
              <a:t>Prepare and bake cakes and fillings</a:t>
            </a:r>
          </a:p>
          <a:p>
            <a:pPr marL="457200" indent="-457200">
              <a:spcBef>
                <a:spcPts val="600"/>
              </a:spcBef>
              <a:spcAft>
                <a:spcPts val="1200"/>
              </a:spcAft>
              <a:buSzPct val="100000"/>
              <a:buFont typeface="+mj-lt"/>
              <a:buAutoNum type="arabicPeriod"/>
            </a:pPr>
            <a:r>
              <a:rPr lang="en-US" sz="2200" dirty="0" smtClean="0">
                <a:latin typeface="Helvetica" pitchFamily="34" charset="0"/>
              </a:rPr>
              <a:t>Decorate and present/display cakes</a:t>
            </a:r>
          </a:p>
          <a:p>
            <a:pPr marL="457200" indent="-457200">
              <a:spcBef>
                <a:spcPts val="600"/>
              </a:spcBef>
              <a:spcAft>
                <a:spcPts val="1200"/>
              </a:spcAft>
              <a:buSzPct val="100000"/>
              <a:buFont typeface="+mj-lt"/>
              <a:buAutoNum type="arabicPeriod"/>
            </a:pPr>
            <a:r>
              <a:rPr lang="en-US" sz="2200" dirty="0" smtClean="0">
                <a:latin typeface="Helvetica" pitchFamily="34" charset="0"/>
              </a:rPr>
              <a:t>Prepare and produce pastries and fillings</a:t>
            </a:r>
          </a:p>
          <a:p>
            <a:pPr marL="457200" indent="-457200">
              <a:spcBef>
                <a:spcPts val="600"/>
              </a:spcBef>
              <a:spcAft>
                <a:spcPts val="1200"/>
              </a:spcAft>
              <a:buSzPct val="100000"/>
              <a:buFont typeface="+mj-lt"/>
              <a:buAutoNum type="arabicPeriod"/>
            </a:pPr>
            <a:r>
              <a:rPr lang="en-US" sz="2200" dirty="0" smtClean="0">
                <a:latin typeface="Helvetica" pitchFamily="34" charset="0"/>
              </a:rPr>
              <a:t>Decorate and present pastries</a:t>
            </a:r>
          </a:p>
          <a:p>
            <a:pPr marL="457200" indent="-457200">
              <a:spcBef>
                <a:spcPts val="600"/>
              </a:spcBef>
              <a:spcAft>
                <a:spcPts val="1200"/>
              </a:spcAft>
              <a:buSzPct val="100000"/>
              <a:buFont typeface="+mj-lt"/>
              <a:buAutoNum type="arabicPeriod"/>
            </a:pPr>
            <a:r>
              <a:rPr lang="en-US" sz="2200" dirty="0" smtClean="0">
                <a:latin typeface="Helvetica" pitchFamily="34" charset="0"/>
              </a:rPr>
              <a:t>Store cakes and pastries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6" name="Picture 2" descr="C:\Documents and Settings\danielc\Local Settings\Temporary Internet Files\Content.IE5\XF6U4J0T\MC900434929[1].png"/>
          <p:cNvPicPr>
            <a:picLocks noChangeAspect="1" noChangeArrowheads="1"/>
          </p:cNvPicPr>
          <p:nvPr/>
        </p:nvPicPr>
        <p:blipFill>
          <a:blip r:embed="rId3" cstate="print">
            <a:lum contrast="10000"/>
          </a:blip>
          <a:srcRect/>
          <a:stretch>
            <a:fillRect/>
          </a:stretch>
        </p:blipFill>
        <p:spPr bwMode="auto">
          <a:xfrm>
            <a:off x="6429388" y="1785926"/>
            <a:ext cx="1828572" cy="1828572"/>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1: Prepare and bake cakes and fillings</a:t>
            </a: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b="1" dirty="0" smtClean="0">
                <a:latin typeface="Helvetica" pitchFamily="34" charset="0"/>
              </a:rPr>
              <a:t>Performance Criteria</a:t>
            </a:r>
          </a:p>
          <a:p>
            <a:pPr>
              <a:spcBef>
                <a:spcPts val="600"/>
              </a:spcBef>
              <a:spcAft>
                <a:spcPts val="600"/>
              </a:spcAft>
            </a:pPr>
            <a:r>
              <a:rPr lang="en-AU" sz="2000" dirty="0"/>
              <a:t>Select required commodities according to recipe </a:t>
            </a:r>
            <a:r>
              <a:rPr lang="en-AU" sz="2000" dirty="0" smtClean="0"/>
              <a:t/>
            </a:r>
            <a:br>
              <a:rPr lang="en-AU" sz="2000" dirty="0" smtClean="0"/>
            </a:br>
            <a:r>
              <a:rPr lang="en-AU" sz="2000" dirty="0" smtClean="0"/>
              <a:t>and </a:t>
            </a:r>
            <a:r>
              <a:rPr lang="en-AU" sz="2000" dirty="0"/>
              <a:t>production requirements</a:t>
            </a:r>
          </a:p>
          <a:p>
            <a:pPr>
              <a:spcBef>
                <a:spcPts val="600"/>
              </a:spcBef>
              <a:spcAft>
                <a:spcPts val="600"/>
              </a:spcAft>
            </a:pPr>
            <a:r>
              <a:rPr lang="en-AU" sz="2000" dirty="0"/>
              <a:t>Prepare a variety of cakes to desired product </a:t>
            </a:r>
            <a:r>
              <a:rPr lang="en-AU" sz="2000" dirty="0" smtClean="0"/>
              <a:t/>
            </a:r>
            <a:br>
              <a:rPr lang="en-AU" sz="2000" dirty="0" smtClean="0"/>
            </a:br>
            <a:r>
              <a:rPr lang="en-AU" sz="2000" dirty="0" smtClean="0"/>
              <a:t>characteristics</a:t>
            </a:r>
            <a:endParaRPr lang="en-AU" sz="2000" dirty="0"/>
          </a:p>
          <a:p>
            <a:pPr>
              <a:spcBef>
                <a:spcPts val="600"/>
              </a:spcBef>
              <a:spcAft>
                <a:spcPts val="600"/>
              </a:spcAft>
            </a:pPr>
            <a:r>
              <a:rPr lang="en-AU" sz="2000" dirty="0"/>
              <a:t>Produce a variety of cakes according to standard recipes and enterprise standards</a:t>
            </a:r>
          </a:p>
          <a:p>
            <a:pPr>
              <a:spcBef>
                <a:spcPts val="600"/>
              </a:spcBef>
              <a:spcAft>
                <a:spcPts val="600"/>
              </a:spcAft>
            </a:pPr>
            <a:r>
              <a:rPr lang="en-AU" sz="2000" dirty="0"/>
              <a:t>Use appropriate equipment to prepare and bake cakes</a:t>
            </a:r>
          </a:p>
          <a:p>
            <a:pPr>
              <a:spcBef>
                <a:spcPts val="600"/>
              </a:spcBef>
              <a:spcAft>
                <a:spcPts val="600"/>
              </a:spcAft>
            </a:pPr>
            <a:r>
              <a:rPr lang="en-AU" sz="2000" dirty="0"/>
              <a:t>Use correct techniques to produce cakes to enterprise standards</a:t>
            </a:r>
          </a:p>
          <a:p>
            <a:pPr>
              <a:spcBef>
                <a:spcPts val="600"/>
              </a:spcBef>
              <a:spcAft>
                <a:spcPts val="600"/>
              </a:spcAft>
            </a:pPr>
            <a:r>
              <a:rPr lang="en-AU" sz="2000" dirty="0"/>
              <a:t>Bake cakes to enterprise requirements and standards</a:t>
            </a:r>
          </a:p>
          <a:p>
            <a:pPr>
              <a:spcBef>
                <a:spcPts val="600"/>
              </a:spcBef>
              <a:spcAft>
                <a:spcPts val="600"/>
              </a:spcAft>
            </a:pPr>
            <a:r>
              <a:rPr lang="en-AU" sz="2000" dirty="0"/>
              <a:t>Select correct oven conditions for baking </a:t>
            </a:r>
            <a:r>
              <a:rPr lang="en-AU" sz="2000" dirty="0" smtClean="0"/>
              <a:t>cakes</a:t>
            </a:r>
            <a:endParaRPr lang="en-AU" sz="2000" dirty="0"/>
          </a:p>
          <a:p>
            <a:pPr marL="274320" indent="-360000">
              <a:spcBef>
                <a:spcPts val="600"/>
              </a:spcBef>
              <a:spcAft>
                <a:spcPts val="6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5" name="Picture 2" descr="C:\Documents and Settings\danielc\My Documents\Downloads\learn.jpg"/>
          <p:cNvPicPr>
            <a:picLocks noChangeAspect="1" noChangeArrowheads="1"/>
          </p:cNvPicPr>
          <p:nvPr/>
        </p:nvPicPr>
        <p:blipFill>
          <a:blip r:embed="rId3" cstate="print"/>
          <a:srcRect/>
          <a:stretch>
            <a:fillRect/>
          </a:stretch>
        </p:blipFill>
        <p:spPr bwMode="auto">
          <a:xfrm>
            <a:off x="6643702" y="1714488"/>
            <a:ext cx="1500198" cy="1500198"/>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1: Prepare and bake cakes and fillings</a:t>
            </a: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b="1" dirty="0" smtClean="0">
                <a:latin typeface="Helvetica" pitchFamily="34" charset="0"/>
              </a:rPr>
              <a:t>Select commodities</a:t>
            </a:r>
          </a:p>
          <a:p>
            <a:pPr lvl="0">
              <a:spcBef>
                <a:spcPts val="600"/>
              </a:spcBef>
              <a:spcAft>
                <a:spcPts val="600"/>
              </a:spcAft>
            </a:pPr>
            <a:r>
              <a:rPr lang="en-AU" sz="2200" dirty="0"/>
              <a:t>Flours</a:t>
            </a:r>
          </a:p>
          <a:p>
            <a:pPr lvl="0">
              <a:spcBef>
                <a:spcPts val="600"/>
              </a:spcBef>
              <a:spcAft>
                <a:spcPts val="600"/>
              </a:spcAft>
            </a:pPr>
            <a:r>
              <a:rPr lang="en-AU" sz="2200" dirty="0"/>
              <a:t>Sugars</a:t>
            </a:r>
          </a:p>
          <a:p>
            <a:pPr lvl="0">
              <a:spcBef>
                <a:spcPts val="600"/>
              </a:spcBef>
              <a:spcAft>
                <a:spcPts val="600"/>
              </a:spcAft>
            </a:pPr>
            <a:r>
              <a:rPr lang="en-AU" sz="2200" dirty="0"/>
              <a:t>Eggs</a:t>
            </a:r>
          </a:p>
          <a:p>
            <a:pPr lvl="0">
              <a:spcBef>
                <a:spcPts val="600"/>
              </a:spcBef>
              <a:spcAft>
                <a:spcPts val="600"/>
              </a:spcAft>
            </a:pPr>
            <a:r>
              <a:rPr lang="en-AU" sz="2200" dirty="0"/>
              <a:t>Milk</a:t>
            </a:r>
          </a:p>
          <a:p>
            <a:pPr lvl="0">
              <a:spcBef>
                <a:spcPts val="600"/>
              </a:spcBef>
              <a:spcAft>
                <a:spcPts val="600"/>
              </a:spcAft>
            </a:pPr>
            <a:r>
              <a:rPr lang="en-AU" sz="2200" dirty="0"/>
              <a:t>Cream</a:t>
            </a:r>
          </a:p>
          <a:p>
            <a:pPr lvl="0">
              <a:spcBef>
                <a:spcPts val="600"/>
              </a:spcBef>
              <a:spcAft>
                <a:spcPts val="600"/>
              </a:spcAft>
            </a:pPr>
            <a:r>
              <a:rPr lang="en-AU" sz="2200" dirty="0"/>
              <a:t>Gelatin</a:t>
            </a:r>
          </a:p>
          <a:p>
            <a:pPr lvl="0">
              <a:spcBef>
                <a:spcPts val="600"/>
              </a:spcBef>
              <a:spcAft>
                <a:spcPts val="600"/>
              </a:spcAft>
            </a:pPr>
            <a:r>
              <a:rPr lang="en-AU" sz="2200" dirty="0"/>
              <a:t>Flavourings and essences </a:t>
            </a:r>
          </a:p>
          <a:p>
            <a:pPr lvl="0">
              <a:spcBef>
                <a:spcPts val="600"/>
              </a:spcBef>
              <a:spcAft>
                <a:spcPts val="600"/>
              </a:spcAft>
            </a:pPr>
            <a:r>
              <a:rPr lang="en-AU" sz="2200" dirty="0"/>
              <a:t>Chocolate </a:t>
            </a:r>
          </a:p>
          <a:p>
            <a:pPr lvl="0">
              <a:spcBef>
                <a:spcPts val="600"/>
              </a:spcBef>
              <a:spcAft>
                <a:spcPts val="600"/>
              </a:spcAft>
            </a:pPr>
            <a:r>
              <a:rPr lang="en-AU" sz="2200" dirty="0"/>
              <a:t>Fats, oils, butter, </a:t>
            </a:r>
            <a:r>
              <a:rPr lang="en-AU" sz="2200" dirty="0" smtClean="0"/>
              <a:t>margarines</a:t>
            </a:r>
            <a:endParaRPr lang="en-AU" sz="2200" dirty="0"/>
          </a:p>
          <a:p>
            <a:pPr marL="360000" indent="-360000">
              <a:spcBef>
                <a:spcPts val="600"/>
              </a:spcBef>
              <a:spcAft>
                <a:spcPts val="1200"/>
              </a:spcAft>
              <a:buNone/>
            </a:pPr>
            <a:endParaRPr lang="en-US" sz="2200" dirty="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2050" name="Picture 2" descr="C:\Documents and Settings\Godaishu\Desktop\2012\Culinary 2012\Dairy products\1172836_butter.jpg"/>
          <p:cNvPicPr>
            <a:picLocks noChangeAspect="1" noChangeArrowheads="1"/>
          </p:cNvPicPr>
          <p:nvPr/>
        </p:nvPicPr>
        <p:blipFill>
          <a:blip r:embed="rId3" cstate="print"/>
          <a:srcRect/>
          <a:stretch>
            <a:fillRect/>
          </a:stretch>
        </p:blipFill>
        <p:spPr bwMode="auto">
          <a:xfrm>
            <a:off x="5548796" y="3079759"/>
            <a:ext cx="1084633" cy="1635125"/>
          </a:xfrm>
          <a:prstGeom prst="rect">
            <a:avLst/>
          </a:prstGeom>
          <a:noFill/>
        </p:spPr>
      </p:pic>
      <p:pic>
        <p:nvPicPr>
          <p:cNvPr id="2051" name="Picture 3" descr="C:\Documents and Settings\Godaishu\Desktop\2012\Culinary 2012\Dairy products\1283295_eggs_2[1].jpg"/>
          <p:cNvPicPr>
            <a:picLocks noChangeAspect="1" noChangeArrowheads="1"/>
          </p:cNvPicPr>
          <p:nvPr/>
        </p:nvPicPr>
        <p:blipFill>
          <a:blip r:embed="rId4" cstate="print"/>
          <a:srcRect/>
          <a:stretch>
            <a:fillRect/>
          </a:stretch>
        </p:blipFill>
        <p:spPr bwMode="auto">
          <a:xfrm>
            <a:off x="5072066" y="1928802"/>
            <a:ext cx="1601784" cy="1067856"/>
          </a:xfrm>
          <a:prstGeom prst="rect">
            <a:avLst/>
          </a:prstGeom>
          <a:noFill/>
        </p:spPr>
      </p:pic>
      <p:pic>
        <p:nvPicPr>
          <p:cNvPr id="2053" name="Picture 5" descr="C:\Documents and Settings\Godaishu\Desktop\2012\Culinary 2012\Dairy products\MilkPowder.jpg"/>
          <p:cNvPicPr>
            <a:picLocks noChangeAspect="1" noChangeArrowheads="1"/>
          </p:cNvPicPr>
          <p:nvPr/>
        </p:nvPicPr>
        <p:blipFill>
          <a:blip r:embed="rId5" cstate="print"/>
          <a:srcRect/>
          <a:stretch>
            <a:fillRect/>
          </a:stretch>
        </p:blipFill>
        <p:spPr bwMode="auto">
          <a:xfrm>
            <a:off x="6715140" y="1571612"/>
            <a:ext cx="1071570" cy="1428760"/>
          </a:xfrm>
          <a:prstGeom prst="rect">
            <a:avLst/>
          </a:prstGeom>
          <a:noFill/>
        </p:spPr>
      </p:pic>
      <p:pic>
        <p:nvPicPr>
          <p:cNvPr id="2054" name="Picture 6" descr="C:\Documents and Settings\Godaishu\Desktop\2012\Culinary 2012\656638_sugar.jpg"/>
          <p:cNvPicPr>
            <a:picLocks noChangeAspect="1" noChangeArrowheads="1"/>
          </p:cNvPicPr>
          <p:nvPr/>
        </p:nvPicPr>
        <p:blipFill>
          <a:blip r:embed="rId6" cstate="print"/>
          <a:srcRect/>
          <a:stretch>
            <a:fillRect/>
          </a:stretch>
        </p:blipFill>
        <p:spPr bwMode="auto">
          <a:xfrm>
            <a:off x="6715140" y="3090879"/>
            <a:ext cx="1218004" cy="1624005"/>
          </a:xfrm>
          <a:prstGeom prst="rect">
            <a:avLst/>
          </a:prstGeom>
          <a:noFill/>
        </p:spPr>
      </p:pic>
    </p:spTree>
    <p:extLst>
      <p:ext uri="{BB962C8B-B14F-4D97-AF65-F5344CB8AC3E}">
        <p14:creationId xmlns:p14="http://schemas.microsoft.com/office/powerpoint/2010/main" val="4226804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1: Prepare and bake cakes and fillings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Select commodities</a:t>
            </a:r>
          </a:p>
          <a:p>
            <a:pPr lvl="0">
              <a:spcBef>
                <a:spcPts val="600"/>
              </a:spcBef>
              <a:spcAft>
                <a:spcPts val="1200"/>
              </a:spcAft>
            </a:pPr>
            <a:r>
              <a:rPr lang="en-AU" sz="2200" dirty="0" smtClean="0"/>
              <a:t>Flours:</a:t>
            </a:r>
          </a:p>
          <a:p>
            <a:pPr lvl="1">
              <a:spcBef>
                <a:spcPts val="600"/>
              </a:spcBef>
              <a:spcAft>
                <a:spcPts val="1200"/>
              </a:spcAft>
              <a:buFont typeface="Wingdings" pitchFamily="2" charset="2"/>
              <a:buChar char="§"/>
            </a:pPr>
            <a:r>
              <a:rPr lang="en-AU" sz="2200" dirty="0" smtClean="0"/>
              <a:t>Plain Flour</a:t>
            </a:r>
          </a:p>
          <a:p>
            <a:pPr lvl="1">
              <a:spcBef>
                <a:spcPts val="600"/>
              </a:spcBef>
              <a:spcAft>
                <a:spcPts val="1200"/>
              </a:spcAft>
              <a:buFont typeface="Wingdings" pitchFamily="2" charset="2"/>
              <a:buChar char="§"/>
            </a:pPr>
            <a:r>
              <a:rPr lang="en-AU" sz="2200" dirty="0" smtClean="0"/>
              <a:t>Self </a:t>
            </a:r>
            <a:r>
              <a:rPr lang="en-AU" sz="2200" dirty="0"/>
              <a:t>R</a:t>
            </a:r>
            <a:r>
              <a:rPr lang="en-AU" sz="2200" dirty="0" smtClean="0"/>
              <a:t>aising Flour</a:t>
            </a:r>
          </a:p>
          <a:p>
            <a:pPr lvl="1">
              <a:spcBef>
                <a:spcPts val="600"/>
              </a:spcBef>
              <a:spcAft>
                <a:spcPts val="1200"/>
              </a:spcAft>
              <a:buFont typeface="Wingdings" pitchFamily="2" charset="2"/>
              <a:buChar char="§"/>
            </a:pPr>
            <a:r>
              <a:rPr lang="en-AU" sz="2200" dirty="0" smtClean="0"/>
              <a:t>Soft Cake Flour</a:t>
            </a:r>
          </a:p>
          <a:p>
            <a:pPr lvl="1">
              <a:spcBef>
                <a:spcPts val="600"/>
              </a:spcBef>
              <a:spcAft>
                <a:spcPts val="1200"/>
              </a:spcAft>
              <a:buFont typeface="Wingdings" pitchFamily="2" charset="2"/>
              <a:buChar char="§"/>
            </a:pPr>
            <a:r>
              <a:rPr lang="en-AU" sz="2200" dirty="0" smtClean="0"/>
              <a:t>Special Cake Flour</a:t>
            </a:r>
            <a:endParaRPr lang="en-AU" sz="2200" dirty="0"/>
          </a:p>
          <a:p>
            <a:pPr marL="360000" indent="-36000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3074" name="Picture 2" descr="C:\Documents and Settings\Godaishu\Desktop\flour.jpg"/>
          <p:cNvPicPr>
            <a:picLocks noChangeAspect="1" noChangeArrowheads="1"/>
          </p:cNvPicPr>
          <p:nvPr/>
        </p:nvPicPr>
        <p:blipFill>
          <a:blip r:embed="rId3" cstate="print"/>
          <a:srcRect/>
          <a:stretch>
            <a:fillRect/>
          </a:stretch>
        </p:blipFill>
        <p:spPr bwMode="auto">
          <a:xfrm>
            <a:off x="4786314" y="2500306"/>
            <a:ext cx="2266950" cy="2019300"/>
          </a:xfrm>
          <a:prstGeom prst="rect">
            <a:avLst/>
          </a:prstGeom>
          <a:noFill/>
        </p:spPr>
      </p:pic>
    </p:spTree>
    <p:extLst>
      <p:ext uri="{BB962C8B-B14F-4D97-AF65-F5344CB8AC3E}">
        <p14:creationId xmlns:p14="http://schemas.microsoft.com/office/powerpoint/2010/main" val="167960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1: Prepare and bake cakes and fillings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600"/>
              </a:spcAft>
              <a:buNone/>
            </a:pPr>
            <a:r>
              <a:rPr lang="en-US" sz="2200" b="1" dirty="0" smtClean="0">
                <a:latin typeface="Helvetica" pitchFamily="34" charset="0"/>
              </a:rPr>
              <a:t>Select commodities</a:t>
            </a:r>
          </a:p>
          <a:p>
            <a:pPr lvl="0">
              <a:spcBef>
                <a:spcPts val="600"/>
              </a:spcBef>
              <a:spcAft>
                <a:spcPts val="600"/>
              </a:spcAft>
            </a:pPr>
            <a:r>
              <a:rPr lang="en-AU" sz="2200" dirty="0"/>
              <a:t>Sugars</a:t>
            </a:r>
          </a:p>
          <a:p>
            <a:pPr lvl="1">
              <a:spcBef>
                <a:spcPts val="600"/>
              </a:spcBef>
              <a:spcAft>
                <a:spcPts val="600"/>
              </a:spcAft>
              <a:buFont typeface="Wingdings" pitchFamily="2" charset="2"/>
              <a:buChar char="§"/>
            </a:pPr>
            <a:r>
              <a:rPr lang="en-AU" sz="2200" dirty="0"/>
              <a:t>Caster</a:t>
            </a:r>
          </a:p>
          <a:p>
            <a:pPr lvl="1">
              <a:spcBef>
                <a:spcPts val="600"/>
              </a:spcBef>
              <a:spcAft>
                <a:spcPts val="600"/>
              </a:spcAft>
              <a:buFont typeface="Wingdings" pitchFamily="2" charset="2"/>
              <a:buChar char="§"/>
            </a:pPr>
            <a:r>
              <a:rPr lang="en-AU" sz="2200" dirty="0"/>
              <a:t>Brown</a:t>
            </a:r>
          </a:p>
          <a:p>
            <a:pPr lvl="1">
              <a:spcBef>
                <a:spcPts val="600"/>
              </a:spcBef>
              <a:spcAft>
                <a:spcPts val="600"/>
              </a:spcAft>
              <a:buFont typeface="Wingdings" pitchFamily="2" charset="2"/>
              <a:buChar char="§"/>
            </a:pPr>
            <a:r>
              <a:rPr lang="en-AU" sz="2200" dirty="0"/>
              <a:t>A1 crystal</a:t>
            </a:r>
          </a:p>
          <a:p>
            <a:pPr lvl="1">
              <a:spcBef>
                <a:spcPts val="600"/>
              </a:spcBef>
              <a:spcAft>
                <a:spcPts val="600"/>
              </a:spcAft>
              <a:buFont typeface="Wingdings" pitchFamily="2" charset="2"/>
              <a:buChar char="§"/>
            </a:pPr>
            <a:r>
              <a:rPr lang="en-AU" sz="2200" dirty="0"/>
              <a:t>Glucose, powder and liquid</a:t>
            </a:r>
          </a:p>
          <a:p>
            <a:pPr lvl="1">
              <a:spcBef>
                <a:spcPts val="600"/>
              </a:spcBef>
              <a:spcAft>
                <a:spcPts val="600"/>
              </a:spcAft>
              <a:buFont typeface="Wingdings" pitchFamily="2" charset="2"/>
              <a:buChar char="§"/>
            </a:pPr>
            <a:r>
              <a:rPr lang="en-AU" sz="2200" dirty="0"/>
              <a:t>Icing </a:t>
            </a:r>
          </a:p>
          <a:p>
            <a:pPr lvl="0">
              <a:spcBef>
                <a:spcPts val="600"/>
              </a:spcBef>
              <a:spcAft>
                <a:spcPts val="600"/>
              </a:spcAft>
            </a:pPr>
            <a:r>
              <a:rPr lang="en-AU" sz="2200" dirty="0" smtClean="0"/>
              <a:t>Fondant</a:t>
            </a:r>
            <a:endParaRPr lang="en-AU" sz="2200" dirty="0"/>
          </a:p>
          <a:p>
            <a:pPr marL="360000" indent="-360000">
              <a:spcBef>
                <a:spcPts val="600"/>
              </a:spcBef>
              <a:spcAft>
                <a:spcPts val="600"/>
              </a:spcAft>
              <a:buNone/>
            </a:pPr>
            <a:endParaRPr lang="en-US" sz="2200" dirty="0" smtClean="0">
              <a:latin typeface="Helvetica" pitchFamily="34" charset="0"/>
            </a:endParaRPr>
          </a:p>
          <a:p>
            <a:pPr marL="0" indent="0">
              <a:spcBef>
                <a:spcPts val="600"/>
              </a:spcBef>
              <a:spcAft>
                <a:spcPts val="600"/>
              </a:spcAft>
              <a:buNone/>
            </a:pPr>
            <a:endParaRPr lang="en-US" sz="2200" dirty="0" smtClean="0">
              <a:latin typeface="Helvetica" pitchFamily="34" charset="0"/>
            </a:endParaRP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4098" name="Picture 2" descr="C:\Documents and Settings\Godaishu\Desktop\2012\Culinary 2012\Patisserie\1071033_sugars_3[2].jpg"/>
          <p:cNvPicPr>
            <a:picLocks noChangeAspect="1" noChangeArrowheads="1"/>
          </p:cNvPicPr>
          <p:nvPr/>
        </p:nvPicPr>
        <p:blipFill>
          <a:blip r:embed="rId3" cstate="print"/>
          <a:srcRect/>
          <a:stretch>
            <a:fillRect/>
          </a:stretch>
        </p:blipFill>
        <p:spPr bwMode="auto">
          <a:xfrm>
            <a:off x="5143504" y="1928802"/>
            <a:ext cx="2500310" cy="1866898"/>
          </a:xfrm>
          <a:prstGeom prst="rect">
            <a:avLst/>
          </a:prstGeom>
          <a:noFill/>
        </p:spPr>
      </p:pic>
    </p:spTree>
    <p:extLst>
      <p:ext uri="{BB962C8B-B14F-4D97-AF65-F5344CB8AC3E}">
        <p14:creationId xmlns:p14="http://schemas.microsoft.com/office/powerpoint/2010/main" val="3149137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1: Prepare and bake cakes and fillings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Select commodities</a:t>
            </a:r>
          </a:p>
          <a:p>
            <a:pPr lvl="0">
              <a:spcBef>
                <a:spcPts val="600"/>
              </a:spcBef>
              <a:spcAft>
                <a:spcPts val="1200"/>
              </a:spcAft>
            </a:pPr>
            <a:r>
              <a:rPr lang="en-AU" sz="2200" dirty="0" smtClean="0"/>
              <a:t>Eggs</a:t>
            </a:r>
          </a:p>
          <a:p>
            <a:pPr lvl="0">
              <a:spcBef>
                <a:spcPts val="600"/>
              </a:spcBef>
              <a:spcAft>
                <a:spcPts val="1200"/>
              </a:spcAft>
            </a:pPr>
            <a:r>
              <a:rPr lang="en-AU" sz="2200" dirty="0" smtClean="0"/>
              <a:t>Dairy products and substitutes</a:t>
            </a:r>
          </a:p>
          <a:p>
            <a:pPr lvl="1">
              <a:spcBef>
                <a:spcPts val="600"/>
              </a:spcBef>
              <a:spcAft>
                <a:spcPts val="1200"/>
              </a:spcAft>
              <a:buFont typeface="Wingdings" pitchFamily="2" charset="2"/>
              <a:buChar char="§"/>
            </a:pPr>
            <a:r>
              <a:rPr lang="en-AU" sz="2200" dirty="0" smtClean="0"/>
              <a:t>Milk</a:t>
            </a:r>
            <a:endParaRPr lang="en-AU" sz="2200" dirty="0"/>
          </a:p>
          <a:p>
            <a:pPr lvl="1">
              <a:spcBef>
                <a:spcPts val="600"/>
              </a:spcBef>
              <a:spcAft>
                <a:spcPts val="1200"/>
              </a:spcAft>
              <a:buFont typeface="Wingdings" pitchFamily="2" charset="2"/>
              <a:buChar char="§"/>
            </a:pPr>
            <a:r>
              <a:rPr lang="en-AU" sz="2200" dirty="0"/>
              <a:t>Cream</a:t>
            </a:r>
          </a:p>
          <a:p>
            <a:pPr lvl="1">
              <a:spcBef>
                <a:spcPts val="600"/>
              </a:spcBef>
              <a:spcAft>
                <a:spcPts val="1200"/>
              </a:spcAft>
              <a:buFont typeface="Wingdings" pitchFamily="2" charset="2"/>
              <a:buChar char="§"/>
            </a:pPr>
            <a:r>
              <a:rPr lang="en-AU" sz="2200" dirty="0"/>
              <a:t>Fats, oils, butter, </a:t>
            </a:r>
            <a:r>
              <a:rPr lang="en-AU" sz="2200" dirty="0" smtClean="0"/>
              <a:t>margarines</a:t>
            </a:r>
            <a:endParaRPr lang="en-AU" sz="2200" dirty="0"/>
          </a:p>
          <a:p>
            <a:pPr lvl="0">
              <a:spcBef>
                <a:spcPts val="600"/>
              </a:spcBef>
              <a:spcAft>
                <a:spcPts val="1200"/>
              </a:spcAft>
              <a:buNone/>
            </a:pPr>
            <a:endParaRPr lang="en-AU" sz="2200" dirty="0" smtClean="0"/>
          </a:p>
          <a:p>
            <a:pPr marL="360000" indent="-36000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5122" name="Picture 2" descr="C:\Documents and Settings\Godaishu\Desktop\2012\Culinary 2012\Dairy products\MP900400574.JPG"/>
          <p:cNvPicPr>
            <a:picLocks noChangeAspect="1" noChangeArrowheads="1"/>
          </p:cNvPicPr>
          <p:nvPr/>
        </p:nvPicPr>
        <p:blipFill>
          <a:blip r:embed="rId3" cstate="print"/>
          <a:srcRect/>
          <a:stretch>
            <a:fillRect/>
          </a:stretch>
        </p:blipFill>
        <p:spPr bwMode="auto">
          <a:xfrm>
            <a:off x="6143636" y="1285860"/>
            <a:ext cx="1705172" cy="2132005"/>
          </a:xfrm>
          <a:prstGeom prst="rect">
            <a:avLst/>
          </a:prstGeom>
          <a:noFill/>
        </p:spPr>
      </p:pic>
      <p:pic>
        <p:nvPicPr>
          <p:cNvPr id="5123" name="Picture 3" descr="C:\Documents and Settings\Godaishu\Desktop\2012\Culinary 2012\Dairy products\AirCream.jpg"/>
          <p:cNvPicPr>
            <a:picLocks noChangeAspect="1" noChangeArrowheads="1"/>
          </p:cNvPicPr>
          <p:nvPr/>
        </p:nvPicPr>
        <p:blipFill>
          <a:blip r:embed="rId4" cstate="print"/>
          <a:srcRect/>
          <a:stretch>
            <a:fillRect/>
          </a:stretch>
        </p:blipFill>
        <p:spPr bwMode="auto">
          <a:xfrm>
            <a:off x="5500694" y="3643314"/>
            <a:ext cx="2276471" cy="1518833"/>
          </a:xfrm>
          <a:prstGeom prst="rect">
            <a:avLst/>
          </a:prstGeom>
          <a:noFill/>
        </p:spPr>
      </p:pic>
    </p:spTree>
    <p:extLst>
      <p:ext uri="{BB962C8B-B14F-4D97-AF65-F5344CB8AC3E}">
        <p14:creationId xmlns:p14="http://schemas.microsoft.com/office/powerpoint/2010/main" val="2150778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1: Prepare and bake cakes and fillings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Select commodities</a:t>
            </a:r>
          </a:p>
          <a:p>
            <a:pPr lvl="0">
              <a:spcBef>
                <a:spcPts val="600"/>
              </a:spcBef>
              <a:spcAft>
                <a:spcPts val="1200"/>
              </a:spcAft>
            </a:pPr>
            <a:r>
              <a:rPr lang="en-AU" sz="2200" dirty="0"/>
              <a:t>Chocolate </a:t>
            </a:r>
          </a:p>
          <a:p>
            <a:pPr lvl="0">
              <a:spcBef>
                <a:spcPts val="600"/>
              </a:spcBef>
              <a:spcAft>
                <a:spcPts val="1200"/>
              </a:spcAft>
            </a:pPr>
            <a:r>
              <a:rPr lang="en-AU" sz="2200" dirty="0"/>
              <a:t>Cocoa powder</a:t>
            </a:r>
          </a:p>
          <a:p>
            <a:pPr lvl="0">
              <a:spcBef>
                <a:spcPts val="600"/>
              </a:spcBef>
              <a:spcAft>
                <a:spcPts val="1200"/>
              </a:spcAft>
            </a:pPr>
            <a:r>
              <a:rPr lang="en-AU" sz="2200" dirty="0" smtClean="0"/>
              <a:t>Nuts</a:t>
            </a:r>
            <a:endParaRPr lang="en-AU" sz="2200" dirty="0"/>
          </a:p>
          <a:p>
            <a:pPr lvl="0">
              <a:spcBef>
                <a:spcPts val="600"/>
              </a:spcBef>
              <a:spcAft>
                <a:spcPts val="1200"/>
              </a:spcAft>
            </a:pPr>
            <a:r>
              <a:rPr lang="en-AU" sz="2200" dirty="0" smtClean="0"/>
              <a:t>Gelatin</a:t>
            </a:r>
            <a:endParaRPr lang="en-AU" sz="2200" dirty="0"/>
          </a:p>
          <a:p>
            <a:pPr lvl="0">
              <a:spcBef>
                <a:spcPts val="600"/>
              </a:spcBef>
              <a:spcAft>
                <a:spcPts val="1200"/>
              </a:spcAft>
            </a:pPr>
            <a:r>
              <a:rPr lang="en-AU" sz="2200" dirty="0" smtClean="0"/>
              <a:t>Flavourings </a:t>
            </a:r>
            <a:r>
              <a:rPr lang="en-AU" sz="2200" dirty="0"/>
              <a:t>and </a:t>
            </a:r>
            <a:r>
              <a:rPr lang="en-AU" sz="2200" dirty="0" smtClean="0"/>
              <a:t>essences </a:t>
            </a: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6146" name="Picture 2" descr="C:\Documents and Settings\Godaishu\Desktop\2012\Culinary 2012\268189_cocoa_on_spoon_.jpg"/>
          <p:cNvPicPr>
            <a:picLocks noChangeAspect="1" noChangeArrowheads="1"/>
          </p:cNvPicPr>
          <p:nvPr/>
        </p:nvPicPr>
        <p:blipFill>
          <a:blip r:embed="rId3" cstate="print"/>
          <a:srcRect/>
          <a:stretch>
            <a:fillRect/>
          </a:stretch>
        </p:blipFill>
        <p:spPr bwMode="auto">
          <a:xfrm>
            <a:off x="4887517" y="1868488"/>
            <a:ext cx="1994296" cy="1489074"/>
          </a:xfrm>
          <a:prstGeom prst="rect">
            <a:avLst/>
          </a:prstGeom>
          <a:noFill/>
        </p:spPr>
      </p:pic>
      <p:pic>
        <p:nvPicPr>
          <p:cNvPr id="6147" name="Picture 3" descr="C:\Documents and Settings\Godaishu\Desktop\2012\Culinary 2012\Gelatin.jpg"/>
          <p:cNvPicPr>
            <a:picLocks noChangeAspect="1" noChangeArrowheads="1"/>
          </p:cNvPicPr>
          <p:nvPr/>
        </p:nvPicPr>
        <p:blipFill>
          <a:blip r:embed="rId4" cstate="print"/>
          <a:srcRect/>
          <a:stretch>
            <a:fillRect/>
          </a:stretch>
        </p:blipFill>
        <p:spPr bwMode="auto">
          <a:xfrm>
            <a:off x="4857753" y="3571876"/>
            <a:ext cx="2035984" cy="1357322"/>
          </a:xfrm>
          <a:prstGeom prst="rect">
            <a:avLst/>
          </a:prstGeom>
          <a:noFill/>
        </p:spPr>
      </p:pic>
    </p:spTree>
    <p:extLst>
      <p:ext uri="{BB962C8B-B14F-4D97-AF65-F5344CB8AC3E}">
        <p14:creationId xmlns:p14="http://schemas.microsoft.com/office/powerpoint/2010/main" val="1122587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1: Prepare and bake cakes and fillings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fontScale="92500" lnSpcReduction="20000"/>
          </a:bodyPr>
          <a:lstStyle/>
          <a:p>
            <a:pPr marL="0" indent="0">
              <a:spcBef>
                <a:spcPts val="600"/>
              </a:spcBef>
              <a:spcAft>
                <a:spcPts val="1200"/>
              </a:spcAft>
              <a:buNone/>
            </a:pPr>
            <a:r>
              <a:rPr lang="en-US" sz="2200" b="1" dirty="0" smtClean="0">
                <a:latin typeface="Helvetica" pitchFamily="34" charset="0"/>
              </a:rPr>
              <a:t>Prepare a variety of cakes:</a:t>
            </a:r>
          </a:p>
          <a:p>
            <a:pPr marL="0" indent="-457200">
              <a:spcBef>
                <a:spcPts val="600"/>
              </a:spcBef>
              <a:spcAft>
                <a:spcPts val="1200"/>
              </a:spcAft>
            </a:pPr>
            <a:r>
              <a:rPr lang="en-US" sz="2200" dirty="0" smtClean="0">
                <a:latin typeface="Helvetica" pitchFamily="34" charset="0"/>
              </a:rPr>
              <a:t>Sponge</a:t>
            </a:r>
          </a:p>
          <a:p>
            <a:pPr marL="0" indent="-457200">
              <a:spcBef>
                <a:spcPts val="600"/>
              </a:spcBef>
              <a:spcAft>
                <a:spcPts val="1200"/>
              </a:spcAft>
            </a:pPr>
            <a:r>
              <a:rPr lang="en-US" sz="2200" dirty="0" smtClean="0">
                <a:latin typeface="Helvetica" pitchFamily="34" charset="0"/>
              </a:rPr>
              <a:t>Pound cakes</a:t>
            </a:r>
          </a:p>
          <a:p>
            <a:pPr marL="0" indent="-457200">
              <a:spcBef>
                <a:spcPts val="600"/>
              </a:spcBef>
              <a:spcAft>
                <a:spcPts val="1200"/>
              </a:spcAft>
            </a:pPr>
            <a:r>
              <a:rPr lang="en-US" sz="2200" dirty="0" smtClean="0">
                <a:latin typeface="Helvetica" pitchFamily="34" charset="0"/>
              </a:rPr>
              <a:t>High ratio cakes</a:t>
            </a:r>
          </a:p>
          <a:p>
            <a:pPr marL="0" indent="-457200">
              <a:spcBef>
                <a:spcPts val="600"/>
              </a:spcBef>
              <a:spcAft>
                <a:spcPts val="1200"/>
              </a:spcAft>
            </a:pPr>
            <a:r>
              <a:rPr lang="en-US" sz="2200" dirty="0" smtClean="0">
                <a:latin typeface="Helvetica" pitchFamily="34" charset="0"/>
              </a:rPr>
              <a:t>Fudge style cakes</a:t>
            </a:r>
          </a:p>
          <a:p>
            <a:pPr marL="0" indent="-457200">
              <a:spcBef>
                <a:spcPts val="600"/>
              </a:spcBef>
              <a:spcAft>
                <a:spcPts val="1200"/>
              </a:spcAft>
            </a:pPr>
            <a:r>
              <a:rPr lang="en-US" sz="2200" dirty="0" smtClean="0">
                <a:latin typeface="Helvetica" pitchFamily="34" charset="0"/>
              </a:rPr>
              <a:t>Special dietary needs</a:t>
            </a:r>
          </a:p>
          <a:p>
            <a:pPr marL="0" indent="-457200">
              <a:spcBef>
                <a:spcPts val="600"/>
              </a:spcBef>
              <a:spcAft>
                <a:spcPts val="1200"/>
              </a:spcAft>
            </a:pPr>
            <a:r>
              <a:rPr lang="en-US" sz="2200" dirty="0" smtClean="0">
                <a:latin typeface="Helvetica" pitchFamily="34" charset="0"/>
              </a:rPr>
              <a:t>Honey and spice cakes</a:t>
            </a:r>
          </a:p>
          <a:p>
            <a:pPr marL="0" indent="-457200">
              <a:spcBef>
                <a:spcPts val="600"/>
              </a:spcBef>
              <a:spcAft>
                <a:spcPts val="1200"/>
              </a:spcAft>
            </a:pPr>
            <a:r>
              <a:rPr lang="en-US" sz="2200" dirty="0" smtClean="0">
                <a:latin typeface="Helvetica" pitchFamily="34" charset="0"/>
              </a:rPr>
              <a:t>Fruit cakes, Light</a:t>
            </a:r>
          </a:p>
          <a:p>
            <a:pPr marL="0" indent="-457200">
              <a:spcBef>
                <a:spcPts val="600"/>
              </a:spcBef>
              <a:spcAft>
                <a:spcPts val="1200"/>
              </a:spcAft>
            </a:pPr>
            <a:r>
              <a:rPr lang="en-US" sz="2200" dirty="0" smtClean="0">
                <a:latin typeface="Helvetica" pitchFamily="34" charset="0"/>
              </a:rPr>
              <a:t>Fruit cakes, Dark</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7170" name="Picture 2" descr="C:\Documents and Settings\Godaishu\Desktop\2012\Culinary 2012\sponge cake.JPG"/>
          <p:cNvPicPr>
            <a:picLocks noChangeAspect="1" noChangeArrowheads="1"/>
          </p:cNvPicPr>
          <p:nvPr/>
        </p:nvPicPr>
        <p:blipFill>
          <a:blip r:embed="rId3" cstate="print"/>
          <a:srcRect/>
          <a:stretch>
            <a:fillRect/>
          </a:stretch>
        </p:blipFill>
        <p:spPr bwMode="auto">
          <a:xfrm>
            <a:off x="5214942" y="2357430"/>
            <a:ext cx="2690794" cy="1785950"/>
          </a:xfrm>
          <a:prstGeom prst="rect">
            <a:avLst/>
          </a:prstGeom>
          <a:noFill/>
        </p:spPr>
      </p:pic>
    </p:spTree>
    <p:extLst>
      <p:ext uri="{BB962C8B-B14F-4D97-AF65-F5344CB8AC3E}">
        <p14:creationId xmlns:p14="http://schemas.microsoft.com/office/powerpoint/2010/main" val="5209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1: Prepare and bake cakes and fillings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Prepare a variety of cakes</a:t>
            </a:r>
          </a:p>
          <a:p>
            <a:pPr marL="0" indent="0">
              <a:spcBef>
                <a:spcPts val="600"/>
              </a:spcBef>
              <a:spcAft>
                <a:spcPts val="1200"/>
              </a:spcAft>
              <a:buNone/>
            </a:pPr>
            <a:r>
              <a:rPr lang="en-US" sz="2200" dirty="0" smtClean="0">
                <a:latin typeface="Helvetica" pitchFamily="34" charset="0"/>
              </a:rPr>
              <a:t>Sponge:</a:t>
            </a:r>
          </a:p>
          <a:p>
            <a:pPr marL="342900" indent="-342900">
              <a:spcBef>
                <a:spcPts val="600"/>
              </a:spcBef>
              <a:spcAft>
                <a:spcPts val="1200"/>
              </a:spcAft>
            </a:pPr>
            <a:r>
              <a:rPr lang="en-US" sz="2200" dirty="0" smtClean="0">
                <a:latin typeface="Helvetica" pitchFamily="34" charset="0"/>
              </a:rPr>
              <a:t>Genoise</a:t>
            </a:r>
          </a:p>
          <a:p>
            <a:pPr marL="342900" indent="-342900">
              <a:spcBef>
                <a:spcPts val="600"/>
              </a:spcBef>
              <a:spcAft>
                <a:spcPts val="1200"/>
              </a:spcAft>
            </a:pPr>
            <a:r>
              <a:rPr lang="en-US" sz="2200" dirty="0" smtClean="0">
                <a:latin typeface="Helvetica" pitchFamily="34" charset="0"/>
              </a:rPr>
              <a:t>Sponge drops</a:t>
            </a:r>
          </a:p>
          <a:p>
            <a:pPr marL="342900" indent="-342900">
              <a:spcBef>
                <a:spcPts val="600"/>
              </a:spcBef>
              <a:spcAft>
                <a:spcPts val="1200"/>
              </a:spcAft>
            </a:pPr>
            <a:r>
              <a:rPr lang="en-US" sz="2200" dirty="0" smtClean="0">
                <a:latin typeface="Helvetica" pitchFamily="34" charset="0"/>
              </a:rPr>
              <a:t>Sponge sheets</a:t>
            </a:r>
          </a:p>
          <a:p>
            <a:pPr marL="342900" indent="-342900">
              <a:spcBef>
                <a:spcPts val="600"/>
              </a:spcBef>
              <a:spcAft>
                <a:spcPts val="1200"/>
              </a:spcAft>
            </a:pPr>
            <a:r>
              <a:rPr lang="en-US" sz="2200" dirty="0" smtClean="0">
                <a:latin typeface="Helvetica" pitchFamily="34" charset="0"/>
              </a:rPr>
              <a:t>Emulsified sponge</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8194" name="Picture 2" descr="C:\Documents and Settings\Godaishu\Desktop\2012\Culinary 2012\Sponge cake1.JPG"/>
          <p:cNvPicPr>
            <a:picLocks noChangeAspect="1" noChangeArrowheads="1"/>
          </p:cNvPicPr>
          <p:nvPr/>
        </p:nvPicPr>
        <p:blipFill>
          <a:blip r:embed="rId3" cstate="print"/>
          <a:srcRect/>
          <a:stretch>
            <a:fillRect/>
          </a:stretch>
        </p:blipFill>
        <p:spPr bwMode="auto">
          <a:xfrm>
            <a:off x="5072066" y="2857496"/>
            <a:ext cx="2649534" cy="1752556"/>
          </a:xfrm>
          <a:prstGeom prst="rect">
            <a:avLst/>
          </a:prstGeom>
          <a:noFill/>
        </p:spPr>
      </p:pic>
    </p:spTree>
    <p:extLst>
      <p:ext uri="{BB962C8B-B14F-4D97-AF65-F5344CB8AC3E}">
        <p14:creationId xmlns:p14="http://schemas.microsoft.com/office/powerpoint/2010/main" val="36817337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1: Prepare and bake cakes and fillings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Prepare a variety of cakes</a:t>
            </a:r>
          </a:p>
          <a:p>
            <a:pPr marL="0" indent="0">
              <a:spcBef>
                <a:spcPts val="600"/>
              </a:spcBef>
              <a:spcAft>
                <a:spcPts val="1200"/>
              </a:spcAft>
              <a:buNone/>
            </a:pPr>
            <a:r>
              <a:rPr lang="en-US" sz="2200" dirty="0" smtClean="0">
                <a:latin typeface="Helvetica" pitchFamily="34" charset="0"/>
              </a:rPr>
              <a:t>Pound cakes:</a:t>
            </a:r>
          </a:p>
          <a:p>
            <a:pPr marL="342900" indent="-342900">
              <a:spcBef>
                <a:spcPts val="600"/>
              </a:spcBef>
              <a:spcAft>
                <a:spcPts val="1200"/>
              </a:spcAft>
            </a:pPr>
            <a:r>
              <a:rPr lang="en-US" sz="2200" dirty="0" smtClean="0">
                <a:latin typeface="Helvetica" pitchFamily="34" charset="0"/>
              </a:rPr>
              <a:t>Madeira cakes</a:t>
            </a:r>
          </a:p>
          <a:p>
            <a:pPr marL="342900" indent="-342900">
              <a:spcBef>
                <a:spcPts val="600"/>
              </a:spcBef>
              <a:spcAft>
                <a:spcPts val="1200"/>
              </a:spcAft>
            </a:pPr>
            <a:r>
              <a:rPr lang="en-US" sz="2200" dirty="0" smtClean="0">
                <a:latin typeface="Helvetica" pitchFamily="34" charset="0"/>
              </a:rPr>
              <a:t>Butter cake</a:t>
            </a:r>
          </a:p>
          <a:p>
            <a:pPr marL="342900" indent="-342900">
              <a:spcBef>
                <a:spcPts val="600"/>
              </a:spcBef>
              <a:spcAft>
                <a:spcPts val="1200"/>
              </a:spcAft>
            </a:pPr>
            <a:r>
              <a:rPr lang="en-US" sz="2200" dirty="0" smtClean="0">
                <a:latin typeface="Helvetica" pitchFamily="34" charset="0"/>
              </a:rPr>
              <a:t>Pandowdy cakes</a:t>
            </a:r>
          </a:p>
          <a:p>
            <a:pPr marL="342900" indent="-342900">
              <a:spcBef>
                <a:spcPts val="600"/>
              </a:spcBef>
              <a:spcAft>
                <a:spcPts val="1200"/>
              </a:spcAft>
            </a:pPr>
            <a:r>
              <a:rPr lang="en-US" sz="2200" dirty="0" smtClean="0">
                <a:latin typeface="Helvetica" pitchFamily="34" charset="0"/>
              </a:rPr>
              <a:t>Carrot cake</a:t>
            </a:r>
          </a:p>
          <a:p>
            <a:pPr marL="342900" indent="-342900">
              <a:spcBef>
                <a:spcPts val="600"/>
              </a:spcBef>
              <a:spcAft>
                <a:spcPts val="1200"/>
              </a:spcAft>
            </a:pPr>
            <a:r>
              <a:rPr lang="en-US" sz="2200" dirty="0" smtClean="0">
                <a:latin typeface="Helvetica" pitchFamily="34" charset="0"/>
              </a:rPr>
              <a:t>Vegetable oil based cakes</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5" name="Picture 4" descr="C:\Documents and Settings\danielc\Desktop\Vanilla Pound Cake.jpg"/>
          <p:cNvPicPr/>
          <p:nvPr/>
        </p:nvPicPr>
        <p:blipFill>
          <a:blip r:embed="rId3" cstate="print">
            <a:lum bright="10000"/>
          </a:blip>
          <a:srcRect l="20493" t="5814" b="19767"/>
          <a:stretch>
            <a:fillRect/>
          </a:stretch>
        </p:blipFill>
        <p:spPr bwMode="auto">
          <a:xfrm>
            <a:off x="5500694" y="2643182"/>
            <a:ext cx="2155046" cy="2000264"/>
          </a:xfrm>
          <a:prstGeom prst="rect">
            <a:avLst/>
          </a:prstGeom>
          <a:noFill/>
          <a:ln w="9525">
            <a:noFill/>
            <a:miter lim="800000"/>
            <a:headEnd/>
            <a:tailEnd/>
          </a:ln>
        </p:spPr>
      </p:pic>
    </p:spTree>
    <p:extLst>
      <p:ext uri="{BB962C8B-B14F-4D97-AF65-F5344CB8AC3E}">
        <p14:creationId xmlns:p14="http://schemas.microsoft.com/office/powerpoint/2010/main" val="1247928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1: Prepare and bake cakes and fillings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Prepare a variety of cakes</a:t>
            </a:r>
          </a:p>
          <a:p>
            <a:pPr marL="0" indent="0">
              <a:spcBef>
                <a:spcPts val="600"/>
              </a:spcBef>
              <a:spcAft>
                <a:spcPts val="1200"/>
              </a:spcAft>
              <a:buNone/>
            </a:pPr>
            <a:r>
              <a:rPr lang="en-US" sz="2200" dirty="0" smtClean="0">
                <a:latin typeface="Helvetica" pitchFamily="34" charset="0"/>
              </a:rPr>
              <a:t>High ratio cakes</a:t>
            </a:r>
          </a:p>
          <a:p>
            <a:pPr marL="342900" indent="-342900">
              <a:spcBef>
                <a:spcPts val="600"/>
              </a:spcBef>
              <a:spcAft>
                <a:spcPts val="1200"/>
              </a:spcAft>
            </a:pPr>
            <a:r>
              <a:rPr lang="en-US" sz="2200" dirty="0" smtClean="0">
                <a:latin typeface="Helvetica" pitchFamily="34" charset="0"/>
              </a:rPr>
              <a:t>Special shortening and emulsifiers used to produce fine texture and gentle eating products</a:t>
            </a:r>
          </a:p>
          <a:p>
            <a:pPr marL="342900" indent="-342900">
              <a:spcBef>
                <a:spcPts val="600"/>
              </a:spcBef>
              <a:spcAft>
                <a:spcPts val="1200"/>
              </a:spcAft>
            </a:pPr>
            <a:r>
              <a:rPr lang="en-US" sz="2200" dirty="0" smtClean="0">
                <a:latin typeface="Helvetica" pitchFamily="34" charset="0"/>
              </a:rPr>
              <a:t>Special flours of finer starch grain</a:t>
            </a:r>
          </a:p>
          <a:p>
            <a:pPr marL="342900" indent="-342900">
              <a:spcBef>
                <a:spcPts val="600"/>
              </a:spcBef>
              <a:spcAft>
                <a:spcPts val="1200"/>
              </a:spcAft>
            </a:pPr>
            <a:r>
              <a:rPr lang="en-US" sz="2200" dirty="0" smtClean="0">
                <a:latin typeface="Helvetica" pitchFamily="34" charset="0"/>
              </a:rPr>
              <a:t>Flour has protein de-natured</a:t>
            </a:r>
          </a:p>
          <a:p>
            <a:pPr marL="342900" indent="-342900">
              <a:spcBef>
                <a:spcPts val="600"/>
              </a:spcBef>
              <a:spcAft>
                <a:spcPts val="1200"/>
              </a:spcAft>
            </a:pPr>
            <a:r>
              <a:rPr lang="en-US" sz="2200" dirty="0" smtClean="0">
                <a:latin typeface="Helvetica" pitchFamily="34" charset="0"/>
              </a:rPr>
              <a:t>Holds more water</a:t>
            </a:r>
          </a:p>
          <a:p>
            <a:pPr marL="342900" indent="-342900">
              <a:spcBef>
                <a:spcPts val="600"/>
              </a:spcBef>
              <a:spcAft>
                <a:spcPts val="1200"/>
              </a:spcAft>
            </a:pPr>
            <a:r>
              <a:rPr lang="en-US" sz="2200" dirty="0" smtClean="0">
                <a:latin typeface="Helvetica" pitchFamily="34" charset="0"/>
              </a:rPr>
              <a:t>Formula contains more sugar</a:t>
            </a: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spTree>
    <p:extLst>
      <p:ext uri="{BB962C8B-B14F-4D97-AF65-F5344CB8AC3E}">
        <p14:creationId xmlns:p14="http://schemas.microsoft.com/office/powerpoint/2010/main" val="2322750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1: Prepare and bake cakes and fillings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Prepare a variety of cakes</a:t>
            </a:r>
          </a:p>
          <a:p>
            <a:pPr marL="0" indent="0">
              <a:spcBef>
                <a:spcPts val="600"/>
              </a:spcBef>
              <a:spcAft>
                <a:spcPts val="1200"/>
              </a:spcAft>
              <a:buNone/>
            </a:pPr>
            <a:r>
              <a:rPr lang="en-US" sz="2200" dirty="0" smtClean="0">
                <a:latin typeface="Helvetica" pitchFamily="34" charset="0"/>
              </a:rPr>
              <a:t>Fudge style cakes:</a:t>
            </a:r>
          </a:p>
          <a:p>
            <a:pPr marL="342900" indent="-342900">
              <a:spcBef>
                <a:spcPts val="600"/>
              </a:spcBef>
              <a:spcAft>
                <a:spcPts val="1200"/>
              </a:spcAft>
            </a:pPr>
            <a:r>
              <a:rPr lang="en-US" sz="2200" dirty="0" smtClean="0">
                <a:latin typeface="Helvetica" pitchFamily="34" charset="0"/>
              </a:rPr>
              <a:t>Caramel fudge</a:t>
            </a:r>
          </a:p>
          <a:p>
            <a:pPr marL="342900" indent="-342900">
              <a:spcBef>
                <a:spcPts val="600"/>
              </a:spcBef>
              <a:spcAft>
                <a:spcPts val="1200"/>
              </a:spcAft>
            </a:pPr>
            <a:r>
              <a:rPr lang="en-US" sz="2200" dirty="0" smtClean="0">
                <a:latin typeface="Helvetica" pitchFamily="34" charset="0"/>
              </a:rPr>
              <a:t>Banana</a:t>
            </a:r>
          </a:p>
          <a:p>
            <a:pPr marL="342900" indent="-342900">
              <a:spcBef>
                <a:spcPts val="600"/>
              </a:spcBef>
              <a:spcAft>
                <a:spcPts val="1200"/>
              </a:spcAft>
            </a:pPr>
            <a:r>
              <a:rPr lang="en-US" sz="2200" dirty="0" smtClean="0">
                <a:latin typeface="Helvetica" pitchFamily="34" charset="0"/>
              </a:rPr>
              <a:t>Chocolate fudge</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9218" name="Picture 2" descr="C:\Documents and Settings\Godaishu\Desktop\Choc Fudge Cake.jpg"/>
          <p:cNvPicPr>
            <a:picLocks noChangeAspect="1" noChangeArrowheads="1"/>
          </p:cNvPicPr>
          <p:nvPr/>
        </p:nvPicPr>
        <p:blipFill>
          <a:blip r:embed="rId3" cstate="print"/>
          <a:srcRect r="10483"/>
          <a:stretch>
            <a:fillRect/>
          </a:stretch>
        </p:blipFill>
        <p:spPr bwMode="auto">
          <a:xfrm>
            <a:off x="5143504" y="2000240"/>
            <a:ext cx="2643206" cy="2219319"/>
          </a:xfrm>
          <a:prstGeom prst="rect">
            <a:avLst/>
          </a:prstGeom>
          <a:noFill/>
        </p:spPr>
      </p:pic>
    </p:spTree>
    <p:extLst>
      <p:ext uri="{BB962C8B-B14F-4D97-AF65-F5344CB8AC3E}">
        <p14:creationId xmlns:p14="http://schemas.microsoft.com/office/powerpoint/2010/main" val="837131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1: Prepare and bake cakes and fillings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Prepare a variety of cakes</a:t>
            </a:r>
          </a:p>
          <a:p>
            <a:pPr marL="0" indent="0">
              <a:spcBef>
                <a:spcPts val="600"/>
              </a:spcBef>
              <a:spcAft>
                <a:spcPts val="1200"/>
              </a:spcAft>
              <a:buNone/>
            </a:pPr>
            <a:r>
              <a:rPr lang="en-US" sz="2200" dirty="0" smtClean="0">
                <a:latin typeface="Helvetica" pitchFamily="34" charset="0"/>
              </a:rPr>
              <a:t>Special dietary needs:</a:t>
            </a:r>
          </a:p>
          <a:p>
            <a:pPr marL="342900" indent="-342900">
              <a:spcBef>
                <a:spcPts val="600"/>
              </a:spcBef>
              <a:spcAft>
                <a:spcPts val="1200"/>
              </a:spcAft>
            </a:pPr>
            <a:r>
              <a:rPr lang="en-US" sz="2200" dirty="0" smtClean="0">
                <a:latin typeface="Helvetica" pitchFamily="34" charset="0"/>
              </a:rPr>
              <a:t>Gluten free</a:t>
            </a:r>
          </a:p>
          <a:p>
            <a:pPr marL="342900" indent="-342900">
              <a:spcBef>
                <a:spcPts val="600"/>
              </a:spcBef>
              <a:spcAft>
                <a:spcPts val="1200"/>
              </a:spcAft>
            </a:pPr>
            <a:r>
              <a:rPr lang="en-US" sz="2200" dirty="0" smtClean="0">
                <a:latin typeface="Helvetica" pitchFamily="34" charset="0"/>
              </a:rPr>
              <a:t>Milk free</a:t>
            </a:r>
          </a:p>
          <a:p>
            <a:pPr marL="342900" indent="-342900">
              <a:spcBef>
                <a:spcPts val="600"/>
              </a:spcBef>
              <a:spcAft>
                <a:spcPts val="1200"/>
              </a:spcAft>
            </a:pPr>
            <a:r>
              <a:rPr lang="en-US" sz="2200" dirty="0" smtClean="0">
                <a:latin typeface="Helvetica" pitchFamily="34" charset="0"/>
              </a:rPr>
              <a:t>Egg free</a:t>
            </a:r>
          </a:p>
          <a:p>
            <a:pPr marL="342900" indent="-342900">
              <a:spcBef>
                <a:spcPts val="600"/>
              </a:spcBef>
              <a:spcAft>
                <a:spcPts val="1200"/>
              </a:spcAft>
            </a:pPr>
            <a:r>
              <a:rPr lang="en-US" sz="2200" dirty="0" smtClean="0">
                <a:latin typeface="Helvetica" pitchFamily="34" charset="0"/>
              </a:rPr>
              <a:t>Soy free</a:t>
            </a:r>
          </a:p>
          <a:p>
            <a:pPr marL="342900" indent="-342900">
              <a:spcBef>
                <a:spcPts val="600"/>
              </a:spcBef>
              <a:spcAft>
                <a:spcPts val="1200"/>
              </a:spcAft>
            </a:pPr>
            <a:r>
              <a:rPr lang="en-US" sz="2200" dirty="0" smtClean="0">
                <a:latin typeface="Helvetica" pitchFamily="34" charset="0"/>
              </a:rPr>
              <a:t>Low fat</a:t>
            </a:r>
          </a:p>
          <a:p>
            <a:pPr marL="342900" indent="-342900">
              <a:spcBef>
                <a:spcPts val="600"/>
              </a:spcBef>
              <a:spcAft>
                <a:spcPts val="1200"/>
              </a:spcAft>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10242" name="Picture 2" descr="C:\Documents and Settings\Godaishu\Desktop\gluten-free.jpg"/>
          <p:cNvPicPr>
            <a:picLocks noChangeAspect="1" noChangeArrowheads="1"/>
          </p:cNvPicPr>
          <p:nvPr/>
        </p:nvPicPr>
        <p:blipFill>
          <a:blip r:embed="rId3" cstate="print"/>
          <a:srcRect/>
          <a:stretch>
            <a:fillRect/>
          </a:stretch>
        </p:blipFill>
        <p:spPr bwMode="auto">
          <a:xfrm>
            <a:off x="5572132" y="2143116"/>
            <a:ext cx="1643074" cy="1643074"/>
          </a:xfrm>
          <a:prstGeom prst="rect">
            <a:avLst/>
          </a:prstGeom>
          <a:noFill/>
        </p:spPr>
      </p:pic>
      <p:sp>
        <p:nvSpPr>
          <p:cNvPr id="6" name="TextBox 5"/>
          <p:cNvSpPr txBox="1"/>
          <p:nvPr/>
        </p:nvSpPr>
        <p:spPr>
          <a:xfrm>
            <a:off x="5643570" y="3071810"/>
            <a:ext cx="1500198" cy="369332"/>
          </a:xfrm>
          <a:prstGeom prst="rect">
            <a:avLst/>
          </a:prstGeom>
          <a:noFill/>
        </p:spPr>
        <p:txBody>
          <a:bodyPr wrap="square" rtlCol="0">
            <a:spAutoFit/>
          </a:bodyPr>
          <a:lstStyle/>
          <a:p>
            <a:r>
              <a:rPr lang="en-AU" b="1" dirty="0" smtClean="0">
                <a:latin typeface="Helvetica" pitchFamily="34" charset="0"/>
              </a:rPr>
              <a:t>Gluten-free</a:t>
            </a:r>
            <a:endParaRPr lang="en-AU" b="1" dirty="0">
              <a:latin typeface="Helvetica" pitchFamily="34" charset="0"/>
            </a:endParaRPr>
          </a:p>
        </p:txBody>
      </p:sp>
      <p:pic>
        <p:nvPicPr>
          <p:cNvPr id="10243" name="Picture 3" descr="C:\Documents and Settings\Godaishu\Desktop\soy free.jpg"/>
          <p:cNvPicPr>
            <a:picLocks noChangeAspect="1" noChangeArrowheads="1"/>
          </p:cNvPicPr>
          <p:nvPr/>
        </p:nvPicPr>
        <p:blipFill>
          <a:blip r:embed="rId4" cstate="print">
            <a:lum contrast="30000"/>
          </a:blip>
          <a:srcRect/>
          <a:stretch>
            <a:fillRect/>
          </a:stretch>
        </p:blipFill>
        <p:spPr bwMode="auto">
          <a:xfrm>
            <a:off x="5857884" y="4000504"/>
            <a:ext cx="1183096" cy="1204910"/>
          </a:xfrm>
          <a:prstGeom prst="rect">
            <a:avLst/>
          </a:prstGeom>
          <a:noFill/>
        </p:spPr>
      </p:pic>
      <p:sp>
        <p:nvSpPr>
          <p:cNvPr id="8" name="TextBox 7"/>
          <p:cNvSpPr txBox="1"/>
          <p:nvPr/>
        </p:nvSpPr>
        <p:spPr>
          <a:xfrm>
            <a:off x="5929322" y="4572008"/>
            <a:ext cx="1285884" cy="369332"/>
          </a:xfrm>
          <a:prstGeom prst="rect">
            <a:avLst/>
          </a:prstGeom>
          <a:noFill/>
        </p:spPr>
        <p:txBody>
          <a:bodyPr wrap="square" rtlCol="0">
            <a:spAutoFit/>
          </a:bodyPr>
          <a:lstStyle/>
          <a:p>
            <a:r>
              <a:rPr lang="en-AU" b="1" dirty="0" smtClean="0">
                <a:latin typeface="Helvetica" pitchFamily="34" charset="0"/>
              </a:rPr>
              <a:t>Soy-free</a:t>
            </a:r>
            <a:endParaRPr lang="en-AU" b="1" dirty="0">
              <a:latin typeface="Helvetica" pitchFamily="34" charset="0"/>
            </a:endParaRPr>
          </a:p>
        </p:txBody>
      </p:sp>
    </p:spTree>
    <p:extLst>
      <p:ext uri="{BB962C8B-B14F-4D97-AF65-F5344CB8AC3E}">
        <p14:creationId xmlns:p14="http://schemas.microsoft.com/office/powerpoint/2010/main" val="3720051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1: Prepare and bake cakes and fillings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Prepare a variety of cakes</a:t>
            </a:r>
          </a:p>
          <a:p>
            <a:pPr marL="0" indent="-457200">
              <a:spcBef>
                <a:spcPts val="600"/>
              </a:spcBef>
              <a:spcAft>
                <a:spcPts val="1200"/>
              </a:spcAft>
            </a:pPr>
            <a:r>
              <a:rPr lang="en-US" sz="2200" dirty="0" smtClean="0">
                <a:latin typeface="Helvetica" pitchFamily="34" charset="0"/>
              </a:rPr>
              <a:t>Honey and spice cakes</a:t>
            </a:r>
          </a:p>
          <a:p>
            <a:pPr marL="0" indent="-457200">
              <a:spcBef>
                <a:spcPts val="600"/>
              </a:spcBef>
              <a:spcAft>
                <a:spcPts val="1200"/>
              </a:spcAft>
            </a:pPr>
            <a:r>
              <a:rPr lang="en-US" sz="2200" dirty="0" smtClean="0">
                <a:latin typeface="Helvetica" pitchFamily="34" charset="0"/>
              </a:rPr>
              <a:t>Ginger breads</a:t>
            </a:r>
          </a:p>
          <a:p>
            <a:pPr marL="0" indent="-457200">
              <a:spcBef>
                <a:spcPts val="600"/>
              </a:spcBef>
              <a:spcAft>
                <a:spcPts val="1200"/>
              </a:spcAft>
            </a:pPr>
            <a:r>
              <a:rPr lang="en-US" sz="2200" dirty="0" smtClean="0">
                <a:latin typeface="Helvetica" pitchFamily="34" charset="0"/>
              </a:rPr>
              <a:t>Honey cakes</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11266" name="Picture 2" descr="C:\Documents and Settings\Godaishu\Desktop\honeyspicecake.jpg"/>
          <p:cNvPicPr>
            <a:picLocks noChangeAspect="1" noChangeArrowheads="1"/>
          </p:cNvPicPr>
          <p:nvPr/>
        </p:nvPicPr>
        <p:blipFill>
          <a:blip r:embed="rId3" cstate="print"/>
          <a:srcRect/>
          <a:stretch>
            <a:fillRect/>
          </a:stretch>
        </p:blipFill>
        <p:spPr bwMode="auto">
          <a:xfrm>
            <a:off x="5572132" y="1857364"/>
            <a:ext cx="2095481" cy="1571611"/>
          </a:xfrm>
          <a:prstGeom prst="rect">
            <a:avLst/>
          </a:prstGeom>
          <a:noFill/>
        </p:spPr>
      </p:pic>
    </p:spTree>
    <p:extLst>
      <p:ext uri="{BB962C8B-B14F-4D97-AF65-F5344CB8AC3E}">
        <p14:creationId xmlns:p14="http://schemas.microsoft.com/office/powerpoint/2010/main" val="4450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1: Prepare and bake cakes and fillings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Prepare a variety of cakes</a:t>
            </a:r>
          </a:p>
          <a:p>
            <a:pPr marL="0" indent="0">
              <a:spcBef>
                <a:spcPts val="600"/>
              </a:spcBef>
              <a:spcAft>
                <a:spcPts val="1200"/>
              </a:spcAft>
              <a:buNone/>
            </a:pPr>
            <a:r>
              <a:rPr lang="en-US" sz="2200" dirty="0" smtClean="0">
                <a:latin typeface="Helvetica" pitchFamily="34" charset="0"/>
              </a:rPr>
              <a:t>Fruit cakes, Light:</a:t>
            </a:r>
          </a:p>
          <a:p>
            <a:pPr marL="342900" indent="-342900">
              <a:spcBef>
                <a:spcPts val="600"/>
              </a:spcBef>
              <a:spcAft>
                <a:spcPts val="1200"/>
              </a:spcAft>
            </a:pPr>
            <a:r>
              <a:rPr lang="en-US" sz="2200" dirty="0" smtClean="0">
                <a:latin typeface="Helvetica" pitchFamily="34" charset="0"/>
              </a:rPr>
              <a:t>Dundee</a:t>
            </a:r>
          </a:p>
          <a:p>
            <a:pPr marL="342900" indent="-342900">
              <a:spcBef>
                <a:spcPts val="600"/>
              </a:spcBef>
              <a:spcAft>
                <a:spcPts val="1200"/>
              </a:spcAft>
            </a:pPr>
            <a:r>
              <a:rPr lang="en-US" sz="2200" dirty="0" smtClean="0">
                <a:latin typeface="Helvetica" pitchFamily="34" charset="0"/>
              </a:rPr>
              <a:t>Simnel</a:t>
            </a:r>
          </a:p>
          <a:p>
            <a:pPr marL="0" indent="0">
              <a:spcBef>
                <a:spcPts val="600"/>
              </a:spcBef>
              <a:spcAft>
                <a:spcPts val="1200"/>
              </a:spcAft>
              <a:buNone/>
            </a:pPr>
            <a:r>
              <a:rPr lang="en-US" sz="2200" dirty="0" smtClean="0">
                <a:latin typeface="Helvetica" pitchFamily="34" charset="0"/>
              </a:rPr>
              <a:t>Fruit cakes, dark:</a:t>
            </a:r>
          </a:p>
          <a:p>
            <a:pPr marL="342900" indent="-342900">
              <a:spcBef>
                <a:spcPts val="600"/>
              </a:spcBef>
              <a:spcAft>
                <a:spcPts val="1200"/>
              </a:spcAft>
            </a:pPr>
            <a:r>
              <a:rPr lang="en-US" sz="2200" dirty="0" smtClean="0">
                <a:latin typeface="Helvetica" pitchFamily="34" charset="0"/>
              </a:rPr>
              <a:t>Heavily fruited and spiced</a:t>
            </a:r>
          </a:p>
          <a:p>
            <a:pPr marL="342900" indent="-342900">
              <a:spcBef>
                <a:spcPts val="600"/>
              </a:spcBef>
              <a:spcAft>
                <a:spcPts val="1200"/>
              </a:spcAft>
            </a:pPr>
            <a:r>
              <a:rPr lang="en-US" sz="2200" dirty="0" smtClean="0">
                <a:latin typeface="Helvetica" pitchFamily="34" charset="0"/>
              </a:rPr>
              <a:t>Very heavy and dense</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12290" name="Picture 2" descr="C:\Documents and Settings\Godaishu\Desktop\light fruit cake.jpg"/>
          <p:cNvPicPr>
            <a:picLocks noChangeAspect="1" noChangeArrowheads="1"/>
          </p:cNvPicPr>
          <p:nvPr/>
        </p:nvPicPr>
        <p:blipFill>
          <a:blip r:embed="rId3" cstate="print">
            <a:lum contrast="20000"/>
          </a:blip>
          <a:srcRect l="8610" r="11032"/>
          <a:stretch>
            <a:fillRect/>
          </a:stretch>
        </p:blipFill>
        <p:spPr bwMode="auto">
          <a:xfrm>
            <a:off x="5643570" y="1963418"/>
            <a:ext cx="1714512" cy="1493583"/>
          </a:xfrm>
          <a:prstGeom prst="rect">
            <a:avLst/>
          </a:prstGeom>
          <a:noFill/>
        </p:spPr>
      </p:pic>
      <p:pic>
        <p:nvPicPr>
          <p:cNvPr id="12291" name="Picture 3" descr="C:\Documents and Settings\Godaishu\Desktop\dark fruit cake.jpg"/>
          <p:cNvPicPr>
            <a:picLocks noChangeAspect="1" noChangeArrowheads="1"/>
          </p:cNvPicPr>
          <p:nvPr/>
        </p:nvPicPr>
        <p:blipFill>
          <a:blip r:embed="rId4" cstate="print"/>
          <a:srcRect r="10714"/>
          <a:stretch>
            <a:fillRect/>
          </a:stretch>
        </p:blipFill>
        <p:spPr bwMode="auto">
          <a:xfrm>
            <a:off x="5572132" y="3929066"/>
            <a:ext cx="1785949" cy="1332176"/>
          </a:xfrm>
          <a:prstGeom prst="rect">
            <a:avLst/>
          </a:prstGeom>
          <a:noFill/>
        </p:spPr>
      </p:pic>
    </p:spTree>
    <p:extLst>
      <p:ext uri="{BB962C8B-B14F-4D97-AF65-F5344CB8AC3E}">
        <p14:creationId xmlns:p14="http://schemas.microsoft.com/office/powerpoint/2010/main" val="2908635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1: Prepare and bake cakes and fillings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Prepare a variety of cakes</a:t>
            </a:r>
          </a:p>
          <a:p>
            <a:pPr marL="0" indent="0">
              <a:spcBef>
                <a:spcPts val="600"/>
              </a:spcBef>
              <a:spcAft>
                <a:spcPts val="1200"/>
              </a:spcAft>
              <a:buNone/>
            </a:pPr>
            <a:r>
              <a:rPr lang="en-US" sz="2200" dirty="0" smtClean="0">
                <a:latin typeface="Helvetica" pitchFamily="34" charset="0"/>
              </a:rPr>
              <a:t>To be able to produce a variety of cakes pastry cooks (patissiers) need to be able to be adaptive:</a:t>
            </a:r>
          </a:p>
          <a:p>
            <a:pPr marL="0" indent="-457200">
              <a:spcBef>
                <a:spcPts val="600"/>
              </a:spcBef>
              <a:spcAft>
                <a:spcPts val="1200"/>
              </a:spcAft>
            </a:pPr>
            <a:r>
              <a:rPr lang="en-US" sz="2200" dirty="0" smtClean="0">
                <a:latin typeface="Helvetica" pitchFamily="34" charset="0"/>
              </a:rPr>
              <a:t>Styles change</a:t>
            </a:r>
          </a:p>
          <a:p>
            <a:pPr marL="0" indent="-457200">
              <a:spcBef>
                <a:spcPts val="600"/>
              </a:spcBef>
              <a:spcAft>
                <a:spcPts val="1200"/>
              </a:spcAft>
            </a:pPr>
            <a:r>
              <a:rPr lang="en-US" sz="2200" dirty="0" smtClean="0">
                <a:latin typeface="Helvetica" pitchFamily="34" charset="0"/>
              </a:rPr>
              <a:t>Traditions evolve</a:t>
            </a:r>
          </a:p>
          <a:p>
            <a:pPr marL="0" indent="-457200">
              <a:spcBef>
                <a:spcPts val="600"/>
              </a:spcBef>
              <a:spcAft>
                <a:spcPts val="1200"/>
              </a:spcAft>
            </a:pPr>
            <a:r>
              <a:rPr lang="en-US" sz="2200" dirty="0" smtClean="0">
                <a:latin typeface="Helvetica" pitchFamily="34" charset="0"/>
              </a:rPr>
              <a:t>History gets lost</a:t>
            </a:r>
          </a:p>
          <a:p>
            <a:pPr marL="0" indent="-457200">
              <a:spcBef>
                <a:spcPts val="600"/>
              </a:spcBef>
              <a:spcAft>
                <a:spcPts val="1200"/>
              </a:spcAft>
            </a:pPr>
            <a:r>
              <a:rPr lang="en-US" sz="2200" dirty="0" smtClean="0">
                <a:latin typeface="Helvetica" pitchFamily="34" charset="0"/>
              </a:rPr>
              <a:t>Seasonality fades</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13314" name="Picture 2" descr="C:\Documents and Settings\Godaishu\Desktop\2012\Culinary 2012\Patisserie\Decorate cake.JPG"/>
          <p:cNvPicPr>
            <a:picLocks noChangeAspect="1" noChangeArrowheads="1"/>
          </p:cNvPicPr>
          <p:nvPr/>
        </p:nvPicPr>
        <p:blipFill>
          <a:blip r:embed="rId3" cstate="print"/>
          <a:srcRect/>
          <a:stretch>
            <a:fillRect/>
          </a:stretch>
        </p:blipFill>
        <p:spPr bwMode="auto">
          <a:xfrm>
            <a:off x="6000760" y="3071810"/>
            <a:ext cx="1553777" cy="2071702"/>
          </a:xfrm>
          <a:prstGeom prst="rect">
            <a:avLst/>
          </a:prstGeom>
          <a:noFill/>
        </p:spPr>
      </p:pic>
    </p:spTree>
    <p:extLst>
      <p:ext uri="{BB962C8B-B14F-4D97-AF65-F5344CB8AC3E}">
        <p14:creationId xmlns:p14="http://schemas.microsoft.com/office/powerpoint/2010/main" val="3958373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1: Prepare and bake cakes and fillings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b="1" dirty="0" smtClean="0">
                <a:latin typeface="Helvetica" pitchFamily="34" charset="0"/>
              </a:rPr>
              <a:t>Use appropriate equipment</a:t>
            </a:r>
          </a:p>
          <a:p>
            <a:pPr marL="0" indent="-457200">
              <a:lnSpc>
                <a:spcPct val="110000"/>
              </a:lnSpc>
              <a:spcBef>
                <a:spcPts val="600"/>
              </a:spcBef>
              <a:spcAft>
                <a:spcPts val="1200"/>
              </a:spcAft>
            </a:pPr>
            <a:r>
              <a:rPr lang="en-US" sz="2200" dirty="0" smtClean="0">
                <a:latin typeface="Helvetica" pitchFamily="34" charset="0"/>
              </a:rPr>
              <a:t>Mixers</a:t>
            </a:r>
          </a:p>
          <a:p>
            <a:pPr marL="0" indent="-457200">
              <a:lnSpc>
                <a:spcPct val="110000"/>
              </a:lnSpc>
              <a:spcBef>
                <a:spcPts val="600"/>
              </a:spcBef>
              <a:spcAft>
                <a:spcPts val="1200"/>
              </a:spcAft>
            </a:pPr>
            <a:r>
              <a:rPr lang="en-US" sz="2200" dirty="0" smtClean="0">
                <a:latin typeface="Helvetica" pitchFamily="34" charset="0"/>
              </a:rPr>
              <a:t>Ovens</a:t>
            </a:r>
          </a:p>
          <a:p>
            <a:pPr marL="0" indent="-457200">
              <a:lnSpc>
                <a:spcPct val="110000"/>
              </a:lnSpc>
              <a:spcBef>
                <a:spcPts val="600"/>
              </a:spcBef>
              <a:spcAft>
                <a:spcPts val="1200"/>
              </a:spcAft>
            </a:pPr>
            <a:r>
              <a:rPr lang="en-US" sz="2200" dirty="0" smtClean="0">
                <a:latin typeface="Helvetica" pitchFamily="34" charset="0"/>
              </a:rPr>
              <a:t>Scales</a:t>
            </a:r>
          </a:p>
          <a:p>
            <a:pPr marL="0" indent="-457200">
              <a:lnSpc>
                <a:spcPct val="110000"/>
              </a:lnSpc>
              <a:spcBef>
                <a:spcPts val="600"/>
              </a:spcBef>
              <a:spcAft>
                <a:spcPts val="1200"/>
              </a:spcAft>
            </a:pPr>
            <a:r>
              <a:rPr lang="en-US" sz="2200" dirty="0" smtClean="0">
                <a:latin typeface="Helvetica" pitchFamily="34" charset="0"/>
              </a:rPr>
              <a:t>Moulds and forms</a:t>
            </a:r>
          </a:p>
          <a:p>
            <a:pPr marL="0" indent="-457200">
              <a:lnSpc>
                <a:spcPct val="110000"/>
              </a:lnSpc>
              <a:spcBef>
                <a:spcPts val="600"/>
              </a:spcBef>
              <a:spcAft>
                <a:spcPts val="1200"/>
              </a:spcAft>
            </a:pPr>
            <a:r>
              <a:rPr lang="en-US" sz="2200" dirty="0" smtClean="0">
                <a:latin typeface="Helvetica" pitchFamily="34" charset="0"/>
              </a:rPr>
              <a:t>Baking trays and racks</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r>
              <a:rPr lang="en-US" sz="2200" dirty="0">
                <a:latin typeface="Helvetica" pitchFamily="34" charset="0"/>
              </a:rPr>
              <a:t> </a:t>
            </a: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14340" name="Picture 4" descr="C:\Documents and Settings\Godaishu\Desktop\2012\Culinary 2012\BakingScale.jpg"/>
          <p:cNvPicPr>
            <a:picLocks noChangeAspect="1" noChangeArrowheads="1"/>
          </p:cNvPicPr>
          <p:nvPr/>
        </p:nvPicPr>
        <p:blipFill>
          <a:blip r:embed="rId3" cstate="print"/>
          <a:srcRect/>
          <a:stretch>
            <a:fillRect/>
          </a:stretch>
        </p:blipFill>
        <p:spPr bwMode="auto">
          <a:xfrm>
            <a:off x="5786446" y="1428736"/>
            <a:ext cx="2028817" cy="1349374"/>
          </a:xfrm>
          <a:prstGeom prst="rect">
            <a:avLst/>
          </a:prstGeom>
          <a:noFill/>
        </p:spPr>
      </p:pic>
      <p:pic>
        <p:nvPicPr>
          <p:cNvPr id="14341" name="Picture 5" descr="C:\Documents and Settings\Godaishu\Desktop\2012\Culinary 2012\Commercial ovens.jpg"/>
          <p:cNvPicPr>
            <a:picLocks noChangeAspect="1" noChangeArrowheads="1"/>
          </p:cNvPicPr>
          <p:nvPr/>
        </p:nvPicPr>
        <p:blipFill>
          <a:blip r:embed="rId4" cstate="print"/>
          <a:srcRect/>
          <a:stretch>
            <a:fillRect/>
          </a:stretch>
        </p:blipFill>
        <p:spPr bwMode="auto">
          <a:xfrm>
            <a:off x="5786446" y="2928934"/>
            <a:ext cx="2071701" cy="1377898"/>
          </a:xfrm>
          <a:prstGeom prst="rect">
            <a:avLst/>
          </a:prstGeom>
          <a:noFill/>
        </p:spPr>
      </p:pic>
      <p:pic>
        <p:nvPicPr>
          <p:cNvPr id="14342" name="Picture 6" descr="C:\Documents and Settings\Godaishu\Desktop\2012\Culinary 2012\CakeMoulds.jpg"/>
          <p:cNvPicPr>
            <a:picLocks noChangeAspect="1" noChangeArrowheads="1"/>
          </p:cNvPicPr>
          <p:nvPr/>
        </p:nvPicPr>
        <p:blipFill>
          <a:blip r:embed="rId5" cstate="print"/>
          <a:srcRect/>
          <a:stretch>
            <a:fillRect/>
          </a:stretch>
        </p:blipFill>
        <p:spPr bwMode="auto">
          <a:xfrm>
            <a:off x="5786446" y="4500570"/>
            <a:ext cx="2143140" cy="1285884"/>
          </a:xfrm>
          <a:prstGeom prst="rect">
            <a:avLst/>
          </a:prstGeom>
          <a:noFill/>
        </p:spPr>
      </p:pic>
    </p:spTree>
    <p:extLst>
      <p:ext uri="{BB962C8B-B14F-4D97-AF65-F5344CB8AC3E}">
        <p14:creationId xmlns:p14="http://schemas.microsoft.com/office/powerpoint/2010/main" val="2038753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1: Prepare and bake cakes and fillings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b="1" dirty="0" smtClean="0">
                <a:latin typeface="Helvetica" pitchFamily="34" charset="0"/>
              </a:rPr>
              <a:t>Bake to enterprise standards:</a:t>
            </a:r>
          </a:p>
          <a:p>
            <a:pPr marL="0" indent="-457200">
              <a:spcBef>
                <a:spcPts val="600"/>
              </a:spcBef>
              <a:spcAft>
                <a:spcPts val="1200"/>
              </a:spcAft>
            </a:pPr>
            <a:r>
              <a:rPr lang="en-US" sz="2200" dirty="0" smtClean="0">
                <a:latin typeface="Helvetica" pitchFamily="34" charset="0"/>
              </a:rPr>
              <a:t>Bakery </a:t>
            </a:r>
          </a:p>
          <a:p>
            <a:pPr marL="0" indent="-457200">
              <a:spcBef>
                <a:spcPts val="600"/>
              </a:spcBef>
              <a:spcAft>
                <a:spcPts val="1200"/>
              </a:spcAft>
            </a:pPr>
            <a:r>
              <a:rPr lang="en-US" sz="2200" dirty="0" smtClean="0">
                <a:latin typeface="Helvetica" pitchFamily="34" charset="0"/>
              </a:rPr>
              <a:t>Patisserie</a:t>
            </a:r>
          </a:p>
          <a:p>
            <a:pPr marL="0" indent="-457200">
              <a:spcBef>
                <a:spcPts val="600"/>
              </a:spcBef>
              <a:spcAft>
                <a:spcPts val="1200"/>
              </a:spcAft>
            </a:pPr>
            <a:r>
              <a:rPr lang="en-US" sz="2200" dirty="0" smtClean="0">
                <a:latin typeface="Helvetica" pitchFamily="34" charset="0"/>
              </a:rPr>
              <a:t>Wholesale</a:t>
            </a:r>
          </a:p>
          <a:p>
            <a:pPr marL="0" indent="-457200">
              <a:spcBef>
                <a:spcPts val="600"/>
              </a:spcBef>
              <a:spcAft>
                <a:spcPts val="1200"/>
              </a:spcAft>
            </a:pPr>
            <a:r>
              <a:rPr lang="en-US" sz="2200" dirty="0" smtClean="0">
                <a:latin typeface="Helvetica" pitchFamily="34" charset="0"/>
              </a:rPr>
              <a:t>5 Star Hotel</a:t>
            </a:r>
          </a:p>
          <a:p>
            <a:pPr marL="0" indent="-457200">
              <a:spcBef>
                <a:spcPts val="600"/>
              </a:spcBef>
              <a:spcAft>
                <a:spcPts val="1200"/>
              </a:spcAft>
            </a:pPr>
            <a:r>
              <a:rPr lang="en-US" sz="2200" dirty="0" smtClean="0">
                <a:latin typeface="Helvetica" pitchFamily="34" charset="0"/>
              </a:rPr>
              <a:t>Budget market place</a:t>
            </a:r>
          </a:p>
          <a:p>
            <a:pPr marL="0" indent="0">
              <a:spcBef>
                <a:spcPts val="600"/>
              </a:spcBef>
              <a:spcAft>
                <a:spcPts val="1200"/>
              </a:spcAft>
              <a:buNone/>
            </a:pPr>
            <a:r>
              <a:rPr lang="en-US" sz="2200" dirty="0">
                <a:latin typeface="Helvetica" pitchFamily="34" charset="0"/>
              </a:rPr>
              <a:t> </a:t>
            </a: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5" name="Picture 4" descr="I:\Overseas Projects\PHOTOS\2012\Culinary 2012\Patisserie\wai_a_julia_back_013.JPG"/>
          <p:cNvPicPr/>
          <p:nvPr/>
        </p:nvPicPr>
        <p:blipFill>
          <a:blip r:embed="rId3" cstate="print"/>
          <a:srcRect/>
          <a:stretch>
            <a:fillRect/>
          </a:stretch>
        </p:blipFill>
        <p:spPr bwMode="auto">
          <a:xfrm>
            <a:off x="4786314" y="2285992"/>
            <a:ext cx="3002915" cy="2014538"/>
          </a:xfrm>
          <a:prstGeom prst="rect">
            <a:avLst/>
          </a:prstGeom>
          <a:noFill/>
          <a:ln w="9525">
            <a:noFill/>
            <a:miter lim="800000"/>
            <a:headEnd/>
            <a:tailEnd/>
          </a:ln>
        </p:spPr>
      </p:pic>
    </p:spTree>
    <p:extLst>
      <p:ext uri="{BB962C8B-B14F-4D97-AF65-F5344CB8AC3E}">
        <p14:creationId xmlns:p14="http://schemas.microsoft.com/office/powerpoint/2010/main" val="1796738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1: Prepare and bake cakes and fillings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89119"/>
            <a:ext cx="7467600" cy="4525963"/>
          </a:xfrm>
        </p:spPr>
        <p:txBody>
          <a:bodyPr>
            <a:noAutofit/>
          </a:bodyPr>
          <a:lstStyle/>
          <a:p>
            <a:pPr marL="457200" indent="-457200">
              <a:spcBef>
                <a:spcPts val="600"/>
              </a:spcBef>
              <a:spcAft>
                <a:spcPts val="1200"/>
              </a:spcAft>
            </a:pPr>
            <a:r>
              <a:rPr lang="en-US" sz="2200" dirty="0" smtClean="0">
                <a:latin typeface="Helvetica" pitchFamily="34" charset="0"/>
              </a:rPr>
              <a:t>Standards and quality will change as enterprise changes</a:t>
            </a:r>
          </a:p>
          <a:p>
            <a:pPr marL="457200" indent="-457200">
              <a:spcBef>
                <a:spcPts val="600"/>
              </a:spcBef>
              <a:spcAft>
                <a:spcPts val="1200"/>
              </a:spcAft>
            </a:pPr>
            <a:r>
              <a:rPr lang="en-US" sz="2200" dirty="0" smtClean="0">
                <a:latin typeface="Helvetica" pitchFamily="34" charset="0"/>
              </a:rPr>
              <a:t>Standards are kept by pastry cooks working </a:t>
            </a:r>
            <a:br>
              <a:rPr lang="en-US" sz="2200" dirty="0" smtClean="0">
                <a:latin typeface="Helvetica" pitchFamily="34" charset="0"/>
              </a:rPr>
            </a:br>
            <a:r>
              <a:rPr lang="en-US" sz="2200" dirty="0" smtClean="0">
                <a:latin typeface="Helvetica" pitchFamily="34" charset="0"/>
              </a:rPr>
              <a:t>to high standards and producing consistent </a:t>
            </a:r>
            <a:br>
              <a:rPr lang="en-US" sz="2200" dirty="0" smtClean="0">
                <a:latin typeface="Helvetica" pitchFamily="34" charset="0"/>
              </a:rPr>
            </a:br>
            <a:r>
              <a:rPr lang="en-US" sz="2200" dirty="0" smtClean="0">
                <a:latin typeface="Helvetica" pitchFamily="34" charset="0"/>
              </a:rPr>
              <a:t>quality no matter where they work</a:t>
            </a:r>
          </a:p>
          <a:p>
            <a:pPr marL="457200" indent="-457200">
              <a:spcBef>
                <a:spcPts val="600"/>
              </a:spcBef>
              <a:spcAft>
                <a:spcPts val="1200"/>
              </a:spcAft>
            </a:pPr>
            <a:r>
              <a:rPr lang="en-US" sz="2200" dirty="0" smtClean="0">
                <a:latin typeface="Helvetica" pitchFamily="34" charset="0"/>
              </a:rPr>
              <a:t>Quality is relative to how much the customer is prepared to pay  </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15362" name="Picture 2" descr="C:\Documents and Settings\Godaishu\Desktop\2012\Culinary 2012\Patisserie\Decorate cake.JPG"/>
          <p:cNvPicPr>
            <a:picLocks noChangeAspect="1" noChangeArrowheads="1"/>
          </p:cNvPicPr>
          <p:nvPr/>
        </p:nvPicPr>
        <p:blipFill>
          <a:blip r:embed="rId3" cstate="print">
            <a:grayscl/>
          </a:blip>
          <a:srcRect/>
          <a:stretch>
            <a:fillRect/>
          </a:stretch>
        </p:blipFill>
        <p:spPr bwMode="auto">
          <a:xfrm>
            <a:off x="7268784" y="2357430"/>
            <a:ext cx="1125149" cy="1500198"/>
          </a:xfrm>
          <a:prstGeom prst="rect">
            <a:avLst/>
          </a:prstGeom>
          <a:noFill/>
        </p:spPr>
      </p:pic>
    </p:spTree>
    <p:extLst>
      <p:ext uri="{BB962C8B-B14F-4D97-AF65-F5344CB8AC3E}">
        <p14:creationId xmlns:p14="http://schemas.microsoft.com/office/powerpoint/2010/main" val="1796738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2: Decorate and present/display cakes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Performance Criteria</a:t>
            </a:r>
          </a:p>
          <a:p>
            <a:pPr>
              <a:spcBef>
                <a:spcPts val="600"/>
              </a:spcBef>
              <a:spcAft>
                <a:spcPts val="600"/>
              </a:spcAft>
            </a:pPr>
            <a:r>
              <a:rPr lang="en-AU" sz="2200" dirty="0"/>
              <a:t>Prepare a variety of fillings and </a:t>
            </a:r>
            <a:r>
              <a:rPr lang="en-AU" sz="2200" dirty="0" smtClean="0"/>
              <a:t/>
            </a:r>
            <a:br>
              <a:rPr lang="en-AU" sz="2200" dirty="0" smtClean="0"/>
            </a:br>
            <a:r>
              <a:rPr lang="en-AU" sz="2200" dirty="0" smtClean="0"/>
              <a:t>coatings, icings, glazes </a:t>
            </a:r>
            <a:r>
              <a:rPr lang="en-AU" sz="2200" dirty="0"/>
              <a:t>and decorations for cakes</a:t>
            </a:r>
          </a:p>
          <a:p>
            <a:pPr>
              <a:spcBef>
                <a:spcPts val="600"/>
              </a:spcBef>
              <a:spcAft>
                <a:spcPts val="600"/>
              </a:spcAft>
            </a:pPr>
            <a:r>
              <a:rPr lang="en-AU" sz="2200" dirty="0"/>
              <a:t>Decorate cakes using </a:t>
            </a:r>
            <a:r>
              <a:rPr lang="en-AU" sz="2200" dirty="0" smtClean="0"/>
              <a:t>fillings, coatings, icings </a:t>
            </a:r>
            <a:r>
              <a:rPr lang="en-AU" sz="2200" dirty="0"/>
              <a:t>and decorations according to standard recipes </a:t>
            </a:r>
            <a:r>
              <a:rPr lang="en-AU" sz="2200" dirty="0" smtClean="0"/>
              <a:t>and or </a:t>
            </a:r>
            <a:r>
              <a:rPr lang="en-AU" sz="2200" dirty="0"/>
              <a:t>enterprise standards </a:t>
            </a:r>
            <a:r>
              <a:rPr lang="en-AU" sz="2200" dirty="0" smtClean="0"/>
              <a:t>and or </a:t>
            </a:r>
            <a:r>
              <a:rPr lang="en-AU" sz="2200" dirty="0"/>
              <a:t>customer requests</a:t>
            </a:r>
          </a:p>
          <a:p>
            <a:pPr>
              <a:spcBef>
                <a:spcPts val="600"/>
              </a:spcBef>
              <a:spcAft>
                <a:spcPts val="600"/>
              </a:spcAft>
            </a:pPr>
            <a:r>
              <a:rPr lang="en-AU" sz="2200" dirty="0" smtClean="0"/>
              <a:t>Present and display </a:t>
            </a:r>
            <a:r>
              <a:rPr lang="en-AU" sz="2200" dirty="0"/>
              <a:t>cakes to enterprise standards using appropriate service </a:t>
            </a:r>
            <a:r>
              <a:rPr lang="en-AU" sz="2200" dirty="0" smtClean="0"/>
              <a:t>equipment</a:t>
            </a:r>
            <a:endParaRPr lang="en-AU" sz="2200" dirty="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5" name="Picture 2" descr="C:\Documents and Settings\danielc\My Documents\Downloads\learn.jpg"/>
          <p:cNvPicPr>
            <a:picLocks noChangeAspect="1" noChangeArrowheads="1"/>
          </p:cNvPicPr>
          <p:nvPr/>
        </p:nvPicPr>
        <p:blipFill>
          <a:blip r:embed="rId3" cstate="print"/>
          <a:srcRect/>
          <a:stretch>
            <a:fillRect/>
          </a:stretch>
        </p:blipFill>
        <p:spPr bwMode="auto">
          <a:xfrm>
            <a:off x="6429388" y="1142984"/>
            <a:ext cx="1357322" cy="1357322"/>
          </a:xfrm>
          <a:prstGeom prst="rect">
            <a:avLst/>
          </a:prstGeom>
          <a:noFill/>
        </p:spPr>
      </p:pic>
    </p:spTree>
    <p:extLst>
      <p:ext uri="{BB962C8B-B14F-4D97-AF65-F5344CB8AC3E}">
        <p14:creationId xmlns:p14="http://schemas.microsoft.com/office/powerpoint/2010/main" val="41317457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6960836" cy="1143000"/>
          </a:xfrm>
        </p:spPr>
        <p:txBody>
          <a:bodyPr>
            <a:normAutofit/>
          </a:bodyPr>
          <a:lstStyle/>
          <a:p>
            <a:r>
              <a:rPr lang="en-US" sz="3400" b="1" dirty="0" smtClean="0">
                <a:solidFill>
                  <a:srgbClr val="FF6600"/>
                </a:solidFill>
              </a:rPr>
              <a:t>Element 2: Decorate and present/display cakes</a:t>
            </a: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b="1" dirty="0" smtClean="0">
                <a:latin typeface="Helvetica" pitchFamily="34" charset="0"/>
              </a:rPr>
              <a:t>Prepare a variety of fillings, icings decorations for cakes:</a:t>
            </a:r>
          </a:p>
          <a:p>
            <a:pPr marL="0" indent="-457200">
              <a:spcBef>
                <a:spcPts val="600"/>
              </a:spcBef>
              <a:spcAft>
                <a:spcPts val="1200"/>
              </a:spcAft>
            </a:pPr>
            <a:r>
              <a:rPr lang="en-US" sz="2200" dirty="0" smtClean="0">
                <a:latin typeface="Helvetica" pitchFamily="34" charset="0"/>
              </a:rPr>
              <a:t>Fillings</a:t>
            </a:r>
          </a:p>
          <a:p>
            <a:pPr marL="0" indent="-457200">
              <a:spcBef>
                <a:spcPts val="600"/>
              </a:spcBef>
              <a:spcAft>
                <a:spcPts val="1200"/>
              </a:spcAft>
            </a:pPr>
            <a:r>
              <a:rPr lang="en-US" sz="2200" dirty="0" smtClean="0">
                <a:latin typeface="Helvetica" pitchFamily="34" charset="0"/>
              </a:rPr>
              <a:t>Creams, fresh</a:t>
            </a:r>
          </a:p>
          <a:p>
            <a:pPr marL="0" indent="-457200">
              <a:spcBef>
                <a:spcPts val="600"/>
              </a:spcBef>
              <a:spcAft>
                <a:spcPts val="1200"/>
              </a:spcAft>
            </a:pPr>
            <a:r>
              <a:rPr lang="en-US" sz="2200" dirty="0" smtClean="0">
                <a:latin typeface="Helvetica" pitchFamily="34" charset="0"/>
              </a:rPr>
              <a:t>Creams, butter creams</a:t>
            </a:r>
          </a:p>
          <a:p>
            <a:pPr marL="0" indent="-457200">
              <a:spcBef>
                <a:spcPts val="600"/>
              </a:spcBef>
              <a:spcAft>
                <a:spcPts val="1200"/>
              </a:spcAft>
            </a:pPr>
            <a:r>
              <a:rPr lang="en-US" sz="2200" dirty="0" smtClean="0">
                <a:latin typeface="Helvetica" pitchFamily="34" charset="0"/>
              </a:rPr>
              <a:t>Creams, imitation</a:t>
            </a:r>
          </a:p>
          <a:p>
            <a:pPr marL="0" indent="-457200">
              <a:spcBef>
                <a:spcPts val="600"/>
              </a:spcBef>
              <a:spcAft>
                <a:spcPts val="1200"/>
              </a:spcAft>
            </a:pPr>
            <a:r>
              <a:rPr lang="en-US" sz="2200" dirty="0" smtClean="0">
                <a:latin typeface="Helvetica" pitchFamily="34" charset="0"/>
              </a:rPr>
              <a:t>Creams, others</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16386" name="Picture 2" descr="C:\Documents and Settings\Godaishu\Desktop\2012\Culinary 2012\Dairy products\cream.jpg"/>
          <p:cNvPicPr>
            <a:picLocks noChangeAspect="1" noChangeArrowheads="1"/>
          </p:cNvPicPr>
          <p:nvPr/>
        </p:nvPicPr>
        <p:blipFill>
          <a:blip r:embed="rId3" cstate="print"/>
          <a:srcRect/>
          <a:stretch>
            <a:fillRect/>
          </a:stretch>
        </p:blipFill>
        <p:spPr bwMode="auto">
          <a:xfrm>
            <a:off x="5214942" y="2285992"/>
            <a:ext cx="1419220" cy="1698314"/>
          </a:xfrm>
          <a:prstGeom prst="rect">
            <a:avLst/>
          </a:prstGeom>
          <a:noFill/>
        </p:spPr>
      </p:pic>
      <p:pic>
        <p:nvPicPr>
          <p:cNvPr id="16387" name="Picture 3" descr="C:\Documents and Settings\Godaishu\Desktop\2012\Culinary 2012\Dairy products\Crème Patisserie.jpg"/>
          <p:cNvPicPr>
            <a:picLocks noChangeAspect="1" noChangeArrowheads="1"/>
          </p:cNvPicPr>
          <p:nvPr/>
        </p:nvPicPr>
        <p:blipFill>
          <a:blip r:embed="rId4" cstate="print"/>
          <a:srcRect/>
          <a:stretch>
            <a:fillRect/>
          </a:stretch>
        </p:blipFill>
        <p:spPr bwMode="auto">
          <a:xfrm>
            <a:off x="6715140" y="3143248"/>
            <a:ext cx="1268402" cy="1887868"/>
          </a:xfrm>
          <a:prstGeom prst="rect">
            <a:avLst/>
          </a:prstGeom>
          <a:noFill/>
        </p:spPr>
      </p:pic>
    </p:spTree>
    <p:extLst>
      <p:ext uri="{BB962C8B-B14F-4D97-AF65-F5344CB8AC3E}">
        <p14:creationId xmlns:p14="http://schemas.microsoft.com/office/powerpoint/2010/main" val="2499796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2: Decorate and present/display cakes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b="1" dirty="0" smtClean="0">
                <a:latin typeface="Helvetica" pitchFamily="34" charset="0"/>
              </a:rPr>
              <a:t>Prepare a variety of fillings icings decorations for cakes:</a:t>
            </a:r>
          </a:p>
          <a:p>
            <a:pPr marL="0" indent="-457200">
              <a:spcBef>
                <a:spcPts val="600"/>
              </a:spcBef>
              <a:spcAft>
                <a:spcPts val="1200"/>
              </a:spcAft>
            </a:pPr>
            <a:r>
              <a:rPr lang="en-US" sz="2200" dirty="0" smtClean="0">
                <a:latin typeface="Helvetica" pitchFamily="34" charset="0"/>
              </a:rPr>
              <a:t>Icing and glaze</a:t>
            </a:r>
          </a:p>
          <a:p>
            <a:pPr marL="0" indent="-457200">
              <a:spcBef>
                <a:spcPts val="600"/>
              </a:spcBef>
              <a:spcAft>
                <a:spcPts val="1200"/>
              </a:spcAft>
            </a:pPr>
            <a:r>
              <a:rPr lang="en-US" sz="2200" dirty="0" smtClean="0">
                <a:latin typeface="Helvetica" pitchFamily="34" charset="0"/>
              </a:rPr>
              <a:t>Fudge</a:t>
            </a:r>
          </a:p>
          <a:p>
            <a:pPr marL="0" indent="-457200">
              <a:spcBef>
                <a:spcPts val="600"/>
              </a:spcBef>
              <a:spcAft>
                <a:spcPts val="1200"/>
              </a:spcAft>
            </a:pPr>
            <a:r>
              <a:rPr lang="en-US" sz="2200" dirty="0" smtClean="0">
                <a:latin typeface="Helvetica" pitchFamily="34" charset="0"/>
              </a:rPr>
              <a:t>Fondant</a:t>
            </a:r>
          </a:p>
          <a:p>
            <a:pPr marL="0" indent="-457200">
              <a:spcBef>
                <a:spcPts val="600"/>
              </a:spcBef>
              <a:spcAft>
                <a:spcPts val="1200"/>
              </a:spcAft>
            </a:pPr>
            <a:r>
              <a:rPr lang="en-US" sz="2200" dirty="0" smtClean="0">
                <a:latin typeface="Helvetica" pitchFamily="34" charset="0"/>
              </a:rPr>
              <a:t>Plastic</a:t>
            </a:r>
          </a:p>
          <a:p>
            <a:pPr marL="0" indent="-457200">
              <a:spcBef>
                <a:spcPts val="600"/>
              </a:spcBef>
              <a:spcAft>
                <a:spcPts val="1200"/>
              </a:spcAft>
            </a:pPr>
            <a:r>
              <a:rPr lang="en-US" sz="2200" dirty="0" smtClean="0">
                <a:latin typeface="Helvetica" pitchFamily="34" charset="0"/>
              </a:rPr>
              <a:t>Ganache</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17410" name="Picture 2" descr="C:\Documents and Settings\Godaishu\Desktop\2012\Culinary 2012\Dairy products\Ganache_56760565.jpg"/>
          <p:cNvPicPr>
            <a:picLocks noChangeAspect="1" noChangeArrowheads="1"/>
          </p:cNvPicPr>
          <p:nvPr/>
        </p:nvPicPr>
        <p:blipFill>
          <a:blip r:embed="rId3" cstate="print"/>
          <a:srcRect/>
          <a:stretch>
            <a:fillRect/>
          </a:stretch>
        </p:blipFill>
        <p:spPr bwMode="auto">
          <a:xfrm>
            <a:off x="4786314" y="2428868"/>
            <a:ext cx="2476496" cy="2476496"/>
          </a:xfrm>
          <a:prstGeom prst="rect">
            <a:avLst/>
          </a:prstGeom>
          <a:noFill/>
        </p:spPr>
      </p:pic>
    </p:spTree>
    <p:extLst>
      <p:ext uri="{BB962C8B-B14F-4D97-AF65-F5344CB8AC3E}">
        <p14:creationId xmlns:p14="http://schemas.microsoft.com/office/powerpoint/2010/main" val="2203066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2: Decorate and present/display cakes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b="1" dirty="0" smtClean="0">
                <a:latin typeface="Helvetica" pitchFamily="34" charset="0"/>
              </a:rPr>
              <a:t>Decoration to enterprise standard:</a:t>
            </a:r>
          </a:p>
          <a:p>
            <a:pPr marL="0" indent="-457200">
              <a:spcBef>
                <a:spcPts val="600"/>
              </a:spcBef>
              <a:spcAft>
                <a:spcPts val="1200"/>
              </a:spcAft>
            </a:pPr>
            <a:r>
              <a:rPr lang="en-US" sz="2200" dirty="0" smtClean="0">
                <a:latin typeface="Helvetica" pitchFamily="34" charset="0"/>
              </a:rPr>
              <a:t>Icing sugar</a:t>
            </a:r>
          </a:p>
          <a:p>
            <a:pPr marL="0" indent="-457200">
              <a:spcBef>
                <a:spcPts val="600"/>
              </a:spcBef>
              <a:spcAft>
                <a:spcPts val="1200"/>
              </a:spcAft>
            </a:pPr>
            <a:r>
              <a:rPr lang="en-US" sz="2200" dirty="0" smtClean="0">
                <a:latin typeface="Helvetica" pitchFamily="34" charset="0"/>
              </a:rPr>
              <a:t>Fondant</a:t>
            </a:r>
          </a:p>
          <a:p>
            <a:pPr marL="0" indent="-457200">
              <a:spcBef>
                <a:spcPts val="600"/>
              </a:spcBef>
              <a:spcAft>
                <a:spcPts val="1200"/>
              </a:spcAft>
            </a:pPr>
            <a:r>
              <a:rPr lang="en-US" sz="2200" dirty="0" smtClean="0">
                <a:latin typeface="Helvetica" pitchFamily="34" charset="0"/>
              </a:rPr>
              <a:t>Apricot jam</a:t>
            </a:r>
          </a:p>
          <a:p>
            <a:pPr marL="0" indent="-457200">
              <a:spcBef>
                <a:spcPts val="600"/>
              </a:spcBef>
              <a:spcAft>
                <a:spcPts val="1200"/>
              </a:spcAft>
            </a:pPr>
            <a:r>
              <a:rPr lang="en-US" sz="2200" dirty="0" smtClean="0">
                <a:latin typeface="Helvetica" pitchFamily="34" charset="0"/>
              </a:rPr>
              <a:t>Roasted nuts</a:t>
            </a:r>
          </a:p>
          <a:p>
            <a:pPr marL="0" indent="-457200">
              <a:spcBef>
                <a:spcPts val="600"/>
              </a:spcBef>
              <a:spcAft>
                <a:spcPts val="1200"/>
              </a:spcAft>
            </a:pPr>
            <a:r>
              <a:rPr lang="en-US" sz="2200" dirty="0" smtClean="0">
                <a:latin typeface="Helvetica" pitchFamily="34" charset="0"/>
              </a:rPr>
              <a:t>Glaze and gel</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6" name="Picture 2" descr="C:\Documents and Settings\Godaishu\Desktop\2012\Culinary 2012\Icing sugar.JPG"/>
          <p:cNvPicPr>
            <a:picLocks noChangeAspect="1" noChangeArrowheads="1"/>
          </p:cNvPicPr>
          <p:nvPr/>
        </p:nvPicPr>
        <p:blipFill>
          <a:blip r:embed="rId3" cstate="print"/>
          <a:srcRect/>
          <a:stretch>
            <a:fillRect/>
          </a:stretch>
        </p:blipFill>
        <p:spPr bwMode="auto">
          <a:xfrm>
            <a:off x="5429256" y="2214554"/>
            <a:ext cx="1901950" cy="2849565"/>
          </a:xfrm>
          <a:prstGeom prst="rect">
            <a:avLst/>
          </a:prstGeom>
          <a:noFill/>
        </p:spPr>
      </p:pic>
    </p:spTree>
    <p:extLst>
      <p:ext uri="{BB962C8B-B14F-4D97-AF65-F5344CB8AC3E}">
        <p14:creationId xmlns:p14="http://schemas.microsoft.com/office/powerpoint/2010/main" val="32933527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sp>
        <p:nvSpPr>
          <p:cNvPr id="9"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2: Decorate and present/display cakes</a:t>
            </a:r>
            <a:endParaRPr lang="en-US" sz="3400" b="1" dirty="0">
              <a:solidFill>
                <a:srgbClr val="FF6600"/>
              </a:solidFill>
              <a:latin typeface="Helvetica" pitchFamily="34" charset="0"/>
            </a:endParaRPr>
          </a:p>
        </p:txBody>
      </p:sp>
      <p:sp>
        <p:nvSpPr>
          <p:cNvPr id="10"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b="1" dirty="0" smtClean="0">
                <a:latin typeface="Helvetica" pitchFamily="34" charset="0"/>
              </a:rPr>
              <a:t>Present and display to enterprise standards:</a:t>
            </a:r>
          </a:p>
          <a:p>
            <a:pPr marL="0" indent="-457200">
              <a:spcBef>
                <a:spcPts val="600"/>
              </a:spcBef>
              <a:spcAft>
                <a:spcPts val="1200"/>
              </a:spcAft>
            </a:pPr>
            <a:r>
              <a:rPr lang="en-US" sz="2200" dirty="0" smtClean="0">
                <a:latin typeface="Helvetica" pitchFamily="34" charset="0"/>
              </a:rPr>
              <a:t>Bakery</a:t>
            </a:r>
          </a:p>
          <a:p>
            <a:pPr marL="0" indent="-457200">
              <a:spcBef>
                <a:spcPts val="600"/>
              </a:spcBef>
              <a:spcAft>
                <a:spcPts val="1200"/>
              </a:spcAft>
            </a:pPr>
            <a:r>
              <a:rPr lang="en-US" sz="2200" dirty="0" smtClean="0">
                <a:latin typeface="Helvetica" pitchFamily="34" charset="0"/>
              </a:rPr>
              <a:t>Trays</a:t>
            </a:r>
          </a:p>
          <a:p>
            <a:pPr marL="0" indent="-457200">
              <a:spcBef>
                <a:spcPts val="600"/>
              </a:spcBef>
              <a:spcAft>
                <a:spcPts val="1200"/>
              </a:spcAft>
            </a:pPr>
            <a:r>
              <a:rPr lang="en-US" sz="2200" dirty="0" smtClean="0">
                <a:latin typeface="Helvetica" pitchFamily="34" charset="0"/>
              </a:rPr>
              <a:t>Platters </a:t>
            </a:r>
          </a:p>
          <a:p>
            <a:pPr marL="0" indent="-457200">
              <a:spcBef>
                <a:spcPts val="600"/>
              </a:spcBef>
              <a:spcAft>
                <a:spcPts val="1200"/>
              </a:spcAft>
            </a:pPr>
            <a:r>
              <a:rPr lang="en-US" sz="2200" dirty="0" smtClean="0">
                <a:latin typeface="Helvetica" pitchFamily="34" charset="0"/>
              </a:rPr>
              <a:t>Cellophane bags</a:t>
            </a:r>
          </a:p>
          <a:p>
            <a:pPr marL="0" indent="-457200">
              <a:spcBef>
                <a:spcPts val="600"/>
              </a:spcBef>
              <a:spcAft>
                <a:spcPts val="1200"/>
              </a:spcAft>
            </a:pPr>
            <a:r>
              <a:rPr lang="en-US" sz="2200" dirty="0" smtClean="0">
                <a:latin typeface="Helvetica" pitchFamily="34" charset="0"/>
              </a:rPr>
              <a:t>Boxes</a:t>
            </a:r>
          </a:p>
          <a:p>
            <a:pPr marL="0" indent="-457200">
              <a:spcBef>
                <a:spcPts val="600"/>
              </a:spcBef>
              <a:spcAft>
                <a:spcPts val="1200"/>
              </a:spcAft>
            </a:pPr>
            <a:r>
              <a:rPr lang="en-US" sz="2200" dirty="0" err="1" smtClean="0">
                <a:latin typeface="Helvetica" pitchFamily="34" charset="0"/>
              </a:rPr>
              <a:t>Doyleys</a:t>
            </a:r>
            <a:endParaRPr lang="en-US" sz="2200" dirty="0" smtClean="0">
              <a:latin typeface="Helvetica" pitchFamily="34" charset="0"/>
            </a:endParaRPr>
          </a:p>
          <a:p>
            <a:pPr marL="0" indent="-457200">
              <a:spcBef>
                <a:spcPts val="600"/>
              </a:spcBef>
              <a:spcAft>
                <a:spcPts val="1200"/>
              </a:spcAft>
            </a:pPr>
            <a:r>
              <a:rPr lang="en-US" sz="2200" dirty="0" smtClean="0">
                <a:latin typeface="Helvetica" pitchFamily="34" charset="0"/>
              </a:rPr>
              <a:t>Labels</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pic>
        <p:nvPicPr>
          <p:cNvPr id="11" name="Picture 4" descr="C:\Documents and Settings\Godaishu\Desktop\2012\Culinary 2012\Danish.jpg"/>
          <p:cNvPicPr>
            <a:picLocks noChangeAspect="1" noChangeArrowheads="1"/>
          </p:cNvPicPr>
          <p:nvPr/>
        </p:nvPicPr>
        <p:blipFill>
          <a:blip r:embed="rId3" cstate="print"/>
          <a:srcRect/>
          <a:stretch>
            <a:fillRect/>
          </a:stretch>
        </p:blipFill>
        <p:spPr bwMode="auto">
          <a:xfrm>
            <a:off x="4214810" y="2786058"/>
            <a:ext cx="3235325" cy="2152650"/>
          </a:xfrm>
          <a:prstGeom prst="rect">
            <a:avLst/>
          </a:prstGeom>
          <a:noFill/>
        </p:spPr>
      </p:pic>
    </p:spTree>
    <p:extLst>
      <p:ext uri="{BB962C8B-B14F-4D97-AF65-F5344CB8AC3E}">
        <p14:creationId xmlns:p14="http://schemas.microsoft.com/office/powerpoint/2010/main" val="32933527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3: Prepare and produce pastries and fillings</a:t>
            </a: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b="1" dirty="0" smtClean="0">
                <a:latin typeface="Helvetica" pitchFamily="34" charset="0"/>
              </a:rPr>
              <a:t>Performance Criteria</a:t>
            </a:r>
          </a:p>
          <a:p>
            <a:pPr>
              <a:spcBef>
                <a:spcPts val="600"/>
              </a:spcBef>
              <a:spcAft>
                <a:spcPts val="600"/>
              </a:spcAft>
            </a:pPr>
            <a:r>
              <a:rPr lang="en-AU" sz="2000" dirty="0"/>
              <a:t>Select required commodities according to recipe </a:t>
            </a:r>
            <a:r>
              <a:rPr lang="en-AU" sz="2000" dirty="0" smtClean="0"/>
              <a:t/>
            </a:r>
            <a:br>
              <a:rPr lang="en-AU" sz="2000" dirty="0" smtClean="0"/>
            </a:br>
            <a:r>
              <a:rPr lang="en-AU" sz="2000" dirty="0" smtClean="0"/>
              <a:t>and </a:t>
            </a:r>
            <a:r>
              <a:rPr lang="en-AU" sz="2000" dirty="0"/>
              <a:t>production requirements</a:t>
            </a:r>
          </a:p>
          <a:p>
            <a:pPr>
              <a:spcBef>
                <a:spcPts val="600"/>
              </a:spcBef>
              <a:spcAft>
                <a:spcPts val="600"/>
              </a:spcAft>
            </a:pPr>
            <a:r>
              <a:rPr lang="en-AU" sz="2000" dirty="0"/>
              <a:t>Prepare a</a:t>
            </a:r>
            <a:r>
              <a:rPr lang="en-AU" sz="2000" b="1" dirty="0"/>
              <a:t> </a:t>
            </a:r>
            <a:r>
              <a:rPr lang="en-AU" sz="2000" dirty="0"/>
              <a:t>variety of pastries</a:t>
            </a:r>
          </a:p>
          <a:p>
            <a:pPr>
              <a:spcBef>
                <a:spcPts val="600"/>
              </a:spcBef>
              <a:spcAft>
                <a:spcPts val="600"/>
              </a:spcAft>
            </a:pPr>
            <a:r>
              <a:rPr lang="en-AU" sz="2000" dirty="0" smtClean="0"/>
              <a:t>Produce a variety of pastries according to standard recipes and enterprise standards</a:t>
            </a:r>
          </a:p>
          <a:p>
            <a:pPr>
              <a:spcBef>
                <a:spcPts val="600"/>
              </a:spcBef>
              <a:spcAft>
                <a:spcPts val="600"/>
              </a:spcAft>
            </a:pPr>
            <a:r>
              <a:rPr lang="en-AU" sz="2000" dirty="0" smtClean="0"/>
              <a:t>Use </a:t>
            </a:r>
            <a:r>
              <a:rPr lang="en-AU" sz="2000" dirty="0"/>
              <a:t>appropriate equipment to prepare and bake pastries</a:t>
            </a:r>
          </a:p>
          <a:p>
            <a:pPr>
              <a:spcBef>
                <a:spcPts val="600"/>
              </a:spcBef>
              <a:spcAft>
                <a:spcPts val="600"/>
              </a:spcAft>
            </a:pPr>
            <a:r>
              <a:rPr lang="en-AU" sz="2000" dirty="0"/>
              <a:t>Use correct techniques to produce pastries to enterprise standards</a:t>
            </a:r>
          </a:p>
          <a:p>
            <a:pPr>
              <a:spcBef>
                <a:spcPts val="600"/>
              </a:spcBef>
              <a:spcAft>
                <a:spcPts val="600"/>
              </a:spcAft>
            </a:pPr>
            <a:r>
              <a:rPr lang="en-AU" sz="2000" dirty="0"/>
              <a:t>Bake pastries to enterprise requirements and standards</a:t>
            </a:r>
          </a:p>
          <a:p>
            <a:pPr>
              <a:spcBef>
                <a:spcPts val="600"/>
              </a:spcBef>
              <a:spcAft>
                <a:spcPts val="600"/>
              </a:spcAft>
            </a:pPr>
            <a:r>
              <a:rPr lang="en-AU" sz="2000" dirty="0"/>
              <a:t>Select correct oven conditions for baking </a:t>
            </a:r>
            <a:r>
              <a:rPr lang="en-AU" sz="2000" dirty="0" smtClean="0"/>
              <a:t>pastries</a:t>
            </a:r>
            <a:endParaRPr lang="en-AU" sz="2000" dirty="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5" name="Picture 2" descr="C:\Documents and Settings\danielc\My Documents\Downloads\learn.jpg"/>
          <p:cNvPicPr>
            <a:picLocks noChangeAspect="1" noChangeArrowheads="1"/>
          </p:cNvPicPr>
          <p:nvPr/>
        </p:nvPicPr>
        <p:blipFill>
          <a:blip r:embed="rId3" cstate="print"/>
          <a:srcRect/>
          <a:stretch>
            <a:fillRect/>
          </a:stretch>
        </p:blipFill>
        <p:spPr bwMode="auto">
          <a:xfrm>
            <a:off x="6858016" y="2071678"/>
            <a:ext cx="1214446" cy="1214446"/>
          </a:xfrm>
          <a:prstGeom prst="rect">
            <a:avLst/>
          </a:prstGeom>
          <a:noFill/>
        </p:spPr>
      </p:pic>
    </p:spTree>
    <p:extLst>
      <p:ext uri="{BB962C8B-B14F-4D97-AF65-F5344CB8AC3E}">
        <p14:creationId xmlns:p14="http://schemas.microsoft.com/office/powerpoint/2010/main" val="14925769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rPr>
              <a:t>Element 3: Prepare and produce pastries and fillings</a:t>
            </a: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b="1" dirty="0" smtClean="0">
                <a:latin typeface="Helvetica" pitchFamily="34" charset="0"/>
              </a:rPr>
              <a:t>Select required commodities:</a:t>
            </a:r>
          </a:p>
          <a:p>
            <a:pPr lvl="0">
              <a:spcBef>
                <a:spcPts val="600"/>
              </a:spcBef>
              <a:spcAft>
                <a:spcPts val="600"/>
              </a:spcAft>
            </a:pPr>
            <a:r>
              <a:rPr lang="en-AU" sz="2200" dirty="0" smtClean="0"/>
              <a:t>Flours</a:t>
            </a:r>
          </a:p>
          <a:p>
            <a:pPr lvl="0">
              <a:spcBef>
                <a:spcPts val="600"/>
              </a:spcBef>
              <a:spcAft>
                <a:spcPts val="600"/>
              </a:spcAft>
            </a:pPr>
            <a:r>
              <a:rPr lang="en-AU" sz="2200" dirty="0" smtClean="0"/>
              <a:t>Sugars</a:t>
            </a:r>
          </a:p>
          <a:p>
            <a:pPr lvl="0">
              <a:spcBef>
                <a:spcPts val="600"/>
              </a:spcBef>
              <a:spcAft>
                <a:spcPts val="600"/>
              </a:spcAft>
            </a:pPr>
            <a:r>
              <a:rPr lang="en-AU" sz="2200" dirty="0" smtClean="0"/>
              <a:t>Eggs</a:t>
            </a:r>
          </a:p>
          <a:p>
            <a:pPr lvl="0">
              <a:spcBef>
                <a:spcPts val="600"/>
              </a:spcBef>
              <a:spcAft>
                <a:spcPts val="600"/>
              </a:spcAft>
            </a:pPr>
            <a:r>
              <a:rPr lang="en-AU" sz="2200" dirty="0" smtClean="0"/>
              <a:t>Milk</a:t>
            </a:r>
          </a:p>
          <a:p>
            <a:pPr lvl="0">
              <a:spcBef>
                <a:spcPts val="600"/>
              </a:spcBef>
              <a:spcAft>
                <a:spcPts val="600"/>
              </a:spcAft>
            </a:pPr>
            <a:r>
              <a:rPr lang="en-AU" sz="2200" dirty="0" smtClean="0"/>
              <a:t>Cream</a:t>
            </a:r>
          </a:p>
          <a:p>
            <a:pPr lvl="0">
              <a:spcBef>
                <a:spcPts val="600"/>
              </a:spcBef>
              <a:spcAft>
                <a:spcPts val="600"/>
              </a:spcAft>
            </a:pPr>
            <a:r>
              <a:rPr lang="en-AU" sz="2200" dirty="0" smtClean="0"/>
              <a:t>Gelatin</a:t>
            </a:r>
          </a:p>
          <a:p>
            <a:pPr lvl="0">
              <a:spcBef>
                <a:spcPts val="600"/>
              </a:spcBef>
              <a:spcAft>
                <a:spcPts val="600"/>
              </a:spcAft>
            </a:pPr>
            <a:r>
              <a:rPr lang="en-AU" sz="2200" dirty="0" smtClean="0"/>
              <a:t>Flavourings and essences </a:t>
            </a:r>
          </a:p>
          <a:p>
            <a:pPr lvl="0">
              <a:spcBef>
                <a:spcPts val="600"/>
              </a:spcBef>
              <a:spcAft>
                <a:spcPts val="600"/>
              </a:spcAft>
            </a:pPr>
            <a:r>
              <a:rPr lang="en-AU" sz="2200" dirty="0" smtClean="0"/>
              <a:t>Chocolate </a:t>
            </a:r>
          </a:p>
          <a:p>
            <a:pPr lvl="0">
              <a:spcBef>
                <a:spcPts val="600"/>
              </a:spcBef>
              <a:spcAft>
                <a:spcPts val="600"/>
              </a:spcAft>
            </a:pPr>
            <a:r>
              <a:rPr lang="en-AU" sz="2200" dirty="0" smtClean="0"/>
              <a:t>Fats, oils, butter, margarines</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20482" name="Picture 2" descr="C:\Documents and Settings\Godaishu\Desktop\2012\Culinary 2012\Ingredients.jpg"/>
          <p:cNvPicPr>
            <a:picLocks noChangeAspect="1" noChangeArrowheads="1"/>
          </p:cNvPicPr>
          <p:nvPr/>
        </p:nvPicPr>
        <p:blipFill>
          <a:blip r:embed="rId3" cstate="print"/>
          <a:srcRect/>
          <a:stretch>
            <a:fillRect/>
          </a:stretch>
        </p:blipFill>
        <p:spPr bwMode="auto">
          <a:xfrm>
            <a:off x="5072066" y="2571744"/>
            <a:ext cx="2457446" cy="2472902"/>
          </a:xfrm>
          <a:prstGeom prst="rect">
            <a:avLst/>
          </a:prstGeom>
          <a:noFill/>
        </p:spPr>
      </p:pic>
    </p:spTree>
    <p:extLst>
      <p:ext uri="{BB962C8B-B14F-4D97-AF65-F5344CB8AC3E}">
        <p14:creationId xmlns:p14="http://schemas.microsoft.com/office/powerpoint/2010/main" val="37978634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rPr>
              <a:t>Element 3: Prepare and produce pastries and fillings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600"/>
              </a:spcAft>
              <a:buNone/>
            </a:pPr>
            <a:r>
              <a:rPr lang="en-US" sz="2200" b="1" dirty="0" smtClean="0">
                <a:latin typeface="Helvetica" pitchFamily="34" charset="0"/>
              </a:rPr>
              <a:t>Select required commodities:</a:t>
            </a:r>
          </a:p>
          <a:p>
            <a:pPr lvl="0">
              <a:spcBef>
                <a:spcPts val="600"/>
              </a:spcBef>
              <a:spcAft>
                <a:spcPts val="600"/>
              </a:spcAft>
              <a:buNone/>
            </a:pPr>
            <a:r>
              <a:rPr lang="en-AU" sz="2200" dirty="0" smtClean="0"/>
              <a:t>Flours</a:t>
            </a:r>
          </a:p>
          <a:p>
            <a:pPr>
              <a:spcBef>
                <a:spcPts val="600"/>
              </a:spcBef>
              <a:spcAft>
                <a:spcPts val="600"/>
              </a:spcAft>
            </a:pPr>
            <a:r>
              <a:rPr lang="en-AU" sz="2200" dirty="0" smtClean="0"/>
              <a:t>Strong flour Flour</a:t>
            </a:r>
          </a:p>
          <a:p>
            <a:pPr>
              <a:spcBef>
                <a:spcPts val="600"/>
              </a:spcBef>
              <a:spcAft>
                <a:spcPts val="600"/>
              </a:spcAft>
            </a:pPr>
            <a:r>
              <a:rPr lang="en-AU" sz="2200" dirty="0" smtClean="0"/>
              <a:t>Self Raising Flour</a:t>
            </a:r>
          </a:p>
          <a:p>
            <a:pPr>
              <a:spcBef>
                <a:spcPts val="600"/>
              </a:spcBef>
              <a:spcAft>
                <a:spcPts val="600"/>
              </a:spcAft>
            </a:pPr>
            <a:r>
              <a:rPr lang="en-AU" sz="2200" dirty="0" smtClean="0"/>
              <a:t>Pastry Flour</a:t>
            </a:r>
          </a:p>
          <a:p>
            <a:pPr>
              <a:spcBef>
                <a:spcPts val="600"/>
              </a:spcBef>
              <a:spcAft>
                <a:spcPts val="600"/>
              </a:spcAft>
            </a:pPr>
            <a:r>
              <a:rPr lang="en-AU" sz="2200" dirty="0" smtClean="0"/>
              <a:t>High Ratio Flour</a:t>
            </a:r>
          </a:p>
          <a:p>
            <a:pPr marL="0" indent="0">
              <a:spcBef>
                <a:spcPts val="600"/>
              </a:spcBef>
              <a:spcAft>
                <a:spcPts val="600"/>
              </a:spcAft>
              <a:buNone/>
            </a:pPr>
            <a:endParaRPr lang="en-US" sz="2200" dirty="0" smtClean="0">
              <a:latin typeface="Helvetica" pitchFamily="34" charset="0"/>
            </a:endParaRPr>
          </a:p>
          <a:p>
            <a:pPr marL="0" indent="0">
              <a:spcBef>
                <a:spcPts val="600"/>
              </a:spcBef>
              <a:spcAft>
                <a:spcPts val="600"/>
              </a:spcAft>
              <a:buNone/>
            </a:pPr>
            <a:endParaRPr lang="en-US" sz="2200" dirty="0" smtClean="0">
              <a:latin typeface="Helvetica" pitchFamily="34" charset="0"/>
            </a:endParaRPr>
          </a:p>
          <a:p>
            <a:pPr marL="0" indent="0">
              <a:spcBef>
                <a:spcPts val="600"/>
              </a:spcBef>
              <a:spcAft>
                <a:spcPts val="600"/>
              </a:spcAft>
              <a:buNone/>
            </a:pPr>
            <a:endParaRPr lang="en-US" sz="2200" dirty="0" smtClean="0">
              <a:latin typeface="Helvetica" pitchFamily="34" charset="0"/>
            </a:endParaRPr>
          </a:p>
          <a:p>
            <a:pPr marL="0" indent="0">
              <a:spcBef>
                <a:spcPts val="600"/>
              </a:spcBef>
              <a:spcAft>
                <a:spcPts val="600"/>
              </a:spcAft>
              <a:buNone/>
            </a:pPr>
            <a:endParaRPr lang="en-US" sz="2200" dirty="0" smtClean="0">
              <a:latin typeface="Helvetica" pitchFamily="34" charset="0"/>
            </a:endParaRP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21506" name="Picture 2" descr="C:\Documents and Settings\Godaishu\Desktop\flour.jpg"/>
          <p:cNvPicPr>
            <a:picLocks noChangeAspect="1" noChangeArrowheads="1"/>
          </p:cNvPicPr>
          <p:nvPr/>
        </p:nvPicPr>
        <p:blipFill>
          <a:blip r:embed="rId3" cstate="print"/>
          <a:srcRect/>
          <a:stretch>
            <a:fillRect/>
          </a:stretch>
        </p:blipFill>
        <p:spPr bwMode="auto">
          <a:xfrm>
            <a:off x="4714876" y="2500306"/>
            <a:ext cx="2266950" cy="2019300"/>
          </a:xfrm>
          <a:prstGeom prst="rect">
            <a:avLst/>
          </a:prstGeom>
          <a:noFill/>
        </p:spPr>
      </p:pic>
    </p:spTree>
    <p:extLst>
      <p:ext uri="{BB962C8B-B14F-4D97-AF65-F5344CB8AC3E}">
        <p14:creationId xmlns:p14="http://schemas.microsoft.com/office/powerpoint/2010/main" val="37978634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rPr>
              <a:t>Element 3: Prepare and produce pastries and fillings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600"/>
              </a:spcAft>
              <a:buNone/>
            </a:pPr>
            <a:r>
              <a:rPr lang="en-US" sz="2200" b="1" dirty="0" smtClean="0">
                <a:latin typeface="Helvetica" pitchFamily="34" charset="0"/>
              </a:rPr>
              <a:t>Select required commodities:</a:t>
            </a:r>
          </a:p>
          <a:p>
            <a:pPr lvl="0">
              <a:spcBef>
                <a:spcPts val="600"/>
              </a:spcBef>
              <a:spcAft>
                <a:spcPts val="600"/>
              </a:spcAft>
            </a:pPr>
            <a:r>
              <a:rPr lang="en-AU" sz="2200" dirty="0" smtClean="0"/>
              <a:t>Sugars</a:t>
            </a:r>
          </a:p>
          <a:p>
            <a:pPr lvl="1">
              <a:spcBef>
                <a:spcPts val="600"/>
              </a:spcBef>
              <a:spcAft>
                <a:spcPts val="600"/>
              </a:spcAft>
              <a:buFont typeface="Wingdings" pitchFamily="2" charset="2"/>
              <a:buChar char="§"/>
            </a:pPr>
            <a:r>
              <a:rPr lang="en-AU" sz="2200" dirty="0" smtClean="0"/>
              <a:t>Caster</a:t>
            </a:r>
          </a:p>
          <a:p>
            <a:pPr lvl="1">
              <a:spcBef>
                <a:spcPts val="600"/>
              </a:spcBef>
              <a:spcAft>
                <a:spcPts val="600"/>
              </a:spcAft>
              <a:buFont typeface="Wingdings" pitchFamily="2" charset="2"/>
              <a:buChar char="§"/>
            </a:pPr>
            <a:r>
              <a:rPr lang="en-AU" sz="2200" dirty="0" smtClean="0"/>
              <a:t>Brown</a:t>
            </a:r>
          </a:p>
          <a:p>
            <a:pPr lvl="1">
              <a:spcBef>
                <a:spcPts val="600"/>
              </a:spcBef>
              <a:spcAft>
                <a:spcPts val="600"/>
              </a:spcAft>
              <a:buFont typeface="Wingdings" pitchFamily="2" charset="2"/>
              <a:buChar char="§"/>
            </a:pPr>
            <a:r>
              <a:rPr lang="en-AU" sz="2200" dirty="0" smtClean="0"/>
              <a:t>A1 crystal</a:t>
            </a:r>
          </a:p>
          <a:p>
            <a:pPr lvl="1">
              <a:spcBef>
                <a:spcPts val="600"/>
              </a:spcBef>
              <a:spcAft>
                <a:spcPts val="600"/>
              </a:spcAft>
              <a:buFont typeface="Wingdings" pitchFamily="2" charset="2"/>
              <a:buChar char="§"/>
            </a:pPr>
            <a:r>
              <a:rPr lang="en-AU" sz="2200" dirty="0" smtClean="0"/>
              <a:t>Glucose, powder and liquid</a:t>
            </a:r>
          </a:p>
          <a:p>
            <a:pPr lvl="1">
              <a:spcBef>
                <a:spcPts val="600"/>
              </a:spcBef>
              <a:spcAft>
                <a:spcPts val="600"/>
              </a:spcAft>
              <a:buFont typeface="Wingdings" pitchFamily="2" charset="2"/>
              <a:buChar char="§"/>
            </a:pPr>
            <a:r>
              <a:rPr lang="en-AU" sz="2200" dirty="0" smtClean="0"/>
              <a:t>Icing </a:t>
            </a:r>
          </a:p>
          <a:p>
            <a:pPr lvl="0">
              <a:spcBef>
                <a:spcPts val="600"/>
              </a:spcBef>
              <a:spcAft>
                <a:spcPts val="600"/>
              </a:spcAft>
            </a:pPr>
            <a:r>
              <a:rPr lang="en-AU" sz="2200" dirty="0" smtClean="0"/>
              <a:t>Fondant</a:t>
            </a:r>
            <a:endParaRPr lang="en-US" sz="2200" dirty="0" smtClean="0">
              <a:latin typeface="Helvetica" pitchFamily="34" charset="0"/>
            </a:endParaRPr>
          </a:p>
          <a:p>
            <a:pPr marL="0" indent="0">
              <a:spcBef>
                <a:spcPts val="600"/>
              </a:spcBef>
              <a:spcAft>
                <a:spcPts val="600"/>
              </a:spcAft>
              <a:buNone/>
            </a:pPr>
            <a:endParaRPr lang="en-US" sz="2200" dirty="0" smtClean="0">
              <a:latin typeface="Helvetica" pitchFamily="34" charset="0"/>
            </a:endParaRPr>
          </a:p>
          <a:p>
            <a:pPr marL="0" indent="0">
              <a:spcBef>
                <a:spcPts val="600"/>
              </a:spcBef>
              <a:spcAft>
                <a:spcPts val="600"/>
              </a:spcAft>
              <a:buNone/>
            </a:pPr>
            <a:endParaRPr lang="en-US" sz="2200" dirty="0" smtClean="0">
              <a:latin typeface="Helvetica" pitchFamily="34" charset="0"/>
            </a:endParaRPr>
          </a:p>
          <a:p>
            <a:pPr marL="0" indent="0">
              <a:spcBef>
                <a:spcPts val="600"/>
              </a:spcBef>
              <a:spcAft>
                <a:spcPts val="600"/>
              </a:spcAft>
              <a:buNone/>
            </a:pPr>
            <a:endParaRPr lang="en-US" sz="2200" dirty="0" smtClean="0">
              <a:latin typeface="Helvetica" pitchFamily="34" charset="0"/>
            </a:endParaRP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22530" name="Picture 2" descr="C:\Documents and Settings\Godaishu\Desktop\leplat-veronique-icing-sugar-in-a-sieve.jpg"/>
          <p:cNvPicPr>
            <a:picLocks noChangeAspect="1" noChangeArrowheads="1"/>
          </p:cNvPicPr>
          <p:nvPr/>
        </p:nvPicPr>
        <p:blipFill>
          <a:blip r:embed="rId3" cstate="print"/>
          <a:srcRect/>
          <a:stretch>
            <a:fillRect/>
          </a:stretch>
        </p:blipFill>
        <p:spPr bwMode="auto">
          <a:xfrm>
            <a:off x="6000760" y="2214555"/>
            <a:ext cx="1847843" cy="2460146"/>
          </a:xfrm>
          <a:prstGeom prst="rect">
            <a:avLst/>
          </a:prstGeom>
          <a:noFill/>
        </p:spPr>
      </p:pic>
    </p:spTree>
    <p:extLst>
      <p:ext uri="{BB962C8B-B14F-4D97-AF65-F5344CB8AC3E}">
        <p14:creationId xmlns:p14="http://schemas.microsoft.com/office/powerpoint/2010/main" val="37978634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rPr>
              <a:t>Element 3: Prepare and produce pastries and fillings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b="1" dirty="0" smtClean="0">
                <a:latin typeface="Helvetica" pitchFamily="34" charset="0"/>
              </a:rPr>
              <a:t>Select required commodities:</a:t>
            </a:r>
          </a:p>
          <a:p>
            <a:pPr lvl="0">
              <a:spcBef>
                <a:spcPts val="600"/>
              </a:spcBef>
              <a:spcAft>
                <a:spcPts val="600"/>
              </a:spcAft>
            </a:pPr>
            <a:r>
              <a:rPr lang="en-AU" sz="2200" dirty="0" smtClean="0"/>
              <a:t>Eggs</a:t>
            </a:r>
          </a:p>
          <a:p>
            <a:pPr lvl="0">
              <a:spcBef>
                <a:spcPts val="600"/>
              </a:spcBef>
              <a:spcAft>
                <a:spcPts val="600"/>
              </a:spcAft>
            </a:pPr>
            <a:r>
              <a:rPr lang="en-AU" sz="2200" dirty="0" smtClean="0"/>
              <a:t>Dairy products and substitutes</a:t>
            </a:r>
          </a:p>
          <a:p>
            <a:pPr lvl="1">
              <a:spcBef>
                <a:spcPts val="600"/>
              </a:spcBef>
              <a:spcAft>
                <a:spcPts val="600"/>
              </a:spcAft>
              <a:buFont typeface="Wingdings" pitchFamily="2" charset="2"/>
              <a:buChar char="§"/>
            </a:pPr>
            <a:r>
              <a:rPr lang="en-AU" sz="2200" dirty="0" smtClean="0"/>
              <a:t>Milk</a:t>
            </a:r>
          </a:p>
          <a:p>
            <a:pPr lvl="1">
              <a:spcBef>
                <a:spcPts val="600"/>
              </a:spcBef>
              <a:spcAft>
                <a:spcPts val="600"/>
              </a:spcAft>
              <a:buFont typeface="Wingdings" pitchFamily="2" charset="2"/>
              <a:buChar char="§"/>
            </a:pPr>
            <a:r>
              <a:rPr lang="en-AU" sz="2200" dirty="0" smtClean="0"/>
              <a:t>Cream</a:t>
            </a:r>
          </a:p>
          <a:p>
            <a:pPr lvl="1">
              <a:spcBef>
                <a:spcPts val="600"/>
              </a:spcBef>
              <a:spcAft>
                <a:spcPts val="600"/>
              </a:spcAft>
              <a:buFont typeface="Wingdings" pitchFamily="2" charset="2"/>
              <a:buChar char="§"/>
            </a:pPr>
            <a:r>
              <a:rPr lang="en-AU" sz="2200" dirty="0" smtClean="0"/>
              <a:t>Fats, oils, butter, margarines</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23554" name="Picture 2" descr="C:\Documents and Settings\Godaishu\Desktop\2012\Culinary 2012\Ingredients.jpg"/>
          <p:cNvPicPr>
            <a:picLocks noChangeAspect="1" noChangeArrowheads="1"/>
          </p:cNvPicPr>
          <p:nvPr/>
        </p:nvPicPr>
        <p:blipFill>
          <a:blip r:embed="rId3" cstate="print"/>
          <a:srcRect/>
          <a:stretch>
            <a:fillRect/>
          </a:stretch>
        </p:blipFill>
        <p:spPr bwMode="auto">
          <a:xfrm>
            <a:off x="6429388" y="2571744"/>
            <a:ext cx="1528752" cy="1538367"/>
          </a:xfrm>
          <a:prstGeom prst="rect">
            <a:avLst/>
          </a:prstGeom>
          <a:noFill/>
        </p:spPr>
      </p:pic>
    </p:spTree>
    <p:extLst>
      <p:ext uri="{BB962C8B-B14F-4D97-AF65-F5344CB8AC3E}">
        <p14:creationId xmlns:p14="http://schemas.microsoft.com/office/powerpoint/2010/main" val="37978634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rPr>
              <a:t>Element 3: Prepare and produce pastries and fillings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b="1" dirty="0" smtClean="0">
                <a:latin typeface="Helvetica" pitchFamily="34" charset="0"/>
              </a:rPr>
              <a:t>Prepare variety of pastries:</a:t>
            </a:r>
          </a:p>
          <a:p>
            <a:pPr>
              <a:spcBef>
                <a:spcPts val="600"/>
              </a:spcBef>
              <a:spcAft>
                <a:spcPts val="600"/>
              </a:spcAft>
            </a:pPr>
            <a:r>
              <a:rPr lang="en-US" sz="2200" dirty="0" smtClean="0"/>
              <a:t>Puff pastry</a:t>
            </a:r>
          </a:p>
          <a:p>
            <a:pPr>
              <a:spcBef>
                <a:spcPts val="600"/>
              </a:spcBef>
              <a:spcAft>
                <a:spcPts val="600"/>
              </a:spcAft>
            </a:pPr>
            <a:r>
              <a:rPr lang="en-US" sz="2200" dirty="0" smtClean="0"/>
              <a:t>Mille fueille</a:t>
            </a:r>
          </a:p>
          <a:p>
            <a:pPr>
              <a:spcBef>
                <a:spcPts val="600"/>
              </a:spcBef>
              <a:spcAft>
                <a:spcPts val="600"/>
              </a:spcAft>
            </a:pPr>
            <a:r>
              <a:rPr lang="en-US" sz="2200" dirty="0" smtClean="0"/>
              <a:t>Vol au vents</a:t>
            </a:r>
          </a:p>
          <a:p>
            <a:pPr>
              <a:spcBef>
                <a:spcPts val="600"/>
              </a:spcBef>
              <a:spcAft>
                <a:spcPts val="600"/>
              </a:spcAft>
            </a:pPr>
            <a:r>
              <a:rPr lang="en-US" sz="2200" dirty="0" smtClean="0"/>
              <a:t>Chausson aux pommes</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24578" name="Picture 2" descr="C:\Documents and Settings\Godaishu\Desktop\Chausson de pomme.JPG"/>
          <p:cNvPicPr>
            <a:picLocks noChangeAspect="1" noChangeArrowheads="1"/>
          </p:cNvPicPr>
          <p:nvPr/>
        </p:nvPicPr>
        <p:blipFill>
          <a:blip r:embed="rId3" cstate="print">
            <a:lum contrast="20000"/>
          </a:blip>
          <a:srcRect t="11538" r="4808"/>
          <a:stretch>
            <a:fillRect/>
          </a:stretch>
        </p:blipFill>
        <p:spPr bwMode="auto">
          <a:xfrm>
            <a:off x="4857752" y="2143116"/>
            <a:ext cx="2357454" cy="1643074"/>
          </a:xfrm>
          <a:prstGeom prst="rect">
            <a:avLst/>
          </a:prstGeom>
          <a:noFill/>
        </p:spPr>
      </p:pic>
    </p:spTree>
    <p:extLst>
      <p:ext uri="{BB962C8B-B14F-4D97-AF65-F5344CB8AC3E}">
        <p14:creationId xmlns:p14="http://schemas.microsoft.com/office/powerpoint/2010/main" val="14596597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rPr>
              <a:t>Element 3: Prepare and produce pastries and fillings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b="1" dirty="0" smtClean="0">
                <a:latin typeface="Helvetica" pitchFamily="34" charset="0"/>
              </a:rPr>
              <a:t>Prepare variety of pastries:</a:t>
            </a:r>
          </a:p>
          <a:p>
            <a:pPr>
              <a:spcBef>
                <a:spcPts val="600"/>
              </a:spcBef>
              <a:spcAft>
                <a:spcPts val="600"/>
              </a:spcAft>
            </a:pPr>
            <a:r>
              <a:rPr lang="en-US" sz="2200" dirty="0" smtClean="0"/>
              <a:t>Short pastry</a:t>
            </a:r>
          </a:p>
          <a:p>
            <a:pPr>
              <a:spcBef>
                <a:spcPts val="600"/>
              </a:spcBef>
              <a:spcAft>
                <a:spcPts val="600"/>
              </a:spcAft>
            </a:pPr>
            <a:r>
              <a:rPr lang="en-US" sz="2200" dirty="0" smtClean="0"/>
              <a:t>Quiche</a:t>
            </a:r>
          </a:p>
          <a:p>
            <a:pPr>
              <a:spcBef>
                <a:spcPts val="600"/>
              </a:spcBef>
              <a:spcAft>
                <a:spcPts val="600"/>
              </a:spcAft>
            </a:pPr>
            <a:r>
              <a:rPr lang="en-US" sz="2200" dirty="0" smtClean="0"/>
              <a:t>Savoury rolls</a:t>
            </a:r>
          </a:p>
          <a:p>
            <a:pPr>
              <a:spcBef>
                <a:spcPts val="600"/>
              </a:spcBef>
              <a:spcAft>
                <a:spcPts val="600"/>
              </a:spcAft>
            </a:pPr>
            <a:r>
              <a:rPr lang="en-US" sz="2200" dirty="0" smtClean="0"/>
              <a:t>Pie bases</a:t>
            </a:r>
          </a:p>
          <a:p>
            <a:pPr>
              <a:spcBef>
                <a:spcPts val="600"/>
              </a:spcBef>
              <a:spcAft>
                <a:spcPts val="600"/>
              </a:spcAft>
            </a:pPr>
            <a:r>
              <a:rPr lang="en-US" sz="2200" dirty="0" smtClean="0"/>
              <a:t>Crusts</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25602" name="Picture 2" descr="C:\Documents and Settings\Godaishu\Desktop\2012\Culinary 2012\973575_pastry_2[1].jpg"/>
          <p:cNvPicPr>
            <a:picLocks noChangeAspect="1" noChangeArrowheads="1"/>
          </p:cNvPicPr>
          <p:nvPr/>
        </p:nvPicPr>
        <p:blipFill>
          <a:blip r:embed="rId3" cstate="print"/>
          <a:srcRect/>
          <a:stretch>
            <a:fillRect/>
          </a:stretch>
        </p:blipFill>
        <p:spPr bwMode="auto">
          <a:xfrm>
            <a:off x="4357686" y="2428868"/>
            <a:ext cx="2857500" cy="1819275"/>
          </a:xfrm>
          <a:prstGeom prst="rect">
            <a:avLst/>
          </a:prstGeom>
          <a:noFill/>
        </p:spPr>
      </p:pic>
    </p:spTree>
    <p:extLst>
      <p:ext uri="{BB962C8B-B14F-4D97-AF65-F5344CB8AC3E}">
        <p14:creationId xmlns:p14="http://schemas.microsoft.com/office/powerpoint/2010/main" val="42532673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rPr>
              <a:t>Element 3: Prepare and produce pastries and fillings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b="1" dirty="0" smtClean="0">
                <a:latin typeface="Helvetica" pitchFamily="34" charset="0"/>
              </a:rPr>
              <a:t>Prepare variety of pastries:</a:t>
            </a:r>
          </a:p>
          <a:p>
            <a:pPr>
              <a:spcBef>
                <a:spcPts val="600"/>
              </a:spcBef>
              <a:spcAft>
                <a:spcPts val="600"/>
              </a:spcAft>
            </a:pPr>
            <a:r>
              <a:rPr lang="en-US" sz="2200" dirty="0" smtClean="0"/>
              <a:t>Sweet short pastry</a:t>
            </a:r>
          </a:p>
          <a:p>
            <a:pPr>
              <a:spcBef>
                <a:spcPts val="600"/>
              </a:spcBef>
              <a:spcAft>
                <a:spcPts val="600"/>
              </a:spcAft>
            </a:pPr>
            <a:r>
              <a:rPr lang="en-US" sz="2200" dirty="0" smtClean="0"/>
              <a:t>Fruit pies</a:t>
            </a:r>
          </a:p>
          <a:p>
            <a:pPr>
              <a:spcBef>
                <a:spcPts val="600"/>
              </a:spcBef>
              <a:spcAft>
                <a:spcPts val="600"/>
              </a:spcAft>
            </a:pPr>
            <a:r>
              <a:rPr lang="en-US" sz="2200" dirty="0" smtClean="0"/>
              <a:t>Sweet rolls</a:t>
            </a:r>
          </a:p>
          <a:p>
            <a:pPr>
              <a:spcBef>
                <a:spcPts val="600"/>
              </a:spcBef>
              <a:spcAft>
                <a:spcPts val="600"/>
              </a:spcAft>
            </a:pPr>
            <a:r>
              <a:rPr lang="en-US" sz="2200" dirty="0" smtClean="0"/>
              <a:t>Pie bases</a:t>
            </a:r>
          </a:p>
          <a:p>
            <a:pPr>
              <a:spcBef>
                <a:spcPts val="600"/>
              </a:spcBef>
              <a:spcAft>
                <a:spcPts val="600"/>
              </a:spcAft>
            </a:pPr>
            <a:r>
              <a:rPr lang="en-US" sz="2200" dirty="0" smtClean="0"/>
              <a:t>Shortbread biscuits</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26626" name="Picture 2" descr="C:\Documents and Settings\Godaishu\Desktop\2012\Culinary 2012\Patisserie\shutterstock_52741564.jpg"/>
          <p:cNvPicPr>
            <a:picLocks noChangeAspect="1" noChangeArrowheads="1"/>
          </p:cNvPicPr>
          <p:nvPr/>
        </p:nvPicPr>
        <p:blipFill>
          <a:blip r:embed="rId3" cstate="print"/>
          <a:srcRect/>
          <a:stretch>
            <a:fillRect/>
          </a:stretch>
        </p:blipFill>
        <p:spPr bwMode="auto">
          <a:xfrm>
            <a:off x="4357686" y="2214554"/>
            <a:ext cx="3048000" cy="2033588"/>
          </a:xfrm>
          <a:prstGeom prst="rect">
            <a:avLst/>
          </a:prstGeom>
          <a:noFill/>
        </p:spPr>
      </p:pic>
    </p:spTree>
    <p:extLst>
      <p:ext uri="{BB962C8B-B14F-4D97-AF65-F5344CB8AC3E}">
        <p14:creationId xmlns:p14="http://schemas.microsoft.com/office/powerpoint/2010/main" val="42532673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4: Decorate and present pastries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t>Performance Criteria</a:t>
            </a:r>
          </a:p>
          <a:p>
            <a:pPr>
              <a:spcBef>
                <a:spcPts val="600"/>
              </a:spcBef>
              <a:spcAft>
                <a:spcPts val="600"/>
              </a:spcAft>
            </a:pPr>
            <a:r>
              <a:rPr lang="en-AU" sz="2200" dirty="0" smtClean="0"/>
              <a:t>Prepare </a:t>
            </a:r>
            <a:r>
              <a:rPr lang="en-AU" sz="2200" dirty="0"/>
              <a:t>a variety of </a:t>
            </a:r>
            <a:r>
              <a:rPr lang="en-AU" sz="2200" dirty="0" smtClean="0"/>
              <a:t>fillings, coatings, icings, </a:t>
            </a:r>
            <a:br>
              <a:rPr lang="en-AU" sz="2200" dirty="0" smtClean="0"/>
            </a:br>
            <a:r>
              <a:rPr lang="en-AU" sz="2200" dirty="0" smtClean="0"/>
              <a:t>glazes </a:t>
            </a:r>
            <a:r>
              <a:rPr lang="en-AU" sz="2200" dirty="0"/>
              <a:t>and decorations for pastries</a:t>
            </a:r>
          </a:p>
          <a:p>
            <a:pPr>
              <a:spcBef>
                <a:spcPts val="600"/>
              </a:spcBef>
              <a:spcAft>
                <a:spcPts val="600"/>
              </a:spcAft>
            </a:pPr>
            <a:r>
              <a:rPr lang="en-AU" sz="2200" dirty="0"/>
              <a:t>Decorate pastries using coating, icing and decorations according to standard recipes </a:t>
            </a:r>
            <a:r>
              <a:rPr lang="en-AU" sz="2200" dirty="0" smtClean="0"/>
              <a:t>and or </a:t>
            </a:r>
            <a:r>
              <a:rPr lang="en-AU" sz="2200" dirty="0"/>
              <a:t>enterprise standards </a:t>
            </a:r>
            <a:r>
              <a:rPr lang="en-AU" sz="2200" dirty="0" smtClean="0"/>
              <a:t>and or </a:t>
            </a:r>
            <a:r>
              <a:rPr lang="en-AU" sz="2200" dirty="0"/>
              <a:t>customer requests</a:t>
            </a:r>
          </a:p>
          <a:p>
            <a:pPr>
              <a:spcBef>
                <a:spcPts val="600"/>
              </a:spcBef>
              <a:spcAft>
                <a:spcPts val="600"/>
              </a:spcAft>
            </a:pPr>
            <a:r>
              <a:rPr lang="en-AU" sz="2200" dirty="0" smtClean="0"/>
              <a:t>Present and display </a:t>
            </a:r>
            <a:r>
              <a:rPr lang="en-AU" sz="2200" dirty="0"/>
              <a:t>pastries to enterprise standards using appropriate service </a:t>
            </a:r>
            <a:r>
              <a:rPr lang="en-AU" sz="2200" dirty="0" smtClean="0"/>
              <a:t>equipment</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5" name="Picture 2" descr="C:\Documents and Settings\danielc\My Documents\Downloads\learn.jpg"/>
          <p:cNvPicPr>
            <a:picLocks noChangeAspect="1" noChangeArrowheads="1"/>
          </p:cNvPicPr>
          <p:nvPr/>
        </p:nvPicPr>
        <p:blipFill>
          <a:blip r:embed="rId3" cstate="print"/>
          <a:srcRect/>
          <a:stretch>
            <a:fillRect/>
          </a:stretch>
        </p:blipFill>
        <p:spPr bwMode="auto">
          <a:xfrm>
            <a:off x="6429388" y="1285860"/>
            <a:ext cx="1500198" cy="1500198"/>
          </a:xfrm>
          <a:prstGeom prst="rect">
            <a:avLst/>
          </a:prstGeom>
          <a:noFill/>
        </p:spPr>
      </p:pic>
    </p:spTree>
    <p:extLst>
      <p:ext uri="{BB962C8B-B14F-4D97-AF65-F5344CB8AC3E}">
        <p14:creationId xmlns:p14="http://schemas.microsoft.com/office/powerpoint/2010/main" val="4573498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rPr>
              <a:t>Element 4: Decorate and present pastries</a:t>
            </a: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b="1" dirty="0" smtClean="0">
                <a:latin typeface="Helvetica" pitchFamily="34" charset="0"/>
              </a:rPr>
              <a:t>Prepare variety of fillings and glazes:</a:t>
            </a:r>
          </a:p>
          <a:p>
            <a:pPr marL="0" indent="-457200">
              <a:spcBef>
                <a:spcPts val="600"/>
              </a:spcBef>
              <a:spcAft>
                <a:spcPts val="1200"/>
              </a:spcAft>
            </a:pPr>
            <a:r>
              <a:rPr lang="en-US" sz="2200" dirty="0" smtClean="0">
                <a:latin typeface="Helvetica" pitchFamily="34" charset="0"/>
              </a:rPr>
              <a:t>Cream</a:t>
            </a:r>
          </a:p>
          <a:p>
            <a:pPr marL="0" indent="-457200">
              <a:spcBef>
                <a:spcPts val="600"/>
              </a:spcBef>
              <a:spcAft>
                <a:spcPts val="1200"/>
              </a:spcAft>
            </a:pPr>
            <a:r>
              <a:rPr lang="en-US" sz="2200" dirty="0" smtClean="0">
                <a:latin typeface="Helvetica" pitchFamily="34" charset="0"/>
              </a:rPr>
              <a:t>Fruit fillings</a:t>
            </a:r>
          </a:p>
          <a:p>
            <a:pPr marL="0" indent="-457200">
              <a:spcBef>
                <a:spcPts val="600"/>
              </a:spcBef>
              <a:spcAft>
                <a:spcPts val="1200"/>
              </a:spcAft>
            </a:pPr>
            <a:r>
              <a:rPr lang="en-US" sz="2200" dirty="0" smtClean="0">
                <a:latin typeface="Helvetica" pitchFamily="34" charset="0"/>
              </a:rPr>
              <a:t>Savoury meat fillings</a:t>
            </a:r>
          </a:p>
          <a:p>
            <a:pPr marL="0" indent="-457200">
              <a:spcBef>
                <a:spcPts val="600"/>
              </a:spcBef>
              <a:spcAft>
                <a:spcPts val="1200"/>
              </a:spcAft>
            </a:pPr>
            <a:r>
              <a:rPr lang="en-US" sz="2200" dirty="0" smtClean="0">
                <a:latin typeface="Helvetica" pitchFamily="34" charset="0"/>
              </a:rPr>
              <a:t>Savoury vegetable fillings</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5" name="Picture 4" descr="C:\Documents and Settings\Godaishu\Desktop\2012\Culinary 2012\Patisserie\Strudels.jpg"/>
          <p:cNvPicPr/>
          <p:nvPr/>
        </p:nvPicPr>
        <p:blipFill>
          <a:blip r:embed="rId3" cstate="print"/>
          <a:srcRect/>
          <a:stretch>
            <a:fillRect/>
          </a:stretch>
        </p:blipFill>
        <p:spPr bwMode="auto">
          <a:xfrm>
            <a:off x="5072066" y="2214554"/>
            <a:ext cx="3038475" cy="2028825"/>
          </a:xfrm>
          <a:prstGeom prst="rect">
            <a:avLst/>
          </a:prstGeom>
          <a:noFill/>
          <a:ln w="9525">
            <a:noFill/>
            <a:miter lim="800000"/>
            <a:headEnd/>
            <a:tailEnd/>
          </a:ln>
        </p:spPr>
      </p:pic>
    </p:spTree>
    <p:extLst>
      <p:ext uri="{BB962C8B-B14F-4D97-AF65-F5344CB8AC3E}">
        <p14:creationId xmlns:p14="http://schemas.microsoft.com/office/powerpoint/2010/main" val="14290435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rPr>
              <a:t>Element 4: Decorate and present pastries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b="1" dirty="0" smtClean="0">
                <a:latin typeface="Helvetica" pitchFamily="34" charset="0"/>
              </a:rPr>
              <a:t>Decorate pastries to enterprise standards:</a:t>
            </a:r>
          </a:p>
          <a:p>
            <a:pPr>
              <a:spcBef>
                <a:spcPts val="600"/>
              </a:spcBef>
              <a:spcAft>
                <a:spcPts val="1200"/>
              </a:spcAft>
            </a:pPr>
            <a:r>
              <a:rPr lang="en-US" sz="2200" dirty="0" smtClean="0"/>
              <a:t>Everyday presentation</a:t>
            </a:r>
          </a:p>
          <a:p>
            <a:pPr>
              <a:spcBef>
                <a:spcPts val="600"/>
              </a:spcBef>
              <a:spcAft>
                <a:spcPts val="1200"/>
              </a:spcAft>
            </a:pPr>
            <a:r>
              <a:rPr lang="en-US" sz="2200" dirty="0" smtClean="0"/>
              <a:t>Celebratory occasion</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27650" name="Picture 2" descr="C:\Documents and Settings\Godaishu\Desktop\2012\Culinary 2012\Patisserie\Danish1.jpg"/>
          <p:cNvPicPr>
            <a:picLocks noChangeAspect="1" noChangeArrowheads="1"/>
          </p:cNvPicPr>
          <p:nvPr/>
        </p:nvPicPr>
        <p:blipFill>
          <a:blip r:embed="rId3" cstate="print"/>
          <a:srcRect/>
          <a:stretch>
            <a:fillRect/>
          </a:stretch>
        </p:blipFill>
        <p:spPr bwMode="auto">
          <a:xfrm>
            <a:off x="4929190" y="2357430"/>
            <a:ext cx="3048000" cy="2033587"/>
          </a:xfrm>
          <a:prstGeom prst="rect">
            <a:avLst/>
          </a:prstGeom>
          <a:noFill/>
        </p:spPr>
      </p:pic>
    </p:spTree>
    <p:extLst>
      <p:ext uri="{BB962C8B-B14F-4D97-AF65-F5344CB8AC3E}">
        <p14:creationId xmlns:p14="http://schemas.microsoft.com/office/powerpoint/2010/main" val="8733892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sp>
        <p:nvSpPr>
          <p:cNvPr id="8"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rPr>
              <a:t>Element 4: Decorate and present pastries</a:t>
            </a:r>
            <a:endParaRPr lang="en-US" sz="2800" b="1" dirty="0">
              <a:solidFill>
                <a:srgbClr val="FF6600"/>
              </a:solidFill>
              <a:latin typeface="Helvetica" pitchFamily="34" charset="0"/>
            </a:endParaRPr>
          </a:p>
        </p:txBody>
      </p:sp>
      <p:sp>
        <p:nvSpPr>
          <p:cNvPr id="9"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b="1" dirty="0" smtClean="0">
                <a:latin typeface="Helvetica" pitchFamily="34" charset="0"/>
              </a:rPr>
              <a:t>Present/display to enterprise standards:</a:t>
            </a:r>
          </a:p>
          <a:p>
            <a:pPr>
              <a:spcBef>
                <a:spcPts val="600"/>
              </a:spcBef>
              <a:spcAft>
                <a:spcPts val="600"/>
              </a:spcAft>
            </a:pPr>
            <a:r>
              <a:rPr lang="en-US" sz="2200" dirty="0" smtClean="0"/>
              <a:t>Formal</a:t>
            </a:r>
          </a:p>
          <a:p>
            <a:pPr>
              <a:spcBef>
                <a:spcPts val="600"/>
              </a:spcBef>
              <a:spcAft>
                <a:spcPts val="600"/>
              </a:spcAft>
            </a:pPr>
            <a:r>
              <a:rPr lang="en-US" sz="2200" dirty="0" smtClean="0"/>
              <a:t>Casual</a:t>
            </a:r>
          </a:p>
          <a:p>
            <a:pPr>
              <a:spcBef>
                <a:spcPts val="600"/>
              </a:spcBef>
              <a:spcAft>
                <a:spcPts val="600"/>
              </a:spcAft>
            </a:pPr>
            <a:r>
              <a:rPr lang="en-US" sz="2200" dirty="0" smtClean="0"/>
              <a:t>In house</a:t>
            </a:r>
          </a:p>
          <a:p>
            <a:pPr>
              <a:spcBef>
                <a:spcPts val="600"/>
              </a:spcBef>
              <a:spcAft>
                <a:spcPts val="600"/>
              </a:spcAft>
            </a:pPr>
            <a:r>
              <a:rPr lang="en-US" sz="2200" dirty="0" smtClean="0"/>
              <a:t>Take home</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pic>
        <p:nvPicPr>
          <p:cNvPr id="10" name="Picture 2" descr="C:\Documents and Settings\Godaishu\Desktop\2012\Culinary 2012\Patisserie\Danish.jpg"/>
          <p:cNvPicPr>
            <a:picLocks noChangeAspect="1" noChangeArrowheads="1"/>
          </p:cNvPicPr>
          <p:nvPr/>
        </p:nvPicPr>
        <p:blipFill>
          <a:blip r:embed="rId3" cstate="print"/>
          <a:srcRect/>
          <a:stretch>
            <a:fillRect/>
          </a:stretch>
        </p:blipFill>
        <p:spPr bwMode="auto">
          <a:xfrm>
            <a:off x="3857620" y="2357430"/>
            <a:ext cx="3235325" cy="2152650"/>
          </a:xfrm>
          <a:prstGeom prst="rect">
            <a:avLst/>
          </a:prstGeom>
          <a:noFill/>
        </p:spPr>
      </p:pic>
    </p:spTree>
    <p:extLst>
      <p:ext uri="{BB962C8B-B14F-4D97-AF65-F5344CB8AC3E}">
        <p14:creationId xmlns:p14="http://schemas.microsoft.com/office/powerpoint/2010/main" val="8733892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rPr>
              <a:t>Element 5: Store cakes and pastries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Performance Criteria</a:t>
            </a:r>
          </a:p>
          <a:p>
            <a:pPr>
              <a:spcBef>
                <a:spcPts val="600"/>
              </a:spcBef>
              <a:spcAft>
                <a:spcPts val="1200"/>
              </a:spcAft>
            </a:pPr>
            <a:r>
              <a:rPr lang="en-AU" sz="2200" dirty="0"/>
              <a:t>Store at correct temperature and conditions </a:t>
            </a:r>
            <a:r>
              <a:rPr lang="en-AU" sz="2200" dirty="0" smtClean="0"/>
              <a:t/>
            </a:r>
            <a:br>
              <a:rPr lang="en-AU" sz="2200" dirty="0" smtClean="0"/>
            </a:br>
            <a:r>
              <a:rPr lang="en-AU" sz="2200" dirty="0" smtClean="0"/>
              <a:t>of storage</a:t>
            </a:r>
            <a:endParaRPr lang="en-AU" sz="2200" dirty="0"/>
          </a:p>
          <a:p>
            <a:pPr>
              <a:spcBef>
                <a:spcPts val="600"/>
              </a:spcBef>
              <a:spcAft>
                <a:spcPts val="1200"/>
              </a:spcAft>
            </a:pPr>
            <a:r>
              <a:rPr lang="en-AU" sz="2200" dirty="0" smtClean="0"/>
              <a:t>Maintain </a:t>
            </a:r>
            <a:r>
              <a:rPr lang="en-AU" sz="2200" dirty="0"/>
              <a:t>maximum eating quality, appearance </a:t>
            </a:r>
            <a:r>
              <a:rPr lang="en-AU" sz="2200" dirty="0" smtClean="0"/>
              <a:t/>
            </a:r>
            <a:br>
              <a:rPr lang="en-AU" sz="2200" dirty="0" smtClean="0"/>
            </a:br>
            <a:r>
              <a:rPr lang="en-AU" sz="2200" dirty="0" smtClean="0"/>
              <a:t>and freshness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5" name="Picture 2" descr="C:\Documents and Settings\danielc\My Documents\Downloads\learn.jpg"/>
          <p:cNvPicPr>
            <a:picLocks noChangeAspect="1" noChangeArrowheads="1"/>
          </p:cNvPicPr>
          <p:nvPr/>
        </p:nvPicPr>
        <p:blipFill>
          <a:blip r:embed="rId3" cstate="print"/>
          <a:srcRect/>
          <a:stretch>
            <a:fillRect/>
          </a:stretch>
        </p:blipFill>
        <p:spPr bwMode="auto">
          <a:xfrm>
            <a:off x="6643702" y="1428736"/>
            <a:ext cx="1428760" cy="1428760"/>
          </a:xfrm>
          <a:prstGeom prst="rect">
            <a:avLst/>
          </a:prstGeom>
          <a:noFill/>
        </p:spPr>
      </p:pic>
    </p:spTree>
    <p:extLst>
      <p:ext uri="{BB962C8B-B14F-4D97-AF65-F5344CB8AC3E}">
        <p14:creationId xmlns:p14="http://schemas.microsoft.com/office/powerpoint/2010/main" val="39316287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rPr>
              <a:t>Element 5: Store cakes and pastries</a:t>
            </a: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b="1" dirty="0" smtClean="0">
                <a:latin typeface="Helvetica" pitchFamily="34" charset="0"/>
              </a:rPr>
              <a:t>Store at correct temperatures:</a:t>
            </a:r>
          </a:p>
          <a:p>
            <a:pPr>
              <a:spcBef>
                <a:spcPts val="600"/>
              </a:spcBef>
              <a:spcAft>
                <a:spcPts val="600"/>
              </a:spcAft>
            </a:pPr>
            <a:r>
              <a:rPr lang="en-US" sz="2200" dirty="0" smtClean="0"/>
              <a:t>Room Temperature</a:t>
            </a:r>
          </a:p>
          <a:p>
            <a:pPr>
              <a:spcBef>
                <a:spcPts val="600"/>
              </a:spcBef>
              <a:spcAft>
                <a:spcPts val="600"/>
              </a:spcAft>
            </a:pPr>
            <a:r>
              <a:rPr lang="en-US" sz="2200" dirty="0" smtClean="0"/>
              <a:t>Protect from outside contamination</a:t>
            </a:r>
          </a:p>
          <a:p>
            <a:pPr>
              <a:spcBef>
                <a:spcPts val="600"/>
              </a:spcBef>
              <a:spcAft>
                <a:spcPts val="600"/>
              </a:spcAft>
            </a:pPr>
            <a:r>
              <a:rPr lang="en-US" sz="2200" dirty="0" smtClean="0"/>
              <a:t>Date of production</a:t>
            </a:r>
          </a:p>
          <a:p>
            <a:pPr>
              <a:spcBef>
                <a:spcPts val="600"/>
              </a:spcBef>
              <a:spcAft>
                <a:spcPts val="600"/>
              </a:spcAft>
            </a:pPr>
            <a:r>
              <a:rPr lang="en-AU" sz="2200" dirty="0" smtClean="0"/>
              <a:t>Labelling</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5" name="Picture 4" descr="C:\Documents and Settings\Godaishu\Desktop\2012\Culinary 2012\Pastry display cooler.JPG"/>
          <p:cNvPicPr/>
          <p:nvPr/>
        </p:nvPicPr>
        <p:blipFill>
          <a:blip r:embed="rId3" cstate="print">
            <a:lum contrast="20000"/>
          </a:blip>
          <a:srcRect/>
          <a:stretch>
            <a:fillRect/>
          </a:stretch>
        </p:blipFill>
        <p:spPr bwMode="auto">
          <a:xfrm>
            <a:off x="5857884" y="2357430"/>
            <a:ext cx="1677352" cy="1600200"/>
          </a:xfrm>
          <a:prstGeom prst="rect">
            <a:avLst/>
          </a:prstGeom>
          <a:noFill/>
          <a:ln w="9525">
            <a:noFill/>
            <a:miter lim="800000"/>
            <a:headEnd/>
            <a:tailEnd/>
          </a:ln>
        </p:spPr>
      </p:pic>
    </p:spTree>
    <p:extLst>
      <p:ext uri="{BB962C8B-B14F-4D97-AF65-F5344CB8AC3E}">
        <p14:creationId xmlns:p14="http://schemas.microsoft.com/office/powerpoint/2010/main" val="1391923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rPr>
              <a:t>Element 5: Store cakes and pastries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b="1" dirty="0" smtClean="0">
                <a:latin typeface="Helvetica" pitchFamily="34" charset="0"/>
              </a:rPr>
              <a:t>Maintain maximum eating quality:</a:t>
            </a:r>
          </a:p>
          <a:p>
            <a:pPr marL="0" indent="-457200">
              <a:spcBef>
                <a:spcPts val="600"/>
              </a:spcBef>
              <a:spcAft>
                <a:spcPts val="1200"/>
              </a:spcAft>
            </a:pPr>
            <a:r>
              <a:rPr lang="en-US" sz="2200" dirty="0" smtClean="0">
                <a:latin typeface="Helvetica" pitchFamily="34" charset="0"/>
              </a:rPr>
              <a:t>Produce as needed</a:t>
            </a:r>
          </a:p>
          <a:p>
            <a:pPr marL="0" indent="-457200">
              <a:spcBef>
                <a:spcPts val="600"/>
              </a:spcBef>
              <a:spcAft>
                <a:spcPts val="1200"/>
              </a:spcAft>
            </a:pPr>
            <a:r>
              <a:rPr lang="en-US" sz="2200" dirty="0" smtClean="0">
                <a:latin typeface="Helvetica" pitchFamily="34" charset="0"/>
              </a:rPr>
              <a:t>Make in small batches</a:t>
            </a:r>
          </a:p>
          <a:p>
            <a:pPr marL="0" indent="-457200">
              <a:spcBef>
                <a:spcPts val="600"/>
              </a:spcBef>
              <a:spcAft>
                <a:spcPts val="1200"/>
              </a:spcAft>
            </a:pPr>
            <a:r>
              <a:rPr lang="en-US" sz="2200" dirty="0" smtClean="0">
                <a:latin typeface="Helvetica" pitchFamily="34" charset="0"/>
              </a:rPr>
              <a:t>Protect from contamination</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29698" name="Picture 2" descr="C:\Documents and Settings\Godaishu\Desktop\2012\Culinary 2012\Patisserie\wai_a_julia_back_163.JPG"/>
          <p:cNvPicPr>
            <a:picLocks noChangeAspect="1" noChangeArrowheads="1"/>
          </p:cNvPicPr>
          <p:nvPr/>
        </p:nvPicPr>
        <p:blipFill>
          <a:blip r:embed="rId3" cstate="print"/>
          <a:srcRect/>
          <a:stretch>
            <a:fillRect/>
          </a:stretch>
        </p:blipFill>
        <p:spPr bwMode="auto">
          <a:xfrm>
            <a:off x="5000628" y="2357430"/>
            <a:ext cx="3048000" cy="2038350"/>
          </a:xfrm>
          <a:prstGeom prst="rect">
            <a:avLst/>
          </a:prstGeom>
          <a:noFill/>
        </p:spPr>
      </p:pic>
    </p:spTree>
    <p:extLst>
      <p:ext uri="{BB962C8B-B14F-4D97-AF65-F5344CB8AC3E}">
        <p14:creationId xmlns:p14="http://schemas.microsoft.com/office/powerpoint/2010/main" val="1184651485"/>
      </p:ext>
    </p:extLst>
  </p:cSld>
  <p:clrMapOvr>
    <a:masterClrMapping/>
  </p:clrMapOvr>
</p:sld>
</file>

<file path=ppt/theme/theme1.xml><?xml version="1.0" encoding="utf-8"?>
<a:theme xmlns:a="http://schemas.openxmlformats.org/drawingml/2006/main" name="ASEAN PPT Template 010611 MV">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ASEAN PPT Template 010611 MV</Template>
  <TotalTime>949</TotalTime>
  <Words>3355</Words>
  <Application>Microsoft Office PowerPoint</Application>
  <PresentationFormat>On-screen Show (4:3)</PresentationFormat>
  <Paragraphs>752</Paragraphs>
  <Slides>41</Slides>
  <Notes>41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Helvetica</vt:lpstr>
      <vt:lpstr>Wingdings</vt:lpstr>
      <vt:lpstr>Wingdings 2</vt:lpstr>
      <vt:lpstr>ASEAN PPT Template 010611 MV</vt:lpstr>
      <vt:lpstr>  PREPARE AND PRODUCE CAKES AND PASTRIES</vt:lpstr>
      <vt:lpstr>Prepare and produce cakes and pastries</vt:lpstr>
      <vt:lpstr>Prepare and produce cakes and pastries</vt:lpstr>
      <vt:lpstr>Element 1: Prepare and bake cakes and fillings</vt:lpstr>
      <vt:lpstr>Element 1: Prepare and bake cakes and fillings</vt:lpstr>
      <vt:lpstr>Element 1: Prepare and bake cakes and fillings</vt:lpstr>
      <vt:lpstr>Element 1: Prepare and bake cakes and fillings</vt:lpstr>
      <vt:lpstr>Element 1: Prepare and bake cakes and fillings</vt:lpstr>
      <vt:lpstr>Element 1: Prepare and bake cakes and fillings</vt:lpstr>
      <vt:lpstr>Element 1: Prepare and bake cakes and fillings</vt:lpstr>
      <vt:lpstr>Element 1: Prepare and bake cakes and fillings</vt:lpstr>
      <vt:lpstr>Element 1: Prepare and bake cakes and fillings</vt:lpstr>
      <vt:lpstr>Element 1: Prepare and bake cakes and fillings</vt:lpstr>
      <vt:lpstr>Element 1: Prepare and bake cakes and fillings</vt:lpstr>
      <vt:lpstr>Element 1: Prepare and bake cakes and fillings</vt:lpstr>
      <vt:lpstr>Element 1: Prepare and bake cakes and fillings</vt:lpstr>
      <vt:lpstr>Element 1: Prepare and bake cakes and fillings</vt:lpstr>
      <vt:lpstr>Element 1: Prepare and bake cakes and fillings</vt:lpstr>
      <vt:lpstr>Element 1: Prepare and bake cakes and fillings</vt:lpstr>
      <vt:lpstr>Element 1: Prepare and bake cakes and fillings</vt:lpstr>
      <vt:lpstr>Element 1: Prepare and bake cakes and fillings</vt:lpstr>
      <vt:lpstr>Element 2: Decorate and present/display cakes</vt:lpstr>
      <vt:lpstr>Element 2: Decorate and present/display cakes</vt:lpstr>
      <vt:lpstr>Element 2: Decorate and present/display cakes</vt:lpstr>
      <vt:lpstr>Element 2: Decorate and present/display cakes</vt:lpstr>
      <vt:lpstr>Element 2: Decorate and present/display cakes</vt:lpstr>
      <vt:lpstr>Element 3: Prepare and produce pastries and fillings</vt:lpstr>
      <vt:lpstr>Element 3: Prepare and produce pastries and fillings</vt:lpstr>
      <vt:lpstr>Element 3: Prepare and produce pastries and fillings</vt:lpstr>
      <vt:lpstr>Element 3: Prepare and produce pastries and fillings</vt:lpstr>
      <vt:lpstr>Element 3: Prepare and produce pastries and fillings</vt:lpstr>
      <vt:lpstr>Element 3: Prepare and produce pastries and fillings</vt:lpstr>
      <vt:lpstr>Element 3: Prepare and produce pastries and fillings</vt:lpstr>
      <vt:lpstr>Element 3: Prepare and produce pastries and fillings</vt:lpstr>
      <vt:lpstr>Element 4: Decorate and present pastries</vt:lpstr>
      <vt:lpstr>Element 4: Decorate and present pastries</vt:lpstr>
      <vt:lpstr>Element 4: Decorate and present pastries</vt:lpstr>
      <vt:lpstr>Element 4: Decorate and present pastries</vt:lpstr>
      <vt:lpstr>Element 5: Store cakes and pastries</vt:lpstr>
      <vt:lpstr>Element 5: Store cakes and pastries</vt:lpstr>
      <vt:lpstr>Element 5: Store cakes and pastries</vt:lpstr>
    </vt:vector>
  </TitlesOfParts>
  <Company>William Angliss Institute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PREPARE AND PRODUCE CAKES AND PASTRIES</dc:title>
  <dc:creator>Administrator</dc:creator>
  <cp:lastModifiedBy>Carla Angelica Co</cp:lastModifiedBy>
  <cp:revision>96</cp:revision>
  <dcterms:created xsi:type="dcterms:W3CDTF">2012-02-24T00:47:59Z</dcterms:created>
  <dcterms:modified xsi:type="dcterms:W3CDTF">2015-03-31T08:07:00Z</dcterms:modified>
</cp:coreProperties>
</file>