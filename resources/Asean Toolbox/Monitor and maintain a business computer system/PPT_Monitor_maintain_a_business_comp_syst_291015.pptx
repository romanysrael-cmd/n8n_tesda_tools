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2"/>
  </p:notesMasterIdLst>
  <p:handoutMasterIdLst>
    <p:handoutMasterId r:id="rId153"/>
  </p:handoutMasterIdLst>
  <p:sldIdLst>
    <p:sldId id="256" r:id="rId2"/>
    <p:sldId id="257" r:id="rId3"/>
    <p:sldId id="258" r:id="rId4"/>
    <p:sldId id="259" r:id="rId5"/>
    <p:sldId id="260" r:id="rId6"/>
    <p:sldId id="292" r:id="rId7"/>
    <p:sldId id="293"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273" r:id="rId22"/>
    <p:sldId id="274" r:id="rId23"/>
    <p:sldId id="287" r:id="rId24"/>
    <p:sldId id="275"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2" r:id="rId49"/>
    <p:sldId id="333" r:id="rId50"/>
    <p:sldId id="334" r:id="rId51"/>
    <p:sldId id="335" r:id="rId52"/>
    <p:sldId id="337" r:id="rId53"/>
    <p:sldId id="338" r:id="rId54"/>
    <p:sldId id="340" r:id="rId55"/>
    <p:sldId id="341" r:id="rId56"/>
    <p:sldId id="339" r:id="rId57"/>
    <p:sldId id="342" r:id="rId58"/>
    <p:sldId id="343" r:id="rId59"/>
    <p:sldId id="344" r:id="rId60"/>
    <p:sldId id="345" r:id="rId61"/>
    <p:sldId id="346" r:id="rId62"/>
    <p:sldId id="347" r:id="rId63"/>
    <p:sldId id="348" r:id="rId64"/>
    <p:sldId id="349" r:id="rId65"/>
    <p:sldId id="350" r:id="rId66"/>
    <p:sldId id="351" r:id="rId67"/>
    <p:sldId id="352" r:id="rId68"/>
    <p:sldId id="353" r:id="rId69"/>
    <p:sldId id="354" r:id="rId70"/>
    <p:sldId id="355" r:id="rId71"/>
    <p:sldId id="356" r:id="rId72"/>
    <p:sldId id="357" r:id="rId73"/>
    <p:sldId id="358" r:id="rId74"/>
    <p:sldId id="359" r:id="rId75"/>
    <p:sldId id="360" r:id="rId76"/>
    <p:sldId id="361" r:id="rId77"/>
    <p:sldId id="362" r:id="rId78"/>
    <p:sldId id="363" r:id="rId79"/>
    <p:sldId id="364" r:id="rId80"/>
    <p:sldId id="365" r:id="rId81"/>
    <p:sldId id="366" r:id="rId82"/>
    <p:sldId id="367" r:id="rId83"/>
    <p:sldId id="368" r:id="rId84"/>
    <p:sldId id="369" r:id="rId85"/>
    <p:sldId id="370" r:id="rId86"/>
    <p:sldId id="371" r:id="rId87"/>
    <p:sldId id="372" r:id="rId88"/>
    <p:sldId id="373" r:id="rId89"/>
    <p:sldId id="374" r:id="rId90"/>
    <p:sldId id="375" r:id="rId91"/>
    <p:sldId id="376" r:id="rId92"/>
    <p:sldId id="377" r:id="rId93"/>
    <p:sldId id="378" r:id="rId94"/>
    <p:sldId id="379" r:id="rId95"/>
    <p:sldId id="380" r:id="rId96"/>
    <p:sldId id="381" r:id="rId97"/>
    <p:sldId id="382" r:id="rId98"/>
    <p:sldId id="383" r:id="rId99"/>
    <p:sldId id="384" r:id="rId100"/>
    <p:sldId id="385" r:id="rId101"/>
    <p:sldId id="386" r:id="rId102"/>
    <p:sldId id="387" r:id="rId103"/>
    <p:sldId id="388" r:id="rId104"/>
    <p:sldId id="389" r:id="rId105"/>
    <p:sldId id="390" r:id="rId106"/>
    <p:sldId id="391" r:id="rId107"/>
    <p:sldId id="392" r:id="rId108"/>
    <p:sldId id="393" r:id="rId109"/>
    <p:sldId id="281" r:id="rId110"/>
    <p:sldId id="282" r:id="rId111"/>
    <p:sldId id="394" r:id="rId112"/>
    <p:sldId id="395" r:id="rId113"/>
    <p:sldId id="396" r:id="rId114"/>
    <p:sldId id="397" r:id="rId115"/>
    <p:sldId id="398" r:id="rId116"/>
    <p:sldId id="399" r:id="rId117"/>
    <p:sldId id="400" r:id="rId118"/>
    <p:sldId id="401" r:id="rId119"/>
    <p:sldId id="402" r:id="rId120"/>
    <p:sldId id="403" r:id="rId121"/>
    <p:sldId id="404" r:id="rId122"/>
    <p:sldId id="405" r:id="rId123"/>
    <p:sldId id="406" r:id="rId124"/>
    <p:sldId id="407" r:id="rId125"/>
    <p:sldId id="408" r:id="rId126"/>
    <p:sldId id="409" r:id="rId127"/>
    <p:sldId id="410" r:id="rId128"/>
    <p:sldId id="411" r:id="rId129"/>
    <p:sldId id="412" r:id="rId130"/>
    <p:sldId id="413" r:id="rId131"/>
    <p:sldId id="414" r:id="rId132"/>
    <p:sldId id="415" r:id="rId133"/>
    <p:sldId id="416" r:id="rId134"/>
    <p:sldId id="417" r:id="rId135"/>
    <p:sldId id="418" r:id="rId136"/>
    <p:sldId id="419" r:id="rId137"/>
    <p:sldId id="420" r:id="rId138"/>
    <p:sldId id="421" r:id="rId139"/>
    <p:sldId id="422" r:id="rId140"/>
    <p:sldId id="423" r:id="rId141"/>
    <p:sldId id="424" r:id="rId142"/>
    <p:sldId id="426" r:id="rId143"/>
    <p:sldId id="425" r:id="rId144"/>
    <p:sldId id="427" r:id="rId145"/>
    <p:sldId id="428" r:id="rId146"/>
    <p:sldId id="429" r:id="rId147"/>
    <p:sldId id="430" r:id="rId148"/>
    <p:sldId id="432" r:id="rId149"/>
    <p:sldId id="433" r:id="rId150"/>
    <p:sldId id="434" r:id="rId15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016" autoAdjust="0"/>
    <p:restoredTop sz="72077" autoAdjust="0"/>
  </p:normalViewPr>
  <p:slideViewPr>
    <p:cSldViewPr>
      <p:cViewPr varScale="1">
        <p:scale>
          <a:sx n="66" d="100"/>
          <a:sy n="66" d="100"/>
        </p:scale>
        <p:origin x="210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7/18/2016</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welcomes</a:t>
            </a:r>
            <a:r>
              <a:rPr lang="en-AU" baseline="0" noProof="0" dirty="0" smtClean="0"/>
              <a:t> students to class and introduces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417297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462265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826202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does effectiveness mean?</a:t>
            </a:r>
          </a:p>
          <a:p>
            <a:pPr>
              <a:buFont typeface="Arial" pitchFamily="34" charset="0"/>
              <a:buChar char="•"/>
            </a:pPr>
            <a:r>
              <a:rPr lang="en-AU" sz="1200" kern="1200" baseline="0" dirty="0" smtClean="0">
                <a:solidFill>
                  <a:schemeClr val="tx1"/>
                </a:solidFill>
                <a:ea typeface="+mn-ea"/>
                <a:cs typeface="+mn-cs"/>
              </a:rPr>
              <a:t>What do you want to monitor?</a:t>
            </a:r>
          </a:p>
          <a:p>
            <a:pPr>
              <a:buFont typeface="Arial" pitchFamily="34" charset="0"/>
              <a:buChar char="•"/>
            </a:pPr>
            <a:r>
              <a:rPr lang="en-AU" sz="1200" kern="1200" baseline="0" dirty="0" smtClean="0">
                <a:solidFill>
                  <a:schemeClr val="tx1"/>
                </a:solidFill>
                <a:ea typeface="+mn-ea"/>
                <a:cs typeface="+mn-cs"/>
              </a:rPr>
              <a:t>How can you monitor it?</a:t>
            </a: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954444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079538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088195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Briefly discuss each element as they will be explained in more detail in Section 2.1.</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3841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Briefly discuss each element as they will be explained in more detail in Section 2.1</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918808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What other expectations would you have?</a:t>
            </a:r>
          </a:p>
          <a:p>
            <a:pPr>
              <a:buFont typeface="Arial" pitchFamily="34" charset="0"/>
              <a:buChar char="•"/>
            </a:pPr>
            <a:r>
              <a:rPr lang="en-AU" baseline="0" dirty="0" smtClean="0"/>
              <a:t>Rely on past experiences when buying personal computers or working in an office environment.</a:t>
            </a:r>
          </a:p>
          <a:p>
            <a:pPr>
              <a:buFont typeface="Arial" pitchFamily="34" charset="0"/>
              <a:buChar char="•"/>
            </a:pPr>
            <a:r>
              <a:rPr lang="en-AU" b="0" dirty="0" smtClean="0"/>
              <a:t>Complete</a:t>
            </a:r>
            <a:r>
              <a:rPr lang="en-AU" b="0" baseline="0" dirty="0" smtClean="0"/>
              <a:t> Activity</a:t>
            </a:r>
            <a:r>
              <a:rPr lang="en-AU" b="0" dirty="0" smtClean="0"/>
              <a:t> 1</a:t>
            </a:r>
            <a:endParaRPr lang="en-AU" b="0" baseline="0" dirty="0" smtClean="0"/>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4114303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find out about future strategies and computer requirements?</a:t>
            </a:r>
          </a:p>
          <a:p>
            <a:pPr>
              <a:buFont typeface="Arial" pitchFamily="34" charset="0"/>
              <a:buChar char="•"/>
            </a:pPr>
            <a:r>
              <a:rPr lang="en-AU" baseline="0" dirty="0" smtClean="0"/>
              <a:t>What factors need to be taken into consideration?</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4270738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Activities</a:t>
            </a:r>
            <a:r>
              <a:rPr lang="en-AU" b="1" dirty="0" smtClean="0"/>
              <a:t> </a:t>
            </a:r>
          </a:p>
          <a:p>
            <a:endParaRPr lang="en-AU" dirty="0" smtClean="0"/>
          </a:p>
          <a:p>
            <a:pPr>
              <a:buFont typeface="Arial" pitchFamily="34" charset="0"/>
              <a:buChar char="•"/>
            </a:pPr>
            <a:r>
              <a:rPr lang="en-AU" baseline="0" dirty="0" smtClean="0"/>
              <a:t>Discuss the question in the slide.</a:t>
            </a:r>
          </a:p>
          <a:p>
            <a:pPr>
              <a:buFont typeface="Arial" pitchFamily="34" charset="0"/>
              <a:buChar char="•"/>
            </a:pPr>
            <a:r>
              <a:rPr lang="en-AU" baseline="0" dirty="0" smtClean="0"/>
              <a:t>Refer to TM Page 14 for suggestions.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Activities 2&amp;3</a:t>
            </a:r>
          </a:p>
          <a:p>
            <a:pPr>
              <a:buFont typeface="Arial" pitchFamily="34" charset="0"/>
              <a:buChar char="•"/>
            </a:pPr>
            <a:endParaRPr lang="en-AU" baseline="0" dirty="0" smtClean="0"/>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757293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Which stakeholders may be involved?</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618132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each of these stakeholders selected?</a:t>
            </a:r>
          </a:p>
          <a:p>
            <a:pPr>
              <a:buFont typeface="Arial" pitchFamily="34" charset="0"/>
              <a:buChar char="•"/>
            </a:pPr>
            <a:r>
              <a:rPr lang="en-AU" baseline="0" dirty="0" smtClean="0"/>
              <a:t>What input can they provide?</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896761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 the importance of these types of input.</a:t>
            </a:r>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862461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Discus the importance of these types of input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4</a:t>
            </a:r>
            <a:endParaRPr lang="en-AU" b="0" baseline="0" dirty="0" smtClean="0"/>
          </a:p>
          <a:p>
            <a:pPr>
              <a:buFont typeface="Arial" pitchFamily="34" charset="0"/>
              <a:buChar char="•"/>
            </a:pPr>
            <a:endParaRPr lang="en-AU" baseline="0" dirty="0" smtClean="0"/>
          </a:p>
          <a:p>
            <a:pPr>
              <a:buFont typeface="Arial" pitchFamily="34" charset="0"/>
              <a:buNone/>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681448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monitor?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4238483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these activities important?</a:t>
            </a:r>
          </a:p>
          <a:p>
            <a:pPr>
              <a:buFont typeface="Arial" pitchFamily="34" charset="0"/>
              <a:buChar char="•"/>
            </a:pPr>
            <a:r>
              <a:rPr lang="en-AU" baseline="0" dirty="0" smtClean="0"/>
              <a:t>What tasks are associated with each of these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4131902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these activities important?</a:t>
            </a:r>
          </a:p>
          <a:p>
            <a:pPr>
              <a:buFont typeface="Arial" pitchFamily="34" charset="0"/>
              <a:buChar char="•"/>
            </a:pPr>
            <a:r>
              <a:rPr lang="en-AU" baseline="0" dirty="0" smtClean="0"/>
              <a:t>What tasks are associated with each of these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4234399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would be measured and managed for each of these aspects?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77041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What other methods of measurement could be used?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5</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832029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hardware?</a:t>
            </a:r>
          </a:p>
          <a:p>
            <a:pPr>
              <a:buFont typeface="Arial" pitchFamily="34" charset="0"/>
              <a:buChar char="•"/>
            </a:pPr>
            <a:r>
              <a:rPr lang="en-AU" sz="1200" kern="1200" baseline="0" dirty="0" smtClean="0">
                <a:solidFill>
                  <a:schemeClr val="tx1"/>
                </a:solidFill>
                <a:ea typeface="+mn-ea"/>
                <a:cs typeface="+mn-cs"/>
              </a:rPr>
              <a:t>What is software?</a:t>
            </a:r>
          </a:p>
          <a:p>
            <a:pPr>
              <a:buFont typeface="Arial" pitchFamily="34" charset="0"/>
              <a:buChar char="•"/>
            </a:pPr>
            <a:r>
              <a:rPr lang="en-AU" sz="1200" kern="1200" baseline="0" dirty="0" smtClean="0">
                <a:solidFill>
                  <a:schemeClr val="tx1"/>
                </a:solidFill>
                <a:ea typeface="+mn-ea"/>
                <a:cs typeface="+mn-cs"/>
              </a:rPr>
              <a:t>What are examples of each?</a:t>
            </a: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737153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9639663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074596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Char char="•"/>
            </a:pPr>
            <a:r>
              <a:rPr lang="en-AU" baseline="0" dirty="0" smtClean="0"/>
              <a:t>This is a refresher from assets mentioned in Section 1.1.</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3060983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these sources in your local area?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1394879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1364773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differences between these types of internet services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9400037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 different options available for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746167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992841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460972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772950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7964624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 advantages of both wired and non-wired set-ups?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3336688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benefit of establishing a LAN?</a:t>
            </a:r>
          </a:p>
          <a:p>
            <a:pPr>
              <a:buFont typeface="Arial" pitchFamily="34" charset="0"/>
              <a:buChar char="•"/>
            </a:pPr>
            <a:r>
              <a:rPr lang="en-AU" baseline="0" dirty="0" smtClean="0"/>
              <a:t>How can you do it?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3056899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benefit of establishing a LAN?</a:t>
            </a:r>
          </a:p>
          <a:p>
            <a:pPr>
              <a:buFont typeface="Arial" pitchFamily="34" charset="0"/>
              <a:buChar char="•"/>
            </a:pPr>
            <a:r>
              <a:rPr lang="en-AU" baseline="0" dirty="0" smtClean="0"/>
              <a:t>How can you do it?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8927154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difference between the two set ups?</a:t>
            </a:r>
          </a:p>
          <a:p>
            <a:pPr>
              <a:buFont typeface="Arial" pitchFamily="34" charset="0"/>
              <a:buChar char="•"/>
            </a:pPr>
            <a:endParaRPr lang="en-AU" baseline="0" dirty="0" smtClean="0"/>
          </a:p>
          <a:p>
            <a:r>
              <a:rPr lang="en-AU" sz="1200" b="1" kern="1200" dirty="0" smtClean="0">
                <a:solidFill>
                  <a:schemeClr val="tx1"/>
                </a:solidFill>
                <a:ea typeface="+mn-ea"/>
                <a:cs typeface="+mn-cs"/>
              </a:rPr>
              <a:t>Peer-To-Peer Setup</a:t>
            </a:r>
            <a:endParaRPr lang="en-US" sz="1200" kern="1200" dirty="0" smtClean="0">
              <a:solidFill>
                <a:schemeClr val="tx1"/>
              </a:solidFill>
              <a:ea typeface="+mn-ea"/>
              <a:cs typeface="+mn-cs"/>
            </a:endParaRPr>
          </a:p>
          <a:p>
            <a:r>
              <a:rPr lang="en-AU" sz="1200" kern="1200" dirty="0" smtClean="0">
                <a:solidFill>
                  <a:schemeClr val="tx1"/>
                </a:solidFill>
                <a:ea typeface="+mn-ea"/>
                <a:cs typeface="+mn-cs"/>
              </a:rPr>
              <a:t>In a peer-to-peer setup, every computer acts as both the client and the server. </a:t>
            </a:r>
          </a:p>
          <a:p>
            <a:endParaRPr lang="en-US" sz="1200" kern="1200" dirty="0" smtClean="0">
              <a:solidFill>
                <a:schemeClr val="tx1"/>
              </a:solidFill>
              <a:ea typeface="+mn-ea"/>
              <a:cs typeface="+mn-cs"/>
            </a:endParaRPr>
          </a:p>
          <a:p>
            <a:r>
              <a:rPr lang="en-AU" sz="1200" b="1" kern="1200" dirty="0" smtClean="0">
                <a:solidFill>
                  <a:schemeClr val="tx1"/>
                </a:solidFill>
                <a:ea typeface="+mn-ea"/>
                <a:cs typeface="+mn-cs"/>
              </a:rPr>
              <a:t>Client-Server Setup</a:t>
            </a:r>
            <a:endParaRPr lang="en-US" sz="1200" kern="1200" dirty="0" smtClean="0">
              <a:solidFill>
                <a:schemeClr val="tx1"/>
              </a:solidFill>
              <a:ea typeface="+mn-ea"/>
              <a:cs typeface="+mn-cs"/>
            </a:endParaRPr>
          </a:p>
          <a:p>
            <a:r>
              <a:rPr lang="en-AU" sz="1200" kern="1200" dirty="0" smtClean="0">
                <a:solidFill>
                  <a:schemeClr val="tx1"/>
                </a:solidFill>
                <a:ea typeface="+mn-ea"/>
                <a:cs typeface="+mn-cs"/>
              </a:rPr>
              <a:t>In a client-server setup, multiple clients (computers) connect to a single, central server. </a:t>
            </a: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6202475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baseline="0" dirty="0" smtClean="0"/>
              <a:t>Describe the concept of WEP.</a:t>
            </a: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5215836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9106706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 differences between these PC’s?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3299425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Explain the different features including their purpose and functions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1807047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3388011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9023268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27336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7049527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different options available for this computer asset?</a:t>
            </a:r>
          </a:p>
          <a:p>
            <a:pPr>
              <a:buFont typeface="Arial" pitchFamily="34" charset="0"/>
              <a:buChar char="•"/>
            </a:pPr>
            <a:r>
              <a:rPr lang="en-AU" baseline="0" dirty="0" smtClean="0"/>
              <a:t>What is the difference between the options?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1075910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What is the difference between these back up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6</a:t>
            </a:r>
            <a:endParaRPr lang="en-AU" b="0" baseline="0" dirty="0" smtClean="0"/>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9422194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3620457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Describe the Microsoft Office software packages.</a:t>
            </a:r>
          </a:p>
          <a:p>
            <a:pPr>
              <a:buFont typeface="Arial" pitchFamily="34" charset="0"/>
              <a:buChar char="•"/>
            </a:pPr>
            <a:r>
              <a:rPr lang="en-AU" baseline="0" dirty="0" smtClean="0"/>
              <a:t>What other integrated packages exist?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9735196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difference between these systems?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5285395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use and benefits of a GDS.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6021567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7</a:t>
            </a:r>
            <a:endParaRPr lang="en-AU" b="0" baseline="0" dirty="0" smtClean="0"/>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0073110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procurement?</a:t>
            </a:r>
          </a:p>
          <a:p>
            <a:pPr>
              <a:buFont typeface="Arial" pitchFamily="34" charset="0"/>
              <a:buChar char="•"/>
            </a:pPr>
            <a:r>
              <a:rPr lang="en-AU" baseline="0" dirty="0" smtClean="0"/>
              <a:t>What is feasibility?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5623641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Char char="•"/>
            </a:pPr>
            <a:r>
              <a:rPr lang="en-AU" baseline="0" dirty="0" smtClean="0"/>
              <a:t>Refer to TM page 49 for suggestions.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7616038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considerations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6160414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considerations</a:t>
            </a:r>
          </a:p>
          <a:p>
            <a:pPr>
              <a:buFont typeface="Arial" pitchFamily="34" charset="0"/>
              <a:buChar char="•"/>
            </a:pPr>
            <a:r>
              <a:rPr lang="en-AU" baseline="0" dirty="0" smtClean="0"/>
              <a:t>What other considerations would you have?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40982692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63964344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tasks are associated with these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7866369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Activities</a:t>
            </a:r>
            <a:r>
              <a:rPr lang="en-AU" b="1" dirty="0" smtClean="0"/>
              <a:t> </a:t>
            </a:r>
          </a:p>
          <a:p>
            <a:endParaRPr lang="en-AU" dirty="0" smtClean="0"/>
          </a:p>
          <a:p>
            <a:pPr>
              <a:buFont typeface="Arial" pitchFamily="34" charset="0"/>
              <a:buChar char="•"/>
            </a:pPr>
            <a:r>
              <a:rPr lang="en-AU" baseline="0" dirty="0" smtClean="0"/>
              <a:t>What are the advantages and advantages of each method?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Activities 8&amp;9</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723627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 activities associated with conducting research?</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9437861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Activities</a:t>
            </a:r>
            <a:r>
              <a:rPr lang="en-AU" b="1" dirty="0" smtClean="0"/>
              <a:t> </a:t>
            </a:r>
          </a:p>
          <a:p>
            <a:endParaRPr lang="en-AU" dirty="0" smtClean="0"/>
          </a:p>
          <a:p>
            <a:pPr>
              <a:buFont typeface="Arial" pitchFamily="34" charset="0"/>
              <a:buChar char="•"/>
            </a:pPr>
            <a:r>
              <a:rPr lang="en-AU" baseline="0" dirty="0" smtClean="0"/>
              <a:t>What tasks are associated with each of these tender activities?</a:t>
            </a:r>
          </a:p>
          <a:p>
            <a:pPr>
              <a:buFont typeface="Arial" pitchFamily="34" charset="0"/>
              <a:buChar char="•"/>
            </a:pPr>
            <a:r>
              <a:rPr lang="en-AU" baseline="0" dirty="0" smtClean="0"/>
              <a:t>Refer to TM Pages 54&amp;55</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Activities 10&amp;11</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24886359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priorities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1520046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Discuss these priorities</a:t>
            </a:r>
          </a:p>
          <a:p>
            <a:pPr>
              <a:buFont typeface="Arial" pitchFamily="34" charset="0"/>
              <a:buChar char="•"/>
            </a:pPr>
            <a:r>
              <a:rPr lang="en-AU" baseline="0" dirty="0" smtClean="0"/>
              <a:t>What other non-financial </a:t>
            </a:r>
            <a:r>
              <a:rPr lang="en-AU" sz="1200" b="0" dirty="0" smtClean="0">
                <a:latin typeface="Helvetica" pitchFamily="34" charset="0"/>
              </a:rPr>
              <a:t>purchasing priorities would you have?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12</a:t>
            </a:r>
            <a:endParaRPr lang="en-AU" b="0" baseline="0" dirty="0" smtClean="0"/>
          </a:p>
          <a:p>
            <a:pPr>
              <a:buFont typeface="Arial" pitchFamily="34" charset="0"/>
              <a:buChar char="•"/>
            </a:pPr>
            <a:endParaRPr lang="en-AU"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3025049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0421251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Discuss the types of support services mentioned in the slide</a:t>
            </a:r>
          </a:p>
          <a:p>
            <a:pPr>
              <a:buFont typeface="Arial" pitchFamily="34" charset="0"/>
              <a:buChar char="•"/>
            </a:pPr>
            <a:r>
              <a:rPr lang="en-AU" baseline="0" dirty="0" smtClean="0"/>
              <a:t>What other support services are available in your region?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13</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74180311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options are available?</a:t>
            </a:r>
          </a:p>
          <a:p>
            <a:pPr>
              <a:buFont typeface="Arial" pitchFamily="34" charset="0"/>
              <a:buChar char="•"/>
            </a:pPr>
            <a:r>
              <a:rPr lang="en-AU" baseline="0" dirty="0" smtClean="0"/>
              <a:t>What assistance can they provide?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935075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assistance can the above people provide?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124041080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specialist services.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5507368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specialist services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66687648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Discuss these specialist services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14</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4903534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Why do budgets need to be considered?</a:t>
            </a:r>
          </a:p>
          <a:p>
            <a:pPr>
              <a:buFont typeface="Arial" pitchFamily="34" charset="0"/>
              <a:buChar char="•"/>
            </a:pPr>
            <a:r>
              <a:rPr lang="en-AU" baseline="0" dirty="0" smtClean="0"/>
              <a:t>How can you allocate budgets for computer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15</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2910816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28172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costs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5571199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costs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18031966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costs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403056309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What other benefits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16</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4645045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Discuss the differences, advantages, disadvantages of each financing method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17</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1211762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0" baseline="0" dirty="0" smtClean="0"/>
              <a:t>What other </a:t>
            </a:r>
            <a:r>
              <a:rPr lang="en-AU" sz="1200" b="0" dirty="0" smtClean="0">
                <a:latin typeface="Helvetica" pitchFamily="34" charset="0"/>
              </a:rPr>
              <a:t>prerequisites would you have prior to purchasing assets?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18</a:t>
            </a:r>
            <a:endParaRPr lang="en-AU" b="0" baseline="0" dirty="0" smtClean="0"/>
          </a:p>
          <a:p>
            <a:pPr>
              <a:buFont typeface="Arial" pitchFamily="34" charset="0"/>
              <a:buChar char="•"/>
            </a:pPr>
            <a:endParaRPr lang="en-AU"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2003267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994904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actions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372962191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actions associated with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327317666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actions associated with each of these points</a:t>
            </a:r>
          </a:p>
          <a:p>
            <a:pPr>
              <a:buFont typeface="Arial" pitchFamily="34" charset="0"/>
              <a:buChar char="•"/>
            </a:pPr>
            <a:r>
              <a:rPr lang="en-AU" baseline="0" dirty="0" smtClean="0"/>
              <a:t>What else needs to be considered?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242025712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information needs to be discussed under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08531012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information needs to be discussed under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4235726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information needs to be discussed under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418083348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What is the best form of communication?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19</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08561821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Review</a:t>
            </a:r>
            <a:r>
              <a:rPr lang="en-AU" b="1" baseline="0" dirty="0" smtClean="0"/>
              <a:t> documents</a:t>
            </a:r>
            <a:endParaRPr lang="en-AU" b="1" dirty="0" smtClean="0"/>
          </a:p>
          <a:p>
            <a:endParaRPr lang="en-AU" dirty="0" smtClean="0"/>
          </a:p>
          <a:p>
            <a:pPr>
              <a:buFont typeface="Arial" pitchFamily="34" charset="0"/>
              <a:buChar char="•"/>
            </a:pPr>
            <a:r>
              <a:rPr lang="en-AU" baseline="0" dirty="0" smtClean="0"/>
              <a:t>Review examples of these documents.</a:t>
            </a:r>
          </a:p>
          <a:p>
            <a:pPr>
              <a:buFont typeface="Arial" pitchFamily="34" charset="0"/>
              <a:buChar char="•"/>
            </a:pPr>
            <a:r>
              <a:rPr lang="en-AU" baseline="0" dirty="0" smtClean="0"/>
              <a:t>What is the purpose of these documents?</a:t>
            </a:r>
          </a:p>
          <a:p>
            <a:pPr>
              <a:buFont typeface="Arial" pitchFamily="34" charset="0"/>
              <a:buChar char="•"/>
            </a:pPr>
            <a:r>
              <a:rPr lang="en-AU" baseline="0" dirty="0" smtClean="0"/>
              <a:t>Where should they be stored?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00841290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Discuss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1565428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How can you reduce the effect of these potential problems?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48038682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endParaRPr lang="en-AU" b="1" dirty="0" smtClean="0"/>
          </a:p>
          <a:p>
            <a:endParaRPr lang="en-AU" dirty="0" smtClean="0"/>
          </a:p>
          <a:p>
            <a:pPr>
              <a:buFont typeface="Arial" pitchFamily="34" charset="0"/>
              <a:buChar char="•"/>
            </a:pPr>
            <a:r>
              <a:rPr lang="en-AU" baseline="0" dirty="0" smtClean="0"/>
              <a:t>How can you reduce the effect of these potential problems?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20</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07290320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Discuss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13930594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427649935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pPr>
            <a:r>
              <a:rPr lang="en-AU" sz="1200" dirty="0" smtClean="0">
                <a:latin typeface="Helvetica" pitchFamily="34" charset="0"/>
              </a:rPr>
              <a:t>What training may need to be provided?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00009603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1886651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58251120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38783057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314743861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47526490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14525523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405833804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36523219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examples of knowledge or skills required for each of these points?</a:t>
            </a:r>
          </a:p>
          <a:p>
            <a:pPr>
              <a:spcBef>
                <a:spcPts val="600"/>
              </a:spcBef>
              <a:spcAft>
                <a:spcPts val="1200"/>
              </a:spcAft>
              <a:buFont typeface="Arial" pitchFamily="34" charset="0"/>
              <a:buChar char="•"/>
            </a:pPr>
            <a:r>
              <a:rPr lang="en-AU" sz="1200" baseline="0" dirty="0" smtClean="0">
                <a:latin typeface="Helvetica" pitchFamily="34" charset="0"/>
              </a:rPr>
              <a:t>How can you train these?</a:t>
            </a: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36845029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spcBef>
                <a:spcPts val="600"/>
              </a:spcBef>
              <a:spcAft>
                <a:spcPts val="1200"/>
              </a:spcAft>
              <a:buFont typeface="Arial" pitchFamily="34" charset="0"/>
              <a:buChar char="•"/>
            </a:pPr>
            <a:r>
              <a:rPr lang="en-AU" sz="1200" dirty="0" smtClean="0">
                <a:latin typeface="Helvetica" pitchFamily="34" charset="0"/>
              </a:rPr>
              <a:t>What other types of training can be utilised?</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b="0" dirty="0" smtClean="0"/>
              <a:t>Complete</a:t>
            </a:r>
            <a:r>
              <a:rPr lang="en-AU" b="0" baseline="0" dirty="0" smtClean="0"/>
              <a:t> Activity</a:t>
            </a:r>
            <a:r>
              <a:rPr lang="en-AU" b="0" dirty="0" smtClean="0"/>
              <a:t> 21</a:t>
            </a:r>
            <a:endParaRPr lang="en-AU" b="0" baseline="0" dirty="0" smtClean="0"/>
          </a:p>
          <a:p>
            <a:pPr>
              <a:spcBef>
                <a:spcPts val="600"/>
              </a:spcBef>
              <a:spcAft>
                <a:spcPts val="1200"/>
              </a:spcAft>
              <a:buFont typeface="Arial" pitchFamily="34" charset="0"/>
              <a:buChar char="•"/>
            </a:pPr>
            <a:endParaRPr lang="en-AU"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91254340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monitor the success of new computer system assets?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397016950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monitor the success against these KPI’s?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329010341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information do you want to know from each of these methods?</a:t>
            </a:r>
          </a:p>
          <a:p>
            <a:pPr>
              <a:buFont typeface="Arial" pitchFamily="34" charset="0"/>
              <a:buChar char="•"/>
            </a:pPr>
            <a:r>
              <a:rPr lang="en-AU" baseline="0" dirty="0" smtClean="0"/>
              <a:t>What questions can you ask?</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235267266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information do you want to know from each of these methods?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159648315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gather this information?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62570555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How can you gather this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22</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2680403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it important to maintain computer assets?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271404475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232709483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192384713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400855219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difference between these types of maintenance?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33563470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23</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209284849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43553940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Provide examples</a:t>
            </a:r>
          </a:p>
          <a:p>
            <a:endParaRPr lang="en-AU" dirty="0" smtClean="0"/>
          </a:p>
          <a:p>
            <a:pPr>
              <a:buFont typeface="Arial" pitchFamily="34" charset="0"/>
              <a:buChar char="•"/>
            </a:pPr>
            <a:r>
              <a:rPr lang="en-AU" baseline="0" dirty="0" smtClean="0"/>
              <a:t>Identify a number of common types of maintenance.</a:t>
            </a:r>
          </a:p>
          <a:p>
            <a:pPr>
              <a:buFont typeface="Arial" pitchFamily="34" charset="0"/>
              <a:buChar char="•"/>
            </a:pPr>
            <a:r>
              <a:rPr lang="en-AU" baseline="0" dirty="0" smtClean="0"/>
              <a:t>Explain how these considerations would impact on the maintenance.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18925950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223231376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24.</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412715592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is this important?</a:t>
            </a:r>
          </a:p>
          <a:p>
            <a:pPr>
              <a:buFont typeface="Arial" pitchFamily="34" charset="0"/>
              <a:buChar char="•"/>
            </a:pPr>
            <a:r>
              <a:rPr lang="en-AU" baseline="0" dirty="0" smtClean="0"/>
              <a:t>What are the steps associated with each of these ‘internal cleans’?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148577055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94936648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189885023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08451817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What training may take place?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25</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6735613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common types of faults?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52312948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 solutions to these common types of faults?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94796279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 solutions to these common types of faults?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32675371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 solutions to these common types of faults?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71848054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the solutions to these common types of faults?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44193358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r>
              <a:rPr lang="en-AU" b="1" dirty="0" smtClean="0"/>
              <a:t> </a:t>
            </a:r>
          </a:p>
          <a:p>
            <a:endParaRPr lang="en-AU" dirty="0" smtClean="0"/>
          </a:p>
          <a:p>
            <a:pPr>
              <a:buFont typeface="Arial" pitchFamily="34" charset="0"/>
              <a:buChar char="•"/>
            </a:pPr>
            <a:r>
              <a:rPr lang="en-AU" baseline="0" dirty="0" smtClean="0"/>
              <a:t>What are the solutions to these common types of faults?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26</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154041250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these important?</a:t>
            </a:r>
          </a:p>
          <a:p>
            <a:pPr>
              <a:buFont typeface="Arial" pitchFamily="34" charset="0"/>
              <a:buChar char="•"/>
            </a:pPr>
            <a:r>
              <a:rPr lang="en-AU" baseline="0" dirty="0" smtClean="0"/>
              <a:t>What else can you do?</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136654499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and tasks associated with these actions.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199312555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and tasks associated with these actions.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418234181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these pieces of information important when recording details of a fault?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110914349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Why are these pieces of information important when recording details of a fault?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49621044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these specialists in your region?</a:t>
            </a:r>
          </a:p>
          <a:p>
            <a:pPr>
              <a:buFont typeface="Arial" pitchFamily="34" charset="0"/>
              <a:buChar char="•"/>
            </a:pPr>
            <a:r>
              <a:rPr lang="en-AU" baseline="0" dirty="0" smtClean="0"/>
              <a:t>What services do they provide?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3001970737"/>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endParaRPr lang="en-AU" b="1" dirty="0" smtClean="0"/>
          </a:p>
          <a:p>
            <a:endParaRPr lang="en-AU" dirty="0" smtClean="0"/>
          </a:p>
          <a:p>
            <a:pPr>
              <a:buFont typeface="Arial" pitchFamily="34" charset="0"/>
              <a:buChar char="•"/>
            </a:pPr>
            <a:r>
              <a:rPr lang="en-AU" baseline="0" dirty="0" smtClean="0"/>
              <a:t>Why is this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27</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413055932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119783197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174711020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183563507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impact of this damage.</a:t>
            </a:r>
          </a:p>
          <a:p>
            <a:pPr>
              <a:buFont typeface="Arial" pitchFamily="34" charset="0"/>
              <a:buChar char="•"/>
            </a:pPr>
            <a:r>
              <a:rPr lang="en-AU" baseline="0" dirty="0" smtClean="0"/>
              <a:t>Provide personal stories of trainer and participants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4208517290"/>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Provide personal stories of trainer and participants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37449704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Describe approaches that can be undertaken for each method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136609331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endParaRPr lang="en-AU" b="1" dirty="0" smtClean="0"/>
          </a:p>
          <a:p>
            <a:endParaRPr lang="en-AU" dirty="0" smtClean="0"/>
          </a:p>
          <a:p>
            <a:pPr>
              <a:buFont typeface="Arial" pitchFamily="34" charset="0"/>
              <a:buChar char="•"/>
            </a:pPr>
            <a:r>
              <a:rPr lang="en-AU" baseline="0" dirty="0" smtClean="0"/>
              <a:t>What are examples of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28</a:t>
            </a:r>
            <a:endParaRPr lang="en-AU" b="0"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334083691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are examples of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What </a:t>
            </a:r>
            <a:r>
              <a:rPr lang="en-AU" b="0" baseline="0" dirty="0" smtClean="0"/>
              <a:t>else can you do to </a:t>
            </a:r>
            <a:r>
              <a:rPr lang="en-AU" sz="1200" b="0" dirty="0" smtClean="0">
                <a:latin typeface="Helvetica" pitchFamily="34" charset="0"/>
              </a:rPr>
              <a:t>use computer systems in a safe and secure manner?</a:t>
            </a:r>
            <a:endParaRPr lang="en-US" sz="1200" b="0" dirty="0" smtClean="0">
              <a:latin typeface="Helvetica" pitchFamily="34" charset="0"/>
            </a:endParaRP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37052056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baseline="0" dirty="0" smtClean="0"/>
              <a:t>Discuss question in the slide</a:t>
            </a:r>
            <a:endParaRPr lang="en-US" sz="1200" b="0" dirty="0" smtClean="0">
              <a:latin typeface="Helvetica" pitchFamily="34" charset="0"/>
            </a:endParaRP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50010598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baseline="0" dirty="0" smtClean="0"/>
              <a:t>Discuss steps taken to back up personal data at home and relate how it can be used in the workplace.</a:t>
            </a:r>
            <a:endParaRPr lang="en-US" sz="1200" b="0" dirty="0" smtClean="0">
              <a:latin typeface="Helvetica" pitchFamily="34" charset="0"/>
            </a:endParaRP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953749857"/>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Research &amp; Complete</a:t>
            </a:r>
            <a:r>
              <a:rPr lang="en-AU" b="1" baseline="0" dirty="0" smtClean="0"/>
              <a:t> Activity</a:t>
            </a:r>
            <a:endParaRPr lang="en-AU" b="1" dirty="0" smtClean="0"/>
          </a:p>
          <a:p>
            <a:endParaRPr lang="en-AU" dirty="0" smtClean="0"/>
          </a:p>
          <a:p>
            <a:pPr>
              <a:buFont typeface="Arial" pitchFamily="34" charset="0"/>
              <a:buChar char="•"/>
            </a:pPr>
            <a:r>
              <a:rPr lang="en-US" baseline="0" dirty="0" smtClean="0"/>
              <a:t>Discuss benefits of each method</a:t>
            </a:r>
          </a:p>
          <a:p>
            <a:pPr>
              <a:buFont typeface="Arial" pitchFamily="34" charset="0"/>
              <a:buChar char="•"/>
            </a:pPr>
            <a:r>
              <a:rPr lang="en-US" sz="1200" b="0" baseline="0" dirty="0" smtClean="0">
                <a:latin typeface="Helvetica" pitchFamily="34" charset="0"/>
              </a:rPr>
              <a:t>Conduct research and identify types of online storage systems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29</a:t>
            </a:r>
            <a:endParaRPr lang="en-AU" b="0" baseline="0" dirty="0" smtClean="0"/>
          </a:p>
          <a:p>
            <a:pPr>
              <a:buFont typeface="Arial" pitchFamily="34" charset="0"/>
              <a:buChar char="•"/>
            </a:pPr>
            <a:endParaRPr lang="en-US" sz="1200" b="0" dirty="0" smtClean="0">
              <a:latin typeface="Helvetica" pitchFamily="34" charset="0"/>
            </a:endParaRP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298857850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0" baseline="0" dirty="0" smtClean="0"/>
              <a:t>What are examples?</a:t>
            </a:r>
          </a:p>
          <a:p>
            <a:pPr>
              <a:buFont typeface="Arial" pitchFamily="34" charset="0"/>
              <a:buChar char="•"/>
            </a:pPr>
            <a:r>
              <a:rPr lang="en-AU" b="0" baseline="0" dirty="0" smtClean="0"/>
              <a:t>What other </a:t>
            </a:r>
            <a:r>
              <a:rPr lang="en-AU" sz="1200" b="0" dirty="0" smtClean="0">
                <a:latin typeface="Helvetica" pitchFamily="34" charset="0"/>
              </a:rPr>
              <a:t>data management policies and procedures</a:t>
            </a:r>
            <a:r>
              <a:rPr lang="en-AU" b="0" baseline="0" dirty="0" smtClean="0"/>
              <a:t> may you use?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414435690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0" baseline="0" dirty="0" smtClean="0"/>
              <a:t>What are other ways to store data?</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141236670"/>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Complete</a:t>
            </a:r>
            <a:r>
              <a:rPr lang="en-AU" b="1" baseline="0" dirty="0" smtClean="0"/>
              <a:t> Activity</a:t>
            </a:r>
            <a:endParaRPr lang="en-AU" b="1" dirty="0" smtClean="0"/>
          </a:p>
          <a:p>
            <a:endParaRPr lang="en-AU" dirty="0" smtClean="0"/>
          </a:p>
          <a:p>
            <a:pPr>
              <a:buFont typeface="Arial" pitchFamily="34" charset="0"/>
              <a:buChar char="•"/>
            </a:pPr>
            <a:r>
              <a:rPr lang="en-AU" b="0" baseline="0" dirty="0" smtClean="0"/>
              <a:t>What other key outcomes would you have?</a:t>
            </a:r>
          </a:p>
          <a:p>
            <a:pPr>
              <a:buFont typeface="Arial" pitchFamily="34" charset="0"/>
              <a:buChar char="•"/>
            </a:pPr>
            <a:r>
              <a:rPr lang="en-AU" b="0" baseline="0" dirty="0" smtClean="0"/>
              <a:t>How can you achieve these key outcomes?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dirty="0" smtClean="0"/>
              <a:t>Complete</a:t>
            </a:r>
            <a:r>
              <a:rPr lang="en-AU" b="0" baseline="0" dirty="0" smtClean="0"/>
              <a:t> Activity</a:t>
            </a:r>
            <a:r>
              <a:rPr lang="en-AU" b="0" dirty="0" smtClean="0"/>
              <a:t> 30</a:t>
            </a:r>
            <a:endParaRPr lang="en-AU" b="0" baseline="0" dirty="0" smtClean="0"/>
          </a:p>
          <a:p>
            <a:pPr>
              <a:buFont typeface="Arial" pitchFamily="34" charset="0"/>
              <a:buChar char="•"/>
            </a:pPr>
            <a:endParaRPr lang="en-AU"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903390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7272" y="260648"/>
            <a:ext cx="7725168" cy="1152128"/>
          </a:xfrm>
        </p:spPr>
        <p:txBody>
          <a:bodyPr>
            <a:noAutofit/>
          </a:bodyPr>
          <a:lstStyle/>
          <a:p>
            <a:r>
              <a:rPr lang="en-AU" sz="3600" dirty="0">
                <a:ln w="5000" cmpd="sng">
                  <a:noFill/>
                  <a:prstDash val="solid"/>
                </a:ln>
                <a:solidFill>
                  <a:srgbClr val="FF6600"/>
                </a:solidFill>
                <a:latin typeface="Helvetica" pitchFamily="34" charset="0"/>
              </a:rPr>
              <a:t>MONITOR AND MAINTAIN A BUSINESS COMPUTER </a:t>
            </a:r>
            <a:r>
              <a:rPr lang="en-AU" sz="3600" dirty="0" smtClean="0">
                <a:ln w="5000" cmpd="sng">
                  <a:noFill/>
                  <a:prstDash val="solid"/>
                </a:ln>
                <a:solidFill>
                  <a:srgbClr val="FF6600"/>
                </a:solidFill>
                <a:latin typeface="Helvetica" pitchFamily="34" charset="0"/>
              </a:rPr>
              <a:t>SYSTEM</a:t>
            </a:r>
            <a:endParaRPr lang="en-AU" sz="36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628800"/>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4932040" y="1555082"/>
            <a:ext cx="3600400" cy="1254105"/>
          </a:xfrm>
        </p:spPr>
        <p:txBody>
          <a:bodyPr>
            <a:noAutofit/>
          </a:bodyPr>
          <a:lstStyle/>
          <a:p>
            <a:r>
              <a:rPr lang="en-AU" b="1" dirty="0">
                <a:latin typeface="Helvetica" pitchFamily="34" charset="0"/>
              </a:rPr>
              <a:t>D1.HGE.CL7.05	D1.HML.CL10.04      D1.HRM.CL9.13     D2.TRM.CL9.15</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three elements:</a:t>
            </a:r>
          </a:p>
          <a:p>
            <a:pPr>
              <a:spcBef>
                <a:spcPts val="600"/>
              </a:spcBef>
              <a:spcAft>
                <a:spcPts val="1200"/>
              </a:spcAft>
            </a:pPr>
            <a:r>
              <a:rPr lang="en-US" sz="2200" dirty="0" smtClean="0">
                <a:latin typeface="Helvetica" pitchFamily="34" charset="0"/>
              </a:rPr>
              <a:t>Monitor effectiveness of computer equipment</a:t>
            </a:r>
          </a:p>
          <a:p>
            <a:pPr>
              <a:spcBef>
                <a:spcPts val="600"/>
              </a:spcBef>
              <a:spcAft>
                <a:spcPts val="1200"/>
              </a:spcAft>
            </a:pPr>
            <a:r>
              <a:rPr lang="en-US" sz="2200" dirty="0" smtClean="0">
                <a:latin typeface="Helvetica" pitchFamily="34" charset="0"/>
              </a:rPr>
              <a:t>Purchase hardware and software</a:t>
            </a:r>
          </a:p>
          <a:p>
            <a:pPr>
              <a:spcBef>
                <a:spcPts val="600"/>
              </a:spcBef>
              <a:spcAft>
                <a:spcPts val="1200"/>
              </a:spcAft>
            </a:pPr>
            <a:r>
              <a:rPr lang="en-US" sz="2200" dirty="0" smtClean="0">
                <a:latin typeface="Helvetica" pitchFamily="34" charset="0"/>
              </a:rPr>
              <a:t>Maintain computer equipment and systems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Comp 1.png"/>
          <p:cNvPicPr>
            <a:picLocks noChangeAspect="1"/>
          </p:cNvPicPr>
          <p:nvPr/>
        </p:nvPicPr>
        <p:blipFill>
          <a:blip r:embed="rId3" cstate="print"/>
          <a:stretch>
            <a:fillRect/>
          </a:stretch>
        </p:blipFill>
        <p:spPr>
          <a:xfrm>
            <a:off x="2987824" y="3933056"/>
            <a:ext cx="2489076" cy="1551290"/>
          </a:xfrm>
          <a:prstGeom prst="rect">
            <a:avLst/>
          </a:prstGeom>
        </p:spPr>
      </p:pic>
    </p:spTree>
    <p:extLst>
      <p:ext uri="{BB962C8B-B14F-4D97-AF65-F5344CB8AC3E}">
        <p14:creationId xmlns:p14="http://schemas.microsoft.com/office/powerpoint/2010/main" val="22585976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104238854.jpg"/>
          <p:cNvPicPr>
            <a:picLocks noChangeAspect="1"/>
          </p:cNvPicPr>
          <p:nvPr/>
        </p:nvPicPr>
        <p:blipFill>
          <a:blip r:embed="rId3" cstate="print"/>
          <a:stretch>
            <a:fillRect/>
          </a:stretch>
        </p:blipFill>
        <p:spPr>
          <a:xfrm>
            <a:off x="6084168" y="1988840"/>
            <a:ext cx="1952628" cy="1302403"/>
          </a:xfrm>
          <a:prstGeom prst="rect">
            <a:avLst/>
          </a:prstGeom>
        </p:spPr>
      </p:pic>
    </p:spTree>
    <p:extLst>
      <p:ext uri="{BB962C8B-B14F-4D97-AF65-F5344CB8AC3E}">
        <p14:creationId xmlns:p14="http://schemas.microsoft.com/office/powerpoint/2010/main" val="8371161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8280920" cy="4680520"/>
          </a:xfrm>
        </p:spPr>
        <p:txBody>
          <a:bodyPr>
            <a:normAutofit/>
          </a:bodyPr>
          <a:lstStyle/>
          <a:p>
            <a:pPr marL="0">
              <a:buNone/>
            </a:pPr>
            <a:r>
              <a:rPr lang="en-AU" sz="4000" b="1" dirty="0" smtClean="0">
                <a:solidFill>
                  <a:srgbClr val="FF6600"/>
                </a:solidFill>
                <a:latin typeface="Helvetica" pitchFamily="34" charset="0"/>
              </a:rPr>
              <a:t>Element 1:</a:t>
            </a:r>
          </a:p>
          <a:p>
            <a:pPr marL="0">
              <a:buNone/>
            </a:pPr>
            <a:r>
              <a:rPr lang="en-US" sz="4000" dirty="0" smtClean="0">
                <a:solidFill>
                  <a:srgbClr val="FF6600"/>
                </a:solidFill>
              </a:rPr>
              <a:t>Monitor effectiveness of computer equipment</a:t>
            </a:r>
            <a:endParaRPr lang="en-US" sz="4000"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Comp 1.png"/>
          <p:cNvPicPr>
            <a:picLocks noChangeAspect="1"/>
          </p:cNvPicPr>
          <p:nvPr/>
        </p:nvPicPr>
        <p:blipFill>
          <a:blip r:embed="rId3" cstate="print"/>
          <a:stretch>
            <a:fillRect/>
          </a:stretch>
        </p:blipFill>
        <p:spPr>
          <a:xfrm>
            <a:off x="5652120" y="4365104"/>
            <a:ext cx="2705100" cy="1685925"/>
          </a:xfrm>
          <a:prstGeom prst="rect">
            <a:avLst/>
          </a:prstGeom>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Monitor effectiveness of computer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600"/>
              </a:spcAft>
              <a:buNone/>
            </a:pPr>
            <a:r>
              <a:rPr lang="en-AU" sz="2200" dirty="0" smtClean="0">
                <a:latin typeface="Helvetica" pitchFamily="34" charset="0"/>
              </a:rPr>
              <a:t>Performance Criteria for this Element are: </a:t>
            </a:r>
          </a:p>
          <a:p>
            <a:pPr>
              <a:spcBef>
                <a:spcPts val="600"/>
              </a:spcBef>
              <a:spcAft>
                <a:spcPts val="600"/>
              </a:spcAft>
            </a:pPr>
            <a:r>
              <a:rPr lang="en-AU" sz="2200" dirty="0" smtClean="0">
                <a:latin typeface="Helvetica" pitchFamily="34" charset="0"/>
              </a:rPr>
              <a:t>Monitor and evaluate the effectiveness of computer equipment to ensure it meets enterprise needs through ongoing consultation with users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Monitor effectiveness through assessment of productivity and efficiency</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Establish and implement procedures for identifying and resolving performance problems including use of specialised assistance</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Identify computer training needs and                                 provide training opportunities</a:t>
            </a:r>
            <a:endParaRPr lang="en-US" sz="2200" dirty="0" smtClean="0">
              <a:latin typeface="Helvetica" pitchFamily="34" charset="0"/>
            </a:endParaRPr>
          </a:p>
          <a:p>
            <a:pPr>
              <a:spcBef>
                <a:spcPts val="600"/>
              </a:spcBef>
              <a:spcAft>
                <a:spcPts val="6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Comp 2.png"/>
          <p:cNvPicPr>
            <a:picLocks noChangeAspect="1"/>
          </p:cNvPicPr>
          <p:nvPr/>
        </p:nvPicPr>
        <p:blipFill>
          <a:blip r:embed="rId3" cstate="print"/>
          <a:stretch>
            <a:fillRect/>
          </a:stretch>
        </p:blipFill>
        <p:spPr>
          <a:xfrm>
            <a:off x="6804248" y="5013176"/>
            <a:ext cx="1881559" cy="1409353"/>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Business computer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a business computer system</a:t>
            </a:r>
          </a:p>
          <a:p>
            <a:pPr marL="0">
              <a:spcBef>
                <a:spcPts val="600"/>
              </a:spcBef>
              <a:spcAft>
                <a:spcPts val="1200"/>
              </a:spcAft>
              <a:buNone/>
            </a:pPr>
            <a:r>
              <a:rPr lang="en-AU" sz="2200" dirty="0" smtClean="0">
                <a:latin typeface="Helvetica" pitchFamily="34" charset="0"/>
              </a:rPr>
              <a:t>A business computer system is one of the fundamental tools that tourism personnel use to provide services to customers.</a:t>
            </a:r>
          </a:p>
          <a:p>
            <a:pPr>
              <a:spcBef>
                <a:spcPts val="600"/>
              </a:spcBef>
              <a:spcAft>
                <a:spcPts val="1200"/>
              </a:spcAft>
            </a:pPr>
            <a:r>
              <a:rPr lang="en-AU" sz="2200" dirty="0" smtClean="0">
                <a:latin typeface="Helvetica" pitchFamily="34" charset="0"/>
              </a:rPr>
              <a:t>What is included in a computer system?</a:t>
            </a:r>
          </a:p>
          <a:p>
            <a:pPr>
              <a:spcBef>
                <a:spcPts val="600"/>
              </a:spcBef>
              <a:spcAft>
                <a:spcPts val="1200"/>
              </a:spcAft>
            </a:pPr>
            <a:r>
              <a:rPr lang="en-AU" sz="2200" dirty="0" smtClean="0">
                <a:latin typeface="Helvetica" pitchFamily="34" charset="0"/>
              </a:rPr>
              <a:t>What is a computer system used for?</a:t>
            </a:r>
          </a:p>
          <a:p>
            <a:pPr>
              <a:spcBef>
                <a:spcPts val="600"/>
              </a:spcBef>
              <a:spcAft>
                <a:spcPts val="1200"/>
              </a:spcAft>
            </a:pPr>
            <a:r>
              <a:rPr lang="en-AU" sz="2200" dirty="0" smtClean="0">
                <a:latin typeface="Helvetica" pitchFamily="34" charset="0"/>
              </a:rPr>
              <a:t>Why is it an important business tool?</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shutterstock_33818875.jpg"/>
          <p:cNvPicPr/>
          <p:nvPr/>
        </p:nvPicPr>
        <p:blipFill>
          <a:blip r:embed="rId3" cstate="print"/>
          <a:stretch>
            <a:fillRect/>
          </a:stretch>
        </p:blipFill>
        <p:spPr>
          <a:xfrm>
            <a:off x="6516216" y="3068960"/>
            <a:ext cx="1791712" cy="121614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Business computer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marL="0" indent="0">
              <a:spcBef>
                <a:spcPts val="600"/>
              </a:spcBef>
              <a:spcAft>
                <a:spcPts val="1200"/>
              </a:spcAft>
              <a:buNone/>
            </a:pPr>
            <a:r>
              <a:rPr lang="en-AU" sz="2200" b="1" dirty="0" smtClean="0">
                <a:latin typeface="Helvetica" pitchFamily="34" charset="0"/>
              </a:rPr>
              <a:t>Key assets of a business computer system</a:t>
            </a:r>
          </a:p>
          <a:p>
            <a:pPr lvl="0">
              <a:spcBef>
                <a:spcPts val="600"/>
              </a:spcBef>
              <a:spcAft>
                <a:spcPts val="1200"/>
              </a:spcAft>
            </a:pPr>
            <a:r>
              <a:rPr lang="en-AU" sz="2200" dirty="0" smtClean="0">
                <a:latin typeface="Helvetica" pitchFamily="34" charset="0"/>
              </a:rPr>
              <a:t>Internet service provider</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Modem</a:t>
            </a:r>
          </a:p>
          <a:p>
            <a:pPr lvl="0">
              <a:spcBef>
                <a:spcPts val="600"/>
              </a:spcBef>
              <a:spcAft>
                <a:spcPts val="1200"/>
              </a:spcAft>
            </a:pPr>
            <a:r>
              <a:rPr lang="en-US" sz="2200" dirty="0" smtClean="0">
                <a:latin typeface="Helvetica" pitchFamily="34" charset="0"/>
              </a:rPr>
              <a:t>Router</a:t>
            </a:r>
          </a:p>
          <a:p>
            <a:pPr lvl="0">
              <a:spcBef>
                <a:spcPts val="600"/>
              </a:spcBef>
              <a:spcAft>
                <a:spcPts val="1200"/>
              </a:spcAft>
            </a:pPr>
            <a:r>
              <a:rPr lang="en-US" sz="2200" dirty="0" smtClean="0">
                <a:latin typeface="Helvetica" pitchFamily="34" charset="0"/>
              </a:rPr>
              <a:t>Network card</a:t>
            </a:r>
          </a:p>
          <a:p>
            <a:pPr lvl="0">
              <a:spcBef>
                <a:spcPts val="600"/>
              </a:spcBef>
              <a:spcAft>
                <a:spcPts val="1200"/>
              </a:spcAft>
            </a:pPr>
            <a:r>
              <a:rPr lang="en-AU" sz="2200" dirty="0" smtClean="0">
                <a:latin typeface="Helvetica" pitchFamily="34" charset="0"/>
              </a:rPr>
              <a:t>Servers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Wired or Ethernet networks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Wireless networks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Local area network (LAN)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6" name="Picture 5" descr="comp 10.png"/>
          <p:cNvPicPr>
            <a:picLocks noChangeAspect="1"/>
          </p:cNvPicPr>
          <p:nvPr/>
        </p:nvPicPr>
        <p:blipFill>
          <a:blip r:embed="rId3" cstate="print"/>
          <a:stretch>
            <a:fillRect/>
          </a:stretch>
        </p:blipFill>
        <p:spPr>
          <a:xfrm>
            <a:off x="5580112" y="2492896"/>
            <a:ext cx="2209800" cy="17526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Business computer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5445224"/>
          </a:xfrm>
        </p:spPr>
        <p:txBody>
          <a:bodyPr>
            <a:normAutofit lnSpcReduction="10000"/>
          </a:bodyPr>
          <a:lstStyle/>
          <a:p>
            <a:pPr marL="0" indent="0">
              <a:lnSpc>
                <a:spcPct val="110000"/>
              </a:lnSpc>
              <a:spcBef>
                <a:spcPts val="600"/>
              </a:spcBef>
              <a:spcAft>
                <a:spcPts val="900"/>
              </a:spcAft>
              <a:buNone/>
            </a:pPr>
            <a:r>
              <a:rPr lang="en-AU" sz="2200" b="1" dirty="0" smtClean="0">
                <a:latin typeface="Helvetica" pitchFamily="34" charset="0"/>
              </a:rPr>
              <a:t>Key assets of a business computer system</a:t>
            </a:r>
          </a:p>
          <a:p>
            <a:pPr lvl="0">
              <a:lnSpc>
                <a:spcPct val="110000"/>
              </a:lnSpc>
              <a:spcBef>
                <a:spcPts val="600"/>
              </a:spcBef>
              <a:spcAft>
                <a:spcPts val="900"/>
              </a:spcAft>
            </a:pPr>
            <a:r>
              <a:rPr lang="en-AU" sz="2200" dirty="0" smtClean="0">
                <a:latin typeface="Helvetica" pitchFamily="34" charset="0"/>
              </a:rPr>
              <a:t>Network security</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Personal Computers (PC's)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Monitors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Keyboards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Mouse</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Scanners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Printers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Multifunction devices (MFDs)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Back-up systems</a:t>
            </a:r>
            <a:endParaRPr lang="en-US" sz="2200" dirty="0" smtClean="0">
              <a:latin typeface="Helvetica" pitchFamily="34" charset="0"/>
            </a:endParaRPr>
          </a:p>
          <a:p>
            <a:pPr lvl="0">
              <a:lnSpc>
                <a:spcPct val="110000"/>
              </a:lnSpc>
              <a:spcBef>
                <a:spcPts val="600"/>
              </a:spcBef>
              <a:spcAft>
                <a:spcPts val="9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7" name="Picture 6" descr="W608_shutterstock_99673604.jpg"/>
          <p:cNvPicPr>
            <a:picLocks noChangeAspect="1"/>
          </p:cNvPicPr>
          <p:nvPr/>
        </p:nvPicPr>
        <p:blipFill>
          <a:blip r:embed="rId3" cstate="print"/>
          <a:stretch>
            <a:fillRect/>
          </a:stretch>
        </p:blipFill>
        <p:spPr>
          <a:xfrm>
            <a:off x="5724128" y="2852936"/>
            <a:ext cx="2123728" cy="147386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Business computer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24136"/>
            <a:ext cx="7846640" cy="5445224"/>
          </a:xfrm>
        </p:spPr>
        <p:txBody>
          <a:bodyPr>
            <a:normAutofit/>
          </a:bodyPr>
          <a:lstStyle/>
          <a:p>
            <a:pPr>
              <a:spcBef>
                <a:spcPts val="600"/>
              </a:spcBef>
              <a:spcAft>
                <a:spcPts val="1200"/>
              </a:spcAft>
              <a:buNone/>
            </a:pPr>
            <a:r>
              <a:rPr lang="en-AU" sz="2200" b="1" dirty="0" smtClean="0">
                <a:latin typeface="Helvetica" pitchFamily="34" charset="0"/>
              </a:rPr>
              <a:t>Key expectations of a business computer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Capable of performing the tasks you need to run a tourism organisation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Affordable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Well built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Reliable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Simple to use and maintain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Easy to upgrade</a:t>
            </a: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a:t>
            </a:r>
          </a:p>
          <a:p>
            <a:pPr lvl="0">
              <a:spcBef>
                <a:spcPts val="600"/>
              </a:spcBef>
              <a:spcAft>
                <a:spcPts val="1200"/>
              </a:spcAft>
              <a:buNone/>
            </a:pPr>
            <a:endParaRPr lang="en-US" sz="2200" dirty="0" smtClean="0">
              <a:latin typeface="Helvetica" pitchFamily="34" charset="0"/>
            </a:endParaRPr>
          </a:p>
          <a:p>
            <a:pPr lvl="0">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6" name="Picture 5" descr="shutterstock_91170884.jpg"/>
          <p:cNvPicPr/>
          <p:nvPr/>
        </p:nvPicPr>
        <p:blipFill>
          <a:blip r:embed="rId3" cstate="print"/>
          <a:stretch>
            <a:fillRect/>
          </a:stretch>
        </p:blipFill>
        <p:spPr>
          <a:xfrm>
            <a:off x="6228184" y="3068960"/>
            <a:ext cx="1851645" cy="151655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computer system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846640" cy="5445224"/>
          </a:xfrm>
        </p:spPr>
        <p:txBody>
          <a:bodyPr>
            <a:normAutofit/>
          </a:bodyPr>
          <a:lstStyle/>
          <a:p>
            <a:pPr>
              <a:spcBef>
                <a:spcPts val="600"/>
              </a:spcBef>
              <a:spcAft>
                <a:spcPts val="1200"/>
              </a:spcAft>
              <a:buNone/>
            </a:pPr>
            <a:r>
              <a:rPr lang="en-AU" sz="2200" b="1" dirty="0" smtClean="0">
                <a:latin typeface="Helvetica" pitchFamily="34" charset="0"/>
              </a:rPr>
              <a:t>Understand business strategies and requirements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use and purchase of computer assets are important activities in any business.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Before an organisation purchases an expensive computer system it is important to understand: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are the strategies of the organisation going forward?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are the current and future business computer requirements?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lvl="0">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7" name="Picture 6" descr="shutterstock_163584698.jpg"/>
          <p:cNvPicPr/>
          <p:nvPr/>
        </p:nvPicPr>
        <p:blipFill>
          <a:blip r:embed="rId3" cstate="print"/>
          <a:stretch>
            <a:fillRect/>
          </a:stretch>
        </p:blipFill>
        <p:spPr>
          <a:xfrm>
            <a:off x="3419872" y="5013176"/>
            <a:ext cx="1893745" cy="13906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computer system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Develop business computer system research questions</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When identifying the needs of a computer system is it wise to create a list of questions that will guide the research process.</a:t>
            </a:r>
          </a:p>
          <a:p>
            <a:pPr lvl="0">
              <a:spcBef>
                <a:spcPts val="600"/>
              </a:spcBef>
              <a:spcAft>
                <a:spcPts val="1200"/>
              </a:spcAft>
            </a:pPr>
            <a:r>
              <a:rPr lang="en-AU" sz="2200" dirty="0" smtClean="0">
                <a:latin typeface="Helvetica" pitchFamily="34" charset="0"/>
              </a:rPr>
              <a:t>What </a:t>
            </a:r>
            <a:r>
              <a:rPr lang="en-US" sz="2200" dirty="0" smtClean="0">
                <a:latin typeface="Helvetica" pitchFamily="34" charset="0"/>
              </a:rPr>
              <a:t>research questions would you develop?</a:t>
            </a: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ACTIVITIES 2&amp;3</a:t>
            </a:r>
          </a:p>
          <a:p>
            <a:pPr lvl="0">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 name="Picture 5" descr="shutterstock_163282610.jpg"/>
          <p:cNvPicPr/>
          <p:nvPr/>
        </p:nvPicPr>
        <p:blipFill>
          <a:blip r:embed="rId3" cstate="print"/>
          <a:stretch>
            <a:fillRect/>
          </a:stretch>
        </p:blipFill>
        <p:spPr>
          <a:xfrm>
            <a:off x="6084168" y="3789040"/>
            <a:ext cx="1960245" cy="13049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computer system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AU" sz="2200" b="1" dirty="0" smtClean="0">
                <a:latin typeface="Helvetica" pitchFamily="34" charset="0"/>
              </a:rPr>
              <a:t>Involving stakeholders in determining business computer system asset needs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For managers it is important to identify: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Who the relevant stakeholders may be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Why their input is important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How such contributions may be obtained</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lvl="0">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7" name="Picture 6" descr="W181_computer_communication_shutterstock_155413847.jpg"/>
          <p:cNvPicPr/>
          <p:nvPr/>
        </p:nvPicPr>
        <p:blipFill>
          <a:blip r:embed="rId3" cstate="print"/>
          <a:stretch>
            <a:fillRect/>
          </a:stretch>
        </p:blipFill>
        <p:spPr>
          <a:xfrm>
            <a:off x="6300192" y="2564904"/>
            <a:ext cx="1977132" cy="148284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computer system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AU" sz="2200" b="1" dirty="0" smtClean="0">
                <a:latin typeface="Helvetica" pitchFamily="34" charset="0"/>
              </a:rPr>
              <a:t>Involving stakeholders in determining business computer system asset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Owners of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Managers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Supervisors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Staff, teams and workgroups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Suppliers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IT consultants </a:t>
            </a:r>
            <a:endParaRPr lang="en-US" sz="2200" dirty="0" smtClean="0">
              <a:latin typeface="Helvetica" pitchFamily="34" charset="0"/>
            </a:endParaRPr>
          </a:p>
          <a:p>
            <a:pPr lvl="0">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6" name="Picture 5" descr="comp 4.png"/>
          <p:cNvPicPr/>
          <p:nvPr/>
        </p:nvPicPr>
        <p:blipFill>
          <a:blip r:embed="rId3" cstate="print"/>
          <a:stretch>
            <a:fillRect/>
          </a:stretch>
        </p:blipFill>
        <p:spPr>
          <a:xfrm>
            <a:off x="6156176" y="2564904"/>
            <a:ext cx="1647825" cy="16478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computer system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5445224"/>
          </a:xfrm>
        </p:spPr>
        <p:txBody>
          <a:bodyPr>
            <a:normAutofit/>
          </a:bodyPr>
          <a:lstStyle/>
          <a:p>
            <a:pPr marL="0">
              <a:spcBef>
                <a:spcPts val="600"/>
              </a:spcBef>
              <a:spcAft>
                <a:spcPts val="900"/>
              </a:spcAft>
              <a:buNone/>
            </a:pPr>
            <a:r>
              <a:rPr lang="en-AU" sz="2100" b="1" dirty="0" smtClean="0">
                <a:latin typeface="Helvetica" pitchFamily="34" charset="0"/>
              </a:rPr>
              <a:t>Involving stakeholders in determining business computer system asset needs</a:t>
            </a:r>
            <a:endParaRPr lang="en-US" sz="2100" dirty="0" smtClean="0">
              <a:latin typeface="Helvetica" pitchFamily="34" charset="0"/>
            </a:endParaRPr>
          </a:p>
          <a:p>
            <a:pPr lvl="0">
              <a:spcBef>
                <a:spcPts val="600"/>
              </a:spcBef>
              <a:spcAft>
                <a:spcPts val="900"/>
              </a:spcAft>
              <a:buNone/>
            </a:pPr>
            <a:r>
              <a:rPr lang="en-AU" sz="2100" dirty="0" smtClean="0">
                <a:latin typeface="Helvetica" pitchFamily="34" charset="0"/>
              </a:rPr>
              <a:t>Their input can help clarify:</a:t>
            </a:r>
          </a:p>
          <a:p>
            <a:pPr lvl="0">
              <a:spcBef>
                <a:spcPts val="600"/>
              </a:spcBef>
              <a:spcAft>
                <a:spcPts val="900"/>
              </a:spcAft>
            </a:pPr>
            <a:r>
              <a:rPr lang="en-AU" sz="2100" dirty="0" smtClean="0">
                <a:latin typeface="Helvetica" pitchFamily="34" charset="0"/>
              </a:rPr>
              <a:t>The structure of the business computer system to meet the desired technical needs</a:t>
            </a:r>
            <a:endParaRPr lang="en-US" sz="2100" dirty="0" smtClean="0">
              <a:latin typeface="Helvetica" pitchFamily="34" charset="0"/>
            </a:endParaRPr>
          </a:p>
          <a:p>
            <a:pPr lvl="0">
              <a:spcBef>
                <a:spcPts val="600"/>
              </a:spcBef>
              <a:spcAft>
                <a:spcPts val="900"/>
              </a:spcAft>
            </a:pPr>
            <a:r>
              <a:rPr lang="en-AU" sz="2100" dirty="0" smtClean="0">
                <a:latin typeface="Helvetica" pitchFamily="34" charset="0"/>
              </a:rPr>
              <a:t>Identification of all pieces of hardware and software assets required</a:t>
            </a:r>
            <a:endParaRPr lang="en-US" sz="2100" dirty="0" smtClean="0">
              <a:latin typeface="Helvetica" pitchFamily="34" charset="0"/>
            </a:endParaRPr>
          </a:p>
          <a:p>
            <a:pPr lvl="0">
              <a:spcBef>
                <a:spcPts val="600"/>
              </a:spcBef>
              <a:spcAft>
                <a:spcPts val="900"/>
              </a:spcAft>
            </a:pPr>
            <a:r>
              <a:rPr lang="en-AU" sz="2100" dirty="0" smtClean="0">
                <a:latin typeface="Helvetica" pitchFamily="34" charset="0"/>
              </a:rPr>
              <a:t>Quantities to be obtained</a:t>
            </a:r>
            <a:endParaRPr lang="en-US" sz="2100" dirty="0" smtClean="0">
              <a:latin typeface="Helvetica" pitchFamily="34" charset="0"/>
            </a:endParaRPr>
          </a:p>
          <a:p>
            <a:pPr lvl="0">
              <a:spcBef>
                <a:spcPts val="600"/>
              </a:spcBef>
              <a:spcAft>
                <a:spcPts val="900"/>
              </a:spcAft>
            </a:pPr>
            <a:r>
              <a:rPr lang="en-AU" sz="2100" dirty="0" smtClean="0">
                <a:latin typeface="Helvetica" pitchFamily="34" charset="0"/>
              </a:rPr>
              <a:t>Timelines that apply to acquisition	</a:t>
            </a:r>
            <a:endParaRPr lang="en-US" sz="2100" dirty="0" smtClean="0">
              <a:latin typeface="Helvetica" pitchFamily="34" charset="0"/>
            </a:endParaRPr>
          </a:p>
          <a:p>
            <a:pPr lvl="0">
              <a:spcBef>
                <a:spcPts val="600"/>
              </a:spcBef>
              <a:spcAft>
                <a:spcPts val="900"/>
              </a:spcAft>
            </a:pPr>
            <a:r>
              <a:rPr lang="en-AU" sz="2100" dirty="0" smtClean="0">
                <a:latin typeface="Helvetica" pitchFamily="34" charset="0"/>
              </a:rPr>
              <a:t>Brands, models and types to be considered</a:t>
            </a:r>
            <a:endParaRPr lang="en-US" sz="2100" dirty="0" smtClean="0">
              <a:latin typeface="Helvetica" pitchFamily="34" charset="0"/>
            </a:endParaRPr>
          </a:p>
          <a:p>
            <a:pPr lvl="0">
              <a:spcBef>
                <a:spcPts val="600"/>
              </a:spcBef>
              <a:spcAft>
                <a:spcPts val="900"/>
              </a:spcAft>
            </a:pPr>
            <a:r>
              <a:rPr lang="en-AU" sz="2100" dirty="0" smtClean="0">
                <a:latin typeface="Helvetica" pitchFamily="34" charset="0"/>
              </a:rPr>
              <a:t>Restrictions that apply</a:t>
            </a:r>
            <a:endParaRPr lang="en-US" sz="2100" dirty="0" smtClean="0">
              <a:latin typeface="Helvetica" pitchFamily="34" charset="0"/>
            </a:endParaRPr>
          </a:p>
          <a:p>
            <a:pPr lvl="0">
              <a:spcBef>
                <a:spcPts val="600"/>
              </a:spcBef>
              <a:spcAft>
                <a:spcPts val="900"/>
              </a:spcAft>
            </a:pPr>
            <a:endParaRPr lang="en-US" sz="2100" dirty="0" smtClean="0">
              <a:latin typeface="Helvetica" pitchFamily="34" charset="0"/>
            </a:endParaRPr>
          </a:p>
          <a:p>
            <a:pPr lvl="0">
              <a:spcBef>
                <a:spcPts val="600"/>
              </a:spcBef>
              <a:spcAft>
                <a:spcPts val="900"/>
              </a:spcAft>
            </a:pP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7" name="Picture 6" descr="comp 5.jpg"/>
          <p:cNvPicPr/>
          <p:nvPr/>
        </p:nvPicPr>
        <p:blipFill>
          <a:blip r:embed="rId3" cstate="print"/>
          <a:stretch>
            <a:fillRect/>
          </a:stretch>
        </p:blipFill>
        <p:spPr>
          <a:xfrm>
            <a:off x="6804248" y="4365104"/>
            <a:ext cx="1900436" cy="129614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computer system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AU" sz="2200" b="1" dirty="0" smtClean="0">
                <a:latin typeface="Helvetica" pitchFamily="34" charset="0"/>
              </a:rPr>
              <a:t>Involving stakeholders in determining business computer system asset needs</a:t>
            </a:r>
            <a:endParaRPr lang="en-US" sz="2200" dirty="0" smtClean="0">
              <a:latin typeface="Helvetica" pitchFamily="34" charset="0"/>
            </a:endParaRPr>
          </a:p>
          <a:p>
            <a:pPr lvl="0">
              <a:spcBef>
                <a:spcPts val="600"/>
              </a:spcBef>
              <a:spcAft>
                <a:spcPts val="1200"/>
              </a:spcAft>
              <a:buNone/>
            </a:pPr>
            <a:r>
              <a:rPr lang="en-AU" sz="2200" dirty="0" smtClean="0">
                <a:latin typeface="Helvetica" pitchFamily="34" charset="0"/>
              </a:rPr>
              <a:t>Their input can help clarify:</a:t>
            </a:r>
          </a:p>
          <a:p>
            <a:pPr lvl="0">
              <a:spcBef>
                <a:spcPts val="600"/>
              </a:spcBef>
              <a:spcAft>
                <a:spcPts val="1200"/>
              </a:spcAft>
            </a:pPr>
            <a:r>
              <a:rPr lang="en-AU" sz="2200" dirty="0" smtClean="0">
                <a:latin typeface="Helvetica" pitchFamily="34" charset="0"/>
              </a:rPr>
              <a:t>The needs of users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Introduction and installation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Training required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Financing arrangements</a:t>
            </a: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4</a:t>
            </a:r>
          </a:p>
          <a:p>
            <a:pPr lvl="0">
              <a:buNone/>
            </a:pPr>
            <a:endParaRPr lang="en-AU" sz="2400" dirty="0" smtClean="0">
              <a:latin typeface="Helvetica" pitchFamily="34" charset="0"/>
            </a:endParaRPr>
          </a:p>
          <a:p>
            <a:pPr lvl="0">
              <a:buNone/>
            </a:pPr>
            <a:endParaRPr lang="en-US" sz="2400" dirty="0" smtClean="0">
              <a:latin typeface="Helvetica" pitchFamily="34" charset="0"/>
            </a:endParaRPr>
          </a:p>
          <a:p>
            <a:pPr lvl="0">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6" name="Picture 5" descr="shutterstock_161774276.jpg"/>
          <p:cNvPicPr>
            <a:picLocks noChangeAspect="1"/>
          </p:cNvPicPr>
          <p:nvPr/>
        </p:nvPicPr>
        <p:blipFill>
          <a:blip r:embed="rId3" cstate="print"/>
          <a:stretch>
            <a:fillRect/>
          </a:stretch>
        </p:blipFill>
        <p:spPr>
          <a:xfrm>
            <a:off x="6372200" y="2852936"/>
            <a:ext cx="1588836" cy="231608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Monitor effectiveness of current computer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monitoring current computer system </a:t>
            </a:r>
          </a:p>
          <a:p>
            <a:pPr marL="0">
              <a:spcBef>
                <a:spcPts val="600"/>
              </a:spcBef>
              <a:spcAft>
                <a:spcPts val="1200"/>
              </a:spcAft>
              <a:buNone/>
            </a:pPr>
            <a:r>
              <a:rPr lang="en-AU" sz="2200" dirty="0" smtClean="0">
                <a:latin typeface="Helvetica" pitchFamily="34" charset="0"/>
              </a:rPr>
              <a:t>Many assets purchased by a business, including computer system assets will need to have their performance monitored.</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Monitoring performance allows more informed decisions to be made about:</a:t>
            </a:r>
          </a:p>
          <a:p>
            <a:pPr>
              <a:spcBef>
                <a:spcPts val="600"/>
              </a:spcBef>
              <a:spcAft>
                <a:spcPts val="1200"/>
              </a:spcAft>
            </a:pPr>
            <a:r>
              <a:rPr lang="en-AU" sz="2200" dirty="0" smtClean="0">
                <a:latin typeface="Helvetica" pitchFamily="34" charset="0"/>
              </a:rPr>
              <a:t>Effectiveness of current asset items</a:t>
            </a:r>
          </a:p>
          <a:p>
            <a:pPr>
              <a:spcBef>
                <a:spcPts val="600"/>
              </a:spcBef>
              <a:spcAft>
                <a:spcPts val="1200"/>
              </a:spcAft>
            </a:pPr>
            <a:r>
              <a:rPr lang="en-AU" sz="2200" dirty="0" smtClean="0">
                <a:latin typeface="Helvetica" pitchFamily="34" charset="0"/>
              </a:rPr>
              <a:t>Guide future purchasing decisions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6" name="Picture 5" descr="shutterstock_166435832.jpg"/>
          <p:cNvPicPr/>
          <p:nvPr/>
        </p:nvPicPr>
        <p:blipFill>
          <a:blip r:embed="rId3" cstate="print"/>
          <a:stretch>
            <a:fillRect/>
          </a:stretch>
        </p:blipFill>
        <p:spPr>
          <a:xfrm>
            <a:off x="6444208" y="3717032"/>
            <a:ext cx="1974900"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Computer system asset management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6640" cy="4896544"/>
          </a:xfrm>
        </p:spPr>
        <p:txBody>
          <a:bodyPr>
            <a:normAutofit/>
          </a:bodyPr>
          <a:lstStyle/>
          <a:p>
            <a:pPr>
              <a:spcBef>
                <a:spcPts val="600"/>
              </a:spcBef>
              <a:spcAft>
                <a:spcPts val="1200"/>
              </a:spcAft>
              <a:buNone/>
            </a:pPr>
            <a:r>
              <a:rPr lang="en-AU" sz="2200" b="1" dirty="0" smtClean="0">
                <a:latin typeface="Helvetica" pitchFamily="34" charset="0"/>
              </a:rPr>
              <a:t>Computer system asset management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Planning for assets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Creating or acquiring new assets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Accounting for assets and determining the actual </a:t>
            </a:r>
            <a:br>
              <a:rPr lang="en-AU" sz="2200" dirty="0" smtClean="0">
                <a:latin typeface="Helvetica" pitchFamily="34" charset="0"/>
              </a:rPr>
            </a:br>
            <a:r>
              <a:rPr lang="en-AU" sz="2200" dirty="0" smtClean="0">
                <a:latin typeface="Helvetica" pitchFamily="34" charset="0"/>
              </a:rPr>
              <a:t>cost of the services they provide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Operating and maintaining assets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Monitoring performance and condition of assets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7" name="Picture 6" descr="shutterstock_143143042.jpg"/>
          <p:cNvPicPr/>
          <p:nvPr/>
        </p:nvPicPr>
        <p:blipFill>
          <a:blip r:embed="rId3" cstate="print"/>
          <a:stretch>
            <a:fillRect/>
          </a:stretch>
        </p:blipFill>
        <p:spPr>
          <a:xfrm>
            <a:off x="7668344" y="3428999"/>
            <a:ext cx="1224136" cy="178056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Computer system asset management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Computer system asset management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Assessing refurbishment, renewal and replacement options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Disposing of assets that are no longer required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Auditing the way in which assets are managed and the asset management practices and procedures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Identifying and working to minimise life                                     cycle costs of new assets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comp 16.png"/>
          <p:cNvPicPr>
            <a:picLocks noChangeAspect="1"/>
          </p:cNvPicPr>
          <p:nvPr/>
        </p:nvPicPr>
        <p:blipFill>
          <a:blip r:embed="rId3" cstate="print"/>
          <a:stretch>
            <a:fillRect/>
          </a:stretch>
        </p:blipFill>
        <p:spPr>
          <a:xfrm>
            <a:off x="6660232" y="4437112"/>
            <a:ext cx="1863254" cy="15730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Computer system asset management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Aspects of computer system asset management</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performance of the asset is evaluated against the level of service provided to the customer. </a:t>
            </a:r>
          </a:p>
          <a:p>
            <a:pPr>
              <a:spcBef>
                <a:spcPts val="600"/>
              </a:spcBef>
              <a:spcAft>
                <a:spcPts val="1200"/>
              </a:spcAft>
              <a:buNone/>
            </a:pPr>
            <a:r>
              <a:rPr lang="en-AU" sz="2200" dirty="0" smtClean="0">
                <a:latin typeface="Helvetica" pitchFamily="34" charset="0"/>
              </a:rPr>
              <a:t>This can generally be measured in terms of:</a:t>
            </a:r>
          </a:p>
          <a:p>
            <a:pPr>
              <a:spcBef>
                <a:spcPts val="600"/>
              </a:spcBef>
              <a:spcAft>
                <a:spcPts val="1200"/>
              </a:spcAft>
            </a:pPr>
            <a:r>
              <a:rPr lang="en-AU" sz="2200" dirty="0" smtClean="0">
                <a:latin typeface="Helvetica" pitchFamily="34" charset="0"/>
              </a:rPr>
              <a:t>Reliability </a:t>
            </a:r>
          </a:p>
          <a:p>
            <a:pPr>
              <a:spcBef>
                <a:spcPts val="600"/>
              </a:spcBef>
              <a:spcAft>
                <a:spcPts val="1200"/>
              </a:spcAft>
            </a:pPr>
            <a:r>
              <a:rPr lang="en-AU" sz="2200" dirty="0" smtClean="0">
                <a:latin typeface="Helvetica" pitchFamily="34" charset="0"/>
              </a:rPr>
              <a:t>Availability</a:t>
            </a:r>
          </a:p>
          <a:p>
            <a:pPr>
              <a:spcBef>
                <a:spcPts val="600"/>
              </a:spcBef>
              <a:spcAft>
                <a:spcPts val="1200"/>
              </a:spcAft>
            </a:pPr>
            <a:r>
              <a:rPr lang="en-AU" sz="2200" dirty="0" smtClean="0">
                <a:latin typeface="Helvetica" pitchFamily="34" charset="0"/>
              </a:rPr>
              <a:t>Capacity</a:t>
            </a:r>
          </a:p>
          <a:p>
            <a:pPr>
              <a:spcBef>
                <a:spcPts val="600"/>
              </a:spcBef>
              <a:spcAft>
                <a:spcPts val="1200"/>
              </a:spcAft>
            </a:pPr>
            <a:r>
              <a:rPr lang="en-AU" sz="2200" dirty="0" smtClean="0">
                <a:latin typeface="Helvetica" pitchFamily="34" charset="0"/>
              </a:rPr>
              <a:t>Meeting customer demands and needs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6" name="Picture 5" descr="shutterstock_68250304.jpg"/>
          <p:cNvPicPr/>
          <p:nvPr/>
        </p:nvPicPr>
        <p:blipFill>
          <a:blip r:embed="rId3" cstate="print"/>
          <a:stretch>
            <a:fillRect/>
          </a:stretch>
        </p:blipFill>
        <p:spPr>
          <a:xfrm>
            <a:off x="6228184" y="3573016"/>
            <a:ext cx="2055320" cy="136815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Computer system asset management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marL="0">
              <a:spcBef>
                <a:spcPts val="600"/>
              </a:spcBef>
              <a:spcAft>
                <a:spcPts val="1200"/>
              </a:spcAft>
              <a:buNone/>
            </a:pPr>
            <a:r>
              <a:rPr lang="en-AU" sz="2200" b="1" dirty="0" smtClean="0">
                <a:latin typeface="Helvetica" pitchFamily="34" charset="0"/>
              </a:rPr>
              <a:t>Systems to monitor condition and performance of business computer system</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Integration of reporting into day to day operating procedures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Regular management reports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Internal and external inspections and audits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Regular staff feedback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Analysis of maintenance costs over a                                           period of time</a:t>
            </a:r>
          </a:p>
          <a:p>
            <a:pPr>
              <a:spcBef>
                <a:spcPts val="600"/>
              </a:spcBef>
              <a:spcAft>
                <a:spcPts val="1200"/>
              </a:spcAft>
              <a:buNone/>
            </a:pPr>
            <a:r>
              <a:rPr lang="en-US" sz="2200" b="1" dirty="0" smtClean="0">
                <a:solidFill>
                  <a:srgbClr val="FF6600"/>
                </a:solidFill>
                <a:latin typeface="Helvetica" pitchFamily="34" charset="0"/>
              </a:rPr>
              <a:t>COMPLETE ACTIVITY 5</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7" name="Picture 6" descr="shutterstock_156813770.jpg"/>
          <p:cNvPicPr/>
          <p:nvPr/>
        </p:nvPicPr>
        <p:blipFill>
          <a:blip r:embed="rId3" cstate="print"/>
          <a:stretch>
            <a:fillRect/>
          </a:stretch>
        </p:blipFill>
        <p:spPr>
          <a:xfrm>
            <a:off x="6948264" y="3212976"/>
            <a:ext cx="1439098" cy="13460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8280920" cy="4680520"/>
          </a:xfrm>
        </p:spPr>
        <p:txBody>
          <a:bodyPr>
            <a:normAutofit/>
          </a:bodyPr>
          <a:lstStyle/>
          <a:p>
            <a:pPr marL="0">
              <a:buNone/>
            </a:pPr>
            <a:r>
              <a:rPr lang="en-AU" sz="4000" b="1" dirty="0" smtClean="0">
                <a:solidFill>
                  <a:srgbClr val="FF6600"/>
                </a:solidFill>
                <a:latin typeface="Helvetica" pitchFamily="34" charset="0"/>
              </a:rPr>
              <a:t>Element 2:</a:t>
            </a:r>
          </a:p>
          <a:p>
            <a:pPr marL="0">
              <a:buNone/>
            </a:pPr>
            <a:r>
              <a:rPr lang="en-US" sz="4000" dirty="0" smtClean="0">
                <a:solidFill>
                  <a:srgbClr val="FF6600"/>
                </a:solidFill>
              </a:rPr>
              <a:t>Purchase hardware and software</a:t>
            </a:r>
            <a:endParaRPr lang="en-US" sz="4000"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descr="comp 13.jpg"/>
          <p:cNvPicPr>
            <a:picLocks noChangeAspect="1"/>
          </p:cNvPicPr>
          <p:nvPr/>
        </p:nvPicPr>
        <p:blipFill>
          <a:blip r:embed="rId3" cstate="print"/>
          <a:stretch>
            <a:fillRect/>
          </a:stretch>
        </p:blipFill>
        <p:spPr>
          <a:xfrm>
            <a:off x="4644008" y="3573016"/>
            <a:ext cx="2667000" cy="1714500"/>
          </a:xfrm>
          <a:prstGeom prst="rect">
            <a:avLst/>
          </a:prstGeom>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Purchase hardware and software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broad computer equipment hardware and software requirements accurately and research possible new approaches using appropriate information sources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Assess the feasibility of acquiring or upgrading hardware and software based on available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Evaluate options against the needs of the enterprise, including advantages and limitations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Investigate user-friendliness, system                            support and training issues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descr="Comp 2.png"/>
          <p:cNvPicPr>
            <a:picLocks noChangeAspect="1"/>
          </p:cNvPicPr>
          <p:nvPr/>
        </p:nvPicPr>
        <p:blipFill>
          <a:blip r:embed="rId3" cstate="print"/>
          <a:stretch>
            <a:fillRect/>
          </a:stretch>
        </p:blipFill>
        <p:spPr>
          <a:xfrm>
            <a:off x="6660232" y="4869160"/>
            <a:ext cx="1818903" cy="1362422"/>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Purchase hardware and software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Seek external specialist assistance as required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Make decisions on computer acquisitions in consultation with appropriate colleagues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Plan introduction of new computer systems to take account of impacts on colleagues and customers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Ensure staff are adequately trained in                                   using new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Monitor new systems for efficiency                                           and take action accordingly</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A18 shutterstock_181389116.jpg"/>
          <p:cNvPicPr>
            <a:picLocks noChangeAspect="1"/>
          </p:cNvPicPr>
          <p:nvPr/>
        </p:nvPicPr>
        <p:blipFill>
          <a:blip r:embed="rId3" cstate="print"/>
          <a:stretch>
            <a:fillRect/>
          </a:stretch>
        </p:blipFill>
        <p:spPr>
          <a:xfrm>
            <a:off x="7380312" y="4149080"/>
            <a:ext cx="1378072" cy="2062982"/>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Understand computer system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Understand types of computer system assets</a:t>
            </a:r>
          </a:p>
          <a:p>
            <a:pPr marL="0">
              <a:spcBef>
                <a:spcPts val="600"/>
              </a:spcBef>
              <a:spcAft>
                <a:spcPts val="1200"/>
              </a:spcAft>
              <a:buNone/>
            </a:pPr>
            <a:r>
              <a:rPr lang="en-AU" sz="2200" dirty="0" smtClean="0">
                <a:latin typeface="Helvetica" pitchFamily="34" charset="0"/>
              </a:rPr>
              <a:t>One of the most important tasks in deciding on the purchase of a business computer system is to understand the different types of assets that make up a system.</a:t>
            </a:r>
          </a:p>
          <a:p>
            <a:pPr>
              <a:spcBef>
                <a:spcPts val="600"/>
              </a:spcBef>
              <a:spcAft>
                <a:spcPts val="1200"/>
              </a:spcAft>
              <a:buNone/>
            </a:pPr>
            <a:r>
              <a:rPr lang="en-AU" sz="2200" dirty="0" smtClean="0">
                <a:latin typeface="Helvetica" pitchFamily="34" charset="0"/>
              </a:rPr>
              <a:t>What are examples of:</a:t>
            </a:r>
          </a:p>
          <a:p>
            <a:pPr>
              <a:spcBef>
                <a:spcPts val="600"/>
              </a:spcBef>
              <a:spcAft>
                <a:spcPts val="1200"/>
              </a:spcAft>
            </a:pPr>
            <a:r>
              <a:rPr lang="en-AU" sz="2200" dirty="0" smtClean="0">
                <a:latin typeface="Helvetica" pitchFamily="34" charset="0"/>
              </a:rPr>
              <a:t>Hardware</a:t>
            </a:r>
          </a:p>
          <a:p>
            <a:pPr>
              <a:spcBef>
                <a:spcPts val="600"/>
              </a:spcBef>
              <a:spcAft>
                <a:spcPts val="1200"/>
              </a:spcAft>
            </a:pPr>
            <a:r>
              <a:rPr lang="en-AU" sz="2200" dirty="0" smtClean="0">
                <a:latin typeface="Helvetica" pitchFamily="34" charset="0"/>
              </a:rPr>
              <a:t>Software</a:t>
            </a: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comp6.jpg"/>
          <p:cNvPicPr/>
          <p:nvPr/>
        </p:nvPicPr>
        <p:blipFill>
          <a:blip r:embed="rId3" cstate="print"/>
          <a:stretch>
            <a:fillRect/>
          </a:stretch>
        </p:blipFill>
        <p:spPr>
          <a:xfrm>
            <a:off x="6660232" y="4509120"/>
            <a:ext cx="1767840" cy="13906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Understand computer system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AU" sz="2200" b="1" dirty="0" smtClean="0">
                <a:latin typeface="Helvetica" pitchFamily="34" charset="0"/>
              </a:rPr>
              <a:t>Sources of computer system information</a:t>
            </a:r>
            <a:r>
              <a:rPr lang="en-AU" sz="2200" dirty="0" smtClean="0">
                <a:latin typeface="Helvetica" pitchFamily="34" charset="0"/>
              </a:rPr>
              <a:t>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Computer magazines and journals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Trade fairs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Computer software designers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Computer hardware manufacturers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Retail outlets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Internet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Industry associations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Seminars, workshops and training sessions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Internal/external clients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6" name="Picture 5" descr="A8 shutterstock_149513465.jpg"/>
          <p:cNvPicPr/>
          <p:nvPr/>
        </p:nvPicPr>
        <p:blipFill>
          <a:blip r:embed="rId3" cstate="print"/>
          <a:stretch>
            <a:fillRect/>
          </a:stretch>
        </p:blipFill>
        <p:spPr>
          <a:xfrm>
            <a:off x="6948264" y="5013176"/>
            <a:ext cx="1781175" cy="12001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Setting up a computer system/network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Setting up a computer system/network</a:t>
            </a:r>
          </a:p>
          <a:p>
            <a:pPr marL="0">
              <a:spcBef>
                <a:spcPts val="600"/>
              </a:spcBef>
              <a:spcAft>
                <a:spcPts val="1200"/>
              </a:spcAft>
              <a:buNone/>
            </a:pPr>
            <a:r>
              <a:rPr lang="en-AU" sz="2200" dirty="0" smtClean="0">
                <a:latin typeface="Helvetica" pitchFamily="34" charset="0"/>
              </a:rPr>
              <a:t>Setting up a computer network is a good way to get more out of your system and its assets.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Networking allows personnel to manage all of the operations of a small business including communication, data transfer, and storage.</a:t>
            </a:r>
          </a:p>
          <a:p>
            <a:pPr>
              <a:spcBef>
                <a:spcPts val="600"/>
              </a:spcBef>
              <a:spcAft>
                <a:spcPts val="1200"/>
              </a:spcAft>
            </a:pPr>
            <a:r>
              <a:rPr lang="en-AU" sz="2200" dirty="0" smtClean="0">
                <a:latin typeface="Helvetica" pitchFamily="34" charset="0"/>
              </a:rPr>
              <a:t>What is the difference between a                                      computer system and a network?</a:t>
            </a:r>
          </a:p>
          <a:p>
            <a:pPr>
              <a:spcBef>
                <a:spcPts val="600"/>
              </a:spcBef>
              <a:spcAft>
                <a:spcPts val="1200"/>
              </a:spcAft>
            </a:pPr>
            <a:r>
              <a:rPr lang="en-AU" sz="2200" dirty="0" smtClean="0">
                <a:latin typeface="Helvetica" pitchFamily="34" charset="0"/>
              </a:rPr>
              <a:t>What assets are required to set up both?</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7" name="Picture 6" descr="comp 7.png"/>
          <p:cNvPicPr/>
          <p:nvPr/>
        </p:nvPicPr>
        <p:blipFill>
          <a:blip r:embed="rId3" cstate="print"/>
          <a:stretch>
            <a:fillRect/>
          </a:stretch>
        </p:blipFill>
        <p:spPr>
          <a:xfrm>
            <a:off x="6660232" y="4797152"/>
            <a:ext cx="2011045" cy="13335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Internet connectivity</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Internet service provider (ISP)</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Common types of internet service:</a:t>
            </a:r>
          </a:p>
          <a:p>
            <a:pPr lvl="0">
              <a:spcBef>
                <a:spcPts val="600"/>
              </a:spcBef>
              <a:spcAft>
                <a:spcPts val="1200"/>
              </a:spcAft>
            </a:pPr>
            <a:r>
              <a:rPr lang="en-US" sz="2200" dirty="0" smtClean="0">
                <a:latin typeface="Helvetica" pitchFamily="34" charset="0"/>
              </a:rPr>
              <a:t>Dial-up</a:t>
            </a:r>
          </a:p>
          <a:p>
            <a:pPr lvl="0">
              <a:spcBef>
                <a:spcPts val="600"/>
              </a:spcBef>
              <a:spcAft>
                <a:spcPts val="1200"/>
              </a:spcAft>
            </a:pPr>
            <a:r>
              <a:rPr lang="en-US" sz="2200" dirty="0" smtClean="0">
                <a:latin typeface="Helvetica" pitchFamily="34" charset="0"/>
              </a:rPr>
              <a:t>DSL</a:t>
            </a:r>
          </a:p>
          <a:p>
            <a:pPr>
              <a:spcBef>
                <a:spcPts val="600"/>
              </a:spcBef>
              <a:spcAft>
                <a:spcPts val="1200"/>
              </a:spcAft>
            </a:pPr>
            <a:r>
              <a:rPr lang="en-US" sz="2200" dirty="0" smtClean="0">
                <a:latin typeface="Helvetica" pitchFamily="34" charset="0"/>
              </a:rPr>
              <a:t>3G and 4G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8" name="Picture 7" descr="shutterstock_129436517.jpg"/>
          <p:cNvPicPr>
            <a:picLocks noChangeAspect="1"/>
          </p:cNvPicPr>
          <p:nvPr/>
        </p:nvPicPr>
        <p:blipFill>
          <a:blip r:embed="rId3" cstate="print"/>
          <a:stretch>
            <a:fillRect/>
          </a:stretch>
        </p:blipFill>
        <p:spPr>
          <a:xfrm>
            <a:off x="6372200" y="4509120"/>
            <a:ext cx="2099297" cy="157657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Internet connectivity</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Internet service provider (ISP)</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Considerations when selecting an ISP include:</a:t>
            </a:r>
          </a:p>
          <a:p>
            <a:pPr lvl="0">
              <a:spcBef>
                <a:spcPts val="600"/>
              </a:spcBef>
              <a:spcAft>
                <a:spcPts val="1200"/>
              </a:spcAft>
            </a:pPr>
            <a:r>
              <a:rPr lang="en-US" sz="2200" dirty="0" smtClean="0">
                <a:latin typeface="Helvetica" pitchFamily="34" charset="0"/>
              </a:rPr>
              <a:t>Speed</a:t>
            </a:r>
          </a:p>
          <a:p>
            <a:pPr lvl="0">
              <a:spcBef>
                <a:spcPts val="600"/>
              </a:spcBef>
              <a:spcAft>
                <a:spcPts val="1200"/>
              </a:spcAft>
            </a:pPr>
            <a:r>
              <a:rPr lang="en-US" sz="2200" dirty="0" smtClean="0">
                <a:latin typeface="Helvetica" pitchFamily="34" charset="0"/>
              </a:rPr>
              <a:t>Price</a:t>
            </a:r>
          </a:p>
          <a:p>
            <a:pPr lvl="0">
              <a:spcBef>
                <a:spcPts val="600"/>
              </a:spcBef>
              <a:spcAft>
                <a:spcPts val="1200"/>
              </a:spcAft>
            </a:pPr>
            <a:r>
              <a:rPr lang="en-US" sz="2200" dirty="0" smtClean="0">
                <a:latin typeface="Helvetica" pitchFamily="34" charset="0"/>
              </a:rPr>
              <a:t>Ease of installation</a:t>
            </a:r>
          </a:p>
          <a:p>
            <a:pPr lvl="0">
              <a:spcBef>
                <a:spcPts val="600"/>
              </a:spcBef>
              <a:spcAft>
                <a:spcPts val="1200"/>
              </a:spcAft>
            </a:pPr>
            <a:r>
              <a:rPr lang="en-US" sz="2200" dirty="0" smtClean="0">
                <a:latin typeface="Helvetica" pitchFamily="34" charset="0"/>
              </a:rPr>
              <a:t>Service record</a:t>
            </a:r>
          </a:p>
          <a:p>
            <a:pPr lvl="0">
              <a:spcBef>
                <a:spcPts val="600"/>
              </a:spcBef>
              <a:spcAft>
                <a:spcPts val="1200"/>
              </a:spcAft>
            </a:pPr>
            <a:r>
              <a:rPr lang="en-US" sz="2200" dirty="0" smtClean="0">
                <a:latin typeface="Helvetica" pitchFamily="34" charset="0"/>
              </a:rPr>
              <a:t>Technical support</a:t>
            </a:r>
          </a:p>
          <a:p>
            <a:pPr lvl="0">
              <a:spcBef>
                <a:spcPts val="600"/>
              </a:spcBef>
              <a:spcAft>
                <a:spcPts val="1200"/>
              </a:spcAft>
            </a:pPr>
            <a:r>
              <a:rPr lang="en-US" sz="2200" dirty="0" smtClean="0">
                <a:latin typeface="Helvetica" pitchFamily="34" charset="0"/>
              </a:rPr>
              <a:t>Contract terms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shutterstock_135073397.jpg"/>
          <p:cNvPicPr>
            <a:picLocks noChangeAspect="1"/>
          </p:cNvPicPr>
          <p:nvPr/>
        </p:nvPicPr>
        <p:blipFill>
          <a:blip r:embed="rId3" cstate="print"/>
          <a:stretch>
            <a:fillRect/>
          </a:stretch>
        </p:blipFill>
        <p:spPr>
          <a:xfrm>
            <a:off x="5940152" y="4203086"/>
            <a:ext cx="2399928" cy="179994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Internet connectivity</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Modem</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The primary piece of hardware needed to connect to the internet is a modem.</a:t>
            </a:r>
          </a:p>
          <a:p>
            <a:pPr marL="0">
              <a:spcBef>
                <a:spcPts val="600"/>
              </a:spcBef>
              <a:spcAft>
                <a:spcPts val="1200"/>
              </a:spcAft>
              <a:buNone/>
            </a:pPr>
            <a:r>
              <a:rPr lang="en-US" sz="2200" dirty="0" smtClean="0">
                <a:latin typeface="Helvetica" pitchFamily="34" charset="0"/>
              </a:rPr>
              <a:t>The type of Internet access selected will determine the type of modem an organisation will need including: </a:t>
            </a:r>
          </a:p>
          <a:p>
            <a:pPr lvl="0">
              <a:spcBef>
                <a:spcPts val="600"/>
              </a:spcBef>
              <a:spcAft>
                <a:spcPts val="1200"/>
              </a:spcAft>
            </a:pPr>
            <a:r>
              <a:rPr lang="en-US" sz="2200" dirty="0" smtClean="0">
                <a:latin typeface="Helvetica" pitchFamily="34" charset="0"/>
              </a:rPr>
              <a:t>Dial-up access uses a telephone modem</a:t>
            </a:r>
          </a:p>
          <a:p>
            <a:pPr>
              <a:spcBef>
                <a:spcPts val="600"/>
              </a:spcBef>
              <a:spcAft>
                <a:spcPts val="1200"/>
              </a:spcAft>
            </a:pPr>
            <a:r>
              <a:rPr lang="en-US" sz="2200" dirty="0" smtClean="0">
                <a:latin typeface="Helvetica" pitchFamily="34" charset="0"/>
              </a:rPr>
              <a:t>DSL service uses a DSL modem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irc_mi" descr="https://upload.wikimedia.org/wikipedia/commons/5/5f/T-DSL_Modem.jpg"/>
          <p:cNvPicPr/>
          <p:nvPr/>
        </p:nvPicPr>
        <p:blipFill>
          <a:blip r:embed="rId3" cstate="print"/>
          <a:srcRect/>
          <a:stretch>
            <a:fillRect/>
          </a:stretch>
        </p:blipFill>
        <p:spPr bwMode="auto">
          <a:xfrm>
            <a:off x="6660232" y="4293096"/>
            <a:ext cx="1877764" cy="1902147"/>
          </a:xfrm>
          <a:prstGeom prst="rect">
            <a:avLst/>
          </a:prstGeom>
          <a:noFill/>
          <a:ln w="9525">
            <a:noFill/>
            <a:miter lim="800000"/>
            <a:headEnd/>
            <a:tailEnd/>
          </a:ln>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Internet connectivity</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Router</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A router is a hardware device that allows a tourism establishment to connect several computers and other devices to a single Internet connection</a:t>
            </a:r>
          </a:p>
          <a:p>
            <a:pPr>
              <a:spcBef>
                <a:spcPts val="600"/>
              </a:spcBef>
              <a:spcAft>
                <a:spcPts val="1200"/>
              </a:spcAft>
            </a:pPr>
            <a:r>
              <a:rPr lang="en-US" sz="2200" dirty="0" smtClean="0">
                <a:latin typeface="Helvetica" pitchFamily="34" charset="0"/>
              </a:rPr>
              <a:t>Many modems now include a built-in router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7" name="Picture 6" descr="comp 8.png"/>
          <p:cNvPicPr/>
          <p:nvPr/>
        </p:nvPicPr>
        <p:blipFill>
          <a:blip r:embed="rId3" cstate="print"/>
          <a:stretch>
            <a:fillRect/>
          </a:stretch>
        </p:blipFill>
        <p:spPr>
          <a:xfrm>
            <a:off x="6732240" y="4293096"/>
            <a:ext cx="1476375" cy="14763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Internet connectivity</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Network card</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A network card is a piece of hardware that allows computers to communicate over a computer network </a:t>
            </a:r>
          </a:p>
          <a:p>
            <a:pPr>
              <a:spcBef>
                <a:spcPts val="600"/>
              </a:spcBef>
              <a:spcAft>
                <a:spcPts val="1200"/>
              </a:spcAft>
            </a:pPr>
            <a:r>
              <a:rPr lang="en-US" sz="2200" dirty="0" smtClean="0">
                <a:latin typeface="Helvetica" pitchFamily="34" charset="0"/>
              </a:rPr>
              <a:t>The network card will have an Ethernet port, a wireless connection, or both</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6" name="Picture 5" descr="comp 34.png"/>
          <p:cNvPicPr>
            <a:picLocks noChangeAspect="1"/>
          </p:cNvPicPr>
          <p:nvPr/>
        </p:nvPicPr>
        <p:blipFill>
          <a:blip r:embed="rId3" cstate="print"/>
          <a:stretch>
            <a:fillRect/>
          </a:stretch>
        </p:blipFill>
        <p:spPr>
          <a:xfrm>
            <a:off x="4355976" y="3933056"/>
            <a:ext cx="2971800" cy="15430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Internet connectivity</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Servers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computer that has been optimised to provide services to other computers over a network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Servers usually have powerful processors, lots of memory and large hard drives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7" name="Picture 6" descr="comp 10.jpg"/>
          <p:cNvPicPr/>
          <p:nvPr/>
        </p:nvPicPr>
        <p:blipFill>
          <a:blip r:embed="rId3" cstate="print"/>
          <a:stretch>
            <a:fillRect/>
          </a:stretch>
        </p:blipFill>
        <p:spPr>
          <a:xfrm>
            <a:off x="6732240" y="4509120"/>
            <a:ext cx="1590675" cy="15906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Wired and wireless networks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Wired and Wireless Networks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first decision you will need to make about your new computer system network is whether you would like it to be wired or completely wireless.</a:t>
            </a:r>
          </a:p>
          <a:p>
            <a:pPr>
              <a:spcBef>
                <a:spcPts val="600"/>
              </a:spcBef>
              <a:spcAft>
                <a:spcPts val="1200"/>
              </a:spcAft>
              <a:buNone/>
            </a:pPr>
            <a:r>
              <a:rPr lang="en-AU" sz="2200" dirty="0" smtClean="0">
                <a:latin typeface="Helvetica" pitchFamily="34" charset="0"/>
              </a:rPr>
              <a:t>In many cases both options are used:</a:t>
            </a:r>
          </a:p>
          <a:p>
            <a:pPr lvl="0">
              <a:spcBef>
                <a:spcPts val="600"/>
              </a:spcBef>
              <a:spcAft>
                <a:spcPts val="1200"/>
              </a:spcAft>
            </a:pPr>
            <a:r>
              <a:rPr lang="en-AU" sz="2200" dirty="0" smtClean="0">
                <a:latin typeface="Helvetica" pitchFamily="34" charset="0"/>
              </a:rPr>
              <a:t>Desktop -  connected to the Internet                                         with an Ethernet cable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Laptop computer - connected via a                                      wireless router</a:t>
            </a:r>
            <a:endParaRPr lang="en-US" sz="2200" dirty="0" smtClean="0">
              <a:latin typeface="Helvetica" pitchFamily="34" charset="0"/>
            </a:endParaRPr>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descr="comp 10.png"/>
          <p:cNvPicPr/>
          <p:nvPr/>
        </p:nvPicPr>
        <p:blipFill>
          <a:blip r:embed="rId3" cstate="print"/>
          <a:stretch>
            <a:fillRect/>
          </a:stretch>
        </p:blipFill>
        <p:spPr>
          <a:xfrm>
            <a:off x="6876256" y="3212976"/>
            <a:ext cx="1460758" cy="1265684"/>
          </a:xfrm>
          <a:prstGeom prst="rect">
            <a:avLst/>
          </a:prstGeom>
        </p:spPr>
      </p:pic>
      <p:pic>
        <p:nvPicPr>
          <p:cNvPr id="8" name="Picture 7" descr="comp 11.png"/>
          <p:cNvPicPr/>
          <p:nvPr/>
        </p:nvPicPr>
        <p:blipFill>
          <a:blip r:embed="rId4" cstate="print"/>
          <a:stretch>
            <a:fillRect/>
          </a:stretch>
        </p:blipFill>
        <p:spPr>
          <a:xfrm>
            <a:off x="7020272" y="5013176"/>
            <a:ext cx="1285676" cy="11416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Networking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Local area network (LAN)</a:t>
            </a:r>
            <a:r>
              <a:rPr lang="en-AU" sz="2200" dirty="0" smtClean="0">
                <a:latin typeface="Helvetica" pitchFamily="34" charset="0"/>
              </a:rPr>
              <a:t>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local area network (LAN) supplies networking capability to a group of computers in close proximity to each other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LAN is useful for sharing resources like files, printers, games or other applications</a:t>
            </a:r>
            <a:endParaRPr lang="en-US" sz="2200" dirty="0" smtClean="0">
              <a:latin typeface="Helvetica" pitchFamily="34" charset="0"/>
            </a:endParaRP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7" name="Picture 6" descr="comp 12.png"/>
          <p:cNvPicPr/>
          <p:nvPr/>
        </p:nvPicPr>
        <p:blipFill>
          <a:blip r:embed="rId3" cstate="print"/>
          <a:stretch>
            <a:fillRect/>
          </a:stretch>
        </p:blipFill>
        <p:spPr>
          <a:xfrm>
            <a:off x="6804248" y="4581128"/>
            <a:ext cx="1628775" cy="14573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Networking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Local area network (LAN)</a:t>
            </a:r>
            <a:r>
              <a:rPr lang="en-AU" sz="2200" dirty="0" smtClean="0">
                <a:latin typeface="Helvetica" pitchFamily="34" charset="0"/>
              </a:rPr>
              <a:t> </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Each of these local networks may: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Stand alone disconnected from any other network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May connect to other 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Connected to a WAN (wide area networks) - which reach across cities and other countries</a:t>
            </a:r>
            <a:endParaRPr lang="en-US" sz="2200" dirty="0" smtClean="0">
              <a:latin typeface="Helvetica" pitchFamily="34" charset="0"/>
            </a:endParaRPr>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descr="shutterstock_84348874.jpg"/>
          <p:cNvPicPr>
            <a:picLocks noChangeAspect="1"/>
          </p:cNvPicPr>
          <p:nvPr/>
        </p:nvPicPr>
        <p:blipFill>
          <a:blip r:embed="rId3" cstate="print"/>
          <a:stretch>
            <a:fillRect/>
          </a:stretch>
        </p:blipFill>
        <p:spPr>
          <a:xfrm>
            <a:off x="6300192" y="4653136"/>
            <a:ext cx="2141211" cy="149884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Networking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Network Setup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next step in how to set up a small business computer network is deciding whether to make it a peer-to-peer setup or a client-server one. </a:t>
            </a:r>
          </a:p>
          <a:p>
            <a:pPr marL="0">
              <a:spcBef>
                <a:spcPts val="600"/>
              </a:spcBef>
              <a:spcAft>
                <a:spcPts val="1200"/>
              </a:spcAft>
              <a:buNone/>
            </a:pPr>
            <a:r>
              <a:rPr lang="en-AU" sz="2200" dirty="0" smtClean="0">
                <a:latin typeface="Helvetica" pitchFamily="34" charset="0"/>
              </a:rPr>
              <a:t>Both networks connect computers so that resources can be shared between them. </a:t>
            </a:r>
          </a:p>
          <a:p>
            <a:pPr>
              <a:spcBef>
                <a:spcPts val="600"/>
              </a:spcBef>
              <a:spcAft>
                <a:spcPts val="1200"/>
              </a:spcAft>
            </a:pPr>
            <a:r>
              <a:rPr lang="en-AU" sz="2200" dirty="0" smtClean="0">
                <a:latin typeface="Helvetica" pitchFamily="34" charset="0"/>
              </a:rPr>
              <a:t>Peer-To-Peer Setup</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Client-Server Setup</a:t>
            </a:r>
            <a:endParaRPr lang="en-US" sz="2200" dirty="0" smtClean="0">
              <a:latin typeface="Helvetica" pitchFamily="34" charset="0"/>
            </a:endParaRPr>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6" name="Picture 5" descr="comp 13.jpg"/>
          <p:cNvPicPr>
            <a:picLocks noChangeAspect="1"/>
          </p:cNvPicPr>
          <p:nvPr/>
        </p:nvPicPr>
        <p:blipFill>
          <a:blip r:embed="rId3" cstate="print"/>
          <a:stretch>
            <a:fillRect/>
          </a:stretch>
        </p:blipFill>
        <p:spPr>
          <a:xfrm>
            <a:off x="5836140" y="4437112"/>
            <a:ext cx="2554988" cy="164249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Networking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Setting up a secure network</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Once you have decided upon the type of network, it is important that it is protected.</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You can secure a network a number of ways, including through: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router - through the use of security settings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operating system</a:t>
            </a:r>
          </a:p>
          <a:p>
            <a:pPr marL="0">
              <a:spcBef>
                <a:spcPts val="600"/>
              </a:spcBef>
              <a:spcAft>
                <a:spcPts val="1200"/>
              </a:spcAft>
              <a:buNone/>
            </a:pPr>
            <a:r>
              <a:rPr lang="en-AU" sz="2200" dirty="0" smtClean="0">
                <a:latin typeface="Helvetica" pitchFamily="34" charset="0"/>
              </a:rPr>
              <a:t>Wireless encryption protocol (WEP) uses                              passwords to encrypt the network traffic.</a:t>
            </a:r>
            <a:endParaRPr lang="en-US" sz="2200" dirty="0" smtClean="0">
              <a:latin typeface="Helvetica" pitchFamily="34" charset="0"/>
            </a:endParaRPr>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7" name="Picture 6" descr="comp 28.jpg"/>
          <p:cNvPicPr>
            <a:picLocks noChangeAspect="1"/>
          </p:cNvPicPr>
          <p:nvPr/>
        </p:nvPicPr>
        <p:blipFill>
          <a:blip r:embed="rId3" cstate="print"/>
          <a:stretch>
            <a:fillRect/>
          </a:stretch>
        </p:blipFill>
        <p:spPr>
          <a:xfrm>
            <a:off x="7308304" y="4221088"/>
            <a:ext cx="1375221" cy="206929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Personal computers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Personal Computers (PC's)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Personal computers are an essential part of any business computer system.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personal computer (PC) defines a computer designed for general use by a single person.</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 two main operating systems used for PC's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Windows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Mac </a:t>
            </a:r>
            <a:endParaRPr lang="en-US" sz="2200" dirty="0" smtClean="0">
              <a:latin typeface="Helvetica" pitchFamily="34" charset="0"/>
            </a:endParaRPr>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6" name="Picture 5" descr="comp 13.jpg"/>
          <p:cNvPicPr/>
          <p:nvPr/>
        </p:nvPicPr>
        <p:blipFill>
          <a:blip r:embed="rId3" cstate="print"/>
          <a:stretch>
            <a:fillRect/>
          </a:stretch>
        </p:blipFill>
        <p:spPr>
          <a:xfrm>
            <a:off x="6228184" y="4725144"/>
            <a:ext cx="2105025" cy="13525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Personal computers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Types of personal computers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Desktops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Laptops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Netbooks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Tablet computers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Thin clients</a:t>
            </a:r>
            <a:endParaRPr lang="en-US" sz="2200" b="1" dirty="0" smtClean="0">
              <a:latin typeface="Helvetica" pitchFamily="34" charset="0"/>
            </a:endParaRPr>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7" name="Picture 6" descr="shutterstock_121585801.jpg"/>
          <p:cNvPicPr/>
          <p:nvPr/>
        </p:nvPicPr>
        <p:blipFill>
          <a:blip r:embed="rId3" cstate="print"/>
          <a:stretch>
            <a:fillRect/>
          </a:stretch>
        </p:blipFill>
        <p:spPr>
          <a:xfrm>
            <a:off x="6516216" y="4581128"/>
            <a:ext cx="2000250" cy="13335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Personal computers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Key features of a personal computer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Processor</a:t>
            </a:r>
          </a:p>
          <a:p>
            <a:pPr>
              <a:spcBef>
                <a:spcPts val="600"/>
              </a:spcBef>
              <a:spcAft>
                <a:spcPts val="1200"/>
              </a:spcAft>
            </a:pPr>
            <a:r>
              <a:rPr lang="en-AU" sz="2200" dirty="0" smtClean="0">
                <a:latin typeface="Helvetica" pitchFamily="34" charset="0"/>
              </a:rPr>
              <a:t>Graphics card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Hard disk</a:t>
            </a:r>
          </a:p>
          <a:p>
            <a:pPr>
              <a:spcBef>
                <a:spcPts val="600"/>
              </a:spcBef>
              <a:spcAft>
                <a:spcPts val="1200"/>
              </a:spcAft>
            </a:pPr>
            <a:r>
              <a:rPr lang="en-AU" sz="2200" dirty="0" smtClean="0">
                <a:latin typeface="Helvetica" pitchFamily="34" charset="0"/>
              </a:rPr>
              <a:t>Operating system</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RAM</a:t>
            </a:r>
            <a:endParaRPr lang="en-US" sz="2200" dirty="0" smtClean="0">
              <a:latin typeface="Helvetica" pitchFamily="34" charset="0"/>
            </a:endParaRPr>
          </a:p>
          <a:p>
            <a:endParaRPr lang="en-US" sz="2400" dirty="0" smtClean="0"/>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6" name="Picture 5" descr="comp 15.png"/>
          <p:cNvPicPr/>
          <p:nvPr/>
        </p:nvPicPr>
        <p:blipFill>
          <a:blip r:embed="rId3" cstate="print"/>
          <a:stretch>
            <a:fillRect/>
          </a:stretch>
        </p:blipFill>
        <p:spPr>
          <a:xfrm>
            <a:off x="6444208" y="3717032"/>
            <a:ext cx="1781175" cy="13144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Monitors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Types of computer monitors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LCD (liquid crystal display) monitors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LED (light-emitting diodes) monitors</a:t>
            </a: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b="1" dirty="0" smtClean="0">
                <a:latin typeface="Helvetica" pitchFamily="34" charset="0"/>
              </a:rPr>
              <a:t>Considerations when purchasing monitors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Size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Resolution</a:t>
            </a: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7" name="Picture 6" descr="comp 16.png"/>
          <p:cNvPicPr/>
          <p:nvPr/>
        </p:nvPicPr>
        <p:blipFill>
          <a:blip r:embed="rId3" cstate="print"/>
          <a:stretch>
            <a:fillRect/>
          </a:stretch>
        </p:blipFill>
        <p:spPr>
          <a:xfrm>
            <a:off x="6660232" y="4509120"/>
            <a:ext cx="1866900" cy="16002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Keyboards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Keyboards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Keyboards are available in a wide array of options, with some suitable for use only with nominated or 'supported' software.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Wireless capacity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Ergonomic design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Customisable hot keys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Single touch pad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Keyboard scrolling wheel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USB ports</a:t>
            </a: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6" name="Picture 5" descr="shutterstock_192010940.jpg"/>
          <p:cNvPicPr/>
          <p:nvPr/>
        </p:nvPicPr>
        <p:blipFill>
          <a:blip r:embed="rId3" cstate="print"/>
          <a:stretch>
            <a:fillRect/>
          </a:stretch>
        </p:blipFill>
        <p:spPr>
          <a:xfrm>
            <a:off x="6588224" y="4581128"/>
            <a:ext cx="1819275" cy="13620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Mouse</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Mouse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Wireless option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Extra buttons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Wheel scrolling for accelerated page scrolling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Left-hand and right-hand design</a:t>
            </a: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7" name="Picture 6" descr="comp 44.png"/>
          <p:cNvPicPr>
            <a:picLocks noChangeAspect="1"/>
          </p:cNvPicPr>
          <p:nvPr/>
        </p:nvPicPr>
        <p:blipFill>
          <a:blip r:embed="rId3" cstate="print"/>
          <a:stretch>
            <a:fillRect/>
          </a:stretch>
        </p:blipFill>
        <p:spPr>
          <a:xfrm>
            <a:off x="5796136" y="4293096"/>
            <a:ext cx="2619375" cy="17430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Multifunction devices (MFDs)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Multifunction devices (MFDs)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MFDs are pieces of equipment where a number of items are combined into the one piece of equipment.</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common functions are performed using MFD's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Copy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Scan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Fax</a:t>
            </a: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6" name="Picture 5" descr="comp 21.jpg"/>
          <p:cNvPicPr/>
          <p:nvPr/>
        </p:nvPicPr>
        <p:blipFill>
          <a:blip r:embed="rId3" cstate="print"/>
          <a:stretch>
            <a:fillRect/>
          </a:stretch>
        </p:blipFill>
        <p:spPr>
          <a:xfrm>
            <a:off x="6732240" y="4293096"/>
            <a:ext cx="1784400" cy="17844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Computer back-up systems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AU" sz="2200" b="1" dirty="0" smtClean="0">
                <a:latin typeface="Helvetica" pitchFamily="34" charset="0"/>
              </a:rPr>
              <a:t>Back up system considerations</a:t>
            </a:r>
          </a:p>
          <a:p>
            <a:pPr marL="0">
              <a:spcBef>
                <a:spcPts val="600"/>
              </a:spcBef>
              <a:spcAft>
                <a:spcPts val="600"/>
              </a:spcAft>
              <a:buNone/>
            </a:pPr>
            <a:r>
              <a:rPr lang="en-AU" sz="2200" dirty="0" smtClean="0">
                <a:latin typeface="Helvetica" pitchFamily="34" charset="0"/>
              </a:rPr>
              <a:t>When choosing a backup system there are a number of considerations including: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Amount of data you have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Amount of computers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Amount of hands-on involvement required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Backup speed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Sensitivity of your data</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Your level of computer expertise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Physical size of the drive</a:t>
            </a: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7" name="Picture 6" descr="comp 19.png"/>
          <p:cNvPicPr/>
          <p:nvPr/>
        </p:nvPicPr>
        <p:blipFill>
          <a:blip r:embed="rId3" cstate="print"/>
          <a:stretch>
            <a:fillRect/>
          </a:stretch>
        </p:blipFill>
        <p:spPr>
          <a:xfrm>
            <a:off x="6156176" y="4797152"/>
            <a:ext cx="2591569" cy="133235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Computer back-up systems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a:spcBef>
                <a:spcPts val="600"/>
              </a:spcBef>
              <a:spcAft>
                <a:spcPts val="1200"/>
              </a:spcAft>
              <a:buNone/>
            </a:pPr>
            <a:r>
              <a:rPr lang="en-AU" sz="2200" b="1" dirty="0" smtClean="0">
                <a:latin typeface="Helvetica" pitchFamily="34" charset="0"/>
              </a:rPr>
              <a:t>Types of back-up drives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Backup solutions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Internal drives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External drives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Network drives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Online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Thumb drives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CD or DVD backups</a:t>
            </a:r>
          </a:p>
          <a:p>
            <a:pPr>
              <a:spcBef>
                <a:spcPts val="600"/>
              </a:spcBef>
              <a:spcAft>
                <a:spcPts val="1200"/>
              </a:spcAft>
              <a:buNone/>
            </a:pPr>
            <a:r>
              <a:rPr lang="en-US" sz="2200" b="1" dirty="0" smtClean="0">
                <a:solidFill>
                  <a:srgbClr val="FF6600"/>
                </a:solidFill>
                <a:latin typeface="Helvetica" pitchFamily="34" charset="0"/>
              </a:rPr>
              <a:t>COMPLETE ACTIVITY 6</a:t>
            </a:r>
          </a:p>
          <a:p>
            <a:pPr lvl="0">
              <a:spcBef>
                <a:spcPts val="600"/>
              </a:spcBef>
              <a:spcAft>
                <a:spcPts val="1200"/>
              </a:spcAft>
              <a:buNone/>
            </a:pP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comp 32.jpg"/>
          <p:cNvPicPr>
            <a:picLocks noChangeAspect="1"/>
          </p:cNvPicPr>
          <p:nvPr/>
        </p:nvPicPr>
        <p:blipFill>
          <a:blip r:embed="rId3" cstate="print"/>
          <a:stretch>
            <a:fillRect/>
          </a:stretch>
        </p:blipFill>
        <p:spPr>
          <a:xfrm>
            <a:off x="6084168" y="4221088"/>
            <a:ext cx="2466975" cy="18478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Software</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Definition of software</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General term for the various kinds of programs used to operate computers and related devices</a:t>
            </a:r>
          </a:p>
          <a:p>
            <a:pPr>
              <a:spcBef>
                <a:spcPts val="600"/>
              </a:spcBef>
              <a:spcAft>
                <a:spcPts val="1200"/>
              </a:spcAft>
            </a:pPr>
            <a:r>
              <a:rPr lang="en-US" sz="2200" dirty="0" smtClean="0">
                <a:latin typeface="Helvetica" pitchFamily="34" charset="0"/>
              </a:rPr>
              <a:t>What are examples of software used in business?</a:t>
            </a:r>
            <a:endParaRPr lang="en-AU"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7" name="Picture 6" descr="comp 24.png"/>
          <p:cNvPicPr/>
          <p:nvPr/>
        </p:nvPicPr>
        <p:blipFill>
          <a:blip r:embed="rId3" cstate="print"/>
          <a:stretch>
            <a:fillRect/>
          </a:stretch>
        </p:blipFill>
        <p:spPr>
          <a:xfrm>
            <a:off x="6444208" y="4293096"/>
            <a:ext cx="1856606" cy="171259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Software</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5445224"/>
          </a:xfrm>
        </p:spPr>
        <p:txBody>
          <a:bodyPr>
            <a:normAutofit/>
          </a:bodyPr>
          <a:lstStyle/>
          <a:p>
            <a:pPr>
              <a:spcBef>
                <a:spcPts val="600"/>
              </a:spcBef>
              <a:spcAft>
                <a:spcPts val="600"/>
              </a:spcAft>
              <a:buNone/>
            </a:pPr>
            <a:r>
              <a:rPr lang="en-US" sz="2200" b="1" dirty="0" smtClean="0">
                <a:latin typeface="Helvetica" pitchFamily="34" charset="0"/>
              </a:rPr>
              <a:t>Software functions</a:t>
            </a:r>
            <a:endParaRPr lang="en-US" sz="2200" dirty="0" smtClean="0">
              <a:latin typeface="Helvetica" pitchFamily="34" charset="0"/>
            </a:endParaRPr>
          </a:p>
          <a:p>
            <a:pPr marL="0">
              <a:spcBef>
                <a:spcPts val="600"/>
              </a:spcBef>
              <a:spcAft>
                <a:spcPts val="600"/>
              </a:spcAft>
              <a:buNone/>
            </a:pPr>
            <a:r>
              <a:rPr lang="en-AU" sz="2200" dirty="0" smtClean="0">
                <a:latin typeface="Helvetica" pitchFamily="34" charset="0"/>
              </a:rPr>
              <a:t>Popular software functions include:</a:t>
            </a:r>
          </a:p>
          <a:p>
            <a:pPr>
              <a:spcBef>
                <a:spcPts val="600"/>
              </a:spcBef>
              <a:spcAft>
                <a:spcPts val="600"/>
              </a:spcAft>
            </a:pPr>
            <a:r>
              <a:rPr lang="en-AU" sz="2200" dirty="0" smtClean="0">
                <a:latin typeface="Helvetica" pitchFamily="34" charset="0"/>
              </a:rPr>
              <a:t>Word processing </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Spreadsheets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Databases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Communication </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Presentation  </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Sharing</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Internet browsers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Accounting software </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Groupware and collaboration</a:t>
            </a: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7" name="Picture 6" descr="comp 26.png"/>
          <p:cNvPicPr/>
          <p:nvPr/>
        </p:nvPicPr>
        <p:blipFill>
          <a:blip r:embed="rId3" cstate="print"/>
          <a:stretch>
            <a:fillRect/>
          </a:stretch>
        </p:blipFill>
        <p:spPr>
          <a:xfrm>
            <a:off x="5796136" y="3501008"/>
            <a:ext cx="2371725" cy="10287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Tourism computer systems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US" sz="2200" b="1" dirty="0" smtClean="0">
                <a:latin typeface="Helvetica" pitchFamily="34" charset="0"/>
              </a:rPr>
              <a:t>Tourism systems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Commonly used industry‑wide systems used by travel organisations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Global distribution system (GDS)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Computerised or centralised reservations system (CRS)</a:t>
            </a:r>
            <a:endParaRPr lang="en-US" sz="2200" dirty="0" smtClean="0">
              <a:latin typeface="Helvetica" pitchFamily="34" charset="0"/>
            </a:endParaRPr>
          </a:p>
          <a:p>
            <a:endParaRPr lang="en-AU" sz="2400" u="sng" dirty="0" smtClean="0"/>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6" name="Picture 5" descr="1111.jpg"/>
          <p:cNvPicPr/>
          <p:nvPr/>
        </p:nvPicPr>
        <p:blipFill>
          <a:blip r:embed="rId3" cstate="print"/>
          <a:stretch>
            <a:fillRect/>
          </a:stretch>
        </p:blipFill>
        <p:spPr>
          <a:xfrm>
            <a:off x="6588224" y="4581128"/>
            <a:ext cx="1927473" cy="145541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Tourism computer systems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Global Distribution System (GDS)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Global Distribution System (GDS) is an e-commerce tool introduced by airlines to facilitate the booking of flights.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There are four major Global Distribution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Amadeus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Galileo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Sabre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Worldspan</a:t>
            </a:r>
            <a:endParaRPr lang="en-AU" sz="2200" u="sng" dirty="0" smtClean="0">
              <a:latin typeface="Helvetica" pitchFamily="34" charset="0"/>
            </a:endParaRPr>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7" name="Picture 6" descr="Generic_Plan and boarding.jpg"/>
          <p:cNvPicPr>
            <a:picLocks noChangeAspect="1"/>
          </p:cNvPicPr>
          <p:nvPr/>
        </p:nvPicPr>
        <p:blipFill>
          <a:blip r:embed="rId3" cstate="print"/>
          <a:stretch>
            <a:fillRect/>
          </a:stretch>
        </p:blipFill>
        <p:spPr>
          <a:xfrm>
            <a:off x="6948264" y="4077072"/>
            <a:ext cx="1431032" cy="190804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Tourism computer systems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Computerised reservation systems (CRS)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many computerised reservation systems (CRS) in use today and while they all provide similar functions, menus, sub-menus, options, reports, statistics and accounting facilities the individual programs are all unique.</a:t>
            </a:r>
          </a:p>
          <a:p>
            <a:pPr>
              <a:spcBef>
                <a:spcPts val="600"/>
              </a:spcBef>
              <a:spcAft>
                <a:spcPts val="1200"/>
              </a:spcAft>
            </a:pPr>
            <a:r>
              <a:rPr lang="en-AU" sz="2200" dirty="0" smtClean="0">
                <a:latin typeface="Helvetica" pitchFamily="34" charset="0"/>
              </a:rPr>
              <a:t>What are examples of CRS’s?</a:t>
            </a:r>
          </a:p>
          <a:p>
            <a:pPr>
              <a:spcBef>
                <a:spcPts val="600"/>
              </a:spcBef>
              <a:spcAft>
                <a:spcPts val="1200"/>
              </a:spcAft>
            </a:pPr>
            <a:r>
              <a:rPr lang="en-AU" sz="2200" dirty="0" smtClean="0">
                <a:latin typeface="Helvetica" pitchFamily="34" charset="0"/>
              </a:rPr>
              <a:t>What is their purpose?</a:t>
            </a:r>
          </a:p>
          <a:p>
            <a:pPr>
              <a:spcBef>
                <a:spcPts val="600"/>
              </a:spcBef>
              <a:spcAft>
                <a:spcPts val="1200"/>
              </a:spcAft>
            </a:pPr>
            <a:r>
              <a:rPr lang="en-AU" sz="2200" dirty="0" smtClean="0">
                <a:latin typeface="Helvetica" pitchFamily="34" charset="0"/>
              </a:rPr>
              <a:t>How do they benefit a tourism organisation?</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7</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US"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6" name="Picture 5" descr="Lady_plan_world_train_96530158.jpg"/>
          <p:cNvPicPr>
            <a:picLocks noChangeAspect="1"/>
          </p:cNvPicPr>
          <p:nvPr/>
        </p:nvPicPr>
        <p:blipFill>
          <a:blip r:embed="rId3" cstate="print"/>
          <a:stretch>
            <a:fillRect/>
          </a:stretch>
        </p:blipFill>
        <p:spPr>
          <a:xfrm>
            <a:off x="6876256" y="4941168"/>
            <a:ext cx="1847874" cy="12325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Conducting research into suitable computer system options</a:t>
            </a:r>
          </a:p>
          <a:p>
            <a:pPr>
              <a:spcBef>
                <a:spcPts val="600"/>
              </a:spcBef>
              <a:spcAft>
                <a:spcPts val="1200"/>
              </a:spcAft>
            </a:pPr>
            <a:r>
              <a:rPr lang="en-AU" sz="2200" dirty="0" smtClean="0">
                <a:latin typeface="Helvetica" pitchFamily="34" charset="0"/>
              </a:rPr>
              <a:t>Now that we have identified the types of computer assets and possible quantities required it is now time to undertake procurement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As part of the procurement process a feasibility study will be conducted to identify, research, evaluate and select the best computer assets to meet your requirements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descr="hx.jpg"/>
          <p:cNvPicPr/>
          <p:nvPr/>
        </p:nvPicPr>
        <p:blipFill>
          <a:blip r:embed="rId3" cstate="print"/>
          <a:stretch>
            <a:fillRect/>
          </a:stretch>
        </p:blipFill>
        <p:spPr>
          <a:xfrm>
            <a:off x="6660232" y="4941168"/>
            <a:ext cx="1878330" cy="12573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Procurement</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Procurement is the process of sourcing and purchasing computer system assets.</a:t>
            </a:r>
          </a:p>
          <a:p>
            <a:pPr>
              <a:spcBef>
                <a:spcPts val="600"/>
              </a:spcBef>
              <a:spcAft>
                <a:spcPts val="1200"/>
              </a:spcAft>
            </a:pPr>
            <a:r>
              <a:rPr lang="en-AU" sz="2200" dirty="0" smtClean="0">
                <a:latin typeface="Helvetica" pitchFamily="34" charset="0"/>
              </a:rPr>
              <a:t>What are considerations when purchasing computer system assets?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descr="hx.jpg"/>
          <p:cNvPicPr/>
          <p:nvPr/>
        </p:nvPicPr>
        <p:blipFill>
          <a:blip r:embed="rId3" cstate="print"/>
          <a:stretch>
            <a:fillRect/>
          </a:stretch>
        </p:blipFill>
        <p:spPr>
          <a:xfrm>
            <a:off x="6660232" y="4941168"/>
            <a:ext cx="1878330" cy="12573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Computer system asset purchasing considerations</a:t>
            </a:r>
          </a:p>
          <a:p>
            <a:pPr lvl="0">
              <a:spcBef>
                <a:spcPts val="600"/>
              </a:spcBef>
              <a:spcAft>
                <a:spcPts val="1200"/>
              </a:spcAft>
            </a:pPr>
            <a:r>
              <a:rPr lang="en-AU" sz="2200" dirty="0" smtClean="0">
                <a:latin typeface="Helvetica" pitchFamily="34" charset="0"/>
              </a:rPr>
              <a:t>Cost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Availability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Warranties and after-sales service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Lead times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centre locations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Interruptions related to servicing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Parts and replacement policies</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6" name="Picture 5" descr="13.jpg"/>
          <p:cNvPicPr/>
          <p:nvPr/>
        </p:nvPicPr>
        <p:blipFill>
          <a:blip r:embed="rId3" cstate="print"/>
          <a:stretch>
            <a:fillRect/>
          </a:stretch>
        </p:blipFill>
        <p:spPr>
          <a:xfrm>
            <a:off x="7452320" y="4365104"/>
            <a:ext cx="1192530" cy="17907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Computer system asset purchasing considerations</a:t>
            </a:r>
          </a:p>
          <a:p>
            <a:pPr lvl="0">
              <a:spcBef>
                <a:spcPts val="600"/>
              </a:spcBef>
              <a:spcAft>
                <a:spcPts val="1200"/>
              </a:spcAft>
            </a:pPr>
            <a:r>
              <a:rPr lang="en-AU" sz="2200" dirty="0" smtClean="0">
                <a:latin typeface="Helvetica" pitchFamily="34" charset="0"/>
              </a:rPr>
              <a:t>Product quality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Reliability, suitability of use and durability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Continuity of supply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Terms of trade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Rebates and discounts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Staff training provided by suppliers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Incentives to purchase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7" name="Picture 6" descr="Comp 1.png"/>
          <p:cNvPicPr>
            <a:picLocks noChangeAspect="1"/>
          </p:cNvPicPr>
          <p:nvPr/>
        </p:nvPicPr>
        <p:blipFill>
          <a:blip r:embed="rId3" cstate="print"/>
          <a:stretch>
            <a:fillRect/>
          </a:stretch>
        </p:blipFill>
        <p:spPr>
          <a:xfrm>
            <a:off x="6228184" y="4653136"/>
            <a:ext cx="2276855" cy="141902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Definition of feasibility</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Feasibility is based around objectively and rationally researching and understanding the strengths and weaknesses of various options to make an informed and calculated decision.</a:t>
            </a:r>
          </a:p>
          <a:p>
            <a:pPr>
              <a:spcBef>
                <a:spcPts val="600"/>
              </a:spcBef>
              <a:spcAft>
                <a:spcPts val="1200"/>
              </a:spcAft>
            </a:pPr>
            <a:r>
              <a:rPr lang="en-AU" sz="2200" dirty="0" smtClean="0">
                <a:latin typeface="Helvetica" pitchFamily="34" charset="0"/>
              </a:rPr>
              <a:t>What are feasibility activities?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6" name="Picture 5" descr="kp.jpg"/>
          <p:cNvPicPr/>
          <p:nvPr/>
        </p:nvPicPr>
        <p:blipFill>
          <a:blip r:embed="rId3" cstate="print"/>
          <a:stretch>
            <a:fillRect/>
          </a:stretch>
        </p:blipFill>
        <p:spPr>
          <a:xfrm>
            <a:off x="6300192" y="4797152"/>
            <a:ext cx="2263899" cy="131025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Feasibility activities</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Assess the feasibility may relate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the best method of acquiring required components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advantages and disadvantages of each acquisition method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Researching the different options that exist for the desired computer asset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Assessing costs against available budget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7" name="Picture 6" descr="ie.jpg"/>
          <p:cNvPicPr/>
          <p:nvPr/>
        </p:nvPicPr>
        <p:blipFill>
          <a:blip r:embed="rId3" cstate="print"/>
          <a:stretch>
            <a:fillRect/>
          </a:stretch>
        </p:blipFill>
        <p:spPr>
          <a:xfrm>
            <a:off x="7020272" y="5085184"/>
            <a:ext cx="1691898" cy="12698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Methods to acquire computer system assets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Off-the-shelf products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Custom built</a:t>
            </a:r>
          </a:p>
          <a:p>
            <a:pPr>
              <a:spcBef>
                <a:spcPts val="600"/>
              </a:spcBef>
              <a:spcAft>
                <a:spcPts val="1200"/>
              </a:spcAft>
            </a:pPr>
            <a:r>
              <a:rPr lang="en-AU" sz="2200" dirty="0" smtClean="0">
                <a:latin typeface="Helvetica" pitchFamily="34" charset="0"/>
              </a:rPr>
              <a:t>Used equipment</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ACTIVITIES 8&amp;9</a:t>
            </a:r>
          </a:p>
          <a:p>
            <a:pPr>
              <a:spcBef>
                <a:spcPts val="600"/>
              </a:spcBef>
              <a:spcAft>
                <a:spcPts val="1200"/>
              </a:spcAft>
              <a:buNone/>
            </a:pPr>
            <a:endParaRPr lang="en-US" sz="2200" dirty="0" smtClean="0">
              <a:latin typeface="Helvetica" pitchFamily="34" charset="0"/>
            </a:endParaRPr>
          </a:p>
          <a:p>
            <a:endParaRPr lang="en-AU" sz="2400" b="1" dirty="0" smtClean="0"/>
          </a:p>
          <a:p>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6" name="Picture 5" descr="W537_cardboard_box_133092458 NH.jpg"/>
          <p:cNvPicPr/>
          <p:nvPr/>
        </p:nvPicPr>
        <p:blipFill>
          <a:blip r:embed="rId3" cstate="print"/>
          <a:stretch>
            <a:fillRect/>
          </a:stretch>
        </p:blipFill>
        <p:spPr>
          <a:xfrm>
            <a:off x="6300192" y="2636912"/>
            <a:ext cx="1907525" cy="186593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Conduct research into required computer systems assets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whole purpose of the this process is to gather current, accurate and relevant data used for: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the most suitable asset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Estimating costs for the asset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Understanding support services and warranties etc</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AU" sz="2400" b="1" dirty="0" smtClean="0"/>
          </a:p>
          <a:p>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7" name="Picture 6" descr="9.jpg"/>
          <p:cNvPicPr>
            <a:picLocks noChangeAspect="1"/>
          </p:cNvPicPr>
          <p:nvPr/>
        </p:nvPicPr>
        <p:blipFill>
          <a:blip r:embed="rId3" cstate="print"/>
          <a:stretch>
            <a:fillRect/>
          </a:stretch>
        </p:blipFill>
        <p:spPr>
          <a:xfrm>
            <a:off x="6732240" y="4941168"/>
            <a:ext cx="1987292" cy="132625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Assess computer system purchase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The tender process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Collect tender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Evaluation of tender information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Rating essential and negotiable requirements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criteria used to evaluate delivery                              response times by supplier</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ACTIVITIES 10&amp;11</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AU" sz="2400" b="1" dirty="0" smtClean="0"/>
          </a:p>
          <a:p>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7" name="Picture 6" descr="A22 shutterstock_182450381.jpg"/>
          <p:cNvPicPr/>
          <p:nvPr/>
        </p:nvPicPr>
        <p:blipFill>
          <a:blip r:embed="rId3" cstate="print"/>
          <a:stretch>
            <a:fillRect/>
          </a:stretch>
        </p:blipFill>
        <p:spPr>
          <a:xfrm>
            <a:off x="6660232" y="4725144"/>
            <a:ext cx="1970018" cy="13167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Key purchasing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Identify key non-finance purchasing priorities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Following are examples of key purchasing priorities that will guide the non-financial decision making process.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Ease of use of the asset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Ease of integration into the existing workplace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Reliability of the item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Safety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Compliance</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A17 shutterstock_179513282[1].JPG"/>
          <p:cNvPicPr/>
          <p:nvPr/>
        </p:nvPicPr>
        <p:blipFill>
          <a:blip r:embed="rId3" cstate="print"/>
          <a:stretch>
            <a:fillRect/>
          </a:stretch>
        </p:blipFill>
        <p:spPr>
          <a:xfrm>
            <a:off x="6444208" y="4653136"/>
            <a:ext cx="2047875" cy="13620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Key purchasing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Identify key non-finance purchasing priorities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Asset achieves or exceeds the results/outcomes expected of it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Resale value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Enhanced service levels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Support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Training requirements and training                                          provided by suppliers</a:t>
            </a:r>
            <a:endParaRPr lang="en-US"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12</a:t>
            </a: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6" name="Picture 5" descr="shutterstock_155911139.jpg"/>
          <p:cNvPicPr/>
          <p:nvPr/>
        </p:nvPicPr>
        <p:blipFill>
          <a:blip r:embed="rId3" cstate="print"/>
          <a:stretch>
            <a:fillRect/>
          </a:stretch>
        </p:blipFill>
        <p:spPr>
          <a:xfrm>
            <a:off x="7020272" y="4725144"/>
            <a:ext cx="1432173" cy="132206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Computer support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Importance of computer hardware and software support services</a:t>
            </a:r>
          </a:p>
          <a:p>
            <a:pPr>
              <a:spcBef>
                <a:spcPts val="600"/>
              </a:spcBef>
              <a:spcAft>
                <a:spcPts val="1200"/>
              </a:spcAft>
            </a:pPr>
            <a:r>
              <a:rPr lang="en-US" sz="2200" dirty="0" smtClean="0">
                <a:latin typeface="Helvetica" pitchFamily="34" charset="0"/>
              </a:rPr>
              <a:t>Why are these services important?</a:t>
            </a:r>
          </a:p>
          <a:p>
            <a:pPr>
              <a:spcBef>
                <a:spcPts val="600"/>
              </a:spcBef>
              <a:spcAft>
                <a:spcPts val="1200"/>
              </a:spcAft>
            </a:pPr>
            <a:r>
              <a:rPr lang="en-US" sz="2200" dirty="0" smtClean="0">
                <a:latin typeface="Helvetica" pitchFamily="34" charset="0"/>
              </a:rPr>
              <a:t>What types of services and support are available?</a:t>
            </a: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7" name="Picture 6" descr="comp 4.png"/>
          <p:cNvPicPr/>
          <p:nvPr/>
        </p:nvPicPr>
        <p:blipFill>
          <a:blip r:embed="rId3" cstate="print"/>
          <a:stretch>
            <a:fillRect/>
          </a:stretch>
        </p:blipFill>
        <p:spPr>
          <a:xfrm>
            <a:off x="6804248" y="4437112"/>
            <a:ext cx="1741537" cy="166952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Computer support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Types of support services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On-line help</a:t>
            </a:r>
          </a:p>
          <a:p>
            <a:pPr>
              <a:spcBef>
                <a:spcPts val="600"/>
              </a:spcBef>
              <a:spcAft>
                <a:spcPts val="1200"/>
              </a:spcAft>
            </a:pPr>
            <a:r>
              <a:rPr lang="en-AU" sz="2200" dirty="0" smtClean="0">
                <a:latin typeface="Helvetica" pitchFamily="34" charset="0"/>
              </a:rPr>
              <a:t>Manuals and training booklets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Training</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13</a:t>
            </a:r>
          </a:p>
          <a:p>
            <a:endParaRPr lang="en-US" sz="2400" dirty="0" smtClean="0"/>
          </a:p>
          <a:p>
            <a:pPr>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6" name="Picture 5" descr="1305806_27179143[1].jpg"/>
          <p:cNvPicPr/>
          <p:nvPr/>
        </p:nvPicPr>
        <p:blipFill>
          <a:blip r:embed="rId3" cstate="print"/>
          <a:stretch>
            <a:fillRect/>
          </a:stretch>
        </p:blipFill>
        <p:spPr>
          <a:xfrm>
            <a:off x="6012160" y="4365104"/>
            <a:ext cx="2438772" cy="171906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Seek external specialist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external assistance</a:t>
            </a:r>
          </a:p>
          <a:p>
            <a:pPr>
              <a:spcBef>
                <a:spcPts val="600"/>
              </a:spcBef>
              <a:spcAft>
                <a:spcPts val="1200"/>
              </a:spcAft>
            </a:pPr>
            <a:r>
              <a:rPr lang="en-AU" sz="2200" dirty="0" smtClean="0">
                <a:latin typeface="Helvetica" pitchFamily="34" charset="0"/>
              </a:rPr>
              <a:t>Naturally the planning, design and implementation of computer systems is a complex initiative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No one manager will have the necessary skills and knowledge to undertake this exercise by themselves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They will require the assistance of various specialists for a variety of reasons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descr="shutterstock_101214511.jpg"/>
          <p:cNvPicPr/>
          <p:nvPr/>
        </p:nvPicPr>
        <p:blipFill>
          <a:blip r:embed="rId3" cstate="print"/>
          <a:stretch>
            <a:fillRect/>
          </a:stretch>
        </p:blipFill>
        <p:spPr>
          <a:xfrm>
            <a:off x="6516216" y="4725144"/>
            <a:ext cx="1933575" cy="12858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Seek external specialist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AU" sz="2200" b="1" dirty="0" smtClean="0">
                <a:latin typeface="Helvetica" pitchFamily="34" charset="0"/>
              </a:rPr>
              <a:t>Types of general assistance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Your accountant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Your auditor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Owners of the business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Managers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Supervisors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Staff, teams and workgroups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Customers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Suppliers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IT consultants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shutterstock_101214511.jpg"/>
          <p:cNvPicPr/>
          <p:nvPr/>
        </p:nvPicPr>
        <p:blipFill>
          <a:blip r:embed="rId3" cstate="print"/>
          <a:stretch>
            <a:fillRect/>
          </a:stretch>
        </p:blipFill>
        <p:spPr>
          <a:xfrm>
            <a:off x="6156176" y="3068960"/>
            <a:ext cx="1933575" cy="12858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IT specialist services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539552" y="1196752"/>
            <a:ext cx="7846640" cy="5445224"/>
          </a:xfrm>
        </p:spPr>
        <p:txBody>
          <a:bodyPr>
            <a:normAutofit/>
          </a:bodyPr>
          <a:lstStyle/>
          <a:p>
            <a:pPr>
              <a:spcBef>
                <a:spcPts val="600"/>
              </a:spcBef>
              <a:spcAft>
                <a:spcPts val="1200"/>
              </a:spcAft>
              <a:buNone/>
            </a:pPr>
            <a:r>
              <a:rPr lang="en-AU" sz="2200" b="1" dirty="0" smtClean="0">
                <a:latin typeface="Helvetica" pitchFamily="34" charset="0"/>
              </a:rPr>
              <a:t>Network design and installation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Initial strategic planning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Applications development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Systems integration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Expand and improving existing computer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Design and install all sizes of networks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Ensure connectivity </a:t>
            </a:r>
          </a:p>
          <a:p>
            <a:pPr lvl="0">
              <a:spcBef>
                <a:spcPts val="600"/>
              </a:spcBef>
              <a:spcAft>
                <a:spcPts val="1200"/>
              </a:spcAft>
            </a:pPr>
            <a:r>
              <a:rPr lang="en-AU" sz="2200" dirty="0" smtClean="0">
                <a:latin typeface="Helvetica" pitchFamily="34" charset="0"/>
              </a:rPr>
              <a:t>Make recommendations on all aspects                                               of computing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 upgrade, installation or migration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6" name="Picture 5" descr="comp 10.png"/>
          <p:cNvPicPr/>
          <p:nvPr/>
        </p:nvPicPr>
        <p:blipFill>
          <a:blip r:embed="rId3" cstate="print"/>
          <a:stretch>
            <a:fillRect/>
          </a:stretch>
        </p:blipFill>
        <p:spPr>
          <a:xfrm>
            <a:off x="7092280" y="4941168"/>
            <a:ext cx="1524000" cy="12096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IT specialist services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IT Consultancy</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Remote, onsite and 24/7 services </a:t>
            </a:r>
          </a:p>
          <a:p>
            <a:pPr lvl="0">
              <a:spcBef>
                <a:spcPts val="600"/>
              </a:spcBef>
              <a:spcAft>
                <a:spcPts val="1200"/>
              </a:spcAft>
            </a:pPr>
            <a:r>
              <a:rPr lang="en-US" sz="2200" dirty="0" smtClean="0">
                <a:latin typeface="Helvetica" pitchFamily="34" charset="0"/>
              </a:rPr>
              <a:t>Remote working away from the office with a virtual desktop</a:t>
            </a:r>
          </a:p>
          <a:p>
            <a:pPr lvl="0">
              <a:spcBef>
                <a:spcPts val="600"/>
              </a:spcBef>
              <a:spcAft>
                <a:spcPts val="1200"/>
              </a:spcAft>
            </a:pPr>
            <a:r>
              <a:rPr lang="en-US" sz="2200" dirty="0" smtClean="0">
                <a:latin typeface="Helvetica" pitchFamily="34" charset="0"/>
              </a:rPr>
              <a:t>Mobile working for emails on the move </a:t>
            </a:r>
          </a:p>
          <a:p>
            <a:pPr lvl="0">
              <a:spcBef>
                <a:spcPts val="600"/>
              </a:spcBef>
              <a:spcAft>
                <a:spcPts val="1200"/>
              </a:spcAft>
            </a:pPr>
            <a:r>
              <a:rPr lang="en-US" sz="2200" dirty="0" smtClean="0">
                <a:latin typeface="Helvetica" pitchFamily="34" charset="0"/>
              </a:rPr>
              <a:t>Email security, anti-virus, anti-SPAM solution</a:t>
            </a:r>
          </a:p>
          <a:p>
            <a:pPr lvl="0">
              <a:spcBef>
                <a:spcPts val="600"/>
              </a:spcBef>
              <a:spcAft>
                <a:spcPts val="1200"/>
              </a:spcAft>
            </a:pPr>
            <a:r>
              <a:rPr lang="en-US" sz="2200" dirty="0" smtClean="0">
                <a:latin typeface="Helvetica" pitchFamily="34" charset="0"/>
              </a:rPr>
              <a:t>Secure offsite backup of data </a:t>
            </a:r>
          </a:p>
          <a:p>
            <a:pPr lvl="0">
              <a:spcBef>
                <a:spcPts val="600"/>
              </a:spcBef>
              <a:spcAft>
                <a:spcPts val="1200"/>
              </a:spcAft>
            </a:pPr>
            <a:r>
              <a:rPr lang="en-US" sz="2200" dirty="0" smtClean="0">
                <a:latin typeface="Helvetica" pitchFamily="34" charset="0"/>
              </a:rPr>
              <a:t>Bespoke Software Application Development</a:t>
            </a:r>
          </a:p>
          <a:p>
            <a:pPr lvl="0">
              <a:spcBef>
                <a:spcPts val="600"/>
              </a:spcBef>
              <a:spcAft>
                <a:spcPts val="1200"/>
              </a:spcAft>
            </a:pPr>
            <a:r>
              <a:rPr lang="en-US" sz="2200" dirty="0" smtClean="0">
                <a:latin typeface="Helvetica" pitchFamily="34" charset="0"/>
              </a:rPr>
              <a:t>Website and eBusiness design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7" name="Picture 6" descr="61.jpg"/>
          <p:cNvPicPr/>
          <p:nvPr/>
        </p:nvPicPr>
        <p:blipFill>
          <a:blip r:embed="rId3" cstate="print"/>
          <a:stretch>
            <a:fillRect/>
          </a:stretch>
        </p:blipFill>
        <p:spPr>
          <a:xfrm>
            <a:off x="7308304" y="3068960"/>
            <a:ext cx="1445260" cy="19145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IT specialist services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600"/>
              </a:spcAft>
              <a:buNone/>
            </a:pPr>
            <a:r>
              <a:rPr lang="en-AU" sz="2200" b="1" dirty="0" smtClean="0">
                <a:latin typeface="Helvetica" pitchFamily="34" charset="0"/>
              </a:rPr>
              <a:t>Software Application Development</a:t>
            </a:r>
            <a:endParaRPr lang="en-US" sz="2200" dirty="0" smtClean="0">
              <a:latin typeface="Helvetica" pitchFamily="34" charset="0"/>
            </a:endParaRPr>
          </a:p>
          <a:p>
            <a:pPr>
              <a:spcBef>
                <a:spcPts val="600"/>
              </a:spcBef>
              <a:spcAft>
                <a:spcPts val="600"/>
              </a:spcAft>
            </a:pPr>
            <a:r>
              <a:rPr lang="en-US" sz="2200" dirty="0" smtClean="0">
                <a:latin typeface="Helvetica" pitchFamily="34" charset="0"/>
              </a:rPr>
              <a:t>Initial requirements definition</a:t>
            </a:r>
          </a:p>
          <a:p>
            <a:pPr>
              <a:spcBef>
                <a:spcPts val="600"/>
              </a:spcBef>
              <a:spcAft>
                <a:spcPts val="600"/>
              </a:spcAft>
            </a:pPr>
            <a:r>
              <a:rPr lang="en-US" sz="2200" dirty="0" smtClean="0">
                <a:latin typeface="Helvetica" pitchFamily="34" charset="0"/>
              </a:rPr>
              <a:t>Architecture design</a:t>
            </a:r>
          </a:p>
          <a:p>
            <a:pPr>
              <a:spcBef>
                <a:spcPts val="600"/>
              </a:spcBef>
              <a:spcAft>
                <a:spcPts val="600"/>
              </a:spcAft>
            </a:pPr>
            <a:r>
              <a:rPr lang="en-US" sz="2200" dirty="0" smtClean="0">
                <a:latin typeface="Helvetica" pitchFamily="34" charset="0"/>
              </a:rPr>
              <a:t>Application selection and integration</a:t>
            </a:r>
          </a:p>
          <a:p>
            <a:pPr>
              <a:spcBef>
                <a:spcPts val="600"/>
              </a:spcBef>
              <a:spcAft>
                <a:spcPts val="600"/>
              </a:spcAft>
            </a:pPr>
            <a:r>
              <a:rPr lang="en-US" sz="2200" dirty="0" smtClean="0">
                <a:latin typeface="Helvetica" pitchFamily="34" charset="0"/>
              </a:rPr>
              <a:t>Development and deployment</a:t>
            </a:r>
          </a:p>
          <a:p>
            <a:pPr lvl="0">
              <a:spcBef>
                <a:spcPts val="600"/>
              </a:spcBef>
              <a:spcAft>
                <a:spcPts val="600"/>
              </a:spcAft>
            </a:pPr>
            <a:r>
              <a:rPr lang="en-US" sz="2200" dirty="0" smtClean="0">
                <a:latin typeface="Helvetica" pitchFamily="34" charset="0"/>
              </a:rPr>
              <a:t>Customisation and integration of third-party software</a:t>
            </a:r>
          </a:p>
          <a:p>
            <a:pPr lvl="0">
              <a:spcBef>
                <a:spcPts val="600"/>
              </a:spcBef>
              <a:spcAft>
                <a:spcPts val="600"/>
              </a:spcAft>
            </a:pPr>
            <a:r>
              <a:rPr lang="en-US" sz="2200" dirty="0" smtClean="0">
                <a:latin typeface="Helvetica" pitchFamily="34" charset="0"/>
              </a:rPr>
              <a:t>Design and development of content management systems for corporate intranets and extranets</a:t>
            </a:r>
          </a:p>
          <a:p>
            <a:pPr lvl="0">
              <a:spcBef>
                <a:spcPts val="600"/>
              </a:spcBef>
              <a:spcAft>
                <a:spcPts val="600"/>
              </a:spcAft>
            </a:pPr>
            <a:r>
              <a:rPr lang="en-US" sz="2200" dirty="0" smtClean="0">
                <a:latin typeface="Helvetica" pitchFamily="34" charset="0"/>
              </a:rPr>
              <a:t>Internationalisation and localisation of                                      Web applications</a:t>
            </a:r>
          </a:p>
          <a:p>
            <a:pPr>
              <a:spcBef>
                <a:spcPts val="600"/>
              </a:spcBef>
              <a:spcAft>
                <a:spcPts val="600"/>
              </a:spcAft>
              <a:buNone/>
            </a:pPr>
            <a:r>
              <a:rPr lang="en-US" sz="2200" b="1" dirty="0" smtClean="0">
                <a:solidFill>
                  <a:srgbClr val="FF6600"/>
                </a:solidFill>
                <a:latin typeface="Helvetica" pitchFamily="34" charset="0"/>
              </a:rPr>
              <a:t>COMPLETE ACTIVITY 14</a:t>
            </a:r>
          </a:p>
          <a:p>
            <a:pPr lvl="0">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6" name="Picture 5" descr="5.jpg"/>
          <p:cNvPicPr/>
          <p:nvPr/>
        </p:nvPicPr>
        <p:blipFill>
          <a:blip r:embed="rId3" cstate="print"/>
          <a:stretch>
            <a:fillRect/>
          </a:stretch>
        </p:blipFill>
        <p:spPr>
          <a:xfrm>
            <a:off x="6444208" y="2276872"/>
            <a:ext cx="1771650" cy="11811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Make computer acquisition decision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Consider budget requirements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Naturally the greatest influence in purchasing computer assets will be the budget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computer assets that a business can obtain are often limited by the budget available for purchasing items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Management will determine the level of funding available for computer system assets and make an amount available through its budgets</a:t>
            </a:r>
          </a:p>
          <a:p>
            <a:pPr>
              <a:spcBef>
                <a:spcPts val="600"/>
              </a:spcBef>
              <a:spcAft>
                <a:spcPts val="1200"/>
              </a:spcAft>
              <a:buNone/>
            </a:pPr>
            <a:r>
              <a:rPr lang="en-US" sz="2200" b="1" dirty="0" smtClean="0">
                <a:solidFill>
                  <a:srgbClr val="FF6600"/>
                </a:solidFill>
                <a:latin typeface="Helvetica" pitchFamily="34" charset="0"/>
              </a:rPr>
              <a:t>COMPLETE ACTIVITY 15</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descr="W415_finance_shutterstock_159818948.jpg"/>
          <p:cNvPicPr>
            <a:picLocks noChangeAspect="1"/>
          </p:cNvPicPr>
          <p:nvPr/>
        </p:nvPicPr>
        <p:blipFill>
          <a:blip r:embed="rId3" cstate="print"/>
          <a:stretch>
            <a:fillRect/>
          </a:stretch>
        </p:blipFill>
        <p:spPr>
          <a:xfrm>
            <a:off x="6660232" y="4941168"/>
            <a:ext cx="1980469" cy="12496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Undertake a cost–benefit analysis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An accepted way of ensuring realistic computer asset expenditure is to undertake a cost–benefit analysis in relation to the asset that is to be purchased</a:t>
            </a:r>
          </a:p>
          <a:p>
            <a:pPr>
              <a:spcBef>
                <a:spcPts val="600"/>
              </a:spcBef>
              <a:spcAft>
                <a:spcPts val="1200"/>
              </a:spcAft>
            </a:pPr>
            <a:r>
              <a:rPr lang="en-AU" sz="2200" dirty="0" smtClean="0">
                <a:latin typeface="Helvetica" pitchFamily="34" charset="0"/>
              </a:rPr>
              <a:t>What are possible costs?</a:t>
            </a:r>
          </a:p>
          <a:p>
            <a:pPr>
              <a:spcBef>
                <a:spcPts val="600"/>
              </a:spcBef>
              <a:spcAft>
                <a:spcPts val="1200"/>
              </a:spcAft>
            </a:pPr>
            <a:r>
              <a:rPr lang="en-AU" sz="2200" dirty="0" smtClean="0">
                <a:latin typeface="Helvetica" pitchFamily="34" charset="0"/>
              </a:rPr>
              <a:t>What are possible benefits?</a:t>
            </a:r>
            <a:endParaRPr lang="en-US"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6" name="Picture 5" descr="shutterstock_170750234.jpg"/>
          <p:cNvPicPr/>
          <p:nvPr/>
        </p:nvPicPr>
        <p:blipFill>
          <a:blip r:embed="rId3" cstate="print"/>
          <a:stretch>
            <a:fillRect/>
          </a:stretch>
        </p:blipFill>
        <p:spPr>
          <a:xfrm>
            <a:off x="6588224" y="4941168"/>
            <a:ext cx="1981200" cy="11144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Purchase price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Opportunity cost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of finance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Testing or compliance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Transportation costs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Site preparation costs</a:t>
            </a: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7" name="Picture 6" descr="shutterstock_178999811.jpg"/>
          <p:cNvPicPr/>
          <p:nvPr/>
        </p:nvPicPr>
        <p:blipFill>
          <a:blip r:embed="rId3" cstate="print"/>
          <a:stretch>
            <a:fillRect/>
          </a:stretch>
        </p:blipFill>
        <p:spPr>
          <a:xfrm>
            <a:off x="5724128" y="2492896"/>
            <a:ext cx="2551931" cy="172211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Installation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Make-ready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Tooling, parts and suppliers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Spare parts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Training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of power and consumables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6" name="Picture 5" descr="W605_shutterstock_118993585.jpg"/>
          <p:cNvPicPr/>
          <p:nvPr/>
        </p:nvPicPr>
        <p:blipFill>
          <a:blip r:embed="rId3" cstate="print"/>
          <a:stretch>
            <a:fillRect/>
          </a:stretch>
        </p:blipFill>
        <p:spPr>
          <a:xfrm>
            <a:off x="6228184" y="2708920"/>
            <a:ext cx="2028825" cy="13525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and maintenance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Insurance costs for the new item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of adapting existing systems and procedures to accommodate the new purchase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Lost sales caused by interruption to normal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Reduced levels of earnings while staff learn the new item</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Depreciation</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7" name="Picture 6" descr="shutterstock_107128706.jpg"/>
          <p:cNvPicPr>
            <a:picLocks noChangeAspect="1"/>
          </p:cNvPicPr>
          <p:nvPr/>
        </p:nvPicPr>
        <p:blipFill>
          <a:blip r:embed="rId3" cstate="print"/>
          <a:stretch>
            <a:fillRect/>
          </a:stretch>
        </p:blipFill>
        <p:spPr>
          <a:xfrm>
            <a:off x="6300192" y="1772816"/>
            <a:ext cx="1739916" cy="116052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Cost–benefit analysis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Benefits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Higher levels of earnings/revenue Reduced levels of unsatisfactory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Energy savings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Labour savings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Savings on raw materials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 value of any equipment that                                                   is being disposed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Enhanced image or market positioning</a:t>
            </a:r>
          </a:p>
          <a:p>
            <a:pPr>
              <a:spcBef>
                <a:spcPts val="600"/>
              </a:spcBef>
              <a:spcAft>
                <a:spcPts val="1200"/>
              </a:spcAft>
              <a:buNone/>
            </a:pPr>
            <a:r>
              <a:rPr lang="en-US" sz="2200" b="1" dirty="0" smtClean="0">
                <a:solidFill>
                  <a:srgbClr val="FF6600"/>
                </a:solidFill>
                <a:latin typeface="Helvetica" pitchFamily="34" charset="0"/>
              </a:rPr>
              <a:t>COMPLETE ACTIVITY 16</a:t>
            </a: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6" name="Picture 5" descr="shutterstock_114113611.jpg"/>
          <p:cNvPicPr/>
          <p:nvPr/>
        </p:nvPicPr>
        <p:blipFill>
          <a:blip r:embed="rId3" cstate="print"/>
          <a:stretch>
            <a:fillRect/>
          </a:stretch>
        </p:blipFill>
        <p:spPr>
          <a:xfrm>
            <a:off x="6084168" y="3068960"/>
            <a:ext cx="2162175" cy="14382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Methods of financing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Identify methods of financing</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When purchasing computer system assets, it is important to identify the most efficient use of finances.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In summary, the different methods of financing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Purchasing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Leasing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Hiring</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17</a:t>
            </a:r>
          </a:p>
          <a:p>
            <a:pPr lvl="0">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7" name="Picture 6" descr="shutterstock_194262404.jpg"/>
          <p:cNvPicPr/>
          <p:nvPr/>
        </p:nvPicPr>
        <p:blipFill>
          <a:blip r:embed="rId3" cstate="print"/>
          <a:stretch>
            <a:fillRect/>
          </a:stretch>
        </p:blipFill>
        <p:spPr>
          <a:xfrm>
            <a:off x="5868144" y="3717032"/>
            <a:ext cx="1936750" cy="14287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Making the final decision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5184576"/>
          </a:xfrm>
        </p:spPr>
        <p:txBody>
          <a:bodyPr>
            <a:noAutofit/>
          </a:bodyPr>
          <a:lstStyle/>
          <a:p>
            <a:pPr marL="0">
              <a:spcBef>
                <a:spcPts val="600"/>
              </a:spcBef>
              <a:spcAft>
                <a:spcPts val="600"/>
              </a:spcAft>
              <a:buNone/>
            </a:pPr>
            <a:r>
              <a:rPr lang="en-AU" sz="2200" b="1" dirty="0" smtClean="0">
                <a:latin typeface="Helvetica" pitchFamily="34" charset="0"/>
              </a:rPr>
              <a:t>Identify necessary prerequisites prior to purchasing assets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know what the item is required to do</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know the businesses with whom your organisation will deal</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Preferred method of acquisition for the business</a:t>
            </a:r>
          </a:p>
          <a:p>
            <a:pPr lvl="0">
              <a:spcBef>
                <a:spcPts val="600"/>
              </a:spcBef>
              <a:spcAft>
                <a:spcPts val="600"/>
              </a:spcAft>
            </a:pPr>
            <a:r>
              <a:rPr lang="en-AU" sz="2200" dirty="0" smtClean="0">
                <a:latin typeface="Helvetica" pitchFamily="34" charset="0"/>
              </a:rPr>
              <a:t>The terms that your business wants applied to the purchase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Non-negotiable elements of any deal</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Necessary authority to go ahead and                                           make the purchase</a:t>
            </a:r>
            <a:endParaRPr lang="en-US" sz="2200" b="1" dirty="0" smtClean="0">
              <a:solidFill>
                <a:srgbClr val="FF6600"/>
              </a:solidFill>
              <a:latin typeface="Helvetica" pitchFamily="34" charset="0"/>
            </a:endParaRPr>
          </a:p>
          <a:p>
            <a:pPr>
              <a:spcBef>
                <a:spcPts val="600"/>
              </a:spcBef>
              <a:spcAft>
                <a:spcPts val="600"/>
              </a:spcAft>
              <a:buNone/>
            </a:pPr>
            <a:r>
              <a:rPr lang="en-US" sz="2200" b="1" dirty="0" smtClean="0">
                <a:solidFill>
                  <a:srgbClr val="FF6600"/>
                </a:solidFill>
                <a:latin typeface="Helvetica" pitchFamily="34" charset="0"/>
              </a:rPr>
              <a:t>COMPLETE ACTIVITY 18</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6" name="Picture 5" descr="A19 shutterstock_181811597.jpg"/>
          <p:cNvPicPr/>
          <p:nvPr/>
        </p:nvPicPr>
        <p:blipFill>
          <a:blip r:embed="rId3" cstate="print"/>
          <a:stretch>
            <a:fillRect/>
          </a:stretch>
        </p:blipFill>
        <p:spPr>
          <a:xfrm>
            <a:off x="6444208" y="4581128"/>
            <a:ext cx="1956048" cy="137921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new computer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Prepare for implementation</a:t>
            </a:r>
          </a:p>
          <a:p>
            <a:pPr marL="0">
              <a:spcBef>
                <a:spcPts val="600"/>
              </a:spcBef>
              <a:spcAft>
                <a:spcPts val="1200"/>
              </a:spcAft>
              <a:buNone/>
            </a:pPr>
            <a:r>
              <a:rPr lang="en-AU" sz="2200" dirty="0" smtClean="0">
                <a:latin typeface="Helvetica" pitchFamily="34" charset="0"/>
              </a:rPr>
              <a:t>Now that all computer system purchasing decisions have been made, it is now time to prepare for its implementation.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Naturally the greater the degree of change to hardware and software will have a greater impact on staff, ranging from greater anxiety to lower productivity.</a:t>
            </a:r>
          </a:p>
          <a:p>
            <a:pPr>
              <a:spcBef>
                <a:spcPts val="600"/>
              </a:spcBef>
              <a:spcAft>
                <a:spcPts val="1200"/>
              </a:spcAft>
            </a:pPr>
            <a:r>
              <a:rPr lang="en-AU" sz="2200" dirty="0" smtClean="0">
                <a:latin typeface="Helvetica" pitchFamily="34" charset="0"/>
              </a:rPr>
              <a:t>What tasks are associated with the implementation of computer system assets?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comp6.jpg"/>
          <p:cNvPicPr/>
          <p:nvPr/>
        </p:nvPicPr>
        <p:blipFill>
          <a:blip r:embed="rId3" cstate="print"/>
          <a:stretch>
            <a:fillRect/>
          </a:stretch>
        </p:blipFill>
        <p:spPr>
          <a:xfrm>
            <a:off x="6876256" y="4869160"/>
            <a:ext cx="1685925" cy="13239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new computer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GB" sz="2200" b="1" dirty="0" smtClean="0">
                <a:latin typeface="Helvetica" pitchFamily="34" charset="0"/>
              </a:rPr>
              <a:t>Implementation considerations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Identify all implementation actions to be taken </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Allocation of responsibilities for action to nominated persons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Determination of accountability for actions taken</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Timelines for completion of nominated actions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Compliance requirements </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Occupational </a:t>
            </a:r>
            <a:r>
              <a:rPr lang="en-GB" sz="2200" dirty="0" smtClean="0"/>
              <a:t>safety and health (</a:t>
            </a:r>
            <a:r>
              <a:rPr lang="en-GB" sz="2200" dirty="0" smtClean="0">
                <a:latin typeface="Helvetica" pitchFamily="34" charset="0"/>
              </a:rPr>
              <a:t>OSH) </a:t>
            </a: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6" name="Picture 5" descr="shutterstock_81150025.jpg"/>
          <p:cNvPicPr/>
          <p:nvPr/>
        </p:nvPicPr>
        <p:blipFill>
          <a:blip r:embed="rId3" cstate="print"/>
          <a:stretch>
            <a:fillRect/>
          </a:stretch>
        </p:blipFill>
        <p:spPr>
          <a:xfrm>
            <a:off x="6588224" y="4653136"/>
            <a:ext cx="2038524" cy="151236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new computer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a:spcBef>
                <a:spcPts val="600"/>
              </a:spcBef>
              <a:spcAft>
                <a:spcPts val="1200"/>
              </a:spcAft>
              <a:buNone/>
            </a:pPr>
            <a:r>
              <a:rPr lang="en-GB" sz="2200" b="1" dirty="0" smtClean="0">
                <a:latin typeface="Helvetica" pitchFamily="34" charset="0"/>
              </a:rPr>
              <a:t>Implementation considerations</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Arranging arrival and security of new computer assets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Timing of new system assets to be implemented</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Saving information from old system assets</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Removal, storage and sale of old computer assets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Arranging location and physical layout of new assets</a:t>
            </a:r>
          </a:p>
          <a:p>
            <a:pPr lvl="0">
              <a:spcBef>
                <a:spcPts val="600"/>
              </a:spcBef>
              <a:spcAft>
                <a:spcPts val="1200"/>
              </a:spcAft>
            </a:pPr>
            <a:r>
              <a:rPr lang="en-US" sz="2200" dirty="0" smtClean="0">
                <a:latin typeface="Helvetica" pitchFamily="34" charset="0"/>
              </a:rPr>
              <a:t>Unpacking and installing new computer assets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Timing issues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Resources</a:t>
            </a:r>
            <a:endParaRPr lang="en-US" sz="2200" b="1" dirty="0" smtClean="0">
              <a:latin typeface="Helvetica" pitchFamily="34" charset="0"/>
            </a:endParaRPr>
          </a:p>
          <a:p>
            <a:pPr lvl="0"/>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comp 19.png"/>
          <p:cNvPicPr>
            <a:picLocks noChangeAspect="1"/>
          </p:cNvPicPr>
          <p:nvPr/>
        </p:nvPicPr>
        <p:blipFill>
          <a:blip r:embed="rId3" cstate="print"/>
          <a:stretch>
            <a:fillRect/>
          </a:stretch>
        </p:blipFill>
        <p:spPr>
          <a:xfrm>
            <a:off x="6300192" y="5157192"/>
            <a:ext cx="2195884" cy="104726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new computer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lnSpcReduction="10000"/>
          </a:bodyPr>
          <a:lstStyle/>
          <a:p>
            <a:pPr>
              <a:spcBef>
                <a:spcPts val="600"/>
              </a:spcBef>
              <a:spcAft>
                <a:spcPts val="1200"/>
              </a:spcAft>
              <a:buNone/>
            </a:pPr>
            <a:r>
              <a:rPr lang="en-GB" sz="2200" b="1" dirty="0" smtClean="0">
                <a:latin typeface="Helvetica" pitchFamily="34" charset="0"/>
              </a:rPr>
              <a:t>Implementation considerations</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Aligning new computer assets to existing structures, hardware and software systems</a:t>
            </a:r>
          </a:p>
          <a:p>
            <a:pPr lvl="0">
              <a:spcBef>
                <a:spcPts val="600"/>
              </a:spcBef>
              <a:spcAft>
                <a:spcPts val="1200"/>
              </a:spcAft>
            </a:pPr>
            <a:r>
              <a:rPr lang="en-GB" sz="2200" dirty="0" smtClean="0">
                <a:latin typeface="Helvetica" pitchFamily="34" charset="0"/>
              </a:rPr>
              <a:t>Integration with other aspects of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Adding information to new computer system assets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Changes to policies and procedures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Documentation &amp; record keeping </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Impact on organisational culture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Anticipation of problems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Training for staff</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A16 shutterstock_173793329.jpg"/>
          <p:cNvPicPr/>
          <p:nvPr/>
        </p:nvPicPr>
        <p:blipFill>
          <a:blip r:embed="rId3" cstate="print"/>
          <a:stretch>
            <a:fillRect/>
          </a:stretch>
        </p:blipFill>
        <p:spPr>
          <a:xfrm>
            <a:off x="6300192" y="4149080"/>
            <a:ext cx="1981200" cy="12382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new computer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Communicate implementation actions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Reasoning or purpose behind the changes to the computer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Identification of the key changes that are taking place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Identification of how the new computer system will benefit them</a:t>
            </a:r>
            <a:endParaRPr lang="en-US" sz="2200" dirty="0" smtClean="0">
              <a:latin typeface="Helvetica" pitchFamily="34" charset="0"/>
            </a:endParaRPr>
          </a:p>
          <a:p>
            <a:pPr lvl="0">
              <a:spcBef>
                <a:spcPts val="600"/>
              </a:spcBef>
              <a:spcAft>
                <a:spcPts val="1200"/>
              </a:spcAft>
            </a:pPr>
            <a:r>
              <a:rPr lang="en-SG" sz="2200" dirty="0" smtClean="0">
                <a:latin typeface="Helvetica" pitchFamily="34" charset="0"/>
              </a:rPr>
              <a:t>Start dates of implementation</a:t>
            </a:r>
            <a:endParaRPr lang="en-US" sz="2200" dirty="0" smtClean="0">
              <a:latin typeface="Helvetica" pitchFamily="34" charset="0"/>
            </a:endParaRPr>
          </a:p>
          <a:p>
            <a:pPr lvl="0">
              <a:spcBef>
                <a:spcPts val="600"/>
              </a:spcBef>
              <a:spcAft>
                <a:spcPts val="1200"/>
              </a:spcAft>
            </a:pPr>
            <a:r>
              <a:rPr lang="en-SG" sz="2200" dirty="0" smtClean="0">
                <a:latin typeface="Helvetica" pitchFamily="34" charset="0"/>
              </a:rPr>
              <a:t>Expected completion dates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How the implementation will be implemented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7" name="Picture 6" descr="W270_whiteboard_shutterstock_147483182.jpg"/>
          <p:cNvPicPr/>
          <p:nvPr/>
        </p:nvPicPr>
        <p:blipFill>
          <a:blip r:embed="rId3" cstate="print"/>
          <a:stretch>
            <a:fillRect/>
          </a:stretch>
        </p:blipFill>
        <p:spPr>
          <a:xfrm>
            <a:off x="6588224" y="4005064"/>
            <a:ext cx="1783080" cy="11906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new computer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Communicate implementation actions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Activities to be performed</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Resources required to implement the plan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Work breakdown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Involvement of other staff</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Roles and responsibilities of staff</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Pre-change activities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6" name="Picture 5" descr="shutterstock_95857066.jpg"/>
          <p:cNvPicPr/>
          <p:nvPr/>
        </p:nvPicPr>
        <p:blipFill>
          <a:blip r:embed="rId3" cstate="print"/>
          <a:stretch>
            <a:fillRect/>
          </a:stretch>
        </p:blipFill>
        <p:spPr>
          <a:xfrm>
            <a:off x="6588224" y="3284984"/>
            <a:ext cx="1668780" cy="13716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new computer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Communicate implementation actions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Timelines for implementation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Training activities that will take place</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Support mechanisms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Expected standard of performance</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Milestones for completion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Budgets to work within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Methods of communication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Making observations and providing feedback</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7" name="Picture 6" descr="shutterstock_188496518.jpg"/>
          <p:cNvPicPr>
            <a:picLocks noChangeAspect="1"/>
          </p:cNvPicPr>
          <p:nvPr/>
        </p:nvPicPr>
        <p:blipFill>
          <a:blip r:embed="rId3" cstate="print"/>
          <a:stretch>
            <a:fillRect/>
          </a:stretch>
        </p:blipFill>
        <p:spPr>
          <a:xfrm>
            <a:off x="6300192" y="2924944"/>
            <a:ext cx="2100064" cy="140074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Implement new computer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600"/>
              </a:spcAft>
              <a:buNone/>
            </a:pPr>
            <a:r>
              <a:rPr lang="en-AU" sz="2200" b="1" dirty="0" smtClean="0">
                <a:latin typeface="Helvetica" pitchFamily="34" charset="0"/>
              </a:rPr>
              <a:t>Communicating implementation actions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Hold a formal staff meeting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Explain the new computer system assets to be introduced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Give them a hard copy of materials to help explain and use new computer system assets </a:t>
            </a:r>
          </a:p>
          <a:p>
            <a:pPr lvl="0">
              <a:spcBef>
                <a:spcPts val="600"/>
              </a:spcBef>
              <a:spcAft>
                <a:spcPts val="600"/>
              </a:spcAft>
            </a:pPr>
            <a:r>
              <a:rPr lang="en-AU" sz="2200" dirty="0" smtClean="0">
                <a:latin typeface="Helvetica" pitchFamily="34" charset="0"/>
              </a:rPr>
              <a:t>Explain the changes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Encourage questions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Make yourself available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Include new policies, procedures in                                   operational manuals and in-house training</a:t>
            </a:r>
          </a:p>
          <a:p>
            <a:pPr>
              <a:spcBef>
                <a:spcPts val="600"/>
              </a:spcBef>
              <a:spcAft>
                <a:spcPts val="600"/>
              </a:spcAft>
              <a:buNone/>
            </a:pPr>
            <a:r>
              <a:rPr lang="en-US" sz="2200" b="1" dirty="0" smtClean="0">
                <a:solidFill>
                  <a:srgbClr val="FF6600"/>
                </a:solidFill>
                <a:latin typeface="Helvetica" pitchFamily="34" charset="0"/>
              </a:rPr>
              <a:t>COMPLETE ACTIVITY 19</a:t>
            </a:r>
          </a:p>
          <a:p>
            <a:pPr lvl="0">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6" name="Picture 5" descr="shutterstock_191031131.jpg"/>
          <p:cNvPicPr/>
          <p:nvPr/>
        </p:nvPicPr>
        <p:blipFill>
          <a:blip r:embed="rId3" cstate="print"/>
          <a:stretch>
            <a:fillRect/>
          </a:stretch>
        </p:blipFill>
        <p:spPr>
          <a:xfrm>
            <a:off x="6372200" y="3789040"/>
            <a:ext cx="1876425" cy="12477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Review accompanying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600"/>
              </a:spcAft>
              <a:buNone/>
            </a:pPr>
            <a:r>
              <a:rPr lang="en-AU" sz="2200" b="1" dirty="0" smtClean="0">
                <a:latin typeface="Helvetica" pitchFamily="34" charset="0"/>
              </a:rPr>
              <a:t>Types of documents</a:t>
            </a:r>
            <a:endParaRPr lang="en-AU" sz="2200" dirty="0" smtClean="0">
              <a:latin typeface="Helvetica" pitchFamily="34" charset="0"/>
            </a:endParaRPr>
          </a:p>
          <a:p>
            <a:pPr marL="0">
              <a:spcBef>
                <a:spcPts val="600"/>
              </a:spcBef>
              <a:spcAft>
                <a:spcPts val="600"/>
              </a:spcAft>
              <a:buNone/>
            </a:pPr>
            <a:r>
              <a:rPr lang="en-AU" sz="2200" dirty="0" smtClean="0">
                <a:latin typeface="Helvetica" pitchFamily="34" charset="0"/>
              </a:rPr>
              <a:t>When computer system assets are purchased, it is usual for them to be accompanied by documents and items that must also be taken care of.</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Guarantees and warranties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Installation instructions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Wiring diagrams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Manuals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Trouble-shooting guides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Spare parts lists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Maintenance schedules</a:t>
            </a:r>
            <a:endParaRPr lang="en-US" sz="2200" dirty="0" smtClean="0">
              <a:latin typeface="Helvetica" pitchFamily="34" charset="0"/>
            </a:endParaRPr>
          </a:p>
          <a:p>
            <a:pPr lvl="0">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7" name="Picture 6" descr="shutterstock_14099602.jpg"/>
          <p:cNvPicPr/>
          <p:nvPr/>
        </p:nvPicPr>
        <p:blipFill>
          <a:blip r:embed="rId3" cstate="print"/>
          <a:stretch>
            <a:fillRect/>
          </a:stretch>
        </p:blipFill>
        <p:spPr>
          <a:xfrm>
            <a:off x="6804248" y="3212976"/>
            <a:ext cx="1173480" cy="17716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potential problems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marL="0">
              <a:spcBef>
                <a:spcPts val="600"/>
              </a:spcBef>
              <a:spcAft>
                <a:spcPts val="1200"/>
              </a:spcAft>
              <a:buNone/>
            </a:pPr>
            <a:r>
              <a:rPr lang="en-GB" sz="2200" b="1" dirty="0" smtClean="0">
                <a:latin typeface="Helvetica" pitchFamily="34" charset="0"/>
              </a:rPr>
              <a:t>Identify predictable problems with implementation of new computer system assets</a:t>
            </a:r>
            <a:endParaRPr lang="en-US" sz="2200" b="1" dirty="0" smtClean="0">
              <a:latin typeface="Helvetica" pitchFamily="34" charset="0"/>
            </a:endParaRPr>
          </a:p>
          <a:p>
            <a:pPr marL="0">
              <a:spcBef>
                <a:spcPts val="600"/>
              </a:spcBef>
              <a:spcAft>
                <a:spcPts val="1200"/>
              </a:spcAft>
              <a:buNone/>
            </a:pPr>
            <a:r>
              <a:rPr lang="en-GB" sz="2200" dirty="0" smtClean="0">
                <a:latin typeface="Helvetica" pitchFamily="34" charset="0"/>
              </a:rPr>
              <a:t>As implementation of new computer system assets takes place, things often do not go exactly to plan for a variety of reasons.</a:t>
            </a:r>
          </a:p>
          <a:p>
            <a:pPr>
              <a:spcBef>
                <a:spcPts val="600"/>
              </a:spcBef>
              <a:spcAft>
                <a:spcPts val="1200"/>
              </a:spcAft>
            </a:pPr>
            <a:r>
              <a:rPr lang="en-GB" sz="2200" dirty="0" smtClean="0">
                <a:latin typeface="Helvetica" pitchFamily="34" charset="0"/>
              </a:rPr>
              <a:t>What are predictable programs that may occur?</a:t>
            </a:r>
          </a:p>
          <a:p>
            <a:endParaRPr lang="en-US" sz="2400" dirty="0" smtClean="0"/>
          </a:p>
          <a:p>
            <a:pPr lvl="0">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6" name="Picture 5" descr="shutterstock_30049894.jpg"/>
          <p:cNvPicPr/>
          <p:nvPr/>
        </p:nvPicPr>
        <p:blipFill>
          <a:blip r:embed="rId3" cstate="print"/>
          <a:stretch>
            <a:fillRect/>
          </a:stretch>
        </p:blipFill>
        <p:spPr>
          <a:xfrm>
            <a:off x="3563888" y="4221088"/>
            <a:ext cx="1327785" cy="19907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potential problems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5616624"/>
          </a:xfrm>
        </p:spPr>
        <p:txBody>
          <a:bodyPr>
            <a:normAutofit/>
          </a:bodyPr>
          <a:lstStyle/>
          <a:p>
            <a:pPr marL="0">
              <a:spcBef>
                <a:spcPts val="600"/>
              </a:spcBef>
              <a:spcAft>
                <a:spcPts val="600"/>
              </a:spcAft>
              <a:buNone/>
            </a:pPr>
            <a:r>
              <a:rPr lang="en-GB" sz="2000" b="1" dirty="0" smtClean="0">
                <a:latin typeface="Helvetica" pitchFamily="34" charset="0"/>
              </a:rPr>
              <a:t>Identify predictable problems with implementation of new computer system assets</a:t>
            </a:r>
            <a:endParaRPr lang="en-US" sz="2000" b="1" dirty="0" smtClean="0">
              <a:latin typeface="Helvetica" pitchFamily="34" charset="0"/>
            </a:endParaRPr>
          </a:p>
          <a:p>
            <a:pPr lvl="0">
              <a:spcBef>
                <a:spcPts val="600"/>
              </a:spcBef>
              <a:spcAft>
                <a:spcPts val="600"/>
              </a:spcAft>
            </a:pPr>
            <a:r>
              <a:rPr lang="en-GB" sz="2000" dirty="0" smtClean="0">
                <a:latin typeface="Helvetica" pitchFamily="34" charset="0"/>
              </a:rPr>
              <a:t>Delays in implementation</a:t>
            </a:r>
            <a:endParaRPr lang="en-US" sz="2000" dirty="0" smtClean="0">
              <a:latin typeface="Helvetica" pitchFamily="34" charset="0"/>
            </a:endParaRPr>
          </a:p>
          <a:p>
            <a:pPr lvl="0">
              <a:spcBef>
                <a:spcPts val="600"/>
              </a:spcBef>
              <a:spcAft>
                <a:spcPts val="600"/>
              </a:spcAft>
            </a:pPr>
            <a:r>
              <a:rPr lang="en-GB" sz="2000" dirty="0" smtClean="0">
                <a:latin typeface="Helvetica" pitchFamily="34" charset="0"/>
              </a:rPr>
              <a:t>Frustrations with new systems</a:t>
            </a:r>
            <a:endParaRPr lang="en-US" sz="2000" dirty="0" smtClean="0">
              <a:latin typeface="Helvetica" pitchFamily="34" charset="0"/>
            </a:endParaRPr>
          </a:p>
          <a:p>
            <a:pPr lvl="0">
              <a:spcBef>
                <a:spcPts val="600"/>
              </a:spcBef>
              <a:spcAft>
                <a:spcPts val="600"/>
              </a:spcAft>
            </a:pPr>
            <a:r>
              <a:rPr lang="en-GB" sz="2000" dirty="0" smtClean="0">
                <a:latin typeface="Helvetica" pitchFamily="34" charset="0"/>
              </a:rPr>
              <a:t>Insufficient physical space or area</a:t>
            </a:r>
            <a:endParaRPr lang="en-US" sz="2000" dirty="0" smtClean="0">
              <a:latin typeface="Helvetica" pitchFamily="34" charset="0"/>
            </a:endParaRPr>
          </a:p>
          <a:p>
            <a:pPr lvl="0">
              <a:spcBef>
                <a:spcPts val="600"/>
              </a:spcBef>
              <a:spcAft>
                <a:spcPts val="600"/>
              </a:spcAft>
            </a:pPr>
            <a:r>
              <a:rPr lang="en-GB" sz="2000" dirty="0" smtClean="0">
                <a:latin typeface="Helvetica" pitchFamily="34" charset="0"/>
              </a:rPr>
              <a:t>Lack of seamless integration between old                                  and new systems</a:t>
            </a:r>
            <a:endParaRPr lang="en-US" sz="2000" dirty="0" smtClean="0">
              <a:latin typeface="Helvetica" pitchFamily="34" charset="0"/>
            </a:endParaRPr>
          </a:p>
          <a:p>
            <a:pPr lvl="0">
              <a:spcBef>
                <a:spcPts val="600"/>
              </a:spcBef>
              <a:spcAft>
                <a:spcPts val="600"/>
              </a:spcAft>
            </a:pPr>
            <a:r>
              <a:rPr lang="en-GB" sz="2000" dirty="0" smtClean="0">
                <a:latin typeface="Helvetica" pitchFamily="34" charset="0"/>
              </a:rPr>
              <a:t>Greater stress as workload increases                                      and productivity reduces</a:t>
            </a:r>
            <a:endParaRPr lang="en-US" sz="2000" dirty="0" smtClean="0">
              <a:latin typeface="Helvetica" pitchFamily="34" charset="0"/>
            </a:endParaRPr>
          </a:p>
          <a:p>
            <a:pPr lvl="0">
              <a:spcBef>
                <a:spcPts val="600"/>
              </a:spcBef>
              <a:spcAft>
                <a:spcPts val="600"/>
              </a:spcAft>
            </a:pPr>
            <a:r>
              <a:rPr lang="en-GB" sz="2000" dirty="0" smtClean="0">
                <a:latin typeface="Helvetica" pitchFamily="34" charset="0"/>
              </a:rPr>
              <a:t>Staff are unfamiliar with new systems</a:t>
            </a:r>
          </a:p>
          <a:p>
            <a:pPr lvl="0">
              <a:spcBef>
                <a:spcPts val="600"/>
              </a:spcBef>
              <a:spcAft>
                <a:spcPts val="600"/>
              </a:spcAft>
            </a:pPr>
            <a:r>
              <a:rPr lang="en-GB" sz="2000" dirty="0" smtClean="0">
                <a:latin typeface="Helvetica" pitchFamily="34" charset="0"/>
              </a:rPr>
              <a:t>Staff unable to perform functions on new systems</a:t>
            </a:r>
            <a:endParaRPr lang="en-US" sz="2000" dirty="0" smtClean="0">
              <a:latin typeface="Helvetica" pitchFamily="34" charset="0"/>
            </a:endParaRPr>
          </a:p>
          <a:p>
            <a:pPr lvl="0">
              <a:spcBef>
                <a:spcPts val="600"/>
              </a:spcBef>
              <a:spcAft>
                <a:spcPts val="600"/>
              </a:spcAft>
            </a:pPr>
            <a:r>
              <a:rPr lang="en-GB" sz="2000" dirty="0" smtClean="0">
                <a:latin typeface="Helvetica" pitchFamily="34" charset="0"/>
              </a:rPr>
              <a:t>Staff making mistakes in new system</a:t>
            </a:r>
            <a:endParaRPr lang="en-US" sz="2000" dirty="0" smtClean="0">
              <a:latin typeface="Helvetica" pitchFamily="34" charset="0"/>
            </a:endParaRPr>
          </a:p>
          <a:p>
            <a:pPr lvl="0">
              <a:spcBef>
                <a:spcPts val="600"/>
              </a:spcBef>
              <a:spcAft>
                <a:spcPts val="600"/>
              </a:spcAft>
              <a:buNone/>
            </a:pP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7" name="Picture 6" descr="43.jpg"/>
          <p:cNvPicPr>
            <a:picLocks noChangeAspect="1"/>
          </p:cNvPicPr>
          <p:nvPr/>
        </p:nvPicPr>
        <p:blipFill>
          <a:blip r:embed="rId3" cstate="print"/>
          <a:stretch>
            <a:fillRect/>
          </a:stretch>
        </p:blipFill>
        <p:spPr>
          <a:xfrm>
            <a:off x="6732240" y="2420888"/>
            <a:ext cx="1424341" cy="203119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potential problems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marL="0">
              <a:spcBef>
                <a:spcPts val="600"/>
              </a:spcBef>
              <a:spcAft>
                <a:spcPts val="600"/>
              </a:spcAft>
              <a:buNone/>
            </a:pPr>
            <a:r>
              <a:rPr lang="en-GB" sz="2200" b="1" dirty="0" smtClean="0">
                <a:latin typeface="Helvetica" pitchFamily="34" charset="0"/>
              </a:rPr>
              <a:t>Identify predictable problems with implementation of new computer system assets</a:t>
            </a:r>
            <a:endParaRPr lang="en-US" sz="2200" b="1" dirty="0" smtClean="0">
              <a:latin typeface="Helvetica" pitchFamily="34" charset="0"/>
            </a:endParaRPr>
          </a:p>
          <a:p>
            <a:pPr lvl="0">
              <a:spcBef>
                <a:spcPts val="600"/>
              </a:spcBef>
              <a:spcAft>
                <a:spcPts val="600"/>
              </a:spcAft>
            </a:pPr>
            <a:r>
              <a:rPr lang="en-GB" sz="2200" dirty="0" smtClean="0">
                <a:latin typeface="Helvetica" pitchFamily="34" charset="0"/>
              </a:rPr>
              <a:t>Greater complaints due to delays and inaccurate information</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Lost data</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Limited access due to new security                                                  of password procedures</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Disruptions to routine</a:t>
            </a:r>
          </a:p>
          <a:p>
            <a:pPr lvl="0">
              <a:spcBef>
                <a:spcPts val="600"/>
              </a:spcBef>
              <a:spcAft>
                <a:spcPts val="600"/>
              </a:spcAft>
            </a:pPr>
            <a:r>
              <a:rPr lang="en-GB" sz="2200" dirty="0" smtClean="0">
                <a:latin typeface="Helvetica" pitchFamily="34" charset="0"/>
              </a:rPr>
              <a:t>Problems with productivity</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Extra support required by employees</a:t>
            </a:r>
          </a:p>
          <a:p>
            <a:pPr>
              <a:spcBef>
                <a:spcPts val="600"/>
              </a:spcBef>
              <a:spcAft>
                <a:spcPts val="600"/>
              </a:spcAft>
              <a:buNone/>
            </a:pPr>
            <a:r>
              <a:rPr lang="en-US" sz="2200" b="1" dirty="0" smtClean="0">
                <a:solidFill>
                  <a:srgbClr val="FF6600"/>
                </a:solidFill>
                <a:latin typeface="Helvetica" pitchFamily="34" charset="0"/>
              </a:rPr>
              <a:t>COMPLETE ACTIVITY 20</a:t>
            </a:r>
          </a:p>
          <a:p>
            <a:pPr lvl="0">
              <a:spcBef>
                <a:spcPts val="600"/>
              </a:spcBef>
              <a:spcAft>
                <a:spcPts val="600"/>
              </a:spcAft>
            </a:pP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lvl="0">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descr="8.jpg"/>
          <p:cNvPicPr>
            <a:picLocks noChangeAspect="1"/>
          </p:cNvPicPr>
          <p:nvPr/>
        </p:nvPicPr>
        <p:blipFill>
          <a:blip r:embed="rId3" cstate="print"/>
          <a:stretch>
            <a:fillRect/>
          </a:stretch>
        </p:blipFill>
        <p:spPr>
          <a:xfrm>
            <a:off x="6084168" y="3284984"/>
            <a:ext cx="2310987" cy="154228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Provide implementation support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marL="0">
              <a:spcBef>
                <a:spcPts val="600"/>
              </a:spcBef>
              <a:spcAft>
                <a:spcPts val="1200"/>
              </a:spcAft>
              <a:buNone/>
            </a:pPr>
            <a:r>
              <a:rPr lang="en-GB" sz="2200" b="1" dirty="0" smtClean="0">
                <a:latin typeface="Helvetica" pitchFamily="34" charset="0"/>
              </a:rPr>
              <a:t>Provide support and resources to support implementation actions</a:t>
            </a:r>
            <a:endParaRPr lang="en-US" sz="2200" b="1" dirty="0" smtClean="0">
              <a:latin typeface="Helvetica" pitchFamily="34" charset="0"/>
            </a:endParaRPr>
          </a:p>
          <a:p>
            <a:pPr marL="0">
              <a:spcBef>
                <a:spcPts val="600"/>
              </a:spcBef>
              <a:spcAft>
                <a:spcPts val="1200"/>
              </a:spcAft>
              <a:buNone/>
            </a:pPr>
            <a:r>
              <a:rPr lang="en-GB" sz="2200" dirty="0" smtClean="0">
                <a:latin typeface="Helvetica" pitchFamily="34" charset="0"/>
              </a:rPr>
              <a:t>As mentioned, any time change takes place, whilst in the long term it will benefit the organisation and staff involved, it will cause disruptions and make activities harder for staff in the short term. </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What types of support can you provide to staff?</a:t>
            </a:r>
          </a:p>
          <a:p>
            <a:pPr lvl="0">
              <a:spcBef>
                <a:spcPts val="600"/>
              </a:spcBef>
              <a:spcAft>
                <a:spcPts val="600"/>
              </a:spcAft>
            </a:pP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lvl="0">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6" name="Picture 5" descr="5.jpg"/>
          <p:cNvPicPr>
            <a:picLocks noChangeAspect="1"/>
          </p:cNvPicPr>
          <p:nvPr/>
        </p:nvPicPr>
        <p:blipFill>
          <a:blip r:embed="rId3" cstate="print"/>
          <a:stretch>
            <a:fillRect/>
          </a:stretch>
        </p:blipFill>
        <p:spPr>
          <a:xfrm>
            <a:off x="6156176" y="4653136"/>
            <a:ext cx="2418886" cy="161428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Ensure staff are adequately trained in using new systems</a:t>
            </a:r>
          </a:p>
          <a:p>
            <a:pPr marL="0">
              <a:spcBef>
                <a:spcPts val="600"/>
              </a:spcBef>
              <a:spcAft>
                <a:spcPts val="1200"/>
              </a:spcAft>
              <a:buNone/>
            </a:pPr>
            <a:r>
              <a:rPr lang="en-AU" sz="2200" dirty="0" smtClean="0">
                <a:latin typeface="Helvetica" pitchFamily="34" charset="0"/>
              </a:rPr>
              <a:t>Before staff are required to use new computer systems it is vital that all staff competent in not only the functions associated with the system but also in being able to access and interpret information which is contained within.</a:t>
            </a:r>
          </a:p>
          <a:p>
            <a:pPr marL="0">
              <a:spcBef>
                <a:spcPts val="600"/>
              </a:spcBef>
              <a:spcAft>
                <a:spcPts val="1200"/>
              </a:spcAft>
            </a:pPr>
            <a:r>
              <a:rPr lang="en-AU" sz="2200" dirty="0" smtClean="0">
                <a:latin typeface="Helvetica" pitchFamily="34" charset="0"/>
              </a:rPr>
              <a:t>How can you check the current competency of staff?</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descr="MP900400043.JPG"/>
          <p:cNvPicPr/>
          <p:nvPr/>
        </p:nvPicPr>
        <p:blipFill>
          <a:blip r:embed="rId3" cstate="print"/>
          <a:stretch>
            <a:fillRect/>
          </a:stretch>
        </p:blipFill>
        <p:spPr>
          <a:xfrm>
            <a:off x="6444208" y="4581128"/>
            <a:ext cx="2009949" cy="145997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Ensure staff are adequately trained in using new systems</a:t>
            </a:r>
          </a:p>
          <a:p>
            <a:pPr marL="0">
              <a:spcBef>
                <a:spcPts val="600"/>
              </a:spcBef>
              <a:spcAft>
                <a:spcPts val="1200"/>
              </a:spcAft>
              <a:buNone/>
            </a:pPr>
            <a:r>
              <a:rPr lang="en-AU" sz="2200" dirty="0" smtClean="0">
                <a:latin typeface="Helvetica" pitchFamily="34" charset="0"/>
              </a:rPr>
              <a:t>In essence for staff must be proficient in the use of a computer system requires two things: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 understanding of what can be done, why it is done, and when it should be done, and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Practice in applying that knowledge and understanding to the system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6" name="Picture 5" descr="shutterstock_58679659.jpg"/>
          <p:cNvPicPr/>
          <p:nvPr/>
        </p:nvPicPr>
        <p:blipFill>
          <a:blip r:embed="rId3" cstate="print"/>
          <a:stretch>
            <a:fillRect/>
          </a:stretch>
        </p:blipFill>
        <p:spPr>
          <a:xfrm>
            <a:off x="6660232" y="4797152"/>
            <a:ext cx="1859915" cy="12382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5445224"/>
          </a:xfrm>
        </p:spPr>
        <p:txBody>
          <a:bodyPr>
            <a:normAutofit/>
          </a:bodyPr>
          <a:lstStyle/>
          <a:p>
            <a:pPr>
              <a:spcBef>
                <a:spcPts val="600"/>
              </a:spcBef>
              <a:spcAft>
                <a:spcPts val="1200"/>
              </a:spcAft>
              <a:buNone/>
            </a:pPr>
            <a:r>
              <a:rPr lang="en-AU" sz="2100" b="1" dirty="0" smtClean="0">
                <a:latin typeface="Helvetica" pitchFamily="34" charset="0"/>
              </a:rPr>
              <a:t>General computer system knowledge and skills training</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Basic computer and keyboarding skills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Literacy skills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Read, interpret and use system codes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Writing skills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Numeracy skills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Organisation’s policies, plans and procedures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Correct log-on and shut-down procedures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Procedures and codes required to enter                                                  and exit a system</a:t>
            </a:r>
          </a:p>
          <a:p>
            <a:pPr lvl="0"/>
            <a:endParaRPr lang="en-US" sz="21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8" name="Picture 7" descr="shutterstock_33818875.jpg"/>
          <p:cNvPicPr>
            <a:picLocks noChangeAspect="1"/>
          </p:cNvPicPr>
          <p:nvPr/>
        </p:nvPicPr>
        <p:blipFill>
          <a:blip r:embed="rId3" cstate="print"/>
          <a:stretch>
            <a:fillRect/>
          </a:stretch>
        </p:blipFill>
        <p:spPr>
          <a:xfrm>
            <a:off x="6660232" y="2924944"/>
            <a:ext cx="1631958" cy="108851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General computer system knowledge and skills training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Back-up and virus protection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Role of computer and operations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Range of products and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Range of sales, operational and accounting functions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Common computerised reservation                                        and operational entries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Mandatory fields</a:t>
            </a:r>
            <a:endParaRPr lang="en-US" sz="2200" dirty="0" smtClean="0">
              <a:latin typeface="Helvetica" pitchFamily="34" charset="0"/>
            </a:endParaRPr>
          </a:p>
          <a:p>
            <a:pPr lvl="0"/>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descr="W608_shutterstock_99673604.jpg"/>
          <p:cNvPicPr/>
          <p:nvPr/>
        </p:nvPicPr>
        <p:blipFill>
          <a:blip r:embed="rId3" cstate="print"/>
          <a:stretch>
            <a:fillRect/>
          </a:stretch>
        </p:blipFill>
        <p:spPr>
          <a:xfrm>
            <a:off x="6516216" y="4509120"/>
            <a:ext cx="1819275" cy="12668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4896544"/>
          </a:xfrm>
        </p:spPr>
        <p:txBody>
          <a:bodyPr>
            <a:normAutofit lnSpcReduction="10000"/>
          </a:bodyPr>
          <a:lstStyle/>
          <a:p>
            <a:pPr>
              <a:lnSpc>
                <a:spcPct val="110000"/>
              </a:lnSpc>
              <a:spcBef>
                <a:spcPts val="600"/>
              </a:spcBef>
              <a:spcAft>
                <a:spcPts val="900"/>
              </a:spcAft>
              <a:buNone/>
            </a:pPr>
            <a:r>
              <a:rPr lang="en-AU" sz="2200" b="1" dirty="0" smtClean="0">
                <a:latin typeface="Helvetica" pitchFamily="34" charset="0"/>
              </a:rPr>
              <a:t>General computer system knowledge and skills training</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Applying access codes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Interpreting and using on-screen prompts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Interpreting and applying on-screen abbreviations, acronyms and options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Using navigation tools such as buttons and tabs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Applying correct date formats within the system</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Adhering to system protocols and                                                  field size limitations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Completing required fields</a:t>
            </a:r>
            <a:endParaRPr lang="en-US" sz="2200" dirty="0" smtClean="0">
              <a:latin typeface="Helvetica" pitchFamily="34" charset="0"/>
            </a:endParaRPr>
          </a:p>
          <a:p>
            <a:pPr lvl="0">
              <a:lnSpc>
                <a:spcPct val="110000"/>
              </a:lnSpc>
              <a:spcAft>
                <a:spcPts val="900"/>
              </a:spcAft>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6" name="Picture 5" descr="W607_shutterstock_169040459.jpg"/>
          <p:cNvPicPr/>
          <p:nvPr/>
        </p:nvPicPr>
        <p:blipFill>
          <a:blip r:embed="rId3" cstate="print"/>
          <a:stretch>
            <a:fillRect/>
          </a:stretch>
        </p:blipFill>
        <p:spPr>
          <a:xfrm>
            <a:off x="6804248" y="4869160"/>
            <a:ext cx="1915160" cy="12763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3792" y="1268760"/>
            <a:ext cx="7846640" cy="5445224"/>
          </a:xfrm>
        </p:spPr>
        <p:txBody>
          <a:bodyPr>
            <a:noAutofit/>
          </a:bodyPr>
          <a:lstStyle/>
          <a:p>
            <a:pPr>
              <a:spcBef>
                <a:spcPts val="600"/>
              </a:spcBef>
              <a:spcAft>
                <a:spcPts val="600"/>
              </a:spcAft>
              <a:buNone/>
            </a:pPr>
            <a:r>
              <a:rPr lang="en-AU" sz="2100" b="1" dirty="0" smtClean="0">
                <a:latin typeface="Helvetica" pitchFamily="34" charset="0"/>
              </a:rPr>
              <a:t>General computer system knowledge and skills training</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Describing the field and menu links available between screens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Responding to system-related queries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Accepting, confirming, denying, amending or following-up bookings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Forwarding sub-menu bookings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Translating communications into other languages </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Converting currencies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Integrating updates from suppliers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Negotiating new deals</a:t>
            </a:r>
            <a:endParaRPr lang="en-US" sz="2100" dirty="0" smtClean="0">
              <a:latin typeface="Helvetica" pitchFamily="34" charset="0"/>
            </a:endParaRPr>
          </a:p>
          <a:p>
            <a:pPr lvl="0">
              <a:spcAft>
                <a:spcPts val="600"/>
              </a:spcAft>
            </a:pPr>
            <a:endParaRPr lang="en-US" sz="21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7" name="Picture 6" descr="shutterstock_69626098.jpg"/>
          <p:cNvPicPr>
            <a:picLocks noChangeAspect="1"/>
          </p:cNvPicPr>
          <p:nvPr/>
        </p:nvPicPr>
        <p:blipFill>
          <a:blip r:embed="rId3" cstate="print"/>
          <a:stretch>
            <a:fillRect/>
          </a:stretch>
        </p:blipFill>
        <p:spPr>
          <a:xfrm>
            <a:off x="6804248" y="5085184"/>
            <a:ext cx="1955832" cy="130454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General computer system knowledge and skills training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Adding distribution channels to the CRS network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Generating invoices, accounts, folios and statements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Generating and distributing relevant reports to other system users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Requirements for specific formatted entries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Procedures for confirming, storing and retrieving reservations or operational data</a:t>
            </a:r>
            <a:endParaRPr lang="en-US" sz="2200" dirty="0" smtClean="0">
              <a:latin typeface="Helvetica" pitchFamily="34" charset="0"/>
            </a:endParaRPr>
          </a:p>
          <a:p>
            <a:pPr lvl="0"/>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6" name="Picture 5" descr="shutterstock_151230374.jpg"/>
          <p:cNvPicPr>
            <a:picLocks noChangeAspect="1"/>
          </p:cNvPicPr>
          <p:nvPr/>
        </p:nvPicPr>
        <p:blipFill>
          <a:blip r:embed="rId3" cstate="print"/>
          <a:stretch>
            <a:fillRect/>
          </a:stretch>
        </p:blipFill>
        <p:spPr>
          <a:xfrm>
            <a:off x="7272030" y="5157192"/>
            <a:ext cx="1631958" cy="108851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General computer system knowledge and skills training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Procedures for sending and receiving messages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Maintenance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Technical terminology in relation to reading help-files and manuals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Methods of detecting faults in and solving                            problems with technology</a:t>
            </a:r>
            <a:endParaRPr lang="en-US" sz="2200" dirty="0" smtClean="0">
              <a:latin typeface="Helvetica" pitchFamily="34" charset="0"/>
            </a:endParaRPr>
          </a:p>
          <a:p>
            <a:pPr lvl="0"/>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descr="shutterstock_166435832.jpg"/>
          <p:cNvPicPr/>
          <p:nvPr/>
        </p:nvPicPr>
        <p:blipFill>
          <a:blip r:embed="rId3" cstate="print"/>
          <a:stretch>
            <a:fillRect/>
          </a:stretch>
        </p:blipFill>
        <p:spPr>
          <a:xfrm>
            <a:off x="6444208" y="4941168"/>
            <a:ext cx="1790700" cy="11906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Specialised GDS and CRS training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Signing on and off</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Using system passwords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 online system help</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System help facilities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Key functions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System abbreviations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Encoding and decoding</a:t>
            </a:r>
            <a:endParaRPr lang="en-US" sz="2200" dirty="0" smtClean="0">
              <a:latin typeface="Helvetica" pitchFamily="34" charset="0"/>
            </a:endParaRPr>
          </a:p>
          <a:p>
            <a:pPr lvl="0"/>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6" name="Picture 5" descr="shutterstock_84545446.jpg"/>
          <p:cNvPicPr/>
          <p:nvPr/>
        </p:nvPicPr>
        <p:blipFill>
          <a:blip r:embed="rId3" cstate="print"/>
          <a:stretch>
            <a:fillRect/>
          </a:stretch>
        </p:blipFill>
        <p:spPr>
          <a:xfrm>
            <a:off x="6156176" y="2564904"/>
            <a:ext cx="1902460" cy="12668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846640" cy="5445224"/>
          </a:xfrm>
        </p:spPr>
        <p:txBody>
          <a:bodyPr>
            <a:normAutofit/>
          </a:bodyPr>
          <a:lstStyle/>
          <a:p>
            <a:pPr>
              <a:spcBef>
                <a:spcPts val="600"/>
              </a:spcBef>
              <a:spcAft>
                <a:spcPts val="1200"/>
              </a:spcAft>
              <a:buNone/>
            </a:pPr>
            <a:r>
              <a:rPr lang="en-AU" sz="2200" b="1" dirty="0" smtClean="0">
                <a:latin typeface="Helvetica" pitchFamily="34" charset="0"/>
              </a:rPr>
              <a:t>Specialised GDS and CRS training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Displaying and interpreting availability screens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Selling from availability screens and making direct sell reservations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the various levels of selling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Creating and updating files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Completing the Booking File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Using service requests to generate                              passenger specific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Accessing and actioning queues</a:t>
            </a:r>
            <a:endParaRPr lang="en-US" sz="2200" dirty="0" smtClean="0">
              <a:latin typeface="Helvetica" pitchFamily="34" charset="0"/>
            </a:endParaRPr>
          </a:p>
          <a:p>
            <a:pPr lvl="0"/>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6" name="Picture 5" descr="shutterstock_84545446.jpg"/>
          <p:cNvPicPr/>
          <p:nvPr/>
        </p:nvPicPr>
        <p:blipFill>
          <a:blip r:embed="rId3" cstate="print"/>
          <a:stretch>
            <a:fillRect/>
          </a:stretch>
        </p:blipFill>
        <p:spPr>
          <a:xfrm>
            <a:off x="6516216" y="3789040"/>
            <a:ext cx="1902460" cy="12668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Specialised GDS and CRS training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Displaying fares, interpreting fare rules, and obtaining fare quotes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and updating booking status codes.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E-ticketing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Accessing general information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Completing documentation </a:t>
            </a:r>
          </a:p>
          <a:p>
            <a:pPr>
              <a:spcBef>
                <a:spcPts val="600"/>
              </a:spcBef>
              <a:spcAft>
                <a:spcPts val="1200"/>
              </a:spcAft>
            </a:pPr>
            <a:r>
              <a:rPr lang="en-AU" sz="2200" dirty="0" smtClean="0">
                <a:latin typeface="Helvetica" pitchFamily="34" charset="0"/>
              </a:rPr>
              <a:t>Client and Trip file management                                                  and accounting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7" name="Picture 6" descr="W601_shutterstock_122942875.jpg"/>
          <p:cNvPicPr>
            <a:picLocks noChangeAspect="1"/>
          </p:cNvPicPr>
          <p:nvPr/>
        </p:nvPicPr>
        <p:blipFill>
          <a:blip r:embed="rId3" cstate="print"/>
          <a:stretch>
            <a:fillRect/>
          </a:stretch>
        </p:blipFill>
        <p:spPr>
          <a:xfrm>
            <a:off x="6012160" y="3645024"/>
            <a:ext cx="2414106" cy="161115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Ensure staff are trained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41784" y="1268760"/>
            <a:ext cx="7846640" cy="5445224"/>
          </a:xfrm>
        </p:spPr>
        <p:txBody>
          <a:bodyPr>
            <a:normAutofit/>
          </a:bodyPr>
          <a:lstStyle/>
          <a:p>
            <a:pPr>
              <a:spcBef>
                <a:spcPts val="600"/>
              </a:spcBef>
              <a:spcAft>
                <a:spcPts val="600"/>
              </a:spcAft>
              <a:buNone/>
            </a:pPr>
            <a:r>
              <a:rPr lang="en-AU" sz="2200" b="1" dirty="0" smtClean="0">
                <a:latin typeface="Helvetica" pitchFamily="34" charset="0"/>
              </a:rPr>
              <a:t>Types of computer system training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Participating in formal training which may be provided by the property or by the software supplier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Utilisation of dedicated training software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Reading the User’s manual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Observing and listening to an experienced operator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Asking questions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Writing your own notes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On-going coaching and mentoring</a:t>
            </a:r>
          </a:p>
          <a:p>
            <a:pPr>
              <a:spcBef>
                <a:spcPts val="600"/>
              </a:spcBef>
              <a:spcAft>
                <a:spcPts val="600"/>
              </a:spcAft>
              <a:buNone/>
            </a:pPr>
            <a:r>
              <a:rPr lang="en-US" sz="2200" b="1" dirty="0" smtClean="0">
                <a:solidFill>
                  <a:srgbClr val="FF6600"/>
                </a:solidFill>
                <a:latin typeface="Helvetica" pitchFamily="34" charset="0"/>
              </a:rPr>
              <a:t>COMPLETE ACTIVITY 21</a:t>
            </a:r>
          </a:p>
          <a:p>
            <a:pPr>
              <a:spcBef>
                <a:spcPts val="600"/>
              </a:spcBef>
              <a:spcAft>
                <a:spcPts val="600"/>
              </a:spcAft>
              <a:buNone/>
            </a:pPr>
            <a:endParaRPr lang="en-AU" sz="2400" dirty="0" smtClean="0"/>
          </a:p>
          <a:p>
            <a:pPr>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6" name="Picture 5" descr="A10 shutterstock_156152561.jpg"/>
          <p:cNvPicPr/>
          <p:nvPr/>
        </p:nvPicPr>
        <p:blipFill>
          <a:blip r:embed="rId3" cstate="print"/>
          <a:stretch>
            <a:fillRect/>
          </a:stretch>
        </p:blipFill>
        <p:spPr>
          <a:xfrm>
            <a:off x="6444208" y="4509120"/>
            <a:ext cx="2286000" cy="1524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Monitor new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Importance of monitoring new computer systems</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The accepted ways of monitoring the effectiveness of new computer systems will relate to determining: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Achievement of key performance indicators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actual workplace effectiveness of the computer asset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actual costs, savings or other benefits involved in using this asset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Assessment_115352104.jpg"/>
          <p:cNvPicPr/>
          <p:nvPr/>
        </p:nvPicPr>
        <p:blipFill>
          <a:blip r:embed="rId3" cstate="print"/>
          <a:stretch>
            <a:fillRect/>
          </a:stretch>
        </p:blipFill>
        <p:spPr>
          <a:xfrm>
            <a:off x="6516216" y="4941168"/>
            <a:ext cx="1905000" cy="12763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Monitor new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AU" sz="2200" b="1" dirty="0" smtClean="0">
                <a:latin typeface="Helvetica" pitchFamily="34" charset="0"/>
              </a:rPr>
              <a:t>Key performance indicators</a:t>
            </a:r>
            <a:endParaRPr lang="en-US" sz="2200" dirty="0" smtClean="0">
              <a:latin typeface="Helvetica" pitchFamily="34" charset="0"/>
            </a:endParaRPr>
          </a:p>
          <a:p>
            <a:pPr marL="0">
              <a:spcBef>
                <a:spcPts val="600"/>
              </a:spcBef>
              <a:spcAft>
                <a:spcPts val="600"/>
              </a:spcAft>
              <a:buNone/>
            </a:pPr>
            <a:r>
              <a:rPr lang="en-AU" sz="2200" dirty="0" smtClean="0">
                <a:latin typeface="Helvetica" pitchFamily="34" charset="0"/>
              </a:rPr>
              <a:t>Measuring the effectiveness </a:t>
            </a:r>
            <a:r>
              <a:rPr lang="en-US" sz="2200" dirty="0" smtClean="0">
                <a:latin typeface="Helvetica" pitchFamily="34" charset="0"/>
              </a:rPr>
              <a:t>of business computer systems can be broken down into many aspects depending on each manager and organisation, however can be broken down into the following categories:</a:t>
            </a:r>
          </a:p>
          <a:p>
            <a:pPr lvl="0">
              <a:spcBef>
                <a:spcPts val="600"/>
              </a:spcBef>
              <a:spcAft>
                <a:spcPts val="600"/>
              </a:spcAft>
            </a:pPr>
            <a:r>
              <a:rPr lang="en-US" sz="2200" dirty="0" smtClean="0">
                <a:latin typeface="Helvetica" pitchFamily="34" charset="0"/>
              </a:rPr>
              <a:t>S</a:t>
            </a:r>
            <a:r>
              <a:rPr lang="en-AU" sz="2200" dirty="0" smtClean="0">
                <a:latin typeface="Helvetica" pitchFamily="34" charset="0"/>
              </a:rPr>
              <a:t>atisfaction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System usage</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P</a:t>
            </a:r>
            <a:r>
              <a:rPr lang="en-AU" sz="2200" dirty="0" smtClean="0">
                <a:latin typeface="Helvetica" pitchFamily="34" charset="0"/>
              </a:rPr>
              <a:t>erformance/ usefulness</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P</a:t>
            </a:r>
            <a:r>
              <a:rPr lang="en-AU" sz="2200" dirty="0" smtClean="0">
                <a:latin typeface="Helvetica" pitchFamily="34" charset="0"/>
              </a:rPr>
              <a:t>roductivit</a:t>
            </a:r>
            <a:r>
              <a:rPr lang="en-US" sz="2200" dirty="0" smtClean="0">
                <a:latin typeface="Helvetica" pitchFamily="34" charset="0"/>
              </a:rPr>
              <a:t>y</a:t>
            </a:r>
          </a:p>
          <a:p>
            <a:pPr lvl="0">
              <a:spcBef>
                <a:spcPts val="600"/>
              </a:spcBef>
              <a:spcAft>
                <a:spcPts val="600"/>
              </a:spcAft>
            </a:pPr>
            <a:r>
              <a:rPr lang="en-US" sz="2200" dirty="0" smtClean="0">
                <a:latin typeface="Helvetica" pitchFamily="34" charset="0"/>
              </a:rPr>
              <a:t>V</a:t>
            </a:r>
            <a:r>
              <a:rPr lang="en-AU" sz="2200" dirty="0" smtClean="0">
                <a:latin typeface="Helvetica" pitchFamily="34" charset="0"/>
              </a:rPr>
              <a:t>alue analysis</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C</a:t>
            </a:r>
            <a:r>
              <a:rPr lang="en-AU" sz="2200" dirty="0" smtClean="0">
                <a:latin typeface="Helvetica" pitchFamily="34" charset="0"/>
              </a:rPr>
              <a:t>ost-benefit analysis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6" name="Picture 5" descr="A2 shutterstock_99180761.jpg"/>
          <p:cNvPicPr/>
          <p:nvPr/>
        </p:nvPicPr>
        <p:blipFill>
          <a:blip r:embed="rId3" cstate="print"/>
          <a:stretch>
            <a:fillRect/>
          </a:stretch>
        </p:blipFill>
        <p:spPr>
          <a:xfrm>
            <a:off x="5940152" y="3573016"/>
            <a:ext cx="2146548" cy="14310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Monitor new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Actual workplace effectiveness of computer asset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activities associated with monitoring the actual workplace effectiveness of computer asset include: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Personal observation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Discussions with staff</a:t>
            </a:r>
          </a:p>
          <a:p>
            <a:pPr>
              <a:spcBef>
                <a:spcPts val="600"/>
              </a:spcBef>
              <a:spcAft>
                <a:spcPts val="1200"/>
              </a:spcAft>
            </a:pPr>
            <a:r>
              <a:rPr lang="en-AU" sz="2200" dirty="0" smtClean="0">
                <a:latin typeface="Helvetica" pitchFamily="34" charset="0"/>
              </a:rPr>
              <a:t>Discussions with customers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Discussions with other stakeholders</a:t>
            </a:r>
          </a:p>
          <a:p>
            <a:pPr>
              <a:spcBef>
                <a:spcPts val="600"/>
              </a:spcBef>
              <a:spcAft>
                <a:spcPts val="1200"/>
              </a:spcAft>
            </a:pPr>
            <a:r>
              <a:rPr lang="en-AU" sz="2200" dirty="0" smtClean="0">
                <a:latin typeface="Helvetica" pitchFamily="34" charset="0"/>
              </a:rPr>
              <a:t>Examination of the final products                                       generated by the item</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7" name="Picture 6" descr="shutterstock_129565649.jpg"/>
          <p:cNvPicPr/>
          <p:nvPr/>
        </p:nvPicPr>
        <p:blipFill>
          <a:blip r:embed="rId3" cstate="print"/>
          <a:stretch>
            <a:fillRect/>
          </a:stretch>
        </p:blipFill>
        <p:spPr>
          <a:xfrm>
            <a:off x="6372200" y="3429000"/>
            <a:ext cx="1903095" cy="12668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Monitor new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Actual workplace effectiveness of computer asset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Compliance reports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Use of checklists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Surveys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Checklists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Flowcharts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Benchmarking</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6" name="Picture 5" descr="Assessment checklist.jpg"/>
          <p:cNvPicPr/>
          <p:nvPr/>
        </p:nvPicPr>
        <p:blipFill>
          <a:blip r:embed="rId3" cstate="print"/>
          <a:stretch>
            <a:fillRect/>
          </a:stretch>
        </p:blipFill>
        <p:spPr>
          <a:xfrm>
            <a:off x="5796136" y="2492896"/>
            <a:ext cx="2212702" cy="16415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Monitor new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Actual costs, savings or other benefits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How has the company financial benefited by using the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Identification of the number of reported breakdowns, down-time and lost production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Costs to service the item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Costs to repair and maintain the item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Running costs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Checking life cycle statistics for parts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7" name="Picture 6" descr="shutterstock_148857527.jpg"/>
          <p:cNvPicPr/>
          <p:nvPr/>
        </p:nvPicPr>
        <p:blipFill>
          <a:blip r:embed="rId3" cstate="print"/>
          <a:stretch>
            <a:fillRect/>
          </a:stretch>
        </p:blipFill>
        <p:spPr>
          <a:xfrm>
            <a:off x="6372200" y="3933056"/>
            <a:ext cx="1905000" cy="12668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Monitor new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5256584"/>
          </a:xfrm>
        </p:spPr>
        <p:txBody>
          <a:bodyPr>
            <a:normAutofit lnSpcReduction="10000"/>
          </a:bodyPr>
          <a:lstStyle/>
          <a:p>
            <a:pPr>
              <a:spcBef>
                <a:spcPts val="600"/>
              </a:spcBef>
              <a:spcAft>
                <a:spcPts val="1200"/>
              </a:spcAft>
              <a:buNone/>
            </a:pPr>
            <a:r>
              <a:rPr lang="en-AU" sz="2200" b="1" dirty="0" smtClean="0">
                <a:latin typeface="Helvetica" pitchFamily="34" charset="0"/>
              </a:rPr>
              <a:t>Ancillary considerations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Evaluation of the:</a:t>
            </a:r>
          </a:p>
          <a:p>
            <a:pPr>
              <a:spcBef>
                <a:spcPts val="600"/>
              </a:spcBef>
              <a:spcAft>
                <a:spcPts val="1200"/>
              </a:spcAft>
            </a:pPr>
            <a:r>
              <a:rPr lang="en-AU" sz="2200" dirty="0" smtClean="0">
                <a:latin typeface="Helvetica" pitchFamily="34" charset="0"/>
              </a:rPr>
              <a:t>Promises made by a supplier that have been kept</a:t>
            </a:r>
          </a:p>
          <a:p>
            <a:pPr>
              <a:spcBef>
                <a:spcPts val="600"/>
              </a:spcBef>
              <a:spcAft>
                <a:spcPts val="1200"/>
              </a:spcAft>
            </a:pPr>
            <a:r>
              <a:rPr lang="en-AU" sz="2200" dirty="0" smtClean="0">
                <a:latin typeface="Helvetica" pitchFamily="34" charset="0"/>
              </a:rPr>
              <a:t>Effectiveness and cost of maintenance plans and service contracts </a:t>
            </a:r>
          </a:p>
          <a:p>
            <a:pPr>
              <a:spcBef>
                <a:spcPts val="600"/>
              </a:spcBef>
              <a:spcAft>
                <a:spcPts val="1200"/>
              </a:spcAft>
            </a:pPr>
            <a:r>
              <a:rPr lang="en-AU" sz="2200" dirty="0" smtClean="0">
                <a:latin typeface="Helvetica" pitchFamily="34" charset="0"/>
              </a:rPr>
              <a:t>Staff training </a:t>
            </a:r>
          </a:p>
          <a:p>
            <a:pPr>
              <a:spcBef>
                <a:spcPts val="600"/>
              </a:spcBef>
              <a:spcAft>
                <a:spcPts val="1200"/>
              </a:spcAft>
            </a:pPr>
            <a:r>
              <a:rPr lang="en-AU" sz="2200" dirty="0" smtClean="0">
                <a:latin typeface="Helvetica" pitchFamily="34" charset="0"/>
              </a:rPr>
              <a:t>Warranties and guarantees </a:t>
            </a:r>
          </a:p>
          <a:p>
            <a:pPr>
              <a:spcBef>
                <a:spcPts val="600"/>
              </a:spcBef>
              <a:spcAft>
                <a:spcPts val="1200"/>
              </a:spcAft>
            </a:pPr>
            <a:r>
              <a:rPr lang="en-AU" sz="2200" dirty="0" smtClean="0">
                <a:latin typeface="Helvetica" pitchFamily="34" charset="0"/>
              </a:rPr>
              <a:t>Workplace usage of the item </a:t>
            </a:r>
          </a:p>
          <a:p>
            <a:pPr>
              <a:spcBef>
                <a:spcPts val="600"/>
              </a:spcBef>
              <a:spcAft>
                <a:spcPts val="1200"/>
              </a:spcAft>
            </a:pPr>
            <a:r>
              <a:rPr lang="en-AU" sz="2200" dirty="0" smtClean="0">
                <a:latin typeface="Helvetica" pitchFamily="34" charset="0"/>
              </a:rPr>
              <a:t>Physical workplace location of the item</a:t>
            </a:r>
          </a:p>
          <a:p>
            <a:pPr>
              <a:spcBef>
                <a:spcPts val="600"/>
              </a:spcBef>
              <a:spcAft>
                <a:spcPts val="1200"/>
              </a:spcAft>
              <a:buNone/>
            </a:pPr>
            <a:r>
              <a:rPr lang="en-US" sz="2200" b="1" dirty="0" smtClean="0">
                <a:solidFill>
                  <a:srgbClr val="FF6600"/>
                </a:solidFill>
                <a:latin typeface="Helvetica" pitchFamily="34" charset="0"/>
              </a:rPr>
              <a:t>COMPLETE ACTIVITY 22</a:t>
            </a:r>
          </a:p>
          <a:p>
            <a:pPr>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descr="shutterstock_141288652.jpg"/>
          <p:cNvPicPr/>
          <p:nvPr/>
        </p:nvPicPr>
        <p:blipFill>
          <a:blip r:embed="rId3" cstate="print"/>
          <a:stretch>
            <a:fillRect/>
          </a:stretch>
        </p:blipFill>
        <p:spPr>
          <a:xfrm>
            <a:off x="6372200" y="3861048"/>
            <a:ext cx="1713865" cy="1143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8280920" cy="4680520"/>
          </a:xfrm>
        </p:spPr>
        <p:txBody>
          <a:bodyPr>
            <a:normAutofit/>
          </a:bodyPr>
          <a:lstStyle/>
          <a:p>
            <a:pPr marL="0">
              <a:buNone/>
            </a:pPr>
            <a:r>
              <a:rPr lang="en-AU" sz="4000" b="1" dirty="0" smtClean="0">
                <a:solidFill>
                  <a:srgbClr val="FF6600"/>
                </a:solidFill>
                <a:latin typeface="Helvetica" pitchFamily="34" charset="0"/>
              </a:rPr>
              <a:t>Element 3:</a:t>
            </a:r>
          </a:p>
          <a:p>
            <a:pPr marL="0">
              <a:buNone/>
            </a:pPr>
            <a:r>
              <a:rPr lang="en-US" sz="4000" dirty="0" smtClean="0">
                <a:solidFill>
                  <a:srgbClr val="FF6600"/>
                </a:solidFill>
              </a:rPr>
              <a:t>Maintain computer equipment and systems</a:t>
            </a:r>
            <a:endParaRPr lang="en-US" sz="4000"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descr="comp 4.png"/>
          <p:cNvPicPr>
            <a:picLocks noChangeAspect="1"/>
          </p:cNvPicPr>
          <p:nvPr/>
        </p:nvPicPr>
        <p:blipFill>
          <a:blip r:embed="rId3" cstate="print"/>
          <a:stretch>
            <a:fillRect/>
          </a:stretch>
        </p:blipFill>
        <p:spPr>
          <a:xfrm>
            <a:off x="5220072" y="3645024"/>
            <a:ext cx="1905000" cy="1905000"/>
          </a:xfrm>
          <a:prstGeom prst="rect">
            <a:avLst/>
          </a:prstGeom>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Maintain computer equipment and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Establish and monitor systems for cleaning, minor maintenance and replacement of consumables in accordance with manufacturer’s instructions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Report faults to the nominated person or supplier for rectification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Establish and monitor procedures for ensuring security of data, including regular back-ups and virus checks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descr="A24 shutterstock_186950579.jpg"/>
          <p:cNvPicPr>
            <a:picLocks noChangeAspect="1"/>
          </p:cNvPicPr>
          <p:nvPr/>
        </p:nvPicPr>
        <p:blipFill>
          <a:blip r:embed="rId3" cstate="print"/>
          <a:stretch>
            <a:fillRect/>
          </a:stretch>
        </p:blipFill>
        <p:spPr>
          <a:xfrm>
            <a:off x="3635896" y="5229200"/>
            <a:ext cx="1866352" cy="1177668"/>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Maintain computer equipment and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Create document filing systems and procedures to reflect the size, nature and complexity of the workplace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Set up equipment to accept the software and functions being used</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descr="shutterstock_148416917.jpg"/>
          <p:cNvPicPr>
            <a:picLocks noChangeAspect="1"/>
          </p:cNvPicPr>
          <p:nvPr/>
        </p:nvPicPr>
        <p:blipFill>
          <a:blip r:embed="rId3" cstate="print"/>
          <a:stretch>
            <a:fillRect/>
          </a:stretch>
        </p:blipFill>
        <p:spPr>
          <a:xfrm>
            <a:off x="3563888" y="4293096"/>
            <a:ext cx="2028056" cy="1472369"/>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Maintain computer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maintaining computer equipment and systems</a:t>
            </a:r>
          </a:p>
          <a:p>
            <a:pPr marL="0">
              <a:spcBef>
                <a:spcPts val="600"/>
              </a:spcBef>
              <a:spcAft>
                <a:spcPts val="1200"/>
              </a:spcAft>
              <a:buNone/>
            </a:pPr>
            <a:r>
              <a:rPr lang="en-AU" sz="2200" dirty="0" smtClean="0">
                <a:latin typeface="Helvetica" pitchFamily="34" charset="0"/>
              </a:rPr>
              <a:t>Now that new business computer systems are operational, there must be some mechanisms in place to ensure that the system and its individual components are maintained to perform at the best of their ability.</a:t>
            </a:r>
          </a:p>
          <a:p>
            <a:pPr>
              <a:spcBef>
                <a:spcPts val="600"/>
              </a:spcBef>
              <a:spcAft>
                <a:spcPts val="1200"/>
              </a:spcAft>
            </a:pPr>
            <a:r>
              <a:rPr lang="en-AU" sz="2200" dirty="0" smtClean="0">
                <a:latin typeface="Helvetica" pitchFamily="34" charset="0"/>
              </a:rPr>
              <a:t>What types of maintenance can be performed?</a:t>
            </a:r>
          </a:p>
          <a:p>
            <a:pPr>
              <a:spcBef>
                <a:spcPts val="600"/>
              </a:spcBef>
              <a:spcAft>
                <a:spcPts val="1200"/>
              </a:spcAft>
            </a:pPr>
            <a:r>
              <a:rPr lang="en-AU" sz="2200" dirty="0" smtClean="0">
                <a:latin typeface="Helvetica" pitchFamily="34" charset="0"/>
              </a:rPr>
              <a:t>How can you do it?</a:t>
            </a:r>
          </a:p>
          <a:p>
            <a:pPr>
              <a:spcBef>
                <a:spcPts val="600"/>
              </a:spcBef>
              <a:spcAft>
                <a:spcPts val="1200"/>
              </a:spcAft>
            </a:pPr>
            <a:r>
              <a:rPr lang="en-AU" sz="2200" dirty="0" smtClean="0">
                <a:latin typeface="Helvetica" pitchFamily="34" charset="0"/>
              </a:rPr>
              <a:t>How often should it be done?</a:t>
            </a: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shutterstock_161774276.jpg"/>
          <p:cNvPicPr/>
          <p:nvPr/>
        </p:nvPicPr>
        <p:blipFill>
          <a:blip r:embed="rId3" cstate="print"/>
          <a:stretch>
            <a:fillRect/>
          </a:stretch>
        </p:blipFill>
        <p:spPr>
          <a:xfrm>
            <a:off x="7524328" y="3933056"/>
            <a:ext cx="1228725" cy="17907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Maintain computer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lvl="0">
              <a:spcBef>
                <a:spcPts val="600"/>
              </a:spcBef>
              <a:spcAft>
                <a:spcPts val="1200"/>
              </a:spcAft>
              <a:buNone/>
            </a:pPr>
            <a:r>
              <a:rPr lang="en-AU" sz="2200" b="1" dirty="0" smtClean="0">
                <a:latin typeface="Helvetica" pitchFamily="34" charset="0"/>
              </a:rPr>
              <a:t>Types of maintenance</a:t>
            </a:r>
          </a:p>
          <a:p>
            <a:pPr lvl="0">
              <a:spcBef>
                <a:spcPts val="600"/>
              </a:spcBef>
              <a:spcAft>
                <a:spcPts val="1200"/>
              </a:spcAft>
            </a:pPr>
            <a:r>
              <a:rPr lang="en-AU" sz="2200" dirty="0" smtClean="0">
                <a:latin typeface="Helvetica" pitchFamily="34" charset="0"/>
              </a:rPr>
              <a:t>Preventative maintenance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Regular maintenance and servicing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Repairs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Physical cleaning of assets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Cleaning of systems and internal memory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Replacing consumables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6" name="Picture 5" descr="shutterstock_189087026.jpg"/>
          <p:cNvPicPr/>
          <p:nvPr/>
        </p:nvPicPr>
        <p:blipFill>
          <a:blip r:embed="rId3" cstate="print"/>
          <a:stretch>
            <a:fillRect/>
          </a:stretch>
        </p:blipFill>
        <p:spPr>
          <a:xfrm>
            <a:off x="6372200" y="2708920"/>
            <a:ext cx="1847850" cy="11620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Preventive maintenance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lvl="0">
              <a:spcBef>
                <a:spcPts val="600"/>
              </a:spcBef>
              <a:spcAft>
                <a:spcPts val="1200"/>
              </a:spcAft>
              <a:buNone/>
            </a:pPr>
            <a:r>
              <a:rPr lang="en-AU" sz="2200" b="1" dirty="0" smtClean="0">
                <a:latin typeface="Helvetica" pitchFamily="34" charset="0"/>
              </a:rPr>
              <a:t>Definition of preventative maintenance (PM)</a:t>
            </a:r>
            <a:endParaRPr lang="en-US" sz="2200" b="1" dirty="0" smtClean="0">
              <a:latin typeface="Helvetica" pitchFamily="34" charset="0"/>
            </a:endParaRPr>
          </a:p>
          <a:p>
            <a:pPr marL="0" lvl="0">
              <a:spcBef>
                <a:spcPts val="600"/>
              </a:spcBef>
              <a:spcAft>
                <a:spcPts val="1200"/>
              </a:spcAft>
              <a:buNone/>
            </a:pPr>
            <a:r>
              <a:rPr lang="en-AU" sz="2200" dirty="0" smtClean="0">
                <a:latin typeface="Helvetica" pitchFamily="34" charset="0"/>
              </a:rPr>
              <a:t>Maintenance that is regularly performed on a piece of equipment to lessen the likelihood of it failing.</a:t>
            </a:r>
          </a:p>
          <a:p>
            <a:pPr lvl="0">
              <a:spcBef>
                <a:spcPts val="600"/>
              </a:spcBef>
              <a:spcAft>
                <a:spcPts val="1200"/>
              </a:spcAft>
            </a:pPr>
            <a:r>
              <a:rPr lang="en-AU" sz="2200" dirty="0" smtClean="0">
                <a:latin typeface="Helvetica" pitchFamily="34" charset="0"/>
              </a:rPr>
              <a:t>What are examples of PM?</a:t>
            </a:r>
          </a:p>
          <a:p>
            <a:pPr lvl="0">
              <a:spcBef>
                <a:spcPts val="600"/>
              </a:spcBef>
              <a:spcAft>
                <a:spcPts val="1200"/>
              </a:spcAft>
            </a:pPr>
            <a:r>
              <a:rPr lang="en-AU" sz="2200" dirty="0" smtClean="0">
                <a:latin typeface="Helvetica" pitchFamily="34" charset="0"/>
              </a:rPr>
              <a:t>What are the benefits of a PM program?</a:t>
            </a:r>
          </a:p>
          <a:p>
            <a:pPr lvl="0">
              <a:spcBef>
                <a:spcPts val="600"/>
              </a:spcBef>
              <a:spcAft>
                <a:spcPts val="1200"/>
              </a:spcAft>
            </a:pPr>
            <a:r>
              <a:rPr lang="en-AU" sz="2200" dirty="0" smtClean="0">
                <a:latin typeface="Helvetica" pitchFamily="34" charset="0"/>
              </a:rPr>
              <a:t>What are the tasks associated with establishing a PM program?</a:t>
            </a:r>
          </a:p>
          <a:p>
            <a:pPr>
              <a:spcBef>
                <a:spcPts val="600"/>
              </a:spcBef>
              <a:spcAft>
                <a:spcPts val="1200"/>
              </a:spcAft>
              <a:buNone/>
            </a:pPr>
            <a:r>
              <a:rPr lang="en-US" sz="2200" b="1" dirty="0" smtClean="0">
                <a:solidFill>
                  <a:srgbClr val="FF6600"/>
                </a:solidFill>
                <a:latin typeface="Helvetica" pitchFamily="34" charset="0"/>
              </a:rPr>
              <a:t>COMPLETE ACTIVITY 23</a:t>
            </a: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7" name="Picture 6" descr="shutterstock_150502661.jpg"/>
          <p:cNvPicPr/>
          <p:nvPr/>
        </p:nvPicPr>
        <p:blipFill>
          <a:blip r:embed="rId3" cstate="print"/>
          <a:stretch>
            <a:fillRect/>
          </a:stretch>
        </p:blipFill>
        <p:spPr>
          <a:xfrm>
            <a:off x="6804248" y="2708920"/>
            <a:ext cx="1542544" cy="11239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Maintenance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Scheduling of maintenance</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Scheduling is the allocation of labour power, materials and equipment, at specific times and locations, for accomplishment of prescribed maintenance work.</a:t>
            </a:r>
          </a:p>
          <a:p>
            <a:pPr>
              <a:spcBef>
                <a:spcPts val="600"/>
              </a:spcBef>
              <a:spcAft>
                <a:spcPts val="1200"/>
              </a:spcAft>
            </a:pPr>
            <a:r>
              <a:rPr lang="en-AU" sz="2200" dirty="0" smtClean="0">
                <a:latin typeface="Helvetica" pitchFamily="34" charset="0"/>
              </a:rPr>
              <a:t>What are considerations when scheduling maintenance?</a:t>
            </a: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6" name="Picture 5" descr="shutterstock_166435832.jpg"/>
          <p:cNvPicPr/>
          <p:nvPr/>
        </p:nvPicPr>
        <p:blipFill>
          <a:blip r:embed="rId3" cstate="print"/>
          <a:stretch>
            <a:fillRect/>
          </a:stretch>
        </p:blipFill>
        <p:spPr>
          <a:xfrm>
            <a:off x="3347864" y="4221088"/>
            <a:ext cx="1989058" cy="142130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Maintenance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AU" sz="2200" b="1" dirty="0" smtClean="0">
                <a:latin typeface="Helvetica" pitchFamily="34" charset="0"/>
              </a:rPr>
              <a:t>Considerations when scheduling maintenance</a:t>
            </a:r>
          </a:p>
          <a:p>
            <a:pPr lvl="0">
              <a:spcBef>
                <a:spcPts val="600"/>
              </a:spcBef>
              <a:spcAft>
                <a:spcPts val="600"/>
              </a:spcAft>
            </a:pPr>
            <a:r>
              <a:rPr lang="en-AU" sz="2200" dirty="0" smtClean="0">
                <a:latin typeface="Helvetica" pitchFamily="34" charset="0"/>
              </a:rPr>
              <a:t>Labour available - in-house or contract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Materials and parts available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Special operation needs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Contingencies allowed for sudden emergency call-backs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Minimised impact on overall operability of the facility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Most efficient cost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Minimised customer awareness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Minimum downtime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Quick start-up and return to operability</a:t>
            </a:r>
            <a:endParaRPr lang="en-US" sz="2200" dirty="0" smtClean="0">
              <a:latin typeface="Helvetica" pitchFamily="34" charset="0"/>
            </a:endParaRPr>
          </a:p>
          <a:p>
            <a:pPr>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6" name="Picture 5" descr="shutterstock_166435832.jpg"/>
          <p:cNvPicPr/>
          <p:nvPr/>
        </p:nvPicPr>
        <p:blipFill>
          <a:blip r:embed="rId3" cstate="print"/>
          <a:stretch>
            <a:fillRect/>
          </a:stretch>
        </p:blipFill>
        <p:spPr>
          <a:xfrm>
            <a:off x="6516216" y="4653136"/>
            <a:ext cx="1989058" cy="142130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Repairs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Repairs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repair process returns a faulty computer system asset into an operational condition.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Something is broken on the asset and the repair process makes the machine functional again. </a:t>
            </a:r>
          </a:p>
          <a:p>
            <a:pPr>
              <a:spcBef>
                <a:spcPts val="600"/>
              </a:spcBef>
              <a:spcAft>
                <a:spcPts val="1200"/>
              </a:spcAft>
            </a:pPr>
            <a:r>
              <a:rPr lang="en-AU" sz="2200" dirty="0" smtClean="0">
                <a:latin typeface="Helvetica" pitchFamily="34" charset="0"/>
              </a:rPr>
              <a:t>What are examples of repairs?</a:t>
            </a:r>
          </a:p>
          <a:p>
            <a:pPr>
              <a:spcBef>
                <a:spcPts val="600"/>
              </a:spcBef>
              <a:spcAft>
                <a:spcPts val="1200"/>
              </a:spcAft>
            </a:pPr>
            <a:r>
              <a:rPr lang="en-AU" sz="2200" dirty="0" smtClean="0">
                <a:latin typeface="Helvetica" pitchFamily="34" charset="0"/>
              </a:rPr>
              <a:t>Who would perform these repairs?</a:t>
            </a:r>
            <a:endParaRPr lang="en-US" sz="2200" dirty="0" smtClean="0">
              <a:latin typeface="Helvetica" pitchFamily="34" charset="0"/>
            </a:endParaRPr>
          </a:p>
          <a:p>
            <a:pPr>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7" name="Picture 6" descr="comp 4.png"/>
          <p:cNvPicPr/>
          <p:nvPr/>
        </p:nvPicPr>
        <p:blipFill>
          <a:blip r:embed="rId3" cstate="print"/>
          <a:stretch>
            <a:fillRect/>
          </a:stretch>
        </p:blipFill>
        <p:spPr>
          <a:xfrm>
            <a:off x="5724128" y="3717032"/>
            <a:ext cx="1905000" cy="1905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Physical cleaning of computer assets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Physical cleaning of computer assets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An important part of ensuring computer system assets are maintained, hygienic and retain a professional and functional look, is through regular cleaning.</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assets need to be cleaned?</a:t>
            </a:r>
          </a:p>
          <a:p>
            <a:pPr>
              <a:spcBef>
                <a:spcPts val="600"/>
              </a:spcBef>
              <a:spcAft>
                <a:spcPts val="1200"/>
              </a:spcAft>
            </a:pPr>
            <a:r>
              <a:rPr lang="en-US" sz="2200" dirty="0" smtClean="0">
                <a:latin typeface="Helvetica" pitchFamily="34" charset="0"/>
              </a:rPr>
              <a:t>How would you clean them?</a:t>
            </a:r>
          </a:p>
          <a:p>
            <a:pPr>
              <a:spcBef>
                <a:spcPts val="600"/>
              </a:spcBef>
              <a:spcAft>
                <a:spcPts val="1200"/>
              </a:spcAft>
            </a:pPr>
            <a:r>
              <a:rPr lang="en-US" sz="2200" dirty="0" smtClean="0">
                <a:latin typeface="Helvetica" pitchFamily="34" charset="0"/>
              </a:rPr>
              <a:t>When should they be cleaned?</a:t>
            </a:r>
          </a:p>
          <a:p>
            <a:pPr>
              <a:spcBef>
                <a:spcPts val="600"/>
              </a:spcBef>
              <a:spcAft>
                <a:spcPts val="1200"/>
              </a:spcAft>
            </a:pPr>
            <a:r>
              <a:rPr lang="en-US" sz="2200" dirty="0" smtClean="0">
                <a:latin typeface="Helvetica" pitchFamily="34" charset="0"/>
              </a:rPr>
              <a:t>Who should clean them?</a:t>
            </a:r>
          </a:p>
          <a:p>
            <a:pPr>
              <a:spcBef>
                <a:spcPts val="600"/>
              </a:spcBef>
              <a:spcAft>
                <a:spcPts val="1200"/>
              </a:spcAft>
              <a:buNone/>
            </a:pPr>
            <a:r>
              <a:rPr lang="en-US" sz="2200" b="1" dirty="0" smtClean="0">
                <a:solidFill>
                  <a:srgbClr val="FF6600"/>
                </a:solidFill>
                <a:latin typeface="Helvetica" pitchFamily="34" charset="0"/>
              </a:rPr>
              <a:t>COMPLETE ACTIVITY 24</a:t>
            </a: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6" name="Picture 5" descr="comp 17.png"/>
          <p:cNvPicPr>
            <a:picLocks noChangeAspect="1"/>
          </p:cNvPicPr>
          <p:nvPr/>
        </p:nvPicPr>
        <p:blipFill>
          <a:blip r:embed="rId3" cstate="print"/>
          <a:stretch>
            <a:fillRect/>
          </a:stretch>
        </p:blipFill>
        <p:spPr>
          <a:xfrm>
            <a:off x="5629275" y="4653136"/>
            <a:ext cx="3514725" cy="12954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Cleaning of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6640" cy="5256584"/>
          </a:xfrm>
        </p:spPr>
        <p:txBody>
          <a:bodyPr>
            <a:normAutofit/>
          </a:bodyPr>
          <a:lstStyle/>
          <a:p>
            <a:pPr>
              <a:spcBef>
                <a:spcPts val="600"/>
              </a:spcBef>
              <a:spcAft>
                <a:spcPts val="600"/>
              </a:spcAft>
              <a:buNone/>
            </a:pPr>
            <a:r>
              <a:rPr lang="en-AU" sz="2200" b="1" dirty="0" smtClean="0">
                <a:latin typeface="Helvetica" pitchFamily="34" charset="0"/>
              </a:rPr>
              <a:t>Cleaning of systems and internal memory</a:t>
            </a:r>
            <a:endParaRPr lang="en-US" sz="2200" dirty="0" smtClean="0">
              <a:latin typeface="Helvetica" pitchFamily="34" charset="0"/>
            </a:endParaRPr>
          </a:p>
          <a:p>
            <a:pPr marL="0">
              <a:spcBef>
                <a:spcPts val="600"/>
              </a:spcBef>
              <a:spcAft>
                <a:spcPts val="600"/>
              </a:spcAft>
              <a:buNone/>
            </a:pPr>
            <a:r>
              <a:rPr lang="en-AU" sz="2200" dirty="0" smtClean="0">
                <a:latin typeface="Helvetica" pitchFamily="34" charset="0"/>
              </a:rPr>
              <a:t>Besides conducting an actual clean, 'internal cleans' may include: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Creating more space on the hard disk</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Reviewing programs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Deleting unwanted files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Cleaning dust from internal surfaces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Backing up files before major maintenance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Checking hard drive for errors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Decrementing the hard disk</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Using up-to-date anti-virus programs</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7" name="Picture 6" descr="comp 15.png"/>
          <p:cNvPicPr/>
          <p:nvPr/>
        </p:nvPicPr>
        <p:blipFill>
          <a:blip r:embed="rId3" cstate="print"/>
          <a:stretch>
            <a:fillRect/>
          </a:stretch>
        </p:blipFill>
        <p:spPr>
          <a:xfrm>
            <a:off x="6516216" y="2924944"/>
            <a:ext cx="1743075" cy="12858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Replacing consumables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Replacing consumables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order for a tourism organisation to be operating efficiently, it is essential that not only</a:t>
            </a:r>
            <a:r>
              <a:rPr lang="en-US" sz="2200" dirty="0" smtClean="0">
                <a:latin typeface="Helvetica" pitchFamily="34" charset="0"/>
              </a:rPr>
              <a:t> </a:t>
            </a:r>
            <a:r>
              <a:rPr lang="en-AU" sz="2200" dirty="0" smtClean="0">
                <a:latin typeface="Helvetica" pitchFamily="34" charset="0"/>
              </a:rPr>
              <a:t>can staff operate the computer system assets that exists within the office environment, but to also be able to identify and replace used technology consumables.</a:t>
            </a:r>
          </a:p>
          <a:p>
            <a:pPr>
              <a:spcBef>
                <a:spcPts val="600"/>
              </a:spcBef>
              <a:spcAft>
                <a:spcPts val="1200"/>
              </a:spcAft>
            </a:pPr>
            <a:r>
              <a:rPr lang="en-AU" sz="2200" dirty="0" smtClean="0">
                <a:latin typeface="Helvetica" pitchFamily="34" charset="0"/>
              </a:rPr>
              <a:t>What are examples of consumables?</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6" name="Picture 5" descr="comp 41.png"/>
          <p:cNvPicPr>
            <a:picLocks noChangeAspect="1"/>
          </p:cNvPicPr>
          <p:nvPr/>
        </p:nvPicPr>
        <p:blipFill>
          <a:blip r:embed="rId3" cstate="print"/>
          <a:stretch>
            <a:fillRect/>
          </a:stretch>
        </p:blipFill>
        <p:spPr>
          <a:xfrm>
            <a:off x="5796136" y="4437112"/>
            <a:ext cx="2667000" cy="17145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Replacing consumables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Replacing consumables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When preparing systems for replacement of consumables the following needs to be considered: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Where are the consumables stored?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When should they be re-ordered?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should be ordered?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are common 'unit' sizes?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How much should be ordered?</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7" name="Picture 6" descr="comp 21.jpg"/>
          <p:cNvPicPr/>
          <p:nvPr/>
        </p:nvPicPr>
        <p:blipFill>
          <a:blip r:embed="rId3" cstate="print"/>
          <a:stretch>
            <a:fillRect/>
          </a:stretch>
        </p:blipFill>
        <p:spPr>
          <a:xfrm>
            <a:off x="6516216" y="3068960"/>
            <a:ext cx="1514475" cy="15144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Replacing consumables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Replacing consumables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Use of manufacturer products?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Who should order?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From whom should they be ordered from?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Written record of consumables ordered?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Ordering process and authorisation?</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comp 42.png"/>
          <p:cNvPicPr>
            <a:picLocks noChangeAspect="1"/>
          </p:cNvPicPr>
          <p:nvPr/>
        </p:nvPicPr>
        <p:blipFill>
          <a:blip r:embed="rId3" cstate="print"/>
          <a:stretch>
            <a:fillRect/>
          </a:stretch>
        </p:blipFill>
        <p:spPr>
          <a:xfrm>
            <a:off x="6156176" y="4293096"/>
            <a:ext cx="2466975" cy="18478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Replacing consumables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1200"/>
              </a:spcAft>
              <a:buNone/>
            </a:pPr>
            <a:r>
              <a:rPr lang="en-AU" sz="2200" b="1" dirty="0" smtClean="0">
                <a:latin typeface="Helvetica" pitchFamily="34" charset="0"/>
              </a:rPr>
              <a:t>Training to replace consumables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As well as the physical process of replacing consumables, there may be operational considerations such as:</a:t>
            </a:r>
          </a:p>
          <a:p>
            <a:pPr>
              <a:spcBef>
                <a:spcPts val="600"/>
              </a:spcBef>
              <a:spcAft>
                <a:spcPts val="1200"/>
              </a:spcAft>
            </a:pPr>
            <a:r>
              <a:rPr lang="en-AU" sz="2200" dirty="0" smtClean="0">
                <a:latin typeface="Helvetica" pitchFamily="34" charset="0"/>
              </a:rPr>
              <a:t>Unscrewing screws</a:t>
            </a:r>
          </a:p>
          <a:p>
            <a:pPr>
              <a:spcBef>
                <a:spcPts val="600"/>
              </a:spcBef>
              <a:spcAft>
                <a:spcPts val="1200"/>
              </a:spcAft>
            </a:pPr>
            <a:r>
              <a:rPr lang="en-AU" sz="2200" dirty="0" smtClean="0">
                <a:latin typeface="Helvetica" pitchFamily="34" charset="0"/>
              </a:rPr>
              <a:t>Removing items</a:t>
            </a:r>
          </a:p>
          <a:p>
            <a:pPr>
              <a:spcBef>
                <a:spcPts val="600"/>
              </a:spcBef>
              <a:spcAft>
                <a:spcPts val="1200"/>
              </a:spcAft>
            </a:pPr>
            <a:r>
              <a:rPr lang="en-AU" sz="2200" dirty="0" smtClean="0">
                <a:latin typeface="Helvetica" pitchFamily="34" charset="0"/>
              </a:rPr>
              <a:t>Turning off equipment</a:t>
            </a:r>
          </a:p>
          <a:p>
            <a:pPr>
              <a:spcBef>
                <a:spcPts val="600"/>
              </a:spcBef>
              <a:spcAft>
                <a:spcPts val="1200"/>
              </a:spcAft>
            </a:pPr>
            <a:r>
              <a:rPr lang="en-AU" sz="2200" dirty="0" smtClean="0">
                <a:latin typeface="Helvetica" pitchFamily="34" charset="0"/>
              </a:rPr>
              <a:t>Performing back up of data</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25</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8" name="Picture 7" descr="comp 43.jpg"/>
          <p:cNvPicPr>
            <a:picLocks noChangeAspect="1"/>
          </p:cNvPicPr>
          <p:nvPr/>
        </p:nvPicPr>
        <p:blipFill>
          <a:blip r:embed="rId3" cstate="print"/>
          <a:stretch>
            <a:fillRect/>
          </a:stretch>
        </p:blipFill>
        <p:spPr>
          <a:xfrm>
            <a:off x="6156176" y="3140968"/>
            <a:ext cx="1521718" cy="212239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identifying faults</a:t>
            </a:r>
          </a:p>
          <a:p>
            <a:pPr marL="0">
              <a:spcBef>
                <a:spcPts val="600"/>
              </a:spcBef>
              <a:spcAft>
                <a:spcPts val="1200"/>
              </a:spcAft>
              <a:buNone/>
            </a:pPr>
            <a:r>
              <a:rPr lang="en-AU" sz="2200" dirty="0" smtClean="0">
                <a:latin typeface="Helvetica" pitchFamily="34" charset="0"/>
              </a:rPr>
              <a:t>Regardless of how much preventative maintenance you perform on your computer system assets, at times they will breakdown and faults will appear.</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When faults appear, it is important to ensure that: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They are identified in a prompt manner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correct procedures are in place to take the correct action to resolve the fault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descr="shutterstock_172830980.jpg"/>
          <p:cNvPicPr/>
          <p:nvPr/>
        </p:nvPicPr>
        <p:blipFill>
          <a:blip r:embed="rId3" cstate="print"/>
          <a:stretch>
            <a:fillRect/>
          </a:stretch>
        </p:blipFill>
        <p:spPr>
          <a:xfrm>
            <a:off x="6876256" y="5085184"/>
            <a:ext cx="1673860" cy="11144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Examples of common faults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Computer is too slow</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Internet downloads or uploads slow</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Computer won't start up</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Windows won't boot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Computer keeps restarting on its own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Monitor is blank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Abnormally functioning operating                                             system or software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6" name="Picture 5" descr="Comp 1.png"/>
          <p:cNvPicPr/>
          <p:nvPr/>
        </p:nvPicPr>
        <p:blipFill>
          <a:blip r:embed="rId3" cstate="print"/>
          <a:stretch>
            <a:fillRect/>
          </a:stretch>
        </p:blipFill>
        <p:spPr>
          <a:xfrm>
            <a:off x="6300192" y="2852936"/>
            <a:ext cx="2076450" cy="12954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Examples of common faults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Strange noises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Overheating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Pop-up ads keep appearing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READY light is not lit, or is glowing 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Self-test labels will not print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Labels will not feed, or feed continuously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Flat batteries, or batteries have been removed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Examples of common faults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Electricity cord has been accidentally knocked out or the plug has been removed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Printer won't work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Poor print quality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Internet not connecting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Wi-Fi keeps disconnecting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Data or other connections have                                              worked loose, or dropped out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descr="comp 8.png"/>
          <p:cNvPicPr/>
          <p:nvPr/>
        </p:nvPicPr>
        <p:blipFill>
          <a:blip r:embed="rId3" cstate="print"/>
          <a:stretch>
            <a:fillRect/>
          </a:stretch>
        </p:blipFill>
        <p:spPr>
          <a:xfrm>
            <a:off x="6156176" y="3212976"/>
            <a:ext cx="1676400" cy="16764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a:spcBef>
                <a:spcPts val="600"/>
              </a:spcBef>
              <a:spcAft>
                <a:spcPts val="1200"/>
              </a:spcAft>
              <a:buNone/>
            </a:pPr>
            <a:r>
              <a:rPr lang="en-AU" sz="2200" b="1" dirty="0" smtClean="0">
                <a:latin typeface="Helvetica" pitchFamily="34" charset="0"/>
              </a:rPr>
              <a:t>Examples of common faults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Can't open email attachments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Can't email other people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Programs aren't working on your PC</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Power point is switched ‘on’ but the machine is turned ‘off’</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Scanner not reading at all, reading partially, or reading incorrectly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Lack of signal from scanner to register                                    /terminal – host stops responding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Toner or ink has run out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6" name="Picture 5" descr="comp 41.png"/>
          <p:cNvPicPr>
            <a:picLocks noChangeAspect="1"/>
          </p:cNvPicPr>
          <p:nvPr/>
        </p:nvPicPr>
        <p:blipFill>
          <a:blip r:embed="rId3" cstate="print"/>
          <a:stretch>
            <a:fillRect/>
          </a:stretch>
        </p:blipFill>
        <p:spPr>
          <a:xfrm>
            <a:off x="6468210" y="4869160"/>
            <a:ext cx="1994925" cy="128245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a:spcBef>
                <a:spcPts val="600"/>
              </a:spcBef>
              <a:spcAft>
                <a:spcPts val="1200"/>
              </a:spcAft>
              <a:buNone/>
            </a:pPr>
            <a:r>
              <a:rPr lang="en-AU" sz="2200" b="1" dirty="0" smtClean="0">
                <a:latin typeface="Helvetica" pitchFamily="34" charset="0"/>
              </a:rPr>
              <a:t>Examples of common faults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Paper-rolls have run out, or paper has jammed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EFTPOS landline connection cannot be made to the bank, or connection is very slow</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Equipment malfunction or breakdown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Power failure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Operator error has caused the system                                     or equipment to freeze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Screen is frozen</a:t>
            </a:r>
            <a:endParaRPr lang="en-US" sz="2400" b="1" dirty="0" smtClean="0">
              <a:solidFill>
                <a:srgbClr val="FF6600"/>
              </a:solidFill>
              <a:latin typeface="Helvetica" pitchFamily="34" charset="0"/>
            </a:endParaRPr>
          </a:p>
          <a:p>
            <a:pPr>
              <a:buNone/>
            </a:pPr>
            <a:r>
              <a:rPr lang="en-US" sz="2400" b="1" dirty="0" smtClean="0">
                <a:solidFill>
                  <a:srgbClr val="FF6600"/>
                </a:solidFill>
                <a:latin typeface="Helvetica" pitchFamily="34" charset="0"/>
              </a:rPr>
              <a:t>COMPLETE ACTIVITY 26</a:t>
            </a:r>
          </a:p>
          <a:p>
            <a:pPr lvl="0">
              <a:buNone/>
            </a:pPr>
            <a:endParaRPr lang="en-AU" sz="2400" dirty="0" smtClean="0"/>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7" name="Picture 6" descr="comp 16.png"/>
          <p:cNvPicPr/>
          <p:nvPr/>
        </p:nvPicPr>
        <p:blipFill>
          <a:blip r:embed="rId3" cstate="print"/>
          <a:stretch>
            <a:fillRect/>
          </a:stretch>
        </p:blipFill>
        <p:spPr>
          <a:xfrm>
            <a:off x="6660232" y="3933056"/>
            <a:ext cx="1847850" cy="15621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Identifying or anticipating faults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preparation of a scheduled maintenance program</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Routine checking of equipment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Reading the instruction booklets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Encouraging feedback from colleagues</a:t>
            </a:r>
          </a:p>
          <a:p>
            <a:pPr>
              <a:spcBef>
                <a:spcPts val="600"/>
              </a:spcBef>
              <a:spcAft>
                <a:spcPts val="1200"/>
              </a:spcAft>
            </a:pPr>
            <a:r>
              <a:rPr lang="en-AU" sz="2200" dirty="0" smtClean="0">
                <a:latin typeface="Helvetica" pitchFamily="34" charset="0"/>
              </a:rPr>
              <a:t>Keeping a log book of detected faults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Performing regular OSH inspections</a:t>
            </a:r>
            <a:endParaRPr lang="en-US" sz="2200" dirty="0" smtClean="0">
              <a:latin typeface="Helvetica" pitchFamily="34" charset="0"/>
            </a:endParaRPr>
          </a:p>
          <a:p>
            <a:endParaRPr lang="en-US" sz="2400" dirty="0" smtClean="0"/>
          </a:p>
          <a:p>
            <a:pPr lvl="0">
              <a:buNone/>
            </a:pPr>
            <a:endParaRPr lang="en-AU" sz="2400" dirty="0" smtClean="0"/>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6" name="Picture 5" descr="W613_shutterstock_141289600.jpg"/>
          <p:cNvPicPr/>
          <p:nvPr/>
        </p:nvPicPr>
        <p:blipFill>
          <a:blip r:embed="rId3" cstate="print"/>
          <a:stretch>
            <a:fillRect/>
          </a:stretch>
        </p:blipFill>
        <p:spPr>
          <a:xfrm>
            <a:off x="6660232" y="3212976"/>
            <a:ext cx="1721743" cy="11174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Actions to take when computer faults are identified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Note details of the fault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Notify the appropriate in-house IT expert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 manual for trouble shooting hints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Utilise help desk, on-line help, etc</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Call in IT support for a service call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Record notification of a service call</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Equipment should be removed from service</a:t>
            </a:r>
            <a:endParaRPr lang="en-US" sz="2200" dirty="0" smtClean="0">
              <a:latin typeface="Helvetica" pitchFamily="34" charset="0"/>
            </a:endParaRPr>
          </a:p>
          <a:p>
            <a:pPr lvl="0">
              <a:buNone/>
            </a:pPr>
            <a:endParaRPr lang="en-AU" sz="2400" dirty="0" smtClean="0"/>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7" name="Picture 6" descr="shutterstock_129508757.jpg"/>
          <p:cNvPicPr>
            <a:picLocks noChangeAspect="1"/>
          </p:cNvPicPr>
          <p:nvPr/>
        </p:nvPicPr>
        <p:blipFill>
          <a:blip r:embed="rId3" cstate="print"/>
          <a:stretch>
            <a:fillRect/>
          </a:stretch>
        </p:blipFill>
        <p:spPr>
          <a:xfrm>
            <a:off x="6588224" y="3356992"/>
            <a:ext cx="1741547" cy="115290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5445224"/>
          </a:xfrm>
        </p:spPr>
        <p:txBody>
          <a:bodyPr>
            <a:normAutofit/>
          </a:bodyPr>
          <a:lstStyle/>
          <a:p>
            <a:pPr>
              <a:spcBef>
                <a:spcPts val="600"/>
              </a:spcBef>
              <a:spcAft>
                <a:spcPts val="900"/>
              </a:spcAft>
              <a:buNone/>
            </a:pPr>
            <a:r>
              <a:rPr lang="en-AU" sz="2200" b="1" dirty="0" smtClean="0">
                <a:latin typeface="Helvetica" pitchFamily="34" charset="0"/>
              </a:rPr>
              <a:t>Actions to take when computer faults are identified</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Equipment should be labelled clearly as ‘Out of Service</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Equipment should be stored in the appropriate out of service area</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Appropriate report fault paperwork should be completed and submitted</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Returning the item to the supplier or forwarding it to an accredited repairer. </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In extreme cases, a new item may have                                                  to be purchased</a:t>
            </a:r>
            <a:endParaRPr lang="en-US" sz="2200" dirty="0" smtClean="0">
              <a:latin typeface="Helvetica" pitchFamily="34" charset="0"/>
            </a:endParaRPr>
          </a:p>
          <a:p>
            <a:pPr>
              <a:spcBef>
                <a:spcPts val="600"/>
              </a:spcBef>
              <a:spcAft>
                <a:spcPts val="900"/>
              </a:spcAft>
            </a:pPr>
            <a:r>
              <a:rPr lang="en-AU" sz="2200" dirty="0" smtClean="0">
                <a:latin typeface="Helvetica" pitchFamily="34" charset="0"/>
              </a:rPr>
              <a:t>Monitor repairs made</a:t>
            </a:r>
          </a:p>
          <a:p>
            <a:pPr lvl="0">
              <a:spcAft>
                <a:spcPts val="900"/>
              </a:spcAft>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descr="shutterstock_150502661.jpg"/>
          <p:cNvPicPr>
            <a:picLocks noChangeAspect="1"/>
          </p:cNvPicPr>
          <p:nvPr/>
        </p:nvPicPr>
        <p:blipFill>
          <a:blip r:embed="rId3" cstate="print"/>
          <a:stretch>
            <a:fillRect/>
          </a:stretch>
        </p:blipFill>
        <p:spPr>
          <a:xfrm>
            <a:off x="6732240" y="5013176"/>
            <a:ext cx="1979712" cy="131980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Note details of a fault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Person's name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Contact details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Email address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Sequence of events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Asset name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Model</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6" name="Picture 5" descr="shutterstock_115609774.jpg"/>
          <p:cNvPicPr/>
          <p:nvPr/>
        </p:nvPicPr>
        <p:blipFill>
          <a:blip r:embed="rId3" cstate="print"/>
          <a:stretch>
            <a:fillRect/>
          </a:stretch>
        </p:blipFill>
        <p:spPr>
          <a:xfrm>
            <a:off x="6012160" y="2708920"/>
            <a:ext cx="1866900" cy="14001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Identify, report and resolve faults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Note details of a fault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Finance officer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Problem description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contract number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Serial number of machine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Urgency of the problem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Access hours</a:t>
            </a:r>
            <a:endParaRPr lang="en-US" sz="2200" dirty="0" smtClean="0">
              <a:latin typeface="Helvetica" pitchFamily="34" charset="0"/>
            </a:endParaRPr>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5" name="Picture 4" descr="shutterstock_136866284.jpg"/>
          <p:cNvPicPr>
            <a:picLocks noChangeAspect="1"/>
          </p:cNvPicPr>
          <p:nvPr/>
        </p:nvPicPr>
        <p:blipFill>
          <a:blip r:embed="rId3" cstate="print"/>
          <a:stretch>
            <a:fillRect/>
          </a:stretch>
        </p:blipFill>
        <p:spPr>
          <a:xfrm>
            <a:off x="5868144" y="2636912"/>
            <a:ext cx="1747280" cy="19328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Using external specialists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AU" sz="2200" b="1" dirty="0" smtClean="0">
                <a:latin typeface="Helvetica" pitchFamily="34" charset="0"/>
              </a:rPr>
              <a:t>Using external specialist to conduct maintenance and servicing</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Specialised assistance may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External Information Technology (IT) support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Use of commercial ‘help’ desks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Manufacturer</a:t>
            </a:r>
            <a:endParaRPr lang="en-US" sz="2200" dirty="0" smtClean="0">
              <a:latin typeface="Helvetica" pitchFamily="34" charset="0"/>
            </a:endParaRPr>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6" name="Picture 5" descr="comp 4.png"/>
          <p:cNvPicPr/>
          <p:nvPr/>
        </p:nvPicPr>
        <p:blipFill>
          <a:blip r:embed="rId3" cstate="print"/>
          <a:stretch>
            <a:fillRect/>
          </a:stretch>
        </p:blipFill>
        <p:spPr>
          <a:xfrm>
            <a:off x="6228184" y="3789040"/>
            <a:ext cx="1818878" cy="174687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Using external specialists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Service details to be recorded</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Outside contractors should also leave a written/ or printed report detailing the following: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Work that they have done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 they have taken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Parts that they have replaced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Faults they have identified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Warrantees relating to repairs</a:t>
            </a:r>
          </a:p>
          <a:p>
            <a:pPr>
              <a:spcBef>
                <a:spcPts val="600"/>
              </a:spcBef>
              <a:spcAft>
                <a:spcPts val="1200"/>
              </a:spcAft>
              <a:buNone/>
            </a:pPr>
            <a:r>
              <a:rPr lang="en-US" sz="2200" b="1" dirty="0" smtClean="0">
                <a:solidFill>
                  <a:srgbClr val="FF6600"/>
                </a:solidFill>
                <a:latin typeface="Helvetica" pitchFamily="34" charset="0"/>
              </a:rPr>
              <a:t>COMPLETE ACTIVITY 27</a:t>
            </a:r>
          </a:p>
          <a:p>
            <a:pPr lvl="0">
              <a:spcBef>
                <a:spcPts val="600"/>
              </a:spcBef>
              <a:spcAft>
                <a:spcPts val="1200"/>
              </a:spcAft>
              <a:buNone/>
            </a:pPr>
            <a:endParaRPr lang="en-AU"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lvl="0">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7" name="Picture 6" descr="shutterstock_188933945.jpg"/>
          <p:cNvPicPr>
            <a:picLocks noChangeAspect="1"/>
          </p:cNvPicPr>
          <p:nvPr/>
        </p:nvPicPr>
        <p:blipFill>
          <a:blip r:embed="rId3" cstate="print"/>
          <a:stretch>
            <a:fillRect/>
          </a:stretch>
        </p:blipFill>
        <p:spPr>
          <a:xfrm>
            <a:off x="5652120" y="3284984"/>
            <a:ext cx="2498544" cy="16615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Secure and back up data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securing and backing up data</a:t>
            </a:r>
          </a:p>
          <a:p>
            <a:pPr marL="0">
              <a:spcBef>
                <a:spcPts val="600"/>
              </a:spcBef>
              <a:spcAft>
                <a:spcPts val="1200"/>
              </a:spcAft>
              <a:buNone/>
            </a:pPr>
            <a:r>
              <a:rPr lang="en-AU" sz="2200" dirty="0" smtClean="0">
                <a:latin typeface="Helvetica" pitchFamily="34" charset="0"/>
              </a:rPr>
              <a:t>In many cases, whilst the breakdown of hardware is a nuisance, the loss of data may be detrimental to an organisation.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other tasks that can be performed that will minimise the effect and loss of information due to computer system breakages or by theft of data.</a:t>
            </a:r>
          </a:p>
          <a:p>
            <a:pPr>
              <a:spcBef>
                <a:spcPts val="600"/>
              </a:spcBef>
              <a:spcAft>
                <a:spcPts val="1200"/>
              </a:spcAft>
            </a:pPr>
            <a:r>
              <a:rPr lang="en-AU" sz="2200" dirty="0" smtClean="0">
                <a:latin typeface="Helvetica" pitchFamily="34" charset="0"/>
              </a:rPr>
              <a:t>What tasks can be performed?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5" name="Picture 4" descr="comp 28.jpg"/>
          <p:cNvPicPr/>
          <p:nvPr/>
        </p:nvPicPr>
        <p:blipFill>
          <a:blip r:embed="rId3" cstate="print"/>
          <a:stretch>
            <a:fillRect/>
          </a:stretch>
        </p:blipFill>
        <p:spPr>
          <a:xfrm>
            <a:off x="7092280" y="4581128"/>
            <a:ext cx="1371600" cy="163487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Passwords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4896544"/>
          </a:xfrm>
        </p:spPr>
        <p:txBody>
          <a:bodyPr>
            <a:normAutofit/>
          </a:bodyPr>
          <a:lstStyle/>
          <a:p>
            <a:pPr>
              <a:spcBef>
                <a:spcPts val="600"/>
              </a:spcBef>
              <a:spcAft>
                <a:spcPts val="900"/>
              </a:spcAft>
              <a:buNone/>
            </a:pPr>
            <a:r>
              <a:rPr lang="en-AU" sz="2200" b="1" dirty="0" smtClean="0">
                <a:latin typeface="Helvetica" pitchFamily="34" charset="0"/>
              </a:rPr>
              <a:t>Establishing passwords</a:t>
            </a:r>
            <a:endParaRPr lang="en-US" sz="2200" dirty="0" smtClean="0">
              <a:latin typeface="Helvetica" pitchFamily="34" charset="0"/>
            </a:endParaRPr>
          </a:p>
          <a:p>
            <a:pPr marL="0">
              <a:spcBef>
                <a:spcPts val="600"/>
              </a:spcBef>
              <a:spcAft>
                <a:spcPts val="900"/>
              </a:spcAft>
              <a:buNone/>
            </a:pPr>
            <a:r>
              <a:rPr lang="en-AU" sz="2200" dirty="0" smtClean="0">
                <a:latin typeface="Helvetica" pitchFamily="34" charset="0"/>
              </a:rPr>
              <a:t>In order to protect the integrity of the system from unauthorised access and also to maintain the confidentiality of establishment information and customer details, it is usual for passwords to be used.</a:t>
            </a:r>
            <a:endParaRPr lang="en-US" sz="2200" dirty="0" smtClean="0">
              <a:latin typeface="Helvetica" pitchFamily="34" charset="0"/>
            </a:endParaRPr>
          </a:p>
          <a:p>
            <a:pPr>
              <a:spcBef>
                <a:spcPts val="600"/>
              </a:spcBef>
              <a:spcAft>
                <a:spcPts val="900"/>
              </a:spcAft>
            </a:pPr>
            <a:r>
              <a:rPr lang="en-AU" sz="2200" dirty="0" smtClean="0">
                <a:latin typeface="Helvetica" pitchFamily="34" charset="0"/>
              </a:rPr>
              <a:t>What is involved in establishing passwords?</a:t>
            </a:r>
          </a:p>
          <a:p>
            <a:pPr>
              <a:spcBef>
                <a:spcPts val="600"/>
              </a:spcBef>
              <a:spcAft>
                <a:spcPts val="900"/>
              </a:spcAft>
            </a:pPr>
            <a:r>
              <a:rPr lang="en-AU" sz="2200" dirty="0" smtClean="0">
                <a:latin typeface="Helvetica" pitchFamily="34" charset="0"/>
              </a:rPr>
              <a:t>What policies and procedures may apply to establishing and using passwords?</a:t>
            </a:r>
          </a:p>
          <a:p>
            <a:pPr>
              <a:spcBef>
                <a:spcPts val="600"/>
              </a:spcBef>
              <a:spcAft>
                <a:spcPts val="900"/>
              </a:spcAft>
            </a:pPr>
            <a:r>
              <a:rPr lang="en-AU" sz="2200" dirty="0" smtClean="0">
                <a:latin typeface="Helvetica" pitchFamily="34" charset="0"/>
              </a:rPr>
              <a:t>How can you make passwords as secure                                          as possible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4" descr="comp 27.png"/>
          <p:cNvPicPr/>
          <p:nvPr/>
        </p:nvPicPr>
        <p:blipFill>
          <a:blip r:embed="rId3" cstate="print"/>
          <a:stretch>
            <a:fillRect/>
          </a:stretch>
        </p:blipFill>
        <p:spPr>
          <a:xfrm>
            <a:off x="6804248" y="4797152"/>
            <a:ext cx="1724025" cy="1143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Prevent computer viruses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Computer viruses</a:t>
            </a:r>
          </a:p>
          <a:p>
            <a:pPr marL="0">
              <a:spcBef>
                <a:spcPts val="600"/>
              </a:spcBef>
              <a:spcAft>
                <a:spcPts val="1200"/>
              </a:spcAft>
              <a:buNone/>
            </a:pPr>
            <a:r>
              <a:rPr lang="en-AU" sz="2200" dirty="0" smtClean="0">
                <a:latin typeface="Helvetica" pitchFamily="34" charset="0"/>
              </a:rPr>
              <a:t>Computer viruses are identified as small software programs that have been designed to spread from one computer to another and to negatively interfere with the operations of a computer.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How do they get into your computer?</a:t>
            </a:r>
          </a:p>
          <a:p>
            <a:pPr lvl="0">
              <a:spcBef>
                <a:spcPts val="600"/>
              </a:spcBef>
              <a:spcAft>
                <a:spcPts val="1200"/>
              </a:spcAft>
            </a:pPr>
            <a:r>
              <a:rPr lang="en-US" sz="2200" dirty="0" smtClean="0">
                <a:latin typeface="Helvetica" pitchFamily="34" charset="0"/>
              </a:rPr>
              <a:t>What damage can they do?</a:t>
            </a:r>
          </a:p>
          <a:p>
            <a:pPr lvl="0">
              <a:spcBef>
                <a:spcPts val="600"/>
              </a:spcBef>
              <a:spcAft>
                <a:spcPts val="1200"/>
              </a:spcAft>
            </a:pPr>
            <a:r>
              <a:rPr lang="en-US" sz="2200" dirty="0" smtClean="0">
                <a:latin typeface="Helvetica" pitchFamily="34" charset="0"/>
              </a:rPr>
              <a:t>How can you prevent or remove viruses?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6" name="Picture 5" descr="comp 30.jpg"/>
          <p:cNvPicPr/>
          <p:nvPr/>
        </p:nvPicPr>
        <p:blipFill>
          <a:blip r:embed="rId3" cstate="print"/>
          <a:stretch>
            <a:fillRect/>
          </a:stretch>
        </p:blipFill>
        <p:spPr>
          <a:xfrm>
            <a:off x="6804248" y="3429000"/>
            <a:ext cx="1881505" cy="14097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Prevent computer viruses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Damage caused by computer viruses</a:t>
            </a:r>
          </a:p>
          <a:p>
            <a:pPr marL="0">
              <a:spcBef>
                <a:spcPts val="600"/>
              </a:spcBef>
              <a:spcAft>
                <a:spcPts val="1200"/>
              </a:spcAft>
              <a:buNone/>
            </a:pPr>
            <a:r>
              <a:rPr lang="en-AU" sz="2200" dirty="0" smtClean="0">
                <a:latin typeface="Helvetica" pitchFamily="34" charset="0"/>
              </a:rPr>
              <a:t>There are endless computer viruses that exist, each with a detrimental purpose including: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Corrupt or delete data on your computer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Use your email program to spread itself to other computers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Erase all information on hard disks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5" name="Picture 4" descr="shutterstock_145676093.jpg"/>
          <p:cNvPicPr>
            <a:picLocks noChangeAspect="1"/>
          </p:cNvPicPr>
          <p:nvPr/>
        </p:nvPicPr>
        <p:blipFill>
          <a:blip r:embed="rId3" cstate="print"/>
          <a:stretch>
            <a:fillRect/>
          </a:stretch>
        </p:blipFill>
        <p:spPr>
          <a:xfrm>
            <a:off x="6263810" y="4581128"/>
            <a:ext cx="2292294" cy="15289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Prevent computer viruses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4896544"/>
          </a:xfrm>
        </p:spPr>
        <p:txBody>
          <a:bodyPr>
            <a:normAutofit/>
          </a:bodyPr>
          <a:lstStyle/>
          <a:p>
            <a:pPr>
              <a:spcBef>
                <a:spcPts val="600"/>
              </a:spcBef>
              <a:spcAft>
                <a:spcPts val="1200"/>
              </a:spcAft>
              <a:buNone/>
            </a:pPr>
            <a:r>
              <a:rPr lang="en-AU" sz="2200" b="1" dirty="0" smtClean="0">
                <a:latin typeface="Helvetica" pitchFamily="34" charset="0"/>
              </a:rPr>
              <a:t>The spread of computer viruses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One way to control viruses is to identify how viruses can be spread.</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 way computer viruses can spread includes: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Through internet downloads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 attachments in email messages or                                   instant messaging messages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Disguised as attachments of audio                                         and video files and images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6" name="Picture 5" descr="80.jpg"/>
          <p:cNvPicPr>
            <a:picLocks noChangeAspect="1"/>
          </p:cNvPicPr>
          <p:nvPr/>
        </p:nvPicPr>
        <p:blipFill>
          <a:blip r:embed="rId3" cstate="print"/>
          <a:stretch>
            <a:fillRect/>
          </a:stretch>
        </p:blipFill>
        <p:spPr>
          <a:xfrm>
            <a:off x="6228184" y="3645024"/>
            <a:ext cx="2121266" cy="141770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Prevent computer viruses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Control of computer viruses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The main aim of controlling viruses is to:</a:t>
            </a:r>
          </a:p>
          <a:p>
            <a:pPr lvl="0">
              <a:spcBef>
                <a:spcPts val="600"/>
              </a:spcBef>
              <a:spcAft>
                <a:spcPts val="1200"/>
              </a:spcAft>
            </a:pPr>
            <a:r>
              <a:rPr lang="en-US" sz="2200" dirty="0" smtClean="0">
                <a:latin typeface="Helvetica" pitchFamily="34" charset="0"/>
              </a:rPr>
              <a:t>Remove it</a:t>
            </a:r>
          </a:p>
          <a:p>
            <a:pPr lvl="0">
              <a:spcBef>
                <a:spcPts val="600"/>
              </a:spcBef>
              <a:spcAft>
                <a:spcPts val="1200"/>
              </a:spcAft>
            </a:pPr>
            <a:r>
              <a:rPr lang="en-US" sz="2200" dirty="0" smtClean="0">
                <a:latin typeface="Helvetica" pitchFamily="34" charset="0"/>
              </a:rPr>
              <a:t>Prevent further infection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7" name="Picture 6" descr="hj.jpg"/>
          <p:cNvPicPr>
            <a:picLocks noChangeAspect="1"/>
          </p:cNvPicPr>
          <p:nvPr/>
        </p:nvPicPr>
        <p:blipFill>
          <a:blip r:embed="rId3" cstate="print"/>
          <a:stretch>
            <a:fillRect/>
          </a:stretch>
        </p:blipFill>
        <p:spPr>
          <a:xfrm>
            <a:off x="5652120" y="2708920"/>
            <a:ext cx="2271442" cy="151713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Prevent computer viruses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Types of virus preventative actions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Examples of virus preventative actions include, but certainly not limited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Install antivirus tools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Keep computer current with latest updates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Run regular virus checks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Run regular scandisk facility</a:t>
            </a: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28</a:t>
            </a: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6" name="Picture 5" descr="80.jpg"/>
          <p:cNvPicPr>
            <a:picLocks noChangeAspect="1"/>
          </p:cNvPicPr>
          <p:nvPr/>
        </p:nvPicPr>
        <p:blipFill>
          <a:blip r:embed="rId3" cstate="print"/>
          <a:stretch>
            <a:fillRect/>
          </a:stretch>
        </p:blipFill>
        <p:spPr>
          <a:xfrm>
            <a:off x="6156176" y="4149080"/>
            <a:ext cx="2121266" cy="141770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Use computers safely</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4896544"/>
          </a:xfrm>
        </p:spPr>
        <p:txBody>
          <a:bodyPr>
            <a:normAutofit lnSpcReduction="10000"/>
          </a:bodyPr>
          <a:lstStyle/>
          <a:p>
            <a:pPr>
              <a:lnSpc>
                <a:spcPct val="110000"/>
              </a:lnSpc>
              <a:spcBef>
                <a:spcPts val="600"/>
              </a:spcBef>
              <a:spcAft>
                <a:spcPts val="900"/>
              </a:spcAft>
              <a:buNone/>
            </a:pPr>
            <a:r>
              <a:rPr lang="en-AU" sz="2200" b="1" dirty="0" smtClean="0">
                <a:latin typeface="Helvetica" pitchFamily="34" charset="0"/>
              </a:rPr>
              <a:t>Use computer systems in a safe and secure manner </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Use the technology in the correct manner</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Use the technology effectively</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Maintain security</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Staff should not use equipment for private use</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Do not use private discs or flash drives  in workplace computers</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Never allow customers or others to access or                           use establishment equipment</a:t>
            </a:r>
            <a:endParaRPr lang="en-US" sz="2200" dirty="0" smtClean="0">
              <a:latin typeface="Helvetica" pitchFamily="34" charset="0"/>
            </a:endParaRPr>
          </a:p>
          <a:p>
            <a:pPr lvl="0">
              <a:lnSpc>
                <a:spcPct val="110000"/>
              </a:lnSpc>
              <a:spcBef>
                <a:spcPts val="600"/>
              </a:spcBef>
              <a:spcAft>
                <a:spcPts val="900"/>
              </a:spcAft>
            </a:pPr>
            <a:r>
              <a:rPr lang="en-AU" sz="2200" dirty="0" smtClean="0">
                <a:latin typeface="Helvetica" pitchFamily="34" charset="0"/>
              </a:rPr>
              <a:t>Report any instances of breaches of protocols</a:t>
            </a:r>
            <a:endParaRPr lang="en-US" sz="2200" i="1" dirty="0" smtClean="0">
              <a:latin typeface="Helvetica" pitchFamily="34" charset="0"/>
            </a:endParaRPr>
          </a:p>
          <a:p>
            <a:pPr lvl="0">
              <a:lnSpc>
                <a:spcPct val="110000"/>
              </a:lnSpc>
              <a:spcBef>
                <a:spcPts val="600"/>
              </a:spcBef>
              <a:spcAft>
                <a:spcPts val="9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7" name="Picture 6" descr="shutterstock_2064163.jpg"/>
          <p:cNvPicPr/>
          <p:nvPr/>
        </p:nvPicPr>
        <p:blipFill>
          <a:blip r:embed="rId3" cstate="print"/>
          <a:stretch>
            <a:fillRect/>
          </a:stretch>
        </p:blipFill>
        <p:spPr>
          <a:xfrm>
            <a:off x="6660232" y="2132856"/>
            <a:ext cx="1547664" cy="107404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Back up data</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AU" sz="2200" b="1" dirty="0" smtClean="0">
                <a:latin typeface="Helvetica" pitchFamily="34" charset="0"/>
              </a:rPr>
              <a:t>Perform regular backups of data</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Despite our best efforts, despite all our preventative maintenance, and despite all the feedback in the world from staff, technology will still let us down.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One good way of minimising the adverse impacts of the computer crashing is to do regular backups of data.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 back-up is a second copy made to protect                                  your information against accidental loss or damage.</a:t>
            </a:r>
          </a:p>
          <a:p>
            <a:pPr>
              <a:spcBef>
                <a:spcPts val="600"/>
              </a:spcBef>
              <a:spcAft>
                <a:spcPts val="1200"/>
              </a:spcAft>
            </a:pPr>
            <a:r>
              <a:rPr lang="en-AU" sz="2200" dirty="0" smtClean="0">
                <a:latin typeface="Helvetica" pitchFamily="34" charset="0"/>
              </a:rPr>
              <a:t>What types of back-ups can be performed?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6" name="Picture 5" descr="comp 32.jpg"/>
          <p:cNvPicPr/>
          <p:nvPr/>
        </p:nvPicPr>
        <p:blipFill>
          <a:blip r:embed="rId3" cstate="print"/>
          <a:stretch>
            <a:fillRect/>
          </a:stretch>
        </p:blipFill>
        <p:spPr>
          <a:xfrm>
            <a:off x="7020272" y="5013176"/>
            <a:ext cx="1562100" cy="11715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Back up data</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Golden rules to backing up data</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 simple way to minimise the loss of information is to have three versions: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Original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Back up of the original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Back up of the back up</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addition it is vital to have back up versions                              stored in different secure locations</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7" name="Picture 6" descr="comp 19.png"/>
          <p:cNvPicPr>
            <a:picLocks noChangeAspect="1"/>
          </p:cNvPicPr>
          <p:nvPr/>
        </p:nvPicPr>
        <p:blipFill>
          <a:blip r:embed="rId3" cstate="print"/>
          <a:stretch>
            <a:fillRect/>
          </a:stretch>
        </p:blipFill>
        <p:spPr>
          <a:xfrm>
            <a:off x="6012160" y="3212976"/>
            <a:ext cx="2000765" cy="95421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AU" sz="3400" b="1" dirty="0" smtClean="0">
                <a:solidFill>
                  <a:srgbClr val="FF6600"/>
                </a:solidFill>
                <a:latin typeface="Helvetica" pitchFamily="34" charset="0"/>
              </a:rPr>
              <a:t>Back up data</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539552" y="1268760"/>
            <a:ext cx="6264696" cy="4896544"/>
          </a:xfrm>
        </p:spPr>
        <p:txBody>
          <a:bodyPr>
            <a:normAutofit/>
          </a:bodyPr>
          <a:lstStyle/>
          <a:p>
            <a:pPr>
              <a:spcBef>
                <a:spcPts val="600"/>
              </a:spcBef>
              <a:spcAft>
                <a:spcPts val="1200"/>
              </a:spcAft>
              <a:buNone/>
            </a:pPr>
            <a:r>
              <a:rPr lang="en-AU" sz="2200" b="1" dirty="0" smtClean="0">
                <a:latin typeface="Helvetica" pitchFamily="34" charset="0"/>
              </a:rPr>
              <a:t>Methods to back up data</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Online storage services - such as iDrive, iCloud, Dropbox, Carbonite, Google Drive, Mozy or SkyDrive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Consolidate data on different PC's and phones to one centralised point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External hard drives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Using backup software - such as Windows Backup</a:t>
            </a:r>
          </a:p>
          <a:p>
            <a:pPr>
              <a:spcBef>
                <a:spcPts val="600"/>
              </a:spcBef>
              <a:spcAft>
                <a:spcPts val="1200"/>
              </a:spcAft>
              <a:buNone/>
            </a:pPr>
            <a:r>
              <a:rPr lang="en-US" sz="2200" b="1" dirty="0" smtClean="0">
                <a:solidFill>
                  <a:srgbClr val="FF6600"/>
                </a:solidFill>
                <a:latin typeface="Helvetica" pitchFamily="34" charset="0"/>
              </a:rPr>
              <a:t>COMPLETE ACTIVITY 29</a:t>
            </a: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6" name="Picture 5" descr="comp 33.png"/>
          <p:cNvPicPr/>
          <p:nvPr/>
        </p:nvPicPr>
        <p:blipFill>
          <a:blip r:embed="rId3" cstate="print"/>
          <a:stretch>
            <a:fillRect/>
          </a:stretch>
        </p:blipFill>
        <p:spPr>
          <a:xfrm>
            <a:off x="6732240" y="2780928"/>
            <a:ext cx="1512168" cy="151216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Computer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Types of data management policies and procedures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Administration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Internal accounting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Authorised use of equipment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Security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Confidentiality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Timing and frequency requirements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 name="Picture 4" descr="A16 shutterstock_173793329.jpg"/>
          <p:cNvPicPr/>
          <p:nvPr/>
        </p:nvPicPr>
        <p:blipFill>
          <a:blip r:embed="rId3" cstate="print"/>
          <a:stretch>
            <a:fillRect/>
          </a:stretch>
        </p:blipFill>
        <p:spPr>
          <a:xfrm>
            <a:off x="6228184" y="2996952"/>
            <a:ext cx="1920240" cy="12001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Computer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4896544"/>
          </a:xfrm>
        </p:spPr>
        <p:txBody>
          <a:bodyPr>
            <a:normAutofit/>
          </a:bodyPr>
          <a:lstStyle/>
          <a:p>
            <a:pPr>
              <a:spcBef>
                <a:spcPts val="600"/>
              </a:spcBef>
              <a:spcAft>
                <a:spcPts val="1200"/>
              </a:spcAft>
              <a:buNone/>
            </a:pPr>
            <a:r>
              <a:rPr lang="en-AU" sz="2200" b="1" dirty="0" smtClean="0">
                <a:latin typeface="Helvetica" pitchFamily="34" charset="0"/>
              </a:rPr>
              <a:t>Storing data</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Storage in directories and sub-directories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Storage on hard drives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Storage on networked computers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Appropriate filing and storage of hard copies of computer-generated documents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6" name="Picture 5" descr="comp 31.png"/>
          <p:cNvPicPr/>
          <p:nvPr/>
        </p:nvPicPr>
        <p:blipFill>
          <a:blip r:embed="rId3" cstate="print"/>
          <a:stretch>
            <a:fillRect/>
          </a:stretch>
        </p:blipFill>
        <p:spPr>
          <a:xfrm>
            <a:off x="3491880" y="4509120"/>
            <a:ext cx="2088232" cy="152601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Computer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6408712" cy="5445224"/>
          </a:xfrm>
        </p:spPr>
        <p:txBody>
          <a:bodyPr>
            <a:normAutofit lnSpcReduction="10000"/>
          </a:bodyPr>
          <a:lstStyle/>
          <a:p>
            <a:pPr>
              <a:spcBef>
                <a:spcPts val="600"/>
              </a:spcBef>
              <a:spcAft>
                <a:spcPts val="600"/>
              </a:spcAft>
              <a:buNone/>
            </a:pPr>
            <a:r>
              <a:rPr lang="en-AU" sz="2000" b="1" dirty="0" smtClean="0">
                <a:latin typeface="Helvetica" pitchFamily="34" charset="0"/>
              </a:rPr>
              <a:t>Key outcomes of a data management system</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All data will be managed in accordance with set organisational procedures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All staff understand what constitutes official data</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Business activities are to be documented in the form of records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Any data or record can be retrieved easily when requested</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All data must be stored safely and securely</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Archived data will be managed in accordance                         with legislative requirements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Intellectual Property is captured, maintained and protected</a:t>
            </a:r>
          </a:p>
          <a:p>
            <a:pPr>
              <a:spcBef>
                <a:spcPts val="600"/>
              </a:spcBef>
              <a:spcAft>
                <a:spcPts val="600"/>
              </a:spcAft>
              <a:buNone/>
            </a:pPr>
            <a:r>
              <a:rPr lang="en-US" sz="2000" b="1" dirty="0" smtClean="0">
                <a:solidFill>
                  <a:srgbClr val="FF6600"/>
                </a:solidFill>
                <a:latin typeface="Helvetica" pitchFamily="34" charset="0"/>
              </a:rPr>
              <a:t>COMPLETE ACTIVITY 30</a:t>
            </a:r>
          </a:p>
          <a:p>
            <a:pPr lvl="0">
              <a:spcBef>
                <a:spcPts val="600"/>
              </a:spcBef>
              <a:spcAft>
                <a:spcPts val="600"/>
              </a:spcAft>
            </a:pP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8" name="Picture 7" descr="1d.jpg"/>
          <p:cNvPicPr>
            <a:picLocks noChangeAspect="1"/>
          </p:cNvPicPr>
          <p:nvPr/>
        </p:nvPicPr>
        <p:blipFill>
          <a:blip r:embed="rId3" cstate="print"/>
          <a:stretch>
            <a:fillRect/>
          </a:stretch>
        </p:blipFill>
        <p:spPr>
          <a:xfrm>
            <a:off x="7164288" y="2924944"/>
            <a:ext cx="1703442" cy="114108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817</TotalTime>
  <Words>9210</Words>
  <Application>Microsoft Office PowerPoint</Application>
  <PresentationFormat>On-screen Show (4:3)</PresentationFormat>
  <Paragraphs>1956</Paragraphs>
  <Slides>150</Slides>
  <Notes>150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150</vt:i4>
      </vt:variant>
    </vt:vector>
  </HeadingPairs>
  <TitlesOfParts>
    <vt:vector size="154" baseType="lpstr">
      <vt:lpstr>Arial</vt:lpstr>
      <vt:lpstr>Helvetica</vt:lpstr>
      <vt:lpstr>Wingdings 2</vt:lpstr>
      <vt:lpstr>PPT_Tour_operation_&amp;_travel_agencies_template_130214</vt:lpstr>
      <vt:lpstr>MONITOR AND MAINTAIN A BUSINESS COMPUTER SYSTEM</vt:lpstr>
      <vt:lpstr>Subject elements</vt:lpstr>
      <vt:lpstr>Assessment</vt:lpstr>
      <vt:lpstr>PowerPoint Presentation</vt:lpstr>
      <vt:lpstr>Monitor effectiveness of computer equipment</vt:lpstr>
      <vt:lpstr>Business computer system</vt:lpstr>
      <vt:lpstr>Business computer system</vt:lpstr>
      <vt:lpstr>Business computer system</vt:lpstr>
      <vt:lpstr>Business computer system</vt:lpstr>
      <vt:lpstr>Identify computer system needs</vt:lpstr>
      <vt:lpstr>Identify computer system needs</vt:lpstr>
      <vt:lpstr>Identify computer system needs</vt:lpstr>
      <vt:lpstr>Identify computer system needs</vt:lpstr>
      <vt:lpstr>Identify computer system needs</vt:lpstr>
      <vt:lpstr>Identify computer system needs</vt:lpstr>
      <vt:lpstr>Monitor effectiveness of current computer system</vt:lpstr>
      <vt:lpstr>Computer system asset management</vt:lpstr>
      <vt:lpstr>Computer system asset management</vt:lpstr>
      <vt:lpstr>Computer system asset management</vt:lpstr>
      <vt:lpstr>Computer system asset management</vt:lpstr>
      <vt:lpstr>PowerPoint Presentation</vt:lpstr>
      <vt:lpstr>Purchase hardware and software</vt:lpstr>
      <vt:lpstr>Purchase hardware and software</vt:lpstr>
      <vt:lpstr>Understand computer system assets</vt:lpstr>
      <vt:lpstr>Understand computer system assets</vt:lpstr>
      <vt:lpstr>Setting up a computer system/network</vt:lpstr>
      <vt:lpstr>Internet connectivity</vt:lpstr>
      <vt:lpstr>Internet connectivity</vt:lpstr>
      <vt:lpstr>Internet connectivity</vt:lpstr>
      <vt:lpstr>Internet connectivity</vt:lpstr>
      <vt:lpstr>Internet connectivity</vt:lpstr>
      <vt:lpstr>Internet connectivity</vt:lpstr>
      <vt:lpstr>Wired and wireless networks </vt:lpstr>
      <vt:lpstr>Networking </vt:lpstr>
      <vt:lpstr>Networking </vt:lpstr>
      <vt:lpstr>Networking </vt:lpstr>
      <vt:lpstr>Networking </vt:lpstr>
      <vt:lpstr>Personal computers </vt:lpstr>
      <vt:lpstr>Personal computers </vt:lpstr>
      <vt:lpstr>Personal computers </vt:lpstr>
      <vt:lpstr>Monitors</vt:lpstr>
      <vt:lpstr>Keyboards</vt:lpstr>
      <vt:lpstr>Mouse</vt:lpstr>
      <vt:lpstr>Multifunction devices (MFDs)</vt:lpstr>
      <vt:lpstr>Computer back-up systems</vt:lpstr>
      <vt:lpstr>Computer back-up systems</vt:lpstr>
      <vt:lpstr>Software</vt:lpstr>
      <vt:lpstr>Software</vt:lpstr>
      <vt:lpstr>Tourism computer systems</vt:lpstr>
      <vt:lpstr>Tourism computer systems</vt:lpstr>
      <vt:lpstr>Tourism computer systems</vt:lpstr>
      <vt:lpstr>Assess computer system purchase options</vt:lpstr>
      <vt:lpstr>Assess computer system purchase options</vt:lpstr>
      <vt:lpstr>Assess computer system purchase options</vt:lpstr>
      <vt:lpstr>Assess computer system purchase options</vt:lpstr>
      <vt:lpstr>Assess computer system purchase options</vt:lpstr>
      <vt:lpstr>Assess computer system purchase options</vt:lpstr>
      <vt:lpstr>Assess computer system purchase options</vt:lpstr>
      <vt:lpstr>Assess computer system purchase options</vt:lpstr>
      <vt:lpstr>Assess computer system purchase options</vt:lpstr>
      <vt:lpstr>Key purchasing priorities</vt:lpstr>
      <vt:lpstr>Key purchasing priorities</vt:lpstr>
      <vt:lpstr>Computer support services</vt:lpstr>
      <vt:lpstr>Computer support services</vt:lpstr>
      <vt:lpstr>Seek external specialist assistance</vt:lpstr>
      <vt:lpstr>Seek external specialist assistance</vt:lpstr>
      <vt:lpstr>IT specialist services</vt:lpstr>
      <vt:lpstr>IT specialist services</vt:lpstr>
      <vt:lpstr>IT specialist services</vt:lpstr>
      <vt:lpstr>Make computer acquisition decision</vt:lpstr>
      <vt:lpstr>Cost–benefit analysis</vt:lpstr>
      <vt:lpstr>Cost–benefit analysis</vt:lpstr>
      <vt:lpstr>Cost–benefit analysis</vt:lpstr>
      <vt:lpstr>Cost–benefit analysis</vt:lpstr>
      <vt:lpstr>Cost–benefit analysis</vt:lpstr>
      <vt:lpstr>Methods of financing</vt:lpstr>
      <vt:lpstr>Making the final decision</vt:lpstr>
      <vt:lpstr>Implement new computer assets</vt:lpstr>
      <vt:lpstr>Implement new computer assets</vt:lpstr>
      <vt:lpstr>Implement new computer assets</vt:lpstr>
      <vt:lpstr>Implement new computer assets</vt:lpstr>
      <vt:lpstr>Implement new computer assets</vt:lpstr>
      <vt:lpstr>Implement new computer assets</vt:lpstr>
      <vt:lpstr>Implement new computer assets</vt:lpstr>
      <vt:lpstr>Implement new computer assets</vt:lpstr>
      <vt:lpstr>Review accompanying documents</vt:lpstr>
      <vt:lpstr>Identify potential problems</vt:lpstr>
      <vt:lpstr>Identify potential problems</vt:lpstr>
      <vt:lpstr>Identify potential problems</vt:lpstr>
      <vt:lpstr>Provide implementation support</vt:lpstr>
      <vt:lpstr>Ensure staff are trained</vt:lpstr>
      <vt:lpstr>Ensure staff are trained</vt:lpstr>
      <vt:lpstr>Ensure staff are trained</vt:lpstr>
      <vt:lpstr>Ensure staff are trained</vt:lpstr>
      <vt:lpstr>Ensure staff are trained</vt:lpstr>
      <vt:lpstr>Ensure staff are trained</vt:lpstr>
      <vt:lpstr>Ensure staff are trained</vt:lpstr>
      <vt:lpstr>Ensure staff are trained</vt:lpstr>
      <vt:lpstr>Ensure staff are trained</vt:lpstr>
      <vt:lpstr>Ensure staff are trained</vt:lpstr>
      <vt:lpstr>Ensure staff are trained</vt:lpstr>
      <vt:lpstr>Ensure staff are trained</vt:lpstr>
      <vt:lpstr>Monitor new systems</vt:lpstr>
      <vt:lpstr>Monitor new systems</vt:lpstr>
      <vt:lpstr>Monitor new systems</vt:lpstr>
      <vt:lpstr>Monitor new systems</vt:lpstr>
      <vt:lpstr>Monitor new systems</vt:lpstr>
      <vt:lpstr>Monitor new systems</vt:lpstr>
      <vt:lpstr>PowerPoint Presentation</vt:lpstr>
      <vt:lpstr>Maintain computer equipment and systems</vt:lpstr>
      <vt:lpstr>Maintain computer equipment and systems</vt:lpstr>
      <vt:lpstr>Maintain computer equipment</vt:lpstr>
      <vt:lpstr>Maintain computer equipment</vt:lpstr>
      <vt:lpstr>Preventive maintenance </vt:lpstr>
      <vt:lpstr>Maintenance </vt:lpstr>
      <vt:lpstr>Maintenance </vt:lpstr>
      <vt:lpstr>Repairs </vt:lpstr>
      <vt:lpstr>Physical cleaning of computer assets </vt:lpstr>
      <vt:lpstr>Cleaning of system</vt:lpstr>
      <vt:lpstr>Replacing consumables</vt:lpstr>
      <vt:lpstr>Replacing consumables</vt:lpstr>
      <vt:lpstr>Replacing consumables</vt:lpstr>
      <vt:lpstr>Replacing consumables</vt:lpstr>
      <vt:lpstr>Identify, report and resolve faults</vt:lpstr>
      <vt:lpstr>Identify, report and resolve faults</vt:lpstr>
      <vt:lpstr>Identify, report and resolve faults</vt:lpstr>
      <vt:lpstr>Identify, report and resolve faults</vt:lpstr>
      <vt:lpstr>Identify, report and resolve faults</vt:lpstr>
      <vt:lpstr>Identify, report and resolve faults</vt:lpstr>
      <vt:lpstr>Identify, report and resolve faults</vt:lpstr>
      <vt:lpstr>Identify, report and resolve faults</vt:lpstr>
      <vt:lpstr>Identify, report and resolve faults</vt:lpstr>
      <vt:lpstr>Identify, report and resolve faults</vt:lpstr>
      <vt:lpstr>Identify, report and resolve faults</vt:lpstr>
      <vt:lpstr>Using external specialists</vt:lpstr>
      <vt:lpstr>Using external specialists</vt:lpstr>
      <vt:lpstr>Secure and back up data</vt:lpstr>
      <vt:lpstr>Passwords</vt:lpstr>
      <vt:lpstr>Prevent computer viruses</vt:lpstr>
      <vt:lpstr>Prevent computer viruses</vt:lpstr>
      <vt:lpstr>Prevent computer viruses</vt:lpstr>
      <vt:lpstr>Prevent computer viruses</vt:lpstr>
      <vt:lpstr>Prevent computer viruses</vt:lpstr>
      <vt:lpstr>Use computers safely</vt:lpstr>
      <vt:lpstr>Back up data</vt:lpstr>
      <vt:lpstr>Back up data</vt:lpstr>
      <vt:lpstr>Back up data</vt:lpstr>
      <vt:lpstr>Computer filing systems</vt:lpstr>
      <vt:lpstr>Computer filing systems</vt:lpstr>
      <vt:lpstr>Computer filing systems</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 AND MAINTAIN A BUSINESS COMPUTER SYSTEM</dc:title>
  <dc:creator>Mai Vu</dc:creator>
  <cp:lastModifiedBy>Carla Angelica Co</cp:lastModifiedBy>
  <cp:revision>120</cp:revision>
  <dcterms:created xsi:type="dcterms:W3CDTF">2014-03-25T02:35:38Z</dcterms:created>
  <dcterms:modified xsi:type="dcterms:W3CDTF">2016-07-18T02:21:29Z</dcterms:modified>
</cp:coreProperties>
</file>