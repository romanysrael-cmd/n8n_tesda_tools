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2" r:id="rId6"/>
    <p:sldId id="276" r:id="rId7"/>
    <p:sldId id="263" r:id="rId8"/>
    <p:sldId id="278" r:id="rId9"/>
    <p:sldId id="277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9" r:id="rId2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35" autoAdjust="0"/>
    <p:restoredTop sz="85562" autoAdjust="0"/>
  </p:normalViewPr>
  <p:slideViewPr>
    <p:cSldViewPr>
      <p:cViewPr>
        <p:scale>
          <a:sx n="90" d="100"/>
          <a:sy n="90" d="100"/>
        </p:scale>
        <p:origin x="-1788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864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E6916107-BD3A-45E2-B124-A5ED60630F4B}" type="datetimeFigureOut">
              <a:rPr lang="en-US" smtClean="0"/>
              <a:pPr/>
              <a:t>8/16/2012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5905CC0A-F53C-4267-913E-3202B6ED95E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BC34F173-2430-41D6-9CA5-C9CD3BDF7E96}" type="datetimeFigureOut">
              <a:rPr lang="en-US" smtClean="0"/>
              <a:pPr/>
              <a:t>8/16/2012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59" tIns="47380" rIns="94759" bIns="4738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006CD3C9-0AF2-437D-9D2F-7B6B298CC32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Trainer welcomes trainees to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 advises students this Unit comprises four Elements, as listed on the slide explaining: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Each Element comprises a number of Performance Criteria which will be identified throughout the class and explained in detail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Students can obtain more detail from their Trainee Manual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The course presents advice and information but where their workplace requirements differ to what is presented, the workplace practices and standards must be 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</a:t>
            </a:r>
            <a:r>
              <a:rPr lang="en-US" baseline="0" dirty="0" smtClean="0"/>
              <a:t> advises students that assessment for this Unit may take several forms all of which are aimed at verifying they have achieved competency for the Unit as required.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Trainer indicates to students the methods of assessment that will be applied to them for this Unit.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Performance criteria relating to Element 1</a:t>
            </a:r>
          </a:p>
          <a:p>
            <a:pPr>
              <a:buFont typeface="Arial" pitchFamily="34" charset="0"/>
              <a:buNone/>
            </a:pPr>
            <a:r>
              <a:rPr lang="en-AU" sz="2800" dirty="0" smtClean="0"/>
              <a:t>Identify and </a:t>
            </a:r>
            <a:r>
              <a:rPr lang="en-AU" sz="2800" i="1" dirty="0" smtClean="0"/>
              <a:t>select suppliers</a:t>
            </a:r>
            <a:r>
              <a:rPr lang="en-AU" sz="2800" dirty="0" smtClean="0"/>
              <a:t> for purchasing of products</a:t>
            </a:r>
            <a:endParaRPr lang="en-AU" sz="3200" dirty="0" smtClean="0"/>
          </a:p>
          <a:p>
            <a:pPr>
              <a:buFont typeface="Arial" pitchFamily="34" charset="0"/>
              <a:buNone/>
            </a:pPr>
            <a:r>
              <a:rPr lang="en-AU" sz="2800" dirty="0" smtClean="0"/>
              <a:t>Identify </a:t>
            </a:r>
            <a:r>
              <a:rPr lang="en-AU" sz="2800" i="1" dirty="0" smtClean="0"/>
              <a:t>cheese varieties</a:t>
            </a:r>
            <a:r>
              <a:rPr lang="en-AU" sz="2800" dirty="0" smtClean="0"/>
              <a:t> required by the enterprise</a:t>
            </a:r>
            <a:endParaRPr lang="en-AU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  <a:p>
            <a:r>
              <a:rPr lang="en-A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the quality of cheese required by the establishment requirements?</a:t>
            </a:r>
          </a:p>
          <a:p>
            <a:endParaRPr lang="en-A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range of products that the supplier has to offer?</a:t>
            </a:r>
          </a:p>
          <a:p>
            <a:endParaRPr lang="en-A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regular the supply is available?</a:t>
            </a:r>
          </a:p>
          <a:p>
            <a:endParaRPr lang="en-A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often the supplier can deliver to the establishment?</a:t>
            </a:r>
          </a:p>
          <a:p>
            <a:endParaRPr lang="en-A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cost of the product from the supplier to the establishment.</a:t>
            </a:r>
          </a:p>
          <a:p>
            <a:endParaRPr lang="en-A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A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AU" sz="2800" dirty="0" smtClean="0"/>
              <a:t>Bring product to appropriate </a:t>
            </a:r>
            <a:r>
              <a:rPr lang="en-AU" sz="2800" i="1" dirty="0" smtClean="0"/>
              <a:t>serving temperature</a:t>
            </a:r>
          </a:p>
          <a:p>
            <a:pPr>
              <a:buFont typeface="Arial" pitchFamily="34" charset="0"/>
              <a:buNone/>
            </a:pPr>
            <a:r>
              <a:rPr lang="en-AU" sz="2800" dirty="0" smtClean="0"/>
              <a:t>Use correct </a:t>
            </a:r>
            <a:r>
              <a:rPr lang="en-AU" sz="2800" i="1" dirty="0" smtClean="0"/>
              <a:t>preparation equipment </a:t>
            </a:r>
            <a:r>
              <a:rPr lang="en-AU" sz="2800" dirty="0" smtClean="0"/>
              <a:t>safely</a:t>
            </a:r>
            <a:endParaRPr lang="en-AU" sz="3200" dirty="0" smtClean="0"/>
          </a:p>
          <a:p>
            <a:pPr>
              <a:buFont typeface="Arial" pitchFamily="34" charset="0"/>
              <a:buNone/>
            </a:pPr>
            <a:r>
              <a:rPr lang="en-AU" sz="3200" dirty="0" smtClean="0"/>
              <a:t>Prepare required </a:t>
            </a:r>
            <a:r>
              <a:rPr lang="en-AU" sz="3200" i="1" dirty="0" smtClean="0"/>
              <a:t>garnishes and accompaniments</a:t>
            </a:r>
            <a:r>
              <a:rPr lang="en-AU" sz="3200" dirty="0" smtClean="0"/>
              <a:t> to compliment service style</a:t>
            </a:r>
            <a:endParaRPr lang="en-US" sz="6000" dirty="0" smtClean="0">
              <a:latin typeface="Helvetica" pitchFamily="34" charset="0"/>
            </a:endParaRP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Hygiene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discuss: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 marL="457200" indent="-45720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Present cheese to enterprise standards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</a:pPr>
            <a:endParaRPr lang="en-US" sz="1200" dirty="0" smtClean="0">
              <a:latin typeface="Helvetica" pitchFamily="34" charset="0"/>
            </a:endParaRPr>
          </a:p>
          <a:p>
            <a:pPr marL="457200" indent="-457200">
              <a:spcBef>
                <a:spcPts val="600"/>
              </a:spcBef>
              <a:spcAft>
                <a:spcPts val="1200"/>
              </a:spcAft>
            </a:pPr>
            <a:r>
              <a:rPr lang="en-US" sz="1200" dirty="0" smtClean="0">
                <a:latin typeface="Helvetica" pitchFamily="34" charset="0"/>
              </a:rPr>
              <a:t>Decorate cheese with complimentary garnishes and accompaniments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</a:p>
          <a:p>
            <a:pPr>
              <a:buFont typeface="Arial" pitchFamily="34" charset="0"/>
              <a:buNone/>
            </a:pPr>
            <a:endParaRPr lang="en-US" b="1" dirty="0" smtClean="0"/>
          </a:p>
          <a:p>
            <a:pPr>
              <a:buFont typeface="Arial" pitchFamily="34" charset="0"/>
              <a:buNone/>
            </a:pPr>
            <a:r>
              <a:rPr lang="en-A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Minimize wastage through correct purchasing practices</a:t>
            </a:r>
          </a:p>
          <a:p>
            <a:pPr>
              <a:buFont typeface="Arial" pitchFamily="34" charset="0"/>
              <a:buNone/>
            </a:pPr>
            <a:endParaRPr lang="en-A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r>
              <a:rPr lang="en-A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Minimize wastage through correct storage practices</a:t>
            </a:r>
          </a:p>
          <a:p>
            <a:pPr>
              <a:buFont typeface="Arial" pitchFamily="34" charset="0"/>
              <a:buNone/>
            </a:pPr>
            <a:endParaRPr lang="en-A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r>
              <a:rPr lang="en-A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 appropriate hygiene standards in the storage and handling of cheese</a:t>
            </a:r>
          </a:p>
          <a:p>
            <a:pPr>
              <a:buFont typeface="Arial" pitchFamily="34" charset="0"/>
              <a:buNone/>
            </a:pPr>
            <a:endParaRPr lang="en-AU" sz="14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and use cheese leftovers appropriately</a:t>
            </a:r>
          </a:p>
          <a:p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discuss</a:t>
            </a:r>
            <a:r>
              <a:rPr lang="en-US" b="1" baseline="0" dirty="0" smtClean="0"/>
              <a:t>:</a:t>
            </a:r>
          </a:p>
          <a:p>
            <a:pPr>
              <a:buFont typeface="Arial" pitchFamily="34" charset="0"/>
              <a:buNone/>
            </a:pPr>
            <a:endParaRPr lang="en-US" b="1" dirty="0" smtClean="0"/>
          </a:p>
          <a:p>
            <a:pPr>
              <a:buFont typeface="Arial" pitchFamily="34" charset="0"/>
              <a:buNone/>
            </a:pPr>
            <a:r>
              <a:rPr lang="en-AU" sz="1200" b="1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Minimize wastage</a:t>
            </a:r>
            <a:r>
              <a:rPr lang="en-A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through correct purchasing practices</a:t>
            </a:r>
          </a:p>
          <a:p>
            <a:pPr>
              <a:buFont typeface="Arial" pitchFamily="34" charset="0"/>
              <a:buNone/>
            </a:pPr>
            <a:endParaRPr lang="en-A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r>
              <a:rPr lang="en-A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Plan what is to be sold</a:t>
            </a:r>
            <a:r>
              <a:rPr lang="en-A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endParaRPr lang="en-A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r>
              <a:rPr lang="en-A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 to do, cheese keeps well, not like fresh fish.</a:t>
            </a:r>
          </a:p>
          <a:p>
            <a:pPr>
              <a:buFont typeface="Arial" pitchFamily="34" charset="0"/>
              <a:buNone/>
            </a:pPr>
            <a:r>
              <a:rPr lang="en-A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 some reserve</a:t>
            </a:r>
          </a:p>
          <a:p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dirty="0" smtClean="0"/>
          </a:p>
          <a:p>
            <a:pPr>
              <a:buFont typeface="Arial" pitchFamily="34" charset="0"/>
              <a:buNone/>
            </a:pPr>
            <a:endParaRPr lang="en-A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endParaRPr lang="en-A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r>
              <a:rPr lang="en-A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Minimize wastage through correct </a:t>
            </a:r>
            <a:r>
              <a:rPr lang="en-AU" sz="1200" b="1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 </a:t>
            </a:r>
            <a:r>
              <a:rPr lang="en-A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practices</a:t>
            </a:r>
          </a:p>
          <a:p>
            <a:pPr>
              <a:buFont typeface="Arial" pitchFamily="34" charset="0"/>
              <a:buNone/>
            </a:pPr>
            <a:endParaRPr lang="en-A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dirty="0" smtClean="0"/>
          </a:p>
          <a:p>
            <a:pPr>
              <a:buFont typeface="Arial" pitchFamily="34" charset="0"/>
              <a:buNone/>
            </a:pPr>
            <a:endParaRPr lang="en-A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endParaRPr lang="en-AU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itchFamily="34" charset="0"/>
              <a:buNone/>
            </a:pPr>
            <a:r>
              <a:rPr lang="en-A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 appropriate </a:t>
            </a:r>
            <a:r>
              <a:rPr lang="en-AU" sz="1200" b="1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hygiene</a:t>
            </a:r>
            <a:r>
              <a:rPr lang="en-A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standards in the storage and handling of cheese</a:t>
            </a:r>
          </a:p>
          <a:p>
            <a:pPr>
              <a:buFont typeface="Arial" pitchFamily="34" charset="0"/>
              <a:buNone/>
            </a:pPr>
            <a:endParaRPr lang="en-AU" sz="14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</a:t>
            </a:r>
            <a:r>
              <a:rPr lang="en-US" b="1" baseline="0" dirty="0" smtClean="0"/>
              <a:t> to </a:t>
            </a:r>
            <a:r>
              <a:rPr lang="en-US" b="1" baseline="0" dirty="0" smtClean="0"/>
              <a:t>discuss</a:t>
            </a:r>
            <a:endParaRPr lang="en-US" b="1" dirty="0" smtClean="0"/>
          </a:p>
          <a:p>
            <a:pPr>
              <a:buFont typeface="Arial" pitchFamily="34" charset="0"/>
              <a:buNone/>
            </a:pPr>
            <a:endParaRPr lang="en-AU" sz="14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A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and use cheese </a:t>
            </a:r>
            <a:r>
              <a:rPr lang="en-AU" sz="1200" b="1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leftovers </a:t>
            </a:r>
            <a:r>
              <a:rPr lang="en-A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appropriately</a:t>
            </a:r>
          </a:p>
          <a:p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</a:rPr>
              <a:t>At the end of this training session trainer congratulates trainees on its completion.</a:t>
            </a:r>
          </a:p>
          <a:p>
            <a:endParaRPr lang="en-US" b="1" dirty="0" smtClean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1B3287-BA52-490A-BEFC-A8DF381B09F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675B-16CB-449C-AA64-20E2E057E166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F223-D3A2-44F5-8051-829B2F23C0D4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FE7D-417D-483E-A327-7AED21196679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8DDC-366E-4D96-B475-59755FBFA064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C968-0B16-4ADF-91B3-C8ECABCFDA29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1DEA-061C-49D7-974B-38721BC66A5F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EFC2B-FC2E-46FA-B53A-48A270754B05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3B9F-1886-41EB-8596-DFD2474565B7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A6D77F6-049E-4E03-BBEC-9C9525B9448E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ABC8-BFBF-4030-9C7D-70F812C9AAE4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46A6-0262-42FF-B093-039AED07B7AD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0B9F9CF-7D2C-460C-8F3E-F6213A54EF65}" type="datetime1">
              <a:rPr lang="en-US" smtClean="0"/>
              <a:pPr/>
              <a:t>8/16/2012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90BDF71C-F485-43AE-8825-5070AF1EA8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6192" cy="1285884"/>
          </a:xfrm>
        </p:spPr>
        <p:txBody>
          <a:bodyPr>
            <a:normAutofit fontScale="90000"/>
          </a:bodyPr>
          <a:lstStyle/>
          <a:p>
            <a:r>
              <a:rPr lang="en-AU" sz="4000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SELECT PREPARE AND SERVE VARIOUS CHEESES</a:t>
            </a:r>
            <a:endParaRPr lang="en-US" sz="4000" dirty="0">
              <a:ln w="5000" cmpd="sng">
                <a:noFill/>
                <a:prstDash val="solid"/>
              </a:ln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24128" y="2204864"/>
            <a:ext cx="2613276" cy="357190"/>
          </a:xfrm>
        </p:spPr>
        <p:txBody>
          <a:bodyPr>
            <a:noAutofit/>
          </a:bodyPr>
          <a:lstStyle/>
          <a:p>
            <a:r>
              <a:rPr lang="en-AU" sz="2400" b="1" smtClean="0">
                <a:latin typeface="Helvetica" pitchFamily="34" charset="0"/>
              </a:rPr>
              <a:t>D1.HCC.CL2.21</a:t>
            </a:r>
            <a:endParaRPr lang="en-US" sz="2400" b="1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8" name="Picture 7" descr="Cheese and win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7584" y="1916832"/>
            <a:ext cx="4392488" cy="4392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467600" cy="107099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Select prepare and serve various cheeses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700808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b="1" dirty="0" smtClean="0">
                <a:latin typeface="Helvetica" pitchFamily="34" charset="0"/>
              </a:rPr>
              <a:t>This Unit comprises four elements</a:t>
            </a:r>
            <a:r>
              <a:rPr lang="en-US" sz="2400" dirty="0" smtClean="0">
                <a:latin typeface="Helvetica" pitchFamily="34" charset="0"/>
              </a:rPr>
              <a:t>: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</a:t>
            </a:fld>
            <a:endParaRPr lang="en-US" dirty="0">
              <a:latin typeface="Helvetica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683568" y="2419126"/>
            <a:ext cx="7488832" cy="3386138"/>
            <a:chOff x="1752600" y="2057400"/>
            <a:chExt cx="7488832" cy="3386138"/>
          </a:xfrm>
        </p:grpSpPr>
        <p:grpSp>
          <p:nvGrpSpPr>
            <p:cNvPr id="34" name="Group 4"/>
            <p:cNvGrpSpPr>
              <a:grpSpLocks/>
            </p:cNvGrpSpPr>
            <p:nvPr/>
          </p:nvGrpSpPr>
          <p:grpSpPr bwMode="auto">
            <a:xfrm>
              <a:off x="1752600" y="2057400"/>
              <a:ext cx="762000" cy="665163"/>
              <a:chOff x="1110" y="2656"/>
              <a:chExt cx="1549" cy="1351"/>
            </a:xfrm>
          </p:grpSpPr>
          <p:sp>
            <p:nvSpPr>
              <p:cNvPr id="59" name="AutoShape 5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AutoShape 6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AutoShape 7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/>
              </a:p>
            </p:txBody>
          </p:sp>
        </p:grpSp>
        <p:sp>
          <p:nvSpPr>
            <p:cNvPr id="35" name="Line 8"/>
            <p:cNvSpPr>
              <a:spLocks noChangeShapeType="1"/>
            </p:cNvSpPr>
            <p:nvPr/>
          </p:nvSpPr>
          <p:spPr bwMode="auto">
            <a:xfrm flipV="1">
              <a:off x="2362200" y="2633464"/>
              <a:ext cx="6591200" cy="33536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9"/>
            <p:cNvSpPr txBox="1">
              <a:spLocks noChangeArrowheads="1"/>
            </p:cNvSpPr>
            <p:nvPr/>
          </p:nvSpPr>
          <p:spPr bwMode="auto">
            <a:xfrm>
              <a:off x="2555776" y="2133600"/>
              <a:ext cx="6685656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200" smtClean="0">
                  <a:latin typeface="Helvetica" pitchFamily="34" charset="0"/>
                </a:rPr>
                <a:t>Select supplier to purchase cheese and equipment</a:t>
              </a:r>
              <a:endParaRPr lang="en-AU" sz="2200"/>
            </a:p>
          </p:txBody>
        </p:sp>
        <p:sp>
          <p:nvSpPr>
            <p:cNvPr id="37" name="Text Box 10"/>
            <p:cNvSpPr txBox="1">
              <a:spLocks noChangeArrowheads="1"/>
            </p:cNvSpPr>
            <p:nvPr/>
          </p:nvSpPr>
          <p:spPr bwMode="gray">
            <a:xfrm>
              <a:off x="1949450" y="2155825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>
                  <a:solidFill>
                    <a:schemeClr val="bg1"/>
                  </a:solidFill>
                </a:rPr>
                <a:t>1</a:t>
              </a:r>
            </a:p>
          </p:txBody>
        </p:sp>
        <p:grpSp>
          <p:nvGrpSpPr>
            <p:cNvPr id="38" name="Group 12"/>
            <p:cNvGrpSpPr>
              <a:grpSpLocks/>
            </p:cNvGrpSpPr>
            <p:nvPr/>
          </p:nvGrpSpPr>
          <p:grpSpPr bwMode="auto">
            <a:xfrm>
              <a:off x="1752600" y="2971800"/>
              <a:ext cx="762000" cy="665163"/>
              <a:chOff x="3174" y="2656"/>
              <a:chExt cx="1549" cy="1351"/>
            </a:xfrm>
          </p:grpSpPr>
          <p:sp>
            <p:nvSpPr>
              <p:cNvPr id="56" name="AutoShape 13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AutoShape 14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AutoShape 15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/>
              </a:p>
            </p:txBody>
          </p:sp>
        </p:grpSp>
        <p:sp>
          <p:nvSpPr>
            <p:cNvPr id="39" name="Line 16"/>
            <p:cNvSpPr>
              <a:spLocks noChangeShapeType="1"/>
            </p:cNvSpPr>
            <p:nvPr/>
          </p:nvSpPr>
          <p:spPr bwMode="auto">
            <a:xfrm flipV="1">
              <a:off x="2362200" y="3569568"/>
              <a:ext cx="3638872" cy="1183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17"/>
            <p:cNvSpPr txBox="1">
              <a:spLocks noChangeArrowheads="1"/>
            </p:cNvSpPr>
            <p:nvPr/>
          </p:nvSpPr>
          <p:spPr bwMode="auto">
            <a:xfrm>
              <a:off x="2555776" y="3048000"/>
              <a:ext cx="4662185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200" smtClean="0">
                  <a:latin typeface="Helvetica" pitchFamily="34" charset="0"/>
                </a:rPr>
                <a:t>Prepare cheese for service</a:t>
              </a:r>
              <a:endParaRPr lang="en-AU" sz="2200"/>
            </a:p>
          </p:txBody>
        </p:sp>
        <p:sp>
          <p:nvSpPr>
            <p:cNvPr id="41" name="Text Box 18"/>
            <p:cNvSpPr txBox="1">
              <a:spLocks noChangeArrowheads="1"/>
            </p:cNvSpPr>
            <p:nvPr/>
          </p:nvSpPr>
          <p:spPr bwMode="gray">
            <a:xfrm>
              <a:off x="1949450" y="3070225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>
                  <a:solidFill>
                    <a:schemeClr val="bg1"/>
                  </a:solidFill>
                </a:rPr>
                <a:t>2</a:t>
              </a:r>
            </a:p>
          </p:txBody>
        </p:sp>
        <p:grpSp>
          <p:nvGrpSpPr>
            <p:cNvPr id="42" name="Group 20"/>
            <p:cNvGrpSpPr>
              <a:grpSpLocks/>
            </p:cNvGrpSpPr>
            <p:nvPr/>
          </p:nvGrpSpPr>
          <p:grpSpPr bwMode="auto">
            <a:xfrm>
              <a:off x="1752600" y="3863975"/>
              <a:ext cx="762000" cy="665163"/>
              <a:chOff x="1110" y="2656"/>
              <a:chExt cx="1549" cy="1351"/>
            </a:xfrm>
          </p:grpSpPr>
          <p:sp>
            <p:nvSpPr>
              <p:cNvPr id="53" name="AutoShape 21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AutoShape 22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AutoShape 23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/>
              </a:p>
            </p:txBody>
          </p:sp>
        </p:grpSp>
        <p:sp>
          <p:nvSpPr>
            <p:cNvPr id="43" name="Line 24"/>
            <p:cNvSpPr>
              <a:spLocks noChangeShapeType="1"/>
            </p:cNvSpPr>
            <p:nvPr/>
          </p:nvSpPr>
          <p:spPr bwMode="auto">
            <a:xfrm flipV="1">
              <a:off x="2362200" y="4433664"/>
              <a:ext cx="2270720" cy="39911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Text Box 25"/>
            <p:cNvSpPr txBox="1">
              <a:spLocks noChangeArrowheads="1"/>
            </p:cNvSpPr>
            <p:nvPr/>
          </p:nvSpPr>
          <p:spPr bwMode="auto">
            <a:xfrm>
              <a:off x="2555776" y="3940175"/>
              <a:ext cx="3121699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457200" indent="-457200">
                <a:spcBef>
                  <a:spcPts val="600"/>
                </a:spcBef>
                <a:spcAft>
                  <a:spcPts val="1200"/>
                </a:spcAft>
                <a:buClrTx/>
                <a:buSzPct val="100000"/>
              </a:pPr>
              <a:r>
                <a:rPr lang="en-US" sz="2200" smtClean="0">
                  <a:latin typeface="Helvetica" pitchFamily="34" charset="0"/>
                </a:rPr>
                <a:t>Present cheese</a:t>
              </a:r>
            </a:p>
          </p:txBody>
        </p:sp>
        <p:sp>
          <p:nvSpPr>
            <p:cNvPr id="45" name="Text Box 26"/>
            <p:cNvSpPr txBox="1">
              <a:spLocks noChangeArrowheads="1"/>
            </p:cNvSpPr>
            <p:nvPr/>
          </p:nvSpPr>
          <p:spPr bwMode="gray">
            <a:xfrm>
              <a:off x="1949450" y="3962400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>
                  <a:solidFill>
                    <a:schemeClr val="bg1"/>
                  </a:solidFill>
                </a:rPr>
                <a:t>3</a:t>
              </a:r>
            </a:p>
          </p:txBody>
        </p:sp>
        <p:grpSp>
          <p:nvGrpSpPr>
            <p:cNvPr id="46" name="Group 28"/>
            <p:cNvGrpSpPr>
              <a:grpSpLocks/>
            </p:cNvGrpSpPr>
            <p:nvPr/>
          </p:nvGrpSpPr>
          <p:grpSpPr bwMode="auto">
            <a:xfrm>
              <a:off x="1752600" y="4778375"/>
              <a:ext cx="762000" cy="665163"/>
              <a:chOff x="3174" y="2656"/>
              <a:chExt cx="1549" cy="1351"/>
            </a:xfrm>
          </p:grpSpPr>
          <p:sp>
            <p:nvSpPr>
              <p:cNvPr id="50" name="AutoShape 29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AutoShape 30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AutoShape 31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/>
              </a:p>
            </p:txBody>
          </p:sp>
        </p:grpSp>
        <p:sp>
          <p:nvSpPr>
            <p:cNvPr id="47" name="Line 32"/>
            <p:cNvSpPr>
              <a:spLocks noChangeShapeType="1"/>
            </p:cNvSpPr>
            <p:nvPr/>
          </p:nvSpPr>
          <p:spPr bwMode="auto">
            <a:xfrm flipV="1">
              <a:off x="2362200" y="5369768"/>
              <a:ext cx="1982688" cy="18207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Text Box 33"/>
            <p:cNvSpPr txBox="1">
              <a:spLocks noChangeArrowheads="1"/>
            </p:cNvSpPr>
            <p:nvPr/>
          </p:nvSpPr>
          <p:spPr bwMode="auto">
            <a:xfrm>
              <a:off x="2555776" y="4854575"/>
              <a:ext cx="2796289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200" smtClean="0">
                  <a:latin typeface="Helvetica" pitchFamily="34" charset="0"/>
                </a:rPr>
                <a:t>Store cheese</a:t>
              </a:r>
              <a:endParaRPr lang="en-AU" sz="2200"/>
            </a:p>
          </p:txBody>
        </p:sp>
        <p:sp>
          <p:nvSpPr>
            <p:cNvPr id="49" name="Text Box 34"/>
            <p:cNvSpPr txBox="1">
              <a:spLocks noChangeArrowheads="1"/>
            </p:cNvSpPr>
            <p:nvPr/>
          </p:nvSpPr>
          <p:spPr bwMode="gray">
            <a:xfrm>
              <a:off x="1949450" y="4876800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7467600" cy="998984"/>
          </a:xfrm>
        </p:spPr>
        <p:txBody>
          <a:bodyPr>
            <a:no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Select prepare and serve various cheeses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Assessment for this Unit may include: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Oral questions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Written questions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 projects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Workplace observation of practical skills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Practical exercises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Formal report from employer/supervisor.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7" name="Picture 6" descr="MC900435252.PNG"/>
          <p:cNvPicPr>
            <a:picLocks noChangeAspect="1"/>
          </p:cNvPicPr>
          <p:nvPr/>
        </p:nvPicPr>
        <p:blipFill>
          <a:blip r:embed="rId3" cstate="print"/>
          <a:srcRect l="13745" r="12374" b="24401"/>
          <a:stretch>
            <a:fillRect/>
          </a:stretch>
        </p:blipFill>
        <p:spPr>
          <a:xfrm>
            <a:off x="6372200" y="2852936"/>
            <a:ext cx="2088232" cy="21367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467600" cy="926976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Select prepare and serve various cheeses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</a:t>
            </a:fld>
            <a:endParaRPr lang="en-US" dirty="0">
              <a:latin typeface="Helvetica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406598" y="1772816"/>
            <a:ext cx="8053389" cy="3833813"/>
            <a:chOff x="287337" y="1412776"/>
            <a:chExt cx="8053389" cy="3833813"/>
          </a:xfrm>
        </p:grpSpPr>
        <p:grpSp>
          <p:nvGrpSpPr>
            <p:cNvPr id="28" name="Group 5"/>
            <p:cNvGrpSpPr>
              <a:grpSpLocks/>
            </p:cNvGrpSpPr>
            <p:nvPr/>
          </p:nvGrpSpPr>
          <p:grpSpPr bwMode="auto">
            <a:xfrm>
              <a:off x="287337" y="1412776"/>
              <a:ext cx="8053389" cy="3833813"/>
              <a:chOff x="720" y="1248"/>
              <a:chExt cx="5073" cy="2415"/>
            </a:xfrm>
          </p:grpSpPr>
          <p:sp>
            <p:nvSpPr>
              <p:cNvPr id="30" name="AutoShape 6"/>
              <p:cNvSpPr>
                <a:spLocks noChangeArrowheads="1"/>
              </p:cNvSpPr>
              <p:nvPr/>
            </p:nvSpPr>
            <p:spPr bwMode="gray">
              <a:xfrm>
                <a:off x="720" y="1248"/>
                <a:ext cx="2415" cy="2415"/>
              </a:xfrm>
              <a:custGeom>
                <a:avLst/>
                <a:gdLst>
                  <a:gd name="G0" fmla="+- 1914 0 0"/>
                  <a:gd name="G1" fmla="+- 21600 0 1914"/>
                  <a:gd name="G2" fmla="+- 21600 0 1914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914" y="10800"/>
                    </a:moveTo>
                    <a:cubicBezTo>
                      <a:pt x="1914" y="15708"/>
                      <a:pt x="5892" y="19686"/>
                      <a:pt x="10800" y="19686"/>
                    </a:cubicBezTo>
                    <a:cubicBezTo>
                      <a:pt x="15708" y="19686"/>
                      <a:pt x="19686" y="15708"/>
                      <a:pt x="19686" y="10800"/>
                    </a:cubicBezTo>
                    <a:cubicBezTo>
                      <a:pt x="19686" y="5892"/>
                      <a:pt x="15708" y="1914"/>
                      <a:pt x="10800" y="1914"/>
                    </a:cubicBezTo>
                    <a:cubicBezTo>
                      <a:pt x="5892" y="1914"/>
                      <a:pt x="1914" y="5892"/>
                      <a:pt x="1914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hlink">
                      <a:gamma/>
                      <a:tint val="60784"/>
                      <a:invGamma/>
                      <a:alpha val="12000"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60784"/>
                      <a:invGamma/>
                      <a:alpha val="12000"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1" name="Oval 7"/>
              <p:cNvSpPr>
                <a:spLocks noChangeArrowheads="1"/>
              </p:cNvSpPr>
              <p:nvPr/>
            </p:nvSpPr>
            <p:spPr bwMode="gray">
              <a:xfrm>
                <a:off x="912" y="1440"/>
                <a:ext cx="2016" cy="2016"/>
              </a:xfrm>
              <a:prstGeom prst="ellipse">
                <a:avLst/>
              </a:prstGeom>
              <a:gradFill flip="none" rotWithShape="1"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8900000" scaled="1"/>
                <a:tileRect/>
              </a:gradFill>
              <a:ln w="28575" algn="ctr">
                <a:solidFill>
                  <a:srgbClr val="FFFF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2" name="AutoShape 10"/>
              <p:cNvSpPr>
                <a:spLocks noChangeArrowheads="1"/>
              </p:cNvSpPr>
              <p:nvPr/>
            </p:nvSpPr>
            <p:spPr bwMode="gray">
              <a:xfrm>
                <a:off x="2625" y="1792"/>
                <a:ext cx="3168" cy="46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tint val="5882"/>
                      <a:invGamma/>
                    </a:schemeClr>
                  </a:gs>
                </a:gsLst>
                <a:lin ang="0" scaled="1"/>
              </a:gradFill>
              <a:ln w="38100" algn="ctr">
                <a:solidFill>
                  <a:schemeClr val="accent3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r>
                  <a:rPr lang="en-AU" b="1" dirty="0" smtClean="0">
                    <a:latin typeface="Helvetica" pitchFamily="34" charset="0"/>
                  </a:rPr>
                  <a:t>Identify and select suppliers for purchasing </a:t>
                </a:r>
                <a:br>
                  <a:rPr lang="en-AU" b="1" dirty="0" smtClean="0">
                    <a:latin typeface="Helvetica" pitchFamily="34" charset="0"/>
                  </a:rPr>
                </a:br>
                <a:r>
                  <a:rPr lang="en-AU" b="1" dirty="0" smtClean="0">
                    <a:latin typeface="Helvetica" pitchFamily="34" charset="0"/>
                  </a:rPr>
                  <a:t>of products.</a:t>
                </a:r>
                <a:endParaRPr lang="en-AU" b="1" dirty="0" smtClean="0">
                  <a:latin typeface="Helvetica" pitchFamily="34" charset="0"/>
                </a:endParaRPr>
              </a:p>
            </p:txBody>
          </p:sp>
          <p:sp>
            <p:nvSpPr>
              <p:cNvPr id="33" name="AutoShape 11"/>
              <p:cNvSpPr>
                <a:spLocks noChangeArrowheads="1"/>
              </p:cNvSpPr>
              <p:nvPr/>
            </p:nvSpPr>
            <p:spPr bwMode="gray">
              <a:xfrm>
                <a:off x="2625" y="2556"/>
                <a:ext cx="3168" cy="46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tint val="5882"/>
                      <a:invGamma/>
                    </a:schemeClr>
                  </a:gs>
                </a:gsLst>
                <a:lin ang="0" scaled="1"/>
              </a:gradFill>
              <a:ln w="38100" algn="ctr">
                <a:solidFill>
                  <a:schemeClr val="accent3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AU" b="1" dirty="0" smtClean="0">
                    <a:latin typeface="Helvetica" pitchFamily="34" charset="0"/>
                  </a:rPr>
                  <a:t>Identify cheese varieties required by the </a:t>
                </a:r>
                <a:br>
                  <a:rPr lang="en-AU" b="1" dirty="0" smtClean="0">
                    <a:latin typeface="Helvetica" pitchFamily="34" charset="0"/>
                  </a:rPr>
                </a:br>
                <a:r>
                  <a:rPr lang="en-AU" b="1" dirty="0" smtClean="0">
                    <a:latin typeface="Helvetica" pitchFamily="34" charset="0"/>
                  </a:rPr>
                  <a:t>enterprise</a:t>
                </a:r>
                <a:r>
                  <a:rPr lang="en-US" b="1" dirty="0" smtClean="0">
                    <a:latin typeface="Helvetica" pitchFamily="34" charset="0"/>
                  </a:rPr>
                  <a:t>.</a:t>
                </a:r>
                <a:endParaRPr lang="en-US" b="1" dirty="0" smtClean="0">
                  <a:latin typeface="Helvetica" pitchFamily="34" charset="0"/>
                </a:endParaRPr>
              </a:p>
            </p:txBody>
          </p:sp>
        </p:grpSp>
        <p:sp>
          <p:nvSpPr>
            <p:cNvPr id="29" name="Text Box 17"/>
            <p:cNvSpPr txBox="1">
              <a:spLocks noChangeArrowheads="1"/>
            </p:cNvSpPr>
            <p:nvPr/>
          </p:nvSpPr>
          <p:spPr bwMode="auto">
            <a:xfrm>
              <a:off x="852339" y="2636912"/>
              <a:ext cx="2664296" cy="144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1200"/>
                </a:spcAft>
              </a:pPr>
              <a:r>
                <a:rPr lang="en-US" sz="2200" b="1" dirty="0" smtClean="0">
                  <a:latin typeface="Helvetica" pitchFamily="34" charset="0"/>
                </a:rPr>
                <a:t>Element </a:t>
              </a:r>
              <a:r>
                <a:rPr lang="en-US" sz="2200" b="1" dirty="0" smtClean="0">
                  <a:latin typeface="Helvetica" pitchFamily="34" charset="0"/>
                </a:rPr>
                <a:t>1: </a:t>
              </a:r>
              <a:r>
                <a:rPr lang="en-US" sz="2200" b="1" dirty="0" smtClean="0">
                  <a:latin typeface="Helvetica" pitchFamily="34" charset="0"/>
                </a:rPr>
                <a:t/>
              </a:r>
              <a:br>
                <a:rPr lang="en-US" sz="2200" b="1" dirty="0" smtClean="0">
                  <a:latin typeface="Helvetica" pitchFamily="34" charset="0"/>
                </a:rPr>
              </a:br>
              <a:r>
                <a:rPr lang="en-US" sz="2200" b="1" dirty="0" smtClean="0">
                  <a:latin typeface="Helvetica" pitchFamily="34" charset="0"/>
                </a:rPr>
                <a:t> Select supplier to </a:t>
              </a:r>
              <a:br>
                <a:rPr lang="en-US" sz="2200" b="1" dirty="0" smtClean="0">
                  <a:latin typeface="Helvetica" pitchFamily="34" charset="0"/>
                </a:rPr>
              </a:br>
              <a:r>
                <a:rPr lang="en-US" sz="2200" b="1" dirty="0" smtClean="0">
                  <a:latin typeface="Helvetica" pitchFamily="34" charset="0"/>
                </a:rPr>
                <a:t>purchase cheese </a:t>
              </a:r>
              <a:br>
                <a:rPr lang="en-US" sz="2200" b="1" dirty="0" smtClean="0">
                  <a:latin typeface="Helvetica" pitchFamily="34" charset="0"/>
                </a:rPr>
              </a:br>
              <a:r>
                <a:rPr lang="en-US" sz="2200" b="1" dirty="0" smtClean="0">
                  <a:latin typeface="Helvetica" pitchFamily="34" charset="0"/>
                </a:rPr>
                <a:t>and equipment</a:t>
              </a:r>
              <a:endParaRPr lang="en-US" sz="2200" b="1" dirty="0" smtClean="0">
                <a:latin typeface="Helvetica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467600" cy="720080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Select supplier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12776"/>
            <a:ext cx="7467600" cy="518457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Indentify and select supplier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Is the supplier able to provide the quality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required?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Quality of cheese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 Consistency of supply.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Is the establishment able to meet supplier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requirements?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Order enough product 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Meet payment requests on time.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C900230995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1196752"/>
            <a:ext cx="2541006" cy="2230170"/>
          </a:xfrm>
          <a:prstGeom prst="rect">
            <a:avLst/>
          </a:prstGeom>
        </p:spPr>
      </p:pic>
      <p:pic>
        <p:nvPicPr>
          <p:cNvPr id="6" name="Picture 5" descr="iStock_000002494015Medium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84168" y="3573016"/>
            <a:ext cx="2170456" cy="1440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eese1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8104" y="1556792"/>
            <a:ext cx="2607588" cy="36166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7467600" cy="648072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Select supplier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68760"/>
            <a:ext cx="7467600" cy="532859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Indentify cheese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Fresh un-ripened: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err="1" smtClean="0">
                <a:latin typeface="Helvetica" pitchFamily="34" charset="0"/>
              </a:rPr>
              <a:t>Cherve</a:t>
            </a:r>
            <a:r>
              <a:rPr lang="en-US" sz="2200" dirty="0" smtClean="0">
                <a:latin typeface="Helvetica" pitchFamily="34" charset="0"/>
              </a:rPr>
              <a:t> from goats milk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 Ricotta  from cow or goats milk.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Stretched curd: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Mozzarella.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White mould </a:t>
            </a:r>
            <a:r>
              <a:rPr lang="en-US" sz="2200" i="1" dirty="0" smtClean="0">
                <a:latin typeface="Helvetica" pitchFamily="34" charset="0"/>
              </a:rPr>
              <a:t>(mould on outside of cheese)</a:t>
            </a:r>
            <a:r>
              <a:rPr lang="en-US" sz="2200" dirty="0" smtClean="0">
                <a:latin typeface="Helvetica" pitchFamily="34" charset="0"/>
              </a:rPr>
              <a:t>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Brie	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Camembert.</a:t>
            </a:r>
          </a:p>
          <a:p>
            <a:pPr marL="301752" lvl="1" indent="0">
              <a:spcBef>
                <a:spcPts val="600"/>
              </a:spcBef>
              <a:spcAft>
                <a:spcPts val="1200"/>
              </a:spcAft>
            </a:pPr>
            <a:endParaRPr lang="en-US" sz="18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6</a:t>
            </a:fld>
            <a:endParaRPr lang="en-US" dirty="0"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467600" cy="648072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Select supplier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504056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Indentify cheese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Blue mould </a:t>
            </a:r>
            <a:r>
              <a:rPr lang="en-US" sz="2200" i="1" dirty="0" smtClean="0">
                <a:latin typeface="Helvetica" pitchFamily="34" charset="0"/>
              </a:rPr>
              <a:t>(mould on inside)</a:t>
            </a:r>
            <a:r>
              <a:rPr lang="en-US" sz="2200" dirty="0" smtClean="0">
                <a:latin typeface="Helvetica" pitchFamily="34" charset="0"/>
              </a:rPr>
              <a:t>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Stilton – English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Gorgonzola – Italian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Brie style.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Washed rind </a:t>
            </a:r>
            <a:r>
              <a:rPr lang="en-US" sz="2200" i="1" dirty="0" smtClean="0">
                <a:latin typeface="Helvetica" pitchFamily="34" charset="0"/>
              </a:rPr>
              <a:t>(washed in brine, orange sticky on outside)</a:t>
            </a:r>
            <a:r>
              <a:rPr lang="en-US" sz="2200" dirty="0" smtClean="0">
                <a:latin typeface="Helvetica" pitchFamily="34" charset="0"/>
              </a:rPr>
              <a:t>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err="1" smtClean="0">
                <a:latin typeface="Helvetica" pitchFamily="34" charset="0"/>
              </a:rPr>
              <a:t>Tilsit</a:t>
            </a:r>
            <a:endParaRPr lang="en-US" sz="2200" dirty="0" smtClean="0">
              <a:latin typeface="Helvetica" pitchFamily="34" charset="0"/>
            </a:endParaRP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Soft style brie-like.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7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Stilton chees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32040" y="1988840"/>
            <a:ext cx="3048000" cy="2036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467600" cy="710952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Select supplier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12776"/>
            <a:ext cx="7467600" cy="5256584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Indentify cheese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Semi Hard eye Cheeses: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Edam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Gouda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Gruyere.	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Washed rind </a:t>
            </a:r>
            <a:r>
              <a:rPr lang="en-US" sz="2200" i="1" dirty="0" smtClean="0">
                <a:latin typeface="Helvetica" pitchFamily="34" charset="0"/>
              </a:rPr>
              <a:t>(washed in brine, orange sticky on outside)</a:t>
            </a:r>
            <a:r>
              <a:rPr lang="en-US" sz="2200" dirty="0" smtClean="0">
                <a:latin typeface="Helvetica" pitchFamily="34" charset="0"/>
              </a:rPr>
              <a:t>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err="1" smtClean="0">
                <a:latin typeface="Helvetica" pitchFamily="34" charset="0"/>
              </a:rPr>
              <a:t>Tilsit</a:t>
            </a:r>
            <a:endParaRPr lang="en-US" sz="2200" dirty="0" smtClean="0">
              <a:latin typeface="Helvetica" pitchFamily="34" charset="0"/>
            </a:endParaRP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Soft style brie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8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heese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54136" y="1196752"/>
            <a:ext cx="2230880" cy="2947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467600" cy="648072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Select supplier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12776"/>
            <a:ext cx="7467600" cy="5256584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Indentify cheese varieties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Cheddar – English classic: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Cheshire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Red leister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Colby.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Hard Cheeses: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Parmesan </a:t>
            </a:r>
          </a:p>
          <a:p>
            <a:pPr marL="420624" lvl="1" indent="-384048">
              <a:spcBef>
                <a:spcPts val="600"/>
              </a:spcBef>
              <a:spcAft>
                <a:spcPts val="1200"/>
              </a:spcAft>
              <a:buSzPct val="80000"/>
              <a:buFont typeface="Wingdings 2"/>
              <a:buChar char=""/>
            </a:pPr>
            <a:r>
              <a:rPr lang="en-US" sz="2200" dirty="0" smtClean="0">
                <a:latin typeface="Helvetica" pitchFamily="34" charset="0"/>
              </a:rPr>
              <a:t>Pecorino.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9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heese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88024" y="2276872"/>
            <a:ext cx="3359913" cy="28088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467600" cy="926976"/>
          </a:xfrm>
        </p:spPr>
        <p:txBody>
          <a:bodyPr>
            <a:no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Select prepare and serve various cheeses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10</a:t>
            </a:fld>
            <a:endParaRPr lang="en-US" dirty="0">
              <a:latin typeface="Helvetica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60101" y="1827435"/>
            <a:ext cx="8451851" cy="3833813"/>
            <a:chOff x="287337" y="1988840"/>
            <a:chExt cx="8451851" cy="3833813"/>
          </a:xfrm>
        </p:grpSpPr>
        <p:grpSp>
          <p:nvGrpSpPr>
            <p:cNvPr id="15" name="Group 4"/>
            <p:cNvGrpSpPr/>
            <p:nvPr/>
          </p:nvGrpSpPr>
          <p:grpSpPr>
            <a:xfrm>
              <a:off x="287337" y="1988840"/>
              <a:ext cx="8451851" cy="3833813"/>
              <a:chOff x="287337" y="1412776"/>
              <a:chExt cx="8451851" cy="3833813"/>
            </a:xfrm>
          </p:grpSpPr>
          <p:grpSp>
            <p:nvGrpSpPr>
              <p:cNvPr id="17" name="Group 5"/>
              <p:cNvGrpSpPr>
                <a:grpSpLocks/>
              </p:cNvGrpSpPr>
              <p:nvPr/>
            </p:nvGrpSpPr>
            <p:grpSpPr bwMode="auto">
              <a:xfrm>
                <a:off x="287337" y="1412776"/>
                <a:ext cx="8451851" cy="3833813"/>
                <a:chOff x="720" y="1248"/>
                <a:chExt cx="5324" cy="2415"/>
              </a:xfrm>
            </p:grpSpPr>
            <p:sp>
              <p:nvSpPr>
                <p:cNvPr id="19" name="AutoShape 6"/>
                <p:cNvSpPr>
                  <a:spLocks noChangeArrowheads="1"/>
                </p:cNvSpPr>
                <p:nvPr/>
              </p:nvSpPr>
              <p:spPr bwMode="gray">
                <a:xfrm>
                  <a:off x="720" y="1248"/>
                  <a:ext cx="2415" cy="2415"/>
                </a:xfrm>
                <a:custGeom>
                  <a:avLst/>
                  <a:gdLst>
                    <a:gd name="G0" fmla="+- 1914 0 0"/>
                    <a:gd name="G1" fmla="+- 21600 0 1914"/>
                    <a:gd name="G2" fmla="+- 21600 0 1914"/>
                    <a:gd name="G3" fmla="*/ G0 2929 10000"/>
                    <a:gd name="G4" fmla="+- 21600 0 G3"/>
                    <a:gd name="G5" fmla="+- 21600 0 G3"/>
                    <a:gd name="T0" fmla="*/ 10800 w 21600"/>
                    <a:gd name="T1" fmla="*/ 0 h 21600"/>
                    <a:gd name="T2" fmla="*/ 3163 w 21600"/>
                    <a:gd name="T3" fmla="*/ 3163 h 21600"/>
                    <a:gd name="T4" fmla="*/ 0 w 21600"/>
                    <a:gd name="T5" fmla="*/ 10800 h 21600"/>
                    <a:gd name="T6" fmla="*/ 3163 w 21600"/>
                    <a:gd name="T7" fmla="*/ 18437 h 21600"/>
                    <a:gd name="T8" fmla="*/ 10800 w 21600"/>
                    <a:gd name="T9" fmla="*/ 21600 h 21600"/>
                    <a:gd name="T10" fmla="*/ 18437 w 21600"/>
                    <a:gd name="T11" fmla="*/ 18437 h 21600"/>
                    <a:gd name="T12" fmla="*/ 21600 w 21600"/>
                    <a:gd name="T13" fmla="*/ 10800 h 21600"/>
                    <a:gd name="T14" fmla="*/ 18437 w 21600"/>
                    <a:gd name="T15" fmla="*/ 3163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1914" y="10800"/>
                      </a:moveTo>
                      <a:cubicBezTo>
                        <a:pt x="1914" y="15708"/>
                        <a:pt x="5892" y="19686"/>
                        <a:pt x="10800" y="19686"/>
                      </a:cubicBezTo>
                      <a:cubicBezTo>
                        <a:pt x="15708" y="19686"/>
                        <a:pt x="19686" y="15708"/>
                        <a:pt x="19686" y="10800"/>
                      </a:cubicBezTo>
                      <a:cubicBezTo>
                        <a:pt x="19686" y="5892"/>
                        <a:pt x="15708" y="1914"/>
                        <a:pt x="10800" y="1914"/>
                      </a:cubicBezTo>
                      <a:cubicBezTo>
                        <a:pt x="5892" y="1914"/>
                        <a:pt x="1914" y="5892"/>
                        <a:pt x="1914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hlink">
                        <a:gamma/>
                        <a:tint val="60784"/>
                        <a:invGamma/>
                        <a:alpha val="12000"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tint val="60784"/>
                        <a:invGamma/>
                        <a:alpha val="12000"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20" name="Oval 7"/>
                <p:cNvSpPr>
                  <a:spLocks noChangeArrowheads="1"/>
                </p:cNvSpPr>
                <p:nvPr/>
              </p:nvSpPr>
              <p:spPr bwMode="gray">
                <a:xfrm>
                  <a:off x="912" y="1440"/>
                  <a:ext cx="2016" cy="201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DEBCF"/>
                    </a:gs>
                    <a:gs pos="50000">
                      <a:srgbClr val="9CB86E"/>
                    </a:gs>
                    <a:gs pos="100000">
                      <a:srgbClr val="156B13"/>
                    </a:gs>
                  </a:gsLst>
                  <a:lin ang="18900000" scaled="1"/>
                  <a:tileRect/>
                </a:gradFill>
                <a:ln w="28575" algn="ctr">
                  <a:solidFill>
                    <a:srgbClr val="FFFF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21" name="AutoShape 10"/>
                <p:cNvSpPr>
                  <a:spLocks noChangeArrowheads="1"/>
                </p:cNvSpPr>
                <p:nvPr/>
              </p:nvSpPr>
              <p:spPr bwMode="gray">
                <a:xfrm>
                  <a:off x="2484" y="1667"/>
                  <a:ext cx="3334" cy="46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tint val="5882"/>
                        <a:invGamma/>
                      </a:schemeClr>
                    </a:gs>
                  </a:gsLst>
                  <a:lin ang="0" scaled="1"/>
                </a:gradFill>
                <a:ln w="38100" algn="ctr">
                  <a:solidFill>
                    <a:schemeClr val="accent3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0" hangingPunct="0"/>
                  <a:r>
                    <a:rPr lang="en-AU" b="1" smtClean="0">
                      <a:latin typeface="Helvetica" pitchFamily="34" charset="0"/>
                    </a:rPr>
                    <a:t>Bring product to appropriate serving </a:t>
                  </a:r>
                  <a:br>
                    <a:rPr lang="en-AU" b="1" smtClean="0">
                      <a:latin typeface="Helvetica" pitchFamily="34" charset="0"/>
                    </a:rPr>
                  </a:br>
                  <a:r>
                    <a:rPr lang="en-AU" b="1" smtClean="0">
                      <a:latin typeface="Helvetica" pitchFamily="34" charset="0"/>
                    </a:rPr>
                    <a:t>temperature.</a:t>
                  </a:r>
                </a:p>
              </p:txBody>
            </p:sp>
            <p:sp>
              <p:nvSpPr>
                <p:cNvPr id="22" name="AutoShape 11"/>
                <p:cNvSpPr>
                  <a:spLocks noChangeArrowheads="1"/>
                </p:cNvSpPr>
                <p:nvPr/>
              </p:nvSpPr>
              <p:spPr bwMode="gray">
                <a:xfrm>
                  <a:off x="2710" y="2257"/>
                  <a:ext cx="3334" cy="46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chemeClr val="folHlink">
                        <a:gamma/>
                        <a:tint val="5882"/>
                        <a:invGamma/>
                      </a:schemeClr>
                    </a:gs>
                  </a:gsLst>
                  <a:lin ang="0" scaled="1"/>
                </a:gradFill>
                <a:ln w="38100" algn="ctr">
                  <a:solidFill>
                    <a:schemeClr val="accent3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spcBef>
                      <a:spcPts val="600"/>
                    </a:spcBef>
                    <a:spcAft>
                      <a:spcPts val="1200"/>
                    </a:spcAft>
                  </a:pPr>
                  <a:r>
                    <a:rPr lang="en-AU" b="1" smtClean="0">
                      <a:latin typeface="Helvetica" pitchFamily="34" charset="0"/>
                    </a:rPr>
                    <a:t>Use correct preparation equipment safely.</a:t>
                  </a:r>
                </a:p>
              </p:txBody>
            </p:sp>
          </p:grpSp>
          <p:sp>
            <p:nvSpPr>
              <p:cNvPr id="18" name="Text Box 17"/>
              <p:cNvSpPr txBox="1">
                <a:spLocks noChangeArrowheads="1"/>
              </p:cNvSpPr>
              <p:nvPr/>
            </p:nvSpPr>
            <p:spPr bwMode="auto">
              <a:xfrm>
                <a:off x="971600" y="2636912"/>
                <a:ext cx="2547492" cy="120032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sz="2400" b="1" dirty="0" smtClean="0">
                    <a:latin typeface="Helvetica" pitchFamily="34" charset="0"/>
                  </a:rPr>
                  <a:t>Element 2: </a:t>
                </a:r>
                <a:br>
                  <a:rPr lang="en-US" sz="2400" b="1" dirty="0" smtClean="0">
                    <a:latin typeface="Helvetica" pitchFamily="34" charset="0"/>
                  </a:rPr>
                </a:br>
                <a:r>
                  <a:rPr lang="en-US" sz="2400" b="1" dirty="0" smtClean="0">
                    <a:latin typeface="Helvetica" pitchFamily="34" charset="0"/>
                  </a:rPr>
                  <a:t>Prepare cheese </a:t>
                </a:r>
                <a:br>
                  <a:rPr lang="en-US" sz="2400" b="1" dirty="0" smtClean="0">
                    <a:latin typeface="Helvetica" pitchFamily="34" charset="0"/>
                  </a:rPr>
                </a:br>
                <a:r>
                  <a:rPr lang="en-US" sz="2400" b="1" dirty="0" smtClean="0">
                    <a:latin typeface="Helvetica" pitchFamily="34" charset="0"/>
                  </a:rPr>
                  <a:t>for service</a:t>
                </a:r>
              </a:p>
            </p:txBody>
          </p:sp>
        </p:grpSp>
        <p:sp>
          <p:nvSpPr>
            <p:cNvPr id="16" name="AutoShape 10"/>
            <p:cNvSpPr>
              <a:spLocks noChangeArrowheads="1"/>
            </p:cNvSpPr>
            <p:nvPr/>
          </p:nvSpPr>
          <p:spPr bwMode="gray">
            <a:xfrm>
              <a:off x="3087068" y="4514751"/>
              <a:ext cx="5292000" cy="731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tint val="5882"/>
                    <a:invGamma/>
                  </a:schemeClr>
                </a:gs>
              </a:gsLst>
              <a:lin ang="0" scaled="1"/>
            </a:gradFill>
            <a:ln w="38100" algn="ctr">
              <a:solidFill>
                <a:schemeClr val="accent3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/>
              <a:r>
                <a:rPr lang="en-AU" b="1" smtClean="0">
                  <a:latin typeface="Helvetica" pitchFamily="34" charset="0"/>
                </a:rPr>
                <a:t>Prepare required garnishes and </a:t>
              </a:r>
              <a:br>
                <a:rPr lang="en-AU" b="1" smtClean="0">
                  <a:latin typeface="Helvetica" pitchFamily="34" charset="0"/>
                </a:rPr>
              </a:br>
              <a:r>
                <a:rPr lang="en-AU" b="1" smtClean="0">
                  <a:latin typeface="Helvetica" pitchFamily="34" charset="0"/>
                </a:rPr>
                <a:t>accompaniments to compliment service style.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7467600" cy="720080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Prepare cheese for service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12776"/>
            <a:ext cx="7467600" cy="4669979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Bring product to appropriate serving temperature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Allow to come to room temperature slowly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Protect from outside contamination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Do not dry surface of cheese.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Display chees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06647" y="3789040"/>
            <a:ext cx="3034290" cy="20238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467600" cy="638944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Prepare cheese for service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12776"/>
            <a:ext cx="7467600" cy="4669979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Use correct preparation equipment safely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All cutting implements must be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Clean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Suitable to the job.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12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6" name="Picture 5" descr="Cheese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32040" y="2803827"/>
            <a:ext cx="3312368" cy="22093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467600" cy="638944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Prepare cheese for service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340768"/>
            <a:ext cx="7467600" cy="511256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required garnishes and accompaniments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Plan what is required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It must compliment the cheese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Should dominate the cheese.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13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heese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20072" y="2996952"/>
            <a:ext cx="3048000" cy="20238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7467600" cy="792088"/>
          </a:xfrm>
        </p:spPr>
        <p:txBody>
          <a:bodyPr>
            <a:no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Select prepare and serve various cheeses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14</a:t>
            </a:fld>
            <a:endParaRPr lang="en-US" dirty="0">
              <a:latin typeface="Helvetica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06598" y="1772816"/>
            <a:ext cx="7970838" cy="3833813"/>
            <a:chOff x="287337" y="1412776"/>
            <a:chExt cx="7970838" cy="3833813"/>
          </a:xfrm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287337" y="1412776"/>
              <a:ext cx="7970838" cy="3833813"/>
              <a:chOff x="720" y="1248"/>
              <a:chExt cx="5021" cy="2415"/>
            </a:xfrm>
          </p:grpSpPr>
          <p:sp>
            <p:nvSpPr>
              <p:cNvPr id="9" name="AutoShape 6"/>
              <p:cNvSpPr>
                <a:spLocks noChangeArrowheads="1"/>
              </p:cNvSpPr>
              <p:nvPr/>
            </p:nvSpPr>
            <p:spPr bwMode="gray">
              <a:xfrm>
                <a:off x="720" y="1248"/>
                <a:ext cx="2415" cy="2415"/>
              </a:xfrm>
              <a:custGeom>
                <a:avLst/>
                <a:gdLst>
                  <a:gd name="G0" fmla="+- 1914 0 0"/>
                  <a:gd name="G1" fmla="+- 21600 0 1914"/>
                  <a:gd name="G2" fmla="+- 21600 0 1914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914" y="10800"/>
                    </a:moveTo>
                    <a:cubicBezTo>
                      <a:pt x="1914" y="15708"/>
                      <a:pt x="5892" y="19686"/>
                      <a:pt x="10800" y="19686"/>
                    </a:cubicBezTo>
                    <a:cubicBezTo>
                      <a:pt x="15708" y="19686"/>
                      <a:pt x="19686" y="15708"/>
                      <a:pt x="19686" y="10800"/>
                    </a:cubicBezTo>
                    <a:cubicBezTo>
                      <a:pt x="19686" y="5892"/>
                      <a:pt x="15708" y="1914"/>
                      <a:pt x="10800" y="1914"/>
                    </a:cubicBezTo>
                    <a:cubicBezTo>
                      <a:pt x="5892" y="1914"/>
                      <a:pt x="1914" y="5892"/>
                      <a:pt x="1914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hlink">
                      <a:gamma/>
                      <a:tint val="60784"/>
                      <a:invGamma/>
                      <a:alpha val="12000"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60784"/>
                      <a:invGamma/>
                      <a:alpha val="12000"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0" name="Oval 7"/>
              <p:cNvSpPr>
                <a:spLocks noChangeArrowheads="1"/>
              </p:cNvSpPr>
              <p:nvPr/>
            </p:nvSpPr>
            <p:spPr bwMode="gray">
              <a:xfrm>
                <a:off x="912" y="1440"/>
                <a:ext cx="2016" cy="2016"/>
              </a:xfrm>
              <a:prstGeom prst="ellipse">
                <a:avLst/>
              </a:prstGeom>
              <a:gradFill flip="none" rotWithShape="1"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18900000" scaled="1"/>
                <a:tileRect/>
              </a:gradFill>
              <a:ln w="28575" algn="ctr">
                <a:solidFill>
                  <a:srgbClr val="FFFF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1" name="AutoShape 10"/>
              <p:cNvSpPr>
                <a:spLocks noChangeArrowheads="1"/>
              </p:cNvSpPr>
              <p:nvPr/>
            </p:nvSpPr>
            <p:spPr bwMode="gray">
              <a:xfrm>
                <a:off x="2573" y="1792"/>
                <a:ext cx="3168" cy="46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tint val="5882"/>
                      <a:invGamma/>
                    </a:schemeClr>
                  </a:gs>
                </a:gsLst>
                <a:lin ang="0" scaled="1"/>
              </a:gradFill>
              <a:ln w="38100" algn="ctr">
                <a:solidFill>
                  <a:schemeClr val="accent3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r>
                  <a:rPr lang="en-US" b="1" smtClean="0">
                    <a:latin typeface="Helvetica" pitchFamily="34" charset="0"/>
                  </a:rPr>
                  <a:t>Present cheese to enterprise standards</a:t>
                </a:r>
                <a:r>
                  <a:rPr lang="en-AU" b="1" smtClean="0">
                    <a:latin typeface="Helvetica" pitchFamily="34" charset="0"/>
                  </a:rPr>
                  <a:t>.</a:t>
                </a:r>
              </a:p>
            </p:txBody>
          </p:sp>
          <p:sp>
            <p:nvSpPr>
              <p:cNvPr id="12" name="AutoShape 11"/>
              <p:cNvSpPr>
                <a:spLocks noChangeArrowheads="1"/>
              </p:cNvSpPr>
              <p:nvPr/>
            </p:nvSpPr>
            <p:spPr bwMode="gray">
              <a:xfrm>
                <a:off x="2573" y="2556"/>
                <a:ext cx="3168" cy="46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tint val="5882"/>
                      <a:invGamma/>
                    </a:schemeClr>
                  </a:gs>
                </a:gsLst>
                <a:lin ang="0" scaled="1"/>
              </a:gradFill>
              <a:ln w="38100" algn="ctr">
                <a:solidFill>
                  <a:schemeClr val="accent3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en-US" b="1" smtClean="0">
                    <a:latin typeface="Helvetica" pitchFamily="34" charset="0"/>
                  </a:rPr>
                  <a:t>Decorate cheese with complimentary </a:t>
                </a:r>
                <a:br>
                  <a:rPr lang="en-US" b="1" smtClean="0">
                    <a:latin typeface="Helvetica" pitchFamily="34" charset="0"/>
                  </a:rPr>
                </a:br>
                <a:r>
                  <a:rPr lang="en-US" b="1" smtClean="0">
                    <a:latin typeface="Helvetica" pitchFamily="34" charset="0"/>
                  </a:rPr>
                  <a:t>garnishes and accompaniments.</a:t>
                </a:r>
              </a:p>
            </p:txBody>
          </p:sp>
        </p:grpSp>
        <p:sp>
          <p:nvSpPr>
            <p:cNvPr id="8" name="Text Box 17"/>
            <p:cNvSpPr txBox="1">
              <a:spLocks noChangeArrowheads="1"/>
            </p:cNvSpPr>
            <p:nvPr/>
          </p:nvSpPr>
          <p:spPr bwMode="auto">
            <a:xfrm>
              <a:off x="1007417" y="2780928"/>
              <a:ext cx="2444900" cy="8309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ts val="600"/>
                </a:spcBef>
                <a:spcAft>
                  <a:spcPts val="1200"/>
                </a:spcAft>
              </a:pPr>
              <a:r>
                <a:rPr lang="en-US" sz="2400" b="1" smtClean="0">
                  <a:latin typeface="Helvetica" pitchFamily="34" charset="0"/>
                </a:rPr>
                <a:t>Element 3: </a:t>
              </a:r>
              <a:br>
                <a:rPr lang="en-US" sz="2400" b="1" smtClean="0">
                  <a:latin typeface="Helvetica" pitchFamily="34" charset="0"/>
                </a:rPr>
              </a:br>
              <a:r>
                <a:rPr lang="en-US" sz="2400" b="1" smtClean="0">
                  <a:latin typeface="Helvetica" pitchFamily="34" charset="0"/>
                </a:rPr>
                <a:t>Present cheese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467600" cy="566936"/>
          </a:xfrm>
        </p:spPr>
        <p:txBody>
          <a:bodyPr>
            <a:no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Present cheese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68760"/>
            <a:ext cx="7467600" cy="481399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Present </a:t>
            </a:r>
            <a:r>
              <a:rPr lang="en-AU" sz="2200" b="1" dirty="0" smtClean="0">
                <a:latin typeface="Helvetica" pitchFamily="34" charset="0"/>
              </a:rPr>
              <a:t>cheese</a:t>
            </a:r>
            <a:r>
              <a:rPr lang="en-US" sz="2200" b="1" dirty="0" smtClean="0">
                <a:latin typeface="Helvetica" pitchFamily="34" charset="0"/>
              </a:rPr>
              <a:t> to enterprise standards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Platter of plate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Ceramic or wood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Single or mixed.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heese1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36096" y="1916831"/>
            <a:ext cx="2336300" cy="32403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eese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2852936"/>
            <a:ext cx="3048000" cy="22433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7467600" cy="566936"/>
          </a:xfrm>
        </p:spPr>
        <p:txBody>
          <a:bodyPr>
            <a:no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</a:rPr>
              <a:t>Present</a:t>
            </a:r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 cheeses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68760"/>
            <a:ext cx="7467600" cy="5328592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 smtClean="0">
                <a:latin typeface="Helvetica" pitchFamily="34" charset="0"/>
              </a:rPr>
              <a:t>Decorate cheese with garnishes and accompaniments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 smtClean="0">
                <a:latin typeface="Helvetica" pitchFamily="34" charset="0"/>
              </a:rPr>
              <a:t>Do not bury the cheese under A LOT of extras:</a:t>
            </a:r>
          </a:p>
          <a:p>
            <a:pPr marL="0" indent="-324000">
              <a:spcBef>
                <a:spcPts val="600"/>
              </a:spcBef>
              <a:spcAft>
                <a:spcPts val="600"/>
              </a:spcAft>
              <a:tabLst>
                <a:tab pos="361950" algn="l"/>
              </a:tabLst>
            </a:pPr>
            <a:r>
              <a:rPr lang="en-US" sz="1800" dirty="0" smtClean="0">
                <a:latin typeface="Helvetica" pitchFamily="34" charset="0"/>
              </a:rPr>
              <a:t>Fruit:</a:t>
            </a:r>
          </a:p>
          <a:p>
            <a:pPr marL="622300" indent="-323850">
              <a:spcBef>
                <a:spcPts val="600"/>
              </a:spcBef>
              <a:spcAft>
                <a:spcPts val="600"/>
              </a:spcAft>
              <a:buSzPct val="130000"/>
              <a:buFont typeface="Arial" pitchFamily="34" charset="0"/>
              <a:buChar char="•"/>
            </a:pPr>
            <a:r>
              <a:rPr lang="en-US" sz="1800" dirty="0" smtClean="0">
                <a:latin typeface="Helvetica" pitchFamily="34" charset="0"/>
              </a:rPr>
              <a:t>Dried</a:t>
            </a:r>
          </a:p>
          <a:p>
            <a:pPr marL="622300" indent="-323850">
              <a:spcBef>
                <a:spcPts val="600"/>
              </a:spcBef>
              <a:spcAft>
                <a:spcPts val="600"/>
              </a:spcAft>
              <a:buSzPct val="130000"/>
              <a:buFont typeface="Arial" pitchFamily="34" charset="0"/>
              <a:buChar char="•"/>
            </a:pPr>
            <a:r>
              <a:rPr lang="en-US" sz="1800" dirty="0" smtClean="0">
                <a:latin typeface="Helvetica" pitchFamily="34" charset="0"/>
              </a:rPr>
              <a:t>Fresh</a:t>
            </a:r>
            <a:endParaRPr lang="en-US" sz="1800" dirty="0" smtClean="0">
              <a:latin typeface="Helvetica" pitchFamily="34" charset="0"/>
            </a:endParaRPr>
          </a:p>
          <a:p>
            <a:pPr marL="0" indent="-324000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>
                <a:latin typeface="Helvetica" pitchFamily="34" charset="0"/>
              </a:rPr>
              <a:t>Bread:</a:t>
            </a:r>
          </a:p>
          <a:p>
            <a:pPr marL="622300" indent="-323850">
              <a:spcBef>
                <a:spcPts val="600"/>
              </a:spcBef>
              <a:spcAft>
                <a:spcPts val="600"/>
              </a:spcAft>
              <a:buSzPct val="130000"/>
              <a:buFont typeface="Arial" pitchFamily="34" charset="0"/>
              <a:buChar char="•"/>
            </a:pPr>
            <a:r>
              <a:rPr lang="en-US" sz="1800" dirty="0" smtClean="0">
                <a:latin typeface="Helvetica" pitchFamily="34" charset="0"/>
              </a:rPr>
              <a:t>Plain</a:t>
            </a:r>
          </a:p>
          <a:p>
            <a:pPr marL="622300" indent="-323850">
              <a:spcBef>
                <a:spcPts val="600"/>
              </a:spcBef>
              <a:spcAft>
                <a:spcPts val="600"/>
              </a:spcAft>
              <a:buSzPct val="130000"/>
              <a:buFont typeface="Arial" pitchFamily="34" charset="0"/>
              <a:buChar char="•"/>
            </a:pPr>
            <a:r>
              <a:rPr lang="en-US" sz="1800" dirty="0" smtClean="0">
                <a:latin typeface="Helvetica" pitchFamily="34" charset="0"/>
              </a:rPr>
              <a:t>Fruited</a:t>
            </a:r>
          </a:p>
          <a:p>
            <a:pPr marL="622300" indent="-323850">
              <a:spcBef>
                <a:spcPts val="600"/>
              </a:spcBef>
              <a:spcAft>
                <a:spcPts val="600"/>
              </a:spcAft>
              <a:buSzPct val="130000"/>
              <a:buFont typeface="Arial" pitchFamily="34" charset="0"/>
              <a:buChar char="•"/>
            </a:pPr>
            <a:r>
              <a:rPr lang="en-US" sz="1800" dirty="0" err="1" smtClean="0">
                <a:latin typeface="Helvetica" pitchFamily="34" charset="0"/>
              </a:rPr>
              <a:t>Nutted</a:t>
            </a:r>
            <a:endParaRPr lang="en-US" sz="1800" dirty="0" smtClean="0">
              <a:latin typeface="Helvetica" pitchFamily="34" charset="0"/>
            </a:endParaRPr>
          </a:p>
          <a:p>
            <a:pPr marL="0" indent="-324000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>
                <a:latin typeface="Helvetica" pitchFamily="34" charset="0"/>
              </a:rPr>
              <a:t>Crackers:</a:t>
            </a:r>
          </a:p>
          <a:p>
            <a:pPr marL="622300" indent="-323850">
              <a:spcBef>
                <a:spcPts val="600"/>
              </a:spcBef>
              <a:spcAft>
                <a:spcPts val="600"/>
              </a:spcAft>
              <a:buSzPct val="130000"/>
              <a:buFont typeface="Arial" pitchFamily="34" charset="0"/>
              <a:buChar char="•"/>
            </a:pPr>
            <a:r>
              <a:rPr lang="en-US" sz="1800" dirty="0" smtClean="0">
                <a:latin typeface="Helvetica" pitchFamily="34" charset="0"/>
              </a:rPr>
              <a:t>Plain</a:t>
            </a:r>
          </a:p>
          <a:p>
            <a:pPr marL="622300" indent="-323850">
              <a:spcBef>
                <a:spcPts val="600"/>
              </a:spcBef>
              <a:spcAft>
                <a:spcPts val="600"/>
              </a:spcAft>
              <a:buSzPct val="130000"/>
              <a:buFont typeface="Arial" pitchFamily="34" charset="0"/>
              <a:buChar char="•"/>
            </a:pPr>
            <a:r>
              <a:rPr lang="en-US" sz="1800" dirty="0" smtClean="0">
                <a:latin typeface="Helvetica" pitchFamily="34" charset="0"/>
              </a:rPr>
              <a:t>Seasoned</a:t>
            </a:r>
            <a:endParaRPr lang="en-US" sz="1800" dirty="0" smtClean="0">
              <a:latin typeface="Helvetica" pitchFamily="34" charset="0"/>
            </a:endParaRPr>
          </a:p>
          <a:p>
            <a:pPr marL="0" indent="-324000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>
                <a:latin typeface="Helvetica" pitchFamily="34" charset="0"/>
              </a:rPr>
              <a:t>Sauce.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 smtClean="0">
                <a:latin typeface="Helvetica" pitchFamily="34" charset="0"/>
              </a:rPr>
              <a:t>All can be included or just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16</a:t>
            </a:fld>
            <a:endParaRPr lang="en-US" dirty="0"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467600" cy="854968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Select </a:t>
            </a:r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</a:rPr>
              <a:t>prepare</a:t>
            </a:r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 and serve various cheeses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dirty="0" smtClean="0">
                <a:latin typeface="Helvetica" pitchFamily="34" charset="0"/>
              </a:rPr>
              <a:pPr/>
              <a:t>17</a:t>
            </a:fld>
            <a:endParaRPr lang="en-US" dirty="0" smtClean="0">
              <a:latin typeface="Helvetica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395536" y="1772816"/>
            <a:ext cx="8510736" cy="3833813"/>
            <a:chOff x="395536" y="1772816"/>
            <a:chExt cx="8510736" cy="3833813"/>
          </a:xfrm>
        </p:grpSpPr>
        <p:grpSp>
          <p:nvGrpSpPr>
            <p:cNvPr id="16" name="Group 5"/>
            <p:cNvGrpSpPr/>
            <p:nvPr/>
          </p:nvGrpSpPr>
          <p:grpSpPr>
            <a:xfrm>
              <a:off x="395536" y="1772816"/>
              <a:ext cx="8510736" cy="3833813"/>
              <a:chOff x="287337" y="1988840"/>
              <a:chExt cx="8510736" cy="3833813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287337" y="1988840"/>
                <a:ext cx="8496300" cy="3833813"/>
                <a:chOff x="287337" y="1412776"/>
                <a:chExt cx="8496300" cy="3833813"/>
              </a:xfrm>
            </p:grpSpPr>
            <p:grpSp>
              <p:nvGrpSpPr>
                <p:cNvPr id="20" name="Group 5"/>
                <p:cNvGrpSpPr>
                  <a:grpSpLocks/>
                </p:cNvGrpSpPr>
                <p:nvPr/>
              </p:nvGrpSpPr>
              <p:grpSpPr bwMode="auto">
                <a:xfrm>
                  <a:off x="287337" y="1412776"/>
                  <a:ext cx="8496300" cy="3833813"/>
                  <a:chOff x="720" y="1248"/>
                  <a:chExt cx="5352" cy="2415"/>
                </a:xfrm>
              </p:grpSpPr>
              <p:sp>
                <p:nvSpPr>
                  <p:cNvPr id="22" name="AutoShape 6"/>
                  <p:cNvSpPr>
                    <a:spLocks noChangeArrowheads="1"/>
                  </p:cNvSpPr>
                  <p:nvPr/>
                </p:nvSpPr>
                <p:spPr bwMode="gray">
                  <a:xfrm>
                    <a:off x="720" y="1248"/>
                    <a:ext cx="2415" cy="2415"/>
                  </a:xfrm>
                  <a:custGeom>
                    <a:avLst/>
                    <a:gdLst>
                      <a:gd name="G0" fmla="+- 1914 0 0"/>
                      <a:gd name="G1" fmla="+- 21600 0 1914"/>
                      <a:gd name="G2" fmla="+- 21600 0 1914"/>
                      <a:gd name="G3" fmla="*/ G0 2929 10000"/>
                      <a:gd name="G4" fmla="+- 21600 0 G3"/>
                      <a:gd name="G5" fmla="+- 21600 0 G3"/>
                      <a:gd name="T0" fmla="*/ 10800 w 21600"/>
                      <a:gd name="T1" fmla="*/ 0 h 21600"/>
                      <a:gd name="T2" fmla="*/ 3163 w 21600"/>
                      <a:gd name="T3" fmla="*/ 3163 h 21600"/>
                      <a:gd name="T4" fmla="*/ 0 w 21600"/>
                      <a:gd name="T5" fmla="*/ 10800 h 21600"/>
                      <a:gd name="T6" fmla="*/ 3163 w 21600"/>
                      <a:gd name="T7" fmla="*/ 18437 h 21600"/>
                      <a:gd name="T8" fmla="*/ 10800 w 21600"/>
                      <a:gd name="T9" fmla="*/ 21600 h 21600"/>
                      <a:gd name="T10" fmla="*/ 18437 w 21600"/>
                      <a:gd name="T11" fmla="*/ 18437 h 21600"/>
                      <a:gd name="T12" fmla="*/ 21600 w 21600"/>
                      <a:gd name="T13" fmla="*/ 10800 h 21600"/>
                      <a:gd name="T14" fmla="*/ 18437 w 21600"/>
                      <a:gd name="T15" fmla="*/ 3163 h 21600"/>
                      <a:gd name="T16" fmla="*/ 3163 w 21600"/>
                      <a:gd name="T17" fmla="*/ 3163 h 21600"/>
                      <a:gd name="T18" fmla="*/ 18437 w 21600"/>
                      <a:gd name="T19" fmla="*/ 18437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T16" t="T17" r="T18" b="T19"/>
                    <a:pathLst>
                      <a:path w="21600" h="21600">
                        <a:moveTo>
                          <a:pt x="0" y="10800"/>
                        </a:move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5" y="0"/>
                          <a:pt x="21600" y="4835"/>
                          <a:pt x="21600" y="10800"/>
                        </a:cubicBezTo>
                        <a:cubicBezTo>
                          <a:pt x="21600" y="16765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6765"/>
                          <a:pt x="0" y="10800"/>
                        </a:cubicBezTo>
                        <a:close/>
                        <a:moveTo>
                          <a:pt x="1914" y="10800"/>
                        </a:moveTo>
                        <a:cubicBezTo>
                          <a:pt x="1914" y="15708"/>
                          <a:pt x="5892" y="19686"/>
                          <a:pt x="10800" y="19686"/>
                        </a:cubicBezTo>
                        <a:cubicBezTo>
                          <a:pt x="15708" y="19686"/>
                          <a:pt x="19686" y="15708"/>
                          <a:pt x="19686" y="10800"/>
                        </a:cubicBezTo>
                        <a:cubicBezTo>
                          <a:pt x="19686" y="5892"/>
                          <a:pt x="15708" y="1914"/>
                          <a:pt x="10800" y="1914"/>
                        </a:cubicBezTo>
                        <a:cubicBezTo>
                          <a:pt x="5892" y="1914"/>
                          <a:pt x="1914" y="5892"/>
                          <a:pt x="1914" y="1080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chemeClr val="hlink">
                          <a:gamma/>
                          <a:tint val="60784"/>
                          <a:invGamma/>
                          <a:alpha val="12000"/>
                        </a:schemeClr>
                      </a:gs>
                      <a:gs pos="50000">
                        <a:schemeClr val="hlink"/>
                      </a:gs>
                      <a:gs pos="100000">
                        <a:schemeClr val="hlink">
                          <a:gamma/>
                          <a:tint val="60784"/>
                          <a:invGamma/>
                          <a:alpha val="12000"/>
                        </a:schemeClr>
                      </a:gs>
                    </a:gsLst>
                    <a:lin ang="27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/>
                  </a:p>
                </p:txBody>
              </p:sp>
              <p:sp>
                <p:nvSpPr>
                  <p:cNvPr id="23" name="Oval 7"/>
                  <p:cNvSpPr>
                    <a:spLocks noChangeArrowheads="1"/>
                  </p:cNvSpPr>
                  <p:nvPr/>
                </p:nvSpPr>
                <p:spPr bwMode="gray">
                  <a:xfrm>
                    <a:off x="912" y="1440"/>
                    <a:ext cx="2016" cy="201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DDEBCF"/>
                      </a:gs>
                      <a:gs pos="50000">
                        <a:srgbClr val="9CB86E"/>
                      </a:gs>
                      <a:gs pos="100000">
                        <a:srgbClr val="156B13"/>
                      </a:gs>
                    </a:gsLst>
                    <a:lin ang="18900000" scaled="1"/>
                    <a:tileRect/>
                  </a:gradFill>
                  <a:ln w="28575" algn="ctr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/>
                  </a:p>
                </p:txBody>
              </p:sp>
              <p:sp>
                <p:nvSpPr>
                  <p:cNvPr id="24" name="AutoShape 10"/>
                  <p:cNvSpPr>
                    <a:spLocks noChangeArrowheads="1"/>
                  </p:cNvSpPr>
                  <p:nvPr/>
                </p:nvSpPr>
                <p:spPr bwMode="gray">
                  <a:xfrm>
                    <a:off x="2217" y="1331"/>
                    <a:ext cx="3456" cy="46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tint val="5882"/>
                          <a:invGamma/>
                        </a:schemeClr>
                      </a:gs>
                    </a:gsLst>
                    <a:lin ang="0" scaled="1"/>
                  </a:gradFill>
                  <a:ln w="38100" algn="ctr">
                    <a:solidFill>
                      <a:schemeClr val="accent3">
                        <a:lumMod val="75000"/>
                      </a:schemeClr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spcBef>
                        <a:spcPts val="600"/>
                      </a:spcBef>
                      <a:spcAft>
                        <a:spcPts val="1200"/>
                      </a:spcAft>
                    </a:pPr>
                    <a:r>
                      <a:rPr lang="en-AU" b="1" dirty="0" smtClean="0">
                        <a:latin typeface="Helvetica" pitchFamily="34" charset="0"/>
                      </a:rPr>
                      <a:t>Minimize wastage through correct purchasing </a:t>
                    </a:r>
                    <a:br>
                      <a:rPr lang="en-AU" b="1" dirty="0" smtClean="0">
                        <a:latin typeface="Helvetica" pitchFamily="34" charset="0"/>
                      </a:rPr>
                    </a:br>
                    <a:r>
                      <a:rPr lang="en-AU" b="1" dirty="0" smtClean="0">
                        <a:latin typeface="Helvetica" pitchFamily="34" charset="0"/>
                      </a:rPr>
                      <a:t>practices</a:t>
                    </a:r>
                  </a:p>
                </p:txBody>
              </p:sp>
              <p:sp>
                <p:nvSpPr>
                  <p:cNvPr id="25" name="AutoShape 11"/>
                  <p:cNvSpPr>
                    <a:spLocks noChangeArrowheads="1"/>
                  </p:cNvSpPr>
                  <p:nvPr/>
                </p:nvSpPr>
                <p:spPr bwMode="gray">
                  <a:xfrm>
                    <a:off x="2616" y="1928"/>
                    <a:ext cx="3456" cy="46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folHlink"/>
                      </a:gs>
                      <a:gs pos="100000">
                        <a:schemeClr val="folHlink">
                          <a:gamma/>
                          <a:tint val="5882"/>
                          <a:invGamma/>
                        </a:schemeClr>
                      </a:gs>
                    </a:gsLst>
                    <a:lin ang="0" scaled="1"/>
                  </a:gradFill>
                  <a:ln w="38100" algn="ctr">
                    <a:solidFill>
                      <a:schemeClr val="accent3">
                        <a:lumMod val="75000"/>
                      </a:schemeClr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spcBef>
                        <a:spcPts val="600"/>
                      </a:spcBef>
                      <a:spcAft>
                        <a:spcPts val="1200"/>
                      </a:spcAft>
                    </a:pPr>
                    <a:r>
                      <a:rPr lang="en-AU" b="1" smtClean="0">
                        <a:latin typeface="Helvetica" pitchFamily="34" charset="0"/>
                      </a:rPr>
                      <a:t>Minimize wastage through correct storage </a:t>
                    </a:r>
                    <a:br>
                      <a:rPr lang="en-AU" b="1" smtClean="0">
                        <a:latin typeface="Helvetica" pitchFamily="34" charset="0"/>
                      </a:rPr>
                    </a:br>
                    <a:r>
                      <a:rPr lang="en-AU" b="1" smtClean="0">
                        <a:latin typeface="Helvetica" pitchFamily="34" charset="0"/>
                      </a:rPr>
                      <a:t>practices</a:t>
                    </a:r>
                  </a:p>
                </p:txBody>
              </p:sp>
            </p:grpSp>
            <p:sp>
              <p:nvSpPr>
                <p:cNvPr id="21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214860" y="2942333"/>
                  <a:ext cx="2101857" cy="83099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1200"/>
                    </a:spcAft>
                  </a:pPr>
                  <a:r>
                    <a:rPr lang="en-US" sz="2400" b="1" smtClean="0">
                      <a:latin typeface="Helvetica" pitchFamily="34" charset="0"/>
                    </a:rPr>
                    <a:t>Element 4: </a:t>
                  </a:r>
                  <a:br>
                    <a:rPr lang="en-US" sz="2400" b="1" smtClean="0">
                      <a:latin typeface="Helvetica" pitchFamily="34" charset="0"/>
                    </a:rPr>
                  </a:br>
                  <a:r>
                    <a:rPr lang="en-US" sz="2400" b="1" smtClean="0">
                      <a:latin typeface="Helvetica" pitchFamily="34" charset="0"/>
                    </a:rPr>
                    <a:t>Store cheese</a:t>
                  </a:r>
                </a:p>
              </p:txBody>
            </p:sp>
          </p:grpSp>
          <p:sp>
            <p:nvSpPr>
              <p:cNvPr id="19" name="AutoShape 10"/>
              <p:cNvSpPr>
                <a:spLocks noChangeArrowheads="1"/>
              </p:cNvSpPr>
              <p:nvPr/>
            </p:nvSpPr>
            <p:spPr bwMode="gray">
              <a:xfrm>
                <a:off x="3311673" y="4005064"/>
                <a:ext cx="5486400" cy="73183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tint val="5882"/>
                      <a:invGamma/>
                    </a:schemeClr>
                  </a:gs>
                </a:gsLst>
                <a:lin ang="0" scaled="1"/>
              </a:gradFill>
              <a:ln w="38100" algn="ctr">
                <a:solidFill>
                  <a:schemeClr val="accent3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/>
                <a:r>
                  <a:rPr lang="en-AU" b="1" dirty="0" smtClean="0">
                    <a:latin typeface="Helvetica" pitchFamily="34" charset="0"/>
                  </a:rPr>
                  <a:t>Apply appropriate hygiene standards in the </a:t>
                </a:r>
                <a:br>
                  <a:rPr lang="en-AU" b="1" dirty="0" smtClean="0">
                    <a:latin typeface="Helvetica" pitchFamily="34" charset="0"/>
                  </a:rPr>
                </a:br>
                <a:r>
                  <a:rPr lang="en-AU" b="1" dirty="0" smtClean="0">
                    <a:latin typeface="Helvetica" pitchFamily="34" charset="0"/>
                  </a:rPr>
                  <a:t>storage and handling of cheese.</a:t>
                </a:r>
              </a:p>
            </p:txBody>
          </p:sp>
        </p:grpSp>
        <p:sp>
          <p:nvSpPr>
            <p:cNvPr id="17" name="AutoShape 11"/>
            <p:cNvSpPr>
              <a:spLocks noChangeArrowheads="1"/>
            </p:cNvSpPr>
            <p:nvPr/>
          </p:nvSpPr>
          <p:spPr bwMode="gray">
            <a:xfrm>
              <a:off x="2771800" y="4785394"/>
              <a:ext cx="5486400" cy="731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tint val="5882"/>
                    <a:invGamma/>
                  </a:schemeClr>
                </a:gs>
              </a:gsLst>
              <a:lin ang="0" scaled="1"/>
            </a:gradFill>
            <a:ln w="38100" algn="ctr">
              <a:solidFill>
                <a:schemeClr val="accent3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ts val="600"/>
                </a:spcBef>
                <a:spcAft>
                  <a:spcPts val="1200"/>
                </a:spcAft>
              </a:pPr>
              <a:r>
                <a:rPr lang="en-AU" b="1" smtClean="0">
                  <a:latin typeface="Helvetica" pitchFamily="34" charset="0"/>
                </a:rPr>
                <a:t>Access and use cheese leftovers appropriately</a:t>
              </a:r>
              <a:r>
                <a:rPr lang="en-AU" smtClean="0"/>
                <a:t>.</a:t>
              </a:r>
              <a:endParaRPr lang="en-AU" b="1" smtClean="0">
                <a:latin typeface="Helvetica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7467600" cy="576064"/>
          </a:xfrm>
        </p:spPr>
        <p:txBody>
          <a:bodyPr>
            <a:no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Store cheese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340768"/>
            <a:ext cx="7467600" cy="4741987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err="1" smtClean="0">
                <a:latin typeface="Helvetica" pitchFamily="34" charset="0"/>
              </a:rPr>
              <a:t>Minimise</a:t>
            </a:r>
            <a:r>
              <a:rPr lang="en-US" sz="2200" b="1" dirty="0" smtClean="0">
                <a:latin typeface="Helvetica" pitchFamily="34" charset="0"/>
              </a:rPr>
              <a:t> wastage through correct purchasing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Only what is required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Smaller unit sizes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Emergency supply.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18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6" name="Picture 5" descr="Cheese and Vegi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48064" y="2996952"/>
            <a:ext cx="3048000" cy="2033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7467600" cy="720080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Store cheese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12776"/>
            <a:ext cx="7467600" cy="4669979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Minimise</a:t>
            </a:r>
            <a:r>
              <a:rPr lang="en-US" sz="2200" b="1" dirty="0" smtClean="0">
                <a:latin typeface="Helvetica" pitchFamily="34" charset="0"/>
              </a:rPr>
              <a:t> wastage through correct storage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keep chilled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Covered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Away from strong </a:t>
            </a:r>
            <a:r>
              <a:rPr lang="en-AU" sz="2200" dirty="0" smtClean="0">
                <a:latin typeface="Helvetica" pitchFamily="34" charset="0"/>
              </a:rPr>
              <a:t>odours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Re-wrap securely to prevent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drying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Warp securely to prevent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mould growing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Check regularly,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19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hees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20072" y="2647928"/>
            <a:ext cx="3048000" cy="23652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eese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67744" y="4221088"/>
            <a:ext cx="3048000" cy="2033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620688"/>
            <a:ext cx="7467600" cy="648072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Store cheese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12776"/>
            <a:ext cx="7467600" cy="4669979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Apply appropriate hygiene standards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Handle with clean hands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Cut with clean utensils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Store in clean food safe containers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Re-wrap securely to avoid air drying.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20</a:t>
            </a:fld>
            <a:endParaRPr lang="en-US" dirty="0"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692696"/>
            <a:ext cx="7467600" cy="638944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6600"/>
                </a:solidFill>
                <a:latin typeface="Helvetica" pitchFamily="34" charset="0"/>
              </a:rPr>
              <a:t>Store cheese</a:t>
            </a:r>
            <a:endParaRPr lang="en-US" sz="3200" b="1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Access and use leftovers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Utilise</a:t>
            </a:r>
            <a:r>
              <a:rPr lang="en-US" sz="2200" dirty="0" smtClean="0">
                <a:latin typeface="Helvetica" pitchFamily="34" charset="0"/>
              </a:rPr>
              <a:t> broken pieces in other cooking:</a:t>
            </a:r>
          </a:p>
          <a:p>
            <a:pPr marL="441325" indent="-441325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Sauces</a:t>
            </a:r>
          </a:p>
          <a:p>
            <a:pPr marL="441325" indent="-441325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Biscuits</a:t>
            </a:r>
          </a:p>
          <a:p>
            <a:pPr marL="441325" indent="-441325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Cakes.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i="1" dirty="0" smtClean="0">
                <a:latin typeface="Helvetica" pitchFamily="34" charset="0"/>
              </a:rPr>
              <a:t>First in first out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Sala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40152" y="1988840"/>
            <a:ext cx="2337816" cy="30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Helvetica" pitchFamily="34" charset="0"/>
              </a:rPr>
              <a:t>Slide </a:t>
            </a:r>
            <a:fld id="{99F70BFD-648D-45AD-A8FC-006D48EF3778}" type="slidenum">
              <a:rPr lang="en-US" smtClean="0">
                <a:latin typeface="Helvetica" pitchFamily="34" charset="0"/>
              </a:rPr>
              <a:pPr>
                <a:defRPr/>
              </a:pPr>
              <a:t>22</a:t>
            </a:fld>
            <a:endParaRPr lang="en-US" dirty="0">
              <a:latin typeface="Helvetica" pitchFamily="34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395536" y="1022350"/>
            <a:ext cx="7992888" cy="4566890"/>
            <a:chOff x="395536" y="1022350"/>
            <a:chExt cx="7992888" cy="4566890"/>
          </a:xfrm>
        </p:grpSpPr>
        <p:sp>
          <p:nvSpPr>
            <p:cNvPr id="5" name="Title 1"/>
            <p:cNvSpPr>
              <a:spLocks/>
            </p:cNvSpPr>
            <p:nvPr/>
          </p:nvSpPr>
          <p:spPr bwMode="auto">
            <a:xfrm>
              <a:off x="3203848" y="1022350"/>
              <a:ext cx="5184576" cy="45668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buClr>
                  <a:srgbClr val="FFFFFF"/>
                </a:buClr>
              </a:pPr>
              <a:r>
                <a:rPr lang="en-US" sz="2800" b="1" dirty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  <a:t>Congratulations!  </a:t>
              </a:r>
              <a:br>
                <a:rPr lang="en-US" sz="2800" b="1" dirty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</a:br>
              <a:r>
                <a:rPr lang="en-US" sz="2800" b="1" dirty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  <a:t>You’ve completed</a:t>
              </a:r>
              <a:br>
                <a:rPr lang="en-US" sz="2800" b="1" dirty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</a:br>
              <a:r>
                <a:rPr lang="en-US" sz="2800" b="1" dirty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  <a:t> </a:t>
              </a:r>
              <a:br>
                <a:rPr lang="en-US" sz="2800" b="1" dirty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</a:br>
              <a:r>
                <a:rPr lang="en-US" sz="2800" b="1" i="1" dirty="0" smtClean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  <a:t>‘</a:t>
              </a:r>
              <a:r>
                <a:rPr lang="en-AU" sz="2800" b="1" i="1" dirty="0" smtClean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  <a:t>Select prepare and serve various cheeses</a:t>
              </a:r>
              <a:r>
                <a:rPr lang="en-US" sz="2800" b="1" dirty="0" smtClean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  <a:t>’ </a:t>
              </a:r>
              <a:r>
                <a:rPr lang="en-US" sz="2800" b="1" i="1" dirty="0" smtClean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  <a:t/>
              </a:r>
              <a:br>
                <a:rPr lang="en-US" sz="2800" b="1" i="1" dirty="0" smtClean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</a:br>
              <a:r>
                <a:rPr lang="en-US" sz="2800" b="1" dirty="0" smtClean="0">
                  <a:solidFill>
                    <a:srgbClr val="FF6600"/>
                  </a:solidFill>
                  <a:latin typeface="Helvetica" pitchFamily="34" charset="0"/>
                  <a:ea typeface="+mj-ea"/>
                  <a:cs typeface="+mj-cs"/>
                </a:rPr>
                <a:t>unit</a:t>
              </a:r>
              <a:endParaRPr lang="en-AU" sz="2800" b="1" dirty="0">
                <a:solidFill>
                  <a:srgbClr val="FF6600"/>
                </a:solidFill>
                <a:latin typeface="Helvetica" pitchFamily="34" charset="0"/>
                <a:ea typeface="+mj-ea"/>
                <a:cs typeface="+mj-cs"/>
              </a:endParaRPr>
            </a:p>
          </p:txBody>
        </p:sp>
        <p:pic>
          <p:nvPicPr>
            <p:cNvPr id="6" name="Picture 10" descr="MCj0425818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95536" y="1844824"/>
              <a:ext cx="2808287" cy="2370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>
    <p:sndAc>
      <p:stSnd>
        <p:snd r:embed="rId3" name="applause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SEAN PPT Template 010611 MV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ASEAN PPT Template 010611 MV</Template>
  <TotalTime>636</TotalTime>
  <Words>973</Words>
  <Application>Microsoft Office PowerPoint</Application>
  <PresentationFormat>On-screen Show (4:3)</PresentationFormat>
  <Paragraphs>266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ASEAN PPT Template 010611 MV</vt:lpstr>
      <vt:lpstr>SELECT PREPARE AND SERVE VARIOUS CHEESES</vt:lpstr>
      <vt:lpstr>Select prepare and serve various cheeses</vt:lpstr>
      <vt:lpstr>Select prepare and serve various cheeses</vt:lpstr>
      <vt:lpstr>Select prepare and serve various cheeses</vt:lpstr>
      <vt:lpstr>Select supplier</vt:lpstr>
      <vt:lpstr>Select supplier</vt:lpstr>
      <vt:lpstr>Select supplier</vt:lpstr>
      <vt:lpstr>Select supplier</vt:lpstr>
      <vt:lpstr>Select supplier</vt:lpstr>
      <vt:lpstr>Select prepare and serve various cheeses</vt:lpstr>
      <vt:lpstr>Prepare cheese for service</vt:lpstr>
      <vt:lpstr>Prepare cheese for service</vt:lpstr>
      <vt:lpstr>Prepare cheese for service</vt:lpstr>
      <vt:lpstr>Select prepare and serve various cheeses</vt:lpstr>
      <vt:lpstr>Present cheese</vt:lpstr>
      <vt:lpstr>Present cheeses</vt:lpstr>
      <vt:lpstr>Select prepare and serve various cheeses</vt:lpstr>
      <vt:lpstr>Store cheese</vt:lpstr>
      <vt:lpstr>Store cheese</vt:lpstr>
      <vt:lpstr>Store cheese</vt:lpstr>
      <vt:lpstr>Store cheese</vt:lpstr>
      <vt:lpstr>Slide 22</vt:lpstr>
    </vt:vector>
  </TitlesOfParts>
  <Company>William Angliss Institute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 PREPARE AND SERVE VARIOUS CHEESES</dc:title>
  <dc:creator>Administrator</dc:creator>
  <cp:lastModifiedBy>Administrator</cp:lastModifiedBy>
  <cp:revision>59</cp:revision>
  <dcterms:created xsi:type="dcterms:W3CDTF">2012-02-22T01:43:17Z</dcterms:created>
  <dcterms:modified xsi:type="dcterms:W3CDTF">2012-08-16T04:19:55Z</dcterms:modified>
</cp:coreProperties>
</file>