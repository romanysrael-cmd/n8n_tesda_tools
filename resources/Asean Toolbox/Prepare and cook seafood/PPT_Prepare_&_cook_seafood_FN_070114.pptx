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1"/>
  </p:notesMasterIdLst>
  <p:handoutMasterIdLst>
    <p:handoutMasterId r:id="rId52"/>
  </p:handoutMasterIdLst>
  <p:sldIdLst>
    <p:sldId id="256" r:id="rId2"/>
    <p:sldId id="257" r:id="rId3"/>
    <p:sldId id="258" r:id="rId4"/>
    <p:sldId id="259" r:id="rId5"/>
    <p:sldId id="262" r:id="rId6"/>
    <p:sldId id="291" r:id="rId7"/>
    <p:sldId id="292" r:id="rId8"/>
    <p:sldId id="294" r:id="rId9"/>
    <p:sldId id="307" r:id="rId10"/>
    <p:sldId id="293" r:id="rId11"/>
    <p:sldId id="295" r:id="rId12"/>
    <p:sldId id="263" r:id="rId13"/>
    <p:sldId id="264" r:id="rId14"/>
    <p:sldId id="308" r:id="rId15"/>
    <p:sldId id="265" r:id="rId16"/>
    <p:sldId id="266" r:id="rId17"/>
    <p:sldId id="267" r:id="rId18"/>
    <p:sldId id="268" r:id="rId19"/>
    <p:sldId id="296" r:id="rId20"/>
    <p:sldId id="269" r:id="rId21"/>
    <p:sldId id="298" r:id="rId22"/>
    <p:sldId id="297" r:id="rId23"/>
    <p:sldId id="300" r:id="rId24"/>
    <p:sldId id="29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301" r:id="rId34"/>
    <p:sldId id="303" r:id="rId35"/>
    <p:sldId id="278" r:id="rId36"/>
    <p:sldId id="279" r:id="rId37"/>
    <p:sldId id="280" r:id="rId38"/>
    <p:sldId id="281" r:id="rId39"/>
    <p:sldId id="282" r:id="rId40"/>
    <p:sldId id="284" r:id="rId41"/>
    <p:sldId id="285" r:id="rId42"/>
    <p:sldId id="286" r:id="rId43"/>
    <p:sldId id="304" r:id="rId44"/>
    <p:sldId id="305" r:id="rId45"/>
    <p:sldId id="306" r:id="rId46"/>
    <p:sldId id="287" r:id="rId47"/>
    <p:sldId id="288" r:id="rId48"/>
    <p:sldId id="289" r:id="rId49"/>
    <p:sldId id="290" r:id="rId50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35" autoAdjust="0"/>
    <p:restoredTop sz="72944" autoAdjust="0"/>
  </p:normalViewPr>
  <p:slideViewPr>
    <p:cSldViewPr>
      <p:cViewPr varScale="1">
        <p:scale>
          <a:sx n="67" d="100"/>
          <a:sy n="67" d="100"/>
        </p:scale>
        <p:origin x="189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en-GB" dirty="0">
              <a:latin typeface="Helvetica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5" y="1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E6916107-BD3A-45E2-B124-A5ED60630F4B}" type="datetimeFigureOut">
              <a:rPr lang="en-US" smtClean="0">
                <a:latin typeface="Helvetica" pitchFamily="34" charset="0"/>
              </a:rPr>
              <a:pPr/>
              <a:t>3/31/2015</a:t>
            </a:fld>
            <a:endParaRPr lang="en-GB" dirty="0">
              <a:latin typeface="Helvetic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629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en-GB" dirty="0">
              <a:latin typeface="Helvetic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5" y="9721629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5905CC0A-F53C-4267-913E-3202B6ED95E3}" type="slidenum">
              <a:rPr lang="en-GB" smtClean="0">
                <a:latin typeface="Helvetica" pitchFamily="34" charset="0"/>
              </a:rPr>
              <a:pPr/>
              <a:t>‹#›</a:t>
            </a:fld>
            <a:endParaRPr lang="en-GB" dirty="0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1604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>
                <a:latin typeface="Helvetic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1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>
                <a:latin typeface="Helvetica" pitchFamily="34" charset="0"/>
              </a:defRPr>
            </a:lvl1pPr>
          </a:lstStyle>
          <a:p>
            <a:fld id="{BC34F173-2430-41D6-9CA5-C9CD3BDF7E96}" type="datetimeFigureOut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9" tIns="47380" rIns="94759" bIns="4738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59" tIns="47380" rIns="94759" bIns="4738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>
                <a:latin typeface="Helvetic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>
                <a:latin typeface="Helvetica" pitchFamily="34" charset="0"/>
              </a:defRPr>
            </a:lvl1pPr>
          </a:lstStyle>
          <a:p>
            <a:fld id="{006CD3C9-0AF2-437D-9D2F-7B6B298CC3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82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Trainer</a:t>
            </a:r>
            <a:r>
              <a:rPr lang="en-US" baseline="0" dirty="0" smtClean="0"/>
              <a:t> welcomes trainees to class and explained the topic for today is “Prepare and cook seafood”.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831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endParaRPr lang="en-US" b="1" dirty="0" smtClean="0"/>
          </a:p>
          <a:p>
            <a:r>
              <a:rPr lang="en-US" dirty="0" smtClean="0"/>
              <a:t>Trainer</a:t>
            </a:r>
            <a:r>
              <a:rPr lang="en-US" baseline="0" dirty="0" smtClean="0"/>
              <a:t> advises students that assessment for this Unit may take several forms all of which are aimed at verifying they have achieved competency for the Unit as required.</a:t>
            </a:r>
          </a:p>
          <a:p>
            <a:endParaRPr lang="en-US" baseline="0" dirty="0" smtClean="0"/>
          </a:p>
          <a:p>
            <a:r>
              <a:rPr lang="en-US" baseline="0" dirty="0" smtClean="0"/>
              <a:t>Trainer indicates to students the methods of assessment that will be applied to them for this Unit. 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290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r>
              <a:rPr lang="en-US" dirty="0" smtClean="0"/>
              <a:t>Trainer advises students this Unit comprises five elements, as listed on the slide explaining: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Each Element comprises a number of Performance Criteria which will be identified throughout the class and explained in detail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Students can obtain more detail from their Trainee Manual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The course presents advice and information but where their workplace requirements differ to what is presented, the workplace practices and standards must be observed.</a:t>
            </a:r>
          </a:p>
          <a:p>
            <a:pPr>
              <a:buFontTx/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246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endParaRPr lang="en-US" dirty="0" smtClean="0"/>
          </a:p>
          <a:p>
            <a:pPr>
              <a:buFontTx/>
              <a:buNone/>
            </a:pPr>
            <a:r>
              <a:rPr lang="en-US" dirty="0" smtClean="0"/>
              <a:t>Relate</a:t>
            </a:r>
            <a:r>
              <a:rPr lang="en-US" baseline="0" dirty="0" smtClean="0"/>
              <a:t> the performance criteria to element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760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Students need to become familiar with the name of both freshwater</a:t>
            </a:r>
            <a:r>
              <a:rPr lang="en-US" b="0" baseline="0" dirty="0" smtClean="0"/>
              <a:t> and saltwater fish in the market place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799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r>
              <a:rPr lang="en-US" b="0" dirty="0" smtClean="0"/>
              <a:t>Even when you are in the same country like Australia fish can be the same but called by another name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480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Develop skills in purchasing</a:t>
            </a:r>
          </a:p>
          <a:p>
            <a:pPr>
              <a:buFontTx/>
              <a:buNone/>
            </a:pPr>
            <a:r>
              <a:rPr lang="en-US" b="0" dirty="0" smtClean="0"/>
              <a:t>Develop relationship with suppliers for their guidance</a:t>
            </a:r>
          </a:p>
          <a:p>
            <a:pPr>
              <a:buFontTx/>
              <a:buNone/>
            </a:pPr>
            <a:r>
              <a:rPr lang="en-US" b="1" dirty="0" smtClean="0"/>
              <a:t>Types:</a:t>
            </a:r>
          </a:p>
          <a:p>
            <a:pPr>
              <a:buFontTx/>
              <a:buNone/>
            </a:pPr>
            <a:r>
              <a:rPr lang="en-US" b="0" dirty="0" smtClean="0"/>
              <a:t>Fish can be round or flat</a:t>
            </a:r>
          </a:p>
          <a:p>
            <a:pPr>
              <a:buFontTx/>
              <a:buNone/>
            </a:pPr>
            <a:r>
              <a:rPr lang="en-US" b="0" dirty="0" smtClean="0"/>
              <a:t>Round are the most </a:t>
            </a:r>
            <a:r>
              <a:rPr lang="en-US" b="0" baseline="0" dirty="0" smtClean="0"/>
              <a:t> prolific; get more flesh from larger round fish;	2 fillets</a:t>
            </a:r>
          </a:p>
          <a:p>
            <a:pPr>
              <a:buFontTx/>
              <a:buNone/>
            </a:pPr>
            <a:r>
              <a:rPr lang="en-US" b="0" baseline="0" dirty="0" smtClean="0"/>
              <a:t>Flat fish have 4 fillets; they tend to be smaller in size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704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Develop skills in purchasing</a:t>
            </a:r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Develop relationship with suppliers for their guidance</a:t>
            </a:r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Flesh colour:</a:t>
            </a:r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Dark</a:t>
            </a:r>
            <a:r>
              <a:rPr lang="en-US" b="0" baseline="0" dirty="0" smtClean="0"/>
              <a:t> flesh fish have more oil; stronger more pronounced flavours; cooked to rare in centre</a:t>
            </a:r>
          </a:p>
          <a:p>
            <a:pPr>
              <a:buFont typeface="Arial" pitchFamily="34" charset="0"/>
              <a:buChar char="•"/>
            </a:pPr>
            <a:r>
              <a:rPr lang="en-US" b="0" baseline="0" dirty="0" smtClean="0"/>
              <a:t>White flesh have more delicate subtle flavours; need to be cooked totally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422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How can you identify</a:t>
            </a:r>
            <a:r>
              <a:rPr lang="en-US" b="0" baseline="0" dirty="0" smtClean="0"/>
              <a:t> and address these concerns?</a:t>
            </a:r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7637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dirty="0" smtClean="0"/>
              <a:t>Darne is a cheaper cut due to amount of bone</a:t>
            </a:r>
          </a:p>
          <a:p>
            <a:pPr>
              <a:buFontTx/>
              <a:buNone/>
            </a:pPr>
            <a:r>
              <a:rPr lang="en-US" dirty="0" smtClean="0"/>
              <a:t>Not as popular</a:t>
            </a:r>
            <a:r>
              <a:rPr lang="en-US" baseline="0" dirty="0" smtClean="0"/>
              <a:t> in Australia as customers prefer flesh to be bone free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319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endParaRPr lang="en-US" dirty="0" smtClean="0"/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1" dirty="0" smtClean="0">
                <a:latin typeface="Helvetica" pitchFamily="34" charset="0"/>
              </a:rPr>
              <a:t>Paupiette: </a:t>
            </a:r>
            <a:r>
              <a:rPr lang="en-US" sz="1200" dirty="0" smtClean="0">
                <a:latin typeface="Helvetica" pitchFamily="34" charset="0"/>
              </a:rPr>
              <a:t>Thin piece of flesh with stuffing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1" dirty="0" smtClean="0">
                <a:latin typeface="Helvetica" pitchFamily="34" charset="0"/>
              </a:rPr>
              <a:t>Delice: </a:t>
            </a:r>
            <a:r>
              <a:rPr lang="en-US" sz="1200" dirty="0" smtClean="0">
                <a:latin typeface="Helvetica" pitchFamily="34" charset="0"/>
              </a:rPr>
              <a:t>delight; small delicate piece of flesh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dirty="0" smtClean="0">
                <a:latin typeface="Helvetica" pitchFamily="34" charset="0"/>
              </a:rPr>
              <a:t>Not seen as much due to production costs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1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1" dirty="0" smtClean="0">
                <a:latin typeface="Helvetica" pitchFamily="34" charset="0"/>
              </a:rPr>
              <a:t>Goujon : </a:t>
            </a:r>
            <a:r>
              <a:rPr lang="en-US" sz="1200" dirty="0" smtClean="0">
                <a:latin typeface="Helvetica" pitchFamily="34" charset="0"/>
              </a:rPr>
              <a:t>pin, wooden dowel; thin strip of flesh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1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dirty="0" smtClean="0">
                <a:latin typeface="Helvetica" pitchFamily="34" charset="0"/>
              </a:rPr>
              <a:t>Seen more as ease of production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1200" dirty="0" smtClean="0">
              <a:latin typeface="Helvetica" pitchFamily="34" charset="0"/>
            </a:endParaRP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9833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1" dirty="0" smtClean="0"/>
              <a:t>Supremes</a:t>
            </a:r>
            <a:r>
              <a:rPr lang="en-US" dirty="0" smtClean="0"/>
              <a:t> are easiest to prepare as long as sizes are consistent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grilled; pan fried; oven baked; steamed</a:t>
            </a:r>
            <a:endParaRPr lang="en-US" dirty="0" smtClean="0"/>
          </a:p>
          <a:p>
            <a:pPr>
              <a:buFontTx/>
              <a:buNone/>
            </a:pPr>
            <a:endParaRPr lang="en-US" dirty="0" smtClean="0"/>
          </a:p>
          <a:p>
            <a:pPr>
              <a:buFontTx/>
              <a:buNone/>
            </a:pPr>
            <a:r>
              <a:rPr lang="en-US" b="1" dirty="0" smtClean="0"/>
              <a:t>Fillets</a:t>
            </a:r>
            <a:r>
              <a:rPr lang="en-US" dirty="0" smtClean="0"/>
              <a:t> from smaller fish, bream,</a:t>
            </a:r>
            <a:r>
              <a:rPr lang="en-US" baseline="0" dirty="0" smtClean="0"/>
              <a:t> snapper, trout</a:t>
            </a:r>
          </a:p>
          <a:p>
            <a:pPr>
              <a:buFontTx/>
              <a:buNone/>
            </a:pPr>
            <a:r>
              <a:rPr lang="en-US" baseline="0" dirty="0" smtClean="0"/>
              <a:t>grilled; pan fried; oven baked; steamed; battered or crumbed then deep fried</a:t>
            </a:r>
            <a:endParaRPr lang="en-US" dirty="0" smtClean="0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603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endParaRPr lang="en-US" b="1" dirty="0" smtClean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dirty="0" smtClean="0">
                <a:latin typeface="Helvetica" pitchFamily="34" charset="0"/>
              </a:rPr>
              <a:t>Terms of trade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dirty="0" smtClean="0">
                <a:latin typeface="Helvetica" pitchFamily="34" charset="0"/>
              </a:rPr>
              <a:t>How do they expect the produce to be paid for? Immediately; 7days; monthly?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1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1" dirty="0" smtClean="0">
                <a:latin typeface="Helvetica" pitchFamily="34" charset="0"/>
              </a:rPr>
              <a:t>Ability to supply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dirty="0" smtClean="0">
                <a:latin typeface="Helvetica" pitchFamily="34" charset="0"/>
              </a:rPr>
              <a:t>Can supplier supply what is required?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1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1" dirty="0" smtClean="0">
                <a:latin typeface="Helvetica" pitchFamily="34" charset="0"/>
              </a:rPr>
              <a:t>Ease of delivery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dirty="0" smtClean="0">
                <a:latin typeface="Helvetica" pitchFamily="34" charset="0"/>
              </a:rPr>
              <a:t>Is the supplier local; is</a:t>
            </a:r>
            <a:r>
              <a:rPr lang="en-US" sz="1200" baseline="0" dirty="0" smtClean="0">
                <a:latin typeface="Helvetica" pitchFamily="34" charset="0"/>
              </a:rPr>
              <a:t> product local or imported; can supply be rapid; today?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1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1" dirty="0" smtClean="0">
                <a:latin typeface="Helvetica" pitchFamily="34" charset="0"/>
              </a:rPr>
              <a:t>Quality and price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0" dirty="0" smtClean="0">
                <a:latin typeface="Helvetica" pitchFamily="34" charset="0"/>
              </a:rPr>
              <a:t>Is the quality up too standard and is the price they ask acceptable?</a:t>
            </a:r>
          </a:p>
          <a:p>
            <a:pPr>
              <a:buFontTx/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251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endParaRPr lang="en-US" b="1" dirty="0" smtClean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dirty="0" smtClean="0">
                <a:latin typeface="Helvetica" pitchFamily="34" charset="0"/>
              </a:rPr>
              <a:t>Discuss the importance</a:t>
            </a:r>
            <a:r>
              <a:rPr lang="en-US" sz="1200" baseline="0" dirty="0" smtClean="0">
                <a:latin typeface="Helvetica" pitchFamily="34" charset="0"/>
              </a:rPr>
              <a:t> of </a:t>
            </a:r>
            <a:r>
              <a:rPr lang="en-US" sz="1200" baseline="0" smtClean="0">
                <a:latin typeface="Helvetica" pitchFamily="34" charset="0"/>
              </a:rPr>
              <a:t>these points.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258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Only</a:t>
            </a:r>
            <a:r>
              <a:rPr lang="en-US" b="0" baseline="0" dirty="0" smtClean="0"/>
              <a:t> purchase enough product that can be used within a purchasing cycle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Can the product that has been purchased be stored safely when delivered?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Has the product been purchased correctly</a:t>
            </a:r>
          </a:p>
          <a:p>
            <a:pPr>
              <a:buFontTx/>
              <a:buNone/>
            </a:pPr>
            <a:r>
              <a:rPr lang="en-US" b="0" baseline="0" dirty="0" smtClean="0"/>
              <a:t>Size, quantity, shape, number, flavour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8061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Yield testing is about how much product from given amount</a:t>
            </a:r>
            <a:r>
              <a:rPr lang="en-US" b="0" baseline="0" dirty="0" smtClean="0"/>
              <a:t> of produce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If a whole fish is purchased or just whole fillets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Question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How many serves of the same size can be obtained from each fillet?</a:t>
            </a:r>
          </a:p>
          <a:p>
            <a:pPr>
              <a:buFontTx/>
              <a:buNone/>
            </a:pPr>
            <a:r>
              <a:rPr lang="en-US" b="0" baseline="0" dirty="0" smtClean="0"/>
              <a:t>What is the cost</a:t>
            </a:r>
            <a:r>
              <a:rPr lang="en-US" b="1" baseline="0" dirty="0" smtClean="0"/>
              <a:t> ‘per serve’ </a:t>
            </a:r>
            <a:r>
              <a:rPr lang="en-US" b="0" baseline="0" dirty="0" smtClean="0"/>
              <a:t>against the cost of the fillet </a:t>
            </a:r>
            <a:r>
              <a:rPr lang="en-US" b="1" baseline="0" dirty="0" smtClean="0"/>
              <a:t>per kilo?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What can be done with off cuts?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6779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Relate the performance criteria to element</a:t>
            </a:r>
            <a:r>
              <a:rPr lang="en-US" b="0" baseline="0" dirty="0" smtClean="0"/>
              <a:t> 2.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780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Student need to attach names to what is available in market place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These are names of Australian Saltwater and freshwater crustacean. Many</a:t>
            </a:r>
            <a:r>
              <a:rPr lang="en-US" b="0" baseline="0" dirty="0" smtClean="0"/>
              <a:t> types are available in Asian markets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31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Moreton Bay and</a:t>
            </a:r>
            <a:r>
              <a:rPr lang="en-US" b="0" baseline="0" dirty="0" smtClean="0"/>
              <a:t> Balmain bug is the same species; both called Slipper Lobster; but they do look slightly different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Research this difference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Many types of prawn in marketplace; large and small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Mud crabs: BIG claws; count your fingers before and after handling!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9552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Lobster: some say the star of the seafood world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Expensive and enjoyed across the world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Comes in all forms; live; fresh; frozen; whole ; tail in shell; tail meat only</a:t>
            </a:r>
          </a:p>
          <a:p>
            <a:pPr>
              <a:buFontTx/>
              <a:buNone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2021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Smaller than lobsters; crayfish are freshwater crustacean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Need more per serve; various variety; 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Students should research availability</a:t>
            </a:r>
          </a:p>
          <a:p>
            <a:pPr>
              <a:buFontTx/>
              <a:buNone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4040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Crabs are available fresh frozen or canned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Availability</a:t>
            </a:r>
            <a:r>
              <a:rPr lang="en-US" b="0" baseline="0" dirty="0" smtClean="0"/>
              <a:t> varies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Check local suppliers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7753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1" dirty="0" smtClean="0"/>
              <a:t>Mussels</a:t>
            </a:r>
            <a:r>
              <a:rPr lang="en-US" b="0" dirty="0" smtClean="0"/>
              <a:t> are mostly purchased live; 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New Zealand Green Lip Mussels are processed and frozen; frozen mussel meat is available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need to check before cooking for dead;</a:t>
            </a:r>
            <a:r>
              <a:rPr lang="en-US" b="0" baseline="0" dirty="0" smtClean="0"/>
              <a:t> 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after cleaning plunge into cold water, 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if it floats; discard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0372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Can be purchased fresh but these are seasonal; check with suppliers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Scallop meat is available all years round</a:t>
            </a:r>
            <a:r>
              <a:rPr lang="en-US" b="0" baseline="0" dirty="0" smtClean="0"/>
              <a:t> frozen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With roe attached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No roe attached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Check with suppliers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4882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Supplier must be suitable to your needs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Can you get what you need every day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Is it fresh</a:t>
            </a:r>
            <a:r>
              <a:rPr lang="en-US" b="0" baseline="0" dirty="0" smtClean="0"/>
              <a:t> or </a:t>
            </a:r>
            <a:r>
              <a:rPr lang="en-US" b="0" dirty="0" smtClean="0"/>
              <a:t>frozen?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4176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Purchase only what is required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Ensure what you receive is what you ordered  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6516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When purchasing</a:t>
            </a:r>
            <a:r>
              <a:rPr lang="en-US" b="0" baseline="0" dirty="0" smtClean="0"/>
              <a:t> seafood portion yield still needs to be performed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How much is going to be put into each serve?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Shell fish have a lot of waste; shells</a:t>
            </a:r>
          </a:p>
          <a:p>
            <a:pPr>
              <a:buFontTx/>
              <a:buNone/>
            </a:pPr>
            <a:endParaRPr lang="en-US" b="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5098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sz="1200" kern="1200" dirty="0" smtClean="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rPr>
              <a:t>Relate the performance criteria to element 3. 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8355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Ensure the portion size required is obtained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If portions are too small customers will not be</a:t>
            </a:r>
            <a:r>
              <a:rPr lang="en-US" b="0" baseline="0" dirty="0" smtClean="0"/>
              <a:t> happy and not return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If portion sizes are too large then profit margins will not be obtained; boss not happy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Are the staff capable of performing tasks competently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9020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If all parts of the fish are not going</a:t>
            </a:r>
            <a:r>
              <a:rPr lang="en-US" b="0" baseline="0" dirty="0" smtClean="0"/>
              <a:t> to be utilised then why purchase whole fish?</a:t>
            </a:r>
          </a:p>
          <a:p>
            <a:pPr>
              <a:buFontTx/>
              <a:buNone/>
            </a:pPr>
            <a:r>
              <a:rPr lang="en-US" b="0" baseline="0" dirty="0" smtClean="0"/>
              <a:t>These decisions need to be asked as it will determine requirements when setting up business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How is food to be cooked?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Is customer going to select from live fish?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What skill level is needed in staff?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What type of customer am I going to attract?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3208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Equipment for all steps may be required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Seafood storage  areas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Cooling rooms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Workbenches and large cleaning areas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Sufficient stoves; grills; wok burners; ovens; steamers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Equipment required for hot holding; Bain Maries; hot boxes</a:t>
            </a:r>
          </a:p>
          <a:p>
            <a:pPr>
              <a:buFontTx/>
              <a:buNone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3460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Keeping of live animals</a:t>
            </a:r>
            <a:r>
              <a:rPr lang="en-US" b="0" baseline="0" dirty="0" smtClean="0"/>
              <a:t> is extra work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Tanks must be clean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Water must be clean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Keeping tanks will cost extra money and extra staff cost in caring for crustaceans and fish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1152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Shellfish (Lobsters and crayfish) must be stunned before killing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Ice slurry (3 parts ice/1 part water) with salt for 20 minutes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Another</a:t>
            </a:r>
            <a:r>
              <a:rPr lang="en-US" b="0" baseline="0" dirty="0" smtClean="0"/>
              <a:t> practice is placing in freezer for 15 minutes before cooking or cutting takes place</a:t>
            </a:r>
          </a:p>
          <a:p>
            <a:pPr>
              <a:buFontTx/>
              <a:buNone/>
            </a:pPr>
            <a:r>
              <a:rPr lang="en-US" b="0" baseline="0" dirty="0" smtClean="0"/>
              <a:t>Remove from freezer and plunge into boiling water immediately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9447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Killing live seafood humanely takes experience and expertise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If this process is going to be part of the kitchen process ensure that staff</a:t>
            </a:r>
            <a:r>
              <a:rPr lang="en-US" b="0" baseline="0" dirty="0" smtClean="0"/>
              <a:t> are properly trained and competent in this skill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9520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Relate performance criteria to element 4.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0376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Seafood and fish will can</a:t>
            </a:r>
            <a:r>
              <a:rPr lang="en-US" b="0" baseline="0" dirty="0" smtClean="0"/>
              <a:t> be cooked many ways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Whole fish: poach; steam; bake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Portions; grill; fry; deep fry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Off cuts and small portions; Stew; 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1757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Find a recipe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Replicate</a:t>
            </a:r>
            <a:r>
              <a:rPr lang="en-US" b="0" baseline="0" dirty="0" smtClean="0"/>
              <a:t> that recipe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Obtain feedback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Revise where needed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175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Rarely is cooked seafood ‘held’ after cooking before serving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Buffet food is the main area where seafood may be held but then it is only for short periods of time. </a:t>
            </a:r>
          </a:p>
          <a:p>
            <a:pPr>
              <a:buFontTx/>
              <a:buNone/>
            </a:pPr>
            <a:r>
              <a:rPr lang="en-US" b="0" dirty="0" smtClean="0"/>
              <a:t>Seafood normally cooked to order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Seafood casseroles</a:t>
            </a:r>
            <a:r>
              <a:rPr lang="en-US" b="0" baseline="0" dirty="0" smtClean="0"/>
              <a:t> may be held but whole pieces tend to break up if stirred too much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0983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Many ways to present seafood</a:t>
            </a:r>
            <a:r>
              <a:rPr lang="en-US" b="0" baseline="0" dirty="0" smtClean="0"/>
              <a:t> dish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Final decision is up to Chef of the kitchen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6977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Garnishes need to related to the dish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Need to be simple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Need to be fresh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6207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Relate performance criteria to element 5.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0676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Keeping live fish and crustacean</a:t>
            </a:r>
            <a:r>
              <a:rPr lang="en-US" b="0" baseline="0" dirty="0" smtClean="0"/>
              <a:t> has problems and responsibility of its own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Water storage area needs to be maintained and up to standard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Care of live animals need to be followed</a:t>
            </a:r>
          </a:p>
          <a:p>
            <a:pPr>
              <a:buFontTx/>
              <a:buNone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3015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Fresh killed fish need to be kept chilled as close to</a:t>
            </a:r>
            <a:r>
              <a:rPr lang="en-US" b="0" baseline="0" dirty="0" smtClean="0"/>
              <a:t> 0</a:t>
            </a:r>
            <a:r>
              <a:rPr lang="en-US" b="0" baseline="0" dirty="0" smtClean="0">
                <a:latin typeface="Helvetica"/>
              </a:rPr>
              <a:t>°C as possible</a:t>
            </a:r>
          </a:p>
          <a:p>
            <a:pPr>
              <a:buFontTx/>
              <a:buNone/>
            </a:pPr>
            <a:r>
              <a:rPr lang="en-US" b="0" baseline="0" dirty="0" smtClean="0">
                <a:latin typeface="Helvetica"/>
              </a:rPr>
              <a:t>If ice is to be used then a clean cloth laid over fish then ice over cloth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7825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Vacuum packed foods need to be kept in single layers to ensure  seal of packaging is not compromised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64392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Correct storage of fresh live shellfish</a:t>
            </a:r>
            <a:r>
              <a:rPr lang="en-US" b="0" baseline="0" dirty="0" smtClean="0"/>
              <a:t> and storage life.</a:t>
            </a:r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61858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When thawing frozen product care needs to be taken that it is a controlled environment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If thawed out</a:t>
            </a:r>
            <a:r>
              <a:rPr lang="en-US" b="0" baseline="0" dirty="0" smtClean="0"/>
              <a:t> of </a:t>
            </a:r>
            <a:r>
              <a:rPr lang="en-US" b="0" baseline="0" dirty="0" err="1" smtClean="0"/>
              <a:t>coolroom</a:t>
            </a:r>
            <a:r>
              <a:rPr lang="en-US" b="0" baseline="0" dirty="0" smtClean="0"/>
              <a:t> product needs to be watched closely to ensure no contamination occurs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55456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Product must be in correct containers</a:t>
            </a:r>
          </a:p>
          <a:p>
            <a:pPr>
              <a:buFontTx/>
              <a:buNone/>
            </a:pPr>
            <a:r>
              <a:rPr lang="en-US" b="0" dirty="0" smtClean="0"/>
              <a:t>Use no container for food storage that has stored chemicals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Ensure shellfish</a:t>
            </a:r>
            <a:r>
              <a:rPr lang="en-US" b="0" baseline="0" dirty="0" smtClean="0"/>
              <a:t> are in stress free environment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Change containers as needed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85028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dirty="0" smtClean="0"/>
              <a:t>Ensure labeling is correct.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84654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advise: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r>
              <a:rPr lang="en-US" sz="1200" b="1" dirty="0" smtClean="0">
                <a:latin typeface="Helvetica" pitchFamily="34" charset="0"/>
              </a:rPr>
              <a:t>Keep equipment in efficient running conditions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r>
              <a:rPr lang="en-US" sz="1200" dirty="0" smtClean="0">
                <a:latin typeface="Helvetica" pitchFamily="34" charset="0"/>
              </a:rPr>
              <a:t>Keep coolrooms and freezers</a:t>
            </a:r>
            <a:r>
              <a:rPr lang="en-US" sz="1200" baseline="0" dirty="0" smtClean="0">
                <a:latin typeface="Helvetica" pitchFamily="34" charset="0"/>
              </a:rPr>
              <a:t> serviced to ensure efficient operation</a:t>
            </a:r>
            <a:endParaRPr lang="en-US" sz="1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endParaRPr lang="en-US" sz="1200" b="1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r>
              <a:rPr lang="en-US" sz="1200" b="1" dirty="0" smtClean="0">
                <a:latin typeface="Helvetica" pitchFamily="34" charset="0"/>
              </a:rPr>
              <a:t>Keep environment clean and tidy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r>
              <a:rPr lang="en-US" sz="1200" dirty="0" smtClean="0">
                <a:latin typeface="Helvetica" pitchFamily="34" charset="0"/>
              </a:rPr>
              <a:t>Clean coolroom on daily basis,</a:t>
            </a:r>
            <a:r>
              <a:rPr lang="en-US" sz="1200" baseline="0" dirty="0" smtClean="0">
                <a:latin typeface="Helvetica" pitchFamily="34" charset="0"/>
              </a:rPr>
              <a:t> check all stock; change storage tray and discard melted ice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endParaRPr lang="en-US" sz="1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r>
              <a:rPr lang="en-US" sz="1200" b="1" dirty="0" smtClean="0">
                <a:latin typeface="Helvetica" pitchFamily="34" charset="0"/>
              </a:rPr>
              <a:t>Remove old stock when date expires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r>
              <a:rPr lang="en-US" sz="1200" dirty="0" smtClean="0">
                <a:latin typeface="Helvetica" pitchFamily="34" charset="0"/>
              </a:rPr>
              <a:t>Check for old stock; discard old stock; rotate old</a:t>
            </a:r>
            <a:r>
              <a:rPr lang="en-US" sz="1200" baseline="0" dirty="0" smtClean="0">
                <a:latin typeface="Helvetica" pitchFamily="34" charset="0"/>
              </a:rPr>
              <a:t> and new stock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endParaRPr lang="en-US" sz="1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r>
              <a:rPr lang="en-US" sz="1200" b="1" dirty="0" smtClean="0">
                <a:latin typeface="Helvetica" pitchFamily="34" charset="0"/>
              </a:rPr>
              <a:t>Ensure temperatures are correct for efficient storage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r>
              <a:rPr lang="en-US" sz="1200" b="0" dirty="0" smtClean="0">
                <a:latin typeface="Helvetica" pitchFamily="34" charset="0"/>
              </a:rPr>
              <a:t>Check temperatures of each area to ensure correct as they are intended to be</a:t>
            </a:r>
          </a:p>
          <a:p>
            <a:pPr>
              <a:buFontTx/>
              <a:buNone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143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675B-16CB-449C-AA64-20E2E057E166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F223-D3A2-44F5-8051-829B2F23C0D4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3FE7D-417D-483E-A327-7AED21196679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8DDC-366E-4D96-B475-59755FBFA064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5C968-0B16-4ADF-91B3-C8ECABCFDA29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1DEA-061C-49D7-974B-38721BC66A5F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EFC2B-FC2E-46FA-B53A-48A270754B05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3B9F-1886-41EB-8596-DFD2474565B7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5A6D77F6-049E-4E03-BBEC-9C9525B9448E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BABC8-BFBF-4030-9C7D-70F812C9AAE4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46A6-0262-42FF-B093-039AED07B7AD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  <a:latin typeface="Helvetica" pitchFamily="34" charset="0"/>
              </a:defRPr>
            </a:lvl1pPr>
          </a:lstStyle>
          <a:p>
            <a:fld id="{60B9F9CF-7D2C-460C-8F3E-F6213A54EF65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  <a:latin typeface="Helvetic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  <a:latin typeface="Helvetica" pitchFamily="34" charset="0"/>
              </a:defRPr>
            </a:lvl1pPr>
          </a:lstStyle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Helvetica" pitchFamily="34" charset="0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Helvetica" pitchFamily="34" charset="0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Helvetica" pitchFamily="34" charset="0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Helvetica" pitchFamily="34" charset="0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Helvetica" pitchFamily="34" charset="0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Helvetica" pitchFamily="34" charset="0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685800"/>
            <a:ext cx="7778152" cy="1285884"/>
          </a:xfrm>
        </p:spPr>
        <p:txBody>
          <a:bodyPr>
            <a:normAutofit fontScale="90000"/>
          </a:bodyPr>
          <a:lstStyle/>
          <a:p>
            <a:r>
              <a:rPr lang="en-AU" sz="4000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PREPARE AND COOK SEAFOOD</a:t>
            </a:r>
            <a:endParaRPr lang="en-US" sz="4000" dirty="0">
              <a:ln w="5000" cmpd="sng">
                <a:noFill/>
                <a:prstDash val="solid"/>
              </a:ln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10200" y="1676400"/>
            <a:ext cx="2971800" cy="357190"/>
          </a:xfrm>
        </p:spPr>
        <p:txBody>
          <a:bodyPr>
            <a:noAutofit/>
          </a:bodyPr>
          <a:lstStyle/>
          <a:p>
            <a:r>
              <a:rPr lang="en-AU" sz="2400" b="1" dirty="0" smtClean="0">
                <a:latin typeface="Helvetica" pitchFamily="34" charset="0"/>
              </a:rPr>
              <a:t>D1.HCC.CL2.10</a:t>
            </a:r>
            <a:endParaRPr lang="en-US" sz="2400" b="1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6" name="Picture 2" descr="C:\Documents and Settings\danielc\Desktop\Seafood\449396_seafood_from_down_unde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1905000"/>
            <a:ext cx="2857500" cy="21431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7" name="Picture 3" descr="C:\Documents and Settings\danielc\Desktop\Seafood\449397_seafood_from_down_under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62400" y="2209800"/>
            <a:ext cx="2857500" cy="21431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9" name="Picture 5" descr="C:\Documents and Settings\danielc\Desktop\Seafood\fish5 fillet round fish.jpg"/>
          <p:cNvPicPr>
            <a:picLocks noChangeAspect="1" noChangeArrowheads="1"/>
          </p:cNvPicPr>
          <p:nvPr/>
        </p:nvPicPr>
        <p:blipFill>
          <a:blip r:embed="rId5" cstate="print">
            <a:grayscl/>
            <a:lum contrast="10000"/>
          </a:blip>
          <a:srcRect/>
          <a:stretch>
            <a:fillRect/>
          </a:stretch>
        </p:blipFill>
        <p:spPr bwMode="auto">
          <a:xfrm>
            <a:off x="1371600" y="4114800"/>
            <a:ext cx="2992453" cy="19899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8" name="Picture 4" descr="C:\Documents and Settings\danielc\Desktop\Seafood\zack-at-work.jpg"/>
          <p:cNvPicPr>
            <a:picLocks noChangeAspect="1" noChangeArrowheads="1"/>
          </p:cNvPicPr>
          <p:nvPr/>
        </p:nvPicPr>
        <p:blipFill>
          <a:blip r:embed="rId6" cstate="print">
            <a:grayscl/>
          </a:blip>
          <a:srcRect l="15294" t="15564" r="9412"/>
          <a:stretch>
            <a:fillRect/>
          </a:stretch>
        </p:blipFill>
        <p:spPr bwMode="auto">
          <a:xfrm flipH="1">
            <a:off x="4114800" y="4191000"/>
            <a:ext cx="2323525" cy="2142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cook seafood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Assessment for this Unit may include: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Oral questions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Written questions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Work projects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Workplace observation of practical skills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Practical exercises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Formal report from employer/supervisor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2" descr="C:\Documents and Settings\PhongLan\Local Settings\Temporary Internet Files\Content.IE5\D4C0BBXF\MP900431095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388" y="1857364"/>
            <a:ext cx="1615308" cy="24288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cook seafood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This Unit comprises five elements</a:t>
            </a:r>
            <a:r>
              <a:rPr lang="en-US" sz="2200" dirty="0" smtClean="0">
                <a:latin typeface="Helvetica" pitchFamily="34" charset="0"/>
              </a:rPr>
              <a:t>:</a:t>
            </a:r>
          </a:p>
          <a:p>
            <a:pPr marL="457200" indent="-457200">
              <a:spcBef>
                <a:spcPts val="60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 smtClean="0">
                <a:latin typeface="Helvetica" pitchFamily="34" charset="0"/>
              </a:rPr>
              <a:t>Identify and select fish varieties</a:t>
            </a:r>
          </a:p>
          <a:p>
            <a:pPr marL="457200" indent="-457200">
              <a:spcBef>
                <a:spcPts val="60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 smtClean="0">
                <a:latin typeface="Helvetica" pitchFamily="34" charset="0"/>
              </a:rPr>
              <a:t>Identify and select shellfish varieties</a:t>
            </a:r>
          </a:p>
          <a:p>
            <a:pPr marL="457200" indent="-457200">
              <a:spcBef>
                <a:spcPts val="60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 smtClean="0">
                <a:latin typeface="Helvetica" pitchFamily="34" charset="0"/>
              </a:rPr>
              <a:t>Prepare fish and shellfish</a:t>
            </a:r>
          </a:p>
          <a:p>
            <a:pPr marL="457200" indent="-457200">
              <a:spcBef>
                <a:spcPts val="60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 smtClean="0">
                <a:latin typeface="Helvetica" pitchFamily="34" charset="0"/>
              </a:rPr>
              <a:t>Cook and present seafood</a:t>
            </a:r>
          </a:p>
          <a:p>
            <a:pPr marL="457200" indent="-457200">
              <a:spcBef>
                <a:spcPts val="60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 smtClean="0">
                <a:latin typeface="Helvetica" pitchFamily="34" charset="0"/>
              </a:rPr>
              <a:t>Store fish and shellfish to enterprise requirements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2" descr="C:\Documents and Settings\Godaishu\Desktop\PHOTOS\2012\review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199" y="2133600"/>
            <a:ext cx="1757665" cy="1752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cook seafood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Element 1: Identify and select fish varieties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Identify a selection of fish varieties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Identify commercial cuts of fish for menus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Identify and select suppliers for purchasing of products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Minimise wastage through correct purchasing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Identify costs through yield testing 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2057400"/>
            <a:ext cx="399154" cy="527046"/>
          </a:xfrm>
          <a:prstGeom prst="rect">
            <a:avLst/>
          </a:prstGeom>
          <a:noFill/>
        </p:spPr>
      </p:pic>
      <p:pic>
        <p:nvPicPr>
          <p:cNvPr id="6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06446" y="2590800"/>
            <a:ext cx="399154" cy="527046"/>
          </a:xfrm>
          <a:prstGeom prst="rect">
            <a:avLst/>
          </a:prstGeom>
          <a:noFill/>
        </p:spPr>
      </p:pic>
      <p:pic>
        <p:nvPicPr>
          <p:cNvPr id="7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24800" y="3124200"/>
            <a:ext cx="399154" cy="527046"/>
          </a:xfrm>
          <a:prstGeom prst="rect">
            <a:avLst/>
          </a:prstGeom>
          <a:noFill/>
        </p:spPr>
      </p:pic>
      <p:pic>
        <p:nvPicPr>
          <p:cNvPr id="8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3733800"/>
            <a:ext cx="399154" cy="527046"/>
          </a:xfrm>
          <a:prstGeom prst="rect">
            <a:avLst/>
          </a:prstGeom>
          <a:noFill/>
        </p:spPr>
      </p:pic>
      <p:pic>
        <p:nvPicPr>
          <p:cNvPr id="9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2046" y="4267200"/>
            <a:ext cx="399154" cy="52704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fish varieties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a selection of fish varieties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 Salt water: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Bream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Mackerel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Dory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Flathead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Snapper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Shark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050" name="Picture 2" descr="C:\Documents and Settings\danielc\Local Settings\Temporary Internet Files\Content.IE5\SIQ5KRQ3\MP900448467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2819400"/>
            <a:ext cx="2514600" cy="1676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fish varieties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a selection of fish varieties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Freshwater: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Trout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Cod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Barramundi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Perch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Redfin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074" name="Picture 2" descr="C:\Documents and Settings\danielc\Local Settings\Temporary Internet Files\Content.IE5\3DV3UKH9\MC900084058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2133600"/>
            <a:ext cx="2494056" cy="1005356"/>
          </a:xfrm>
          <a:prstGeom prst="rect">
            <a:avLst/>
          </a:prstGeom>
          <a:noFill/>
        </p:spPr>
      </p:pic>
      <p:pic>
        <p:nvPicPr>
          <p:cNvPr id="3075" name="Picture 3" descr="C:\Documents and Settings\danielc\Local Settings\Temporary Internet Files\Content.IE5\UMECW9PM\MC900036362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3276600"/>
            <a:ext cx="2284781" cy="9291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fish varieties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a selection of fish varieties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Many species abound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Different country : Different name : Same fish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Develop research skills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Identify commodity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Types: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Flat fish – 4 fillets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Round fish – 2 fillets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098" name="Picture 2" descr="C:\Documents and Settings\danielc\Desktop\fish fillet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3733800"/>
            <a:ext cx="2614613" cy="19609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fish varieties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a selection of fish varieties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Types: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Flesh Colour – Dark or White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Dark (oily) – </a:t>
            </a:r>
            <a:r>
              <a:rPr lang="en-US" sz="2200" dirty="0" smtClean="0">
                <a:latin typeface="Helvetica" pitchFamily="34" charset="0"/>
              </a:rPr>
              <a:t>Salmon; Mackerel; Tuna; Trout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White – </a:t>
            </a:r>
            <a:r>
              <a:rPr lang="en-US" sz="2200" dirty="0" smtClean="0">
                <a:latin typeface="Helvetica" pitchFamily="34" charset="0"/>
              </a:rPr>
              <a:t>Bream; Snapper; Cod; Perch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122" name="Picture 2" descr="C:\Documents and Settings\danielc\Desktop\Basa_Fish_fillet.jpg"/>
          <p:cNvPicPr>
            <a:picLocks noChangeAspect="1" noChangeArrowheads="1"/>
          </p:cNvPicPr>
          <p:nvPr/>
        </p:nvPicPr>
        <p:blipFill>
          <a:blip r:embed="rId3" cstate="print"/>
          <a:srcRect t="21024" r="10250" b="19143"/>
          <a:stretch>
            <a:fillRect/>
          </a:stretch>
        </p:blipFill>
        <p:spPr bwMode="auto">
          <a:xfrm>
            <a:off x="4114800" y="4495800"/>
            <a:ext cx="2667000" cy="1752600"/>
          </a:xfrm>
          <a:prstGeom prst="rect">
            <a:avLst/>
          </a:prstGeom>
          <a:noFill/>
        </p:spPr>
      </p:pic>
      <p:pic>
        <p:nvPicPr>
          <p:cNvPr id="5123" name="Picture 3" descr="C:\Documents and Settings\danielc\Desktop\Tuna_Steaks_Fresh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19200" y="4495800"/>
            <a:ext cx="2639484" cy="1752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fish varieties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a selection of fish varieties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u="sng" dirty="0" smtClean="0"/>
              <a:t>Concerns</a:t>
            </a:r>
          </a:p>
          <a:p>
            <a:pPr marL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/>
              <a:t>Problems arising from catching under-grown/under-developed seafood that are too small for use in cooking such as: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/>
              <a:t> Baby crabs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/>
              <a:t> Young fish or catching fish before                                         their spawning seasons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img_tn2" descr="http://ts4.mm.bing.net/th?id=H.4800301459047607&amp;amp;pid=15.1&amp;amp;H=119&amp;amp;W=160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8337" y="4191000"/>
            <a:ext cx="1878114" cy="1308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fish varieties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commercial cuts of fish menus</a:t>
            </a:r>
          </a:p>
          <a:p>
            <a:pPr marL="0" indent="-4572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French cookery: French names: meaning??</a:t>
            </a:r>
          </a:p>
          <a:p>
            <a:pPr marL="0" indent="-4572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Darne - Fish steak or cutlet; on the bone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SzPct val="100000"/>
              <a:buFont typeface="Wingdings" pitchFamily="2" charset="2"/>
              <a:buChar char="§"/>
            </a:pPr>
            <a:r>
              <a:rPr lang="en-US" sz="2200" dirty="0" smtClean="0"/>
              <a:t>A whole round fish cut through the spine</a:t>
            </a:r>
          </a:p>
          <a:p>
            <a:pPr marL="1080000" lvl="1" indent="-36000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en-US" sz="2200" dirty="0" smtClean="0">
                <a:latin typeface="Helvetica" pitchFamily="34" charset="0"/>
              </a:rPr>
              <a:t>Grilled or pan fried</a:t>
            </a:r>
          </a:p>
          <a:p>
            <a:pPr marL="1080000" lvl="1" indent="-36000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en-US" sz="2200" dirty="0" smtClean="0">
                <a:latin typeface="Helvetica" pitchFamily="34" charset="0"/>
              </a:rPr>
              <a:t>Served with sauce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146" name="Picture 2" descr="C:\Documents and Settings\danielc\Desktop\darne.jpg"/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 flipH="1">
            <a:off x="4419600" y="3810000"/>
            <a:ext cx="2362200" cy="17693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fish varieties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commercial cuts of fish menus</a:t>
            </a:r>
          </a:p>
          <a:p>
            <a:pPr marL="420624" lvl="1" indent="-384048">
              <a:spcBef>
                <a:spcPts val="600"/>
              </a:spcBef>
              <a:spcAft>
                <a:spcPts val="15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French cookery: French names: meaning??</a:t>
            </a:r>
          </a:p>
          <a:p>
            <a:pPr marL="420624" lvl="1" indent="-384048">
              <a:spcBef>
                <a:spcPts val="600"/>
              </a:spcBef>
              <a:spcAft>
                <a:spcPts val="1500"/>
              </a:spcAft>
              <a:buSzPct val="80000"/>
              <a:buFont typeface="Wingdings 2"/>
              <a:buChar char=""/>
            </a:pPr>
            <a:r>
              <a:rPr lang="en-US" sz="2200" dirty="0" err="1" smtClean="0"/>
              <a:t>Paupiette</a:t>
            </a:r>
            <a:r>
              <a:rPr lang="en-US" sz="2200" dirty="0" smtClean="0"/>
              <a:t> – Thin piece of flesh with stuffing</a:t>
            </a:r>
          </a:p>
          <a:p>
            <a:pPr marL="420624" lvl="1" indent="-384048">
              <a:spcBef>
                <a:spcPts val="600"/>
              </a:spcBef>
              <a:spcAft>
                <a:spcPts val="1500"/>
              </a:spcAft>
              <a:buSzPct val="80000"/>
              <a:buFont typeface="Wingdings 2"/>
              <a:buChar char=""/>
            </a:pPr>
            <a:r>
              <a:rPr lang="en-US" sz="2200" dirty="0" err="1" smtClean="0"/>
              <a:t>Delice</a:t>
            </a:r>
            <a:r>
              <a:rPr lang="en-US" sz="2200" dirty="0" smtClean="0"/>
              <a:t> – Delight; small delicate piece of flesh</a:t>
            </a:r>
          </a:p>
          <a:p>
            <a:pPr marL="0" indent="0">
              <a:spcBef>
                <a:spcPts val="600"/>
              </a:spcBef>
              <a:spcAft>
                <a:spcPts val="15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Not on many menus due to production costs:</a:t>
            </a:r>
          </a:p>
          <a:p>
            <a:pPr marL="420624" lvl="1" indent="-384048">
              <a:spcBef>
                <a:spcPts val="600"/>
              </a:spcBef>
              <a:spcAft>
                <a:spcPts val="15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Goujon - Pin, wooden dowel; thin strip of flesh</a:t>
            </a:r>
          </a:p>
          <a:p>
            <a:pPr marL="907200" indent="-457200">
              <a:spcBef>
                <a:spcPts val="600"/>
              </a:spcBef>
              <a:spcAft>
                <a:spcPts val="1500"/>
              </a:spcAft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Popular as finger food or quick oven bake </a:t>
            </a:r>
          </a:p>
          <a:p>
            <a:pPr marL="907200" indent="-457200">
              <a:spcBef>
                <a:spcPts val="600"/>
              </a:spcBef>
              <a:spcAft>
                <a:spcPts val="1500"/>
              </a:spcAft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Easier to produce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170" name="Picture 2" descr="C:\Documents and Settings\danielc\Desktop\Paupiettes-2.jpg"/>
          <p:cNvPicPr>
            <a:picLocks noChangeAspect="1" noChangeArrowheads="1"/>
          </p:cNvPicPr>
          <p:nvPr/>
        </p:nvPicPr>
        <p:blipFill>
          <a:blip r:embed="rId3" cstate="print"/>
          <a:srcRect l="18307" t="14706" r="4805" b="36275"/>
          <a:stretch>
            <a:fillRect/>
          </a:stretch>
        </p:blipFill>
        <p:spPr bwMode="auto">
          <a:xfrm>
            <a:off x="6629400" y="2133600"/>
            <a:ext cx="1783080" cy="849086"/>
          </a:xfrm>
          <a:prstGeom prst="rect">
            <a:avLst/>
          </a:prstGeom>
          <a:noFill/>
        </p:spPr>
      </p:pic>
      <p:pic>
        <p:nvPicPr>
          <p:cNvPr id="7171" name="Picture 3" descr="C:\Documents and Settings\danielc\Desktop\Goujon.jpg"/>
          <p:cNvPicPr>
            <a:picLocks noChangeAspect="1" noChangeArrowheads="1"/>
          </p:cNvPicPr>
          <p:nvPr/>
        </p:nvPicPr>
        <p:blipFill>
          <a:blip r:embed="rId4" cstate="print">
            <a:grayscl/>
            <a:lum contrast="10000"/>
          </a:blip>
          <a:srcRect r="18479" b="18414"/>
          <a:stretch>
            <a:fillRect/>
          </a:stretch>
        </p:blipFill>
        <p:spPr bwMode="auto">
          <a:xfrm>
            <a:off x="6858000" y="4343400"/>
            <a:ext cx="1524000" cy="990600"/>
          </a:xfrm>
          <a:prstGeom prst="rect">
            <a:avLst/>
          </a:prstGeom>
          <a:noFill/>
        </p:spPr>
      </p:pic>
      <p:pic>
        <p:nvPicPr>
          <p:cNvPr id="7172" name="Picture 4" descr="C:\Documents and Settings\danielc\Desktop\Delice.jpg"/>
          <p:cNvPicPr>
            <a:picLocks noChangeAspect="1" noChangeArrowheads="1"/>
          </p:cNvPicPr>
          <p:nvPr/>
        </p:nvPicPr>
        <p:blipFill>
          <a:blip r:embed="rId5" cstate="print"/>
          <a:srcRect t="12110" r="11692" b="12984"/>
          <a:stretch>
            <a:fillRect/>
          </a:stretch>
        </p:blipFill>
        <p:spPr bwMode="auto">
          <a:xfrm>
            <a:off x="6781800" y="3032974"/>
            <a:ext cx="1600200" cy="10818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fish varieties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commercial cuts of fish menus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None/>
            </a:pPr>
            <a:r>
              <a:rPr lang="en-US" sz="2200" dirty="0" smtClean="0"/>
              <a:t>Supreme – Cut from the best part: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Most popular cut in restaurants 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Ease of production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None/>
            </a:pPr>
            <a:r>
              <a:rPr lang="en-US" sz="2200" dirty="0" smtClean="0"/>
              <a:t>Fillet – whole side of a fish: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Sold in restaurants from smaller fish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8194" name="Picture 2" descr="C:\Documents and Settings\danielc\Desktop\Supreme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6019800" y="2209800"/>
            <a:ext cx="1771765" cy="1066800"/>
          </a:xfrm>
          <a:prstGeom prst="rect">
            <a:avLst/>
          </a:prstGeom>
          <a:noFill/>
        </p:spPr>
      </p:pic>
      <p:pic>
        <p:nvPicPr>
          <p:cNvPr id="8195" name="Picture 3" descr="C:\Documents and Settings\danielc\Desktop\SoleFillet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3600" y="3810000"/>
            <a:ext cx="2359025" cy="9547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fish varieties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and select suppliers for purchasing of products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Terms of trade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Ability to supply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Ease of delivery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Quality and price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Picture 4" descr="C:\Documents and Settings\danielc\Desktop\755449_pike_place_market_sign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1" y="2286000"/>
            <a:ext cx="2133600" cy="1464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C:\Documents and Settings\danielc\Desktop\761099_fish_3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3961218"/>
            <a:ext cx="2133600" cy="1448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fish varieties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514880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and select suppliers for purchasing of products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AU" sz="2200" dirty="0" smtClean="0"/>
              <a:t>Environmental issues: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/>
              <a:t>It is important to consider that problems may arise due to pollution and environmental safety concerns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/>
              <a:t>For example water pollution or water which may be inhabited by sea animals that could have an adverse effect on the safety of consumers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/>
              <a:t>Where and how suppliers obtain their fish is just as important as the types and quantities of fish available</a:t>
            </a:r>
            <a:endParaRPr lang="en-AU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fish varieties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Minimise wastage through correct purchasing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Purchase only what is required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Storage of product when purchased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Purchase product correctly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Picture 4" descr="C:\Documents and Settings\danielc\Desktop\956349_fish.jpg"/>
          <p:cNvPicPr/>
          <p:nvPr/>
        </p:nvPicPr>
        <p:blipFill>
          <a:blip r:embed="rId3" cstate="print">
            <a:lum bright="10000"/>
          </a:blip>
          <a:srcRect/>
          <a:stretch>
            <a:fillRect/>
          </a:stretch>
        </p:blipFill>
        <p:spPr bwMode="auto">
          <a:xfrm>
            <a:off x="5859044" y="2243191"/>
            <a:ext cx="1687087" cy="2520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fish varieties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costs through yield testing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Whole fish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Size of fillet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Number of supreme portions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Cost per serve</a:t>
            </a:r>
          </a:p>
          <a:p>
            <a:pPr lvl="1"/>
            <a:endParaRPr lang="en-AU" sz="3200" dirty="0" smtClean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Picture 4" descr="C:\Documents and Settings\danielc\Desktop\1142218_fish.jpg"/>
          <p:cNvPicPr/>
          <p:nvPr/>
        </p:nvPicPr>
        <p:blipFill>
          <a:blip r:embed="rId3" cstate="print"/>
          <a:srcRect l="15378"/>
          <a:stretch>
            <a:fillRect/>
          </a:stretch>
        </p:blipFill>
        <p:spPr bwMode="auto">
          <a:xfrm>
            <a:off x="5867400" y="2057400"/>
            <a:ext cx="2096553" cy="1650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C:\Documents and Settings\danielc\Desktop\DSC04414.JPG"/>
          <p:cNvPicPr/>
          <p:nvPr/>
        </p:nvPicPr>
        <p:blipFill>
          <a:blip r:embed="rId4" cstate="print">
            <a:lum contrast="40000"/>
          </a:blip>
          <a:srcRect/>
          <a:stretch>
            <a:fillRect/>
          </a:stretch>
        </p:blipFill>
        <p:spPr bwMode="auto">
          <a:xfrm>
            <a:off x="5867400" y="3886200"/>
            <a:ext cx="2133600" cy="1483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cook seafood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Element</a:t>
            </a:r>
            <a:r>
              <a:rPr lang="en-US" sz="2200" dirty="0" smtClean="0">
                <a:latin typeface="Helvetica" pitchFamily="34" charset="0"/>
              </a:rPr>
              <a:t> </a:t>
            </a:r>
            <a:r>
              <a:rPr lang="en-US" sz="2200" b="1" dirty="0" smtClean="0">
                <a:latin typeface="Helvetica" pitchFamily="34" charset="0"/>
              </a:rPr>
              <a:t>2: Identify and select shellfish varieties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Identify shellfish varieties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Identify commercial cuts of shellfish for menus 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Identify and select suppliers for purchasing of products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Minimise wastage through correct purchasing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Identify costs through yield testing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5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67200" y="1981200"/>
            <a:ext cx="399154" cy="527046"/>
          </a:xfrm>
          <a:prstGeom prst="rect">
            <a:avLst/>
          </a:prstGeom>
          <a:noFill/>
        </p:spPr>
      </p:pic>
      <p:pic>
        <p:nvPicPr>
          <p:cNvPr id="6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0" y="2590800"/>
            <a:ext cx="399154" cy="527046"/>
          </a:xfrm>
          <a:prstGeom prst="rect">
            <a:avLst/>
          </a:prstGeom>
          <a:noFill/>
        </p:spPr>
      </p:pic>
      <p:pic>
        <p:nvPicPr>
          <p:cNvPr id="7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24800" y="3124200"/>
            <a:ext cx="399154" cy="527046"/>
          </a:xfrm>
          <a:prstGeom prst="rect">
            <a:avLst/>
          </a:prstGeom>
          <a:noFill/>
        </p:spPr>
      </p:pic>
      <p:pic>
        <p:nvPicPr>
          <p:cNvPr id="8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3733800"/>
            <a:ext cx="399154" cy="527046"/>
          </a:xfrm>
          <a:prstGeom prst="rect">
            <a:avLst/>
          </a:prstGeom>
          <a:noFill/>
        </p:spPr>
      </p:pic>
      <p:pic>
        <p:nvPicPr>
          <p:cNvPr id="9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4267200"/>
            <a:ext cx="399154" cy="52704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shellfish varieties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Crustaceans:</a:t>
            </a:r>
          </a:p>
          <a:p>
            <a:pPr marL="0" indent="-4572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Lobster – </a:t>
            </a:r>
            <a:r>
              <a:rPr lang="en-US" sz="2200" dirty="0" smtClean="0">
                <a:latin typeface="Helvetica" pitchFamily="34" charset="0"/>
              </a:rPr>
              <a:t>saltwater; have no claws</a:t>
            </a:r>
          </a:p>
          <a:p>
            <a:pPr marL="0" indent="-4572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Crayfish – </a:t>
            </a:r>
            <a:r>
              <a:rPr lang="en-US" sz="2200" dirty="0" smtClean="0">
                <a:latin typeface="Helvetica" pitchFamily="34" charset="0"/>
              </a:rPr>
              <a:t>freshwater; have claws</a:t>
            </a:r>
          </a:p>
          <a:p>
            <a:pPr marL="914400" lvl="1" indent="-45720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200" dirty="0" err="1" smtClean="0">
                <a:latin typeface="Helvetica" pitchFamily="34" charset="0"/>
              </a:rPr>
              <a:t>Marron</a:t>
            </a:r>
            <a:r>
              <a:rPr lang="en-US" sz="2200" dirty="0" smtClean="0">
                <a:latin typeface="Helvetica" pitchFamily="34" charset="0"/>
              </a:rPr>
              <a:t> – Freshwater;  Western Australia</a:t>
            </a:r>
          </a:p>
          <a:p>
            <a:pPr marL="914400" lvl="1" indent="-45720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200" dirty="0" err="1" smtClean="0">
                <a:latin typeface="Helvetica" pitchFamily="34" charset="0"/>
              </a:rPr>
              <a:t>Redclaw</a:t>
            </a:r>
            <a:r>
              <a:rPr lang="en-US" sz="2200" dirty="0" smtClean="0">
                <a:latin typeface="Helvetica" pitchFamily="34" charset="0"/>
              </a:rPr>
              <a:t> – Freshwater;  Northern Queensland</a:t>
            </a:r>
          </a:p>
          <a:p>
            <a:pPr marL="914400" lvl="1" indent="-45720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200" dirty="0" err="1" smtClean="0">
                <a:latin typeface="Helvetica" pitchFamily="34" charset="0"/>
              </a:rPr>
              <a:t>Yabby</a:t>
            </a:r>
            <a:r>
              <a:rPr lang="en-US" sz="2200" dirty="0" smtClean="0">
                <a:latin typeface="Helvetica" pitchFamily="34" charset="0"/>
              </a:rPr>
              <a:t> – Freshwater;  South East Australia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Picture 4" descr="C:\Documents and Settings\danielc\Desktop\11714_lobster_display.jpg"/>
          <p:cNvPicPr/>
          <p:nvPr/>
        </p:nvPicPr>
        <p:blipFill>
          <a:blip r:embed="rId3" cstate="print">
            <a:lum contrast="20000"/>
          </a:blip>
          <a:srcRect/>
          <a:stretch>
            <a:fillRect/>
          </a:stretch>
        </p:blipFill>
        <p:spPr bwMode="auto">
          <a:xfrm>
            <a:off x="6858000" y="2057400"/>
            <a:ext cx="1464916" cy="2189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shellfish varieties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Crustaceans:</a:t>
            </a:r>
          </a:p>
          <a:p>
            <a:pPr marL="0" indent="-4572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Moreton Bay Bug - Saltwater</a:t>
            </a:r>
          </a:p>
          <a:p>
            <a:pPr marL="0" indent="-4572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Balmain Bug - Saltwater</a:t>
            </a:r>
          </a:p>
          <a:p>
            <a:pPr marL="0" indent="-4572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Prawns </a:t>
            </a:r>
            <a:r>
              <a:rPr lang="en-US" sz="2200" dirty="0" smtClean="0"/>
              <a:t>-</a:t>
            </a:r>
            <a:r>
              <a:rPr lang="en-US" sz="2200" dirty="0" smtClean="0">
                <a:latin typeface="Helvetica" pitchFamily="34" charset="0"/>
              </a:rPr>
              <a:t> Saltwater; many varieties</a:t>
            </a:r>
          </a:p>
          <a:p>
            <a:pPr marL="0" indent="-4572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Crabs - Saltwater;	many varieties</a:t>
            </a:r>
          </a:p>
          <a:p>
            <a:pPr marL="0" indent="-4572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Mud crabs – Saltwater; BIG CLAWS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" name="Picture 4" descr="C:\Documents and Settings\danielc\Desktop\196499_shrimp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1905000"/>
            <a:ext cx="2051360" cy="1533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8" name="Picture 2" descr="C:\Documents and Settings\danielc\Desktop\MudCrab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44278" y="3657600"/>
            <a:ext cx="2156722" cy="152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514880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100" b="1" dirty="0" smtClean="0">
                <a:latin typeface="Helvetica" pitchFamily="34" charset="0"/>
              </a:rPr>
              <a:t>Identify commercial cuts of shellfish for menus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100" dirty="0" smtClean="0">
                <a:latin typeface="Helvetica" pitchFamily="34" charset="0"/>
              </a:rPr>
              <a:t>Shellfish tend to be sourced whole; in the shells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100" dirty="0" smtClean="0">
                <a:latin typeface="Helvetica" pitchFamily="34" charset="0"/>
              </a:rPr>
              <a:t>Lobsters (Southern Rock) can be purchased as:</a:t>
            </a:r>
          </a:p>
          <a:p>
            <a:pPr marL="719138" indent="-358775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100" dirty="0" smtClean="0"/>
              <a:t>Fresh live		</a:t>
            </a:r>
          </a:p>
          <a:p>
            <a:pPr marL="719138" indent="-358775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100" dirty="0" smtClean="0"/>
              <a:t>Fresh cooked		</a:t>
            </a:r>
          </a:p>
          <a:p>
            <a:pPr marL="719138" indent="-358775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100" dirty="0" smtClean="0"/>
              <a:t>Whole</a:t>
            </a:r>
          </a:p>
          <a:p>
            <a:pPr marL="719138" indent="-358775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100" dirty="0" smtClean="0"/>
              <a:t>Just the tail in shell; no head</a:t>
            </a:r>
          </a:p>
          <a:p>
            <a:pPr marL="719138" indent="-358775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100" dirty="0" smtClean="0"/>
              <a:t>Just meat - no head; no shell</a:t>
            </a:r>
          </a:p>
          <a:p>
            <a:pPr marL="719138" indent="-358775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100" dirty="0" smtClean="0"/>
              <a:t>Tail meat is generally frozen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10242" name="Picture 2" descr="C:\Documents and Settings\danielc\Local Settings\Temporary Internet Files\Content.IE5\UMECW9PM\MP900406645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3581400"/>
            <a:ext cx="1861781" cy="232779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commercial cuts of shellfish for menus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Shellfish tend to be sourced whole; in the shells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Crayfish</a:t>
            </a:r>
            <a:r>
              <a:rPr lang="en-US" sz="2200" dirty="0" smtClean="0"/>
              <a:t>:</a:t>
            </a:r>
            <a:endParaRPr lang="en-US" sz="2200" dirty="0" smtClean="0">
              <a:latin typeface="Helvetica" pitchFamily="34" charset="0"/>
            </a:endParaRPr>
          </a:p>
          <a:p>
            <a:pPr marL="717550" indent="-358775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200" dirty="0" smtClean="0"/>
              <a:t>Fresh water </a:t>
            </a:r>
          </a:p>
          <a:p>
            <a:pPr marL="717550" indent="-358775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200" dirty="0" smtClean="0"/>
              <a:t>Fresh live</a:t>
            </a:r>
          </a:p>
          <a:p>
            <a:pPr marL="717550" indent="-358775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Fresh cooked</a:t>
            </a:r>
          </a:p>
          <a:p>
            <a:pPr marL="717550" indent="-358775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Tail meat only; frozen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11266" name="Picture 2" descr="C:\Documents and Settings\danielc\Desktop\Seafood\761096_crayfish.jpg"/>
          <p:cNvPicPr>
            <a:picLocks noChangeAspect="1" noChangeArrowheads="1"/>
          </p:cNvPicPr>
          <p:nvPr/>
        </p:nvPicPr>
        <p:blipFill>
          <a:blip r:embed="rId3" cstate="print">
            <a:lum contrast="10000"/>
          </a:blip>
          <a:srcRect/>
          <a:stretch>
            <a:fillRect/>
          </a:stretch>
        </p:blipFill>
        <p:spPr bwMode="auto">
          <a:xfrm>
            <a:off x="4800600" y="3048000"/>
            <a:ext cx="2857500" cy="2143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522500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commercial cuts of shellfish for menus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Shellfish tend to be sourced whole; in the shells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Crab:</a:t>
            </a:r>
          </a:p>
          <a:p>
            <a:pPr marL="722313" indent="-36195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Live; not live</a:t>
            </a:r>
          </a:p>
          <a:p>
            <a:pPr marL="722313" indent="-36195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Whole – fresh; frozen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Mud crab:</a:t>
            </a:r>
          </a:p>
          <a:p>
            <a:pPr marL="722313" indent="-36195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Fresh</a:t>
            </a:r>
          </a:p>
          <a:p>
            <a:pPr marL="722313" indent="-36195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Live		</a:t>
            </a:r>
          </a:p>
          <a:p>
            <a:pPr marL="722313" indent="-36195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Frozen meat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8" name="Picture 7" descr="C:\Documents and Settings\danielc\Desktop\11719_crabs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3124200"/>
            <a:ext cx="2606288" cy="1739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514880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0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commercial cuts of shellfish for menus</a:t>
            </a:r>
          </a:p>
          <a:p>
            <a:pPr marL="360000" indent="-360000">
              <a:spcBef>
                <a:spcPts val="600"/>
              </a:spcBef>
              <a:spcAft>
                <a:spcPts val="1000"/>
              </a:spcAft>
            </a:pPr>
            <a:r>
              <a:rPr lang="en-US" sz="2200" dirty="0" smtClean="0">
                <a:latin typeface="Helvetica" pitchFamily="34" charset="0"/>
              </a:rPr>
              <a:t>Shellfish tend to be sourced whole; in the shells</a:t>
            </a:r>
          </a:p>
          <a:p>
            <a:pPr marL="360000" indent="-360000">
              <a:spcBef>
                <a:spcPts val="600"/>
              </a:spcBef>
              <a:spcAft>
                <a:spcPts val="1000"/>
              </a:spcAft>
            </a:pPr>
            <a:r>
              <a:rPr lang="en-US" sz="2200" dirty="0" smtClean="0">
                <a:latin typeface="Helvetica" pitchFamily="34" charset="0"/>
              </a:rPr>
              <a:t>Mussels:</a:t>
            </a:r>
          </a:p>
          <a:p>
            <a:pPr marL="717550" indent="-358775">
              <a:spcBef>
                <a:spcPts val="600"/>
              </a:spcBef>
              <a:spcAft>
                <a:spcPts val="1000"/>
              </a:spcAft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Live; in shell				</a:t>
            </a:r>
          </a:p>
          <a:p>
            <a:pPr marL="717550" indent="-358775">
              <a:spcBef>
                <a:spcPts val="600"/>
              </a:spcBef>
              <a:spcAft>
                <a:spcPts val="1000"/>
              </a:spcAft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Meat; no shell</a:t>
            </a:r>
          </a:p>
          <a:p>
            <a:pPr marL="717550" indent="-358775">
              <a:spcBef>
                <a:spcPts val="600"/>
              </a:spcBef>
              <a:spcAft>
                <a:spcPts val="1000"/>
              </a:spcAft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Frozen</a:t>
            </a:r>
          </a:p>
          <a:p>
            <a:pPr marL="360000" indent="-360000">
              <a:spcBef>
                <a:spcPts val="600"/>
              </a:spcBef>
              <a:spcAft>
                <a:spcPts val="1000"/>
              </a:spcAft>
            </a:pPr>
            <a:r>
              <a:rPr lang="en-US" sz="2200" dirty="0" smtClean="0">
                <a:latin typeface="Helvetica" pitchFamily="34" charset="0"/>
              </a:rPr>
              <a:t>Pippies (Clams):</a:t>
            </a:r>
          </a:p>
          <a:p>
            <a:pPr marL="717550" indent="-358775">
              <a:spcBef>
                <a:spcPts val="600"/>
              </a:spcBef>
              <a:spcAft>
                <a:spcPts val="1000"/>
              </a:spcAft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Fresh; in shell 				</a:t>
            </a:r>
          </a:p>
          <a:p>
            <a:pPr marL="717550" indent="-358775">
              <a:spcBef>
                <a:spcPts val="600"/>
              </a:spcBef>
              <a:spcAft>
                <a:spcPts val="1000"/>
              </a:spcAft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Frozen Meat; no shell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13314" name="Picture 2" descr="C:\Documents and Settings\danielc\Local Settings\Temporary Internet Files\Content.IE5\3Y3SDCJX\MP900448373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3962400"/>
            <a:ext cx="2057400" cy="15430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commercial cuts of shellfish for menus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Shellfish tend to be sourced whole; in the shells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Scallops:	</a:t>
            </a:r>
          </a:p>
          <a:p>
            <a:pPr marL="717550" indent="-358775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Fresh		</a:t>
            </a:r>
          </a:p>
          <a:p>
            <a:pPr marL="717550" indent="-358775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Frozen</a:t>
            </a:r>
          </a:p>
          <a:p>
            <a:pPr marL="717550" indent="-358775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In shell		</a:t>
            </a:r>
          </a:p>
          <a:p>
            <a:pPr marL="717550" indent="-358775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Roe attached		</a:t>
            </a:r>
          </a:p>
          <a:p>
            <a:pPr marL="717550" indent="-358775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200" dirty="0" smtClean="0"/>
              <a:t>Frozen Scallop meat</a:t>
            </a: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14338" name="Picture 2" descr="C:\Documents and Settings\danielc\Local Settings\Temporary Internet Files\Content.IE5\3Y3SDCJX\MC900435211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2971800"/>
            <a:ext cx="1841500" cy="1619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and select suppliers for purchasing of products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Ease of supply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Product quality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Purchasing requirements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5" name="Picture 4" descr="C:\Documents and Settings\danielc\Desktop\Seafood\449396_seafood_from_down_under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2514600"/>
            <a:ext cx="2504657" cy="1873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Minimise wastage through correct purchasing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Skill of staff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Purchase only what is required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Utilise excess product</a:t>
            </a:r>
          </a:p>
          <a:p>
            <a:pPr lvl="1"/>
            <a:endParaRPr lang="en-AU" sz="2200" dirty="0" smtClean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15362" name="Picture 2" descr="C:\Documents and Settings\danielc\Local Settings\Temporary Internet Files\Content.IE5\XGIII3N1\MC90015624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43600" y="2362200"/>
            <a:ext cx="1751990" cy="184891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costs through yield testing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What is cost per kilo?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How many serves per kilo?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Note wastage with shell fish</a:t>
            </a:r>
          </a:p>
          <a:p>
            <a:pPr lvl="1"/>
            <a:endParaRPr lang="en-AU" sz="2200" dirty="0" smtClean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16386" name="Picture 2" descr="C:\Documents and Settings\danielc\Local Settings\Temporary Internet Files\Content.IE5\Y88G682L\MC900442130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38800" y="2057400"/>
            <a:ext cx="2457450" cy="24244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cook seafood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Element 3: Prepare fish and shellfish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Prepare and portion fish and shellfish products to enterprise requirements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Minimise wastage/trimmings through appropriate preparation and storage 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Identify and use correct equipment 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Hold and kill live seafood humanely and to regulations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lvl="1"/>
            <a:endParaRPr lang="en-AU" sz="2200" dirty="0" smtClean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5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4800" y="2438400"/>
            <a:ext cx="399154" cy="527046"/>
          </a:xfrm>
          <a:prstGeom prst="rect">
            <a:avLst/>
          </a:prstGeom>
          <a:noFill/>
        </p:spPr>
      </p:pic>
      <p:pic>
        <p:nvPicPr>
          <p:cNvPr id="6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4800" y="3276600"/>
            <a:ext cx="399154" cy="527046"/>
          </a:xfrm>
          <a:prstGeom prst="rect">
            <a:avLst/>
          </a:prstGeom>
          <a:noFill/>
        </p:spPr>
      </p:pic>
      <p:pic>
        <p:nvPicPr>
          <p:cNvPr id="7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3810000"/>
            <a:ext cx="399154" cy="527046"/>
          </a:xfrm>
          <a:prstGeom prst="rect">
            <a:avLst/>
          </a:prstGeom>
          <a:noFill/>
        </p:spPr>
      </p:pic>
      <p:pic>
        <p:nvPicPr>
          <p:cNvPr id="8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8600" y="4419600"/>
            <a:ext cx="399154" cy="52704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fish and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Prepare and portion fish and shellfish products to enterprise requirements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Portion yield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Cost per portion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Work involved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Staff skills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lvl="1"/>
            <a:endParaRPr lang="en-AU" sz="2200" dirty="0" smtClean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5" name="Picture 4" descr="C:\Documents and Settings\danielc\Desktop\Wes-demonstrating-his-oyster-shucking-magic.jpg"/>
          <p:cNvPicPr/>
          <p:nvPr/>
        </p:nvPicPr>
        <p:blipFill>
          <a:blip r:embed="rId3" cstate="print">
            <a:lum bright="10000" contrast="10000"/>
          </a:blip>
          <a:srcRect/>
          <a:stretch>
            <a:fillRect/>
          </a:stretch>
        </p:blipFill>
        <p:spPr bwMode="auto">
          <a:xfrm>
            <a:off x="4641809" y="2743200"/>
            <a:ext cx="2345732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fish and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Minimise wastage and trimmings through appropriate preparation and storage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Skill level of staff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Method of purchasing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Customer requirements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lvl="1"/>
            <a:endParaRPr lang="en-AU" sz="2200" dirty="0" smtClean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5" name="Picture 4" descr="C:\Documents and Settings\danielc\Desktop\fish5 fillet round fish.jpg"/>
          <p:cNvPicPr/>
          <p:nvPr/>
        </p:nvPicPr>
        <p:blipFill>
          <a:blip r:embed="rId3" cstate="print">
            <a:lum contrast="20000"/>
          </a:blip>
          <a:srcRect/>
          <a:stretch>
            <a:fillRect/>
          </a:stretch>
        </p:blipFill>
        <p:spPr bwMode="auto">
          <a:xfrm>
            <a:off x="5334000" y="2514600"/>
            <a:ext cx="2165796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fish and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correct equipment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Equipment for storage ‘raw’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Equipment for preparation and </a:t>
            </a:r>
            <a:br>
              <a:rPr lang="en-US" sz="2200" dirty="0" smtClean="0"/>
            </a:br>
            <a:r>
              <a:rPr lang="en-US" sz="2200" dirty="0" smtClean="0"/>
              <a:t>processing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Equipment for cooking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Equipment for hot holding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5" name="Picture 4" descr="I:\Overseas Projects\PHOTOS\2012\Culinary 2012\314722144_130.jpg"/>
          <p:cNvPicPr/>
          <p:nvPr/>
        </p:nvPicPr>
        <p:blipFill>
          <a:blip r:embed="rId3" cstate="print">
            <a:lum contrast="10000"/>
          </a:blip>
          <a:srcRect r="7143" b="16975"/>
          <a:stretch>
            <a:fillRect/>
          </a:stretch>
        </p:blipFill>
        <p:spPr bwMode="auto">
          <a:xfrm>
            <a:off x="5562600" y="1447800"/>
            <a:ext cx="1981200" cy="1374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C:\Documents and Settings\danielc\Desktop\Steamer.jpg"/>
          <p:cNvPicPr/>
          <p:nvPr/>
        </p:nvPicPr>
        <p:blipFill>
          <a:blip r:embed="rId4" cstate="print"/>
          <a:stretch>
            <a:fillRect/>
          </a:stretch>
        </p:blipFill>
        <p:spPr bwMode="auto">
          <a:xfrm>
            <a:off x="5562600" y="2895600"/>
            <a:ext cx="1374853" cy="1416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C:\Documents and Settings\danielc\Desktop\grill.jpg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62600" y="4342596"/>
            <a:ext cx="1752600" cy="1225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fish and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Hold live seafood humanely and to regulations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Live crustacean and Live fish:</a:t>
            </a:r>
            <a:endParaRPr lang="en-US" sz="2200" dirty="0">
              <a:latin typeface="Helvetica" pitchFamily="34" charset="0"/>
            </a:endParaRPr>
          </a:p>
          <a:p>
            <a:pPr marL="0" lvl="1" indent="-453600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Clean tanks - no green slime on wall</a:t>
            </a:r>
          </a:p>
          <a:p>
            <a:pPr marL="0" lvl="1" indent="-453600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Check oxygen levels - check pH of water</a:t>
            </a:r>
          </a:p>
          <a:p>
            <a:pPr marL="0" lvl="1" indent="-453600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Water temperature and quality - records to be kept</a:t>
            </a:r>
          </a:p>
          <a:p>
            <a:pPr marL="0" lvl="1" indent="-453600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Floor space to keep tanks</a:t>
            </a:r>
          </a:p>
          <a:p>
            <a:pPr marL="0" lvl="1" indent="0" defTabSz="2667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i="1" dirty="0" smtClean="0">
                <a:latin typeface="Helvetica" pitchFamily="34" charset="0"/>
              </a:rPr>
              <a:t>(Floor space costs money)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lvl="1"/>
            <a:endParaRPr lang="en-AU" sz="2200" dirty="0" smtClean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5" name="Picture 4" descr="C:\Documents and Settings\danielc\Desktop\seafood.jpg"/>
          <p:cNvPicPr/>
          <p:nvPr/>
        </p:nvPicPr>
        <p:blipFill>
          <a:blip r:embed="rId3" cstate="print">
            <a:lum contrast="20000"/>
          </a:blip>
          <a:srcRect/>
          <a:stretch>
            <a:fillRect/>
          </a:stretch>
        </p:blipFill>
        <p:spPr bwMode="auto">
          <a:xfrm>
            <a:off x="6324600" y="2133600"/>
            <a:ext cx="2233496" cy="1481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fish and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447800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Kill live seafood humanely and to regulations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Live crustacean:</a:t>
            </a:r>
            <a:r>
              <a:rPr lang="en-US" sz="2200" b="1" dirty="0" smtClean="0">
                <a:latin typeface="Helvetica" pitchFamily="34" charset="0"/>
              </a:rPr>
              <a:t>			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Place in ice slurry for 20 minutes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Chilling stuns the animal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Remove from ice and knife through head </a:t>
            </a:r>
            <a:br>
              <a:rPr lang="en-US" sz="2200" dirty="0" smtClean="0"/>
            </a:br>
            <a:r>
              <a:rPr lang="en-US" sz="2200" dirty="0" smtClean="0"/>
              <a:t>between eyes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No movement when touched</a:t>
            </a:r>
            <a:endParaRPr lang="en-US" sz="2200" dirty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lvl="1"/>
            <a:endParaRPr lang="en-AU" sz="2200" dirty="0" smtClean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17410" name="Picture 2" descr="C:\Documents and Settings\danielc\Desktop\kill crab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2819400"/>
            <a:ext cx="2133600" cy="1600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24684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fish and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Kill live seafood humanely and to regulations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Live fish:</a:t>
            </a:r>
            <a:r>
              <a:rPr lang="en-US" sz="2200" b="1" dirty="0" smtClean="0">
                <a:latin typeface="Helvetica" pitchFamily="34" charset="0"/>
              </a:rPr>
              <a:t>			</a:t>
            </a:r>
          </a:p>
          <a:p>
            <a:pPr marL="360363" indent="-36036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‘Iki Jime’ (</a:t>
            </a:r>
            <a:r>
              <a:rPr lang="en-US" sz="2200" dirty="0">
                <a:latin typeface="Helvetica" pitchFamily="34" charset="0"/>
              </a:rPr>
              <a:t>J</a:t>
            </a:r>
            <a:r>
              <a:rPr lang="en-US" sz="2200" dirty="0" smtClean="0">
                <a:latin typeface="Helvetica" pitchFamily="34" charset="0"/>
              </a:rPr>
              <a:t>apanese method):</a:t>
            </a:r>
          </a:p>
          <a:p>
            <a:pPr marL="717550" lvl="1" indent="-382588">
              <a:spcBef>
                <a:spcPts val="600"/>
              </a:spcBef>
              <a:spcAft>
                <a:spcPts val="1200"/>
              </a:spcAft>
              <a:buSzPct val="80000"/>
              <a:buFont typeface="Wingdings" pitchFamily="2" charset="2"/>
              <a:buChar char="§"/>
            </a:pPr>
            <a:r>
              <a:rPr lang="en-US" sz="2200" dirty="0" smtClean="0"/>
              <a:t>Hold live fish securely	</a:t>
            </a:r>
          </a:p>
          <a:p>
            <a:pPr marL="717550" lvl="1" indent="-382588">
              <a:spcBef>
                <a:spcPts val="600"/>
              </a:spcBef>
              <a:spcAft>
                <a:spcPts val="1200"/>
              </a:spcAft>
              <a:buSzPct val="80000"/>
              <a:buFont typeface="Wingdings" pitchFamily="2" charset="2"/>
              <a:buChar char="§"/>
            </a:pPr>
            <a:r>
              <a:rPr lang="en-US" sz="2200" dirty="0" smtClean="0"/>
              <a:t>Spike into brain and move spike to destroy brain</a:t>
            </a:r>
          </a:p>
          <a:p>
            <a:pPr marL="717550" lvl="1" indent="-382588">
              <a:spcBef>
                <a:spcPts val="600"/>
              </a:spcBef>
              <a:spcAft>
                <a:spcPts val="1200"/>
              </a:spcAft>
              <a:buSzPct val="80000"/>
              <a:buFont typeface="Wingdings" pitchFamily="2" charset="2"/>
              <a:buChar char="§"/>
            </a:pPr>
            <a:r>
              <a:rPr lang="en-US" sz="2200" dirty="0" smtClean="0"/>
              <a:t>Cut gills to bleed fish immediately</a:t>
            </a:r>
          </a:p>
          <a:p>
            <a:pPr marL="717550" lvl="1" indent="-382588">
              <a:spcBef>
                <a:spcPts val="600"/>
              </a:spcBef>
              <a:spcAft>
                <a:spcPts val="1200"/>
              </a:spcAft>
              <a:buSzPct val="80000"/>
              <a:buFont typeface="Wingdings" pitchFamily="2" charset="2"/>
              <a:buChar char="§"/>
            </a:pPr>
            <a:r>
              <a:rPr lang="en-US" sz="2200" dirty="0" smtClean="0"/>
              <a:t>Gut as needed immediately</a:t>
            </a:r>
            <a:endParaRPr lang="en-US" sz="2200" dirty="0"/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lvl="1"/>
            <a:endParaRPr lang="en-AU" sz="2200" dirty="0" smtClean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18434" name="Picture 2" descr="C:\Documents and Settings\danielc\Desktop\Iki Jime.jpg"/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 flipH="1">
            <a:off x="5984254" y="2133600"/>
            <a:ext cx="2282435" cy="1524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466396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cook seafood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Element 4: Cook and present seafood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Select appropriate cooking method to fish variety and cuts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Prepare and cook following standard recipes within a commercial environment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Hold prepared products as required prior to presenting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Present fish and shellfish, including slice/carve and portion size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Prepare garnishes, sauces and accompaniments for fish and shellfish dishes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lvl="1"/>
            <a:endParaRPr lang="en-AU" sz="2200" dirty="0" smtClean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5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2438400"/>
            <a:ext cx="399154" cy="527046"/>
          </a:xfrm>
          <a:prstGeom prst="rect">
            <a:avLst/>
          </a:prstGeom>
          <a:noFill/>
        </p:spPr>
      </p:pic>
      <p:pic>
        <p:nvPicPr>
          <p:cNvPr id="6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1000" y="3276600"/>
            <a:ext cx="399154" cy="527046"/>
          </a:xfrm>
          <a:prstGeom prst="rect">
            <a:avLst/>
          </a:prstGeom>
          <a:noFill/>
        </p:spPr>
      </p:pic>
      <p:pic>
        <p:nvPicPr>
          <p:cNvPr id="7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24800" y="3892554"/>
            <a:ext cx="399154" cy="527046"/>
          </a:xfrm>
          <a:prstGeom prst="rect">
            <a:avLst/>
          </a:prstGeom>
          <a:noFill/>
        </p:spPr>
      </p:pic>
      <p:pic>
        <p:nvPicPr>
          <p:cNvPr id="8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724400"/>
            <a:ext cx="399154" cy="527046"/>
          </a:xfrm>
          <a:prstGeom prst="rect">
            <a:avLst/>
          </a:prstGeom>
          <a:noFill/>
        </p:spPr>
      </p:pic>
      <p:pic>
        <p:nvPicPr>
          <p:cNvPr id="9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4800" y="5638800"/>
            <a:ext cx="399154" cy="52704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Cook and present seafood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Select appropriate cooking methods to fish and varieties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Most whole fish is best to: 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Steam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Poach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Bake whole in banana leaves: this is actually steaming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Fillet portions better for grilling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Thin whole fillets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lvl="1"/>
            <a:endParaRPr lang="en-AU" sz="2200" dirty="0" smtClean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19458" name="Picture 2" descr="C:\Documents and Settings\danielc\Desktop\Hong Kong Style Steam Fish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5486400" y="2514600"/>
            <a:ext cx="2353668" cy="152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Cook and present seafood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Prepare and cook following standard recipes within commercial environment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Select recipes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Collect ingredients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Follow instruction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Cook dish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Receive feedback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Make adjustments to recipe or method as required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lvl="1"/>
            <a:endParaRPr lang="en-AU" sz="2200" dirty="0" smtClean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20482" name="Picture 2" descr="C:\Documents and Settings\danielc\Desktop\1014550_shrimps_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2667000"/>
            <a:ext cx="2857500" cy="190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Cook and present seafood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Hold prepared products as required prior to presenting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Hold at required temperature for specified </a:t>
            </a:r>
            <a:br>
              <a:rPr lang="en-US" sz="2200" dirty="0" smtClean="0"/>
            </a:br>
            <a:r>
              <a:rPr lang="en-US" sz="2200" dirty="0" smtClean="0"/>
              <a:t>time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Cook to order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Wet dishes better than single serve </a:t>
            </a:r>
            <a:br>
              <a:rPr lang="en-US" sz="2200" dirty="0" smtClean="0"/>
            </a:br>
            <a:r>
              <a:rPr lang="en-US" sz="2200" dirty="0" smtClean="0"/>
              <a:t>grill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21507" name="Picture 3" descr="C:\Documents and Settings\danielc\Local Settings\Temporary Internet Files\Content.IE5\3DV3UKH9\MP900443441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2743200"/>
            <a:ext cx="1551317" cy="23242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Cook and present seafood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Present fish and shellfish, including slice, carve and portion size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Whole fish can be presented: </a:t>
            </a:r>
          </a:p>
          <a:p>
            <a:pPr marL="720000" lvl="1" indent="-36000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200" dirty="0" smtClean="0"/>
              <a:t>On side</a:t>
            </a:r>
          </a:p>
          <a:p>
            <a:pPr marL="720000" lvl="1" indent="-36000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200" dirty="0" smtClean="0"/>
              <a:t>Upright 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Garnish or accompaniment on side of platter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Grilled portions presented on plate with sauce</a:t>
            </a:r>
          </a:p>
          <a:p>
            <a:pPr lvl="1"/>
            <a:endParaRPr lang="en-AU" sz="2200" dirty="0" smtClean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5" name="Picture 4" descr="C:\Documents and Settings\danielc\Desktop\grilled-whole-fish-chili-soy-055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0" y="2051824"/>
            <a:ext cx="1725976" cy="2062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Cook and present seafood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Prepare garnishes, sauces and accompaniment for fish and shellfish dishes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/>
              <a:t>K</a:t>
            </a:r>
            <a:r>
              <a:rPr lang="en-AU" sz="2200" dirty="0" smtClean="0"/>
              <a:t>eep them simple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Make or supply fresh</a:t>
            </a:r>
            <a:endParaRPr lang="en-AU" sz="2200" dirty="0"/>
          </a:p>
          <a:p>
            <a:pPr marL="448056" lvl="1" indent="0">
              <a:buNone/>
            </a:pPr>
            <a:endParaRPr lang="en-AU" sz="2200" dirty="0" smtClean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5" name="Picture 4" descr="C:\Documents and Settings\danielc\Desktop\stefanos_seafood_mixed_grill1.jpg"/>
          <p:cNvPicPr/>
          <p:nvPr/>
        </p:nvPicPr>
        <p:blipFill>
          <a:blip r:embed="rId3" cstate="print"/>
          <a:srcRect l="10742" r="9492"/>
          <a:stretch>
            <a:fillRect/>
          </a:stretch>
        </p:blipFill>
        <p:spPr bwMode="auto">
          <a:xfrm flipH="1">
            <a:off x="4648200" y="2438400"/>
            <a:ext cx="1961422" cy="1616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C:\Documents and Settings\danielc\Desktop\Lemon-Blog-pictures-012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62600" y="3886200"/>
            <a:ext cx="1854355" cy="1382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cook seafood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Element 5: Store fish and shellfish to enterprise requirements 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Fresh or vacuum packed items stored correctly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Prepare and maintain correct thawing of fish and shellfish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Fish and shellfish are appropriately stored in correct containers</a:t>
            </a:r>
            <a:endParaRPr lang="en-US" sz="2200" dirty="0" smtClean="0"/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Fish and shellfish are correctly labelled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AU" sz="2200" dirty="0" smtClean="0"/>
              <a:t>Ensure correct conditions are maintained for freshness and quality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5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86600" y="2362200"/>
            <a:ext cx="399154" cy="527046"/>
          </a:xfrm>
          <a:prstGeom prst="rect">
            <a:avLst/>
          </a:prstGeom>
          <a:noFill/>
        </p:spPr>
      </p:pic>
      <p:pic>
        <p:nvPicPr>
          <p:cNvPr id="6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3359154"/>
            <a:ext cx="399154" cy="527046"/>
          </a:xfrm>
          <a:prstGeom prst="rect">
            <a:avLst/>
          </a:prstGeom>
          <a:noFill/>
        </p:spPr>
      </p:pic>
      <p:pic>
        <p:nvPicPr>
          <p:cNvPr id="7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4273554"/>
            <a:ext cx="399154" cy="527046"/>
          </a:xfrm>
          <a:prstGeom prst="rect">
            <a:avLst/>
          </a:prstGeom>
          <a:noFill/>
        </p:spPr>
      </p:pic>
      <p:pic>
        <p:nvPicPr>
          <p:cNvPr id="8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4724400"/>
            <a:ext cx="399154" cy="527046"/>
          </a:xfrm>
          <a:prstGeom prst="rect">
            <a:avLst/>
          </a:prstGeom>
          <a:noFill/>
        </p:spPr>
      </p:pic>
      <p:pic>
        <p:nvPicPr>
          <p:cNvPr id="9" name="Picture 3" descr="C:\Documents and Settings\Godaishu\Local Settings\Temporary Internet Files\Content.IE5\KLU3SPUN\MC9004346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5721354"/>
            <a:ext cx="399154" cy="52704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Store fish and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99640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100" b="1" dirty="0" smtClean="0">
                <a:latin typeface="Helvetica" pitchFamily="34" charset="0"/>
              </a:rPr>
              <a:t>Fresh and or vacuum packed items are stored correctly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100" u="sng" dirty="0" smtClean="0">
                <a:latin typeface="Helvetica" pitchFamily="34" charset="0"/>
              </a:rPr>
              <a:t>In tanks</a:t>
            </a:r>
            <a:r>
              <a:rPr lang="en-US" sz="2100" dirty="0" smtClean="0">
                <a:latin typeface="Helvetica" pitchFamily="34" charset="0"/>
              </a:rPr>
              <a:t>: if keeping and storing live fish: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100" dirty="0" smtClean="0"/>
              <a:t>Provide filtered water system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100" dirty="0" smtClean="0"/>
              <a:t>Aerate adequately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100" dirty="0" smtClean="0"/>
              <a:t>Keep out of bright lights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100" dirty="0" smtClean="0"/>
              <a:t>Comply with animal welfare requirements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100" dirty="0" smtClean="0"/>
              <a:t>Do not agitate the fish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100" dirty="0" smtClean="0"/>
              <a:t>Do not feed; this will dirty the water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100" b="1" dirty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100" b="1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1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5" name="Picture 4" descr="C:\Documents and Settings\danielc\Desktop\fish_tank_1024.jpg"/>
          <p:cNvPicPr/>
          <p:nvPr/>
        </p:nvPicPr>
        <p:blipFill>
          <a:blip r:embed="rId3" cstate="print">
            <a:lum contrast="10000"/>
          </a:blip>
          <a:srcRect r="8256"/>
          <a:stretch>
            <a:fillRect/>
          </a:stretch>
        </p:blipFill>
        <p:spPr bwMode="auto">
          <a:xfrm>
            <a:off x="5943600" y="2590800"/>
            <a:ext cx="1993605" cy="1661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Store fish and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Fresh or vacuum packed items are stored correctly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Fresh fish - gilled and gutted: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Keep chilled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Keep moist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Keep covered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No direct contact with ice</a:t>
            </a:r>
          </a:p>
          <a:p>
            <a:pPr marL="342900" indent="-342900">
              <a:spcBef>
                <a:spcPts val="600"/>
              </a:spcBef>
              <a:spcAft>
                <a:spcPts val="1200"/>
              </a:spcAft>
            </a:pPr>
            <a:endParaRPr lang="en-US" sz="2200" b="1" dirty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22531" name="Picture 3" descr="C:\Documents and Settings\danielc\Desktop\Cs_Fish_L1b_twocolum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6200000" flipH="1">
            <a:off x="4648200" y="3048000"/>
            <a:ext cx="3225443" cy="18129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320718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Store fish and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Fresh and or vacuum packed items are stored correctly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Fresh fish: vacuum packed: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Keep chilled in single layers in clean trays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Make sure label is still attached and in view</a:t>
            </a:r>
          </a:p>
          <a:p>
            <a:pPr marL="342900" indent="-342900">
              <a:spcBef>
                <a:spcPts val="600"/>
              </a:spcBef>
              <a:spcAft>
                <a:spcPts val="1200"/>
              </a:spcAft>
            </a:pPr>
            <a:endParaRPr lang="en-US" sz="2200" b="1" dirty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5" name="Picture 4" descr="C:\Documents and Settings\danielc\Desktop\Low-Temperature-Resistant-Seafood-Packaging-Films-968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9000" y="4343400"/>
            <a:ext cx="1776296" cy="1739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276340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Store fish and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Fresh items are stored correctly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Fresh live shellfish: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Keep moist in wet </a:t>
            </a:r>
            <a:r>
              <a:rPr lang="en-US" sz="2200" dirty="0"/>
              <a:t>hessian </a:t>
            </a:r>
            <a:r>
              <a:rPr lang="en-US" sz="2200" dirty="0" smtClean="0"/>
              <a:t>bags 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Keep covered in suitable environment	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Tropical lobster – 20ºC to 25ºC; 6 hours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Southern Rock Lobster – 6ºC to10ºC; 6 hours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Balmain bugs – 6ºC;12hours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Moreton </a:t>
            </a:r>
            <a:r>
              <a:rPr lang="en-US" sz="2200" dirty="0"/>
              <a:t>B</a:t>
            </a:r>
            <a:r>
              <a:rPr lang="en-US" sz="2200" dirty="0" smtClean="0"/>
              <a:t>ay bugs – 12 to15ºC; 12 hours</a:t>
            </a:r>
          </a:p>
          <a:p>
            <a:pPr marL="342900" indent="-342900">
              <a:spcBef>
                <a:spcPts val="600"/>
              </a:spcBef>
              <a:spcAft>
                <a:spcPts val="1200"/>
              </a:spcAft>
            </a:pPr>
            <a:endParaRPr lang="en-US" sz="2200" b="1" dirty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24014" y="6426894"/>
            <a:ext cx="62889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latin typeface="Helvetica" pitchFamily="34" charset="0"/>
              </a:rPr>
              <a:t>Source information Guidelines on aquatic animal welfare; Welfare for aquaculture industry in Western Australia. 2001: Simon Benison</a:t>
            </a:r>
            <a:endParaRPr lang="en-US" sz="800" dirty="0">
              <a:latin typeface="Helvetica" pitchFamily="34" charset="0"/>
            </a:endParaRPr>
          </a:p>
        </p:txBody>
      </p:sp>
      <p:pic>
        <p:nvPicPr>
          <p:cNvPr id="23554" name="Picture 2" descr="C:\Documents and Settings\danielc\Desktop\hessian-sandbag.jpg"/>
          <p:cNvPicPr>
            <a:picLocks noChangeAspect="1" noChangeArrowheads="1"/>
          </p:cNvPicPr>
          <p:nvPr/>
        </p:nvPicPr>
        <p:blipFill>
          <a:blip r:embed="rId3" cstate="print"/>
          <a:srcRect l="4967" t="5268" r="3833" b="7375"/>
          <a:stretch>
            <a:fillRect/>
          </a:stretch>
        </p:blipFill>
        <p:spPr bwMode="auto">
          <a:xfrm>
            <a:off x="6096000" y="2590800"/>
            <a:ext cx="2209800" cy="1473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882981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Store fish and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Prepare and maintain correct thawing of fish and shellfish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Thaw in controlled environment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Remove any accumulated water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Use as soon as possible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24578" name="Picture 2" descr="C:\Documents and Settings\danielc\Desktop\salmon-thawin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3962400"/>
            <a:ext cx="2514600" cy="1828800"/>
          </a:xfrm>
          <a:prstGeom prst="rect">
            <a:avLst/>
          </a:prstGeom>
          <a:noFill/>
        </p:spPr>
      </p:pic>
      <p:pic>
        <p:nvPicPr>
          <p:cNvPr id="24579" name="Picture 3" descr="C:\Documents and Settings\danielc\Desktop\Thawing Frozen Fish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86400" y="2133600"/>
            <a:ext cx="2555782" cy="17065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Store fish and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Fish and shellfish are appropriately stored in correct containers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Containers need to be food grade containers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Containers need to be clean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25602" name="Picture 2" descr="C:\Documents and Settings\danielc\Desktop\food container.jp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lum contrast="10000"/>
          </a:blip>
          <a:srcRect t="12500" b="12500"/>
          <a:stretch>
            <a:fillRect/>
          </a:stretch>
        </p:blipFill>
        <p:spPr bwMode="auto">
          <a:xfrm>
            <a:off x="5486400" y="3200400"/>
            <a:ext cx="2438398" cy="1828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Store fish and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Fish and shellfish are labeled correctly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Label must be legible: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Name of product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Date of storage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Use by date recommendation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Name of person storing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Suppliers name and address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5" name="Picture 2" descr="C:\Documents and Settings\danielc\Desktop\Adhesive-Blank-Cut-Label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2819400"/>
            <a:ext cx="2349249" cy="1981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Store fish and shellfish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Ensure correct conditions are maintained for freshness and quality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Keep equipment in efficient running conditions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Keep environment clean and tidy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Remove old stock when date expires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/>
              <a:t>Ensure temperatures are correct for </a:t>
            </a:r>
            <a:br>
              <a:rPr lang="en-US" sz="2200" dirty="0" smtClean="0"/>
            </a:br>
            <a:r>
              <a:rPr lang="en-US" sz="2200" dirty="0" smtClean="0"/>
              <a:t>efficient storage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26627" name="Picture 3" descr="C:\Documents and Settings\danielc\Desktop\Seafood\King-George-whiting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43600" y="2971800"/>
            <a:ext cx="2381250" cy="1695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SEAN PPT Template 010611 MV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ASEAN PPT Template 010611 MV</Template>
  <TotalTime>1170</TotalTime>
  <Words>3502</Words>
  <Application>Microsoft Office PowerPoint</Application>
  <PresentationFormat>On-screen Show (4:3)</PresentationFormat>
  <Paragraphs>785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Helvetica</vt:lpstr>
      <vt:lpstr>Wingdings</vt:lpstr>
      <vt:lpstr>Wingdings 2</vt:lpstr>
      <vt:lpstr>ASEAN PPT Template 010611 MV</vt:lpstr>
      <vt:lpstr>PREPARE AND COOK SEAFOOD</vt:lpstr>
      <vt:lpstr>Prepare and cook seafood</vt:lpstr>
      <vt:lpstr>Prepare and cook seafood</vt:lpstr>
      <vt:lpstr>Prepare and cook seafood</vt:lpstr>
      <vt:lpstr>Identify and select fish varieties</vt:lpstr>
      <vt:lpstr>Identify and select fish varieties</vt:lpstr>
      <vt:lpstr>Identify and select fish varieties</vt:lpstr>
      <vt:lpstr>Identify and select fish varieties</vt:lpstr>
      <vt:lpstr>Identify and select fish varieties</vt:lpstr>
      <vt:lpstr>Identify and select fish varieties</vt:lpstr>
      <vt:lpstr>Identify and select fish varieties</vt:lpstr>
      <vt:lpstr>Identify and select fish varieties</vt:lpstr>
      <vt:lpstr>Identify and select fish varieties</vt:lpstr>
      <vt:lpstr>Identify and select fish varieties</vt:lpstr>
      <vt:lpstr>Identify and select fish varieties</vt:lpstr>
      <vt:lpstr>Identify and select fish varieties</vt:lpstr>
      <vt:lpstr>Prepare and cook seafood</vt:lpstr>
      <vt:lpstr>Identify and select shellfish</vt:lpstr>
      <vt:lpstr>Identify and select shellfish</vt:lpstr>
      <vt:lpstr>Identify and select shellfish</vt:lpstr>
      <vt:lpstr>Identify and select shellfish</vt:lpstr>
      <vt:lpstr>Identify and select shellfish</vt:lpstr>
      <vt:lpstr>Identify and select shellfish</vt:lpstr>
      <vt:lpstr>Identify and select shellfish</vt:lpstr>
      <vt:lpstr>Identify and select shellfish</vt:lpstr>
      <vt:lpstr>Identify and select shellfish</vt:lpstr>
      <vt:lpstr>Identify and select shellfish</vt:lpstr>
      <vt:lpstr>Prepare and cook seafood</vt:lpstr>
      <vt:lpstr>Prepare fish and shellfish</vt:lpstr>
      <vt:lpstr>Prepare fish and shellfish</vt:lpstr>
      <vt:lpstr>Prepare fish and shellfish</vt:lpstr>
      <vt:lpstr>Prepare fish and shellfish</vt:lpstr>
      <vt:lpstr>Prepare fish and shellfish</vt:lpstr>
      <vt:lpstr>Prepare fish and shellfish</vt:lpstr>
      <vt:lpstr>Prepare and cook seafood</vt:lpstr>
      <vt:lpstr>Cook and present seafood</vt:lpstr>
      <vt:lpstr>Cook and present seafood</vt:lpstr>
      <vt:lpstr>Cook and present seafood</vt:lpstr>
      <vt:lpstr>Cook and present seafood</vt:lpstr>
      <vt:lpstr>Cook and present seafood</vt:lpstr>
      <vt:lpstr>Prepare and cook seafood</vt:lpstr>
      <vt:lpstr>Store fish and shellfish</vt:lpstr>
      <vt:lpstr>Store fish and shellfish</vt:lpstr>
      <vt:lpstr>Store fish and shellfish</vt:lpstr>
      <vt:lpstr>Store fish and shellfish</vt:lpstr>
      <vt:lpstr>Store fish and shellfish</vt:lpstr>
      <vt:lpstr>Store fish and shellfish</vt:lpstr>
      <vt:lpstr>Store fish and shellfish</vt:lpstr>
      <vt:lpstr>Store fish and shellfish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PREPARE AND COOK SEAFOOD</dc:title>
  <dc:creator>fgvghyujil</dc:creator>
  <cp:lastModifiedBy>Carla Angelica Co</cp:lastModifiedBy>
  <cp:revision>98</cp:revision>
  <dcterms:created xsi:type="dcterms:W3CDTF">2012-02-03T06:42:21Z</dcterms:created>
  <dcterms:modified xsi:type="dcterms:W3CDTF">2015-03-31T07:07:48Z</dcterms:modified>
</cp:coreProperties>
</file>