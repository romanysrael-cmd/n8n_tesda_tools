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46"/>
  </p:notesMasterIdLst>
  <p:handoutMasterIdLst>
    <p:handoutMasterId r:id="rId147"/>
  </p:handoutMasterIdLst>
  <p:sldIdLst>
    <p:sldId id="256" r:id="rId2"/>
    <p:sldId id="259" r:id="rId3"/>
    <p:sldId id="260" r:id="rId4"/>
    <p:sldId id="261" r:id="rId5"/>
    <p:sldId id="262" r:id="rId6"/>
    <p:sldId id="257" r:id="rId7"/>
    <p:sldId id="301" r:id="rId8"/>
    <p:sldId id="273" r:id="rId9"/>
    <p:sldId id="302" r:id="rId10"/>
    <p:sldId id="303" r:id="rId11"/>
    <p:sldId id="304" r:id="rId12"/>
    <p:sldId id="305" r:id="rId13"/>
    <p:sldId id="306" r:id="rId14"/>
    <p:sldId id="274" r:id="rId15"/>
    <p:sldId id="307" r:id="rId16"/>
    <p:sldId id="308" r:id="rId17"/>
    <p:sldId id="275" r:id="rId18"/>
    <p:sldId id="276" r:id="rId19"/>
    <p:sldId id="277" r:id="rId20"/>
    <p:sldId id="278" r:id="rId21"/>
    <p:sldId id="279" r:id="rId22"/>
    <p:sldId id="280" r:id="rId23"/>
    <p:sldId id="281" r:id="rId24"/>
    <p:sldId id="282" r:id="rId25"/>
    <p:sldId id="284" r:id="rId26"/>
    <p:sldId id="285" r:id="rId27"/>
    <p:sldId id="286" r:id="rId28"/>
    <p:sldId id="287" r:id="rId29"/>
    <p:sldId id="288" r:id="rId30"/>
    <p:sldId id="289" r:id="rId31"/>
    <p:sldId id="265" r:id="rId32"/>
    <p:sldId id="266" r:id="rId33"/>
    <p:sldId id="309" r:id="rId34"/>
    <p:sldId id="310" r:id="rId35"/>
    <p:sldId id="311" r:id="rId36"/>
    <p:sldId id="312" r:id="rId37"/>
    <p:sldId id="313" r:id="rId38"/>
    <p:sldId id="314" r:id="rId39"/>
    <p:sldId id="315" r:id="rId40"/>
    <p:sldId id="267" r:id="rId41"/>
    <p:sldId id="316" r:id="rId42"/>
    <p:sldId id="317" r:id="rId43"/>
    <p:sldId id="318" r:id="rId44"/>
    <p:sldId id="319" r:id="rId45"/>
    <p:sldId id="320" r:id="rId46"/>
    <p:sldId id="321" r:id="rId47"/>
    <p:sldId id="322" r:id="rId48"/>
    <p:sldId id="323" r:id="rId49"/>
    <p:sldId id="268" r:id="rId50"/>
    <p:sldId id="324" r:id="rId51"/>
    <p:sldId id="325" r:id="rId52"/>
    <p:sldId id="326" r:id="rId53"/>
    <p:sldId id="327" r:id="rId54"/>
    <p:sldId id="328" r:id="rId55"/>
    <p:sldId id="329" r:id="rId56"/>
    <p:sldId id="330" r:id="rId57"/>
    <p:sldId id="269" r:id="rId58"/>
    <p:sldId id="333" r:id="rId59"/>
    <p:sldId id="334" r:id="rId60"/>
    <p:sldId id="335" r:id="rId61"/>
    <p:sldId id="336" r:id="rId62"/>
    <p:sldId id="337" r:id="rId63"/>
    <p:sldId id="338" r:id="rId64"/>
    <p:sldId id="339" r:id="rId65"/>
    <p:sldId id="340" r:id="rId66"/>
    <p:sldId id="341" r:id="rId67"/>
    <p:sldId id="342" r:id="rId68"/>
    <p:sldId id="270" r:id="rId69"/>
    <p:sldId id="343" r:id="rId70"/>
    <p:sldId id="344" r:id="rId71"/>
    <p:sldId id="345" r:id="rId72"/>
    <p:sldId id="346" r:id="rId73"/>
    <p:sldId id="271" r:id="rId74"/>
    <p:sldId id="347" r:id="rId75"/>
    <p:sldId id="348" r:id="rId76"/>
    <p:sldId id="349" r:id="rId77"/>
    <p:sldId id="350" r:id="rId78"/>
    <p:sldId id="351" r:id="rId79"/>
    <p:sldId id="272" r:id="rId80"/>
    <p:sldId id="356" r:id="rId81"/>
    <p:sldId id="357" r:id="rId82"/>
    <p:sldId id="358" r:id="rId83"/>
    <p:sldId id="359" r:id="rId84"/>
    <p:sldId id="360" r:id="rId85"/>
    <p:sldId id="361" r:id="rId86"/>
    <p:sldId id="362" r:id="rId87"/>
    <p:sldId id="363" r:id="rId88"/>
    <p:sldId id="364" r:id="rId89"/>
    <p:sldId id="365" r:id="rId90"/>
    <p:sldId id="366" r:id="rId91"/>
    <p:sldId id="367" r:id="rId92"/>
    <p:sldId id="352" r:id="rId93"/>
    <p:sldId id="368" r:id="rId94"/>
    <p:sldId id="369" r:id="rId95"/>
    <p:sldId id="370" r:id="rId96"/>
    <p:sldId id="371" r:id="rId97"/>
    <p:sldId id="372" r:id="rId98"/>
    <p:sldId id="373" r:id="rId99"/>
    <p:sldId id="353" r:id="rId100"/>
    <p:sldId id="378" r:id="rId101"/>
    <p:sldId id="379" r:id="rId102"/>
    <p:sldId id="380" r:id="rId103"/>
    <p:sldId id="381" r:id="rId104"/>
    <p:sldId id="382" r:id="rId105"/>
    <p:sldId id="354" r:id="rId106"/>
    <p:sldId id="383" r:id="rId107"/>
    <p:sldId id="384" r:id="rId108"/>
    <p:sldId id="385" r:id="rId109"/>
    <p:sldId id="355" r:id="rId110"/>
    <p:sldId id="386" r:id="rId111"/>
    <p:sldId id="387" r:id="rId112"/>
    <p:sldId id="388" r:id="rId113"/>
    <p:sldId id="389" r:id="rId114"/>
    <p:sldId id="390" r:id="rId115"/>
    <p:sldId id="391" r:id="rId116"/>
    <p:sldId id="392" r:id="rId117"/>
    <p:sldId id="258" r:id="rId118"/>
    <p:sldId id="393" r:id="rId119"/>
    <p:sldId id="394" r:id="rId120"/>
    <p:sldId id="395" r:id="rId121"/>
    <p:sldId id="396" r:id="rId122"/>
    <p:sldId id="397" r:id="rId123"/>
    <p:sldId id="263" r:id="rId124"/>
    <p:sldId id="398" r:id="rId125"/>
    <p:sldId id="399" r:id="rId126"/>
    <p:sldId id="400" r:id="rId127"/>
    <p:sldId id="404" r:id="rId128"/>
    <p:sldId id="401" r:id="rId129"/>
    <p:sldId id="405" r:id="rId130"/>
    <p:sldId id="406" r:id="rId131"/>
    <p:sldId id="407" r:id="rId132"/>
    <p:sldId id="408" r:id="rId133"/>
    <p:sldId id="419" r:id="rId134"/>
    <p:sldId id="409" r:id="rId135"/>
    <p:sldId id="402" r:id="rId136"/>
    <p:sldId id="422" r:id="rId137"/>
    <p:sldId id="423" r:id="rId138"/>
    <p:sldId id="424" r:id="rId139"/>
    <p:sldId id="425" r:id="rId140"/>
    <p:sldId id="426" r:id="rId141"/>
    <p:sldId id="427" r:id="rId142"/>
    <p:sldId id="428" r:id="rId143"/>
    <p:sldId id="429" r:id="rId144"/>
    <p:sldId id="430" r:id="rId145"/>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150" autoAdjust="0"/>
    <p:restoredTop sz="69983" autoAdjust="0"/>
  </p:normalViewPr>
  <p:slideViewPr>
    <p:cSldViewPr>
      <p:cViewPr varScale="1">
        <p:scale>
          <a:sx n="64" d="100"/>
          <a:sy n="64" d="100"/>
        </p:scale>
        <p:origin x="2070"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theme" Target="theme/theme1.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presProps" Target="presProps.xml"/><Relationship Id="rId15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pPr/>
              <a:t>7/18/2016</a:t>
            </a:fld>
            <a:endParaRPr lang="en-GB" dirty="0"/>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pPr/>
              <a:t>‹#›</a:t>
            </a:fld>
            <a:endParaRPr lang="en-GB" dirty="0"/>
          </a:p>
        </p:txBody>
      </p:sp>
    </p:spTree>
    <p:extLst>
      <p:ext uri="{BB962C8B-B14F-4D97-AF65-F5344CB8AC3E}">
        <p14:creationId xmlns:p14="http://schemas.microsoft.com/office/powerpoint/2010/main" val="1493299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vl1pPr>
          </a:lstStyle>
          <a:p>
            <a:fld id="{BC34F173-2430-41D6-9CA5-C9CD3BDF7E96}" type="datetimeFigureOut">
              <a:rPr lang="en-US" smtClean="0"/>
              <a:pPr/>
              <a:t>7/18/2016</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3155990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tudy.com/academy/lesson/types-of-planning-strategic-tactical-operational-contingency-planning.html" TargetMode="External"/><Relationship Id="rId2" Type="http://schemas.openxmlformats.org/officeDocument/2006/relationships/slide" Target="../slides/slide6.xml"/><Relationship Id="rId1" Type="http://schemas.openxmlformats.org/officeDocument/2006/relationships/notesMaster" Target="../notesMasters/notesMaster1.xml"/><Relationship Id="rId5" Type="http://schemas.openxmlformats.org/officeDocument/2006/relationships/hyperlink" Target="https://www.boundless.com/management/textbooks/boundless-management-textbook/control-8/types-of-control-62/strategic-tactical-and-operational-control-313-3960/" TargetMode="External"/><Relationship Id="rId4" Type="http://schemas.openxmlformats.org/officeDocument/2006/relationships/hyperlink" Target="https://blog.udemy.com/planning-in-management/"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www.industrialrelations.nsw.gov.au/oirwww/Employment_info/Managing_employees/Workplace_policies_and_procedures.page" TargetMode="External"/><Relationship Id="rId2" Type="http://schemas.openxmlformats.org/officeDocument/2006/relationships/slide" Target="../slides/slide16.xml"/><Relationship Id="rId1" Type="http://schemas.openxmlformats.org/officeDocument/2006/relationships/notesMaster" Target="../notesMasters/notesMaster1.xml"/><Relationship Id="rId4" Type="http://schemas.openxmlformats.org/officeDocument/2006/relationships/hyperlink" Target="http://www.industrialrelations.nsw.gov.au/biz_res/oirwww/pdfs/workplace_pp.pdf" TargetMode="Externa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www.scribd.com/doc/64899080/Difference-Between-Policy-and-Strategy" TargetMode="External"/><Relationship Id="rId2" Type="http://schemas.openxmlformats.org/officeDocument/2006/relationships/slide" Target="../slides/slide19.xml"/><Relationship Id="rId1" Type="http://schemas.openxmlformats.org/officeDocument/2006/relationships/notesMaster" Target="../notesMasters/notesMaster1.xml"/><Relationship Id="rId5" Type="http://schemas.openxmlformats.org/officeDocument/2006/relationships/hyperlink" Target="http://nraombakc.blogspot.com.au/2011/12/content-and-process-of-operations.html" TargetMode="External"/><Relationship Id="rId4" Type="http://schemas.openxmlformats.org/officeDocument/2006/relationships/hyperlink" Target="http://www.executive.org/bibliography/policy.pdf" TargetMode="Externa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www.som.cranfield.ac.uk/som/dinamic-content/media/knowledgeinterchange/themedareas/innovation/key%20concepts/Bob_Lillis/index.htm" TargetMode="External"/><Relationship Id="rId2" Type="http://schemas.openxmlformats.org/officeDocument/2006/relationships/slide" Target="../slides/slide22.xml"/><Relationship Id="rId1" Type="http://schemas.openxmlformats.org/officeDocument/2006/relationships/notesMaster" Target="../notesMasters/notesMaster1.xml"/><Relationship Id="rId4" Type="http://schemas.openxmlformats.org/officeDocument/2006/relationships/hyperlink" Target="http://www.business.gov.au/business-topics/business-planning/marketing/Pages/5-ps-of-marketing.aspx" TargetMode="Externa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policies.uws.edu.au/view.current.php?id=00086" TargetMode="External"/><Relationship Id="rId2" Type="http://schemas.openxmlformats.org/officeDocument/2006/relationships/slide" Target="../slides/slide26.xml"/><Relationship Id="rId1" Type="http://schemas.openxmlformats.org/officeDocument/2006/relationships/notesMaster" Target="../notesMasters/notesMaster1.xml"/><Relationship Id="rId5" Type="http://schemas.openxmlformats.org/officeDocument/2006/relationships/hyperlink" Target="https://mifosforge.jira.com/wiki/display/docs/Operational+Policy+Samples+for+Financial+Institutions" TargetMode="External"/><Relationship Id="rId4" Type="http://schemas.openxmlformats.org/officeDocument/2006/relationships/hyperlink" Target="http://www.business.vic.gov.au/money-profit-and-accounting/financial-processes-and-procedures/accounting-and-financial-policies-and-procedures" TargetMode="Externa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www.templatezone.com/download-free-ebook/office-policy-manual-reference-guide.pdf" TargetMode="External"/><Relationship Id="rId2" Type="http://schemas.openxmlformats.org/officeDocument/2006/relationships/slide" Target="../slides/slide27.xml"/><Relationship Id="rId1" Type="http://schemas.openxmlformats.org/officeDocument/2006/relationships/notesMaster" Target="../notesMasters/notesMaster1.xml"/><Relationship Id="rId5" Type="http://schemas.openxmlformats.org/officeDocument/2006/relationships/hyperlink" Target="http://www.referenceforbusiness.com/management/Ob-Or/Operations-Strategy.html" TargetMode="External"/><Relationship Id="rId4" Type="http://schemas.openxmlformats.org/officeDocument/2006/relationships/hyperlink" Target="http://smallbusiness.chron.com/operations-strategy-examples-24650.html" TargetMode="Externa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3" Type="http://schemas.openxmlformats.org/officeDocument/2006/relationships/hyperlink" Target="http://www.leoisaac.com/policy/top131.htm" TargetMode="External"/><Relationship Id="rId2" Type="http://schemas.openxmlformats.org/officeDocument/2006/relationships/slide" Target="../slides/slide38.xml"/><Relationship Id="rId1" Type="http://schemas.openxmlformats.org/officeDocument/2006/relationships/notesMaster" Target="../notesMasters/notesMaster1.xml"/><Relationship Id="rId4" Type="http://schemas.openxmlformats.org/officeDocument/2006/relationships/hyperlink" Target="http://www.fao.org/wairdocs/ilri/x5499e/x5499e04.htm" TargetMode="External"/></Relationships>
</file>

<file path=ppt/notesSlides/_rels/notesSlide39.xml.rels><?xml version="1.0" encoding="UTF-8" standalone="yes"?>
<Relationships xmlns="http://schemas.openxmlformats.org/package/2006/relationships"><Relationship Id="rId3" Type="http://schemas.openxmlformats.org/officeDocument/2006/relationships/hyperlink" Target="http://www.businessdictionary.com/definition/objective.html" TargetMode="External"/><Relationship Id="rId2" Type="http://schemas.openxmlformats.org/officeDocument/2006/relationships/slide" Target="../slides/slide39.xml"/><Relationship Id="rId1" Type="http://schemas.openxmlformats.org/officeDocument/2006/relationships/notesMaster" Target="../notesMasters/notesMaster1.xml"/><Relationship Id="rId4" Type="http://schemas.openxmlformats.org/officeDocument/2006/relationships/hyperlink" Target="http://topachievement.com/smart.html" TargetMode="Externa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3" Type="http://schemas.openxmlformats.org/officeDocument/2006/relationships/hyperlink" Target="http://www.mindtools.com/pages/article/newTMC_05.htm" TargetMode="External"/><Relationship Id="rId2" Type="http://schemas.openxmlformats.org/officeDocument/2006/relationships/slide" Target="../slides/slide41.xml"/><Relationship Id="rId1" Type="http://schemas.openxmlformats.org/officeDocument/2006/relationships/notesMaster" Target="../notesMasters/notesMaster1.xml"/><Relationship Id="rId5" Type="http://schemas.openxmlformats.org/officeDocument/2006/relationships/hyperlink" Target="http://smallbusiness.chron.com/swot-analysis-diversity-training-1850.html" TargetMode="External"/><Relationship Id="rId4" Type="http://schemas.openxmlformats.org/officeDocument/2006/relationships/hyperlink" Target="https://www.business.qld.gov.au/business/starting/market-customer-research/swot-analysis/example-swot-analysis" TargetMode="External"/></Relationships>
</file>

<file path=ppt/notesSlides/_rels/notesSlide42.xml.rels><?xml version="1.0" encoding="UTF-8" standalone="yes"?>
<Relationships xmlns="http://schemas.openxmlformats.org/package/2006/relationships"><Relationship Id="rId3" Type="http://schemas.openxmlformats.org/officeDocument/2006/relationships/hyperlink" Target="http://pestleanalysis.com/" TargetMode="External"/><Relationship Id="rId2" Type="http://schemas.openxmlformats.org/officeDocument/2006/relationships/slide" Target="../slides/slide42.xml"/><Relationship Id="rId1" Type="http://schemas.openxmlformats.org/officeDocument/2006/relationships/notesMaster" Target="../notesMasters/notesMaster1.xml"/><Relationship Id="rId4" Type="http://schemas.openxmlformats.org/officeDocument/2006/relationships/hyperlink" Target="http://www.slideshare.net/lconner/steeple" TargetMode="Externa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3" Type="http://schemas.openxmlformats.org/officeDocument/2006/relationships/hyperlink" Target="http://study.com/academy/lesson/what-is-benchmarking-definition-types-process-examples.html" TargetMode="External"/><Relationship Id="rId2" Type="http://schemas.openxmlformats.org/officeDocument/2006/relationships/slide" Target="../slides/slide47.xml"/><Relationship Id="rId1" Type="http://schemas.openxmlformats.org/officeDocument/2006/relationships/notesMaster" Target="../notesMasters/notesMaster1.xml"/><Relationship Id="rId5" Type="http://schemas.openxmlformats.org/officeDocument/2006/relationships/hyperlink" Target="http://en.wikipedia.org/wiki/Best_practice" TargetMode="External"/><Relationship Id="rId4" Type="http://schemas.openxmlformats.org/officeDocument/2006/relationships/hyperlink" Target="http://www.tutor2u.net/business/strategy/benchmarking.htm" TargetMode="Externa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3" Type="http://schemas.openxmlformats.org/officeDocument/2006/relationships/hyperlink" Target="http://www.mindtools.com/pages/article/newTED_08.htm" TargetMode="External"/><Relationship Id="rId2" Type="http://schemas.openxmlformats.org/officeDocument/2006/relationships/slide" Target="../slides/slide67.xml"/><Relationship Id="rId1" Type="http://schemas.openxmlformats.org/officeDocument/2006/relationships/notesMaster" Target="../notesMasters/notesMaster1.xml"/><Relationship Id="rId5" Type="http://schemas.openxmlformats.org/officeDocument/2006/relationships/hyperlink" Target="https://www.business-case-analysis.com/return-on-investment.html" TargetMode="External"/><Relationship Id="rId4" Type="http://schemas.openxmlformats.org/officeDocument/2006/relationships/hyperlink" Target="http://management.about.com/cs/money/a/CostBenefit.htm" TargetMode="Externa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3" Type="http://schemas.openxmlformats.org/officeDocument/2006/relationships/hyperlink" Target="http://2020projectmanagement.com/2013/05/how-gap-analysis-adds-value-to-your-business/" TargetMode="External"/><Relationship Id="rId2" Type="http://schemas.openxmlformats.org/officeDocument/2006/relationships/slide" Target="../slides/slide98.xml"/><Relationship Id="rId1" Type="http://schemas.openxmlformats.org/officeDocument/2006/relationships/notesMaster" Target="../notesMasters/notesMaster1.xml"/><Relationship Id="rId4" Type="http://schemas.openxmlformats.org/officeDocument/2006/relationships/hyperlink" Target="http://en.wikipedia.org/wiki/Gap_analysis" TargetMode="Externa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3" Type="http://schemas.openxmlformats.org/officeDocument/2006/relationships/hyperlink" Target="http://www.admin.ox.ac.uk/media/global/wwwadminoxacuk/localsites/estatesservices/documents/capitalprojectsforms/KPI_Process_Guidance_Note.pdf" TargetMode="External"/><Relationship Id="rId2" Type="http://schemas.openxmlformats.org/officeDocument/2006/relationships/slide" Target="../slides/slide104.xml"/><Relationship Id="rId1" Type="http://schemas.openxmlformats.org/officeDocument/2006/relationships/notesMaster" Target="../notesMasters/notesMaster1.xml"/><Relationship Id="rId4" Type="http://schemas.openxmlformats.org/officeDocument/2006/relationships/hyperlink" Target="http://www.learnmanagement2.com/Key%20Performance%20Indicators.htm" TargetMode="Externa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Trainer welcomes students to class.</a:t>
            </a:r>
          </a:p>
          <a:p>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167244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trainees this Unit comprises three Elements, as listed on the slide explaining:</a:t>
            </a:r>
          </a:p>
          <a:p>
            <a:r>
              <a:rPr lang="en-AU" sz="1200" kern="1200" baseline="0" dirty="0" smtClean="0">
                <a:solidFill>
                  <a:schemeClr val="tx1"/>
                </a:solidFill>
                <a:ea typeface="+mn-ea"/>
                <a:cs typeface="+mn-cs"/>
              </a:rPr>
              <a:t>• Each Element comprises a number of Performance Criteria which will be identified throughout the class and explained in detail</a:t>
            </a:r>
          </a:p>
          <a:p>
            <a:r>
              <a:rPr lang="en-AU" sz="1200" kern="1200" baseline="0" dirty="0" smtClean="0">
                <a:solidFill>
                  <a:schemeClr val="tx1"/>
                </a:solidFill>
                <a:ea typeface="+mn-ea"/>
                <a:cs typeface="+mn-cs"/>
              </a:rPr>
              <a:t>• Trainees can obtain more detail from their Trainee Manual</a:t>
            </a:r>
          </a:p>
          <a:p>
            <a:r>
              <a:rPr lang="en-AU" sz="1200" kern="1200" baseline="0" dirty="0" smtClean="0">
                <a:solidFill>
                  <a:schemeClr val="tx1"/>
                </a:solidFill>
                <a:ea typeface="+mn-ea"/>
                <a:cs typeface="+mn-cs"/>
              </a:rPr>
              <a:t>• At times the course presents advice and information about various protocols but where their workplace requirements differ to what is presented, the workplace practices and standards, as well as policies and procedures must be observed.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p14="http://schemas.microsoft.com/office/powerpoint/2010/main" val="38712111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trainees that assessment for this Unit may take several forms, all of which are aimed at verifying they have achieved competency for the Unit as required.</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Trainer indicates to trainees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p14="http://schemas.microsoft.com/office/powerpoint/2010/main" val="10582019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a:buFont typeface="Arial" pitchFamily="34" charset="0"/>
              <a:buNone/>
            </a:pPr>
            <a:endParaRPr lang="en-US" dirty="0" smtClean="0"/>
          </a:p>
          <a:p>
            <a:pPr>
              <a:buFont typeface="Arial" pitchFamily="34" charset="0"/>
              <a:buChar char="•"/>
            </a:pPr>
            <a:endParaRPr lang="en-US" baseline="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p14="http://schemas.microsoft.com/office/powerpoint/2010/main" val="10128087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a:buFont typeface="Arial" pitchFamily="34" charset="0"/>
              <a:buNone/>
            </a:pPr>
            <a:endParaRPr lang="en-US" dirty="0" smtClean="0"/>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by asking questions such as:</a:t>
            </a:r>
          </a:p>
          <a:p>
            <a:pPr>
              <a:buFont typeface="Arial" pitchFamily="34" charset="0"/>
              <a:buChar char="•"/>
            </a:pPr>
            <a:r>
              <a:rPr lang="en-US" baseline="0" dirty="0" smtClean="0"/>
              <a:t>What are operational policies?</a:t>
            </a:r>
          </a:p>
          <a:p>
            <a:pPr>
              <a:buFont typeface="Arial" pitchFamily="34" charset="0"/>
              <a:buChar char="•"/>
            </a:pPr>
            <a:r>
              <a:rPr lang="en-US" baseline="0" dirty="0" smtClean="0"/>
              <a:t>Why do businesses have them?</a:t>
            </a:r>
          </a:p>
          <a:p>
            <a:pPr>
              <a:buFont typeface="Arial" pitchFamily="34" charset="0"/>
              <a:buChar char="•"/>
            </a:pPr>
            <a:r>
              <a:rPr lang="en-US" baseline="0" dirty="0" smtClean="0"/>
              <a:t>How are they developed?</a:t>
            </a:r>
          </a:p>
          <a:p>
            <a:pPr>
              <a:buFont typeface="Arial" pitchFamily="34" charset="0"/>
              <a:buChar char="•"/>
            </a:pPr>
            <a:r>
              <a:rPr lang="en-US" baseline="0" dirty="0" smtClean="0"/>
              <a:t>Who might be involved in developing them?</a:t>
            </a:r>
          </a:p>
          <a:p>
            <a:pPr>
              <a:buFont typeface="Arial" pitchFamily="34" charset="0"/>
              <a:buChar char="•"/>
            </a:pPr>
            <a:r>
              <a:rPr lang="en-US" baseline="0" dirty="0" smtClean="0"/>
              <a:t>What factors are considered when developing them?</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2925206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advises </a:t>
            </a:r>
            <a:r>
              <a:rPr lang="en-AU" sz="1200" kern="1200" dirty="0" smtClean="0">
                <a:solidFill>
                  <a:schemeClr val="tx1"/>
                </a:solidFill>
                <a:latin typeface="+mn-lt"/>
                <a:ea typeface="+mn-ea"/>
                <a:cs typeface="+mn-cs"/>
              </a:rPr>
              <a:t>an organisation involved in development/implementation of operational polices will typically be one where:</a:t>
            </a:r>
          </a:p>
          <a:p>
            <a:pPr>
              <a:buFont typeface="Arial" pitchFamily="34" charset="0"/>
              <a:buChar char="•"/>
            </a:pPr>
            <a:r>
              <a:rPr lang="en-AU" sz="1200" kern="1200" dirty="0" smtClean="0">
                <a:solidFill>
                  <a:schemeClr val="tx1"/>
                </a:solidFill>
                <a:latin typeface="+mn-lt"/>
                <a:ea typeface="+mn-ea"/>
                <a:cs typeface="+mn-cs"/>
              </a:rPr>
              <a:t>The organisation has a formal set of plans – which may include:</a:t>
            </a:r>
          </a:p>
          <a:p>
            <a:pPr lvl="1">
              <a:buFont typeface="Arial" pitchFamily="34" charset="0"/>
              <a:buChar char="•"/>
            </a:pPr>
            <a:r>
              <a:rPr lang="en-AU" sz="1200" kern="1200" dirty="0" smtClean="0">
                <a:solidFill>
                  <a:schemeClr val="tx1"/>
                </a:solidFill>
                <a:latin typeface="+mn-lt"/>
                <a:ea typeface="+mn-ea"/>
                <a:cs typeface="+mn-cs"/>
              </a:rPr>
              <a:t>A business plan; Strategic plans; Tactical plans; Operational plans; Contingency plans</a:t>
            </a:r>
          </a:p>
          <a:p>
            <a:pPr>
              <a:buFont typeface="Arial" pitchFamily="34" charset="0"/>
              <a:buChar char="•"/>
            </a:pPr>
            <a:r>
              <a:rPr lang="en-AU" sz="1200" kern="1200" dirty="0" smtClean="0">
                <a:solidFill>
                  <a:schemeClr val="tx1"/>
                </a:solidFill>
                <a:latin typeface="+mn-lt"/>
                <a:ea typeface="+mn-ea"/>
                <a:cs typeface="+mn-cs"/>
              </a:rPr>
              <a:t>The policies of the organisation need to:</a:t>
            </a:r>
          </a:p>
          <a:p>
            <a:pPr lvl="1">
              <a:buFont typeface="Arial" pitchFamily="34" charset="0"/>
              <a:buChar char="•"/>
            </a:pPr>
            <a:r>
              <a:rPr lang="en-AU" sz="1200" kern="1200" dirty="0" smtClean="0">
                <a:solidFill>
                  <a:schemeClr val="tx1"/>
                </a:solidFill>
                <a:latin typeface="+mn-lt"/>
                <a:ea typeface="+mn-ea"/>
                <a:cs typeface="+mn-cs"/>
              </a:rPr>
              <a:t>Reflect the plans which have been developed for the business</a:t>
            </a:r>
          </a:p>
          <a:p>
            <a:pPr lvl="1">
              <a:buFont typeface="Arial" pitchFamily="34" charset="0"/>
              <a:buChar char="•"/>
            </a:pPr>
            <a:r>
              <a:rPr lang="en-AU" sz="1200" kern="1200" dirty="0" smtClean="0">
                <a:solidFill>
                  <a:schemeClr val="tx1"/>
                </a:solidFill>
                <a:latin typeface="+mn-lt"/>
                <a:ea typeface="+mn-ea"/>
                <a:cs typeface="+mn-cs"/>
              </a:rPr>
              <a:t>Flow directly from the plans</a:t>
            </a:r>
          </a:p>
          <a:p>
            <a:pPr lvl="1">
              <a:buFont typeface="Arial" pitchFamily="34" charset="0"/>
              <a:buChar char="•"/>
            </a:pPr>
            <a:r>
              <a:rPr lang="en-AU" sz="1200" kern="1200" dirty="0" smtClean="0">
                <a:solidFill>
                  <a:schemeClr val="tx1"/>
                </a:solidFill>
                <a:latin typeface="+mn-lt"/>
                <a:ea typeface="+mn-ea"/>
                <a:cs typeface="+mn-cs"/>
              </a:rPr>
              <a:t>Support attainment of the goals and objectives identified in the plans</a:t>
            </a:r>
          </a:p>
          <a:p>
            <a:pPr>
              <a:buFont typeface="Arial" pitchFamily="34" charset="0"/>
              <a:buChar char="•"/>
            </a:pPr>
            <a:r>
              <a:rPr lang="en-AU" sz="1200" kern="1200" dirty="0" smtClean="0">
                <a:solidFill>
                  <a:schemeClr val="tx1"/>
                </a:solidFill>
                <a:latin typeface="+mn-lt"/>
                <a:ea typeface="+mn-ea"/>
                <a:cs typeface="+mn-cs"/>
              </a:rPr>
              <a:t>The procedures of the organisation are:</a:t>
            </a:r>
          </a:p>
          <a:p>
            <a:pPr lvl="1">
              <a:buFont typeface="Arial" pitchFamily="34" charset="0"/>
              <a:buChar char="•"/>
            </a:pPr>
            <a:r>
              <a:rPr lang="en-AU" sz="1200" kern="1200" dirty="0" smtClean="0">
                <a:solidFill>
                  <a:schemeClr val="tx1"/>
                </a:solidFill>
                <a:latin typeface="+mn-lt"/>
                <a:ea typeface="+mn-ea"/>
                <a:cs typeface="+mn-cs"/>
              </a:rPr>
              <a:t>Driven by the statements made in relevant policies</a:t>
            </a:r>
          </a:p>
          <a:p>
            <a:pPr lvl="1">
              <a:buFont typeface="Arial" pitchFamily="34" charset="0"/>
              <a:buChar char="•"/>
            </a:pPr>
            <a:r>
              <a:rPr lang="en-AU" sz="1200" kern="1200" dirty="0" smtClean="0">
                <a:solidFill>
                  <a:schemeClr val="tx1"/>
                </a:solidFill>
                <a:latin typeface="+mn-lt"/>
                <a:ea typeface="+mn-ea"/>
                <a:cs typeface="+mn-cs"/>
              </a:rPr>
              <a:t>In accordance with policies</a:t>
            </a:r>
          </a:p>
          <a:p>
            <a:pPr lvl="1">
              <a:buFont typeface="Arial" pitchFamily="34" charset="0"/>
              <a:buChar char="•"/>
            </a:pPr>
            <a:r>
              <a:rPr lang="en-AU" sz="1200" kern="1200" dirty="0" smtClean="0">
                <a:solidFill>
                  <a:schemeClr val="tx1"/>
                </a:solidFill>
                <a:latin typeface="+mn-lt"/>
                <a:ea typeface="+mn-ea"/>
                <a:cs typeface="+mn-cs"/>
              </a:rPr>
              <a:t>Directly linked to the public statements the organisation makes about itself (in terms of its Mission Statement, Vision Statement and Core Values statement).</a:t>
            </a:r>
          </a:p>
          <a:p>
            <a:pPr>
              <a:buFont typeface="Arial" pitchFamily="34" charset="0"/>
              <a:buNone/>
            </a:pPr>
            <a:endParaRPr lang="en-AU" noProof="0" dirty="0" smtClean="0"/>
          </a:p>
          <a:p>
            <a:pPr>
              <a:buFont typeface="Arial" pitchFamily="34" charset="0"/>
              <a:buNone/>
            </a:pPr>
            <a:r>
              <a:rPr lang="en-AU" b="1" noProof="0" dirty="0" smtClean="0"/>
              <a:t>Classroom Activity (1) – Handouts</a:t>
            </a:r>
          </a:p>
          <a:p>
            <a:pPr>
              <a:buFont typeface="Arial" pitchFamily="34" charset="0"/>
              <a:buNone/>
            </a:pPr>
            <a:r>
              <a:rPr lang="en-AU" b="0" noProof="0" dirty="0" smtClean="0"/>
              <a:t>Trainer distributes and discusses sample plans as identified on the slide.</a:t>
            </a:r>
          </a:p>
          <a:p>
            <a:pPr>
              <a:buFont typeface="Arial" pitchFamily="34" charset="0"/>
              <a:buNone/>
            </a:pPr>
            <a:endParaRPr lang="en-US" b="1" baseline="0" noProof="0" dirty="0" smtClean="0"/>
          </a:p>
          <a:p>
            <a:pPr>
              <a:buFont typeface="Arial" pitchFamily="34" charset="0"/>
              <a:buNone/>
            </a:pPr>
            <a:r>
              <a:rPr lang="en-US" b="1" baseline="0" noProof="0" dirty="0" smtClean="0"/>
              <a:t>Classroom Activity (2) – Internet research </a:t>
            </a:r>
          </a:p>
          <a:p>
            <a:pPr>
              <a:buFont typeface="Arial" pitchFamily="34" charset="0"/>
              <a:buNone/>
            </a:pPr>
            <a:r>
              <a:rPr lang="en-US" b="0" baseline="0" noProof="0" dirty="0" smtClean="0"/>
              <a:t>Trainer supervises internet research on relevant websites for items identified above, such as: </a:t>
            </a:r>
          </a:p>
          <a:p>
            <a:r>
              <a:rPr lang="en-AU" sz="1200" u="sng" kern="1200" dirty="0" smtClean="0">
                <a:solidFill>
                  <a:schemeClr val="tx1"/>
                </a:solidFill>
                <a:latin typeface="+mn-lt"/>
                <a:ea typeface="+mn-ea"/>
                <a:cs typeface="+mn-cs"/>
                <a:hlinkClick r:id="rId3"/>
              </a:rPr>
              <a:t>http://study.com/academy/lesson/types-of-planning-strategic-tactical-operational-contingency-planning.html</a:t>
            </a:r>
            <a:endParaRPr lang="en-AU" sz="1200" kern="1200" dirty="0" smtClean="0">
              <a:solidFill>
                <a:schemeClr val="tx1"/>
              </a:solidFill>
              <a:latin typeface="+mn-lt"/>
              <a:ea typeface="+mn-ea"/>
              <a:cs typeface="+mn-cs"/>
            </a:endParaRPr>
          </a:p>
          <a:p>
            <a:r>
              <a:rPr lang="en-AU" sz="1200" u="sng" kern="1200" dirty="0" smtClean="0">
                <a:solidFill>
                  <a:schemeClr val="tx1"/>
                </a:solidFill>
                <a:latin typeface="+mn-lt"/>
                <a:ea typeface="+mn-ea"/>
                <a:cs typeface="+mn-cs"/>
                <a:hlinkClick r:id="rId4"/>
              </a:rPr>
              <a:t>https://blog.udemy.com/planning-in-management/</a:t>
            </a:r>
            <a:endParaRPr lang="en-AU" sz="1200" kern="1200" dirty="0" smtClean="0">
              <a:solidFill>
                <a:schemeClr val="tx1"/>
              </a:solidFill>
              <a:latin typeface="+mn-lt"/>
              <a:ea typeface="+mn-ea"/>
              <a:cs typeface="+mn-cs"/>
            </a:endParaRPr>
          </a:p>
          <a:p>
            <a:r>
              <a:rPr lang="en-AU" sz="1200" u="sng" kern="1200" dirty="0" smtClean="0">
                <a:solidFill>
                  <a:schemeClr val="tx1"/>
                </a:solidFill>
                <a:latin typeface="+mn-lt"/>
                <a:ea typeface="+mn-ea"/>
                <a:cs typeface="+mn-cs"/>
                <a:hlinkClick r:id="rId5"/>
              </a:rPr>
              <a:t>https://www.boundless.com/management/textbooks/boundless-management-textbook/control-8/types-of-control-62/strategic-tactical-and-operational-control-313-3960/</a:t>
            </a:r>
            <a:endParaRPr lang="en-AU" b="0" noProof="0" dirty="0" smtClean="0"/>
          </a:p>
          <a:p>
            <a:pPr>
              <a:buFont typeface="Arial" pitchFamily="34" charset="0"/>
              <a:buNone/>
            </a:pP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42822550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emphasises it </a:t>
            </a:r>
            <a:r>
              <a:rPr lang="en-AU" sz="1200" kern="1200" dirty="0" smtClean="0">
                <a:solidFill>
                  <a:schemeClr val="tx1"/>
                </a:solidFill>
                <a:latin typeface="+mn-lt"/>
                <a:ea typeface="+mn-ea"/>
                <a:cs typeface="+mn-cs"/>
              </a:rPr>
              <a:t>is necessary to understand the word ‘operational’ in this context means/refers to:</a:t>
            </a:r>
          </a:p>
          <a:p>
            <a:pPr>
              <a:buFont typeface="Arial" pitchFamily="34" charset="0"/>
              <a:buChar char="•"/>
            </a:pPr>
            <a:r>
              <a:rPr lang="en-AU" sz="1200" kern="1200" dirty="0" smtClean="0">
                <a:solidFill>
                  <a:schemeClr val="tx1"/>
                </a:solidFill>
                <a:latin typeface="+mn-lt"/>
                <a:ea typeface="+mn-ea"/>
                <a:cs typeface="+mn-cs"/>
              </a:rPr>
              <a:t>Day-to-day activities of the business</a:t>
            </a:r>
          </a:p>
          <a:p>
            <a:pPr>
              <a:buFont typeface="Arial" pitchFamily="34" charset="0"/>
              <a:buChar char="•"/>
            </a:pPr>
            <a:r>
              <a:rPr lang="en-AU" sz="1200" kern="1200" dirty="0" smtClean="0">
                <a:solidFill>
                  <a:schemeClr val="tx1"/>
                </a:solidFill>
                <a:latin typeface="+mn-lt"/>
                <a:ea typeface="+mn-ea"/>
                <a:cs typeface="+mn-cs"/>
              </a:rPr>
              <a:t>Daily actions employees/managers need to take</a:t>
            </a:r>
          </a:p>
          <a:p>
            <a:pPr>
              <a:buFont typeface="Arial" pitchFamily="34" charset="0"/>
              <a:buChar char="•"/>
            </a:pPr>
            <a:r>
              <a:rPr lang="en-AU" sz="1200" kern="1200" dirty="0" smtClean="0">
                <a:solidFill>
                  <a:schemeClr val="tx1"/>
                </a:solidFill>
                <a:latin typeface="+mn-lt"/>
                <a:ea typeface="+mn-ea"/>
                <a:cs typeface="+mn-cs"/>
              </a:rPr>
              <a:t>Frequent decisions within the business which need to be made</a:t>
            </a:r>
          </a:p>
          <a:p>
            <a:pPr>
              <a:buFont typeface="Arial" pitchFamily="34" charset="0"/>
              <a:buChar char="•"/>
            </a:pPr>
            <a:r>
              <a:rPr lang="en-AU" sz="1200" kern="1200" dirty="0" smtClean="0">
                <a:solidFill>
                  <a:schemeClr val="tx1"/>
                </a:solidFill>
                <a:latin typeface="+mn-lt"/>
                <a:ea typeface="+mn-ea"/>
                <a:cs typeface="+mn-cs"/>
              </a:rPr>
              <a:t>Topics which are of ongoing concern to the organisation</a:t>
            </a:r>
          </a:p>
          <a:p>
            <a:pPr>
              <a:buFont typeface="Arial" pitchFamily="34" charset="0"/>
              <a:buChar char="•"/>
            </a:pPr>
            <a:r>
              <a:rPr lang="en-AU" sz="1200" kern="1200" dirty="0" smtClean="0">
                <a:solidFill>
                  <a:schemeClr val="tx1"/>
                </a:solidFill>
                <a:latin typeface="+mn-lt"/>
                <a:ea typeface="+mn-ea"/>
                <a:cs typeface="+mn-cs"/>
              </a:rPr>
              <a:t>Activities which are fundamental to the processes necessary for the business to function (operate) as required/intended.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20834734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provides examples of characteristics of operational policies:</a:t>
            </a:r>
          </a:p>
          <a:p>
            <a:pPr>
              <a:buFont typeface="Arial" pitchFamily="34" charset="0"/>
              <a:buChar char="•"/>
            </a:pPr>
            <a:r>
              <a:rPr lang="en-AU" sz="1200" kern="1200" dirty="0" smtClean="0">
                <a:solidFill>
                  <a:schemeClr val="tx1"/>
                </a:solidFill>
                <a:latin typeface="+mn-lt"/>
                <a:ea typeface="+mn-ea"/>
                <a:cs typeface="+mn-cs"/>
              </a:rPr>
              <a:t>Flow from the plans of the business</a:t>
            </a:r>
          </a:p>
          <a:p>
            <a:pPr>
              <a:buFont typeface="Arial" pitchFamily="34" charset="0"/>
              <a:buChar char="•"/>
            </a:pPr>
            <a:r>
              <a:rPr lang="en-AU" sz="1200" kern="1200" dirty="0" smtClean="0">
                <a:solidFill>
                  <a:schemeClr val="tx1"/>
                </a:solidFill>
                <a:latin typeface="+mn-lt"/>
                <a:ea typeface="+mn-ea"/>
                <a:cs typeface="+mn-cs"/>
              </a:rPr>
              <a:t>Represent the thinking/philosophy of the business</a:t>
            </a:r>
          </a:p>
          <a:p>
            <a:pPr>
              <a:buFont typeface="Arial" pitchFamily="34" charset="0"/>
              <a:buChar char="•"/>
            </a:pPr>
            <a:r>
              <a:rPr lang="en-AU" sz="1200" kern="1200" dirty="0" smtClean="0">
                <a:solidFill>
                  <a:schemeClr val="tx1"/>
                </a:solidFill>
                <a:latin typeface="+mn-lt"/>
                <a:ea typeface="+mn-ea"/>
                <a:cs typeface="+mn-cs"/>
              </a:rPr>
              <a:t>Define the position of the organisation on a matter by giving insight into its stance and orientation on issues which are covered by the policy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22097734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provides examples of characteristics of operational policies:</a:t>
            </a:r>
          </a:p>
          <a:p>
            <a:pPr>
              <a:buFont typeface="Arial" pitchFamily="34" charset="0"/>
              <a:buChar char="•"/>
            </a:pPr>
            <a:r>
              <a:rPr lang="en-AU" sz="1200" kern="1200" dirty="0" smtClean="0">
                <a:solidFill>
                  <a:schemeClr val="tx1"/>
                </a:solidFill>
                <a:latin typeface="+mn-lt"/>
                <a:ea typeface="+mn-ea"/>
                <a:cs typeface="+mn-cs"/>
              </a:rPr>
              <a:t>Are developed before procedures</a:t>
            </a:r>
          </a:p>
          <a:p>
            <a:pPr>
              <a:buFont typeface="Arial" pitchFamily="34" charset="0"/>
              <a:buChar char="•"/>
            </a:pPr>
            <a:r>
              <a:rPr lang="en-AU" sz="1200" kern="1200" dirty="0" smtClean="0">
                <a:solidFill>
                  <a:schemeClr val="tx1"/>
                </a:solidFill>
                <a:latin typeface="+mn-lt"/>
                <a:ea typeface="+mn-ea"/>
                <a:cs typeface="+mn-cs"/>
              </a:rPr>
              <a:t>State the intention and expectations of the organisation and staff in relation to the subject that is the title of the policy</a:t>
            </a:r>
          </a:p>
          <a:p>
            <a:pPr>
              <a:buFont typeface="Arial" pitchFamily="34" charset="0"/>
              <a:buChar char="•"/>
            </a:pPr>
            <a:r>
              <a:rPr lang="en-AU" sz="1200" kern="1200" dirty="0" smtClean="0">
                <a:solidFill>
                  <a:schemeClr val="tx1"/>
                </a:solidFill>
                <a:latin typeface="+mn-lt"/>
                <a:ea typeface="+mn-ea"/>
                <a:cs typeface="+mn-cs"/>
              </a:rPr>
              <a:t>Explain what the organisation wants to achieve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25895608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provides examples of characteristics of operational policies:</a:t>
            </a:r>
          </a:p>
          <a:p>
            <a:pPr>
              <a:buFont typeface="Arial" pitchFamily="34" charset="0"/>
              <a:buChar char="•"/>
            </a:pPr>
            <a:r>
              <a:rPr lang="en-AU" sz="1200" kern="1200" dirty="0" smtClean="0">
                <a:solidFill>
                  <a:schemeClr val="tx1"/>
                </a:solidFill>
                <a:latin typeface="+mn-lt"/>
                <a:ea typeface="+mn-ea"/>
                <a:cs typeface="+mn-cs"/>
              </a:rPr>
              <a:t>Define and describe how the organisation (and, by extension, its employees) will act in given situations, if/when they arise</a:t>
            </a:r>
          </a:p>
          <a:p>
            <a:pPr>
              <a:buFont typeface="Arial" pitchFamily="34" charset="0"/>
              <a:buChar char="•"/>
            </a:pPr>
            <a:r>
              <a:rPr lang="en-AU" sz="1200" kern="1200" dirty="0" smtClean="0">
                <a:solidFill>
                  <a:schemeClr val="tx1"/>
                </a:solidFill>
                <a:latin typeface="+mn-lt"/>
                <a:ea typeface="+mn-ea"/>
                <a:cs typeface="+mn-cs"/>
              </a:rPr>
              <a:t>Are the ‘rules’ the organisation seeks to operate by</a:t>
            </a:r>
          </a:p>
          <a:p>
            <a:pPr>
              <a:buFont typeface="Arial" pitchFamily="34" charset="0"/>
              <a:buChar char="•"/>
            </a:pPr>
            <a:r>
              <a:rPr lang="en-AU" sz="1200" kern="1200" dirty="0" smtClean="0">
                <a:solidFill>
                  <a:schemeClr val="tx1"/>
                </a:solidFill>
                <a:latin typeface="+mn-lt"/>
                <a:ea typeface="+mn-ea"/>
                <a:cs typeface="+mn-cs"/>
              </a:rPr>
              <a:t>Give consistency in the way the organisation operates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12063424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provides examples of characteristics of operational policies:</a:t>
            </a:r>
          </a:p>
          <a:p>
            <a:pPr>
              <a:buFont typeface="Arial" pitchFamily="34" charset="0"/>
              <a:buChar char="•"/>
            </a:pPr>
            <a:r>
              <a:rPr lang="en-AU" sz="1200" kern="1200" dirty="0" smtClean="0">
                <a:solidFill>
                  <a:schemeClr val="tx1"/>
                </a:solidFill>
                <a:latin typeface="+mn-lt"/>
                <a:ea typeface="+mn-ea"/>
                <a:cs typeface="+mn-cs"/>
              </a:rPr>
              <a:t>Contain a statement explaining the reason the policy has been prepared</a:t>
            </a:r>
          </a:p>
          <a:p>
            <a:pPr>
              <a:buFont typeface="Arial" pitchFamily="34" charset="0"/>
              <a:buChar char="•"/>
            </a:pPr>
            <a:r>
              <a:rPr lang="en-AU" sz="1200" kern="1200" dirty="0" smtClean="0">
                <a:solidFill>
                  <a:schemeClr val="tx1"/>
                </a:solidFill>
                <a:latin typeface="+mn-lt"/>
                <a:ea typeface="+mn-ea"/>
                <a:cs typeface="+mn-cs"/>
              </a:rPr>
              <a:t>Provide guidance to employees about what the organisation wants – and how workers should act to help achieve that outcome</a:t>
            </a:r>
          </a:p>
          <a:p>
            <a:pPr>
              <a:buFont typeface="Arial" pitchFamily="34" charset="0"/>
              <a:buChar char="•"/>
            </a:pPr>
            <a:r>
              <a:rPr lang="en-AU" sz="1200" kern="1200" dirty="0" smtClean="0">
                <a:solidFill>
                  <a:schemeClr val="tx1"/>
                </a:solidFill>
                <a:latin typeface="+mn-lt"/>
                <a:ea typeface="+mn-ea"/>
                <a:cs typeface="+mn-cs"/>
              </a:rPr>
              <a:t>Identify responsibilities for taking action to achieve the desired outcomes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17583066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provides examples of characteristics of operational policies:</a:t>
            </a:r>
          </a:p>
          <a:p>
            <a:pPr>
              <a:buFont typeface="Arial" pitchFamily="34" charset="0"/>
              <a:buChar char="•"/>
            </a:pPr>
            <a:r>
              <a:rPr lang="en-AU" sz="1200" kern="1200" dirty="0" smtClean="0">
                <a:solidFill>
                  <a:schemeClr val="tx1"/>
                </a:solidFill>
                <a:latin typeface="+mn-lt"/>
                <a:ea typeface="+mn-ea"/>
                <a:cs typeface="+mn-cs"/>
              </a:rPr>
              <a:t>Prescribe timing considerations relevant to the issue</a:t>
            </a:r>
          </a:p>
          <a:p>
            <a:pPr>
              <a:buFont typeface="Arial" pitchFamily="34" charset="0"/>
              <a:buChar char="•"/>
            </a:pPr>
            <a:r>
              <a:rPr lang="en-AU" sz="1200" kern="1200" dirty="0" smtClean="0">
                <a:solidFill>
                  <a:schemeClr val="tx1"/>
                </a:solidFill>
                <a:latin typeface="+mn-lt"/>
                <a:ea typeface="+mn-ea"/>
                <a:cs typeface="+mn-cs"/>
              </a:rPr>
              <a:t>Resolve anticipated problems in relation to the policy topic</a:t>
            </a:r>
          </a:p>
          <a:p>
            <a:pPr>
              <a:buFont typeface="Arial" pitchFamily="34" charset="0"/>
              <a:buChar char="•"/>
            </a:pPr>
            <a:r>
              <a:rPr lang="en-AU" sz="1200" kern="1200" dirty="0" smtClean="0">
                <a:solidFill>
                  <a:schemeClr val="tx1"/>
                </a:solidFill>
                <a:latin typeface="+mn-lt"/>
                <a:ea typeface="+mn-ea"/>
                <a:cs typeface="+mn-cs"/>
              </a:rPr>
              <a:t>Identify documentation to be used or completed in relation to the topic, if/where necessary</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2029881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provides examples of characteristics of operational policies:</a:t>
            </a:r>
          </a:p>
          <a:p>
            <a:pPr>
              <a:buFont typeface="Arial" pitchFamily="34" charset="0"/>
              <a:buChar char="•"/>
            </a:pPr>
            <a:r>
              <a:rPr lang="en-AU" sz="1200" kern="1200" dirty="0" smtClean="0">
                <a:solidFill>
                  <a:schemeClr val="tx1"/>
                </a:solidFill>
                <a:latin typeface="+mn-lt"/>
                <a:ea typeface="+mn-ea"/>
                <a:cs typeface="+mn-cs"/>
              </a:rPr>
              <a:t>Contain information on legal and regulatory requirements the organisation must meet, if applicable</a:t>
            </a:r>
          </a:p>
          <a:p>
            <a:pPr>
              <a:buFont typeface="Arial" pitchFamily="34" charset="0"/>
              <a:buChar char="•"/>
            </a:pPr>
            <a:r>
              <a:rPr lang="en-AU" sz="1200" kern="1200" dirty="0" smtClean="0">
                <a:solidFill>
                  <a:schemeClr val="tx1"/>
                </a:solidFill>
                <a:latin typeface="+mn-lt"/>
                <a:ea typeface="+mn-ea"/>
                <a:cs typeface="+mn-cs"/>
              </a:rPr>
              <a:t>Align with other public statements the organisation makes about itself </a:t>
            </a:r>
          </a:p>
          <a:p>
            <a:pPr>
              <a:buFont typeface="Arial" pitchFamily="34" charset="0"/>
              <a:buChar char="•"/>
            </a:pPr>
            <a:r>
              <a:rPr lang="en-AU" sz="1200" kern="1200" dirty="0" smtClean="0">
                <a:solidFill>
                  <a:schemeClr val="tx1"/>
                </a:solidFill>
                <a:latin typeface="+mn-lt"/>
                <a:ea typeface="+mn-ea"/>
                <a:cs typeface="+mn-cs"/>
              </a:rPr>
              <a:t>Should be formalised by being </a:t>
            </a:r>
            <a:r>
              <a:rPr lang="en-AU" sz="1200" i="1" kern="1200" dirty="0" smtClean="0">
                <a:solidFill>
                  <a:schemeClr val="tx1"/>
                </a:solidFill>
                <a:latin typeface="+mn-lt"/>
                <a:ea typeface="+mn-ea"/>
                <a:cs typeface="+mn-cs"/>
              </a:rPr>
              <a:t>written</a:t>
            </a:r>
            <a:r>
              <a:rPr lang="en-AU" sz="1200" kern="1200" dirty="0" smtClean="0">
                <a:solidFill>
                  <a:schemeClr val="tx1"/>
                </a:solidFill>
                <a:latin typeface="+mn-lt"/>
                <a:ea typeface="+mn-ea"/>
                <a:cs typeface="+mn-cs"/>
              </a:rPr>
              <a:t> documents – rather than simply existing in the minds of management in order that:</a:t>
            </a:r>
          </a:p>
          <a:p>
            <a:pPr lvl="1">
              <a:buFont typeface="Arial" pitchFamily="34" charset="0"/>
              <a:buChar char="•"/>
            </a:pPr>
            <a:r>
              <a:rPr lang="en-AU" sz="1200" kern="1200" dirty="0" smtClean="0">
                <a:solidFill>
                  <a:schemeClr val="tx1"/>
                </a:solidFill>
                <a:latin typeface="+mn-lt"/>
                <a:ea typeface="+mn-ea"/>
                <a:cs typeface="+mn-cs"/>
              </a:rPr>
              <a:t>There is no confusion about what they say </a:t>
            </a:r>
          </a:p>
          <a:p>
            <a:pPr lvl="1">
              <a:buFont typeface="Arial" pitchFamily="34" charset="0"/>
              <a:buChar char="•"/>
            </a:pPr>
            <a:r>
              <a:rPr lang="en-AU" sz="1200" kern="1200" dirty="0" smtClean="0">
                <a:solidFill>
                  <a:schemeClr val="tx1"/>
                </a:solidFill>
                <a:latin typeface="+mn-lt"/>
                <a:ea typeface="+mn-ea"/>
                <a:cs typeface="+mn-cs"/>
              </a:rPr>
              <a:t>They can be readily shared among the workforce.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34048357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provides indication of contents of operational policies:</a:t>
            </a:r>
          </a:p>
          <a:p>
            <a:pPr>
              <a:buFont typeface="Arial" pitchFamily="34" charset="0"/>
              <a:buChar char="•"/>
            </a:pPr>
            <a:r>
              <a:rPr lang="en-AU" sz="1200" kern="1200" dirty="0" smtClean="0">
                <a:solidFill>
                  <a:schemeClr val="tx1"/>
                </a:solidFill>
                <a:latin typeface="+mn-lt"/>
                <a:ea typeface="+mn-ea"/>
                <a:cs typeface="+mn-cs"/>
              </a:rPr>
              <a:t>Name/title of the policy</a:t>
            </a:r>
          </a:p>
          <a:p>
            <a:pPr>
              <a:buFont typeface="Arial" pitchFamily="34" charset="0"/>
              <a:buChar char="•"/>
            </a:pPr>
            <a:r>
              <a:rPr lang="en-AU" sz="1200" kern="1200" dirty="0" smtClean="0">
                <a:solidFill>
                  <a:schemeClr val="tx1"/>
                </a:solidFill>
                <a:latin typeface="+mn-lt"/>
                <a:ea typeface="+mn-ea"/>
                <a:cs typeface="+mn-cs"/>
              </a:rPr>
              <a:t>Purpose of the policy – explaining why the policy has been developed </a:t>
            </a:r>
          </a:p>
          <a:p>
            <a:pPr>
              <a:buFont typeface="Arial" pitchFamily="34" charset="0"/>
              <a:buChar char="•"/>
            </a:pPr>
            <a:r>
              <a:rPr lang="en-AU" sz="1200" kern="1200" dirty="0" smtClean="0">
                <a:solidFill>
                  <a:schemeClr val="tx1"/>
                </a:solidFill>
                <a:latin typeface="+mn-lt"/>
                <a:ea typeface="+mn-ea"/>
                <a:cs typeface="+mn-cs"/>
              </a:rPr>
              <a:t>Scope of the policy – identifying who the policy applies to/who is bound by it </a:t>
            </a:r>
          </a:p>
          <a:p>
            <a:pPr>
              <a:buFont typeface="Arial" pitchFamily="34" charset="0"/>
              <a:buChar char="•"/>
            </a:pPr>
            <a:r>
              <a:rPr lang="en-AU" sz="1200" kern="1200" dirty="0" smtClean="0">
                <a:solidFill>
                  <a:schemeClr val="tx1"/>
                </a:solidFill>
                <a:latin typeface="+mn-lt"/>
                <a:ea typeface="+mn-ea"/>
                <a:cs typeface="+mn-cs"/>
              </a:rPr>
              <a:t>Date the policy applies – the date the policy becomes/became effective</a:t>
            </a:r>
          </a:p>
          <a:p>
            <a:pPr>
              <a:buFont typeface="Arial" pitchFamily="34" charset="0"/>
              <a:buNone/>
            </a:pPr>
            <a:endParaRPr lang="en-AU" noProof="0" dirty="0" smtClean="0"/>
          </a:p>
          <a:p>
            <a:pPr>
              <a:buFont typeface="Arial" pitchFamily="34" charset="0"/>
              <a:buNone/>
            </a:pPr>
            <a:r>
              <a:rPr lang="en-AU" b="1" noProof="0" dirty="0" smtClean="0"/>
              <a:t>Classroom Activity – Handouts</a:t>
            </a:r>
          </a:p>
          <a:p>
            <a:pPr>
              <a:buFont typeface="Arial" pitchFamily="34" charset="0"/>
              <a:buNone/>
            </a:pPr>
            <a:r>
              <a:rPr lang="en-AU" b="0" noProof="0" dirty="0" smtClean="0"/>
              <a:t>Trainer distributes and discusses sample operational policies.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p14="http://schemas.microsoft.com/office/powerpoint/2010/main" val="10915566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provides indication of contents of operational policies:</a:t>
            </a:r>
          </a:p>
          <a:p>
            <a:pPr>
              <a:buFont typeface="Arial" pitchFamily="34" charset="0"/>
              <a:buChar char="•"/>
            </a:pPr>
            <a:r>
              <a:rPr lang="en-AU" sz="1200" kern="1200" dirty="0" smtClean="0">
                <a:solidFill>
                  <a:schemeClr val="tx1"/>
                </a:solidFill>
                <a:latin typeface="+mn-lt"/>
                <a:ea typeface="+mn-ea"/>
                <a:cs typeface="+mn-cs"/>
              </a:rPr>
              <a:t>Legislative authority – specifying statutes which govern implementation of the policy (if applicable – many operational are subject to legislation, and many are not)</a:t>
            </a:r>
          </a:p>
          <a:p>
            <a:pPr>
              <a:buFont typeface="Arial" pitchFamily="34" charset="0"/>
              <a:buChar char="•"/>
            </a:pPr>
            <a:r>
              <a:rPr lang="en-AU" sz="1200" kern="1200" dirty="0" smtClean="0">
                <a:solidFill>
                  <a:schemeClr val="tx1"/>
                </a:solidFill>
                <a:latin typeface="+mn-lt"/>
                <a:ea typeface="+mn-ea"/>
                <a:cs typeface="+mn-cs"/>
              </a:rPr>
              <a:t>Policy statement/s – statement/s indicating:</a:t>
            </a:r>
          </a:p>
          <a:p>
            <a:pPr lvl="1">
              <a:buFont typeface="Arial" pitchFamily="34" charset="0"/>
              <a:buChar char="•"/>
            </a:pPr>
            <a:r>
              <a:rPr lang="en-AU" sz="1200" kern="1200" dirty="0" smtClean="0">
                <a:solidFill>
                  <a:schemeClr val="tx1"/>
                </a:solidFill>
                <a:latin typeface="+mn-lt"/>
                <a:ea typeface="+mn-ea"/>
                <a:cs typeface="+mn-cs"/>
              </a:rPr>
              <a:t>How </a:t>
            </a:r>
            <a:r>
              <a:rPr lang="en-AU" sz="1200" i="1" kern="1200" dirty="0" smtClean="0">
                <a:solidFill>
                  <a:schemeClr val="tx1"/>
                </a:solidFill>
                <a:latin typeface="+mn-lt"/>
                <a:ea typeface="+mn-ea"/>
                <a:cs typeface="+mn-cs"/>
              </a:rPr>
              <a:t>this</a:t>
            </a:r>
            <a:r>
              <a:rPr lang="en-AU" sz="1200" kern="1200" dirty="0" smtClean="0">
                <a:solidFill>
                  <a:schemeClr val="tx1"/>
                </a:solidFill>
                <a:latin typeface="+mn-lt"/>
                <a:ea typeface="+mn-ea"/>
                <a:cs typeface="+mn-cs"/>
              </a:rPr>
              <a:t> policy fits with others and with the overall operation of the business</a:t>
            </a:r>
          </a:p>
          <a:p>
            <a:pPr lvl="1">
              <a:buFont typeface="Arial" pitchFamily="34" charset="0"/>
              <a:buChar char="•"/>
            </a:pPr>
            <a:r>
              <a:rPr lang="en-AU" sz="1200" kern="1200" dirty="0" smtClean="0">
                <a:solidFill>
                  <a:schemeClr val="tx1"/>
                </a:solidFill>
                <a:latin typeface="+mn-lt"/>
                <a:ea typeface="+mn-ea"/>
                <a:cs typeface="+mn-cs"/>
              </a:rPr>
              <a:t>Relevant commitments by management to specifics of the policy</a:t>
            </a:r>
          </a:p>
          <a:p>
            <a:pPr lvl="1">
              <a:buFont typeface="Arial" pitchFamily="34" charset="0"/>
              <a:buChar char="•"/>
            </a:pPr>
            <a:r>
              <a:rPr lang="en-AU" sz="1200" kern="1200" dirty="0" smtClean="0">
                <a:solidFill>
                  <a:schemeClr val="tx1"/>
                </a:solidFill>
                <a:latin typeface="+mn-lt"/>
                <a:ea typeface="+mn-ea"/>
                <a:cs typeface="+mn-cs"/>
              </a:rPr>
              <a:t>Description/s of processes inherent in implementing the policy</a:t>
            </a:r>
          </a:p>
          <a:p>
            <a:pPr>
              <a:buFont typeface="Arial" pitchFamily="34" charset="0"/>
              <a:buChar char="•"/>
            </a:pPr>
            <a:r>
              <a:rPr lang="en-AU" sz="1200" kern="1200" dirty="0" smtClean="0">
                <a:solidFill>
                  <a:schemeClr val="tx1"/>
                </a:solidFill>
                <a:latin typeface="+mn-lt"/>
                <a:ea typeface="+mn-ea"/>
                <a:cs typeface="+mn-cs"/>
              </a:rPr>
              <a:t>Responsibilities for action – giving names/titles of those with specific responsibility under the policy in areas such as, for example:</a:t>
            </a:r>
          </a:p>
          <a:p>
            <a:pPr lvl="1">
              <a:buFont typeface="Arial" pitchFamily="34" charset="0"/>
              <a:buChar char="•"/>
            </a:pPr>
            <a:r>
              <a:rPr lang="en-AU" sz="1200" kern="1200" dirty="0" smtClean="0">
                <a:solidFill>
                  <a:schemeClr val="tx1"/>
                </a:solidFill>
                <a:latin typeface="+mn-lt"/>
                <a:ea typeface="+mn-ea"/>
                <a:cs typeface="+mn-cs"/>
              </a:rPr>
              <a:t>Compliance</a:t>
            </a:r>
          </a:p>
          <a:p>
            <a:pPr lvl="1">
              <a:buFont typeface="Arial" pitchFamily="34" charset="0"/>
              <a:buChar char="•"/>
            </a:pPr>
            <a:r>
              <a:rPr lang="en-AU" sz="1200" kern="1200" dirty="0" smtClean="0">
                <a:solidFill>
                  <a:schemeClr val="tx1"/>
                </a:solidFill>
                <a:latin typeface="+mn-lt"/>
                <a:ea typeface="+mn-ea"/>
                <a:cs typeface="+mn-cs"/>
              </a:rPr>
              <a:t>Monitoring</a:t>
            </a:r>
          </a:p>
          <a:p>
            <a:pPr lvl="1">
              <a:buFont typeface="Arial" pitchFamily="34" charset="0"/>
              <a:buChar char="•"/>
            </a:pPr>
            <a:r>
              <a:rPr lang="en-AU" sz="1200" kern="1200" dirty="0" smtClean="0">
                <a:solidFill>
                  <a:schemeClr val="tx1"/>
                </a:solidFill>
                <a:latin typeface="+mn-lt"/>
                <a:ea typeface="+mn-ea"/>
                <a:cs typeface="+mn-cs"/>
              </a:rPr>
              <a:t>Review</a:t>
            </a:r>
          </a:p>
          <a:p>
            <a:pPr lvl="1">
              <a:buFont typeface="Arial" pitchFamily="34" charset="0"/>
              <a:buChar char="•"/>
            </a:pPr>
            <a:r>
              <a:rPr lang="en-AU" sz="1200" kern="1200" dirty="0" smtClean="0">
                <a:solidFill>
                  <a:schemeClr val="tx1"/>
                </a:solidFill>
                <a:latin typeface="+mn-lt"/>
                <a:ea typeface="+mn-ea"/>
                <a:cs typeface="+mn-cs"/>
              </a:rPr>
              <a:t>Record management</a:t>
            </a:r>
          </a:p>
          <a:p>
            <a:pPr lvl="1">
              <a:buFont typeface="Arial" pitchFamily="34" charset="0"/>
              <a:buChar char="•"/>
            </a:pPr>
            <a:r>
              <a:rPr lang="en-AU" sz="1200" kern="1200" dirty="0" smtClean="0">
                <a:solidFill>
                  <a:schemeClr val="tx1"/>
                </a:solidFill>
                <a:latin typeface="+mn-lt"/>
                <a:ea typeface="+mn-ea"/>
                <a:cs typeface="+mn-cs"/>
              </a:rPr>
              <a:t>Reporting</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p14="http://schemas.microsoft.com/office/powerpoint/2010/main" val="41168173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provides indication of contents of operational policies:</a:t>
            </a:r>
          </a:p>
          <a:p>
            <a:pPr>
              <a:buFont typeface="Arial" pitchFamily="34" charset="0"/>
              <a:buChar char="•"/>
            </a:pPr>
            <a:r>
              <a:rPr lang="en-AU" sz="1200" kern="1200" dirty="0" smtClean="0">
                <a:solidFill>
                  <a:schemeClr val="tx1"/>
                </a:solidFill>
                <a:latin typeface="+mn-lt"/>
                <a:ea typeface="+mn-ea"/>
                <a:cs typeface="+mn-cs"/>
              </a:rPr>
              <a:t>Consequences of non-compliance</a:t>
            </a:r>
          </a:p>
          <a:p>
            <a:pPr>
              <a:buFont typeface="Arial" pitchFamily="34" charset="0"/>
              <a:buChar char="•"/>
            </a:pPr>
            <a:r>
              <a:rPr lang="en-AU" sz="1200" kern="1200" dirty="0" smtClean="0">
                <a:solidFill>
                  <a:schemeClr val="tx1"/>
                </a:solidFill>
                <a:latin typeface="+mn-lt"/>
                <a:ea typeface="+mn-ea"/>
                <a:cs typeface="+mn-cs"/>
              </a:rPr>
              <a:t>Definitions – in relation to policy-specific terms </a:t>
            </a:r>
          </a:p>
          <a:p>
            <a:pPr>
              <a:buFont typeface="Arial" pitchFamily="34" charset="0"/>
              <a:buChar char="•"/>
            </a:pPr>
            <a:r>
              <a:rPr lang="en-AU" sz="1200" kern="1200" dirty="0" smtClean="0">
                <a:solidFill>
                  <a:schemeClr val="tx1"/>
                </a:solidFill>
                <a:latin typeface="+mn-lt"/>
                <a:ea typeface="+mn-ea"/>
                <a:cs typeface="+mn-cs"/>
              </a:rPr>
              <a:t>Version control information.</a:t>
            </a:r>
          </a:p>
          <a:p>
            <a:pPr>
              <a:buFont typeface="Arial" pitchFamily="34" charset="0"/>
              <a:buNone/>
            </a:pPr>
            <a:endParaRPr lang="en-AU" noProof="0" dirty="0" smtClean="0"/>
          </a:p>
          <a:p>
            <a:pPr>
              <a:buFont typeface="Arial" pitchFamily="34" charset="0"/>
              <a:buNone/>
            </a:pPr>
            <a:r>
              <a:rPr lang="en-US" b="1" baseline="0" noProof="0" dirty="0" smtClean="0"/>
              <a:t>Classroom Activity – Internet research </a:t>
            </a:r>
          </a:p>
          <a:p>
            <a:pPr>
              <a:buFont typeface="Arial" pitchFamily="34" charset="0"/>
              <a:buNone/>
            </a:pPr>
            <a:r>
              <a:rPr lang="en-US" b="0" baseline="0" noProof="0" dirty="0" smtClean="0"/>
              <a:t>Trainer supervises internet research on relevant websites for items identified above, such as: </a:t>
            </a:r>
          </a:p>
          <a:p>
            <a:r>
              <a:rPr lang="en-AU" sz="1200" u="sng" kern="1200" dirty="0" smtClean="0">
                <a:solidFill>
                  <a:schemeClr val="tx1"/>
                </a:solidFill>
                <a:latin typeface="+mn-lt"/>
                <a:ea typeface="+mn-ea"/>
                <a:cs typeface="+mn-cs"/>
                <a:hlinkClick r:id="rId3"/>
              </a:rPr>
              <a:t>http://www.industrialrelations.nsw.gov.au/oirwww/Employment_info/Managing_employees/Workplace_policies_and_procedures.page</a:t>
            </a:r>
            <a:r>
              <a:rPr lang="en-AU" sz="1200" kern="1200" dirty="0" smtClean="0">
                <a:solidFill>
                  <a:schemeClr val="tx1"/>
                </a:solidFill>
                <a:latin typeface="+mn-lt"/>
                <a:ea typeface="+mn-ea"/>
                <a:cs typeface="+mn-cs"/>
              </a:rPr>
              <a:t> - Workplace policies and procedures</a:t>
            </a:r>
          </a:p>
          <a:p>
            <a:r>
              <a:rPr lang="en-AU" sz="1200" u="sng" kern="1200" dirty="0" smtClean="0">
                <a:solidFill>
                  <a:schemeClr val="tx1"/>
                </a:solidFill>
                <a:latin typeface="+mn-lt"/>
                <a:ea typeface="+mn-ea"/>
                <a:cs typeface="+mn-cs"/>
                <a:hlinkClick r:id="rId4"/>
              </a:rPr>
              <a:t>http://www.industrialrelations.nsw.gov.au/biz_res/oirwww/pdfs/workplace_pp.pdf</a:t>
            </a:r>
            <a:r>
              <a:rPr lang="en-AU" sz="1200" kern="1200" dirty="0" smtClean="0">
                <a:solidFill>
                  <a:schemeClr val="tx1"/>
                </a:solidFill>
                <a:latin typeface="+mn-lt"/>
                <a:ea typeface="+mn-ea"/>
                <a:cs typeface="+mn-cs"/>
              </a:rPr>
              <a:t>  - Workplace policies and procedures</a:t>
            </a:r>
            <a:endParaRPr lang="en-US" b="0"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p14="http://schemas.microsoft.com/office/powerpoint/2010/main" val="23429104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strategies </a:t>
            </a:r>
            <a:r>
              <a:rPr lang="en-AU" sz="1200" kern="1200" dirty="0" smtClean="0">
                <a:solidFill>
                  <a:schemeClr val="tx1"/>
                </a:solidFill>
                <a:latin typeface="+mn-lt"/>
                <a:ea typeface="+mn-ea"/>
                <a:cs typeface="+mn-cs"/>
              </a:rPr>
              <a:t>(generally) have the following characteristics – they:</a:t>
            </a:r>
          </a:p>
          <a:p>
            <a:pPr>
              <a:buFont typeface="Arial" pitchFamily="34" charset="0"/>
              <a:buChar char="•"/>
            </a:pPr>
            <a:r>
              <a:rPr lang="en-AU" sz="1200" kern="1200" dirty="0" smtClean="0">
                <a:solidFill>
                  <a:schemeClr val="tx1"/>
                </a:solidFill>
                <a:latin typeface="+mn-lt"/>
                <a:ea typeface="+mn-ea"/>
                <a:cs typeface="+mn-cs"/>
              </a:rPr>
              <a:t>Flow from the plans of the business</a:t>
            </a:r>
          </a:p>
          <a:p>
            <a:pPr>
              <a:buFont typeface="Arial" pitchFamily="34" charset="0"/>
              <a:buChar char="•"/>
            </a:pPr>
            <a:r>
              <a:rPr lang="en-AU" sz="1200" kern="1200" dirty="0" smtClean="0">
                <a:solidFill>
                  <a:schemeClr val="tx1"/>
                </a:solidFill>
                <a:latin typeface="+mn-lt"/>
                <a:ea typeface="+mn-ea"/>
                <a:cs typeface="+mn-cs"/>
              </a:rPr>
              <a:t>Identify the goals the organisation has set for itself</a:t>
            </a:r>
          </a:p>
          <a:p>
            <a:pPr>
              <a:buFont typeface="Arial" pitchFamily="34" charset="0"/>
              <a:buChar char="•"/>
            </a:pPr>
            <a:r>
              <a:rPr lang="en-AU" sz="1200" kern="1200" dirty="0" smtClean="0">
                <a:solidFill>
                  <a:schemeClr val="tx1"/>
                </a:solidFill>
                <a:latin typeface="+mn-lt"/>
                <a:ea typeface="+mn-ea"/>
                <a:cs typeface="+mn-cs"/>
              </a:rPr>
              <a:t>Quantify the objectives to be achieved</a:t>
            </a:r>
          </a:p>
          <a:p>
            <a:pPr>
              <a:buFont typeface="Arial" pitchFamily="34" charset="0"/>
              <a:buChar char="•"/>
            </a:pPr>
            <a:r>
              <a:rPr lang="en-AU" sz="1200" kern="1200" dirty="0" smtClean="0">
                <a:solidFill>
                  <a:schemeClr val="tx1"/>
                </a:solidFill>
                <a:latin typeface="+mn-lt"/>
                <a:ea typeface="+mn-ea"/>
                <a:cs typeface="+mn-cs"/>
              </a:rPr>
              <a:t>Describe ways to achieve what is required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8992586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strategies </a:t>
            </a:r>
            <a:r>
              <a:rPr lang="en-AU" sz="1200" kern="1200" dirty="0" smtClean="0">
                <a:solidFill>
                  <a:schemeClr val="tx1"/>
                </a:solidFill>
                <a:latin typeface="+mn-lt"/>
                <a:ea typeface="+mn-ea"/>
                <a:cs typeface="+mn-cs"/>
              </a:rPr>
              <a:t>(generally) have the following characteristics – they:</a:t>
            </a:r>
          </a:p>
          <a:p>
            <a:pPr>
              <a:buFont typeface="Arial" pitchFamily="34" charset="0"/>
              <a:buChar char="•"/>
            </a:pPr>
            <a:r>
              <a:rPr lang="en-AU" sz="1200" kern="1200" dirty="0" smtClean="0">
                <a:solidFill>
                  <a:schemeClr val="tx1"/>
                </a:solidFill>
                <a:latin typeface="+mn-lt"/>
                <a:ea typeface="+mn-ea"/>
                <a:cs typeface="+mn-cs"/>
              </a:rPr>
              <a:t>Give direction to the course the organisation is to take</a:t>
            </a:r>
          </a:p>
          <a:p>
            <a:pPr>
              <a:buFont typeface="Arial" pitchFamily="34" charset="0"/>
              <a:buChar char="•"/>
            </a:pPr>
            <a:r>
              <a:rPr lang="en-AU" sz="1200" kern="1200" dirty="0" smtClean="0">
                <a:solidFill>
                  <a:schemeClr val="tx1"/>
                </a:solidFill>
                <a:latin typeface="+mn-lt"/>
                <a:ea typeface="+mn-ea"/>
                <a:cs typeface="+mn-cs"/>
              </a:rPr>
              <a:t>Guide decisions managers/supervisors need to make about the operation of the business</a:t>
            </a:r>
          </a:p>
          <a:p>
            <a:pPr>
              <a:buFont typeface="Arial" pitchFamily="34" charset="0"/>
              <a:buChar char="•"/>
            </a:pPr>
            <a:r>
              <a:rPr lang="en-AU" sz="1200" kern="1200" dirty="0" smtClean="0">
                <a:solidFill>
                  <a:schemeClr val="tx1"/>
                </a:solidFill>
                <a:latin typeface="+mn-lt"/>
                <a:ea typeface="+mn-ea"/>
                <a:cs typeface="+mn-cs"/>
              </a:rPr>
              <a:t>Must align with requirements of applicable policies</a:t>
            </a:r>
          </a:p>
          <a:p>
            <a:pPr>
              <a:buFont typeface="Arial" pitchFamily="34" charset="0"/>
              <a:buChar char="•"/>
            </a:pPr>
            <a:r>
              <a:rPr lang="en-AU" sz="1200" kern="1200" dirty="0" smtClean="0">
                <a:solidFill>
                  <a:schemeClr val="tx1"/>
                </a:solidFill>
                <a:latin typeface="+mn-lt"/>
                <a:ea typeface="+mn-ea"/>
                <a:cs typeface="+mn-cs"/>
              </a:rPr>
              <a:t>Will need to be ethical </a:t>
            </a:r>
            <a:r>
              <a:rPr lang="en-AU" sz="1200" i="1" kern="1200" dirty="0" smtClean="0">
                <a:solidFill>
                  <a:schemeClr val="tx1"/>
                </a:solidFill>
                <a:latin typeface="+mn-lt"/>
                <a:ea typeface="+mn-ea"/>
                <a:cs typeface="+mn-cs"/>
              </a:rPr>
              <a:t>and</a:t>
            </a:r>
            <a:r>
              <a:rPr lang="en-AU" sz="1200" kern="1200" dirty="0" smtClean="0">
                <a:solidFill>
                  <a:schemeClr val="tx1"/>
                </a:solidFill>
                <a:latin typeface="+mn-lt"/>
                <a:ea typeface="+mn-ea"/>
                <a:cs typeface="+mn-cs"/>
              </a:rPr>
              <a:t> comply with public statements the organisation makes about itself</a:t>
            </a:r>
          </a:p>
          <a:p>
            <a:endParaRPr lang="en-AU"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p14="http://schemas.microsoft.com/office/powerpoint/2010/main" val="39055309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strategies </a:t>
            </a:r>
            <a:r>
              <a:rPr lang="en-AU" sz="1200" kern="1200" dirty="0" smtClean="0">
                <a:solidFill>
                  <a:schemeClr val="tx1"/>
                </a:solidFill>
                <a:latin typeface="+mn-lt"/>
                <a:ea typeface="+mn-ea"/>
                <a:cs typeface="+mn-cs"/>
              </a:rPr>
              <a:t>(generally) have the following characteristics – they:</a:t>
            </a:r>
          </a:p>
          <a:p>
            <a:pPr>
              <a:buFont typeface="Arial" pitchFamily="34" charset="0"/>
              <a:buChar char="•"/>
            </a:pPr>
            <a:r>
              <a:rPr lang="en-AU" sz="1200" kern="1200" dirty="0" smtClean="0">
                <a:solidFill>
                  <a:schemeClr val="tx1"/>
                </a:solidFill>
                <a:latin typeface="+mn-lt"/>
                <a:ea typeface="+mn-ea"/>
                <a:cs typeface="+mn-cs"/>
              </a:rPr>
              <a:t>Provide a plan of action about what needs to be done</a:t>
            </a:r>
          </a:p>
          <a:p>
            <a:pPr>
              <a:buFont typeface="Arial" pitchFamily="34" charset="0"/>
              <a:buChar char="•"/>
            </a:pPr>
            <a:r>
              <a:rPr lang="en-AU" sz="1200" kern="1200" dirty="0" smtClean="0">
                <a:solidFill>
                  <a:schemeClr val="tx1"/>
                </a:solidFill>
                <a:latin typeface="+mn-lt"/>
                <a:ea typeface="+mn-ea"/>
                <a:cs typeface="+mn-cs"/>
              </a:rPr>
              <a:t>May indicate different ways/a range of options to achieve the one goal, objective or target</a:t>
            </a:r>
          </a:p>
          <a:p>
            <a:pPr>
              <a:buFont typeface="Arial" pitchFamily="34" charset="0"/>
              <a:buChar char="•"/>
            </a:pPr>
            <a:r>
              <a:rPr lang="en-AU" sz="1200" kern="1200" dirty="0" smtClean="0">
                <a:solidFill>
                  <a:schemeClr val="tx1"/>
                </a:solidFill>
                <a:latin typeface="+mn-lt"/>
                <a:ea typeface="+mn-ea"/>
                <a:cs typeface="+mn-cs"/>
              </a:rPr>
              <a:t>Give a context for organisational procedures in relation to achieving pertinent objectives – meaning an SOP may be acceptable in one context, but unacceptable in another.</a:t>
            </a:r>
          </a:p>
          <a:p>
            <a:endParaRPr lang="en-AU" sz="1200" kern="1200" dirty="0" smtClean="0">
              <a:solidFill>
                <a:schemeClr val="tx1"/>
              </a:solidFill>
              <a:latin typeface="+mn-lt"/>
              <a:ea typeface="+mn-ea"/>
              <a:cs typeface="+mn-cs"/>
            </a:endParaRPr>
          </a:p>
          <a:p>
            <a:pPr>
              <a:buFont typeface="Arial" pitchFamily="34" charset="0"/>
              <a:buNone/>
            </a:pPr>
            <a:r>
              <a:rPr lang="en-US" b="1" baseline="0" noProof="0" dirty="0" smtClean="0"/>
              <a:t>Classroom Activity – Internet research </a:t>
            </a:r>
          </a:p>
          <a:p>
            <a:pPr>
              <a:buFont typeface="Arial" pitchFamily="34" charset="0"/>
              <a:buNone/>
            </a:pPr>
            <a:r>
              <a:rPr lang="en-US" b="0" baseline="0" noProof="0" dirty="0" smtClean="0"/>
              <a:t>Trainer supervises internet research on relevant websites for items identified above, such as: </a:t>
            </a:r>
          </a:p>
          <a:p>
            <a:r>
              <a:rPr lang="en-AU" sz="1200" u="sng" kern="1200" dirty="0" smtClean="0">
                <a:solidFill>
                  <a:schemeClr val="tx1"/>
                </a:solidFill>
                <a:latin typeface="+mn-lt"/>
                <a:ea typeface="+mn-ea"/>
                <a:cs typeface="+mn-cs"/>
                <a:hlinkClick r:id="rId3"/>
              </a:rPr>
              <a:t>http://www.scribd.com/doc/64899080/Difference-Between-Policy-and-Strategy#scribd</a:t>
            </a:r>
            <a:r>
              <a:rPr lang="en-AU" sz="1200" kern="1200" dirty="0" smtClean="0">
                <a:solidFill>
                  <a:schemeClr val="tx1"/>
                </a:solidFill>
                <a:latin typeface="+mn-lt"/>
                <a:ea typeface="+mn-ea"/>
                <a:cs typeface="+mn-cs"/>
              </a:rPr>
              <a:t> – Difference between policy and strategy</a:t>
            </a:r>
          </a:p>
          <a:p>
            <a:r>
              <a:rPr lang="en-AU" sz="1200" u="sng" kern="1200" dirty="0" smtClean="0">
                <a:solidFill>
                  <a:schemeClr val="tx1"/>
                </a:solidFill>
                <a:latin typeface="+mn-lt"/>
                <a:ea typeface="+mn-ea"/>
                <a:cs typeface="+mn-cs"/>
                <a:hlinkClick r:id="rId4"/>
              </a:rPr>
              <a:t>http://www.executive.org/bibliography/policy.pdf</a:t>
            </a:r>
            <a:r>
              <a:rPr lang="en-AU" sz="1200" kern="1200" dirty="0" smtClean="0">
                <a:solidFill>
                  <a:schemeClr val="tx1"/>
                </a:solidFill>
                <a:latin typeface="+mn-lt"/>
                <a:ea typeface="+mn-ea"/>
                <a:cs typeface="+mn-cs"/>
              </a:rPr>
              <a:t> - What is policy? Strategic and operational policies and good governance </a:t>
            </a:r>
          </a:p>
          <a:p>
            <a:r>
              <a:rPr lang="en-AU" sz="1200" u="sng" kern="1200" dirty="0" smtClean="0">
                <a:solidFill>
                  <a:schemeClr val="tx1"/>
                </a:solidFill>
                <a:latin typeface="+mn-lt"/>
                <a:ea typeface="+mn-ea"/>
                <a:cs typeface="+mn-cs"/>
                <a:hlinkClick r:id="rId5"/>
              </a:rPr>
              <a:t>http://nraombakc.blogspot.com.au/2011/12/content-and-process-of-operations.html</a:t>
            </a:r>
            <a:r>
              <a:rPr lang="en-AU" sz="1200" kern="1200" dirty="0" smtClean="0">
                <a:solidFill>
                  <a:schemeClr val="tx1"/>
                </a:solidFill>
                <a:latin typeface="+mn-lt"/>
                <a:ea typeface="+mn-ea"/>
                <a:cs typeface="+mn-cs"/>
              </a:rPr>
              <a:t> - The content and process of operations strategy</a:t>
            </a: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28866534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observes there </a:t>
            </a:r>
            <a:r>
              <a:rPr lang="en-AU" sz="1200" kern="1200" dirty="0" smtClean="0">
                <a:solidFill>
                  <a:schemeClr val="tx1"/>
                </a:solidFill>
                <a:latin typeface="+mn-lt"/>
                <a:ea typeface="+mn-ea"/>
                <a:cs typeface="+mn-cs"/>
              </a:rPr>
              <a:t>are no formal or mandatory requirements for the content of operational strategies but it is commonly held they should:</a:t>
            </a:r>
          </a:p>
          <a:p>
            <a:pPr>
              <a:buFont typeface="Arial" pitchFamily="34" charset="0"/>
              <a:buChar char="•"/>
            </a:pPr>
            <a:r>
              <a:rPr lang="en-AU" sz="1200" kern="1200" dirty="0" smtClean="0">
                <a:solidFill>
                  <a:schemeClr val="tx1"/>
                </a:solidFill>
                <a:latin typeface="+mn-lt"/>
                <a:ea typeface="+mn-ea"/>
                <a:cs typeface="+mn-cs"/>
              </a:rPr>
              <a:t>Address ways in which the organisation intends to target the customer and deliver the product or service it has to offer so the customer is more likely to deal with the organisation.</a:t>
            </a:r>
          </a:p>
          <a:p>
            <a:pPr lvl="1">
              <a:buFont typeface="Arial" pitchFamily="34" charset="0"/>
              <a:buChar char="•"/>
            </a:pPr>
            <a:r>
              <a:rPr lang="en-AU" sz="1200" kern="1200" dirty="0" smtClean="0">
                <a:solidFill>
                  <a:schemeClr val="tx1"/>
                </a:solidFill>
                <a:latin typeface="+mn-lt"/>
                <a:ea typeface="+mn-ea"/>
                <a:cs typeface="+mn-cs"/>
              </a:rPr>
              <a:t>This refers to the marketing- based concept whereby ‘The Customer’ is at the centre of all organisational thinking and actions and the business seeks to adjust how it applies its available resources to service ‘The Customer’.</a:t>
            </a:r>
          </a:p>
          <a:p>
            <a:pPr lvl="2">
              <a:buFont typeface="Arial" pitchFamily="34" charset="0"/>
              <a:buChar char="•"/>
            </a:pPr>
            <a:r>
              <a:rPr lang="en-AU" sz="1200" kern="1200" dirty="0" smtClean="0">
                <a:solidFill>
                  <a:schemeClr val="tx1"/>
                </a:solidFill>
                <a:latin typeface="+mn-lt"/>
                <a:ea typeface="+mn-ea"/>
                <a:cs typeface="+mn-cs"/>
              </a:rPr>
              <a:t>The available resources being ‘The 5Ps of Marketing’:</a:t>
            </a:r>
          </a:p>
          <a:p>
            <a:pPr lvl="3">
              <a:buFont typeface="Arial" pitchFamily="34" charset="0"/>
              <a:buChar char="•"/>
            </a:pPr>
            <a:r>
              <a:rPr lang="en-AU" sz="1200" kern="1200" dirty="0" smtClean="0">
                <a:solidFill>
                  <a:schemeClr val="tx1"/>
                </a:solidFill>
                <a:latin typeface="+mn-lt"/>
                <a:ea typeface="+mn-ea"/>
                <a:cs typeface="+mn-cs"/>
              </a:rPr>
              <a:t>Prices it charges</a:t>
            </a:r>
          </a:p>
          <a:p>
            <a:pPr lvl="3">
              <a:buFont typeface="Arial" pitchFamily="34" charset="0"/>
              <a:buChar char="•"/>
            </a:pPr>
            <a:r>
              <a:rPr lang="en-AU" sz="1200" kern="1200" dirty="0" smtClean="0">
                <a:solidFill>
                  <a:schemeClr val="tx1"/>
                </a:solidFill>
                <a:latin typeface="+mn-lt"/>
                <a:ea typeface="+mn-ea"/>
                <a:cs typeface="+mn-cs"/>
              </a:rPr>
              <a:t>Promotions it undertakes</a:t>
            </a:r>
          </a:p>
          <a:p>
            <a:pPr lvl="3">
              <a:buFont typeface="Arial" pitchFamily="34" charset="0"/>
              <a:buChar char="•"/>
            </a:pPr>
            <a:r>
              <a:rPr lang="en-AU" sz="1200" kern="1200" dirty="0" smtClean="0">
                <a:solidFill>
                  <a:schemeClr val="tx1"/>
                </a:solidFill>
                <a:latin typeface="+mn-lt"/>
                <a:ea typeface="+mn-ea"/>
                <a:cs typeface="+mn-cs"/>
              </a:rPr>
              <a:t>Places it sells from</a:t>
            </a:r>
          </a:p>
          <a:p>
            <a:pPr lvl="3">
              <a:buFont typeface="Arial" pitchFamily="34" charset="0"/>
              <a:buChar char="•"/>
            </a:pPr>
            <a:r>
              <a:rPr lang="en-AU" sz="1200" kern="1200" dirty="0" smtClean="0">
                <a:solidFill>
                  <a:schemeClr val="tx1"/>
                </a:solidFill>
                <a:latin typeface="+mn-lt"/>
                <a:ea typeface="+mn-ea"/>
                <a:cs typeface="+mn-cs"/>
              </a:rPr>
              <a:t>Products it offers</a:t>
            </a:r>
          </a:p>
          <a:p>
            <a:pPr lvl="3">
              <a:buFont typeface="Arial" pitchFamily="34" charset="0"/>
              <a:buChar char="•"/>
            </a:pPr>
            <a:r>
              <a:rPr lang="en-AU" sz="1200" kern="1200" dirty="0" smtClean="0">
                <a:solidFill>
                  <a:schemeClr val="tx1"/>
                </a:solidFill>
                <a:latin typeface="+mn-lt"/>
                <a:ea typeface="+mn-ea"/>
                <a:cs typeface="+mn-cs"/>
              </a:rPr>
              <a:t>People it uses.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extLst>
      <p:ext uri="{BB962C8B-B14F-4D97-AF65-F5344CB8AC3E}">
        <p14:creationId xmlns:p14="http://schemas.microsoft.com/office/powerpoint/2010/main" val="25208985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with common content of operational strategies:</a:t>
            </a:r>
          </a:p>
          <a:p>
            <a:pPr>
              <a:buFont typeface="Arial" pitchFamily="34" charset="0"/>
              <a:buChar char="•"/>
            </a:pPr>
            <a:r>
              <a:rPr lang="en-AU" sz="1200" kern="1200" dirty="0" smtClean="0">
                <a:solidFill>
                  <a:schemeClr val="tx1"/>
                </a:solidFill>
                <a:latin typeface="+mn-lt"/>
                <a:ea typeface="+mn-ea"/>
                <a:cs typeface="+mn-cs"/>
              </a:rPr>
              <a:t>Present ways in which the business proposes, as appropriate to its individual need at this point in time, to address the five performance objectives (identified by Slack and Lewis in </a:t>
            </a:r>
            <a:r>
              <a:rPr lang="en-AU" sz="1200" i="1" kern="1200" dirty="0" smtClean="0">
                <a:solidFill>
                  <a:schemeClr val="tx1"/>
                </a:solidFill>
                <a:latin typeface="+mn-lt"/>
                <a:ea typeface="+mn-ea"/>
                <a:cs typeface="+mn-cs"/>
              </a:rPr>
              <a:t>Operations Strategy </a:t>
            </a:r>
            <a:r>
              <a:rPr lang="en-AU" sz="1200" kern="1200" dirty="0" smtClean="0">
                <a:solidFill>
                  <a:schemeClr val="tx1"/>
                </a:solidFill>
                <a:latin typeface="+mn-lt"/>
                <a:ea typeface="+mn-ea"/>
                <a:cs typeface="+mn-cs"/>
              </a:rPr>
              <a:t>[3</a:t>
            </a:r>
            <a:r>
              <a:rPr lang="en-AU" sz="1200" kern="1200" baseline="30000" dirty="0" smtClean="0">
                <a:solidFill>
                  <a:schemeClr val="tx1"/>
                </a:solidFill>
                <a:latin typeface="+mn-lt"/>
                <a:ea typeface="+mn-ea"/>
                <a:cs typeface="+mn-cs"/>
              </a:rPr>
              <a:t>rd</a:t>
            </a:r>
            <a:r>
              <a:rPr lang="en-AU" sz="1200" kern="1200" dirty="0" smtClean="0">
                <a:solidFill>
                  <a:schemeClr val="tx1"/>
                </a:solidFill>
                <a:latin typeface="+mn-lt"/>
                <a:ea typeface="+mn-ea"/>
                <a:cs typeface="+mn-cs"/>
              </a:rPr>
              <a:t> edition], 2011, p. 16 ) of:</a:t>
            </a:r>
          </a:p>
          <a:p>
            <a:pPr lvl="1">
              <a:buFont typeface="Arial" pitchFamily="34" charset="0"/>
              <a:buChar char="•"/>
            </a:pPr>
            <a:r>
              <a:rPr lang="en-AU" sz="1200" kern="1200" dirty="0" smtClean="0">
                <a:solidFill>
                  <a:schemeClr val="tx1"/>
                </a:solidFill>
                <a:latin typeface="+mn-lt"/>
                <a:ea typeface="+mn-ea"/>
                <a:cs typeface="+mn-cs"/>
              </a:rPr>
              <a:t>Quality – specifying </a:t>
            </a:r>
          </a:p>
          <a:p>
            <a:pPr lvl="2">
              <a:buFont typeface="Arial" pitchFamily="34" charset="0"/>
              <a:buChar char="•"/>
            </a:pPr>
            <a:r>
              <a:rPr lang="en-AU" sz="1200" kern="1200" dirty="0" smtClean="0">
                <a:solidFill>
                  <a:schemeClr val="tx1"/>
                </a:solidFill>
                <a:latin typeface="+mn-lt"/>
                <a:ea typeface="+mn-ea"/>
                <a:cs typeface="+mn-cs"/>
              </a:rPr>
              <a:t>Quality criteria and standards expected</a:t>
            </a:r>
          </a:p>
          <a:p>
            <a:pPr lvl="2">
              <a:buFont typeface="Arial" pitchFamily="34" charset="0"/>
              <a:buChar char="•"/>
            </a:pPr>
            <a:r>
              <a:rPr lang="en-AU" sz="1200" kern="1200" dirty="0" smtClean="0">
                <a:solidFill>
                  <a:schemeClr val="tx1"/>
                </a:solidFill>
                <a:latin typeface="+mn-lt"/>
                <a:ea typeface="+mn-ea"/>
                <a:cs typeface="+mn-cs"/>
              </a:rPr>
              <a:t>How the organisation will (for example), as necessary/required :</a:t>
            </a:r>
          </a:p>
          <a:p>
            <a:pPr lvl="3">
              <a:buFont typeface="Arial" pitchFamily="34" charset="0"/>
              <a:buChar char="•"/>
            </a:pPr>
            <a:r>
              <a:rPr lang="en-AU" sz="1200" kern="1200" dirty="0" smtClean="0">
                <a:solidFill>
                  <a:schemeClr val="tx1"/>
                </a:solidFill>
                <a:latin typeface="+mn-lt"/>
                <a:ea typeface="+mn-ea"/>
                <a:cs typeface="+mn-cs"/>
              </a:rPr>
              <a:t>Improve its quality</a:t>
            </a:r>
          </a:p>
          <a:p>
            <a:pPr lvl="3">
              <a:buFont typeface="Arial" pitchFamily="34" charset="0"/>
              <a:buChar char="•"/>
            </a:pPr>
            <a:r>
              <a:rPr lang="en-AU" sz="1200" kern="1200" dirty="0" smtClean="0">
                <a:solidFill>
                  <a:schemeClr val="tx1"/>
                </a:solidFill>
                <a:latin typeface="+mn-lt"/>
                <a:ea typeface="+mn-ea"/>
                <a:cs typeface="+mn-cs"/>
              </a:rPr>
              <a:t>Maintain its quality</a:t>
            </a:r>
          </a:p>
          <a:p>
            <a:pPr lvl="3">
              <a:buFont typeface="Arial" pitchFamily="34" charset="0"/>
              <a:buChar char="•"/>
            </a:pPr>
            <a:r>
              <a:rPr lang="en-AU" sz="1200" kern="1200" dirty="0" smtClean="0">
                <a:solidFill>
                  <a:schemeClr val="tx1"/>
                </a:solidFill>
                <a:latin typeface="+mn-lt"/>
                <a:ea typeface="+mn-ea"/>
                <a:cs typeface="+mn-cs"/>
              </a:rPr>
              <a:t>Build quality into the production process</a:t>
            </a:r>
          </a:p>
          <a:p>
            <a:pPr lvl="1">
              <a:buFont typeface="Arial" pitchFamily="34" charset="0"/>
              <a:buChar char="•"/>
            </a:pPr>
            <a:r>
              <a:rPr lang="en-AU" sz="1200" kern="1200" dirty="0" smtClean="0">
                <a:solidFill>
                  <a:schemeClr val="tx1"/>
                </a:solidFill>
                <a:latin typeface="+mn-lt"/>
                <a:ea typeface="+mn-ea"/>
                <a:cs typeface="+mn-cs"/>
              </a:rPr>
              <a:t>Speed – identifying: </a:t>
            </a:r>
          </a:p>
          <a:p>
            <a:pPr lvl="2">
              <a:buFont typeface="Arial" pitchFamily="34" charset="0"/>
              <a:buChar char="•"/>
            </a:pPr>
            <a:r>
              <a:rPr lang="en-AU" sz="1200" kern="1200" dirty="0" smtClean="0">
                <a:solidFill>
                  <a:schemeClr val="tx1"/>
                </a:solidFill>
                <a:latin typeface="+mn-lt"/>
                <a:ea typeface="+mn-ea"/>
                <a:cs typeface="+mn-cs"/>
              </a:rPr>
              <a:t>Acceptable or target times for service delivery</a:t>
            </a:r>
          </a:p>
          <a:p>
            <a:pPr lvl="2">
              <a:buFont typeface="Arial" pitchFamily="34" charset="0"/>
              <a:buChar char="•"/>
            </a:pPr>
            <a:r>
              <a:rPr lang="en-AU" sz="1200" kern="1200" dirty="0" smtClean="0">
                <a:solidFill>
                  <a:schemeClr val="tx1"/>
                </a:solidFill>
                <a:latin typeface="+mn-lt"/>
                <a:ea typeface="+mn-ea"/>
                <a:cs typeface="+mn-cs"/>
              </a:rPr>
              <a:t>Action to be taken to attain these targets</a:t>
            </a:r>
          </a:p>
          <a:p>
            <a:pPr lvl="1">
              <a:buFont typeface="Arial" pitchFamily="34" charset="0"/>
              <a:buChar char="•"/>
            </a:pPr>
            <a:r>
              <a:rPr lang="en-AU" sz="1200" kern="1200" dirty="0" smtClean="0">
                <a:solidFill>
                  <a:schemeClr val="tx1"/>
                </a:solidFill>
                <a:latin typeface="+mn-lt"/>
                <a:ea typeface="+mn-ea"/>
                <a:cs typeface="+mn-cs"/>
              </a:rPr>
              <a:t>Dependability – detailing:</a:t>
            </a:r>
          </a:p>
          <a:p>
            <a:pPr lvl="2">
              <a:buFont typeface="Arial" pitchFamily="34" charset="0"/>
              <a:buChar char="•"/>
            </a:pPr>
            <a:r>
              <a:rPr lang="en-AU" sz="1200" kern="1200" dirty="0" smtClean="0">
                <a:solidFill>
                  <a:schemeClr val="tx1"/>
                </a:solidFill>
                <a:latin typeface="+mn-lt"/>
                <a:ea typeface="+mn-ea"/>
                <a:cs typeface="+mn-cs"/>
              </a:rPr>
              <a:t>The criteria which determine reliability of product/service from the customer’s perspective</a:t>
            </a:r>
          </a:p>
          <a:p>
            <a:pPr lvl="2">
              <a:buFont typeface="Arial" pitchFamily="34" charset="0"/>
              <a:buChar char="•"/>
            </a:pPr>
            <a:r>
              <a:rPr lang="en-AU" sz="1200" kern="1200" dirty="0" smtClean="0">
                <a:solidFill>
                  <a:schemeClr val="tx1"/>
                </a:solidFill>
                <a:latin typeface="+mn-lt"/>
                <a:ea typeface="+mn-ea"/>
                <a:cs typeface="+mn-cs"/>
              </a:rPr>
              <a:t>How the organisation intends ensuring promises made about products and services are kept/honoured </a:t>
            </a:r>
          </a:p>
          <a:p>
            <a:pPr lvl="1">
              <a:buFont typeface="Arial" pitchFamily="34" charset="0"/>
              <a:buChar char="•"/>
            </a:pPr>
            <a:r>
              <a:rPr lang="en-AU" sz="1200" kern="1200" dirty="0" smtClean="0">
                <a:solidFill>
                  <a:schemeClr val="tx1"/>
                </a:solidFill>
                <a:latin typeface="+mn-lt"/>
                <a:ea typeface="+mn-ea"/>
                <a:cs typeface="+mn-cs"/>
              </a:rPr>
              <a:t>Flexibility – explaining:</a:t>
            </a:r>
          </a:p>
          <a:p>
            <a:pPr lvl="2">
              <a:buFont typeface="Arial" pitchFamily="34" charset="0"/>
              <a:buChar char="•"/>
            </a:pPr>
            <a:r>
              <a:rPr lang="en-AU" sz="1200" kern="1200" dirty="0" smtClean="0">
                <a:solidFill>
                  <a:schemeClr val="tx1"/>
                </a:solidFill>
                <a:latin typeface="+mn-lt"/>
                <a:ea typeface="+mn-ea"/>
                <a:cs typeface="+mn-cs"/>
              </a:rPr>
              <a:t>Ways in which the business will be prepared/able to customise the provision of products and services to suit individual need</a:t>
            </a:r>
          </a:p>
          <a:p>
            <a:pPr lvl="2">
              <a:buFont typeface="Arial" pitchFamily="34" charset="0"/>
              <a:buChar char="•"/>
            </a:pPr>
            <a:r>
              <a:rPr lang="en-AU" sz="1200" kern="1200" dirty="0" smtClean="0">
                <a:solidFill>
                  <a:schemeClr val="tx1"/>
                </a:solidFill>
                <a:latin typeface="+mn-lt"/>
                <a:ea typeface="+mn-ea"/>
                <a:cs typeface="+mn-cs"/>
              </a:rPr>
              <a:t>New or different variations in products and services so there is a better match with identified customer demand</a:t>
            </a:r>
          </a:p>
          <a:p>
            <a:pPr lvl="1">
              <a:buFont typeface="Arial" pitchFamily="34" charset="0"/>
              <a:buChar char="•"/>
            </a:pPr>
            <a:r>
              <a:rPr lang="en-AU" sz="1200" kern="1200" dirty="0" smtClean="0">
                <a:solidFill>
                  <a:schemeClr val="tx1"/>
                </a:solidFill>
                <a:latin typeface="+mn-lt"/>
                <a:ea typeface="+mn-ea"/>
                <a:cs typeface="+mn-cs"/>
              </a:rPr>
              <a:t>Cost – detailing possible areas such as:</a:t>
            </a:r>
          </a:p>
          <a:p>
            <a:pPr lvl="2">
              <a:buFont typeface="Arial" pitchFamily="34" charset="0"/>
              <a:buChar char="•"/>
            </a:pPr>
            <a:r>
              <a:rPr lang="en-AU" sz="1200" kern="1200" dirty="0" smtClean="0">
                <a:solidFill>
                  <a:schemeClr val="tx1"/>
                </a:solidFill>
                <a:latin typeface="+mn-lt"/>
                <a:ea typeface="+mn-ea"/>
                <a:cs typeface="+mn-cs"/>
              </a:rPr>
              <a:t>Productivity targets for individuals, departments and/or the business</a:t>
            </a:r>
          </a:p>
          <a:p>
            <a:pPr lvl="2">
              <a:buFont typeface="Arial" pitchFamily="34" charset="0"/>
              <a:buChar char="•"/>
            </a:pPr>
            <a:r>
              <a:rPr lang="en-AU" sz="1200" kern="1200" dirty="0" smtClean="0">
                <a:solidFill>
                  <a:schemeClr val="tx1"/>
                </a:solidFill>
                <a:latin typeface="+mn-lt"/>
                <a:ea typeface="+mn-ea"/>
                <a:cs typeface="+mn-cs"/>
              </a:rPr>
              <a:t>Margins required from different products/services or departments/divisions.</a:t>
            </a:r>
          </a:p>
          <a:p>
            <a:pPr lvl="1">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extLst>
      <p:ext uri="{BB962C8B-B14F-4D97-AF65-F5344CB8AC3E}">
        <p14:creationId xmlns:p14="http://schemas.microsoft.com/office/powerpoint/2010/main" val="19231921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a:t>
            </a:r>
            <a:r>
              <a:rPr lang="en-AU" sz="1200" kern="1200" dirty="0" smtClean="0">
                <a:solidFill>
                  <a:schemeClr val="tx1"/>
                </a:solidFill>
                <a:latin typeface="+mn-lt"/>
                <a:ea typeface="+mn-ea"/>
                <a:cs typeface="+mn-cs"/>
              </a:rPr>
              <a:t>notes in relation to these five performance objectives – they:</a:t>
            </a:r>
          </a:p>
          <a:p>
            <a:pPr>
              <a:buFont typeface="Arial" pitchFamily="34" charset="0"/>
              <a:buChar char="•"/>
            </a:pPr>
            <a:r>
              <a:rPr lang="en-AU" sz="1200" kern="1200" dirty="0" smtClean="0">
                <a:solidFill>
                  <a:schemeClr val="tx1"/>
                </a:solidFill>
                <a:latin typeface="+mn-lt"/>
                <a:ea typeface="+mn-ea"/>
                <a:cs typeface="+mn-cs"/>
              </a:rPr>
              <a:t>Will be generated to accommodate external factors (demand or preferences of customers) and internal factors (what it is the organisation seeks to achieve)</a:t>
            </a:r>
          </a:p>
          <a:p>
            <a:pPr>
              <a:buFont typeface="Arial" pitchFamily="34" charset="0"/>
              <a:buChar char="•"/>
            </a:pPr>
            <a:r>
              <a:rPr lang="en-AU" sz="1200" kern="1200" dirty="0" smtClean="0">
                <a:solidFill>
                  <a:schemeClr val="tx1"/>
                </a:solidFill>
                <a:latin typeface="+mn-lt"/>
                <a:ea typeface="+mn-ea"/>
                <a:cs typeface="+mn-cs"/>
              </a:rPr>
              <a:t>Are often weighted or prioritised – in that one (or two, or three) of the five may have greater importance/relevance than the other(s)</a:t>
            </a:r>
          </a:p>
          <a:p>
            <a:pPr>
              <a:buFont typeface="Arial" pitchFamily="34" charset="0"/>
              <a:buChar char="•"/>
            </a:pPr>
            <a:r>
              <a:rPr lang="en-AU" sz="1200" kern="1200" dirty="0" smtClean="0">
                <a:solidFill>
                  <a:schemeClr val="tx1"/>
                </a:solidFill>
                <a:latin typeface="+mn-lt"/>
                <a:ea typeface="+mn-ea"/>
                <a:cs typeface="+mn-cs"/>
              </a:rPr>
              <a:t>May be driven by the market (customer demand) or by the organisation in terms of the resources it has available to it</a:t>
            </a:r>
          </a:p>
          <a:p>
            <a:pPr>
              <a:buFont typeface="Arial" pitchFamily="34" charset="0"/>
              <a:buChar char="•"/>
            </a:pPr>
            <a:r>
              <a:rPr lang="en-AU" sz="1200" kern="1200" dirty="0" smtClean="0">
                <a:solidFill>
                  <a:schemeClr val="tx1"/>
                </a:solidFill>
                <a:latin typeface="+mn-lt"/>
                <a:ea typeface="+mn-ea"/>
                <a:cs typeface="+mn-cs"/>
              </a:rPr>
              <a:t>Can relate to a competitive strategy where the organisation focuses on a factor where it has a unique advantage (a USP).</a:t>
            </a:r>
          </a:p>
          <a:p>
            <a:pPr>
              <a:buFont typeface="Arial" pitchFamily="34" charset="0"/>
              <a:buNone/>
            </a:pPr>
            <a:endParaRPr lang="en-AU" noProof="0" dirty="0" smtClean="0"/>
          </a:p>
          <a:p>
            <a:pPr>
              <a:buFont typeface="Arial" pitchFamily="34" charset="0"/>
              <a:buNone/>
            </a:pPr>
            <a:r>
              <a:rPr lang="en-US" b="1" baseline="0" noProof="0" dirty="0" smtClean="0"/>
              <a:t>Classroom Activity – Internet research </a:t>
            </a:r>
          </a:p>
          <a:p>
            <a:pPr>
              <a:buFont typeface="Arial" pitchFamily="34" charset="0"/>
              <a:buNone/>
            </a:pPr>
            <a:r>
              <a:rPr lang="en-US" b="0" baseline="0" noProof="0" dirty="0" smtClean="0"/>
              <a:t>Trainer supervises internet research on relevant websites for items identified above, such as: </a:t>
            </a:r>
          </a:p>
          <a:p>
            <a:r>
              <a:rPr lang="en-AU" sz="1200" u="sng" kern="1200" dirty="0" smtClean="0">
                <a:solidFill>
                  <a:schemeClr val="tx1"/>
                </a:solidFill>
                <a:latin typeface="+mn-lt"/>
                <a:ea typeface="+mn-ea"/>
                <a:cs typeface="+mn-cs"/>
                <a:hlinkClick r:id="rId3"/>
              </a:rPr>
              <a:t>http://www.som.cranfield.ac.uk/som/dinamic-content/media/knowledgeinterchange/themedareas/innovation/key%20concepts/Bob_Lillis/index.htm</a:t>
            </a:r>
            <a:r>
              <a:rPr lang="en-AU" sz="1200" kern="1200" dirty="0" smtClean="0">
                <a:solidFill>
                  <a:schemeClr val="tx1"/>
                </a:solidFill>
                <a:latin typeface="+mn-lt"/>
                <a:ea typeface="+mn-ea"/>
                <a:cs typeface="+mn-cs"/>
              </a:rPr>
              <a:t> - The process and content of operations strategy</a:t>
            </a:r>
          </a:p>
          <a:p>
            <a:r>
              <a:rPr lang="en-AU" sz="1200" u="sng" kern="1200" dirty="0" smtClean="0">
                <a:solidFill>
                  <a:schemeClr val="tx1"/>
                </a:solidFill>
                <a:latin typeface="+mn-lt"/>
                <a:ea typeface="+mn-ea"/>
                <a:cs typeface="+mn-cs"/>
                <a:hlinkClick r:id="rId4"/>
              </a:rPr>
              <a:t>http://www.business.gov.au/business-topics/business-planning/marketing/Pages/5-ps-of-marketing.aspx</a:t>
            </a:r>
            <a:r>
              <a:rPr lang="en-AU" sz="1200" kern="1200" dirty="0" smtClean="0">
                <a:solidFill>
                  <a:schemeClr val="tx1"/>
                </a:solidFill>
                <a:latin typeface="+mn-lt"/>
                <a:ea typeface="+mn-ea"/>
                <a:cs typeface="+mn-cs"/>
              </a:rPr>
              <a:t> - The 5Ps of marketing.</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extLst>
      <p:ext uri="{BB962C8B-B14F-4D97-AF65-F5344CB8AC3E}">
        <p14:creationId xmlns:p14="http://schemas.microsoft.com/office/powerpoint/2010/main" val="21879109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indicates there </a:t>
            </a:r>
            <a:r>
              <a:rPr lang="en-AU" sz="1200" kern="1200" dirty="0" smtClean="0">
                <a:solidFill>
                  <a:schemeClr val="tx1"/>
                </a:solidFill>
                <a:latin typeface="+mn-lt"/>
                <a:ea typeface="+mn-ea"/>
                <a:cs typeface="+mn-cs"/>
              </a:rPr>
              <a:t>is no universally accepted format for the way in which operational policies and strategies are presented and organisations may:</a:t>
            </a:r>
          </a:p>
          <a:p>
            <a:pPr>
              <a:buFont typeface="Arial" pitchFamily="34" charset="0"/>
              <a:buChar char="•"/>
            </a:pPr>
            <a:r>
              <a:rPr lang="en-AU" sz="1200" kern="1200" dirty="0" smtClean="0">
                <a:solidFill>
                  <a:schemeClr val="tx1"/>
                </a:solidFill>
                <a:latin typeface="+mn-lt"/>
                <a:ea typeface="+mn-ea"/>
                <a:cs typeface="+mn-cs"/>
              </a:rPr>
              <a:t>Produce a simple single page document for each policy  </a:t>
            </a:r>
          </a:p>
          <a:p>
            <a:pPr>
              <a:buFont typeface="Arial" pitchFamily="34" charset="0"/>
              <a:buChar char="•"/>
            </a:pPr>
            <a:r>
              <a:rPr lang="en-AU" sz="1200" kern="1200" dirty="0" smtClean="0">
                <a:solidFill>
                  <a:schemeClr val="tx1"/>
                </a:solidFill>
                <a:latin typeface="+mn-lt"/>
                <a:ea typeface="+mn-ea"/>
                <a:cs typeface="+mn-cs"/>
              </a:rPr>
              <a:t>Produce a simple single page document for each strategy</a:t>
            </a:r>
          </a:p>
          <a:p>
            <a:pPr lvl="1">
              <a:buFont typeface="Arial" pitchFamily="34" charset="0"/>
              <a:buChar char="•"/>
            </a:pPr>
            <a:r>
              <a:rPr lang="en-AU" sz="1200" kern="1200" dirty="0" smtClean="0">
                <a:solidFill>
                  <a:schemeClr val="tx1"/>
                </a:solidFill>
                <a:latin typeface="+mn-lt"/>
                <a:ea typeface="+mn-ea"/>
                <a:cs typeface="+mn-cs"/>
              </a:rPr>
              <a:t>Some believe this is all that is necessary providing it covers all relevant requirements. In practice, people are more likely to read (and remember and follow/adhere to) a briefer policy than a longer and more complex one</a:t>
            </a:r>
          </a:p>
          <a:p>
            <a:pPr>
              <a:buFont typeface="Arial" pitchFamily="34" charset="0"/>
              <a:buChar char="•"/>
            </a:pPr>
            <a:r>
              <a:rPr lang="en-AU" sz="1200" kern="1200" dirty="0" smtClean="0">
                <a:solidFill>
                  <a:schemeClr val="tx1"/>
                </a:solidFill>
                <a:latin typeface="+mn-lt"/>
                <a:ea typeface="+mn-ea"/>
                <a:cs typeface="+mn-cs"/>
              </a:rPr>
              <a:t>Produce a unique document for a specific/important product or service</a:t>
            </a:r>
          </a:p>
          <a:p>
            <a:pPr>
              <a:buFont typeface="Arial" pitchFamily="34" charset="0"/>
              <a:buChar char="•"/>
            </a:pPr>
            <a:r>
              <a:rPr lang="en-AU" sz="1200" kern="1200" dirty="0" smtClean="0">
                <a:solidFill>
                  <a:schemeClr val="tx1"/>
                </a:solidFill>
                <a:latin typeface="+mn-lt"/>
                <a:ea typeface="+mn-ea"/>
                <a:cs typeface="+mn-cs"/>
              </a:rPr>
              <a:t>Use a Style Guide – with approved templates, examples and production guidelines to assist with preparing operational policies and strategies (and procedures).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p14="http://schemas.microsoft.com/office/powerpoint/2010/main" val="22757220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gives examples of topics which often have operational</a:t>
            </a:r>
            <a:r>
              <a:rPr lang="en-AU" baseline="0" noProof="0" dirty="0" smtClean="0"/>
              <a:t> policies prepared for them:</a:t>
            </a:r>
          </a:p>
          <a:p>
            <a:pPr>
              <a:buFont typeface="Arial" pitchFamily="34" charset="0"/>
              <a:buChar char="•"/>
            </a:pPr>
            <a:r>
              <a:rPr lang="en-AU" sz="1200" kern="1200" dirty="0" smtClean="0">
                <a:solidFill>
                  <a:schemeClr val="tx1"/>
                </a:solidFill>
                <a:latin typeface="+mn-lt"/>
                <a:ea typeface="+mn-ea"/>
                <a:cs typeface="+mn-cs"/>
              </a:rPr>
              <a:t>The environment – which may target:</a:t>
            </a:r>
          </a:p>
          <a:p>
            <a:pPr lvl="1">
              <a:buFont typeface="Arial" pitchFamily="34" charset="0"/>
              <a:buChar char="•"/>
            </a:pPr>
            <a:r>
              <a:rPr lang="en-US" sz="1200" kern="1200" dirty="0" smtClean="0">
                <a:solidFill>
                  <a:schemeClr val="tx1"/>
                </a:solidFill>
                <a:latin typeface="+mn-lt"/>
                <a:ea typeface="+mn-ea"/>
                <a:cs typeface="+mn-cs"/>
              </a:rPr>
              <a:t>Committing to the concept of ‘sustainability’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Reducing general/total waste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Introducing recycling of waste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Lowering power/utilities use </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Products and services – which may target: </a:t>
            </a:r>
          </a:p>
          <a:p>
            <a:pPr lvl="1">
              <a:buFont typeface="Arial" pitchFamily="34" charset="0"/>
              <a:buChar char="•"/>
            </a:pPr>
            <a:r>
              <a:rPr lang="en-AU" sz="1200" kern="1200" dirty="0" smtClean="0">
                <a:solidFill>
                  <a:schemeClr val="tx1"/>
                </a:solidFill>
                <a:latin typeface="+mn-lt"/>
                <a:ea typeface="+mn-ea"/>
                <a:cs typeface="+mn-cs"/>
              </a:rPr>
              <a:t>Generating new SOPs for production of items</a:t>
            </a:r>
          </a:p>
          <a:p>
            <a:pPr lvl="1">
              <a:buFont typeface="Arial" pitchFamily="34" charset="0"/>
              <a:buChar char="•"/>
            </a:pPr>
            <a:r>
              <a:rPr lang="en-AU" sz="1200" kern="1200" dirty="0" smtClean="0">
                <a:solidFill>
                  <a:schemeClr val="tx1"/>
                </a:solidFill>
                <a:latin typeface="+mn-lt"/>
                <a:ea typeface="+mn-ea"/>
                <a:cs typeface="+mn-cs"/>
              </a:rPr>
              <a:t>Revising protocols for delivery of nominated services</a:t>
            </a:r>
          </a:p>
          <a:p>
            <a:pPr lvl="1">
              <a:buFont typeface="Arial" pitchFamily="34" charset="0"/>
              <a:buChar char="•"/>
            </a:pPr>
            <a:r>
              <a:rPr lang="en-AU" sz="1200" kern="1200" dirty="0" smtClean="0">
                <a:solidFill>
                  <a:schemeClr val="tx1"/>
                </a:solidFill>
                <a:latin typeface="+mn-lt"/>
                <a:ea typeface="+mn-ea"/>
                <a:cs typeface="+mn-cs"/>
              </a:rPr>
              <a:t>Introducing new products and/or services</a:t>
            </a:r>
          </a:p>
          <a:p>
            <a:pPr lvl="1">
              <a:buFont typeface="Arial" pitchFamily="34" charset="0"/>
              <a:buChar char="•"/>
            </a:pPr>
            <a:r>
              <a:rPr lang="en-AU" sz="1200" kern="1200" dirty="0" smtClean="0">
                <a:solidFill>
                  <a:schemeClr val="tx1"/>
                </a:solidFill>
                <a:latin typeface="+mn-lt"/>
                <a:ea typeface="+mn-ea"/>
                <a:cs typeface="+mn-cs"/>
              </a:rPr>
              <a:t>Setting criteria and standards for targeted products and services</a:t>
            </a:r>
          </a:p>
          <a:p>
            <a:pPr lvl="1">
              <a:buFont typeface="Arial" pitchFamily="34" charset="0"/>
              <a:buChar char="•"/>
            </a:pPr>
            <a:r>
              <a:rPr lang="en-AU" sz="1200" kern="1200" dirty="0" smtClean="0">
                <a:solidFill>
                  <a:schemeClr val="tx1"/>
                </a:solidFill>
                <a:latin typeface="+mn-lt"/>
                <a:ea typeface="+mn-ea"/>
                <a:cs typeface="+mn-cs"/>
              </a:rPr>
              <a:t>Re-positioning/re-branding existing products and/or services in the marketplace</a:t>
            </a:r>
          </a:p>
          <a:p>
            <a:pPr lvl="1">
              <a:buFont typeface="Arial" pitchFamily="34" charset="0"/>
              <a:buChar char="•"/>
            </a:pPr>
            <a:r>
              <a:rPr lang="en-AU" sz="1200" kern="1200" dirty="0" smtClean="0">
                <a:solidFill>
                  <a:schemeClr val="tx1"/>
                </a:solidFill>
                <a:latin typeface="+mn-lt"/>
                <a:ea typeface="+mn-ea"/>
                <a:cs typeface="+mn-cs"/>
              </a:rPr>
              <a:t>Eliminating products and/or services which have reached the end of the their life cycle</a:t>
            </a:r>
          </a:p>
          <a:p>
            <a:pPr>
              <a:buFont typeface="Arial" pitchFamily="34" charset="0"/>
              <a:buChar char="•"/>
            </a:pPr>
            <a:r>
              <a:rPr lang="en-AU" sz="1200" kern="1200" dirty="0" smtClean="0">
                <a:solidFill>
                  <a:schemeClr val="tx1"/>
                </a:solidFill>
                <a:latin typeface="+mn-lt"/>
                <a:ea typeface="+mn-ea"/>
                <a:cs typeface="+mn-cs"/>
              </a:rPr>
              <a:t>Training – which may target:</a:t>
            </a:r>
          </a:p>
          <a:p>
            <a:pPr lvl="1">
              <a:buFont typeface="Arial" pitchFamily="34" charset="0"/>
              <a:buChar char="•"/>
            </a:pPr>
            <a:r>
              <a:rPr lang="en-AU" sz="1200" kern="1200" dirty="0" smtClean="0">
                <a:solidFill>
                  <a:schemeClr val="tx1"/>
                </a:solidFill>
                <a:latin typeface="+mn-lt"/>
                <a:ea typeface="+mn-ea"/>
                <a:cs typeface="+mn-cs"/>
              </a:rPr>
              <a:t>Determining training needs for all or selected workers or departments</a:t>
            </a:r>
          </a:p>
          <a:p>
            <a:pPr lvl="1">
              <a:buFont typeface="Arial" pitchFamily="34" charset="0"/>
              <a:buChar char="•"/>
            </a:pPr>
            <a:r>
              <a:rPr lang="en-AU" sz="1200" kern="1200" dirty="0" smtClean="0">
                <a:solidFill>
                  <a:schemeClr val="tx1"/>
                </a:solidFill>
                <a:latin typeface="+mn-lt"/>
                <a:ea typeface="+mn-ea"/>
                <a:cs typeface="+mn-cs"/>
              </a:rPr>
              <a:t>Conducting non-accredited internal training on the basis of the results from TNAs </a:t>
            </a:r>
          </a:p>
          <a:p>
            <a:pPr lvl="1">
              <a:buFont typeface="Arial" pitchFamily="34" charset="0"/>
              <a:buChar char="•"/>
            </a:pPr>
            <a:r>
              <a:rPr lang="en-AU" sz="1200" kern="1200" dirty="0" smtClean="0">
                <a:solidFill>
                  <a:schemeClr val="tx1"/>
                </a:solidFill>
                <a:latin typeface="+mn-lt"/>
                <a:ea typeface="+mn-ea"/>
                <a:cs typeface="+mn-cs"/>
              </a:rPr>
              <a:t>Using external providers to deliver identified accredited training courses</a:t>
            </a:r>
          </a:p>
          <a:p>
            <a:pPr lvl="1">
              <a:buFont typeface="Arial" pitchFamily="34" charset="0"/>
              <a:buChar char="•"/>
            </a:pPr>
            <a:r>
              <a:rPr lang="en-AU" sz="1200" kern="1200" dirty="0" smtClean="0">
                <a:solidFill>
                  <a:schemeClr val="tx1"/>
                </a:solidFill>
                <a:latin typeface="+mn-lt"/>
                <a:ea typeface="+mn-ea"/>
                <a:cs typeface="+mn-cs"/>
              </a:rPr>
              <a:t>Ensuring all staff in nominated departments achieve a minimum standard of relevant formal qualifications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extLst>
      <p:ext uri="{BB962C8B-B14F-4D97-AF65-F5344CB8AC3E}">
        <p14:creationId xmlns:p14="http://schemas.microsoft.com/office/powerpoint/2010/main" val="28632227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possible topics for operational policies:</a:t>
            </a:r>
          </a:p>
          <a:p>
            <a:pPr>
              <a:buFont typeface="Arial" pitchFamily="34" charset="0"/>
              <a:buChar char="•"/>
            </a:pPr>
            <a:r>
              <a:rPr lang="en-AU" sz="1200" kern="1200" dirty="0" smtClean="0">
                <a:solidFill>
                  <a:schemeClr val="tx1"/>
                </a:solidFill>
                <a:latin typeface="+mn-lt"/>
                <a:ea typeface="+mn-ea"/>
                <a:cs typeface="+mn-cs"/>
              </a:rPr>
              <a:t>Workplace relations – which may target:</a:t>
            </a:r>
          </a:p>
          <a:p>
            <a:pPr lvl="1">
              <a:buFont typeface="Arial" pitchFamily="34" charset="0"/>
              <a:buChar char="•"/>
            </a:pPr>
            <a:r>
              <a:rPr lang="en-AU" sz="1200" kern="1200" dirty="0" smtClean="0">
                <a:solidFill>
                  <a:schemeClr val="tx1"/>
                </a:solidFill>
                <a:latin typeface="+mn-lt"/>
                <a:ea typeface="+mn-ea"/>
                <a:cs typeface="+mn-cs"/>
              </a:rPr>
              <a:t>Describing minimum qualifications for workers for nominated positions</a:t>
            </a:r>
          </a:p>
          <a:p>
            <a:pPr lvl="1">
              <a:buFont typeface="Arial" pitchFamily="34" charset="0"/>
              <a:buChar char="•"/>
            </a:pPr>
            <a:r>
              <a:rPr lang="en-AU" sz="1200" kern="1200" dirty="0" smtClean="0">
                <a:solidFill>
                  <a:schemeClr val="tx1"/>
                </a:solidFill>
                <a:latin typeface="+mn-lt"/>
                <a:ea typeface="+mn-ea"/>
                <a:cs typeface="+mn-cs"/>
              </a:rPr>
              <a:t>Ensuring equity and diversity in staff recruitment and selection</a:t>
            </a:r>
          </a:p>
          <a:p>
            <a:pPr lvl="1">
              <a:buFont typeface="Arial" pitchFamily="34" charset="0"/>
              <a:buChar char="•"/>
            </a:pPr>
            <a:r>
              <a:rPr lang="en-AU" sz="1200" kern="1200" dirty="0" smtClean="0">
                <a:solidFill>
                  <a:schemeClr val="tx1"/>
                </a:solidFill>
                <a:latin typeface="+mn-lt"/>
                <a:ea typeface="+mn-ea"/>
                <a:cs typeface="+mn-cs"/>
              </a:rPr>
              <a:t>Guaranteeing professional development for the workforce</a:t>
            </a:r>
          </a:p>
          <a:p>
            <a:pPr lvl="1">
              <a:buFont typeface="Arial" pitchFamily="34" charset="0"/>
              <a:buChar char="•"/>
            </a:pPr>
            <a:r>
              <a:rPr lang="en-AU" sz="1200" kern="1200" dirty="0" smtClean="0">
                <a:solidFill>
                  <a:schemeClr val="tx1"/>
                </a:solidFill>
                <a:latin typeface="+mn-lt"/>
                <a:ea typeface="+mn-ea"/>
                <a:cs typeface="+mn-cs"/>
              </a:rPr>
              <a:t>Providing counselling and support for employees</a:t>
            </a:r>
          </a:p>
          <a:p>
            <a:pPr lvl="1">
              <a:buFont typeface="Arial" pitchFamily="34" charset="0"/>
              <a:buChar char="•"/>
            </a:pPr>
            <a:r>
              <a:rPr lang="en-AU" sz="1200" kern="1200" dirty="0" smtClean="0">
                <a:solidFill>
                  <a:schemeClr val="tx1"/>
                </a:solidFill>
                <a:latin typeface="+mn-lt"/>
                <a:ea typeface="+mn-ea"/>
                <a:cs typeface="+mn-cs"/>
              </a:rPr>
              <a:t>Requiring respect for others </a:t>
            </a:r>
          </a:p>
          <a:p>
            <a:pPr>
              <a:buFont typeface="Arial" pitchFamily="34" charset="0"/>
              <a:buChar char="•"/>
            </a:pPr>
            <a:r>
              <a:rPr lang="en-AU" sz="1200" kern="1200" dirty="0" smtClean="0">
                <a:solidFill>
                  <a:schemeClr val="tx1"/>
                </a:solidFill>
                <a:latin typeface="+mn-lt"/>
                <a:ea typeface="+mn-ea"/>
                <a:cs typeface="+mn-cs"/>
              </a:rPr>
              <a:t>Finance – which may target:</a:t>
            </a:r>
          </a:p>
          <a:p>
            <a:pPr lvl="1">
              <a:buFont typeface="Arial" pitchFamily="34" charset="0"/>
              <a:buChar char="•"/>
            </a:pPr>
            <a:r>
              <a:rPr lang="en-AU" sz="1200" kern="1200" dirty="0" smtClean="0">
                <a:solidFill>
                  <a:schemeClr val="tx1"/>
                </a:solidFill>
                <a:latin typeface="+mn-lt"/>
                <a:ea typeface="+mn-ea"/>
                <a:cs typeface="+mn-cs"/>
              </a:rPr>
              <a:t>Authorising use of funds and resources</a:t>
            </a:r>
          </a:p>
          <a:p>
            <a:pPr lvl="1">
              <a:buFont typeface="Arial" pitchFamily="34" charset="0"/>
              <a:buChar char="•"/>
            </a:pPr>
            <a:r>
              <a:rPr lang="en-AU" sz="1200" kern="1200" dirty="0" smtClean="0">
                <a:solidFill>
                  <a:schemeClr val="tx1"/>
                </a:solidFill>
                <a:latin typeface="+mn-lt"/>
                <a:ea typeface="+mn-ea"/>
                <a:cs typeface="+mn-cs"/>
              </a:rPr>
              <a:t>Operating bank accounts and investments</a:t>
            </a:r>
          </a:p>
          <a:p>
            <a:pPr lvl="1">
              <a:buFont typeface="Arial" pitchFamily="34" charset="0"/>
              <a:buChar char="•"/>
            </a:pPr>
            <a:r>
              <a:rPr lang="en-AU" sz="1200" kern="1200" dirty="0" smtClean="0">
                <a:solidFill>
                  <a:schemeClr val="tx1"/>
                </a:solidFill>
                <a:latin typeface="+mn-lt"/>
                <a:ea typeface="+mn-ea"/>
                <a:cs typeface="+mn-cs"/>
              </a:rPr>
              <a:t>Paying creditors </a:t>
            </a:r>
          </a:p>
          <a:p>
            <a:pPr lvl="1">
              <a:buFont typeface="Arial" pitchFamily="34" charset="0"/>
              <a:buChar char="•"/>
            </a:pPr>
            <a:r>
              <a:rPr lang="en-AU" sz="1200" kern="1200" dirty="0" smtClean="0">
                <a:solidFill>
                  <a:schemeClr val="tx1"/>
                </a:solidFill>
                <a:latin typeface="+mn-lt"/>
                <a:ea typeface="+mn-ea"/>
                <a:cs typeface="+mn-cs"/>
              </a:rPr>
              <a:t>Borrowing</a:t>
            </a:r>
          </a:p>
          <a:p>
            <a:pPr lvl="1">
              <a:buFont typeface="Arial" pitchFamily="34" charset="0"/>
              <a:buChar char="•"/>
            </a:pPr>
            <a:r>
              <a:rPr lang="en-AU" sz="1200" kern="1200" dirty="0" smtClean="0">
                <a:solidFill>
                  <a:schemeClr val="tx1"/>
                </a:solidFill>
                <a:latin typeface="+mn-lt"/>
                <a:ea typeface="+mn-ea"/>
                <a:cs typeface="+mn-cs"/>
              </a:rPr>
              <a:t>Collecting debts</a:t>
            </a:r>
          </a:p>
          <a:p>
            <a:pPr lvl="1">
              <a:buFont typeface="Arial" pitchFamily="34" charset="0"/>
              <a:buChar char="•"/>
            </a:pPr>
            <a:r>
              <a:rPr lang="en-AU" sz="1200" kern="1200" dirty="0" smtClean="0">
                <a:solidFill>
                  <a:schemeClr val="tx1"/>
                </a:solidFill>
                <a:latin typeface="+mn-lt"/>
                <a:ea typeface="+mn-ea"/>
                <a:cs typeface="+mn-cs"/>
              </a:rPr>
              <a:t>Purchasing</a:t>
            </a:r>
          </a:p>
          <a:p>
            <a:pPr>
              <a:buFont typeface="Arial" pitchFamily="34" charset="0"/>
              <a:buChar char="•"/>
            </a:pPr>
            <a:r>
              <a:rPr lang="en-AU" sz="1200" kern="1200" dirty="0" smtClean="0">
                <a:solidFill>
                  <a:schemeClr val="tx1"/>
                </a:solidFill>
                <a:latin typeface="+mn-lt"/>
                <a:ea typeface="+mn-ea"/>
                <a:cs typeface="+mn-cs"/>
              </a:rPr>
              <a:t>Asset management – which may target:</a:t>
            </a:r>
          </a:p>
          <a:p>
            <a:pPr lvl="1">
              <a:buFont typeface="Arial" pitchFamily="34" charset="0"/>
              <a:buChar char="•"/>
            </a:pPr>
            <a:r>
              <a:rPr lang="en-AU" sz="1200" kern="1200" dirty="0" smtClean="0">
                <a:solidFill>
                  <a:schemeClr val="tx1"/>
                </a:solidFill>
                <a:latin typeface="+mn-lt"/>
                <a:ea typeface="+mn-ea"/>
                <a:cs typeface="+mn-cs"/>
              </a:rPr>
              <a:t>Classifying assets</a:t>
            </a:r>
          </a:p>
          <a:p>
            <a:pPr lvl="1">
              <a:buFont typeface="Arial" pitchFamily="34" charset="0"/>
              <a:buChar char="•"/>
            </a:pPr>
            <a:r>
              <a:rPr lang="en-AU" sz="1200" kern="1200" dirty="0" smtClean="0">
                <a:solidFill>
                  <a:schemeClr val="tx1"/>
                </a:solidFill>
                <a:latin typeface="+mn-lt"/>
                <a:ea typeface="+mn-ea"/>
                <a:cs typeface="+mn-cs"/>
              </a:rPr>
              <a:t>Specifying authority to purchase or acquire assets</a:t>
            </a:r>
          </a:p>
          <a:p>
            <a:pPr lvl="1">
              <a:buFont typeface="Arial" pitchFamily="34" charset="0"/>
              <a:buChar char="•"/>
            </a:pPr>
            <a:r>
              <a:rPr lang="en-AU" sz="1200" kern="1200" dirty="0" smtClean="0">
                <a:solidFill>
                  <a:schemeClr val="tx1"/>
                </a:solidFill>
                <a:latin typeface="+mn-lt"/>
                <a:ea typeface="+mn-ea"/>
                <a:cs typeface="+mn-cs"/>
              </a:rPr>
              <a:t>Recording of assets</a:t>
            </a:r>
          </a:p>
          <a:p>
            <a:pPr lvl="1">
              <a:buFont typeface="Arial" pitchFamily="34" charset="0"/>
              <a:buChar char="•"/>
            </a:pPr>
            <a:r>
              <a:rPr lang="en-AU" sz="1200" kern="1200" dirty="0" smtClean="0">
                <a:solidFill>
                  <a:schemeClr val="tx1"/>
                </a:solidFill>
                <a:latin typeface="+mn-lt"/>
                <a:ea typeface="+mn-ea"/>
                <a:cs typeface="+mn-cs"/>
              </a:rPr>
              <a:t>Using the Assets Register</a:t>
            </a:r>
          </a:p>
          <a:p>
            <a:pPr lvl="1">
              <a:buFont typeface="Arial" pitchFamily="34" charset="0"/>
              <a:buChar char="•"/>
            </a:pPr>
            <a:r>
              <a:rPr lang="en-AU" sz="1200" kern="1200" dirty="0" smtClean="0">
                <a:solidFill>
                  <a:schemeClr val="tx1"/>
                </a:solidFill>
                <a:latin typeface="+mn-lt"/>
                <a:ea typeface="+mn-ea"/>
                <a:cs typeface="+mn-cs"/>
              </a:rPr>
              <a:t>Identifying asset management responsibilities</a:t>
            </a:r>
          </a:p>
          <a:p>
            <a:pPr lvl="1">
              <a:buFont typeface="Arial" pitchFamily="34" charset="0"/>
              <a:buChar char="•"/>
            </a:pPr>
            <a:r>
              <a:rPr lang="en-AU" sz="1200" kern="1200" dirty="0" smtClean="0">
                <a:solidFill>
                  <a:schemeClr val="tx1"/>
                </a:solidFill>
                <a:latin typeface="+mn-lt"/>
                <a:ea typeface="+mn-ea"/>
                <a:cs typeface="+mn-cs"/>
              </a:rPr>
              <a:t>Stocktaking</a:t>
            </a:r>
          </a:p>
          <a:p>
            <a:pPr lvl="1">
              <a:buFont typeface="Arial" pitchFamily="34" charset="0"/>
              <a:buChar char="•"/>
            </a:pPr>
            <a:r>
              <a:rPr lang="en-AU" sz="1200" kern="1200" dirty="0" smtClean="0">
                <a:solidFill>
                  <a:schemeClr val="tx1"/>
                </a:solidFill>
                <a:latin typeface="+mn-lt"/>
                <a:ea typeface="+mn-ea"/>
                <a:cs typeface="+mn-cs"/>
              </a:rPr>
              <a:t>Maintaining and securing assets.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extLst>
      <p:ext uri="{BB962C8B-B14F-4D97-AF65-F5344CB8AC3E}">
        <p14:creationId xmlns:p14="http://schemas.microsoft.com/office/powerpoint/2010/main" val="8506229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gives examples of topics which operational strategies may be developed for:</a:t>
            </a:r>
          </a:p>
          <a:p>
            <a:pPr>
              <a:buFont typeface="Arial" pitchFamily="34" charset="0"/>
              <a:buChar char="•"/>
            </a:pPr>
            <a:r>
              <a:rPr lang="en-AU" sz="1200" kern="1200" dirty="0" smtClean="0">
                <a:solidFill>
                  <a:schemeClr val="tx1"/>
                </a:solidFill>
                <a:latin typeface="+mn-lt"/>
                <a:ea typeface="+mn-ea"/>
                <a:cs typeface="+mn-cs"/>
              </a:rPr>
              <a:t>Client development – which may target:</a:t>
            </a:r>
          </a:p>
          <a:p>
            <a:pPr lvl="1">
              <a:buFont typeface="Arial" pitchFamily="34" charset="0"/>
              <a:buChar char="•"/>
            </a:pPr>
            <a:r>
              <a:rPr lang="en-AU" sz="1200" kern="1200" dirty="0" smtClean="0">
                <a:solidFill>
                  <a:schemeClr val="tx1"/>
                </a:solidFill>
                <a:latin typeface="+mn-lt"/>
                <a:ea typeface="+mn-ea"/>
                <a:cs typeface="+mn-cs"/>
              </a:rPr>
              <a:t>Increasing the number of actual users/customers/people who buy from the business</a:t>
            </a:r>
          </a:p>
          <a:p>
            <a:pPr lvl="1">
              <a:buFont typeface="Arial" pitchFamily="34" charset="0"/>
              <a:buChar char="•"/>
            </a:pPr>
            <a:r>
              <a:rPr lang="en-AU" sz="1200" kern="1200" dirty="0" smtClean="0">
                <a:solidFill>
                  <a:schemeClr val="tx1"/>
                </a:solidFill>
                <a:latin typeface="+mn-lt"/>
                <a:ea typeface="+mn-ea"/>
                <a:cs typeface="+mn-cs"/>
              </a:rPr>
              <a:t>Adding names to a ‘Prospects List’</a:t>
            </a:r>
          </a:p>
          <a:p>
            <a:pPr lvl="1">
              <a:buFont typeface="Arial" pitchFamily="34" charset="0"/>
              <a:buChar char="•"/>
            </a:pPr>
            <a:r>
              <a:rPr lang="en-AU" sz="1200" kern="1200" dirty="0" smtClean="0">
                <a:solidFill>
                  <a:schemeClr val="tx1"/>
                </a:solidFill>
                <a:latin typeface="+mn-lt"/>
                <a:ea typeface="+mn-ea"/>
                <a:cs typeface="+mn-cs"/>
              </a:rPr>
              <a:t>Growing the list of contacts on the CMS database</a:t>
            </a:r>
          </a:p>
          <a:p>
            <a:pPr lvl="1">
              <a:buFont typeface="Arial" pitchFamily="34" charset="0"/>
              <a:buChar char="•"/>
            </a:pPr>
            <a:r>
              <a:rPr lang="en-AU" sz="1200" kern="1200" dirty="0" smtClean="0">
                <a:solidFill>
                  <a:schemeClr val="tx1"/>
                </a:solidFill>
                <a:latin typeface="+mn-lt"/>
                <a:ea typeface="+mn-ea"/>
                <a:cs typeface="+mn-cs"/>
              </a:rPr>
              <a:t>Developing a new target market</a:t>
            </a:r>
          </a:p>
          <a:p>
            <a:pPr lvl="1">
              <a:buFont typeface="Arial" pitchFamily="34" charset="0"/>
              <a:buChar char="•"/>
            </a:pPr>
            <a:r>
              <a:rPr lang="en-AU" sz="1200" kern="1200" dirty="0" smtClean="0">
                <a:solidFill>
                  <a:schemeClr val="tx1"/>
                </a:solidFill>
                <a:latin typeface="+mn-lt"/>
                <a:ea typeface="+mn-ea"/>
                <a:cs typeface="+mn-cs"/>
              </a:rPr>
              <a:t>Transferring existing customers into new products and/or services </a:t>
            </a:r>
          </a:p>
          <a:p>
            <a:pPr>
              <a:buFont typeface="Arial" pitchFamily="34" charset="0"/>
              <a:buChar char="•"/>
            </a:pPr>
            <a:r>
              <a:rPr lang="en-AU" sz="1200" kern="1200" dirty="0" smtClean="0">
                <a:solidFill>
                  <a:schemeClr val="tx1"/>
                </a:solidFill>
                <a:latin typeface="+mn-lt"/>
                <a:ea typeface="+mn-ea"/>
                <a:cs typeface="+mn-cs"/>
              </a:rPr>
              <a:t>Geographic expansion – which may target:</a:t>
            </a:r>
          </a:p>
          <a:p>
            <a:pPr lvl="1">
              <a:buFont typeface="Arial" pitchFamily="34" charset="0"/>
              <a:buChar char="•"/>
            </a:pPr>
            <a:r>
              <a:rPr lang="en-AU" sz="1200" kern="1200" dirty="0" smtClean="0">
                <a:solidFill>
                  <a:schemeClr val="tx1"/>
                </a:solidFill>
                <a:latin typeface="+mn-lt"/>
                <a:ea typeface="+mn-ea"/>
                <a:cs typeface="+mn-cs"/>
              </a:rPr>
              <a:t>Entering new markets in identified countries</a:t>
            </a:r>
          </a:p>
          <a:p>
            <a:pPr lvl="1">
              <a:buFont typeface="Arial" pitchFamily="34" charset="0"/>
              <a:buChar char="•"/>
            </a:pPr>
            <a:r>
              <a:rPr lang="en-AU" sz="1200" kern="1200" dirty="0" smtClean="0">
                <a:solidFill>
                  <a:schemeClr val="tx1"/>
                </a:solidFill>
                <a:latin typeface="+mn-lt"/>
                <a:ea typeface="+mn-ea"/>
                <a:cs typeface="+mn-cs"/>
              </a:rPr>
              <a:t>Going global via online activities</a:t>
            </a:r>
          </a:p>
          <a:p>
            <a:pPr lvl="1">
              <a:buFont typeface="Arial" pitchFamily="34" charset="0"/>
              <a:buChar char="•"/>
            </a:pPr>
            <a:r>
              <a:rPr lang="en-AU" sz="1200" kern="1200" dirty="0" smtClean="0">
                <a:solidFill>
                  <a:schemeClr val="tx1"/>
                </a:solidFill>
                <a:latin typeface="+mn-lt"/>
                <a:ea typeface="+mn-ea"/>
                <a:cs typeface="+mn-cs"/>
              </a:rPr>
              <a:t>Starting up offices or agencies in new towns and/or countries</a:t>
            </a:r>
          </a:p>
          <a:p>
            <a:pPr lvl="1">
              <a:buFont typeface="Arial" pitchFamily="34" charset="0"/>
              <a:buChar char="•"/>
            </a:pPr>
            <a:r>
              <a:rPr lang="en-AU" sz="1200" kern="1200" dirty="0" smtClean="0">
                <a:solidFill>
                  <a:schemeClr val="tx1"/>
                </a:solidFill>
                <a:latin typeface="+mn-lt"/>
                <a:ea typeface="+mn-ea"/>
                <a:cs typeface="+mn-cs"/>
              </a:rPr>
              <a:t>Partnering with an existing company in identified ‘other countries’ or locations</a:t>
            </a:r>
          </a:p>
          <a:p>
            <a:pPr>
              <a:buFont typeface="Arial" pitchFamily="34" charset="0"/>
              <a:buChar char="•"/>
            </a:pPr>
            <a:r>
              <a:rPr lang="en-AU" sz="1200" kern="1200" dirty="0" smtClean="0">
                <a:solidFill>
                  <a:schemeClr val="tx1"/>
                </a:solidFill>
                <a:latin typeface="+mn-lt"/>
                <a:ea typeface="+mn-ea"/>
                <a:cs typeface="+mn-cs"/>
              </a:rPr>
              <a:t>Organisational growth – which may target:</a:t>
            </a:r>
          </a:p>
          <a:p>
            <a:pPr lvl="1">
              <a:buFont typeface="Arial" pitchFamily="34" charset="0"/>
              <a:buChar char="•"/>
            </a:pPr>
            <a:r>
              <a:rPr lang="en-AU" sz="1200" kern="1200" dirty="0" smtClean="0">
                <a:solidFill>
                  <a:schemeClr val="tx1"/>
                </a:solidFill>
                <a:latin typeface="+mn-lt"/>
                <a:ea typeface="+mn-ea"/>
                <a:cs typeface="+mn-cs"/>
              </a:rPr>
              <a:t>Building new building or refurbishing existing buildings</a:t>
            </a:r>
          </a:p>
          <a:p>
            <a:pPr lvl="1">
              <a:buFont typeface="Arial" pitchFamily="34" charset="0"/>
              <a:buChar char="•"/>
            </a:pPr>
            <a:r>
              <a:rPr lang="en-AU" sz="1200" kern="1200" dirty="0" smtClean="0">
                <a:solidFill>
                  <a:schemeClr val="tx1"/>
                </a:solidFill>
                <a:latin typeface="+mn-lt"/>
                <a:ea typeface="+mn-ea"/>
                <a:cs typeface="+mn-cs"/>
              </a:rPr>
              <a:t>Increasing staff numbers</a:t>
            </a:r>
          </a:p>
          <a:p>
            <a:pPr lvl="1">
              <a:buFont typeface="Arial" pitchFamily="34" charset="0"/>
              <a:buChar char="•"/>
            </a:pPr>
            <a:r>
              <a:rPr lang="en-AU" sz="1200" kern="1200" dirty="0" smtClean="0">
                <a:solidFill>
                  <a:schemeClr val="tx1"/>
                </a:solidFill>
                <a:latin typeface="+mn-lt"/>
                <a:ea typeface="+mn-ea"/>
                <a:cs typeface="+mn-cs"/>
              </a:rPr>
              <a:t>Adding new departments to the organisational structure</a:t>
            </a:r>
          </a:p>
          <a:p>
            <a:pPr lvl="1">
              <a:buFont typeface="Arial" pitchFamily="34" charset="0"/>
              <a:buChar char="•"/>
            </a:pPr>
            <a:r>
              <a:rPr lang="en-AU" sz="1200" kern="1200" dirty="0" smtClean="0">
                <a:solidFill>
                  <a:schemeClr val="tx1"/>
                </a:solidFill>
                <a:latin typeface="+mn-lt"/>
                <a:ea typeface="+mn-ea"/>
                <a:cs typeface="+mn-cs"/>
              </a:rPr>
              <a:t>Becoming a public/registered company</a:t>
            </a:r>
          </a:p>
          <a:p>
            <a:pPr lvl="1">
              <a:buFont typeface="Arial" pitchFamily="34" charset="0"/>
              <a:buChar char="•"/>
            </a:pPr>
            <a:r>
              <a:rPr lang="en-AU" sz="1200" kern="1200" dirty="0" smtClean="0">
                <a:solidFill>
                  <a:schemeClr val="tx1"/>
                </a:solidFill>
                <a:latin typeface="+mn-lt"/>
                <a:ea typeface="+mn-ea"/>
                <a:cs typeface="+mn-cs"/>
              </a:rPr>
              <a:t>Generating additional revenue/sales</a:t>
            </a:r>
          </a:p>
          <a:p>
            <a:pPr lvl="1">
              <a:buFont typeface="Arial" pitchFamily="34" charset="0"/>
              <a:buChar char="•"/>
            </a:pPr>
            <a:r>
              <a:rPr lang="en-AU" sz="1200" kern="1200" dirty="0" smtClean="0">
                <a:solidFill>
                  <a:schemeClr val="tx1"/>
                </a:solidFill>
                <a:latin typeface="+mn-lt"/>
                <a:ea typeface="+mn-ea"/>
                <a:cs typeface="+mn-cs"/>
              </a:rPr>
              <a:t>Introducing new products and services to the product mix</a:t>
            </a:r>
          </a:p>
          <a:p>
            <a:pPr lvl="1">
              <a:buFont typeface="Arial" pitchFamily="34" charset="0"/>
              <a:buChar char="•"/>
            </a:pPr>
            <a:r>
              <a:rPr lang="en-AU" sz="1200" kern="1200" dirty="0" smtClean="0">
                <a:solidFill>
                  <a:schemeClr val="tx1"/>
                </a:solidFill>
                <a:latin typeface="+mn-lt"/>
                <a:ea typeface="+mn-ea"/>
                <a:cs typeface="+mn-cs"/>
              </a:rPr>
              <a:t>Acquiring other/nominated businesses</a:t>
            </a:r>
          </a:p>
          <a:p>
            <a:pPr lvl="1">
              <a:buFont typeface="Arial" pitchFamily="34" charset="0"/>
              <a:buChar char="•"/>
            </a:pPr>
            <a:r>
              <a:rPr lang="en-AU" sz="1200" kern="1200" dirty="0" smtClean="0">
                <a:solidFill>
                  <a:schemeClr val="tx1"/>
                </a:solidFill>
                <a:latin typeface="+mn-lt"/>
                <a:ea typeface="+mn-ea"/>
                <a:cs typeface="+mn-cs"/>
              </a:rPr>
              <a:t>Entering new markets</a:t>
            </a:r>
          </a:p>
          <a:p>
            <a:pPr lvl="0">
              <a:buFont typeface="Arial" pitchFamily="34" charset="0"/>
              <a:buNone/>
            </a:pPr>
            <a:endParaRPr lang="en-AU" noProof="0" dirty="0" smtClean="0"/>
          </a:p>
          <a:p>
            <a:pPr>
              <a:buFont typeface="Arial" pitchFamily="34" charset="0"/>
              <a:buNone/>
            </a:pPr>
            <a:r>
              <a:rPr lang="en-US" b="1" baseline="0" noProof="0" dirty="0" smtClean="0"/>
              <a:t>Classroom Activity – Internet research </a:t>
            </a:r>
          </a:p>
          <a:p>
            <a:pPr>
              <a:buFont typeface="Arial" pitchFamily="34" charset="0"/>
              <a:buNone/>
            </a:pPr>
            <a:r>
              <a:rPr lang="en-US" b="0" baseline="0" noProof="0" dirty="0" smtClean="0"/>
              <a:t>Trainer supervises internet research on relevant websites for items identified above, such as: </a:t>
            </a:r>
          </a:p>
          <a:p>
            <a:r>
              <a:rPr lang="en-AU" sz="1200" u="sng" kern="1200" dirty="0" smtClean="0">
                <a:solidFill>
                  <a:schemeClr val="tx1"/>
                </a:solidFill>
                <a:latin typeface="+mn-lt"/>
                <a:ea typeface="+mn-ea"/>
                <a:cs typeface="+mn-cs"/>
                <a:hlinkClick r:id="rId3"/>
              </a:rPr>
              <a:t>http://policies.uws.edu.au/view.current.php?id=00086</a:t>
            </a:r>
            <a:r>
              <a:rPr lang="en-AU" sz="1200" kern="1200" dirty="0" smtClean="0">
                <a:solidFill>
                  <a:schemeClr val="tx1"/>
                </a:solidFill>
                <a:latin typeface="+mn-lt"/>
                <a:ea typeface="+mn-ea"/>
                <a:cs typeface="+mn-cs"/>
              </a:rPr>
              <a:t> – Asset management policy</a:t>
            </a:r>
          </a:p>
          <a:p>
            <a:r>
              <a:rPr lang="en-AU" sz="1200" u="sng" kern="1200" dirty="0" smtClean="0">
                <a:solidFill>
                  <a:schemeClr val="tx1"/>
                </a:solidFill>
                <a:latin typeface="+mn-lt"/>
                <a:ea typeface="+mn-ea"/>
                <a:cs typeface="+mn-cs"/>
                <a:hlinkClick r:id="rId4"/>
              </a:rPr>
              <a:t>http://www.business.vic.gov.au/money-profit-and-accounting/financial-processes-and-procedures/accounting-and-financial-policies-and-procedures</a:t>
            </a:r>
            <a:r>
              <a:rPr lang="en-AU" sz="1200" kern="1200" dirty="0" smtClean="0">
                <a:solidFill>
                  <a:schemeClr val="tx1"/>
                </a:solidFill>
                <a:latin typeface="+mn-lt"/>
                <a:ea typeface="+mn-ea"/>
                <a:cs typeface="+mn-cs"/>
              </a:rPr>
              <a:t> - Accounting and financial polices and procedures </a:t>
            </a:r>
          </a:p>
          <a:p>
            <a:r>
              <a:rPr lang="en-AU" sz="1200" u="sng" kern="1200" dirty="0" smtClean="0">
                <a:solidFill>
                  <a:schemeClr val="tx1"/>
                </a:solidFill>
                <a:latin typeface="+mn-lt"/>
                <a:ea typeface="+mn-ea"/>
                <a:cs typeface="+mn-cs"/>
                <a:hlinkClick r:id="rId5"/>
              </a:rPr>
              <a:t>https://mifosforge.jira.com/wiki/display/docs/Operational+Policy+Samples+for+Financial+Institutions</a:t>
            </a:r>
            <a:r>
              <a:rPr lang="en-AU" sz="1200" kern="1200" dirty="0" smtClean="0">
                <a:solidFill>
                  <a:schemeClr val="tx1"/>
                </a:solidFill>
                <a:latin typeface="+mn-lt"/>
                <a:ea typeface="+mn-ea"/>
                <a:cs typeface="+mn-cs"/>
              </a:rPr>
              <a:t> – Operational policy samples for financial institutions</a:t>
            </a:r>
          </a:p>
          <a:p>
            <a:pPr>
              <a:buFont typeface="Arial" pitchFamily="34" charset="0"/>
              <a:buNone/>
            </a:pPr>
            <a:endParaRPr lang="en-US" b="0"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extLst>
      <p:ext uri="{BB962C8B-B14F-4D97-AF65-F5344CB8AC3E}">
        <p14:creationId xmlns:p14="http://schemas.microsoft.com/office/powerpoint/2010/main" val="38376980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gives examples of topics which operational strategies may be developed for:</a:t>
            </a:r>
          </a:p>
          <a:p>
            <a:pPr>
              <a:buFont typeface="Arial" pitchFamily="34" charset="0"/>
              <a:buChar char="•"/>
            </a:pPr>
            <a:r>
              <a:rPr lang="en-AU" sz="1200" kern="1200" dirty="0" smtClean="0">
                <a:solidFill>
                  <a:schemeClr val="tx1"/>
                </a:solidFill>
                <a:latin typeface="+mn-lt"/>
                <a:ea typeface="+mn-ea"/>
                <a:cs typeface="+mn-cs"/>
              </a:rPr>
              <a:t>Service growth – which may target:</a:t>
            </a:r>
          </a:p>
          <a:p>
            <a:pPr lvl="1">
              <a:buFont typeface="Arial" pitchFamily="34" charset="0"/>
              <a:buChar char="•"/>
            </a:pPr>
            <a:r>
              <a:rPr lang="en-AU" sz="1200" kern="1200" dirty="0" smtClean="0">
                <a:solidFill>
                  <a:schemeClr val="tx1"/>
                </a:solidFill>
                <a:latin typeface="+mn-lt"/>
                <a:ea typeface="+mn-ea"/>
                <a:cs typeface="+mn-cs"/>
              </a:rPr>
              <a:t>Lifting service standards/criteria</a:t>
            </a:r>
          </a:p>
          <a:p>
            <a:pPr lvl="1">
              <a:buFont typeface="Arial" pitchFamily="34" charset="0"/>
              <a:buChar char="•"/>
            </a:pPr>
            <a:r>
              <a:rPr lang="en-AU" sz="1200" kern="1200" dirty="0" smtClean="0">
                <a:solidFill>
                  <a:schemeClr val="tx1"/>
                </a:solidFill>
                <a:latin typeface="+mn-lt"/>
                <a:ea typeface="+mn-ea"/>
                <a:cs typeface="+mn-cs"/>
              </a:rPr>
              <a:t>Introducing new services</a:t>
            </a:r>
          </a:p>
          <a:p>
            <a:pPr lvl="1">
              <a:buFont typeface="Arial" pitchFamily="34" charset="0"/>
              <a:buChar char="•"/>
            </a:pPr>
            <a:r>
              <a:rPr lang="en-AU" sz="1200" kern="1200" dirty="0" smtClean="0">
                <a:solidFill>
                  <a:schemeClr val="tx1"/>
                </a:solidFill>
                <a:latin typeface="+mn-lt"/>
                <a:ea typeface="+mn-ea"/>
                <a:cs typeface="+mn-cs"/>
              </a:rPr>
              <a:t>Improving service delivery</a:t>
            </a:r>
          </a:p>
          <a:p>
            <a:pPr lvl="1">
              <a:buFont typeface="Arial" pitchFamily="34" charset="0"/>
              <a:buChar char="•"/>
            </a:pPr>
            <a:r>
              <a:rPr lang="en-AU" sz="1200" kern="1200" dirty="0" smtClean="0">
                <a:solidFill>
                  <a:schemeClr val="tx1"/>
                </a:solidFill>
                <a:latin typeface="+mn-lt"/>
                <a:ea typeface="+mn-ea"/>
                <a:cs typeface="+mn-cs"/>
              </a:rPr>
              <a:t>Adding extra services to existing services/products</a:t>
            </a:r>
          </a:p>
          <a:p>
            <a:pPr>
              <a:buFont typeface="Arial" pitchFamily="34" charset="0"/>
              <a:buChar char="•"/>
            </a:pPr>
            <a:r>
              <a:rPr lang="en-AU" sz="1200" kern="1200" dirty="0" smtClean="0">
                <a:solidFill>
                  <a:schemeClr val="tx1"/>
                </a:solidFill>
                <a:latin typeface="+mn-lt"/>
                <a:ea typeface="+mn-ea"/>
                <a:cs typeface="+mn-cs"/>
              </a:rPr>
              <a:t>Debt reduction – which may target:</a:t>
            </a:r>
          </a:p>
          <a:p>
            <a:pPr lvl="1">
              <a:buFont typeface="Arial" pitchFamily="34" charset="0"/>
              <a:buChar char="•"/>
            </a:pPr>
            <a:r>
              <a:rPr lang="en-AU" sz="1200" kern="1200" dirty="0" smtClean="0">
                <a:solidFill>
                  <a:schemeClr val="tx1"/>
                </a:solidFill>
                <a:latin typeface="+mn-lt"/>
                <a:ea typeface="+mn-ea"/>
                <a:cs typeface="+mn-cs"/>
              </a:rPr>
              <a:t>Decreasing overall debt</a:t>
            </a:r>
          </a:p>
          <a:p>
            <a:pPr lvl="1">
              <a:buFont typeface="Arial" pitchFamily="34" charset="0"/>
              <a:buChar char="•"/>
            </a:pPr>
            <a:r>
              <a:rPr lang="en-AU" sz="1200" kern="1200" dirty="0" smtClean="0">
                <a:solidFill>
                  <a:schemeClr val="tx1"/>
                </a:solidFill>
                <a:latin typeface="+mn-lt"/>
                <a:ea typeface="+mn-ea"/>
                <a:cs typeface="+mn-cs"/>
              </a:rPr>
              <a:t>Obtaining lower interest rates for monies owed</a:t>
            </a:r>
          </a:p>
          <a:p>
            <a:pPr lvl="1">
              <a:buFont typeface="Arial" pitchFamily="34" charset="0"/>
              <a:buChar char="•"/>
            </a:pPr>
            <a:r>
              <a:rPr lang="en-AU" sz="1200" kern="1200" dirty="0" smtClean="0">
                <a:solidFill>
                  <a:schemeClr val="tx1"/>
                </a:solidFill>
                <a:latin typeface="+mn-lt"/>
                <a:ea typeface="+mn-ea"/>
                <a:cs typeface="+mn-cs"/>
              </a:rPr>
              <a:t>Paying off nominated loans</a:t>
            </a:r>
          </a:p>
          <a:p>
            <a:pPr lvl="1">
              <a:buFont typeface="Arial" pitchFamily="34" charset="0"/>
              <a:buChar char="•"/>
            </a:pPr>
            <a:r>
              <a:rPr lang="en-AU" sz="1200" kern="1200" dirty="0" smtClean="0">
                <a:solidFill>
                  <a:schemeClr val="tx1"/>
                </a:solidFill>
                <a:latin typeface="+mn-lt"/>
                <a:ea typeface="+mn-ea"/>
                <a:cs typeface="+mn-cs"/>
              </a:rPr>
              <a:t>Negotiating better deals for selected debts with nominated creditors</a:t>
            </a:r>
          </a:p>
          <a:p>
            <a:pPr>
              <a:buFont typeface="Arial" pitchFamily="34" charset="0"/>
              <a:buChar char="•"/>
            </a:pPr>
            <a:r>
              <a:rPr lang="en-AU" sz="1200" kern="1200" dirty="0" smtClean="0">
                <a:solidFill>
                  <a:schemeClr val="tx1"/>
                </a:solidFill>
                <a:latin typeface="+mn-lt"/>
                <a:ea typeface="+mn-ea"/>
                <a:cs typeface="+mn-cs"/>
              </a:rPr>
              <a:t>Income development – which may target:</a:t>
            </a:r>
          </a:p>
          <a:p>
            <a:pPr lvl="1">
              <a:buFont typeface="Arial" pitchFamily="34" charset="0"/>
              <a:buChar char="•"/>
            </a:pPr>
            <a:r>
              <a:rPr lang="en-AU" sz="1200" kern="1200" dirty="0" smtClean="0">
                <a:solidFill>
                  <a:schemeClr val="tx1"/>
                </a:solidFill>
                <a:latin typeface="+mn-lt"/>
                <a:ea typeface="+mn-ea"/>
                <a:cs typeface="+mn-cs"/>
              </a:rPr>
              <a:t>Increasing sales by volume/quantity of products/services sold</a:t>
            </a:r>
          </a:p>
          <a:p>
            <a:pPr lvl="1">
              <a:buFont typeface="Arial" pitchFamily="34" charset="0"/>
              <a:buChar char="•"/>
            </a:pPr>
            <a:r>
              <a:rPr lang="en-AU" sz="1200" kern="1200" dirty="0" smtClean="0">
                <a:solidFill>
                  <a:schemeClr val="tx1"/>
                </a:solidFill>
                <a:latin typeface="+mn-lt"/>
                <a:ea typeface="+mn-ea"/>
                <a:cs typeface="+mn-cs"/>
              </a:rPr>
              <a:t>Increasing sales using a nominated monetary unit</a:t>
            </a:r>
          </a:p>
          <a:p>
            <a:pPr lvl="1">
              <a:buFont typeface="Arial" pitchFamily="34" charset="0"/>
              <a:buChar char="•"/>
            </a:pPr>
            <a:r>
              <a:rPr lang="en-AU" sz="1200" kern="1200" dirty="0" smtClean="0">
                <a:solidFill>
                  <a:schemeClr val="tx1"/>
                </a:solidFill>
                <a:latin typeface="+mn-lt"/>
                <a:ea typeface="+mn-ea"/>
                <a:cs typeface="+mn-cs"/>
              </a:rPr>
              <a:t>Increasing profit by lowering costs</a:t>
            </a:r>
          </a:p>
          <a:p>
            <a:pPr lvl="1">
              <a:buFont typeface="Arial" pitchFamily="34" charset="0"/>
              <a:buChar char="•"/>
            </a:pPr>
            <a:r>
              <a:rPr lang="en-AU" sz="1200" kern="1200" dirty="0" smtClean="0">
                <a:solidFill>
                  <a:schemeClr val="tx1"/>
                </a:solidFill>
                <a:latin typeface="+mn-lt"/>
                <a:ea typeface="+mn-ea"/>
                <a:cs typeface="+mn-cs"/>
              </a:rPr>
              <a:t>Lowering costs by negotiating better deals with suppliers</a:t>
            </a:r>
          </a:p>
          <a:p>
            <a:pPr lvl="1">
              <a:buFont typeface="Arial" pitchFamily="34" charset="0"/>
              <a:buChar char="•"/>
            </a:pPr>
            <a:r>
              <a:rPr lang="en-AU" sz="1200" kern="1200" dirty="0" smtClean="0">
                <a:solidFill>
                  <a:schemeClr val="tx1"/>
                </a:solidFill>
                <a:latin typeface="+mn-lt"/>
                <a:ea typeface="+mn-ea"/>
                <a:cs typeface="+mn-cs"/>
              </a:rPr>
              <a:t>Lowering costs by identifying less expensive but suitable alternative raw materials.</a:t>
            </a:r>
          </a:p>
          <a:p>
            <a:pPr>
              <a:buFont typeface="Arial" pitchFamily="34" charset="0"/>
              <a:buNone/>
            </a:pPr>
            <a:endParaRPr lang="en-AU" noProof="0" dirty="0" smtClean="0"/>
          </a:p>
          <a:p>
            <a:pPr>
              <a:buFont typeface="Arial" pitchFamily="34" charset="0"/>
              <a:buNone/>
            </a:pPr>
            <a:r>
              <a:rPr lang="en-US" b="1" baseline="0" noProof="0" dirty="0" smtClean="0"/>
              <a:t>Classroom Activity – Internet research </a:t>
            </a:r>
          </a:p>
          <a:p>
            <a:pPr>
              <a:buFont typeface="Arial" pitchFamily="34" charset="0"/>
              <a:buNone/>
            </a:pPr>
            <a:r>
              <a:rPr lang="en-US" b="0" baseline="0" noProof="0" dirty="0" smtClean="0"/>
              <a:t>Trainer supervises internet research on relevant websites for items identified above, such as: </a:t>
            </a:r>
          </a:p>
          <a:p>
            <a:r>
              <a:rPr lang="en-AU" sz="1200" u="sng" kern="1200" dirty="0" smtClean="0">
                <a:solidFill>
                  <a:schemeClr val="tx1"/>
                </a:solidFill>
                <a:latin typeface="+mn-lt"/>
                <a:ea typeface="+mn-ea"/>
                <a:cs typeface="+mn-cs"/>
                <a:hlinkClick r:id="rId3"/>
              </a:rPr>
              <a:t>http://www.templatezone.com/download-free-ebook/office-policy-manual-reference-guide.pdf</a:t>
            </a:r>
            <a:r>
              <a:rPr lang="en-AU" sz="1200" kern="1200" dirty="0" smtClean="0">
                <a:solidFill>
                  <a:schemeClr val="tx1"/>
                </a:solidFill>
                <a:latin typeface="+mn-lt"/>
                <a:ea typeface="+mn-ea"/>
                <a:cs typeface="+mn-cs"/>
              </a:rPr>
              <a:t> - How to write a policy manual</a:t>
            </a:r>
          </a:p>
          <a:p>
            <a:r>
              <a:rPr lang="en-AU" sz="1200" u="sng" kern="1200" dirty="0" smtClean="0">
                <a:solidFill>
                  <a:schemeClr val="tx1"/>
                </a:solidFill>
                <a:latin typeface="+mn-lt"/>
                <a:ea typeface="+mn-ea"/>
                <a:cs typeface="+mn-cs"/>
                <a:hlinkClick r:id="rId4"/>
              </a:rPr>
              <a:t>http://smallbusiness.chron.com/operations-strategy-examples-24650.html</a:t>
            </a:r>
            <a:r>
              <a:rPr lang="en-AU" sz="1200" kern="1200" dirty="0" smtClean="0">
                <a:solidFill>
                  <a:schemeClr val="tx1"/>
                </a:solidFill>
                <a:latin typeface="+mn-lt"/>
                <a:ea typeface="+mn-ea"/>
                <a:cs typeface="+mn-cs"/>
              </a:rPr>
              <a:t> - Operations strategy examples</a:t>
            </a:r>
          </a:p>
          <a:p>
            <a:r>
              <a:rPr lang="en-AU" sz="1200" u="sng" kern="1200" dirty="0" smtClean="0">
                <a:solidFill>
                  <a:schemeClr val="tx1"/>
                </a:solidFill>
                <a:latin typeface="+mn-lt"/>
                <a:ea typeface="+mn-ea"/>
                <a:cs typeface="+mn-cs"/>
                <a:hlinkClick r:id="rId5"/>
              </a:rPr>
              <a:t>http://www.referenceforbusiness.com/management/Ob-Or/Operations-Strategy.html</a:t>
            </a:r>
            <a:r>
              <a:rPr lang="en-AU" sz="1200" kern="1200" dirty="0" smtClean="0">
                <a:solidFill>
                  <a:schemeClr val="tx1"/>
                </a:solidFill>
                <a:latin typeface="+mn-lt"/>
                <a:ea typeface="+mn-ea"/>
                <a:cs typeface="+mn-cs"/>
              </a:rPr>
              <a:t> -Operations strategy</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extLst>
      <p:ext uri="{BB962C8B-B14F-4D97-AF65-F5344CB8AC3E}">
        <p14:creationId xmlns:p14="http://schemas.microsoft.com/office/powerpoint/2010/main" val="241004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presents ways to </a:t>
            </a:r>
            <a:r>
              <a:rPr lang="en-AU" sz="1200" kern="1200" dirty="0" smtClean="0">
                <a:solidFill>
                  <a:schemeClr val="tx1"/>
                </a:solidFill>
                <a:latin typeface="+mn-lt"/>
                <a:ea typeface="+mn-ea"/>
                <a:cs typeface="+mn-cs"/>
              </a:rPr>
              <a:t>monitor workplace need when determining need for operational policies and strategies:</a:t>
            </a:r>
          </a:p>
          <a:p>
            <a:pPr>
              <a:buFont typeface="Arial" pitchFamily="34" charset="0"/>
              <a:buChar char="•"/>
            </a:pPr>
            <a:r>
              <a:rPr lang="en-AU" sz="1200" kern="1200" dirty="0" smtClean="0">
                <a:solidFill>
                  <a:schemeClr val="tx1"/>
                </a:solidFill>
                <a:latin typeface="+mn-lt"/>
                <a:ea typeface="+mn-ea"/>
                <a:cs typeface="+mn-cs"/>
              </a:rPr>
              <a:t>Encourage staff to identify areas for attention through a selection of communication and feedback mechanisms – such as Suggestion Boxes, staff meetings, ‘open door’ policy by management towards staff suggestions</a:t>
            </a:r>
          </a:p>
          <a:p>
            <a:pPr>
              <a:buFont typeface="Arial" pitchFamily="34" charset="0"/>
              <a:buChar char="•"/>
            </a:pPr>
            <a:r>
              <a:rPr lang="en-AU" sz="1200" kern="1200" dirty="0" smtClean="0">
                <a:solidFill>
                  <a:schemeClr val="tx1"/>
                </a:solidFill>
                <a:latin typeface="+mn-lt"/>
                <a:ea typeface="+mn-ea"/>
                <a:cs typeface="+mn-cs"/>
              </a:rPr>
              <a:t>Assess </a:t>
            </a:r>
            <a:r>
              <a:rPr lang="en-AU" sz="1200" i="1" kern="1200" dirty="0" smtClean="0">
                <a:solidFill>
                  <a:schemeClr val="tx1"/>
                </a:solidFill>
                <a:latin typeface="+mn-lt"/>
                <a:ea typeface="+mn-ea"/>
                <a:cs typeface="+mn-cs"/>
              </a:rPr>
              <a:t>actual</a:t>
            </a:r>
            <a:r>
              <a:rPr lang="en-AU" sz="1200" kern="1200" dirty="0" smtClean="0">
                <a:solidFill>
                  <a:schemeClr val="tx1"/>
                </a:solidFill>
                <a:latin typeface="+mn-lt"/>
                <a:ea typeface="+mn-ea"/>
                <a:cs typeface="+mn-cs"/>
              </a:rPr>
              <a:t> business performance (KPIs) against projected outcomes – to determine areas that require attention</a:t>
            </a:r>
          </a:p>
          <a:p>
            <a:pPr>
              <a:buFont typeface="Arial" pitchFamily="34" charset="0"/>
              <a:buChar char="•"/>
            </a:pPr>
            <a:r>
              <a:rPr lang="en-AU" sz="1200" kern="1200" dirty="0" smtClean="0">
                <a:solidFill>
                  <a:schemeClr val="tx1"/>
                </a:solidFill>
                <a:latin typeface="+mn-lt"/>
                <a:ea typeface="+mn-ea"/>
                <a:cs typeface="+mn-cs"/>
              </a:rPr>
              <a:t>Observe worker practice – comparing the competency being displayed and seeking operational issues impacting (as appropriate) service provision or product production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extLst>
      <p:ext uri="{BB962C8B-B14F-4D97-AF65-F5344CB8AC3E}">
        <p14:creationId xmlns:p14="http://schemas.microsoft.com/office/powerpoint/2010/main" val="8320591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presents ways to </a:t>
            </a:r>
            <a:r>
              <a:rPr lang="en-AU" sz="1200" kern="1200" dirty="0" smtClean="0">
                <a:solidFill>
                  <a:schemeClr val="tx1"/>
                </a:solidFill>
                <a:latin typeface="+mn-lt"/>
                <a:ea typeface="+mn-ea"/>
                <a:cs typeface="+mn-cs"/>
              </a:rPr>
              <a:t>monitor workplace need when determining need for operational policies and strategies:</a:t>
            </a:r>
          </a:p>
          <a:p>
            <a:pPr>
              <a:buFont typeface="Arial" pitchFamily="34" charset="0"/>
              <a:buChar char="•"/>
            </a:pPr>
            <a:r>
              <a:rPr lang="en-AU" sz="1200" kern="1200" dirty="0" smtClean="0">
                <a:solidFill>
                  <a:schemeClr val="tx1"/>
                </a:solidFill>
                <a:latin typeface="+mn-lt"/>
                <a:ea typeface="+mn-ea"/>
                <a:cs typeface="+mn-cs"/>
              </a:rPr>
              <a:t>Conduct workplace inspections – to determine the level of compliance with externally imposed legislated requirements as these apply to (for example) safety, environmental management, employment regulations and similar</a:t>
            </a:r>
          </a:p>
          <a:p>
            <a:pPr>
              <a:buFont typeface="Arial" pitchFamily="34" charset="0"/>
              <a:buChar char="•"/>
            </a:pPr>
            <a:r>
              <a:rPr lang="en-AU" sz="1200" kern="1200" dirty="0" smtClean="0">
                <a:solidFill>
                  <a:schemeClr val="tx1"/>
                </a:solidFill>
                <a:latin typeface="+mn-lt"/>
                <a:ea typeface="+mn-ea"/>
                <a:cs typeface="+mn-cs"/>
              </a:rPr>
              <a:t>Analyse workplace accidents and incidents – to identify if the causes indicate a need for action </a:t>
            </a:r>
          </a:p>
          <a:p>
            <a:pPr>
              <a:buFont typeface="Arial" pitchFamily="34" charset="0"/>
              <a:buChar char="•"/>
            </a:pPr>
            <a:r>
              <a:rPr lang="en-AU" sz="1200" kern="1200" dirty="0" smtClean="0">
                <a:solidFill>
                  <a:schemeClr val="tx1"/>
                </a:solidFill>
                <a:latin typeface="+mn-lt"/>
                <a:ea typeface="+mn-ea"/>
                <a:cs typeface="+mn-cs"/>
              </a:rPr>
              <a:t>Evaluate feedback received from customers – regarding complaints about service/products, suggestions for improvements and positive comments.</a:t>
            </a: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extLst>
      <p:ext uri="{BB962C8B-B14F-4D97-AF65-F5344CB8AC3E}">
        <p14:creationId xmlns:p14="http://schemas.microsoft.com/office/powerpoint/2010/main" val="30687621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identifies </a:t>
            </a:r>
            <a:r>
              <a:rPr lang="en-AU" sz="1200" kern="1200" dirty="0" smtClean="0">
                <a:solidFill>
                  <a:schemeClr val="tx1"/>
                </a:solidFill>
                <a:latin typeface="+mn-lt"/>
                <a:ea typeface="+mn-ea"/>
                <a:cs typeface="+mn-cs"/>
              </a:rPr>
              <a:t>monitoring to determine opportunities for improvements and innovation should:</a:t>
            </a:r>
          </a:p>
          <a:p>
            <a:pPr>
              <a:buFont typeface="Arial" pitchFamily="34" charset="0"/>
              <a:buChar char="•"/>
            </a:pPr>
            <a:r>
              <a:rPr lang="en-AU" sz="1200" kern="1200" dirty="0" smtClean="0">
                <a:solidFill>
                  <a:schemeClr val="tx1"/>
                </a:solidFill>
                <a:latin typeface="+mn-lt"/>
                <a:ea typeface="+mn-ea"/>
                <a:cs typeface="+mn-cs"/>
              </a:rPr>
              <a:t>Consider the </a:t>
            </a:r>
            <a:r>
              <a:rPr lang="en-AU" sz="1200" i="1" kern="1200" dirty="0" smtClean="0">
                <a:solidFill>
                  <a:schemeClr val="tx1"/>
                </a:solidFill>
                <a:latin typeface="+mn-lt"/>
                <a:ea typeface="+mn-ea"/>
                <a:cs typeface="+mn-cs"/>
              </a:rPr>
              <a:t>internal</a:t>
            </a:r>
            <a:r>
              <a:rPr lang="en-AU" sz="1200" kern="1200" dirty="0" smtClean="0">
                <a:solidFill>
                  <a:schemeClr val="tx1"/>
                </a:solidFill>
                <a:latin typeface="+mn-lt"/>
                <a:ea typeface="+mn-ea"/>
                <a:cs typeface="+mn-cs"/>
              </a:rPr>
              <a:t> environment – of the organisation, by looking inwards towards what is happening within the business in terms of (for example):</a:t>
            </a:r>
          </a:p>
          <a:p>
            <a:pPr lvl="1">
              <a:buFont typeface="Arial" pitchFamily="34" charset="0"/>
              <a:buChar char="•"/>
            </a:pPr>
            <a:r>
              <a:rPr lang="en-US" sz="1200" kern="1200" dirty="0" smtClean="0">
                <a:solidFill>
                  <a:schemeClr val="tx1"/>
                </a:solidFill>
                <a:latin typeface="+mn-lt"/>
                <a:ea typeface="+mn-ea"/>
                <a:cs typeface="+mn-cs"/>
              </a:rPr>
              <a:t>New, different and/or updated skills held by staff</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New, different and/or updated equipment and/or production processes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New, different and/or updated financial resources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New, different and/or updated knowledge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Changes which may have been made to organisational plans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Alterations to business targets. goals and objectives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Identified actual (or potential) issues related to accidents, injury, error, near misses, complaints, compliments, faults, defects and failure to attain projected targets. </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Consider the </a:t>
            </a:r>
            <a:r>
              <a:rPr lang="en-AU" sz="1200" i="1" kern="1200" dirty="0" smtClean="0">
                <a:solidFill>
                  <a:schemeClr val="tx1"/>
                </a:solidFill>
                <a:latin typeface="+mn-lt"/>
                <a:ea typeface="+mn-ea"/>
                <a:cs typeface="+mn-cs"/>
              </a:rPr>
              <a:t>external</a:t>
            </a:r>
            <a:r>
              <a:rPr lang="en-AU" sz="1200" kern="1200" dirty="0" smtClean="0">
                <a:solidFill>
                  <a:schemeClr val="tx1"/>
                </a:solidFill>
                <a:latin typeface="+mn-lt"/>
                <a:ea typeface="+mn-ea"/>
                <a:cs typeface="+mn-cs"/>
              </a:rPr>
              <a:t> environment – of the business environment in which the organisation operates in terms of (for example):</a:t>
            </a:r>
          </a:p>
          <a:p>
            <a:pPr lvl="1">
              <a:buFont typeface="Arial" pitchFamily="34" charset="0"/>
              <a:buChar char="•"/>
            </a:pPr>
            <a:r>
              <a:rPr lang="en-AU" sz="1200" kern="1200" dirty="0" smtClean="0">
                <a:solidFill>
                  <a:schemeClr val="tx1"/>
                </a:solidFill>
                <a:latin typeface="+mn-lt"/>
                <a:ea typeface="+mn-ea"/>
                <a:cs typeface="+mn-cs"/>
              </a:rPr>
              <a:t>New markets – emerging as new products are invented/developed and/or as ‘old’ products finish their life cycle </a:t>
            </a:r>
          </a:p>
          <a:p>
            <a:pPr lvl="1">
              <a:buFont typeface="Arial" pitchFamily="34" charset="0"/>
              <a:buChar char="•"/>
            </a:pPr>
            <a:r>
              <a:rPr lang="en-AU" sz="1200" kern="1200" dirty="0" smtClean="0">
                <a:solidFill>
                  <a:schemeClr val="tx1"/>
                </a:solidFill>
                <a:latin typeface="+mn-lt"/>
                <a:ea typeface="+mn-ea"/>
                <a:cs typeface="+mn-cs"/>
              </a:rPr>
              <a:t>Shifts in customer needs, wants and preferences – as these alter over time given the dynamic nature of public demand</a:t>
            </a:r>
          </a:p>
          <a:p>
            <a:pPr lvl="1">
              <a:buFont typeface="Arial" pitchFamily="34" charset="0"/>
              <a:buChar char="•"/>
            </a:pPr>
            <a:r>
              <a:rPr lang="en-AU" sz="1200" kern="1200" dirty="0" smtClean="0">
                <a:solidFill>
                  <a:schemeClr val="tx1"/>
                </a:solidFill>
                <a:latin typeface="+mn-lt"/>
                <a:ea typeface="+mn-ea"/>
                <a:cs typeface="+mn-cs"/>
              </a:rPr>
              <a:t>Action being taken by competitors – such as new products being introduced into the market or promotional activities to attract business</a:t>
            </a:r>
          </a:p>
          <a:p>
            <a:pPr lvl="1">
              <a:buFont typeface="Arial" pitchFamily="34" charset="0"/>
              <a:buChar char="•"/>
            </a:pPr>
            <a:r>
              <a:rPr lang="en-AU" sz="1200" kern="1200" dirty="0" smtClean="0">
                <a:solidFill>
                  <a:schemeClr val="tx1"/>
                </a:solidFill>
                <a:latin typeface="+mn-lt"/>
                <a:ea typeface="+mn-ea"/>
                <a:cs typeface="+mn-cs"/>
              </a:rPr>
              <a:t>Changes to legislation – which cause mandatory alterations to products/services and/or the way the organisation is forced to conduct its operations</a:t>
            </a:r>
          </a:p>
          <a:p>
            <a:pPr lvl="1">
              <a:buFont typeface="Arial" pitchFamily="34" charset="0"/>
              <a:buChar char="•"/>
            </a:pPr>
            <a:r>
              <a:rPr lang="en-AU" sz="1200" kern="1200" dirty="0" smtClean="0">
                <a:solidFill>
                  <a:schemeClr val="tx1"/>
                </a:solidFill>
                <a:latin typeface="+mn-lt"/>
                <a:ea typeface="+mn-ea"/>
                <a:cs typeface="+mn-cs"/>
              </a:rPr>
              <a:t>New technologies – which introduce an opportunity to provide a service or produce a product in a novel, more efficient, less expensive or better way.</a:t>
            </a:r>
          </a:p>
          <a:p>
            <a:pPr lvl="1">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extLst>
      <p:ext uri="{BB962C8B-B14F-4D97-AF65-F5344CB8AC3E}">
        <p14:creationId xmlns:p14="http://schemas.microsoft.com/office/powerpoint/2010/main" val="185835306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in </a:t>
            </a:r>
            <a:r>
              <a:rPr lang="en-AU" sz="1200" kern="1200" dirty="0" smtClean="0">
                <a:solidFill>
                  <a:schemeClr val="tx1"/>
                </a:solidFill>
                <a:latin typeface="+mn-lt"/>
                <a:ea typeface="+mn-ea"/>
                <a:cs typeface="+mn-cs"/>
              </a:rPr>
              <a:t>this context ‘required initiatives’ can be seen as any action to be taken by the organisation to:</a:t>
            </a:r>
          </a:p>
          <a:p>
            <a:pPr>
              <a:buFont typeface="Arial" pitchFamily="34" charset="0"/>
              <a:buChar char="•"/>
            </a:pPr>
            <a:r>
              <a:rPr lang="en-AU" sz="1200" kern="1200" dirty="0" smtClean="0">
                <a:solidFill>
                  <a:schemeClr val="tx1"/>
                </a:solidFill>
                <a:latin typeface="+mn-lt"/>
                <a:ea typeface="+mn-ea"/>
                <a:cs typeface="+mn-cs"/>
              </a:rPr>
              <a:t>Address an identified operational threat or weakness </a:t>
            </a:r>
          </a:p>
          <a:p>
            <a:pPr>
              <a:buFont typeface="Arial" pitchFamily="34" charset="0"/>
              <a:buChar char="•"/>
            </a:pPr>
            <a:r>
              <a:rPr lang="en-AU" sz="1200" kern="1200" dirty="0" smtClean="0">
                <a:solidFill>
                  <a:schemeClr val="tx1"/>
                </a:solidFill>
                <a:latin typeface="+mn-lt"/>
                <a:ea typeface="+mn-ea"/>
                <a:cs typeface="+mn-cs"/>
              </a:rPr>
              <a:t>Capitalise on an identified strength or opportunity.</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extLst>
      <p:ext uri="{BB962C8B-B14F-4D97-AF65-F5344CB8AC3E}">
        <p14:creationId xmlns:p14="http://schemas.microsoft.com/office/powerpoint/2010/main" val="409954661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a:t>
            </a:r>
            <a:r>
              <a:rPr lang="en-AU" sz="1200" kern="1200" dirty="0" smtClean="0">
                <a:solidFill>
                  <a:schemeClr val="tx1"/>
                </a:solidFill>
                <a:latin typeface="+mn-lt"/>
                <a:ea typeface="+mn-ea"/>
                <a:cs typeface="+mn-cs"/>
              </a:rPr>
              <a:t>‘Scope’ refers to the </a:t>
            </a:r>
            <a:r>
              <a:rPr lang="en-AU" sz="1200" i="1" kern="1200" dirty="0" smtClean="0">
                <a:solidFill>
                  <a:schemeClr val="tx1"/>
                </a:solidFill>
                <a:latin typeface="+mn-lt"/>
                <a:ea typeface="+mn-ea"/>
                <a:cs typeface="+mn-cs"/>
              </a:rPr>
              <a:t>limitations</a:t>
            </a:r>
            <a:r>
              <a:rPr lang="en-AU" sz="1200" kern="1200" dirty="0" smtClean="0">
                <a:solidFill>
                  <a:schemeClr val="tx1"/>
                </a:solidFill>
                <a:latin typeface="+mn-lt"/>
                <a:ea typeface="+mn-ea"/>
                <a:cs typeface="+mn-cs"/>
              </a:rPr>
              <a:t> which apply to a policy.</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The scope of a policy therefore:</a:t>
            </a:r>
          </a:p>
          <a:p>
            <a:pPr>
              <a:buFont typeface="Arial" pitchFamily="34" charset="0"/>
              <a:buChar char="•"/>
            </a:pPr>
            <a:r>
              <a:rPr lang="en-AU" sz="1200" kern="1200" dirty="0" smtClean="0">
                <a:solidFill>
                  <a:schemeClr val="tx1"/>
                </a:solidFill>
                <a:latin typeface="+mn-lt"/>
                <a:ea typeface="+mn-ea"/>
                <a:cs typeface="+mn-cs"/>
              </a:rPr>
              <a:t>Defines its reach</a:t>
            </a:r>
          </a:p>
          <a:p>
            <a:pPr>
              <a:buFont typeface="Arial" pitchFamily="34" charset="0"/>
              <a:buChar char="•"/>
            </a:pPr>
            <a:r>
              <a:rPr lang="en-AU" sz="1200" kern="1200" dirty="0" smtClean="0">
                <a:solidFill>
                  <a:schemeClr val="tx1"/>
                </a:solidFill>
                <a:latin typeface="+mn-lt"/>
                <a:ea typeface="+mn-ea"/>
                <a:cs typeface="+mn-cs"/>
              </a:rPr>
              <a:t>Restricts its use</a:t>
            </a:r>
          </a:p>
          <a:p>
            <a:pPr>
              <a:buFont typeface="Arial" pitchFamily="34" charset="0"/>
              <a:buChar char="•"/>
            </a:pPr>
            <a:r>
              <a:rPr lang="en-AU" sz="1200" kern="1200" dirty="0" smtClean="0">
                <a:solidFill>
                  <a:schemeClr val="tx1"/>
                </a:solidFill>
                <a:latin typeface="+mn-lt"/>
                <a:ea typeface="+mn-ea"/>
                <a:cs typeface="+mn-cs"/>
              </a:rPr>
              <a:t>Prescribes the framework and context in which it is to be applied.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extLst>
      <p:ext uri="{BB962C8B-B14F-4D97-AF65-F5344CB8AC3E}">
        <p14:creationId xmlns:p14="http://schemas.microsoft.com/office/powerpoint/2010/main" val="113384989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notes </a:t>
            </a:r>
            <a:r>
              <a:rPr lang="en-AU" sz="1200" kern="1200" dirty="0" smtClean="0">
                <a:solidFill>
                  <a:schemeClr val="tx1"/>
                </a:solidFill>
                <a:latin typeface="+mn-lt"/>
                <a:ea typeface="+mn-ea"/>
                <a:cs typeface="+mn-cs"/>
              </a:rPr>
              <a:t>in practice the scope for a policy may be:</a:t>
            </a:r>
          </a:p>
          <a:p>
            <a:pPr>
              <a:buFont typeface="Arial" pitchFamily="34" charset="0"/>
              <a:buChar char="•"/>
            </a:pPr>
            <a:r>
              <a:rPr lang="en-AU" sz="1200" kern="1200" dirty="0" smtClean="0">
                <a:solidFill>
                  <a:schemeClr val="tx1"/>
                </a:solidFill>
                <a:latin typeface="+mn-lt"/>
                <a:ea typeface="+mn-ea"/>
                <a:cs typeface="+mn-cs"/>
              </a:rPr>
              <a:t>A named individual or nominated group of individuals – instead of </a:t>
            </a:r>
            <a:r>
              <a:rPr lang="en-AU" sz="1200" i="1" kern="1200" dirty="0" smtClean="0">
                <a:solidFill>
                  <a:schemeClr val="tx1"/>
                </a:solidFill>
                <a:latin typeface="+mn-lt"/>
                <a:ea typeface="+mn-ea"/>
                <a:cs typeface="+mn-cs"/>
              </a:rPr>
              <a:t>all</a:t>
            </a:r>
            <a:r>
              <a:rPr lang="en-AU" sz="1200" kern="1200" dirty="0" smtClean="0">
                <a:solidFill>
                  <a:schemeClr val="tx1"/>
                </a:solidFill>
                <a:latin typeface="+mn-lt"/>
                <a:ea typeface="+mn-ea"/>
                <a:cs typeface="+mn-cs"/>
              </a:rPr>
              <a:t> employees, persons or customers</a:t>
            </a:r>
          </a:p>
          <a:p>
            <a:pPr>
              <a:buFont typeface="Arial" pitchFamily="34" charset="0"/>
              <a:buChar char="•"/>
            </a:pPr>
            <a:r>
              <a:rPr lang="en-AU" sz="1200" kern="1200" dirty="0" smtClean="0">
                <a:solidFill>
                  <a:schemeClr val="tx1"/>
                </a:solidFill>
                <a:latin typeface="+mn-lt"/>
                <a:ea typeface="+mn-ea"/>
                <a:cs typeface="+mn-cs"/>
              </a:rPr>
              <a:t>A certain department or area of an organisation – instead of </a:t>
            </a:r>
            <a:r>
              <a:rPr lang="en-AU" sz="1200" i="1" kern="1200" dirty="0" smtClean="0">
                <a:solidFill>
                  <a:schemeClr val="tx1"/>
                </a:solidFill>
                <a:latin typeface="+mn-lt"/>
                <a:ea typeface="+mn-ea"/>
                <a:cs typeface="+mn-cs"/>
              </a:rPr>
              <a:t>all</a:t>
            </a:r>
            <a:r>
              <a:rPr lang="en-AU" sz="1200" kern="1200" dirty="0" smtClean="0">
                <a:solidFill>
                  <a:schemeClr val="tx1"/>
                </a:solidFill>
                <a:latin typeface="+mn-lt"/>
                <a:ea typeface="+mn-ea"/>
                <a:cs typeface="+mn-cs"/>
              </a:rPr>
              <a:t> workplace divisions</a:t>
            </a:r>
          </a:p>
          <a:p>
            <a:pPr>
              <a:buFont typeface="Arial" pitchFamily="34" charset="0"/>
              <a:buChar char="•"/>
            </a:pPr>
            <a:r>
              <a:rPr lang="en-AU" sz="1200" kern="1200" dirty="0" smtClean="0">
                <a:solidFill>
                  <a:schemeClr val="tx1"/>
                </a:solidFill>
                <a:latin typeface="+mn-lt"/>
                <a:ea typeface="+mn-ea"/>
                <a:cs typeface="+mn-cs"/>
              </a:rPr>
              <a:t>A specific office or agency of the organisation – instead of </a:t>
            </a:r>
            <a:r>
              <a:rPr lang="en-AU" sz="1200" i="1" kern="1200" dirty="0" smtClean="0">
                <a:solidFill>
                  <a:schemeClr val="tx1"/>
                </a:solidFill>
                <a:latin typeface="+mn-lt"/>
                <a:ea typeface="+mn-ea"/>
                <a:cs typeface="+mn-cs"/>
              </a:rPr>
              <a:t>all </a:t>
            </a:r>
            <a:r>
              <a:rPr lang="en-AU" sz="1200" kern="1200" dirty="0" smtClean="0">
                <a:solidFill>
                  <a:schemeClr val="tx1"/>
                </a:solidFill>
                <a:latin typeface="+mn-lt"/>
                <a:ea typeface="+mn-ea"/>
                <a:cs typeface="+mn-cs"/>
              </a:rPr>
              <a:t>physical locations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extLst>
      <p:ext uri="{BB962C8B-B14F-4D97-AF65-F5344CB8AC3E}">
        <p14:creationId xmlns:p14="http://schemas.microsoft.com/office/powerpoint/2010/main" val="210200074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notes </a:t>
            </a:r>
            <a:r>
              <a:rPr lang="en-AU" sz="1200" kern="1200" dirty="0" smtClean="0">
                <a:solidFill>
                  <a:schemeClr val="tx1"/>
                </a:solidFill>
                <a:latin typeface="+mn-lt"/>
                <a:ea typeface="+mn-ea"/>
                <a:cs typeface="+mn-cs"/>
              </a:rPr>
              <a:t>in practice the scope for a policy may be:</a:t>
            </a:r>
          </a:p>
          <a:p>
            <a:pPr>
              <a:buFont typeface="Arial" pitchFamily="34" charset="0"/>
              <a:buChar char="•"/>
            </a:pPr>
            <a:r>
              <a:rPr lang="en-AU" sz="1200" kern="1200" dirty="0" smtClean="0">
                <a:solidFill>
                  <a:schemeClr val="tx1"/>
                </a:solidFill>
                <a:latin typeface="+mn-lt"/>
                <a:ea typeface="+mn-ea"/>
                <a:cs typeface="+mn-cs"/>
              </a:rPr>
              <a:t>A stated time of the year – which may be described by dates or in some other industry-appropriate or industry-relevant manner</a:t>
            </a:r>
          </a:p>
          <a:p>
            <a:pPr>
              <a:buFont typeface="Arial" pitchFamily="34" charset="0"/>
              <a:buChar char="•"/>
            </a:pPr>
            <a:r>
              <a:rPr lang="en-AU" sz="1200" kern="1200" dirty="0" smtClean="0">
                <a:solidFill>
                  <a:schemeClr val="tx1"/>
                </a:solidFill>
                <a:latin typeface="+mn-lt"/>
                <a:ea typeface="+mn-ea"/>
                <a:cs typeface="+mn-cs"/>
              </a:rPr>
              <a:t>A geographic location – such as a given country, region or destination</a:t>
            </a:r>
          </a:p>
          <a:p>
            <a:pPr>
              <a:buFont typeface="Arial" pitchFamily="34" charset="0"/>
              <a:buChar char="•"/>
            </a:pPr>
            <a:r>
              <a:rPr lang="en-AU" sz="1200" kern="1200" dirty="0" smtClean="0">
                <a:solidFill>
                  <a:schemeClr val="tx1"/>
                </a:solidFill>
                <a:latin typeface="+mn-lt"/>
                <a:ea typeface="+mn-ea"/>
                <a:cs typeface="+mn-cs"/>
              </a:rPr>
              <a:t>Time-related – detailing times of the day when the policy applies, and times when it does not.</a:t>
            </a: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extLst>
      <p:ext uri="{BB962C8B-B14F-4D97-AF65-F5344CB8AC3E}">
        <p14:creationId xmlns:p14="http://schemas.microsoft.com/office/powerpoint/2010/main" val="243837112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observes </a:t>
            </a:r>
            <a:r>
              <a:rPr lang="en-AU" sz="1200" kern="1200" dirty="0" smtClean="0">
                <a:solidFill>
                  <a:schemeClr val="tx1"/>
                </a:solidFill>
                <a:latin typeface="+mn-lt"/>
                <a:ea typeface="+mn-ea"/>
                <a:cs typeface="+mn-cs"/>
              </a:rPr>
              <a:t>‘Objectives’ for a policy refer to the aims of the policy.</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The objectives should:</a:t>
            </a:r>
          </a:p>
          <a:p>
            <a:pPr>
              <a:buFont typeface="Arial" pitchFamily="34" charset="0"/>
              <a:buChar char="•"/>
            </a:pPr>
            <a:r>
              <a:rPr lang="en-AU" sz="1200" kern="1200" dirty="0" smtClean="0">
                <a:solidFill>
                  <a:schemeClr val="tx1"/>
                </a:solidFill>
                <a:latin typeface="+mn-lt"/>
                <a:ea typeface="+mn-ea"/>
                <a:cs typeface="+mn-cs"/>
              </a:rPr>
              <a:t>Quantify issues which are central to the policy – and which are to be evaluated in terms of:</a:t>
            </a:r>
          </a:p>
          <a:p>
            <a:pPr lvl="1">
              <a:buFont typeface="Arial" pitchFamily="34" charset="0"/>
              <a:buChar char="•"/>
            </a:pPr>
            <a:r>
              <a:rPr lang="en-US" sz="1200" kern="1200" dirty="0" smtClean="0">
                <a:solidFill>
                  <a:schemeClr val="tx1"/>
                </a:solidFill>
                <a:latin typeface="+mn-lt"/>
                <a:ea typeface="+mn-ea"/>
                <a:cs typeface="+mn-cs"/>
              </a:rPr>
              <a:t>Milestones/KPIs – as the policy is implemented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Final analysis of performance</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Set dates – when the policy:</a:t>
            </a:r>
          </a:p>
          <a:p>
            <a:pPr lvl="1">
              <a:buFont typeface="Arial" pitchFamily="34" charset="0"/>
              <a:buChar char="•"/>
            </a:pPr>
            <a:r>
              <a:rPr lang="en-US" sz="1200" kern="1200" dirty="0" smtClean="0">
                <a:solidFill>
                  <a:schemeClr val="tx1"/>
                </a:solidFill>
                <a:latin typeface="+mn-lt"/>
                <a:ea typeface="+mn-ea"/>
                <a:cs typeface="+mn-cs"/>
              </a:rPr>
              <a:t>Starts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Assesses milestones/KPIs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Finishes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Is reviewed.</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extLst>
      <p:ext uri="{BB962C8B-B14F-4D97-AF65-F5344CB8AC3E}">
        <p14:creationId xmlns:p14="http://schemas.microsoft.com/office/powerpoint/2010/main" val="180907898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indicates </a:t>
            </a:r>
            <a:r>
              <a:rPr lang="en-AU" sz="1200" kern="1200" dirty="0" smtClean="0">
                <a:solidFill>
                  <a:schemeClr val="tx1"/>
                </a:solidFill>
                <a:latin typeface="+mn-lt"/>
                <a:ea typeface="+mn-ea"/>
                <a:cs typeface="+mn-cs"/>
              </a:rPr>
              <a:t>one approach to writing objectives (and goals) is to follow/apply the SMART acronym, where:</a:t>
            </a:r>
          </a:p>
          <a:p>
            <a:pPr>
              <a:buFont typeface="Arial" pitchFamily="34" charset="0"/>
              <a:buChar char="•"/>
            </a:pPr>
            <a:r>
              <a:rPr lang="en-AU" sz="1200" kern="1200" dirty="0" smtClean="0">
                <a:solidFill>
                  <a:schemeClr val="tx1"/>
                </a:solidFill>
                <a:latin typeface="+mn-lt"/>
                <a:ea typeface="+mn-ea"/>
                <a:cs typeface="+mn-cs"/>
              </a:rPr>
              <a:t>S = Specific: the objectives must be clearly spelled out/described so there is no confusion</a:t>
            </a:r>
          </a:p>
          <a:p>
            <a:pPr>
              <a:buFont typeface="Arial" pitchFamily="34" charset="0"/>
              <a:buChar char="•"/>
            </a:pPr>
            <a:r>
              <a:rPr lang="en-AU" sz="1200" kern="1200" dirty="0" smtClean="0">
                <a:solidFill>
                  <a:schemeClr val="tx1"/>
                </a:solidFill>
                <a:latin typeface="+mn-lt"/>
                <a:ea typeface="+mn-ea"/>
                <a:cs typeface="+mn-cs"/>
              </a:rPr>
              <a:t>M = Measurable: there must be some metric/way of measuring/quantifying progress towards/attainment of the objective</a:t>
            </a:r>
          </a:p>
          <a:p>
            <a:pPr>
              <a:buFont typeface="Arial" pitchFamily="34" charset="0"/>
              <a:buChar char="•"/>
            </a:pPr>
            <a:r>
              <a:rPr lang="en-AU" sz="1200" kern="1200" dirty="0" smtClean="0">
                <a:solidFill>
                  <a:schemeClr val="tx1"/>
                </a:solidFill>
                <a:latin typeface="+mn-lt"/>
                <a:ea typeface="+mn-ea"/>
                <a:cs typeface="+mn-cs"/>
              </a:rPr>
              <a:t>A = Attainable (or Achievable): the target set must be something that can be done</a:t>
            </a:r>
          </a:p>
          <a:p>
            <a:pPr>
              <a:buFont typeface="Arial" pitchFamily="34" charset="0"/>
              <a:buChar char="•"/>
            </a:pPr>
            <a:r>
              <a:rPr lang="en-AU" sz="1200" kern="1200" dirty="0" smtClean="0">
                <a:solidFill>
                  <a:schemeClr val="tx1"/>
                </a:solidFill>
                <a:latin typeface="+mn-lt"/>
                <a:ea typeface="+mn-ea"/>
                <a:cs typeface="+mn-cs"/>
              </a:rPr>
              <a:t>R -= Realistic (or Relevant): the topic that is the focus of the policy must be something to which the organisation is committed and is genuinely committed to</a:t>
            </a:r>
          </a:p>
          <a:p>
            <a:pPr>
              <a:buFont typeface="Arial" pitchFamily="34" charset="0"/>
              <a:buChar char="•"/>
            </a:pPr>
            <a:r>
              <a:rPr lang="en-AU" sz="1200" kern="1200" dirty="0" smtClean="0">
                <a:solidFill>
                  <a:schemeClr val="tx1"/>
                </a:solidFill>
                <a:latin typeface="+mn-lt"/>
                <a:ea typeface="+mn-ea"/>
                <a:cs typeface="+mn-cs"/>
              </a:rPr>
              <a:t>T = Time-related (or Tangible): there must be a finite timeframe attached.</a:t>
            </a:r>
          </a:p>
          <a:p>
            <a:pPr>
              <a:buFont typeface="Arial" pitchFamily="34" charset="0"/>
              <a:buNone/>
            </a:pPr>
            <a:endParaRPr lang="en-AU" noProof="0" dirty="0" smtClean="0"/>
          </a:p>
          <a:p>
            <a:pPr>
              <a:buFont typeface="Arial" pitchFamily="34" charset="0"/>
              <a:buNone/>
            </a:pPr>
            <a:r>
              <a:rPr lang="en-AU" b="1" noProof="0" dirty="0" smtClean="0"/>
              <a:t>Classroom Activity – Small group exercise</a:t>
            </a:r>
          </a:p>
          <a:p>
            <a:pPr>
              <a:buFont typeface="Arial" pitchFamily="34" charset="0"/>
              <a:buNone/>
            </a:pPr>
            <a:r>
              <a:rPr lang="en-AU" b="0" noProof="0" dirty="0" smtClean="0"/>
              <a:t>Trainer divides class into small groups and asks them to prepare several objectives using the SMART approach.</a:t>
            </a:r>
          </a:p>
          <a:p>
            <a:pPr>
              <a:buFont typeface="Arial" pitchFamily="34" charset="0"/>
              <a:buNone/>
            </a:pPr>
            <a:r>
              <a:rPr lang="en-AU" b="0" noProof="0" dirty="0" smtClean="0"/>
              <a:t>Trainer and class to provide constructive critiques of objectives written.</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extLst>
      <p:ext uri="{BB962C8B-B14F-4D97-AF65-F5344CB8AC3E}">
        <p14:creationId xmlns:p14="http://schemas.microsoft.com/office/powerpoint/2010/main" val="423656235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indicates </a:t>
            </a:r>
            <a:r>
              <a:rPr lang="en-AU" sz="1200" kern="1200" dirty="0" smtClean="0">
                <a:solidFill>
                  <a:schemeClr val="tx1"/>
                </a:solidFill>
                <a:latin typeface="+mn-lt"/>
                <a:ea typeface="+mn-ea"/>
                <a:cs typeface="+mn-cs"/>
              </a:rPr>
              <a:t>organisations commonly prepare objectives for policies addressing:</a:t>
            </a:r>
          </a:p>
          <a:p>
            <a:pPr>
              <a:buFont typeface="Arial" pitchFamily="34" charset="0"/>
              <a:buChar char="•"/>
            </a:pPr>
            <a:r>
              <a:rPr lang="en-AU" sz="1200" kern="1200" dirty="0" smtClean="0">
                <a:solidFill>
                  <a:schemeClr val="tx1"/>
                </a:solidFill>
                <a:latin typeface="+mn-lt"/>
                <a:ea typeface="+mn-ea"/>
                <a:cs typeface="+mn-cs"/>
              </a:rPr>
              <a:t>Sales figures – in terms of units sold</a:t>
            </a:r>
          </a:p>
          <a:p>
            <a:pPr>
              <a:buFont typeface="Arial" pitchFamily="34" charset="0"/>
              <a:buChar char="•"/>
            </a:pPr>
            <a:r>
              <a:rPr lang="en-AU" sz="1200" kern="1200" dirty="0" smtClean="0">
                <a:solidFill>
                  <a:schemeClr val="tx1"/>
                </a:solidFill>
                <a:latin typeface="+mn-lt"/>
                <a:ea typeface="+mn-ea"/>
                <a:cs typeface="+mn-cs"/>
              </a:rPr>
              <a:t>Revenues – in terms of money earned/generated </a:t>
            </a:r>
          </a:p>
          <a:p>
            <a:pPr>
              <a:buFont typeface="Arial" pitchFamily="34" charset="0"/>
              <a:buChar char="•"/>
            </a:pPr>
            <a:r>
              <a:rPr lang="en-AU" sz="1200" kern="1200" dirty="0" smtClean="0">
                <a:solidFill>
                  <a:schemeClr val="tx1"/>
                </a:solidFill>
                <a:latin typeface="+mn-lt"/>
                <a:ea typeface="+mn-ea"/>
                <a:cs typeface="+mn-cs"/>
              </a:rPr>
              <a:t>Delivery times – which may refer to speed of delivery and the percentage of ‘on time’ deliveries</a:t>
            </a:r>
          </a:p>
          <a:p>
            <a:pPr>
              <a:buFont typeface="Arial" pitchFamily="34" charset="0"/>
              <a:buChar char="•"/>
            </a:pPr>
            <a:r>
              <a:rPr lang="en-AU" sz="1200" kern="1200" dirty="0" smtClean="0">
                <a:solidFill>
                  <a:schemeClr val="tx1"/>
                </a:solidFill>
                <a:latin typeface="+mn-lt"/>
                <a:ea typeface="+mn-ea"/>
                <a:cs typeface="+mn-cs"/>
              </a:rPr>
              <a:t>Service standards – with reference to established criteria (as set by the organisation, or with reference to an industry benchmark or accepted industry standard) for each individual aspect of service delivery</a:t>
            </a:r>
          </a:p>
          <a:p>
            <a:pPr>
              <a:buFont typeface="Arial" pitchFamily="34" charset="0"/>
              <a:buNone/>
            </a:pPr>
            <a:endParaRPr lang="en-AU" noProof="0" dirty="0" smtClean="0"/>
          </a:p>
          <a:p>
            <a:pPr>
              <a:buFont typeface="Arial" pitchFamily="34" charset="0"/>
              <a:buNone/>
            </a:pPr>
            <a:r>
              <a:rPr lang="en-AU" b="1" noProof="0" dirty="0" smtClean="0"/>
              <a:t>Classroom Activity – Class exercise</a:t>
            </a:r>
          </a:p>
          <a:p>
            <a:pPr>
              <a:buFont typeface="Arial" pitchFamily="34" charset="0"/>
              <a:buNone/>
            </a:pPr>
            <a:r>
              <a:rPr lang="en-AU" b="0" noProof="0" dirty="0" smtClean="0"/>
              <a:t>Trainer asks class to generate sample policy objectives for topics</a:t>
            </a:r>
            <a:r>
              <a:rPr lang="en-AU" b="0" baseline="0" noProof="0" dirty="0" smtClean="0"/>
              <a:t> listed on the slide.</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extLst>
      <p:ext uri="{BB962C8B-B14F-4D97-AF65-F5344CB8AC3E}">
        <p14:creationId xmlns:p14="http://schemas.microsoft.com/office/powerpoint/2010/main" val="316791220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indicates </a:t>
            </a:r>
            <a:r>
              <a:rPr lang="en-AU" sz="1200" kern="1200" dirty="0" smtClean="0">
                <a:solidFill>
                  <a:schemeClr val="tx1"/>
                </a:solidFill>
                <a:latin typeface="+mn-lt"/>
                <a:ea typeface="+mn-ea"/>
                <a:cs typeface="+mn-cs"/>
              </a:rPr>
              <a:t>organisations commonly prepare objectives for policies addressing:</a:t>
            </a:r>
          </a:p>
          <a:p>
            <a:pPr>
              <a:buFont typeface="Arial" pitchFamily="34" charset="0"/>
              <a:buChar char="•"/>
            </a:pPr>
            <a:r>
              <a:rPr lang="en-AU" sz="1200" kern="1200" dirty="0" smtClean="0">
                <a:solidFill>
                  <a:schemeClr val="tx1"/>
                </a:solidFill>
                <a:latin typeface="+mn-lt"/>
                <a:ea typeface="+mn-ea"/>
                <a:cs typeface="+mn-cs"/>
              </a:rPr>
              <a:t>Client numbers – which may be classified in terms of (for example):</a:t>
            </a:r>
          </a:p>
          <a:p>
            <a:pPr lvl="1">
              <a:buFont typeface="Arial" pitchFamily="34" charset="0"/>
              <a:buChar char="•"/>
            </a:pPr>
            <a:r>
              <a:rPr lang="en-US" sz="1200" kern="1200" dirty="0" smtClean="0">
                <a:solidFill>
                  <a:schemeClr val="tx1"/>
                </a:solidFill>
                <a:latin typeface="+mn-lt"/>
                <a:ea typeface="+mn-ea"/>
                <a:cs typeface="+mn-cs"/>
              </a:rPr>
              <a:t>New customers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Repeat customers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Converted customers – that is, customers who transition from ‘enquiries’ into ‘sales’ or who move from ‘prospects’ to ‘purchasers’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Sales figures and targets – which can be specified by:</a:t>
            </a:r>
          </a:p>
          <a:p>
            <a:pPr lvl="1">
              <a:buFont typeface="Arial" pitchFamily="34" charset="0"/>
              <a:buChar char="•"/>
            </a:pPr>
            <a:r>
              <a:rPr lang="en-US" sz="1200" kern="1200" dirty="0" smtClean="0">
                <a:solidFill>
                  <a:schemeClr val="tx1"/>
                </a:solidFill>
                <a:latin typeface="+mn-lt"/>
                <a:ea typeface="+mn-ea"/>
                <a:cs typeface="+mn-cs"/>
              </a:rPr>
              <a:t>Product or service type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Name of individual staff member</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Department or other physical location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Target market type, as defined by the business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Booking levels – which can be stated with reference to:</a:t>
            </a:r>
          </a:p>
          <a:p>
            <a:pPr lvl="1">
              <a:buFont typeface="Arial" pitchFamily="34" charset="0"/>
              <a:buChar char="•"/>
            </a:pPr>
            <a:r>
              <a:rPr lang="en-US" sz="1200" kern="1200" dirty="0" smtClean="0">
                <a:solidFill>
                  <a:schemeClr val="tx1"/>
                </a:solidFill>
                <a:latin typeface="+mn-lt"/>
                <a:ea typeface="+mn-ea"/>
                <a:cs typeface="+mn-cs"/>
              </a:rPr>
              <a:t>Physical numbers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Specific products, services and/or target markets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Conversions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Percentage accompanied by advance/holding deposit</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Refunds and withdrawals</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a:p>
            <a:pPr>
              <a:buFont typeface="Arial" pitchFamily="34" charset="0"/>
              <a:buNone/>
            </a:pPr>
            <a:r>
              <a:rPr lang="en-AU" b="1" noProof="0" dirty="0" smtClean="0"/>
              <a:t>Classroom Activity (1) – Class exercise</a:t>
            </a:r>
          </a:p>
          <a:p>
            <a:pPr>
              <a:buFont typeface="Arial" pitchFamily="34" charset="0"/>
              <a:buNone/>
            </a:pPr>
            <a:r>
              <a:rPr lang="en-AU" b="0" noProof="0" dirty="0" smtClean="0"/>
              <a:t>Trainer asks class to generate sample policy objectives for topics</a:t>
            </a:r>
            <a:r>
              <a:rPr lang="en-AU" b="0" baseline="0" noProof="0" dirty="0" smtClean="0"/>
              <a:t> listed on the slide.</a:t>
            </a:r>
            <a:endParaRPr lang="en-AU" noProof="0" dirty="0" smtClean="0"/>
          </a:p>
          <a:p>
            <a:pPr>
              <a:buFont typeface="Arial" pitchFamily="34" charset="0"/>
              <a:buNone/>
            </a:pPr>
            <a:endParaRPr lang="en-AU" noProof="0" dirty="0" smtClean="0"/>
          </a:p>
          <a:p>
            <a:pPr>
              <a:buFont typeface="Arial" pitchFamily="34" charset="0"/>
              <a:buNone/>
            </a:pPr>
            <a:r>
              <a:rPr lang="en-US" b="1" baseline="0" noProof="0" dirty="0" smtClean="0"/>
              <a:t>Classroom Activity (2) – Internet research </a:t>
            </a:r>
          </a:p>
          <a:p>
            <a:pPr>
              <a:buFont typeface="Arial" pitchFamily="34" charset="0"/>
              <a:buNone/>
            </a:pPr>
            <a:r>
              <a:rPr lang="en-US" b="0" baseline="0" noProof="0" dirty="0" smtClean="0"/>
              <a:t>Trainer supervises internet research on relevant websites for items identified above, such as: </a:t>
            </a:r>
          </a:p>
          <a:p>
            <a:r>
              <a:rPr lang="en-AU" sz="1200" u="sng" kern="1200" dirty="0" smtClean="0">
                <a:solidFill>
                  <a:schemeClr val="tx1"/>
                </a:solidFill>
                <a:latin typeface="+mn-lt"/>
                <a:ea typeface="+mn-ea"/>
                <a:cs typeface="+mn-cs"/>
                <a:hlinkClick r:id="rId3"/>
              </a:rPr>
              <a:t>http://www.leoisaac.com/policy/top131.htm</a:t>
            </a:r>
            <a:r>
              <a:rPr lang="en-AU" sz="1200" kern="1200" dirty="0" smtClean="0">
                <a:solidFill>
                  <a:schemeClr val="tx1"/>
                </a:solidFill>
                <a:latin typeface="+mn-lt"/>
                <a:ea typeface="+mn-ea"/>
                <a:cs typeface="+mn-cs"/>
              </a:rPr>
              <a:t> - Policy goals and objectives</a:t>
            </a:r>
          </a:p>
          <a:p>
            <a:r>
              <a:rPr lang="en-AU" sz="1200" u="sng" kern="1200" dirty="0" smtClean="0">
                <a:solidFill>
                  <a:schemeClr val="tx1"/>
                </a:solidFill>
                <a:latin typeface="+mn-lt"/>
                <a:ea typeface="+mn-ea"/>
                <a:cs typeface="+mn-cs"/>
                <a:hlinkClick r:id="rId4"/>
              </a:rPr>
              <a:t>http://www.fao.org/wairdocs/ilri/x5499e/x5499e04.htm</a:t>
            </a:r>
            <a:r>
              <a:rPr lang="en-AU" sz="1200" kern="1200" dirty="0" smtClean="0">
                <a:solidFill>
                  <a:schemeClr val="tx1"/>
                </a:solidFill>
                <a:latin typeface="+mn-lt"/>
                <a:ea typeface="+mn-ea"/>
                <a:cs typeface="+mn-cs"/>
              </a:rPr>
              <a:t> - Examples of objectives for a company</a:t>
            </a:r>
          </a:p>
          <a:p>
            <a:pPr>
              <a:buFont typeface="Arial" pitchFamily="34" charset="0"/>
              <a:buNone/>
            </a:pPr>
            <a:endParaRPr lang="en-US" b="0"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extLst>
      <p:ext uri="{BB962C8B-B14F-4D97-AF65-F5344CB8AC3E}">
        <p14:creationId xmlns:p14="http://schemas.microsoft.com/office/powerpoint/2010/main" val="181654567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indicates </a:t>
            </a:r>
            <a:r>
              <a:rPr lang="en-AU" sz="1200" kern="1200" dirty="0" smtClean="0">
                <a:solidFill>
                  <a:schemeClr val="tx1"/>
                </a:solidFill>
                <a:latin typeface="+mn-lt"/>
                <a:ea typeface="+mn-ea"/>
                <a:cs typeface="+mn-cs"/>
              </a:rPr>
              <a:t>organisations commonly prepare objectives for policies addressing:</a:t>
            </a:r>
          </a:p>
          <a:p>
            <a:pPr>
              <a:buFont typeface="Arial" pitchFamily="34" charset="0"/>
              <a:buChar char="•"/>
            </a:pPr>
            <a:r>
              <a:rPr lang="en-AU" sz="1200" kern="1200" dirty="0" smtClean="0">
                <a:solidFill>
                  <a:schemeClr val="tx1"/>
                </a:solidFill>
                <a:latin typeface="+mn-lt"/>
                <a:ea typeface="+mn-ea"/>
                <a:cs typeface="+mn-cs"/>
              </a:rPr>
              <a:t>Customer feedback – which may be:</a:t>
            </a:r>
          </a:p>
          <a:p>
            <a:pPr lvl="1">
              <a:buFont typeface="Arial" pitchFamily="34" charset="0"/>
              <a:buChar char="•"/>
            </a:pPr>
            <a:r>
              <a:rPr lang="en-US" sz="1200" kern="1200" dirty="0" smtClean="0">
                <a:solidFill>
                  <a:schemeClr val="tx1"/>
                </a:solidFill>
                <a:latin typeface="+mn-lt"/>
                <a:ea typeface="+mn-ea"/>
                <a:cs typeface="+mn-cs"/>
              </a:rPr>
              <a:t>Separated into ‘Compliments’ and ‘Criticisms’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Rated on a ‘Customer Satisfaction’ score/index</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Staff feedback – which is often classified:</a:t>
            </a:r>
          </a:p>
          <a:p>
            <a:pPr lvl="1">
              <a:buFont typeface="Arial" pitchFamily="34" charset="0"/>
              <a:buChar char="•"/>
            </a:pPr>
            <a:r>
              <a:rPr lang="en-US" sz="1200" kern="1200" dirty="0" smtClean="0">
                <a:solidFill>
                  <a:schemeClr val="tx1"/>
                </a:solidFill>
                <a:latin typeface="+mn-lt"/>
                <a:ea typeface="+mn-ea"/>
                <a:cs typeface="+mn-cs"/>
              </a:rPr>
              <a:t>By number</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With reference to topic/focus of the feedback (management; operational issues; remunerations; working conditions)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Productivity – measuring (in a useful way to the organisation) the relationship between inputs to the production process and the resulting outputs.</a:t>
            </a:r>
          </a:p>
          <a:p>
            <a:pPr>
              <a:buFont typeface="Arial" pitchFamily="34" charset="0"/>
              <a:buNone/>
            </a:pPr>
            <a:endParaRPr lang="en-AU" noProof="0" dirty="0" smtClean="0"/>
          </a:p>
          <a:p>
            <a:pPr>
              <a:buFont typeface="Arial" pitchFamily="34" charset="0"/>
              <a:buNone/>
            </a:pPr>
            <a:r>
              <a:rPr lang="en-AU" b="1" noProof="0" dirty="0" smtClean="0"/>
              <a:t>Classroom Activity (1) – Class exercise</a:t>
            </a:r>
          </a:p>
          <a:p>
            <a:pPr>
              <a:buFont typeface="Arial" pitchFamily="34" charset="0"/>
              <a:buNone/>
            </a:pPr>
            <a:r>
              <a:rPr lang="en-AU" b="0" noProof="0" dirty="0" smtClean="0"/>
              <a:t>Trainer asks class to generate sample policy objectives for topics</a:t>
            </a:r>
            <a:r>
              <a:rPr lang="en-AU" b="0" baseline="0" noProof="0" dirty="0" smtClean="0"/>
              <a:t> listed on the slide.</a:t>
            </a:r>
            <a:endParaRPr lang="en-AU" noProof="0" dirty="0" smtClean="0"/>
          </a:p>
          <a:p>
            <a:pPr>
              <a:buFont typeface="Arial" pitchFamily="34" charset="0"/>
              <a:buNone/>
            </a:pPr>
            <a:endParaRPr lang="en-AU" noProof="0" dirty="0" smtClean="0"/>
          </a:p>
          <a:p>
            <a:pPr>
              <a:buFont typeface="Arial" pitchFamily="34" charset="0"/>
              <a:buNone/>
            </a:pPr>
            <a:r>
              <a:rPr lang="en-US" b="1" baseline="0" noProof="0" dirty="0" smtClean="0"/>
              <a:t>Classroom Activity (2) – Internet research </a:t>
            </a:r>
          </a:p>
          <a:p>
            <a:pPr>
              <a:buFont typeface="Arial" pitchFamily="34" charset="0"/>
              <a:buNone/>
            </a:pPr>
            <a:r>
              <a:rPr lang="en-US" b="0" baseline="0" noProof="0" dirty="0" smtClean="0"/>
              <a:t>Trainer supervises internet research on relevant websites for items identified above, such as: </a:t>
            </a:r>
          </a:p>
          <a:p>
            <a:r>
              <a:rPr lang="en-AU" sz="1200" u="sng" kern="1200" dirty="0" smtClean="0">
                <a:solidFill>
                  <a:schemeClr val="tx1"/>
                </a:solidFill>
                <a:latin typeface="+mn-lt"/>
                <a:ea typeface="+mn-ea"/>
                <a:cs typeface="+mn-cs"/>
                <a:hlinkClick r:id="rId3"/>
              </a:rPr>
              <a:t>http://www.businessdictionary.com/definition/objective.html</a:t>
            </a:r>
            <a:r>
              <a:rPr lang="en-AU" sz="1200" kern="1200" dirty="0" smtClean="0">
                <a:solidFill>
                  <a:schemeClr val="tx1"/>
                </a:solidFill>
                <a:latin typeface="+mn-lt"/>
                <a:ea typeface="+mn-ea"/>
                <a:cs typeface="+mn-cs"/>
              </a:rPr>
              <a:t> - Objectives defined</a:t>
            </a:r>
          </a:p>
          <a:p>
            <a:r>
              <a:rPr lang="en-AU" sz="1200" u="sng" kern="1200" dirty="0" smtClean="0">
                <a:solidFill>
                  <a:schemeClr val="tx1"/>
                </a:solidFill>
                <a:latin typeface="+mn-lt"/>
                <a:ea typeface="+mn-ea"/>
                <a:cs typeface="+mn-cs"/>
                <a:hlinkClick r:id="rId4"/>
              </a:rPr>
              <a:t>http://topachievement.com/smart.html</a:t>
            </a:r>
            <a:r>
              <a:rPr lang="en-AU" sz="1200" kern="1200" dirty="0" smtClean="0">
                <a:solidFill>
                  <a:schemeClr val="tx1"/>
                </a:solidFill>
                <a:latin typeface="+mn-lt"/>
                <a:ea typeface="+mn-ea"/>
                <a:cs typeface="+mn-cs"/>
              </a:rPr>
              <a:t> - Creating SMART goals.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extLst>
      <p:ext uri="{BB962C8B-B14F-4D97-AF65-F5344CB8AC3E}">
        <p14:creationId xmlns:p14="http://schemas.microsoft.com/office/powerpoint/2010/main" val="153643564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a </a:t>
            </a:r>
            <a:r>
              <a:rPr lang="en-AU" sz="1200" kern="1200" dirty="0" smtClean="0">
                <a:solidFill>
                  <a:schemeClr val="tx1"/>
                </a:solidFill>
                <a:latin typeface="+mn-lt"/>
                <a:ea typeface="+mn-ea"/>
                <a:cs typeface="+mn-cs"/>
              </a:rPr>
              <a:t>range of options is available to identify and analyse the internal and external factors that impact policy initiatives but that commonly a business will only use one option to determine their situation.</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A formal analysis is the preferred/recommended course of action as this will:</a:t>
            </a:r>
          </a:p>
          <a:p>
            <a:pPr>
              <a:buFont typeface="Arial" pitchFamily="34" charset="0"/>
              <a:buChar char="•"/>
            </a:pPr>
            <a:r>
              <a:rPr lang="en-AU" sz="1200" kern="1200" dirty="0" smtClean="0">
                <a:solidFill>
                  <a:schemeClr val="tx1"/>
                </a:solidFill>
                <a:latin typeface="+mn-lt"/>
                <a:ea typeface="+mn-ea"/>
                <a:cs typeface="+mn-cs"/>
              </a:rPr>
              <a:t>Demonstrate personal professionalism towards the proposal and (may) discharge due diligence requirements</a:t>
            </a:r>
          </a:p>
          <a:p>
            <a:pPr>
              <a:buFont typeface="Arial" pitchFamily="34" charset="0"/>
              <a:buChar char="•"/>
            </a:pPr>
            <a:r>
              <a:rPr lang="en-AU" sz="1200" kern="1200" dirty="0" smtClean="0">
                <a:solidFill>
                  <a:schemeClr val="tx1"/>
                </a:solidFill>
                <a:latin typeface="+mn-lt"/>
                <a:ea typeface="+mn-ea"/>
                <a:cs typeface="+mn-cs"/>
              </a:rPr>
              <a:t>Be the most likely strategy for identifying and gaining a proper/full appreciation of all relevant factors.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extLst>
      <p:ext uri="{BB962C8B-B14F-4D97-AF65-F5344CB8AC3E}">
        <p14:creationId xmlns:p14="http://schemas.microsoft.com/office/powerpoint/2010/main" val="200249952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explains SWOT analysis approach:</a:t>
            </a:r>
          </a:p>
          <a:p>
            <a:pPr>
              <a:buFont typeface="Arial" pitchFamily="34" charset="0"/>
              <a:buChar char="•"/>
            </a:pPr>
            <a:r>
              <a:rPr lang="en-AU" sz="1200" kern="1200" dirty="0" smtClean="0">
                <a:solidFill>
                  <a:schemeClr val="tx1"/>
                </a:solidFill>
                <a:latin typeface="+mn-lt"/>
                <a:ea typeface="+mn-ea"/>
                <a:cs typeface="+mn-cs"/>
              </a:rPr>
              <a:t>A SWOT analysis is a well-known and respected strategic planning tool.</a:t>
            </a:r>
          </a:p>
          <a:p>
            <a:pPr>
              <a:buFont typeface="Arial" pitchFamily="34" charset="0"/>
              <a:buChar char="•"/>
            </a:pPr>
            <a:r>
              <a:rPr lang="en-AU" sz="1200" kern="1200" dirty="0" smtClean="0">
                <a:solidFill>
                  <a:schemeClr val="tx1"/>
                </a:solidFill>
                <a:latin typeface="+mn-lt"/>
                <a:ea typeface="+mn-ea"/>
                <a:cs typeface="+mn-cs"/>
              </a:rPr>
              <a:t>It is the process of gathering together information/data on both the internal and external environments of the organisation to determine the strengths, weaknesses, opportunities that are present as well as the threats relating to the situation being considered – in this case, the development of a specific policy.</a:t>
            </a:r>
          </a:p>
          <a:p>
            <a:pPr>
              <a:buFont typeface="Arial" pitchFamily="34" charset="0"/>
              <a:buChar char="•"/>
            </a:pPr>
            <a:r>
              <a:rPr lang="en-AU" sz="1200" kern="1200" dirty="0" smtClean="0">
                <a:solidFill>
                  <a:schemeClr val="tx1"/>
                </a:solidFill>
                <a:latin typeface="+mn-lt"/>
                <a:ea typeface="+mn-ea"/>
                <a:cs typeface="+mn-cs"/>
              </a:rPr>
              <a:t>A SWOT analysis is a fundamental pre-requisite for any research to help determine the situation being considered.</a:t>
            </a:r>
          </a:p>
          <a:p>
            <a:r>
              <a:rPr lang="en-AU" sz="1200" b="1" i="1" kern="1200" dirty="0" smtClean="0">
                <a:solidFill>
                  <a:schemeClr val="tx1"/>
                </a:solidFill>
                <a:latin typeface="+mn-lt"/>
                <a:ea typeface="+mn-ea"/>
                <a:cs typeface="+mn-cs"/>
              </a:rPr>
              <a:t>Internal factors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The internal factors in a SWOT analysis are the factors present </a:t>
            </a:r>
            <a:r>
              <a:rPr lang="en-AU" sz="1200" i="1" kern="1200" dirty="0" smtClean="0">
                <a:solidFill>
                  <a:schemeClr val="tx1"/>
                </a:solidFill>
                <a:latin typeface="+mn-lt"/>
                <a:ea typeface="+mn-ea"/>
                <a:cs typeface="+mn-cs"/>
              </a:rPr>
              <a:t>within</a:t>
            </a:r>
            <a:r>
              <a:rPr lang="en-AU" sz="1200" kern="1200" dirty="0" smtClean="0">
                <a:solidFill>
                  <a:schemeClr val="tx1"/>
                </a:solidFill>
                <a:latin typeface="+mn-lt"/>
                <a:ea typeface="+mn-ea"/>
                <a:cs typeface="+mn-cs"/>
              </a:rPr>
              <a:t> the organisation.</a:t>
            </a:r>
          </a:p>
          <a:p>
            <a:pPr lvl="1">
              <a:buFont typeface="Arial" pitchFamily="34" charset="0"/>
              <a:buChar char="•"/>
            </a:pPr>
            <a:r>
              <a:rPr lang="en-AU" sz="1200" kern="1200" dirty="0" smtClean="0">
                <a:solidFill>
                  <a:schemeClr val="tx1"/>
                </a:solidFill>
                <a:latin typeface="+mn-lt"/>
                <a:ea typeface="+mn-ea"/>
                <a:cs typeface="+mn-cs"/>
              </a:rPr>
              <a:t>They are the ‘Strengths’ and ‘Weaknesses’ of the entity.</a:t>
            </a:r>
          </a:p>
          <a:p>
            <a:pPr>
              <a:buFont typeface="Arial" pitchFamily="34" charset="0"/>
              <a:buChar char="•"/>
            </a:pPr>
            <a:r>
              <a:rPr lang="en-AU" sz="1200" kern="1200" dirty="0" smtClean="0">
                <a:solidFill>
                  <a:schemeClr val="tx1"/>
                </a:solidFill>
                <a:latin typeface="+mn-lt"/>
                <a:ea typeface="+mn-ea"/>
                <a:cs typeface="+mn-cs"/>
              </a:rPr>
              <a:t>What is classified as a Strength for one business may well be a Weakness for another. For example:</a:t>
            </a:r>
          </a:p>
          <a:p>
            <a:pPr lvl="1">
              <a:buFont typeface="Arial" pitchFamily="34" charset="0"/>
              <a:buChar char="•"/>
            </a:pPr>
            <a:r>
              <a:rPr lang="en-AU" sz="1200" kern="1200" dirty="0" smtClean="0">
                <a:solidFill>
                  <a:schemeClr val="tx1"/>
                </a:solidFill>
                <a:latin typeface="+mn-lt"/>
                <a:ea typeface="+mn-ea"/>
                <a:cs typeface="+mn-cs"/>
              </a:rPr>
              <a:t>One business may have loads of cash to fund whatever is the focus of the policy, while another could be cash-poor</a:t>
            </a:r>
          </a:p>
          <a:p>
            <a:pPr lvl="1">
              <a:buFont typeface="Arial" pitchFamily="34" charset="0"/>
              <a:buChar char="•"/>
            </a:pPr>
            <a:r>
              <a:rPr lang="en-AU" sz="1200" kern="1200" dirty="0" smtClean="0">
                <a:solidFill>
                  <a:schemeClr val="tx1"/>
                </a:solidFill>
                <a:latin typeface="+mn-lt"/>
                <a:ea typeface="+mn-ea"/>
                <a:cs typeface="+mn-cs"/>
              </a:rPr>
              <a:t>One organisation may have a detailed </a:t>
            </a:r>
            <a:r>
              <a:rPr lang="en-AU" sz="1200" i="1" kern="1200" dirty="0" smtClean="0">
                <a:solidFill>
                  <a:schemeClr val="tx1"/>
                </a:solidFill>
                <a:latin typeface="+mn-lt"/>
                <a:ea typeface="+mn-ea"/>
                <a:cs typeface="+mn-cs"/>
              </a:rPr>
              <a:t>knowledge</a:t>
            </a:r>
            <a:r>
              <a:rPr lang="en-AU" sz="1200" kern="1200" dirty="0" smtClean="0">
                <a:solidFill>
                  <a:schemeClr val="tx1"/>
                </a:solidFill>
                <a:latin typeface="+mn-lt"/>
                <a:ea typeface="+mn-ea"/>
                <a:cs typeface="+mn-cs"/>
              </a:rPr>
              <a:t> of the topic which is the focus for the policy while another operator knows little/nothing in this regard.</a:t>
            </a:r>
          </a:p>
          <a:p>
            <a:pPr>
              <a:buFont typeface="Arial" pitchFamily="34" charset="0"/>
              <a:buChar char="•"/>
            </a:pPr>
            <a:r>
              <a:rPr lang="en-AU" sz="1200" kern="1200" dirty="0" smtClean="0">
                <a:solidFill>
                  <a:schemeClr val="tx1"/>
                </a:solidFill>
                <a:latin typeface="+mn-lt"/>
                <a:ea typeface="+mn-ea"/>
                <a:cs typeface="+mn-cs"/>
              </a:rPr>
              <a:t>These factors are sometimes referred to as ‘controllable’ as organisations have the power to impact them – they can (for example) take action to raise more money or obtain additional resources and work to gain more experience regarding the issue/policy topic being considered.</a:t>
            </a:r>
          </a:p>
          <a:p>
            <a:r>
              <a:rPr lang="en-AU" sz="1200" b="1" i="1" kern="1200" dirty="0" smtClean="0">
                <a:solidFill>
                  <a:schemeClr val="tx1"/>
                </a:solidFill>
                <a:latin typeface="+mn-lt"/>
                <a:ea typeface="+mn-ea"/>
                <a:cs typeface="+mn-cs"/>
              </a:rPr>
              <a:t>External factors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External factors are those which exist </a:t>
            </a:r>
            <a:r>
              <a:rPr lang="en-AU" sz="1200" i="1" kern="1200" dirty="0" smtClean="0">
                <a:solidFill>
                  <a:schemeClr val="tx1"/>
                </a:solidFill>
                <a:latin typeface="+mn-lt"/>
                <a:ea typeface="+mn-ea"/>
                <a:cs typeface="+mn-cs"/>
              </a:rPr>
              <a:t>outside</a:t>
            </a:r>
            <a:r>
              <a:rPr lang="en-AU" sz="1200" kern="1200" dirty="0" smtClean="0">
                <a:solidFill>
                  <a:schemeClr val="tx1"/>
                </a:solidFill>
                <a:latin typeface="+mn-lt"/>
                <a:ea typeface="+mn-ea"/>
                <a:cs typeface="+mn-cs"/>
              </a:rPr>
              <a:t> the business. They are divided into:</a:t>
            </a:r>
          </a:p>
          <a:p>
            <a:pPr lvl="1">
              <a:buFont typeface="Arial" pitchFamily="34" charset="0"/>
              <a:buChar char="•"/>
            </a:pPr>
            <a:r>
              <a:rPr lang="en-AU" sz="1200" kern="1200" dirty="0" smtClean="0">
                <a:solidFill>
                  <a:schemeClr val="tx1"/>
                </a:solidFill>
                <a:latin typeface="+mn-lt"/>
                <a:ea typeface="+mn-ea"/>
                <a:cs typeface="+mn-cs"/>
              </a:rPr>
              <a:t>Opportunities – which are factors which can be exploited or taken advantage of in relation to the development of a policy or an initiative</a:t>
            </a:r>
          </a:p>
          <a:p>
            <a:pPr lvl="1">
              <a:buFont typeface="Arial" pitchFamily="34" charset="0"/>
              <a:buChar char="•"/>
            </a:pPr>
            <a:r>
              <a:rPr lang="en-AU" sz="1200" kern="1200" dirty="0" smtClean="0">
                <a:solidFill>
                  <a:schemeClr val="tx1"/>
                </a:solidFill>
                <a:latin typeface="+mn-lt"/>
                <a:ea typeface="+mn-ea"/>
                <a:cs typeface="+mn-cs"/>
              </a:rPr>
              <a:t>Threats – which represent things which might prejudice, jeopardise or otherwise negatively influence the development of a policy or an initiative.</a:t>
            </a:r>
          </a:p>
          <a:p>
            <a:pPr>
              <a:buFont typeface="Arial" pitchFamily="34" charset="0"/>
              <a:buChar char="•"/>
            </a:pPr>
            <a:r>
              <a:rPr lang="en-AU" sz="1200" kern="1200" dirty="0" smtClean="0">
                <a:solidFill>
                  <a:schemeClr val="tx1"/>
                </a:solidFill>
                <a:latin typeface="+mn-lt"/>
                <a:ea typeface="+mn-ea"/>
                <a:cs typeface="+mn-cs"/>
              </a:rPr>
              <a:t>External factors are regarded as being ‘uncontrollable’ in that the business/entity undertaking the analysis is unable to (significantly) impact the relevant factors.</a:t>
            </a:r>
          </a:p>
          <a:p>
            <a:pPr>
              <a:buFont typeface="Arial" pitchFamily="34" charset="0"/>
              <a:buNone/>
            </a:pPr>
            <a:endParaRPr lang="en-AU" noProof="0" dirty="0" smtClean="0"/>
          </a:p>
          <a:p>
            <a:pPr>
              <a:buFont typeface="Arial" pitchFamily="34" charset="0"/>
              <a:buNone/>
            </a:pPr>
            <a:r>
              <a:rPr lang="en-US" b="1" baseline="0" noProof="0" dirty="0" smtClean="0"/>
              <a:t>Classroom Activity – Internet research </a:t>
            </a:r>
          </a:p>
          <a:p>
            <a:pPr>
              <a:buFont typeface="Arial" pitchFamily="34" charset="0"/>
              <a:buNone/>
            </a:pPr>
            <a:r>
              <a:rPr lang="en-US" b="0" baseline="0" noProof="0" dirty="0" smtClean="0"/>
              <a:t>Trainer supervises internet research on relevant websites for items identified above, such as: </a:t>
            </a:r>
          </a:p>
          <a:p>
            <a:r>
              <a:rPr lang="en-AU" sz="1200" u="sng" kern="1200" dirty="0" smtClean="0">
                <a:solidFill>
                  <a:schemeClr val="tx1"/>
                </a:solidFill>
                <a:latin typeface="+mn-lt"/>
                <a:ea typeface="+mn-ea"/>
                <a:cs typeface="+mn-cs"/>
                <a:hlinkClick r:id="rId3"/>
              </a:rPr>
              <a:t>http://www.mindtools.com/pages/article/newTMC_05.htm</a:t>
            </a:r>
            <a:r>
              <a:rPr lang="en-AU" sz="1200" kern="1200" dirty="0" smtClean="0">
                <a:solidFill>
                  <a:schemeClr val="tx1"/>
                </a:solidFill>
                <a:latin typeface="+mn-lt"/>
                <a:ea typeface="+mn-ea"/>
                <a:cs typeface="+mn-cs"/>
              </a:rPr>
              <a:t> - SWOT analysis</a:t>
            </a:r>
          </a:p>
          <a:p>
            <a:r>
              <a:rPr lang="en-AU" sz="1200" u="sng" kern="1200" dirty="0" smtClean="0">
                <a:solidFill>
                  <a:schemeClr val="tx1"/>
                </a:solidFill>
                <a:latin typeface="+mn-lt"/>
                <a:ea typeface="+mn-ea"/>
                <a:cs typeface="+mn-cs"/>
                <a:hlinkClick r:id="rId4"/>
              </a:rPr>
              <a:t>https://www.business.qld.gov.au/business/starting/market-customer-research/swot-analysis/example-swot-analysis</a:t>
            </a:r>
            <a:r>
              <a:rPr lang="en-AU" sz="1200" kern="1200" dirty="0" smtClean="0">
                <a:solidFill>
                  <a:schemeClr val="tx1"/>
                </a:solidFill>
                <a:latin typeface="+mn-lt"/>
                <a:ea typeface="+mn-ea"/>
                <a:cs typeface="+mn-cs"/>
              </a:rPr>
              <a:t> - Example SWOT analysis</a:t>
            </a:r>
          </a:p>
          <a:p>
            <a:r>
              <a:rPr lang="en-AU" sz="1200" u="sng" kern="1200" dirty="0" smtClean="0">
                <a:solidFill>
                  <a:schemeClr val="tx1"/>
                </a:solidFill>
                <a:latin typeface="+mn-lt"/>
                <a:ea typeface="+mn-ea"/>
                <a:cs typeface="+mn-cs"/>
                <a:hlinkClick r:id="rId5"/>
              </a:rPr>
              <a:t>http://smallbusiness.chron.com/swot-analysis-diversity-training-1850.html</a:t>
            </a:r>
            <a:r>
              <a:rPr lang="en-AU" sz="1200" kern="1200" dirty="0" smtClean="0">
                <a:solidFill>
                  <a:schemeClr val="tx1"/>
                </a:solidFill>
                <a:latin typeface="+mn-lt"/>
                <a:ea typeface="+mn-ea"/>
                <a:cs typeface="+mn-cs"/>
              </a:rPr>
              <a:t> - SWOT analysis on diversity training</a:t>
            </a:r>
          </a:p>
          <a:p>
            <a:pPr>
              <a:buFont typeface="Arial" pitchFamily="34" charset="0"/>
              <a:buNone/>
            </a:pPr>
            <a:endParaRPr lang="en-US" b="0"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extLst>
      <p:ext uri="{BB962C8B-B14F-4D97-AF65-F5344CB8AC3E}">
        <p14:creationId xmlns:p14="http://schemas.microsoft.com/office/powerpoint/2010/main" val="220286433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other approaches/options for looking at external factors:</a:t>
            </a:r>
          </a:p>
          <a:p>
            <a:pPr>
              <a:buFont typeface="Arial" pitchFamily="34" charset="0"/>
              <a:buChar char="•"/>
            </a:pPr>
            <a:r>
              <a:rPr lang="en-AU" sz="1200" kern="1200" dirty="0" smtClean="0">
                <a:solidFill>
                  <a:schemeClr val="tx1"/>
                </a:solidFill>
                <a:latin typeface="+mn-lt"/>
                <a:ea typeface="+mn-ea"/>
                <a:cs typeface="+mn-cs"/>
              </a:rPr>
              <a:t>SLEPT analysis involves consideration of:</a:t>
            </a:r>
          </a:p>
          <a:p>
            <a:pPr lvl="1">
              <a:buFont typeface="Arial" pitchFamily="34" charset="0"/>
              <a:buChar char="•"/>
            </a:pPr>
            <a:r>
              <a:rPr lang="en-AU" sz="1200" kern="1200" dirty="0" smtClean="0">
                <a:solidFill>
                  <a:schemeClr val="tx1"/>
                </a:solidFill>
                <a:latin typeface="+mn-lt"/>
                <a:ea typeface="+mn-ea"/>
                <a:cs typeface="+mn-cs"/>
              </a:rPr>
              <a:t>Social factors</a:t>
            </a:r>
          </a:p>
          <a:p>
            <a:pPr lvl="1">
              <a:buFont typeface="Arial" pitchFamily="34" charset="0"/>
              <a:buChar char="•"/>
            </a:pPr>
            <a:r>
              <a:rPr lang="en-AU" sz="1200" kern="1200" dirty="0" smtClean="0">
                <a:solidFill>
                  <a:schemeClr val="tx1"/>
                </a:solidFill>
                <a:latin typeface="+mn-lt"/>
                <a:ea typeface="+mn-ea"/>
                <a:cs typeface="+mn-cs"/>
              </a:rPr>
              <a:t>Legal factors</a:t>
            </a:r>
          </a:p>
          <a:p>
            <a:pPr lvl="1">
              <a:buFont typeface="Arial" pitchFamily="34" charset="0"/>
              <a:buChar char="•"/>
            </a:pPr>
            <a:r>
              <a:rPr lang="en-AU" sz="1200" kern="1200" dirty="0" smtClean="0">
                <a:solidFill>
                  <a:schemeClr val="tx1"/>
                </a:solidFill>
                <a:latin typeface="+mn-lt"/>
                <a:ea typeface="+mn-ea"/>
                <a:cs typeface="+mn-cs"/>
              </a:rPr>
              <a:t>Economic factors</a:t>
            </a:r>
          </a:p>
          <a:p>
            <a:pPr lvl="1">
              <a:buFont typeface="Arial" pitchFamily="34" charset="0"/>
              <a:buChar char="•"/>
            </a:pPr>
            <a:r>
              <a:rPr lang="en-AU" sz="1200" kern="1200" dirty="0" smtClean="0">
                <a:solidFill>
                  <a:schemeClr val="tx1"/>
                </a:solidFill>
                <a:latin typeface="+mn-lt"/>
                <a:ea typeface="+mn-ea"/>
                <a:cs typeface="+mn-cs"/>
              </a:rPr>
              <a:t>Political factors</a:t>
            </a:r>
          </a:p>
          <a:p>
            <a:pPr lvl="1">
              <a:buFont typeface="Arial" pitchFamily="34" charset="0"/>
              <a:buChar char="•"/>
            </a:pPr>
            <a:r>
              <a:rPr lang="en-AU" sz="1200" kern="1200" dirty="0" smtClean="0">
                <a:solidFill>
                  <a:schemeClr val="tx1"/>
                </a:solidFill>
                <a:latin typeface="+mn-lt"/>
                <a:ea typeface="+mn-ea"/>
                <a:cs typeface="+mn-cs"/>
              </a:rPr>
              <a:t>Technological factors.</a:t>
            </a:r>
          </a:p>
          <a:p>
            <a:pPr>
              <a:buFont typeface="Arial" pitchFamily="34" charset="0"/>
              <a:buChar char="•"/>
            </a:pPr>
            <a:r>
              <a:rPr lang="en-AU" sz="1200" kern="1200" dirty="0" smtClean="0">
                <a:solidFill>
                  <a:schemeClr val="tx1"/>
                </a:solidFill>
                <a:latin typeface="+mn-lt"/>
                <a:ea typeface="+mn-ea"/>
                <a:cs typeface="+mn-cs"/>
              </a:rPr>
              <a:t>PESTEL analysis is the same as SLEPT but with the addition of ‘Environmental’ factors.</a:t>
            </a:r>
          </a:p>
          <a:p>
            <a:pPr>
              <a:buFont typeface="Arial" pitchFamily="34" charset="0"/>
              <a:buChar char="•"/>
            </a:pPr>
            <a:r>
              <a:rPr lang="en-AU" sz="1200" kern="1200" dirty="0" smtClean="0">
                <a:solidFill>
                  <a:schemeClr val="tx1"/>
                </a:solidFill>
                <a:latin typeface="+mn-lt"/>
                <a:ea typeface="+mn-ea"/>
                <a:cs typeface="+mn-cs"/>
              </a:rPr>
              <a:t>STEEPLE analysis adds consideration of Ethics.</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US" b="1" baseline="0" noProof="0" dirty="0" smtClean="0"/>
              <a:t>Classroom Activity – Internet research </a:t>
            </a:r>
          </a:p>
          <a:p>
            <a:pPr>
              <a:buFont typeface="Arial" pitchFamily="34" charset="0"/>
              <a:buNone/>
            </a:pPr>
            <a:r>
              <a:rPr lang="en-US" b="0" baseline="0" noProof="0" dirty="0" smtClean="0"/>
              <a:t>Trainer supervises internet research on relevant websites for items identified above, such as: </a:t>
            </a:r>
          </a:p>
          <a:p>
            <a:r>
              <a:rPr lang="en-AU" sz="1200" u="sng" kern="1200" dirty="0" smtClean="0">
                <a:solidFill>
                  <a:schemeClr val="tx1"/>
                </a:solidFill>
                <a:latin typeface="+mn-lt"/>
                <a:ea typeface="+mn-ea"/>
                <a:cs typeface="+mn-cs"/>
                <a:hlinkClick r:id="rId3"/>
              </a:rPr>
              <a:t>http://pestleanalysis.com/</a:t>
            </a:r>
            <a:r>
              <a:rPr lang="en-AU" sz="1200" kern="1200" dirty="0" smtClean="0">
                <a:solidFill>
                  <a:schemeClr val="tx1"/>
                </a:solidFill>
                <a:latin typeface="+mn-lt"/>
                <a:ea typeface="+mn-ea"/>
                <a:cs typeface="+mn-cs"/>
              </a:rPr>
              <a:t> - PESTLE analysis</a:t>
            </a:r>
          </a:p>
          <a:p>
            <a:r>
              <a:rPr lang="en-AU" sz="1200" u="sng" kern="1200" dirty="0" smtClean="0">
                <a:solidFill>
                  <a:schemeClr val="tx1"/>
                </a:solidFill>
                <a:latin typeface="+mn-lt"/>
                <a:ea typeface="+mn-ea"/>
                <a:cs typeface="+mn-cs"/>
                <a:hlinkClick r:id="rId4"/>
              </a:rPr>
              <a:t>http://www.slideshare.net/lconner/steeple</a:t>
            </a:r>
            <a:r>
              <a:rPr lang="en-AU" sz="1200" kern="1200" dirty="0" smtClean="0">
                <a:solidFill>
                  <a:schemeClr val="tx1"/>
                </a:solidFill>
                <a:latin typeface="+mn-lt"/>
                <a:ea typeface="+mn-ea"/>
                <a:cs typeface="+mn-cs"/>
              </a:rPr>
              <a:t> - STEEPLE analysis.</a:t>
            </a:r>
          </a:p>
          <a:p>
            <a:pPr>
              <a:buFont typeface="Arial" pitchFamily="34" charset="0"/>
              <a:buNone/>
            </a:pP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extLst>
      <p:ext uri="{BB962C8B-B14F-4D97-AF65-F5344CB8AC3E}">
        <p14:creationId xmlns:p14="http://schemas.microsoft.com/office/powerpoint/2010/main" val="70413889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examples of factors</a:t>
            </a:r>
          </a:p>
          <a:p>
            <a:r>
              <a:rPr lang="en-AU" sz="1200" b="1" kern="1200" dirty="0" smtClean="0">
                <a:solidFill>
                  <a:schemeClr val="tx1"/>
                </a:solidFill>
                <a:latin typeface="+mn-lt"/>
                <a:ea typeface="+mn-ea"/>
                <a:cs typeface="+mn-cs"/>
              </a:rPr>
              <a:t>Capabilities and resources</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The capabilities of the organisation to deliver services and produce products, and the resources it has to support these activities are all internal factors. Specific factors may be:</a:t>
            </a:r>
          </a:p>
          <a:p>
            <a:pPr>
              <a:buFont typeface="Arial" pitchFamily="34" charset="0"/>
              <a:buChar char="•"/>
            </a:pPr>
            <a:r>
              <a:rPr lang="en-AU" sz="1200" kern="1200" dirty="0" smtClean="0">
                <a:solidFill>
                  <a:schemeClr val="tx1"/>
                </a:solidFill>
                <a:latin typeface="+mn-lt"/>
                <a:ea typeface="+mn-ea"/>
                <a:cs typeface="+mn-cs"/>
              </a:rPr>
              <a:t>Human resources – this relates to issues such as:</a:t>
            </a:r>
          </a:p>
          <a:p>
            <a:pPr lvl="1">
              <a:buFont typeface="Arial" pitchFamily="34" charset="0"/>
              <a:buChar char="•"/>
            </a:pPr>
            <a:r>
              <a:rPr lang="en-AU" sz="1200" kern="1200" dirty="0" smtClean="0">
                <a:solidFill>
                  <a:schemeClr val="tx1"/>
                </a:solidFill>
                <a:latin typeface="+mn-lt"/>
                <a:ea typeface="+mn-ea"/>
                <a:cs typeface="+mn-cs"/>
              </a:rPr>
              <a:t>Number of staff available within the business</a:t>
            </a:r>
          </a:p>
          <a:p>
            <a:pPr lvl="1">
              <a:buFont typeface="Arial" pitchFamily="34" charset="0"/>
              <a:buChar char="•"/>
            </a:pPr>
            <a:r>
              <a:rPr lang="en-AU" sz="1200" kern="1200" dirty="0" smtClean="0">
                <a:solidFill>
                  <a:schemeClr val="tx1"/>
                </a:solidFill>
                <a:latin typeface="+mn-lt"/>
                <a:ea typeface="+mn-ea"/>
                <a:cs typeface="+mn-cs"/>
              </a:rPr>
              <a:t>Pool of potential employees the orgsanisation is able to recruit from</a:t>
            </a:r>
          </a:p>
          <a:p>
            <a:pPr lvl="1">
              <a:buFont typeface="Arial" pitchFamily="34" charset="0"/>
              <a:buChar char="•"/>
            </a:pPr>
            <a:r>
              <a:rPr lang="en-AU" sz="1200" kern="1200" dirty="0" smtClean="0">
                <a:solidFill>
                  <a:schemeClr val="tx1"/>
                </a:solidFill>
                <a:latin typeface="+mn-lt"/>
                <a:ea typeface="+mn-ea"/>
                <a:cs typeface="+mn-cs"/>
              </a:rPr>
              <a:t>Experience and expertise of employees/staff skill and knowledge levels</a:t>
            </a:r>
          </a:p>
          <a:p>
            <a:pPr lvl="1">
              <a:buFont typeface="Arial" pitchFamily="34" charset="0"/>
              <a:buChar char="•"/>
            </a:pPr>
            <a:r>
              <a:rPr lang="en-AU" sz="1200" kern="1200" dirty="0" smtClean="0">
                <a:solidFill>
                  <a:schemeClr val="tx1"/>
                </a:solidFill>
                <a:latin typeface="+mn-lt"/>
                <a:ea typeface="+mn-ea"/>
                <a:cs typeface="+mn-cs"/>
              </a:rPr>
              <a:t>Payment being sought by workers</a:t>
            </a:r>
          </a:p>
          <a:p>
            <a:pPr lvl="1">
              <a:buFont typeface="Arial" pitchFamily="34" charset="0"/>
              <a:buChar char="•"/>
            </a:pPr>
            <a:r>
              <a:rPr lang="en-AU" sz="1200" kern="1200" dirty="0" smtClean="0">
                <a:solidFill>
                  <a:schemeClr val="tx1"/>
                </a:solidFill>
                <a:latin typeface="+mn-lt"/>
                <a:ea typeface="+mn-ea"/>
                <a:cs typeface="+mn-cs"/>
              </a:rPr>
              <a:t>Degree of fit between staff profiles and profiles of target markets</a:t>
            </a:r>
          </a:p>
          <a:p>
            <a:pPr>
              <a:buFont typeface="Arial" pitchFamily="34" charset="0"/>
              <a:buChar char="•"/>
            </a:pPr>
            <a:r>
              <a:rPr lang="en-AU" sz="1200" kern="1200" dirty="0" smtClean="0">
                <a:solidFill>
                  <a:schemeClr val="tx1"/>
                </a:solidFill>
                <a:latin typeface="+mn-lt"/>
                <a:ea typeface="+mn-ea"/>
                <a:cs typeface="+mn-cs"/>
              </a:rPr>
              <a:t>Financial resources – which relates to:</a:t>
            </a:r>
          </a:p>
          <a:p>
            <a:pPr lvl="1">
              <a:buFont typeface="Arial" pitchFamily="34" charset="0"/>
              <a:buChar char="•"/>
            </a:pPr>
            <a:r>
              <a:rPr lang="en-AU" sz="1200" kern="1200" dirty="0" smtClean="0">
                <a:solidFill>
                  <a:schemeClr val="tx1"/>
                </a:solidFill>
                <a:latin typeface="+mn-lt"/>
                <a:ea typeface="+mn-ea"/>
                <a:cs typeface="+mn-cs"/>
              </a:rPr>
              <a:t>Amount of cash reserved held by the company</a:t>
            </a:r>
          </a:p>
          <a:p>
            <a:pPr lvl="1">
              <a:buFont typeface="Arial" pitchFamily="34" charset="0"/>
              <a:buChar char="•"/>
            </a:pPr>
            <a:r>
              <a:rPr lang="en-AU" sz="1200" kern="1200" dirty="0" smtClean="0">
                <a:solidFill>
                  <a:schemeClr val="tx1"/>
                </a:solidFill>
                <a:latin typeface="+mn-lt"/>
                <a:ea typeface="+mn-ea"/>
                <a:cs typeface="+mn-cs"/>
              </a:rPr>
              <a:t>Amount of loans the business is able to access</a:t>
            </a:r>
          </a:p>
          <a:p>
            <a:pPr lvl="1">
              <a:buFont typeface="Arial" pitchFamily="34" charset="0"/>
              <a:buChar char="•"/>
            </a:pPr>
            <a:r>
              <a:rPr lang="en-AU" sz="1200" kern="1200" dirty="0" smtClean="0">
                <a:solidFill>
                  <a:schemeClr val="tx1"/>
                </a:solidFill>
                <a:latin typeface="+mn-lt"/>
                <a:ea typeface="+mn-ea"/>
                <a:cs typeface="+mn-cs"/>
              </a:rPr>
              <a:t>Contributions which can be sourced from ‘other sources’ such as government agencies, joint venture partners, or industry organisations</a:t>
            </a:r>
          </a:p>
          <a:p>
            <a:pPr lvl="1">
              <a:buFont typeface="Arial" pitchFamily="34" charset="0"/>
              <a:buChar char="•"/>
            </a:pPr>
            <a:r>
              <a:rPr lang="en-AU" sz="1200" kern="1200" dirty="0" smtClean="0">
                <a:solidFill>
                  <a:schemeClr val="tx1"/>
                </a:solidFill>
                <a:latin typeface="+mn-lt"/>
                <a:ea typeface="+mn-ea"/>
                <a:cs typeface="+mn-cs"/>
              </a:rPr>
              <a:t>Interest rates and costs of borrowing/money</a:t>
            </a:r>
          </a:p>
          <a:p>
            <a:pPr>
              <a:buFont typeface="Arial" pitchFamily="34" charset="0"/>
              <a:buChar char="•"/>
            </a:pPr>
            <a:r>
              <a:rPr lang="en-AU" sz="1200" kern="1200" dirty="0" smtClean="0">
                <a:solidFill>
                  <a:schemeClr val="tx1"/>
                </a:solidFill>
                <a:latin typeface="+mn-lt"/>
                <a:ea typeface="+mn-ea"/>
                <a:cs typeface="+mn-cs"/>
              </a:rPr>
              <a:t>Equipment capacity – with reference to:</a:t>
            </a:r>
          </a:p>
          <a:p>
            <a:pPr lvl="1">
              <a:buFont typeface="Arial" pitchFamily="34" charset="0"/>
              <a:buChar char="•"/>
            </a:pPr>
            <a:r>
              <a:rPr lang="en-AU" sz="1200" kern="1200" dirty="0" smtClean="0">
                <a:solidFill>
                  <a:schemeClr val="tx1"/>
                </a:solidFill>
                <a:latin typeface="+mn-lt"/>
                <a:ea typeface="+mn-ea"/>
                <a:cs typeface="+mn-cs"/>
              </a:rPr>
              <a:t>Production capacity of current plant and machinery</a:t>
            </a:r>
          </a:p>
          <a:p>
            <a:pPr lvl="1">
              <a:buFont typeface="Arial" pitchFamily="34" charset="0"/>
              <a:buChar char="•"/>
            </a:pPr>
            <a:r>
              <a:rPr lang="en-AU" sz="1200" kern="1200" dirty="0" smtClean="0">
                <a:solidFill>
                  <a:schemeClr val="tx1"/>
                </a:solidFill>
                <a:latin typeface="+mn-lt"/>
                <a:ea typeface="+mn-ea"/>
                <a:cs typeface="+mn-cs"/>
              </a:rPr>
              <a:t>Safety status of items</a:t>
            </a:r>
          </a:p>
          <a:p>
            <a:pPr lvl="1">
              <a:buFont typeface="Arial" pitchFamily="34" charset="0"/>
              <a:buChar char="•"/>
            </a:pPr>
            <a:r>
              <a:rPr lang="en-AU" sz="1200" kern="1200" dirty="0" smtClean="0">
                <a:solidFill>
                  <a:schemeClr val="tx1"/>
                </a:solidFill>
                <a:latin typeface="+mn-lt"/>
                <a:ea typeface="+mn-ea"/>
                <a:cs typeface="+mn-cs"/>
              </a:rPr>
              <a:t>Potential to modify equipment to meet changing/changed market needs and/or projected new inventory requirements for the business</a:t>
            </a:r>
          </a:p>
          <a:p>
            <a:pPr>
              <a:buFont typeface="Arial" pitchFamily="34" charset="0"/>
              <a:buChar char="•"/>
            </a:pPr>
            <a:r>
              <a:rPr lang="en-AU" sz="1200" kern="1200" dirty="0" smtClean="0">
                <a:solidFill>
                  <a:schemeClr val="tx1"/>
                </a:solidFill>
                <a:latin typeface="+mn-lt"/>
                <a:ea typeface="+mn-ea"/>
                <a:cs typeface="+mn-cs"/>
              </a:rPr>
              <a:t>Communication capabilities of the organisation – in terms of being able to:</a:t>
            </a:r>
          </a:p>
          <a:p>
            <a:pPr lvl="1">
              <a:buFont typeface="Arial" pitchFamily="34" charset="0"/>
              <a:buChar char="•"/>
            </a:pPr>
            <a:r>
              <a:rPr lang="en-AU" sz="1200" kern="1200" dirty="0" smtClean="0">
                <a:solidFill>
                  <a:schemeClr val="tx1"/>
                </a:solidFill>
                <a:latin typeface="+mn-lt"/>
                <a:ea typeface="+mn-ea"/>
                <a:cs typeface="+mn-cs"/>
              </a:rPr>
              <a:t>Solicit feedback from customers</a:t>
            </a:r>
          </a:p>
          <a:p>
            <a:pPr lvl="1">
              <a:buFont typeface="Arial" pitchFamily="34" charset="0"/>
              <a:buChar char="•"/>
            </a:pPr>
            <a:r>
              <a:rPr lang="en-AU" sz="1200" kern="1200" dirty="0" smtClean="0">
                <a:solidFill>
                  <a:schemeClr val="tx1"/>
                </a:solidFill>
                <a:latin typeface="+mn-lt"/>
                <a:ea typeface="+mn-ea"/>
                <a:cs typeface="+mn-cs"/>
              </a:rPr>
              <a:t>Generate contributions from other stakeholders</a:t>
            </a:r>
          </a:p>
          <a:p>
            <a:pPr lvl="1">
              <a:buFont typeface="Arial" pitchFamily="34" charset="0"/>
              <a:buChar char="•"/>
            </a:pPr>
            <a:r>
              <a:rPr lang="en-AU" sz="1200" kern="1200" dirty="0" smtClean="0">
                <a:solidFill>
                  <a:schemeClr val="tx1"/>
                </a:solidFill>
                <a:latin typeface="+mn-lt"/>
                <a:ea typeface="+mn-ea"/>
                <a:cs typeface="+mn-cs"/>
              </a:rPr>
              <a:t>Notify target markets of initiatives and innovations</a:t>
            </a:r>
          </a:p>
          <a:p>
            <a:pPr>
              <a:buFont typeface="Arial" pitchFamily="34" charset="0"/>
              <a:buChar char="•"/>
            </a:pPr>
            <a:r>
              <a:rPr lang="en-AU" sz="1200" kern="1200" dirty="0" smtClean="0">
                <a:solidFill>
                  <a:schemeClr val="tx1"/>
                </a:solidFill>
                <a:latin typeface="+mn-lt"/>
                <a:ea typeface="+mn-ea"/>
                <a:cs typeface="+mn-cs"/>
              </a:rPr>
              <a:t>Position of the organisation – which relates to:</a:t>
            </a:r>
          </a:p>
          <a:p>
            <a:pPr lvl="1">
              <a:buFont typeface="Arial" pitchFamily="34" charset="0"/>
              <a:buChar char="•"/>
            </a:pPr>
            <a:r>
              <a:rPr lang="en-AU" sz="1200" kern="1200" dirty="0" smtClean="0">
                <a:solidFill>
                  <a:schemeClr val="tx1"/>
                </a:solidFill>
                <a:latin typeface="+mn-lt"/>
                <a:ea typeface="+mn-ea"/>
                <a:cs typeface="+mn-cs"/>
              </a:rPr>
              <a:t>Physical/geographic location of the business in terms of offices, outlets, agencies</a:t>
            </a:r>
          </a:p>
          <a:p>
            <a:pPr lvl="1">
              <a:buFont typeface="Arial" pitchFamily="34" charset="0"/>
              <a:buChar char="•"/>
            </a:pPr>
            <a:r>
              <a:rPr lang="en-AU" sz="1200" kern="1200" dirty="0" smtClean="0">
                <a:solidFill>
                  <a:schemeClr val="tx1"/>
                </a:solidFill>
                <a:latin typeface="+mn-lt"/>
                <a:ea typeface="+mn-ea"/>
                <a:cs typeface="+mn-cs"/>
              </a:rPr>
              <a:t>The hours of operation of the business</a:t>
            </a:r>
          </a:p>
          <a:p>
            <a:pPr lvl="1">
              <a:buFont typeface="Arial" pitchFamily="34" charset="0"/>
              <a:buChar char="•"/>
            </a:pPr>
            <a:r>
              <a:rPr lang="en-AU" sz="1200" kern="1200" dirty="0" smtClean="0">
                <a:solidFill>
                  <a:schemeClr val="tx1"/>
                </a:solidFill>
                <a:latin typeface="+mn-lt"/>
                <a:ea typeface="+mn-ea"/>
                <a:cs typeface="+mn-cs"/>
              </a:rPr>
              <a:t>Different ways customers can interact with/buy from the organisation – including online options for providing information, responding to queries and making sales and accepting payments.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extLst>
      <p:ext uri="{BB962C8B-B14F-4D97-AF65-F5344CB8AC3E}">
        <p14:creationId xmlns:p14="http://schemas.microsoft.com/office/powerpoint/2010/main" val="292246154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examples of factors</a:t>
            </a:r>
          </a:p>
          <a:p>
            <a:r>
              <a:rPr lang="en-US" sz="1200" b="1" dirty="0" smtClean="0">
                <a:latin typeface="Helvetica" pitchFamily="34" charset="0"/>
              </a:rPr>
              <a:t>Trends and developments in the marketplace</a:t>
            </a:r>
          </a:p>
          <a:p>
            <a:r>
              <a:rPr lang="en-US" sz="1200" b="0" i="0" kern="1200" dirty="0" smtClean="0">
                <a:solidFill>
                  <a:schemeClr val="tx1"/>
                </a:solidFill>
                <a:latin typeface="Helvetica" pitchFamily="34" charset="0"/>
                <a:ea typeface="+mn-ea"/>
                <a:cs typeface="+mn-cs"/>
              </a:rPr>
              <a:t>These are all external factors.</a:t>
            </a:r>
            <a:endParaRPr lang="en-AU" sz="1200" b="0" i="0" kern="1200" dirty="0" smtClean="0">
              <a:solidFill>
                <a:schemeClr val="tx1"/>
              </a:solidFill>
              <a:latin typeface="+mn-lt"/>
              <a:ea typeface="+mn-ea"/>
              <a:cs typeface="+mn-cs"/>
            </a:endParaRPr>
          </a:p>
          <a:p>
            <a:r>
              <a:rPr lang="en-AU" sz="1200" b="1" i="1" kern="1200" dirty="0" smtClean="0">
                <a:solidFill>
                  <a:schemeClr val="tx1"/>
                </a:solidFill>
                <a:latin typeface="+mn-lt"/>
                <a:ea typeface="+mn-ea"/>
                <a:cs typeface="+mn-cs"/>
              </a:rPr>
              <a:t>Economic considerations</a:t>
            </a:r>
            <a:endParaRPr lang="en-AU" sz="1200" b="1" kern="1200" dirty="0" smtClean="0">
              <a:solidFill>
                <a:schemeClr val="tx1"/>
              </a:solidFill>
              <a:latin typeface="+mn-lt"/>
              <a:ea typeface="+mn-ea"/>
              <a:cs typeface="+mn-cs"/>
            </a:endParaRPr>
          </a:p>
          <a:p>
            <a:r>
              <a:rPr lang="en-AU" sz="1200" b="0" kern="1200" dirty="0" smtClean="0">
                <a:solidFill>
                  <a:schemeClr val="tx1"/>
                </a:solidFill>
                <a:latin typeface="+mn-lt"/>
                <a:ea typeface="+mn-ea"/>
                <a:cs typeface="+mn-cs"/>
              </a:rPr>
              <a:t>Analysis of the economic considerations in which the business operates may address matters such as:</a:t>
            </a:r>
            <a:endParaRPr lang="en-AU" sz="1200" b="1"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The local economic environment as well as the economic state of other countries from which the business draws its customers</a:t>
            </a:r>
          </a:p>
          <a:p>
            <a:pPr>
              <a:buFont typeface="Arial" pitchFamily="34" charset="0"/>
              <a:buChar char="•"/>
            </a:pPr>
            <a:r>
              <a:rPr lang="en-AU" sz="1200" kern="1200" dirty="0" smtClean="0">
                <a:solidFill>
                  <a:schemeClr val="tx1"/>
                </a:solidFill>
                <a:latin typeface="+mn-lt"/>
                <a:ea typeface="+mn-ea"/>
                <a:cs typeface="+mn-cs"/>
              </a:rPr>
              <a:t>Inflation </a:t>
            </a:r>
          </a:p>
          <a:p>
            <a:pPr>
              <a:buFont typeface="Arial" pitchFamily="34" charset="0"/>
              <a:buChar char="•"/>
            </a:pPr>
            <a:r>
              <a:rPr lang="en-AU" sz="1200" kern="1200" dirty="0" smtClean="0">
                <a:solidFill>
                  <a:schemeClr val="tx1"/>
                </a:solidFill>
                <a:latin typeface="+mn-lt"/>
                <a:ea typeface="+mn-ea"/>
                <a:cs typeface="+mn-cs"/>
              </a:rPr>
              <a:t>Interest rates</a:t>
            </a:r>
          </a:p>
          <a:p>
            <a:pPr>
              <a:buFont typeface="Arial" pitchFamily="34" charset="0"/>
              <a:buChar char="•"/>
            </a:pPr>
            <a:r>
              <a:rPr lang="en-AU" sz="1200" kern="1200" dirty="0" smtClean="0">
                <a:solidFill>
                  <a:schemeClr val="tx1"/>
                </a:solidFill>
                <a:latin typeface="+mn-lt"/>
                <a:ea typeface="+mn-ea"/>
                <a:cs typeface="+mn-cs"/>
              </a:rPr>
              <a:t>Exchange rates</a:t>
            </a:r>
          </a:p>
          <a:p>
            <a:pPr>
              <a:buFont typeface="Arial" pitchFamily="34" charset="0"/>
              <a:buChar char="•"/>
            </a:pPr>
            <a:r>
              <a:rPr lang="en-AU" sz="1200" kern="1200" dirty="0" smtClean="0">
                <a:solidFill>
                  <a:schemeClr val="tx1"/>
                </a:solidFill>
                <a:latin typeface="+mn-lt"/>
                <a:ea typeface="+mn-ea"/>
                <a:cs typeface="+mn-cs"/>
              </a:rPr>
              <a:t>Levels of employment and unemployment</a:t>
            </a:r>
          </a:p>
          <a:p>
            <a:pPr>
              <a:buFont typeface="Arial" pitchFamily="34" charset="0"/>
              <a:buChar char="•"/>
            </a:pPr>
            <a:r>
              <a:rPr lang="en-AU" sz="1200" kern="1200" dirty="0" smtClean="0">
                <a:solidFill>
                  <a:schemeClr val="tx1"/>
                </a:solidFill>
                <a:latin typeface="+mn-lt"/>
                <a:ea typeface="+mn-ea"/>
                <a:cs typeface="+mn-cs"/>
              </a:rPr>
              <a:t>Availability of local skilled/competent staff </a:t>
            </a:r>
          </a:p>
          <a:p>
            <a:pPr>
              <a:buFont typeface="Arial" pitchFamily="34" charset="0"/>
              <a:buChar char="•"/>
            </a:pPr>
            <a:r>
              <a:rPr lang="en-AU" sz="1200" kern="1200" dirty="0" smtClean="0">
                <a:solidFill>
                  <a:schemeClr val="tx1"/>
                </a:solidFill>
                <a:latin typeface="+mn-lt"/>
                <a:ea typeface="+mn-ea"/>
                <a:cs typeface="+mn-cs"/>
              </a:rPr>
              <a:t>Amount of discretionary income customers have</a:t>
            </a:r>
          </a:p>
          <a:p>
            <a:pPr>
              <a:buFont typeface="Arial" pitchFamily="34" charset="0"/>
              <a:buChar char="•"/>
            </a:pPr>
            <a:r>
              <a:rPr lang="en-AU" sz="1200" kern="1200" dirty="0" smtClean="0">
                <a:solidFill>
                  <a:schemeClr val="tx1"/>
                </a:solidFill>
                <a:latin typeface="+mn-lt"/>
                <a:ea typeface="+mn-ea"/>
                <a:cs typeface="+mn-cs"/>
              </a:rPr>
              <a:t>Community thoughts on the state and/or future of the economy.</a:t>
            </a:r>
          </a:p>
          <a:p>
            <a:r>
              <a:rPr lang="en-AU" sz="1200" b="1" i="1" kern="1200" dirty="0" smtClean="0">
                <a:solidFill>
                  <a:schemeClr val="tx1"/>
                </a:solidFill>
                <a:latin typeface="+mn-lt"/>
                <a:ea typeface="+mn-ea"/>
                <a:cs typeface="+mn-cs"/>
              </a:rPr>
              <a:t>Environmental considerations</a:t>
            </a:r>
            <a:endParaRPr lang="en-AU" sz="1200" b="1" kern="1200" dirty="0" smtClean="0">
              <a:solidFill>
                <a:schemeClr val="tx1"/>
              </a:solidFill>
              <a:latin typeface="+mn-lt"/>
              <a:ea typeface="+mn-ea"/>
              <a:cs typeface="+mn-cs"/>
            </a:endParaRPr>
          </a:p>
          <a:p>
            <a:r>
              <a:rPr lang="en-AU" sz="1200" b="0" kern="1200" dirty="0" smtClean="0">
                <a:solidFill>
                  <a:schemeClr val="tx1"/>
                </a:solidFill>
                <a:latin typeface="+mn-lt"/>
                <a:ea typeface="+mn-ea"/>
                <a:cs typeface="+mn-cs"/>
              </a:rPr>
              <a:t>Analysis of environmental considerations/factors could include:</a:t>
            </a:r>
            <a:endParaRPr lang="en-AU" sz="1200" b="1"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Sustainability issues</a:t>
            </a:r>
          </a:p>
          <a:p>
            <a:pPr>
              <a:buFont typeface="Arial" pitchFamily="34" charset="0"/>
              <a:buChar char="•"/>
            </a:pPr>
            <a:r>
              <a:rPr lang="en-AU" sz="1200" kern="1200" dirty="0" smtClean="0">
                <a:solidFill>
                  <a:schemeClr val="tx1"/>
                </a:solidFill>
                <a:latin typeface="+mn-lt"/>
                <a:ea typeface="+mn-ea"/>
                <a:cs typeface="+mn-cs"/>
              </a:rPr>
              <a:t>Use of power and water</a:t>
            </a:r>
          </a:p>
          <a:p>
            <a:pPr>
              <a:buFont typeface="Arial" pitchFamily="34" charset="0"/>
              <a:buChar char="•"/>
            </a:pPr>
            <a:r>
              <a:rPr lang="en-AU" sz="1200" kern="1200" dirty="0" smtClean="0">
                <a:solidFill>
                  <a:schemeClr val="tx1"/>
                </a:solidFill>
                <a:latin typeface="+mn-lt"/>
                <a:ea typeface="+mn-ea"/>
                <a:cs typeface="+mn-cs"/>
              </a:rPr>
              <a:t>Rubbish disposal</a:t>
            </a:r>
          </a:p>
          <a:p>
            <a:pPr>
              <a:buFont typeface="Arial" pitchFamily="34" charset="0"/>
              <a:buChar char="•"/>
            </a:pPr>
            <a:r>
              <a:rPr lang="en-AU" sz="1200" kern="1200" dirty="0" smtClean="0">
                <a:solidFill>
                  <a:schemeClr val="tx1"/>
                </a:solidFill>
                <a:latin typeface="+mn-lt"/>
                <a:ea typeface="+mn-ea"/>
                <a:cs typeface="+mn-cs"/>
              </a:rPr>
              <a:t>Pollution – traffic, noise, air, water</a:t>
            </a:r>
          </a:p>
          <a:p>
            <a:pPr>
              <a:buFont typeface="Arial" pitchFamily="34" charset="0"/>
              <a:buChar char="•"/>
            </a:pPr>
            <a:r>
              <a:rPr lang="en-AU" sz="1200" kern="1200" dirty="0" smtClean="0">
                <a:solidFill>
                  <a:schemeClr val="tx1"/>
                </a:solidFill>
                <a:latin typeface="+mn-lt"/>
                <a:ea typeface="+mn-ea"/>
                <a:cs typeface="+mn-cs"/>
              </a:rPr>
              <a:t>The impact of the venue on local communities.</a:t>
            </a:r>
          </a:p>
          <a:p>
            <a:pPr>
              <a:buFont typeface="Arial" pitchFamily="34" charset="0"/>
              <a:buChar char="•"/>
            </a:pPr>
            <a:r>
              <a:rPr lang="en-AU" sz="1200" kern="1200" dirty="0" smtClean="0">
                <a:solidFill>
                  <a:schemeClr val="tx1"/>
                </a:solidFill>
                <a:latin typeface="+mn-lt"/>
                <a:ea typeface="+mn-ea"/>
                <a:cs typeface="+mn-cs"/>
              </a:rPr>
              <a:t>Ecological/environmental – this factor may have implications regarding: </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extLst>
      <p:ext uri="{BB962C8B-B14F-4D97-AF65-F5344CB8AC3E}">
        <p14:creationId xmlns:p14="http://schemas.microsoft.com/office/powerpoint/2010/main" val="306312749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examples of factors</a:t>
            </a:r>
          </a:p>
          <a:p>
            <a:r>
              <a:rPr lang="en-AU" sz="1200" b="1" i="1" kern="1200" dirty="0" smtClean="0">
                <a:solidFill>
                  <a:schemeClr val="tx1"/>
                </a:solidFill>
                <a:latin typeface="+mn-lt"/>
                <a:ea typeface="+mn-ea"/>
                <a:cs typeface="+mn-cs"/>
              </a:rPr>
              <a:t>Governmental/political considerations</a:t>
            </a:r>
            <a:endParaRPr lang="en-AU" sz="1200" b="1" kern="1200" dirty="0" smtClean="0">
              <a:solidFill>
                <a:schemeClr val="tx1"/>
              </a:solidFill>
              <a:latin typeface="+mn-lt"/>
              <a:ea typeface="+mn-ea"/>
              <a:cs typeface="+mn-cs"/>
            </a:endParaRPr>
          </a:p>
          <a:p>
            <a:r>
              <a:rPr lang="en-AU" sz="1200" b="0" kern="1200" dirty="0" smtClean="0">
                <a:solidFill>
                  <a:schemeClr val="tx1"/>
                </a:solidFill>
                <a:latin typeface="+mn-lt"/>
                <a:ea typeface="+mn-ea"/>
                <a:cs typeface="+mn-cs"/>
              </a:rPr>
              <a:t>Analysis of governmental/political factors may consider:</a:t>
            </a:r>
            <a:endParaRPr lang="en-AU" sz="1200" b="1"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The political stability of the country</a:t>
            </a:r>
          </a:p>
          <a:p>
            <a:pPr>
              <a:buFont typeface="Arial" pitchFamily="34" charset="0"/>
              <a:buChar char="•"/>
            </a:pPr>
            <a:r>
              <a:rPr lang="en-AU" sz="1200" kern="1200" dirty="0" smtClean="0">
                <a:solidFill>
                  <a:schemeClr val="tx1"/>
                </a:solidFill>
                <a:latin typeface="+mn-lt"/>
                <a:ea typeface="+mn-ea"/>
                <a:cs typeface="+mn-cs"/>
              </a:rPr>
              <a:t>Is a change of government imminent and if so what implications can be expected?</a:t>
            </a:r>
          </a:p>
          <a:p>
            <a:pPr>
              <a:buFont typeface="Arial" pitchFamily="34" charset="0"/>
              <a:buChar char="•"/>
            </a:pPr>
            <a:r>
              <a:rPr lang="en-AU" sz="1200" kern="1200" dirty="0" smtClean="0">
                <a:solidFill>
                  <a:schemeClr val="tx1"/>
                </a:solidFill>
                <a:latin typeface="+mn-lt"/>
                <a:ea typeface="+mn-ea"/>
                <a:cs typeface="+mn-cs"/>
              </a:rPr>
              <a:t>Feelings in relation to international trade/dealings</a:t>
            </a:r>
          </a:p>
          <a:p>
            <a:pPr>
              <a:buFont typeface="Arial" pitchFamily="34" charset="0"/>
              <a:buChar char="•"/>
            </a:pPr>
            <a:r>
              <a:rPr lang="en-AU" sz="1200" kern="1200" dirty="0" smtClean="0">
                <a:solidFill>
                  <a:schemeClr val="tx1"/>
                </a:solidFill>
                <a:latin typeface="+mn-lt"/>
                <a:ea typeface="+mn-ea"/>
                <a:cs typeface="+mn-cs"/>
              </a:rPr>
              <a:t>Political relationships between home country and other countries </a:t>
            </a:r>
          </a:p>
          <a:p>
            <a:pPr>
              <a:buFont typeface="Arial" pitchFamily="34" charset="0"/>
              <a:buChar char="•"/>
            </a:pPr>
            <a:r>
              <a:rPr lang="en-AU" sz="1200" kern="1200" dirty="0" smtClean="0">
                <a:solidFill>
                  <a:schemeClr val="tx1"/>
                </a:solidFill>
                <a:latin typeface="+mn-lt"/>
                <a:ea typeface="+mn-ea"/>
                <a:cs typeface="+mn-cs"/>
              </a:rPr>
              <a:t>The support available from government (agencies and bodies) for industry and/or initiatives.</a:t>
            </a:r>
          </a:p>
          <a:p>
            <a:r>
              <a:rPr lang="en-AU" sz="1200" b="1" i="1" kern="1200" dirty="0" smtClean="0">
                <a:solidFill>
                  <a:schemeClr val="tx1"/>
                </a:solidFill>
                <a:latin typeface="+mn-lt"/>
                <a:ea typeface="+mn-ea"/>
                <a:cs typeface="+mn-cs"/>
              </a:rPr>
              <a:t>Social and cultural considerations</a:t>
            </a:r>
            <a:endParaRPr lang="en-AU" sz="1200" b="1" kern="1200" dirty="0" smtClean="0">
              <a:solidFill>
                <a:schemeClr val="tx1"/>
              </a:solidFill>
              <a:latin typeface="+mn-lt"/>
              <a:ea typeface="+mn-ea"/>
              <a:cs typeface="+mn-cs"/>
            </a:endParaRPr>
          </a:p>
          <a:p>
            <a:r>
              <a:rPr lang="en-AU" sz="1200" b="0" kern="1200" dirty="0" smtClean="0">
                <a:solidFill>
                  <a:schemeClr val="tx1"/>
                </a:solidFill>
                <a:latin typeface="+mn-lt"/>
                <a:ea typeface="+mn-ea"/>
                <a:cs typeface="+mn-cs"/>
              </a:rPr>
              <a:t>Analysis of social and cultural factors could include:</a:t>
            </a:r>
            <a:endParaRPr lang="en-AU" sz="1200" b="1"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What image does the industry have in the eyes of society? Is it a positive image? Is it tarnished for some reason and if so how/why?</a:t>
            </a:r>
          </a:p>
          <a:p>
            <a:pPr>
              <a:buFont typeface="Arial" pitchFamily="34" charset="0"/>
              <a:buChar char="•"/>
            </a:pPr>
            <a:r>
              <a:rPr lang="en-AU" sz="1200" kern="1200" dirty="0" smtClean="0">
                <a:solidFill>
                  <a:schemeClr val="tx1"/>
                </a:solidFill>
                <a:latin typeface="+mn-lt"/>
                <a:ea typeface="+mn-ea"/>
                <a:cs typeface="+mn-cs"/>
              </a:rPr>
              <a:t>Projected responses of local and other communities if the business pursues various options – such as entering into a relationship with a certain organisation, entering into a new market, erecting a new building</a:t>
            </a:r>
          </a:p>
          <a:p>
            <a:pPr>
              <a:buFont typeface="Arial" pitchFamily="34" charset="0"/>
              <a:buChar char="•"/>
            </a:pPr>
            <a:r>
              <a:rPr lang="en-AU" sz="1200" kern="1200" dirty="0" smtClean="0">
                <a:solidFill>
                  <a:schemeClr val="tx1"/>
                </a:solidFill>
                <a:latin typeface="+mn-lt"/>
                <a:ea typeface="+mn-ea"/>
                <a:cs typeface="+mn-cs"/>
              </a:rPr>
              <a:t>The status of the business in the eyes of the community/public as a ‘corporate citizen’</a:t>
            </a:r>
          </a:p>
          <a:p>
            <a:pPr>
              <a:buFont typeface="Arial" pitchFamily="34" charset="0"/>
              <a:buChar char="•"/>
            </a:pPr>
            <a:r>
              <a:rPr lang="en-AU" sz="1200" kern="1200" dirty="0" smtClean="0">
                <a:solidFill>
                  <a:schemeClr val="tx1"/>
                </a:solidFill>
                <a:latin typeface="+mn-lt"/>
                <a:ea typeface="+mn-ea"/>
                <a:cs typeface="+mn-cs"/>
              </a:rPr>
              <a:t>Mobility of people and their ability to travel to and from the venue/organisation.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extLst>
      <p:ext uri="{BB962C8B-B14F-4D97-AF65-F5344CB8AC3E}">
        <p14:creationId xmlns:p14="http://schemas.microsoft.com/office/powerpoint/2010/main" val="416737837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examples of factors</a:t>
            </a:r>
          </a:p>
          <a:p>
            <a:r>
              <a:rPr lang="en-AU" sz="1200" b="1" i="1" kern="1200" dirty="0" smtClean="0">
                <a:solidFill>
                  <a:schemeClr val="tx1"/>
                </a:solidFill>
                <a:latin typeface="+mn-lt"/>
                <a:ea typeface="+mn-ea"/>
                <a:cs typeface="+mn-cs"/>
              </a:rPr>
              <a:t>Demographic considerations</a:t>
            </a:r>
            <a:endParaRPr lang="en-AU" sz="1200" b="1" kern="1200" dirty="0" smtClean="0">
              <a:solidFill>
                <a:schemeClr val="tx1"/>
              </a:solidFill>
              <a:latin typeface="+mn-lt"/>
              <a:ea typeface="+mn-ea"/>
              <a:cs typeface="+mn-cs"/>
            </a:endParaRPr>
          </a:p>
          <a:p>
            <a:r>
              <a:rPr lang="en-AU" sz="1200" b="0" kern="1200" dirty="0" smtClean="0">
                <a:solidFill>
                  <a:schemeClr val="tx1"/>
                </a:solidFill>
                <a:latin typeface="+mn-lt"/>
                <a:ea typeface="+mn-ea"/>
                <a:cs typeface="+mn-cs"/>
              </a:rPr>
              <a:t>Analysis of demographic factors could include:</a:t>
            </a:r>
            <a:endParaRPr lang="en-AU" sz="1200" b="1"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Are customers getting older or younger?</a:t>
            </a:r>
          </a:p>
          <a:p>
            <a:pPr>
              <a:buFont typeface="Arial" pitchFamily="34" charset="0"/>
              <a:buChar char="•"/>
            </a:pPr>
            <a:r>
              <a:rPr lang="en-AU" sz="1200" kern="1200" dirty="0" smtClean="0">
                <a:solidFill>
                  <a:schemeClr val="tx1"/>
                </a:solidFill>
                <a:latin typeface="+mn-lt"/>
                <a:ea typeface="+mn-ea"/>
                <a:cs typeface="+mn-cs"/>
              </a:rPr>
              <a:t>What is the ratio of males to females? Is this changing?</a:t>
            </a:r>
          </a:p>
          <a:p>
            <a:pPr>
              <a:buFont typeface="Arial" pitchFamily="34" charset="0"/>
              <a:buChar char="•"/>
            </a:pPr>
            <a:r>
              <a:rPr lang="en-AU" sz="1200" kern="1200" dirty="0" smtClean="0">
                <a:solidFill>
                  <a:schemeClr val="tx1"/>
                </a:solidFill>
                <a:latin typeface="+mn-lt"/>
                <a:ea typeface="+mn-ea"/>
                <a:cs typeface="+mn-cs"/>
              </a:rPr>
              <a:t>Are there increasing or decreasing domestic and/or international customers?</a:t>
            </a:r>
          </a:p>
          <a:p>
            <a:pPr>
              <a:buFont typeface="Arial" pitchFamily="34" charset="0"/>
              <a:buChar char="•"/>
            </a:pPr>
            <a:r>
              <a:rPr lang="en-AU" sz="1200" kern="1200" dirty="0" smtClean="0">
                <a:solidFill>
                  <a:schemeClr val="tx1"/>
                </a:solidFill>
                <a:latin typeface="+mn-lt"/>
                <a:ea typeface="+mn-ea"/>
                <a:cs typeface="+mn-cs"/>
              </a:rPr>
              <a:t>Which countries are customers coming from?</a:t>
            </a:r>
          </a:p>
          <a:p>
            <a:pPr>
              <a:buFont typeface="Arial" pitchFamily="34" charset="0"/>
              <a:buChar char="•"/>
            </a:pPr>
            <a:r>
              <a:rPr lang="en-AU" sz="1200" kern="1200" dirty="0" smtClean="0">
                <a:solidFill>
                  <a:schemeClr val="tx1"/>
                </a:solidFill>
                <a:latin typeface="+mn-lt"/>
                <a:ea typeface="+mn-ea"/>
                <a:cs typeface="+mn-cs"/>
              </a:rPr>
              <a:t>Are customer increasingly (or decreasingly) single, married, married with children?</a:t>
            </a:r>
          </a:p>
          <a:p>
            <a:r>
              <a:rPr lang="en-AU" sz="1200" b="1" i="1" kern="1200" dirty="0" smtClean="0">
                <a:solidFill>
                  <a:schemeClr val="tx1"/>
                </a:solidFill>
                <a:latin typeface="+mn-lt"/>
                <a:ea typeface="+mn-ea"/>
                <a:cs typeface="+mn-cs"/>
              </a:rPr>
              <a:t>Technological considerations</a:t>
            </a:r>
            <a:endParaRPr lang="en-AU" sz="1200" b="1" kern="1200" dirty="0" smtClean="0">
              <a:solidFill>
                <a:schemeClr val="tx1"/>
              </a:solidFill>
              <a:latin typeface="+mn-lt"/>
              <a:ea typeface="+mn-ea"/>
              <a:cs typeface="+mn-cs"/>
            </a:endParaRPr>
          </a:p>
          <a:p>
            <a:r>
              <a:rPr lang="en-AU" sz="1200" b="0" kern="1200" dirty="0" smtClean="0">
                <a:solidFill>
                  <a:schemeClr val="tx1"/>
                </a:solidFill>
                <a:latin typeface="+mn-lt"/>
                <a:ea typeface="+mn-ea"/>
                <a:cs typeface="+mn-cs"/>
              </a:rPr>
              <a:t>Analysis of technological considerations could include:</a:t>
            </a:r>
            <a:endParaRPr lang="en-AU" sz="1200" b="1"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Does the current technology being used by the business remain effective and efficient?</a:t>
            </a:r>
          </a:p>
          <a:p>
            <a:pPr>
              <a:buFont typeface="Arial" pitchFamily="34" charset="0"/>
              <a:buChar char="•"/>
            </a:pPr>
            <a:r>
              <a:rPr lang="en-AU" sz="1200" kern="1200" dirty="0" smtClean="0">
                <a:solidFill>
                  <a:schemeClr val="tx1"/>
                </a:solidFill>
                <a:latin typeface="+mn-lt"/>
                <a:ea typeface="+mn-ea"/>
                <a:cs typeface="+mn-cs"/>
              </a:rPr>
              <a:t>Is there new technology in the marketplace which can/should be used to:</a:t>
            </a:r>
          </a:p>
          <a:p>
            <a:pPr>
              <a:buFont typeface="Arial" pitchFamily="34" charset="0"/>
              <a:buChar char="•"/>
            </a:pPr>
            <a:r>
              <a:rPr lang="en-AU" sz="1200" kern="1200" dirty="0" smtClean="0">
                <a:solidFill>
                  <a:schemeClr val="tx1"/>
                </a:solidFill>
                <a:latin typeface="+mn-lt"/>
                <a:ea typeface="+mn-ea"/>
                <a:cs typeface="+mn-cs"/>
              </a:rPr>
              <a:t>Improve business performance/save time and/or money?</a:t>
            </a:r>
          </a:p>
          <a:p>
            <a:pPr>
              <a:buFont typeface="Arial" pitchFamily="34" charset="0"/>
              <a:buChar char="•"/>
            </a:pPr>
            <a:r>
              <a:rPr lang="en-AU" sz="1200" kern="1200" dirty="0" smtClean="0">
                <a:solidFill>
                  <a:schemeClr val="tx1"/>
                </a:solidFill>
                <a:latin typeface="+mn-lt"/>
                <a:ea typeface="+mn-ea"/>
                <a:cs typeface="+mn-cs"/>
              </a:rPr>
              <a:t>Provide better/different facilities for customers and perhaps give the organisation a USP or meet identified customer demand/meet competition?</a:t>
            </a:r>
          </a:p>
          <a:p>
            <a:pPr>
              <a:buFont typeface="Arial" pitchFamily="34" charset="0"/>
              <a:buChar char="•"/>
            </a:pPr>
            <a:r>
              <a:rPr lang="en-AU" sz="1200" kern="1200" dirty="0" smtClean="0">
                <a:solidFill>
                  <a:schemeClr val="tx1"/>
                </a:solidFill>
                <a:latin typeface="+mn-lt"/>
                <a:ea typeface="+mn-ea"/>
                <a:cs typeface="+mn-cs"/>
              </a:rPr>
              <a:t>Does legislation require use of nominated technology? When?</a:t>
            </a:r>
          </a:p>
          <a:p>
            <a:pPr>
              <a:buFont typeface="Arial" pitchFamily="34" charset="0"/>
              <a:buChar char="•"/>
            </a:pPr>
            <a:r>
              <a:rPr lang="en-AU" sz="1200" kern="1200" dirty="0" smtClean="0">
                <a:solidFill>
                  <a:schemeClr val="tx1"/>
                </a:solidFill>
                <a:latin typeface="+mn-lt"/>
                <a:ea typeface="+mn-ea"/>
                <a:cs typeface="+mn-cs"/>
              </a:rPr>
              <a:t>What is the cost of new/required technology and what are supply/purchase options?</a:t>
            </a:r>
          </a:p>
          <a:p>
            <a:pPr>
              <a:buFont typeface="Arial" pitchFamily="34" charset="0"/>
              <a:buChar char="•"/>
            </a:pPr>
            <a:r>
              <a:rPr lang="en-AU" sz="1200" kern="1200" dirty="0" smtClean="0">
                <a:solidFill>
                  <a:schemeClr val="tx1"/>
                </a:solidFill>
                <a:latin typeface="+mn-lt"/>
                <a:ea typeface="+mn-ea"/>
                <a:cs typeface="+mn-cs"/>
              </a:rPr>
              <a:t>Dangers or problems inherent in adopting new technology and/or integrating it into existing systems and/or processes. </a:t>
            </a:r>
          </a:p>
          <a:p>
            <a:r>
              <a:rPr lang="en-AU" sz="1200" b="1" i="1" kern="1200" dirty="0" smtClean="0">
                <a:solidFill>
                  <a:schemeClr val="tx1"/>
                </a:solidFill>
                <a:latin typeface="+mn-lt"/>
                <a:ea typeface="+mn-ea"/>
                <a:cs typeface="+mn-cs"/>
              </a:rPr>
              <a:t>Industrial considerations</a:t>
            </a:r>
            <a:endParaRPr lang="en-AU" sz="1200" b="1" kern="1200" dirty="0" smtClean="0">
              <a:solidFill>
                <a:schemeClr val="tx1"/>
              </a:solidFill>
              <a:latin typeface="+mn-lt"/>
              <a:ea typeface="+mn-ea"/>
              <a:cs typeface="+mn-cs"/>
            </a:endParaRPr>
          </a:p>
          <a:p>
            <a:r>
              <a:rPr lang="en-AU" sz="1200" b="0" kern="1200" dirty="0" smtClean="0">
                <a:solidFill>
                  <a:schemeClr val="tx1"/>
                </a:solidFill>
                <a:latin typeface="+mn-lt"/>
                <a:ea typeface="+mn-ea"/>
                <a:cs typeface="+mn-cs"/>
              </a:rPr>
              <a:t>Analysis of industrial considerations could include:</a:t>
            </a:r>
            <a:endParaRPr lang="en-AU" sz="1200" b="1"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Level of unionisation of workforce</a:t>
            </a:r>
          </a:p>
          <a:p>
            <a:pPr>
              <a:buFont typeface="Arial" pitchFamily="34" charset="0"/>
              <a:buChar char="•"/>
            </a:pPr>
            <a:r>
              <a:rPr lang="en-AU" sz="1200" kern="1200" dirty="0" smtClean="0">
                <a:solidFill>
                  <a:schemeClr val="tx1"/>
                </a:solidFill>
                <a:latin typeface="+mn-lt"/>
                <a:ea typeface="+mn-ea"/>
                <a:cs typeface="+mn-cs"/>
              </a:rPr>
              <a:t>Conditions of employment for workers</a:t>
            </a:r>
          </a:p>
          <a:p>
            <a:pPr>
              <a:buFont typeface="Arial" pitchFamily="34" charset="0"/>
              <a:buChar char="•"/>
            </a:pPr>
            <a:r>
              <a:rPr lang="en-AU" sz="1200" kern="1200" dirty="0" smtClean="0">
                <a:solidFill>
                  <a:schemeClr val="tx1"/>
                </a:solidFill>
                <a:latin typeface="+mn-lt"/>
                <a:ea typeface="+mn-ea"/>
                <a:cs typeface="+mn-cs"/>
              </a:rPr>
              <a:t>Triggers for industrial unrest.</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extLst>
      <p:ext uri="{BB962C8B-B14F-4D97-AF65-F5344CB8AC3E}">
        <p14:creationId xmlns:p14="http://schemas.microsoft.com/office/powerpoint/2010/main" val="192004909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examples of factors</a:t>
            </a:r>
          </a:p>
          <a:p>
            <a:r>
              <a:rPr lang="en-AU" sz="1200" b="1" kern="1200" dirty="0" smtClean="0">
                <a:solidFill>
                  <a:schemeClr val="tx1"/>
                </a:solidFill>
                <a:latin typeface="+mn-lt"/>
                <a:ea typeface="+mn-ea"/>
                <a:cs typeface="+mn-cs"/>
              </a:rPr>
              <a:t>Comparative market information</a:t>
            </a:r>
          </a:p>
          <a:p>
            <a:r>
              <a:rPr lang="en-AU" sz="1200" b="0" kern="1200" dirty="0" smtClean="0">
                <a:solidFill>
                  <a:schemeClr val="tx1"/>
                </a:solidFill>
                <a:latin typeface="+mn-lt"/>
                <a:ea typeface="+mn-ea"/>
                <a:cs typeface="+mn-cs"/>
              </a:rPr>
              <a:t>These factors relate to the issues and applicable details as they relate to: </a:t>
            </a:r>
            <a:endParaRPr lang="en-AU" sz="1200" b="1"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Best practice information – for:</a:t>
            </a:r>
          </a:p>
          <a:p>
            <a:pPr lvl="1">
              <a:buFont typeface="Arial" pitchFamily="34" charset="0"/>
              <a:buChar char="•"/>
            </a:pPr>
            <a:r>
              <a:rPr lang="en-US" sz="1200" kern="1200" dirty="0" smtClean="0">
                <a:solidFill>
                  <a:schemeClr val="tx1"/>
                </a:solidFill>
                <a:latin typeface="+mn-lt"/>
                <a:ea typeface="+mn-ea"/>
                <a:cs typeface="+mn-cs"/>
              </a:rPr>
              <a:t>The industry or industry sector</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Services delivered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The extent to which the organisation wants to align with nominated ‘Best practice’ protocols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Benchmarking – with reference to:</a:t>
            </a:r>
          </a:p>
          <a:p>
            <a:pPr lvl="1">
              <a:buFont typeface="Arial" pitchFamily="34" charset="0"/>
              <a:buChar char="•"/>
            </a:pPr>
            <a:r>
              <a:rPr lang="en-US" sz="1200" kern="1200" dirty="0" smtClean="0">
                <a:solidFill>
                  <a:schemeClr val="tx1"/>
                </a:solidFill>
                <a:latin typeface="+mn-lt"/>
                <a:ea typeface="+mn-ea"/>
                <a:cs typeface="+mn-cs"/>
              </a:rPr>
              <a:t>Identifying the other industries or businesses with which comparisons will be made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Describing the metrics which will be used for comparison purposes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Determining how relevant data will be collected and compared</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Competitor information – with reference to:</a:t>
            </a:r>
          </a:p>
          <a:p>
            <a:pPr lvl="1">
              <a:buFont typeface="Arial" pitchFamily="34" charset="0"/>
              <a:buChar char="•"/>
            </a:pPr>
            <a:r>
              <a:rPr lang="en-US" sz="1200" kern="1200" dirty="0" smtClean="0">
                <a:solidFill>
                  <a:schemeClr val="tx1"/>
                </a:solidFill>
                <a:latin typeface="+mn-lt"/>
                <a:ea typeface="+mn-ea"/>
                <a:cs typeface="+mn-cs"/>
              </a:rPr>
              <a:t>Prices being charged by them</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Their trading hours and locations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Special deals being offered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Quality and characteristics of their products and services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Promotions they are undertaking</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The staff they are using to deliver services/produce products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Their market share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Impact they are having on the business.</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a:p>
            <a:pPr>
              <a:buFont typeface="Arial" pitchFamily="34" charset="0"/>
              <a:buNone/>
            </a:pPr>
            <a:endParaRPr lang="en-US" b="1" baseline="0" noProof="0" dirty="0" smtClean="0"/>
          </a:p>
          <a:p>
            <a:pPr>
              <a:buFont typeface="Arial" pitchFamily="34" charset="0"/>
              <a:buNone/>
            </a:pPr>
            <a:r>
              <a:rPr lang="en-US" b="1" baseline="0" noProof="0" dirty="0" smtClean="0"/>
              <a:t>Classroom Activity – Internet research </a:t>
            </a:r>
          </a:p>
          <a:p>
            <a:pPr>
              <a:buFont typeface="Arial" pitchFamily="34" charset="0"/>
              <a:buNone/>
            </a:pPr>
            <a:r>
              <a:rPr lang="en-US" b="0" baseline="0" noProof="0" dirty="0" smtClean="0"/>
              <a:t>Trainer supervises internet research on relevant websites for items identified above, such as: </a:t>
            </a:r>
          </a:p>
          <a:p>
            <a:r>
              <a:rPr lang="en-AU" sz="1200" b="0" u="sng" kern="1200" dirty="0" smtClean="0">
                <a:solidFill>
                  <a:schemeClr val="tx1"/>
                </a:solidFill>
                <a:latin typeface="+mn-lt"/>
                <a:ea typeface="+mn-ea"/>
                <a:cs typeface="+mn-cs"/>
                <a:hlinkClick r:id="rId3"/>
              </a:rPr>
              <a:t>http://study.com/academy/lesson/what-is-benchmarking-definition-types-process-examples.html</a:t>
            </a:r>
            <a:r>
              <a:rPr lang="en-AU" sz="1200" b="0" kern="1200" dirty="0" smtClean="0">
                <a:solidFill>
                  <a:schemeClr val="tx1"/>
                </a:solidFill>
                <a:latin typeface="+mn-lt"/>
                <a:ea typeface="+mn-ea"/>
                <a:cs typeface="+mn-cs"/>
              </a:rPr>
              <a:t>  - What is benchmarking?</a:t>
            </a:r>
            <a:endParaRPr lang="en-AU" sz="1200" b="1" kern="1200" dirty="0" smtClean="0">
              <a:solidFill>
                <a:schemeClr val="tx1"/>
              </a:solidFill>
              <a:latin typeface="+mn-lt"/>
              <a:ea typeface="+mn-ea"/>
              <a:cs typeface="+mn-cs"/>
            </a:endParaRPr>
          </a:p>
          <a:p>
            <a:r>
              <a:rPr lang="en-AU" sz="1200" b="0" u="sng" kern="1200" dirty="0" smtClean="0">
                <a:solidFill>
                  <a:schemeClr val="tx1"/>
                </a:solidFill>
                <a:latin typeface="+mn-lt"/>
                <a:ea typeface="+mn-ea"/>
                <a:cs typeface="+mn-cs"/>
                <a:hlinkClick r:id="rId4"/>
              </a:rPr>
              <a:t>http://www.tutor2u.net/business/strategy/benchmarking.htm</a:t>
            </a:r>
            <a:r>
              <a:rPr lang="en-AU" sz="1200" b="0" kern="1200" dirty="0" smtClean="0">
                <a:solidFill>
                  <a:schemeClr val="tx1"/>
                </a:solidFill>
                <a:latin typeface="+mn-lt"/>
                <a:ea typeface="+mn-ea"/>
                <a:cs typeface="+mn-cs"/>
              </a:rPr>
              <a:t> - Benchmarking</a:t>
            </a:r>
            <a:endParaRPr lang="en-AU" sz="1200" b="1" kern="1200" dirty="0" smtClean="0">
              <a:solidFill>
                <a:schemeClr val="tx1"/>
              </a:solidFill>
              <a:latin typeface="+mn-lt"/>
              <a:ea typeface="+mn-ea"/>
              <a:cs typeface="+mn-cs"/>
            </a:endParaRPr>
          </a:p>
          <a:p>
            <a:r>
              <a:rPr lang="en-AU" sz="1200" b="0" u="sng" kern="1200" dirty="0" smtClean="0">
                <a:solidFill>
                  <a:schemeClr val="tx1"/>
                </a:solidFill>
                <a:latin typeface="+mn-lt"/>
                <a:ea typeface="+mn-ea"/>
                <a:cs typeface="+mn-cs"/>
                <a:hlinkClick r:id="rId5"/>
              </a:rPr>
              <a:t>http://en.wikipedia.org/wiki/Best_practice</a:t>
            </a:r>
            <a:r>
              <a:rPr lang="en-AU" sz="1200" b="0" kern="1200" dirty="0" smtClean="0">
                <a:solidFill>
                  <a:schemeClr val="tx1"/>
                </a:solidFill>
                <a:latin typeface="+mn-lt"/>
                <a:ea typeface="+mn-ea"/>
                <a:cs typeface="+mn-cs"/>
              </a:rPr>
              <a:t> - Best practice.</a:t>
            </a:r>
            <a:endParaRPr lang="en-AU" sz="1200" b="1" kern="1200" dirty="0" smtClean="0">
              <a:solidFill>
                <a:schemeClr val="tx1"/>
              </a:solidFill>
              <a:latin typeface="+mn-lt"/>
              <a:ea typeface="+mn-ea"/>
              <a:cs typeface="+mn-cs"/>
            </a:endParaRPr>
          </a:p>
          <a:p>
            <a:pPr>
              <a:buFont typeface="Arial" pitchFamily="34" charset="0"/>
              <a:buNone/>
            </a:pPr>
            <a:endParaRPr lang="en-US" b="0"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extLst>
      <p:ext uri="{BB962C8B-B14F-4D97-AF65-F5344CB8AC3E}">
        <p14:creationId xmlns:p14="http://schemas.microsoft.com/office/powerpoint/2010/main" val="356173216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examples of factors</a:t>
            </a:r>
          </a:p>
          <a:p>
            <a:r>
              <a:rPr lang="en-AU" sz="1200" b="1" kern="1200" dirty="0" smtClean="0">
                <a:solidFill>
                  <a:schemeClr val="tx1"/>
                </a:solidFill>
                <a:latin typeface="+mn-lt"/>
                <a:ea typeface="+mn-ea"/>
                <a:cs typeface="+mn-cs"/>
              </a:rPr>
              <a:t>Legal considerations</a:t>
            </a:r>
          </a:p>
          <a:p>
            <a:r>
              <a:rPr lang="en-AU" sz="1200" kern="1200" dirty="0" smtClean="0">
                <a:solidFill>
                  <a:schemeClr val="tx1"/>
                </a:solidFill>
                <a:latin typeface="+mn-lt"/>
                <a:ea typeface="+mn-ea"/>
                <a:cs typeface="+mn-cs"/>
              </a:rPr>
              <a:t>Legal considerations will relate to:</a:t>
            </a:r>
          </a:p>
          <a:p>
            <a:pPr>
              <a:buFont typeface="Arial" pitchFamily="34" charset="0"/>
              <a:buChar char="•"/>
            </a:pPr>
            <a:r>
              <a:rPr lang="en-AU" sz="1200" kern="1200" dirty="0" smtClean="0">
                <a:solidFill>
                  <a:schemeClr val="tx1"/>
                </a:solidFill>
                <a:latin typeface="+mn-lt"/>
                <a:ea typeface="+mn-ea"/>
                <a:cs typeface="+mn-cs"/>
              </a:rPr>
              <a:t>Complying with relevant legislation</a:t>
            </a:r>
          </a:p>
          <a:p>
            <a:pPr>
              <a:buFont typeface="Arial" pitchFamily="34" charset="0"/>
              <a:buChar char="•"/>
            </a:pPr>
            <a:r>
              <a:rPr lang="en-AU" sz="1200" kern="1200" dirty="0" smtClean="0">
                <a:solidFill>
                  <a:schemeClr val="tx1"/>
                </a:solidFill>
                <a:latin typeface="+mn-lt"/>
                <a:ea typeface="+mn-ea"/>
                <a:cs typeface="+mn-cs"/>
              </a:rPr>
              <a:t>Ensuring adherence with contractual obligations</a:t>
            </a:r>
          </a:p>
          <a:p>
            <a:pPr>
              <a:buFont typeface="Arial" pitchFamily="34" charset="0"/>
              <a:buChar char="•"/>
            </a:pPr>
            <a:r>
              <a:rPr lang="en-AU" sz="1200" kern="1200" dirty="0" smtClean="0">
                <a:solidFill>
                  <a:schemeClr val="tx1"/>
                </a:solidFill>
                <a:latin typeface="+mn-lt"/>
                <a:ea typeface="+mn-ea"/>
                <a:cs typeface="+mn-cs"/>
              </a:rPr>
              <a:t>Adhering to mandatory Codes of Practice/Conduct</a:t>
            </a:r>
          </a:p>
          <a:p>
            <a:pPr>
              <a:buFont typeface="Arial" pitchFamily="34" charset="0"/>
              <a:buChar char="•"/>
            </a:pPr>
            <a:r>
              <a:rPr lang="en-AU" sz="1200" kern="1200" dirty="0" smtClean="0">
                <a:solidFill>
                  <a:schemeClr val="tx1"/>
                </a:solidFill>
                <a:latin typeface="+mn-lt"/>
                <a:ea typeface="+mn-ea"/>
                <a:cs typeface="+mn-cs"/>
              </a:rPr>
              <a:t>Liaising with authorities to seek advice and direction on what is legally permissible</a:t>
            </a:r>
          </a:p>
          <a:p>
            <a:pPr>
              <a:buFont typeface="Arial" pitchFamily="34" charset="0"/>
              <a:buChar char="•"/>
            </a:pPr>
            <a:r>
              <a:rPr lang="en-AU" sz="1200" kern="1200" dirty="0" smtClean="0">
                <a:solidFill>
                  <a:schemeClr val="tx1"/>
                </a:solidFill>
                <a:latin typeface="+mn-lt"/>
                <a:ea typeface="+mn-ea"/>
                <a:cs typeface="+mn-cs"/>
              </a:rPr>
              <a:t>Discharging ‘duty of care’ and ‘due diligence’ obligations</a:t>
            </a:r>
          </a:p>
          <a:p>
            <a:pPr>
              <a:buFont typeface="Arial" pitchFamily="34" charset="0"/>
              <a:buChar char="•"/>
            </a:pPr>
            <a:r>
              <a:rPr lang="en-AU" sz="1200" kern="1200" dirty="0" smtClean="0">
                <a:solidFill>
                  <a:schemeClr val="tx1"/>
                </a:solidFill>
                <a:latin typeface="+mn-lt"/>
                <a:ea typeface="+mn-ea"/>
                <a:cs typeface="+mn-cs"/>
              </a:rPr>
              <a:t>Involving external legal practitioners to evaluate and advise on operations and initiatives</a:t>
            </a:r>
          </a:p>
          <a:p>
            <a:pPr>
              <a:buFont typeface="Arial" pitchFamily="34" charset="0"/>
              <a:buChar char="•"/>
            </a:pPr>
            <a:r>
              <a:rPr lang="en-AU" sz="1200" kern="1200" dirty="0" smtClean="0">
                <a:solidFill>
                  <a:schemeClr val="tx1"/>
                </a:solidFill>
                <a:latin typeface="+mn-lt"/>
                <a:ea typeface="+mn-ea"/>
                <a:cs typeface="+mn-cs"/>
              </a:rPr>
              <a:t>Ensuring customers are suitably advised about changes to products and services, and terms and conditions of trade.</a:t>
            </a:r>
          </a:p>
          <a:p>
            <a:r>
              <a:rPr lang="en-AU" sz="1200" b="1" kern="1200" dirty="0" smtClean="0">
                <a:solidFill>
                  <a:schemeClr val="tx1"/>
                </a:solidFill>
                <a:latin typeface="+mn-lt"/>
                <a:ea typeface="+mn-ea"/>
                <a:cs typeface="+mn-cs"/>
              </a:rPr>
              <a:t>Ethical considerations</a:t>
            </a:r>
          </a:p>
          <a:p>
            <a:r>
              <a:rPr lang="en-AU" sz="1200" kern="1200" dirty="0" smtClean="0">
                <a:solidFill>
                  <a:schemeClr val="tx1"/>
                </a:solidFill>
                <a:latin typeface="+mn-lt"/>
                <a:ea typeface="+mn-ea"/>
                <a:cs typeface="+mn-cs"/>
              </a:rPr>
              <a:t>Ethical considerations will relate to:</a:t>
            </a:r>
          </a:p>
          <a:p>
            <a:pPr>
              <a:buFont typeface="Arial" pitchFamily="34" charset="0"/>
              <a:buChar char="•"/>
            </a:pPr>
            <a:r>
              <a:rPr lang="en-AU" sz="1200" kern="1200" dirty="0" smtClean="0">
                <a:solidFill>
                  <a:schemeClr val="tx1"/>
                </a:solidFill>
                <a:latin typeface="+mn-lt"/>
                <a:ea typeface="+mn-ea"/>
                <a:cs typeface="+mn-cs"/>
              </a:rPr>
              <a:t>Ensuring fairness and equity</a:t>
            </a:r>
          </a:p>
          <a:p>
            <a:pPr>
              <a:buFont typeface="Arial" pitchFamily="34" charset="0"/>
              <a:buChar char="•"/>
            </a:pPr>
            <a:r>
              <a:rPr lang="en-AU" sz="1200" kern="1200" dirty="0" smtClean="0">
                <a:solidFill>
                  <a:schemeClr val="tx1"/>
                </a:solidFill>
                <a:latin typeface="+mn-lt"/>
                <a:ea typeface="+mn-ea"/>
                <a:cs typeface="+mn-cs"/>
              </a:rPr>
              <a:t>Maintaining safety and security</a:t>
            </a:r>
          </a:p>
          <a:p>
            <a:pPr>
              <a:buFont typeface="Arial" pitchFamily="34" charset="0"/>
              <a:buChar char="•"/>
            </a:pPr>
            <a:r>
              <a:rPr lang="en-AU" sz="1200" kern="1200" dirty="0" smtClean="0">
                <a:solidFill>
                  <a:schemeClr val="tx1"/>
                </a:solidFill>
                <a:latin typeface="+mn-lt"/>
                <a:ea typeface="+mn-ea"/>
                <a:cs typeface="+mn-cs"/>
              </a:rPr>
              <a:t>Child protection</a:t>
            </a:r>
          </a:p>
          <a:p>
            <a:pPr>
              <a:buFont typeface="Arial" pitchFamily="34" charset="0"/>
              <a:buChar char="•"/>
            </a:pPr>
            <a:r>
              <a:rPr lang="en-AU" sz="1200" kern="1200" dirty="0" smtClean="0">
                <a:solidFill>
                  <a:schemeClr val="tx1"/>
                </a:solidFill>
                <a:latin typeface="+mn-lt"/>
                <a:ea typeface="+mn-ea"/>
                <a:cs typeface="+mn-cs"/>
              </a:rPr>
              <a:t>Retaining transparency and accountability</a:t>
            </a:r>
          </a:p>
          <a:p>
            <a:pPr>
              <a:buFont typeface="Arial" pitchFamily="34" charset="0"/>
              <a:buChar char="•"/>
            </a:pPr>
            <a:r>
              <a:rPr lang="en-AU" sz="1200" kern="1200" dirty="0" smtClean="0">
                <a:solidFill>
                  <a:schemeClr val="tx1"/>
                </a:solidFill>
                <a:latin typeface="+mn-lt"/>
                <a:ea typeface="+mn-ea"/>
                <a:cs typeface="+mn-cs"/>
              </a:rPr>
              <a:t>Guaranteeing sustainability</a:t>
            </a:r>
          </a:p>
          <a:p>
            <a:pPr>
              <a:buFont typeface="Arial" pitchFamily="34" charset="0"/>
              <a:buChar char="•"/>
            </a:pPr>
            <a:r>
              <a:rPr lang="en-AU" sz="1200" kern="1200" dirty="0" smtClean="0">
                <a:solidFill>
                  <a:schemeClr val="tx1"/>
                </a:solidFill>
                <a:latin typeface="+mn-lt"/>
                <a:ea typeface="+mn-ea"/>
                <a:cs typeface="+mn-cs"/>
              </a:rPr>
              <a:t>Addressing environmental issues</a:t>
            </a:r>
          </a:p>
          <a:p>
            <a:pPr>
              <a:buFont typeface="Arial" pitchFamily="34" charset="0"/>
              <a:buChar char="•"/>
            </a:pPr>
            <a:r>
              <a:rPr lang="en-AU" sz="1200" kern="1200" dirty="0" smtClean="0">
                <a:solidFill>
                  <a:schemeClr val="tx1"/>
                </a:solidFill>
                <a:latin typeface="+mn-lt"/>
                <a:ea typeface="+mn-ea"/>
                <a:cs typeface="+mn-cs"/>
              </a:rPr>
              <a:t>Preserving community</a:t>
            </a:r>
          </a:p>
          <a:p>
            <a:pPr>
              <a:buFont typeface="Arial" pitchFamily="34" charset="0"/>
              <a:buChar char="•"/>
            </a:pPr>
            <a:r>
              <a:rPr lang="en-AU" sz="1200" kern="1200" dirty="0" smtClean="0">
                <a:solidFill>
                  <a:schemeClr val="tx1"/>
                </a:solidFill>
                <a:latin typeface="+mn-lt"/>
                <a:ea typeface="+mn-ea"/>
                <a:cs typeface="+mn-cs"/>
              </a:rPr>
              <a:t>Testing and proving the safety of initiatives prior to release</a:t>
            </a:r>
          </a:p>
          <a:p>
            <a:pPr>
              <a:buFont typeface="Arial" pitchFamily="34" charset="0"/>
              <a:buChar char="•"/>
            </a:pPr>
            <a:r>
              <a:rPr lang="en-AU" sz="1200" kern="1200" dirty="0" smtClean="0">
                <a:solidFill>
                  <a:schemeClr val="tx1"/>
                </a:solidFill>
                <a:latin typeface="+mn-lt"/>
                <a:ea typeface="+mn-ea"/>
                <a:cs typeface="+mn-cs"/>
              </a:rPr>
              <a:t>Promoting the local country, buying locally and supporting local employment.</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extLst>
      <p:ext uri="{BB962C8B-B14F-4D97-AF65-F5344CB8AC3E}">
        <p14:creationId xmlns:p14="http://schemas.microsoft.com/office/powerpoint/2010/main" val="371114262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indicates stakeholders</a:t>
            </a:r>
            <a:r>
              <a:rPr lang="en-AU" sz="1200" kern="1200" dirty="0" smtClean="0">
                <a:solidFill>
                  <a:schemeClr val="tx1"/>
                </a:solidFill>
                <a:latin typeface="+mn-lt"/>
                <a:ea typeface="+mn-ea"/>
                <a:cs typeface="+mn-cs"/>
              </a:rPr>
              <a:t> in the development of operational policies will vary depending on:</a:t>
            </a:r>
          </a:p>
          <a:p>
            <a:pPr>
              <a:buFont typeface="Arial" pitchFamily="34" charset="0"/>
              <a:buChar char="•"/>
            </a:pPr>
            <a:r>
              <a:rPr lang="en-AU" sz="1200" kern="1200" dirty="0" smtClean="0">
                <a:solidFill>
                  <a:schemeClr val="tx1"/>
                </a:solidFill>
                <a:latin typeface="+mn-lt"/>
                <a:ea typeface="+mn-ea"/>
                <a:cs typeface="+mn-cs"/>
              </a:rPr>
              <a:t>Company size and structure</a:t>
            </a:r>
          </a:p>
          <a:p>
            <a:pPr>
              <a:buFont typeface="Arial" pitchFamily="34" charset="0"/>
              <a:buChar char="•"/>
            </a:pPr>
            <a:r>
              <a:rPr lang="en-AU" sz="1200" kern="1200" dirty="0" smtClean="0">
                <a:solidFill>
                  <a:schemeClr val="tx1"/>
                </a:solidFill>
                <a:latin typeface="+mn-lt"/>
                <a:ea typeface="+mn-ea"/>
                <a:cs typeface="+mn-cs"/>
              </a:rPr>
              <a:t>Previous experience/engagement with the development of formal organisational documentation such as plans, policies, strategies and procedures</a:t>
            </a:r>
          </a:p>
          <a:p>
            <a:pPr>
              <a:buFont typeface="Arial" pitchFamily="34" charset="0"/>
              <a:buChar char="•"/>
            </a:pPr>
            <a:r>
              <a:rPr lang="en-AU" sz="1200" kern="1200" dirty="0" smtClean="0">
                <a:solidFill>
                  <a:schemeClr val="tx1"/>
                </a:solidFill>
                <a:latin typeface="+mn-lt"/>
                <a:ea typeface="+mn-ea"/>
                <a:cs typeface="+mn-cs"/>
              </a:rPr>
              <a:t>Urgency attached to the need to produce a particular policy</a:t>
            </a:r>
          </a:p>
          <a:p>
            <a:pPr>
              <a:buFont typeface="Arial" pitchFamily="34" charset="0"/>
              <a:buChar char="•"/>
            </a:pPr>
            <a:r>
              <a:rPr lang="en-AU" sz="1200" kern="1200" dirty="0" smtClean="0">
                <a:solidFill>
                  <a:schemeClr val="tx1"/>
                </a:solidFill>
                <a:latin typeface="+mn-lt"/>
                <a:ea typeface="+mn-ea"/>
                <a:cs typeface="+mn-cs"/>
              </a:rPr>
              <a:t>The importance of the policy being considered</a:t>
            </a:r>
          </a:p>
          <a:p>
            <a:pPr>
              <a:buFont typeface="Arial" pitchFamily="34" charset="0"/>
              <a:buChar char="•"/>
            </a:pPr>
            <a:r>
              <a:rPr lang="en-AU" sz="1200" kern="1200" dirty="0" smtClean="0">
                <a:solidFill>
                  <a:schemeClr val="tx1"/>
                </a:solidFill>
                <a:latin typeface="+mn-lt"/>
                <a:ea typeface="+mn-ea"/>
                <a:cs typeface="+mn-cs"/>
              </a:rPr>
              <a:t>Partnership arrangements and working agreements which exist between the organisation and other businesses. </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extLst>
      <p:ext uri="{BB962C8B-B14F-4D97-AF65-F5344CB8AC3E}">
        <p14:creationId xmlns:p14="http://schemas.microsoft.com/office/powerpoint/2010/main" val="287797871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identifies potential stakeholders:</a:t>
            </a:r>
          </a:p>
          <a:p>
            <a:pPr>
              <a:buFont typeface="Arial" pitchFamily="34" charset="0"/>
              <a:buChar char="•"/>
            </a:pPr>
            <a:r>
              <a:rPr lang="en-AU" sz="1200" kern="1200" dirty="0" smtClean="0">
                <a:solidFill>
                  <a:schemeClr val="tx1"/>
                </a:solidFill>
                <a:latin typeface="+mn-lt"/>
                <a:ea typeface="+mn-ea"/>
                <a:cs typeface="+mn-cs"/>
              </a:rPr>
              <a:t>Customers – standard practice is to establish a ‘representative sample’ of the profile of the organisation’s customers</a:t>
            </a:r>
          </a:p>
          <a:p>
            <a:pPr>
              <a:buFont typeface="Arial" pitchFamily="34" charset="0"/>
              <a:buChar char="•"/>
            </a:pPr>
            <a:r>
              <a:rPr lang="en-AU" sz="1200" kern="1200" dirty="0" smtClean="0">
                <a:solidFill>
                  <a:schemeClr val="tx1"/>
                </a:solidFill>
                <a:latin typeface="+mn-lt"/>
                <a:ea typeface="+mn-ea"/>
                <a:cs typeface="+mn-cs"/>
              </a:rPr>
              <a:t>Employees – from all departments/areas to which the individual policy applies or relates</a:t>
            </a:r>
          </a:p>
          <a:p>
            <a:pPr>
              <a:buFont typeface="Arial" pitchFamily="34" charset="0"/>
              <a:buChar char="•"/>
            </a:pPr>
            <a:r>
              <a:rPr lang="en-AU" sz="1200" kern="1200" dirty="0" smtClean="0">
                <a:solidFill>
                  <a:schemeClr val="tx1"/>
                </a:solidFill>
                <a:latin typeface="+mn-lt"/>
                <a:ea typeface="+mn-ea"/>
                <a:cs typeface="+mn-cs"/>
              </a:rPr>
              <a:t>Government agencies – who may:</a:t>
            </a:r>
          </a:p>
          <a:p>
            <a:pPr lvl="1">
              <a:buFont typeface="Arial" pitchFamily="34" charset="0"/>
              <a:buChar char="•"/>
            </a:pPr>
            <a:r>
              <a:rPr lang="en-US" sz="1200" kern="1200" dirty="0" smtClean="0">
                <a:solidFill>
                  <a:schemeClr val="tx1"/>
                </a:solidFill>
                <a:latin typeface="+mn-lt"/>
                <a:ea typeface="+mn-ea"/>
                <a:cs typeface="+mn-cs"/>
              </a:rPr>
              <a:t>Request involvement</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Have a mandated interest</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Be able to make valuable contributions </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Owners – and/or The Board of Management within the organisation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extLst>
      <p:ext uri="{BB962C8B-B14F-4D97-AF65-F5344CB8AC3E}">
        <p14:creationId xmlns:p14="http://schemas.microsoft.com/office/powerpoint/2010/main" val="299952696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identifies potential stakeholders:</a:t>
            </a:r>
          </a:p>
          <a:p>
            <a:pPr>
              <a:buFont typeface="Arial" pitchFamily="34" charset="0"/>
              <a:buChar char="•"/>
            </a:pPr>
            <a:r>
              <a:rPr lang="en-AU" sz="1200" kern="1200" dirty="0" smtClean="0">
                <a:solidFill>
                  <a:schemeClr val="tx1"/>
                </a:solidFill>
                <a:latin typeface="+mn-lt"/>
                <a:ea typeface="+mn-ea"/>
                <a:cs typeface="+mn-cs"/>
              </a:rPr>
              <a:t>Investors – and shareholders</a:t>
            </a:r>
          </a:p>
          <a:p>
            <a:pPr>
              <a:buFont typeface="Arial" pitchFamily="34" charset="0"/>
              <a:buChar char="•"/>
            </a:pPr>
            <a:r>
              <a:rPr lang="en-AU" sz="1200" kern="1200" dirty="0" smtClean="0">
                <a:solidFill>
                  <a:schemeClr val="tx1"/>
                </a:solidFill>
                <a:latin typeface="+mn-lt"/>
                <a:ea typeface="+mn-ea"/>
                <a:cs typeface="+mn-cs"/>
              </a:rPr>
              <a:t>Suppliers – who:</a:t>
            </a:r>
          </a:p>
          <a:p>
            <a:pPr lvl="1">
              <a:buFont typeface="Arial" pitchFamily="34" charset="0"/>
              <a:buChar char="•"/>
            </a:pPr>
            <a:r>
              <a:rPr lang="en-US" sz="1200" kern="1200" dirty="0" smtClean="0">
                <a:solidFill>
                  <a:schemeClr val="tx1"/>
                </a:solidFill>
                <a:latin typeface="+mn-lt"/>
                <a:ea typeface="+mn-ea"/>
                <a:cs typeface="+mn-cs"/>
              </a:rPr>
              <a:t>May be impacted by policy decisions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Are critical to pivotal policy decisions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Strategic alliance partners – who:</a:t>
            </a:r>
          </a:p>
          <a:p>
            <a:pPr lvl="1">
              <a:buFont typeface="Arial" pitchFamily="34" charset="0"/>
              <a:buChar char="•"/>
            </a:pPr>
            <a:r>
              <a:rPr lang="en-US" sz="1200" kern="1200" dirty="0" smtClean="0">
                <a:solidFill>
                  <a:schemeClr val="tx1"/>
                </a:solidFill>
                <a:latin typeface="+mn-lt"/>
                <a:ea typeface="+mn-ea"/>
                <a:cs typeface="+mn-cs"/>
              </a:rPr>
              <a:t>Are involved in operations flowing from policy decisions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Will want to have their interests reflected in policies which are developed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Need to be kept advised in order to maintain a cohesive, working and mutually beneficial business partnership.</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a:p>
            <a:pPr>
              <a:buFont typeface="Arial" pitchFamily="34" charset="0"/>
              <a:buNone/>
            </a:pPr>
            <a:r>
              <a:rPr lang="en-AU" b="1" noProof="0" dirty="0" smtClean="0"/>
              <a:t>Classroom Activity – Guest Speaker</a:t>
            </a:r>
          </a:p>
          <a:p>
            <a:pPr>
              <a:buFont typeface="Arial" pitchFamily="34" charset="0"/>
              <a:buNone/>
            </a:pPr>
            <a:r>
              <a:rPr lang="en-AU" b="0" noProof="0" dirty="0" smtClean="0"/>
              <a:t>Trainer arranges for suitable owner/operator or manager to attend and:</a:t>
            </a:r>
          </a:p>
          <a:p>
            <a:pPr>
              <a:buFont typeface="Arial" pitchFamily="34" charset="0"/>
              <a:buChar char="•"/>
            </a:pPr>
            <a:r>
              <a:rPr lang="en-AU" b="0" noProof="0" dirty="0" smtClean="0"/>
              <a:t>Discuss their protocols for developing operational policies</a:t>
            </a:r>
          </a:p>
          <a:p>
            <a:pPr>
              <a:buFont typeface="Arial" pitchFamily="34" charset="0"/>
              <a:buChar char="•"/>
            </a:pPr>
            <a:r>
              <a:rPr lang="en-AU" b="0" noProof="0" dirty="0" smtClean="0"/>
              <a:t>Provide examples of policies</a:t>
            </a:r>
          </a:p>
          <a:p>
            <a:pPr>
              <a:buFont typeface="Arial" pitchFamily="34" charset="0"/>
              <a:buChar char="•"/>
            </a:pPr>
            <a:r>
              <a:rPr lang="en-AU" b="0" noProof="0" dirty="0" smtClean="0"/>
              <a:t>Identify stakeholders in the policy development process</a:t>
            </a:r>
          </a:p>
          <a:p>
            <a:pPr>
              <a:buFont typeface="Arial" pitchFamily="34" charset="0"/>
              <a:buChar char="•"/>
            </a:pPr>
            <a:r>
              <a:rPr lang="en-AU" b="0" noProof="0" dirty="0" smtClean="0"/>
              <a:t>Explain implementation, monitoring and evaluation of policies.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extLst>
      <p:ext uri="{BB962C8B-B14F-4D97-AF65-F5344CB8AC3E}">
        <p14:creationId xmlns:p14="http://schemas.microsoft.com/office/powerpoint/2010/main" val="322384436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provides advice </a:t>
            </a:r>
            <a:r>
              <a:rPr lang="en-AU" sz="1200" kern="1200" dirty="0" smtClean="0">
                <a:solidFill>
                  <a:schemeClr val="tx1"/>
                </a:solidFill>
                <a:latin typeface="+mn-lt"/>
                <a:ea typeface="+mn-ea"/>
                <a:cs typeface="+mn-cs"/>
              </a:rPr>
              <a:t>in relation to seeking to consult with stakeholders:</a:t>
            </a:r>
          </a:p>
          <a:p>
            <a:pPr>
              <a:buFont typeface="Arial" pitchFamily="34" charset="0"/>
              <a:buChar char="•"/>
            </a:pPr>
            <a:r>
              <a:rPr lang="en-AU" sz="1200" kern="1200" dirty="0" smtClean="0">
                <a:solidFill>
                  <a:schemeClr val="tx1"/>
                </a:solidFill>
                <a:latin typeface="+mn-lt"/>
                <a:ea typeface="+mn-ea"/>
                <a:cs typeface="+mn-cs"/>
              </a:rPr>
              <a:t>Determine/define the reason for the consultation</a:t>
            </a:r>
          </a:p>
          <a:p>
            <a:pPr>
              <a:buFont typeface="Arial" pitchFamily="34" charset="0"/>
              <a:buChar char="•"/>
            </a:pPr>
            <a:r>
              <a:rPr lang="en-AU" sz="1200" kern="1200" dirty="0" smtClean="0">
                <a:solidFill>
                  <a:schemeClr val="tx1"/>
                </a:solidFill>
                <a:latin typeface="+mn-lt"/>
                <a:ea typeface="+mn-ea"/>
                <a:cs typeface="+mn-cs"/>
              </a:rPr>
              <a:t>Determine their preferred method of consultations</a:t>
            </a:r>
          </a:p>
          <a:p>
            <a:pPr>
              <a:buFont typeface="Arial" pitchFamily="34" charset="0"/>
              <a:buChar char="•"/>
            </a:pPr>
            <a:r>
              <a:rPr lang="en-AU" sz="1200" kern="1200" dirty="0" smtClean="0">
                <a:solidFill>
                  <a:schemeClr val="tx1"/>
                </a:solidFill>
                <a:latin typeface="+mn-lt"/>
                <a:ea typeface="+mn-ea"/>
                <a:cs typeface="+mn-cs"/>
              </a:rPr>
              <a:t>Identify the times/days they have available for consultation/to attained meetings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extLst>
      <p:ext uri="{BB962C8B-B14F-4D97-AF65-F5344CB8AC3E}">
        <p14:creationId xmlns:p14="http://schemas.microsoft.com/office/powerpoint/2010/main" val="177237625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provides advice </a:t>
            </a:r>
            <a:r>
              <a:rPr lang="en-AU" sz="1200" kern="1200" dirty="0" smtClean="0">
                <a:solidFill>
                  <a:schemeClr val="tx1"/>
                </a:solidFill>
                <a:latin typeface="+mn-lt"/>
                <a:ea typeface="+mn-ea"/>
                <a:cs typeface="+mn-cs"/>
              </a:rPr>
              <a:t>in relation to seeking to consult with stakeholders:</a:t>
            </a:r>
          </a:p>
          <a:p>
            <a:pPr>
              <a:buFont typeface="Arial" pitchFamily="34" charset="0"/>
              <a:buChar char="•"/>
            </a:pPr>
            <a:r>
              <a:rPr lang="en-AU" sz="1200" kern="1200" dirty="0" smtClean="0">
                <a:solidFill>
                  <a:schemeClr val="tx1"/>
                </a:solidFill>
                <a:latin typeface="+mn-lt"/>
                <a:ea typeface="+mn-ea"/>
                <a:cs typeface="+mn-cs"/>
              </a:rPr>
              <a:t>Work out how they prefer their information to be provided to them</a:t>
            </a:r>
          </a:p>
          <a:p>
            <a:pPr>
              <a:buFont typeface="Arial" pitchFamily="34" charset="0"/>
              <a:buChar char="•"/>
            </a:pPr>
            <a:r>
              <a:rPr lang="en-AU" sz="1200" kern="1200" dirty="0" smtClean="0">
                <a:solidFill>
                  <a:schemeClr val="tx1"/>
                </a:solidFill>
                <a:latin typeface="+mn-lt"/>
                <a:ea typeface="+mn-ea"/>
                <a:cs typeface="+mn-cs"/>
              </a:rPr>
              <a:t>Determine the level of formality/informality of the consultations preferred or required</a:t>
            </a:r>
          </a:p>
          <a:p>
            <a:pPr>
              <a:buFont typeface="Arial" pitchFamily="34" charset="0"/>
              <a:buChar char="•"/>
            </a:pPr>
            <a:r>
              <a:rPr lang="en-AU" sz="1200" kern="1200" dirty="0" smtClean="0">
                <a:solidFill>
                  <a:schemeClr val="tx1"/>
                </a:solidFill>
                <a:latin typeface="+mn-lt"/>
                <a:ea typeface="+mn-ea"/>
                <a:cs typeface="+mn-cs"/>
              </a:rPr>
              <a:t>Generate a range of ways in which stakeholders can contribute</a:t>
            </a:r>
          </a:p>
          <a:p>
            <a:pPr>
              <a:buFont typeface="Arial" pitchFamily="34" charset="0"/>
              <a:buChar char="•"/>
            </a:pPr>
            <a:r>
              <a:rPr lang="en-AU" sz="1200" kern="1200" dirty="0" smtClean="0">
                <a:solidFill>
                  <a:schemeClr val="tx1"/>
                </a:solidFill>
                <a:latin typeface="+mn-lt"/>
                <a:ea typeface="+mn-ea"/>
                <a:cs typeface="+mn-cs"/>
              </a:rPr>
              <a:t>Pitch information at the known level/s of stakeholders</a:t>
            </a: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extLst>
      <p:ext uri="{BB962C8B-B14F-4D97-AF65-F5344CB8AC3E}">
        <p14:creationId xmlns:p14="http://schemas.microsoft.com/office/powerpoint/2010/main" val="377270297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provides advice </a:t>
            </a:r>
            <a:r>
              <a:rPr lang="en-AU" sz="1200" kern="1200" dirty="0" smtClean="0">
                <a:solidFill>
                  <a:schemeClr val="tx1"/>
                </a:solidFill>
                <a:latin typeface="+mn-lt"/>
                <a:ea typeface="+mn-ea"/>
                <a:cs typeface="+mn-cs"/>
              </a:rPr>
              <a:t>in relation to seeking to consult with stakeholders:</a:t>
            </a:r>
          </a:p>
          <a:p>
            <a:pPr>
              <a:buFont typeface="Arial" pitchFamily="34" charset="0"/>
              <a:buChar char="•"/>
            </a:pPr>
            <a:r>
              <a:rPr lang="en-AU" sz="1200" kern="1200" dirty="0" smtClean="0">
                <a:solidFill>
                  <a:schemeClr val="tx1"/>
                </a:solidFill>
                <a:latin typeface="+mn-lt"/>
                <a:ea typeface="+mn-ea"/>
                <a:cs typeface="+mn-cs"/>
              </a:rPr>
              <a:t>Include a feedback loop/facility for all communications which occur as part of the consultation process</a:t>
            </a:r>
          </a:p>
          <a:p>
            <a:pPr>
              <a:buFont typeface="Arial" pitchFamily="34" charset="0"/>
              <a:buChar char="•"/>
            </a:pPr>
            <a:r>
              <a:rPr lang="en-AU" sz="1200" kern="1200" dirty="0" smtClean="0">
                <a:solidFill>
                  <a:schemeClr val="tx1"/>
                </a:solidFill>
                <a:latin typeface="+mn-lt"/>
                <a:ea typeface="+mn-ea"/>
                <a:cs typeface="+mn-cs"/>
              </a:rPr>
              <a:t>Determine how the outcomes from the consultation process can be effectively shared among others</a:t>
            </a:r>
          </a:p>
          <a:p>
            <a:pPr>
              <a:buFont typeface="Arial" pitchFamily="34" charset="0"/>
              <a:buChar char="•"/>
            </a:pPr>
            <a:r>
              <a:rPr lang="en-AU" sz="1200" kern="1200" dirty="0" smtClean="0">
                <a:solidFill>
                  <a:schemeClr val="tx1"/>
                </a:solidFill>
                <a:latin typeface="+mn-lt"/>
                <a:ea typeface="+mn-ea"/>
                <a:cs typeface="+mn-cs"/>
              </a:rPr>
              <a:t>Develop a communications plan to support the overall process.</a:t>
            </a: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extLst>
      <p:ext uri="{BB962C8B-B14F-4D97-AF65-F5344CB8AC3E}">
        <p14:creationId xmlns:p14="http://schemas.microsoft.com/office/powerpoint/2010/main" val="152309575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offers strategies </a:t>
            </a:r>
            <a:r>
              <a:rPr lang="en-AU" sz="1200" kern="1200" dirty="0" smtClean="0">
                <a:solidFill>
                  <a:schemeClr val="tx1"/>
                </a:solidFill>
                <a:latin typeface="+mn-lt"/>
                <a:ea typeface="+mn-ea"/>
                <a:cs typeface="+mn-cs"/>
              </a:rPr>
              <a:t>for consultations may include:</a:t>
            </a:r>
          </a:p>
          <a:p>
            <a:pPr>
              <a:buFont typeface="Arial" pitchFamily="34" charset="0"/>
              <a:buChar char="•"/>
            </a:pPr>
            <a:r>
              <a:rPr lang="en-AU" sz="1200" kern="1200" dirty="0" smtClean="0">
                <a:solidFill>
                  <a:schemeClr val="tx1"/>
                </a:solidFill>
                <a:latin typeface="+mn-lt"/>
                <a:ea typeface="+mn-ea"/>
                <a:cs typeface="+mn-cs"/>
              </a:rPr>
              <a:t>Use of focus groups – for customers</a:t>
            </a:r>
          </a:p>
          <a:p>
            <a:pPr>
              <a:buFont typeface="Arial" pitchFamily="34" charset="0"/>
              <a:buChar char="•"/>
            </a:pPr>
            <a:r>
              <a:rPr lang="en-AU" sz="1200" kern="1200" dirty="0" smtClean="0">
                <a:solidFill>
                  <a:schemeClr val="tx1"/>
                </a:solidFill>
                <a:latin typeface="+mn-lt"/>
                <a:ea typeface="+mn-ea"/>
                <a:cs typeface="+mn-cs"/>
              </a:rPr>
              <a:t>Face-to-face meetings and workshops – with individuals and/or groups, featuring:</a:t>
            </a:r>
          </a:p>
          <a:p>
            <a:pPr lvl="1">
              <a:buFont typeface="Arial" pitchFamily="34" charset="0"/>
              <a:buChar char="•"/>
            </a:pPr>
            <a:r>
              <a:rPr lang="en-US" sz="1200" kern="1200" dirty="0" smtClean="0">
                <a:solidFill>
                  <a:schemeClr val="tx1"/>
                </a:solidFill>
                <a:latin typeface="+mn-lt"/>
                <a:ea typeface="+mn-ea"/>
                <a:cs typeface="+mn-cs"/>
              </a:rPr>
              <a:t>Presentations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Discussions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Decision making</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Telephone contact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extLst>
      <p:ext uri="{BB962C8B-B14F-4D97-AF65-F5344CB8AC3E}">
        <p14:creationId xmlns:p14="http://schemas.microsoft.com/office/powerpoint/2010/main" val="214489507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offers strategies </a:t>
            </a:r>
            <a:r>
              <a:rPr lang="en-AU" sz="1200" kern="1200" dirty="0" smtClean="0">
                <a:solidFill>
                  <a:schemeClr val="tx1"/>
                </a:solidFill>
                <a:latin typeface="+mn-lt"/>
                <a:ea typeface="+mn-ea"/>
                <a:cs typeface="+mn-cs"/>
              </a:rPr>
              <a:t>for consultations may include:</a:t>
            </a:r>
          </a:p>
          <a:p>
            <a:pPr>
              <a:buFont typeface="Arial" pitchFamily="34" charset="0"/>
              <a:buChar char="•"/>
            </a:pPr>
            <a:r>
              <a:rPr lang="en-AU" sz="1200" kern="1200" dirty="0" smtClean="0">
                <a:solidFill>
                  <a:schemeClr val="tx1"/>
                </a:solidFill>
                <a:latin typeface="+mn-lt"/>
                <a:ea typeface="+mn-ea"/>
                <a:cs typeface="+mn-cs"/>
              </a:rPr>
              <a:t>Email communications</a:t>
            </a:r>
          </a:p>
          <a:p>
            <a:pPr>
              <a:buFont typeface="Arial" pitchFamily="34" charset="0"/>
              <a:buChar char="•"/>
            </a:pPr>
            <a:r>
              <a:rPr lang="en-AU" sz="1200" kern="1200" dirty="0" smtClean="0">
                <a:solidFill>
                  <a:schemeClr val="tx1"/>
                </a:solidFill>
                <a:latin typeface="+mn-lt"/>
                <a:ea typeface="+mn-ea"/>
                <a:cs typeface="+mn-cs"/>
              </a:rPr>
              <a:t>Posting information on designated websites</a:t>
            </a:r>
          </a:p>
          <a:p>
            <a:pPr>
              <a:buFont typeface="Arial" pitchFamily="34" charset="0"/>
              <a:buChar char="•"/>
            </a:pPr>
            <a:r>
              <a:rPr lang="en-AU" sz="1200" kern="1200" dirty="0" smtClean="0">
                <a:solidFill>
                  <a:schemeClr val="tx1"/>
                </a:solidFill>
                <a:latin typeface="+mn-lt"/>
                <a:ea typeface="+mn-ea"/>
                <a:cs typeface="+mn-cs"/>
              </a:rPr>
              <a:t>Provision of hard copy materials</a:t>
            </a:r>
          </a:p>
          <a:p>
            <a:pPr>
              <a:buFont typeface="Arial" pitchFamily="34" charset="0"/>
              <a:buChar char="•"/>
            </a:pPr>
            <a:r>
              <a:rPr lang="en-AU" sz="1200" kern="1200" dirty="0" smtClean="0">
                <a:solidFill>
                  <a:schemeClr val="tx1"/>
                </a:solidFill>
                <a:latin typeface="+mn-lt"/>
                <a:ea typeface="+mn-ea"/>
                <a:cs typeface="+mn-cs"/>
              </a:rPr>
              <a:t>De-briefing sessions following use of first-hand experiential techniques – such as:</a:t>
            </a:r>
          </a:p>
          <a:p>
            <a:pPr lvl="1">
              <a:buFont typeface="Arial" pitchFamily="34" charset="0"/>
              <a:buChar char="•"/>
            </a:pPr>
            <a:r>
              <a:rPr lang="en-AU" sz="1200" kern="1200" dirty="0" smtClean="0">
                <a:solidFill>
                  <a:schemeClr val="tx1"/>
                </a:solidFill>
                <a:latin typeface="+mn-lt"/>
                <a:ea typeface="+mn-ea"/>
                <a:cs typeface="+mn-cs"/>
              </a:rPr>
              <a:t>Receiving proposed services</a:t>
            </a:r>
          </a:p>
          <a:p>
            <a:pPr lvl="1">
              <a:buFont typeface="Arial" pitchFamily="34" charset="0"/>
              <a:buChar char="•"/>
            </a:pPr>
            <a:r>
              <a:rPr lang="en-AU" sz="1200" kern="1200" dirty="0" smtClean="0">
                <a:solidFill>
                  <a:schemeClr val="tx1"/>
                </a:solidFill>
                <a:latin typeface="+mn-lt"/>
                <a:ea typeface="+mn-ea"/>
                <a:cs typeface="+mn-cs"/>
              </a:rPr>
              <a:t>Tasting planned food and beverages products</a:t>
            </a:r>
          </a:p>
          <a:p>
            <a:pPr lvl="1">
              <a:buFont typeface="Arial" pitchFamily="34" charset="0"/>
              <a:buChar char="•"/>
            </a:pPr>
            <a:r>
              <a:rPr lang="en-AU" sz="1200" kern="1200" dirty="0" smtClean="0">
                <a:solidFill>
                  <a:schemeClr val="tx1"/>
                </a:solidFill>
                <a:latin typeface="+mn-lt"/>
                <a:ea typeface="+mn-ea"/>
                <a:cs typeface="+mn-cs"/>
              </a:rPr>
              <a:t>Visiting</a:t>
            </a:r>
            <a:r>
              <a:rPr lang="en-US" sz="1200" kern="1200" dirty="0" smtClean="0">
                <a:solidFill>
                  <a:schemeClr val="tx1"/>
                </a:solidFill>
                <a:latin typeface="+mn-lt"/>
                <a:ea typeface="+mn-ea"/>
                <a:cs typeface="+mn-cs"/>
              </a:rPr>
              <a:t> proposed destinations and venues. </a:t>
            </a:r>
            <a:endParaRPr lang="en-AU" sz="1200" kern="1200" dirty="0" smtClean="0">
              <a:solidFill>
                <a:schemeClr val="tx1"/>
              </a:solidFill>
              <a:latin typeface="+mn-lt"/>
              <a:ea typeface="+mn-ea"/>
              <a:cs typeface="+mn-cs"/>
            </a:endParaRP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extLst>
      <p:ext uri="{BB962C8B-B14F-4D97-AF65-F5344CB8AC3E}">
        <p14:creationId xmlns:p14="http://schemas.microsoft.com/office/powerpoint/2010/main" val="259356993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provides context stating in</a:t>
            </a:r>
            <a:r>
              <a:rPr lang="en-AU" sz="1200" kern="1200" dirty="0" smtClean="0">
                <a:solidFill>
                  <a:schemeClr val="tx1"/>
                </a:solidFill>
                <a:latin typeface="+mn-lt"/>
                <a:ea typeface="+mn-ea"/>
                <a:cs typeface="+mn-cs"/>
              </a:rPr>
              <a:t> relation to resource strategies it is necessary understand:</a:t>
            </a:r>
          </a:p>
          <a:p>
            <a:pPr>
              <a:buFont typeface="Arial" pitchFamily="34" charset="0"/>
              <a:buChar char="•"/>
            </a:pPr>
            <a:r>
              <a:rPr lang="en-AU" sz="1200" kern="1200" dirty="0" smtClean="0">
                <a:solidFill>
                  <a:schemeClr val="tx1"/>
                </a:solidFill>
                <a:latin typeface="+mn-lt"/>
                <a:ea typeface="+mn-ea"/>
                <a:cs typeface="+mn-cs"/>
              </a:rPr>
              <a:t>Some policies and initiatives will not have resource strategies developed for them – smaller organisations and small projects often do not need or use resource strategies for every single policy/initiative</a:t>
            </a:r>
          </a:p>
          <a:p>
            <a:pPr>
              <a:buFont typeface="Arial" pitchFamily="34" charset="0"/>
              <a:buChar char="•"/>
            </a:pPr>
            <a:r>
              <a:rPr lang="en-AU" sz="1200" kern="1200" dirty="0" smtClean="0">
                <a:solidFill>
                  <a:schemeClr val="tx1"/>
                </a:solidFill>
                <a:latin typeface="+mn-lt"/>
                <a:ea typeface="+mn-ea"/>
                <a:cs typeface="+mn-cs"/>
              </a:rPr>
              <a:t>Where resource strategies are used, they are likely to be developed for each classification of resources to be used:</a:t>
            </a:r>
          </a:p>
          <a:p>
            <a:pPr lvl="1">
              <a:buFont typeface="Arial" pitchFamily="34" charset="0"/>
              <a:buChar char="•"/>
            </a:pPr>
            <a:r>
              <a:rPr lang="en-AU" sz="1200" kern="1200" dirty="0" smtClean="0">
                <a:solidFill>
                  <a:schemeClr val="tx1"/>
                </a:solidFill>
                <a:latin typeface="+mn-lt"/>
                <a:ea typeface="+mn-ea"/>
                <a:cs typeface="+mn-cs"/>
              </a:rPr>
              <a:t>Financial resources</a:t>
            </a:r>
          </a:p>
          <a:p>
            <a:pPr lvl="1">
              <a:buFont typeface="Arial" pitchFamily="34" charset="0"/>
              <a:buChar char="•"/>
            </a:pPr>
            <a:r>
              <a:rPr lang="en-AU" sz="1200" kern="1200" dirty="0" smtClean="0">
                <a:solidFill>
                  <a:schemeClr val="tx1"/>
                </a:solidFill>
                <a:latin typeface="+mn-lt"/>
                <a:ea typeface="+mn-ea"/>
                <a:cs typeface="+mn-cs"/>
              </a:rPr>
              <a:t>Human resources</a:t>
            </a:r>
          </a:p>
          <a:p>
            <a:pPr lvl="1">
              <a:buFont typeface="Arial" pitchFamily="34" charset="0"/>
              <a:buChar char="•"/>
            </a:pPr>
            <a:r>
              <a:rPr lang="en-AU" sz="1200" kern="1200" dirty="0" smtClean="0">
                <a:solidFill>
                  <a:schemeClr val="tx1"/>
                </a:solidFill>
                <a:latin typeface="+mn-lt"/>
                <a:ea typeface="+mn-ea"/>
                <a:cs typeface="+mn-cs"/>
              </a:rPr>
              <a:t>Physical resources – which may include intellectual property or knowledge relating to the operation of the business such as statistics, information, recipes, SOPs and operational protocols</a:t>
            </a:r>
          </a:p>
          <a:p>
            <a:pPr>
              <a:buFont typeface="Arial" pitchFamily="34" charset="0"/>
              <a:buChar char="•"/>
            </a:pPr>
            <a:r>
              <a:rPr lang="en-AU" sz="1200" kern="1200" dirty="0" smtClean="0">
                <a:solidFill>
                  <a:schemeClr val="tx1"/>
                </a:solidFill>
                <a:latin typeface="+mn-lt"/>
                <a:ea typeface="+mn-ea"/>
                <a:cs typeface="+mn-cs"/>
              </a:rPr>
              <a:t>Exactly what constitutes a resource strategy is likely to vary between organisations – these is not a standard template for these strategies and it is possible/probable:</a:t>
            </a:r>
          </a:p>
          <a:p>
            <a:pPr lvl="1">
              <a:buFont typeface="Arial" pitchFamily="34" charset="0"/>
              <a:buChar char="•"/>
            </a:pPr>
            <a:r>
              <a:rPr lang="en-AU" sz="1200" kern="1200" dirty="0" smtClean="0">
                <a:solidFill>
                  <a:schemeClr val="tx1"/>
                </a:solidFill>
                <a:latin typeface="+mn-lt"/>
                <a:ea typeface="+mn-ea"/>
                <a:cs typeface="+mn-cs"/>
              </a:rPr>
              <a:t>Not all strategies will identify the </a:t>
            </a:r>
            <a:r>
              <a:rPr lang="en-AU" sz="1200" i="1" kern="1200" dirty="0" smtClean="0">
                <a:solidFill>
                  <a:schemeClr val="tx1"/>
                </a:solidFill>
                <a:latin typeface="+mn-lt"/>
                <a:ea typeface="+mn-ea"/>
                <a:cs typeface="+mn-cs"/>
              </a:rPr>
              <a:t>source</a:t>
            </a:r>
            <a:r>
              <a:rPr lang="en-AU" sz="1200" kern="1200" dirty="0" smtClean="0">
                <a:solidFill>
                  <a:schemeClr val="tx1"/>
                </a:solidFill>
                <a:latin typeface="+mn-lt"/>
                <a:ea typeface="+mn-ea"/>
                <a:cs typeface="+mn-cs"/>
              </a:rPr>
              <a:t> of resources</a:t>
            </a:r>
          </a:p>
          <a:p>
            <a:pPr lvl="1">
              <a:buFont typeface="Arial" pitchFamily="34" charset="0"/>
              <a:buChar char="•"/>
            </a:pPr>
            <a:r>
              <a:rPr lang="en-AU" sz="1200" kern="1200" dirty="0" smtClean="0">
                <a:solidFill>
                  <a:schemeClr val="tx1"/>
                </a:solidFill>
                <a:latin typeface="+mn-lt"/>
                <a:ea typeface="+mn-ea"/>
                <a:cs typeface="+mn-cs"/>
              </a:rPr>
              <a:t>Some may only address use of resources</a:t>
            </a:r>
          </a:p>
          <a:p>
            <a:pPr lvl="1">
              <a:buFont typeface="Arial" pitchFamily="34" charset="0"/>
              <a:buChar char="•"/>
            </a:pPr>
            <a:r>
              <a:rPr lang="en-AU" sz="1200" kern="1200" dirty="0" smtClean="0">
                <a:solidFill>
                  <a:schemeClr val="tx1"/>
                </a:solidFill>
                <a:latin typeface="+mn-lt"/>
                <a:ea typeface="+mn-ea"/>
                <a:cs typeface="+mn-cs"/>
              </a:rPr>
              <a:t>Others will cover both the above aspects.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extLst>
      <p:ext uri="{BB962C8B-B14F-4D97-AF65-F5344CB8AC3E}">
        <p14:creationId xmlns:p14="http://schemas.microsoft.com/office/powerpoint/2010/main" val="20895469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resource strategies</a:t>
            </a:r>
          </a:p>
          <a:p>
            <a:r>
              <a:rPr lang="en-AU" sz="1200" b="1" kern="1200" dirty="0" smtClean="0">
                <a:solidFill>
                  <a:schemeClr val="tx1"/>
                </a:solidFill>
                <a:latin typeface="+mn-lt"/>
                <a:ea typeface="+mn-ea"/>
                <a:cs typeface="+mn-cs"/>
              </a:rPr>
              <a:t>Financial resource strategy</a:t>
            </a:r>
          </a:p>
          <a:p>
            <a:r>
              <a:rPr lang="en-AU" sz="1200" kern="1200" dirty="0" smtClean="0">
                <a:solidFill>
                  <a:schemeClr val="tx1"/>
                </a:solidFill>
                <a:latin typeface="+mn-lt"/>
                <a:ea typeface="+mn-ea"/>
                <a:cs typeface="+mn-cs"/>
              </a:rPr>
              <a:t>It is to be expected the financial resource strategy for an initiative might address:</a:t>
            </a:r>
          </a:p>
          <a:p>
            <a:pPr>
              <a:buFont typeface="Arial" pitchFamily="34" charset="0"/>
              <a:buChar char="•"/>
            </a:pPr>
            <a:r>
              <a:rPr lang="en-AU" sz="1200" kern="1200" dirty="0" smtClean="0">
                <a:solidFill>
                  <a:schemeClr val="tx1"/>
                </a:solidFill>
                <a:latin typeface="+mn-lt"/>
                <a:ea typeface="+mn-ea"/>
                <a:cs typeface="+mn-cs"/>
              </a:rPr>
              <a:t>The total amount of money available for the project</a:t>
            </a:r>
          </a:p>
          <a:p>
            <a:pPr>
              <a:buFont typeface="Arial" pitchFamily="34" charset="0"/>
              <a:buChar char="•"/>
            </a:pPr>
            <a:r>
              <a:rPr lang="en-AU" sz="1200" kern="1200" dirty="0" smtClean="0">
                <a:solidFill>
                  <a:schemeClr val="tx1"/>
                </a:solidFill>
                <a:latin typeface="+mn-lt"/>
                <a:ea typeface="+mn-ea"/>
                <a:cs typeface="+mn-cs"/>
              </a:rPr>
              <a:t>Contributions made by individual sources (consolidated funds, contributions by individual departments or offices/agencies, borrowings/loans, shareholders, government grants and similar</a:t>
            </a:r>
          </a:p>
          <a:p>
            <a:pPr>
              <a:buFont typeface="Arial" pitchFamily="34" charset="0"/>
              <a:buChar char="•"/>
            </a:pPr>
            <a:r>
              <a:rPr lang="en-AU" sz="1200" kern="1200" dirty="0" smtClean="0">
                <a:solidFill>
                  <a:schemeClr val="tx1"/>
                </a:solidFill>
                <a:latin typeface="+mn-lt"/>
                <a:ea typeface="+mn-ea"/>
                <a:cs typeface="+mn-cs"/>
              </a:rPr>
              <a:t>Names of people – with:</a:t>
            </a:r>
          </a:p>
          <a:p>
            <a:pPr lvl="1">
              <a:buFont typeface="Arial" pitchFamily="34" charset="0"/>
              <a:buChar char="•"/>
            </a:pPr>
            <a:r>
              <a:rPr lang="en-US" sz="1200" kern="1200" dirty="0" smtClean="0">
                <a:solidFill>
                  <a:schemeClr val="tx1"/>
                </a:solidFill>
                <a:latin typeface="+mn-lt"/>
                <a:ea typeface="+mn-ea"/>
                <a:cs typeface="+mn-cs"/>
              </a:rPr>
              <a:t>Authority to access/spend the identified funds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Responsibility for monitoring and reporting </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extLst>
      <p:ext uri="{BB962C8B-B14F-4D97-AF65-F5344CB8AC3E}">
        <p14:creationId xmlns:p14="http://schemas.microsoft.com/office/powerpoint/2010/main" val="70449269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discussing financial resource strategies:</a:t>
            </a:r>
          </a:p>
          <a:p>
            <a:pPr>
              <a:buFont typeface="Arial" pitchFamily="34" charset="0"/>
              <a:buChar char="•"/>
            </a:pPr>
            <a:r>
              <a:rPr lang="en-AU" sz="1200" kern="1200" dirty="0" smtClean="0">
                <a:solidFill>
                  <a:schemeClr val="tx1"/>
                </a:solidFill>
                <a:latin typeface="+mn-lt"/>
                <a:ea typeface="+mn-ea"/>
                <a:cs typeface="+mn-cs"/>
              </a:rPr>
              <a:t>Times which apply to use of the money – for example:</a:t>
            </a:r>
          </a:p>
          <a:p>
            <a:pPr lvl="1">
              <a:buFont typeface="Arial" pitchFamily="34" charset="0"/>
              <a:buChar char="•"/>
            </a:pPr>
            <a:r>
              <a:rPr lang="en-US" sz="1200" kern="1200" dirty="0" smtClean="0">
                <a:solidFill>
                  <a:schemeClr val="tx1"/>
                </a:solidFill>
                <a:latin typeface="+mn-lt"/>
                <a:ea typeface="+mn-ea"/>
                <a:cs typeface="+mn-cs"/>
              </a:rPr>
              <a:t>Dates when funds become available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Dates by which funds must be spent</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Limits regarding what money can be spent on</a:t>
            </a:r>
          </a:p>
          <a:p>
            <a:pPr>
              <a:buFont typeface="Arial" pitchFamily="34" charset="0"/>
              <a:buChar char="•"/>
            </a:pPr>
            <a:r>
              <a:rPr lang="en-AU" sz="1200" kern="1200" dirty="0" smtClean="0">
                <a:solidFill>
                  <a:schemeClr val="tx1"/>
                </a:solidFill>
                <a:latin typeface="+mn-lt"/>
                <a:ea typeface="+mn-ea"/>
                <a:cs typeface="+mn-cs"/>
              </a:rPr>
              <a:t>Need for quotations to be obtained – for expenses over a given amount</a:t>
            </a:r>
          </a:p>
          <a:p>
            <a:pPr>
              <a:buFont typeface="Arial" pitchFamily="34" charset="0"/>
              <a:buChar char="•"/>
            </a:pPr>
            <a:r>
              <a:rPr lang="en-AU" sz="1200" kern="1200" dirty="0" smtClean="0">
                <a:solidFill>
                  <a:schemeClr val="tx1"/>
                </a:solidFill>
                <a:latin typeface="+mn-lt"/>
                <a:ea typeface="+mn-ea"/>
                <a:cs typeface="+mn-cs"/>
              </a:rPr>
              <a:t>Requirement for money to be spent with ‘preferred suppliers/providers’ where possible.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noProof="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extLst>
      <p:ext uri="{BB962C8B-B14F-4D97-AF65-F5344CB8AC3E}">
        <p14:creationId xmlns:p14="http://schemas.microsoft.com/office/powerpoint/2010/main" val="292631965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resource strategies</a:t>
            </a:r>
          </a:p>
          <a:p>
            <a:r>
              <a:rPr lang="en-AU" sz="1200" b="1" kern="1200" dirty="0" smtClean="0">
                <a:solidFill>
                  <a:schemeClr val="tx1"/>
                </a:solidFill>
                <a:latin typeface="+mn-lt"/>
                <a:ea typeface="+mn-ea"/>
                <a:cs typeface="+mn-cs"/>
              </a:rPr>
              <a:t>Human resource strategy</a:t>
            </a:r>
          </a:p>
          <a:p>
            <a:r>
              <a:rPr lang="en-AU" sz="1200" kern="1200" dirty="0" smtClean="0">
                <a:solidFill>
                  <a:schemeClr val="tx1"/>
                </a:solidFill>
                <a:latin typeface="+mn-lt"/>
                <a:ea typeface="+mn-ea"/>
                <a:cs typeface="+mn-cs"/>
              </a:rPr>
              <a:t>It is to be expected the HR strategy for an initiative might address:</a:t>
            </a:r>
          </a:p>
          <a:p>
            <a:pPr>
              <a:buFont typeface="Arial" pitchFamily="34" charset="0"/>
              <a:buChar char="•"/>
            </a:pPr>
            <a:r>
              <a:rPr lang="en-AU" sz="1200" kern="1200" dirty="0" smtClean="0">
                <a:solidFill>
                  <a:schemeClr val="tx1"/>
                </a:solidFill>
                <a:latin typeface="+mn-lt"/>
                <a:ea typeface="+mn-ea"/>
                <a:cs typeface="+mn-cs"/>
              </a:rPr>
              <a:t>Names of staff to be involved – or who have been allocated to the initiative</a:t>
            </a:r>
          </a:p>
          <a:p>
            <a:pPr>
              <a:buFont typeface="Arial" pitchFamily="34" charset="0"/>
              <a:buChar char="•"/>
            </a:pPr>
            <a:r>
              <a:rPr lang="en-AU" sz="1200" kern="1200" dirty="0" smtClean="0">
                <a:solidFill>
                  <a:schemeClr val="tx1"/>
                </a:solidFill>
                <a:latin typeface="+mn-lt"/>
                <a:ea typeface="+mn-ea"/>
                <a:cs typeface="+mn-cs"/>
              </a:rPr>
              <a:t>Number of hours for each staff member – or each department/division</a:t>
            </a:r>
          </a:p>
          <a:p>
            <a:pPr>
              <a:buFont typeface="Arial" pitchFamily="34" charset="0"/>
              <a:buChar char="•"/>
            </a:pPr>
            <a:r>
              <a:rPr lang="en-AU" sz="1200" kern="1200" dirty="0" smtClean="0">
                <a:solidFill>
                  <a:schemeClr val="tx1"/>
                </a:solidFill>
                <a:latin typeface="+mn-lt"/>
                <a:ea typeface="+mn-ea"/>
                <a:cs typeface="+mn-cs"/>
              </a:rPr>
              <a:t>Classification of employees – by:</a:t>
            </a:r>
          </a:p>
          <a:p>
            <a:pPr lvl="1">
              <a:buFont typeface="Arial" pitchFamily="34" charset="0"/>
              <a:buChar char="•"/>
            </a:pPr>
            <a:r>
              <a:rPr lang="en-US" sz="1200" kern="1200" dirty="0" smtClean="0">
                <a:solidFill>
                  <a:schemeClr val="tx1"/>
                </a:solidFill>
                <a:latin typeface="+mn-lt"/>
                <a:ea typeface="+mn-ea"/>
                <a:cs typeface="+mn-cs"/>
              </a:rPr>
              <a:t>Employment status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Job title/position</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extLst>
      <p:ext uri="{BB962C8B-B14F-4D97-AF65-F5344CB8AC3E}">
        <p14:creationId xmlns:p14="http://schemas.microsoft.com/office/powerpoint/2010/main" val="158338065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discussing human resource strategies:</a:t>
            </a:r>
          </a:p>
          <a:p>
            <a:pPr>
              <a:buFont typeface="Arial" pitchFamily="34" charset="0"/>
              <a:buChar char="•"/>
            </a:pPr>
            <a:r>
              <a:rPr lang="en-AU" sz="1200" kern="1200" dirty="0" smtClean="0">
                <a:solidFill>
                  <a:schemeClr val="tx1"/>
                </a:solidFill>
                <a:latin typeface="+mn-lt"/>
                <a:ea typeface="+mn-ea"/>
                <a:cs typeface="+mn-cs"/>
              </a:rPr>
              <a:t>A budget for staffing – which may be based on:</a:t>
            </a:r>
          </a:p>
          <a:p>
            <a:pPr lvl="1">
              <a:buFont typeface="Arial" pitchFamily="34" charset="0"/>
              <a:buChar char="•"/>
            </a:pPr>
            <a:r>
              <a:rPr lang="en-US" sz="1200" kern="1200" dirty="0" smtClean="0">
                <a:solidFill>
                  <a:schemeClr val="tx1"/>
                </a:solidFill>
                <a:latin typeface="+mn-lt"/>
                <a:ea typeface="+mn-ea"/>
                <a:cs typeface="+mn-cs"/>
              </a:rPr>
              <a:t>Hours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A monetary figure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A department/office contribution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Definition and treatment of relevant on costs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Training available for nominated employees – in relation to the initiative</a:t>
            </a:r>
          </a:p>
          <a:p>
            <a:pPr>
              <a:buFont typeface="Arial" pitchFamily="34" charset="0"/>
              <a:buChar char="•"/>
            </a:pPr>
            <a:r>
              <a:rPr lang="en-AU" sz="1200" kern="1200" dirty="0" smtClean="0">
                <a:solidFill>
                  <a:schemeClr val="tx1"/>
                </a:solidFill>
                <a:latin typeface="+mn-lt"/>
                <a:ea typeface="+mn-ea"/>
                <a:cs typeface="+mn-cs"/>
              </a:rPr>
              <a:t>Identification of new staff to be recruited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extLst>
      <p:ext uri="{BB962C8B-B14F-4D97-AF65-F5344CB8AC3E}">
        <p14:creationId xmlns:p14="http://schemas.microsoft.com/office/powerpoint/2010/main" val="175883980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discussing human resource strategies:</a:t>
            </a:r>
          </a:p>
          <a:p>
            <a:pPr>
              <a:buFont typeface="Arial" pitchFamily="34" charset="0"/>
              <a:buChar char="•"/>
            </a:pPr>
            <a:r>
              <a:rPr lang="en-AU" sz="1200" kern="1200" dirty="0" smtClean="0">
                <a:solidFill>
                  <a:schemeClr val="tx1"/>
                </a:solidFill>
                <a:latin typeface="+mn-lt"/>
                <a:ea typeface="+mn-ea"/>
                <a:cs typeface="+mn-cs"/>
              </a:rPr>
              <a:t>Secondment of employees to the project</a:t>
            </a:r>
          </a:p>
          <a:p>
            <a:pPr>
              <a:buFont typeface="Arial" pitchFamily="34" charset="0"/>
              <a:buChar char="•"/>
            </a:pPr>
            <a:r>
              <a:rPr lang="en-AU" sz="1200" kern="1200" dirty="0" smtClean="0">
                <a:solidFill>
                  <a:schemeClr val="tx1"/>
                </a:solidFill>
                <a:latin typeface="+mn-lt"/>
                <a:ea typeface="+mn-ea"/>
                <a:cs typeface="+mn-cs"/>
              </a:rPr>
              <a:t>Incentives/remuneration adjustments to be paid to those working on the initiative – where/if applicable (such as ‘higher duties’ payments)</a:t>
            </a:r>
          </a:p>
          <a:p>
            <a:pPr>
              <a:buFont typeface="Arial" pitchFamily="34" charset="0"/>
              <a:buChar char="•"/>
            </a:pPr>
            <a:r>
              <a:rPr lang="en-AU" sz="1200" kern="1200" dirty="0" smtClean="0">
                <a:solidFill>
                  <a:schemeClr val="tx1"/>
                </a:solidFill>
                <a:latin typeface="+mn-lt"/>
                <a:ea typeface="+mn-ea"/>
                <a:cs typeface="+mn-cs"/>
              </a:rPr>
              <a:t>Considerations in relation to internal succession planning for the organisation</a:t>
            </a:r>
          </a:p>
          <a:p>
            <a:pPr>
              <a:buFont typeface="Arial" pitchFamily="34" charset="0"/>
              <a:buChar char="•"/>
            </a:pPr>
            <a:r>
              <a:rPr lang="en-AU" sz="1200" kern="1200" dirty="0" smtClean="0">
                <a:solidFill>
                  <a:schemeClr val="tx1"/>
                </a:solidFill>
                <a:latin typeface="+mn-lt"/>
                <a:ea typeface="+mn-ea"/>
                <a:cs typeface="+mn-cs"/>
              </a:rPr>
              <a:t>Alignment of HR actions and decisions with umbrella HR plans.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extLst>
      <p:ext uri="{BB962C8B-B14F-4D97-AF65-F5344CB8AC3E}">
        <p14:creationId xmlns:p14="http://schemas.microsoft.com/office/powerpoint/2010/main" val="79470141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resource strategies</a:t>
            </a:r>
          </a:p>
          <a:p>
            <a:r>
              <a:rPr lang="en-AU" sz="1200" b="1" kern="1200" dirty="0" smtClean="0">
                <a:solidFill>
                  <a:schemeClr val="tx1"/>
                </a:solidFill>
                <a:latin typeface="+mn-lt"/>
                <a:ea typeface="+mn-ea"/>
                <a:cs typeface="+mn-cs"/>
              </a:rPr>
              <a:t>Physical resource strategy</a:t>
            </a:r>
          </a:p>
          <a:p>
            <a:r>
              <a:rPr lang="en-AU" sz="1200" kern="1200" dirty="0" smtClean="0">
                <a:solidFill>
                  <a:schemeClr val="tx1"/>
                </a:solidFill>
                <a:latin typeface="+mn-lt"/>
                <a:ea typeface="+mn-ea"/>
                <a:cs typeface="+mn-cs"/>
              </a:rPr>
              <a:t>It is to be expected the physical resource strategy for an initiative might address:</a:t>
            </a:r>
          </a:p>
          <a:p>
            <a:pPr>
              <a:buFont typeface="Arial" pitchFamily="34" charset="0"/>
              <a:buChar char="•"/>
            </a:pPr>
            <a:r>
              <a:rPr lang="en-AU" sz="1200" kern="1200" dirty="0" smtClean="0">
                <a:solidFill>
                  <a:schemeClr val="tx1"/>
                </a:solidFill>
                <a:latin typeface="+mn-lt"/>
                <a:ea typeface="+mn-ea"/>
                <a:cs typeface="+mn-cs"/>
              </a:rPr>
              <a:t>Types and quantities of resources available</a:t>
            </a:r>
          </a:p>
          <a:p>
            <a:pPr>
              <a:buFont typeface="Arial" pitchFamily="34" charset="0"/>
              <a:buChar char="•"/>
            </a:pPr>
            <a:r>
              <a:rPr lang="en-AU" sz="1200" kern="1200" dirty="0" smtClean="0">
                <a:solidFill>
                  <a:schemeClr val="tx1"/>
                </a:solidFill>
                <a:latin typeface="+mn-lt"/>
                <a:ea typeface="+mn-ea"/>
                <a:cs typeface="+mn-cs"/>
              </a:rPr>
              <a:t>Location of resources</a:t>
            </a:r>
          </a:p>
          <a:p>
            <a:pPr>
              <a:buFont typeface="Arial" pitchFamily="34" charset="0"/>
              <a:buChar char="•"/>
            </a:pPr>
            <a:r>
              <a:rPr lang="en-AU" sz="1200" kern="1200" dirty="0" smtClean="0">
                <a:solidFill>
                  <a:schemeClr val="tx1"/>
                </a:solidFill>
                <a:latin typeface="+mn-lt"/>
                <a:ea typeface="+mn-ea"/>
                <a:cs typeface="+mn-cs"/>
              </a:rPr>
              <a:t>Identification of resources which have been contributed by partners/external sources</a:t>
            </a:r>
          </a:p>
          <a:p>
            <a:pPr>
              <a:buFont typeface="Arial" pitchFamily="34" charset="0"/>
              <a:buChar char="•"/>
            </a:pPr>
            <a:r>
              <a:rPr lang="en-AU" sz="1200" kern="1200" dirty="0" smtClean="0">
                <a:solidFill>
                  <a:schemeClr val="tx1"/>
                </a:solidFill>
                <a:latin typeface="+mn-lt"/>
                <a:ea typeface="+mn-ea"/>
                <a:cs typeface="+mn-cs"/>
              </a:rPr>
              <a:t>Where resources which need to be obtained can or must be sourced</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extLst>
      <p:ext uri="{BB962C8B-B14F-4D97-AF65-F5344CB8AC3E}">
        <p14:creationId xmlns:p14="http://schemas.microsoft.com/office/powerpoint/2010/main" val="354258849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discussing physical resource strategies:</a:t>
            </a:r>
          </a:p>
          <a:p>
            <a:pPr>
              <a:buFont typeface="Arial" pitchFamily="34" charset="0"/>
              <a:buChar char="•"/>
            </a:pPr>
            <a:r>
              <a:rPr lang="en-AU" sz="1200" kern="1200" dirty="0" smtClean="0">
                <a:solidFill>
                  <a:schemeClr val="tx1"/>
                </a:solidFill>
                <a:latin typeface="+mn-lt"/>
                <a:ea typeface="+mn-ea"/>
                <a:cs typeface="+mn-cs"/>
              </a:rPr>
              <a:t>Specification of what is to happen with physical resources when the initiative is complete – for example, disposed of/thrown out, sold, given to charity, returned to XYZ</a:t>
            </a:r>
          </a:p>
          <a:p>
            <a:pPr>
              <a:buFont typeface="Arial" pitchFamily="34" charset="0"/>
              <a:buChar char="•"/>
            </a:pPr>
            <a:r>
              <a:rPr lang="en-AU" sz="1200" kern="1200" dirty="0" smtClean="0">
                <a:solidFill>
                  <a:schemeClr val="tx1"/>
                </a:solidFill>
                <a:latin typeface="+mn-lt"/>
                <a:ea typeface="+mn-ea"/>
                <a:cs typeface="+mn-cs"/>
              </a:rPr>
              <a:t>Where and how certain resources may/must be used</a:t>
            </a:r>
          </a:p>
          <a:p>
            <a:pPr>
              <a:buFont typeface="Arial" pitchFamily="34" charset="0"/>
              <a:buChar char="•"/>
            </a:pPr>
            <a:r>
              <a:rPr lang="en-AU" sz="1200" kern="1200" dirty="0" smtClean="0">
                <a:solidFill>
                  <a:schemeClr val="tx1"/>
                </a:solidFill>
                <a:latin typeface="+mn-lt"/>
                <a:ea typeface="+mn-ea"/>
                <a:cs typeface="+mn-cs"/>
              </a:rPr>
              <a:t>Monitoring of resource usage </a:t>
            </a:r>
          </a:p>
          <a:p>
            <a:pPr>
              <a:buFont typeface="Arial" pitchFamily="34" charset="0"/>
              <a:buChar char="•"/>
            </a:pPr>
            <a:r>
              <a:rPr lang="en-AU" sz="1200" kern="1200" dirty="0" smtClean="0">
                <a:solidFill>
                  <a:schemeClr val="tx1"/>
                </a:solidFill>
                <a:latin typeface="+mn-lt"/>
                <a:ea typeface="+mn-ea"/>
                <a:cs typeface="+mn-cs"/>
              </a:rPr>
              <a:t>Accountability for usage.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extLst>
      <p:ext uri="{BB962C8B-B14F-4D97-AF65-F5344CB8AC3E}">
        <p14:creationId xmlns:p14="http://schemas.microsoft.com/office/powerpoint/2010/main" val="213152111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a:t>
            </a:r>
            <a:r>
              <a:rPr lang="en-AU" sz="1200" kern="1200" dirty="0" smtClean="0">
                <a:solidFill>
                  <a:schemeClr val="tx1"/>
                </a:solidFill>
                <a:latin typeface="+mn-lt"/>
                <a:ea typeface="+mn-ea"/>
                <a:cs typeface="+mn-cs"/>
              </a:rPr>
              <a:t>‘appropriate  and financially-sound’ resource strategies may be seen as those which:</a:t>
            </a:r>
          </a:p>
          <a:p>
            <a:pPr>
              <a:buFont typeface="Arial" pitchFamily="34" charset="0"/>
              <a:buChar char="•"/>
            </a:pPr>
            <a:r>
              <a:rPr lang="en-AU" sz="1200" kern="1200" dirty="0" smtClean="0">
                <a:solidFill>
                  <a:schemeClr val="tx1"/>
                </a:solidFill>
                <a:latin typeface="+mn-lt"/>
                <a:ea typeface="+mn-ea"/>
                <a:cs typeface="+mn-cs"/>
              </a:rPr>
              <a:t>Have been approved by management</a:t>
            </a:r>
          </a:p>
          <a:p>
            <a:pPr>
              <a:buFont typeface="Arial" pitchFamily="34" charset="0"/>
              <a:buChar char="•"/>
            </a:pPr>
            <a:r>
              <a:rPr lang="en-AU" sz="1200" kern="1200" dirty="0" smtClean="0">
                <a:solidFill>
                  <a:schemeClr val="tx1"/>
                </a:solidFill>
                <a:latin typeface="+mn-lt"/>
                <a:ea typeface="+mn-ea"/>
                <a:cs typeface="+mn-cs"/>
              </a:rPr>
              <a:t>Satisfy requirements of key stakeholders</a:t>
            </a:r>
          </a:p>
          <a:p>
            <a:pPr>
              <a:buFont typeface="Arial" pitchFamily="34" charset="0"/>
              <a:buChar char="•"/>
            </a:pPr>
            <a:r>
              <a:rPr lang="en-AU" sz="1200" kern="1200" dirty="0" smtClean="0">
                <a:solidFill>
                  <a:schemeClr val="tx1"/>
                </a:solidFill>
                <a:latin typeface="+mn-lt"/>
                <a:ea typeface="+mn-ea"/>
                <a:cs typeface="+mn-cs"/>
              </a:rPr>
              <a:t>Provide suitable resources in sufficient quantities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extLst>
      <p:ext uri="{BB962C8B-B14F-4D97-AF65-F5344CB8AC3E}">
        <p14:creationId xmlns:p14="http://schemas.microsoft.com/office/powerpoint/2010/main" val="409775904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continues explaining </a:t>
            </a:r>
            <a:r>
              <a:rPr lang="en-AU" sz="1200" kern="1200" dirty="0" smtClean="0">
                <a:solidFill>
                  <a:schemeClr val="tx1"/>
                </a:solidFill>
                <a:latin typeface="+mn-lt"/>
                <a:ea typeface="+mn-ea"/>
                <a:cs typeface="+mn-cs"/>
              </a:rPr>
              <a:t>‘appropriate  and financially-sound’ resource strategies may be seen as those which:</a:t>
            </a:r>
          </a:p>
          <a:p>
            <a:pPr>
              <a:buFont typeface="Arial" pitchFamily="34" charset="0"/>
              <a:buChar char="•"/>
            </a:pPr>
            <a:r>
              <a:rPr lang="en-AU" sz="1200" kern="1200" dirty="0" smtClean="0">
                <a:solidFill>
                  <a:schemeClr val="tx1"/>
                </a:solidFill>
                <a:latin typeface="+mn-lt"/>
                <a:ea typeface="+mn-ea"/>
                <a:cs typeface="+mn-cs"/>
              </a:rPr>
              <a:t>Are safe to use/implement</a:t>
            </a:r>
          </a:p>
          <a:p>
            <a:pPr>
              <a:buFont typeface="Arial" pitchFamily="34" charset="0"/>
              <a:buChar char="•"/>
            </a:pPr>
            <a:r>
              <a:rPr lang="en-AU" sz="1200" kern="1200" dirty="0" smtClean="0">
                <a:solidFill>
                  <a:schemeClr val="tx1"/>
                </a:solidFill>
                <a:latin typeface="+mn-lt"/>
                <a:ea typeface="+mn-ea"/>
                <a:cs typeface="+mn-cs"/>
              </a:rPr>
              <a:t>Comply with all legislated obligations</a:t>
            </a:r>
          </a:p>
          <a:p>
            <a:pPr>
              <a:buFont typeface="Arial" pitchFamily="34" charset="0"/>
              <a:buChar char="•"/>
            </a:pPr>
            <a:r>
              <a:rPr lang="en-AU" sz="1200" kern="1200" dirty="0" smtClean="0">
                <a:solidFill>
                  <a:schemeClr val="tx1"/>
                </a:solidFill>
                <a:latin typeface="+mn-lt"/>
                <a:ea typeface="+mn-ea"/>
                <a:cs typeface="+mn-cs"/>
              </a:rPr>
              <a:t>Align with company goals, objectives, higher-level plans and public statements</a:t>
            </a: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extLst>
      <p:ext uri="{BB962C8B-B14F-4D97-AF65-F5344CB8AC3E}">
        <p14:creationId xmlns:p14="http://schemas.microsoft.com/office/powerpoint/2010/main" val="293114359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continues explaining </a:t>
            </a:r>
            <a:r>
              <a:rPr lang="en-AU" sz="1200" kern="1200" dirty="0" smtClean="0">
                <a:solidFill>
                  <a:schemeClr val="tx1"/>
                </a:solidFill>
                <a:latin typeface="+mn-lt"/>
                <a:ea typeface="+mn-ea"/>
                <a:cs typeface="+mn-cs"/>
              </a:rPr>
              <a:t>‘appropriate  and financially-sound’ resource strategies may be seen as those which:</a:t>
            </a:r>
          </a:p>
          <a:p>
            <a:pPr>
              <a:buFont typeface="Arial" pitchFamily="34" charset="0"/>
              <a:buChar char="•"/>
            </a:pPr>
            <a:r>
              <a:rPr lang="en-AU" sz="1200" kern="1200" dirty="0" smtClean="0">
                <a:solidFill>
                  <a:schemeClr val="tx1"/>
                </a:solidFill>
                <a:latin typeface="+mn-lt"/>
                <a:ea typeface="+mn-ea"/>
                <a:cs typeface="+mn-cs"/>
              </a:rPr>
              <a:t>Make resources available when needed</a:t>
            </a:r>
          </a:p>
          <a:p>
            <a:pPr>
              <a:buFont typeface="Arial" pitchFamily="34" charset="0"/>
              <a:buChar char="•"/>
            </a:pPr>
            <a:r>
              <a:rPr lang="en-AU" sz="1200" kern="1200" dirty="0" smtClean="0">
                <a:solidFill>
                  <a:schemeClr val="tx1"/>
                </a:solidFill>
                <a:latin typeface="+mn-lt"/>
                <a:ea typeface="+mn-ea"/>
                <a:cs typeface="+mn-cs"/>
              </a:rPr>
              <a:t>Conform with budgetary limitations</a:t>
            </a:r>
          </a:p>
          <a:p>
            <a:pPr>
              <a:buFont typeface="Arial" pitchFamily="34" charset="0"/>
              <a:buChar char="•"/>
            </a:pPr>
            <a:r>
              <a:rPr lang="en-AU" sz="1200" kern="1200" dirty="0" smtClean="0">
                <a:solidFill>
                  <a:schemeClr val="tx1"/>
                </a:solidFill>
                <a:latin typeface="+mn-lt"/>
                <a:ea typeface="+mn-ea"/>
                <a:cs typeface="+mn-cs"/>
              </a:rPr>
              <a:t>Have been subjected to required analysis – which may include:</a:t>
            </a:r>
          </a:p>
          <a:p>
            <a:pPr lvl="1">
              <a:buFont typeface="Arial" pitchFamily="34" charset="0"/>
              <a:buChar char="•"/>
            </a:pPr>
            <a:r>
              <a:rPr lang="en-US" sz="1200" kern="1200" dirty="0" smtClean="0">
                <a:solidFill>
                  <a:schemeClr val="tx1"/>
                </a:solidFill>
                <a:latin typeface="+mn-lt"/>
                <a:ea typeface="+mn-ea"/>
                <a:cs typeface="+mn-cs"/>
              </a:rPr>
              <a:t>Cost-Benefit analysis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ROI</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Have contingency plans developed for them.</a:t>
            </a:r>
          </a:p>
          <a:p>
            <a:pPr>
              <a:buFont typeface="Arial" pitchFamily="34" charset="0"/>
              <a:buNone/>
            </a:pPr>
            <a:endParaRPr lang="en-US" b="1" baseline="0" noProof="0" dirty="0" smtClean="0"/>
          </a:p>
          <a:p>
            <a:pPr>
              <a:buFont typeface="Arial" pitchFamily="34" charset="0"/>
              <a:buNone/>
            </a:pPr>
            <a:r>
              <a:rPr lang="en-US" b="1" baseline="0" noProof="0" dirty="0" smtClean="0"/>
              <a:t>Classroom Activity – Internet research </a:t>
            </a:r>
          </a:p>
          <a:p>
            <a:pPr>
              <a:buFont typeface="Arial" pitchFamily="34" charset="0"/>
              <a:buNone/>
            </a:pPr>
            <a:r>
              <a:rPr lang="en-US" b="0" baseline="0" noProof="0" dirty="0" smtClean="0"/>
              <a:t>Trainer supervises internet research on relevant websites for items identified above, such as: </a:t>
            </a:r>
          </a:p>
          <a:p>
            <a:r>
              <a:rPr lang="en-AU" sz="1200" u="sng" kern="1200" dirty="0" smtClean="0">
                <a:solidFill>
                  <a:schemeClr val="tx1"/>
                </a:solidFill>
                <a:latin typeface="+mn-lt"/>
                <a:ea typeface="+mn-ea"/>
                <a:cs typeface="+mn-cs"/>
                <a:hlinkClick r:id="rId3"/>
              </a:rPr>
              <a:t>http://www.mindtools.com/pages/article/newTED_08.htm</a:t>
            </a:r>
            <a:r>
              <a:rPr lang="en-AU" sz="1200" kern="1200" dirty="0" smtClean="0">
                <a:solidFill>
                  <a:schemeClr val="tx1"/>
                </a:solidFill>
                <a:latin typeface="+mn-lt"/>
                <a:ea typeface="+mn-ea"/>
                <a:cs typeface="+mn-cs"/>
              </a:rPr>
              <a:t> - Cost-Benefit analysis</a:t>
            </a:r>
          </a:p>
          <a:p>
            <a:r>
              <a:rPr lang="en-AU" sz="1200" u="sng" kern="1200" dirty="0" smtClean="0">
                <a:solidFill>
                  <a:schemeClr val="tx1"/>
                </a:solidFill>
                <a:latin typeface="+mn-lt"/>
                <a:ea typeface="+mn-ea"/>
                <a:cs typeface="+mn-cs"/>
                <a:hlinkClick r:id="rId4"/>
              </a:rPr>
              <a:t>http://management.about.com/cs/money/a/CostBenefit.htm</a:t>
            </a:r>
            <a:r>
              <a:rPr lang="en-AU" sz="1200" kern="1200" dirty="0" smtClean="0">
                <a:solidFill>
                  <a:schemeClr val="tx1"/>
                </a:solidFill>
                <a:latin typeface="+mn-lt"/>
                <a:ea typeface="+mn-ea"/>
                <a:cs typeface="+mn-cs"/>
              </a:rPr>
              <a:t> - Cost Benefit analysis</a:t>
            </a:r>
          </a:p>
          <a:p>
            <a:r>
              <a:rPr lang="en-AU" sz="1200" u="sng" kern="1200" dirty="0" smtClean="0">
                <a:solidFill>
                  <a:schemeClr val="tx1"/>
                </a:solidFill>
                <a:latin typeface="+mn-lt"/>
                <a:ea typeface="+mn-ea"/>
                <a:cs typeface="+mn-cs"/>
                <a:hlinkClick r:id="rId5"/>
              </a:rPr>
              <a:t>https://www.business-case-analysis.com/return-on-investment.html</a:t>
            </a:r>
            <a:r>
              <a:rPr lang="en-AU" sz="1200" kern="1200" dirty="0" smtClean="0">
                <a:solidFill>
                  <a:schemeClr val="tx1"/>
                </a:solidFill>
                <a:latin typeface="+mn-lt"/>
                <a:ea typeface="+mn-ea"/>
                <a:cs typeface="+mn-cs"/>
              </a:rPr>
              <a:t> - ROI explained.</a:t>
            </a: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extLst>
      <p:ext uri="{BB962C8B-B14F-4D97-AF65-F5344CB8AC3E}">
        <p14:creationId xmlns:p14="http://schemas.microsoft.com/office/powerpoint/2010/main" val="380252547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defines ‘infrastructure’ noting </a:t>
            </a:r>
            <a:r>
              <a:rPr lang="en-AU" sz="1200" kern="1200" dirty="0" smtClean="0">
                <a:solidFill>
                  <a:schemeClr val="tx1"/>
                </a:solidFill>
                <a:latin typeface="+mn-lt"/>
                <a:ea typeface="+mn-ea"/>
                <a:cs typeface="+mn-cs"/>
              </a:rPr>
              <a:t>in this context it can be seen as:</a:t>
            </a:r>
          </a:p>
          <a:p>
            <a:pPr>
              <a:buFont typeface="Arial" pitchFamily="34" charset="0"/>
              <a:buChar char="•"/>
            </a:pPr>
            <a:r>
              <a:rPr lang="en-AU" sz="1200" kern="1200" dirty="0" smtClean="0">
                <a:solidFill>
                  <a:schemeClr val="tx1"/>
                </a:solidFill>
                <a:latin typeface="+mn-lt"/>
                <a:ea typeface="+mn-ea"/>
                <a:cs typeface="+mn-cs"/>
              </a:rPr>
              <a:t>Systems necessary to support implementation of policies and initiatives</a:t>
            </a:r>
          </a:p>
          <a:p>
            <a:pPr>
              <a:buFont typeface="Arial" pitchFamily="34" charset="0"/>
              <a:buChar char="•"/>
            </a:pPr>
            <a:r>
              <a:rPr lang="en-AU" sz="1200" kern="1200" dirty="0" smtClean="0">
                <a:solidFill>
                  <a:schemeClr val="tx1"/>
                </a:solidFill>
                <a:latin typeface="+mn-lt"/>
                <a:ea typeface="+mn-ea"/>
                <a:cs typeface="+mn-cs"/>
              </a:rPr>
              <a:t>Facilities required to enable required administrative work to be conducted for the policies and initiatives.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extLst>
      <p:ext uri="{BB962C8B-B14F-4D97-AF65-F5344CB8AC3E}">
        <p14:creationId xmlns:p14="http://schemas.microsoft.com/office/powerpoint/2010/main" val="165996584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a:t>
            </a:r>
            <a:r>
              <a:rPr lang="en-AU" sz="1200" kern="1200" dirty="0" smtClean="0">
                <a:solidFill>
                  <a:schemeClr val="tx1"/>
                </a:solidFill>
                <a:latin typeface="+mn-lt"/>
                <a:ea typeface="+mn-ea"/>
                <a:cs typeface="+mn-cs"/>
              </a:rPr>
              <a:t>‘Administrative work’ can be seen as the activities required to:</a:t>
            </a:r>
          </a:p>
          <a:p>
            <a:pPr>
              <a:buFont typeface="Arial" pitchFamily="34" charset="0"/>
              <a:buChar char="•"/>
            </a:pPr>
            <a:r>
              <a:rPr lang="en-AU" sz="1200" kern="1200" dirty="0" smtClean="0">
                <a:solidFill>
                  <a:schemeClr val="tx1"/>
                </a:solidFill>
                <a:latin typeface="+mn-lt"/>
                <a:ea typeface="+mn-ea"/>
                <a:cs typeface="+mn-cs"/>
              </a:rPr>
              <a:t>Supervise and manage the project – to enable suitable implementation of policy and conduct of the initiative</a:t>
            </a:r>
          </a:p>
          <a:p>
            <a:pPr>
              <a:buFont typeface="Arial" pitchFamily="34" charset="0"/>
              <a:buChar char="•"/>
            </a:pPr>
            <a:r>
              <a:rPr lang="en-AU" sz="1200" kern="1200" dirty="0" smtClean="0">
                <a:solidFill>
                  <a:schemeClr val="tx1"/>
                </a:solidFill>
                <a:latin typeface="+mn-lt"/>
                <a:ea typeface="+mn-ea"/>
                <a:cs typeface="+mn-cs"/>
              </a:rPr>
              <a:t>Track and monitor activities – so there is oversight of all nominated aspects and progress is examined to identify variations from projections/expectations at the earliest opportunity so corrective action can be taken</a:t>
            </a:r>
          </a:p>
          <a:p>
            <a:pPr>
              <a:buFont typeface="Arial" pitchFamily="34" charset="0"/>
              <a:buChar char="•"/>
            </a:pPr>
            <a:r>
              <a:rPr lang="en-AU" sz="1200" kern="1200" dirty="0" smtClean="0">
                <a:solidFill>
                  <a:schemeClr val="tx1"/>
                </a:solidFill>
                <a:latin typeface="+mn-lt"/>
                <a:ea typeface="+mn-ea"/>
                <a:cs typeface="+mn-cs"/>
              </a:rPr>
              <a:t>Record action taken – so an accurate and up-to-date database of information is established and maintained for the project</a:t>
            </a:r>
          </a:p>
          <a:p>
            <a:pPr>
              <a:buFont typeface="Arial" pitchFamily="34" charset="0"/>
              <a:buChar char="•"/>
            </a:pPr>
            <a:r>
              <a:rPr lang="en-AU" sz="1200" kern="1200" dirty="0" smtClean="0">
                <a:solidFill>
                  <a:schemeClr val="tx1"/>
                </a:solidFill>
                <a:latin typeface="+mn-lt"/>
                <a:ea typeface="+mn-ea"/>
                <a:cs typeface="+mn-cs"/>
              </a:rPr>
              <a:t>Report on progress – using factual data to form the basis of information sharing to relevant stakeholders.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extLst>
      <p:ext uri="{BB962C8B-B14F-4D97-AF65-F5344CB8AC3E}">
        <p14:creationId xmlns:p14="http://schemas.microsoft.com/office/powerpoint/2010/main" val="143410245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highlights in </a:t>
            </a:r>
            <a:r>
              <a:rPr lang="en-AU" sz="1200" kern="1200" dirty="0" smtClean="0">
                <a:solidFill>
                  <a:schemeClr val="tx1"/>
                </a:solidFill>
                <a:latin typeface="+mn-lt"/>
                <a:ea typeface="+mn-ea"/>
                <a:cs typeface="+mn-cs"/>
              </a:rPr>
              <a:t>order to create an effective administrative framework and systems capable of supporting a planned initiative it can be necessary to:</a:t>
            </a:r>
          </a:p>
          <a:p>
            <a:pPr>
              <a:buFont typeface="Arial" pitchFamily="34" charset="0"/>
              <a:buChar char="•"/>
            </a:pPr>
            <a:r>
              <a:rPr lang="en-AU" sz="1200" kern="1200" dirty="0" smtClean="0">
                <a:solidFill>
                  <a:schemeClr val="tx1"/>
                </a:solidFill>
                <a:latin typeface="+mn-lt"/>
                <a:ea typeface="+mn-ea"/>
                <a:cs typeface="+mn-cs"/>
              </a:rPr>
              <a:t>Identify and allocate roles for the initiative – so there is clarity regarding responsibilities for action required</a:t>
            </a:r>
          </a:p>
          <a:p>
            <a:pPr>
              <a:buFont typeface="Arial" pitchFamily="34" charset="0"/>
              <a:buChar char="•"/>
            </a:pPr>
            <a:r>
              <a:rPr lang="en-AU" sz="1200" kern="1200" dirty="0" smtClean="0">
                <a:solidFill>
                  <a:schemeClr val="tx1"/>
                </a:solidFill>
                <a:latin typeface="+mn-lt"/>
                <a:ea typeface="+mn-ea"/>
                <a:cs typeface="+mn-cs"/>
              </a:rPr>
              <a:t>Determine documentation to be used – which may mean:</a:t>
            </a:r>
          </a:p>
          <a:p>
            <a:pPr lvl="1">
              <a:buFont typeface="Arial" pitchFamily="34" charset="0"/>
              <a:buChar char="•"/>
            </a:pPr>
            <a:r>
              <a:rPr lang="en-US" sz="1200" kern="1200" dirty="0" smtClean="0">
                <a:solidFill>
                  <a:schemeClr val="tx1"/>
                </a:solidFill>
                <a:latin typeface="+mn-lt"/>
                <a:ea typeface="+mn-ea"/>
                <a:cs typeface="+mn-cs"/>
              </a:rPr>
              <a:t>Developing new forms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Deciding on the use of existing internal paperwork</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Verify KPIs and planned objectives have been addressed – to ensure all aspects of the policy/initiative can be covered by administrative duties</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extLst>
      <p:ext uri="{BB962C8B-B14F-4D97-AF65-F5344CB8AC3E}">
        <p14:creationId xmlns:p14="http://schemas.microsoft.com/office/powerpoint/2010/main" val="288306137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explaining </a:t>
            </a:r>
            <a:r>
              <a:rPr lang="en-AU" sz="1200" kern="1200" dirty="0" smtClean="0">
                <a:solidFill>
                  <a:schemeClr val="tx1"/>
                </a:solidFill>
                <a:latin typeface="+mn-lt"/>
                <a:ea typeface="+mn-ea"/>
                <a:cs typeface="+mn-cs"/>
              </a:rPr>
              <a:t>to create an effective administrative framework and systems capable of supporting a planned initiative it can be necessary to:</a:t>
            </a:r>
          </a:p>
          <a:p>
            <a:pPr>
              <a:buFont typeface="Arial" pitchFamily="34" charset="0"/>
              <a:buChar char="•"/>
            </a:pPr>
            <a:r>
              <a:rPr lang="en-AU" sz="1200" kern="1200" dirty="0" smtClean="0">
                <a:solidFill>
                  <a:schemeClr val="tx1"/>
                </a:solidFill>
                <a:latin typeface="+mn-lt"/>
                <a:ea typeface="+mn-ea"/>
                <a:cs typeface="+mn-cs"/>
              </a:rPr>
              <a:t>Implement relevant risk management – as appropriate to issues where this action is deemed necessary</a:t>
            </a:r>
          </a:p>
          <a:p>
            <a:pPr>
              <a:buFont typeface="Arial" pitchFamily="34" charset="0"/>
              <a:buChar char="•"/>
            </a:pPr>
            <a:r>
              <a:rPr lang="en-AU" sz="1200" kern="1200" dirty="0" smtClean="0">
                <a:solidFill>
                  <a:schemeClr val="tx1"/>
                </a:solidFill>
                <a:latin typeface="+mn-lt"/>
                <a:ea typeface="+mn-ea"/>
                <a:cs typeface="+mn-cs"/>
              </a:rPr>
              <a:t>Prescribe reporting protocols – with reference to:</a:t>
            </a:r>
          </a:p>
          <a:p>
            <a:pPr lvl="1">
              <a:buFont typeface="Arial" pitchFamily="34" charset="0"/>
              <a:buChar char="•"/>
            </a:pPr>
            <a:r>
              <a:rPr lang="en-US" sz="1200" kern="1200" dirty="0" smtClean="0">
                <a:solidFill>
                  <a:schemeClr val="tx1"/>
                </a:solidFill>
                <a:latin typeface="+mn-lt"/>
                <a:ea typeface="+mn-ea"/>
                <a:cs typeface="+mn-cs"/>
              </a:rPr>
              <a:t>Timing of reports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Nature of the reporting mechanism/s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Generate scopes of authority for policy-specific issues</a:t>
            </a:r>
          </a:p>
          <a:p>
            <a:pPr>
              <a:buFont typeface="Arial" pitchFamily="34" charset="0"/>
              <a:buChar char="•"/>
            </a:pPr>
            <a:r>
              <a:rPr lang="en-AU" sz="1200" kern="1200" dirty="0" smtClean="0">
                <a:solidFill>
                  <a:schemeClr val="tx1"/>
                </a:solidFill>
                <a:latin typeface="+mn-lt"/>
                <a:ea typeface="+mn-ea"/>
                <a:cs typeface="+mn-cs"/>
              </a:rPr>
              <a:t>Train staff – in required practices as they apply to the initiative</a:t>
            </a:r>
          </a:p>
          <a:p>
            <a:pPr>
              <a:buFont typeface="Arial" pitchFamily="34" charset="0"/>
              <a:buChar char="•"/>
            </a:pPr>
            <a:r>
              <a:rPr lang="en-AU" sz="1200" kern="1200" dirty="0" smtClean="0">
                <a:solidFill>
                  <a:schemeClr val="tx1"/>
                </a:solidFill>
                <a:latin typeface="+mn-lt"/>
                <a:ea typeface="+mn-ea"/>
                <a:cs typeface="+mn-cs"/>
              </a:rPr>
              <a:t>Ensure safety provisions – for all aspects of the project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extLst>
      <p:ext uri="{BB962C8B-B14F-4D97-AF65-F5344CB8AC3E}">
        <p14:creationId xmlns:p14="http://schemas.microsoft.com/office/powerpoint/2010/main" val="76804016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explaining </a:t>
            </a:r>
            <a:r>
              <a:rPr lang="en-AU" sz="1200" kern="1200" dirty="0" smtClean="0">
                <a:solidFill>
                  <a:schemeClr val="tx1"/>
                </a:solidFill>
                <a:latin typeface="+mn-lt"/>
                <a:ea typeface="+mn-ea"/>
                <a:cs typeface="+mn-cs"/>
              </a:rPr>
              <a:t>to create an effective administrative framework and systems capable of supporting a planned initiative it can be necessary to:</a:t>
            </a:r>
          </a:p>
          <a:p>
            <a:pPr>
              <a:buFont typeface="Arial" pitchFamily="34" charset="0"/>
              <a:buChar char="•"/>
            </a:pPr>
            <a:r>
              <a:rPr lang="en-AU" sz="1200" kern="1200" dirty="0" smtClean="0">
                <a:solidFill>
                  <a:schemeClr val="tx1"/>
                </a:solidFill>
                <a:latin typeface="+mn-lt"/>
                <a:ea typeface="+mn-ea"/>
                <a:cs typeface="+mn-cs"/>
              </a:rPr>
              <a:t>Decide on security protocols – to safeguard information captured/generated by administration</a:t>
            </a:r>
          </a:p>
          <a:p>
            <a:pPr>
              <a:buFont typeface="Arial" pitchFamily="34" charset="0"/>
              <a:buChar char="•"/>
            </a:pPr>
            <a:r>
              <a:rPr lang="en-AU" sz="1200" kern="1200" dirty="0" smtClean="0">
                <a:solidFill>
                  <a:schemeClr val="tx1"/>
                </a:solidFill>
                <a:latin typeface="+mn-lt"/>
                <a:ea typeface="+mn-ea"/>
                <a:cs typeface="+mn-cs"/>
              </a:rPr>
              <a:t>Set up suitable data/information gathering options and procedures – to ensure all identified materials are captured and recorded</a:t>
            </a:r>
          </a:p>
          <a:p>
            <a:pPr>
              <a:buFont typeface="Arial" pitchFamily="34" charset="0"/>
              <a:buChar char="•"/>
            </a:pPr>
            <a:r>
              <a:rPr lang="en-AU" sz="1200" kern="1200" dirty="0" smtClean="0">
                <a:solidFill>
                  <a:schemeClr val="tx1"/>
                </a:solidFill>
                <a:latin typeface="+mn-lt"/>
                <a:ea typeface="+mn-ea"/>
                <a:cs typeface="+mn-cs"/>
              </a:rPr>
              <a:t>Establish a viable communication plan – to exchange information between stakeholders</a:t>
            </a:r>
          </a:p>
          <a:p>
            <a:pPr>
              <a:buFont typeface="Arial" pitchFamily="34" charset="0"/>
              <a:buChar char="•"/>
            </a:pPr>
            <a:r>
              <a:rPr lang="en-AU" sz="1200" kern="1200" dirty="0" smtClean="0">
                <a:solidFill>
                  <a:schemeClr val="tx1"/>
                </a:solidFill>
                <a:latin typeface="+mn-lt"/>
                <a:ea typeface="+mn-ea"/>
                <a:cs typeface="+mn-cs"/>
              </a:rPr>
              <a:t>Create a system for users and customers to provide feedback – if they:</a:t>
            </a:r>
          </a:p>
          <a:p>
            <a:pPr lvl="1">
              <a:buFont typeface="Arial" pitchFamily="34" charset="0"/>
              <a:buChar char="•"/>
            </a:pPr>
            <a:r>
              <a:rPr lang="en-US" sz="1200" kern="1200" dirty="0" smtClean="0">
                <a:solidFill>
                  <a:schemeClr val="tx1"/>
                </a:solidFill>
                <a:latin typeface="+mn-lt"/>
                <a:ea typeface="+mn-ea"/>
                <a:cs typeface="+mn-cs"/>
              </a:rPr>
              <a:t>Identify a problem or issue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Have a suggestion/recommendation to make. </a:t>
            </a:r>
            <a:endParaRPr lang="en-AU" sz="1200" kern="120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extLst>
      <p:ext uri="{BB962C8B-B14F-4D97-AF65-F5344CB8AC3E}">
        <p14:creationId xmlns:p14="http://schemas.microsoft.com/office/powerpoint/2010/main" val="289817035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reminds of possible stakeholders:</a:t>
            </a:r>
          </a:p>
          <a:p>
            <a:pPr>
              <a:buFont typeface="Arial" pitchFamily="34" charset="0"/>
              <a:buChar char="•"/>
            </a:pPr>
            <a:r>
              <a:rPr lang="en-AU" sz="1200" kern="1200" dirty="0" smtClean="0">
                <a:solidFill>
                  <a:schemeClr val="tx1"/>
                </a:solidFill>
                <a:latin typeface="+mn-lt"/>
                <a:ea typeface="+mn-ea"/>
                <a:cs typeface="+mn-cs"/>
              </a:rPr>
              <a:t>Customers </a:t>
            </a:r>
          </a:p>
          <a:p>
            <a:pPr>
              <a:buFont typeface="Arial" pitchFamily="34" charset="0"/>
              <a:buChar char="•"/>
            </a:pPr>
            <a:r>
              <a:rPr lang="en-AU" sz="1200" kern="1200" dirty="0" smtClean="0">
                <a:solidFill>
                  <a:schemeClr val="tx1"/>
                </a:solidFill>
                <a:latin typeface="+mn-lt"/>
                <a:ea typeface="+mn-ea"/>
                <a:cs typeface="+mn-cs"/>
              </a:rPr>
              <a:t>Employees </a:t>
            </a:r>
          </a:p>
          <a:p>
            <a:pPr>
              <a:buFont typeface="Arial" pitchFamily="34" charset="0"/>
              <a:buChar char="•"/>
            </a:pPr>
            <a:r>
              <a:rPr lang="en-AU" sz="1200" kern="1200" dirty="0" smtClean="0">
                <a:solidFill>
                  <a:schemeClr val="tx1"/>
                </a:solidFill>
                <a:latin typeface="+mn-lt"/>
                <a:ea typeface="+mn-ea"/>
                <a:cs typeface="+mn-cs"/>
              </a:rPr>
              <a:t>Government agencies </a:t>
            </a:r>
          </a:p>
          <a:p>
            <a:pPr>
              <a:buFont typeface="Arial" pitchFamily="34" charset="0"/>
              <a:buChar char="•"/>
            </a:pPr>
            <a:r>
              <a:rPr lang="en-AU" sz="1200" kern="1200" dirty="0" smtClean="0">
                <a:solidFill>
                  <a:schemeClr val="tx1"/>
                </a:solidFill>
                <a:latin typeface="+mn-lt"/>
                <a:ea typeface="+mn-ea"/>
                <a:cs typeface="+mn-cs"/>
              </a:rPr>
              <a:t>Owners and/or The Board of Management within the organisation</a:t>
            </a:r>
          </a:p>
          <a:p>
            <a:pPr>
              <a:buFont typeface="Arial" pitchFamily="34" charset="0"/>
              <a:buChar char="•"/>
            </a:pPr>
            <a:r>
              <a:rPr lang="en-AU" sz="1200" kern="1200" dirty="0" smtClean="0">
                <a:solidFill>
                  <a:schemeClr val="tx1"/>
                </a:solidFill>
                <a:latin typeface="+mn-lt"/>
                <a:ea typeface="+mn-ea"/>
                <a:cs typeface="+mn-cs"/>
              </a:rPr>
              <a:t>Investors and shareholders</a:t>
            </a:r>
          </a:p>
          <a:p>
            <a:pPr>
              <a:buFont typeface="Arial" pitchFamily="34" charset="0"/>
              <a:buChar char="•"/>
            </a:pPr>
            <a:r>
              <a:rPr lang="en-AU" sz="1200" kern="1200" dirty="0" smtClean="0">
                <a:solidFill>
                  <a:schemeClr val="tx1"/>
                </a:solidFill>
                <a:latin typeface="+mn-lt"/>
                <a:ea typeface="+mn-ea"/>
                <a:cs typeface="+mn-cs"/>
              </a:rPr>
              <a:t>Suppliers </a:t>
            </a:r>
          </a:p>
          <a:p>
            <a:pPr>
              <a:buFont typeface="Arial" pitchFamily="34" charset="0"/>
              <a:buChar char="•"/>
            </a:pPr>
            <a:r>
              <a:rPr lang="en-AU" sz="1200" kern="1200" dirty="0" smtClean="0">
                <a:solidFill>
                  <a:schemeClr val="tx1"/>
                </a:solidFill>
                <a:latin typeface="+mn-lt"/>
                <a:ea typeface="+mn-ea"/>
                <a:cs typeface="+mn-cs"/>
              </a:rPr>
              <a:t>Strategic alliance partners.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extLst>
      <p:ext uri="{BB962C8B-B14F-4D97-AF65-F5344CB8AC3E}">
        <p14:creationId xmlns:p14="http://schemas.microsoft.com/office/powerpoint/2010/main" val="213523029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indicates when </a:t>
            </a:r>
            <a:r>
              <a:rPr lang="en-AU" sz="1200" kern="1200" dirty="0" smtClean="0">
                <a:solidFill>
                  <a:schemeClr val="tx1"/>
                </a:solidFill>
                <a:latin typeface="+mn-lt"/>
                <a:ea typeface="+mn-ea"/>
                <a:cs typeface="+mn-cs"/>
              </a:rPr>
              <a:t>communicating with stakeholders there is a need to:</a:t>
            </a:r>
          </a:p>
          <a:p>
            <a:pPr>
              <a:buFont typeface="Arial" pitchFamily="34" charset="0"/>
              <a:buChar char="•"/>
            </a:pPr>
            <a:r>
              <a:rPr lang="en-AU" sz="1200" kern="1200" dirty="0" smtClean="0">
                <a:solidFill>
                  <a:schemeClr val="tx1"/>
                </a:solidFill>
                <a:latin typeface="+mn-lt"/>
                <a:ea typeface="+mn-ea"/>
                <a:cs typeface="+mn-cs"/>
              </a:rPr>
              <a:t>Present the </a:t>
            </a:r>
            <a:r>
              <a:rPr lang="en-AU" sz="1200" i="1" kern="1200" dirty="0" smtClean="0">
                <a:solidFill>
                  <a:schemeClr val="tx1"/>
                </a:solidFill>
                <a:latin typeface="+mn-lt"/>
                <a:ea typeface="+mn-ea"/>
                <a:cs typeface="+mn-cs"/>
              </a:rPr>
              <a:t>purpose</a:t>
            </a:r>
            <a:r>
              <a:rPr lang="en-AU" sz="1200" kern="1200" dirty="0" smtClean="0">
                <a:solidFill>
                  <a:schemeClr val="tx1"/>
                </a:solidFill>
                <a:latin typeface="+mn-lt"/>
                <a:ea typeface="+mn-ea"/>
                <a:cs typeface="+mn-cs"/>
              </a:rPr>
              <a:t> of the operational initiative </a:t>
            </a:r>
            <a:r>
              <a:rPr lang="en-AU" sz="1200" b="1" kern="1200" dirty="0" smtClean="0">
                <a:solidFill>
                  <a:schemeClr val="tx1"/>
                </a:solidFill>
                <a:latin typeface="+mn-lt"/>
                <a:ea typeface="+mn-ea"/>
                <a:cs typeface="+mn-cs"/>
              </a:rPr>
              <a:t>and</a:t>
            </a:r>
            <a:r>
              <a:rPr lang="en-AU" sz="1200" kern="1200" dirty="0" smtClean="0">
                <a:solidFill>
                  <a:schemeClr val="tx1"/>
                </a:solidFill>
                <a:latin typeface="+mn-lt"/>
                <a:ea typeface="+mn-ea"/>
                <a:cs typeface="+mn-cs"/>
              </a:rPr>
              <a:t> also explain </a:t>
            </a:r>
            <a:r>
              <a:rPr lang="en-AU" sz="1200" i="1" kern="1200" dirty="0" smtClean="0">
                <a:solidFill>
                  <a:schemeClr val="tx1"/>
                </a:solidFill>
                <a:latin typeface="+mn-lt"/>
                <a:ea typeface="+mn-ea"/>
                <a:cs typeface="+mn-cs"/>
              </a:rPr>
              <a:t>why</a:t>
            </a:r>
            <a:r>
              <a:rPr lang="en-AU" sz="1200" kern="1200" dirty="0" smtClean="0">
                <a:solidFill>
                  <a:schemeClr val="tx1"/>
                </a:solidFill>
                <a:latin typeface="+mn-lt"/>
                <a:ea typeface="+mn-ea"/>
                <a:cs typeface="+mn-cs"/>
              </a:rPr>
              <a:t> it will be beneficial/has been introduced </a:t>
            </a:r>
          </a:p>
          <a:p>
            <a:pPr>
              <a:buFont typeface="Arial" pitchFamily="34" charset="0"/>
              <a:buChar char="•"/>
            </a:pPr>
            <a:r>
              <a:rPr lang="en-AU" sz="1200" kern="1200" dirty="0" smtClean="0">
                <a:solidFill>
                  <a:schemeClr val="tx1"/>
                </a:solidFill>
                <a:latin typeface="+mn-lt"/>
                <a:ea typeface="+mn-ea"/>
                <a:cs typeface="+mn-cs"/>
              </a:rPr>
              <a:t>Give staff everything relevant to the initiative and the applicable to their area of work – which </a:t>
            </a:r>
            <a:r>
              <a:rPr lang="en-AU" sz="1200" i="1" kern="1200" dirty="0" smtClean="0">
                <a:solidFill>
                  <a:schemeClr val="tx1"/>
                </a:solidFill>
                <a:latin typeface="+mn-lt"/>
                <a:ea typeface="+mn-ea"/>
                <a:cs typeface="+mn-cs"/>
              </a:rPr>
              <a:t>might</a:t>
            </a:r>
            <a:r>
              <a:rPr lang="en-AU" sz="1200" kern="1200" dirty="0" smtClean="0">
                <a:solidFill>
                  <a:schemeClr val="tx1"/>
                </a:solidFill>
                <a:latin typeface="+mn-lt"/>
                <a:ea typeface="+mn-ea"/>
                <a:cs typeface="+mn-cs"/>
              </a:rPr>
              <a:t> include:</a:t>
            </a:r>
          </a:p>
          <a:p>
            <a:pPr lvl="1">
              <a:buFont typeface="Arial" pitchFamily="34" charset="0"/>
              <a:buChar char="•"/>
            </a:pPr>
            <a:r>
              <a:rPr lang="en-AU" sz="1200" kern="1200" dirty="0" smtClean="0">
                <a:solidFill>
                  <a:schemeClr val="tx1"/>
                </a:solidFill>
                <a:latin typeface="+mn-lt"/>
                <a:ea typeface="+mn-ea"/>
                <a:cs typeface="+mn-cs"/>
              </a:rPr>
              <a:t>Copies of plans from which policies flowed</a:t>
            </a:r>
          </a:p>
          <a:p>
            <a:pPr lvl="1">
              <a:buFont typeface="Arial" pitchFamily="34" charset="0"/>
              <a:buChar char="•"/>
            </a:pPr>
            <a:r>
              <a:rPr lang="en-AU" sz="1200" kern="1200" dirty="0" smtClean="0">
                <a:solidFill>
                  <a:schemeClr val="tx1"/>
                </a:solidFill>
                <a:latin typeface="+mn-lt"/>
                <a:ea typeface="+mn-ea"/>
                <a:cs typeface="+mn-cs"/>
              </a:rPr>
              <a:t>Copies of standards which apply to the initiative</a:t>
            </a:r>
          </a:p>
          <a:p>
            <a:pPr lvl="1">
              <a:buFont typeface="Arial" pitchFamily="34" charset="0"/>
              <a:buChar char="•"/>
            </a:pPr>
            <a:r>
              <a:rPr lang="en-AU" sz="1200" kern="1200" dirty="0" smtClean="0">
                <a:solidFill>
                  <a:schemeClr val="tx1"/>
                </a:solidFill>
                <a:latin typeface="+mn-lt"/>
                <a:ea typeface="+mn-ea"/>
                <a:cs typeface="+mn-cs"/>
              </a:rPr>
              <a:t>Copies of all relevant policies</a:t>
            </a:r>
          </a:p>
          <a:p>
            <a:pPr lvl="1">
              <a:buFont typeface="Arial" pitchFamily="34" charset="0"/>
              <a:buChar char="•"/>
            </a:pPr>
            <a:r>
              <a:rPr lang="en-AU" sz="1200" kern="1200" dirty="0" smtClean="0">
                <a:solidFill>
                  <a:schemeClr val="tx1"/>
                </a:solidFill>
                <a:latin typeface="+mn-lt"/>
                <a:ea typeface="+mn-ea"/>
                <a:cs typeface="+mn-cs"/>
              </a:rPr>
              <a:t>Copies of procedures which are based on the policies</a:t>
            </a:r>
          </a:p>
          <a:p>
            <a:pPr>
              <a:buFont typeface="Arial" pitchFamily="34" charset="0"/>
              <a:buChar char="•"/>
            </a:pPr>
            <a:r>
              <a:rPr lang="en-AU" sz="1200" kern="1200" dirty="0" smtClean="0">
                <a:solidFill>
                  <a:schemeClr val="tx1"/>
                </a:solidFill>
                <a:latin typeface="+mn-lt"/>
                <a:ea typeface="+mn-ea"/>
                <a:cs typeface="+mn-cs"/>
              </a:rPr>
              <a:t>Identify dates relevant to the policy – which will commonly relate to:</a:t>
            </a:r>
          </a:p>
          <a:p>
            <a:pPr lvl="1">
              <a:buFont typeface="Arial" pitchFamily="34" charset="0"/>
              <a:buChar char="•"/>
            </a:pPr>
            <a:r>
              <a:rPr lang="en-AU" sz="1200" kern="1200" dirty="0" smtClean="0">
                <a:solidFill>
                  <a:schemeClr val="tx1"/>
                </a:solidFill>
                <a:latin typeface="+mn-lt"/>
                <a:ea typeface="+mn-ea"/>
                <a:cs typeface="+mn-cs"/>
              </a:rPr>
              <a:t>Implementation and introducing the initiative </a:t>
            </a:r>
          </a:p>
          <a:p>
            <a:pPr lvl="1">
              <a:buFont typeface="Arial" pitchFamily="34" charset="0"/>
              <a:buChar char="•"/>
            </a:pPr>
            <a:r>
              <a:rPr lang="en-AU" sz="1200" kern="1200" dirty="0" smtClean="0">
                <a:solidFill>
                  <a:schemeClr val="tx1"/>
                </a:solidFill>
                <a:latin typeface="+mn-lt"/>
                <a:ea typeface="+mn-ea"/>
                <a:cs typeface="+mn-cs"/>
              </a:rPr>
              <a:t>Transitional periods</a:t>
            </a:r>
          </a:p>
          <a:p>
            <a:pPr lvl="1">
              <a:buFont typeface="Arial" pitchFamily="34" charset="0"/>
              <a:buChar char="•"/>
            </a:pPr>
            <a:r>
              <a:rPr lang="en-AU" sz="1200" kern="1200" dirty="0" smtClean="0">
                <a:solidFill>
                  <a:schemeClr val="tx1"/>
                </a:solidFill>
                <a:latin typeface="+mn-lt"/>
                <a:ea typeface="+mn-ea"/>
                <a:cs typeface="+mn-cs"/>
              </a:rPr>
              <a:t>Dates for evaluation of KPIs</a:t>
            </a:r>
          </a:p>
          <a:p>
            <a:pPr lvl="1">
              <a:buFont typeface="Arial" pitchFamily="34" charset="0"/>
              <a:buChar char="•"/>
            </a:pPr>
            <a:r>
              <a:rPr lang="en-AU" sz="1200" kern="1200" dirty="0" smtClean="0">
                <a:solidFill>
                  <a:schemeClr val="tx1"/>
                </a:solidFill>
                <a:latin typeface="+mn-lt"/>
                <a:ea typeface="+mn-ea"/>
                <a:cs typeface="+mn-cs"/>
              </a:rPr>
              <a:t>Review dates</a:t>
            </a:r>
          </a:p>
          <a:p>
            <a:pPr lvl="1">
              <a:buFont typeface="Arial" pitchFamily="34" charset="0"/>
              <a:buChar char="•"/>
            </a:pPr>
            <a:r>
              <a:rPr lang="en-AU" sz="1200" kern="1200" dirty="0" smtClean="0">
                <a:solidFill>
                  <a:schemeClr val="tx1"/>
                </a:solidFill>
                <a:latin typeface="+mn-lt"/>
                <a:ea typeface="+mn-ea"/>
                <a:cs typeface="+mn-cs"/>
              </a:rPr>
              <a:t>Monitoring activities</a:t>
            </a:r>
          </a:p>
          <a:p>
            <a:pPr lvl="1">
              <a:buFont typeface="Arial" pitchFamily="34" charset="0"/>
              <a:buChar char="•"/>
            </a:pPr>
            <a:r>
              <a:rPr lang="en-AU" sz="1200" kern="1200" dirty="0" smtClean="0">
                <a:solidFill>
                  <a:schemeClr val="tx1"/>
                </a:solidFill>
                <a:latin typeface="+mn-lt"/>
                <a:ea typeface="+mn-ea"/>
                <a:cs typeface="+mn-cs"/>
              </a:rPr>
              <a:t>Reporting </a:t>
            </a:r>
          </a:p>
          <a:p>
            <a:pPr lvl="1">
              <a:buFont typeface="Arial" pitchFamily="34" charset="0"/>
              <a:buChar char="•"/>
            </a:pPr>
            <a:r>
              <a:rPr lang="en-AU" sz="1200" kern="1200" dirty="0" smtClean="0">
                <a:solidFill>
                  <a:schemeClr val="tx1"/>
                </a:solidFill>
                <a:latin typeface="+mn-lt"/>
                <a:ea typeface="+mn-ea"/>
                <a:cs typeface="+mn-cs"/>
              </a:rPr>
              <a:t>Completion</a:t>
            </a:r>
          </a:p>
          <a:p>
            <a:pPr lvl="1">
              <a:buFont typeface="Arial" pitchFamily="34" charset="0"/>
              <a:buChar char="•"/>
            </a:pPr>
            <a:r>
              <a:rPr lang="en-AU" sz="1200" kern="1200" dirty="0" smtClean="0">
                <a:solidFill>
                  <a:schemeClr val="tx1"/>
                </a:solidFill>
                <a:latin typeface="+mn-lt"/>
                <a:ea typeface="+mn-ea"/>
                <a:cs typeface="+mn-cs"/>
              </a:rPr>
              <a:t>Final analysis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extLst>
      <p:ext uri="{BB962C8B-B14F-4D97-AF65-F5344CB8AC3E}">
        <p14:creationId xmlns:p14="http://schemas.microsoft.com/office/powerpoint/2010/main" val="134109744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indicates when </a:t>
            </a:r>
            <a:r>
              <a:rPr lang="en-AU" sz="1200" kern="1200" dirty="0" smtClean="0">
                <a:solidFill>
                  <a:schemeClr val="tx1"/>
                </a:solidFill>
                <a:latin typeface="+mn-lt"/>
                <a:ea typeface="+mn-ea"/>
                <a:cs typeface="+mn-cs"/>
              </a:rPr>
              <a:t>communicating with stakeholders there is a need to:</a:t>
            </a:r>
          </a:p>
          <a:p>
            <a:pPr>
              <a:buFont typeface="Arial" pitchFamily="34" charset="0"/>
              <a:buChar char="•"/>
            </a:pPr>
            <a:r>
              <a:rPr lang="en-AU" sz="1200" kern="1200" dirty="0" smtClean="0">
                <a:solidFill>
                  <a:schemeClr val="tx1"/>
                </a:solidFill>
                <a:latin typeface="+mn-lt"/>
                <a:ea typeface="+mn-ea"/>
                <a:cs typeface="+mn-cs"/>
              </a:rPr>
              <a:t>Separate and prioritise elements of the policy (where applicable) – so stakeholders understand the relative importance for each of the components</a:t>
            </a:r>
          </a:p>
          <a:p>
            <a:pPr>
              <a:buFont typeface="Arial" pitchFamily="34" charset="0"/>
              <a:buChar char="•"/>
            </a:pPr>
            <a:r>
              <a:rPr lang="en-AU" sz="1200" kern="1200" dirty="0" smtClean="0">
                <a:solidFill>
                  <a:schemeClr val="tx1"/>
                </a:solidFill>
                <a:latin typeface="+mn-lt"/>
                <a:ea typeface="+mn-ea"/>
                <a:cs typeface="+mn-cs"/>
              </a:rPr>
              <a:t>Detail the allocated roles and responsibilities – which attach to individuals under the policy</a:t>
            </a:r>
          </a:p>
          <a:p>
            <a:pPr>
              <a:buFont typeface="Arial" pitchFamily="34" charset="0"/>
              <a:buChar char="•"/>
            </a:pPr>
            <a:r>
              <a:rPr lang="en-AU" sz="1200" kern="1200" dirty="0" smtClean="0">
                <a:solidFill>
                  <a:schemeClr val="tx1"/>
                </a:solidFill>
                <a:latin typeface="+mn-lt"/>
                <a:ea typeface="+mn-ea"/>
                <a:cs typeface="+mn-cs"/>
              </a:rPr>
              <a:t>Explain any new/changed scopes of authority – which attach to roles and responsibilities created under the policy</a:t>
            </a: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extLst>
      <p:ext uri="{BB962C8B-B14F-4D97-AF65-F5344CB8AC3E}">
        <p14:creationId xmlns:p14="http://schemas.microsoft.com/office/powerpoint/2010/main" val="265374911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indicates when </a:t>
            </a:r>
            <a:r>
              <a:rPr lang="en-AU" sz="1200" kern="1200" dirty="0" smtClean="0">
                <a:solidFill>
                  <a:schemeClr val="tx1"/>
                </a:solidFill>
                <a:latin typeface="+mn-lt"/>
                <a:ea typeface="+mn-ea"/>
                <a:cs typeface="+mn-cs"/>
              </a:rPr>
              <a:t>communicating with stakeholders there is a need to:</a:t>
            </a:r>
          </a:p>
          <a:p>
            <a:pPr>
              <a:buFont typeface="Arial" pitchFamily="34" charset="0"/>
              <a:buChar char="•"/>
            </a:pPr>
            <a:r>
              <a:rPr lang="en-AU" sz="1200" kern="1200" dirty="0" smtClean="0">
                <a:solidFill>
                  <a:schemeClr val="tx1"/>
                </a:solidFill>
                <a:latin typeface="+mn-lt"/>
                <a:ea typeface="+mn-ea"/>
                <a:cs typeface="+mn-cs"/>
              </a:rPr>
              <a:t>Inform of training provided to support implementation of the policy/project</a:t>
            </a:r>
          </a:p>
          <a:p>
            <a:pPr>
              <a:buFont typeface="Arial" pitchFamily="34" charset="0"/>
              <a:buChar char="•"/>
            </a:pPr>
            <a:r>
              <a:rPr lang="en-AU" sz="1200" kern="1200" dirty="0" smtClean="0">
                <a:solidFill>
                  <a:schemeClr val="tx1"/>
                </a:solidFill>
                <a:latin typeface="+mn-lt"/>
                <a:ea typeface="+mn-ea"/>
                <a:cs typeface="+mn-cs"/>
              </a:rPr>
              <a:t>Encourage questions about the operational policy</a:t>
            </a:r>
          </a:p>
          <a:p>
            <a:pPr>
              <a:buFont typeface="Arial" pitchFamily="34" charset="0"/>
              <a:buChar char="•"/>
            </a:pPr>
            <a:r>
              <a:rPr lang="en-AU" sz="1200" kern="1200" dirty="0" smtClean="0">
                <a:solidFill>
                  <a:schemeClr val="tx1"/>
                </a:solidFill>
                <a:latin typeface="+mn-lt"/>
                <a:ea typeface="+mn-ea"/>
                <a:cs typeface="+mn-cs"/>
              </a:rPr>
              <a:t>Be available – for later discussions if individuals have concerns/need more detail</a:t>
            </a:r>
          </a:p>
          <a:p>
            <a:pPr>
              <a:buFont typeface="Arial" pitchFamily="34" charset="0"/>
              <a:buChar char="•"/>
            </a:pPr>
            <a:r>
              <a:rPr lang="en-AU" sz="1200" kern="1200" dirty="0" smtClean="0">
                <a:solidFill>
                  <a:schemeClr val="tx1"/>
                </a:solidFill>
                <a:latin typeface="+mn-lt"/>
                <a:ea typeface="+mn-ea"/>
                <a:cs typeface="+mn-cs"/>
              </a:rPr>
              <a:t>Include new policies in applicable workplace documents – such as operational manuals, induction programs and in-house training.</a:t>
            </a: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extLst>
      <p:ext uri="{BB962C8B-B14F-4D97-AF65-F5344CB8AC3E}">
        <p14:creationId xmlns:p14="http://schemas.microsoft.com/office/powerpoint/2010/main" val="119824406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guidelines for communication noting the </a:t>
            </a:r>
            <a:r>
              <a:rPr lang="en-AU" sz="1200" kern="1200" dirty="0" smtClean="0">
                <a:solidFill>
                  <a:schemeClr val="tx1"/>
                </a:solidFill>
                <a:latin typeface="+mn-lt"/>
                <a:ea typeface="+mn-ea"/>
                <a:cs typeface="+mn-cs"/>
              </a:rPr>
              <a:t>communication of new (or revised) operational policies (or strategies or initiatives) may occur in various ways.</a:t>
            </a:r>
          </a:p>
          <a:p>
            <a:r>
              <a:rPr lang="en-AU" sz="1200" b="1" kern="1200" dirty="0" smtClean="0">
                <a:solidFill>
                  <a:schemeClr val="tx1"/>
                </a:solidFill>
                <a:latin typeface="+mn-lt"/>
                <a:ea typeface="+mn-ea"/>
                <a:cs typeface="+mn-cs"/>
              </a:rPr>
              <a:t>Keys</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Keys to communicating are:</a:t>
            </a:r>
          </a:p>
          <a:p>
            <a:pPr>
              <a:buFont typeface="Arial" pitchFamily="34" charset="0"/>
              <a:buChar char="•"/>
            </a:pPr>
            <a:r>
              <a:rPr lang="en-AU" sz="1200" kern="1200" dirty="0" smtClean="0">
                <a:solidFill>
                  <a:schemeClr val="tx1"/>
                </a:solidFill>
                <a:latin typeface="+mn-lt"/>
                <a:ea typeface="+mn-ea"/>
                <a:cs typeface="+mn-cs"/>
              </a:rPr>
              <a:t>The communication must be planned – effective communication never ‘just happens’</a:t>
            </a:r>
          </a:p>
          <a:p>
            <a:pPr>
              <a:buFont typeface="Arial" pitchFamily="34" charset="0"/>
              <a:buChar char="•"/>
            </a:pPr>
            <a:r>
              <a:rPr lang="en-AU" sz="1200" kern="1200" dirty="0" smtClean="0">
                <a:solidFill>
                  <a:schemeClr val="tx1"/>
                </a:solidFill>
                <a:latin typeface="+mn-lt"/>
                <a:ea typeface="+mn-ea"/>
                <a:cs typeface="+mn-cs"/>
              </a:rPr>
              <a:t>The communication method/medium preferred by the stakeholder should be used – to demonstrate respect for their stated preferences</a:t>
            </a:r>
          </a:p>
          <a:p>
            <a:pPr>
              <a:buFont typeface="Arial" pitchFamily="34" charset="0"/>
              <a:buChar char="•"/>
            </a:pPr>
            <a:r>
              <a:rPr lang="en-AU" sz="1200" kern="1200" dirty="0" smtClean="0">
                <a:solidFill>
                  <a:schemeClr val="tx1"/>
                </a:solidFill>
                <a:latin typeface="+mn-lt"/>
                <a:ea typeface="+mn-ea"/>
                <a:cs typeface="+mn-cs"/>
              </a:rPr>
              <a:t>Communications should be pitched at the level of the recipient – to optimise likelihood of people reading and understanding what is being provided</a:t>
            </a:r>
          </a:p>
          <a:p>
            <a:pPr>
              <a:buFont typeface="Arial" pitchFamily="34" charset="0"/>
              <a:buChar char="•"/>
            </a:pPr>
            <a:r>
              <a:rPr lang="en-AU" sz="1200" kern="1200" dirty="0" smtClean="0">
                <a:solidFill>
                  <a:schemeClr val="tx1"/>
                </a:solidFill>
                <a:latin typeface="+mn-lt"/>
                <a:ea typeface="+mn-ea"/>
                <a:cs typeface="+mn-cs"/>
              </a:rPr>
              <a:t>A track must be kept of those who are contacted – so a record of the communication is maintained and/or available</a:t>
            </a:r>
          </a:p>
          <a:p>
            <a:pPr>
              <a:buFont typeface="Arial" pitchFamily="34" charset="0"/>
              <a:buChar char="•"/>
            </a:pPr>
            <a:r>
              <a:rPr lang="en-AU" sz="1200" kern="1200" dirty="0" smtClean="0">
                <a:solidFill>
                  <a:schemeClr val="tx1"/>
                </a:solidFill>
                <a:latin typeface="+mn-lt"/>
                <a:ea typeface="+mn-ea"/>
                <a:cs typeface="+mn-cs"/>
              </a:rPr>
              <a:t>Follow-up must occur – in situations where:</a:t>
            </a:r>
          </a:p>
          <a:p>
            <a:pPr lvl="1">
              <a:buFont typeface="Arial" pitchFamily="34" charset="0"/>
              <a:buChar char="•"/>
            </a:pPr>
            <a:r>
              <a:rPr lang="en-AU" sz="1200" kern="1200" dirty="0" smtClean="0">
                <a:solidFill>
                  <a:schemeClr val="tx1"/>
                </a:solidFill>
                <a:latin typeface="+mn-lt"/>
                <a:ea typeface="+mn-ea"/>
                <a:cs typeface="+mn-cs"/>
              </a:rPr>
              <a:t>There is difficulty contacting a person</a:t>
            </a:r>
          </a:p>
          <a:p>
            <a:pPr lvl="1">
              <a:buFont typeface="Arial" pitchFamily="34" charset="0"/>
              <a:buChar char="•"/>
            </a:pPr>
            <a:r>
              <a:rPr lang="en-AU" sz="1200" kern="1200" dirty="0" smtClean="0">
                <a:solidFill>
                  <a:schemeClr val="tx1"/>
                </a:solidFill>
                <a:latin typeface="+mn-lt"/>
                <a:ea typeface="+mn-ea"/>
                <a:cs typeface="+mn-cs"/>
              </a:rPr>
              <a:t>Questions/issues are raised</a:t>
            </a:r>
          </a:p>
          <a:p>
            <a:pPr lvl="1">
              <a:buFont typeface="Arial" pitchFamily="34" charset="0"/>
              <a:buChar char="•"/>
            </a:pPr>
            <a:r>
              <a:rPr lang="en-AU" sz="1200" kern="1200" dirty="0" smtClean="0">
                <a:solidFill>
                  <a:schemeClr val="tx1"/>
                </a:solidFill>
                <a:latin typeface="+mn-lt"/>
                <a:ea typeface="+mn-ea"/>
                <a:cs typeface="+mn-cs"/>
              </a:rPr>
              <a:t>More information/explanation is requested.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extLst>
      <p:ext uri="{BB962C8B-B14F-4D97-AF65-F5344CB8AC3E}">
        <p14:creationId xmlns:p14="http://schemas.microsoft.com/office/powerpoint/2010/main" val="2564344865"/>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strategies</a:t>
            </a:r>
            <a:r>
              <a:rPr lang="en-AU" baseline="0" noProof="0" dirty="0" smtClean="0"/>
              <a:t> for communication in this regard:</a:t>
            </a:r>
          </a:p>
          <a:p>
            <a:pPr>
              <a:buFont typeface="Arial" pitchFamily="34" charset="0"/>
              <a:buChar char="•"/>
            </a:pPr>
            <a:r>
              <a:rPr lang="en-AU" sz="1200" kern="1200" dirty="0" smtClean="0">
                <a:solidFill>
                  <a:schemeClr val="tx1"/>
                </a:solidFill>
                <a:latin typeface="+mn-lt"/>
                <a:ea typeface="+mn-ea"/>
                <a:cs typeface="+mn-cs"/>
              </a:rPr>
              <a:t>Hold a formal meeting (or series of meetings) to inform stakeholders of the operational initiative – this could/should feature:</a:t>
            </a:r>
          </a:p>
          <a:p>
            <a:pPr lvl="1">
              <a:buFont typeface="Arial" pitchFamily="34" charset="0"/>
              <a:buChar char="•"/>
            </a:pPr>
            <a:r>
              <a:rPr lang="en-AU" sz="1200" kern="1200" dirty="0" smtClean="0">
                <a:solidFill>
                  <a:schemeClr val="tx1"/>
                </a:solidFill>
                <a:latin typeface="+mn-lt"/>
                <a:ea typeface="+mn-ea"/>
                <a:cs typeface="+mn-cs"/>
              </a:rPr>
              <a:t>Verbal explanation</a:t>
            </a:r>
          </a:p>
          <a:p>
            <a:pPr lvl="1">
              <a:buFont typeface="Arial" pitchFamily="34" charset="0"/>
              <a:buChar char="•"/>
            </a:pPr>
            <a:r>
              <a:rPr lang="en-AU" sz="1200" kern="1200" dirty="0" smtClean="0">
                <a:solidFill>
                  <a:schemeClr val="tx1"/>
                </a:solidFill>
                <a:latin typeface="+mn-lt"/>
                <a:ea typeface="+mn-ea"/>
                <a:cs typeface="+mn-cs"/>
              </a:rPr>
              <a:t>PowerPoint presentation</a:t>
            </a:r>
          </a:p>
          <a:p>
            <a:pPr lvl="1">
              <a:buFont typeface="Arial" pitchFamily="34" charset="0"/>
              <a:buChar char="•"/>
            </a:pPr>
            <a:r>
              <a:rPr lang="en-AU" sz="1200" kern="1200" dirty="0" smtClean="0">
                <a:solidFill>
                  <a:schemeClr val="tx1"/>
                </a:solidFill>
                <a:latin typeface="+mn-lt"/>
                <a:ea typeface="+mn-ea"/>
                <a:cs typeface="+mn-cs"/>
              </a:rPr>
              <a:t>Hard copy handouts</a:t>
            </a:r>
          </a:p>
          <a:p>
            <a:pPr lvl="1">
              <a:buFont typeface="Arial" pitchFamily="34" charset="0"/>
              <a:buChar char="•"/>
            </a:pPr>
            <a:r>
              <a:rPr lang="en-AU" sz="1200" kern="1200" dirty="0" smtClean="0">
                <a:solidFill>
                  <a:schemeClr val="tx1"/>
                </a:solidFill>
                <a:latin typeface="+mn-lt"/>
                <a:ea typeface="+mn-ea"/>
                <a:cs typeface="+mn-cs"/>
              </a:rPr>
              <a:t>A Q&amp;A session</a:t>
            </a:r>
          </a:p>
          <a:p>
            <a:pPr>
              <a:buFont typeface="Arial" pitchFamily="34" charset="0"/>
              <a:buChar char="•"/>
            </a:pPr>
            <a:r>
              <a:rPr lang="en-AU" sz="1200" kern="1200" dirty="0" smtClean="0">
                <a:solidFill>
                  <a:schemeClr val="tx1"/>
                </a:solidFill>
                <a:latin typeface="+mn-lt"/>
                <a:ea typeface="+mn-ea"/>
                <a:cs typeface="+mn-cs"/>
              </a:rPr>
              <a:t>Speak to key stakeholders on a one-on-one basis – to personalise the delivery and allow a more individualised approach.</a:t>
            </a:r>
          </a:p>
          <a:p>
            <a:pPr lvl="1">
              <a:buFont typeface="Arial" pitchFamily="34" charset="0"/>
              <a:buChar char="•"/>
            </a:pPr>
            <a:r>
              <a:rPr lang="en-AU" sz="1200" kern="1200" dirty="0" smtClean="0">
                <a:solidFill>
                  <a:schemeClr val="tx1"/>
                </a:solidFill>
                <a:latin typeface="+mn-lt"/>
                <a:ea typeface="+mn-ea"/>
                <a:cs typeface="+mn-cs"/>
              </a:rPr>
              <a:t>This may include face-to-face discussions with external and internal people, as appropriate to the nature of the policy/initiative.</a:t>
            </a:r>
          </a:p>
          <a:p>
            <a:pPr>
              <a:buFont typeface="Arial" pitchFamily="34" charset="0"/>
              <a:buChar char="•"/>
            </a:pPr>
            <a:r>
              <a:rPr lang="en-AU" sz="1200" kern="1200" dirty="0" smtClean="0">
                <a:solidFill>
                  <a:schemeClr val="tx1"/>
                </a:solidFill>
                <a:latin typeface="+mn-lt"/>
                <a:ea typeface="+mn-ea"/>
                <a:cs typeface="+mn-cs"/>
              </a:rPr>
              <a:t>Provide hard copy documents – without more formal contact, which may mean:</a:t>
            </a:r>
          </a:p>
          <a:p>
            <a:pPr lvl="1">
              <a:buFont typeface="Arial" pitchFamily="34" charset="0"/>
              <a:buChar char="•"/>
            </a:pPr>
            <a:r>
              <a:rPr lang="en-US" sz="1200" kern="1200" dirty="0" smtClean="0">
                <a:solidFill>
                  <a:schemeClr val="tx1"/>
                </a:solidFill>
                <a:latin typeface="+mn-lt"/>
                <a:ea typeface="+mn-ea"/>
                <a:cs typeface="+mn-cs"/>
              </a:rPr>
              <a:t>Mailing documents to recipients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Hand-delivering documents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Posting documents on restricted access intranet sites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Use electronic options – where these have been indicated as a preferred communication option.</a:t>
            </a:r>
          </a:p>
          <a:p>
            <a:pPr lvl="1">
              <a:buFont typeface="Arial" pitchFamily="34" charset="0"/>
              <a:buChar char="•"/>
            </a:pPr>
            <a:r>
              <a:rPr lang="en-AU" sz="1200" kern="1200" dirty="0" smtClean="0">
                <a:solidFill>
                  <a:schemeClr val="tx1"/>
                </a:solidFill>
                <a:latin typeface="+mn-lt"/>
                <a:ea typeface="+mn-ea"/>
                <a:cs typeface="+mn-cs"/>
              </a:rPr>
              <a:t>Include attachments of documents as necessary.</a:t>
            </a:r>
          </a:p>
          <a:p>
            <a:pPr>
              <a:buFont typeface="Arial" pitchFamily="34" charset="0"/>
              <a:buNone/>
            </a:pP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extLst>
      <p:ext uri="{BB962C8B-B14F-4D97-AF65-F5344CB8AC3E}">
        <p14:creationId xmlns:p14="http://schemas.microsoft.com/office/powerpoint/2010/main" val="201992736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the </a:t>
            </a:r>
            <a:r>
              <a:rPr lang="en-AU" sz="1200" kern="1200" dirty="0" smtClean="0">
                <a:solidFill>
                  <a:schemeClr val="tx1"/>
                </a:solidFill>
                <a:latin typeface="+mn-lt"/>
                <a:ea typeface="+mn-ea"/>
                <a:cs typeface="+mn-cs"/>
              </a:rPr>
              <a:t>procedures to be used when evaluating a policy should be developed in consultation with ‘appropriate colleagues’. These should/could be:</a:t>
            </a:r>
          </a:p>
          <a:p>
            <a:pPr>
              <a:buFont typeface="Arial" pitchFamily="34" charset="0"/>
              <a:buChar char="•"/>
            </a:pPr>
            <a:r>
              <a:rPr lang="en-AU" sz="1200" kern="1200" dirty="0" smtClean="0">
                <a:solidFill>
                  <a:schemeClr val="tx1"/>
                </a:solidFill>
                <a:latin typeface="+mn-lt"/>
                <a:ea typeface="+mn-ea"/>
                <a:cs typeface="+mn-cs"/>
              </a:rPr>
              <a:t>Those who were involved in </a:t>
            </a:r>
            <a:r>
              <a:rPr lang="en-AU" sz="1200" i="1" kern="1200" dirty="0" smtClean="0">
                <a:solidFill>
                  <a:schemeClr val="tx1"/>
                </a:solidFill>
                <a:latin typeface="+mn-lt"/>
                <a:ea typeface="+mn-ea"/>
                <a:cs typeface="+mn-cs"/>
              </a:rPr>
              <a:t>developing</a:t>
            </a:r>
            <a:r>
              <a:rPr lang="en-AU" sz="1200" kern="1200" dirty="0" smtClean="0">
                <a:solidFill>
                  <a:schemeClr val="tx1"/>
                </a:solidFill>
                <a:latin typeface="+mn-lt"/>
                <a:ea typeface="+mn-ea"/>
                <a:cs typeface="+mn-cs"/>
              </a:rPr>
              <a:t> the policy</a:t>
            </a:r>
          </a:p>
          <a:p>
            <a:pPr>
              <a:buFont typeface="Arial" pitchFamily="34" charset="0"/>
              <a:buChar char="•"/>
            </a:pPr>
            <a:r>
              <a:rPr lang="en-AU" sz="1200" kern="1200" dirty="0" smtClean="0">
                <a:solidFill>
                  <a:schemeClr val="tx1"/>
                </a:solidFill>
                <a:latin typeface="+mn-lt"/>
                <a:ea typeface="+mn-ea"/>
                <a:cs typeface="+mn-cs"/>
              </a:rPr>
              <a:t>Staff with responsibility for applying/implementing the policy</a:t>
            </a:r>
          </a:p>
          <a:p>
            <a:pPr>
              <a:buFont typeface="Arial" pitchFamily="34" charset="0"/>
              <a:buChar char="•"/>
            </a:pPr>
            <a:r>
              <a:rPr lang="en-AU" sz="1200" kern="1200" dirty="0" smtClean="0">
                <a:solidFill>
                  <a:schemeClr val="tx1"/>
                </a:solidFill>
                <a:latin typeface="+mn-lt"/>
                <a:ea typeface="+mn-ea"/>
                <a:cs typeface="+mn-cs"/>
              </a:rPr>
              <a:t>Those who were impacted by the operation of the policy.</a:t>
            </a:r>
          </a:p>
          <a:p>
            <a:r>
              <a:rPr lang="en-AU" sz="1200" kern="1200" dirty="0" smtClean="0">
                <a:solidFill>
                  <a:schemeClr val="tx1"/>
                </a:solidFill>
                <a:latin typeface="+mn-lt"/>
                <a:ea typeface="+mn-ea"/>
                <a:cs typeface="+mn-cs"/>
              </a:rPr>
              <a:t>Note: some organisations will separate the functions of </a:t>
            </a:r>
            <a:r>
              <a:rPr lang="en-AU" sz="1200" i="1" kern="1200" dirty="0" smtClean="0">
                <a:solidFill>
                  <a:schemeClr val="tx1"/>
                </a:solidFill>
                <a:latin typeface="+mn-lt"/>
                <a:ea typeface="+mn-ea"/>
                <a:cs typeface="+mn-cs"/>
              </a:rPr>
              <a:t>development</a:t>
            </a:r>
            <a:r>
              <a:rPr lang="en-AU" sz="1200" kern="1200" dirty="0" smtClean="0">
                <a:solidFill>
                  <a:schemeClr val="tx1"/>
                </a:solidFill>
                <a:latin typeface="+mn-lt"/>
                <a:ea typeface="+mn-ea"/>
                <a:cs typeface="+mn-cs"/>
              </a:rPr>
              <a:t> of policy from the </a:t>
            </a:r>
            <a:r>
              <a:rPr lang="en-AU" sz="1200" i="1" kern="1200" dirty="0" smtClean="0">
                <a:solidFill>
                  <a:schemeClr val="tx1"/>
                </a:solidFill>
                <a:latin typeface="+mn-lt"/>
                <a:ea typeface="+mn-ea"/>
                <a:cs typeface="+mn-cs"/>
              </a:rPr>
              <a:t>evaluation</a:t>
            </a:r>
            <a:r>
              <a:rPr lang="en-AU" sz="1200" kern="1200" dirty="0" smtClean="0">
                <a:solidFill>
                  <a:schemeClr val="tx1"/>
                </a:solidFill>
                <a:latin typeface="+mn-lt"/>
                <a:ea typeface="+mn-ea"/>
                <a:cs typeface="+mn-cs"/>
              </a:rPr>
              <a:t> of policy believing this approach helps avoid people with vested interests covering up (or ‘fudging’) unsatisfactory/unacceptable outcomes.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extLst>
      <p:ext uri="{BB962C8B-B14F-4D97-AF65-F5344CB8AC3E}">
        <p14:creationId xmlns:p14="http://schemas.microsoft.com/office/powerpoint/2010/main" val="280119965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defines ‘evaluation’:</a:t>
            </a:r>
          </a:p>
          <a:p>
            <a:r>
              <a:rPr lang="en-AU" sz="1200" b="1" kern="1200" dirty="0" smtClean="0">
                <a:solidFill>
                  <a:schemeClr val="tx1"/>
                </a:solidFill>
                <a:latin typeface="+mn-lt"/>
                <a:ea typeface="+mn-ea"/>
                <a:cs typeface="+mn-cs"/>
              </a:rPr>
              <a:t>Evaluation defined</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‘Evaluation’ in this context may be seen as a systematic gathering and analysis of information (data, opinions, fact, statistics) to allow evidence-based judgements to be made about the extent to which a policy has been effective, appropriate and/or efficient when compared to its original objective/s.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extLst>
      <p:ext uri="{BB962C8B-B14F-4D97-AF65-F5344CB8AC3E}">
        <p14:creationId xmlns:p14="http://schemas.microsoft.com/office/powerpoint/2010/main" val="377175981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observed it </a:t>
            </a:r>
            <a:r>
              <a:rPr lang="en-AU" sz="1200" kern="1200" dirty="0" smtClean="0">
                <a:solidFill>
                  <a:schemeClr val="tx1"/>
                </a:solidFill>
                <a:latin typeface="+mn-lt"/>
                <a:ea typeface="+mn-ea"/>
                <a:cs typeface="+mn-cs"/>
              </a:rPr>
              <a:t>is important to evaluate operational polices in order to:</a:t>
            </a:r>
          </a:p>
          <a:p>
            <a:pPr>
              <a:buFont typeface="Arial" pitchFamily="34" charset="0"/>
              <a:buChar char="•"/>
            </a:pPr>
            <a:r>
              <a:rPr lang="en-AU" sz="1200" kern="1200" dirty="0" smtClean="0">
                <a:solidFill>
                  <a:schemeClr val="tx1"/>
                </a:solidFill>
                <a:latin typeface="+mn-lt"/>
                <a:ea typeface="+mn-ea"/>
                <a:cs typeface="+mn-cs"/>
              </a:rPr>
              <a:t>Determine their effectiveness</a:t>
            </a:r>
          </a:p>
          <a:p>
            <a:pPr>
              <a:buFont typeface="Arial" pitchFamily="34" charset="0"/>
              <a:buChar char="•"/>
            </a:pPr>
            <a:r>
              <a:rPr lang="en-AU" sz="1200" kern="1200" dirty="0" smtClean="0">
                <a:solidFill>
                  <a:schemeClr val="tx1"/>
                </a:solidFill>
                <a:latin typeface="+mn-lt"/>
                <a:ea typeface="+mn-ea"/>
                <a:cs typeface="+mn-cs"/>
              </a:rPr>
              <a:t>Learn lessons which may be able to be transferred to other policies and/or other areas</a:t>
            </a:r>
          </a:p>
          <a:p>
            <a:pPr>
              <a:buFont typeface="Arial" pitchFamily="34" charset="0"/>
              <a:buChar char="•"/>
            </a:pPr>
            <a:r>
              <a:rPr lang="en-AU" sz="1200" kern="1200" dirty="0" smtClean="0">
                <a:solidFill>
                  <a:schemeClr val="tx1"/>
                </a:solidFill>
                <a:latin typeface="+mn-lt"/>
                <a:ea typeface="+mn-ea"/>
                <a:cs typeface="+mn-cs"/>
              </a:rPr>
              <a:t>Maintain alignment with compliance obligations</a:t>
            </a:r>
          </a:p>
          <a:p>
            <a:pPr>
              <a:buFont typeface="Arial" pitchFamily="34" charset="0"/>
              <a:buChar char="•"/>
            </a:pPr>
            <a:r>
              <a:rPr lang="en-AU" sz="1200" kern="1200" dirty="0" smtClean="0">
                <a:solidFill>
                  <a:schemeClr val="tx1"/>
                </a:solidFill>
                <a:latin typeface="+mn-lt"/>
                <a:ea typeface="+mn-ea"/>
                <a:cs typeface="+mn-cs"/>
              </a:rPr>
              <a:t>Demonstrate and discharge ‘due diligence’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81</a:t>
            </a:fld>
            <a:endParaRPr lang="en-US" dirty="0"/>
          </a:p>
        </p:txBody>
      </p:sp>
    </p:spTree>
    <p:extLst>
      <p:ext uri="{BB962C8B-B14F-4D97-AF65-F5344CB8AC3E}">
        <p14:creationId xmlns:p14="http://schemas.microsoft.com/office/powerpoint/2010/main" val="417830127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explains reasons to evaluate:</a:t>
            </a:r>
          </a:p>
          <a:p>
            <a:pPr>
              <a:buFont typeface="Arial" pitchFamily="34" charset="0"/>
              <a:buChar char="•"/>
            </a:pPr>
            <a:r>
              <a:rPr lang="en-AU" sz="1200" kern="1200" dirty="0" smtClean="0">
                <a:solidFill>
                  <a:schemeClr val="tx1"/>
                </a:solidFill>
                <a:latin typeface="+mn-lt"/>
                <a:ea typeface="+mn-ea"/>
                <a:cs typeface="+mn-cs"/>
              </a:rPr>
              <a:t>Change ineffective policies so they become more effective</a:t>
            </a:r>
          </a:p>
          <a:p>
            <a:pPr>
              <a:buFont typeface="Arial" pitchFamily="34" charset="0"/>
              <a:buChar char="•"/>
            </a:pPr>
            <a:r>
              <a:rPr lang="en-AU" sz="1200" kern="1200" dirty="0" smtClean="0">
                <a:solidFill>
                  <a:schemeClr val="tx1"/>
                </a:solidFill>
                <a:latin typeface="+mn-lt"/>
                <a:ea typeface="+mn-ea"/>
                <a:cs typeface="+mn-cs"/>
              </a:rPr>
              <a:t>Monitor responsibility and accountability issues relevant to the focus of the policy</a:t>
            </a:r>
          </a:p>
          <a:p>
            <a:pPr>
              <a:buFont typeface="Arial" pitchFamily="34" charset="0"/>
              <a:buChar char="•"/>
            </a:pPr>
            <a:r>
              <a:rPr lang="en-AU" sz="1200" kern="1200" dirty="0" smtClean="0">
                <a:solidFill>
                  <a:schemeClr val="tx1"/>
                </a:solidFill>
                <a:latin typeface="+mn-lt"/>
                <a:ea typeface="+mn-ea"/>
                <a:cs typeface="+mn-cs"/>
              </a:rPr>
              <a:t>Avoid a situation where ineffective policies become entrenched as standard</a:t>
            </a:r>
          </a:p>
          <a:p>
            <a:pPr>
              <a:buFont typeface="Arial" pitchFamily="34" charset="0"/>
              <a:buChar char="•"/>
            </a:pPr>
            <a:r>
              <a:rPr lang="en-AU" sz="1200" kern="1200" dirty="0" smtClean="0">
                <a:solidFill>
                  <a:schemeClr val="tx1"/>
                </a:solidFill>
                <a:latin typeface="+mn-lt"/>
                <a:ea typeface="+mn-ea"/>
                <a:cs typeface="+mn-cs"/>
              </a:rPr>
              <a:t>Decide the future for the policy – with options being: </a:t>
            </a:r>
          </a:p>
          <a:p>
            <a:pPr lvl="1">
              <a:buFont typeface="Arial" pitchFamily="34" charset="0"/>
              <a:buChar char="•"/>
            </a:pPr>
            <a:r>
              <a:rPr lang="en-AU" sz="1200" kern="1200" dirty="0" smtClean="0">
                <a:solidFill>
                  <a:schemeClr val="tx1"/>
                </a:solidFill>
                <a:latin typeface="+mn-lt"/>
                <a:ea typeface="+mn-ea"/>
                <a:cs typeface="+mn-cs"/>
              </a:rPr>
              <a:t>Leave the policy ‘as is’</a:t>
            </a:r>
          </a:p>
          <a:p>
            <a:pPr lvl="1">
              <a:buFont typeface="Arial" pitchFamily="34" charset="0"/>
              <a:buChar char="•"/>
            </a:pPr>
            <a:r>
              <a:rPr lang="en-AU" sz="1200" kern="1200" dirty="0" smtClean="0">
                <a:solidFill>
                  <a:schemeClr val="tx1"/>
                </a:solidFill>
                <a:latin typeface="+mn-lt"/>
                <a:ea typeface="+mn-ea"/>
                <a:cs typeface="+mn-cs"/>
              </a:rPr>
              <a:t>Amend one or more aspects of the policy</a:t>
            </a:r>
          </a:p>
          <a:p>
            <a:pPr lvl="1">
              <a:buFont typeface="Arial" pitchFamily="34" charset="0"/>
              <a:buChar char="•"/>
            </a:pPr>
            <a:r>
              <a:rPr lang="en-AU" sz="1200" kern="1200" dirty="0" smtClean="0">
                <a:solidFill>
                  <a:schemeClr val="tx1"/>
                </a:solidFill>
                <a:latin typeface="+mn-lt"/>
                <a:ea typeface="+mn-ea"/>
                <a:cs typeface="+mn-cs"/>
              </a:rPr>
              <a:t>Delete the policy from operational use.</a:t>
            </a:r>
          </a:p>
          <a:p>
            <a:pPr>
              <a:buFont typeface="Arial" pitchFamily="34" charset="0"/>
              <a:buNone/>
            </a:pPr>
            <a:r>
              <a:rPr lang="en-AU" noProof="0" dirty="0" smtClean="0"/>
              <a:t>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82</a:t>
            </a:fld>
            <a:endParaRPr lang="en-US" dirty="0"/>
          </a:p>
        </p:txBody>
      </p:sp>
    </p:spTree>
    <p:extLst>
      <p:ext uri="{BB962C8B-B14F-4D97-AF65-F5344CB8AC3E}">
        <p14:creationId xmlns:p14="http://schemas.microsoft.com/office/powerpoint/2010/main" val="2097853872"/>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points to note regarding evaluation:</a:t>
            </a:r>
          </a:p>
          <a:p>
            <a:pPr>
              <a:buFont typeface="Arial" pitchFamily="34" charset="0"/>
              <a:buChar char="•"/>
            </a:pPr>
            <a:r>
              <a:rPr lang="en-AU" sz="1200" kern="1200" dirty="0" smtClean="0">
                <a:solidFill>
                  <a:schemeClr val="tx1"/>
                </a:solidFill>
                <a:latin typeface="+mn-lt"/>
                <a:ea typeface="+mn-ea"/>
                <a:cs typeface="+mn-cs"/>
              </a:rPr>
              <a:t>Dates for evaluation/s should be established as part of the policy development process – to a schedule is set and the evaluation aspect is not forgotten/overlooked</a:t>
            </a:r>
          </a:p>
          <a:p>
            <a:pPr>
              <a:buFont typeface="Arial" pitchFamily="34" charset="0"/>
              <a:buChar char="•"/>
            </a:pPr>
            <a:r>
              <a:rPr lang="en-AU" sz="1200" kern="1200" dirty="0" smtClean="0">
                <a:solidFill>
                  <a:schemeClr val="tx1"/>
                </a:solidFill>
                <a:latin typeface="+mn-lt"/>
                <a:ea typeface="+mn-ea"/>
                <a:cs typeface="+mn-cs"/>
              </a:rPr>
              <a:t>A policy can be evaluated while it is still being implemented/used – the evaluation does not have to wait until the policy has been retired</a:t>
            </a:r>
          </a:p>
          <a:p>
            <a:pPr>
              <a:buFont typeface="Arial" pitchFamily="34" charset="0"/>
              <a:buChar char="•"/>
            </a:pPr>
            <a:r>
              <a:rPr lang="en-AU" sz="1200" kern="1200" dirty="0" smtClean="0">
                <a:solidFill>
                  <a:schemeClr val="tx1"/>
                </a:solidFill>
                <a:latin typeface="+mn-lt"/>
                <a:ea typeface="+mn-ea"/>
                <a:cs typeface="+mn-cs"/>
              </a:rPr>
              <a:t>The development phase should include establishing the criteria which will be used for the evaluation – these are commonly stated in/inherent within:</a:t>
            </a:r>
          </a:p>
          <a:p>
            <a:pPr lvl="1">
              <a:buFont typeface="Arial" pitchFamily="34" charset="0"/>
              <a:buChar char="•"/>
            </a:pPr>
            <a:r>
              <a:rPr lang="en-US" sz="1200" kern="1200" dirty="0" smtClean="0">
                <a:solidFill>
                  <a:schemeClr val="tx1"/>
                </a:solidFill>
                <a:latin typeface="+mn-lt"/>
                <a:ea typeface="+mn-ea"/>
                <a:cs typeface="+mn-cs"/>
              </a:rPr>
              <a:t>Objectives for the policy/initiative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KPIs.</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The more tightly written these two elements are, the easier it will be to conduct the evaluation as the standards for the evaluation will be more certain/obvious.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A combination of evaluation approaches achieves optimum results – as opposed to relying only on one method of evaluation: see following section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83</a:t>
            </a:fld>
            <a:endParaRPr lang="en-US" dirty="0"/>
          </a:p>
        </p:txBody>
      </p:sp>
    </p:spTree>
    <p:extLst>
      <p:ext uri="{BB962C8B-B14F-4D97-AF65-F5344CB8AC3E}">
        <p14:creationId xmlns:p14="http://schemas.microsoft.com/office/powerpoint/2010/main" val="2913281729"/>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points to note regarding evaluation:</a:t>
            </a:r>
          </a:p>
          <a:p>
            <a:pPr>
              <a:buFont typeface="Arial" pitchFamily="34" charset="0"/>
              <a:buChar char="•"/>
            </a:pPr>
            <a:r>
              <a:rPr lang="en-AU" sz="1200" kern="1200" dirty="0" smtClean="0">
                <a:solidFill>
                  <a:schemeClr val="tx1"/>
                </a:solidFill>
                <a:latin typeface="+mn-lt"/>
                <a:ea typeface="+mn-ea"/>
                <a:cs typeface="+mn-cs"/>
              </a:rPr>
              <a:t>The evaluation process for policies is often a balancing act – in that:</a:t>
            </a:r>
          </a:p>
          <a:p>
            <a:pPr lvl="1">
              <a:buFont typeface="Arial" pitchFamily="34" charset="0"/>
              <a:buChar char="•"/>
            </a:pPr>
            <a:r>
              <a:rPr lang="en-AU" sz="1200" kern="1200" dirty="0" smtClean="0">
                <a:solidFill>
                  <a:schemeClr val="tx1"/>
                </a:solidFill>
                <a:latin typeface="+mn-lt"/>
                <a:ea typeface="+mn-ea"/>
                <a:cs typeface="+mn-cs"/>
              </a:rPr>
              <a:t>There is often little time or funds available for the evaluation process</a:t>
            </a:r>
          </a:p>
          <a:p>
            <a:pPr lvl="1">
              <a:buFont typeface="Arial" pitchFamily="34" charset="0"/>
              <a:buChar char="•"/>
            </a:pPr>
            <a:r>
              <a:rPr lang="en-AU" sz="1200" kern="1200" dirty="0" smtClean="0">
                <a:solidFill>
                  <a:schemeClr val="tx1"/>
                </a:solidFill>
                <a:latin typeface="+mn-lt"/>
                <a:ea typeface="+mn-ea"/>
                <a:cs typeface="+mn-cs"/>
              </a:rPr>
              <a:t>Subjective evidence is easy to acquire but may introduce unacceptable bias in the outcomes deduced</a:t>
            </a:r>
          </a:p>
          <a:p>
            <a:pPr lvl="1">
              <a:buFont typeface="Arial" pitchFamily="34" charset="0"/>
              <a:buChar char="•"/>
            </a:pPr>
            <a:r>
              <a:rPr lang="en-AU" sz="1200" kern="1200" dirty="0" smtClean="0">
                <a:solidFill>
                  <a:schemeClr val="tx1"/>
                </a:solidFill>
                <a:latin typeface="+mn-lt"/>
                <a:ea typeface="+mn-ea"/>
                <a:cs typeface="+mn-cs"/>
              </a:rPr>
              <a:t>Objective data based on scientific/mathematical precepts can be (too) costly and time consuming to produce given the importance of the policy</a:t>
            </a:r>
          </a:p>
          <a:p>
            <a:pPr>
              <a:buFont typeface="Arial" pitchFamily="34" charset="0"/>
              <a:buChar char="•"/>
            </a:pPr>
            <a:r>
              <a:rPr lang="en-AU" sz="1200" kern="1200" dirty="0" smtClean="0">
                <a:solidFill>
                  <a:schemeClr val="tx1"/>
                </a:solidFill>
                <a:latin typeface="+mn-lt"/>
                <a:ea typeface="+mn-ea"/>
                <a:cs typeface="+mn-cs"/>
              </a:rPr>
              <a:t>Times change – an operational policy may have been professionally and expertly developed six months ago but be inappropriate to the internal and external conditions which apply </a:t>
            </a:r>
            <a:r>
              <a:rPr lang="en-AU" sz="1200" i="1" kern="1200" dirty="0" smtClean="0">
                <a:solidFill>
                  <a:schemeClr val="tx1"/>
                </a:solidFill>
                <a:latin typeface="+mn-lt"/>
                <a:ea typeface="+mn-ea"/>
                <a:cs typeface="+mn-cs"/>
              </a:rPr>
              <a:t>now</a:t>
            </a:r>
            <a:r>
              <a:rPr lang="en-AU" sz="1200" kern="1200" dirty="0" smtClean="0">
                <a:solidFill>
                  <a:schemeClr val="tx1"/>
                </a:solidFill>
                <a:latin typeface="+mn-lt"/>
                <a:ea typeface="+mn-ea"/>
                <a:cs typeface="+mn-cs"/>
              </a:rPr>
              <a:t>.</a:t>
            </a:r>
          </a:p>
          <a:p>
            <a:pPr lvl="1">
              <a:buFont typeface="Arial" pitchFamily="34" charset="0"/>
              <a:buChar char="•"/>
            </a:pPr>
            <a:r>
              <a:rPr lang="en-AU" sz="1200" kern="1200" dirty="0" smtClean="0">
                <a:solidFill>
                  <a:schemeClr val="tx1"/>
                </a:solidFill>
                <a:latin typeface="+mn-lt"/>
                <a:ea typeface="+mn-ea"/>
                <a:cs typeface="+mn-cs"/>
              </a:rPr>
              <a:t>This highlights not all criteria which should be used to determine the effectiveness of a policy may have been included when the policy was written</a:t>
            </a:r>
          </a:p>
          <a:p>
            <a:pPr>
              <a:buFont typeface="Arial" pitchFamily="34" charset="0"/>
              <a:buChar char="•"/>
            </a:pPr>
            <a:r>
              <a:rPr lang="en-AU" sz="1200" kern="1200" dirty="0" smtClean="0">
                <a:solidFill>
                  <a:schemeClr val="tx1"/>
                </a:solidFill>
                <a:latin typeface="+mn-lt"/>
                <a:ea typeface="+mn-ea"/>
                <a:cs typeface="+mn-cs"/>
              </a:rPr>
              <a:t>A report on the evaluation should be produced – with appropriate recommendations based on the available data/information</a:t>
            </a:r>
          </a:p>
          <a:p>
            <a:pPr>
              <a:buFont typeface="Arial" pitchFamily="34" charset="0"/>
              <a:buChar char="•"/>
            </a:pPr>
            <a:r>
              <a:rPr lang="en-AU" sz="1200" kern="1200" dirty="0" smtClean="0">
                <a:solidFill>
                  <a:schemeClr val="tx1"/>
                </a:solidFill>
                <a:latin typeface="+mn-lt"/>
                <a:ea typeface="+mn-ea"/>
                <a:cs typeface="+mn-cs"/>
              </a:rPr>
              <a:t>Results/findings should be shared – in order that:</a:t>
            </a:r>
          </a:p>
          <a:p>
            <a:pPr lvl="1">
              <a:buFont typeface="Arial" pitchFamily="34" charset="0"/>
              <a:buChar char="•"/>
            </a:pPr>
            <a:r>
              <a:rPr lang="en-AU" sz="1200" kern="1200" dirty="0" smtClean="0">
                <a:solidFill>
                  <a:schemeClr val="tx1"/>
                </a:solidFill>
                <a:latin typeface="+mn-lt"/>
                <a:ea typeface="+mn-ea"/>
                <a:cs typeface="+mn-cs"/>
              </a:rPr>
              <a:t>There is transparency regarding occurrences</a:t>
            </a:r>
          </a:p>
          <a:p>
            <a:pPr lvl="1">
              <a:buFont typeface="Arial" pitchFamily="34" charset="0"/>
              <a:buChar char="•"/>
            </a:pPr>
            <a:r>
              <a:rPr lang="en-AU" sz="1200" kern="1200" dirty="0" smtClean="0">
                <a:solidFill>
                  <a:schemeClr val="tx1"/>
                </a:solidFill>
                <a:latin typeface="+mn-lt"/>
                <a:ea typeface="+mn-ea"/>
                <a:cs typeface="+mn-cs"/>
              </a:rPr>
              <a:t>The organisation supports a learning culture characterised by continuous improvement.</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84</a:t>
            </a:fld>
            <a:endParaRPr lang="en-US" dirty="0"/>
          </a:p>
        </p:txBody>
      </p:sp>
    </p:spTree>
    <p:extLst>
      <p:ext uri="{BB962C8B-B14F-4D97-AF65-F5344CB8AC3E}">
        <p14:creationId xmlns:p14="http://schemas.microsoft.com/office/powerpoint/2010/main" val="154916482"/>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procedures</a:t>
            </a:r>
            <a:r>
              <a:rPr lang="en-AU" baseline="0" noProof="0" dirty="0" smtClean="0"/>
              <a:t> </a:t>
            </a:r>
            <a:r>
              <a:rPr lang="en-AU" sz="1200" kern="1200" dirty="0" smtClean="0">
                <a:solidFill>
                  <a:schemeClr val="tx1"/>
                </a:solidFill>
                <a:latin typeface="+mn-lt"/>
                <a:ea typeface="+mn-ea"/>
                <a:cs typeface="+mn-cs"/>
              </a:rPr>
              <a:t>which may be used to evaluate operational policies can include:</a:t>
            </a:r>
          </a:p>
          <a:p>
            <a:pPr>
              <a:buFont typeface="Arial" pitchFamily="34" charset="0"/>
              <a:buChar char="•"/>
            </a:pPr>
            <a:r>
              <a:rPr lang="en-AU" sz="1200" kern="1200" dirty="0" smtClean="0">
                <a:solidFill>
                  <a:schemeClr val="tx1"/>
                </a:solidFill>
                <a:latin typeface="+mn-lt"/>
                <a:ea typeface="+mn-ea"/>
                <a:cs typeface="+mn-cs"/>
              </a:rPr>
              <a:t>Analysing stories and anecdotal evidence regarding a range of issues such as:</a:t>
            </a:r>
          </a:p>
          <a:p>
            <a:pPr lvl="1">
              <a:buFont typeface="Arial" pitchFamily="34" charset="0"/>
              <a:buChar char="•"/>
            </a:pPr>
            <a:r>
              <a:rPr lang="en-AU" sz="1200" kern="1200" dirty="0" smtClean="0">
                <a:solidFill>
                  <a:schemeClr val="tx1"/>
                </a:solidFill>
                <a:latin typeface="+mn-lt"/>
                <a:ea typeface="+mn-ea"/>
                <a:cs typeface="+mn-cs"/>
              </a:rPr>
              <a:t>Impact of the policy</a:t>
            </a:r>
          </a:p>
          <a:p>
            <a:pPr lvl="1">
              <a:buFont typeface="Arial" pitchFamily="34" charset="0"/>
              <a:buChar char="•"/>
            </a:pPr>
            <a:r>
              <a:rPr lang="en-AU" sz="1200" kern="1200" dirty="0" smtClean="0">
                <a:solidFill>
                  <a:schemeClr val="tx1"/>
                </a:solidFill>
                <a:latin typeface="+mn-lt"/>
                <a:ea typeface="+mn-ea"/>
                <a:cs typeface="+mn-cs"/>
              </a:rPr>
              <a:t>Ease/difficulty in implementing aspects of it/all of it</a:t>
            </a:r>
          </a:p>
          <a:p>
            <a:pPr lvl="1">
              <a:buFont typeface="Arial" pitchFamily="34" charset="0"/>
              <a:buChar char="•"/>
            </a:pPr>
            <a:r>
              <a:rPr lang="en-AU" sz="1200" kern="1200" dirty="0" smtClean="0">
                <a:solidFill>
                  <a:schemeClr val="tx1"/>
                </a:solidFill>
                <a:latin typeface="+mn-lt"/>
                <a:ea typeface="+mn-ea"/>
                <a:cs typeface="+mn-cs"/>
              </a:rPr>
              <a:t>Feedback received</a:t>
            </a:r>
          </a:p>
          <a:p>
            <a:pPr>
              <a:buFont typeface="Arial" pitchFamily="34" charset="0"/>
              <a:buChar char="•"/>
            </a:pPr>
            <a:r>
              <a:rPr lang="en-AU" sz="1200" kern="1200" dirty="0" smtClean="0">
                <a:solidFill>
                  <a:schemeClr val="tx1"/>
                </a:solidFill>
                <a:latin typeface="+mn-lt"/>
                <a:ea typeface="+mn-ea"/>
                <a:cs typeface="+mn-cs"/>
              </a:rPr>
              <a:t>Developing and administering series of questions or a questionnaire – to elicit information on the factors deemed by the stakeholders to be important to the evaluation process</a:t>
            </a:r>
          </a:p>
          <a:p>
            <a:pPr>
              <a:buFont typeface="Arial" pitchFamily="34" charset="0"/>
              <a:buChar char="•"/>
            </a:pPr>
            <a:r>
              <a:rPr lang="en-AU" sz="1200" kern="1200" dirty="0" smtClean="0">
                <a:solidFill>
                  <a:schemeClr val="tx1"/>
                </a:solidFill>
                <a:latin typeface="+mn-lt"/>
                <a:ea typeface="+mn-ea"/>
                <a:cs typeface="+mn-cs"/>
              </a:rPr>
              <a:t>Undertaking empirical analysis – which may feature:</a:t>
            </a:r>
          </a:p>
          <a:p>
            <a:pPr lvl="1">
              <a:buFont typeface="Arial" pitchFamily="34" charset="0"/>
              <a:buChar char="•"/>
            </a:pPr>
            <a:r>
              <a:rPr lang="en-US" sz="1200" kern="1200" dirty="0" smtClean="0">
                <a:solidFill>
                  <a:schemeClr val="tx1"/>
                </a:solidFill>
                <a:latin typeface="+mn-lt"/>
                <a:ea typeface="+mn-ea"/>
                <a:cs typeface="+mn-cs"/>
              </a:rPr>
              <a:t>Comparisons of quantifiable projected and actual data – as set out in the KPIs and objectives for the policy/initiative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Statistical manipulation – where certain data is manipulated to produce results deemed relevant for the purpose of the activity.</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85</a:t>
            </a:fld>
            <a:endParaRPr lang="en-US" dirty="0"/>
          </a:p>
        </p:txBody>
      </p:sp>
    </p:spTree>
    <p:extLst>
      <p:ext uri="{BB962C8B-B14F-4D97-AF65-F5344CB8AC3E}">
        <p14:creationId xmlns:p14="http://schemas.microsoft.com/office/powerpoint/2010/main" val="658550277"/>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86</a:t>
            </a:fld>
            <a:endParaRPr lang="en-US" dirty="0"/>
          </a:p>
        </p:txBody>
      </p:sp>
    </p:spTree>
    <p:extLst>
      <p:ext uri="{BB962C8B-B14F-4D97-AF65-F5344CB8AC3E}">
        <p14:creationId xmlns:p14="http://schemas.microsoft.com/office/powerpoint/2010/main" val="1730432440"/>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87</a:t>
            </a:fld>
            <a:endParaRPr lang="en-US" dirty="0"/>
          </a:p>
        </p:txBody>
      </p:sp>
    </p:spTree>
    <p:extLst>
      <p:ext uri="{BB962C8B-B14F-4D97-AF65-F5344CB8AC3E}">
        <p14:creationId xmlns:p14="http://schemas.microsoft.com/office/powerpoint/2010/main" val="3969568065"/>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88</a:t>
            </a:fld>
            <a:endParaRPr lang="en-US" dirty="0"/>
          </a:p>
        </p:txBody>
      </p:sp>
    </p:spTree>
    <p:extLst>
      <p:ext uri="{BB962C8B-B14F-4D97-AF65-F5344CB8AC3E}">
        <p14:creationId xmlns:p14="http://schemas.microsoft.com/office/powerpoint/2010/main" val="3144749393"/>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89</a:t>
            </a:fld>
            <a:endParaRPr lang="en-US" dirty="0"/>
          </a:p>
        </p:txBody>
      </p:sp>
    </p:spTree>
    <p:extLst>
      <p:ext uri="{BB962C8B-B14F-4D97-AF65-F5344CB8AC3E}">
        <p14:creationId xmlns:p14="http://schemas.microsoft.com/office/powerpoint/2010/main" val="2937957420"/>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90</a:t>
            </a:fld>
            <a:endParaRPr lang="en-US" dirty="0"/>
          </a:p>
        </p:txBody>
      </p:sp>
    </p:spTree>
    <p:extLst>
      <p:ext uri="{BB962C8B-B14F-4D97-AF65-F5344CB8AC3E}">
        <p14:creationId xmlns:p14="http://schemas.microsoft.com/office/powerpoint/2010/main" val="2423983840"/>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sz="1200" kern="1200" baseline="0" dirty="0" smtClean="0">
              <a:solidFill>
                <a:schemeClr val="tx1"/>
              </a:solidFill>
              <a:ea typeface="+mn-ea"/>
              <a:cs typeface="+mn-cs"/>
            </a:endParaRPr>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by asking questions such as:</a:t>
            </a:r>
          </a:p>
          <a:p>
            <a:pPr marL="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What administration activities are inherent in implementation of workplace operational policies?</a:t>
            </a:r>
          </a:p>
          <a:p>
            <a:pPr marL="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How might implementation of workplace operational policies be monitored?</a:t>
            </a:r>
          </a:p>
          <a:p>
            <a:pPr marL="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Why is there a need to monitor implementation?</a:t>
            </a:r>
            <a:endParaRPr lang="en-AU" sz="120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91</a:t>
            </a:fld>
            <a:endParaRPr lang="en-US" dirty="0"/>
          </a:p>
        </p:txBody>
      </p:sp>
    </p:spTree>
    <p:extLst>
      <p:ext uri="{BB962C8B-B14F-4D97-AF65-F5344CB8AC3E}">
        <p14:creationId xmlns:p14="http://schemas.microsoft.com/office/powerpoint/2010/main" val="2400557683"/>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presents key</a:t>
            </a:r>
            <a:r>
              <a:rPr lang="en-AU" sz="1200" kern="1200" dirty="0" smtClean="0">
                <a:solidFill>
                  <a:schemeClr val="tx1"/>
                </a:solidFill>
                <a:latin typeface="+mn-lt"/>
                <a:ea typeface="+mn-ea"/>
                <a:cs typeface="+mn-cs"/>
              </a:rPr>
              <a:t> factors in relation to implementation of operational policies are:</a:t>
            </a:r>
          </a:p>
          <a:p>
            <a:pPr>
              <a:buFont typeface="Arial" pitchFamily="34" charset="0"/>
              <a:buChar char="•"/>
            </a:pPr>
            <a:r>
              <a:rPr lang="en-AU" sz="1200" kern="1200" dirty="0" smtClean="0">
                <a:solidFill>
                  <a:schemeClr val="tx1"/>
                </a:solidFill>
                <a:latin typeface="+mn-lt"/>
                <a:ea typeface="+mn-ea"/>
                <a:cs typeface="+mn-cs"/>
              </a:rPr>
              <a:t>An implementation plan </a:t>
            </a:r>
            <a:r>
              <a:rPr lang="en-AU" sz="1200" i="1" kern="1200" dirty="0" smtClean="0">
                <a:solidFill>
                  <a:schemeClr val="tx1"/>
                </a:solidFill>
                <a:latin typeface="+mn-lt"/>
                <a:ea typeface="+mn-ea"/>
                <a:cs typeface="+mn-cs"/>
              </a:rPr>
              <a:t>may</a:t>
            </a:r>
            <a:r>
              <a:rPr lang="en-AU" sz="1200" kern="1200" dirty="0" smtClean="0">
                <a:solidFill>
                  <a:schemeClr val="tx1"/>
                </a:solidFill>
                <a:latin typeface="+mn-lt"/>
                <a:ea typeface="+mn-ea"/>
                <a:cs typeface="+mn-cs"/>
              </a:rPr>
              <a:t> be prepared – for the introduction/implementation of a policy.</a:t>
            </a:r>
          </a:p>
          <a:p>
            <a:pPr lvl="1">
              <a:buFont typeface="Arial" pitchFamily="34" charset="0"/>
              <a:buChar char="•"/>
            </a:pPr>
            <a:r>
              <a:rPr lang="en-AU" sz="1200" kern="1200" dirty="0" smtClean="0">
                <a:solidFill>
                  <a:schemeClr val="tx1"/>
                </a:solidFill>
                <a:latin typeface="+mn-lt"/>
                <a:ea typeface="+mn-ea"/>
                <a:cs typeface="+mn-cs"/>
              </a:rPr>
              <a:t>This is SOP for the introduction/implementation of many workplace initiatives but </a:t>
            </a:r>
            <a:r>
              <a:rPr lang="en-AU" sz="1200" b="1" kern="1200" dirty="0" smtClean="0">
                <a:solidFill>
                  <a:schemeClr val="tx1"/>
                </a:solidFill>
                <a:latin typeface="+mn-lt"/>
                <a:ea typeface="+mn-ea"/>
                <a:cs typeface="+mn-cs"/>
              </a:rPr>
              <a:t>not so common</a:t>
            </a:r>
            <a:r>
              <a:rPr lang="en-AU" sz="1200" kern="1200" dirty="0" smtClean="0">
                <a:solidFill>
                  <a:schemeClr val="tx1"/>
                </a:solidFill>
                <a:latin typeface="+mn-lt"/>
                <a:ea typeface="+mn-ea"/>
                <a:cs typeface="+mn-cs"/>
              </a:rPr>
              <a:t> where polices are concerned unless they are </a:t>
            </a:r>
            <a:r>
              <a:rPr lang="en-AU" sz="1200" i="1" kern="1200" dirty="0" smtClean="0">
                <a:solidFill>
                  <a:schemeClr val="tx1"/>
                </a:solidFill>
                <a:latin typeface="+mn-lt"/>
                <a:ea typeface="+mn-ea"/>
                <a:cs typeface="+mn-cs"/>
              </a:rPr>
              <a:t>major</a:t>
            </a:r>
            <a:r>
              <a:rPr lang="en-AU" sz="1200" kern="1200" dirty="0" smtClean="0">
                <a:solidFill>
                  <a:schemeClr val="tx1"/>
                </a:solidFill>
                <a:latin typeface="+mn-lt"/>
                <a:ea typeface="+mn-ea"/>
                <a:cs typeface="+mn-cs"/>
              </a:rPr>
              <a:t> policies with </a:t>
            </a:r>
            <a:r>
              <a:rPr lang="en-AU" sz="1200" i="1" kern="1200" dirty="0" smtClean="0">
                <a:solidFill>
                  <a:schemeClr val="tx1"/>
                </a:solidFill>
                <a:latin typeface="+mn-lt"/>
                <a:ea typeface="+mn-ea"/>
                <a:cs typeface="+mn-cs"/>
              </a:rPr>
              <a:t>significant</a:t>
            </a:r>
            <a:r>
              <a:rPr lang="en-AU" sz="1200" kern="1200" dirty="0" smtClean="0">
                <a:solidFill>
                  <a:schemeClr val="tx1"/>
                </a:solidFill>
                <a:latin typeface="+mn-lt"/>
                <a:ea typeface="+mn-ea"/>
                <a:cs typeface="+mn-cs"/>
              </a:rPr>
              <a:t> expected impact across a very wide range of people and/or issues.</a:t>
            </a:r>
          </a:p>
          <a:p>
            <a:pPr>
              <a:buFont typeface="Arial" pitchFamily="34" charset="0"/>
              <a:buChar char="•"/>
            </a:pPr>
            <a:r>
              <a:rPr lang="en-AU" sz="1200" kern="1200" dirty="0" smtClean="0">
                <a:solidFill>
                  <a:schemeClr val="tx1"/>
                </a:solidFill>
                <a:latin typeface="+mn-lt"/>
                <a:ea typeface="+mn-ea"/>
                <a:cs typeface="+mn-cs"/>
              </a:rPr>
              <a:t>A suitable and receptive environment needs to be created in the workplace – where:</a:t>
            </a:r>
          </a:p>
          <a:p>
            <a:pPr lvl="1">
              <a:buFont typeface="Arial" pitchFamily="34" charset="0"/>
              <a:buChar char="•"/>
            </a:pPr>
            <a:r>
              <a:rPr lang="en-US" sz="1200" kern="1200" dirty="0" smtClean="0">
                <a:solidFill>
                  <a:schemeClr val="tx1"/>
                </a:solidFill>
                <a:latin typeface="+mn-lt"/>
                <a:ea typeface="+mn-ea"/>
                <a:cs typeface="+mn-cs"/>
              </a:rPr>
              <a:t>Those impacted are well disposed to the initiative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People are made aware of an inclusive orientation to the introduction so they understand their opinions and feedback are sought and will be listened to</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Effective procedures and protocols have been established where necessary to enable effective implementation of the policy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Everyone knows possible risks/problems have been identified and preparations taken to manage those situations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Management (not workers) is seen as accountable – but they are reliant on support and cooperation from others </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a:p>
            <a:pPr>
              <a:buFont typeface="Arial" pitchFamily="34" charset="0"/>
              <a:buNone/>
            </a:pPr>
            <a:r>
              <a:rPr lang="en-AU" b="1" noProof="0" dirty="0" smtClean="0"/>
              <a:t>Classroom Activity – Guest Speaker</a:t>
            </a:r>
          </a:p>
          <a:p>
            <a:pPr>
              <a:buFont typeface="Arial" pitchFamily="34" charset="0"/>
              <a:buNone/>
            </a:pPr>
            <a:r>
              <a:rPr lang="en-AU" b="0" noProof="0" dirty="0" smtClean="0"/>
              <a:t>Trainer arranges for suitable owner-operator</a:t>
            </a:r>
            <a:r>
              <a:rPr lang="en-AU" b="0" baseline="0" noProof="0" dirty="0" smtClean="0"/>
              <a:t> or senior manager to attend and:</a:t>
            </a:r>
          </a:p>
          <a:p>
            <a:pPr>
              <a:buFont typeface="Arial" pitchFamily="34" charset="0"/>
              <a:buChar char="•"/>
            </a:pPr>
            <a:r>
              <a:rPr lang="en-AU" b="0" baseline="0" noProof="0" dirty="0" smtClean="0"/>
              <a:t>Discuss implementation of operational policies in the workplace</a:t>
            </a:r>
          </a:p>
          <a:p>
            <a:pPr>
              <a:buFont typeface="Arial" pitchFamily="34" charset="0"/>
              <a:buChar char="•"/>
            </a:pPr>
            <a:r>
              <a:rPr lang="en-AU" b="0" baseline="0" noProof="0" dirty="0" smtClean="0"/>
              <a:t>Talk about monitoring of operational policies</a:t>
            </a:r>
          </a:p>
          <a:p>
            <a:pPr>
              <a:buFont typeface="Arial" pitchFamily="34" charset="0"/>
              <a:buChar char="•"/>
            </a:pPr>
            <a:r>
              <a:rPr lang="en-AU" b="0" baseline="0" noProof="0" dirty="0" smtClean="0"/>
              <a:t>Explain reporting protocols </a:t>
            </a:r>
          </a:p>
          <a:p>
            <a:pPr>
              <a:buFont typeface="Arial" pitchFamily="34" charset="0"/>
              <a:buChar char="•"/>
            </a:pPr>
            <a:r>
              <a:rPr lang="en-AU" b="0" baseline="0" noProof="0" dirty="0" smtClean="0"/>
              <a:t>Explain how resource requirements and allocations for policies are assessed and responded to</a:t>
            </a:r>
          </a:p>
          <a:p>
            <a:pPr>
              <a:buFont typeface="Arial" pitchFamily="34" charset="0"/>
              <a:buChar char="•"/>
            </a:pPr>
            <a:r>
              <a:rPr lang="en-AU" b="0" baseline="0" noProof="0" dirty="0" smtClean="0"/>
              <a:t>Provide sample documentation and policies</a:t>
            </a:r>
          </a:p>
          <a:p>
            <a:pPr>
              <a:buFont typeface="Arial" pitchFamily="34" charset="0"/>
              <a:buChar char="•"/>
            </a:pPr>
            <a:r>
              <a:rPr lang="en-AU" b="0" baseline="0" noProof="0" dirty="0" smtClean="0"/>
              <a:t>Illustrate how findings of monitoring has impacted and influenced future plans and policies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92</a:t>
            </a:fld>
            <a:endParaRPr lang="en-US" dirty="0"/>
          </a:p>
        </p:txBody>
      </p:sp>
    </p:spTree>
    <p:extLst>
      <p:ext uri="{BB962C8B-B14F-4D97-AF65-F5344CB8AC3E}">
        <p14:creationId xmlns:p14="http://schemas.microsoft.com/office/powerpoint/2010/main" val="1189330544"/>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presents key</a:t>
            </a:r>
            <a:r>
              <a:rPr lang="en-AU" sz="1200" kern="1200" dirty="0" smtClean="0">
                <a:solidFill>
                  <a:schemeClr val="tx1"/>
                </a:solidFill>
                <a:latin typeface="+mn-lt"/>
                <a:ea typeface="+mn-ea"/>
                <a:cs typeface="+mn-cs"/>
              </a:rPr>
              <a:t> factors in relation to implementation of operational policies are:</a:t>
            </a:r>
          </a:p>
          <a:p>
            <a:pPr>
              <a:buFont typeface="Arial" pitchFamily="34" charset="0"/>
              <a:buChar char="•"/>
            </a:pPr>
            <a:r>
              <a:rPr lang="en-AU" sz="1200" kern="1200" dirty="0" smtClean="0">
                <a:solidFill>
                  <a:schemeClr val="tx1"/>
                </a:solidFill>
                <a:latin typeface="+mn-lt"/>
                <a:ea typeface="+mn-ea"/>
                <a:cs typeface="+mn-cs"/>
              </a:rPr>
              <a:t>The policies </a:t>
            </a:r>
            <a:r>
              <a:rPr lang="en-AU" sz="1200" i="1" kern="1200" dirty="0" smtClean="0">
                <a:solidFill>
                  <a:schemeClr val="tx1"/>
                </a:solidFill>
                <a:latin typeface="+mn-lt"/>
                <a:ea typeface="+mn-ea"/>
                <a:cs typeface="+mn-cs"/>
              </a:rPr>
              <a:t>must</a:t>
            </a:r>
            <a:r>
              <a:rPr lang="en-AU" sz="1200" kern="1200" dirty="0" smtClean="0">
                <a:solidFill>
                  <a:schemeClr val="tx1"/>
                </a:solidFill>
                <a:latin typeface="+mn-lt"/>
                <a:ea typeface="+mn-ea"/>
                <a:cs typeface="+mn-cs"/>
              </a:rPr>
              <a:t> be </a:t>
            </a:r>
            <a:r>
              <a:rPr lang="en-AU" sz="1200" b="1" kern="1200" dirty="0" smtClean="0">
                <a:solidFill>
                  <a:schemeClr val="tx1"/>
                </a:solidFill>
                <a:latin typeface="+mn-lt"/>
                <a:ea typeface="+mn-ea"/>
                <a:cs typeface="+mn-cs"/>
              </a:rPr>
              <a:t>initially</a:t>
            </a:r>
            <a:r>
              <a:rPr lang="en-AU" sz="1200" kern="1200" dirty="0" smtClean="0">
                <a:solidFill>
                  <a:schemeClr val="tx1"/>
                </a:solidFill>
                <a:latin typeface="+mn-lt"/>
                <a:ea typeface="+mn-ea"/>
                <a:cs typeface="+mn-cs"/>
              </a:rPr>
              <a:t> implemented </a:t>
            </a:r>
            <a:r>
              <a:rPr lang="en-AU" sz="1200" b="1" kern="1200" dirty="0" smtClean="0">
                <a:solidFill>
                  <a:schemeClr val="tx1"/>
                </a:solidFill>
                <a:latin typeface="+mn-lt"/>
                <a:ea typeface="+mn-ea"/>
                <a:cs typeface="+mn-cs"/>
              </a:rPr>
              <a:t>totally</a:t>
            </a:r>
            <a:r>
              <a:rPr lang="en-AU" sz="1200" kern="1200" dirty="0" smtClean="0">
                <a:solidFill>
                  <a:schemeClr val="tx1"/>
                </a:solidFill>
                <a:latin typeface="+mn-lt"/>
                <a:ea typeface="+mn-ea"/>
                <a:cs typeface="+mn-cs"/>
              </a:rPr>
              <a:t> as planned – and as stated in the policy document.</a:t>
            </a:r>
          </a:p>
          <a:p>
            <a:pPr lvl="1">
              <a:buFont typeface="Arial" pitchFamily="34" charset="0"/>
              <a:buChar char="•"/>
            </a:pPr>
            <a:r>
              <a:rPr lang="en-AU" sz="1200" kern="1200" dirty="0" smtClean="0">
                <a:solidFill>
                  <a:schemeClr val="tx1"/>
                </a:solidFill>
                <a:latin typeface="+mn-lt"/>
                <a:ea typeface="+mn-ea"/>
                <a:cs typeface="+mn-cs"/>
              </a:rPr>
              <a:t>If policies do not succeed ‘as planned’ it is important to know the fault lies with the policy and the way it was developed or written, and not in the way it was put into practice. </a:t>
            </a:r>
          </a:p>
          <a:p>
            <a:pPr>
              <a:buFont typeface="Arial" pitchFamily="34" charset="0"/>
              <a:buChar char="•"/>
            </a:pPr>
            <a:r>
              <a:rPr lang="en-AU" sz="1200" kern="1200" dirty="0" smtClean="0">
                <a:solidFill>
                  <a:schemeClr val="tx1"/>
                </a:solidFill>
                <a:latin typeface="+mn-lt"/>
                <a:ea typeface="+mn-ea"/>
                <a:cs typeface="+mn-cs"/>
              </a:rPr>
              <a:t>Initial implementation must be monitored – to  determine if immediate changes need to be made to the plans for implementation/the policy itself based on;</a:t>
            </a:r>
          </a:p>
          <a:p>
            <a:pPr lvl="1">
              <a:buFont typeface="Arial" pitchFamily="34" charset="0"/>
              <a:buChar char="•"/>
            </a:pPr>
            <a:r>
              <a:rPr lang="en-AU" sz="1200" kern="1200" dirty="0" smtClean="0">
                <a:solidFill>
                  <a:schemeClr val="tx1"/>
                </a:solidFill>
                <a:latin typeface="+mn-lt"/>
                <a:ea typeface="+mn-ea"/>
                <a:cs typeface="+mn-cs"/>
              </a:rPr>
              <a:t>Issues arising/emerging</a:t>
            </a:r>
          </a:p>
          <a:p>
            <a:pPr lvl="1">
              <a:buFont typeface="Arial" pitchFamily="34" charset="0"/>
              <a:buChar char="•"/>
            </a:pPr>
            <a:r>
              <a:rPr lang="en-AU" sz="1200" kern="1200" dirty="0" smtClean="0">
                <a:solidFill>
                  <a:schemeClr val="tx1"/>
                </a:solidFill>
                <a:latin typeface="+mn-lt"/>
                <a:ea typeface="+mn-ea"/>
                <a:cs typeface="+mn-cs"/>
              </a:rPr>
              <a:t>Obvious unintended and/or unforeseen consequences</a:t>
            </a:r>
          </a:p>
          <a:p>
            <a:pPr>
              <a:buFont typeface="Arial" pitchFamily="34" charset="0"/>
              <a:buChar char="•"/>
            </a:pPr>
            <a:r>
              <a:rPr lang="en-AU" sz="1200" kern="1200" dirty="0" smtClean="0">
                <a:solidFill>
                  <a:schemeClr val="tx1"/>
                </a:solidFill>
                <a:latin typeface="+mn-lt"/>
                <a:ea typeface="+mn-ea"/>
                <a:cs typeface="+mn-cs"/>
              </a:rPr>
              <a:t>Corrective action needs to be taken when obvious need to do so is identified – as opposed to waiting for scheduled reviews and analysis which may be listed for weeks or months into the future: see following slides. </a:t>
            </a: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93</a:t>
            </a:fld>
            <a:endParaRPr lang="en-US" dirty="0"/>
          </a:p>
        </p:txBody>
      </p:sp>
    </p:spTree>
    <p:extLst>
      <p:ext uri="{BB962C8B-B14F-4D97-AF65-F5344CB8AC3E}">
        <p14:creationId xmlns:p14="http://schemas.microsoft.com/office/powerpoint/2010/main" val="3434419857"/>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a:t>
            </a:r>
            <a:r>
              <a:rPr lang="en-AU" sz="1200" kern="1200" dirty="0" smtClean="0">
                <a:solidFill>
                  <a:schemeClr val="tx1"/>
                </a:solidFill>
                <a:latin typeface="+mn-lt"/>
                <a:ea typeface="+mn-ea"/>
                <a:cs typeface="+mn-cs"/>
              </a:rPr>
              <a:t>offers when implementing a new (or revised) operational workplace policy it is important to:</a:t>
            </a:r>
          </a:p>
          <a:p>
            <a:pPr>
              <a:buFont typeface="Arial" pitchFamily="34" charset="0"/>
              <a:buChar char="•"/>
            </a:pPr>
            <a:r>
              <a:rPr lang="en-AU" sz="1200" kern="1200" dirty="0" smtClean="0">
                <a:solidFill>
                  <a:schemeClr val="tx1"/>
                </a:solidFill>
                <a:latin typeface="+mn-lt"/>
                <a:ea typeface="+mn-ea"/>
                <a:cs typeface="+mn-cs"/>
              </a:rPr>
              <a:t>Have senior management make a public statement – which:</a:t>
            </a:r>
          </a:p>
          <a:p>
            <a:pPr lvl="1">
              <a:buFont typeface="Arial" pitchFamily="34" charset="0"/>
              <a:buChar char="•"/>
            </a:pPr>
            <a:r>
              <a:rPr lang="en-US" sz="1200" kern="1200" dirty="0" smtClean="0">
                <a:solidFill>
                  <a:schemeClr val="tx1"/>
                </a:solidFill>
                <a:latin typeface="+mn-lt"/>
                <a:ea typeface="+mn-ea"/>
                <a:cs typeface="+mn-cs"/>
              </a:rPr>
              <a:t>Recognises and shows support for the policy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Encourages compliance with its requirements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Extols the virtues and benefits of the initiative</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Ensure all resources (financial, physical, human and knowledge/information-based) are available – in accordance with:</a:t>
            </a:r>
          </a:p>
          <a:p>
            <a:pPr lvl="1">
              <a:buFont typeface="Arial" pitchFamily="34" charset="0"/>
              <a:buChar char="•"/>
            </a:pPr>
            <a:r>
              <a:rPr lang="en-US" sz="1200" kern="1200" dirty="0" smtClean="0">
                <a:solidFill>
                  <a:schemeClr val="tx1"/>
                </a:solidFill>
                <a:latin typeface="+mn-lt"/>
                <a:ea typeface="+mn-ea"/>
                <a:cs typeface="+mn-cs"/>
              </a:rPr>
              <a:t>Research</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Plan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Promises made</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Check all those impacted by the policy have been informed – which may take the form of:</a:t>
            </a:r>
          </a:p>
          <a:p>
            <a:pPr lvl="1">
              <a:buFont typeface="Arial" pitchFamily="34" charset="0"/>
              <a:buChar char="•"/>
            </a:pPr>
            <a:r>
              <a:rPr lang="en-US" sz="1200" kern="1200" dirty="0" smtClean="0">
                <a:solidFill>
                  <a:schemeClr val="tx1"/>
                </a:solidFill>
                <a:latin typeface="+mn-lt"/>
                <a:ea typeface="+mn-ea"/>
                <a:cs typeface="+mn-cs"/>
              </a:rPr>
              <a:t>A formal briefing</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Verbal explanation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Handouts of documentation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Training, practice and role plays</a:t>
            </a:r>
            <a:endParaRPr lang="en-AU" sz="1200" kern="1200" dirty="0" smtClean="0">
              <a:solidFill>
                <a:schemeClr val="tx1"/>
              </a:solidFill>
              <a:latin typeface="+mn-lt"/>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94</a:t>
            </a:fld>
            <a:endParaRPr lang="en-US" dirty="0"/>
          </a:p>
        </p:txBody>
      </p:sp>
    </p:spTree>
    <p:extLst>
      <p:ext uri="{BB962C8B-B14F-4D97-AF65-F5344CB8AC3E}">
        <p14:creationId xmlns:p14="http://schemas.microsoft.com/office/powerpoint/2010/main" val="1963003190"/>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a:t>
            </a:r>
            <a:r>
              <a:rPr lang="en-AU" sz="1200" kern="1200" dirty="0" smtClean="0">
                <a:solidFill>
                  <a:schemeClr val="tx1"/>
                </a:solidFill>
                <a:latin typeface="+mn-lt"/>
                <a:ea typeface="+mn-ea"/>
                <a:cs typeface="+mn-cs"/>
              </a:rPr>
              <a:t>offers when implementing a new (or revised) operational workplace policy it is important to:</a:t>
            </a:r>
          </a:p>
          <a:p>
            <a:pPr>
              <a:buFont typeface="Arial" pitchFamily="34" charset="0"/>
              <a:buChar char="•"/>
            </a:pPr>
            <a:r>
              <a:rPr lang="en-AU" sz="1200" kern="1200" dirty="0" smtClean="0">
                <a:solidFill>
                  <a:schemeClr val="tx1"/>
                </a:solidFill>
                <a:latin typeface="+mn-lt"/>
                <a:ea typeface="+mn-ea"/>
                <a:cs typeface="+mn-cs"/>
              </a:rPr>
              <a:t>Adhere to the promised/projected schedule for implementation – as this may apply to:</a:t>
            </a:r>
          </a:p>
          <a:p>
            <a:pPr lvl="1">
              <a:buFont typeface="Arial" pitchFamily="34" charset="0"/>
              <a:buChar char="•"/>
            </a:pPr>
            <a:r>
              <a:rPr lang="en-AU" sz="1200" kern="1200" dirty="0" smtClean="0">
                <a:solidFill>
                  <a:schemeClr val="tx1"/>
                </a:solidFill>
                <a:latin typeface="+mn-lt"/>
                <a:ea typeface="+mn-ea"/>
                <a:cs typeface="+mn-cs"/>
              </a:rPr>
              <a:t>Implementation/start dates</a:t>
            </a:r>
          </a:p>
          <a:p>
            <a:pPr lvl="1">
              <a:buFont typeface="Arial" pitchFamily="34" charset="0"/>
              <a:buChar char="•"/>
            </a:pPr>
            <a:r>
              <a:rPr lang="en-AU" sz="1200" kern="1200" dirty="0" smtClean="0">
                <a:solidFill>
                  <a:schemeClr val="tx1"/>
                </a:solidFill>
                <a:latin typeface="+mn-lt"/>
                <a:ea typeface="+mn-ea"/>
                <a:cs typeface="+mn-cs"/>
              </a:rPr>
              <a:t>Transitional periods/phases</a:t>
            </a:r>
          </a:p>
          <a:p>
            <a:pPr lvl="1">
              <a:buFont typeface="Arial" pitchFamily="34" charset="0"/>
              <a:buChar char="•"/>
            </a:pPr>
            <a:r>
              <a:rPr lang="en-AU" sz="1200" kern="1200" dirty="0" smtClean="0">
                <a:solidFill>
                  <a:schemeClr val="tx1"/>
                </a:solidFill>
                <a:latin typeface="+mn-lt"/>
                <a:ea typeface="+mn-ea"/>
                <a:cs typeface="+mn-cs"/>
              </a:rPr>
              <a:t>Milestones for reviews</a:t>
            </a:r>
          </a:p>
          <a:p>
            <a:pPr>
              <a:buFont typeface="Arial" pitchFamily="34" charset="0"/>
              <a:buChar char="•"/>
            </a:pPr>
            <a:r>
              <a:rPr lang="en-AU" sz="1200" kern="1200" dirty="0" smtClean="0">
                <a:solidFill>
                  <a:schemeClr val="tx1"/>
                </a:solidFill>
                <a:latin typeface="+mn-lt"/>
                <a:ea typeface="+mn-ea"/>
                <a:cs typeface="+mn-cs"/>
              </a:rPr>
              <a:t>Be available to provide necessary and assistance – to those impacted by the initiative so they can:</a:t>
            </a:r>
          </a:p>
          <a:p>
            <a:pPr lvl="1">
              <a:buFont typeface="Arial" pitchFamily="34" charset="0"/>
              <a:buChar char="•"/>
            </a:pPr>
            <a:r>
              <a:rPr lang="en-AU" sz="1200" kern="1200" dirty="0" smtClean="0">
                <a:solidFill>
                  <a:schemeClr val="tx1"/>
                </a:solidFill>
                <a:latin typeface="+mn-lt"/>
                <a:ea typeface="+mn-ea"/>
                <a:cs typeface="+mn-cs"/>
              </a:rPr>
              <a:t>Obtain more detail as/when required</a:t>
            </a:r>
          </a:p>
          <a:p>
            <a:pPr lvl="1">
              <a:buFont typeface="Arial" pitchFamily="34" charset="0"/>
              <a:buChar char="•"/>
            </a:pPr>
            <a:r>
              <a:rPr lang="en-AU" sz="1200" kern="1200" dirty="0" smtClean="0">
                <a:solidFill>
                  <a:schemeClr val="tx1"/>
                </a:solidFill>
                <a:latin typeface="+mn-lt"/>
                <a:ea typeface="+mn-ea"/>
                <a:cs typeface="+mn-cs"/>
              </a:rPr>
              <a:t>Seel clarification or guidance on ambiguous matters/issues</a:t>
            </a:r>
          </a:p>
          <a:p>
            <a:pPr lvl="1">
              <a:buFont typeface="Arial" pitchFamily="34" charset="0"/>
              <a:buChar char="•"/>
            </a:pPr>
            <a:r>
              <a:rPr lang="en-AU" sz="1200" kern="1200" dirty="0" smtClean="0">
                <a:solidFill>
                  <a:schemeClr val="tx1"/>
                </a:solidFill>
                <a:latin typeface="+mn-lt"/>
                <a:ea typeface="+mn-ea"/>
                <a:cs typeface="+mn-cs"/>
              </a:rPr>
              <a:t>Show support for those with operational responsibility </a:t>
            </a:r>
          </a:p>
          <a:p>
            <a:pPr>
              <a:buFont typeface="Arial" pitchFamily="34" charset="0"/>
              <a:buChar char="•"/>
            </a:pPr>
            <a:r>
              <a:rPr lang="en-AU" sz="1200" kern="1200" dirty="0" smtClean="0">
                <a:solidFill>
                  <a:schemeClr val="tx1"/>
                </a:solidFill>
                <a:latin typeface="+mn-lt"/>
                <a:ea typeface="+mn-ea"/>
                <a:cs typeface="+mn-cs"/>
              </a:rPr>
              <a:t>Encourage adherence to the requirements of the policy – through a range of actions such as:</a:t>
            </a:r>
          </a:p>
          <a:p>
            <a:pPr lvl="1">
              <a:buFont typeface="Arial" pitchFamily="34" charset="0"/>
              <a:buChar char="•"/>
            </a:pPr>
            <a:r>
              <a:rPr lang="en-AU" sz="1200" kern="1200" dirty="0" smtClean="0">
                <a:solidFill>
                  <a:schemeClr val="tx1"/>
                </a:solidFill>
                <a:latin typeface="+mn-lt"/>
                <a:ea typeface="+mn-ea"/>
                <a:cs typeface="+mn-cs"/>
              </a:rPr>
              <a:t>Congratulating and thanking those who comply</a:t>
            </a:r>
          </a:p>
          <a:p>
            <a:pPr lvl="1">
              <a:buFont typeface="Arial" pitchFamily="34" charset="0"/>
              <a:buChar char="•"/>
            </a:pPr>
            <a:r>
              <a:rPr lang="en-AU" sz="1200" kern="1200" dirty="0" smtClean="0">
                <a:solidFill>
                  <a:schemeClr val="tx1"/>
                </a:solidFill>
                <a:latin typeface="+mn-lt"/>
                <a:ea typeface="+mn-ea"/>
                <a:cs typeface="+mn-cs"/>
              </a:rPr>
              <a:t>Demonstrating personal compliance with what is required</a:t>
            </a:r>
          </a:p>
          <a:p>
            <a:pPr lvl="1">
              <a:buFont typeface="Arial" pitchFamily="34" charset="0"/>
              <a:buChar char="•"/>
            </a:pPr>
            <a:r>
              <a:rPr lang="en-AU" sz="1200" kern="1200" dirty="0" smtClean="0">
                <a:solidFill>
                  <a:schemeClr val="tx1"/>
                </a:solidFill>
                <a:latin typeface="+mn-lt"/>
                <a:ea typeface="+mn-ea"/>
                <a:cs typeface="+mn-cs"/>
              </a:rPr>
              <a:t>Motivating individuals as needed</a:t>
            </a:r>
          </a:p>
          <a:p>
            <a:pPr lvl="1">
              <a:buFont typeface="Arial" pitchFamily="34" charset="0"/>
              <a:buChar char="•"/>
            </a:pPr>
            <a:r>
              <a:rPr lang="en-AU" sz="1200" kern="1200" dirty="0" smtClean="0">
                <a:solidFill>
                  <a:schemeClr val="tx1"/>
                </a:solidFill>
                <a:latin typeface="+mn-lt"/>
                <a:ea typeface="+mn-ea"/>
                <a:cs typeface="+mn-cs"/>
              </a:rPr>
              <a:t>Never ignoring instances of non-compliance</a:t>
            </a:r>
          </a:p>
          <a:p>
            <a:pPr>
              <a:buFont typeface="Arial" pitchFamily="34" charset="0"/>
              <a:buChar char="•"/>
            </a:pPr>
            <a:r>
              <a:rPr lang="en-AU" sz="1200" kern="1200" dirty="0" smtClean="0">
                <a:solidFill>
                  <a:schemeClr val="tx1"/>
                </a:solidFill>
                <a:latin typeface="+mn-lt"/>
                <a:ea typeface="+mn-ea"/>
                <a:cs typeface="+mn-cs"/>
              </a:rPr>
              <a:t>Verify the policy is functionally compliant with all necessary related obligations – as these may occur in terms of: </a:t>
            </a:r>
          </a:p>
          <a:p>
            <a:pPr lvl="1">
              <a:buFont typeface="Arial" pitchFamily="34" charset="0"/>
              <a:buChar char="•"/>
            </a:pPr>
            <a:r>
              <a:rPr lang="en-US" sz="1200" kern="1200" dirty="0" smtClean="0">
                <a:solidFill>
                  <a:schemeClr val="tx1"/>
                </a:solidFill>
                <a:latin typeface="+mn-lt"/>
                <a:ea typeface="+mn-ea"/>
                <a:cs typeface="+mn-cs"/>
              </a:rPr>
              <a:t>Occupational safety and health</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Legal liability as specific to the individual policy</a:t>
            </a:r>
            <a:endParaRPr lang="en-AU" sz="1200" kern="1200" dirty="0" smtClean="0">
              <a:solidFill>
                <a:schemeClr val="tx1"/>
              </a:solidFill>
              <a:latin typeface="+mn-lt"/>
              <a:ea typeface="+mn-ea"/>
              <a:cs typeface="+mn-cs"/>
            </a:endParaRPr>
          </a:p>
          <a:p>
            <a:pPr lvl="1">
              <a:buFont typeface="Arial" pitchFamily="34" charset="0"/>
              <a:buChar char="•"/>
            </a:pPr>
            <a:r>
              <a:rPr lang="en-AU" sz="1200" kern="1200" dirty="0" smtClean="0">
                <a:solidFill>
                  <a:schemeClr val="tx1"/>
                </a:solidFill>
                <a:latin typeface="+mn-lt"/>
                <a:ea typeface="+mn-ea"/>
                <a:cs typeface="+mn-cs"/>
              </a:rPr>
              <a:t>Promises/statements made in regard to product and/or service delivery</a:t>
            </a:r>
          </a:p>
          <a:p>
            <a:pPr>
              <a:buFont typeface="Arial" pitchFamily="34" charset="0"/>
              <a:buChar char="•"/>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95</a:t>
            </a:fld>
            <a:endParaRPr lang="en-US" dirty="0"/>
          </a:p>
        </p:txBody>
      </p:sp>
    </p:spTree>
    <p:extLst>
      <p:ext uri="{BB962C8B-B14F-4D97-AF65-F5344CB8AC3E}">
        <p14:creationId xmlns:p14="http://schemas.microsoft.com/office/powerpoint/2010/main" val="2246086010"/>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a:t>
            </a:r>
            <a:r>
              <a:rPr lang="en-AU" sz="1200" kern="1200" dirty="0" smtClean="0">
                <a:solidFill>
                  <a:schemeClr val="tx1"/>
                </a:solidFill>
                <a:latin typeface="+mn-lt"/>
                <a:ea typeface="+mn-ea"/>
                <a:cs typeface="+mn-cs"/>
              </a:rPr>
              <a:t>offers when implementing a new (or revised) operational workplace policy it is important to:</a:t>
            </a:r>
          </a:p>
          <a:p>
            <a:pPr>
              <a:buFont typeface="Arial" pitchFamily="34" charset="0"/>
              <a:buChar char="•"/>
            </a:pPr>
            <a:r>
              <a:rPr lang="en-AU" sz="1200" kern="1200" dirty="0" smtClean="0">
                <a:solidFill>
                  <a:schemeClr val="tx1"/>
                </a:solidFill>
                <a:latin typeface="+mn-lt"/>
                <a:ea typeface="+mn-ea"/>
                <a:cs typeface="+mn-cs"/>
              </a:rPr>
              <a:t>Ensure required administrative activities are being undertaken in relation to the initiative – as these may apply with reference to:</a:t>
            </a:r>
          </a:p>
          <a:p>
            <a:pPr lvl="1">
              <a:buFont typeface="Arial" pitchFamily="34" charset="0"/>
              <a:buChar char="•"/>
            </a:pPr>
            <a:r>
              <a:rPr lang="en-AU" sz="1200" kern="1200" dirty="0" smtClean="0">
                <a:solidFill>
                  <a:schemeClr val="tx1"/>
                </a:solidFill>
                <a:latin typeface="+mn-lt"/>
                <a:ea typeface="+mn-ea"/>
                <a:cs typeface="+mn-cs"/>
              </a:rPr>
              <a:t>Scheduled/required monitoring activities</a:t>
            </a:r>
          </a:p>
          <a:p>
            <a:pPr lvl="1">
              <a:buFont typeface="Arial" pitchFamily="34" charset="0"/>
              <a:buChar char="•"/>
            </a:pPr>
            <a:r>
              <a:rPr lang="en-AU" sz="1200" kern="1200" dirty="0" smtClean="0">
                <a:solidFill>
                  <a:schemeClr val="tx1"/>
                </a:solidFill>
                <a:latin typeface="+mn-lt"/>
                <a:ea typeface="+mn-ea"/>
                <a:cs typeface="+mn-cs"/>
              </a:rPr>
              <a:t>Recording of action taken, money spent and feedback received</a:t>
            </a:r>
          </a:p>
          <a:p>
            <a:pPr lvl="1">
              <a:buFont typeface="Arial" pitchFamily="34" charset="0"/>
              <a:buChar char="•"/>
            </a:pPr>
            <a:r>
              <a:rPr lang="en-AU" sz="1200" kern="1200" dirty="0" smtClean="0">
                <a:solidFill>
                  <a:schemeClr val="tx1"/>
                </a:solidFill>
                <a:latin typeface="+mn-lt"/>
                <a:ea typeface="+mn-ea"/>
                <a:cs typeface="+mn-cs"/>
              </a:rPr>
              <a:t>Reporting</a:t>
            </a:r>
          </a:p>
          <a:p>
            <a:pPr>
              <a:buFont typeface="Arial" pitchFamily="34" charset="0"/>
              <a:buChar char="•"/>
            </a:pPr>
            <a:r>
              <a:rPr lang="en-AU" sz="1200" kern="1200" dirty="0" smtClean="0">
                <a:solidFill>
                  <a:schemeClr val="tx1"/>
                </a:solidFill>
                <a:latin typeface="+mn-lt"/>
                <a:ea typeface="+mn-ea"/>
                <a:cs typeface="+mn-cs"/>
              </a:rPr>
              <a:t>Action is taken to create a workplace environment supportive of the change – which may require attention being paid to:</a:t>
            </a:r>
          </a:p>
          <a:p>
            <a:pPr lvl="1">
              <a:buFont typeface="Arial" pitchFamily="34" charset="0"/>
              <a:buChar char="•"/>
            </a:pPr>
            <a:r>
              <a:rPr lang="en-AU" sz="1200" kern="1200" dirty="0" smtClean="0">
                <a:solidFill>
                  <a:schemeClr val="tx1"/>
                </a:solidFill>
                <a:latin typeface="+mn-lt"/>
                <a:ea typeface="+mn-ea"/>
                <a:cs typeface="+mn-cs"/>
              </a:rPr>
              <a:t>Handling disruptions caused to normal operation/SOPs</a:t>
            </a:r>
          </a:p>
          <a:p>
            <a:pPr lvl="1">
              <a:buFont typeface="Arial" pitchFamily="34" charset="0"/>
              <a:buChar char="•"/>
            </a:pPr>
            <a:r>
              <a:rPr lang="en-AU" sz="1200" kern="1200" dirty="0" smtClean="0">
                <a:solidFill>
                  <a:schemeClr val="tx1"/>
                </a:solidFill>
                <a:latin typeface="+mn-lt"/>
                <a:ea typeface="+mn-ea"/>
                <a:cs typeface="+mn-cs"/>
              </a:rPr>
              <a:t>Reassuring those initially (adversely) impacted by the initiative</a:t>
            </a:r>
          </a:p>
          <a:p>
            <a:pPr lvl="1">
              <a:buFont typeface="Arial" pitchFamily="34" charset="0"/>
              <a:buChar char="•"/>
            </a:pPr>
            <a:r>
              <a:rPr lang="en-AU" sz="1200" kern="1200" dirty="0" smtClean="0">
                <a:solidFill>
                  <a:schemeClr val="tx1"/>
                </a:solidFill>
                <a:latin typeface="+mn-lt"/>
                <a:ea typeface="+mn-ea"/>
                <a:cs typeface="+mn-cs"/>
              </a:rPr>
              <a:t>Showing appropriate leadership and remaining positive/being enthusiastic  about the implementation</a:t>
            </a:r>
          </a:p>
          <a:p>
            <a:pPr lvl="1">
              <a:buFont typeface="Arial" pitchFamily="34" charset="0"/>
              <a:buChar char="•"/>
            </a:pPr>
            <a:r>
              <a:rPr lang="en-AU" sz="1200" kern="1200" dirty="0" smtClean="0">
                <a:solidFill>
                  <a:schemeClr val="tx1"/>
                </a:solidFill>
                <a:latin typeface="+mn-lt"/>
                <a:ea typeface="+mn-ea"/>
                <a:cs typeface="+mn-cs"/>
              </a:rPr>
              <a:t>Highlighting positive outcomes of the new/revised policy</a:t>
            </a:r>
          </a:p>
          <a:p>
            <a:pPr>
              <a:buFont typeface="Arial" pitchFamily="34" charset="0"/>
              <a:buChar char="•"/>
            </a:pPr>
            <a:r>
              <a:rPr lang="en-AU" sz="1200" kern="1200" dirty="0" smtClean="0">
                <a:solidFill>
                  <a:schemeClr val="tx1"/>
                </a:solidFill>
                <a:latin typeface="+mn-lt"/>
                <a:ea typeface="+mn-ea"/>
                <a:cs typeface="+mn-cs"/>
              </a:rPr>
              <a:t>Engage with those who are to be impacted – which (in addition to other relevant topics already identified) may mean:</a:t>
            </a:r>
          </a:p>
          <a:p>
            <a:pPr lvl="1">
              <a:buFont typeface="Arial" pitchFamily="34" charset="0"/>
              <a:buChar char="•"/>
            </a:pPr>
            <a:r>
              <a:rPr lang="en-AU" sz="1200" kern="1200" dirty="0" smtClean="0">
                <a:solidFill>
                  <a:schemeClr val="tx1"/>
                </a:solidFill>
                <a:latin typeface="+mn-lt"/>
                <a:ea typeface="+mn-ea"/>
                <a:cs typeface="+mn-cs"/>
              </a:rPr>
              <a:t>Setting personal objectives for individuals</a:t>
            </a:r>
          </a:p>
          <a:p>
            <a:pPr lvl="1">
              <a:buFont typeface="Arial" pitchFamily="34" charset="0"/>
              <a:buChar char="•"/>
            </a:pPr>
            <a:r>
              <a:rPr lang="en-AU" sz="1200" kern="1200" dirty="0" smtClean="0">
                <a:solidFill>
                  <a:schemeClr val="tx1"/>
                </a:solidFill>
                <a:latin typeface="+mn-lt"/>
                <a:ea typeface="+mn-ea"/>
                <a:cs typeface="+mn-cs"/>
              </a:rPr>
              <a:t>Setting sub-targets of larger goals</a:t>
            </a:r>
          </a:p>
          <a:p>
            <a:pPr lvl="1">
              <a:buFont typeface="Arial" pitchFamily="34" charset="0"/>
              <a:buChar char="•"/>
            </a:pPr>
            <a:r>
              <a:rPr lang="en-AU" sz="1200" kern="1200" dirty="0" smtClean="0">
                <a:solidFill>
                  <a:schemeClr val="tx1"/>
                </a:solidFill>
                <a:latin typeface="+mn-lt"/>
                <a:ea typeface="+mn-ea"/>
                <a:cs typeface="+mn-cs"/>
              </a:rPr>
              <a:t>Managing how individuals interact with requirements of the policy including dealing with common obstacles through conflict management, negotiation and explanation.</a:t>
            </a:r>
          </a:p>
          <a:p>
            <a:pPr>
              <a:buFont typeface="Arial" pitchFamily="34" charset="0"/>
              <a:buChar char="•"/>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96</a:t>
            </a:fld>
            <a:endParaRPr lang="en-US" dirty="0"/>
          </a:p>
        </p:txBody>
      </p:sp>
    </p:spTree>
    <p:extLst>
      <p:ext uri="{BB962C8B-B14F-4D97-AF65-F5344CB8AC3E}">
        <p14:creationId xmlns:p14="http://schemas.microsoft.com/office/powerpoint/2010/main" val="1768769739"/>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‘primary evaluation’</a:t>
            </a:r>
          </a:p>
          <a:p>
            <a:r>
              <a:rPr lang="en-AU" sz="1200" b="1" kern="1200" dirty="0" smtClean="0">
                <a:solidFill>
                  <a:schemeClr val="tx1"/>
                </a:solidFill>
                <a:latin typeface="+mn-lt"/>
                <a:ea typeface="+mn-ea"/>
                <a:cs typeface="+mn-cs"/>
              </a:rPr>
              <a:t>Context and rationale</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‘Primary evaluation’ in this context refers to management activities undertaken to monitor the very first stages (hours, days, weeks) of a new policy.</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This standard procedure applies/should be in place to:</a:t>
            </a:r>
          </a:p>
          <a:p>
            <a:pPr>
              <a:buFont typeface="Arial" pitchFamily="34" charset="0"/>
              <a:buChar char="•"/>
            </a:pPr>
            <a:r>
              <a:rPr lang="en-AU" sz="1200" kern="1200" dirty="0" smtClean="0">
                <a:solidFill>
                  <a:schemeClr val="tx1"/>
                </a:solidFill>
                <a:latin typeface="+mn-lt"/>
                <a:ea typeface="+mn-ea"/>
                <a:cs typeface="+mn-cs"/>
              </a:rPr>
              <a:t>Demonstrate ongoing management engagement with and investment in the policy initiative – as opposed to allowing others to believe management has no further interest in the initiative</a:t>
            </a:r>
          </a:p>
          <a:p>
            <a:pPr>
              <a:buFont typeface="Arial" pitchFamily="34" charset="0"/>
              <a:buChar char="•"/>
            </a:pPr>
            <a:r>
              <a:rPr lang="en-AU" sz="1200" kern="1200" dirty="0" smtClean="0">
                <a:solidFill>
                  <a:schemeClr val="tx1"/>
                </a:solidFill>
                <a:latin typeface="+mn-lt"/>
                <a:ea typeface="+mn-ea"/>
                <a:cs typeface="+mn-cs"/>
              </a:rPr>
              <a:t>Ensure </a:t>
            </a:r>
            <a:r>
              <a:rPr lang="en-AU" sz="1200" b="1" kern="1200" dirty="0" smtClean="0">
                <a:solidFill>
                  <a:schemeClr val="tx1"/>
                </a:solidFill>
                <a:latin typeface="+mn-lt"/>
                <a:ea typeface="+mn-ea"/>
                <a:cs typeface="+mn-cs"/>
              </a:rPr>
              <a:t>obvious and </a:t>
            </a:r>
            <a:r>
              <a:rPr lang="en-AU" sz="1200" b="1" i="1" kern="1200" dirty="0" smtClean="0">
                <a:solidFill>
                  <a:schemeClr val="tx1"/>
                </a:solidFill>
                <a:latin typeface="+mn-lt"/>
                <a:ea typeface="+mn-ea"/>
                <a:cs typeface="+mn-cs"/>
              </a:rPr>
              <a:t>immediate </a:t>
            </a:r>
            <a:r>
              <a:rPr lang="en-AU" sz="1200" b="1" kern="1200" dirty="0" smtClean="0">
                <a:solidFill>
                  <a:schemeClr val="tx1"/>
                </a:solidFill>
                <a:latin typeface="+mn-lt"/>
                <a:ea typeface="+mn-ea"/>
                <a:cs typeface="+mn-cs"/>
              </a:rPr>
              <a:t>negative outcomes</a:t>
            </a:r>
            <a:r>
              <a:rPr lang="en-AU" sz="1200" kern="1200" dirty="0" smtClean="0">
                <a:solidFill>
                  <a:schemeClr val="tx1"/>
                </a:solidFill>
                <a:latin typeface="+mn-lt"/>
                <a:ea typeface="+mn-ea"/>
                <a:cs typeface="+mn-cs"/>
              </a:rPr>
              <a:t> from the introduction of the policy are identified as quickly as possible – so appropriate remedial/corrective action can be taken.</a:t>
            </a:r>
          </a:p>
          <a:p>
            <a:pPr lvl="1">
              <a:buFont typeface="Arial" pitchFamily="34" charset="0"/>
              <a:buChar char="•"/>
            </a:pPr>
            <a:r>
              <a:rPr lang="en-AU" sz="1200" kern="1200" dirty="0" smtClean="0">
                <a:solidFill>
                  <a:schemeClr val="tx1"/>
                </a:solidFill>
                <a:latin typeface="+mn-lt"/>
                <a:ea typeface="+mn-ea"/>
                <a:cs typeface="+mn-cs"/>
              </a:rPr>
              <a:t>Essentially this is done to stop bad situations getting worse.</a:t>
            </a:r>
          </a:p>
          <a:p>
            <a:pPr>
              <a:buFont typeface="Arial" pitchFamily="34" charset="0"/>
              <a:buChar char="•"/>
            </a:pPr>
            <a:r>
              <a:rPr lang="en-AU" sz="1200" kern="1200" dirty="0" smtClean="0">
                <a:solidFill>
                  <a:schemeClr val="tx1"/>
                </a:solidFill>
                <a:latin typeface="+mn-lt"/>
                <a:ea typeface="+mn-ea"/>
                <a:cs typeface="+mn-cs"/>
              </a:rPr>
              <a:t>Leverage any </a:t>
            </a:r>
            <a:r>
              <a:rPr lang="en-AU" sz="1200" b="1" kern="1200" dirty="0" smtClean="0">
                <a:solidFill>
                  <a:schemeClr val="tx1"/>
                </a:solidFill>
                <a:latin typeface="+mn-lt"/>
                <a:ea typeface="+mn-ea"/>
                <a:cs typeface="+mn-cs"/>
              </a:rPr>
              <a:t>obvious and immediate positive results</a:t>
            </a:r>
            <a:r>
              <a:rPr lang="en-AU" sz="1200" kern="1200" dirty="0" smtClean="0">
                <a:solidFill>
                  <a:schemeClr val="tx1"/>
                </a:solidFill>
                <a:latin typeface="+mn-lt"/>
                <a:ea typeface="+mn-ea"/>
                <a:cs typeface="+mn-cs"/>
              </a:rPr>
              <a:t> which emerge – so they can be applied/transferred to other areas</a:t>
            </a:r>
          </a:p>
          <a:p>
            <a:pPr>
              <a:buFont typeface="Arial" pitchFamily="34" charset="0"/>
              <a:buChar char="•"/>
            </a:pPr>
            <a:r>
              <a:rPr lang="en-AU" sz="1200" kern="1200" dirty="0" smtClean="0">
                <a:solidFill>
                  <a:schemeClr val="tx1"/>
                </a:solidFill>
                <a:latin typeface="+mn-lt"/>
                <a:ea typeface="+mn-ea"/>
                <a:cs typeface="+mn-cs"/>
              </a:rPr>
              <a:t>Allow unexpected factors which are influencing or nuancing the implementation to be identified at the earliest opportunity – so that an appropriate response can be developed.</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97</a:t>
            </a:fld>
            <a:endParaRPr lang="en-US" dirty="0"/>
          </a:p>
        </p:txBody>
      </p:sp>
    </p:spTree>
    <p:extLst>
      <p:ext uri="{BB962C8B-B14F-4D97-AF65-F5344CB8AC3E}">
        <p14:creationId xmlns:p14="http://schemas.microsoft.com/office/powerpoint/2010/main" val="2220073739"/>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notes a </a:t>
            </a:r>
            <a:r>
              <a:rPr lang="en-AU" sz="1200" kern="1200" dirty="0" smtClean="0">
                <a:solidFill>
                  <a:schemeClr val="tx1"/>
                </a:solidFill>
                <a:latin typeface="+mn-lt"/>
                <a:ea typeface="+mn-ea"/>
                <a:cs typeface="+mn-cs"/>
              </a:rPr>
              <a:t>combination of the following should be used when undertaking primary evaluation monitoring activities:</a:t>
            </a:r>
          </a:p>
          <a:p>
            <a:pPr>
              <a:buFont typeface="Arial" pitchFamily="34" charset="0"/>
              <a:buChar char="•"/>
            </a:pPr>
            <a:r>
              <a:rPr lang="en-AU" sz="1200" kern="1200" dirty="0" smtClean="0">
                <a:solidFill>
                  <a:schemeClr val="tx1"/>
                </a:solidFill>
                <a:latin typeface="+mn-lt"/>
                <a:ea typeface="+mn-ea"/>
                <a:cs typeface="+mn-cs"/>
              </a:rPr>
              <a:t>Engaging in personal observation – of practice and procedures in the workplace:</a:t>
            </a:r>
          </a:p>
          <a:p>
            <a:pPr lvl="1">
              <a:buFont typeface="Arial" pitchFamily="34" charset="0"/>
              <a:buChar char="•"/>
            </a:pPr>
            <a:r>
              <a:rPr lang="en-AU" sz="1200" kern="1200" dirty="0" smtClean="0">
                <a:solidFill>
                  <a:schemeClr val="tx1"/>
                </a:solidFill>
                <a:latin typeface="+mn-lt"/>
                <a:ea typeface="+mn-ea"/>
                <a:cs typeface="+mn-cs"/>
              </a:rPr>
              <a:t>Judging reality against perceptions of what was expected</a:t>
            </a:r>
          </a:p>
          <a:p>
            <a:pPr lvl="1">
              <a:buFont typeface="Arial" pitchFamily="34" charset="0"/>
              <a:buChar char="•"/>
            </a:pPr>
            <a:r>
              <a:rPr lang="en-AU" sz="1200" kern="1200" dirty="0" smtClean="0">
                <a:solidFill>
                  <a:schemeClr val="tx1"/>
                </a:solidFill>
                <a:latin typeface="+mn-lt"/>
                <a:ea typeface="+mn-ea"/>
                <a:cs typeface="+mn-cs"/>
              </a:rPr>
              <a:t>Looking at the impact of the policy on service delivery and the people impacted/involved</a:t>
            </a:r>
          </a:p>
          <a:p>
            <a:pPr lvl="1">
              <a:buFont typeface="Arial" pitchFamily="34" charset="0"/>
              <a:buChar char="•"/>
            </a:pPr>
            <a:r>
              <a:rPr lang="en-AU" sz="1200" kern="1200" dirty="0" smtClean="0">
                <a:solidFill>
                  <a:schemeClr val="tx1"/>
                </a:solidFill>
                <a:latin typeface="+mn-lt"/>
                <a:ea typeface="+mn-ea"/>
                <a:cs typeface="+mn-cs"/>
              </a:rPr>
              <a:t>Putting the initiative into perspective by setting it against other relevant or competing factors</a:t>
            </a:r>
          </a:p>
          <a:p>
            <a:pPr>
              <a:buFont typeface="Arial" pitchFamily="34" charset="0"/>
              <a:buChar char="•"/>
            </a:pPr>
            <a:r>
              <a:rPr lang="en-AU" sz="1200" kern="1200" dirty="0" smtClean="0">
                <a:solidFill>
                  <a:schemeClr val="tx1"/>
                </a:solidFill>
                <a:latin typeface="+mn-lt"/>
                <a:ea typeface="+mn-ea"/>
                <a:cs typeface="+mn-cs"/>
              </a:rPr>
              <a:t>Analysing documentation – which could include:</a:t>
            </a:r>
          </a:p>
          <a:p>
            <a:pPr lvl="1">
              <a:buFont typeface="Arial" pitchFamily="34" charset="0"/>
              <a:buChar char="•"/>
            </a:pPr>
            <a:r>
              <a:rPr lang="en-US" sz="1200" kern="1200" dirty="0" smtClean="0">
                <a:solidFill>
                  <a:schemeClr val="tx1"/>
                </a:solidFill>
                <a:latin typeface="+mn-lt"/>
                <a:ea typeface="+mn-ea"/>
                <a:cs typeface="+mn-cs"/>
              </a:rPr>
              <a:t>Evaluating mandatory reports/forms which are completed as part of the policy/initiative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Looking at results/outcomes represented in the documentation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Reading compliance reports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Meeting with stakeholders – which could involve:</a:t>
            </a:r>
          </a:p>
          <a:p>
            <a:pPr lvl="1">
              <a:buFont typeface="Arial" pitchFamily="34" charset="0"/>
              <a:buChar char="•"/>
            </a:pPr>
            <a:r>
              <a:rPr lang="en-US" sz="1200" kern="1200" dirty="0" smtClean="0">
                <a:solidFill>
                  <a:schemeClr val="tx1"/>
                </a:solidFill>
                <a:latin typeface="+mn-lt"/>
                <a:ea typeface="+mn-ea"/>
                <a:cs typeface="+mn-cs"/>
              </a:rPr>
              <a:t>Conducting end of shift/day de-briefings with employees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Soliciting and analysing customer feedback</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Encouraging and interpreting employee feedback</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Holding formal meetings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Reviewing short-term KPIs – which needs to address:</a:t>
            </a:r>
          </a:p>
          <a:p>
            <a:pPr lvl="1">
              <a:buFont typeface="Arial" pitchFamily="34" charset="0"/>
              <a:buChar char="•"/>
            </a:pPr>
            <a:r>
              <a:rPr lang="en-US" sz="1200" kern="1200" dirty="0" smtClean="0">
                <a:solidFill>
                  <a:schemeClr val="tx1"/>
                </a:solidFill>
                <a:latin typeface="+mn-lt"/>
                <a:ea typeface="+mn-ea"/>
                <a:cs typeface="+mn-cs"/>
              </a:rPr>
              <a:t>Evaluating extent to which they are being met/attained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Determining if </a:t>
            </a:r>
            <a:r>
              <a:rPr lang="en-US" sz="1200" b="1" kern="1200" dirty="0" smtClean="0">
                <a:solidFill>
                  <a:schemeClr val="tx1"/>
                </a:solidFill>
                <a:latin typeface="+mn-lt"/>
                <a:ea typeface="+mn-ea"/>
                <a:cs typeface="+mn-cs"/>
              </a:rPr>
              <a:t>on the basis of hindsight</a:t>
            </a:r>
            <a:r>
              <a:rPr lang="en-US" sz="1200" kern="1200" dirty="0" smtClean="0">
                <a:solidFill>
                  <a:schemeClr val="tx1"/>
                </a:solidFill>
                <a:latin typeface="+mn-lt"/>
                <a:ea typeface="+mn-ea"/>
                <a:cs typeface="+mn-cs"/>
              </a:rPr>
              <a:t> the KPIs were realistic</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Undertaking formal gap analyses.</a:t>
            </a:r>
            <a:endParaRPr lang="en-AU" sz="1200" kern="1200" dirty="0" smtClean="0">
              <a:solidFill>
                <a:schemeClr val="tx1"/>
              </a:solidFill>
              <a:latin typeface="+mn-lt"/>
              <a:ea typeface="+mn-ea"/>
              <a:cs typeface="+mn-cs"/>
            </a:endParaRPr>
          </a:p>
          <a:p>
            <a:pPr>
              <a:buFont typeface="Arial" pitchFamily="34" charset="0"/>
              <a:buNone/>
            </a:pPr>
            <a:endParaRPr lang="en-US" b="1" baseline="0" noProof="0" dirty="0" smtClean="0"/>
          </a:p>
          <a:p>
            <a:pPr>
              <a:buFont typeface="Arial" pitchFamily="34" charset="0"/>
              <a:buNone/>
            </a:pPr>
            <a:r>
              <a:rPr lang="en-US" b="1" baseline="0" noProof="0" dirty="0" smtClean="0"/>
              <a:t>Classroom Activity – Internet research </a:t>
            </a:r>
          </a:p>
          <a:p>
            <a:pPr>
              <a:buFont typeface="Arial" pitchFamily="34" charset="0"/>
              <a:buNone/>
            </a:pPr>
            <a:r>
              <a:rPr lang="en-US" b="0" baseline="0" noProof="0" dirty="0" smtClean="0"/>
              <a:t>Trainer supervises internet research on relevant websites for items identified above, such as: </a:t>
            </a:r>
          </a:p>
          <a:p>
            <a:r>
              <a:rPr lang="en-AU" sz="1200" u="sng" kern="1200" dirty="0" smtClean="0">
                <a:solidFill>
                  <a:schemeClr val="tx1"/>
                </a:solidFill>
                <a:latin typeface="+mn-lt"/>
                <a:ea typeface="+mn-ea"/>
                <a:cs typeface="+mn-cs"/>
                <a:hlinkClick r:id="rId3"/>
              </a:rPr>
              <a:t>http://2020projectmanagement.com/2013/05/how-gap-analysis-adds-value-to-your-business/</a:t>
            </a:r>
            <a:r>
              <a:rPr lang="en-AU" sz="1200" kern="1200" dirty="0" smtClean="0">
                <a:solidFill>
                  <a:schemeClr val="tx1"/>
                </a:solidFill>
                <a:latin typeface="+mn-lt"/>
                <a:ea typeface="+mn-ea"/>
                <a:cs typeface="+mn-cs"/>
              </a:rPr>
              <a:t> - How gap analysis adds value to your business</a:t>
            </a:r>
          </a:p>
          <a:p>
            <a:r>
              <a:rPr lang="en-AU" sz="1200" u="sng" kern="1200" dirty="0" smtClean="0">
                <a:solidFill>
                  <a:schemeClr val="tx1"/>
                </a:solidFill>
                <a:latin typeface="+mn-lt"/>
                <a:ea typeface="+mn-ea"/>
                <a:cs typeface="+mn-cs"/>
                <a:hlinkClick r:id="rId4"/>
              </a:rPr>
              <a:t>http://en.wikipedia.org/wiki/Gap_analysis</a:t>
            </a:r>
            <a:r>
              <a:rPr lang="en-AU" sz="1200" kern="1200" dirty="0" smtClean="0">
                <a:solidFill>
                  <a:schemeClr val="tx1"/>
                </a:solidFill>
                <a:latin typeface="+mn-lt"/>
                <a:ea typeface="+mn-ea"/>
                <a:cs typeface="+mn-cs"/>
              </a:rPr>
              <a:t> - Gap analysis.</a:t>
            </a:r>
          </a:p>
          <a:p>
            <a:pPr>
              <a:buFont typeface="Arial" pitchFamily="34" charset="0"/>
              <a:buNone/>
            </a:pPr>
            <a:endParaRPr lang="en-US" b="0"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98</a:t>
            </a:fld>
            <a:endParaRPr lang="en-US" dirty="0"/>
          </a:p>
        </p:txBody>
      </p:sp>
    </p:spTree>
    <p:extLst>
      <p:ext uri="{BB962C8B-B14F-4D97-AF65-F5344CB8AC3E}">
        <p14:creationId xmlns:p14="http://schemas.microsoft.com/office/powerpoint/2010/main" val="1307976836"/>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timing identifying:</a:t>
            </a:r>
          </a:p>
          <a:p>
            <a:pPr>
              <a:buFont typeface="Arial" pitchFamily="34" charset="0"/>
              <a:buChar char="•"/>
            </a:pPr>
            <a:r>
              <a:rPr lang="en-AU" sz="1200" kern="1200" dirty="0" smtClean="0">
                <a:solidFill>
                  <a:schemeClr val="tx1"/>
                </a:solidFill>
                <a:latin typeface="+mn-lt"/>
                <a:ea typeface="+mn-ea"/>
                <a:cs typeface="+mn-cs"/>
              </a:rPr>
              <a:t>The ‘primary evaluation’ described earlier occurs in the first hours, days or weeks of the implementation of an operational policy.</a:t>
            </a:r>
          </a:p>
          <a:p>
            <a:pPr>
              <a:buFont typeface="Arial" pitchFamily="34" charset="0"/>
              <a:buChar char="•"/>
            </a:pPr>
            <a:r>
              <a:rPr lang="en-AU" sz="1200" kern="1200" dirty="0" smtClean="0">
                <a:solidFill>
                  <a:schemeClr val="tx1"/>
                </a:solidFill>
                <a:latin typeface="+mn-lt"/>
                <a:ea typeface="+mn-ea"/>
                <a:cs typeface="+mn-cs"/>
              </a:rPr>
              <a:t>The monitoring of performance indicators (or key performance indicators [KPIs]} may occur:</a:t>
            </a:r>
          </a:p>
          <a:p>
            <a:pPr lvl="1">
              <a:buFont typeface="Arial" pitchFamily="34" charset="0"/>
              <a:buChar char="•"/>
            </a:pPr>
            <a:r>
              <a:rPr lang="en-AU" sz="1200" kern="1200" dirty="0" smtClean="0">
                <a:solidFill>
                  <a:schemeClr val="tx1"/>
                </a:solidFill>
                <a:latin typeface="+mn-lt"/>
                <a:ea typeface="+mn-ea"/>
                <a:cs typeface="+mn-cs"/>
              </a:rPr>
              <a:t>In terms of a single month</a:t>
            </a:r>
          </a:p>
          <a:p>
            <a:pPr lvl="1">
              <a:buFont typeface="Arial" pitchFamily="34" charset="0"/>
              <a:buChar char="•"/>
            </a:pPr>
            <a:r>
              <a:rPr lang="en-AU" sz="1200" kern="1200" dirty="0" smtClean="0">
                <a:solidFill>
                  <a:schemeClr val="tx1"/>
                </a:solidFill>
                <a:latin typeface="+mn-lt"/>
                <a:ea typeface="+mn-ea"/>
                <a:cs typeface="+mn-cs"/>
              </a:rPr>
              <a:t>After several (two or three) months</a:t>
            </a:r>
          </a:p>
          <a:p>
            <a:pPr lvl="1">
              <a:buFont typeface="Arial" pitchFamily="34" charset="0"/>
              <a:buChar char="•"/>
            </a:pPr>
            <a:r>
              <a:rPr lang="en-AU" sz="1200" kern="1200" dirty="0" smtClean="0">
                <a:solidFill>
                  <a:schemeClr val="tx1"/>
                </a:solidFill>
                <a:latin typeface="+mn-lt"/>
                <a:ea typeface="+mn-ea"/>
                <a:cs typeface="+mn-cs"/>
              </a:rPr>
              <a:t>At a date identified in the plan for the operational policy.</a:t>
            </a:r>
          </a:p>
          <a:p>
            <a:pPr>
              <a:buFont typeface="Arial" pitchFamily="34" charset="0"/>
              <a:buChar char="•"/>
            </a:pPr>
            <a:r>
              <a:rPr lang="en-AU" sz="1200" kern="1200" dirty="0" smtClean="0">
                <a:solidFill>
                  <a:schemeClr val="tx1"/>
                </a:solidFill>
                <a:latin typeface="+mn-lt"/>
                <a:ea typeface="+mn-ea"/>
                <a:cs typeface="+mn-cs"/>
              </a:rPr>
              <a:t>Note: it is SOP where significant variations are identified in the ‘primary evaluation’ the tendency is for the more formal monitoring activities to be moved forward.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99</a:t>
            </a:fld>
            <a:endParaRPr lang="en-US" dirty="0"/>
          </a:p>
        </p:txBody>
      </p:sp>
    </p:spTree>
    <p:extLst>
      <p:ext uri="{BB962C8B-B14F-4D97-AF65-F5344CB8AC3E}">
        <p14:creationId xmlns:p14="http://schemas.microsoft.com/office/powerpoint/2010/main" val="3566280402"/>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the </a:t>
            </a:r>
            <a:r>
              <a:rPr lang="en-AU" sz="1200" kern="1200" dirty="0" smtClean="0">
                <a:solidFill>
                  <a:schemeClr val="tx1"/>
                </a:solidFill>
                <a:latin typeface="+mn-lt"/>
                <a:ea typeface="+mn-ea"/>
                <a:cs typeface="+mn-cs"/>
              </a:rPr>
              <a:t>KPIs which need to be evaluated must be the KPIs identified and as stated in the original policy.</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It is possible KPIs can relate or apply to the following although the way they might apply will very much depend on the context and content of the individual policy as it is written:</a:t>
            </a:r>
          </a:p>
          <a:p>
            <a:pPr>
              <a:buFont typeface="Arial" pitchFamily="34" charset="0"/>
              <a:buChar char="•"/>
            </a:pPr>
            <a:r>
              <a:rPr lang="en-AU" sz="1200" kern="1200" dirty="0" smtClean="0">
                <a:solidFill>
                  <a:schemeClr val="tx1"/>
                </a:solidFill>
                <a:latin typeface="+mn-lt"/>
                <a:ea typeface="+mn-ea"/>
                <a:cs typeface="+mn-cs"/>
              </a:rPr>
              <a:t>Sales figures</a:t>
            </a:r>
          </a:p>
          <a:p>
            <a:pPr>
              <a:buFont typeface="Arial" pitchFamily="34" charset="0"/>
              <a:buChar char="•"/>
            </a:pPr>
            <a:r>
              <a:rPr lang="en-AU" sz="1200" kern="1200" dirty="0" smtClean="0">
                <a:solidFill>
                  <a:schemeClr val="tx1"/>
                </a:solidFill>
                <a:latin typeface="+mn-lt"/>
                <a:ea typeface="+mn-ea"/>
                <a:cs typeface="+mn-cs"/>
              </a:rPr>
              <a:t>ROI</a:t>
            </a:r>
          </a:p>
          <a:p>
            <a:pPr>
              <a:buFont typeface="Arial" pitchFamily="34" charset="0"/>
              <a:buChar char="•"/>
            </a:pPr>
            <a:r>
              <a:rPr lang="en-AU" sz="1200" kern="1200" dirty="0" smtClean="0">
                <a:solidFill>
                  <a:schemeClr val="tx1"/>
                </a:solidFill>
                <a:latin typeface="+mn-lt"/>
                <a:ea typeface="+mn-ea"/>
                <a:cs typeface="+mn-cs"/>
              </a:rPr>
              <a:t>Growth</a:t>
            </a:r>
          </a:p>
          <a:p>
            <a:pPr>
              <a:buFont typeface="Arial" pitchFamily="34" charset="0"/>
              <a:buChar char="•"/>
            </a:pPr>
            <a:r>
              <a:rPr lang="en-AU" sz="1200" kern="1200" dirty="0" smtClean="0">
                <a:solidFill>
                  <a:schemeClr val="tx1"/>
                </a:solidFill>
                <a:latin typeface="+mn-lt"/>
                <a:ea typeface="+mn-ea"/>
                <a:cs typeface="+mn-cs"/>
              </a:rPr>
              <a:t>Profitability</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100</a:t>
            </a:fld>
            <a:endParaRPr lang="en-US" dirty="0"/>
          </a:p>
        </p:txBody>
      </p:sp>
    </p:spTree>
    <p:extLst>
      <p:ext uri="{BB962C8B-B14F-4D97-AF65-F5344CB8AC3E}">
        <p14:creationId xmlns:p14="http://schemas.microsoft.com/office/powerpoint/2010/main" val="2921633098"/>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giving examples of possible KPIs which may be monitored:</a:t>
            </a:r>
          </a:p>
          <a:p>
            <a:pPr>
              <a:buFont typeface="Arial" pitchFamily="34" charset="0"/>
              <a:buChar char="•"/>
            </a:pPr>
            <a:r>
              <a:rPr lang="en-AU" sz="1200" kern="1200" dirty="0" smtClean="0">
                <a:solidFill>
                  <a:schemeClr val="tx1"/>
                </a:solidFill>
                <a:latin typeface="+mn-lt"/>
                <a:ea typeface="+mn-ea"/>
                <a:cs typeface="+mn-cs"/>
              </a:rPr>
              <a:t>Processes</a:t>
            </a:r>
          </a:p>
          <a:p>
            <a:pPr>
              <a:buFont typeface="Arial" pitchFamily="34" charset="0"/>
              <a:buChar char="•"/>
            </a:pPr>
            <a:r>
              <a:rPr lang="en-AU" sz="1200" kern="1200" dirty="0" smtClean="0">
                <a:solidFill>
                  <a:schemeClr val="tx1"/>
                </a:solidFill>
                <a:latin typeface="+mn-lt"/>
                <a:ea typeface="+mn-ea"/>
                <a:cs typeface="+mn-cs"/>
              </a:rPr>
              <a:t>Personnel</a:t>
            </a:r>
          </a:p>
          <a:p>
            <a:pPr>
              <a:buFont typeface="Arial" pitchFamily="34" charset="0"/>
              <a:buChar char="•"/>
            </a:pPr>
            <a:r>
              <a:rPr lang="en-AU" sz="1200" kern="1200" dirty="0" smtClean="0">
                <a:solidFill>
                  <a:schemeClr val="tx1"/>
                </a:solidFill>
                <a:latin typeface="+mn-lt"/>
                <a:ea typeface="+mn-ea"/>
                <a:cs typeface="+mn-cs"/>
              </a:rPr>
              <a:t>Turnaround times</a:t>
            </a:r>
          </a:p>
          <a:p>
            <a:pPr>
              <a:buFont typeface="Arial" pitchFamily="34" charset="0"/>
              <a:buChar char="•"/>
            </a:pPr>
            <a:r>
              <a:rPr lang="en-AU" sz="1200" kern="1200" dirty="0" smtClean="0">
                <a:solidFill>
                  <a:schemeClr val="tx1"/>
                </a:solidFill>
                <a:latin typeface="+mn-lt"/>
                <a:ea typeface="+mn-ea"/>
                <a:cs typeface="+mn-cs"/>
              </a:rPr>
              <a:t>Output rates</a:t>
            </a:r>
          </a:p>
          <a:p>
            <a:pPr>
              <a:buFont typeface="Arial" pitchFamily="34" charset="0"/>
              <a:buChar char="•"/>
            </a:pPr>
            <a:r>
              <a:rPr lang="en-AU" sz="1200" kern="1200" dirty="0" smtClean="0">
                <a:solidFill>
                  <a:schemeClr val="tx1"/>
                </a:solidFill>
                <a:latin typeface="+mn-lt"/>
                <a:ea typeface="+mn-ea"/>
                <a:cs typeface="+mn-cs"/>
              </a:rPr>
              <a:t>Quality rates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101</a:t>
            </a:fld>
            <a:endParaRPr lang="en-US" dirty="0"/>
          </a:p>
        </p:txBody>
      </p:sp>
    </p:spTree>
    <p:extLst>
      <p:ext uri="{BB962C8B-B14F-4D97-AF65-F5344CB8AC3E}">
        <p14:creationId xmlns:p14="http://schemas.microsoft.com/office/powerpoint/2010/main" val="3916327777"/>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giving examples of possible KPIs which may be monitored:</a:t>
            </a:r>
          </a:p>
          <a:p>
            <a:pPr>
              <a:buFont typeface="Arial" pitchFamily="34" charset="0"/>
              <a:buChar char="•"/>
            </a:pPr>
            <a:r>
              <a:rPr lang="en-AU" sz="1200" kern="1200" dirty="0" smtClean="0">
                <a:solidFill>
                  <a:schemeClr val="tx1"/>
                </a:solidFill>
                <a:latin typeface="+mn-lt"/>
                <a:ea typeface="+mn-ea"/>
                <a:cs typeface="+mn-cs"/>
              </a:rPr>
              <a:t>Customer feedback</a:t>
            </a:r>
          </a:p>
          <a:p>
            <a:pPr>
              <a:buFont typeface="Arial" pitchFamily="34" charset="0"/>
              <a:buChar char="•"/>
            </a:pPr>
            <a:r>
              <a:rPr lang="en-AU" sz="1200" kern="1200" dirty="0" smtClean="0">
                <a:solidFill>
                  <a:schemeClr val="tx1"/>
                </a:solidFill>
                <a:latin typeface="+mn-lt"/>
                <a:ea typeface="+mn-ea"/>
                <a:cs typeface="+mn-cs"/>
              </a:rPr>
              <a:t>Equipment usage rates</a:t>
            </a:r>
          </a:p>
          <a:p>
            <a:pPr>
              <a:buFont typeface="Arial" pitchFamily="34" charset="0"/>
              <a:buChar char="•"/>
            </a:pPr>
            <a:r>
              <a:rPr lang="en-AU" sz="1200" kern="1200" dirty="0" smtClean="0">
                <a:solidFill>
                  <a:schemeClr val="tx1"/>
                </a:solidFill>
                <a:latin typeface="+mn-lt"/>
                <a:ea typeface="+mn-ea"/>
                <a:cs typeface="+mn-cs"/>
              </a:rPr>
              <a:t>Lead times and down times</a:t>
            </a:r>
          </a:p>
          <a:p>
            <a:pPr>
              <a:buFont typeface="Arial" pitchFamily="34" charset="0"/>
              <a:buChar char="•"/>
            </a:pPr>
            <a:r>
              <a:rPr lang="en-AU" sz="1200" kern="1200" dirty="0" smtClean="0">
                <a:solidFill>
                  <a:schemeClr val="tx1"/>
                </a:solidFill>
                <a:latin typeface="+mn-lt"/>
                <a:ea typeface="+mn-ea"/>
                <a:cs typeface="+mn-cs"/>
              </a:rPr>
              <a:t>Compliments-complaints ratio</a:t>
            </a:r>
          </a:p>
          <a:p>
            <a:pPr>
              <a:buFont typeface="Arial" pitchFamily="34" charset="0"/>
              <a:buChar char="•"/>
            </a:pPr>
            <a:r>
              <a:rPr lang="en-AU" sz="1200" kern="1200" dirty="0" smtClean="0">
                <a:solidFill>
                  <a:schemeClr val="tx1"/>
                </a:solidFill>
                <a:latin typeface="+mn-lt"/>
                <a:ea typeface="+mn-ea"/>
                <a:cs typeface="+mn-cs"/>
              </a:rPr>
              <a:t>CSI</a:t>
            </a:r>
          </a:p>
          <a:p>
            <a:pPr>
              <a:buFont typeface="Arial" pitchFamily="34" charset="0"/>
              <a:buChar char="•"/>
            </a:pPr>
            <a:r>
              <a:rPr lang="en-AU" sz="1200" kern="1200" dirty="0" smtClean="0">
                <a:solidFill>
                  <a:schemeClr val="tx1"/>
                </a:solidFill>
                <a:latin typeface="+mn-lt"/>
                <a:ea typeface="+mn-ea"/>
                <a:cs typeface="+mn-cs"/>
              </a:rPr>
              <a:t>Debt servicing costs.</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102</a:t>
            </a:fld>
            <a:endParaRPr lang="en-US" dirty="0"/>
          </a:p>
        </p:txBody>
      </p:sp>
    </p:spTree>
    <p:extLst>
      <p:ext uri="{BB962C8B-B14F-4D97-AF65-F5344CB8AC3E}">
        <p14:creationId xmlns:p14="http://schemas.microsoft.com/office/powerpoint/2010/main" val="637963384"/>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identifies there </a:t>
            </a:r>
            <a:r>
              <a:rPr lang="en-AU" sz="1200" kern="1200" dirty="0" smtClean="0">
                <a:solidFill>
                  <a:schemeClr val="tx1"/>
                </a:solidFill>
                <a:latin typeface="+mn-lt"/>
                <a:ea typeface="+mn-ea"/>
                <a:cs typeface="+mn-cs"/>
              </a:rPr>
              <a:t>are a number of ways to review the relevance and effectiveness of KPI's including but not limited to:</a:t>
            </a:r>
          </a:p>
          <a:p>
            <a:pPr>
              <a:buFont typeface="Arial" pitchFamily="34" charset="0"/>
              <a:buChar char="•"/>
            </a:pPr>
            <a:r>
              <a:rPr lang="en-AU" sz="1200" kern="1200" dirty="0" smtClean="0">
                <a:solidFill>
                  <a:schemeClr val="tx1"/>
                </a:solidFill>
                <a:latin typeface="+mn-lt"/>
                <a:ea typeface="+mn-ea"/>
                <a:cs typeface="+mn-cs"/>
              </a:rPr>
              <a:t>Discussing KPIs with key stakeholders</a:t>
            </a:r>
          </a:p>
          <a:p>
            <a:pPr>
              <a:buFont typeface="Arial" pitchFamily="34" charset="0"/>
              <a:buChar char="•"/>
            </a:pPr>
            <a:r>
              <a:rPr lang="en-AU" sz="1200" kern="1200" dirty="0" smtClean="0">
                <a:solidFill>
                  <a:schemeClr val="tx1"/>
                </a:solidFill>
                <a:latin typeface="+mn-lt"/>
                <a:ea typeface="+mn-ea"/>
                <a:cs typeface="+mn-cs"/>
              </a:rPr>
              <a:t>Reviewing each KPI to ensure it is still accurate</a:t>
            </a:r>
          </a:p>
          <a:p>
            <a:pPr>
              <a:buFont typeface="Arial" pitchFamily="34" charset="0"/>
              <a:buChar char="•"/>
            </a:pPr>
            <a:r>
              <a:rPr lang="en-AU" sz="1200" kern="1200" dirty="0" smtClean="0">
                <a:solidFill>
                  <a:schemeClr val="tx1"/>
                </a:solidFill>
                <a:latin typeface="+mn-lt"/>
                <a:ea typeface="+mn-ea"/>
                <a:cs typeface="+mn-cs"/>
              </a:rPr>
              <a:t>Reviewing 'required level of achievement' for each KPI</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103</a:t>
            </a:fld>
            <a:endParaRPr lang="en-US" dirty="0"/>
          </a:p>
        </p:txBody>
      </p:sp>
    </p:spTree>
    <p:extLst>
      <p:ext uri="{BB962C8B-B14F-4D97-AF65-F5344CB8AC3E}">
        <p14:creationId xmlns:p14="http://schemas.microsoft.com/office/powerpoint/2010/main" val="15762433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ways to monitor/review KPIs:</a:t>
            </a:r>
          </a:p>
          <a:p>
            <a:pPr>
              <a:buFont typeface="Arial" pitchFamily="34" charset="0"/>
              <a:buChar char="•"/>
            </a:pPr>
            <a:r>
              <a:rPr lang="en-AU" sz="1200" kern="1200" dirty="0" smtClean="0">
                <a:solidFill>
                  <a:schemeClr val="tx1"/>
                </a:solidFill>
                <a:latin typeface="+mn-lt"/>
                <a:ea typeface="+mn-ea"/>
                <a:cs typeface="+mn-cs"/>
              </a:rPr>
              <a:t>Checking level of success against current KPIs</a:t>
            </a:r>
          </a:p>
          <a:p>
            <a:pPr>
              <a:buFont typeface="Arial" pitchFamily="34" charset="0"/>
              <a:buChar char="•"/>
            </a:pPr>
            <a:r>
              <a:rPr lang="en-AU" sz="1200" kern="1200" dirty="0" smtClean="0">
                <a:solidFill>
                  <a:schemeClr val="tx1"/>
                </a:solidFill>
                <a:latin typeface="+mn-lt"/>
                <a:ea typeface="+mn-ea"/>
                <a:cs typeface="+mn-cs"/>
              </a:rPr>
              <a:t>Identifying reasons why KPI's have or have not been met</a:t>
            </a:r>
          </a:p>
          <a:p>
            <a:pPr>
              <a:buFont typeface="Arial" pitchFamily="34" charset="0"/>
              <a:buChar char="•"/>
            </a:pPr>
            <a:r>
              <a:rPr lang="en-AU" sz="1200" kern="1200" dirty="0" smtClean="0">
                <a:solidFill>
                  <a:schemeClr val="tx1"/>
                </a:solidFill>
                <a:latin typeface="+mn-lt"/>
                <a:ea typeface="+mn-ea"/>
                <a:cs typeface="+mn-cs"/>
              </a:rPr>
              <a:t>Determine if KPIs need to be amended</a:t>
            </a:r>
          </a:p>
          <a:p>
            <a:pPr>
              <a:buFont typeface="Arial" pitchFamily="34" charset="0"/>
              <a:buChar char="•"/>
            </a:pPr>
            <a:r>
              <a:rPr lang="en-AU" sz="1200" kern="1200" dirty="0" smtClean="0">
                <a:solidFill>
                  <a:schemeClr val="tx1"/>
                </a:solidFill>
                <a:latin typeface="+mn-lt"/>
                <a:ea typeface="+mn-ea"/>
                <a:cs typeface="+mn-cs"/>
              </a:rPr>
              <a:t>Making recommendations for changes where amendments are required.</a:t>
            </a:r>
          </a:p>
          <a:p>
            <a:pPr>
              <a:buFont typeface="Arial" pitchFamily="34" charset="0"/>
              <a:buNone/>
            </a:pPr>
            <a:endParaRPr lang="en-AU" noProof="0" dirty="0" smtClean="0"/>
          </a:p>
          <a:p>
            <a:pPr>
              <a:buFont typeface="Arial" pitchFamily="34" charset="0"/>
              <a:buNone/>
            </a:pPr>
            <a:r>
              <a:rPr lang="en-US" b="1" baseline="0" noProof="0" dirty="0" smtClean="0"/>
              <a:t>Classroom Activity – Internet research </a:t>
            </a:r>
          </a:p>
          <a:p>
            <a:pPr>
              <a:buFont typeface="Arial" pitchFamily="34" charset="0"/>
              <a:buNone/>
            </a:pPr>
            <a:r>
              <a:rPr lang="en-US" b="0" baseline="0" noProof="0" dirty="0" smtClean="0"/>
              <a:t>Trainer supervises internet research on relevant websites for items identified above, such as: </a:t>
            </a:r>
          </a:p>
          <a:p>
            <a:r>
              <a:rPr lang="en-AU" sz="1200" u="sng" kern="1200" dirty="0" smtClean="0">
                <a:solidFill>
                  <a:schemeClr val="tx1"/>
                </a:solidFill>
                <a:latin typeface="+mn-lt"/>
                <a:ea typeface="+mn-ea"/>
                <a:cs typeface="+mn-cs"/>
                <a:hlinkClick r:id="rId3"/>
              </a:rPr>
              <a:t>http://www.admin.ox.ac.uk/media/global/wwwadminoxacuk/localsites/estatesservices/documents/capitalprojectsforms/KPI_Process_Guidance_Note.pdf</a:t>
            </a:r>
            <a:r>
              <a:rPr lang="en-AU" sz="1200" kern="1200" dirty="0" smtClean="0">
                <a:solidFill>
                  <a:schemeClr val="tx1"/>
                </a:solidFill>
                <a:latin typeface="+mn-lt"/>
                <a:ea typeface="+mn-ea"/>
                <a:cs typeface="+mn-cs"/>
              </a:rPr>
              <a:t> - The KPI evaluation process</a:t>
            </a:r>
          </a:p>
          <a:p>
            <a:r>
              <a:rPr lang="en-AU" sz="1200" u="sng" kern="1200" dirty="0" smtClean="0">
                <a:solidFill>
                  <a:schemeClr val="tx1"/>
                </a:solidFill>
                <a:latin typeface="+mn-lt"/>
                <a:ea typeface="+mn-ea"/>
                <a:cs typeface="+mn-cs"/>
                <a:hlinkClick r:id="rId4"/>
              </a:rPr>
              <a:t>http://www.learnmanagement2.com/Key%20Performance%20Indicators.htm</a:t>
            </a:r>
            <a:r>
              <a:rPr lang="en-AU" sz="1200" kern="1200" dirty="0" smtClean="0">
                <a:solidFill>
                  <a:schemeClr val="tx1"/>
                </a:solidFill>
                <a:latin typeface="+mn-lt"/>
                <a:ea typeface="+mn-ea"/>
                <a:cs typeface="+mn-cs"/>
              </a:rPr>
              <a:t> – KPIs. </a:t>
            </a:r>
          </a:p>
          <a:p>
            <a:pPr>
              <a:buFont typeface="Arial" pitchFamily="34" charset="0"/>
              <a:buNone/>
            </a:pPr>
            <a:endParaRPr lang="en-US" b="0"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104</a:t>
            </a:fld>
            <a:endParaRPr lang="en-US" dirty="0"/>
          </a:p>
        </p:txBody>
      </p:sp>
    </p:spTree>
    <p:extLst>
      <p:ext uri="{BB962C8B-B14F-4D97-AF65-F5344CB8AC3E}">
        <p14:creationId xmlns:p14="http://schemas.microsoft.com/office/powerpoint/2010/main" val="2904353606"/>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highlights </a:t>
            </a:r>
            <a:r>
              <a:rPr lang="en-AU" sz="1200" kern="1200" dirty="0" smtClean="0">
                <a:solidFill>
                  <a:schemeClr val="tx1"/>
                </a:solidFill>
                <a:latin typeface="+mn-lt"/>
                <a:ea typeface="+mn-ea"/>
                <a:cs typeface="+mn-cs"/>
              </a:rPr>
              <a:t>basic requirements for reports on the implementation of operational policies are they must:</a:t>
            </a:r>
          </a:p>
          <a:p>
            <a:pPr>
              <a:buFont typeface="Arial" pitchFamily="34" charset="0"/>
              <a:buChar char="•"/>
            </a:pPr>
            <a:r>
              <a:rPr lang="en-AU" sz="1200" kern="1200" dirty="0" smtClean="0">
                <a:solidFill>
                  <a:schemeClr val="tx1"/>
                </a:solidFill>
                <a:latin typeface="+mn-lt"/>
                <a:ea typeface="+mn-ea"/>
                <a:cs typeface="+mn-cs"/>
              </a:rPr>
              <a:t>Be fair and accurate – they must be truthful, telling the ‘bad’ as well as the ‘good’</a:t>
            </a:r>
          </a:p>
          <a:p>
            <a:pPr>
              <a:buFont typeface="Arial" pitchFamily="34" charset="0"/>
              <a:buChar char="•"/>
            </a:pPr>
            <a:r>
              <a:rPr lang="en-AU" sz="1200" kern="1200" dirty="0" smtClean="0">
                <a:solidFill>
                  <a:schemeClr val="tx1"/>
                </a:solidFill>
                <a:latin typeface="+mn-lt"/>
                <a:ea typeface="+mn-ea"/>
                <a:cs typeface="+mn-cs"/>
              </a:rPr>
              <a:t>Be based on facts – as opposed to being based on supposition, opinion and ‘hope’</a:t>
            </a:r>
          </a:p>
          <a:p>
            <a:pPr>
              <a:buFont typeface="Arial" pitchFamily="34" charset="0"/>
              <a:buChar char="•"/>
            </a:pPr>
            <a:r>
              <a:rPr lang="en-AU" sz="1200" kern="1200" dirty="0" smtClean="0">
                <a:solidFill>
                  <a:schemeClr val="tx1"/>
                </a:solidFill>
                <a:latin typeface="+mn-lt"/>
                <a:ea typeface="+mn-ea"/>
                <a:cs typeface="+mn-cs"/>
              </a:rPr>
              <a:t>Not be personal in nature – that is, they should not aim to be vindictive about a person/group of people</a:t>
            </a:r>
          </a:p>
          <a:p>
            <a:pPr>
              <a:buFont typeface="Arial" pitchFamily="34" charset="0"/>
              <a:buChar char="•"/>
            </a:pPr>
            <a:r>
              <a:rPr lang="en-AU" sz="1200" kern="1200" dirty="0" smtClean="0">
                <a:solidFill>
                  <a:schemeClr val="tx1"/>
                </a:solidFill>
                <a:latin typeface="+mn-lt"/>
                <a:ea typeface="+mn-ea"/>
                <a:cs typeface="+mn-cs"/>
              </a:rPr>
              <a:t>Be produced and circulated by the date identified in the plan for implementation – each time the need for a report is mentioned. There can also be a need for:</a:t>
            </a:r>
          </a:p>
          <a:p>
            <a:pPr lvl="1">
              <a:buFont typeface="Arial" pitchFamily="34" charset="0"/>
              <a:buChar char="•"/>
            </a:pPr>
            <a:r>
              <a:rPr lang="en-US" sz="1200" kern="1200" dirty="0" smtClean="0">
                <a:solidFill>
                  <a:schemeClr val="tx1"/>
                </a:solidFill>
                <a:latin typeface="+mn-lt"/>
                <a:ea typeface="+mn-ea"/>
                <a:cs typeface="+mn-cs"/>
              </a:rPr>
              <a:t>An Initial/Introductory report</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Interim report/s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Final report</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Only be released for discussion to those who have been approved to receive them – usually this means only those designated on an authorised Distribution List, as these reports are often regarded as being Commercial in Confidence.</a:t>
            </a:r>
          </a:p>
          <a:p>
            <a:pPr>
              <a:buFont typeface="Arial" pitchFamily="34" charset="0"/>
              <a:buNone/>
            </a:pPr>
            <a:endParaRPr lang="en-AU" noProof="0" dirty="0" smtClean="0"/>
          </a:p>
          <a:p>
            <a:pPr>
              <a:buFont typeface="Arial" pitchFamily="34" charset="0"/>
              <a:buNone/>
            </a:pPr>
            <a:r>
              <a:rPr lang="en-AU" b="1" noProof="0" dirty="0" smtClean="0"/>
              <a:t>Classroom Activity – Handout</a:t>
            </a:r>
          </a:p>
          <a:p>
            <a:pPr>
              <a:buFont typeface="Arial" pitchFamily="34" charset="0"/>
              <a:buNone/>
            </a:pPr>
            <a:r>
              <a:rPr lang="en-AU" b="0" noProof="0" dirty="0" smtClean="0"/>
              <a:t>Trainer distributes and discusses use of Distribution List.</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105</a:t>
            </a:fld>
            <a:endParaRPr lang="en-US" dirty="0"/>
          </a:p>
        </p:txBody>
      </p:sp>
    </p:spTree>
    <p:extLst>
      <p:ext uri="{BB962C8B-B14F-4D97-AF65-F5344CB8AC3E}">
        <p14:creationId xmlns:p14="http://schemas.microsoft.com/office/powerpoint/2010/main" val="3168743129"/>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notes every </a:t>
            </a:r>
            <a:r>
              <a:rPr lang="en-AU" sz="1200" kern="1200" dirty="0" smtClean="0">
                <a:solidFill>
                  <a:schemeClr val="tx1"/>
                </a:solidFill>
                <a:latin typeface="+mn-lt"/>
                <a:ea typeface="+mn-ea"/>
                <a:cs typeface="+mn-cs"/>
              </a:rPr>
              <a:t>enterprise is likely to have its own protocols for the sharing of information/the distribution of internal reports and SOP is to adhere to whatever practice is in common usage within the organisation.</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Those who receive the reports should be asked to keep the contents of the reports private.</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Common options for sharing these reports include:</a:t>
            </a:r>
          </a:p>
          <a:p>
            <a:pPr>
              <a:buFont typeface="Arial" pitchFamily="34" charset="0"/>
              <a:buChar char="•"/>
            </a:pPr>
            <a:r>
              <a:rPr lang="en-AU" sz="1200" kern="1200" dirty="0" smtClean="0">
                <a:solidFill>
                  <a:schemeClr val="tx1"/>
                </a:solidFill>
                <a:latin typeface="+mn-lt"/>
                <a:ea typeface="+mn-ea"/>
                <a:cs typeface="+mn-cs"/>
              </a:rPr>
              <a:t>Holding team meetings and disseminating information at staff briefings – to share information within operational teams/workers</a:t>
            </a:r>
          </a:p>
          <a:p>
            <a:pPr>
              <a:buFont typeface="Arial" pitchFamily="34" charset="0"/>
              <a:buChar char="•"/>
            </a:pPr>
            <a:r>
              <a:rPr lang="en-AU" sz="1200" kern="1200" dirty="0" smtClean="0">
                <a:solidFill>
                  <a:schemeClr val="tx1"/>
                </a:solidFill>
                <a:latin typeface="+mn-lt"/>
                <a:ea typeface="+mn-ea"/>
                <a:cs typeface="+mn-cs"/>
              </a:rPr>
              <a:t>Distributing hard copy information – to identified stakeholders</a:t>
            </a:r>
          </a:p>
          <a:p>
            <a:pPr>
              <a:buFont typeface="Arial" pitchFamily="34" charset="0"/>
              <a:buChar char="•"/>
            </a:pPr>
            <a:r>
              <a:rPr lang="en-AU" sz="1200" kern="1200" dirty="0" smtClean="0">
                <a:solidFill>
                  <a:schemeClr val="tx1"/>
                </a:solidFill>
                <a:latin typeface="+mn-lt"/>
                <a:ea typeface="+mn-ea"/>
                <a:cs typeface="+mn-cs"/>
              </a:rPr>
              <a:t>Sharing information via the intranet – using ‘Password protected’ protocols to limit access only to nominated persons</a:t>
            </a:r>
          </a:p>
          <a:p>
            <a:pPr>
              <a:buFont typeface="Arial" pitchFamily="34" charset="0"/>
              <a:buChar char="•"/>
            </a:pPr>
            <a:r>
              <a:rPr lang="en-AU" sz="1200" kern="1200" dirty="0" smtClean="0">
                <a:solidFill>
                  <a:schemeClr val="tx1"/>
                </a:solidFill>
                <a:latin typeface="+mn-lt"/>
                <a:ea typeface="+mn-ea"/>
                <a:cs typeface="+mn-cs"/>
              </a:rPr>
              <a:t>Providing formal face-to-face group presentations with stakeholders – supplemented by hard copy handouts, explanations and Q&amp;A sessions.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106</a:t>
            </a:fld>
            <a:endParaRPr lang="en-US" dirty="0"/>
          </a:p>
        </p:txBody>
      </p:sp>
    </p:spTree>
    <p:extLst>
      <p:ext uri="{BB962C8B-B14F-4D97-AF65-F5344CB8AC3E}">
        <p14:creationId xmlns:p14="http://schemas.microsoft.com/office/powerpoint/2010/main" val="171742947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matters </a:t>
            </a:r>
            <a:r>
              <a:rPr lang="en-AU" sz="1200" kern="1200" dirty="0" smtClean="0">
                <a:solidFill>
                  <a:schemeClr val="tx1"/>
                </a:solidFill>
                <a:latin typeface="+mn-lt"/>
                <a:ea typeface="+mn-ea"/>
                <a:cs typeface="+mn-cs"/>
              </a:rPr>
              <a:t>which may be highlighted in these reports are potentially numerous but special attention should be paid to:</a:t>
            </a:r>
          </a:p>
          <a:p>
            <a:pPr>
              <a:buFont typeface="Arial" pitchFamily="34" charset="0"/>
              <a:buChar char="•"/>
            </a:pPr>
            <a:r>
              <a:rPr lang="en-AU" sz="1200" kern="1200" dirty="0" smtClean="0">
                <a:solidFill>
                  <a:schemeClr val="tx1"/>
                </a:solidFill>
                <a:latin typeface="+mn-lt"/>
                <a:ea typeface="+mn-ea"/>
                <a:cs typeface="+mn-cs"/>
              </a:rPr>
              <a:t>Explaining if the operational policy is working or not – and quantifying the outcome (if possible)</a:t>
            </a:r>
          </a:p>
          <a:p>
            <a:pPr>
              <a:buFont typeface="Arial" pitchFamily="34" charset="0"/>
              <a:buChar char="•"/>
            </a:pPr>
            <a:r>
              <a:rPr lang="en-AU" sz="1200" kern="1200" dirty="0" smtClean="0">
                <a:solidFill>
                  <a:schemeClr val="tx1"/>
                </a:solidFill>
                <a:latin typeface="+mn-lt"/>
                <a:ea typeface="+mn-ea"/>
                <a:cs typeface="+mn-cs"/>
              </a:rPr>
              <a:t>Identifying the reasons why it is working or not working – drawing direct links between ‘cause and effect’</a:t>
            </a:r>
          </a:p>
          <a:p>
            <a:pPr>
              <a:buFont typeface="Arial" pitchFamily="34" charset="0"/>
              <a:buChar char="•"/>
            </a:pPr>
            <a:r>
              <a:rPr lang="en-AU" sz="1200" kern="1200" dirty="0" smtClean="0">
                <a:solidFill>
                  <a:schemeClr val="tx1"/>
                </a:solidFill>
                <a:latin typeface="+mn-lt"/>
                <a:ea typeface="+mn-ea"/>
                <a:cs typeface="+mn-cs"/>
              </a:rPr>
              <a:t>Highlighting significant variations from KPIs/projections – and coverage of the factors associated with those variances changes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107</a:t>
            </a:fld>
            <a:endParaRPr lang="en-US" dirty="0"/>
          </a:p>
        </p:txBody>
      </p:sp>
    </p:spTree>
    <p:extLst>
      <p:ext uri="{BB962C8B-B14F-4D97-AF65-F5344CB8AC3E}">
        <p14:creationId xmlns:p14="http://schemas.microsoft.com/office/powerpoint/2010/main" val="4257768353"/>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identifies issues to potential address in reports:</a:t>
            </a:r>
          </a:p>
          <a:p>
            <a:pPr>
              <a:buFont typeface="Arial" pitchFamily="34" charset="0"/>
              <a:buChar char="•"/>
            </a:pPr>
            <a:r>
              <a:rPr lang="en-AU" sz="1200" kern="1200" dirty="0" smtClean="0">
                <a:solidFill>
                  <a:schemeClr val="tx1"/>
                </a:solidFill>
                <a:latin typeface="+mn-lt"/>
                <a:ea typeface="+mn-ea"/>
                <a:cs typeface="+mn-cs"/>
              </a:rPr>
              <a:t>Unusual results – and determination of their causes</a:t>
            </a:r>
          </a:p>
          <a:p>
            <a:pPr>
              <a:buFont typeface="Arial" pitchFamily="34" charset="0"/>
              <a:buChar char="•"/>
            </a:pPr>
            <a:r>
              <a:rPr lang="en-AU" sz="1200" kern="1200" dirty="0" smtClean="0">
                <a:solidFill>
                  <a:schemeClr val="tx1"/>
                </a:solidFill>
                <a:latin typeface="+mn-lt"/>
                <a:ea typeface="+mn-ea"/>
                <a:cs typeface="+mn-cs"/>
              </a:rPr>
              <a:t>Strengths and opportunities – which have emerged from the initiative</a:t>
            </a:r>
          </a:p>
          <a:p>
            <a:pPr>
              <a:buFont typeface="Arial" pitchFamily="34" charset="0"/>
              <a:buChar char="•"/>
            </a:pPr>
            <a:r>
              <a:rPr lang="en-AU" sz="1200" kern="1200" dirty="0" smtClean="0">
                <a:solidFill>
                  <a:schemeClr val="tx1"/>
                </a:solidFill>
                <a:latin typeface="+mn-lt"/>
                <a:ea typeface="+mn-ea"/>
                <a:cs typeface="+mn-cs"/>
              </a:rPr>
              <a:t>Weaknesses and potential areas for improvement – as indicated by the evidence captured</a:t>
            </a:r>
          </a:p>
          <a:p>
            <a:pPr>
              <a:buFont typeface="Arial" pitchFamily="34" charset="0"/>
              <a:buChar char="•"/>
            </a:pPr>
            <a:r>
              <a:rPr lang="en-AU" sz="1200" kern="1200" dirty="0" smtClean="0">
                <a:solidFill>
                  <a:schemeClr val="tx1"/>
                </a:solidFill>
                <a:latin typeface="+mn-lt"/>
                <a:ea typeface="+mn-ea"/>
                <a:cs typeface="+mn-cs"/>
              </a:rPr>
              <a:t>Impact/implications of the results and conclusions – on projected future performance of the organisation.</a:t>
            </a:r>
          </a:p>
          <a:p>
            <a:pPr>
              <a:buFont typeface="Arial" pitchFamily="34" charset="0"/>
              <a:buChar char="•"/>
            </a:pPr>
            <a:endParaRPr lang="en-AU" sz="1200" kern="1200" noProof="0" dirty="0" smtClean="0">
              <a:solidFill>
                <a:schemeClr val="tx1"/>
              </a:solidFill>
              <a:latin typeface="+mn-lt"/>
              <a:ea typeface="+mn-ea"/>
              <a:cs typeface="+mn-cs"/>
            </a:endParaRPr>
          </a:p>
          <a:p>
            <a:pPr>
              <a:buFont typeface="Arial" pitchFamily="34" charset="0"/>
              <a:buNone/>
            </a:pPr>
            <a:r>
              <a:rPr lang="en-AU" sz="1200" b="1" kern="1200" noProof="0" dirty="0" smtClean="0">
                <a:solidFill>
                  <a:schemeClr val="tx1"/>
                </a:solidFill>
                <a:latin typeface="+mn-lt"/>
                <a:ea typeface="+mn-ea"/>
                <a:cs typeface="+mn-cs"/>
              </a:rPr>
              <a:t>Classroom</a:t>
            </a:r>
            <a:r>
              <a:rPr lang="en-AU" sz="1200" b="1" kern="1200" baseline="0" noProof="0" dirty="0" smtClean="0">
                <a:solidFill>
                  <a:schemeClr val="tx1"/>
                </a:solidFill>
                <a:latin typeface="+mn-lt"/>
                <a:ea typeface="+mn-ea"/>
                <a:cs typeface="+mn-cs"/>
              </a:rPr>
              <a:t> Activity – Excursion</a:t>
            </a:r>
          </a:p>
          <a:p>
            <a:pPr>
              <a:buFont typeface="Arial" pitchFamily="34" charset="0"/>
              <a:buNone/>
            </a:pPr>
            <a:r>
              <a:rPr lang="en-AU" sz="1200" b="0" kern="1200" baseline="0" noProof="0" dirty="0" smtClean="0">
                <a:solidFill>
                  <a:schemeClr val="tx1"/>
                </a:solidFill>
                <a:latin typeface="+mn-lt"/>
                <a:ea typeface="+mn-ea"/>
                <a:cs typeface="+mn-cs"/>
              </a:rPr>
              <a:t>Trainer arranges for students to visit a workplace and:</a:t>
            </a:r>
          </a:p>
          <a:p>
            <a:pPr>
              <a:buFont typeface="Arial" pitchFamily="34" charset="0"/>
              <a:buChar char="•"/>
            </a:pPr>
            <a:r>
              <a:rPr lang="en-AU" sz="1200" b="0" kern="1200" baseline="0" noProof="0" dirty="0" smtClean="0">
                <a:solidFill>
                  <a:schemeClr val="tx1"/>
                </a:solidFill>
                <a:latin typeface="+mn-lt"/>
                <a:ea typeface="+mn-ea"/>
                <a:cs typeface="+mn-cs"/>
              </a:rPr>
              <a:t>Talk to management about developing implementing, monitoring and evaluating/reviewing operational policies</a:t>
            </a:r>
          </a:p>
          <a:p>
            <a:pPr>
              <a:buFont typeface="Arial" pitchFamily="34" charset="0"/>
              <a:buChar char="•"/>
            </a:pPr>
            <a:r>
              <a:rPr lang="en-AU" b="0" noProof="0" dirty="0" smtClean="0"/>
              <a:t>Talk to workers regarding their role</a:t>
            </a:r>
            <a:r>
              <a:rPr lang="en-AU" b="0" baseline="0" noProof="0" dirty="0" smtClean="0"/>
              <a:t> in relation to developing and implementing </a:t>
            </a:r>
            <a:endParaRPr lang="en-AU" b="1" baseline="0" noProof="0" dirty="0" smtClean="0"/>
          </a:p>
          <a:p>
            <a:pPr>
              <a:buFont typeface="Arial" pitchFamily="34" charset="0"/>
              <a:buChar char="•"/>
            </a:pPr>
            <a:r>
              <a:rPr lang="en-AU" b="0" baseline="0" noProof="0" dirty="0" smtClean="0"/>
              <a:t>Obtain sample documentation</a:t>
            </a:r>
          </a:p>
          <a:p>
            <a:pPr>
              <a:buFont typeface="Arial" pitchFamily="34" charset="0"/>
              <a:buChar char="•"/>
            </a:pPr>
            <a:r>
              <a:rPr lang="en-AU" b="0" baseline="0" noProof="0" dirty="0" smtClean="0"/>
              <a:t>Attend a meeting where operational policies are discussed or developed or reviewed</a:t>
            </a:r>
          </a:p>
          <a:p>
            <a:pPr>
              <a:buFont typeface="Arial" pitchFamily="34" charset="0"/>
              <a:buChar char="•"/>
            </a:pPr>
            <a:r>
              <a:rPr lang="en-AU" b="0" baseline="0" noProof="0" dirty="0" smtClean="0"/>
              <a:t>Observe administrative support and systems/framework used to enable implementation and monitoring of operational policies.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108</a:t>
            </a:fld>
            <a:endParaRPr lang="en-US" dirty="0"/>
          </a:p>
        </p:txBody>
      </p:sp>
    </p:spTree>
    <p:extLst>
      <p:ext uri="{BB962C8B-B14F-4D97-AF65-F5344CB8AC3E}">
        <p14:creationId xmlns:p14="http://schemas.microsoft.com/office/powerpoint/2010/main" val="2166166686"/>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where </a:t>
            </a:r>
            <a:r>
              <a:rPr lang="en-AU" sz="1200" kern="1200" dirty="0" smtClean="0">
                <a:solidFill>
                  <a:schemeClr val="tx1"/>
                </a:solidFill>
                <a:latin typeface="+mn-lt"/>
                <a:ea typeface="+mn-ea"/>
                <a:cs typeface="+mn-cs"/>
              </a:rPr>
              <a:t>important information about a policy/initiative has been revealed as a result of the monitoring undertaken there is commonly a need to revise and adjust the initiative in response.</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When responding it is vital action taken:</a:t>
            </a:r>
          </a:p>
          <a:p>
            <a:pPr>
              <a:buFont typeface="Arial" pitchFamily="34" charset="0"/>
              <a:buChar char="•"/>
            </a:pPr>
            <a:r>
              <a:rPr lang="en-AU" sz="1200" kern="1200" dirty="0" smtClean="0">
                <a:solidFill>
                  <a:schemeClr val="tx1"/>
                </a:solidFill>
                <a:latin typeface="+mn-lt"/>
                <a:ea typeface="+mn-ea"/>
                <a:cs typeface="+mn-cs"/>
              </a:rPr>
              <a:t>Aligns with higher level plans</a:t>
            </a:r>
          </a:p>
          <a:p>
            <a:pPr>
              <a:buFont typeface="Arial" pitchFamily="34" charset="0"/>
              <a:buChar char="•"/>
            </a:pPr>
            <a:r>
              <a:rPr lang="en-AU" sz="1200" kern="1200" dirty="0" smtClean="0">
                <a:solidFill>
                  <a:schemeClr val="tx1"/>
                </a:solidFill>
                <a:latin typeface="+mn-lt"/>
                <a:ea typeface="+mn-ea"/>
                <a:cs typeface="+mn-cs"/>
              </a:rPr>
              <a:t>Conforms to all other/related enterprise policies</a:t>
            </a:r>
          </a:p>
          <a:p>
            <a:pPr>
              <a:buFont typeface="Arial" pitchFamily="34" charset="0"/>
              <a:buChar char="•"/>
            </a:pPr>
            <a:r>
              <a:rPr lang="en-AU" sz="1200" kern="1200" dirty="0" smtClean="0">
                <a:solidFill>
                  <a:schemeClr val="tx1"/>
                </a:solidFill>
                <a:latin typeface="+mn-lt"/>
                <a:ea typeface="+mn-ea"/>
                <a:cs typeface="+mn-cs"/>
              </a:rPr>
              <a:t>Is approved by management prior to implementation</a:t>
            </a:r>
          </a:p>
          <a:p>
            <a:pPr>
              <a:buFont typeface="Arial" pitchFamily="34" charset="0"/>
              <a:buChar char="•"/>
            </a:pPr>
            <a:r>
              <a:rPr lang="en-AU" sz="1200" kern="1200" dirty="0" smtClean="0">
                <a:solidFill>
                  <a:schemeClr val="tx1"/>
                </a:solidFill>
                <a:latin typeface="+mn-lt"/>
                <a:ea typeface="+mn-ea"/>
                <a:cs typeface="+mn-cs"/>
              </a:rPr>
              <a:t>Results in necessary changes to all SOPs which are directly related to the changes made to the policy.</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109</a:t>
            </a:fld>
            <a:endParaRPr lang="en-US" dirty="0"/>
          </a:p>
        </p:txBody>
      </p:sp>
    </p:spTree>
    <p:extLst>
      <p:ext uri="{BB962C8B-B14F-4D97-AF65-F5344CB8AC3E}">
        <p14:creationId xmlns:p14="http://schemas.microsoft.com/office/powerpoint/2010/main" val="1211000752"/>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it </a:t>
            </a:r>
            <a:r>
              <a:rPr lang="en-AU" sz="1200" kern="1200" dirty="0" smtClean="0">
                <a:solidFill>
                  <a:schemeClr val="tx1"/>
                </a:solidFill>
                <a:latin typeface="+mn-lt"/>
                <a:ea typeface="+mn-ea"/>
                <a:cs typeface="+mn-cs"/>
              </a:rPr>
              <a:t>is important to revise and adjust policies to:</a:t>
            </a:r>
          </a:p>
          <a:p>
            <a:pPr>
              <a:buFont typeface="Arial" pitchFamily="34" charset="0"/>
              <a:buChar char="•"/>
            </a:pPr>
            <a:r>
              <a:rPr lang="en-AU" sz="1200" kern="1200" dirty="0" smtClean="0">
                <a:solidFill>
                  <a:schemeClr val="tx1"/>
                </a:solidFill>
                <a:latin typeface="+mn-lt"/>
                <a:ea typeface="+mn-ea"/>
                <a:cs typeface="+mn-cs"/>
              </a:rPr>
              <a:t>Factor in new and emerging information – which would simply not have been available when the original policy was written</a:t>
            </a:r>
          </a:p>
          <a:p>
            <a:pPr>
              <a:buFont typeface="Arial" pitchFamily="34" charset="0"/>
              <a:buChar char="•"/>
            </a:pPr>
            <a:r>
              <a:rPr lang="en-AU" sz="1200" kern="1200" dirty="0" smtClean="0">
                <a:solidFill>
                  <a:schemeClr val="tx1"/>
                </a:solidFill>
                <a:latin typeface="+mn-lt"/>
                <a:ea typeface="+mn-ea"/>
                <a:cs typeface="+mn-cs"/>
              </a:rPr>
              <a:t>Maintain credibility with stakeholders – who will expect the organisation to be taking some action in response to implementation of a new or revised policy</a:t>
            </a:r>
          </a:p>
          <a:p>
            <a:pPr>
              <a:buFont typeface="Arial" pitchFamily="34" charset="0"/>
              <a:buChar char="•"/>
            </a:pPr>
            <a:r>
              <a:rPr lang="en-AU" sz="1200" kern="1200" dirty="0" smtClean="0">
                <a:solidFill>
                  <a:schemeClr val="tx1"/>
                </a:solidFill>
                <a:latin typeface="+mn-lt"/>
                <a:ea typeface="+mn-ea"/>
                <a:cs typeface="+mn-cs"/>
              </a:rPr>
              <a:t>Align with internal obligations imposed on managers and/or management teams – most managers or management teams will be under a formal responsibility to take action as/where necessary to revise and adjust policies on the basis of evidence derives as a result of monitoring activities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110</a:t>
            </a:fld>
            <a:endParaRPr lang="en-US" dirty="0"/>
          </a:p>
        </p:txBody>
      </p:sp>
    </p:spTree>
    <p:extLst>
      <p:ext uri="{BB962C8B-B14F-4D97-AF65-F5344CB8AC3E}">
        <p14:creationId xmlns:p14="http://schemas.microsoft.com/office/powerpoint/2010/main" val="121893044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it </a:t>
            </a:r>
            <a:r>
              <a:rPr lang="en-AU" sz="1200" kern="1200" dirty="0" smtClean="0">
                <a:solidFill>
                  <a:schemeClr val="tx1"/>
                </a:solidFill>
                <a:latin typeface="+mn-lt"/>
                <a:ea typeface="+mn-ea"/>
                <a:cs typeface="+mn-cs"/>
              </a:rPr>
              <a:t>is important to revise and adjust policies to:</a:t>
            </a:r>
          </a:p>
          <a:p>
            <a:pPr>
              <a:buFont typeface="Arial" pitchFamily="34" charset="0"/>
              <a:buChar char="•"/>
            </a:pPr>
            <a:r>
              <a:rPr lang="en-AU" sz="1200" kern="1200" dirty="0" smtClean="0">
                <a:solidFill>
                  <a:schemeClr val="tx1"/>
                </a:solidFill>
                <a:latin typeface="+mn-lt"/>
                <a:ea typeface="+mn-ea"/>
                <a:cs typeface="+mn-cs"/>
              </a:rPr>
              <a:t>Exploit positive results – and minimise adverse impacts</a:t>
            </a:r>
          </a:p>
          <a:p>
            <a:pPr>
              <a:buFont typeface="Arial" pitchFamily="34" charset="0"/>
              <a:buChar char="•"/>
            </a:pPr>
            <a:r>
              <a:rPr lang="en-AU" sz="1200" kern="1200" dirty="0" smtClean="0">
                <a:solidFill>
                  <a:schemeClr val="tx1"/>
                </a:solidFill>
                <a:latin typeface="+mn-lt"/>
                <a:ea typeface="+mn-ea"/>
                <a:cs typeface="+mn-cs"/>
              </a:rPr>
              <a:t>Demonstrate responsible management – and discharge requirements relating to due diligence (if these requirements have not been specifically stipulated/spelled out by the organisation</a:t>
            </a:r>
          </a:p>
          <a:p>
            <a:pPr>
              <a:buFont typeface="Arial" pitchFamily="34" charset="0"/>
              <a:buChar char="•"/>
            </a:pPr>
            <a:r>
              <a:rPr lang="en-AU" sz="1200" kern="1200" dirty="0" smtClean="0">
                <a:solidFill>
                  <a:schemeClr val="tx1"/>
                </a:solidFill>
                <a:latin typeface="+mn-lt"/>
                <a:ea typeface="+mn-ea"/>
                <a:cs typeface="+mn-cs"/>
              </a:rPr>
              <a:t>Prove ongoing engagement with the initiative and/or the policy – in a practical/hands-on way.</a:t>
            </a: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111</a:t>
            </a:fld>
            <a:endParaRPr lang="en-US" dirty="0"/>
          </a:p>
        </p:txBody>
      </p:sp>
    </p:spTree>
    <p:extLst>
      <p:ext uri="{BB962C8B-B14F-4D97-AF65-F5344CB8AC3E}">
        <p14:creationId xmlns:p14="http://schemas.microsoft.com/office/powerpoint/2010/main" val="2167364275"/>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suggests </a:t>
            </a:r>
            <a:r>
              <a:rPr lang="en-AU" sz="1200" kern="1200" dirty="0" smtClean="0">
                <a:solidFill>
                  <a:schemeClr val="tx1"/>
                </a:solidFill>
                <a:latin typeface="+mn-lt"/>
                <a:ea typeface="+mn-ea"/>
                <a:cs typeface="+mn-cs"/>
              </a:rPr>
              <a:t>basic options for possible action in response to monitoring evidence/data are:</a:t>
            </a:r>
          </a:p>
          <a:p>
            <a:pPr lvl="0">
              <a:buFont typeface="Arial" pitchFamily="34" charset="0"/>
              <a:buChar char="•"/>
            </a:pPr>
            <a:r>
              <a:rPr lang="en-AU" sz="1200" kern="1200" dirty="0" smtClean="0">
                <a:solidFill>
                  <a:schemeClr val="tx1"/>
                </a:solidFill>
                <a:latin typeface="+mn-lt"/>
                <a:ea typeface="+mn-ea"/>
                <a:cs typeface="+mn-cs"/>
              </a:rPr>
              <a:t>Do something – see later slides ‘Responding to positive outcomes’ and ‘Responding to negative outcomes’</a:t>
            </a:r>
          </a:p>
          <a:p>
            <a:pPr lvl="0">
              <a:buFont typeface="Arial" pitchFamily="34" charset="0"/>
              <a:buChar char="•"/>
            </a:pPr>
            <a:r>
              <a:rPr lang="en-AU" sz="1200" kern="1200" dirty="0" smtClean="0">
                <a:solidFill>
                  <a:schemeClr val="tx1"/>
                </a:solidFill>
                <a:latin typeface="+mn-lt"/>
                <a:ea typeface="+mn-ea"/>
                <a:cs typeface="+mn-cs"/>
              </a:rPr>
              <a:t>Do nothing – doing nothing </a:t>
            </a:r>
            <a:r>
              <a:rPr lang="en-AU" sz="1200" b="1" kern="1200" dirty="0" smtClean="0">
                <a:solidFill>
                  <a:schemeClr val="tx1"/>
                </a:solidFill>
                <a:latin typeface="+mn-lt"/>
                <a:ea typeface="+mn-ea"/>
                <a:cs typeface="+mn-cs"/>
              </a:rPr>
              <a:t>is a valid in response in some cases</a:t>
            </a:r>
            <a:r>
              <a:rPr lang="en-AU" sz="1200" kern="1200" dirty="0" smtClean="0">
                <a:solidFill>
                  <a:schemeClr val="tx1"/>
                </a:solidFill>
                <a:latin typeface="+mn-lt"/>
                <a:ea typeface="+mn-ea"/>
                <a:cs typeface="+mn-cs"/>
              </a:rPr>
              <a:t> but </a:t>
            </a:r>
            <a:r>
              <a:rPr lang="en-AU" sz="1200" i="1" kern="1200" dirty="0" smtClean="0">
                <a:solidFill>
                  <a:schemeClr val="tx1"/>
                </a:solidFill>
                <a:latin typeface="+mn-lt"/>
                <a:ea typeface="+mn-ea"/>
                <a:cs typeface="+mn-cs"/>
              </a:rPr>
              <a:t>it must be a </a:t>
            </a:r>
            <a:r>
              <a:rPr lang="en-AU" sz="1200" b="1" i="1" kern="1200" dirty="0" smtClean="0">
                <a:solidFill>
                  <a:schemeClr val="tx1"/>
                </a:solidFill>
                <a:latin typeface="+mn-lt"/>
                <a:ea typeface="+mn-ea"/>
                <a:cs typeface="+mn-cs"/>
              </a:rPr>
              <a:t>considered</a:t>
            </a:r>
            <a:r>
              <a:rPr lang="en-AU" sz="1200" i="1" kern="1200" dirty="0" smtClean="0">
                <a:solidFill>
                  <a:schemeClr val="tx1"/>
                </a:solidFill>
                <a:latin typeface="+mn-lt"/>
                <a:ea typeface="+mn-ea"/>
                <a:cs typeface="+mn-cs"/>
              </a:rPr>
              <a:t> and </a:t>
            </a:r>
            <a:r>
              <a:rPr lang="en-AU" sz="1200" b="1" i="1" kern="1200" dirty="0" smtClean="0">
                <a:solidFill>
                  <a:schemeClr val="tx1"/>
                </a:solidFill>
                <a:latin typeface="+mn-lt"/>
                <a:ea typeface="+mn-ea"/>
                <a:cs typeface="+mn-cs"/>
              </a:rPr>
              <a:t>rational</a:t>
            </a:r>
            <a:r>
              <a:rPr lang="en-AU" sz="1200" i="1" kern="1200" dirty="0" smtClean="0">
                <a:solidFill>
                  <a:schemeClr val="tx1"/>
                </a:solidFill>
                <a:latin typeface="+mn-lt"/>
                <a:ea typeface="+mn-ea"/>
                <a:cs typeface="+mn-cs"/>
              </a:rPr>
              <a:t> decision to do so</a:t>
            </a:r>
            <a:r>
              <a:rPr lang="en-AU" sz="1200" kern="1200" dirty="0" smtClean="0">
                <a:solidFill>
                  <a:schemeClr val="tx1"/>
                </a:solidFill>
                <a:latin typeface="+mn-lt"/>
                <a:ea typeface="+mn-ea"/>
                <a:cs typeface="+mn-cs"/>
              </a:rPr>
              <a:t> and not just a default position because people cannot be bothered taking action.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112</a:t>
            </a:fld>
            <a:endParaRPr lang="en-US" dirty="0"/>
          </a:p>
        </p:txBody>
      </p:sp>
    </p:spTree>
    <p:extLst>
      <p:ext uri="{BB962C8B-B14F-4D97-AF65-F5344CB8AC3E}">
        <p14:creationId xmlns:p14="http://schemas.microsoft.com/office/powerpoint/2010/main" val="3843105072"/>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113</a:t>
            </a:fld>
            <a:endParaRPr lang="en-US" dirty="0"/>
          </a:p>
        </p:txBody>
      </p:sp>
    </p:spTree>
    <p:extLst>
      <p:ext uri="{BB962C8B-B14F-4D97-AF65-F5344CB8AC3E}">
        <p14:creationId xmlns:p14="http://schemas.microsoft.com/office/powerpoint/2010/main" val="1449735436"/>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114</a:t>
            </a:fld>
            <a:endParaRPr lang="en-US" dirty="0"/>
          </a:p>
        </p:txBody>
      </p:sp>
    </p:spTree>
    <p:extLst>
      <p:ext uri="{BB962C8B-B14F-4D97-AF65-F5344CB8AC3E}">
        <p14:creationId xmlns:p14="http://schemas.microsoft.com/office/powerpoint/2010/main" val="3244856845"/>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115</a:t>
            </a:fld>
            <a:endParaRPr lang="en-US" dirty="0"/>
          </a:p>
        </p:txBody>
      </p:sp>
    </p:spTree>
    <p:extLst>
      <p:ext uri="{BB962C8B-B14F-4D97-AF65-F5344CB8AC3E}">
        <p14:creationId xmlns:p14="http://schemas.microsoft.com/office/powerpoint/2010/main" val="3566705950"/>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sz="1200" kern="1200" baseline="0" dirty="0" smtClean="0">
              <a:solidFill>
                <a:schemeClr val="tx1"/>
              </a:solidFill>
              <a:ea typeface="+mn-ea"/>
              <a:cs typeface="+mn-cs"/>
            </a:endParaRPr>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by asking questions such as:</a:t>
            </a:r>
          </a:p>
          <a:p>
            <a:pPr marL="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What is an ‘evaluation’?</a:t>
            </a:r>
          </a:p>
          <a:p>
            <a:pPr marL="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Why are they conducted?</a:t>
            </a:r>
          </a:p>
          <a:p>
            <a:pPr marL="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How are they done?</a:t>
            </a:r>
          </a:p>
          <a:p>
            <a:pPr marL="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Why are they undertaken?</a:t>
            </a:r>
            <a:endParaRPr lang="en-AU" sz="120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116</a:t>
            </a:fld>
            <a:endParaRPr lang="en-US" dirty="0"/>
          </a:p>
        </p:txBody>
      </p:sp>
    </p:spTree>
    <p:extLst>
      <p:ext uri="{BB962C8B-B14F-4D97-AF65-F5344CB8AC3E}">
        <p14:creationId xmlns:p14="http://schemas.microsoft.com/office/powerpoint/2010/main" val="3769132158"/>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indicates </a:t>
            </a:r>
            <a:r>
              <a:rPr lang="en-AU" sz="1200" kern="1200" dirty="0" smtClean="0">
                <a:solidFill>
                  <a:schemeClr val="tx1"/>
                </a:solidFill>
                <a:latin typeface="+mn-lt"/>
                <a:ea typeface="+mn-ea"/>
                <a:cs typeface="+mn-cs"/>
              </a:rPr>
              <a:t>it must be a standard requirement all policies are:</a:t>
            </a:r>
          </a:p>
          <a:p>
            <a:pPr>
              <a:buFont typeface="Arial" pitchFamily="34" charset="0"/>
              <a:buChar char="•"/>
            </a:pPr>
            <a:r>
              <a:rPr lang="en-AU" sz="1200" kern="1200" dirty="0" smtClean="0">
                <a:solidFill>
                  <a:schemeClr val="tx1"/>
                </a:solidFill>
                <a:latin typeface="+mn-lt"/>
                <a:ea typeface="+mn-ea"/>
                <a:cs typeface="+mn-cs"/>
              </a:rPr>
              <a:t>Reviewed at the date contained in the policy and set as the official review date – incorporation of this review date must be a mandatory part of the development of every policy</a:t>
            </a:r>
          </a:p>
          <a:p>
            <a:pPr>
              <a:buFont typeface="Arial" pitchFamily="34" charset="0"/>
              <a:buChar char="•"/>
            </a:pPr>
            <a:r>
              <a:rPr lang="en-AU" sz="1200" kern="1200" dirty="0" smtClean="0">
                <a:solidFill>
                  <a:schemeClr val="tx1"/>
                </a:solidFill>
                <a:latin typeface="+mn-lt"/>
                <a:ea typeface="+mn-ea"/>
                <a:cs typeface="+mn-cs"/>
              </a:rPr>
              <a:t>Reviewed on some regular basis, regardless – such as:</a:t>
            </a:r>
          </a:p>
          <a:p>
            <a:pPr lvl="1">
              <a:buFont typeface="Arial" pitchFamily="34" charset="0"/>
              <a:buChar char="•"/>
            </a:pPr>
            <a:r>
              <a:rPr lang="en-AU" sz="1200" kern="1200" dirty="0" smtClean="0">
                <a:solidFill>
                  <a:schemeClr val="tx1"/>
                </a:solidFill>
                <a:latin typeface="+mn-lt"/>
                <a:ea typeface="+mn-ea"/>
                <a:cs typeface="+mn-cs"/>
              </a:rPr>
              <a:t>Quarterly </a:t>
            </a:r>
          </a:p>
          <a:p>
            <a:pPr lvl="1">
              <a:buFont typeface="Arial" pitchFamily="34" charset="0"/>
              <a:buChar char="•"/>
            </a:pPr>
            <a:r>
              <a:rPr lang="en-AU" sz="1200" kern="1200" dirty="0" smtClean="0">
                <a:solidFill>
                  <a:schemeClr val="tx1"/>
                </a:solidFill>
                <a:latin typeface="+mn-lt"/>
                <a:ea typeface="+mn-ea"/>
                <a:cs typeface="+mn-cs"/>
              </a:rPr>
              <a:t>Every six months </a:t>
            </a:r>
          </a:p>
          <a:p>
            <a:pPr lvl="1">
              <a:buFont typeface="Arial" pitchFamily="34" charset="0"/>
              <a:buChar char="•"/>
            </a:pPr>
            <a:r>
              <a:rPr lang="en-AU" sz="1200" kern="1200" dirty="0" smtClean="0">
                <a:solidFill>
                  <a:schemeClr val="tx1"/>
                </a:solidFill>
                <a:latin typeface="+mn-lt"/>
                <a:ea typeface="+mn-ea"/>
                <a:cs typeface="+mn-cs"/>
              </a:rPr>
              <a:t>Annually</a:t>
            </a:r>
          </a:p>
          <a:p>
            <a:pPr lvl="1">
              <a:buFont typeface="Arial" pitchFamily="34" charset="0"/>
              <a:buChar char="•"/>
            </a:pPr>
            <a:r>
              <a:rPr lang="en-AU" sz="1200" kern="1200" dirty="0" smtClean="0">
                <a:solidFill>
                  <a:schemeClr val="tx1"/>
                </a:solidFill>
                <a:latin typeface="+mn-lt"/>
                <a:ea typeface="+mn-ea"/>
                <a:cs typeface="+mn-cs"/>
              </a:rPr>
              <a:t>In synchronisation with the business plan cycle for the organisation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117</a:t>
            </a:fld>
            <a:endParaRPr lang="en-US" dirty="0"/>
          </a:p>
        </p:txBody>
      </p:sp>
    </p:spTree>
    <p:extLst>
      <p:ext uri="{BB962C8B-B14F-4D97-AF65-F5344CB8AC3E}">
        <p14:creationId xmlns:p14="http://schemas.microsoft.com/office/powerpoint/2010/main" val="3050102995"/>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gives standard requirements when reviewing operational policies:</a:t>
            </a:r>
          </a:p>
          <a:p>
            <a:pPr>
              <a:buFont typeface="Arial" pitchFamily="34" charset="0"/>
              <a:buChar char="•"/>
            </a:pPr>
            <a:r>
              <a:rPr lang="en-AU" sz="1200" kern="1200" dirty="0" smtClean="0">
                <a:solidFill>
                  <a:schemeClr val="tx1"/>
                </a:solidFill>
                <a:latin typeface="+mn-lt"/>
                <a:ea typeface="+mn-ea"/>
                <a:cs typeface="+mn-cs"/>
              </a:rPr>
              <a:t>Reviewed when there has been an event deemed to be ‘significant’ in nature – this may be:</a:t>
            </a:r>
          </a:p>
          <a:p>
            <a:pPr lvl="1">
              <a:buFont typeface="Arial" pitchFamily="34" charset="0"/>
              <a:buChar char="•"/>
            </a:pPr>
            <a:r>
              <a:rPr lang="en-AU" sz="1200" kern="1200" dirty="0" smtClean="0">
                <a:solidFill>
                  <a:schemeClr val="tx1"/>
                </a:solidFill>
                <a:latin typeface="+mn-lt"/>
                <a:ea typeface="+mn-ea"/>
                <a:cs typeface="+mn-cs"/>
              </a:rPr>
              <a:t>An incident or accident (or near miss) </a:t>
            </a:r>
          </a:p>
          <a:p>
            <a:pPr lvl="1">
              <a:buFont typeface="Arial" pitchFamily="34" charset="0"/>
              <a:buChar char="•"/>
            </a:pPr>
            <a:r>
              <a:rPr lang="en-AU" sz="1200" kern="1200" dirty="0" smtClean="0">
                <a:solidFill>
                  <a:schemeClr val="tx1"/>
                </a:solidFill>
                <a:latin typeface="+mn-lt"/>
                <a:ea typeface="+mn-ea"/>
                <a:cs typeface="+mn-cs"/>
              </a:rPr>
              <a:t>A serious complaint or other nominated occurrence</a:t>
            </a:r>
          </a:p>
          <a:p>
            <a:pPr lvl="1">
              <a:buFont typeface="Arial" pitchFamily="34" charset="0"/>
              <a:buChar char="•"/>
            </a:pPr>
            <a:r>
              <a:rPr lang="en-AU" sz="1200" kern="1200" dirty="0" smtClean="0">
                <a:solidFill>
                  <a:schemeClr val="tx1"/>
                </a:solidFill>
                <a:latin typeface="+mn-lt"/>
                <a:ea typeface="+mn-ea"/>
                <a:cs typeface="+mn-cs"/>
              </a:rPr>
              <a:t>Legal action</a:t>
            </a:r>
          </a:p>
          <a:p>
            <a:pPr lvl="1">
              <a:buFont typeface="Arial" pitchFamily="34" charset="0"/>
              <a:buChar char="•"/>
            </a:pPr>
            <a:r>
              <a:rPr lang="en-US" sz="1200" kern="1200" dirty="0" smtClean="0">
                <a:solidFill>
                  <a:schemeClr val="tx1"/>
                </a:solidFill>
                <a:latin typeface="+mn-lt"/>
                <a:ea typeface="+mn-ea"/>
                <a:cs typeface="+mn-cs"/>
              </a:rPr>
              <a:t>A major change in marketplace</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Reviewed by suitable persons – generally:</a:t>
            </a:r>
          </a:p>
          <a:p>
            <a:pPr lvl="1">
              <a:buFont typeface="Arial" pitchFamily="34" charset="0"/>
              <a:buChar char="•"/>
            </a:pPr>
            <a:r>
              <a:rPr lang="en-AU" sz="1200" kern="1200" dirty="0" smtClean="0">
                <a:solidFill>
                  <a:schemeClr val="tx1"/>
                </a:solidFill>
                <a:latin typeface="+mn-lt"/>
                <a:ea typeface="+mn-ea"/>
                <a:cs typeface="+mn-cs"/>
              </a:rPr>
              <a:t>Those involved in the development of the policy</a:t>
            </a:r>
          </a:p>
          <a:p>
            <a:pPr lvl="1">
              <a:buFont typeface="Arial" pitchFamily="34" charset="0"/>
              <a:buChar char="•"/>
            </a:pPr>
            <a:r>
              <a:rPr lang="en-AU" sz="1200" kern="1200" dirty="0" smtClean="0">
                <a:solidFill>
                  <a:schemeClr val="tx1"/>
                </a:solidFill>
                <a:latin typeface="+mn-lt"/>
                <a:ea typeface="+mn-ea"/>
                <a:cs typeface="+mn-cs"/>
              </a:rPr>
              <a:t>Those impacted by the policy</a:t>
            </a:r>
          </a:p>
          <a:p>
            <a:pPr>
              <a:buFont typeface="Arial" pitchFamily="34" charset="0"/>
              <a:buChar char="•"/>
            </a:pPr>
            <a:r>
              <a:rPr lang="en-AU" sz="1200" kern="1200" dirty="0" smtClean="0">
                <a:solidFill>
                  <a:schemeClr val="tx1"/>
                </a:solidFill>
                <a:latin typeface="+mn-lt"/>
                <a:ea typeface="+mn-ea"/>
                <a:cs typeface="+mn-cs"/>
              </a:rPr>
              <a:t>Reviewed and revised according to a pre-determined process/plan – this is a written plan detailing and/or providing guidelines or requirements in relation to:</a:t>
            </a:r>
          </a:p>
          <a:p>
            <a:pPr lvl="1">
              <a:buFont typeface="Arial" pitchFamily="34" charset="0"/>
              <a:buChar char="•"/>
            </a:pPr>
            <a:r>
              <a:rPr lang="en-AU" sz="1200" kern="1200" dirty="0" smtClean="0">
                <a:solidFill>
                  <a:schemeClr val="tx1"/>
                </a:solidFill>
                <a:latin typeface="+mn-lt"/>
                <a:ea typeface="+mn-ea"/>
                <a:cs typeface="+mn-cs"/>
              </a:rPr>
              <a:t>The aspects of the policy to be evaluated and/or given special attention</a:t>
            </a:r>
          </a:p>
          <a:p>
            <a:pPr lvl="1">
              <a:buFont typeface="Arial" pitchFamily="34" charset="0"/>
              <a:buChar char="•"/>
            </a:pPr>
            <a:r>
              <a:rPr lang="en-AU" sz="1200" kern="1200" dirty="0" smtClean="0">
                <a:solidFill>
                  <a:schemeClr val="tx1"/>
                </a:solidFill>
                <a:latin typeface="+mn-lt"/>
                <a:ea typeface="+mn-ea"/>
                <a:cs typeface="+mn-cs"/>
              </a:rPr>
              <a:t>When evaluations will take place</a:t>
            </a:r>
          </a:p>
          <a:p>
            <a:pPr lvl="1">
              <a:buFont typeface="Arial" pitchFamily="34" charset="0"/>
              <a:buChar char="•"/>
            </a:pPr>
            <a:r>
              <a:rPr lang="en-AU" sz="1200" kern="1200" dirty="0" smtClean="0">
                <a:solidFill>
                  <a:schemeClr val="tx1"/>
                </a:solidFill>
                <a:latin typeface="+mn-lt"/>
                <a:ea typeface="+mn-ea"/>
                <a:cs typeface="+mn-cs"/>
              </a:rPr>
              <a:t>How the evaluation will be conducted</a:t>
            </a:r>
          </a:p>
          <a:p>
            <a:pPr lvl="1">
              <a:buFont typeface="Arial" pitchFamily="34" charset="0"/>
              <a:buChar char="•"/>
            </a:pPr>
            <a:r>
              <a:rPr lang="en-AU" sz="1200" kern="1200" dirty="0" smtClean="0">
                <a:solidFill>
                  <a:schemeClr val="tx1"/>
                </a:solidFill>
                <a:latin typeface="+mn-lt"/>
                <a:ea typeface="+mn-ea"/>
                <a:cs typeface="+mn-cs"/>
              </a:rPr>
              <a:t>Who will be involved in conducting evaluations</a:t>
            </a:r>
          </a:p>
          <a:p>
            <a:pPr lvl="1">
              <a:buFont typeface="Arial" pitchFamily="34" charset="0"/>
              <a:buChar char="•"/>
            </a:pPr>
            <a:r>
              <a:rPr lang="en-AU" sz="1200" kern="1200" dirty="0" smtClean="0">
                <a:solidFill>
                  <a:schemeClr val="tx1"/>
                </a:solidFill>
                <a:latin typeface="+mn-lt"/>
                <a:ea typeface="+mn-ea"/>
                <a:cs typeface="+mn-cs"/>
              </a:rPr>
              <a:t>Documents, data and/or organisations which need to be investigated/researched as part of the review process. </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118</a:t>
            </a:fld>
            <a:endParaRPr lang="en-US" dirty="0"/>
          </a:p>
        </p:txBody>
      </p:sp>
    </p:spTree>
    <p:extLst>
      <p:ext uri="{BB962C8B-B14F-4D97-AF65-F5344CB8AC3E}">
        <p14:creationId xmlns:p14="http://schemas.microsoft.com/office/powerpoint/2010/main" val="140116883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presents issues to </a:t>
            </a:r>
            <a:r>
              <a:rPr lang="en-AU" sz="1200" kern="1200" dirty="0" smtClean="0">
                <a:solidFill>
                  <a:schemeClr val="tx1"/>
                </a:solidFill>
                <a:latin typeface="+mn-lt"/>
                <a:ea typeface="+mn-ea"/>
                <a:cs typeface="+mn-cs"/>
              </a:rPr>
              <a:t>address:</a:t>
            </a:r>
          </a:p>
          <a:p>
            <a:pPr>
              <a:buFont typeface="Arial" pitchFamily="34" charset="0"/>
              <a:buChar char="•"/>
            </a:pPr>
            <a:r>
              <a:rPr lang="en-AU" sz="1200" kern="1200" dirty="0" smtClean="0">
                <a:solidFill>
                  <a:schemeClr val="tx1"/>
                </a:solidFill>
                <a:latin typeface="+mn-lt"/>
                <a:ea typeface="+mn-ea"/>
                <a:cs typeface="+mn-cs"/>
              </a:rPr>
              <a:t>What is the feedback from staff and other users in relation to the policies – for example:</a:t>
            </a:r>
          </a:p>
          <a:p>
            <a:pPr lvl="1">
              <a:buFont typeface="Arial" pitchFamily="34" charset="0"/>
              <a:buChar char="•"/>
            </a:pPr>
            <a:r>
              <a:rPr lang="en-AU" sz="1200" kern="1200" dirty="0" smtClean="0">
                <a:solidFill>
                  <a:schemeClr val="tx1"/>
                </a:solidFill>
                <a:latin typeface="+mn-lt"/>
                <a:ea typeface="+mn-ea"/>
                <a:cs typeface="+mn-cs"/>
              </a:rPr>
              <a:t>Are they aware of the policy? Do they understand what it means and what they are expected to do in order to comply?</a:t>
            </a:r>
          </a:p>
          <a:p>
            <a:pPr lvl="1">
              <a:buFont typeface="Arial" pitchFamily="34" charset="0"/>
              <a:buChar char="•"/>
            </a:pPr>
            <a:r>
              <a:rPr lang="en-AU" sz="1200" kern="1200" dirty="0" smtClean="0">
                <a:solidFill>
                  <a:schemeClr val="tx1"/>
                </a:solidFill>
                <a:latin typeface="+mn-lt"/>
                <a:ea typeface="+mn-ea"/>
                <a:cs typeface="+mn-cs"/>
              </a:rPr>
              <a:t>What do they think of the policy? Do they think the policy is good or bad/effective of ineffective? Why?</a:t>
            </a:r>
          </a:p>
          <a:p>
            <a:pPr lvl="1">
              <a:buFont typeface="Arial" pitchFamily="34" charset="0"/>
              <a:buChar char="•"/>
            </a:pPr>
            <a:r>
              <a:rPr lang="en-AU" sz="1200" kern="1200" dirty="0" smtClean="0">
                <a:solidFill>
                  <a:schemeClr val="tx1"/>
                </a:solidFill>
                <a:latin typeface="+mn-lt"/>
                <a:ea typeface="+mn-ea"/>
                <a:cs typeface="+mn-cs"/>
              </a:rPr>
              <a:t>How do they impact/guide workplace activity? </a:t>
            </a:r>
          </a:p>
          <a:p>
            <a:pPr lvl="1">
              <a:buFont typeface="Arial" pitchFamily="34" charset="0"/>
              <a:buChar char="•"/>
            </a:pPr>
            <a:r>
              <a:rPr lang="en-AU" sz="1200" kern="1200" dirty="0" smtClean="0">
                <a:solidFill>
                  <a:schemeClr val="tx1"/>
                </a:solidFill>
                <a:latin typeface="+mn-lt"/>
                <a:ea typeface="+mn-ea"/>
                <a:cs typeface="+mn-cs"/>
              </a:rPr>
              <a:t>Can they suggest improvements? What? Where?</a:t>
            </a:r>
          </a:p>
          <a:p>
            <a:pPr>
              <a:buFont typeface="Arial" pitchFamily="34" charset="0"/>
              <a:buChar char="•"/>
            </a:pPr>
            <a:r>
              <a:rPr lang="en-AU" sz="1200" kern="1200" dirty="0" smtClean="0">
                <a:solidFill>
                  <a:schemeClr val="tx1"/>
                </a:solidFill>
                <a:latin typeface="+mn-lt"/>
                <a:ea typeface="+mn-ea"/>
                <a:cs typeface="+mn-cs"/>
              </a:rPr>
              <a:t>What are the comments from customers impacted by the policy – for example:</a:t>
            </a:r>
          </a:p>
          <a:p>
            <a:pPr lvl="1">
              <a:buFont typeface="Arial" pitchFamily="34" charset="0"/>
              <a:buChar char="•"/>
            </a:pPr>
            <a:r>
              <a:rPr lang="en-AU" sz="1200" kern="1200" dirty="0" smtClean="0">
                <a:solidFill>
                  <a:schemeClr val="tx1"/>
                </a:solidFill>
                <a:latin typeface="+mn-lt"/>
                <a:ea typeface="+mn-ea"/>
                <a:cs typeface="+mn-cs"/>
              </a:rPr>
              <a:t>Do they understand the policy? Why? Why not?</a:t>
            </a:r>
          </a:p>
          <a:p>
            <a:pPr lvl="1">
              <a:buFont typeface="Arial" pitchFamily="34" charset="0"/>
              <a:buChar char="•"/>
            </a:pPr>
            <a:r>
              <a:rPr lang="en-AU" sz="1200" kern="1200" dirty="0" smtClean="0">
                <a:solidFill>
                  <a:schemeClr val="tx1"/>
                </a:solidFill>
                <a:latin typeface="+mn-lt"/>
                <a:ea typeface="+mn-ea"/>
                <a:cs typeface="+mn-cs"/>
              </a:rPr>
              <a:t>Do they like it? Why? Why not?</a:t>
            </a:r>
          </a:p>
          <a:p>
            <a:pPr lvl="1">
              <a:buFont typeface="Arial" pitchFamily="34" charset="0"/>
              <a:buChar char="•"/>
            </a:pPr>
            <a:r>
              <a:rPr lang="en-AU" sz="1200" kern="1200" dirty="0" smtClean="0">
                <a:solidFill>
                  <a:schemeClr val="tx1"/>
                </a:solidFill>
                <a:latin typeface="+mn-lt"/>
                <a:ea typeface="+mn-ea"/>
                <a:cs typeface="+mn-cs"/>
              </a:rPr>
              <a:t>How do they want it to change?</a:t>
            </a:r>
          </a:p>
          <a:p>
            <a:pPr>
              <a:buFont typeface="Arial" pitchFamily="34" charset="0"/>
              <a:buChar char="•"/>
            </a:pPr>
            <a:r>
              <a:rPr lang="en-AU" sz="1200" kern="1200" dirty="0" smtClean="0">
                <a:solidFill>
                  <a:schemeClr val="tx1"/>
                </a:solidFill>
                <a:latin typeface="+mn-lt"/>
                <a:ea typeface="+mn-ea"/>
                <a:cs typeface="+mn-cs"/>
              </a:rPr>
              <a:t>Is there actual/genuine compliance with the policy – or:</a:t>
            </a:r>
          </a:p>
          <a:p>
            <a:pPr lvl="1">
              <a:buFont typeface="Arial" pitchFamily="34" charset="0"/>
              <a:buChar char="•"/>
            </a:pPr>
            <a:r>
              <a:rPr lang="en-US" sz="1200" kern="1200" dirty="0" smtClean="0">
                <a:solidFill>
                  <a:schemeClr val="tx1"/>
                </a:solidFill>
                <a:latin typeface="+mn-lt"/>
                <a:ea typeface="+mn-ea"/>
                <a:cs typeface="+mn-cs"/>
              </a:rPr>
              <a:t>Are staff/people simply ignoring the requirements?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Does evidence point to limited compliance ‘some of the time’ or ‘only under certain circumstances’?</a:t>
            </a:r>
            <a:endParaRPr lang="en-AU" sz="1200" kern="1200" dirty="0" smtClean="0">
              <a:solidFill>
                <a:schemeClr val="tx1"/>
              </a:solidFill>
              <a:latin typeface="+mn-lt"/>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119</a:t>
            </a:fld>
            <a:endParaRPr lang="en-US" dirty="0"/>
          </a:p>
        </p:txBody>
      </p:sp>
    </p:spTree>
    <p:extLst>
      <p:ext uri="{BB962C8B-B14F-4D97-AF65-F5344CB8AC3E}">
        <p14:creationId xmlns:p14="http://schemas.microsoft.com/office/powerpoint/2010/main" val="620310624"/>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presents issues to </a:t>
            </a:r>
            <a:r>
              <a:rPr lang="en-AU" sz="1200" kern="1200" dirty="0" smtClean="0">
                <a:solidFill>
                  <a:schemeClr val="tx1"/>
                </a:solidFill>
                <a:latin typeface="+mn-lt"/>
                <a:ea typeface="+mn-ea"/>
                <a:cs typeface="+mn-cs"/>
              </a:rPr>
              <a:t>address:</a:t>
            </a:r>
          </a:p>
          <a:p>
            <a:pPr>
              <a:buFont typeface="Arial" pitchFamily="34" charset="0"/>
              <a:buChar char="•"/>
            </a:pPr>
            <a:r>
              <a:rPr lang="en-AU" sz="1200" kern="1200" dirty="0" smtClean="0">
                <a:solidFill>
                  <a:schemeClr val="tx1"/>
                </a:solidFill>
                <a:latin typeface="+mn-lt"/>
                <a:ea typeface="+mn-ea"/>
                <a:cs typeface="+mn-cs"/>
              </a:rPr>
              <a:t>What impact is being noticed on topics and targets relevant to the policy – for instance:</a:t>
            </a:r>
          </a:p>
          <a:p>
            <a:pPr lvl="1">
              <a:buFont typeface="Arial" pitchFamily="34" charset="0"/>
              <a:buChar char="•"/>
            </a:pPr>
            <a:r>
              <a:rPr lang="en-AU" sz="1200" kern="1200" dirty="0" smtClean="0">
                <a:solidFill>
                  <a:schemeClr val="tx1"/>
                </a:solidFill>
                <a:latin typeface="+mn-lt"/>
                <a:ea typeface="+mn-ea"/>
                <a:cs typeface="+mn-cs"/>
              </a:rPr>
              <a:t>Are services being delivered more efficiently and/or effectively</a:t>
            </a:r>
          </a:p>
          <a:p>
            <a:pPr lvl="1">
              <a:buFont typeface="Arial" pitchFamily="34" charset="0"/>
              <a:buChar char="•"/>
            </a:pPr>
            <a:r>
              <a:rPr lang="en-AU" sz="1200" kern="1200" dirty="0" smtClean="0">
                <a:solidFill>
                  <a:schemeClr val="tx1"/>
                </a:solidFill>
                <a:latin typeface="+mn-lt"/>
                <a:ea typeface="+mn-ea"/>
                <a:cs typeface="+mn-cs"/>
              </a:rPr>
              <a:t>Are sales and/or profits increasing?</a:t>
            </a:r>
          </a:p>
          <a:p>
            <a:pPr lvl="1">
              <a:buFont typeface="Arial" pitchFamily="34" charset="0"/>
              <a:buChar char="•"/>
            </a:pPr>
            <a:r>
              <a:rPr lang="en-AU" sz="1200" kern="1200" dirty="0" smtClean="0">
                <a:solidFill>
                  <a:schemeClr val="tx1"/>
                </a:solidFill>
                <a:latin typeface="+mn-lt"/>
                <a:ea typeface="+mn-ea"/>
                <a:cs typeface="+mn-cs"/>
              </a:rPr>
              <a:t>Is the policy introducing an unacceptable or annoying barrier to standard workplace operation? How? Why? What can be done about this?</a:t>
            </a:r>
          </a:p>
          <a:p>
            <a:pPr>
              <a:buFont typeface="Arial" pitchFamily="34" charset="0"/>
              <a:buChar char="•"/>
            </a:pPr>
            <a:r>
              <a:rPr lang="en-AU" sz="1200" kern="1200" dirty="0" smtClean="0">
                <a:solidFill>
                  <a:schemeClr val="tx1"/>
                </a:solidFill>
                <a:latin typeface="+mn-lt"/>
                <a:ea typeface="+mn-ea"/>
                <a:cs typeface="+mn-cs"/>
              </a:rPr>
              <a:t>What impact is being noticed on expenditure? Is there a drop/rise in productivity or (for example) use of materials as a result of new/revised workplace procedures?</a:t>
            </a: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120</a:t>
            </a:fld>
            <a:endParaRPr lang="en-US" dirty="0"/>
          </a:p>
        </p:txBody>
      </p:sp>
    </p:spTree>
    <p:extLst>
      <p:ext uri="{BB962C8B-B14F-4D97-AF65-F5344CB8AC3E}">
        <p14:creationId xmlns:p14="http://schemas.microsoft.com/office/powerpoint/2010/main" val="264099085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discusses objectives of the review observing:</a:t>
            </a:r>
          </a:p>
          <a:p>
            <a:pPr>
              <a:buFont typeface="Arial" pitchFamily="34" charset="0"/>
              <a:buChar char="•"/>
            </a:pPr>
            <a:r>
              <a:rPr lang="en-AU" sz="1200" kern="1200" dirty="0" smtClean="0">
                <a:solidFill>
                  <a:schemeClr val="tx1"/>
                </a:solidFill>
                <a:latin typeface="+mn-lt"/>
                <a:ea typeface="+mn-ea"/>
                <a:cs typeface="+mn-cs"/>
              </a:rPr>
              <a:t>The review may have specific aims as stated in the policy ‘review’ section, or there will be generic needs to determine: </a:t>
            </a:r>
          </a:p>
          <a:p>
            <a:pPr lvl="1">
              <a:buFont typeface="Arial" pitchFamily="34" charset="0"/>
              <a:buChar char="•"/>
            </a:pPr>
            <a:r>
              <a:rPr lang="en-AU" sz="1200" kern="1200" dirty="0" smtClean="0">
                <a:solidFill>
                  <a:schemeClr val="tx1"/>
                </a:solidFill>
                <a:latin typeface="+mn-lt"/>
                <a:ea typeface="+mn-ea"/>
                <a:cs typeface="+mn-cs"/>
              </a:rPr>
              <a:t>If the outcomes for the policy are actually being achieved</a:t>
            </a:r>
          </a:p>
          <a:p>
            <a:pPr lvl="1">
              <a:buFont typeface="Arial" pitchFamily="34" charset="0"/>
              <a:buChar char="•"/>
            </a:pPr>
            <a:r>
              <a:rPr lang="en-AU" sz="1200" kern="1200" dirty="0" smtClean="0">
                <a:solidFill>
                  <a:schemeClr val="tx1"/>
                </a:solidFill>
                <a:latin typeface="+mn-lt"/>
                <a:ea typeface="+mn-ea"/>
                <a:cs typeface="+mn-cs"/>
              </a:rPr>
              <a:t>What changes need to be made to bring an under-performing policy back on track</a:t>
            </a:r>
          </a:p>
          <a:p>
            <a:pPr lvl="1">
              <a:buFont typeface="Arial" pitchFamily="34" charset="0"/>
              <a:buChar char="•"/>
            </a:pPr>
            <a:r>
              <a:rPr lang="en-AU" sz="1200" kern="1200" dirty="0" smtClean="0">
                <a:solidFill>
                  <a:schemeClr val="tx1"/>
                </a:solidFill>
                <a:latin typeface="+mn-lt"/>
                <a:ea typeface="+mn-ea"/>
                <a:cs typeface="+mn-cs"/>
              </a:rPr>
              <a:t>Whether alterations need to be made to certain aspects of the policy to capitalise on better than expected performance of the business.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121</a:t>
            </a:fld>
            <a:endParaRPr lang="en-US" dirty="0"/>
          </a:p>
        </p:txBody>
      </p:sp>
    </p:spTree>
    <p:extLst>
      <p:ext uri="{BB962C8B-B14F-4D97-AF65-F5344CB8AC3E}">
        <p14:creationId xmlns:p14="http://schemas.microsoft.com/office/powerpoint/2010/main" val="2985746725"/>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observes in </a:t>
            </a:r>
            <a:r>
              <a:rPr lang="en-AU" sz="1200" kern="1200" dirty="0" smtClean="0">
                <a:solidFill>
                  <a:schemeClr val="tx1"/>
                </a:solidFill>
                <a:latin typeface="+mn-lt"/>
                <a:ea typeface="+mn-ea"/>
                <a:cs typeface="+mn-cs"/>
              </a:rPr>
              <a:t>general:</a:t>
            </a:r>
          </a:p>
          <a:p>
            <a:pPr>
              <a:buFont typeface="Arial" pitchFamily="34" charset="0"/>
              <a:buChar char="•"/>
            </a:pPr>
            <a:r>
              <a:rPr lang="en-AU" sz="1200" kern="1200" dirty="0" smtClean="0">
                <a:solidFill>
                  <a:schemeClr val="tx1"/>
                </a:solidFill>
                <a:latin typeface="+mn-lt"/>
                <a:ea typeface="+mn-ea"/>
                <a:cs typeface="+mn-cs"/>
              </a:rPr>
              <a:t>Satisfactory outcomes lead to no action being taken</a:t>
            </a:r>
          </a:p>
          <a:p>
            <a:pPr>
              <a:buFont typeface="Arial" pitchFamily="34" charset="0"/>
              <a:buChar char="•"/>
            </a:pPr>
            <a:r>
              <a:rPr lang="en-AU" sz="1200" kern="1200" dirty="0" smtClean="0">
                <a:solidFill>
                  <a:schemeClr val="tx1"/>
                </a:solidFill>
                <a:latin typeface="+mn-lt"/>
                <a:ea typeface="+mn-ea"/>
                <a:cs typeface="+mn-cs"/>
              </a:rPr>
              <a:t>Outcomes which are </a:t>
            </a:r>
            <a:r>
              <a:rPr lang="en-AU" sz="1200" i="1" kern="1200" dirty="0" smtClean="0">
                <a:solidFill>
                  <a:schemeClr val="tx1"/>
                </a:solidFill>
                <a:latin typeface="+mn-lt"/>
                <a:ea typeface="+mn-ea"/>
                <a:cs typeface="+mn-cs"/>
              </a:rPr>
              <a:t>significantly</a:t>
            </a:r>
            <a:r>
              <a:rPr lang="en-AU" sz="1200" kern="1200" dirty="0" smtClean="0">
                <a:solidFill>
                  <a:schemeClr val="tx1"/>
                </a:solidFill>
                <a:latin typeface="+mn-lt"/>
                <a:ea typeface="+mn-ea"/>
                <a:cs typeface="+mn-cs"/>
              </a:rPr>
              <a:t> above or below expectations lead to:</a:t>
            </a:r>
          </a:p>
          <a:p>
            <a:pPr lvl="1">
              <a:buFont typeface="Arial" pitchFamily="34" charset="0"/>
              <a:buChar char="•"/>
            </a:pPr>
            <a:r>
              <a:rPr lang="en-AU" sz="1200" kern="1200" dirty="0" smtClean="0">
                <a:solidFill>
                  <a:schemeClr val="tx1"/>
                </a:solidFill>
                <a:latin typeface="+mn-lt"/>
                <a:ea typeface="+mn-ea"/>
                <a:cs typeface="+mn-cs"/>
              </a:rPr>
              <a:t>Revisions of policies</a:t>
            </a:r>
          </a:p>
          <a:p>
            <a:pPr lvl="1">
              <a:buFont typeface="Arial" pitchFamily="34" charset="0"/>
              <a:buChar char="•"/>
            </a:pPr>
            <a:r>
              <a:rPr lang="en-AU" sz="1200" kern="1200" dirty="0" smtClean="0">
                <a:solidFill>
                  <a:schemeClr val="tx1"/>
                </a:solidFill>
                <a:latin typeface="+mn-lt"/>
                <a:ea typeface="+mn-ea"/>
                <a:cs typeface="+mn-cs"/>
              </a:rPr>
              <a:t>Modifications of other related polices</a:t>
            </a:r>
          </a:p>
          <a:p>
            <a:pPr lvl="1">
              <a:buFont typeface="Arial" pitchFamily="34" charset="0"/>
              <a:buChar char="•"/>
            </a:pPr>
            <a:r>
              <a:rPr lang="en-AU" sz="1200" kern="1200" dirty="0" smtClean="0">
                <a:solidFill>
                  <a:schemeClr val="tx1"/>
                </a:solidFill>
                <a:latin typeface="+mn-lt"/>
                <a:ea typeface="+mn-ea"/>
                <a:cs typeface="+mn-cs"/>
              </a:rPr>
              <a:t>Changes to allied </a:t>
            </a:r>
            <a:r>
              <a:rPr lang="en-AU" sz="1200" i="1" kern="1200" dirty="0" smtClean="0">
                <a:solidFill>
                  <a:schemeClr val="tx1"/>
                </a:solidFill>
                <a:latin typeface="+mn-lt"/>
                <a:ea typeface="+mn-ea"/>
                <a:cs typeface="+mn-cs"/>
              </a:rPr>
              <a:t>procedures.</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122</a:t>
            </a:fld>
            <a:endParaRPr lang="en-US" dirty="0"/>
          </a:p>
        </p:txBody>
      </p:sp>
    </p:spTree>
    <p:extLst>
      <p:ext uri="{BB962C8B-B14F-4D97-AF65-F5344CB8AC3E}">
        <p14:creationId xmlns:p14="http://schemas.microsoft.com/office/powerpoint/2010/main" val="2576856915"/>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identifies the </a:t>
            </a:r>
            <a:r>
              <a:rPr lang="en-AU" sz="1200" kern="1200" dirty="0" smtClean="0">
                <a:solidFill>
                  <a:schemeClr val="tx1"/>
                </a:solidFill>
                <a:latin typeface="+mn-lt"/>
                <a:ea typeface="+mn-ea"/>
                <a:cs typeface="+mn-cs"/>
              </a:rPr>
              <a:t>aim of monitoring business performance can be seen as to:</a:t>
            </a:r>
          </a:p>
          <a:p>
            <a:pPr>
              <a:buFont typeface="Arial" pitchFamily="34" charset="0"/>
              <a:buChar char="•"/>
            </a:pPr>
            <a:r>
              <a:rPr lang="en-AU" sz="1200" kern="1200" dirty="0" smtClean="0">
                <a:solidFill>
                  <a:schemeClr val="tx1"/>
                </a:solidFill>
                <a:latin typeface="+mn-lt"/>
                <a:ea typeface="+mn-ea"/>
                <a:cs typeface="+mn-cs"/>
              </a:rPr>
              <a:t>Identifying policy areas which are adhered to/implemented as required or intended</a:t>
            </a:r>
          </a:p>
          <a:p>
            <a:pPr>
              <a:buFont typeface="Arial" pitchFamily="34" charset="0"/>
              <a:buChar char="•"/>
            </a:pPr>
            <a:r>
              <a:rPr lang="en-AU" sz="1200" kern="1200" dirty="0" smtClean="0">
                <a:solidFill>
                  <a:schemeClr val="tx1"/>
                </a:solidFill>
                <a:latin typeface="+mn-lt"/>
                <a:ea typeface="+mn-ea"/>
                <a:cs typeface="+mn-cs"/>
              </a:rPr>
              <a:t>Rewarding and/or acknowledging compliant behaviour </a:t>
            </a:r>
          </a:p>
          <a:p>
            <a:pPr>
              <a:buFont typeface="Arial" pitchFamily="34" charset="0"/>
              <a:buChar char="•"/>
            </a:pPr>
            <a:r>
              <a:rPr lang="en-AU" sz="1200" kern="1200" dirty="0" smtClean="0">
                <a:solidFill>
                  <a:schemeClr val="tx1"/>
                </a:solidFill>
                <a:latin typeface="+mn-lt"/>
                <a:ea typeface="+mn-ea"/>
                <a:cs typeface="+mn-cs"/>
              </a:rPr>
              <a:t>Identify where areas of policy can be improved through:</a:t>
            </a:r>
          </a:p>
          <a:p>
            <a:pPr lvl="1">
              <a:buFont typeface="Arial" pitchFamily="34" charset="0"/>
              <a:buChar char="•"/>
            </a:pPr>
            <a:r>
              <a:rPr lang="en-US" sz="1200" kern="1200" dirty="0" smtClean="0">
                <a:solidFill>
                  <a:schemeClr val="tx1"/>
                </a:solidFill>
                <a:latin typeface="+mn-lt"/>
                <a:ea typeface="+mn-ea"/>
                <a:cs typeface="+mn-cs"/>
              </a:rPr>
              <a:t>Identification of problems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Understanding cause/s of issues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Finding suitable solutions to identified problems/issues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Generating a viable solution.</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123</a:t>
            </a:fld>
            <a:endParaRPr lang="en-US" dirty="0"/>
          </a:p>
        </p:txBody>
      </p:sp>
    </p:spTree>
    <p:extLst>
      <p:ext uri="{BB962C8B-B14F-4D97-AF65-F5344CB8AC3E}">
        <p14:creationId xmlns:p14="http://schemas.microsoft.com/office/powerpoint/2010/main" val="4263219468"/>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relevant points to consider:</a:t>
            </a:r>
          </a:p>
          <a:p>
            <a:pPr>
              <a:buFont typeface="Arial" pitchFamily="34" charset="0"/>
              <a:buChar char="•"/>
            </a:pPr>
            <a:r>
              <a:rPr lang="en-AU" sz="1200" kern="1200" dirty="0" smtClean="0">
                <a:solidFill>
                  <a:schemeClr val="tx1"/>
                </a:solidFill>
                <a:latin typeface="+mn-lt"/>
                <a:ea typeface="+mn-ea"/>
                <a:cs typeface="+mn-cs"/>
              </a:rPr>
              <a:t>Fact-based/real evidence </a:t>
            </a:r>
            <a:r>
              <a:rPr lang="en-AU" sz="1200" b="1" kern="1200" dirty="0" smtClean="0">
                <a:solidFill>
                  <a:schemeClr val="tx1"/>
                </a:solidFill>
                <a:latin typeface="+mn-lt"/>
                <a:ea typeface="+mn-ea"/>
                <a:cs typeface="+mn-cs"/>
              </a:rPr>
              <a:t>must</a:t>
            </a:r>
            <a:r>
              <a:rPr lang="en-AU" sz="1200" kern="1200" dirty="0" smtClean="0">
                <a:solidFill>
                  <a:schemeClr val="tx1"/>
                </a:solidFill>
                <a:latin typeface="+mn-lt"/>
                <a:ea typeface="+mn-ea"/>
                <a:cs typeface="+mn-cs"/>
              </a:rPr>
              <a:t> be generated as a result of the monitoring processes – so:</a:t>
            </a:r>
          </a:p>
          <a:p>
            <a:pPr lvl="1">
              <a:buFont typeface="Arial" pitchFamily="34" charset="0"/>
              <a:buChar char="•"/>
            </a:pPr>
            <a:r>
              <a:rPr lang="en-US" sz="1200" kern="1200" dirty="0" smtClean="0">
                <a:solidFill>
                  <a:schemeClr val="tx1"/>
                </a:solidFill>
                <a:latin typeface="+mn-lt"/>
                <a:ea typeface="+mn-ea"/>
                <a:cs typeface="+mn-cs"/>
              </a:rPr>
              <a:t>There is direct relevant of the data to the policy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Objective ‘proof’ can be used for analysis and decision making</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The monitoring process should be an </a:t>
            </a:r>
            <a:r>
              <a:rPr lang="en-AU" sz="1200" b="1" kern="1200" dirty="0" smtClean="0">
                <a:solidFill>
                  <a:schemeClr val="tx1"/>
                </a:solidFill>
                <a:latin typeface="+mn-lt"/>
                <a:ea typeface="+mn-ea"/>
                <a:cs typeface="+mn-cs"/>
              </a:rPr>
              <a:t>ongoing</a:t>
            </a:r>
            <a:r>
              <a:rPr lang="en-AU" sz="1200" kern="1200" dirty="0" smtClean="0">
                <a:solidFill>
                  <a:schemeClr val="tx1"/>
                </a:solidFill>
                <a:latin typeface="+mn-lt"/>
                <a:ea typeface="+mn-ea"/>
                <a:cs typeface="+mn-cs"/>
              </a:rPr>
              <a:t> process – which means:</a:t>
            </a:r>
          </a:p>
          <a:p>
            <a:pPr lvl="1">
              <a:buFont typeface="Arial" pitchFamily="34" charset="0"/>
              <a:buChar char="•"/>
            </a:pPr>
            <a:r>
              <a:rPr lang="en-US" sz="1200" kern="1200" dirty="0" smtClean="0">
                <a:solidFill>
                  <a:schemeClr val="tx1"/>
                </a:solidFill>
                <a:latin typeface="+mn-lt"/>
                <a:ea typeface="+mn-ea"/>
                <a:cs typeface="+mn-cs"/>
              </a:rPr>
              <a:t>Compiling </a:t>
            </a:r>
            <a:r>
              <a:rPr lang="en-US" sz="1200" i="1" kern="1200" dirty="0" smtClean="0">
                <a:solidFill>
                  <a:schemeClr val="tx1"/>
                </a:solidFill>
                <a:latin typeface="+mn-lt"/>
                <a:ea typeface="+mn-ea"/>
                <a:cs typeface="+mn-cs"/>
              </a:rPr>
              <a:t>cumulative</a:t>
            </a:r>
            <a:r>
              <a:rPr lang="en-US" sz="1200" kern="1200" dirty="0" smtClean="0">
                <a:solidFill>
                  <a:schemeClr val="tx1"/>
                </a:solidFill>
                <a:latin typeface="+mn-lt"/>
                <a:ea typeface="+mn-ea"/>
                <a:cs typeface="+mn-cs"/>
              </a:rPr>
              <a:t> data/evidence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Not just gathering evidence on set dates or at ‘one point’ in time</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Definite responsibility must be allocated for monitoring activities – so:</a:t>
            </a:r>
          </a:p>
          <a:p>
            <a:pPr lvl="1">
              <a:buFont typeface="Arial" pitchFamily="34" charset="0"/>
              <a:buChar char="•"/>
            </a:pPr>
            <a:r>
              <a:rPr lang="en-US" sz="1200" kern="1200" dirty="0" smtClean="0">
                <a:solidFill>
                  <a:schemeClr val="tx1"/>
                </a:solidFill>
                <a:latin typeface="+mn-lt"/>
                <a:ea typeface="+mn-ea"/>
                <a:cs typeface="+mn-cs"/>
              </a:rPr>
              <a:t>Nominated roles/persons have clear obligations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Required actions are clearly identified</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Sufficient resources need to be provided – to:</a:t>
            </a:r>
          </a:p>
          <a:p>
            <a:pPr lvl="1">
              <a:buFont typeface="Arial" pitchFamily="34" charset="0"/>
              <a:buChar char="•"/>
            </a:pPr>
            <a:r>
              <a:rPr lang="en-US" sz="1200" kern="1200" dirty="0" smtClean="0">
                <a:solidFill>
                  <a:schemeClr val="tx1"/>
                </a:solidFill>
                <a:latin typeface="+mn-lt"/>
                <a:ea typeface="+mn-ea"/>
                <a:cs typeface="+mn-cs"/>
              </a:rPr>
              <a:t>Enable sufficient and relevant monitoring to occur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Ensure there is sufficient ‘time’ to do what is required</a:t>
            </a:r>
            <a:endParaRPr lang="en-AU" sz="1200" kern="1200" dirty="0" smtClean="0">
              <a:solidFill>
                <a:schemeClr val="tx1"/>
              </a:solidFill>
              <a:latin typeface="+mn-lt"/>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124</a:t>
            </a:fld>
            <a:endParaRPr lang="en-US" dirty="0"/>
          </a:p>
        </p:txBody>
      </p:sp>
    </p:spTree>
    <p:extLst>
      <p:ext uri="{BB962C8B-B14F-4D97-AF65-F5344CB8AC3E}">
        <p14:creationId xmlns:p14="http://schemas.microsoft.com/office/powerpoint/2010/main" val="129697786"/>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relevant points to consider:</a:t>
            </a:r>
          </a:p>
          <a:p>
            <a:pPr>
              <a:buFont typeface="Arial" pitchFamily="34" charset="0"/>
              <a:buChar char="•"/>
            </a:pPr>
            <a:r>
              <a:rPr lang="en-AU" sz="1200" kern="1200" dirty="0" smtClean="0">
                <a:solidFill>
                  <a:schemeClr val="tx1"/>
                </a:solidFill>
                <a:latin typeface="+mn-lt"/>
                <a:ea typeface="+mn-ea"/>
                <a:cs typeface="+mn-cs"/>
              </a:rPr>
              <a:t>Attention must be paid to obtaining 360˚ feedback – that is, there should be data, evidence and/or input from:</a:t>
            </a:r>
          </a:p>
          <a:p>
            <a:pPr lvl="1">
              <a:buFont typeface="Arial" pitchFamily="34" charset="0"/>
              <a:buChar char="•"/>
            </a:pPr>
            <a:r>
              <a:rPr lang="en-US" sz="1200" kern="1200" dirty="0" smtClean="0">
                <a:solidFill>
                  <a:schemeClr val="tx1"/>
                </a:solidFill>
                <a:latin typeface="+mn-lt"/>
                <a:ea typeface="+mn-ea"/>
                <a:cs typeface="+mn-cs"/>
              </a:rPr>
              <a:t>Those </a:t>
            </a:r>
            <a:r>
              <a:rPr lang="en-US" sz="1200" i="1" kern="1200" dirty="0" smtClean="0">
                <a:solidFill>
                  <a:schemeClr val="tx1"/>
                </a:solidFill>
                <a:latin typeface="+mn-lt"/>
                <a:ea typeface="+mn-ea"/>
                <a:cs typeface="+mn-cs"/>
              </a:rPr>
              <a:t>impacted</a:t>
            </a:r>
            <a:r>
              <a:rPr lang="en-US" sz="1200" kern="1200" dirty="0" smtClean="0">
                <a:solidFill>
                  <a:schemeClr val="tx1"/>
                </a:solidFill>
                <a:latin typeface="+mn-lt"/>
                <a:ea typeface="+mn-ea"/>
                <a:cs typeface="+mn-cs"/>
              </a:rPr>
              <a:t> by the policy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Those expected to </a:t>
            </a:r>
            <a:r>
              <a:rPr lang="en-US" sz="1200" i="1" kern="1200" dirty="0" smtClean="0">
                <a:solidFill>
                  <a:schemeClr val="tx1"/>
                </a:solidFill>
                <a:latin typeface="+mn-lt"/>
                <a:ea typeface="+mn-ea"/>
                <a:cs typeface="+mn-cs"/>
              </a:rPr>
              <a:t>implement</a:t>
            </a:r>
            <a:r>
              <a:rPr lang="en-US" sz="1200" kern="1200" dirty="0" smtClean="0">
                <a:solidFill>
                  <a:schemeClr val="tx1"/>
                </a:solidFill>
                <a:latin typeface="+mn-lt"/>
                <a:ea typeface="+mn-ea"/>
                <a:cs typeface="+mn-cs"/>
              </a:rPr>
              <a:t> the policy</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Training may need to be provided to those who have responsibility for monitoring – it can never be assumed the responsible person automatically knows:</a:t>
            </a:r>
          </a:p>
          <a:p>
            <a:pPr lvl="1">
              <a:buFont typeface="Arial" pitchFamily="34" charset="0"/>
              <a:buChar char="•"/>
            </a:pPr>
            <a:r>
              <a:rPr lang="en-US" sz="1200" kern="1200" dirty="0" smtClean="0">
                <a:solidFill>
                  <a:schemeClr val="tx1"/>
                </a:solidFill>
                <a:latin typeface="+mn-lt"/>
                <a:ea typeface="+mn-ea"/>
                <a:cs typeface="+mn-cs"/>
              </a:rPr>
              <a:t>What to do</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How to do it</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The context for the activity must be a foremost consideration – meaning:</a:t>
            </a:r>
          </a:p>
          <a:p>
            <a:pPr lvl="1">
              <a:buFont typeface="Arial" pitchFamily="34" charset="0"/>
              <a:buChar char="•"/>
            </a:pPr>
            <a:r>
              <a:rPr lang="en-US" sz="1200" kern="1200" dirty="0" smtClean="0">
                <a:solidFill>
                  <a:schemeClr val="tx1"/>
                </a:solidFill>
                <a:latin typeface="+mn-lt"/>
                <a:ea typeface="+mn-ea"/>
                <a:cs typeface="+mn-cs"/>
              </a:rPr>
              <a:t>Times change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It is critical the monitoring process factors in the reality ‘of the moment’ and the relevant internal and external factors which apply at the time</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The process should seek to produce two classifications of data – in particular:</a:t>
            </a:r>
          </a:p>
          <a:p>
            <a:pPr lvl="1">
              <a:buFont typeface="Arial" pitchFamily="34" charset="0"/>
              <a:buChar char="•"/>
            </a:pPr>
            <a:r>
              <a:rPr lang="en-US" sz="1200" kern="1200" dirty="0" smtClean="0">
                <a:solidFill>
                  <a:schemeClr val="tx1"/>
                </a:solidFill>
                <a:latin typeface="+mn-lt"/>
                <a:ea typeface="+mn-ea"/>
                <a:cs typeface="+mn-cs"/>
              </a:rPr>
              <a:t>Quantitative data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Qualitative information </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125</a:t>
            </a:fld>
            <a:endParaRPr lang="en-US" dirty="0"/>
          </a:p>
        </p:txBody>
      </p:sp>
    </p:spTree>
    <p:extLst>
      <p:ext uri="{BB962C8B-B14F-4D97-AF65-F5344CB8AC3E}">
        <p14:creationId xmlns:p14="http://schemas.microsoft.com/office/powerpoint/2010/main" val="436557736"/>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relevant points to consider:</a:t>
            </a:r>
          </a:p>
          <a:p>
            <a:pPr>
              <a:buFont typeface="Arial" pitchFamily="34" charset="0"/>
              <a:buChar char="•"/>
            </a:pPr>
            <a:r>
              <a:rPr lang="en-AU" sz="1200" kern="1200" dirty="0" smtClean="0">
                <a:solidFill>
                  <a:schemeClr val="tx1"/>
                </a:solidFill>
                <a:latin typeface="+mn-lt"/>
                <a:ea typeface="+mn-ea"/>
                <a:cs typeface="+mn-cs"/>
              </a:rPr>
              <a:t>The process should generate comparative data – that will compare projected or anticipated targets against actual outcomes</a:t>
            </a:r>
          </a:p>
          <a:p>
            <a:pPr>
              <a:buFont typeface="Arial" pitchFamily="34" charset="0"/>
              <a:buChar char="•"/>
            </a:pPr>
            <a:r>
              <a:rPr lang="en-AU" sz="1200" kern="1200" dirty="0" smtClean="0">
                <a:solidFill>
                  <a:schemeClr val="tx1"/>
                </a:solidFill>
                <a:latin typeface="+mn-lt"/>
                <a:ea typeface="+mn-ea"/>
                <a:cs typeface="+mn-cs"/>
              </a:rPr>
              <a:t>There </a:t>
            </a:r>
            <a:r>
              <a:rPr lang="en-AU" sz="1200" i="1" kern="1200" dirty="0" smtClean="0">
                <a:solidFill>
                  <a:schemeClr val="tx1"/>
                </a:solidFill>
                <a:latin typeface="+mn-lt"/>
                <a:ea typeface="+mn-ea"/>
                <a:cs typeface="+mn-cs"/>
              </a:rPr>
              <a:t>may</a:t>
            </a:r>
            <a:r>
              <a:rPr lang="en-AU" sz="1200" kern="1200" dirty="0" smtClean="0">
                <a:solidFill>
                  <a:schemeClr val="tx1"/>
                </a:solidFill>
                <a:latin typeface="+mn-lt"/>
                <a:ea typeface="+mn-ea"/>
                <a:cs typeface="+mn-cs"/>
              </a:rPr>
              <a:t> be a restriction on the number of policies which can be/have to be monitored – in some cases:</a:t>
            </a:r>
          </a:p>
          <a:p>
            <a:pPr lvl="1">
              <a:buFont typeface="Arial" pitchFamily="34" charset="0"/>
              <a:buChar char="•"/>
            </a:pPr>
            <a:r>
              <a:rPr lang="en-US" sz="1200" kern="1200" dirty="0" smtClean="0">
                <a:solidFill>
                  <a:schemeClr val="tx1"/>
                </a:solidFill>
                <a:latin typeface="+mn-lt"/>
                <a:ea typeface="+mn-ea"/>
                <a:cs typeface="+mn-cs"/>
              </a:rPr>
              <a:t>Not all policies will have to be monitored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There may be a priority list of policies which need to be monitored</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Effort must be made to identify reasons for results which are generated – so:</a:t>
            </a:r>
          </a:p>
          <a:p>
            <a:pPr lvl="1">
              <a:buFont typeface="Arial" pitchFamily="34" charset="0"/>
              <a:buChar char="•"/>
            </a:pPr>
            <a:r>
              <a:rPr lang="en-US" sz="1200" kern="1200" dirty="0" smtClean="0">
                <a:solidFill>
                  <a:schemeClr val="tx1"/>
                </a:solidFill>
                <a:latin typeface="+mn-lt"/>
                <a:ea typeface="+mn-ea"/>
                <a:cs typeface="+mn-cs"/>
              </a:rPr>
              <a:t>The causes of outcomes can be determined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Actual causes are used as the basis for further thinking and (where appropriate) decision making and action</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126</a:t>
            </a:fld>
            <a:endParaRPr lang="en-US" dirty="0"/>
          </a:p>
        </p:txBody>
      </p:sp>
    </p:spTree>
    <p:extLst>
      <p:ext uri="{BB962C8B-B14F-4D97-AF65-F5344CB8AC3E}">
        <p14:creationId xmlns:p14="http://schemas.microsoft.com/office/powerpoint/2010/main" val="4079021868"/>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relevant points to consider:</a:t>
            </a:r>
          </a:p>
          <a:p>
            <a:pPr>
              <a:buFont typeface="Arial" pitchFamily="34" charset="0"/>
              <a:buChar char="•"/>
            </a:pPr>
            <a:r>
              <a:rPr lang="en-AU" sz="1200" kern="1200" dirty="0" smtClean="0">
                <a:solidFill>
                  <a:schemeClr val="tx1"/>
                </a:solidFill>
                <a:latin typeface="+mn-lt"/>
                <a:ea typeface="+mn-ea"/>
                <a:cs typeface="+mn-cs"/>
              </a:rPr>
              <a:t>The policy being monitored must be seen as part of ‘the bigger picture’ – that is, the way other polices are performing, so that an overall picture of organisational performance is obtained</a:t>
            </a:r>
          </a:p>
          <a:p>
            <a:pPr>
              <a:buFont typeface="Arial" pitchFamily="34" charset="0"/>
              <a:buChar char="•"/>
            </a:pPr>
            <a:r>
              <a:rPr lang="en-AU" sz="1200" kern="1200" dirty="0" smtClean="0">
                <a:solidFill>
                  <a:schemeClr val="tx1"/>
                </a:solidFill>
                <a:latin typeface="+mn-lt"/>
                <a:ea typeface="+mn-ea"/>
                <a:cs typeface="+mn-cs"/>
              </a:rPr>
              <a:t>Records should be generated and maintained regarding the monitoring process – so they:</a:t>
            </a:r>
          </a:p>
          <a:p>
            <a:pPr lvl="1">
              <a:buFont typeface="Arial" pitchFamily="34" charset="0"/>
              <a:buChar char="•"/>
            </a:pPr>
            <a:r>
              <a:rPr lang="en-US" sz="1200" kern="1200" dirty="0" smtClean="0">
                <a:solidFill>
                  <a:schemeClr val="tx1"/>
                </a:solidFill>
                <a:latin typeface="+mn-lt"/>
                <a:ea typeface="+mn-ea"/>
                <a:cs typeface="+mn-cs"/>
              </a:rPr>
              <a:t>Can be shared with others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Are available for future/further reference</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The monitoring activity/activities are not an end in themselves – it is to be expected the information generated from the process leads to some form of intentional action</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127</a:t>
            </a:fld>
            <a:endParaRPr lang="en-US" dirty="0"/>
          </a:p>
        </p:txBody>
      </p:sp>
    </p:spTree>
    <p:extLst>
      <p:ext uri="{BB962C8B-B14F-4D97-AF65-F5344CB8AC3E}">
        <p14:creationId xmlns:p14="http://schemas.microsoft.com/office/powerpoint/2010/main" val="1720092509"/>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indicates making </a:t>
            </a:r>
            <a:r>
              <a:rPr lang="en-AU" sz="1200" kern="1200" dirty="0" smtClean="0">
                <a:solidFill>
                  <a:schemeClr val="tx1"/>
                </a:solidFill>
                <a:latin typeface="+mn-lt"/>
                <a:ea typeface="+mn-ea"/>
                <a:cs typeface="+mn-cs"/>
              </a:rPr>
              <a:t>no changes at all to a policy can be a legitimate response in some cases where evaluations determine:</a:t>
            </a:r>
          </a:p>
          <a:p>
            <a:pPr>
              <a:buFont typeface="Arial" pitchFamily="34" charset="0"/>
              <a:buChar char="•"/>
            </a:pPr>
            <a:r>
              <a:rPr lang="en-AU" sz="1200" kern="1200" dirty="0" smtClean="0">
                <a:solidFill>
                  <a:schemeClr val="tx1"/>
                </a:solidFill>
                <a:latin typeface="+mn-lt"/>
                <a:ea typeface="+mn-ea"/>
                <a:cs typeface="+mn-cs"/>
              </a:rPr>
              <a:t>The policy is working as required/expected – and everyone is satisfied with the outcomes being produced</a:t>
            </a:r>
          </a:p>
          <a:p>
            <a:pPr>
              <a:buFont typeface="Arial" pitchFamily="34" charset="0"/>
              <a:buChar char="•"/>
            </a:pPr>
            <a:r>
              <a:rPr lang="en-AU" sz="1200" kern="1200" dirty="0" smtClean="0">
                <a:solidFill>
                  <a:schemeClr val="tx1"/>
                </a:solidFill>
                <a:latin typeface="+mn-lt"/>
                <a:ea typeface="+mn-ea"/>
                <a:cs typeface="+mn-cs"/>
              </a:rPr>
              <a:t>The results being generated are satisfactory enough – and do not warrant extra time, energy or resources being spent trying to improve them or their outcomes</a:t>
            </a:r>
          </a:p>
          <a:p>
            <a:pPr>
              <a:buFont typeface="Arial" pitchFamily="34" charset="0"/>
              <a:buChar char="•"/>
            </a:pPr>
            <a:r>
              <a:rPr lang="en-AU" sz="1200" kern="1200" dirty="0" smtClean="0">
                <a:solidFill>
                  <a:schemeClr val="tx1"/>
                </a:solidFill>
                <a:latin typeface="+mn-lt"/>
                <a:ea typeface="+mn-ea"/>
                <a:cs typeface="+mn-cs"/>
              </a:rPr>
              <a:t>There needs to be more time given to the policy/initiative to see how things turn out in the longer run – in reality, perhaps the initiative has not had long enough to enable any valid conclusions to be drawn </a:t>
            </a:r>
            <a:r>
              <a:rPr lang="en-AU" sz="1200" i="1" kern="1200" dirty="0" smtClean="0">
                <a:solidFill>
                  <a:schemeClr val="tx1"/>
                </a:solidFill>
                <a:latin typeface="+mn-lt"/>
                <a:ea typeface="+mn-ea"/>
                <a:cs typeface="+mn-cs"/>
              </a:rPr>
              <a:t>at this stage</a:t>
            </a:r>
            <a:r>
              <a:rPr lang="en-AU" sz="1200" kern="1200" dirty="0" smtClean="0">
                <a:solidFill>
                  <a:schemeClr val="tx1"/>
                </a:solidFill>
                <a:latin typeface="+mn-lt"/>
                <a:ea typeface="+mn-ea"/>
                <a:cs typeface="+mn-cs"/>
              </a:rPr>
              <a:t>. </a:t>
            </a:r>
          </a:p>
          <a:p>
            <a:endParaRPr lang="en-AU" sz="1200"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Note </a:t>
            </a:r>
            <a:r>
              <a:rPr lang="en-AU" sz="1200" kern="1200" dirty="0" smtClean="0">
                <a:solidFill>
                  <a:schemeClr val="tx1"/>
                </a:solidFill>
                <a:latin typeface="+mn-lt"/>
                <a:ea typeface="+mn-ea"/>
                <a:cs typeface="+mn-cs"/>
              </a:rPr>
              <a:t>taking no action is an acceptable and responsible response where it is a </a:t>
            </a:r>
            <a:r>
              <a:rPr lang="en-AU" sz="1200" i="1" kern="1200" dirty="0" smtClean="0">
                <a:solidFill>
                  <a:schemeClr val="tx1"/>
                </a:solidFill>
                <a:latin typeface="+mn-lt"/>
                <a:ea typeface="+mn-ea"/>
                <a:cs typeface="+mn-cs"/>
              </a:rPr>
              <a:t>reasoned</a:t>
            </a:r>
            <a:r>
              <a:rPr lang="en-AU" sz="1200" kern="1200" dirty="0" smtClean="0">
                <a:solidFill>
                  <a:schemeClr val="tx1"/>
                </a:solidFill>
                <a:latin typeface="+mn-lt"/>
                <a:ea typeface="+mn-ea"/>
                <a:cs typeface="+mn-cs"/>
              </a:rPr>
              <a:t> one – this response is not acceptable where it is applied simply because people cannot be bothered doing anything else.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128</a:t>
            </a:fld>
            <a:endParaRPr lang="en-US" dirty="0"/>
          </a:p>
        </p:txBody>
      </p:sp>
    </p:spTree>
    <p:extLst>
      <p:ext uri="{BB962C8B-B14F-4D97-AF65-F5344CB8AC3E}">
        <p14:creationId xmlns:p14="http://schemas.microsoft.com/office/powerpoint/2010/main" val="1656991219"/>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identifies possible responses to positive outcomes </a:t>
            </a:r>
            <a:r>
              <a:rPr lang="en-AU" sz="1200" kern="1200" dirty="0" smtClean="0">
                <a:solidFill>
                  <a:schemeClr val="tx1"/>
                </a:solidFill>
                <a:latin typeface="+mn-lt"/>
                <a:ea typeface="+mn-ea"/>
                <a:cs typeface="+mn-cs"/>
              </a:rPr>
              <a:t>of evaluations:</a:t>
            </a:r>
          </a:p>
          <a:p>
            <a:pPr>
              <a:buFont typeface="Arial" pitchFamily="34" charset="0"/>
              <a:buChar char="•"/>
            </a:pPr>
            <a:r>
              <a:rPr lang="en-AU" sz="1200" kern="1200" dirty="0" smtClean="0">
                <a:solidFill>
                  <a:schemeClr val="tx1"/>
                </a:solidFill>
                <a:latin typeface="+mn-lt"/>
                <a:ea typeface="+mn-ea"/>
                <a:cs typeface="+mn-cs"/>
              </a:rPr>
              <a:t>Reviewing and revising policies – to:</a:t>
            </a:r>
          </a:p>
          <a:p>
            <a:pPr lvl="1">
              <a:buFont typeface="Arial" pitchFamily="34" charset="0"/>
              <a:buChar char="•"/>
            </a:pPr>
            <a:r>
              <a:rPr lang="en-AU" sz="1200" kern="1200" dirty="0" smtClean="0">
                <a:solidFill>
                  <a:schemeClr val="tx1"/>
                </a:solidFill>
                <a:latin typeface="+mn-lt"/>
                <a:ea typeface="+mn-ea"/>
                <a:cs typeface="+mn-cs"/>
              </a:rPr>
              <a:t>Create enhanced objectives supported by what the data says</a:t>
            </a:r>
          </a:p>
          <a:p>
            <a:pPr lvl="1">
              <a:buFont typeface="Arial" pitchFamily="34" charset="0"/>
              <a:buChar char="•"/>
            </a:pPr>
            <a:r>
              <a:rPr lang="en-AU" sz="1200" kern="1200" dirty="0" smtClean="0">
                <a:solidFill>
                  <a:schemeClr val="tx1"/>
                </a:solidFill>
                <a:latin typeface="+mn-lt"/>
                <a:ea typeface="+mn-ea"/>
                <a:cs typeface="+mn-cs"/>
              </a:rPr>
              <a:t>Expand goals</a:t>
            </a:r>
          </a:p>
          <a:p>
            <a:pPr lvl="1">
              <a:buFont typeface="Arial" pitchFamily="34" charset="0"/>
              <a:buChar char="•"/>
            </a:pPr>
            <a:r>
              <a:rPr lang="en-AU" sz="1200" kern="1200" dirty="0" smtClean="0">
                <a:solidFill>
                  <a:schemeClr val="tx1"/>
                </a:solidFill>
                <a:latin typeface="+mn-lt"/>
                <a:ea typeface="+mn-ea"/>
                <a:cs typeface="+mn-cs"/>
              </a:rPr>
              <a:t>Increase participants </a:t>
            </a:r>
          </a:p>
          <a:p>
            <a:pPr lvl="1">
              <a:buFont typeface="Arial" pitchFamily="34" charset="0"/>
              <a:buChar char="•"/>
            </a:pPr>
            <a:r>
              <a:rPr lang="en-AU" sz="1200" kern="1200" dirty="0" smtClean="0">
                <a:solidFill>
                  <a:schemeClr val="tx1"/>
                </a:solidFill>
                <a:latin typeface="+mn-lt"/>
                <a:ea typeface="+mn-ea"/>
                <a:cs typeface="+mn-cs"/>
              </a:rPr>
              <a:t>Extend timelines and the timeframe for the policy </a:t>
            </a:r>
          </a:p>
          <a:p>
            <a:pPr>
              <a:buFont typeface="Arial" pitchFamily="34" charset="0"/>
              <a:buChar char="•"/>
            </a:pPr>
            <a:r>
              <a:rPr lang="en-AU" sz="1200" kern="1200" dirty="0" smtClean="0">
                <a:solidFill>
                  <a:schemeClr val="tx1"/>
                </a:solidFill>
                <a:latin typeface="+mn-lt"/>
                <a:ea typeface="+mn-ea"/>
                <a:cs typeface="+mn-cs"/>
              </a:rPr>
              <a:t>Endorsing the </a:t>
            </a:r>
            <a:r>
              <a:rPr lang="en-AU" sz="1200" i="1" kern="1200" dirty="0" smtClean="0">
                <a:solidFill>
                  <a:schemeClr val="tx1"/>
                </a:solidFill>
                <a:latin typeface="+mn-lt"/>
                <a:ea typeface="+mn-ea"/>
                <a:cs typeface="+mn-cs"/>
              </a:rPr>
              <a:t>existing</a:t>
            </a:r>
            <a:r>
              <a:rPr lang="en-AU" sz="1200" kern="1200" dirty="0" smtClean="0">
                <a:solidFill>
                  <a:schemeClr val="tx1"/>
                </a:solidFill>
                <a:latin typeface="+mn-lt"/>
                <a:ea typeface="+mn-ea"/>
                <a:cs typeface="+mn-cs"/>
              </a:rPr>
              <a:t> policies – with a view to reproducing the previous results during the next monitoring/research cycle.</a:t>
            </a:r>
          </a:p>
          <a:p>
            <a:pPr lvl="1">
              <a:buFont typeface="Arial" pitchFamily="34" charset="0"/>
              <a:buChar char="•"/>
            </a:pPr>
            <a:r>
              <a:rPr lang="en-AU" sz="1200" kern="1200" dirty="0" smtClean="0">
                <a:solidFill>
                  <a:schemeClr val="tx1"/>
                </a:solidFill>
                <a:latin typeface="+mn-lt"/>
                <a:ea typeface="+mn-ea"/>
                <a:cs typeface="+mn-cs"/>
              </a:rPr>
              <a:t>This is acceptable where everyone is happy with things ‘as they are’ and do not want extra growth, revenue, productivity or other positive indicators</a:t>
            </a:r>
          </a:p>
          <a:p>
            <a:pPr>
              <a:buFont typeface="Arial" pitchFamily="34" charset="0"/>
              <a:buChar char="•"/>
            </a:pPr>
            <a:r>
              <a:rPr lang="en-AU" sz="1200" kern="1200" dirty="0" smtClean="0">
                <a:solidFill>
                  <a:schemeClr val="tx1"/>
                </a:solidFill>
                <a:latin typeface="+mn-lt"/>
                <a:ea typeface="+mn-ea"/>
                <a:cs typeface="+mn-cs"/>
              </a:rPr>
              <a:t>Producing revised/enhanced targets for outcomes – seeking to increase results for the next/designated time period or milestone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129</a:t>
            </a:fld>
            <a:endParaRPr lang="en-US" dirty="0"/>
          </a:p>
        </p:txBody>
      </p:sp>
    </p:spTree>
    <p:extLst>
      <p:ext uri="{BB962C8B-B14F-4D97-AF65-F5344CB8AC3E}">
        <p14:creationId xmlns:p14="http://schemas.microsoft.com/office/powerpoint/2010/main" val="1790365758"/>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identifies possible responses to positive outcomes </a:t>
            </a:r>
            <a:r>
              <a:rPr lang="en-AU" sz="1200" kern="1200" dirty="0" smtClean="0">
                <a:solidFill>
                  <a:schemeClr val="tx1"/>
                </a:solidFill>
                <a:latin typeface="+mn-lt"/>
                <a:ea typeface="+mn-ea"/>
                <a:cs typeface="+mn-cs"/>
              </a:rPr>
              <a:t>of evaluations:</a:t>
            </a:r>
          </a:p>
          <a:p>
            <a:pPr>
              <a:buFont typeface="Arial" pitchFamily="34" charset="0"/>
              <a:buChar char="•"/>
            </a:pPr>
            <a:r>
              <a:rPr lang="en-AU" sz="1200" kern="1200" dirty="0" smtClean="0">
                <a:solidFill>
                  <a:schemeClr val="tx1"/>
                </a:solidFill>
                <a:latin typeface="+mn-lt"/>
                <a:ea typeface="+mn-ea"/>
                <a:cs typeface="+mn-cs"/>
              </a:rPr>
              <a:t>Continuing support for initiatives /elements which have generated these results – in terms of:</a:t>
            </a:r>
          </a:p>
          <a:p>
            <a:pPr lvl="1">
              <a:buFont typeface="Arial" pitchFamily="34" charset="0"/>
              <a:buChar char="•"/>
            </a:pPr>
            <a:r>
              <a:rPr lang="en-AU" sz="1200" kern="1200" dirty="0" smtClean="0">
                <a:solidFill>
                  <a:schemeClr val="tx1"/>
                </a:solidFill>
                <a:latin typeface="+mn-lt"/>
                <a:ea typeface="+mn-ea"/>
                <a:cs typeface="+mn-cs"/>
              </a:rPr>
              <a:t>Funding – which may be:</a:t>
            </a:r>
          </a:p>
          <a:p>
            <a:pPr lvl="2">
              <a:buFont typeface="Arial" pitchFamily="34" charset="0"/>
              <a:buChar char="•"/>
            </a:pPr>
            <a:r>
              <a:rPr lang="en-AU" sz="1200" kern="1200" dirty="0" smtClean="0">
                <a:solidFill>
                  <a:schemeClr val="tx1"/>
                </a:solidFill>
                <a:latin typeface="+mn-lt"/>
                <a:ea typeface="+mn-ea"/>
                <a:cs typeface="+mn-cs"/>
              </a:rPr>
              <a:t>Maintained at current level</a:t>
            </a:r>
          </a:p>
          <a:p>
            <a:pPr lvl="2">
              <a:buFont typeface="Arial" pitchFamily="34" charset="0"/>
              <a:buChar char="•"/>
            </a:pPr>
            <a:r>
              <a:rPr lang="en-AU" sz="1200" kern="1200" dirty="0" smtClean="0">
                <a:solidFill>
                  <a:schemeClr val="tx1"/>
                </a:solidFill>
                <a:latin typeface="+mn-lt"/>
                <a:ea typeface="+mn-ea"/>
                <a:cs typeface="+mn-cs"/>
              </a:rPr>
              <a:t>Increased to support expansion of the policy/initiative</a:t>
            </a:r>
          </a:p>
          <a:p>
            <a:pPr lvl="2">
              <a:buFont typeface="Arial" pitchFamily="34" charset="0"/>
              <a:buChar char="•"/>
            </a:pPr>
            <a:r>
              <a:rPr lang="en-AU" sz="1200" kern="1200" dirty="0" smtClean="0">
                <a:solidFill>
                  <a:schemeClr val="tx1"/>
                </a:solidFill>
                <a:latin typeface="+mn-lt"/>
                <a:ea typeface="+mn-ea"/>
                <a:cs typeface="+mn-cs"/>
              </a:rPr>
              <a:t>Changed with reference to source of the money, access to funds, timing of availability of cash</a:t>
            </a:r>
          </a:p>
          <a:p>
            <a:pPr lvl="1">
              <a:buFont typeface="Arial" pitchFamily="34" charset="0"/>
              <a:buChar char="•"/>
            </a:pPr>
            <a:r>
              <a:rPr lang="en-AU" sz="1200" kern="1200" dirty="0" smtClean="0">
                <a:solidFill>
                  <a:schemeClr val="tx1"/>
                </a:solidFill>
                <a:latin typeface="+mn-lt"/>
                <a:ea typeface="+mn-ea"/>
                <a:cs typeface="+mn-cs"/>
              </a:rPr>
              <a:t>Moral support – from management and stakeholders to:</a:t>
            </a:r>
          </a:p>
          <a:p>
            <a:pPr lvl="2">
              <a:buFont typeface="Arial" pitchFamily="34" charset="0"/>
              <a:buChar char="•"/>
            </a:pPr>
            <a:r>
              <a:rPr lang="en-AU" sz="1200" kern="1200" dirty="0" smtClean="0">
                <a:solidFill>
                  <a:schemeClr val="tx1"/>
                </a:solidFill>
                <a:latin typeface="+mn-lt"/>
                <a:ea typeface="+mn-ea"/>
                <a:cs typeface="+mn-cs"/>
              </a:rPr>
              <a:t>Encourage continued implementation/commitment </a:t>
            </a:r>
          </a:p>
          <a:p>
            <a:pPr lvl="2">
              <a:buFont typeface="Arial" pitchFamily="34" charset="0"/>
              <a:buChar char="•"/>
            </a:pPr>
            <a:r>
              <a:rPr lang="en-AU" sz="1200" kern="1200" dirty="0" smtClean="0">
                <a:solidFill>
                  <a:schemeClr val="tx1"/>
                </a:solidFill>
                <a:latin typeface="+mn-lt"/>
                <a:ea typeface="+mn-ea"/>
                <a:cs typeface="+mn-cs"/>
              </a:rPr>
              <a:t>Acknowledge the compliance already received from those impacted by the policy</a:t>
            </a:r>
          </a:p>
          <a:p>
            <a:pPr lvl="1">
              <a:buFont typeface="Arial" pitchFamily="34" charset="0"/>
              <a:buChar char="•"/>
            </a:pPr>
            <a:r>
              <a:rPr lang="en-AU" sz="1200" kern="1200" dirty="0" smtClean="0">
                <a:solidFill>
                  <a:schemeClr val="tx1"/>
                </a:solidFill>
                <a:latin typeface="+mn-lt"/>
                <a:ea typeface="+mn-ea"/>
                <a:cs typeface="+mn-cs"/>
              </a:rPr>
              <a:t>Other resources – which may mean:</a:t>
            </a:r>
          </a:p>
          <a:p>
            <a:pPr lvl="2">
              <a:buFont typeface="Arial" pitchFamily="34" charset="0"/>
              <a:buChar char="•"/>
            </a:pPr>
            <a:r>
              <a:rPr lang="en-AU" sz="1200" kern="1200" dirty="0" smtClean="0">
                <a:solidFill>
                  <a:schemeClr val="tx1"/>
                </a:solidFill>
                <a:latin typeface="+mn-lt"/>
                <a:ea typeface="+mn-ea"/>
                <a:cs typeface="+mn-cs"/>
              </a:rPr>
              <a:t>Providing extra staff and/or physical resources to support growth</a:t>
            </a:r>
          </a:p>
          <a:p>
            <a:pPr lvl="2">
              <a:buFont typeface="Arial" pitchFamily="34" charset="0"/>
              <a:buChar char="•"/>
            </a:pPr>
            <a:r>
              <a:rPr lang="en-AU" sz="1200" kern="1200" dirty="0" smtClean="0">
                <a:solidFill>
                  <a:schemeClr val="tx1"/>
                </a:solidFill>
                <a:latin typeface="+mn-lt"/>
                <a:ea typeface="+mn-ea"/>
                <a:cs typeface="+mn-cs"/>
              </a:rPr>
              <a:t>Supplying more hours for personnel to demonstrate required compliance</a:t>
            </a:r>
          </a:p>
          <a:p>
            <a:pPr lvl="2">
              <a:buFont typeface="Arial" pitchFamily="34" charset="0"/>
              <a:buChar char="•"/>
            </a:pPr>
            <a:r>
              <a:rPr lang="en-AU" sz="1200" kern="1200" dirty="0" smtClean="0">
                <a:solidFill>
                  <a:schemeClr val="tx1"/>
                </a:solidFill>
                <a:latin typeface="+mn-lt"/>
                <a:ea typeface="+mn-ea"/>
                <a:cs typeface="+mn-cs"/>
              </a:rPr>
              <a:t>Arranging for more or different physical resources</a:t>
            </a:r>
          </a:p>
          <a:p>
            <a:pPr lvl="2">
              <a:buFont typeface="Arial" pitchFamily="34" charset="0"/>
              <a:buChar char="•"/>
            </a:pPr>
            <a:r>
              <a:rPr lang="en-AU" sz="1200" kern="1200" dirty="0" smtClean="0">
                <a:solidFill>
                  <a:schemeClr val="tx1"/>
                </a:solidFill>
                <a:latin typeface="+mn-lt"/>
                <a:ea typeface="+mn-ea"/>
                <a:cs typeface="+mn-cs"/>
              </a:rPr>
              <a:t>Changing the mix of employees involved in implementation</a:t>
            </a:r>
          </a:p>
          <a:p>
            <a:pPr lvl="2">
              <a:buFont typeface="Arial" pitchFamily="34" charset="0"/>
              <a:buChar char="•"/>
            </a:pPr>
            <a:r>
              <a:rPr lang="en-AU" sz="1200" kern="1200" dirty="0" smtClean="0">
                <a:solidFill>
                  <a:schemeClr val="tx1"/>
                </a:solidFill>
                <a:latin typeface="+mn-lt"/>
                <a:ea typeface="+mn-ea"/>
                <a:cs typeface="+mn-cs"/>
              </a:rPr>
              <a:t>Altering supply protocols for physical resources</a:t>
            </a: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130</a:t>
            </a:fld>
            <a:endParaRPr lang="en-US" dirty="0"/>
          </a:p>
        </p:txBody>
      </p:sp>
    </p:spTree>
    <p:extLst>
      <p:ext uri="{BB962C8B-B14F-4D97-AF65-F5344CB8AC3E}">
        <p14:creationId xmlns:p14="http://schemas.microsoft.com/office/powerpoint/2010/main" val="2716443190"/>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identifies possible responses to positive outcomes </a:t>
            </a:r>
            <a:r>
              <a:rPr lang="en-AU" sz="1200" kern="1200" dirty="0" smtClean="0">
                <a:solidFill>
                  <a:schemeClr val="tx1"/>
                </a:solidFill>
                <a:latin typeface="+mn-lt"/>
                <a:ea typeface="+mn-ea"/>
                <a:cs typeface="+mn-cs"/>
              </a:rPr>
              <a:t>of evaluations:</a:t>
            </a:r>
          </a:p>
          <a:p>
            <a:pPr>
              <a:buFont typeface="Arial" pitchFamily="34" charset="0"/>
              <a:buChar char="•"/>
            </a:pPr>
            <a:r>
              <a:rPr lang="en-AU" sz="1200" kern="1200" dirty="0" smtClean="0">
                <a:solidFill>
                  <a:schemeClr val="tx1"/>
                </a:solidFill>
                <a:latin typeface="+mn-lt"/>
                <a:ea typeface="+mn-ea"/>
                <a:cs typeface="+mn-cs"/>
              </a:rPr>
              <a:t>Transferring lessons learned – as a result of these policies/initiatives to:</a:t>
            </a:r>
          </a:p>
          <a:p>
            <a:pPr lvl="1">
              <a:buFont typeface="Arial" pitchFamily="34" charset="0"/>
              <a:buChar char="•"/>
            </a:pPr>
            <a:r>
              <a:rPr lang="en-AU" sz="1200" kern="1200" dirty="0" smtClean="0">
                <a:solidFill>
                  <a:schemeClr val="tx1"/>
                </a:solidFill>
                <a:latin typeface="+mn-lt"/>
                <a:ea typeface="+mn-ea"/>
                <a:cs typeface="+mn-cs"/>
              </a:rPr>
              <a:t>Other topics within the organisation</a:t>
            </a:r>
          </a:p>
          <a:p>
            <a:pPr lvl="1">
              <a:buFont typeface="Arial" pitchFamily="34" charset="0"/>
              <a:buChar char="•"/>
            </a:pPr>
            <a:r>
              <a:rPr lang="en-AU" sz="1200" kern="1200" dirty="0" smtClean="0">
                <a:solidFill>
                  <a:schemeClr val="tx1"/>
                </a:solidFill>
                <a:latin typeface="+mn-lt"/>
                <a:ea typeface="+mn-ea"/>
                <a:cs typeface="+mn-cs"/>
              </a:rPr>
              <a:t>Other programs, proposals or initiatives</a:t>
            </a:r>
          </a:p>
          <a:p>
            <a:pPr>
              <a:buFont typeface="Arial" pitchFamily="34" charset="0"/>
              <a:buChar char="•"/>
            </a:pPr>
            <a:r>
              <a:rPr lang="en-AU" sz="1200" kern="1200" dirty="0" smtClean="0">
                <a:solidFill>
                  <a:schemeClr val="tx1"/>
                </a:solidFill>
                <a:latin typeface="+mn-lt"/>
                <a:ea typeface="+mn-ea"/>
                <a:cs typeface="+mn-cs"/>
              </a:rPr>
              <a:t>Promoting success – by:</a:t>
            </a:r>
          </a:p>
          <a:p>
            <a:pPr lvl="1">
              <a:buFont typeface="Arial" pitchFamily="34" charset="0"/>
              <a:buChar char="•"/>
            </a:pPr>
            <a:r>
              <a:rPr lang="en-AU" sz="1200" kern="1200" dirty="0" smtClean="0">
                <a:solidFill>
                  <a:schemeClr val="tx1"/>
                </a:solidFill>
                <a:latin typeface="+mn-lt"/>
                <a:ea typeface="+mn-ea"/>
                <a:cs typeface="+mn-cs"/>
              </a:rPr>
              <a:t>Celebrating with those who implement the policy and are responsible for its success</a:t>
            </a:r>
          </a:p>
          <a:p>
            <a:pPr lvl="1">
              <a:buFont typeface="Arial" pitchFamily="34" charset="0"/>
              <a:buChar char="•"/>
            </a:pPr>
            <a:r>
              <a:rPr lang="en-AU" sz="1200" kern="1200" dirty="0" smtClean="0">
                <a:solidFill>
                  <a:schemeClr val="tx1"/>
                </a:solidFill>
                <a:latin typeface="+mn-lt"/>
                <a:ea typeface="+mn-ea"/>
                <a:cs typeface="+mn-cs"/>
              </a:rPr>
              <a:t>Congratulating personnel</a:t>
            </a:r>
          </a:p>
          <a:p>
            <a:pPr lvl="1">
              <a:buFont typeface="Arial" pitchFamily="34" charset="0"/>
              <a:buChar char="•"/>
            </a:pPr>
            <a:r>
              <a:rPr lang="en-AU" sz="1200" kern="1200" dirty="0" smtClean="0">
                <a:solidFill>
                  <a:schemeClr val="tx1"/>
                </a:solidFill>
                <a:latin typeface="+mn-lt"/>
                <a:ea typeface="+mn-ea"/>
                <a:cs typeface="+mn-cs"/>
              </a:rPr>
              <a:t>Rewarding designated/key as/if deemed appropriate</a:t>
            </a:r>
          </a:p>
          <a:p>
            <a:pPr>
              <a:buFont typeface="Arial" pitchFamily="34" charset="0"/>
              <a:buChar char="•"/>
            </a:pPr>
            <a:r>
              <a:rPr lang="en-AU" sz="1200" kern="1200" dirty="0" smtClean="0">
                <a:solidFill>
                  <a:schemeClr val="tx1"/>
                </a:solidFill>
                <a:latin typeface="+mn-lt"/>
                <a:ea typeface="+mn-ea"/>
                <a:cs typeface="+mn-cs"/>
              </a:rPr>
              <a:t>Developing associated policies – which: </a:t>
            </a:r>
          </a:p>
          <a:p>
            <a:pPr lvl="1">
              <a:buFont typeface="Arial" pitchFamily="34" charset="0"/>
              <a:buChar char="•"/>
            </a:pPr>
            <a:r>
              <a:rPr lang="en-AU" sz="1200" kern="1200" dirty="0" smtClean="0">
                <a:solidFill>
                  <a:schemeClr val="tx1"/>
                </a:solidFill>
                <a:latin typeface="+mn-lt"/>
                <a:ea typeface="+mn-ea"/>
                <a:cs typeface="+mn-cs"/>
              </a:rPr>
              <a:t>Expand the focus of the </a:t>
            </a:r>
            <a:r>
              <a:rPr lang="en-AU" sz="1200" i="1" kern="1200" dirty="0" smtClean="0">
                <a:solidFill>
                  <a:schemeClr val="tx1"/>
                </a:solidFill>
                <a:latin typeface="+mn-lt"/>
                <a:ea typeface="+mn-ea"/>
                <a:cs typeface="+mn-cs"/>
              </a:rPr>
              <a:t>other policies</a:t>
            </a:r>
            <a:r>
              <a:rPr lang="en-AU" sz="1200" kern="1200" dirty="0" smtClean="0">
                <a:solidFill>
                  <a:schemeClr val="tx1"/>
                </a:solidFill>
                <a:latin typeface="+mn-lt"/>
                <a:ea typeface="+mn-ea"/>
                <a:cs typeface="+mn-cs"/>
              </a:rPr>
              <a:t> on the basis of lessons learned from </a:t>
            </a:r>
            <a:r>
              <a:rPr lang="en-AU" sz="1200" i="1" kern="1200" dirty="0" smtClean="0">
                <a:solidFill>
                  <a:schemeClr val="tx1"/>
                </a:solidFill>
                <a:latin typeface="+mn-lt"/>
                <a:ea typeface="+mn-ea"/>
                <a:cs typeface="+mn-cs"/>
              </a:rPr>
              <a:t>this policy</a:t>
            </a:r>
            <a:endParaRPr lang="en-AU" sz="1200" kern="1200" dirty="0" smtClean="0">
              <a:solidFill>
                <a:schemeClr val="tx1"/>
              </a:solidFill>
              <a:latin typeface="+mn-lt"/>
              <a:ea typeface="+mn-ea"/>
              <a:cs typeface="+mn-cs"/>
            </a:endParaRPr>
          </a:p>
          <a:p>
            <a:pPr lvl="1">
              <a:buFont typeface="Arial" pitchFamily="34" charset="0"/>
              <a:buChar char="•"/>
            </a:pPr>
            <a:r>
              <a:rPr lang="en-AU" sz="1200" kern="1200" dirty="0" smtClean="0">
                <a:solidFill>
                  <a:schemeClr val="tx1"/>
                </a:solidFill>
                <a:latin typeface="+mn-lt"/>
                <a:ea typeface="+mn-ea"/>
                <a:cs typeface="+mn-cs"/>
              </a:rPr>
              <a:t>Extend the scope of the initial policy – so its impacts and benefits are more widespread.</a:t>
            </a: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131</a:t>
            </a:fld>
            <a:endParaRPr lang="en-US" dirty="0"/>
          </a:p>
        </p:txBody>
      </p:sp>
    </p:spTree>
    <p:extLst>
      <p:ext uri="{BB962C8B-B14F-4D97-AF65-F5344CB8AC3E}">
        <p14:creationId xmlns:p14="http://schemas.microsoft.com/office/powerpoint/2010/main" val="110962015"/>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identifies possible responses to negative outcomes </a:t>
            </a:r>
            <a:r>
              <a:rPr lang="en-AU" sz="1200" kern="1200" dirty="0" smtClean="0">
                <a:solidFill>
                  <a:schemeClr val="tx1"/>
                </a:solidFill>
                <a:latin typeface="+mn-lt"/>
                <a:ea typeface="+mn-ea"/>
                <a:cs typeface="+mn-cs"/>
              </a:rPr>
              <a:t>of evaluations:</a:t>
            </a:r>
          </a:p>
          <a:p>
            <a:pPr>
              <a:buFont typeface="Arial" pitchFamily="34" charset="0"/>
              <a:buChar char="•"/>
            </a:pPr>
            <a:r>
              <a:rPr lang="en-AU" sz="1200" kern="1200" dirty="0" smtClean="0">
                <a:solidFill>
                  <a:schemeClr val="tx1"/>
                </a:solidFill>
                <a:latin typeface="+mn-lt"/>
                <a:ea typeface="+mn-ea"/>
                <a:cs typeface="+mn-cs"/>
              </a:rPr>
              <a:t>Holding a formal enquiry into the outcomes – which should:</a:t>
            </a:r>
          </a:p>
          <a:p>
            <a:pPr lvl="1">
              <a:buFont typeface="Arial" pitchFamily="34" charset="0"/>
              <a:buChar char="•"/>
            </a:pPr>
            <a:r>
              <a:rPr lang="en-AU" sz="1200" kern="1200" dirty="0" smtClean="0">
                <a:solidFill>
                  <a:schemeClr val="tx1"/>
                </a:solidFill>
                <a:latin typeface="+mn-lt"/>
                <a:ea typeface="+mn-ea"/>
                <a:cs typeface="+mn-cs"/>
              </a:rPr>
              <a:t>Involve those who implement the policy and are impacted by it </a:t>
            </a:r>
          </a:p>
          <a:p>
            <a:pPr lvl="1">
              <a:buFont typeface="Arial" pitchFamily="34" charset="0"/>
              <a:buChar char="•"/>
            </a:pPr>
            <a:r>
              <a:rPr lang="en-AU" sz="1200" kern="1200" dirty="0" smtClean="0">
                <a:solidFill>
                  <a:schemeClr val="tx1"/>
                </a:solidFill>
                <a:latin typeface="+mn-lt"/>
                <a:ea typeface="+mn-ea"/>
                <a:cs typeface="+mn-cs"/>
              </a:rPr>
              <a:t>Include all stakeholders</a:t>
            </a:r>
          </a:p>
          <a:p>
            <a:pPr lvl="1">
              <a:buFont typeface="Arial" pitchFamily="34" charset="0"/>
              <a:buChar char="•"/>
            </a:pPr>
            <a:r>
              <a:rPr lang="en-AU" sz="1200" kern="1200" dirty="0" smtClean="0">
                <a:solidFill>
                  <a:schemeClr val="tx1"/>
                </a:solidFill>
                <a:latin typeface="+mn-lt"/>
                <a:ea typeface="+mn-ea"/>
                <a:cs typeface="+mn-cs"/>
              </a:rPr>
              <a:t>Check/confirm/verify the conclusions</a:t>
            </a:r>
          </a:p>
          <a:p>
            <a:pPr lvl="1">
              <a:buFont typeface="Arial" pitchFamily="34" charset="0"/>
              <a:buChar char="•"/>
            </a:pPr>
            <a:r>
              <a:rPr lang="en-AU" sz="1200" kern="1200" dirty="0" smtClean="0">
                <a:solidFill>
                  <a:schemeClr val="tx1"/>
                </a:solidFill>
                <a:latin typeface="+mn-lt"/>
                <a:ea typeface="+mn-ea"/>
                <a:cs typeface="+mn-cs"/>
              </a:rPr>
              <a:t>Evaluate and interrogate the analysis which has produced the negative outcome</a:t>
            </a:r>
          </a:p>
          <a:p>
            <a:pPr>
              <a:buFont typeface="Arial" pitchFamily="34" charset="0"/>
              <a:buChar char="•"/>
            </a:pPr>
            <a:r>
              <a:rPr lang="en-AU" sz="1200" kern="1200" dirty="0" smtClean="0">
                <a:solidFill>
                  <a:schemeClr val="tx1"/>
                </a:solidFill>
                <a:latin typeface="+mn-lt"/>
                <a:ea typeface="+mn-ea"/>
                <a:cs typeface="+mn-cs"/>
              </a:rPr>
              <a:t>Conducting additional or different </a:t>
            </a:r>
            <a:r>
              <a:rPr lang="en-AU" sz="1200" i="1" kern="1200" dirty="0" smtClean="0">
                <a:solidFill>
                  <a:schemeClr val="tx1"/>
                </a:solidFill>
                <a:latin typeface="+mn-lt"/>
                <a:ea typeface="+mn-ea"/>
                <a:cs typeface="+mn-cs"/>
              </a:rPr>
              <a:t>research</a:t>
            </a:r>
            <a:r>
              <a:rPr lang="en-AU" sz="1200" kern="1200" dirty="0" smtClean="0">
                <a:solidFill>
                  <a:schemeClr val="tx1"/>
                </a:solidFill>
                <a:latin typeface="+mn-lt"/>
                <a:ea typeface="+mn-ea"/>
                <a:cs typeface="+mn-cs"/>
              </a:rPr>
              <a:t> – to:</a:t>
            </a:r>
          </a:p>
          <a:p>
            <a:pPr lvl="1">
              <a:buFont typeface="Arial" pitchFamily="34" charset="0"/>
              <a:buChar char="•"/>
            </a:pPr>
            <a:r>
              <a:rPr lang="en-AU" sz="1200" kern="1200" dirty="0" smtClean="0">
                <a:solidFill>
                  <a:schemeClr val="tx1"/>
                </a:solidFill>
                <a:latin typeface="+mn-lt"/>
                <a:ea typeface="+mn-ea"/>
                <a:cs typeface="+mn-cs"/>
              </a:rPr>
              <a:t>Identify if results/outcomes are different</a:t>
            </a:r>
          </a:p>
          <a:p>
            <a:pPr lvl="1">
              <a:buFont typeface="Arial" pitchFamily="34" charset="0"/>
              <a:buChar char="•"/>
            </a:pPr>
            <a:r>
              <a:rPr lang="en-AU" sz="1200" kern="1200" dirty="0" smtClean="0">
                <a:solidFill>
                  <a:schemeClr val="tx1"/>
                </a:solidFill>
                <a:latin typeface="+mn-lt"/>
                <a:ea typeface="+mn-ea"/>
                <a:cs typeface="+mn-cs"/>
              </a:rPr>
              <a:t>Determine whether monitoring techniques and data collection is the reason for the  outcomes</a:t>
            </a:r>
          </a:p>
          <a:p>
            <a:pPr>
              <a:buFont typeface="Arial" pitchFamily="34" charset="0"/>
              <a:buChar char="•"/>
            </a:pPr>
            <a:r>
              <a:rPr lang="en-AU" sz="1200" kern="1200" dirty="0" smtClean="0">
                <a:solidFill>
                  <a:schemeClr val="tx1"/>
                </a:solidFill>
                <a:latin typeface="+mn-lt"/>
                <a:ea typeface="+mn-ea"/>
                <a:cs typeface="+mn-cs"/>
              </a:rPr>
              <a:t>Undertaking different data </a:t>
            </a:r>
            <a:r>
              <a:rPr lang="en-AU" sz="1200" i="1" kern="1200" dirty="0" smtClean="0">
                <a:solidFill>
                  <a:schemeClr val="tx1"/>
                </a:solidFill>
                <a:latin typeface="+mn-lt"/>
                <a:ea typeface="+mn-ea"/>
                <a:cs typeface="+mn-cs"/>
              </a:rPr>
              <a:t>analysis</a:t>
            </a:r>
            <a:r>
              <a:rPr lang="en-AU" sz="1200" kern="1200" dirty="0" smtClean="0">
                <a:solidFill>
                  <a:schemeClr val="tx1"/>
                </a:solidFill>
                <a:latin typeface="+mn-lt"/>
                <a:ea typeface="+mn-ea"/>
                <a:cs typeface="+mn-cs"/>
              </a:rPr>
              <a:t> techniques – to: </a:t>
            </a:r>
          </a:p>
          <a:p>
            <a:pPr lvl="1">
              <a:buFont typeface="Arial" pitchFamily="34" charset="0"/>
              <a:buChar char="•"/>
            </a:pPr>
            <a:r>
              <a:rPr lang="en-AU" sz="1200" kern="1200" dirty="0" smtClean="0">
                <a:solidFill>
                  <a:schemeClr val="tx1"/>
                </a:solidFill>
                <a:latin typeface="+mn-lt"/>
                <a:ea typeface="+mn-ea"/>
                <a:cs typeface="+mn-cs"/>
              </a:rPr>
              <a:t>See if the outcomes differ</a:t>
            </a:r>
          </a:p>
          <a:p>
            <a:pPr lvl="1">
              <a:buFont typeface="Arial" pitchFamily="34" charset="0"/>
              <a:buChar char="•"/>
            </a:pPr>
            <a:r>
              <a:rPr lang="en-AU" sz="1200" kern="1200" dirty="0" smtClean="0">
                <a:solidFill>
                  <a:schemeClr val="tx1"/>
                </a:solidFill>
                <a:latin typeface="+mn-lt"/>
                <a:ea typeface="+mn-ea"/>
                <a:cs typeface="+mn-cs"/>
              </a:rPr>
              <a:t>See if previous results are confirmed</a:t>
            </a:r>
          </a:p>
          <a:p>
            <a:pPr lvl="1">
              <a:buFont typeface="Arial" pitchFamily="34" charset="0"/>
              <a:buChar char="•"/>
            </a:pPr>
            <a:r>
              <a:rPr lang="en-AU" sz="1200" kern="1200" dirty="0" smtClean="0">
                <a:solidFill>
                  <a:schemeClr val="tx1"/>
                </a:solidFill>
                <a:latin typeface="+mn-lt"/>
                <a:ea typeface="+mn-ea"/>
                <a:cs typeface="+mn-cs"/>
              </a:rPr>
              <a:t>Confirm previous results </a:t>
            </a:r>
            <a:r>
              <a:rPr lang="en-AU" sz="1200" b="1" kern="1200" dirty="0" smtClean="0">
                <a:solidFill>
                  <a:schemeClr val="tx1"/>
                </a:solidFill>
                <a:latin typeface="+mn-lt"/>
                <a:ea typeface="+mn-ea"/>
                <a:cs typeface="+mn-cs"/>
              </a:rPr>
              <a:t>or</a:t>
            </a:r>
            <a:r>
              <a:rPr lang="en-AU" sz="1200" kern="1200" dirty="0" smtClean="0">
                <a:solidFill>
                  <a:schemeClr val="tx1"/>
                </a:solidFill>
                <a:latin typeface="+mn-lt"/>
                <a:ea typeface="+mn-ea"/>
                <a:cs typeface="+mn-cs"/>
              </a:rPr>
              <a:t> generate legitimate </a:t>
            </a:r>
            <a:r>
              <a:rPr lang="en-AU" sz="1200" i="1" kern="1200" dirty="0" smtClean="0">
                <a:solidFill>
                  <a:schemeClr val="tx1"/>
                </a:solidFill>
                <a:latin typeface="+mn-lt"/>
                <a:ea typeface="+mn-ea"/>
                <a:cs typeface="+mn-cs"/>
              </a:rPr>
              <a:t>alternative</a:t>
            </a:r>
            <a:r>
              <a:rPr lang="en-AU" sz="1200" kern="1200" dirty="0" smtClean="0">
                <a:solidFill>
                  <a:schemeClr val="tx1"/>
                </a:solidFill>
                <a:latin typeface="+mn-lt"/>
                <a:ea typeface="+mn-ea"/>
                <a:cs typeface="+mn-cs"/>
              </a:rPr>
              <a:t> data/outcomes</a:t>
            </a:r>
          </a:p>
          <a:p>
            <a:pPr>
              <a:buFont typeface="Arial" pitchFamily="34" charset="0"/>
              <a:buChar char="•"/>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132</a:t>
            </a:fld>
            <a:endParaRPr lang="en-US" dirty="0"/>
          </a:p>
        </p:txBody>
      </p:sp>
    </p:spTree>
    <p:extLst>
      <p:ext uri="{BB962C8B-B14F-4D97-AF65-F5344CB8AC3E}">
        <p14:creationId xmlns:p14="http://schemas.microsoft.com/office/powerpoint/2010/main" val="3408216845"/>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identifies possible responses to negative outcomes </a:t>
            </a:r>
            <a:r>
              <a:rPr lang="en-AU" sz="1200" kern="1200" dirty="0" smtClean="0">
                <a:solidFill>
                  <a:schemeClr val="tx1"/>
                </a:solidFill>
                <a:latin typeface="+mn-lt"/>
                <a:ea typeface="+mn-ea"/>
                <a:cs typeface="+mn-cs"/>
              </a:rPr>
              <a:t>of evaluations:</a:t>
            </a:r>
          </a:p>
          <a:p>
            <a:pPr>
              <a:buFont typeface="Arial" pitchFamily="34" charset="0"/>
              <a:buChar char="•"/>
            </a:pPr>
            <a:r>
              <a:rPr lang="en-AU" sz="1200" kern="1200" dirty="0" smtClean="0">
                <a:solidFill>
                  <a:schemeClr val="tx1"/>
                </a:solidFill>
                <a:latin typeface="+mn-lt"/>
                <a:ea typeface="+mn-ea"/>
                <a:cs typeface="+mn-cs"/>
              </a:rPr>
              <a:t>Reviewing and revising policies – to: </a:t>
            </a:r>
          </a:p>
          <a:p>
            <a:pPr lvl="1">
              <a:buFont typeface="Arial" pitchFamily="34" charset="0"/>
              <a:buChar char="•"/>
            </a:pPr>
            <a:r>
              <a:rPr lang="en-AU" sz="1200" kern="1200" dirty="0" smtClean="0">
                <a:solidFill>
                  <a:schemeClr val="tx1"/>
                </a:solidFill>
                <a:latin typeface="+mn-lt"/>
                <a:ea typeface="+mn-ea"/>
                <a:cs typeface="+mn-cs"/>
              </a:rPr>
              <a:t>Alter allocation of responsibilities of key persons where it is believed there is a demonstrable need to do so – that is, some people have not performed as expected/required and it is suspected this has caused the negative outcome</a:t>
            </a:r>
          </a:p>
          <a:p>
            <a:pPr lvl="1">
              <a:buFont typeface="Arial" pitchFamily="34" charset="0"/>
              <a:buChar char="•"/>
            </a:pPr>
            <a:r>
              <a:rPr lang="en-AU" sz="1200" kern="1200" dirty="0" smtClean="0">
                <a:solidFill>
                  <a:schemeClr val="tx1"/>
                </a:solidFill>
                <a:latin typeface="+mn-lt"/>
                <a:ea typeface="+mn-ea"/>
                <a:cs typeface="+mn-cs"/>
              </a:rPr>
              <a:t>Amend/reduce targets</a:t>
            </a:r>
          </a:p>
          <a:p>
            <a:pPr lvl="1">
              <a:buFont typeface="Arial" pitchFamily="34" charset="0"/>
              <a:buChar char="•"/>
            </a:pPr>
            <a:r>
              <a:rPr lang="en-AU" sz="1200" kern="1200" dirty="0" smtClean="0">
                <a:solidFill>
                  <a:schemeClr val="tx1"/>
                </a:solidFill>
                <a:latin typeface="+mn-lt"/>
                <a:ea typeface="+mn-ea"/>
                <a:cs typeface="+mn-cs"/>
              </a:rPr>
              <a:t>Increase funding/resources – to help achieve initial targets</a:t>
            </a:r>
          </a:p>
          <a:p>
            <a:pPr lvl="1">
              <a:buFont typeface="Arial" pitchFamily="34" charset="0"/>
              <a:buChar char="•"/>
            </a:pPr>
            <a:r>
              <a:rPr lang="en-AU" sz="1200" kern="1200" dirty="0" smtClean="0">
                <a:solidFill>
                  <a:schemeClr val="tx1"/>
                </a:solidFill>
                <a:latin typeface="+mn-lt"/>
                <a:ea typeface="+mn-ea"/>
                <a:cs typeface="+mn-cs"/>
              </a:rPr>
              <a:t>Reduce funding/resources – to reflect the reduced outcomes</a:t>
            </a:r>
          </a:p>
          <a:p>
            <a:pPr lvl="1">
              <a:buFont typeface="Arial" pitchFamily="34" charset="0"/>
              <a:buChar char="•"/>
            </a:pPr>
            <a:r>
              <a:rPr lang="en-AU" sz="1200" kern="1200" dirty="0" smtClean="0">
                <a:solidFill>
                  <a:schemeClr val="tx1"/>
                </a:solidFill>
                <a:latin typeface="+mn-lt"/>
                <a:ea typeface="+mn-ea"/>
                <a:cs typeface="+mn-cs"/>
              </a:rPr>
              <a:t>Provide more time for objectives to be achieved – if lack of time is assessed as being cause of negative outcome</a:t>
            </a:r>
          </a:p>
          <a:p>
            <a:pPr lvl="1">
              <a:buFont typeface="Arial" pitchFamily="34" charset="0"/>
              <a:buChar char="•"/>
            </a:pPr>
            <a:r>
              <a:rPr lang="en-AU" sz="1200" kern="1200" dirty="0" smtClean="0">
                <a:solidFill>
                  <a:schemeClr val="tx1"/>
                </a:solidFill>
                <a:latin typeface="+mn-lt"/>
                <a:ea typeface="+mn-ea"/>
                <a:cs typeface="+mn-cs"/>
              </a:rPr>
              <a:t>Include/upgrade risk management protocols relating to the policy</a:t>
            </a:r>
          </a:p>
          <a:p>
            <a:pPr>
              <a:buFont typeface="Arial" pitchFamily="34" charset="0"/>
              <a:buChar char="•"/>
            </a:pPr>
            <a:r>
              <a:rPr lang="en-AU" sz="1200" kern="1200" dirty="0" smtClean="0">
                <a:solidFill>
                  <a:schemeClr val="tx1"/>
                </a:solidFill>
                <a:latin typeface="+mn-lt"/>
                <a:ea typeface="+mn-ea"/>
                <a:cs typeface="+mn-cs"/>
              </a:rPr>
              <a:t>Providing more training to participants – which may involve:</a:t>
            </a:r>
          </a:p>
          <a:p>
            <a:pPr lvl="1">
              <a:buFont typeface="Arial" pitchFamily="34" charset="0"/>
              <a:buChar char="•"/>
            </a:pPr>
            <a:r>
              <a:rPr lang="en-AU" sz="1200" kern="1200" dirty="0" smtClean="0">
                <a:solidFill>
                  <a:schemeClr val="tx1"/>
                </a:solidFill>
                <a:latin typeface="+mn-lt"/>
                <a:ea typeface="+mn-ea"/>
                <a:cs typeface="+mn-cs"/>
              </a:rPr>
              <a:t>Supplying formal training – addressing (as required/requested) training in knowledge related to the policy/initiative</a:t>
            </a:r>
          </a:p>
          <a:p>
            <a:pPr lvl="1">
              <a:buFont typeface="Arial" pitchFamily="34" charset="0"/>
              <a:buChar char="•"/>
            </a:pPr>
            <a:r>
              <a:rPr lang="en-AU" sz="1200" kern="1200" dirty="0" smtClean="0">
                <a:solidFill>
                  <a:schemeClr val="tx1"/>
                </a:solidFill>
                <a:latin typeface="+mn-lt"/>
                <a:ea typeface="+mn-ea"/>
                <a:cs typeface="+mn-cs"/>
              </a:rPr>
              <a:t>Using role plays and practical exercises to demonstrate required implementation/s of the policy</a:t>
            </a:r>
          </a:p>
          <a:p>
            <a:pPr>
              <a:buFont typeface="Arial" pitchFamily="34" charset="0"/>
              <a:buChar char="•"/>
            </a:pPr>
            <a:r>
              <a:rPr lang="en-AU" sz="1200" kern="1200" dirty="0" smtClean="0">
                <a:solidFill>
                  <a:schemeClr val="tx1"/>
                </a:solidFill>
                <a:latin typeface="+mn-lt"/>
                <a:ea typeface="+mn-ea"/>
                <a:cs typeface="+mn-cs"/>
              </a:rPr>
              <a:t>Conducting more or different promotion of the policy – in terms of:</a:t>
            </a:r>
          </a:p>
          <a:p>
            <a:pPr lvl="1">
              <a:buFont typeface="Arial" pitchFamily="34" charset="0"/>
              <a:buChar char="•"/>
            </a:pPr>
            <a:r>
              <a:rPr lang="en-AU" sz="1200" kern="1200" dirty="0" smtClean="0">
                <a:solidFill>
                  <a:schemeClr val="tx1"/>
                </a:solidFill>
                <a:latin typeface="+mn-lt"/>
                <a:ea typeface="+mn-ea"/>
                <a:cs typeface="+mn-cs"/>
              </a:rPr>
              <a:t>Altering the way the policy is being promoted internally to those who have to abide by it – by (perhaps) assisting with re-wording the policy, changing entries in staff handbooks and/or amending intranet postings brochures</a:t>
            </a:r>
          </a:p>
          <a:p>
            <a:pPr lvl="1">
              <a:buFont typeface="Arial" pitchFamily="34" charset="0"/>
              <a:buChar char="•"/>
            </a:pPr>
            <a:r>
              <a:rPr lang="en-AU" sz="1200" kern="1200" dirty="0" smtClean="0">
                <a:solidFill>
                  <a:schemeClr val="tx1"/>
                </a:solidFill>
                <a:latin typeface="+mn-lt"/>
                <a:ea typeface="+mn-ea"/>
                <a:cs typeface="+mn-cs"/>
              </a:rPr>
              <a:t>Revising and reinforcing the way the new/revised policy is presented to users – in terms of explanations and rationales given to staff/users </a:t>
            </a:r>
          </a:p>
          <a:p>
            <a:pPr>
              <a:buFont typeface="Arial" pitchFamily="34" charset="0"/>
              <a:buChar char="•"/>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133</a:t>
            </a:fld>
            <a:endParaRPr lang="en-US" dirty="0"/>
          </a:p>
        </p:txBody>
      </p:sp>
    </p:spTree>
    <p:extLst>
      <p:ext uri="{BB962C8B-B14F-4D97-AF65-F5344CB8AC3E}">
        <p14:creationId xmlns:p14="http://schemas.microsoft.com/office/powerpoint/2010/main" val="3952439447"/>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identifies possible responses to negative outcomes </a:t>
            </a:r>
            <a:r>
              <a:rPr lang="en-AU" sz="1200" kern="1200" dirty="0" smtClean="0">
                <a:solidFill>
                  <a:schemeClr val="tx1"/>
                </a:solidFill>
                <a:latin typeface="+mn-lt"/>
                <a:ea typeface="+mn-ea"/>
                <a:cs typeface="+mn-cs"/>
              </a:rPr>
              <a:t>of evaluations:</a:t>
            </a:r>
          </a:p>
          <a:p>
            <a:pPr>
              <a:buFont typeface="Arial" pitchFamily="34" charset="0"/>
              <a:buChar char="•"/>
            </a:pPr>
            <a:r>
              <a:rPr lang="en-AU" sz="1200" kern="1200" dirty="0" smtClean="0">
                <a:solidFill>
                  <a:schemeClr val="tx1"/>
                </a:solidFill>
                <a:latin typeface="+mn-lt"/>
                <a:ea typeface="+mn-ea"/>
                <a:cs typeface="+mn-cs"/>
              </a:rPr>
              <a:t>Apologising and explaining the outcomes – to:</a:t>
            </a:r>
          </a:p>
          <a:p>
            <a:pPr lvl="1">
              <a:buFont typeface="Arial" pitchFamily="34" charset="0"/>
              <a:buChar char="•"/>
            </a:pPr>
            <a:r>
              <a:rPr lang="en-AU" sz="1200" kern="1200" dirty="0" smtClean="0">
                <a:solidFill>
                  <a:schemeClr val="tx1"/>
                </a:solidFill>
                <a:latin typeface="+mn-lt"/>
                <a:ea typeface="+mn-ea"/>
                <a:cs typeface="+mn-cs"/>
              </a:rPr>
              <a:t>Users</a:t>
            </a:r>
          </a:p>
          <a:p>
            <a:pPr lvl="1">
              <a:buFont typeface="Arial" pitchFamily="34" charset="0"/>
              <a:buChar char="•"/>
            </a:pPr>
            <a:r>
              <a:rPr lang="en-AU" sz="1200" kern="1200" dirty="0" smtClean="0">
                <a:solidFill>
                  <a:schemeClr val="tx1"/>
                </a:solidFill>
                <a:latin typeface="+mn-lt"/>
                <a:ea typeface="+mn-ea"/>
                <a:cs typeface="+mn-cs"/>
              </a:rPr>
              <a:t>Stakeholders </a:t>
            </a:r>
          </a:p>
          <a:p>
            <a:pPr>
              <a:buFont typeface="Arial" pitchFamily="34" charset="0"/>
              <a:buChar char="•"/>
            </a:pPr>
            <a:r>
              <a:rPr lang="en-AU" sz="1200" kern="1200" dirty="0" smtClean="0">
                <a:solidFill>
                  <a:schemeClr val="tx1"/>
                </a:solidFill>
                <a:latin typeface="+mn-lt"/>
                <a:ea typeface="+mn-ea"/>
                <a:cs typeface="+mn-cs"/>
              </a:rPr>
              <a:t>Accepting the outcomes and being satisfied with the less-than-expected results – in terms of:</a:t>
            </a:r>
          </a:p>
          <a:p>
            <a:pPr lvl="1">
              <a:buFont typeface="Arial" pitchFamily="34" charset="0"/>
              <a:buChar char="•"/>
            </a:pPr>
            <a:r>
              <a:rPr lang="en-AU" sz="1200" kern="1200" dirty="0" smtClean="0">
                <a:solidFill>
                  <a:schemeClr val="tx1"/>
                </a:solidFill>
                <a:latin typeface="+mn-lt"/>
                <a:ea typeface="+mn-ea"/>
                <a:cs typeface="+mn-cs"/>
              </a:rPr>
              <a:t>Acknowledging the results which have been achieved are nonetheless beneficial despite failing to achieve the targets set</a:t>
            </a:r>
          </a:p>
          <a:p>
            <a:pPr lvl="1">
              <a:buFont typeface="Arial" pitchFamily="34" charset="0"/>
              <a:buChar char="•"/>
            </a:pPr>
            <a:r>
              <a:rPr lang="en-AU" sz="1200" kern="1200" dirty="0" smtClean="0">
                <a:solidFill>
                  <a:schemeClr val="tx1"/>
                </a:solidFill>
                <a:latin typeface="+mn-lt"/>
                <a:ea typeface="+mn-ea"/>
                <a:cs typeface="+mn-cs"/>
              </a:rPr>
              <a:t>Understanding the impacts of the initiative were </a:t>
            </a:r>
            <a:r>
              <a:rPr lang="en-AU" sz="1200" i="1" kern="1200" dirty="0" smtClean="0">
                <a:solidFill>
                  <a:schemeClr val="tx1"/>
                </a:solidFill>
                <a:latin typeface="+mn-lt"/>
                <a:ea typeface="+mn-ea"/>
                <a:cs typeface="+mn-cs"/>
              </a:rPr>
              <a:t>starting</a:t>
            </a:r>
            <a:r>
              <a:rPr lang="en-AU" sz="1200" kern="1200" dirty="0" smtClean="0">
                <a:solidFill>
                  <a:schemeClr val="tx1"/>
                </a:solidFill>
                <a:latin typeface="+mn-lt"/>
                <a:ea typeface="+mn-ea"/>
                <a:cs typeface="+mn-cs"/>
              </a:rPr>
              <a:t> to become acceptable even though the positive expectations were not being achieved</a:t>
            </a:r>
          </a:p>
          <a:p>
            <a:pPr>
              <a:buFont typeface="Arial" pitchFamily="34" charset="0"/>
              <a:buChar char="•"/>
            </a:pPr>
            <a:r>
              <a:rPr lang="en-AU" sz="1200" kern="1200" dirty="0" smtClean="0">
                <a:solidFill>
                  <a:schemeClr val="tx1"/>
                </a:solidFill>
                <a:latin typeface="+mn-lt"/>
                <a:ea typeface="+mn-ea"/>
                <a:cs typeface="+mn-cs"/>
              </a:rPr>
              <a:t>Abolishing the policy – and: </a:t>
            </a:r>
          </a:p>
          <a:p>
            <a:pPr lvl="1">
              <a:buFont typeface="Arial" pitchFamily="34" charset="0"/>
              <a:buChar char="•"/>
            </a:pPr>
            <a:r>
              <a:rPr lang="en-AU" sz="1200" kern="1200" dirty="0" smtClean="0">
                <a:solidFill>
                  <a:schemeClr val="tx1"/>
                </a:solidFill>
                <a:latin typeface="+mn-lt"/>
                <a:ea typeface="+mn-ea"/>
                <a:cs typeface="+mn-cs"/>
              </a:rPr>
              <a:t>Considering an alternative policy</a:t>
            </a:r>
          </a:p>
          <a:p>
            <a:pPr lvl="1">
              <a:buFont typeface="Arial" pitchFamily="34" charset="0"/>
              <a:buChar char="•"/>
            </a:pPr>
            <a:r>
              <a:rPr lang="en-AU" sz="1200" kern="1200" dirty="0" smtClean="0">
                <a:solidFill>
                  <a:schemeClr val="tx1"/>
                </a:solidFill>
                <a:latin typeface="+mn-lt"/>
                <a:ea typeface="+mn-ea"/>
                <a:cs typeface="+mn-cs"/>
              </a:rPr>
              <a:t>Waiting for a later/different time to re-introduce the original policy/initiative</a:t>
            </a:r>
          </a:p>
          <a:p>
            <a:pPr lvl="1">
              <a:buFont typeface="Arial" pitchFamily="34" charset="0"/>
              <a:buChar char="•"/>
            </a:pPr>
            <a:r>
              <a:rPr lang="en-AU" sz="1200" kern="1200" dirty="0" smtClean="0">
                <a:solidFill>
                  <a:schemeClr val="tx1"/>
                </a:solidFill>
                <a:latin typeface="+mn-lt"/>
                <a:ea typeface="+mn-ea"/>
                <a:cs typeface="+mn-cs"/>
              </a:rPr>
              <a:t>Deciding, on balance, the benefits of trying to persist with the policy are not justified in terms of the negative outcomes which are being realised.</a:t>
            </a:r>
          </a:p>
          <a:p>
            <a:pPr>
              <a:buFont typeface="Arial" pitchFamily="34" charset="0"/>
              <a:buChar char="•"/>
            </a:pPr>
            <a:endParaRPr lang="en-AU" b="1"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134</a:t>
            </a:fld>
            <a:endParaRPr lang="en-US" dirty="0"/>
          </a:p>
        </p:txBody>
      </p:sp>
    </p:spTree>
    <p:extLst>
      <p:ext uri="{BB962C8B-B14F-4D97-AF65-F5344CB8AC3E}">
        <p14:creationId xmlns:p14="http://schemas.microsoft.com/office/powerpoint/2010/main" val="2709319787"/>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a:t>
            </a:r>
            <a:r>
              <a:rPr lang="en-AU" sz="1200" kern="1200" dirty="0" smtClean="0">
                <a:solidFill>
                  <a:schemeClr val="tx1"/>
                </a:solidFill>
                <a:latin typeface="+mn-lt"/>
                <a:ea typeface="+mn-ea"/>
                <a:cs typeface="+mn-cs"/>
              </a:rPr>
              <a:t>highlights the following are always non-negotiable elements/considerations – all action taken:</a:t>
            </a:r>
          </a:p>
          <a:p>
            <a:pPr>
              <a:buFont typeface="Arial" pitchFamily="34" charset="0"/>
              <a:buChar char="•"/>
            </a:pPr>
            <a:r>
              <a:rPr lang="en-AU" sz="1200" kern="1200" dirty="0" smtClean="0">
                <a:solidFill>
                  <a:schemeClr val="tx1"/>
                </a:solidFill>
                <a:latin typeface="+mn-lt"/>
                <a:ea typeface="+mn-ea"/>
                <a:cs typeface="+mn-cs"/>
              </a:rPr>
              <a:t>Must feature collaboration with relevant stakeholders</a:t>
            </a:r>
          </a:p>
          <a:p>
            <a:pPr>
              <a:buFont typeface="Arial" pitchFamily="34" charset="0"/>
              <a:buChar char="•"/>
            </a:pPr>
            <a:r>
              <a:rPr lang="en-AU" sz="1200" kern="1200" dirty="0" smtClean="0">
                <a:solidFill>
                  <a:schemeClr val="tx1"/>
                </a:solidFill>
                <a:latin typeface="+mn-lt"/>
                <a:ea typeface="+mn-ea"/>
                <a:cs typeface="+mn-cs"/>
              </a:rPr>
              <a:t>Must be based on fact and the results of evidence-based analysis</a:t>
            </a:r>
          </a:p>
          <a:p>
            <a:pPr>
              <a:buFont typeface="Arial" pitchFamily="34" charset="0"/>
              <a:buChar char="•"/>
            </a:pPr>
            <a:r>
              <a:rPr lang="en-AU" sz="1200" kern="1200" dirty="0" smtClean="0">
                <a:solidFill>
                  <a:schemeClr val="tx1"/>
                </a:solidFill>
                <a:latin typeface="+mn-lt"/>
                <a:ea typeface="+mn-ea"/>
                <a:cs typeface="+mn-cs"/>
              </a:rPr>
              <a:t>Need to generate an improvement to the current situation</a:t>
            </a:r>
          </a:p>
          <a:p>
            <a:pPr>
              <a:buFont typeface="Arial" pitchFamily="34" charset="0"/>
              <a:buChar char="•"/>
            </a:pPr>
            <a:r>
              <a:rPr lang="en-AU" sz="1200" kern="1200" dirty="0" smtClean="0">
                <a:solidFill>
                  <a:schemeClr val="tx1"/>
                </a:solidFill>
                <a:latin typeface="+mn-lt"/>
                <a:ea typeface="+mn-ea"/>
                <a:cs typeface="+mn-cs"/>
              </a:rPr>
              <a:t>Must address identified need and/or deficiencies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135</a:t>
            </a:fld>
            <a:endParaRPr lang="en-US" dirty="0"/>
          </a:p>
        </p:txBody>
      </p:sp>
    </p:spTree>
    <p:extLst>
      <p:ext uri="{BB962C8B-B14F-4D97-AF65-F5344CB8AC3E}">
        <p14:creationId xmlns:p14="http://schemas.microsoft.com/office/powerpoint/2010/main" val="2256234234"/>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a:t>
            </a:r>
            <a:r>
              <a:rPr lang="en-AU" sz="1200" kern="1200" dirty="0" smtClean="0">
                <a:solidFill>
                  <a:schemeClr val="tx1"/>
                </a:solidFill>
                <a:latin typeface="+mn-lt"/>
                <a:ea typeface="+mn-ea"/>
                <a:cs typeface="+mn-cs"/>
              </a:rPr>
              <a:t>highlights the following are always non-negotiable elements/considerations – all action taken:</a:t>
            </a:r>
          </a:p>
          <a:p>
            <a:pPr>
              <a:buFont typeface="Arial" pitchFamily="34" charset="0"/>
              <a:buChar char="•"/>
            </a:pPr>
            <a:r>
              <a:rPr lang="en-AU" sz="1200" kern="1200" dirty="0" smtClean="0">
                <a:solidFill>
                  <a:schemeClr val="tx1"/>
                </a:solidFill>
                <a:latin typeface="+mn-lt"/>
                <a:ea typeface="+mn-ea"/>
                <a:cs typeface="+mn-cs"/>
              </a:rPr>
              <a:t>Have to be cost-effective</a:t>
            </a:r>
          </a:p>
          <a:p>
            <a:pPr>
              <a:buFont typeface="Arial" pitchFamily="34" charset="0"/>
              <a:buChar char="•"/>
            </a:pPr>
            <a:r>
              <a:rPr lang="en-AU" sz="1200" kern="1200" dirty="0" smtClean="0">
                <a:solidFill>
                  <a:schemeClr val="tx1"/>
                </a:solidFill>
                <a:latin typeface="+mn-lt"/>
                <a:ea typeface="+mn-ea"/>
                <a:cs typeface="+mn-cs"/>
              </a:rPr>
              <a:t>Must be viable, legal and practical</a:t>
            </a:r>
          </a:p>
          <a:p>
            <a:pPr>
              <a:buFont typeface="Arial" pitchFamily="34" charset="0"/>
              <a:buChar char="•"/>
            </a:pPr>
            <a:r>
              <a:rPr lang="en-AU" sz="1200" kern="1200" dirty="0" smtClean="0">
                <a:solidFill>
                  <a:schemeClr val="tx1"/>
                </a:solidFill>
                <a:latin typeface="+mn-lt"/>
                <a:ea typeface="+mn-ea"/>
                <a:cs typeface="+mn-cs"/>
              </a:rPr>
              <a:t>Must feature use of version control protocols to ensure correct version is being used at any point in time </a:t>
            </a:r>
          </a:p>
          <a:p>
            <a:pPr>
              <a:buFont typeface="Arial" pitchFamily="34" charset="0"/>
              <a:buChar char="•"/>
            </a:pPr>
            <a:r>
              <a:rPr lang="en-AU" sz="1200" kern="1200" dirty="0" smtClean="0">
                <a:solidFill>
                  <a:schemeClr val="tx1"/>
                </a:solidFill>
                <a:latin typeface="+mn-lt"/>
                <a:ea typeface="+mn-ea"/>
                <a:cs typeface="+mn-cs"/>
              </a:rPr>
              <a:t>Must be approved by management prior to implementation. </a:t>
            </a: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136</a:t>
            </a:fld>
            <a:endParaRPr lang="en-US" dirty="0"/>
          </a:p>
        </p:txBody>
      </p:sp>
    </p:spTree>
    <p:extLst>
      <p:ext uri="{BB962C8B-B14F-4D97-AF65-F5344CB8AC3E}">
        <p14:creationId xmlns:p14="http://schemas.microsoft.com/office/powerpoint/2010/main" val="3214125856"/>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a:t>
            </a:r>
            <a:r>
              <a:rPr lang="en-AU" sz="1200" kern="1200" dirty="0" smtClean="0">
                <a:solidFill>
                  <a:schemeClr val="tx1"/>
                </a:solidFill>
                <a:latin typeface="+mn-lt"/>
                <a:ea typeface="+mn-ea"/>
                <a:cs typeface="+mn-cs"/>
              </a:rPr>
              <a:t>incorporating results of policy evaluations into ongoing planning and operational management may result in:</a:t>
            </a:r>
          </a:p>
          <a:p>
            <a:pPr>
              <a:buFont typeface="Arial" pitchFamily="34" charset="0"/>
              <a:buChar char="•"/>
            </a:pPr>
            <a:r>
              <a:rPr lang="en-AU" sz="1200" kern="1200" dirty="0" smtClean="0">
                <a:solidFill>
                  <a:schemeClr val="tx1"/>
                </a:solidFill>
                <a:latin typeface="+mn-lt"/>
                <a:ea typeface="+mn-ea"/>
                <a:cs typeface="+mn-cs"/>
              </a:rPr>
              <a:t>Re-writing existing policies – to prepare ‘revised’ policies which address:</a:t>
            </a:r>
          </a:p>
          <a:p>
            <a:pPr lvl="1">
              <a:buFont typeface="Arial" pitchFamily="34" charset="0"/>
              <a:buChar char="•"/>
            </a:pPr>
            <a:r>
              <a:rPr lang="en-US" sz="1200" kern="1200" dirty="0" smtClean="0">
                <a:solidFill>
                  <a:schemeClr val="tx1"/>
                </a:solidFill>
                <a:latin typeface="+mn-lt"/>
                <a:ea typeface="+mn-ea"/>
                <a:cs typeface="+mn-cs"/>
              </a:rPr>
              <a:t>Previous errors or omissions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Identified policy gaps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Circulating ‘draft’ for comment – prior to confirming them as endorsed</a:t>
            </a:r>
          </a:p>
          <a:p>
            <a:pPr>
              <a:buFont typeface="Arial" pitchFamily="34" charset="0"/>
              <a:buChar char="•"/>
            </a:pPr>
            <a:r>
              <a:rPr lang="en-AU" sz="1200" kern="1200" dirty="0" smtClean="0">
                <a:solidFill>
                  <a:schemeClr val="tx1"/>
                </a:solidFill>
                <a:latin typeface="+mn-lt"/>
                <a:ea typeface="+mn-ea"/>
                <a:cs typeface="+mn-cs"/>
              </a:rPr>
              <a:t>Scrapping ‘old’ and/or unsatisfactory or un-workable polices - and writing new/replacement ones which may:</a:t>
            </a:r>
          </a:p>
          <a:p>
            <a:pPr lvl="1">
              <a:buFont typeface="Arial" pitchFamily="34" charset="0"/>
              <a:buChar char="•"/>
            </a:pPr>
            <a:r>
              <a:rPr lang="en-US" sz="1200" kern="1200" dirty="0" smtClean="0">
                <a:solidFill>
                  <a:schemeClr val="tx1"/>
                </a:solidFill>
                <a:latin typeface="+mn-lt"/>
                <a:ea typeface="+mn-ea"/>
                <a:cs typeface="+mn-cs"/>
              </a:rPr>
              <a:t>Address new issues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Feature benchmarking</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Update applicable criteria/standards</a:t>
            </a:r>
            <a:endParaRPr lang="en-AU" sz="1200" kern="1200" dirty="0" smtClean="0">
              <a:solidFill>
                <a:schemeClr val="tx1"/>
              </a:solidFill>
              <a:latin typeface="+mn-lt"/>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137</a:t>
            </a:fld>
            <a:endParaRPr lang="en-US" dirty="0"/>
          </a:p>
        </p:txBody>
      </p:sp>
    </p:spTree>
    <p:extLst>
      <p:ext uri="{BB962C8B-B14F-4D97-AF65-F5344CB8AC3E}">
        <p14:creationId xmlns:p14="http://schemas.microsoft.com/office/powerpoint/2010/main" val="3595055612"/>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describes practical actions which may be required:</a:t>
            </a:r>
          </a:p>
          <a:p>
            <a:pPr>
              <a:buFont typeface="Arial" pitchFamily="34" charset="0"/>
              <a:buChar char="•"/>
            </a:pPr>
            <a:r>
              <a:rPr lang="en-AU" sz="1200" kern="1200" dirty="0" smtClean="0">
                <a:solidFill>
                  <a:schemeClr val="tx1"/>
                </a:solidFill>
                <a:latin typeface="+mn-lt"/>
                <a:ea typeface="+mn-ea"/>
                <a:cs typeface="+mn-cs"/>
              </a:rPr>
              <a:t>Deleting dated/irrelevant policies – and not replacing them </a:t>
            </a:r>
          </a:p>
          <a:p>
            <a:pPr>
              <a:buFont typeface="Arial" pitchFamily="34" charset="0"/>
              <a:buChar char="•"/>
            </a:pPr>
            <a:r>
              <a:rPr lang="en-AU" sz="1200" kern="1200" dirty="0" smtClean="0">
                <a:solidFill>
                  <a:schemeClr val="tx1"/>
                </a:solidFill>
                <a:latin typeface="+mn-lt"/>
                <a:ea typeface="+mn-ea"/>
                <a:cs typeface="+mn-cs"/>
              </a:rPr>
              <a:t>Applying applicable quality control procedures – which may involve:</a:t>
            </a:r>
          </a:p>
          <a:p>
            <a:pPr lvl="1">
              <a:buFont typeface="Arial" pitchFamily="34" charset="0"/>
              <a:buChar char="•"/>
            </a:pPr>
            <a:r>
              <a:rPr lang="en-US" sz="1200" kern="1200" dirty="0" smtClean="0">
                <a:solidFill>
                  <a:schemeClr val="tx1"/>
                </a:solidFill>
                <a:latin typeface="+mn-lt"/>
                <a:ea typeface="+mn-ea"/>
                <a:cs typeface="+mn-cs"/>
              </a:rPr>
              <a:t>Compliance with organisational style guide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Adherence to organisation-wide QA protocols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Introducing new policies – to address identified and legitimate emerging requirements/need</a:t>
            </a:r>
          </a:p>
          <a:p>
            <a:pPr>
              <a:buFont typeface="Arial" pitchFamily="34" charset="0"/>
              <a:buChar char="•"/>
            </a:pPr>
            <a:r>
              <a:rPr lang="en-AU" sz="1200" kern="1200" dirty="0" smtClean="0">
                <a:solidFill>
                  <a:schemeClr val="tx1"/>
                </a:solidFill>
                <a:latin typeface="+mn-lt"/>
                <a:ea typeface="+mn-ea"/>
                <a:cs typeface="+mn-cs"/>
              </a:rPr>
              <a:t>Promoting awareness of policies in the workplace in a better manner/differently – so there is greater understanding regarding what is required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138</a:t>
            </a:fld>
            <a:endParaRPr lang="en-US" dirty="0"/>
          </a:p>
        </p:txBody>
      </p:sp>
    </p:spTree>
    <p:extLst>
      <p:ext uri="{BB962C8B-B14F-4D97-AF65-F5344CB8AC3E}">
        <p14:creationId xmlns:p14="http://schemas.microsoft.com/office/powerpoint/2010/main" val="134301806"/>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describes practical actions which may be required:</a:t>
            </a:r>
          </a:p>
          <a:p>
            <a:pPr>
              <a:buFont typeface="Arial" pitchFamily="34" charset="0"/>
              <a:buChar char="•"/>
            </a:pPr>
            <a:r>
              <a:rPr lang="en-AU" sz="1200" kern="1200" dirty="0" smtClean="0">
                <a:solidFill>
                  <a:schemeClr val="tx1"/>
                </a:solidFill>
                <a:latin typeface="+mn-lt"/>
                <a:ea typeface="+mn-ea"/>
                <a:cs typeface="+mn-cs"/>
              </a:rPr>
              <a:t>Enhancing and/or altering monitoring of compliance with policies in the workplace – so users are more compelled to adhere to requirements of the policies</a:t>
            </a:r>
          </a:p>
          <a:p>
            <a:pPr>
              <a:buFont typeface="Arial" pitchFamily="34" charset="0"/>
              <a:buChar char="•"/>
            </a:pPr>
            <a:r>
              <a:rPr lang="en-AU" sz="1200" kern="1200" dirty="0" smtClean="0">
                <a:solidFill>
                  <a:schemeClr val="tx1"/>
                </a:solidFill>
                <a:latin typeface="+mn-lt"/>
                <a:ea typeface="+mn-ea"/>
                <a:cs typeface="+mn-cs"/>
              </a:rPr>
              <a:t>Updating workplace databases and/or handbooks – so they contain the updated/current version of policies</a:t>
            </a:r>
          </a:p>
          <a:p>
            <a:pPr>
              <a:buFont typeface="Arial" pitchFamily="34" charset="0"/>
              <a:buChar char="•"/>
            </a:pPr>
            <a:r>
              <a:rPr lang="en-AU" sz="1200" kern="1200" dirty="0" smtClean="0">
                <a:solidFill>
                  <a:schemeClr val="tx1"/>
                </a:solidFill>
                <a:latin typeface="+mn-lt"/>
                <a:ea typeface="+mn-ea"/>
                <a:cs typeface="+mn-cs"/>
              </a:rPr>
              <a:t>Incorporating new/revised policies into standard workplace protocols – in terms of, for example:</a:t>
            </a:r>
          </a:p>
          <a:p>
            <a:pPr lvl="1">
              <a:buFont typeface="Arial" pitchFamily="34" charset="0"/>
              <a:buChar char="•"/>
            </a:pPr>
            <a:r>
              <a:rPr lang="en-AU" sz="1200" kern="1200" dirty="0" smtClean="0">
                <a:solidFill>
                  <a:schemeClr val="tx1"/>
                </a:solidFill>
                <a:latin typeface="+mn-lt"/>
                <a:ea typeface="+mn-ea"/>
                <a:cs typeface="+mn-cs"/>
              </a:rPr>
              <a:t>Inclusion into internal workplace training courses</a:t>
            </a:r>
          </a:p>
          <a:p>
            <a:pPr lvl="1">
              <a:buFont typeface="Arial" pitchFamily="34" charset="0"/>
              <a:buChar char="•"/>
            </a:pPr>
            <a:r>
              <a:rPr lang="en-AU" sz="1200" kern="1200" dirty="0" smtClean="0">
                <a:solidFill>
                  <a:schemeClr val="tx1"/>
                </a:solidFill>
                <a:latin typeface="+mn-lt"/>
                <a:ea typeface="+mn-ea"/>
                <a:cs typeface="+mn-cs"/>
              </a:rPr>
              <a:t>Integrating into Induction and Orientation programs</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139</a:t>
            </a:fld>
            <a:endParaRPr lang="en-US" dirty="0"/>
          </a:p>
        </p:txBody>
      </p:sp>
    </p:spTree>
    <p:extLst>
      <p:ext uri="{BB962C8B-B14F-4D97-AF65-F5344CB8AC3E}">
        <p14:creationId xmlns:p14="http://schemas.microsoft.com/office/powerpoint/2010/main" val="2149368393"/>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describes practical actions which may be required:</a:t>
            </a:r>
          </a:p>
          <a:p>
            <a:pPr>
              <a:buFont typeface="Arial" pitchFamily="34" charset="0"/>
              <a:buChar char="•"/>
            </a:pPr>
            <a:r>
              <a:rPr lang="en-AU" sz="1200" kern="1200" dirty="0" smtClean="0">
                <a:solidFill>
                  <a:schemeClr val="tx1"/>
                </a:solidFill>
                <a:latin typeface="+mn-lt"/>
                <a:ea typeface="+mn-ea"/>
                <a:cs typeface="+mn-cs"/>
              </a:rPr>
              <a:t>Circulating copies of the new/revised policy – using hard copies and electronic options</a:t>
            </a:r>
          </a:p>
          <a:p>
            <a:pPr>
              <a:buFont typeface="Arial" pitchFamily="34" charset="0"/>
              <a:buChar char="•"/>
            </a:pPr>
            <a:r>
              <a:rPr lang="en-AU" sz="1200" kern="1200" dirty="0" smtClean="0">
                <a:solidFill>
                  <a:schemeClr val="tx1"/>
                </a:solidFill>
                <a:latin typeface="+mn-lt"/>
                <a:ea typeface="+mn-ea"/>
                <a:cs typeface="+mn-cs"/>
              </a:rPr>
              <a:t>Preparing/developing new or revised SOPs – to reflect the changed policy requirements</a:t>
            </a:r>
          </a:p>
          <a:p>
            <a:pPr>
              <a:buFont typeface="Arial" pitchFamily="34" charset="0"/>
              <a:buChar char="•"/>
            </a:pPr>
            <a:r>
              <a:rPr lang="en-AU" sz="1200" kern="1200" dirty="0" smtClean="0">
                <a:solidFill>
                  <a:schemeClr val="tx1"/>
                </a:solidFill>
                <a:latin typeface="+mn-lt"/>
                <a:ea typeface="+mn-ea"/>
                <a:cs typeface="+mn-cs"/>
              </a:rPr>
              <a:t>Organising and presenting relevant presentations – to all necessary levels/users within the organisation which may require/entail, as appropriate:</a:t>
            </a:r>
          </a:p>
          <a:p>
            <a:pPr lvl="1">
              <a:buFont typeface="Arial" pitchFamily="34" charset="0"/>
              <a:buChar char="•"/>
            </a:pPr>
            <a:r>
              <a:rPr lang="en-US" sz="1200" kern="1200" dirty="0" smtClean="0">
                <a:solidFill>
                  <a:schemeClr val="tx1"/>
                </a:solidFill>
                <a:latin typeface="+mn-lt"/>
                <a:ea typeface="+mn-ea"/>
                <a:cs typeface="+mn-cs"/>
              </a:rPr>
              <a:t>Introducing, explaining and demonstrating implementation of the policy,</a:t>
            </a:r>
            <a:endParaRPr lang="en-AU" sz="1200" kern="1200" dirty="0" smtClean="0">
              <a:solidFill>
                <a:schemeClr val="tx1"/>
              </a:solidFill>
              <a:latin typeface="+mn-lt"/>
              <a:ea typeface="+mn-ea"/>
              <a:cs typeface="+mn-cs"/>
            </a:endParaRPr>
          </a:p>
          <a:p>
            <a:pPr lvl="1">
              <a:buFont typeface="Arial" pitchFamily="34" charset="0"/>
              <a:buChar char="•"/>
            </a:pPr>
            <a:r>
              <a:rPr lang="en-AU" sz="1200" kern="1200" dirty="0" smtClean="0">
                <a:solidFill>
                  <a:schemeClr val="tx1"/>
                </a:solidFill>
                <a:latin typeface="+mn-lt"/>
                <a:ea typeface="+mn-ea"/>
                <a:cs typeface="+mn-cs"/>
              </a:rPr>
              <a:t>Conducting supplementary information and training sessions</a:t>
            </a:r>
          </a:p>
          <a:p>
            <a:pPr lvl="1">
              <a:buFont typeface="Arial" pitchFamily="34" charset="0"/>
              <a:buChar char="•"/>
            </a:pPr>
            <a:r>
              <a:rPr lang="en-AU" sz="1200" kern="1200" dirty="0" smtClean="0">
                <a:solidFill>
                  <a:schemeClr val="tx1"/>
                </a:solidFill>
                <a:latin typeface="+mn-lt"/>
                <a:ea typeface="+mn-ea"/>
                <a:cs typeface="+mn-cs"/>
              </a:rPr>
              <a:t>Holding staff briefings</a:t>
            </a:r>
          </a:p>
          <a:p>
            <a:pPr lvl="1">
              <a:buFont typeface="Arial" pitchFamily="34" charset="0"/>
              <a:buChar char="•"/>
            </a:pPr>
            <a:r>
              <a:rPr lang="en-AU" sz="1200" kern="1200" dirty="0" smtClean="0">
                <a:solidFill>
                  <a:schemeClr val="tx1"/>
                </a:solidFill>
                <a:latin typeface="+mn-lt"/>
                <a:ea typeface="+mn-ea"/>
                <a:cs typeface="+mn-cs"/>
              </a:rPr>
              <a:t>Including articles in internal newsletters and posting on bulletin boards</a:t>
            </a:r>
          </a:p>
          <a:p>
            <a:pPr>
              <a:buFont typeface="Arial" pitchFamily="34" charset="0"/>
              <a:buChar char="•"/>
            </a:pPr>
            <a:r>
              <a:rPr lang="en-AU" sz="1200" kern="1200" dirty="0" smtClean="0">
                <a:solidFill>
                  <a:schemeClr val="tx1"/>
                </a:solidFill>
                <a:latin typeface="+mn-lt"/>
                <a:ea typeface="+mn-ea"/>
                <a:cs typeface="+mn-cs"/>
              </a:rPr>
              <a:t>Revising records management – to ensure all necessary information is captured and maintained for reference/use as required.</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140</a:t>
            </a:fld>
            <a:endParaRPr lang="en-US" dirty="0"/>
          </a:p>
        </p:txBody>
      </p:sp>
    </p:spTree>
    <p:extLst>
      <p:ext uri="{BB962C8B-B14F-4D97-AF65-F5344CB8AC3E}">
        <p14:creationId xmlns:p14="http://schemas.microsoft.com/office/powerpoint/2010/main" val="2704604452"/>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141</a:t>
            </a:fld>
            <a:endParaRPr lang="en-US" dirty="0"/>
          </a:p>
        </p:txBody>
      </p:sp>
    </p:spTree>
    <p:extLst>
      <p:ext uri="{BB962C8B-B14F-4D97-AF65-F5344CB8AC3E}">
        <p14:creationId xmlns:p14="http://schemas.microsoft.com/office/powerpoint/2010/main" val="4095563765"/>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142</a:t>
            </a:fld>
            <a:endParaRPr lang="en-US" dirty="0"/>
          </a:p>
        </p:txBody>
      </p:sp>
    </p:spTree>
    <p:extLst>
      <p:ext uri="{BB962C8B-B14F-4D97-AF65-F5344CB8AC3E}">
        <p14:creationId xmlns:p14="http://schemas.microsoft.com/office/powerpoint/2010/main" val="2361812914"/>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143</a:t>
            </a:fld>
            <a:endParaRPr lang="en-US" dirty="0"/>
          </a:p>
        </p:txBody>
      </p:sp>
    </p:spTree>
    <p:extLst>
      <p:ext uri="{BB962C8B-B14F-4D97-AF65-F5344CB8AC3E}">
        <p14:creationId xmlns:p14="http://schemas.microsoft.com/office/powerpoint/2010/main" val="4254513838"/>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thanks trainees for their attention and encourages them to apply course content as required in their workplace activities.</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144</a:t>
            </a:fld>
            <a:endParaRPr lang="en-US" dirty="0"/>
          </a:p>
        </p:txBody>
      </p:sp>
    </p:spTree>
    <p:extLst>
      <p:ext uri="{BB962C8B-B14F-4D97-AF65-F5344CB8AC3E}">
        <p14:creationId xmlns:p14="http://schemas.microsoft.com/office/powerpoint/2010/main" val="41670207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7/18/2016</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7/18/2016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7/18/2016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7/18/2016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7/18/2016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7/18/2016</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7/18/2016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7/18/2016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7/18/2016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7/18/2016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7/18/2016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latin typeface="Helvetica" pitchFamily="34" charset="0"/>
              </a:defRPr>
            </a:lvl1pPr>
          </a:lstStyle>
          <a:p>
            <a:fld id="{60B9F9CF-7D2C-460C-8F3E-F6213A54EF65}" type="datetime1">
              <a:rPr lang="en-US" smtClean="0"/>
              <a:pPr/>
              <a:t>7/18/2016</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latin typeface="Helvetica" pitchFamily="34" charset="0"/>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latin typeface="Helvetica" pitchFamily="34" charset="0"/>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Helvetica" pitchFamily="34" charset="0"/>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Helvetica" pitchFamily="34" charset="0"/>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Helvetica" pitchFamily="34" charset="0"/>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Helvetica" pitchFamily="34" charset="0"/>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Helvetica" pitchFamily="34" charset="0"/>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46.jpeg"/></Relationships>
</file>

<file path=ppt/slides/_rels/slide46.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100.xml"/><Relationship Id="rId1" Type="http://schemas.openxmlformats.org/officeDocument/2006/relationships/slideLayout" Target="../slideLayouts/slideLayout2.xml"/><Relationship Id="rId4" Type="http://schemas.openxmlformats.org/officeDocument/2006/relationships/image" Target="../media/image95.jpeg"/></Relationships>
</file>

<file path=ppt/slides/_rels/slide101.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106.xml"/><Relationship Id="rId1" Type="http://schemas.openxmlformats.org/officeDocument/2006/relationships/slideLayout" Target="../slideLayouts/slideLayout2.xml"/><Relationship Id="rId4" Type="http://schemas.openxmlformats.org/officeDocument/2006/relationships/image" Target="../media/image102.jpeg"/></Relationships>
</file>

<file path=ppt/slides/_rels/slide107.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108.xml"/><Relationship Id="rId1" Type="http://schemas.openxmlformats.org/officeDocument/2006/relationships/slideLayout" Target="../slideLayouts/slideLayout2.xml"/><Relationship Id="rId4" Type="http://schemas.openxmlformats.org/officeDocument/2006/relationships/image" Target="../media/image105.jpeg"/></Relationships>
</file>

<file path=ppt/slides/_rels/slide109.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15.jpe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22.jpeg"/><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23.jpeg"/><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24.jpeg"/><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25.jpeg"/><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127.jpeg"/><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128.jpeg"/><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130.jpeg"/><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131.jpeg"/><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132.jpeg"/><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133.jpeg"/><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07704" y="548680"/>
            <a:ext cx="6480048" cy="936104"/>
          </a:xfrm>
        </p:spPr>
        <p:txBody>
          <a:bodyPr>
            <a:normAutofit fontScale="90000"/>
          </a:bodyPr>
          <a:lstStyle/>
          <a:p>
            <a:r>
              <a:rPr lang="en-AU" sz="4000" dirty="0">
                <a:ln w="5000" cmpd="sng">
                  <a:noFill/>
                  <a:prstDash val="solid"/>
                </a:ln>
                <a:solidFill>
                  <a:srgbClr val="FF6600"/>
                </a:solidFill>
                <a:latin typeface="Helvetica" pitchFamily="34" charset="0"/>
              </a:rPr>
              <a:t>Develop and implement operational </a:t>
            </a:r>
            <a:r>
              <a:rPr lang="en-AU" sz="4000" dirty="0" smtClean="0">
                <a:ln w="5000" cmpd="sng">
                  <a:noFill/>
                  <a:prstDash val="solid"/>
                </a:ln>
                <a:solidFill>
                  <a:srgbClr val="FF6600"/>
                </a:solidFill>
                <a:latin typeface="Helvetica" pitchFamily="34" charset="0"/>
              </a:rPr>
              <a:t>pOLICIEs</a:t>
            </a:r>
            <a:endParaRPr lang="en-AU" sz="4000"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5868144" y="2996952"/>
            <a:ext cx="2541268" cy="289742"/>
          </a:xfrm>
        </p:spPr>
        <p:txBody>
          <a:bodyPr>
            <a:noAutofit/>
          </a:bodyPr>
          <a:lstStyle/>
          <a:p>
            <a:r>
              <a:rPr lang="en-AU" b="1" dirty="0">
                <a:latin typeface="Helvetica" pitchFamily="34" charset="0"/>
              </a:rPr>
              <a:t>D1.HGE.CL7.14</a:t>
            </a:r>
          </a:p>
          <a:p>
            <a:r>
              <a:rPr lang="en-AU" b="1" dirty="0">
                <a:latin typeface="Helvetica" pitchFamily="34" charset="0"/>
              </a:rPr>
              <a:t>D1.HGA.CL6.13</a:t>
            </a:r>
          </a:p>
          <a:p>
            <a:r>
              <a:rPr lang="en-AU" b="1" dirty="0">
                <a:latin typeface="Helvetica" pitchFamily="34" charset="0"/>
              </a:rPr>
              <a:t>D2.TGA.CL6.10</a:t>
            </a:r>
          </a:p>
          <a:p>
            <a:endParaRPr lang="en-AU" b="1" dirty="0">
              <a:latin typeface="Helvetica" pitchFamily="34" charset="0"/>
            </a:endParaRPr>
          </a:p>
        </p:txBody>
      </p:sp>
      <p:sp>
        <p:nvSpPr>
          <p:cNvPr id="4" name="Slide Number Placeholder 3"/>
          <p:cNvSpPr>
            <a:spLocks noGrp="1"/>
          </p:cNvSpPr>
          <p:nvPr>
            <p:ph type="sldNum" sz="quarter" idx="12"/>
          </p:nvPr>
        </p:nvSpPr>
        <p:spPr/>
        <p:txBody>
          <a:bodyPr/>
          <a:lstStyle/>
          <a:p>
            <a:r>
              <a:rPr lang="en-AU" dirty="0" smtClean="0"/>
              <a:t> </a:t>
            </a:r>
            <a:r>
              <a:rPr lang="en-AU" dirty="0" smtClean="0">
                <a:latin typeface="Helvetica" pitchFamily="34" charset="0"/>
              </a:rPr>
              <a:t>Slide </a:t>
            </a:r>
            <a:fld id="{90BDF71C-F485-43AE-8825-5070AF1EA8C9}" type="slidenum">
              <a:rPr lang="en-AU" smtClean="0">
                <a:latin typeface="Helvetica" pitchFamily="34" charset="0"/>
              </a:rPr>
              <a:pPr/>
              <a:t>1</a:t>
            </a:fld>
            <a:endParaRPr lang="en-AU" dirty="0">
              <a:latin typeface="Helvetica" pitchFamily="34" charset="0"/>
            </a:endParaRPr>
          </a:p>
        </p:txBody>
      </p:sp>
      <p:grpSp>
        <p:nvGrpSpPr>
          <p:cNvPr id="16" name="Group 15"/>
          <p:cNvGrpSpPr/>
          <p:nvPr/>
        </p:nvGrpSpPr>
        <p:grpSpPr>
          <a:xfrm>
            <a:off x="662584" y="2460960"/>
            <a:ext cx="5565600" cy="4208400"/>
            <a:chOff x="0" y="0"/>
            <a:chExt cx="7585544" cy="6098650"/>
          </a:xfrm>
        </p:grpSpPr>
        <p:pic>
          <p:nvPicPr>
            <p:cNvPr id="17" name="Picture 16"/>
            <p:cNvPicPr>
              <a:picLocks noChangeAspect="1"/>
            </p:cNvPicPr>
            <p:nvPr/>
          </p:nvPicPr>
          <p:blipFill rotWithShape="1">
            <a:blip r:embed="rId3" cstate="print">
              <a:extLst>
                <a:ext uri="{28A0092B-C50C-407E-A947-70E740481C1C}">
                  <a14:useLocalDpi xmlns:a14="http://schemas.microsoft.com/office/drawing/2010/main" val="0"/>
                </a:ext>
              </a:extLst>
            </a:blip>
            <a:srcRect l="23382" t="8066" r="23964" b="10443"/>
            <a:stretch/>
          </p:blipFill>
          <p:spPr bwMode="auto">
            <a:xfrm>
              <a:off x="4468633" y="1502797"/>
              <a:ext cx="3069203" cy="3053300"/>
            </a:xfrm>
            <a:prstGeom prst="rect">
              <a:avLst/>
            </a:prstGeom>
            <a:ln>
              <a:noFill/>
            </a:ln>
            <a:extLst>
              <a:ext uri="{53640926-AAD7-44D8-BBD7-CCE9431645EC}">
                <a14:shadowObscured xmlns:a14="http://schemas.microsoft.com/office/drawing/2010/main"/>
              </a:ext>
            </a:extLst>
          </p:spPr>
        </p:pic>
        <p:pic>
          <p:nvPicPr>
            <p:cNvPr id="18" name="Picture 17"/>
            <p:cNvPicPr>
              <a:picLocks noChangeAspect="1"/>
            </p:cNvPicPr>
            <p:nvPr/>
          </p:nvPicPr>
          <p:blipFill rotWithShape="1">
            <a:blip r:embed="rId4" cstate="print">
              <a:extLst>
                <a:ext uri="{28A0092B-C50C-407E-A947-70E740481C1C}">
                  <a14:useLocalDpi xmlns:a14="http://schemas.microsoft.com/office/drawing/2010/main" val="0"/>
                </a:ext>
              </a:extLst>
            </a:blip>
            <a:srcRect l="2066" r="11983" b="19666"/>
            <a:stretch/>
          </p:blipFill>
          <p:spPr bwMode="auto">
            <a:xfrm>
              <a:off x="4643562" y="4269850"/>
              <a:ext cx="2910177" cy="1812898"/>
            </a:xfrm>
            <a:prstGeom prst="rect">
              <a:avLst/>
            </a:prstGeom>
            <a:ln>
              <a:noFill/>
            </a:ln>
            <a:extLst>
              <a:ext uri="{53640926-AAD7-44D8-BBD7-CCE9431645EC}">
                <a14:shadowObscured xmlns:a14="http://schemas.microsoft.com/office/drawing/2010/main"/>
              </a:ext>
            </a:extLst>
          </p:spPr>
        </p:pic>
        <p:pic>
          <p:nvPicPr>
            <p:cNvPr id="19" name="Picture 18"/>
            <p:cNvPicPr>
              <a:picLocks noChangeAspect="1"/>
            </p:cNvPicPr>
            <p:nvPr/>
          </p:nvPicPr>
          <p:blipFill rotWithShape="1">
            <a:blip r:embed="rId5" cstate="print">
              <a:extLst>
                <a:ext uri="{28A0092B-C50C-407E-A947-70E740481C1C}">
                  <a14:useLocalDpi xmlns:a14="http://schemas.microsoft.com/office/drawing/2010/main" val="0"/>
                </a:ext>
              </a:extLst>
            </a:blip>
            <a:srcRect t="3460" r="19030" b="26513"/>
            <a:stretch/>
          </p:blipFill>
          <p:spPr bwMode="auto">
            <a:xfrm>
              <a:off x="4643562" y="0"/>
              <a:ext cx="2941982" cy="1828800"/>
            </a:xfrm>
            <a:prstGeom prst="rect">
              <a:avLst/>
            </a:prstGeom>
            <a:ln>
              <a:noFill/>
            </a:ln>
            <a:extLst>
              <a:ext uri="{53640926-AAD7-44D8-BBD7-CCE9431645EC}">
                <a14:shadowObscured xmlns:a14="http://schemas.microsoft.com/office/drawing/2010/main"/>
              </a:ext>
            </a:extLst>
          </p:spPr>
        </p:pic>
        <p:pic>
          <p:nvPicPr>
            <p:cNvPr id="20" name="Picture 19"/>
            <p:cNvPicPr>
              <a:picLocks noChangeAspect="1"/>
            </p:cNvPicPr>
            <p:nvPr/>
          </p:nvPicPr>
          <p:blipFill rotWithShape="1">
            <a:blip r:embed="rId6" cstate="print">
              <a:extLst>
                <a:ext uri="{28A0092B-C50C-407E-A947-70E740481C1C}">
                  <a14:useLocalDpi xmlns:a14="http://schemas.microsoft.com/office/drawing/2010/main" val="0"/>
                </a:ext>
              </a:extLst>
            </a:blip>
            <a:srcRect l="1890" t="1444" r="5459" b="7583"/>
            <a:stretch/>
          </p:blipFill>
          <p:spPr bwMode="auto">
            <a:xfrm>
              <a:off x="0" y="0"/>
              <a:ext cx="4651513" cy="6098650"/>
            </a:xfrm>
            <a:prstGeom prst="rect">
              <a:avLst/>
            </a:prstGeom>
            <a:noFill/>
            <a:ln>
              <a:noFill/>
            </a:ln>
            <a:extLst>
              <a:ext uri="{53640926-AAD7-44D8-BBD7-CCE9431645EC}">
                <a14:shadowObscured xmlns:a14="http://schemas.microsoft.com/office/drawing/2010/main"/>
              </a:ext>
            </a:extLst>
          </p:spPr>
        </p:pic>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Clean premises and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This Unit comprises </a:t>
            </a:r>
            <a:r>
              <a:rPr lang="en-US" sz="2200" b="1" u="sng" dirty="0" smtClean="0">
                <a:latin typeface="Helvetica" pitchFamily="34" charset="0"/>
              </a:rPr>
              <a:t>three</a:t>
            </a:r>
            <a:r>
              <a:rPr lang="en-US" sz="2200" dirty="0" smtClean="0">
                <a:latin typeface="Helvetica" pitchFamily="34" charset="0"/>
              </a:rPr>
              <a:t> Elements:</a:t>
            </a:r>
          </a:p>
          <a:p>
            <a:pPr marL="493776" indent="-457200">
              <a:spcBef>
                <a:spcPts val="600"/>
              </a:spcBef>
              <a:spcAft>
                <a:spcPts val="1200"/>
              </a:spcAft>
              <a:buSzPct val="100000"/>
              <a:buFont typeface="+mj-lt"/>
              <a:buAutoNum type="arabicPeriod"/>
            </a:pPr>
            <a:r>
              <a:rPr lang="en-US" sz="2200" dirty="0" smtClean="0">
                <a:latin typeface="Helvetica" pitchFamily="34" charset="0"/>
              </a:rPr>
              <a:t>Develop operational policies</a:t>
            </a:r>
          </a:p>
          <a:p>
            <a:pPr marL="493776" indent="-457200">
              <a:spcBef>
                <a:spcPts val="600"/>
              </a:spcBef>
              <a:spcAft>
                <a:spcPts val="1200"/>
              </a:spcAft>
              <a:buSzPct val="100000"/>
              <a:buFont typeface="+mj-lt"/>
              <a:buAutoNum type="arabicPeriod"/>
            </a:pPr>
            <a:r>
              <a:rPr lang="en-US" sz="2200" dirty="0" smtClean="0">
                <a:latin typeface="Helvetica" pitchFamily="34" charset="0"/>
              </a:rPr>
              <a:t>Administer and monitor operational policy</a:t>
            </a:r>
          </a:p>
          <a:p>
            <a:pPr marL="493776" indent="-457200">
              <a:spcBef>
                <a:spcPts val="600"/>
              </a:spcBef>
              <a:spcAft>
                <a:spcPts val="1200"/>
              </a:spcAft>
              <a:buSzPct val="100000"/>
              <a:buFont typeface="+mj-lt"/>
              <a:buAutoNum type="arabicPeriod"/>
            </a:pPr>
            <a:r>
              <a:rPr lang="en-US" sz="2200" dirty="0" smtClean="0">
                <a:latin typeface="Helvetica" pitchFamily="34" charset="0"/>
              </a:rPr>
              <a:t>Conduct ongoing evaluation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a:t>
            </a:fld>
            <a:endParaRPr lang="en-US" dirty="0">
              <a:latin typeface="Helvetica" pitchFamily="34" charset="0"/>
            </a:endParaRPr>
          </a:p>
        </p:txBody>
      </p:sp>
      <p:pic>
        <p:nvPicPr>
          <p:cNvPr id="5" name="Picture 2" descr="C:\Documents and Settings\Godaishu\Desktop\PHOTOS\2014\Shutterstock 25-a-day\shutterstock_165728654.jpg"/>
          <p:cNvPicPr>
            <a:picLocks noChangeAspect="1" noChangeArrowheads="1"/>
          </p:cNvPicPr>
          <p:nvPr/>
        </p:nvPicPr>
        <p:blipFill>
          <a:blip r:embed="rId3" cstate="print"/>
          <a:srcRect/>
          <a:stretch>
            <a:fillRect/>
          </a:stretch>
        </p:blipFill>
        <p:spPr bwMode="auto">
          <a:xfrm>
            <a:off x="6248400" y="3447729"/>
            <a:ext cx="2098777" cy="1400277"/>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t>Assessment for this unit may include:</a:t>
            </a:r>
          </a:p>
          <a:p>
            <a:pPr marL="360000" indent="-360000">
              <a:spcBef>
                <a:spcPts val="600"/>
              </a:spcBef>
              <a:spcAft>
                <a:spcPts val="1200"/>
              </a:spcAft>
              <a:buClr>
                <a:srgbClr val="92D050"/>
              </a:buClr>
            </a:pPr>
            <a:r>
              <a:rPr lang="en-US" sz="2200" dirty="0" smtClean="0"/>
              <a:t>Oral questions</a:t>
            </a:r>
          </a:p>
          <a:p>
            <a:pPr marL="360000" indent="-360000">
              <a:spcBef>
                <a:spcPts val="600"/>
              </a:spcBef>
              <a:spcAft>
                <a:spcPts val="1200"/>
              </a:spcAft>
              <a:buClr>
                <a:srgbClr val="92D050"/>
              </a:buClr>
            </a:pPr>
            <a:r>
              <a:rPr lang="en-US" sz="2200" dirty="0" smtClean="0"/>
              <a:t>Written questions</a:t>
            </a:r>
          </a:p>
          <a:p>
            <a:pPr marL="360000" indent="-360000">
              <a:spcBef>
                <a:spcPts val="600"/>
              </a:spcBef>
              <a:spcAft>
                <a:spcPts val="1200"/>
              </a:spcAft>
              <a:buClr>
                <a:srgbClr val="92D050"/>
              </a:buClr>
            </a:pPr>
            <a:r>
              <a:rPr lang="en-US" sz="2200" dirty="0" smtClean="0"/>
              <a:t>Work projects</a:t>
            </a:r>
          </a:p>
          <a:p>
            <a:pPr marL="360000" indent="-360000">
              <a:spcBef>
                <a:spcPts val="600"/>
              </a:spcBef>
              <a:spcAft>
                <a:spcPts val="1200"/>
              </a:spcAft>
              <a:buClr>
                <a:srgbClr val="92D050"/>
              </a:buClr>
            </a:pPr>
            <a:r>
              <a:rPr lang="en-US" sz="2200" dirty="0" smtClean="0"/>
              <a:t>Workplace observation of practical skills</a:t>
            </a:r>
          </a:p>
          <a:p>
            <a:pPr marL="360000" indent="-360000">
              <a:spcBef>
                <a:spcPts val="600"/>
              </a:spcBef>
              <a:spcAft>
                <a:spcPts val="1200"/>
              </a:spcAft>
              <a:buClr>
                <a:srgbClr val="92D050"/>
              </a:buClr>
            </a:pPr>
            <a:r>
              <a:rPr lang="en-US" sz="2200" dirty="0" smtClean="0"/>
              <a:t>Practical exercises</a:t>
            </a:r>
          </a:p>
          <a:p>
            <a:pPr marL="360000" indent="-360000">
              <a:spcBef>
                <a:spcPts val="600"/>
              </a:spcBef>
              <a:spcAft>
                <a:spcPts val="1200"/>
              </a:spcAft>
              <a:buClr>
                <a:srgbClr val="92D050"/>
              </a:buClr>
            </a:pPr>
            <a:r>
              <a:rPr lang="en-US" sz="2200" dirty="0" smtClean="0"/>
              <a:t>Formal report from employer/supervisor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a:t>
            </a:fld>
            <a:endParaRPr lang="en-US" dirty="0"/>
          </a:p>
        </p:txBody>
      </p:sp>
      <p:pic>
        <p:nvPicPr>
          <p:cNvPr id="5" name="Picture 2" descr="C:\Documents and Settings\danielc\Local Settings\Temporary Internet Files\Content.IE5\7NII6ZZT\MP900439533[1].jpg"/>
          <p:cNvPicPr>
            <a:picLocks noChangeAspect="1" noChangeArrowheads="1"/>
          </p:cNvPicPr>
          <p:nvPr/>
        </p:nvPicPr>
        <p:blipFill>
          <a:blip r:embed="rId3" cstate="print"/>
          <a:srcRect/>
          <a:stretch>
            <a:fillRect/>
          </a:stretch>
        </p:blipFill>
        <p:spPr bwMode="auto">
          <a:xfrm>
            <a:off x="6143636" y="2276872"/>
            <a:ext cx="1930158" cy="1284934"/>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Element 1 – Develop operational policies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711349"/>
            <a:ext cx="6840760" cy="4525963"/>
          </a:xfrm>
        </p:spPr>
        <p:txBody>
          <a:bodyPr>
            <a:noAutofit/>
          </a:bodyPr>
          <a:lstStyle/>
          <a:p>
            <a:pPr marL="0" indent="0">
              <a:spcBef>
                <a:spcPts val="600"/>
              </a:spcBef>
              <a:spcAft>
                <a:spcPts val="1000"/>
              </a:spcAft>
              <a:buNone/>
            </a:pPr>
            <a:r>
              <a:rPr lang="en-US" sz="2100" dirty="0" smtClean="0">
                <a:latin typeface="Helvetica" pitchFamily="34" charset="0"/>
              </a:rPr>
              <a:t>Performance Criteria for this Element are:</a:t>
            </a:r>
          </a:p>
          <a:p>
            <a:pPr marL="360000" indent="-360000">
              <a:spcBef>
                <a:spcPts val="600"/>
              </a:spcBef>
              <a:spcAft>
                <a:spcPts val="1000"/>
              </a:spcAft>
            </a:pPr>
            <a:r>
              <a:rPr lang="en-AU" sz="2100" dirty="0" smtClean="0">
                <a:latin typeface="Helvetica" pitchFamily="34" charset="0"/>
              </a:rPr>
              <a:t>Develop operational polices and strategies based on monitoring of workplace needs and identification of opportunities for improvement and innovation</a:t>
            </a:r>
          </a:p>
          <a:p>
            <a:pPr marL="360000" indent="-360000">
              <a:spcBef>
                <a:spcPts val="600"/>
              </a:spcBef>
              <a:spcAft>
                <a:spcPts val="1000"/>
              </a:spcAft>
            </a:pPr>
            <a:r>
              <a:rPr lang="en-AU" sz="2100" dirty="0" smtClean="0">
                <a:latin typeface="Helvetica" pitchFamily="34" charset="0"/>
              </a:rPr>
              <a:t>Develop scope and objectives of the required initiative based on enterprise goals, staff and customer feedback</a:t>
            </a:r>
          </a:p>
          <a:p>
            <a:pPr marL="360000" indent="-360000">
              <a:spcBef>
                <a:spcPts val="600"/>
              </a:spcBef>
              <a:spcAft>
                <a:spcPts val="1000"/>
              </a:spcAft>
            </a:pPr>
            <a:r>
              <a:rPr lang="en-AU" sz="2100" dirty="0" smtClean="0">
                <a:latin typeface="Helvetica" pitchFamily="34" charset="0"/>
              </a:rPr>
              <a:t>Identify and analyse internal and external factors that may impact on the policy</a:t>
            </a:r>
          </a:p>
          <a:p>
            <a:pPr marL="360000" indent="-360000">
              <a:spcBef>
                <a:spcPts val="600"/>
              </a:spcBef>
              <a:spcAft>
                <a:spcPts val="1000"/>
              </a:spcAft>
            </a:pPr>
            <a:r>
              <a:rPr lang="en-AU" sz="2100" dirty="0" smtClean="0">
                <a:latin typeface="Helvetica" pitchFamily="34" charset="0"/>
              </a:rPr>
              <a:t>Consult appropriate stakeholders during the development of the policy</a:t>
            </a:r>
            <a:endParaRPr lang="en-US" sz="2100" dirty="0" smtClean="0">
              <a:latin typeface="Helvetica" pitchFamily="34" charset="0"/>
            </a:endParaRPr>
          </a:p>
          <a:p>
            <a:pPr marL="360000" indent="-360000">
              <a:spcBef>
                <a:spcPts val="600"/>
              </a:spcBef>
              <a:spcAft>
                <a:spcPts val="1000"/>
              </a:spcAft>
              <a:buNone/>
            </a:pPr>
            <a:r>
              <a:rPr lang="en-US" sz="2100" dirty="0" smtClean="0">
                <a:latin typeface="Helvetica" pitchFamily="34" charset="0"/>
              </a:rPr>
              <a:t>(Continued)</a:t>
            </a:r>
          </a:p>
          <a:p>
            <a:pPr marL="360000" indent="-360000">
              <a:spcBef>
                <a:spcPts val="600"/>
              </a:spcBef>
              <a:spcAft>
                <a:spcPts val="1000"/>
              </a:spcAft>
              <a:buNone/>
            </a:pPr>
            <a:endParaRPr lang="en-US" sz="21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a:t>
            </a:fld>
            <a:endParaRPr lang="en-US" dirty="0">
              <a:latin typeface="Helvetica" pitchFamily="34" charset="0"/>
            </a:endParaRPr>
          </a:p>
        </p:txBody>
      </p:sp>
      <p:pic>
        <p:nvPicPr>
          <p:cNvPr id="5" name="Picture 2" descr="C:\Users\danielc\AppData\Local\Microsoft\Windows\Temporary Internet Files\Content.IE5\B95PH30U\MC900432658[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68344" y="3212976"/>
            <a:ext cx="1282452" cy="128245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Element 1 – Develop operational policies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056784" cy="4525963"/>
          </a:xfrm>
        </p:spPr>
        <p:txBody>
          <a:bodyPr>
            <a:normAutofit/>
          </a:bodyPr>
          <a:lstStyle/>
          <a:p>
            <a:pPr marL="360000" indent="-360000">
              <a:spcBef>
                <a:spcPts val="600"/>
              </a:spcBef>
              <a:spcAft>
                <a:spcPts val="1200"/>
              </a:spcAft>
            </a:pPr>
            <a:r>
              <a:rPr lang="en-AU" sz="2200" dirty="0" smtClean="0">
                <a:latin typeface="Helvetica" pitchFamily="34" charset="0"/>
              </a:rPr>
              <a:t>Develop appropriate and financially-sound resource strategies</a:t>
            </a:r>
          </a:p>
          <a:p>
            <a:pPr marL="360000" indent="-360000">
              <a:spcBef>
                <a:spcPts val="600"/>
              </a:spcBef>
              <a:spcAft>
                <a:spcPts val="1200"/>
              </a:spcAft>
            </a:pPr>
            <a:r>
              <a:rPr lang="en-AU" sz="2200" dirty="0" smtClean="0">
                <a:latin typeface="Helvetica" pitchFamily="34" charset="0"/>
              </a:rPr>
              <a:t>Develop administrative framework and systems capable of supporting the planned initiative</a:t>
            </a:r>
          </a:p>
          <a:p>
            <a:pPr marL="360000" indent="-360000">
              <a:spcBef>
                <a:spcPts val="600"/>
              </a:spcBef>
              <a:spcAft>
                <a:spcPts val="1200"/>
              </a:spcAft>
            </a:pPr>
            <a:r>
              <a:rPr lang="en-AU" sz="2200" dirty="0" smtClean="0">
                <a:latin typeface="Helvetica" pitchFamily="34" charset="0"/>
              </a:rPr>
              <a:t>Identify and communicate clearly all priorities, responsibilities and timelines</a:t>
            </a:r>
          </a:p>
          <a:p>
            <a:pPr marL="360000" indent="-360000">
              <a:spcBef>
                <a:spcPts val="600"/>
              </a:spcBef>
              <a:spcAft>
                <a:spcPts val="1200"/>
              </a:spcAft>
            </a:pPr>
            <a:r>
              <a:rPr lang="en-AU" sz="2200" dirty="0" smtClean="0">
                <a:latin typeface="Helvetica" pitchFamily="34" charset="0"/>
              </a:rPr>
              <a:t>Develop evaluation systems in consultation with appropriate colleagues</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a:t>
            </a:fld>
            <a:endParaRPr lang="en-US" dirty="0">
              <a:latin typeface="Helvetica" pitchFamily="34" charset="0"/>
            </a:endParaRPr>
          </a:p>
        </p:txBody>
      </p:sp>
      <p:pic>
        <p:nvPicPr>
          <p:cNvPr id="5" name="Picture 2" descr="C:\Users\danielc\AppData\Local\Microsoft\Windows\Temporary Internet Files\Content.IE5\B95PH30U\MC900432658[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01446" y="2636912"/>
            <a:ext cx="1426468" cy="142646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332656"/>
            <a:ext cx="8215370" cy="1143000"/>
          </a:xfrm>
        </p:spPr>
        <p:txBody>
          <a:bodyPr>
            <a:normAutofit fontScale="90000"/>
          </a:bodyPr>
          <a:lstStyle/>
          <a:p>
            <a:r>
              <a:rPr lang="en-AU" sz="3400" b="1" dirty="0" smtClean="0">
                <a:solidFill>
                  <a:srgbClr val="FF6600"/>
                </a:solidFill>
                <a:latin typeface="Helvetica" pitchFamily="34" charset="0"/>
              </a:rPr>
              <a:t>Develop operational polices and strategies based on needs and opportunities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6912768" cy="4525963"/>
          </a:xfrm>
        </p:spPr>
        <p:txBody>
          <a:bodyPr>
            <a:normAutofit/>
          </a:bodyPr>
          <a:lstStyle/>
          <a:p>
            <a:pPr marL="0" indent="0">
              <a:spcBef>
                <a:spcPts val="600"/>
              </a:spcBef>
              <a:spcAft>
                <a:spcPts val="1200"/>
              </a:spcAft>
              <a:buNone/>
            </a:pPr>
            <a:r>
              <a:rPr lang="en-US" sz="2200" dirty="0" smtClean="0">
                <a:latin typeface="Helvetica" pitchFamily="34" charset="0"/>
              </a:rPr>
              <a:t>It is vital to understand organisations involved with developing operational plans will:</a:t>
            </a:r>
            <a:endParaRPr lang="en-US" sz="3100" b="1" dirty="0" smtClean="0">
              <a:solidFill>
                <a:srgbClr val="FF6600"/>
              </a:solidFill>
              <a:latin typeface="Helvetica" pitchFamily="34" charset="0"/>
              <a:ea typeface="+mj-ea"/>
              <a:cs typeface="+mj-cs"/>
            </a:endParaRPr>
          </a:p>
          <a:p>
            <a:pPr marL="360000" indent="-360000">
              <a:spcBef>
                <a:spcPts val="600"/>
              </a:spcBef>
              <a:spcAft>
                <a:spcPts val="1200"/>
              </a:spcAft>
            </a:pPr>
            <a:r>
              <a:rPr lang="en-US" sz="2200" dirty="0" smtClean="0">
                <a:latin typeface="Helvetica" pitchFamily="34" charset="0"/>
              </a:rPr>
              <a:t>Have a suite of formal plans</a:t>
            </a:r>
          </a:p>
          <a:p>
            <a:pPr marL="360000" indent="-360000">
              <a:spcBef>
                <a:spcPts val="600"/>
              </a:spcBef>
              <a:spcAft>
                <a:spcPts val="1200"/>
              </a:spcAft>
            </a:pPr>
            <a:r>
              <a:rPr lang="en-US" sz="2200" dirty="0" smtClean="0">
                <a:latin typeface="Helvetica" pitchFamily="34" charset="0"/>
              </a:rPr>
              <a:t>Require the plans to form the basis of the policies</a:t>
            </a:r>
          </a:p>
          <a:p>
            <a:pPr marL="360000" indent="-360000">
              <a:spcBef>
                <a:spcPts val="600"/>
              </a:spcBef>
              <a:spcAft>
                <a:spcPts val="1200"/>
              </a:spcAft>
            </a:pPr>
            <a:r>
              <a:rPr lang="en-US" sz="2200" dirty="0" smtClean="0">
                <a:latin typeface="Helvetica" pitchFamily="34" charset="0"/>
              </a:rPr>
              <a:t>Develop procedures from the policies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a:t>
            </a:fld>
            <a:endParaRPr lang="en-US" dirty="0">
              <a:latin typeface="Helvetica" pitchFamily="34" charset="0"/>
            </a:endParaRPr>
          </a:p>
        </p:txBody>
      </p:sp>
      <p:pic>
        <p:nvPicPr>
          <p:cNvPr id="5" name="Picture 4" descr="A7 shutterstock_138419417.jpg"/>
          <p:cNvPicPr>
            <a:picLocks noChangeAspect="1"/>
          </p:cNvPicPr>
          <p:nvPr/>
        </p:nvPicPr>
        <p:blipFill>
          <a:blip r:embed="rId3" cstate="print"/>
          <a:stretch>
            <a:fillRect/>
          </a:stretch>
        </p:blipFill>
        <p:spPr>
          <a:xfrm>
            <a:off x="6372200" y="3725281"/>
            <a:ext cx="1956589" cy="1301132"/>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332656"/>
            <a:ext cx="8215370" cy="1143000"/>
          </a:xfrm>
        </p:spPr>
        <p:txBody>
          <a:bodyPr>
            <a:normAutofit fontScale="90000"/>
          </a:bodyPr>
          <a:lstStyle/>
          <a:p>
            <a:r>
              <a:rPr lang="en-AU" sz="3400" b="1" dirty="0" smtClean="0">
                <a:solidFill>
                  <a:srgbClr val="FF6600"/>
                </a:solidFill>
                <a:latin typeface="Helvetica" pitchFamily="34" charset="0"/>
              </a:rPr>
              <a:t>Develop operational polices and strategies based on needs and opportunities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6840760" cy="4525963"/>
          </a:xfrm>
        </p:spPr>
        <p:txBody>
          <a:bodyPr>
            <a:normAutofit/>
          </a:bodyPr>
          <a:lstStyle/>
          <a:p>
            <a:pPr marL="0" indent="0">
              <a:spcBef>
                <a:spcPts val="600"/>
              </a:spcBef>
              <a:spcAft>
                <a:spcPts val="1200"/>
              </a:spcAft>
              <a:buNone/>
            </a:pPr>
            <a:r>
              <a:rPr lang="en-US" sz="2200" dirty="0" smtClean="0">
                <a:latin typeface="Helvetica" pitchFamily="34" charset="0"/>
              </a:rPr>
              <a:t>In the context of this unit ‘operational’ means/refers to:</a:t>
            </a:r>
            <a:endParaRPr lang="en-US" sz="3100" b="1" dirty="0" smtClean="0">
              <a:solidFill>
                <a:srgbClr val="FF6600"/>
              </a:solidFill>
              <a:latin typeface="Helvetica" pitchFamily="34" charset="0"/>
              <a:ea typeface="+mj-ea"/>
              <a:cs typeface="+mj-cs"/>
            </a:endParaRPr>
          </a:p>
          <a:p>
            <a:pPr marL="360000" indent="-360000">
              <a:spcBef>
                <a:spcPts val="600"/>
              </a:spcBef>
              <a:spcAft>
                <a:spcPts val="1200"/>
              </a:spcAft>
            </a:pPr>
            <a:r>
              <a:rPr lang="en-AU" sz="2200" dirty="0" smtClean="0">
                <a:latin typeface="Helvetica" pitchFamily="34" charset="0"/>
              </a:rPr>
              <a:t>Day-to-day activities of the business</a:t>
            </a:r>
          </a:p>
          <a:p>
            <a:pPr marL="360000" indent="-360000">
              <a:spcBef>
                <a:spcPts val="600"/>
              </a:spcBef>
              <a:spcAft>
                <a:spcPts val="1200"/>
              </a:spcAft>
            </a:pPr>
            <a:r>
              <a:rPr lang="en-AU" sz="2200" dirty="0" smtClean="0">
                <a:latin typeface="Helvetica" pitchFamily="34" charset="0"/>
              </a:rPr>
              <a:t>Daily actions employees/managers need to take</a:t>
            </a:r>
          </a:p>
          <a:p>
            <a:pPr marL="360000" indent="-360000">
              <a:spcBef>
                <a:spcPts val="600"/>
              </a:spcBef>
              <a:spcAft>
                <a:spcPts val="1200"/>
              </a:spcAft>
            </a:pPr>
            <a:r>
              <a:rPr lang="en-AU" sz="2200" dirty="0" smtClean="0">
                <a:latin typeface="Helvetica" pitchFamily="34" charset="0"/>
              </a:rPr>
              <a:t>Frequent decisions to be made within the business</a:t>
            </a:r>
          </a:p>
          <a:p>
            <a:pPr marL="360000" indent="-360000">
              <a:spcBef>
                <a:spcPts val="600"/>
              </a:spcBef>
              <a:spcAft>
                <a:spcPts val="1200"/>
              </a:spcAft>
            </a:pPr>
            <a:r>
              <a:rPr lang="en-AU" sz="2200" dirty="0" smtClean="0">
                <a:latin typeface="Helvetica" pitchFamily="34" charset="0"/>
              </a:rPr>
              <a:t>Topics of ongoing concern</a:t>
            </a:r>
          </a:p>
          <a:p>
            <a:pPr marL="360000" indent="-360000">
              <a:spcBef>
                <a:spcPts val="600"/>
              </a:spcBef>
              <a:spcAft>
                <a:spcPts val="1200"/>
              </a:spcAft>
            </a:pPr>
            <a:r>
              <a:rPr lang="en-AU" sz="2200" dirty="0" smtClean="0">
                <a:latin typeface="Helvetica" pitchFamily="34" charset="0"/>
              </a:rPr>
              <a:t>Activities which are fundamental to the operation of the business as required/intended</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a:t>
            </a:fld>
            <a:endParaRPr lang="en-US" dirty="0">
              <a:latin typeface="Helvetica" pitchFamily="34" charset="0"/>
            </a:endParaRPr>
          </a:p>
        </p:txBody>
      </p:sp>
      <p:pic>
        <p:nvPicPr>
          <p:cNvPr id="5" name="Picture 4" descr="C:\Documents and Settings\Godaishu\Desktop\PHOTOS\2014\Shutterstock 25-a-day\shutterstock_174521741.jpg"/>
          <p:cNvPicPr/>
          <p:nvPr/>
        </p:nvPicPr>
        <p:blipFill>
          <a:blip r:embed="rId3" cstate="print"/>
          <a:srcRect/>
          <a:stretch>
            <a:fillRect/>
          </a:stretch>
        </p:blipFill>
        <p:spPr bwMode="auto">
          <a:xfrm>
            <a:off x="7524328" y="1874339"/>
            <a:ext cx="1479098" cy="139497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332656"/>
            <a:ext cx="8215370" cy="1143000"/>
          </a:xfrm>
        </p:spPr>
        <p:txBody>
          <a:bodyPr>
            <a:normAutofit fontScale="90000"/>
          </a:bodyPr>
          <a:lstStyle/>
          <a:p>
            <a:r>
              <a:rPr lang="en-AU" sz="3400" b="1" dirty="0" smtClean="0">
                <a:solidFill>
                  <a:srgbClr val="FF6600"/>
                </a:solidFill>
                <a:latin typeface="Helvetica" pitchFamily="34" charset="0"/>
              </a:rPr>
              <a:t>Develop operational polices and strategies based on needs and opportunities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Characteristics of operational policies – they:</a:t>
            </a:r>
            <a:endParaRPr lang="en-US" sz="3100" b="1" dirty="0" smtClean="0">
              <a:solidFill>
                <a:srgbClr val="FF6600"/>
              </a:solidFill>
              <a:latin typeface="Helvetica" pitchFamily="34" charset="0"/>
              <a:ea typeface="+mj-ea"/>
              <a:cs typeface="+mj-cs"/>
            </a:endParaRPr>
          </a:p>
          <a:p>
            <a:pPr marL="360000" indent="-360000">
              <a:spcBef>
                <a:spcPts val="600"/>
              </a:spcBef>
              <a:spcAft>
                <a:spcPts val="1200"/>
              </a:spcAft>
            </a:pPr>
            <a:r>
              <a:rPr lang="en-AU" sz="2200" dirty="0" smtClean="0">
                <a:latin typeface="Helvetica" pitchFamily="34" charset="0"/>
              </a:rPr>
              <a:t>Flow from the plans of the business</a:t>
            </a:r>
            <a:endParaRPr lang="en-US"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Represent the philosophy of the business</a:t>
            </a:r>
          </a:p>
          <a:p>
            <a:pPr marL="360000" indent="-360000">
              <a:spcBef>
                <a:spcPts val="600"/>
              </a:spcBef>
              <a:spcAft>
                <a:spcPts val="1200"/>
              </a:spcAft>
            </a:pPr>
            <a:r>
              <a:rPr lang="en-AU" sz="2200" dirty="0" smtClean="0">
                <a:latin typeface="Helvetica" pitchFamily="34" charset="0"/>
              </a:rPr>
              <a:t>Define the position of the organisation on a matter</a:t>
            </a:r>
          </a:p>
          <a:p>
            <a:pPr marL="360000" indent="-360000">
              <a:spcBef>
                <a:spcPts val="600"/>
              </a:spcBef>
              <a:spcAft>
                <a:spcPts val="1200"/>
              </a:spcAft>
              <a:buNone/>
            </a:pPr>
            <a:r>
              <a:rPr lang="en-AU" sz="2200" dirty="0" smtClean="0">
                <a:latin typeface="Helvetica" pitchFamily="34" charset="0"/>
              </a:rPr>
              <a:t>(Continued)</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a:t>
            </a:fld>
            <a:endParaRPr lang="en-US" dirty="0">
              <a:latin typeface="Helvetica" pitchFamily="34" charset="0"/>
            </a:endParaRPr>
          </a:p>
        </p:txBody>
      </p:sp>
      <p:pic>
        <p:nvPicPr>
          <p:cNvPr id="5" name="Picture 4" descr="A7 shutterstock_138419417.jpg"/>
          <p:cNvPicPr>
            <a:picLocks noChangeAspect="1"/>
          </p:cNvPicPr>
          <p:nvPr/>
        </p:nvPicPr>
        <p:blipFill>
          <a:blip r:embed="rId3" cstate="print"/>
          <a:stretch>
            <a:fillRect/>
          </a:stretch>
        </p:blipFill>
        <p:spPr>
          <a:xfrm>
            <a:off x="3419872" y="4024311"/>
            <a:ext cx="2382219" cy="1584176"/>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332656"/>
            <a:ext cx="8215370" cy="1143000"/>
          </a:xfrm>
        </p:spPr>
        <p:txBody>
          <a:bodyPr>
            <a:normAutofit fontScale="90000"/>
          </a:bodyPr>
          <a:lstStyle/>
          <a:p>
            <a:r>
              <a:rPr lang="en-AU" sz="3400" b="1" dirty="0" smtClean="0">
                <a:solidFill>
                  <a:srgbClr val="FF6600"/>
                </a:solidFill>
                <a:latin typeface="Helvetica" pitchFamily="34" charset="0"/>
              </a:rPr>
              <a:t>Develop operational polices and strategies based on needs and opportunities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11349"/>
            <a:ext cx="7467600" cy="4525963"/>
          </a:xfrm>
        </p:spPr>
        <p:txBody>
          <a:bodyPr>
            <a:normAutofit/>
          </a:bodyPr>
          <a:lstStyle/>
          <a:p>
            <a:pPr marL="360000" indent="-360000">
              <a:spcBef>
                <a:spcPts val="600"/>
              </a:spcBef>
              <a:spcAft>
                <a:spcPts val="1200"/>
              </a:spcAft>
            </a:pPr>
            <a:r>
              <a:rPr lang="en-AU" sz="2200" dirty="0" smtClean="0">
                <a:latin typeface="Helvetica" pitchFamily="34" charset="0"/>
              </a:rPr>
              <a:t>Are developed before procedures</a:t>
            </a:r>
          </a:p>
          <a:p>
            <a:pPr marL="360000" indent="-360000">
              <a:spcBef>
                <a:spcPts val="600"/>
              </a:spcBef>
              <a:spcAft>
                <a:spcPts val="1200"/>
              </a:spcAft>
            </a:pPr>
            <a:r>
              <a:rPr lang="en-AU" sz="2200" dirty="0" smtClean="0">
                <a:latin typeface="Helvetica" pitchFamily="34" charset="0"/>
              </a:rPr>
              <a:t>State the intention and expectations of the organisation </a:t>
            </a:r>
          </a:p>
          <a:p>
            <a:pPr marL="360000" indent="-360000">
              <a:spcBef>
                <a:spcPts val="600"/>
              </a:spcBef>
              <a:spcAft>
                <a:spcPts val="1200"/>
              </a:spcAft>
            </a:pPr>
            <a:r>
              <a:rPr lang="en-AU" sz="2200" dirty="0" smtClean="0">
                <a:latin typeface="Helvetica" pitchFamily="34" charset="0"/>
              </a:rPr>
              <a:t>Explain what the organisation wants to achieve</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a:t>
            </a:fld>
            <a:endParaRPr lang="en-US" dirty="0">
              <a:latin typeface="Helvetica" pitchFamily="34" charset="0"/>
            </a:endParaRPr>
          </a:p>
        </p:txBody>
      </p:sp>
      <p:pic>
        <p:nvPicPr>
          <p:cNvPr id="1026" name="Picture 2" descr="I:\Overseas Projects\PHOTOS\2014\Shutterstock 25-a-day\shutterstock_94314028.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07904" y="3789040"/>
            <a:ext cx="1910258" cy="17669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332656"/>
            <a:ext cx="8215370" cy="1143000"/>
          </a:xfrm>
        </p:spPr>
        <p:txBody>
          <a:bodyPr>
            <a:normAutofit fontScale="90000"/>
          </a:bodyPr>
          <a:lstStyle/>
          <a:p>
            <a:r>
              <a:rPr lang="en-AU" sz="3400" b="1" dirty="0" smtClean="0">
                <a:solidFill>
                  <a:srgbClr val="FF6600"/>
                </a:solidFill>
                <a:latin typeface="Helvetica" pitchFamily="34" charset="0"/>
              </a:rPr>
              <a:t>Develop operational polices and strategies based on needs and opportunities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AU" sz="2200" dirty="0" smtClean="0">
                <a:latin typeface="Helvetica" pitchFamily="34" charset="0"/>
              </a:rPr>
              <a:t>Define and describe how the organisation will act in given situations</a:t>
            </a:r>
            <a:endParaRPr lang="en-US"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Are the ‘rules’ of the organisation </a:t>
            </a:r>
            <a:endParaRPr lang="en-US"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Give consistency in the way the organisation operates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a:t>
            </a:fld>
            <a:endParaRPr lang="en-US" dirty="0">
              <a:latin typeface="Helvetica" pitchFamily="34" charset="0"/>
            </a:endParaRPr>
          </a:p>
        </p:txBody>
      </p:sp>
      <p:pic>
        <p:nvPicPr>
          <p:cNvPr id="2050" name="Picture 2" descr="I:\Overseas Projects\PHOTOS\2014\Shutterstock 25-a-day\shutterstock_105825518.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91880" y="3830066"/>
            <a:ext cx="2019871" cy="214026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332656"/>
            <a:ext cx="8215370" cy="1143000"/>
          </a:xfrm>
        </p:spPr>
        <p:txBody>
          <a:bodyPr>
            <a:normAutofit fontScale="90000"/>
          </a:bodyPr>
          <a:lstStyle/>
          <a:p>
            <a:r>
              <a:rPr lang="en-AU" sz="3400" b="1" dirty="0" smtClean="0">
                <a:solidFill>
                  <a:srgbClr val="FF6600"/>
                </a:solidFill>
                <a:latin typeface="Helvetica" pitchFamily="34" charset="0"/>
              </a:rPr>
              <a:t>Develop operational polices and strategies based on needs and opportunities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Contain a ‘rationale’ </a:t>
            </a:r>
          </a:p>
          <a:p>
            <a:pPr marL="360000" indent="-360000">
              <a:spcBef>
                <a:spcPts val="600"/>
              </a:spcBef>
              <a:spcAft>
                <a:spcPts val="1200"/>
              </a:spcAft>
            </a:pPr>
            <a:r>
              <a:rPr lang="en-US" sz="2200" dirty="0" smtClean="0">
                <a:latin typeface="Helvetica" pitchFamily="34" charset="0"/>
              </a:rPr>
              <a:t>Provide guidance to employees</a:t>
            </a:r>
          </a:p>
          <a:p>
            <a:pPr marL="360000" indent="-360000">
              <a:spcBef>
                <a:spcPts val="600"/>
              </a:spcBef>
              <a:spcAft>
                <a:spcPts val="1200"/>
              </a:spcAft>
            </a:pPr>
            <a:r>
              <a:rPr lang="en-US" sz="2200" dirty="0" smtClean="0">
                <a:latin typeface="Helvetica" pitchFamily="34" charset="0"/>
              </a:rPr>
              <a:t>Identify responsibilities for action/s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a:t>
            </a:fld>
            <a:endParaRPr lang="en-US" dirty="0">
              <a:latin typeface="Helvetica" pitchFamily="34" charset="0"/>
            </a:endParaRPr>
          </a:p>
        </p:txBody>
      </p:sp>
      <p:pic>
        <p:nvPicPr>
          <p:cNvPr id="3074" name="Picture 2" descr="I:\Overseas Projects\PHOTOS\2014\Shutterstock 25-a-day\shutterstock_122825407.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59832" y="3645024"/>
            <a:ext cx="2831976" cy="188945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332656"/>
            <a:ext cx="8215370" cy="1143000"/>
          </a:xfrm>
        </p:spPr>
        <p:txBody>
          <a:bodyPr>
            <a:normAutofit fontScale="90000"/>
          </a:bodyPr>
          <a:lstStyle/>
          <a:p>
            <a:r>
              <a:rPr lang="en-AU" sz="3400" b="1" dirty="0" smtClean="0">
                <a:solidFill>
                  <a:srgbClr val="FF6600"/>
                </a:solidFill>
                <a:latin typeface="Helvetica" pitchFamily="34" charset="0"/>
              </a:rPr>
              <a:t>Develop operational polices and strategies based on needs and opportunities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AU" sz="2200" dirty="0" smtClean="0">
                <a:latin typeface="Helvetica" pitchFamily="34" charset="0"/>
              </a:rPr>
              <a:t>Prescribe timing considerations</a:t>
            </a:r>
          </a:p>
          <a:p>
            <a:pPr marL="360000" indent="-360000">
              <a:spcBef>
                <a:spcPts val="600"/>
              </a:spcBef>
              <a:spcAft>
                <a:spcPts val="1200"/>
              </a:spcAft>
            </a:pPr>
            <a:r>
              <a:rPr lang="en-AU" sz="2200" dirty="0" smtClean="0">
                <a:latin typeface="Helvetica" pitchFamily="34" charset="0"/>
              </a:rPr>
              <a:t>Resolve anticipated problems </a:t>
            </a:r>
          </a:p>
          <a:p>
            <a:pPr marL="360000" indent="-360000">
              <a:spcBef>
                <a:spcPts val="600"/>
              </a:spcBef>
              <a:spcAft>
                <a:spcPts val="1200"/>
              </a:spcAft>
            </a:pPr>
            <a:r>
              <a:rPr lang="en-AU" sz="2200" dirty="0" smtClean="0">
                <a:latin typeface="Helvetica" pitchFamily="34" charset="0"/>
              </a:rPr>
              <a:t>Identify documentation to be used </a:t>
            </a:r>
            <a:endParaRPr lang="en-US" sz="2200" dirty="0" smtClean="0">
              <a:latin typeface="Helvetica" pitchFamily="34" charset="0"/>
            </a:endParaRP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a:t>
            </a:fld>
            <a:endParaRPr lang="en-US" dirty="0">
              <a:latin typeface="Helvetica" pitchFamily="34" charset="0"/>
            </a:endParaRPr>
          </a:p>
        </p:txBody>
      </p:sp>
      <p:pic>
        <p:nvPicPr>
          <p:cNvPr id="4098" name="Picture 2" descr="I:\Overseas Projects\PHOTOS\2014\Shutterstock 25-a-day\shutterstock_114659890.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60663" y="3556000"/>
            <a:ext cx="3048000" cy="20335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332656"/>
            <a:ext cx="8215370" cy="1143000"/>
          </a:xfrm>
        </p:spPr>
        <p:txBody>
          <a:bodyPr>
            <a:normAutofit fontScale="90000"/>
          </a:bodyPr>
          <a:lstStyle/>
          <a:p>
            <a:r>
              <a:rPr lang="en-AU" sz="3400" b="1" dirty="0" smtClean="0">
                <a:solidFill>
                  <a:srgbClr val="FF6600"/>
                </a:solidFill>
                <a:latin typeface="Helvetica" pitchFamily="34" charset="0"/>
              </a:rPr>
              <a:t>Develop operational polices and strategies based on needs and opportunities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AU" sz="2200" dirty="0" smtClean="0">
                <a:latin typeface="Helvetica" pitchFamily="34" charset="0"/>
              </a:rPr>
              <a:t>Contain information on legal and regulatory requirements </a:t>
            </a:r>
            <a:endParaRPr lang="en-US"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Align with other public statements of the organisation</a:t>
            </a:r>
            <a:endParaRPr lang="en-US"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Should be formalised by being </a:t>
            </a:r>
            <a:r>
              <a:rPr lang="en-AU" sz="2200" i="1" dirty="0" smtClean="0">
                <a:latin typeface="Helvetica" pitchFamily="34" charset="0"/>
              </a:rPr>
              <a:t>written </a:t>
            </a:r>
            <a:r>
              <a:rPr lang="en-AU" sz="2200" dirty="0" smtClean="0">
                <a:latin typeface="Helvetica" pitchFamily="34" charset="0"/>
              </a:rPr>
              <a:t>documents</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a:t>
            </a:fld>
            <a:endParaRPr lang="en-US" dirty="0">
              <a:latin typeface="Helvetica" pitchFamily="34" charset="0"/>
            </a:endParaRPr>
          </a:p>
        </p:txBody>
      </p:sp>
      <p:pic>
        <p:nvPicPr>
          <p:cNvPr id="5122" name="Picture 2" descr="I:\Overseas Projects\PHOTOS\2014\Shutterstock 25-a-day\shutterstock_148416917.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59832" y="3821594"/>
            <a:ext cx="2903984" cy="21084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332656"/>
            <a:ext cx="8215370" cy="1143000"/>
          </a:xfrm>
        </p:spPr>
        <p:txBody>
          <a:bodyPr>
            <a:normAutofit fontScale="90000"/>
          </a:bodyPr>
          <a:lstStyle/>
          <a:p>
            <a:r>
              <a:rPr lang="en-AU" sz="3400" b="1" dirty="0" smtClean="0">
                <a:solidFill>
                  <a:srgbClr val="FF6600"/>
                </a:solidFill>
                <a:latin typeface="Helvetica" pitchFamily="34" charset="0"/>
              </a:rPr>
              <a:t>Develop operational polices and strategies based on needs and opportunities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Common contents of operational polices (which can vary between organisations):</a:t>
            </a:r>
            <a:endParaRPr lang="en-US" sz="3100" b="1" dirty="0" smtClean="0">
              <a:solidFill>
                <a:srgbClr val="FF6600"/>
              </a:solidFill>
              <a:latin typeface="Helvetica" pitchFamily="34" charset="0"/>
              <a:ea typeface="+mj-ea"/>
              <a:cs typeface="+mj-cs"/>
            </a:endParaRPr>
          </a:p>
          <a:p>
            <a:pPr marL="360000" indent="-360000">
              <a:spcBef>
                <a:spcPts val="600"/>
              </a:spcBef>
              <a:spcAft>
                <a:spcPts val="1200"/>
              </a:spcAft>
            </a:pPr>
            <a:r>
              <a:rPr lang="en-US" sz="2200" dirty="0" smtClean="0">
                <a:latin typeface="Helvetica" pitchFamily="34" charset="0"/>
              </a:rPr>
              <a:t>Name/title of policy</a:t>
            </a:r>
          </a:p>
          <a:p>
            <a:pPr marL="360000" indent="-360000">
              <a:spcBef>
                <a:spcPts val="600"/>
              </a:spcBef>
              <a:spcAft>
                <a:spcPts val="1200"/>
              </a:spcAft>
            </a:pPr>
            <a:r>
              <a:rPr lang="en-US" sz="2200" dirty="0" smtClean="0">
                <a:latin typeface="Helvetica" pitchFamily="34" charset="0"/>
              </a:rPr>
              <a:t>Purpose</a:t>
            </a:r>
          </a:p>
          <a:p>
            <a:pPr marL="360000" indent="-360000">
              <a:spcBef>
                <a:spcPts val="600"/>
              </a:spcBef>
              <a:spcAft>
                <a:spcPts val="1200"/>
              </a:spcAft>
            </a:pPr>
            <a:r>
              <a:rPr lang="en-US" sz="2200" dirty="0" smtClean="0">
                <a:latin typeface="Helvetica" pitchFamily="34" charset="0"/>
              </a:rPr>
              <a:t>Scope</a:t>
            </a:r>
          </a:p>
          <a:p>
            <a:pPr marL="360000" indent="-360000">
              <a:spcBef>
                <a:spcPts val="600"/>
              </a:spcBef>
              <a:spcAft>
                <a:spcPts val="1200"/>
              </a:spcAft>
            </a:pPr>
            <a:r>
              <a:rPr lang="en-US" sz="2200" dirty="0" smtClean="0">
                <a:latin typeface="Helvetica" pitchFamily="34" charset="0"/>
              </a:rPr>
              <a:t>Implementation date</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a:t>
            </a:fld>
            <a:endParaRPr lang="en-US" dirty="0">
              <a:latin typeface="Helvetica" pitchFamily="34" charset="0"/>
            </a:endParaRPr>
          </a:p>
        </p:txBody>
      </p:sp>
      <p:pic>
        <p:nvPicPr>
          <p:cNvPr id="6" name="Picture 5" descr="shutterstock_114942709.jpg"/>
          <p:cNvPicPr/>
          <p:nvPr/>
        </p:nvPicPr>
        <p:blipFill>
          <a:blip r:embed="rId3" cstate="print"/>
          <a:stretch>
            <a:fillRect/>
          </a:stretch>
        </p:blipFill>
        <p:spPr>
          <a:xfrm>
            <a:off x="5796136" y="2636912"/>
            <a:ext cx="2332366" cy="1537702"/>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332656"/>
            <a:ext cx="8215370" cy="1143000"/>
          </a:xfrm>
        </p:spPr>
        <p:txBody>
          <a:bodyPr>
            <a:normAutofit fontScale="90000"/>
          </a:bodyPr>
          <a:lstStyle/>
          <a:p>
            <a:r>
              <a:rPr lang="en-AU" sz="3400" b="1" dirty="0" smtClean="0">
                <a:solidFill>
                  <a:srgbClr val="FF6600"/>
                </a:solidFill>
                <a:latin typeface="Helvetica" pitchFamily="34" charset="0"/>
              </a:rPr>
              <a:t>Develop operational polices and strategies based on needs and opportunities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Legislative authority (if applicable)</a:t>
            </a:r>
          </a:p>
          <a:p>
            <a:pPr marL="360000" indent="-360000">
              <a:spcBef>
                <a:spcPts val="600"/>
              </a:spcBef>
              <a:spcAft>
                <a:spcPts val="1200"/>
              </a:spcAft>
            </a:pPr>
            <a:r>
              <a:rPr lang="en-US" sz="2200" dirty="0" smtClean="0">
                <a:latin typeface="Helvetica" pitchFamily="34" charset="0"/>
              </a:rPr>
              <a:t>Policy statement/s</a:t>
            </a:r>
          </a:p>
          <a:p>
            <a:pPr marL="360000" indent="-360000">
              <a:spcBef>
                <a:spcPts val="600"/>
              </a:spcBef>
              <a:spcAft>
                <a:spcPts val="1200"/>
              </a:spcAft>
            </a:pPr>
            <a:r>
              <a:rPr lang="en-US" sz="2200" dirty="0" smtClean="0">
                <a:latin typeface="Helvetica" pitchFamily="34" charset="0"/>
              </a:rPr>
              <a:t>Responsibilities for action</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a:t>
            </a:fld>
            <a:endParaRPr lang="en-US" dirty="0">
              <a:latin typeface="Helvetica" pitchFamily="34" charset="0"/>
            </a:endParaRPr>
          </a:p>
        </p:txBody>
      </p:sp>
      <p:pic>
        <p:nvPicPr>
          <p:cNvPr id="5" name="Picture 4" descr="cj.jpg"/>
          <p:cNvPicPr/>
          <p:nvPr/>
        </p:nvPicPr>
        <p:blipFill>
          <a:blip r:embed="rId3" cstate="print"/>
          <a:stretch>
            <a:fillRect/>
          </a:stretch>
        </p:blipFill>
        <p:spPr>
          <a:xfrm>
            <a:off x="5940152" y="1916832"/>
            <a:ext cx="2058385" cy="1368783"/>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332656"/>
            <a:ext cx="8215370" cy="1143000"/>
          </a:xfrm>
        </p:spPr>
        <p:txBody>
          <a:bodyPr>
            <a:normAutofit fontScale="90000"/>
          </a:bodyPr>
          <a:lstStyle/>
          <a:p>
            <a:r>
              <a:rPr lang="en-AU" sz="3400" b="1" dirty="0" smtClean="0">
                <a:solidFill>
                  <a:srgbClr val="FF6600"/>
                </a:solidFill>
                <a:latin typeface="Helvetica" pitchFamily="34" charset="0"/>
              </a:rPr>
              <a:t>Develop operational polices and strategies based on needs and opportunities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395536" y="1639341"/>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Consequences of non-compliance</a:t>
            </a:r>
          </a:p>
          <a:p>
            <a:pPr marL="360000" indent="-360000">
              <a:spcBef>
                <a:spcPts val="600"/>
              </a:spcBef>
              <a:spcAft>
                <a:spcPts val="1200"/>
              </a:spcAft>
            </a:pPr>
            <a:r>
              <a:rPr lang="en-US" sz="2200" dirty="0" smtClean="0">
                <a:latin typeface="Helvetica" pitchFamily="34" charset="0"/>
              </a:rPr>
              <a:t>Definitions</a:t>
            </a:r>
          </a:p>
          <a:p>
            <a:pPr marL="360000" indent="-360000">
              <a:spcBef>
                <a:spcPts val="600"/>
              </a:spcBef>
              <a:spcAft>
                <a:spcPts val="1200"/>
              </a:spcAft>
            </a:pPr>
            <a:r>
              <a:rPr lang="en-US" sz="2200" dirty="0" smtClean="0">
                <a:latin typeface="Helvetica" pitchFamily="34" charset="0"/>
              </a:rPr>
              <a:t>Version control information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a:t>
            </a:fld>
            <a:endParaRPr lang="en-US" dirty="0">
              <a:latin typeface="Helvetica" pitchFamily="34" charset="0"/>
            </a:endParaRPr>
          </a:p>
        </p:txBody>
      </p:sp>
      <p:pic>
        <p:nvPicPr>
          <p:cNvPr id="7170" name="Picture 2" descr="I:\Overseas Projects\PHOTOS\2014\Shutterstock 25-a-day\shutterstock_155045228.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45166" y="1844824"/>
            <a:ext cx="1939876" cy="19398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332656"/>
            <a:ext cx="8215370" cy="1143000"/>
          </a:xfrm>
        </p:spPr>
        <p:txBody>
          <a:bodyPr>
            <a:normAutofit fontScale="90000"/>
          </a:bodyPr>
          <a:lstStyle/>
          <a:p>
            <a:r>
              <a:rPr lang="en-AU" sz="3400" b="1" dirty="0" smtClean="0">
                <a:solidFill>
                  <a:srgbClr val="FF6600"/>
                </a:solidFill>
                <a:latin typeface="Helvetica" pitchFamily="34" charset="0"/>
              </a:rPr>
              <a:t>Develop operational polices and strategies based on needs and opportunities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Operational strategies generally have the following characteristics – they:</a:t>
            </a:r>
            <a:endParaRPr lang="en-US" sz="3100" b="1" dirty="0" smtClean="0">
              <a:solidFill>
                <a:srgbClr val="FF6600"/>
              </a:solidFill>
              <a:latin typeface="Helvetica" pitchFamily="34" charset="0"/>
              <a:ea typeface="+mj-ea"/>
              <a:cs typeface="+mj-cs"/>
            </a:endParaRPr>
          </a:p>
          <a:p>
            <a:pPr marL="360000" indent="-360000">
              <a:spcBef>
                <a:spcPts val="600"/>
              </a:spcBef>
              <a:spcAft>
                <a:spcPts val="1200"/>
              </a:spcAft>
            </a:pPr>
            <a:r>
              <a:rPr lang="en-AU" sz="2200" dirty="0" smtClean="0">
                <a:latin typeface="Helvetica" pitchFamily="34" charset="0"/>
              </a:rPr>
              <a:t>Flow from the plans of the business</a:t>
            </a:r>
            <a:endParaRPr lang="en-US"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Identify the goals of the organisation</a:t>
            </a:r>
          </a:p>
          <a:p>
            <a:pPr marL="360000" indent="-360000">
              <a:spcBef>
                <a:spcPts val="600"/>
              </a:spcBef>
              <a:spcAft>
                <a:spcPts val="1200"/>
              </a:spcAft>
            </a:pPr>
            <a:r>
              <a:rPr lang="en-AU" sz="2200" dirty="0" smtClean="0">
                <a:latin typeface="Helvetica" pitchFamily="34" charset="0"/>
              </a:rPr>
              <a:t>Quantify objectives</a:t>
            </a:r>
          </a:p>
          <a:p>
            <a:pPr marL="360000" indent="-360000">
              <a:spcBef>
                <a:spcPts val="600"/>
              </a:spcBef>
              <a:spcAft>
                <a:spcPts val="1200"/>
              </a:spcAft>
            </a:pPr>
            <a:r>
              <a:rPr lang="en-AU" sz="2200" dirty="0" smtClean="0">
                <a:latin typeface="Helvetica" pitchFamily="34" charset="0"/>
              </a:rPr>
              <a:t>Describe ways to achieve what is required</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a:t>
            </a:fld>
            <a:endParaRPr lang="en-US" dirty="0">
              <a:latin typeface="Helvetica" pitchFamily="34" charset="0"/>
            </a:endParaRPr>
          </a:p>
        </p:txBody>
      </p:sp>
      <p:pic>
        <p:nvPicPr>
          <p:cNvPr id="5" name="Picture 4" descr="A9 shutterstock_155310890.jpg"/>
          <p:cNvPicPr/>
          <p:nvPr/>
        </p:nvPicPr>
        <p:blipFill>
          <a:blip r:embed="rId3" cstate="print"/>
          <a:stretch>
            <a:fillRect/>
          </a:stretch>
        </p:blipFill>
        <p:spPr>
          <a:xfrm>
            <a:off x="6444208" y="2636912"/>
            <a:ext cx="1809750" cy="1296144"/>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332656"/>
            <a:ext cx="8215370" cy="1143000"/>
          </a:xfrm>
        </p:spPr>
        <p:txBody>
          <a:bodyPr>
            <a:normAutofit fontScale="90000"/>
          </a:bodyPr>
          <a:lstStyle/>
          <a:p>
            <a:r>
              <a:rPr lang="en-AU" sz="3400" b="1" dirty="0" smtClean="0">
                <a:solidFill>
                  <a:srgbClr val="FF6600"/>
                </a:solidFill>
                <a:latin typeface="Helvetica" pitchFamily="34" charset="0"/>
              </a:rPr>
              <a:t>Develop operational polices and strategies based on needs and opportunities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AU" sz="2200" dirty="0" smtClean="0">
                <a:latin typeface="Helvetica" pitchFamily="34" charset="0"/>
              </a:rPr>
              <a:t>Give direction</a:t>
            </a:r>
          </a:p>
          <a:p>
            <a:pPr marL="360000" indent="-360000">
              <a:spcBef>
                <a:spcPts val="600"/>
              </a:spcBef>
              <a:spcAft>
                <a:spcPts val="1200"/>
              </a:spcAft>
            </a:pPr>
            <a:r>
              <a:rPr lang="en-AU" sz="2200" dirty="0" smtClean="0">
                <a:latin typeface="Helvetica" pitchFamily="34" charset="0"/>
              </a:rPr>
              <a:t>Guide decisions</a:t>
            </a:r>
          </a:p>
          <a:p>
            <a:pPr marL="360000" indent="-360000">
              <a:spcBef>
                <a:spcPts val="600"/>
              </a:spcBef>
              <a:spcAft>
                <a:spcPts val="1200"/>
              </a:spcAft>
            </a:pPr>
            <a:r>
              <a:rPr lang="en-AU" sz="2200" dirty="0" smtClean="0">
                <a:latin typeface="Helvetica" pitchFamily="34" charset="0"/>
              </a:rPr>
              <a:t>Must align with requirements of applicable policies</a:t>
            </a:r>
          </a:p>
          <a:p>
            <a:pPr marL="360000" indent="-360000">
              <a:spcBef>
                <a:spcPts val="600"/>
              </a:spcBef>
              <a:spcAft>
                <a:spcPts val="1200"/>
              </a:spcAft>
            </a:pPr>
            <a:r>
              <a:rPr lang="en-AU" sz="2200" dirty="0" smtClean="0">
                <a:latin typeface="Helvetica" pitchFamily="34" charset="0"/>
              </a:rPr>
              <a:t>Will need to be ethical </a:t>
            </a:r>
            <a:r>
              <a:rPr lang="en-AU" sz="2200" i="1" dirty="0" smtClean="0">
                <a:latin typeface="Helvetica" pitchFamily="34" charset="0"/>
              </a:rPr>
              <a:t>and </a:t>
            </a:r>
            <a:r>
              <a:rPr lang="en-AU" sz="2200" dirty="0" smtClean="0">
                <a:latin typeface="Helvetica" pitchFamily="34" charset="0"/>
              </a:rPr>
              <a:t>comply with public statements</a:t>
            </a:r>
            <a:endParaRPr lang="en-US" sz="2200" dirty="0" smtClean="0">
              <a:latin typeface="Helvetica" pitchFamily="34" charset="0"/>
            </a:endParaRPr>
          </a:p>
          <a:p>
            <a:pPr marL="360000" indent="-360000">
              <a:spcBef>
                <a:spcPts val="600"/>
              </a:spcBef>
              <a:spcAft>
                <a:spcPts val="1200"/>
              </a:spcAft>
              <a:buNone/>
            </a:pPr>
            <a:r>
              <a:rPr lang="en-US" sz="2200"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a:t>
            </a:fld>
            <a:endParaRPr lang="en-US" dirty="0">
              <a:latin typeface="Helvetica" pitchFamily="34" charset="0"/>
            </a:endParaRPr>
          </a:p>
        </p:txBody>
      </p:sp>
      <p:pic>
        <p:nvPicPr>
          <p:cNvPr id="8194" name="Picture 2" descr="I:\Overseas Projects\PHOTOS\2014\Shutterstock 25-a-day\shutterstock_12721306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30505" y="4221088"/>
            <a:ext cx="2327920" cy="162469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332656"/>
            <a:ext cx="8215370" cy="1143000"/>
          </a:xfrm>
        </p:spPr>
        <p:txBody>
          <a:bodyPr>
            <a:normAutofit fontScale="90000"/>
          </a:bodyPr>
          <a:lstStyle/>
          <a:p>
            <a:r>
              <a:rPr lang="en-AU" sz="3400" b="1" dirty="0" smtClean="0">
                <a:solidFill>
                  <a:srgbClr val="FF6600"/>
                </a:solidFill>
                <a:latin typeface="Helvetica" pitchFamily="34" charset="0"/>
              </a:rPr>
              <a:t>Develop operational polices and strategies based on needs and opportunities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Provide a plan of action</a:t>
            </a:r>
          </a:p>
          <a:p>
            <a:pPr marL="360000" indent="-360000">
              <a:spcBef>
                <a:spcPts val="600"/>
              </a:spcBef>
              <a:spcAft>
                <a:spcPts val="1200"/>
              </a:spcAft>
            </a:pPr>
            <a:r>
              <a:rPr lang="en-US" sz="2200" dirty="0" smtClean="0">
                <a:latin typeface="Helvetica" pitchFamily="34" charset="0"/>
              </a:rPr>
              <a:t>May provide a variety of options/choices for achieving goals</a:t>
            </a:r>
          </a:p>
          <a:p>
            <a:pPr marL="360000" indent="-360000">
              <a:spcBef>
                <a:spcPts val="600"/>
              </a:spcBef>
              <a:spcAft>
                <a:spcPts val="1200"/>
              </a:spcAft>
            </a:pPr>
            <a:r>
              <a:rPr lang="en-US" sz="2200" dirty="0" smtClean="0">
                <a:latin typeface="Helvetica" pitchFamily="34" charset="0"/>
              </a:rPr>
              <a:t>Give appropriate context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a:t>
            </a:fld>
            <a:endParaRPr lang="en-US" dirty="0">
              <a:latin typeface="Helvetica" pitchFamily="34" charset="0"/>
            </a:endParaRPr>
          </a:p>
        </p:txBody>
      </p:sp>
      <p:pic>
        <p:nvPicPr>
          <p:cNvPr id="5" name="Picture 4" descr="A18 shutterstock_181389116.jpg"/>
          <p:cNvPicPr/>
          <p:nvPr/>
        </p:nvPicPr>
        <p:blipFill>
          <a:blip r:embed="rId3" cstate="print"/>
          <a:stretch>
            <a:fillRect/>
          </a:stretch>
        </p:blipFill>
        <p:spPr>
          <a:xfrm>
            <a:off x="6444208" y="3068960"/>
            <a:ext cx="1476375" cy="1985963"/>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332656"/>
            <a:ext cx="8215370" cy="1143000"/>
          </a:xfrm>
        </p:spPr>
        <p:txBody>
          <a:bodyPr>
            <a:normAutofit fontScale="90000"/>
          </a:bodyPr>
          <a:lstStyle/>
          <a:p>
            <a:r>
              <a:rPr lang="en-AU" sz="3400" b="1" dirty="0" smtClean="0">
                <a:solidFill>
                  <a:srgbClr val="FF6600"/>
                </a:solidFill>
                <a:latin typeface="Helvetica" pitchFamily="34" charset="0"/>
              </a:rPr>
              <a:t>Develop operational polices and strategies based on needs and opportunities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00034" y="1556792"/>
            <a:ext cx="7786742" cy="4525963"/>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Strategies should:</a:t>
            </a:r>
            <a:endParaRPr lang="en-US" sz="3100" b="1" dirty="0" smtClean="0">
              <a:solidFill>
                <a:srgbClr val="FF6600"/>
              </a:solidFill>
              <a:latin typeface="Helvetica" pitchFamily="34" charset="0"/>
              <a:ea typeface="+mj-ea"/>
              <a:cs typeface="+mj-cs"/>
            </a:endParaRPr>
          </a:p>
          <a:p>
            <a:pPr marL="360000" indent="-360000">
              <a:spcBef>
                <a:spcPts val="600"/>
              </a:spcBef>
              <a:spcAft>
                <a:spcPts val="1200"/>
              </a:spcAft>
            </a:pPr>
            <a:r>
              <a:rPr lang="en-AU" sz="2200" dirty="0" smtClean="0">
                <a:latin typeface="Helvetica" pitchFamily="34" charset="0"/>
              </a:rPr>
              <a:t>Address ways the organisation intends to target and deliver to customers so they are more likely to deal with the organisation – with reference commonly to:</a:t>
            </a:r>
            <a:endParaRPr lang="en-US" sz="2200" dirty="0" smtClean="0">
              <a:latin typeface="Helvetica" pitchFamily="34" charset="0"/>
            </a:endParaRP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Price/s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Promotion/s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Place/s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Product/s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People</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a:t>
            </a:fld>
            <a:endParaRPr lang="en-US" dirty="0">
              <a:latin typeface="Helvetica" pitchFamily="34" charset="0"/>
            </a:endParaRPr>
          </a:p>
        </p:txBody>
      </p:sp>
      <p:pic>
        <p:nvPicPr>
          <p:cNvPr id="6" name="Picture 3" descr="I:\Overseas Projects\PHOTOS\2014\Shutterstock 25-a-day\shutterstock_139680334.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38216" y="3079630"/>
            <a:ext cx="2708224" cy="180689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332656"/>
            <a:ext cx="8215370" cy="1143000"/>
          </a:xfrm>
        </p:spPr>
        <p:txBody>
          <a:bodyPr>
            <a:normAutofit fontScale="90000"/>
          </a:bodyPr>
          <a:lstStyle/>
          <a:p>
            <a:r>
              <a:rPr lang="en-AU" sz="3400" b="1" dirty="0" smtClean="0">
                <a:solidFill>
                  <a:srgbClr val="FF6600"/>
                </a:solidFill>
                <a:latin typeface="Helvetica" pitchFamily="34" charset="0"/>
              </a:rPr>
              <a:t>Develop operational polices and strategies based on needs and opportunities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Presents ways the business will address the performance objectives of:</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Quality</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Speed</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Dependability</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Flexibility</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Cost</a:t>
            </a:r>
          </a:p>
          <a:p>
            <a:pPr marL="720000" indent="-360000">
              <a:spcBef>
                <a:spcPts val="600"/>
              </a:spcBef>
              <a:spcAft>
                <a:spcPts val="1200"/>
              </a:spcAft>
              <a:buClr>
                <a:schemeClr val="accent1">
                  <a:lumMod val="75000"/>
                </a:schemeClr>
              </a:buClr>
              <a:buSzPct val="100000"/>
              <a:buFont typeface="Arial" pitchFamily="34" charset="0"/>
              <a:buChar char="•"/>
            </a:pPr>
            <a:endParaRPr lang="en-US" sz="2200" dirty="0" smtClean="0">
              <a:latin typeface="Helvetica" pitchFamily="34" charset="0"/>
            </a:endParaRPr>
          </a:p>
          <a:p>
            <a:pPr marL="720000" indent="-360000">
              <a:spcBef>
                <a:spcPts val="600"/>
              </a:spcBef>
              <a:spcAft>
                <a:spcPts val="1200"/>
              </a:spcAft>
              <a:buClr>
                <a:schemeClr val="accent1">
                  <a:lumMod val="75000"/>
                </a:schemeClr>
              </a:buClr>
              <a:buSzPct val="100000"/>
              <a:buFont typeface="Arial" pitchFamily="34" charset="0"/>
              <a:buChar char="•"/>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a:t>
            </a:fld>
            <a:endParaRPr lang="en-US" dirty="0">
              <a:latin typeface="Helvetica" pitchFamily="34" charset="0"/>
            </a:endParaRPr>
          </a:p>
        </p:txBody>
      </p:sp>
      <p:pic>
        <p:nvPicPr>
          <p:cNvPr id="10244" name="Picture 4" descr="I:\Overseas Projects\PHOTOS\2014\Shutterstock 25-a-day\shutterstock_170750234.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76056" y="2636912"/>
            <a:ext cx="3048000" cy="17160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332656"/>
            <a:ext cx="8215370" cy="1143000"/>
          </a:xfrm>
        </p:spPr>
        <p:txBody>
          <a:bodyPr>
            <a:normAutofit fontScale="90000"/>
          </a:bodyPr>
          <a:lstStyle/>
          <a:p>
            <a:r>
              <a:rPr lang="en-AU" sz="3400" b="1" dirty="0" smtClean="0">
                <a:solidFill>
                  <a:srgbClr val="FF6600"/>
                </a:solidFill>
                <a:latin typeface="Helvetica" pitchFamily="34" charset="0"/>
              </a:rPr>
              <a:t>Develop operational polices and strategies based on needs and opportunities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6336704" cy="4525963"/>
          </a:xfrm>
        </p:spPr>
        <p:txBody>
          <a:bodyPr>
            <a:normAutofit/>
          </a:bodyPr>
          <a:lstStyle/>
          <a:p>
            <a:pPr marL="0" indent="0">
              <a:spcBef>
                <a:spcPts val="600"/>
              </a:spcBef>
              <a:spcAft>
                <a:spcPts val="1200"/>
              </a:spcAft>
              <a:buNone/>
            </a:pPr>
            <a:r>
              <a:rPr lang="en-US" sz="2200" dirty="0" smtClean="0">
                <a:latin typeface="Helvetica" pitchFamily="34" charset="0"/>
              </a:rPr>
              <a:t>The five performance objectives:</a:t>
            </a:r>
            <a:endParaRPr lang="en-US" sz="3100" b="1" dirty="0" smtClean="0">
              <a:solidFill>
                <a:srgbClr val="FF6600"/>
              </a:solidFill>
              <a:latin typeface="Helvetica" pitchFamily="34" charset="0"/>
              <a:ea typeface="+mj-ea"/>
              <a:cs typeface="+mj-cs"/>
            </a:endParaRPr>
          </a:p>
          <a:p>
            <a:pPr marL="360000" indent="-360000">
              <a:spcBef>
                <a:spcPts val="600"/>
              </a:spcBef>
              <a:spcAft>
                <a:spcPts val="1200"/>
              </a:spcAft>
            </a:pPr>
            <a:r>
              <a:rPr lang="en-US" sz="2200" dirty="0" smtClean="0">
                <a:latin typeface="Helvetica" pitchFamily="34" charset="0"/>
              </a:rPr>
              <a:t>Will be generated to reflect internal and external factors impacting the organisation</a:t>
            </a:r>
          </a:p>
          <a:p>
            <a:pPr marL="360000" indent="-360000">
              <a:spcBef>
                <a:spcPts val="600"/>
              </a:spcBef>
              <a:spcAft>
                <a:spcPts val="1200"/>
              </a:spcAft>
            </a:pPr>
            <a:r>
              <a:rPr lang="en-US" sz="2200" dirty="0" smtClean="0">
                <a:latin typeface="Helvetica" pitchFamily="34" charset="0"/>
              </a:rPr>
              <a:t>Are often prioritised</a:t>
            </a:r>
          </a:p>
          <a:p>
            <a:pPr marL="360000" indent="-360000">
              <a:spcBef>
                <a:spcPts val="600"/>
              </a:spcBef>
              <a:spcAft>
                <a:spcPts val="1200"/>
              </a:spcAft>
            </a:pPr>
            <a:r>
              <a:rPr lang="en-US" sz="2200" dirty="0" smtClean="0">
                <a:latin typeface="Helvetica" pitchFamily="34" charset="0"/>
              </a:rPr>
              <a:t>Can be market-driven</a:t>
            </a:r>
          </a:p>
          <a:p>
            <a:pPr marL="360000" indent="-360000">
              <a:spcBef>
                <a:spcPts val="600"/>
              </a:spcBef>
              <a:spcAft>
                <a:spcPts val="1200"/>
              </a:spcAft>
            </a:pPr>
            <a:r>
              <a:rPr lang="en-US" sz="2200" dirty="0" smtClean="0">
                <a:latin typeface="Helvetica" pitchFamily="34" charset="0"/>
              </a:rPr>
              <a:t>Often relate to a competitive strategy using the USP approach</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22</a:t>
            </a:fld>
            <a:endParaRPr lang="en-US" dirty="0">
              <a:latin typeface="Helvetica" pitchFamily="34" charset="0"/>
            </a:endParaRPr>
          </a:p>
        </p:txBody>
      </p:sp>
      <p:pic>
        <p:nvPicPr>
          <p:cNvPr id="11266" name="Picture 2" descr="I:\Overseas Projects\PHOTOS\2014\Shutterstock 25-a-day\shutterstock_167850515.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48264" y="2348880"/>
            <a:ext cx="1669784" cy="156629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332656"/>
            <a:ext cx="8215370" cy="1143000"/>
          </a:xfrm>
        </p:spPr>
        <p:txBody>
          <a:bodyPr>
            <a:normAutofit fontScale="90000"/>
          </a:bodyPr>
          <a:lstStyle/>
          <a:p>
            <a:r>
              <a:rPr lang="en-AU" sz="3400" b="1" dirty="0" smtClean="0">
                <a:solidFill>
                  <a:srgbClr val="FF6600"/>
                </a:solidFill>
                <a:latin typeface="Helvetica" pitchFamily="34" charset="0"/>
              </a:rPr>
              <a:t>Develop operational polices and strategies based on needs and opportunities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064896" cy="4525963"/>
          </a:xfrm>
        </p:spPr>
        <p:txBody>
          <a:bodyPr>
            <a:normAutofit/>
          </a:bodyPr>
          <a:lstStyle/>
          <a:p>
            <a:pPr marL="0" indent="0">
              <a:spcBef>
                <a:spcPts val="600"/>
              </a:spcBef>
              <a:spcAft>
                <a:spcPts val="1200"/>
              </a:spcAft>
              <a:buNone/>
            </a:pPr>
            <a:r>
              <a:rPr lang="en-US" sz="2200" dirty="0" smtClean="0">
                <a:latin typeface="Helvetica" pitchFamily="34" charset="0"/>
              </a:rPr>
              <a:t>Formats for operational policies and strategies:</a:t>
            </a:r>
            <a:endParaRPr lang="en-US" sz="3100" b="1" dirty="0" smtClean="0">
              <a:solidFill>
                <a:srgbClr val="FF6600"/>
              </a:solidFill>
              <a:latin typeface="Helvetica" pitchFamily="34" charset="0"/>
              <a:ea typeface="+mj-ea"/>
              <a:cs typeface="+mj-cs"/>
            </a:endParaRPr>
          </a:p>
          <a:p>
            <a:pPr marL="360000" indent="-360000">
              <a:spcBef>
                <a:spcPts val="600"/>
              </a:spcBef>
              <a:spcAft>
                <a:spcPts val="1200"/>
              </a:spcAft>
            </a:pPr>
            <a:r>
              <a:rPr lang="en-US" sz="2200" dirty="0" smtClean="0">
                <a:latin typeface="Helvetica" pitchFamily="34" charset="0"/>
              </a:rPr>
              <a:t>No standard accepted model</a:t>
            </a:r>
          </a:p>
          <a:p>
            <a:pPr marL="360000" indent="-360000">
              <a:spcBef>
                <a:spcPts val="600"/>
              </a:spcBef>
              <a:spcAft>
                <a:spcPts val="1200"/>
              </a:spcAft>
            </a:pPr>
            <a:r>
              <a:rPr lang="en-US" sz="2200" dirty="0" smtClean="0">
                <a:latin typeface="Helvetica" pitchFamily="34" charset="0"/>
              </a:rPr>
              <a:t>May be separate for each</a:t>
            </a:r>
          </a:p>
          <a:p>
            <a:pPr marL="360000" indent="-360000">
              <a:spcBef>
                <a:spcPts val="600"/>
              </a:spcBef>
              <a:spcAft>
                <a:spcPts val="1200"/>
              </a:spcAft>
            </a:pPr>
            <a:r>
              <a:rPr lang="en-US" sz="2200" dirty="0" smtClean="0">
                <a:latin typeface="Helvetica" pitchFamily="34" charset="0"/>
              </a:rPr>
              <a:t>One/single page for each is often preferred</a:t>
            </a:r>
          </a:p>
          <a:p>
            <a:pPr marL="360000" indent="-360000">
              <a:spcBef>
                <a:spcPts val="600"/>
              </a:spcBef>
              <a:spcAft>
                <a:spcPts val="1200"/>
              </a:spcAft>
            </a:pPr>
            <a:r>
              <a:rPr lang="en-US" sz="2200" dirty="0" smtClean="0">
                <a:latin typeface="Helvetica" pitchFamily="34" charset="0"/>
              </a:rPr>
              <a:t>May differ for unique or nominated products/services</a:t>
            </a:r>
          </a:p>
          <a:p>
            <a:pPr marL="360000" indent="-360000">
              <a:spcBef>
                <a:spcPts val="600"/>
              </a:spcBef>
              <a:spcAft>
                <a:spcPts val="1200"/>
              </a:spcAft>
            </a:pPr>
            <a:r>
              <a:rPr lang="en-US" sz="2200" dirty="0" smtClean="0">
                <a:latin typeface="Helvetica" pitchFamily="34" charset="0"/>
              </a:rPr>
              <a:t>Might need to adhere to organisational Style Guide requirements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23</a:t>
            </a:fld>
            <a:endParaRPr lang="en-US" dirty="0">
              <a:latin typeface="Helvetica" pitchFamily="34" charset="0"/>
            </a:endParaRPr>
          </a:p>
        </p:txBody>
      </p:sp>
      <p:pic>
        <p:nvPicPr>
          <p:cNvPr id="12292" name="Picture 4" descr="I:\Overseas Projects\PHOTOS\2014\Shutterstock 25-a-day\shutterstock_177803282.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04248" y="1988840"/>
            <a:ext cx="2076145" cy="138517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332656"/>
            <a:ext cx="8215370" cy="1143000"/>
          </a:xfrm>
        </p:spPr>
        <p:txBody>
          <a:bodyPr>
            <a:normAutofit fontScale="90000"/>
          </a:bodyPr>
          <a:lstStyle/>
          <a:p>
            <a:r>
              <a:rPr lang="en-AU" sz="3400" b="1" dirty="0" smtClean="0">
                <a:solidFill>
                  <a:srgbClr val="FF6600"/>
                </a:solidFill>
                <a:latin typeface="Helvetica" pitchFamily="34" charset="0"/>
              </a:rPr>
              <a:t>Develop operational polices and strategies based on needs and opportunities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Operational policies often prepared for:</a:t>
            </a:r>
            <a:endParaRPr lang="en-US" sz="3100" b="1" dirty="0" smtClean="0">
              <a:solidFill>
                <a:srgbClr val="FF6600"/>
              </a:solidFill>
              <a:latin typeface="Helvetica" pitchFamily="34" charset="0"/>
              <a:ea typeface="+mj-ea"/>
              <a:cs typeface="+mj-cs"/>
            </a:endParaRPr>
          </a:p>
          <a:p>
            <a:pPr marL="360000" indent="-360000">
              <a:spcBef>
                <a:spcPts val="600"/>
              </a:spcBef>
              <a:spcAft>
                <a:spcPts val="1200"/>
              </a:spcAft>
            </a:pPr>
            <a:r>
              <a:rPr lang="en-US" sz="2200" dirty="0" smtClean="0">
                <a:latin typeface="Helvetica" pitchFamily="34" charset="0"/>
              </a:rPr>
              <a:t>The environment</a:t>
            </a:r>
          </a:p>
          <a:p>
            <a:pPr marL="360000" indent="-360000">
              <a:spcBef>
                <a:spcPts val="600"/>
              </a:spcBef>
              <a:spcAft>
                <a:spcPts val="1200"/>
              </a:spcAft>
            </a:pPr>
            <a:r>
              <a:rPr lang="en-US" sz="2200" dirty="0" smtClean="0">
                <a:latin typeface="Helvetica" pitchFamily="34" charset="0"/>
              </a:rPr>
              <a:t>Products and services</a:t>
            </a:r>
          </a:p>
          <a:p>
            <a:pPr marL="360000" indent="-360000">
              <a:spcBef>
                <a:spcPts val="600"/>
              </a:spcBef>
              <a:spcAft>
                <a:spcPts val="1200"/>
              </a:spcAft>
            </a:pPr>
            <a:r>
              <a:rPr lang="en-US" sz="2200" dirty="0" smtClean="0">
                <a:latin typeface="Helvetica" pitchFamily="34" charset="0"/>
              </a:rPr>
              <a:t>Training</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24</a:t>
            </a:fld>
            <a:endParaRPr lang="en-US" dirty="0">
              <a:latin typeface="Helvetica" pitchFamily="34" charset="0"/>
            </a:endParaRPr>
          </a:p>
        </p:txBody>
      </p:sp>
      <p:pic>
        <p:nvPicPr>
          <p:cNvPr id="13314" name="Picture 2" descr="I:\Overseas Projects\PHOTOS\2014\Shutterstock 25-a-day\shutterstock_19103113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76056" y="2230159"/>
            <a:ext cx="3048000" cy="20335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332656"/>
            <a:ext cx="8215370" cy="1143000"/>
          </a:xfrm>
        </p:spPr>
        <p:txBody>
          <a:bodyPr>
            <a:normAutofit fontScale="90000"/>
          </a:bodyPr>
          <a:lstStyle/>
          <a:p>
            <a:r>
              <a:rPr lang="en-AU" sz="3400" b="1" dirty="0" smtClean="0">
                <a:solidFill>
                  <a:srgbClr val="FF6600"/>
                </a:solidFill>
                <a:latin typeface="Helvetica" pitchFamily="34" charset="0"/>
              </a:rPr>
              <a:t>Develop operational polices and strategies based on needs and opportunities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395536" y="1700808"/>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Workplace relations</a:t>
            </a:r>
          </a:p>
          <a:p>
            <a:pPr marL="360000" indent="-360000">
              <a:spcBef>
                <a:spcPts val="600"/>
              </a:spcBef>
              <a:spcAft>
                <a:spcPts val="1200"/>
              </a:spcAft>
            </a:pPr>
            <a:r>
              <a:rPr lang="en-US" sz="2200" dirty="0" smtClean="0">
                <a:latin typeface="Helvetica" pitchFamily="34" charset="0"/>
              </a:rPr>
              <a:t>Finance</a:t>
            </a:r>
          </a:p>
          <a:p>
            <a:pPr marL="360000" indent="-360000">
              <a:spcBef>
                <a:spcPts val="600"/>
              </a:spcBef>
              <a:spcAft>
                <a:spcPts val="1200"/>
              </a:spcAft>
            </a:pPr>
            <a:r>
              <a:rPr lang="en-US" sz="2200" dirty="0" smtClean="0">
                <a:latin typeface="Helvetica" pitchFamily="34" charset="0"/>
              </a:rPr>
              <a:t>Asset management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25</a:t>
            </a:fld>
            <a:endParaRPr lang="en-US" dirty="0">
              <a:latin typeface="Helvetica" pitchFamily="34" charset="0"/>
            </a:endParaRPr>
          </a:p>
        </p:txBody>
      </p:sp>
      <p:pic>
        <p:nvPicPr>
          <p:cNvPr id="5" name="Picture 3" descr="I:\Overseas Projects\PHOTOS\2014\Shutterstock 25-a-day\shutterstock_174218297.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44168" y="1916832"/>
            <a:ext cx="2116505" cy="143746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332656"/>
            <a:ext cx="8215370" cy="1143000"/>
          </a:xfrm>
        </p:spPr>
        <p:txBody>
          <a:bodyPr>
            <a:normAutofit fontScale="90000"/>
          </a:bodyPr>
          <a:lstStyle/>
          <a:p>
            <a:r>
              <a:rPr lang="en-AU" sz="3400" b="1" dirty="0" smtClean="0">
                <a:solidFill>
                  <a:srgbClr val="FF6600"/>
                </a:solidFill>
                <a:latin typeface="Helvetica" pitchFamily="34" charset="0"/>
              </a:rPr>
              <a:t>Develop operational polices and strategies based on needs and opportunities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Topics for which operational strategies may be developed:</a:t>
            </a:r>
            <a:endParaRPr lang="en-US" sz="3100" b="1" dirty="0" smtClean="0">
              <a:solidFill>
                <a:srgbClr val="FF6600"/>
              </a:solidFill>
              <a:latin typeface="Helvetica" pitchFamily="34" charset="0"/>
              <a:ea typeface="+mj-ea"/>
              <a:cs typeface="+mj-cs"/>
            </a:endParaRPr>
          </a:p>
          <a:p>
            <a:pPr marL="360000" indent="-360000">
              <a:spcBef>
                <a:spcPts val="600"/>
              </a:spcBef>
              <a:spcAft>
                <a:spcPts val="1200"/>
              </a:spcAft>
            </a:pPr>
            <a:r>
              <a:rPr lang="en-US" sz="2200" dirty="0" smtClean="0">
                <a:latin typeface="Helvetica" pitchFamily="34" charset="0"/>
              </a:rPr>
              <a:t>Client development</a:t>
            </a:r>
          </a:p>
          <a:p>
            <a:pPr marL="360000" indent="-360000">
              <a:spcBef>
                <a:spcPts val="600"/>
              </a:spcBef>
              <a:spcAft>
                <a:spcPts val="1200"/>
              </a:spcAft>
            </a:pPr>
            <a:r>
              <a:rPr lang="en-US" sz="2200" dirty="0" smtClean="0">
                <a:latin typeface="Helvetica" pitchFamily="34" charset="0"/>
              </a:rPr>
              <a:t>Geographic expansion</a:t>
            </a:r>
          </a:p>
          <a:p>
            <a:pPr marL="360000" indent="-360000">
              <a:spcBef>
                <a:spcPts val="600"/>
              </a:spcBef>
              <a:spcAft>
                <a:spcPts val="1200"/>
              </a:spcAft>
            </a:pPr>
            <a:r>
              <a:rPr lang="en-US" sz="2200" dirty="0" smtClean="0">
                <a:latin typeface="Helvetica" pitchFamily="34" charset="0"/>
              </a:rPr>
              <a:t>Organisational growth</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26</a:t>
            </a:fld>
            <a:endParaRPr lang="en-US" dirty="0">
              <a:latin typeface="Helvetica" pitchFamily="34" charset="0"/>
            </a:endParaRPr>
          </a:p>
        </p:txBody>
      </p:sp>
      <p:pic>
        <p:nvPicPr>
          <p:cNvPr id="5" name="Picture 2" descr="I:\Overseas Projects\PHOTOS\2014\Shutterstock 25-a-day\shutterstock_175357634.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24128" y="2492896"/>
            <a:ext cx="2465746" cy="215239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332656"/>
            <a:ext cx="8215370" cy="1143000"/>
          </a:xfrm>
        </p:spPr>
        <p:txBody>
          <a:bodyPr>
            <a:normAutofit fontScale="90000"/>
          </a:bodyPr>
          <a:lstStyle/>
          <a:p>
            <a:r>
              <a:rPr lang="en-AU" sz="3400" b="1" dirty="0" smtClean="0">
                <a:solidFill>
                  <a:srgbClr val="FF6600"/>
                </a:solidFill>
                <a:latin typeface="Helvetica" pitchFamily="34" charset="0"/>
              </a:rPr>
              <a:t>Develop operational polices and strategies based on needs and opportunities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448356" y="1700808"/>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Service growth</a:t>
            </a:r>
          </a:p>
          <a:p>
            <a:pPr marL="360000" indent="-360000">
              <a:spcBef>
                <a:spcPts val="600"/>
              </a:spcBef>
              <a:spcAft>
                <a:spcPts val="1200"/>
              </a:spcAft>
            </a:pPr>
            <a:r>
              <a:rPr lang="en-US" sz="2200" dirty="0" smtClean="0">
                <a:latin typeface="Helvetica" pitchFamily="34" charset="0"/>
              </a:rPr>
              <a:t>Debt reduction</a:t>
            </a:r>
          </a:p>
          <a:p>
            <a:pPr marL="360000" indent="-360000">
              <a:spcBef>
                <a:spcPts val="600"/>
              </a:spcBef>
              <a:spcAft>
                <a:spcPts val="1200"/>
              </a:spcAft>
            </a:pPr>
            <a:r>
              <a:rPr lang="en-US" sz="2200" dirty="0" smtClean="0">
                <a:latin typeface="Helvetica" pitchFamily="34" charset="0"/>
              </a:rPr>
              <a:t>Income development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27</a:t>
            </a:fld>
            <a:endParaRPr lang="en-US" dirty="0">
              <a:latin typeface="Helvetica" pitchFamily="34" charset="0"/>
            </a:endParaRPr>
          </a:p>
        </p:txBody>
      </p:sp>
      <p:pic>
        <p:nvPicPr>
          <p:cNvPr id="14338" name="Picture 2" descr="I:\Overseas Projects\PHOTOS\2014\Shutterstock 25-a-day\shutterstock_182480570.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36096" y="1844824"/>
            <a:ext cx="2471936" cy="18784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332656"/>
            <a:ext cx="8215370" cy="1143000"/>
          </a:xfrm>
        </p:spPr>
        <p:txBody>
          <a:bodyPr>
            <a:normAutofit fontScale="90000"/>
          </a:bodyPr>
          <a:lstStyle/>
          <a:p>
            <a:r>
              <a:rPr lang="en-AU" sz="3400" b="1" dirty="0" smtClean="0">
                <a:solidFill>
                  <a:srgbClr val="FF6600"/>
                </a:solidFill>
                <a:latin typeface="Helvetica" pitchFamily="34" charset="0"/>
              </a:rPr>
              <a:t>Develop operational polices and strategies based on needs and opportunities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Ways to monitor workplace need when determining need for operational policies and strategies:</a:t>
            </a:r>
            <a:endParaRPr lang="en-US" sz="3100" b="1" dirty="0" smtClean="0">
              <a:solidFill>
                <a:srgbClr val="FF6600"/>
              </a:solidFill>
              <a:latin typeface="Helvetica" pitchFamily="34" charset="0"/>
              <a:ea typeface="+mj-ea"/>
              <a:cs typeface="+mj-cs"/>
            </a:endParaRPr>
          </a:p>
          <a:p>
            <a:pPr marL="360000" indent="-360000">
              <a:spcBef>
                <a:spcPts val="600"/>
              </a:spcBef>
              <a:spcAft>
                <a:spcPts val="1200"/>
              </a:spcAft>
            </a:pPr>
            <a:r>
              <a:rPr lang="en-US" sz="2200" dirty="0" smtClean="0">
                <a:latin typeface="Helvetica" pitchFamily="34" charset="0"/>
              </a:rPr>
              <a:t>Encourage input from employees</a:t>
            </a:r>
          </a:p>
          <a:p>
            <a:pPr marL="360000" indent="-360000">
              <a:spcBef>
                <a:spcPts val="600"/>
              </a:spcBef>
              <a:spcAft>
                <a:spcPts val="1200"/>
              </a:spcAft>
            </a:pPr>
            <a:r>
              <a:rPr lang="en-US" sz="2200" dirty="0" smtClean="0">
                <a:latin typeface="Helvetica" pitchFamily="34" charset="0"/>
              </a:rPr>
              <a:t>Assess actual business performance measured against projections</a:t>
            </a:r>
          </a:p>
          <a:p>
            <a:pPr marL="360000" indent="-360000">
              <a:spcBef>
                <a:spcPts val="600"/>
              </a:spcBef>
              <a:spcAft>
                <a:spcPts val="1200"/>
              </a:spcAft>
            </a:pPr>
            <a:r>
              <a:rPr lang="en-US" sz="2200" dirty="0" smtClean="0">
                <a:latin typeface="Helvetica" pitchFamily="34" charset="0"/>
              </a:rPr>
              <a:t>Observe staff at work</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28</a:t>
            </a:fld>
            <a:endParaRPr lang="en-US" dirty="0">
              <a:latin typeface="Helvetica" pitchFamily="34" charset="0"/>
            </a:endParaRPr>
          </a:p>
        </p:txBody>
      </p:sp>
      <p:pic>
        <p:nvPicPr>
          <p:cNvPr id="5" name="Picture 4" descr="A20 shutterstock_182023328.jpg"/>
          <p:cNvPicPr>
            <a:picLocks noChangeAspect="1"/>
          </p:cNvPicPr>
          <p:nvPr/>
        </p:nvPicPr>
        <p:blipFill>
          <a:blip r:embed="rId3" cstate="print"/>
          <a:stretch>
            <a:fillRect/>
          </a:stretch>
        </p:blipFill>
        <p:spPr>
          <a:xfrm>
            <a:off x="5900175" y="3717032"/>
            <a:ext cx="1884040" cy="1600200"/>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332656"/>
            <a:ext cx="8215370" cy="1143000"/>
          </a:xfrm>
        </p:spPr>
        <p:txBody>
          <a:bodyPr>
            <a:normAutofit fontScale="90000"/>
          </a:bodyPr>
          <a:lstStyle/>
          <a:p>
            <a:r>
              <a:rPr lang="en-AU" sz="3400" b="1" dirty="0" smtClean="0">
                <a:solidFill>
                  <a:srgbClr val="FF6600"/>
                </a:solidFill>
                <a:latin typeface="Helvetica" pitchFamily="34" charset="0"/>
              </a:rPr>
              <a:t>Develop operational polices and strategies based on needs and opportunities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Conduct workplace inspections</a:t>
            </a:r>
          </a:p>
          <a:p>
            <a:pPr marL="360000" indent="-360000">
              <a:spcBef>
                <a:spcPts val="600"/>
              </a:spcBef>
              <a:spcAft>
                <a:spcPts val="1200"/>
              </a:spcAft>
            </a:pPr>
            <a:r>
              <a:rPr lang="en-US" sz="2200" dirty="0" smtClean="0">
                <a:latin typeface="Helvetica" pitchFamily="34" charset="0"/>
              </a:rPr>
              <a:t>Analyse workplace accidents and incidents</a:t>
            </a:r>
          </a:p>
          <a:p>
            <a:pPr marL="360000" indent="-360000">
              <a:spcBef>
                <a:spcPts val="600"/>
              </a:spcBef>
              <a:spcAft>
                <a:spcPts val="1200"/>
              </a:spcAft>
            </a:pPr>
            <a:r>
              <a:rPr lang="en-US" sz="2200" dirty="0" smtClean="0">
                <a:latin typeface="Helvetica" pitchFamily="34" charset="0"/>
              </a:rPr>
              <a:t>Evaluate customer feedback</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29</a:t>
            </a:fld>
            <a:endParaRPr lang="en-US" dirty="0">
              <a:latin typeface="Helvetica" pitchFamily="34" charset="0"/>
            </a:endParaRPr>
          </a:p>
        </p:txBody>
      </p:sp>
      <p:pic>
        <p:nvPicPr>
          <p:cNvPr id="5" name="Picture 4" descr="cj.jpg"/>
          <p:cNvPicPr/>
          <p:nvPr/>
        </p:nvPicPr>
        <p:blipFill>
          <a:blip r:embed="rId3" cstate="print"/>
          <a:stretch>
            <a:fillRect/>
          </a:stretch>
        </p:blipFill>
        <p:spPr>
          <a:xfrm>
            <a:off x="6228184" y="2924944"/>
            <a:ext cx="2058385" cy="1368783"/>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332656"/>
            <a:ext cx="8215370" cy="1143000"/>
          </a:xfrm>
        </p:spPr>
        <p:txBody>
          <a:bodyPr>
            <a:normAutofit fontScale="90000"/>
          </a:bodyPr>
          <a:lstStyle/>
          <a:p>
            <a:r>
              <a:rPr lang="en-AU" sz="3400" b="1" dirty="0" smtClean="0">
                <a:solidFill>
                  <a:srgbClr val="FF6600"/>
                </a:solidFill>
                <a:latin typeface="Helvetica" pitchFamily="34" charset="0"/>
              </a:rPr>
              <a:t>Develop operational polices and strategies based on needs and opportunities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200" dirty="0" smtClean="0">
                <a:latin typeface="Helvetica" pitchFamily="34" charset="0"/>
              </a:rPr>
              <a:t>Monitoring to determine opportunities for improvements and innovation should</a:t>
            </a:r>
            <a:r>
              <a:rPr lang="en-US" sz="2200" dirty="0" smtClean="0">
                <a:latin typeface="Helvetica" pitchFamily="34" charset="0"/>
              </a:rPr>
              <a:t>:</a:t>
            </a:r>
            <a:endParaRPr lang="en-US" sz="3100" b="1" dirty="0" smtClean="0">
              <a:solidFill>
                <a:srgbClr val="FF6600"/>
              </a:solidFill>
              <a:latin typeface="Helvetica" pitchFamily="34" charset="0"/>
              <a:ea typeface="+mj-ea"/>
              <a:cs typeface="+mj-cs"/>
            </a:endParaRPr>
          </a:p>
          <a:p>
            <a:pPr marL="360000" indent="-360000">
              <a:spcBef>
                <a:spcPts val="600"/>
              </a:spcBef>
              <a:spcAft>
                <a:spcPts val="1200"/>
              </a:spcAft>
            </a:pPr>
            <a:r>
              <a:rPr lang="en-US" sz="2200" dirty="0" smtClean="0">
                <a:latin typeface="Helvetica" pitchFamily="34" charset="0"/>
              </a:rPr>
              <a:t>Consider the </a:t>
            </a:r>
            <a:r>
              <a:rPr lang="en-US" sz="2200" i="1" dirty="0" smtClean="0">
                <a:latin typeface="Helvetica" pitchFamily="34" charset="0"/>
              </a:rPr>
              <a:t>internal </a:t>
            </a:r>
            <a:r>
              <a:rPr lang="en-US" sz="2200" dirty="0" smtClean="0">
                <a:latin typeface="Helvetica" pitchFamily="34" charset="0"/>
              </a:rPr>
              <a:t>environment of the business</a:t>
            </a:r>
          </a:p>
          <a:p>
            <a:pPr marL="360000" indent="-360000">
              <a:spcBef>
                <a:spcPts val="600"/>
              </a:spcBef>
              <a:spcAft>
                <a:spcPts val="1200"/>
              </a:spcAft>
            </a:pPr>
            <a:r>
              <a:rPr lang="en-US" sz="2200" dirty="0" smtClean="0">
                <a:latin typeface="Helvetica" pitchFamily="34" charset="0"/>
              </a:rPr>
              <a:t>Consider the </a:t>
            </a:r>
            <a:r>
              <a:rPr lang="en-US" sz="2200" i="1" dirty="0" smtClean="0">
                <a:latin typeface="Helvetica" pitchFamily="34" charset="0"/>
              </a:rPr>
              <a:t>external </a:t>
            </a:r>
            <a:r>
              <a:rPr lang="en-US" sz="2200" dirty="0" smtClean="0">
                <a:latin typeface="Helvetica" pitchFamily="34" charset="0"/>
              </a:rPr>
              <a:t>environment impacting the business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30</a:t>
            </a:fld>
            <a:endParaRPr lang="en-US" dirty="0">
              <a:latin typeface="Helvetica" pitchFamily="34" charset="0"/>
            </a:endParaRPr>
          </a:p>
        </p:txBody>
      </p:sp>
      <p:pic>
        <p:nvPicPr>
          <p:cNvPr id="6" name="Picture 5" descr="C:\Documents and Settings\nickh\Desktop\PROJECTS\Singapore\Photos\W298_globe_shutterstock_130580267.jpg"/>
          <p:cNvPicPr/>
          <p:nvPr/>
        </p:nvPicPr>
        <p:blipFill>
          <a:blip r:embed="rId3" cstate="print"/>
          <a:srcRect/>
          <a:stretch>
            <a:fillRect/>
          </a:stretch>
        </p:blipFill>
        <p:spPr bwMode="auto">
          <a:xfrm>
            <a:off x="3332028" y="3789040"/>
            <a:ext cx="2496277" cy="187220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Develop scope and objectives of the required initiative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‘Required initiatives’ </a:t>
            </a:r>
            <a:r>
              <a:rPr lang="en-AU" sz="2200" dirty="0" smtClean="0">
                <a:latin typeface="Helvetica" pitchFamily="34" charset="0"/>
              </a:rPr>
              <a:t>can be seen as any action to be taken by the organisation to</a:t>
            </a:r>
            <a:r>
              <a:rPr lang="en-US" sz="2200" dirty="0" smtClean="0">
                <a:latin typeface="Helvetica" pitchFamily="34" charset="0"/>
              </a:rPr>
              <a:t>:</a:t>
            </a:r>
          </a:p>
          <a:p>
            <a:pPr marL="360000" indent="-360000">
              <a:spcBef>
                <a:spcPts val="600"/>
              </a:spcBef>
              <a:spcAft>
                <a:spcPts val="1200"/>
              </a:spcAft>
            </a:pPr>
            <a:r>
              <a:rPr lang="en-AU" sz="2200" dirty="0" smtClean="0">
                <a:latin typeface="Helvetica" pitchFamily="34" charset="0"/>
              </a:rPr>
              <a:t>Address an identified operational threat or weakness</a:t>
            </a:r>
          </a:p>
          <a:p>
            <a:pPr marL="360000" indent="-360000">
              <a:spcBef>
                <a:spcPts val="600"/>
              </a:spcBef>
              <a:spcAft>
                <a:spcPts val="1200"/>
              </a:spcAft>
            </a:pPr>
            <a:r>
              <a:rPr lang="en-AU" sz="2200" dirty="0" smtClean="0">
                <a:latin typeface="Helvetica" pitchFamily="34" charset="0"/>
              </a:rPr>
              <a:t>Capitalise on an identified strength or opportunity</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31</a:t>
            </a:fld>
            <a:endParaRPr lang="en-US" dirty="0">
              <a:latin typeface="Helvetica" pitchFamily="34" charset="0"/>
            </a:endParaRPr>
          </a:p>
        </p:txBody>
      </p:sp>
      <p:pic>
        <p:nvPicPr>
          <p:cNvPr id="15362" name="Picture 2" descr="I:\Overseas Projects\PHOTOS\2014\Shutterstock 25-a-day\shutterstock_167211332.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46122"/>
          <a:stretch/>
        </p:blipFill>
        <p:spPr bwMode="auto">
          <a:xfrm>
            <a:off x="3779912" y="3717032"/>
            <a:ext cx="1642179" cy="23383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Develop scope and objectives of the required initiative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‘Scope’ refers to limitations to a policy – therefore scope may:</a:t>
            </a:r>
          </a:p>
          <a:p>
            <a:pPr marL="360000" indent="-360000">
              <a:spcBef>
                <a:spcPts val="600"/>
              </a:spcBef>
              <a:spcAft>
                <a:spcPts val="1200"/>
              </a:spcAft>
            </a:pPr>
            <a:r>
              <a:rPr lang="en-US" sz="2200" dirty="0" smtClean="0">
                <a:latin typeface="Helvetica" pitchFamily="34" charset="0"/>
              </a:rPr>
              <a:t>Define its reach</a:t>
            </a:r>
          </a:p>
          <a:p>
            <a:pPr marL="360000" indent="-360000">
              <a:spcBef>
                <a:spcPts val="600"/>
              </a:spcBef>
              <a:spcAft>
                <a:spcPts val="1200"/>
              </a:spcAft>
            </a:pPr>
            <a:r>
              <a:rPr lang="en-US" sz="2200" dirty="0" smtClean="0">
                <a:latin typeface="Helvetica" pitchFamily="34" charset="0"/>
              </a:rPr>
              <a:t>Restrict its use</a:t>
            </a:r>
          </a:p>
          <a:p>
            <a:pPr marL="360000" indent="-360000">
              <a:spcBef>
                <a:spcPts val="600"/>
              </a:spcBef>
              <a:spcAft>
                <a:spcPts val="1200"/>
              </a:spcAft>
            </a:pPr>
            <a:r>
              <a:rPr lang="en-US" sz="2200" dirty="0" smtClean="0">
                <a:latin typeface="Helvetica" pitchFamily="34" charset="0"/>
              </a:rPr>
              <a:t>Prescribe framework and context in which it is to be used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32</a:t>
            </a:fld>
            <a:endParaRPr lang="en-US" dirty="0">
              <a:latin typeface="Helvetica" pitchFamily="34" charset="0"/>
            </a:endParaRPr>
          </a:p>
        </p:txBody>
      </p:sp>
      <p:grpSp>
        <p:nvGrpSpPr>
          <p:cNvPr id="7" name="Group 6"/>
          <p:cNvGrpSpPr/>
          <p:nvPr/>
        </p:nvGrpSpPr>
        <p:grpSpPr>
          <a:xfrm>
            <a:off x="2879812" y="4388237"/>
            <a:ext cx="2664296" cy="1795824"/>
            <a:chOff x="3131840" y="4365104"/>
            <a:chExt cx="2664296" cy="1795824"/>
          </a:xfrm>
        </p:grpSpPr>
        <p:pic>
          <p:nvPicPr>
            <p:cNvPr id="5" name="Picture 4" descr="C:\Documents and Settings\nickh\Desktop\PROJECTS\Singapore\Photos\W184_Five_Professionals_Blank_Msg_shutterstock_2052513.jpg"/>
            <p:cNvPicPr/>
            <p:nvPr/>
          </p:nvPicPr>
          <p:blipFill>
            <a:blip r:embed="rId3" cstate="print"/>
            <a:srcRect/>
            <a:stretch>
              <a:fillRect/>
            </a:stretch>
          </p:blipFill>
          <p:spPr bwMode="auto">
            <a:xfrm>
              <a:off x="3131840" y="4365104"/>
              <a:ext cx="2664296" cy="1795824"/>
            </a:xfrm>
            <a:prstGeom prst="rect">
              <a:avLst/>
            </a:prstGeom>
            <a:noFill/>
            <a:ln w="9525">
              <a:noFill/>
              <a:miter lim="800000"/>
              <a:headEnd/>
              <a:tailEnd/>
            </a:ln>
          </p:spPr>
        </p:pic>
        <p:sp>
          <p:nvSpPr>
            <p:cNvPr id="6" name="TextBox 5"/>
            <p:cNvSpPr txBox="1"/>
            <p:nvPr/>
          </p:nvSpPr>
          <p:spPr>
            <a:xfrm>
              <a:off x="3923928" y="5281373"/>
              <a:ext cx="1296144" cy="461665"/>
            </a:xfrm>
            <a:prstGeom prst="rect">
              <a:avLst/>
            </a:prstGeom>
            <a:noFill/>
          </p:spPr>
          <p:txBody>
            <a:bodyPr wrap="square" rtlCol="0">
              <a:spAutoFit/>
            </a:bodyPr>
            <a:lstStyle/>
            <a:p>
              <a:r>
                <a:rPr lang="en-AU" sz="2400" b="1" dirty="0" smtClean="0"/>
                <a:t>SCOPE</a:t>
              </a:r>
              <a:endParaRPr lang="en-AU" sz="2400" b="1" dirty="0"/>
            </a:p>
          </p:txBody>
        </p:sp>
      </p:gr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Develop scope and objectives of the required initiative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The scope for a policy may be:</a:t>
            </a:r>
          </a:p>
          <a:p>
            <a:pPr marL="360000" indent="-360000">
              <a:spcBef>
                <a:spcPts val="600"/>
              </a:spcBef>
              <a:spcAft>
                <a:spcPts val="1200"/>
              </a:spcAft>
            </a:pPr>
            <a:r>
              <a:rPr lang="en-US" sz="2200" dirty="0" smtClean="0">
                <a:latin typeface="Helvetica" pitchFamily="34" charset="0"/>
              </a:rPr>
              <a:t>A named individual or group</a:t>
            </a:r>
          </a:p>
          <a:p>
            <a:pPr marL="360000" indent="-360000">
              <a:spcBef>
                <a:spcPts val="600"/>
              </a:spcBef>
              <a:spcAft>
                <a:spcPts val="1200"/>
              </a:spcAft>
            </a:pPr>
            <a:r>
              <a:rPr lang="en-US" sz="2200" dirty="0" smtClean="0">
                <a:latin typeface="Helvetica" pitchFamily="34" charset="0"/>
              </a:rPr>
              <a:t>A certain department or area</a:t>
            </a:r>
          </a:p>
          <a:p>
            <a:pPr marL="360000" indent="-360000">
              <a:spcBef>
                <a:spcPts val="600"/>
              </a:spcBef>
              <a:spcAft>
                <a:spcPts val="1200"/>
              </a:spcAft>
            </a:pPr>
            <a:r>
              <a:rPr lang="en-US" sz="2200" dirty="0" smtClean="0">
                <a:latin typeface="Helvetica" pitchFamily="34" charset="0"/>
              </a:rPr>
              <a:t>A specific office or agency’</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33</a:t>
            </a:fld>
            <a:endParaRPr lang="en-US" dirty="0">
              <a:latin typeface="Helvetica" pitchFamily="34" charset="0"/>
            </a:endParaRPr>
          </a:p>
        </p:txBody>
      </p:sp>
      <p:pic>
        <p:nvPicPr>
          <p:cNvPr id="16386" name="Picture 2" descr="I:\Overseas Projects\PHOTOS\2014\Shutterstock 25-a-day\shutterstock_171189125.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08104" y="1628800"/>
            <a:ext cx="2185987" cy="3048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Develop scope and objectives of the required initiative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844824"/>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A nominated period</a:t>
            </a:r>
          </a:p>
          <a:p>
            <a:pPr marL="360000" indent="-360000">
              <a:spcBef>
                <a:spcPts val="600"/>
              </a:spcBef>
              <a:spcAft>
                <a:spcPts val="1200"/>
              </a:spcAft>
            </a:pPr>
            <a:r>
              <a:rPr lang="en-US" sz="2200" dirty="0" smtClean="0">
                <a:latin typeface="Helvetica" pitchFamily="34" charset="0"/>
              </a:rPr>
              <a:t>A geographic location</a:t>
            </a:r>
          </a:p>
          <a:p>
            <a:pPr marL="360000" indent="-360000">
              <a:spcBef>
                <a:spcPts val="600"/>
              </a:spcBef>
              <a:spcAft>
                <a:spcPts val="1200"/>
              </a:spcAft>
            </a:pPr>
            <a:r>
              <a:rPr lang="en-US" sz="2200" dirty="0" smtClean="0">
                <a:latin typeface="Helvetica" pitchFamily="34" charset="0"/>
              </a:rPr>
              <a:t>Times of the day/week</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34</a:t>
            </a:fld>
            <a:endParaRPr lang="en-US" dirty="0">
              <a:latin typeface="Helvetica" pitchFamily="34" charset="0"/>
            </a:endParaRPr>
          </a:p>
        </p:txBody>
      </p:sp>
      <p:pic>
        <p:nvPicPr>
          <p:cNvPr id="5" name="Picture 4" descr="W40_calender.jpg"/>
          <p:cNvPicPr/>
          <p:nvPr/>
        </p:nvPicPr>
        <p:blipFill rotWithShape="1">
          <a:blip r:embed="rId3" cstate="print"/>
          <a:srcRect l="11173" t="6673" r="7821" b="10747"/>
          <a:stretch/>
        </p:blipFill>
        <p:spPr bwMode="auto">
          <a:xfrm>
            <a:off x="5436096" y="2060848"/>
            <a:ext cx="1874282" cy="1279401"/>
          </a:xfrm>
          <a:prstGeom prst="rect">
            <a:avLst/>
          </a:prstGeom>
          <a:ln>
            <a:noFill/>
          </a:ln>
          <a:extLst>
            <a:ext uri="{53640926-AAD7-44D8-BBD7-CCE9431645EC}">
              <a14:shadowObscured xmlns:a14="http://schemas.microsoft.com/office/drawing/2010/main"/>
            </a:ext>
          </a:extLst>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Develop scope and objectives of the required initiative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‘Objectives’:</a:t>
            </a:r>
          </a:p>
          <a:p>
            <a:pPr marL="360000" indent="-360000">
              <a:spcBef>
                <a:spcPts val="600"/>
              </a:spcBef>
              <a:spcAft>
                <a:spcPts val="1200"/>
              </a:spcAft>
            </a:pPr>
            <a:r>
              <a:rPr lang="en-US" sz="2200" dirty="0" smtClean="0">
                <a:latin typeface="Helvetica" pitchFamily="34" charset="0"/>
              </a:rPr>
              <a:t>Are the aims of the policy/what it seeks to achieve</a:t>
            </a:r>
          </a:p>
          <a:p>
            <a:pPr marL="360000" indent="-360000">
              <a:spcBef>
                <a:spcPts val="600"/>
              </a:spcBef>
              <a:spcAft>
                <a:spcPts val="1200"/>
              </a:spcAft>
            </a:pPr>
            <a:r>
              <a:rPr lang="en-US" sz="2200" dirty="0" smtClean="0">
                <a:latin typeface="Helvetica" pitchFamily="34" charset="0"/>
              </a:rPr>
              <a:t>Should quantify issues/goals/targets</a:t>
            </a:r>
          </a:p>
          <a:p>
            <a:pPr marL="360000" indent="-360000">
              <a:spcBef>
                <a:spcPts val="600"/>
              </a:spcBef>
              <a:spcAft>
                <a:spcPts val="1200"/>
              </a:spcAft>
            </a:pPr>
            <a:r>
              <a:rPr lang="en-US" sz="2200" dirty="0" smtClean="0">
                <a:latin typeface="Helvetica" pitchFamily="34" charset="0"/>
              </a:rPr>
              <a:t>Should include relevant dates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35</a:t>
            </a:fld>
            <a:endParaRPr lang="en-US" dirty="0">
              <a:latin typeface="Helvetica" pitchFamily="34" charset="0"/>
            </a:endParaRPr>
          </a:p>
        </p:txBody>
      </p:sp>
      <p:pic>
        <p:nvPicPr>
          <p:cNvPr id="17410" name="Picture 2" descr="I:\Overseas Projects\PHOTOS\2014\Shutterstock 25-a-day\shutterstock_154509908.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28183" y="2924944"/>
            <a:ext cx="1971971" cy="18497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Develop scope and objectives of the required initiative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639341"/>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The SMART approach to writing objectives – where:</a:t>
            </a:r>
          </a:p>
          <a:p>
            <a:pPr marL="360000" indent="-360000">
              <a:spcBef>
                <a:spcPts val="600"/>
              </a:spcBef>
              <a:spcAft>
                <a:spcPts val="1200"/>
              </a:spcAft>
            </a:pPr>
            <a:r>
              <a:rPr lang="en-US" sz="2200" dirty="0" smtClean="0">
                <a:latin typeface="Helvetica" pitchFamily="34" charset="0"/>
              </a:rPr>
              <a:t>S = Specific</a:t>
            </a:r>
          </a:p>
          <a:p>
            <a:pPr marL="360000" indent="-360000">
              <a:spcBef>
                <a:spcPts val="600"/>
              </a:spcBef>
              <a:spcAft>
                <a:spcPts val="1200"/>
              </a:spcAft>
            </a:pPr>
            <a:r>
              <a:rPr lang="en-US" sz="2200" dirty="0" smtClean="0">
                <a:latin typeface="Helvetica" pitchFamily="34" charset="0"/>
              </a:rPr>
              <a:t>M – Measurable</a:t>
            </a:r>
          </a:p>
          <a:p>
            <a:pPr marL="360000" indent="-360000">
              <a:spcBef>
                <a:spcPts val="600"/>
              </a:spcBef>
              <a:spcAft>
                <a:spcPts val="1200"/>
              </a:spcAft>
            </a:pPr>
            <a:r>
              <a:rPr lang="en-US" sz="2200" dirty="0" smtClean="0">
                <a:latin typeface="Helvetica" pitchFamily="34" charset="0"/>
              </a:rPr>
              <a:t>A = Attainable (or Achievable)</a:t>
            </a:r>
          </a:p>
          <a:p>
            <a:pPr marL="360000" indent="-360000">
              <a:spcBef>
                <a:spcPts val="600"/>
              </a:spcBef>
              <a:spcAft>
                <a:spcPts val="1200"/>
              </a:spcAft>
            </a:pPr>
            <a:r>
              <a:rPr lang="en-US" sz="2200" dirty="0" smtClean="0">
                <a:latin typeface="Helvetica" pitchFamily="34" charset="0"/>
              </a:rPr>
              <a:t>R = Realistic (or Relevant)</a:t>
            </a:r>
          </a:p>
          <a:p>
            <a:pPr marL="360000" indent="-360000">
              <a:spcBef>
                <a:spcPts val="600"/>
              </a:spcBef>
              <a:spcAft>
                <a:spcPts val="1200"/>
              </a:spcAft>
            </a:pPr>
            <a:r>
              <a:rPr lang="en-US" sz="2200" dirty="0" smtClean="0">
                <a:latin typeface="Helvetica" pitchFamily="34" charset="0"/>
              </a:rPr>
              <a:t>T = Time-related (or Tangible)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36</a:t>
            </a:fld>
            <a:endParaRPr lang="en-US" dirty="0">
              <a:latin typeface="Helvetica" pitchFamily="34" charset="0"/>
            </a:endParaRPr>
          </a:p>
        </p:txBody>
      </p:sp>
      <p:pic>
        <p:nvPicPr>
          <p:cNvPr id="18434" name="Picture 2" descr="I:\Overseas Projects\PHOTOS\2014\Shutterstock 25-a-day\shutterstock_150882020.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84168" y="2780928"/>
            <a:ext cx="2039888" cy="20398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Develop scope and objectives of the required initiative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Objectives commonly prepared in relation to:</a:t>
            </a:r>
          </a:p>
          <a:p>
            <a:pPr marL="360000" indent="-360000">
              <a:spcBef>
                <a:spcPts val="600"/>
              </a:spcBef>
              <a:spcAft>
                <a:spcPts val="1200"/>
              </a:spcAft>
            </a:pPr>
            <a:r>
              <a:rPr lang="en-US" sz="2200" dirty="0" smtClean="0">
                <a:latin typeface="Helvetica" pitchFamily="34" charset="0"/>
              </a:rPr>
              <a:t>Sales figures</a:t>
            </a:r>
          </a:p>
          <a:p>
            <a:pPr marL="360000" indent="-360000">
              <a:spcBef>
                <a:spcPts val="600"/>
              </a:spcBef>
              <a:spcAft>
                <a:spcPts val="1200"/>
              </a:spcAft>
            </a:pPr>
            <a:r>
              <a:rPr lang="en-US" sz="2200" dirty="0" smtClean="0">
                <a:latin typeface="Helvetica" pitchFamily="34" charset="0"/>
              </a:rPr>
              <a:t>Revenues</a:t>
            </a:r>
          </a:p>
          <a:p>
            <a:pPr marL="360000" indent="-360000">
              <a:spcBef>
                <a:spcPts val="600"/>
              </a:spcBef>
              <a:spcAft>
                <a:spcPts val="1200"/>
              </a:spcAft>
            </a:pPr>
            <a:r>
              <a:rPr lang="en-US" sz="2200" dirty="0" smtClean="0">
                <a:latin typeface="Helvetica" pitchFamily="34" charset="0"/>
              </a:rPr>
              <a:t>Delivery times</a:t>
            </a:r>
          </a:p>
          <a:p>
            <a:pPr marL="360000" indent="-360000">
              <a:spcBef>
                <a:spcPts val="600"/>
              </a:spcBef>
              <a:spcAft>
                <a:spcPts val="1200"/>
              </a:spcAft>
            </a:pPr>
            <a:r>
              <a:rPr lang="en-US" sz="2200" dirty="0" smtClean="0">
                <a:latin typeface="Helvetica" pitchFamily="34" charset="0"/>
              </a:rPr>
              <a:t>Service standards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37</a:t>
            </a:fld>
            <a:endParaRPr lang="en-US" dirty="0">
              <a:latin typeface="Helvetica" pitchFamily="34" charset="0"/>
            </a:endParaRPr>
          </a:p>
        </p:txBody>
      </p:sp>
      <p:pic>
        <p:nvPicPr>
          <p:cNvPr id="19458" name="Picture 2" descr="I:\Overseas Projects\PHOTOS\2014\Shutterstock 25-a-day\shutterstock_147664379.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20072" y="2394634"/>
            <a:ext cx="2759968" cy="18184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Develop scope and objectives of the required initiative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83357"/>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Client numbers</a:t>
            </a:r>
          </a:p>
          <a:p>
            <a:pPr marL="360000" indent="-360000">
              <a:spcBef>
                <a:spcPts val="600"/>
              </a:spcBef>
              <a:spcAft>
                <a:spcPts val="1200"/>
              </a:spcAft>
            </a:pPr>
            <a:r>
              <a:rPr lang="en-US" sz="2200" dirty="0" smtClean="0">
                <a:latin typeface="Helvetica" pitchFamily="34" charset="0"/>
              </a:rPr>
              <a:t>Sales figures and targets</a:t>
            </a:r>
          </a:p>
          <a:p>
            <a:pPr marL="360000" indent="-360000">
              <a:spcBef>
                <a:spcPts val="600"/>
              </a:spcBef>
              <a:spcAft>
                <a:spcPts val="1200"/>
              </a:spcAft>
            </a:pPr>
            <a:r>
              <a:rPr lang="en-US" sz="2200" dirty="0" smtClean="0">
                <a:latin typeface="Helvetica" pitchFamily="34" charset="0"/>
              </a:rPr>
              <a:t>Booking levels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38</a:t>
            </a:fld>
            <a:endParaRPr lang="en-US" dirty="0">
              <a:latin typeface="Helvetica" pitchFamily="34" charset="0"/>
            </a:endParaRPr>
          </a:p>
        </p:txBody>
      </p:sp>
      <p:pic>
        <p:nvPicPr>
          <p:cNvPr id="20482" name="Picture 2" descr="I:\Overseas Projects\PHOTOS\2014\Shutterstock 25-a-day\shutterstock_200057282.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92080" y="1844824"/>
            <a:ext cx="2687960" cy="178497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Develop scope and objectives of the required initiative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11349"/>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Customer feedback</a:t>
            </a:r>
          </a:p>
          <a:p>
            <a:pPr marL="360000" indent="-360000">
              <a:spcBef>
                <a:spcPts val="600"/>
              </a:spcBef>
              <a:spcAft>
                <a:spcPts val="1200"/>
              </a:spcAft>
            </a:pPr>
            <a:r>
              <a:rPr lang="en-US" sz="2200" dirty="0" smtClean="0">
                <a:latin typeface="Helvetica" pitchFamily="34" charset="0"/>
              </a:rPr>
              <a:t>Staff feedback</a:t>
            </a:r>
          </a:p>
          <a:p>
            <a:pPr marL="360000" indent="-360000">
              <a:spcBef>
                <a:spcPts val="600"/>
              </a:spcBef>
              <a:spcAft>
                <a:spcPts val="1200"/>
              </a:spcAft>
            </a:pPr>
            <a:r>
              <a:rPr lang="en-US" sz="2200" dirty="0" smtClean="0">
                <a:latin typeface="Helvetica" pitchFamily="34" charset="0"/>
              </a:rPr>
              <a:t>Productivity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39</a:t>
            </a:fld>
            <a:endParaRPr lang="en-US" dirty="0">
              <a:latin typeface="Helvetica" pitchFamily="34" charset="0"/>
            </a:endParaRPr>
          </a:p>
        </p:txBody>
      </p:sp>
      <p:pic>
        <p:nvPicPr>
          <p:cNvPr id="21506" name="Picture 2" descr="I:\Overseas Projects\PHOTOS\2012\Front office 2012\shutterstock_99510125.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48064" y="1916832"/>
            <a:ext cx="2615952" cy="253420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332656"/>
            <a:ext cx="7858180" cy="1143000"/>
          </a:xfrm>
        </p:spPr>
        <p:txBody>
          <a:bodyPr>
            <a:normAutofit fontScale="90000"/>
          </a:bodyPr>
          <a:lstStyle/>
          <a:p>
            <a:r>
              <a:rPr lang="en-AU" sz="3400" b="1" dirty="0" smtClean="0">
                <a:solidFill>
                  <a:srgbClr val="FF6600"/>
                </a:solidFill>
                <a:latin typeface="Helvetica" pitchFamily="34" charset="0"/>
              </a:rPr>
              <a:t>Identify and analyse internal and external factors that may impact on the policy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467544" y="1639341"/>
            <a:ext cx="7467600" cy="4525963"/>
          </a:xfrm>
        </p:spPr>
        <p:txBody>
          <a:bodyPr>
            <a:normAutofit/>
          </a:bodyPr>
          <a:lstStyle/>
          <a:p>
            <a:pPr marL="0" indent="0">
              <a:spcBef>
                <a:spcPts val="600"/>
              </a:spcBef>
              <a:spcAft>
                <a:spcPts val="1200"/>
              </a:spcAft>
              <a:buNone/>
            </a:pPr>
            <a:r>
              <a:rPr lang="en-US" sz="2200" dirty="0" smtClean="0">
                <a:latin typeface="Helvetica" pitchFamily="34" charset="0"/>
              </a:rPr>
              <a:t>In relation to workplace analysis:</a:t>
            </a:r>
          </a:p>
          <a:p>
            <a:pPr marL="360000" indent="-360000">
              <a:spcBef>
                <a:spcPts val="600"/>
              </a:spcBef>
              <a:spcAft>
                <a:spcPts val="1200"/>
              </a:spcAft>
            </a:pPr>
            <a:r>
              <a:rPr lang="en-US" sz="2200" dirty="0" smtClean="0">
                <a:latin typeface="Helvetica" pitchFamily="34" charset="0"/>
              </a:rPr>
              <a:t>A range of options/approaches exist</a:t>
            </a:r>
          </a:p>
          <a:p>
            <a:pPr marL="360000" indent="-360000">
              <a:spcBef>
                <a:spcPts val="600"/>
              </a:spcBef>
              <a:spcAft>
                <a:spcPts val="1200"/>
              </a:spcAft>
            </a:pPr>
            <a:r>
              <a:rPr lang="en-US" sz="2200" dirty="0" smtClean="0">
                <a:latin typeface="Helvetica" pitchFamily="34" charset="0"/>
              </a:rPr>
              <a:t>Businesses usually only use ‘just one’</a:t>
            </a:r>
          </a:p>
          <a:p>
            <a:pPr marL="360000" indent="-360000">
              <a:spcBef>
                <a:spcPts val="600"/>
              </a:spcBef>
              <a:spcAft>
                <a:spcPts val="1200"/>
              </a:spcAft>
            </a:pPr>
            <a:r>
              <a:rPr lang="en-US" sz="2200" dirty="0" smtClean="0">
                <a:latin typeface="Helvetica" pitchFamily="34" charset="0"/>
              </a:rPr>
              <a:t>A formal analysis is preferred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40</a:t>
            </a:fld>
            <a:endParaRPr lang="en-US" dirty="0">
              <a:latin typeface="Helvetica" pitchFamily="34" charset="0"/>
            </a:endParaRPr>
          </a:p>
        </p:txBody>
      </p:sp>
      <p:pic>
        <p:nvPicPr>
          <p:cNvPr id="22530" name="Picture 2" descr="I:\Overseas Projects\PHOTOS\2012\Front office 2012\shutterstock_92731135.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05456" y="2060848"/>
            <a:ext cx="2141182" cy="186461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332656"/>
            <a:ext cx="7858180" cy="1143000"/>
          </a:xfrm>
        </p:spPr>
        <p:txBody>
          <a:bodyPr>
            <a:normAutofit fontScale="90000"/>
          </a:bodyPr>
          <a:lstStyle/>
          <a:p>
            <a:r>
              <a:rPr lang="en-AU" sz="3400" b="1" dirty="0" smtClean="0">
                <a:solidFill>
                  <a:srgbClr val="FF6600"/>
                </a:solidFill>
                <a:latin typeface="Helvetica" pitchFamily="34" charset="0"/>
              </a:rPr>
              <a:t>Identify and analyse internal and external factors that may impact on the policy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SWOT analysis:</a:t>
            </a:r>
          </a:p>
          <a:p>
            <a:pPr marL="360000" indent="-360000">
              <a:spcBef>
                <a:spcPts val="600"/>
              </a:spcBef>
              <a:spcAft>
                <a:spcPts val="1200"/>
              </a:spcAft>
            </a:pPr>
            <a:r>
              <a:rPr lang="en-US" sz="2200" dirty="0" smtClean="0">
                <a:latin typeface="Helvetica" pitchFamily="34" charset="0"/>
              </a:rPr>
              <a:t>Internal (‘controllable’) factors: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Strengths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Weaknesses</a:t>
            </a:r>
          </a:p>
          <a:p>
            <a:pPr marL="360000" indent="-360000">
              <a:spcBef>
                <a:spcPts val="600"/>
              </a:spcBef>
              <a:spcAft>
                <a:spcPts val="1200"/>
              </a:spcAft>
            </a:pPr>
            <a:r>
              <a:rPr lang="en-US" sz="2200" dirty="0" smtClean="0">
                <a:latin typeface="Helvetica" pitchFamily="34" charset="0"/>
              </a:rPr>
              <a:t>External (‘uncontrollable’) factors: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Opportunities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Threats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41</a:t>
            </a:fld>
            <a:endParaRPr lang="en-US" dirty="0">
              <a:latin typeface="Helvetica" pitchFamily="34" charset="0"/>
            </a:endParaRPr>
          </a:p>
        </p:txBody>
      </p:sp>
      <p:pic>
        <p:nvPicPr>
          <p:cNvPr id="23554" name="Picture 2" descr="I:\Overseas Projects\PHOTOS\2012\Front office 2012\shutterstock_102376840.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68144" y="2204864"/>
            <a:ext cx="2314332" cy="246724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332656"/>
            <a:ext cx="7858180" cy="1143000"/>
          </a:xfrm>
        </p:spPr>
        <p:txBody>
          <a:bodyPr>
            <a:normAutofit fontScale="90000"/>
          </a:bodyPr>
          <a:lstStyle/>
          <a:p>
            <a:r>
              <a:rPr lang="en-AU" sz="3400" b="1" dirty="0" smtClean="0">
                <a:solidFill>
                  <a:srgbClr val="FF6600"/>
                </a:solidFill>
                <a:latin typeface="Helvetica" pitchFamily="34" charset="0"/>
              </a:rPr>
              <a:t>Identify and analyse internal and external factors that may impact on the policy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Other approaches for analysis of external factors:</a:t>
            </a:r>
          </a:p>
          <a:p>
            <a:pPr marL="360000" indent="-360000">
              <a:spcBef>
                <a:spcPts val="600"/>
              </a:spcBef>
              <a:spcAft>
                <a:spcPts val="1200"/>
              </a:spcAft>
            </a:pPr>
            <a:r>
              <a:rPr lang="en-US" sz="2200" dirty="0" smtClean="0">
                <a:latin typeface="Helvetica" pitchFamily="34" charset="0"/>
              </a:rPr>
              <a:t>SLEPT:</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Social; Legal; Economic; Political; Technological</a:t>
            </a:r>
          </a:p>
          <a:p>
            <a:pPr marL="360000" indent="-360000">
              <a:spcBef>
                <a:spcPts val="600"/>
              </a:spcBef>
              <a:spcAft>
                <a:spcPts val="1200"/>
              </a:spcAft>
            </a:pPr>
            <a:r>
              <a:rPr lang="en-US" sz="2200" dirty="0" smtClean="0">
                <a:latin typeface="Helvetica" pitchFamily="34" charset="0"/>
              </a:rPr>
              <a:t>PESTEL:</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SLEPT + Environmental factors</a:t>
            </a:r>
          </a:p>
          <a:p>
            <a:pPr marL="360000" indent="-360000">
              <a:spcBef>
                <a:spcPts val="600"/>
              </a:spcBef>
              <a:spcAft>
                <a:spcPts val="1200"/>
              </a:spcAft>
            </a:pPr>
            <a:r>
              <a:rPr lang="en-US" sz="2200" dirty="0" smtClean="0">
                <a:latin typeface="Helvetica" pitchFamily="34" charset="0"/>
              </a:rPr>
              <a:t>STEEPLE: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PESTLE + Ethical factors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42</a:t>
            </a:fld>
            <a:endParaRPr lang="en-US" dirty="0">
              <a:latin typeface="Helvetica" pitchFamily="34" charset="0"/>
            </a:endParaRPr>
          </a:p>
        </p:txBody>
      </p:sp>
      <p:pic>
        <p:nvPicPr>
          <p:cNvPr id="24578" name="Picture 2" descr="I:\Overseas Projects\PHOTOS\2012\Front office 2012\shutterstock_105269162.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75166" y="3429000"/>
            <a:ext cx="1789937" cy="184767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332656"/>
            <a:ext cx="7858180" cy="1143000"/>
          </a:xfrm>
        </p:spPr>
        <p:txBody>
          <a:bodyPr>
            <a:normAutofit fontScale="90000"/>
          </a:bodyPr>
          <a:lstStyle/>
          <a:p>
            <a:r>
              <a:rPr lang="en-AU" sz="3400" b="1" dirty="0" smtClean="0">
                <a:solidFill>
                  <a:srgbClr val="FF6600"/>
                </a:solidFill>
                <a:latin typeface="Helvetica" pitchFamily="34" charset="0"/>
              </a:rPr>
              <a:t>Identify and analyse internal and external factors that may impact on the policy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indent="0">
              <a:spcBef>
                <a:spcPts val="600"/>
              </a:spcBef>
              <a:spcAft>
                <a:spcPts val="1200"/>
              </a:spcAft>
              <a:buNone/>
            </a:pPr>
            <a:r>
              <a:rPr lang="en-US" sz="2200" dirty="0" smtClean="0">
                <a:latin typeface="Helvetica" pitchFamily="34" charset="0"/>
              </a:rPr>
              <a:t>Examples of factors:</a:t>
            </a:r>
          </a:p>
          <a:p>
            <a:pPr marL="360000" indent="-360000">
              <a:spcBef>
                <a:spcPts val="600"/>
              </a:spcBef>
              <a:spcAft>
                <a:spcPts val="1200"/>
              </a:spcAft>
            </a:pPr>
            <a:r>
              <a:rPr lang="en-US" sz="2200" dirty="0" smtClean="0">
                <a:latin typeface="Helvetica" pitchFamily="34" charset="0"/>
              </a:rPr>
              <a:t>Capabilities and resources (internal):</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Human resources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Financial resources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Equipment capacity</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Communication capabilities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Position of the business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43</a:t>
            </a:fld>
            <a:endParaRPr lang="en-US" dirty="0">
              <a:latin typeface="Helvetica" pitchFamily="34" charset="0"/>
            </a:endParaRPr>
          </a:p>
        </p:txBody>
      </p:sp>
      <p:pic>
        <p:nvPicPr>
          <p:cNvPr id="25602" name="Picture 2" descr="I:\Overseas Projects\PHOTOS\2012\Front office 2012\shutterstock_93034984.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96136" y="2852936"/>
            <a:ext cx="2531567" cy="194614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332656"/>
            <a:ext cx="7858180" cy="1143000"/>
          </a:xfrm>
        </p:spPr>
        <p:txBody>
          <a:bodyPr>
            <a:normAutofit fontScale="90000"/>
          </a:bodyPr>
          <a:lstStyle/>
          <a:p>
            <a:r>
              <a:rPr lang="en-AU" sz="3400" b="1" dirty="0" smtClean="0">
                <a:solidFill>
                  <a:srgbClr val="FF6600"/>
                </a:solidFill>
                <a:latin typeface="Helvetica" pitchFamily="34" charset="0"/>
              </a:rPr>
              <a:t>Identify and analyse internal and external factors that may impact on the policy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Trends and developments in the marketplace (external):</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Economic considerations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Environmental considerations</a:t>
            </a:r>
          </a:p>
          <a:p>
            <a:pPr marL="661752" lvl="1"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44</a:t>
            </a:fld>
            <a:endParaRPr lang="en-US" dirty="0">
              <a:latin typeface="Helvetica" pitchFamily="34" charset="0"/>
            </a:endParaRPr>
          </a:p>
        </p:txBody>
      </p:sp>
      <p:pic>
        <p:nvPicPr>
          <p:cNvPr id="26626" name="Picture 2" descr="I:\Overseas Projects\PHOTOS\2012\Front office 2012\Communication icons.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14085"/>
          <a:stretch/>
        </p:blipFill>
        <p:spPr bwMode="auto">
          <a:xfrm>
            <a:off x="5652120" y="2708920"/>
            <a:ext cx="2618694" cy="20240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332656"/>
            <a:ext cx="7858180" cy="1143000"/>
          </a:xfrm>
        </p:spPr>
        <p:txBody>
          <a:bodyPr>
            <a:normAutofit fontScale="90000"/>
          </a:bodyPr>
          <a:lstStyle/>
          <a:p>
            <a:r>
              <a:rPr lang="en-AU" sz="3400" b="1" dirty="0" smtClean="0">
                <a:solidFill>
                  <a:srgbClr val="FF6600"/>
                </a:solidFill>
                <a:latin typeface="Helvetica" pitchFamily="34" charset="0"/>
              </a:rPr>
              <a:t>Identify and analyse internal and external factors that may impact on the policy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720000" indent="-360000">
              <a:spcBef>
                <a:spcPts val="600"/>
              </a:spcBef>
              <a:spcAft>
                <a:spcPts val="1200"/>
              </a:spcAft>
              <a:buClr>
                <a:schemeClr val="accent1">
                  <a:lumMod val="75000"/>
                </a:schemeClr>
              </a:buClr>
              <a:buSzPct val="100000"/>
              <a:buFont typeface="Arial" pitchFamily="34" charset="0"/>
              <a:buChar char="•"/>
            </a:pPr>
            <a:r>
              <a:rPr lang="en-AU" sz="2200" dirty="0" smtClean="0">
                <a:latin typeface="Helvetica" pitchFamily="34" charset="0"/>
              </a:rPr>
              <a:t>Governmental/political considerations</a:t>
            </a:r>
          </a:p>
          <a:p>
            <a:pPr marL="720000" indent="-360000">
              <a:spcBef>
                <a:spcPts val="600"/>
              </a:spcBef>
              <a:spcAft>
                <a:spcPts val="1200"/>
              </a:spcAft>
              <a:buClr>
                <a:schemeClr val="accent1">
                  <a:lumMod val="75000"/>
                </a:schemeClr>
              </a:buClr>
              <a:buSzPct val="100000"/>
              <a:buFont typeface="Arial" pitchFamily="34" charset="0"/>
              <a:buChar char="•"/>
            </a:pPr>
            <a:r>
              <a:rPr lang="en-AU" sz="2200" dirty="0" smtClean="0">
                <a:latin typeface="Helvetica" pitchFamily="34" charset="0"/>
              </a:rPr>
              <a:t>Social and cultural considerations</a:t>
            </a:r>
            <a:endParaRPr lang="en-US" sz="2200" dirty="0" smtClean="0">
              <a:latin typeface="Helvetica" pitchFamily="34" charset="0"/>
            </a:endParaRP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45</a:t>
            </a:fld>
            <a:endParaRPr lang="en-US" dirty="0">
              <a:latin typeface="Helvetica" pitchFamily="34" charset="0"/>
            </a:endParaRPr>
          </a:p>
        </p:txBody>
      </p:sp>
      <p:pic>
        <p:nvPicPr>
          <p:cNvPr id="27651" name="Picture 3" descr="I:\Overseas Projects\PHOTOS\2014\Shutterstock 25-a-day\shutterstock_180785885.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344"/>
          <a:stretch/>
        </p:blipFill>
        <p:spPr bwMode="auto">
          <a:xfrm>
            <a:off x="2123728" y="3429000"/>
            <a:ext cx="2382571" cy="1793374"/>
          </a:xfrm>
          <a:prstGeom prst="rect">
            <a:avLst/>
          </a:prstGeom>
          <a:noFill/>
          <a:extLst>
            <a:ext uri="{909E8E84-426E-40DD-AFC4-6F175D3DCCD1}">
              <a14:hiddenFill xmlns:a14="http://schemas.microsoft.com/office/drawing/2010/main">
                <a:solidFill>
                  <a:srgbClr val="FFFFFF"/>
                </a:solidFill>
              </a14:hiddenFill>
            </a:ext>
          </a:extLst>
        </p:spPr>
      </p:pic>
      <p:pic>
        <p:nvPicPr>
          <p:cNvPr id="27652" name="Picture 4" descr="I:\Overseas Projects\PHOTOS\2014\Shutterstock 25-a-day\shutterstock_180793907.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88024" y="3450929"/>
            <a:ext cx="2256629" cy="177827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332656"/>
            <a:ext cx="7858180" cy="1143000"/>
          </a:xfrm>
        </p:spPr>
        <p:txBody>
          <a:bodyPr>
            <a:normAutofit fontScale="90000"/>
          </a:bodyPr>
          <a:lstStyle/>
          <a:p>
            <a:r>
              <a:rPr lang="en-AU" sz="3400" b="1" dirty="0" smtClean="0">
                <a:solidFill>
                  <a:srgbClr val="FF6600"/>
                </a:solidFill>
                <a:latin typeface="Helvetica" pitchFamily="34" charset="0"/>
              </a:rPr>
              <a:t>Identify and analyse internal and external factors that may impact on the policy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525963"/>
          </a:xfrm>
        </p:spPr>
        <p:txBody>
          <a:bodyPr>
            <a:normAutofit/>
          </a:bodyPr>
          <a:lstStyle/>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Demographic considerations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Technological considerations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Industrial considerations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46</a:t>
            </a:fld>
            <a:endParaRPr lang="en-US" dirty="0">
              <a:latin typeface="Helvetica" pitchFamily="34" charset="0"/>
            </a:endParaRPr>
          </a:p>
        </p:txBody>
      </p:sp>
      <p:pic>
        <p:nvPicPr>
          <p:cNvPr id="28674" name="Picture 2" descr="I:\Overseas Projects\PHOTOS\2012\Front office 2012\Hand holding business world.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56176" y="1790746"/>
            <a:ext cx="1964060" cy="147304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332656"/>
            <a:ext cx="7858180" cy="1143000"/>
          </a:xfrm>
        </p:spPr>
        <p:txBody>
          <a:bodyPr>
            <a:normAutofit fontScale="90000"/>
          </a:bodyPr>
          <a:lstStyle/>
          <a:p>
            <a:r>
              <a:rPr lang="en-AU" sz="3400" b="1" dirty="0" smtClean="0">
                <a:solidFill>
                  <a:srgbClr val="FF6600"/>
                </a:solidFill>
                <a:latin typeface="Helvetica" pitchFamily="34" charset="0"/>
              </a:rPr>
              <a:t>Identify and analyse internal and external factors that may impact on the policy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Comparative market information – as identified by:</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Best practice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Benchmarking</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Competitor information</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47</a:t>
            </a:fld>
            <a:endParaRPr lang="en-US" dirty="0">
              <a:latin typeface="Helvetica" pitchFamily="34" charset="0"/>
            </a:endParaRPr>
          </a:p>
        </p:txBody>
      </p:sp>
      <p:pic>
        <p:nvPicPr>
          <p:cNvPr id="29698" name="Picture 2" descr="I:\Overseas Projects\PHOTOS\2012\Front office 2012\shutterstock_29291959.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80112" y="2669925"/>
            <a:ext cx="2543944" cy="16972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332656"/>
            <a:ext cx="7858180" cy="1143000"/>
          </a:xfrm>
        </p:spPr>
        <p:txBody>
          <a:bodyPr>
            <a:normAutofit fontScale="90000"/>
          </a:bodyPr>
          <a:lstStyle/>
          <a:p>
            <a:r>
              <a:rPr lang="en-AU" sz="3400" b="1" dirty="0" smtClean="0">
                <a:solidFill>
                  <a:srgbClr val="FF6600"/>
                </a:solidFill>
                <a:latin typeface="Helvetica" pitchFamily="34" charset="0"/>
              </a:rPr>
              <a:t>Identify and analyse internal and external factors that may impact on the policy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83357"/>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Legal considerations</a:t>
            </a:r>
          </a:p>
          <a:p>
            <a:pPr marL="360000" indent="-360000">
              <a:spcBef>
                <a:spcPts val="600"/>
              </a:spcBef>
              <a:spcAft>
                <a:spcPts val="1200"/>
              </a:spcAft>
            </a:pPr>
            <a:r>
              <a:rPr lang="en-US" sz="2200" dirty="0" smtClean="0">
                <a:latin typeface="Helvetica" pitchFamily="34" charset="0"/>
              </a:rPr>
              <a:t>Ethical considerations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48</a:t>
            </a:fld>
            <a:endParaRPr lang="en-US" dirty="0">
              <a:latin typeface="Helvetica" pitchFamily="34" charset="0"/>
            </a:endParaRPr>
          </a:p>
        </p:txBody>
      </p:sp>
      <p:pic>
        <p:nvPicPr>
          <p:cNvPr id="30722" name="Picture 2" descr="I:\Overseas Projects\PHOTOS\2014\Shutterstock 25-a-day\shutterstock_97221128.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36096" y="1916832"/>
            <a:ext cx="2350592" cy="217429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Consult appropriate stakeholders during the development of the policy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Stakeholders will vary depending on:</a:t>
            </a:r>
          </a:p>
          <a:p>
            <a:pPr marL="360000" indent="-360000">
              <a:spcBef>
                <a:spcPts val="600"/>
              </a:spcBef>
              <a:spcAft>
                <a:spcPts val="1200"/>
              </a:spcAft>
            </a:pPr>
            <a:r>
              <a:rPr lang="en-US" sz="2200" dirty="0" smtClean="0">
                <a:latin typeface="Helvetica" pitchFamily="34" charset="0"/>
              </a:rPr>
              <a:t>Size of the organisation</a:t>
            </a:r>
          </a:p>
          <a:p>
            <a:pPr marL="360000" indent="-360000">
              <a:spcBef>
                <a:spcPts val="600"/>
              </a:spcBef>
              <a:spcAft>
                <a:spcPts val="1200"/>
              </a:spcAft>
            </a:pPr>
            <a:r>
              <a:rPr lang="en-US" sz="2200" dirty="0" smtClean="0">
                <a:latin typeface="Helvetica" pitchFamily="34" charset="0"/>
              </a:rPr>
              <a:t>Previous experience with policies and their formulation and use</a:t>
            </a:r>
          </a:p>
          <a:p>
            <a:pPr marL="360000" indent="-360000">
              <a:spcBef>
                <a:spcPts val="600"/>
              </a:spcBef>
              <a:spcAft>
                <a:spcPts val="1200"/>
              </a:spcAft>
            </a:pPr>
            <a:r>
              <a:rPr lang="en-US" sz="2200" dirty="0" smtClean="0">
                <a:latin typeface="Helvetica" pitchFamily="34" charset="0"/>
              </a:rPr>
              <a:t>Urgency and importance of the policy</a:t>
            </a:r>
          </a:p>
          <a:p>
            <a:pPr marL="360000" indent="-360000">
              <a:spcBef>
                <a:spcPts val="600"/>
              </a:spcBef>
              <a:spcAft>
                <a:spcPts val="1200"/>
              </a:spcAft>
            </a:pPr>
            <a:r>
              <a:rPr lang="en-US" sz="2200" dirty="0" smtClean="0">
                <a:latin typeface="Helvetica" pitchFamily="34" charset="0"/>
              </a:rPr>
              <a:t>Partnership arrangements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49</a:t>
            </a:fld>
            <a:endParaRPr lang="en-US" dirty="0">
              <a:latin typeface="Helvetica" pitchFamily="34" charset="0"/>
            </a:endParaRPr>
          </a:p>
        </p:txBody>
      </p:sp>
      <p:pic>
        <p:nvPicPr>
          <p:cNvPr id="6" name="Picture 5" descr="I:\Overseas Projects\PHOTOS\2014\Shutterstock 25-a-day\shutterstock_177291365.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84168" y="3284984"/>
            <a:ext cx="2268252" cy="1512168"/>
          </a:xfrm>
          <a:prstGeom prst="rect">
            <a:avLst/>
          </a:prstGeom>
          <a:noFill/>
          <a:ln>
            <a:noFill/>
          </a:ln>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Consult appropriate stakeholders during the development of the policy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Possible stakeholders:</a:t>
            </a:r>
          </a:p>
          <a:p>
            <a:pPr marL="360000" indent="-360000">
              <a:spcBef>
                <a:spcPts val="600"/>
              </a:spcBef>
              <a:spcAft>
                <a:spcPts val="1200"/>
              </a:spcAft>
            </a:pPr>
            <a:r>
              <a:rPr lang="en-US" sz="2200" dirty="0" smtClean="0">
                <a:latin typeface="Helvetica" pitchFamily="34" charset="0"/>
              </a:rPr>
              <a:t>Customers</a:t>
            </a:r>
          </a:p>
          <a:p>
            <a:pPr marL="360000" indent="-360000">
              <a:spcBef>
                <a:spcPts val="600"/>
              </a:spcBef>
              <a:spcAft>
                <a:spcPts val="1200"/>
              </a:spcAft>
            </a:pPr>
            <a:r>
              <a:rPr lang="en-US" sz="2200" dirty="0" smtClean="0">
                <a:latin typeface="Helvetica" pitchFamily="34" charset="0"/>
              </a:rPr>
              <a:t>Employees</a:t>
            </a:r>
          </a:p>
          <a:p>
            <a:pPr marL="360000" indent="-360000">
              <a:spcBef>
                <a:spcPts val="600"/>
              </a:spcBef>
              <a:spcAft>
                <a:spcPts val="1200"/>
              </a:spcAft>
            </a:pPr>
            <a:r>
              <a:rPr lang="en-US" sz="2200" dirty="0" smtClean="0">
                <a:latin typeface="Helvetica" pitchFamily="34" charset="0"/>
              </a:rPr>
              <a:t>Government agencies</a:t>
            </a:r>
          </a:p>
          <a:p>
            <a:pPr marL="360000" indent="-360000">
              <a:spcBef>
                <a:spcPts val="600"/>
              </a:spcBef>
              <a:spcAft>
                <a:spcPts val="1200"/>
              </a:spcAft>
            </a:pPr>
            <a:r>
              <a:rPr lang="en-US" sz="2200" dirty="0" smtClean="0">
                <a:latin typeface="Helvetica" pitchFamily="34" charset="0"/>
              </a:rPr>
              <a:t>Owners/Board of Management</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50</a:t>
            </a:fld>
            <a:endParaRPr lang="en-US" dirty="0">
              <a:latin typeface="Helvetica" pitchFamily="34" charset="0"/>
            </a:endParaRPr>
          </a:p>
        </p:txBody>
      </p:sp>
      <p:pic>
        <p:nvPicPr>
          <p:cNvPr id="31746" name="Picture 2" descr="I:\Overseas Projects\PHOTOS\2012\Front office 2012\Handshake.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76564" y="1916832"/>
            <a:ext cx="1553160" cy="232792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Consult appropriate stakeholders during the development of the policy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Investors</a:t>
            </a:r>
          </a:p>
          <a:p>
            <a:pPr marL="360000" indent="-360000">
              <a:spcBef>
                <a:spcPts val="600"/>
              </a:spcBef>
              <a:spcAft>
                <a:spcPts val="1200"/>
              </a:spcAft>
            </a:pPr>
            <a:r>
              <a:rPr lang="en-US" sz="2200" dirty="0" smtClean="0">
                <a:latin typeface="Helvetica" pitchFamily="34" charset="0"/>
              </a:rPr>
              <a:t>Suppliers</a:t>
            </a:r>
          </a:p>
          <a:p>
            <a:pPr marL="360000" indent="-360000">
              <a:spcBef>
                <a:spcPts val="600"/>
              </a:spcBef>
              <a:spcAft>
                <a:spcPts val="1200"/>
              </a:spcAft>
            </a:pPr>
            <a:r>
              <a:rPr lang="en-US" sz="2200" dirty="0" smtClean="0">
                <a:latin typeface="Helvetica" pitchFamily="34" charset="0"/>
              </a:rPr>
              <a:t>Strategic alliance partners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51</a:t>
            </a:fld>
            <a:endParaRPr lang="en-US" dirty="0">
              <a:latin typeface="Helvetica" pitchFamily="34" charset="0"/>
            </a:endParaRPr>
          </a:p>
        </p:txBody>
      </p:sp>
      <p:pic>
        <p:nvPicPr>
          <p:cNvPr id="5" name="Picture 4" descr="I:\Overseas Projects\PHOTOS\2014\Shutterstock 25-a-day\shutterstock_123665365.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03623" y="1628800"/>
            <a:ext cx="2051685" cy="1367155"/>
          </a:xfrm>
          <a:prstGeom prst="rect">
            <a:avLst/>
          </a:prstGeom>
          <a:noFill/>
          <a:ln>
            <a:noFill/>
          </a:ln>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Consult appropriate stakeholders during the development of the policy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When seeking to consult with stakeholders:</a:t>
            </a:r>
          </a:p>
          <a:p>
            <a:pPr marL="360000" indent="-360000">
              <a:spcBef>
                <a:spcPts val="600"/>
              </a:spcBef>
              <a:spcAft>
                <a:spcPts val="1200"/>
              </a:spcAft>
            </a:pPr>
            <a:r>
              <a:rPr lang="en-US" sz="2200" dirty="0" smtClean="0">
                <a:latin typeface="Helvetica" pitchFamily="34" charset="0"/>
              </a:rPr>
              <a:t>Determine reason to consult</a:t>
            </a:r>
          </a:p>
          <a:p>
            <a:pPr marL="360000" indent="-360000">
              <a:spcBef>
                <a:spcPts val="600"/>
              </a:spcBef>
              <a:spcAft>
                <a:spcPts val="1200"/>
              </a:spcAft>
            </a:pPr>
            <a:r>
              <a:rPr lang="en-US" sz="2200" dirty="0" smtClean="0">
                <a:latin typeface="Helvetica" pitchFamily="34" charset="0"/>
              </a:rPr>
              <a:t>Find out their preferred method for consultations</a:t>
            </a:r>
          </a:p>
          <a:p>
            <a:pPr marL="360000" indent="-360000">
              <a:spcBef>
                <a:spcPts val="600"/>
              </a:spcBef>
              <a:spcAft>
                <a:spcPts val="1200"/>
              </a:spcAft>
            </a:pPr>
            <a:r>
              <a:rPr lang="en-US" sz="2200" dirty="0" smtClean="0">
                <a:latin typeface="Helvetica" pitchFamily="34" charset="0"/>
              </a:rPr>
              <a:t>Identify when they can consult</a:t>
            </a:r>
          </a:p>
          <a:p>
            <a:pPr marL="360000" indent="-360000">
              <a:spcBef>
                <a:spcPts val="600"/>
              </a:spcBef>
              <a:spcAft>
                <a:spcPts val="1200"/>
              </a:spcAft>
              <a:buNone/>
            </a:pPr>
            <a:r>
              <a:rPr lang="en-US" sz="2200"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52</a:t>
            </a:fld>
            <a:endParaRPr lang="en-US" dirty="0">
              <a:latin typeface="Helvetica" pitchFamily="34" charset="0"/>
            </a:endParaRPr>
          </a:p>
        </p:txBody>
      </p:sp>
      <p:pic>
        <p:nvPicPr>
          <p:cNvPr id="5" name="Picture 4" descr="I:\Overseas Projects\PHOTOS\2014\Shutterstock 25-a-day\shutterstock_179800145.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40152" y="3501008"/>
            <a:ext cx="2206749" cy="1440160"/>
          </a:xfrm>
          <a:prstGeom prst="rect">
            <a:avLst/>
          </a:prstGeom>
          <a:noFill/>
          <a:ln>
            <a:noFill/>
          </a:ln>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Consult appropriate stakeholders during the development of the policy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83357"/>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Identify their preferred way of receiving information</a:t>
            </a:r>
          </a:p>
          <a:p>
            <a:pPr marL="360000" indent="-360000">
              <a:spcBef>
                <a:spcPts val="600"/>
              </a:spcBef>
              <a:spcAft>
                <a:spcPts val="1200"/>
              </a:spcAft>
            </a:pPr>
            <a:r>
              <a:rPr lang="en-US" sz="2200" dirty="0" smtClean="0">
                <a:latin typeface="Helvetica" pitchFamily="34" charset="0"/>
              </a:rPr>
              <a:t>Determine level of formality required</a:t>
            </a:r>
          </a:p>
          <a:p>
            <a:pPr marL="360000" indent="-360000">
              <a:spcBef>
                <a:spcPts val="600"/>
              </a:spcBef>
              <a:spcAft>
                <a:spcPts val="1200"/>
              </a:spcAft>
            </a:pPr>
            <a:r>
              <a:rPr lang="en-US" sz="2200" dirty="0" smtClean="0">
                <a:latin typeface="Helvetica" pitchFamily="34" charset="0"/>
              </a:rPr>
              <a:t>Generate a range of contact options</a:t>
            </a:r>
          </a:p>
          <a:p>
            <a:pPr marL="360000" indent="-360000">
              <a:spcBef>
                <a:spcPts val="600"/>
              </a:spcBef>
              <a:spcAft>
                <a:spcPts val="1200"/>
              </a:spcAft>
            </a:pPr>
            <a:r>
              <a:rPr lang="en-US" sz="2200" dirty="0" smtClean="0">
                <a:latin typeface="Helvetica" pitchFamily="34" charset="0"/>
              </a:rPr>
              <a:t>Pitch information at ‘correct’ level for each person</a:t>
            </a:r>
          </a:p>
          <a:p>
            <a:pPr marL="360000" indent="-360000">
              <a:spcBef>
                <a:spcPts val="600"/>
              </a:spcBef>
              <a:spcAft>
                <a:spcPts val="1200"/>
              </a:spcAft>
              <a:buNone/>
            </a:pPr>
            <a:r>
              <a:rPr lang="en-US" sz="2200"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53</a:t>
            </a:fld>
            <a:endParaRPr lang="en-US" dirty="0">
              <a:latin typeface="Helvetica" pitchFamily="34" charset="0"/>
            </a:endParaRPr>
          </a:p>
        </p:txBody>
      </p:sp>
      <p:pic>
        <p:nvPicPr>
          <p:cNvPr id="5" name="Picture 4" descr="A17 shutterstock_179513282[1].JPG"/>
          <p:cNvPicPr>
            <a:picLocks noChangeAspect="1"/>
          </p:cNvPicPr>
          <p:nvPr/>
        </p:nvPicPr>
        <p:blipFill>
          <a:blip r:embed="rId3" cstate="print"/>
          <a:stretch>
            <a:fillRect/>
          </a:stretch>
        </p:blipFill>
        <p:spPr>
          <a:xfrm>
            <a:off x="3347864" y="4303249"/>
            <a:ext cx="2413792" cy="1609999"/>
          </a:xfrm>
          <a:prstGeom prst="rect">
            <a:avLst/>
          </a:prstGeom>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Consult appropriate stakeholders during the development of the policy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11349"/>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Include a feedback loop</a:t>
            </a:r>
          </a:p>
          <a:p>
            <a:pPr marL="360000" indent="-360000">
              <a:spcBef>
                <a:spcPts val="600"/>
              </a:spcBef>
              <a:spcAft>
                <a:spcPts val="1200"/>
              </a:spcAft>
            </a:pPr>
            <a:r>
              <a:rPr lang="en-US" sz="2200" dirty="0" smtClean="0">
                <a:latin typeface="Helvetica" pitchFamily="34" charset="0"/>
              </a:rPr>
              <a:t>Determine how to share outcomes of the process</a:t>
            </a:r>
          </a:p>
          <a:p>
            <a:pPr marL="360000" indent="-360000">
              <a:spcBef>
                <a:spcPts val="600"/>
              </a:spcBef>
              <a:spcAft>
                <a:spcPts val="1200"/>
              </a:spcAft>
            </a:pPr>
            <a:r>
              <a:rPr lang="en-US" sz="2200" dirty="0" smtClean="0">
                <a:latin typeface="Helvetica" pitchFamily="34" charset="0"/>
              </a:rPr>
              <a:t>Develop a communications plan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54</a:t>
            </a:fld>
            <a:endParaRPr lang="en-US" dirty="0">
              <a:latin typeface="Helvetica" pitchFamily="34" charset="0"/>
            </a:endParaRPr>
          </a:p>
        </p:txBody>
      </p:sp>
      <p:pic>
        <p:nvPicPr>
          <p:cNvPr id="32770" name="Picture 2" descr="I:\Overseas Projects\PHOTOS\2012\Front office 2012\shutterstock_86463646.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91880" y="3645024"/>
            <a:ext cx="2327920" cy="232792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Consult appropriate stakeholders during the development of the policy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Options for consultation:</a:t>
            </a:r>
          </a:p>
          <a:p>
            <a:pPr marL="360000" indent="-360000">
              <a:spcBef>
                <a:spcPts val="600"/>
              </a:spcBef>
              <a:spcAft>
                <a:spcPts val="1200"/>
              </a:spcAft>
            </a:pPr>
            <a:r>
              <a:rPr lang="en-US" sz="2200" dirty="0" smtClean="0">
                <a:latin typeface="Helvetica" pitchFamily="34" charset="0"/>
              </a:rPr>
              <a:t>Focus groups</a:t>
            </a:r>
          </a:p>
          <a:p>
            <a:pPr marL="360000" indent="-360000">
              <a:spcBef>
                <a:spcPts val="600"/>
              </a:spcBef>
              <a:spcAft>
                <a:spcPts val="1200"/>
              </a:spcAft>
            </a:pPr>
            <a:r>
              <a:rPr lang="en-US" sz="2200" dirty="0" smtClean="0">
                <a:latin typeface="Helvetica" pitchFamily="34" charset="0"/>
              </a:rPr>
              <a:t>Meetings and workshops</a:t>
            </a:r>
          </a:p>
          <a:p>
            <a:pPr marL="360000" indent="-360000">
              <a:spcBef>
                <a:spcPts val="600"/>
              </a:spcBef>
              <a:spcAft>
                <a:spcPts val="1200"/>
              </a:spcAft>
            </a:pPr>
            <a:r>
              <a:rPr lang="en-US" sz="2200" dirty="0" smtClean="0">
                <a:latin typeface="Helvetica" pitchFamily="34" charset="0"/>
              </a:rPr>
              <a:t>Telephone</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55</a:t>
            </a:fld>
            <a:endParaRPr lang="en-US" dirty="0">
              <a:latin typeface="Helvetica" pitchFamily="34" charset="0"/>
            </a:endParaRPr>
          </a:p>
        </p:txBody>
      </p:sp>
      <p:pic>
        <p:nvPicPr>
          <p:cNvPr id="33794" name="Picture 2" descr="I:\Overseas Projects\PHOTOS\2012\Front office 2012\shutterstock_82265860.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19169" y="1988840"/>
            <a:ext cx="3048000" cy="20335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Consult appropriate stakeholders during the development of the policy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344816" cy="4525963"/>
          </a:xfrm>
        </p:spPr>
        <p:txBody>
          <a:bodyPr>
            <a:normAutofit/>
          </a:bodyPr>
          <a:lstStyle/>
          <a:p>
            <a:pPr marL="360000" indent="-360000">
              <a:spcBef>
                <a:spcPts val="600"/>
              </a:spcBef>
              <a:spcAft>
                <a:spcPts val="1200"/>
              </a:spcAft>
            </a:pPr>
            <a:r>
              <a:rPr lang="en-US" sz="2200" dirty="0" smtClean="0">
                <a:latin typeface="Helvetica" pitchFamily="34" charset="0"/>
              </a:rPr>
              <a:t>Email</a:t>
            </a:r>
          </a:p>
          <a:p>
            <a:pPr marL="360000" indent="-360000">
              <a:spcBef>
                <a:spcPts val="600"/>
              </a:spcBef>
              <a:spcAft>
                <a:spcPts val="1200"/>
              </a:spcAft>
            </a:pPr>
            <a:r>
              <a:rPr lang="en-US" sz="2200" dirty="0" smtClean="0">
                <a:latin typeface="Helvetica" pitchFamily="34" charset="0"/>
              </a:rPr>
              <a:t>Mail</a:t>
            </a:r>
          </a:p>
          <a:p>
            <a:pPr marL="360000" indent="-360000">
              <a:spcBef>
                <a:spcPts val="600"/>
              </a:spcBef>
              <a:spcAft>
                <a:spcPts val="1200"/>
              </a:spcAft>
            </a:pPr>
            <a:r>
              <a:rPr lang="en-US" sz="2200" dirty="0" smtClean="0">
                <a:latin typeface="Helvetica" pitchFamily="34" charset="0"/>
              </a:rPr>
              <a:t>Handouts</a:t>
            </a:r>
          </a:p>
          <a:p>
            <a:pPr marL="360000" indent="-360000">
              <a:spcBef>
                <a:spcPts val="600"/>
              </a:spcBef>
              <a:spcAft>
                <a:spcPts val="1200"/>
              </a:spcAft>
            </a:pPr>
            <a:r>
              <a:rPr lang="en-US" sz="2200" dirty="0" smtClean="0">
                <a:latin typeface="Helvetica" pitchFamily="34" charset="0"/>
              </a:rPr>
              <a:t>De-briefings after first-hand experiential techniques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56</a:t>
            </a:fld>
            <a:endParaRPr lang="en-US" dirty="0">
              <a:latin typeface="Helvetica" pitchFamily="34" charset="0"/>
            </a:endParaRPr>
          </a:p>
        </p:txBody>
      </p:sp>
      <p:pic>
        <p:nvPicPr>
          <p:cNvPr id="34818" name="Picture 2" descr="I:\Overseas Projects\PHOTOS\2012\Front office 2012\mail.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25238" y="3933056"/>
            <a:ext cx="2615952" cy="196196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Develop appropriate and financially-sound resource strategies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Important points:</a:t>
            </a:r>
          </a:p>
          <a:p>
            <a:pPr marL="360000" indent="-360000">
              <a:spcBef>
                <a:spcPts val="600"/>
              </a:spcBef>
              <a:spcAft>
                <a:spcPts val="1200"/>
              </a:spcAft>
            </a:pPr>
            <a:r>
              <a:rPr lang="en-US" sz="2200" dirty="0" smtClean="0">
                <a:latin typeface="Helvetica" pitchFamily="34" charset="0"/>
              </a:rPr>
              <a:t>Not all policies have resource strategies</a:t>
            </a:r>
          </a:p>
          <a:p>
            <a:pPr marL="360000" indent="-360000">
              <a:spcBef>
                <a:spcPts val="600"/>
              </a:spcBef>
              <a:spcAft>
                <a:spcPts val="1200"/>
              </a:spcAft>
            </a:pPr>
            <a:r>
              <a:rPr lang="en-US" sz="2200" dirty="0" smtClean="0">
                <a:latin typeface="Helvetica" pitchFamily="34" charset="0"/>
              </a:rPr>
              <a:t>May be developed to address: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Financial resources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Human resources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Physical resources</a:t>
            </a:r>
          </a:p>
          <a:p>
            <a:pPr marL="360000" indent="-360000">
              <a:spcBef>
                <a:spcPts val="600"/>
              </a:spcBef>
              <a:spcAft>
                <a:spcPts val="1200"/>
              </a:spcAft>
            </a:pPr>
            <a:r>
              <a:rPr lang="en-US" sz="2200" dirty="0" smtClean="0">
                <a:latin typeface="Helvetica" pitchFamily="34" charset="0"/>
              </a:rPr>
              <a:t>Type/content of resource strategies varies between organisations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57</a:t>
            </a:fld>
            <a:endParaRPr lang="en-US" dirty="0">
              <a:latin typeface="Helvetica" pitchFamily="34" charset="0"/>
            </a:endParaRPr>
          </a:p>
        </p:txBody>
      </p:sp>
      <p:pic>
        <p:nvPicPr>
          <p:cNvPr id="35843" name="Picture 3" descr="I:\Overseas Projects\PHOTOS\2014\Shutterstock 25-a-day\shutterstock_124742776.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31414"/>
          <a:stretch/>
        </p:blipFill>
        <p:spPr bwMode="auto">
          <a:xfrm>
            <a:off x="6403114" y="2132856"/>
            <a:ext cx="1646019" cy="23999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Develop appropriate and financially-sound resource strategies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‘Financial resource strategy’ may address:</a:t>
            </a:r>
          </a:p>
          <a:p>
            <a:pPr marL="360000" indent="-360000">
              <a:spcBef>
                <a:spcPts val="600"/>
              </a:spcBef>
              <a:spcAft>
                <a:spcPts val="1200"/>
              </a:spcAft>
            </a:pPr>
            <a:r>
              <a:rPr lang="en-US" sz="2200" dirty="0" smtClean="0">
                <a:latin typeface="Helvetica" pitchFamily="34" charset="0"/>
              </a:rPr>
              <a:t>Money available</a:t>
            </a:r>
          </a:p>
          <a:p>
            <a:pPr marL="360000" indent="-360000">
              <a:spcBef>
                <a:spcPts val="600"/>
              </a:spcBef>
              <a:spcAft>
                <a:spcPts val="1200"/>
              </a:spcAft>
            </a:pPr>
            <a:r>
              <a:rPr lang="en-US" sz="2200" dirty="0" smtClean="0">
                <a:latin typeface="Helvetica" pitchFamily="34" charset="0"/>
              </a:rPr>
              <a:t>Contributions by source</a:t>
            </a:r>
          </a:p>
          <a:p>
            <a:pPr marL="360000" indent="-360000">
              <a:spcBef>
                <a:spcPts val="600"/>
              </a:spcBef>
              <a:spcAft>
                <a:spcPts val="1200"/>
              </a:spcAft>
            </a:pPr>
            <a:r>
              <a:rPr lang="en-US" sz="2200" dirty="0" smtClean="0">
                <a:latin typeface="Helvetica" pitchFamily="34" charset="0"/>
              </a:rPr>
              <a:t>Names of people with authority and responsibility</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58</a:t>
            </a:fld>
            <a:endParaRPr lang="en-US" dirty="0">
              <a:latin typeface="Helvetica" pitchFamily="34" charset="0"/>
            </a:endParaRPr>
          </a:p>
        </p:txBody>
      </p:sp>
      <p:pic>
        <p:nvPicPr>
          <p:cNvPr id="36866" name="Picture 2" descr="I:\Overseas Projects\PHOTOS\2014\Shutterstock 25-a-day\shutterstock_12905947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47864" y="4110350"/>
            <a:ext cx="2506050" cy="166417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Develop appropriate and financially-sound resource strategies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Relevant dates</a:t>
            </a:r>
          </a:p>
          <a:p>
            <a:pPr marL="360000" indent="-360000">
              <a:spcBef>
                <a:spcPts val="600"/>
              </a:spcBef>
              <a:spcAft>
                <a:spcPts val="1200"/>
              </a:spcAft>
            </a:pPr>
            <a:r>
              <a:rPr lang="en-US" sz="2200" dirty="0" smtClean="0">
                <a:latin typeface="Helvetica" pitchFamily="34" charset="0"/>
              </a:rPr>
              <a:t>Limits on use of funds</a:t>
            </a:r>
          </a:p>
          <a:p>
            <a:pPr marL="360000" indent="-360000">
              <a:spcBef>
                <a:spcPts val="600"/>
              </a:spcBef>
              <a:spcAft>
                <a:spcPts val="1200"/>
              </a:spcAft>
            </a:pPr>
            <a:r>
              <a:rPr lang="en-US" sz="2200" dirty="0" smtClean="0">
                <a:latin typeface="Helvetica" pitchFamily="34" charset="0"/>
              </a:rPr>
              <a:t>Need for quotations to be obtained</a:t>
            </a:r>
          </a:p>
          <a:p>
            <a:pPr marL="360000" indent="-360000">
              <a:spcBef>
                <a:spcPts val="600"/>
              </a:spcBef>
              <a:spcAft>
                <a:spcPts val="1200"/>
              </a:spcAft>
            </a:pPr>
            <a:r>
              <a:rPr lang="en-US" sz="2200" dirty="0" smtClean="0">
                <a:latin typeface="Helvetica" pitchFamily="34" charset="0"/>
              </a:rPr>
              <a:t>Requirement to use ‘preferred supplier’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59</a:t>
            </a:fld>
            <a:endParaRPr lang="en-US" dirty="0">
              <a:latin typeface="Helvetica" pitchFamily="34" charset="0"/>
            </a:endParaRPr>
          </a:p>
        </p:txBody>
      </p:sp>
      <p:pic>
        <p:nvPicPr>
          <p:cNvPr id="37890" name="Picture 2" descr="I:\Overseas Projects\PHOTOS\2014\Shutterstock 25-a-day\shutterstock_125194025.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31840" y="4149080"/>
            <a:ext cx="2399928" cy="171369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Develop appropriate and financially-sound resource strategies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‘Human resource strategy’ may address:</a:t>
            </a:r>
          </a:p>
          <a:p>
            <a:pPr marL="360000" indent="-360000">
              <a:spcBef>
                <a:spcPts val="600"/>
              </a:spcBef>
              <a:spcAft>
                <a:spcPts val="1200"/>
              </a:spcAft>
            </a:pPr>
            <a:r>
              <a:rPr lang="en-US" sz="2200" dirty="0" smtClean="0">
                <a:latin typeface="Helvetica" pitchFamily="34" charset="0"/>
              </a:rPr>
              <a:t>Names of available or allocated staff</a:t>
            </a:r>
          </a:p>
          <a:p>
            <a:pPr marL="360000" indent="-360000">
              <a:spcBef>
                <a:spcPts val="600"/>
              </a:spcBef>
              <a:spcAft>
                <a:spcPts val="1200"/>
              </a:spcAft>
            </a:pPr>
            <a:r>
              <a:rPr lang="en-US" sz="2200" dirty="0" smtClean="0">
                <a:latin typeface="Helvetica" pitchFamily="34" charset="0"/>
              </a:rPr>
              <a:t>Number of hours available or allocated</a:t>
            </a:r>
          </a:p>
          <a:p>
            <a:pPr marL="360000" indent="-360000">
              <a:spcBef>
                <a:spcPts val="600"/>
              </a:spcBef>
              <a:spcAft>
                <a:spcPts val="1200"/>
              </a:spcAft>
            </a:pPr>
            <a:r>
              <a:rPr lang="en-US" sz="2200" dirty="0" smtClean="0">
                <a:latin typeface="Helvetica" pitchFamily="34" charset="0"/>
              </a:rPr>
              <a:t>Classification of workers – by:  </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Employment status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Job title</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60</a:t>
            </a:fld>
            <a:endParaRPr lang="en-US" dirty="0">
              <a:latin typeface="Helvetica" pitchFamily="34" charset="0"/>
            </a:endParaRPr>
          </a:p>
        </p:txBody>
      </p:sp>
      <p:pic>
        <p:nvPicPr>
          <p:cNvPr id="38914" name="Picture 2" descr="I:\Overseas Projects\PHOTOS\2012\Front office 2012\BW_4.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44208" y="1988840"/>
            <a:ext cx="1545016" cy="205537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Develop appropriate and financially-sound resource strategies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Budget</a:t>
            </a:r>
          </a:p>
          <a:p>
            <a:pPr marL="360000" indent="-360000">
              <a:spcBef>
                <a:spcPts val="600"/>
              </a:spcBef>
              <a:spcAft>
                <a:spcPts val="1200"/>
              </a:spcAft>
            </a:pPr>
            <a:r>
              <a:rPr lang="en-US" sz="2200" dirty="0" smtClean="0">
                <a:latin typeface="Helvetica" pitchFamily="34" charset="0"/>
              </a:rPr>
              <a:t>Training available</a:t>
            </a:r>
          </a:p>
          <a:p>
            <a:pPr marL="360000" indent="-360000">
              <a:spcBef>
                <a:spcPts val="600"/>
              </a:spcBef>
              <a:spcAft>
                <a:spcPts val="1200"/>
              </a:spcAft>
            </a:pPr>
            <a:r>
              <a:rPr lang="en-US" sz="2200" dirty="0" smtClean="0">
                <a:latin typeface="Helvetica" pitchFamily="34" charset="0"/>
              </a:rPr>
              <a:t>Identification of new staff to be recruited</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61</a:t>
            </a:fld>
            <a:endParaRPr lang="en-US" dirty="0">
              <a:latin typeface="Helvetica" pitchFamily="34" charset="0"/>
            </a:endParaRPr>
          </a:p>
        </p:txBody>
      </p:sp>
      <p:pic>
        <p:nvPicPr>
          <p:cNvPr id="39938" name="Picture 2" descr="I:\Overseas Projects\PHOTOS\2014\Shutterstock 25-a-day\shutterstock_118039690.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31840" y="3861048"/>
            <a:ext cx="2615952" cy="174533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Develop appropriate and financially-sound resource strategies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560840" cy="4525963"/>
          </a:xfrm>
        </p:spPr>
        <p:txBody>
          <a:bodyPr>
            <a:normAutofit/>
          </a:bodyPr>
          <a:lstStyle/>
          <a:p>
            <a:pPr marL="360000" indent="-360000">
              <a:spcBef>
                <a:spcPts val="600"/>
              </a:spcBef>
              <a:spcAft>
                <a:spcPts val="1200"/>
              </a:spcAft>
            </a:pPr>
            <a:r>
              <a:rPr lang="en-US" sz="2200" dirty="0" smtClean="0">
                <a:latin typeface="Helvetica" pitchFamily="34" charset="0"/>
              </a:rPr>
              <a:t>Secondment/s of workers to the initiative</a:t>
            </a:r>
          </a:p>
          <a:p>
            <a:pPr marL="360000" indent="-360000">
              <a:spcBef>
                <a:spcPts val="600"/>
              </a:spcBef>
              <a:spcAft>
                <a:spcPts val="1200"/>
              </a:spcAft>
            </a:pPr>
            <a:r>
              <a:rPr lang="en-US" sz="2200" dirty="0" smtClean="0">
                <a:latin typeface="Helvetica" pitchFamily="34" charset="0"/>
              </a:rPr>
              <a:t>Incentives/remuneration</a:t>
            </a:r>
          </a:p>
          <a:p>
            <a:pPr marL="360000" indent="-360000">
              <a:spcBef>
                <a:spcPts val="600"/>
              </a:spcBef>
              <a:spcAft>
                <a:spcPts val="1200"/>
              </a:spcAft>
            </a:pPr>
            <a:r>
              <a:rPr lang="en-US" sz="2200" dirty="0" smtClean="0">
                <a:latin typeface="Helvetica" pitchFamily="34" charset="0"/>
              </a:rPr>
              <a:t>Succession planning considerations</a:t>
            </a:r>
          </a:p>
          <a:p>
            <a:pPr marL="360000" indent="-360000">
              <a:spcBef>
                <a:spcPts val="600"/>
              </a:spcBef>
              <a:spcAft>
                <a:spcPts val="1200"/>
              </a:spcAft>
            </a:pPr>
            <a:r>
              <a:rPr lang="en-US" sz="2200" dirty="0" smtClean="0">
                <a:latin typeface="Helvetica" pitchFamily="34" charset="0"/>
              </a:rPr>
              <a:t>Alignment with broader organisational HR plans/strategies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62</a:t>
            </a:fld>
            <a:endParaRPr lang="en-US" dirty="0">
              <a:latin typeface="Helvetica" pitchFamily="34" charset="0"/>
            </a:endParaRPr>
          </a:p>
        </p:txBody>
      </p:sp>
      <p:pic>
        <p:nvPicPr>
          <p:cNvPr id="40962" name="Picture 2" descr="I:\Overseas Projects\PHOTOS\2014\Shutterstock 25-a-day\shutterstock_169871024.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19872" y="4149080"/>
            <a:ext cx="2617298" cy="175031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Develop appropriate and financially-sound resource strategies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‘Physical resource strategy’ may address:</a:t>
            </a:r>
          </a:p>
          <a:p>
            <a:pPr marL="360000" indent="-360000">
              <a:spcBef>
                <a:spcPts val="600"/>
              </a:spcBef>
              <a:spcAft>
                <a:spcPts val="1200"/>
              </a:spcAft>
            </a:pPr>
            <a:r>
              <a:rPr lang="en-US" sz="2200" dirty="0" smtClean="0">
                <a:latin typeface="Helvetica" pitchFamily="34" charset="0"/>
              </a:rPr>
              <a:t>Types and quantities of resources available</a:t>
            </a:r>
          </a:p>
          <a:p>
            <a:pPr marL="360000" indent="-360000">
              <a:spcBef>
                <a:spcPts val="600"/>
              </a:spcBef>
              <a:spcAft>
                <a:spcPts val="1200"/>
              </a:spcAft>
            </a:pPr>
            <a:r>
              <a:rPr lang="en-US" sz="2200" dirty="0" smtClean="0">
                <a:latin typeface="Helvetica" pitchFamily="34" charset="0"/>
              </a:rPr>
              <a:t>Location of resources</a:t>
            </a:r>
          </a:p>
          <a:p>
            <a:pPr marL="360000" indent="-360000">
              <a:spcBef>
                <a:spcPts val="600"/>
              </a:spcBef>
              <a:spcAft>
                <a:spcPts val="1200"/>
              </a:spcAft>
            </a:pPr>
            <a:r>
              <a:rPr lang="en-US" sz="2200" dirty="0" smtClean="0">
                <a:latin typeface="Helvetica" pitchFamily="34" charset="0"/>
              </a:rPr>
              <a:t>Identification of things provided by third parties</a:t>
            </a:r>
          </a:p>
          <a:p>
            <a:pPr marL="360000" indent="-360000">
              <a:spcBef>
                <a:spcPts val="600"/>
              </a:spcBef>
              <a:spcAft>
                <a:spcPts val="1200"/>
              </a:spcAft>
            </a:pPr>
            <a:r>
              <a:rPr lang="en-US" sz="2200" dirty="0" smtClean="0">
                <a:latin typeface="Helvetica" pitchFamily="34" charset="0"/>
              </a:rPr>
              <a:t>‘Possible’ and/or ‘Mandatory’ sources </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63</a:t>
            </a:fld>
            <a:endParaRPr lang="en-US" dirty="0">
              <a:latin typeface="Helvetica" pitchFamily="34" charset="0"/>
            </a:endParaRPr>
          </a:p>
        </p:txBody>
      </p:sp>
      <p:pic>
        <p:nvPicPr>
          <p:cNvPr id="5" name="Picture 4" descr="shutterstock_33818875.jpg"/>
          <p:cNvPicPr/>
          <p:nvPr/>
        </p:nvPicPr>
        <p:blipFill>
          <a:blip r:embed="rId3" cstate="print"/>
          <a:stretch>
            <a:fillRect/>
          </a:stretch>
        </p:blipFill>
        <p:spPr>
          <a:xfrm>
            <a:off x="3995936" y="4581128"/>
            <a:ext cx="1938346" cy="1266831"/>
          </a:xfrm>
          <a:prstGeom prst="rect">
            <a:avLst/>
          </a:prstGeom>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Develop appropriate and financially-sound resource strategies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11349"/>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Advice/directions about what happens to resources on completion of initiative</a:t>
            </a:r>
          </a:p>
          <a:p>
            <a:pPr marL="360000" indent="-360000">
              <a:spcBef>
                <a:spcPts val="600"/>
              </a:spcBef>
              <a:spcAft>
                <a:spcPts val="1200"/>
              </a:spcAft>
            </a:pPr>
            <a:r>
              <a:rPr lang="en-US" sz="2200" dirty="0" smtClean="0">
                <a:latin typeface="Helvetica" pitchFamily="34" charset="0"/>
              </a:rPr>
              <a:t>Where and how resources may/must be used</a:t>
            </a:r>
          </a:p>
          <a:p>
            <a:pPr marL="360000" indent="-360000">
              <a:spcBef>
                <a:spcPts val="600"/>
              </a:spcBef>
              <a:spcAft>
                <a:spcPts val="1200"/>
              </a:spcAft>
            </a:pPr>
            <a:r>
              <a:rPr lang="en-US" sz="2200" dirty="0" smtClean="0">
                <a:latin typeface="Helvetica" pitchFamily="34" charset="0"/>
              </a:rPr>
              <a:t>Monitoring protocols regarding usage</a:t>
            </a:r>
          </a:p>
          <a:p>
            <a:pPr marL="360000" indent="-360000">
              <a:spcBef>
                <a:spcPts val="600"/>
              </a:spcBef>
              <a:spcAft>
                <a:spcPts val="1200"/>
              </a:spcAft>
            </a:pPr>
            <a:r>
              <a:rPr lang="en-US" sz="2200" dirty="0" smtClean="0">
                <a:latin typeface="Helvetica" pitchFamily="34" charset="0"/>
              </a:rPr>
              <a:t>Accountability for usage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64</a:t>
            </a:fld>
            <a:endParaRPr lang="en-US" dirty="0">
              <a:latin typeface="Helvetica" pitchFamily="34" charset="0"/>
            </a:endParaRPr>
          </a:p>
        </p:txBody>
      </p:sp>
      <p:pic>
        <p:nvPicPr>
          <p:cNvPr id="6" name="Picture 5" descr="C:\Documents and Settings\nickh\Desktop\PROJECTS\Singapore\Photos\W263_progress1_shutterstock_157209023.jpg"/>
          <p:cNvPicPr/>
          <p:nvPr/>
        </p:nvPicPr>
        <p:blipFill>
          <a:blip r:embed="rId3" cstate="print"/>
          <a:srcRect/>
          <a:stretch>
            <a:fillRect/>
          </a:stretch>
        </p:blipFill>
        <p:spPr bwMode="auto">
          <a:xfrm>
            <a:off x="6082469" y="3838178"/>
            <a:ext cx="2518581" cy="167905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Develop appropriate and financially-sound resource strategies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83357"/>
            <a:ext cx="7467600" cy="4525963"/>
          </a:xfrm>
        </p:spPr>
        <p:txBody>
          <a:bodyPr>
            <a:normAutofit/>
          </a:bodyPr>
          <a:lstStyle/>
          <a:p>
            <a:pPr marL="0" indent="0">
              <a:spcBef>
                <a:spcPts val="600"/>
              </a:spcBef>
              <a:spcAft>
                <a:spcPts val="1200"/>
              </a:spcAft>
              <a:buNone/>
            </a:pPr>
            <a:r>
              <a:rPr lang="en-AU" sz="2200" dirty="0" smtClean="0">
                <a:latin typeface="Helvetica" pitchFamily="34" charset="0"/>
              </a:rPr>
              <a:t>‘Appropriate  and financially-sound’ resource strategies may be seen as those which</a:t>
            </a:r>
            <a:r>
              <a:rPr lang="en-US" sz="2200" dirty="0" smtClean="0">
                <a:latin typeface="Helvetica" pitchFamily="34" charset="0"/>
              </a:rPr>
              <a:t>:</a:t>
            </a:r>
          </a:p>
          <a:p>
            <a:pPr marL="360000" indent="-360000">
              <a:spcBef>
                <a:spcPts val="600"/>
              </a:spcBef>
              <a:spcAft>
                <a:spcPts val="1200"/>
              </a:spcAft>
            </a:pPr>
            <a:r>
              <a:rPr lang="en-US" sz="2200" dirty="0" smtClean="0">
                <a:latin typeface="Helvetica" pitchFamily="34" charset="0"/>
              </a:rPr>
              <a:t>Have been approved by management</a:t>
            </a:r>
          </a:p>
          <a:p>
            <a:pPr marL="360000" indent="-360000">
              <a:spcBef>
                <a:spcPts val="600"/>
              </a:spcBef>
              <a:spcAft>
                <a:spcPts val="1200"/>
              </a:spcAft>
            </a:pPr>
            <a:r>
              <a:rPr lang="en-US" sz="2200" dirty="0" smtClean="0">
                <a:latin typeface="Helvetica" pitchFamily="34" charset="0"/>
              </a:rPr>
              <a:t>Satisfy stakeholders</a:t>
            </a:r>
          </a:p>
          <a:p>
            <a:pPr marL="360000" indent="-360000">
              <a:spcBef>
                <a:spcPts val="600"/>
              </a:spcBef>
              <a:spcAft>
                <a:spcPts val="1200"/>
              </a:spcAft>
            </a:pPr>
            <a:r>
              <a:rPr lang="en-US" sz="2200" dirty="0" smtClean="0">
                <a:latin typeface="Helvetica" pitchFamily="34" charset="0"/>
              </a:rPr>
              <a:t>Provide suitable resources in sufficient </a:t>
            </a:r>
            <a:br>
              <a:rPr lang="en-US" sz="2200" dirty="0" smtClean="0">
                <a:latin typeface="Helvetica" pitchFamily="34" charset="0"/>
              </a:rPr>
            </a:br>
            <a:r>
              <a:rPr lang="en-US" sz="2200" dirty="0" smtClean="0">
                <a:latin typeface="Helvetica" pitchFamily="34" charset="0"/>
              </a:rPr>
              <a:t>quantities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65</a:t>
            </a:fld>
            <a:endParaRPr lang="en-US" dirty="0">
              <a:latin typeface="Helvetica" pitchFamily="34" charset="0"/>
            </a:endParaRPr>
          </a:p>
        </p:txBody>
      </p:sp>
      <p:pic>
        <p:nvPicPr>
          <p:cNvPr id="1026" name="Picture 2" descr="I:\Overseas Projects\PHOTOS\2014\Shutterstock 25-a-day\shutterstock_194262404.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88224" y="2636912"/>
            <a:ext cx="2255912" cy="166021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Develop appropriate and financially-sound resource strategies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Are safe to implement</a:t>
            </a:r>
          </a:p>
          <a:p>
            <a:pPr marL="360000" indent="-360000">
              <a:spcBef>
                <a:spcPts val="600"/>
              </a:spcBef>
              <a:spcAft>
                <a:spcPts val="1200"/>
              </a:spcAft>
            </a:pPr>
            <a:r>
              <a:rPr lang="en-US" sz="2200" dirty="0" smtClean="0">
                <a:latin typeface="Helvetica" pitchFamily="34" charset="0"/>
              </a:rPr>
              <a:t>Comply with all relevant legislation</a:t>
            </a:r>
          </a:p>
          <a:p>
            <a:pPr marL="360000" indent="-360000">
              <a:spcBef>
                <a:spcPts val="600"/>
              </a:spcBef>
              <a:spcAft>
                <a:spcPts val="1200"/>
              </a:spcAft>
            </a:pPr>
            <a:r>
              <a:rPr lang="en-US" sz="2200" dirty="0" smtClean="0">
                <a:latin typeface="Helvetica" pitchFamily="34" charset="0"/>
              </a:rPr>
              <a:t>Align with organisational plans and goals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66</a:t>
            </a:fld>
            <a:endParaRPr lang="en-US" dirty="0">
              <a:latin typeface="Helvetica" pitchFamily="34" charset="0"/>
            </a:endParaRPr>
          </a:p>
        </p:txBody>
      </p:sp>
      <p:pic>
        <p:nvPicPr>
          <p:cNvPr id="5" name="Picture 4" descr="A5 shutterstock_131103662.jpg"/>
          <p:cNvPicPr>
            <a:picLocks noChangeAspect="1"/>
          </p:cNvPicPr>
          <p:nvPr/>
        </p:nvPicPr>
        <p:blipFill>
          <a:blip r:embed="rId3" cstate="print"/>
          <a:stretch>
            <a:fillRect/>
          </a:stretch>
        </p:blipFill>
        <p:spPr>
          <a:xfrm>
            <a:off x="6614402" y="2060848"/>
            <a:ext cx="2267120" cy="1512168"/>
          </a:xfrm>
          <a:prstGeom prst="rect">
            <a:avLst/>
          </a:prstGeom>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Develop appropriate and financially-sound resource strategies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11349"/>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Make resources available when needed</a:t>
            </a:r>
          </a:p>
          <a:p>
            <a:pPr marL="360000" indent="-360000">
              <a:spcBef>
                <a:spcPts val="600"/>
              </a:spcBef>
              <a:spcAft>
                <a:spcPts val="1200"/>
              </a:spcAft>
            </a:pPr>
            <a:r>
              <a:rPr lang="en-US" sz="2200" dirty="0" smtClean="0">
                <a:latin typeface="Helvetica" pitchFamily="34" charset="0"/>
              </a:rPr>
              <a:t>Conform with budget requirements</a:t>
            </a:r>
          </a:p>
          <a:p>
            <a:pPr marL="360000" indent="-360000">
              <a:spcBef>
                <a:spcPts val="600"/>
              </a:spcBef>
              <a:spcAft>
                <a:spcPts val="1200"/>
              </a:spcAft>
            </a:pPr>
            <a:r>
              <a:rPr lang="en-US" sz="2200" dirty="0" smtClean="0">
                <a:latin typeface="Helvetica" pitchFamily="34" charset="0"/>
              </a:rPr>
              <a:t>Satisfy financial analysis</a:t>
            </a:r>
          </a:p>
          <a:p>
            <a:pPr marL="360000" indent="-360000">
              <a:spcBef>
                <a:spcPts val="600"/>
              </a:spcBef>
              <a:spcAft>
                <a:spcPts val="1200"/>
              </a:spcAft>
            </a:pPr>
            <a:r>
              <a:rPr lang="en-US" sz="2200" dirty="0" smtClean="0">
                <a:latin typeface="Helvetica" pitchFamily="34" charset="0"/>
              </a:rPr>
              <a:t>Have contingency plans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67</a:t>
            </a:fld>
            <a:endParaRPr lang="en-US" dirty="0">
              <a:latin typeface="Helvetica" pitchFamily="34" charset="0"/>
            </a:endParaRPr>
          </a:p>
        </p:txBody>
      </p:sp>
      <p:pic>
        <p:nvPicPr>
          <p:cNvPr id="2050" name="Picture 2" descr="I:\Overseas Projects\PHOTOS\2014\Shutterstock 25-a-day\shutterstock_130330712.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84340" y="2564904"/>
            <a:ext cx="2283732" cy="152367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Develop administrative framework and systems for the planned initiative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‘Infrastructure’ can be seen as:</a:t>
            </a:r>
          </a:p>
          <a:p>
            <a:pPr marL="360000" indent="-360000">
              <a:spcBef>
                <a:spcPts val="600"/>
              </a:spcBef>
              <a:spcAft>
                <a:spcPts val="1200"/>
              </a:spcAft>
            </a:pPr>
            <a:r>
              <a:rPr lang="en-AU" sz="2200" dirty="0" smtClean="0">
                <a:latin typeface="Helvetica" pitchFamily="34" charset="0"/>
              </a:rPr>
              <a:t>Systems necessary to support implementation of policies and initiatives</a:t>
            </a:r>
            <a:endParaRPr lang="en-US"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Facilities required to enable required administrative work to be conducted for the policies and initiatives</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68</a:t>
            </a:fld>
            <a:endParaRPr lang="en-US" dirty="0">
              <a:latin typeface="Helvetica" pitchFamily="34" charset="0"/>
            </a:endParaRPr>
          </a:p>
        </p:txBody>
      </p:sp>
      <p:pic>
        <p:nvPicPr>
          <p:cNvPr id="5" name="Picture 4" descr="shutterstock_33818875.jpg"/>
          <p:cNvPicPr/>
          <p:nvPr/>
        </p:nvPicPr>
        <p:blipFill>
          <a:blip r:embed="rId3" cstate="print"/>
          <a:stretch>
            <a:fillRect/>
          </a:stretch>
        </p:blipFill>
        <p:spPr>
          <a:xfrm>
            <a:off x="3635896" y="4314831"/>
            <a:ext cx="1938346" cy="1266831"/>
          </a:xfrm>
          <a:prstGeom prst="rect">
            <a:avLst/>
          </a:prstGeom>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Develop administrative framework and systems for the planned initiative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83357"/>
            <a:ext cx="7467600" cy="4525963"/>
          </a:xfrm>
        </p:spPr>
        <p:txBody>
          <a:bodyPr>
            <a:normAutofit/>
          </a:bodyPr>
          <a:lstStyle/>
          <a:p>
            <a:pPr marL="0" indent="0">
              <a:spcBef>
                <a:spcPts val="600"/>
              </a:spcBef>
              <a:spcAft>
                <a:spcPts val="1200"/>
              </a:spcAft>
              <a:buNone/>
            </a:pPr>
            <a:r>
              <a:rPr lang="en-AU" sz="2200" dirty="0" smtClean="0">
                <a:latin typeface="Helvetica" pitchFamily="34" charset="0"/>
              </a:rPr>
              <a:t>‘Administrative work’ can be seen as the activities required to</a:t>
            </a:r>
            <a:r>
              <a:rPr lang="en-US" sz="2200" dirty="0" smtClean="0">
                <a:latin typeface="Helvetica" pitchFamily="34" charset="0"/>
              </a:rPr>
              <a:t>:</a:t>
            </a:r>
          </a:p>
          <a:p>
            <a:pPr marL="360000" indent="-360000">
              <a:spcBef>
                <a:spcPts val="600"/>
              </a:spcBef>
              <a:spcAft>
                <a:spcPts val="1200"/>
              </a:spcAft>
            </a:pPr>
            <a:r>
              <a:rPr lang="en-US" sz="2200" dirty="0" smtClean="0">
                <a:latin typeface="Helvetica" pitchFamily="34" charset="0"/>
              </a:rPr>
              <a:t>Supervise and manage the project/policy/initiative</a:t>
            </a:r>
          </a:p>
          <a:p>
            <a:pPr marL="360000" indent="-360000">
              <a:spcBef>
                <a:spcPts val="600"/>
              </a:spcBef>
              <a:spcAft>
                <a:spcPts val="1200"/>
              </a:spcAft>
            </a:pPr>
            <a:r>
              <a:rPr lang="en-US" sz="2200" dirty="0" smtClean="0">
                <a:latin typeface="Helvetica" pitchFamily="34" charset="0"/>
              </a:rPr>
              <a:t>Track and monitor activities</a:t>
            </a:r>
          </a:p>
          <a:p>
            <a:pPr marL="360000" indent="-360000">
              <a:spcBef>
                <a:spcPts val="600"/>
              </a:spcBef>
              <a:spcAft>
                <a:spcPts val="1200"/>
              </a:spcAft>
            </a:pPr>
            <a:r>
              <a:rPr lang="en-US" sz="2200" dirty="0" smtClean="0">
                <a:latin typeface="Helvetica" pitchFamily="34" charset="0"/>
              </a:rPr>
              <a:t>Record action taken</a:t>
            </a:r>
          </a:p>
          <a:p>
            <a:pPr marL="360000" indent="-360000">
              <a:spcBef>
                <a:spcPts val="600"/>
              </a:spcBef>
              <a:spcAft>
                <a:spcPts val="1200"/>
              </a:spcAft>
            </a:pPr>
            <a:r>
              <a:rPr lang="en-US" sz="2200" dirty="0" smtClean="0">
                <a:latin typeface="Helvetica" pitchFamily="34" charset="0"/>
              </a:rPr>
              <a:t>Report on progress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69</a:t>
            </a:fld>
            <a:endParaRPr lang="en-US" dirty="0">
              <a:latin typeface="Helvetica" pitchFamily="34" charset="0"/>
            </a:endParaRPr>
          </a:p>
        </p:txBody>
      </p:sp>
      <p:pic>
        <p:nvPicPr>
          <p:cNvPr id="5" name="Picture 4" descr="shutterstock_188496518.jpg"/>
          <p:cNvPicPr/>
          <p:nvPr/>
        </p:nvPicPr>
        <p:blipFill>
          <a:blip r:embed="rId3" cstate="print"/>
          <a:stretch>
            <a:fillRect/>
          </a:stretch>
        </p:blipFill>
        <p:spPr>
          <a:xfrm>
            <a:off x="6084168" y="3633786"/>
            <a:ext cx="2025968" cy="1323975"/>
          </a:xfrm>
          <a:prstGeom prst="rect">
            <a:avLst/>
          </a:prstGeom>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Develop administrative framework and systems for the planned initiative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711349"/>
            <a:ext cx="7467600" cy="4525963"/>
          </a:xfrm>
        </p:spPr>
        <p:txBody>
          <a:bodyPr>
            <a:normAutofit/>
          </a:bodyPr>
          <a:lstStyle/>
          <a:p>
            <a:pPr marL="0" indent="0">
              <a:spcBef>
                <a:spcPts val="600"/>
              </a:spcBef>
              <a:spcAft>
                <a:spcPts val="1200"/>
              </a:spcAft>
              <a:buNone/>
            </a:pPr>
            <a:r>
              <a:rPr lang="en-AU" sz="2200" dirty="0" smtClean="0">
                <a:latin typeface="Helvetica" pitchFamily="34" charset="0"/>
              </a:rPr>
              <a:t>To create administrative framework and systems capable of supporting a planned initiative it can be necessary to</a:t>
            </a:r>
            <a:r>
              <a:rPr lang="en-US" sz="2200" dirty="0" smtClean="0">
                <a:latin typeface="Helvetica" pitchFamily="34" charset="0"/>
              </a:rPr>
              <a:t>:</a:t>
            </a:r>
          </a:p>
          <a:p>
            <a:pPr marL="360000" indent="-360000">
              <a:spcBef>
                <a:spcPts val="600"/>
              </a:spcBef>
              <a:spcAft>
                <a:spcPts val="1200"/>
              </a:spcAft>
            </a:pPr>
            <a:r>
              <a:rPr lang="en-AU" sz="2200" dirty="0" smtClean="0">
                <a:latin typeface="Helvetica" pitchFamily="34" charset="0"/>
              </a:rPr>
              <a:t>Identify and allocate roles </a:t>
            </a: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Determine documentation to be used</a:t>
            </a:r>
          </a:p>
          <a:p>
            <a:pPr marL="360000" indent="-360000">
              <a:spcBef>
                <a:spcPts val="600"/>
              </a:spcBef>
              <a:spcAft>
                <a:spcPts val="1200"/>
              </a:spcAft>
            </a:pPr>
            <a:r>
              <a:rPr lang="en-US" sz="2200" dirty="0" smtClean="0">
                <a:latin typeface="Helvetica" pitchFamily="34" charset="0"/>
              </a:rPr>
              <a:t>Verify KPIs and objectives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70</a:t>
            </a:fld>
            <a:endParaRPr lang="en-US" dirty="0">
              <a:latin typeface="Helvetica" pitchFamily="34" charset="0"/>
            </a:endParaRPr>
          </a:p>
        </p:txBody>
      </p:sp>
      <p:pic>
        <p:nvPicPr>
          <p:cNvPr id="3074" name="Picture 2" descr="I:\Overseas Projects\PHOTOS\2014\Shutterstock 25-a-day\shutterstock_103134797.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18171" y="2708920"/>
            <a:ext cx="1588703" cy="23999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Develop administrative framework and systems for the planned initiative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11349"/>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Implement risk management protocols</a:t>
            </a:r>
          </a:p>
          <a:p>
            <a:pPr marL="360000" indent="-360000">
              <a:spcBef>
                <a:spcPts val="600"/>
              </a:spcBef>
              <a:spcAft>
                <a:spcPts val="1200"/>
              </a:spcAft>
            </a:pPr>
            <a:r>
              <a:rPr lang="en-US" sz="2200" dirty="0" smtClean="0">
                <a:latin typeface="Helvetica" pitchFamily="34" charset="0"/>
              </a:rPr>
              <a:t>Prescribe reporting protocols</a:t>
            </a:r>
          </a:p>
          <a:p>
            <a:pPr marL="360000" indent="-360000">
              <a:spcBef>
                <a:spcPts val="600"/>
              </a:spcBef>
              <a:spcAft>
                <a:spcPts val="1200"/>
              </a:spcAft>
            </a:pPr>
            <a:r>
              <a:rPr lang="en-US" sz="2200" dirty="0" smtClean="0">
                <a:latin typeface="Helvetica" pitchFamily="34" charset="0"/>
              </a:rPr>
              <a:t>Generate relevant ‘scopes of authority’</a:t>
            </a:r>
          </a:p>
          <a:p>
            <a:pPr marL="360000" indent="-360000">
              <a:spcBef>
                <a:spcPts val="600"/>
              </a:spcBef>
              <a:spcAft>
                <a:spcPts val="1200"/>
              </a:spcAft>
            </a:pPr>
            <a:r>
              <a:rPr lang="en-US" sz="2200" dirty="0" smtClean="0">
                <a:latin typeface="Helvetica" pitchFamily="34" charset="0"/>
              </a:rPr>
              <a:t>Train staff</a:t>
            </a:r>
          </a:p>
          <a:p>
            <a:pPr marL="360000" indent="-360000">
              <a:spcBef>
                <a:spcPts val="600"/>
              </a:spcBef>
              <a:spcAft>
                <a:spcPts val="1200"/>
              </a:spcAft>
            </a:pPr>
            <a:r>
              <a:rPr lang="en-US" sz="2200" dirty="0" smtClean="0">
                <a:latin typeface="Helvetica" pitchFamily="34" charset="0"/>
              </a:rPr>
              <a:t>Ensure safety</a:t>
            </a:r>
          </a:p>
          <a:p>
            <a:pPr marL="360000" indent="-360000">
              <a:spcBef>
                <a:spcPts val="600"/>
              </a:spcBef>
              <a:spcAft>
                <a:spcPts val="1200"/>
              </a:spcAft>
              <a:buNone/>
            </a:pPr>
            <a:r>
              <a:rPr lang="en-US" sz="2200"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71</a:t>
            </a:fld>
            <a:endParaRPr lang="en-US" dirty="0">
              <a:latin typeface="Helvetica" pitchFamily="34" charset="0"/>
            </a:endParaRPr>
          </a:p>
        </p:txBody>
      </p:sp>
      <p:pic>
        <p:nvPicPr>
          <p:cNvPr id="4099" name="Picture 3" descr="I:\Overseas Projects\PHOTOS\2012\Office\iStock_000003921984Medium.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44208" y="1772816"/>
            <a:ext cx="1660136" cy="248753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Develop administrative framework and systems for the planned initiative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Decide on security requirements</a:t>
            </a:r>
          </a:p>
          <a:p>
            <a:pPr marL="360000" indent="-360000">
              <a:spcBef>
                <a:spcPts val="600"/>
              </a:spcBef>
              <a:spcAft>
                <a:spcPts val="1200"/>
              </a:spcAft>
            </a:pPr>
            <a:r>
              <a:rPr lang="en-US" sz="2200" dirty="0" smtClean="0">
                <a:latin typeface="Helvetica" pitchFamily="34" charset="0"/>
              </a:rPr>
              <a:t>Establish data/information gathering protocols</a:t>
            </a:r>
          </a:p>
          <a:p>
            <a:pPr marL="360000" indent="-360000">
              <a:spcBef>
                <a:spcPts val="600"/>
              </a:spcBef>
              <a:spcAft>
                <a:spcPts val="1200"/>
              </a:spcAft>
            </a:pPr>
            <a:r>
              <a:rPr lang="en-US" sz="2200" dirty="0" smtClean="0">
                <a:latin typeface="Helvetica" pitchFamily="34" charset="0"/>
              </a:rPr>
              <a:t>Create a viable communication plan</a:t>
            </a:r>
          </a:p>
          <a:p>
            <a:pPr marL="360000" indent="-360000">
              <a:spcBef>
                <a:spcPts val="600"/>
              </a:spcBef>
              <a:spcAft>
                <a:spcPts val="1200"/>
              </a:spcAft>
            </a:pPr>
            <a:r>
              <a:rPr lang="en-US" sz="2200" dirty="0" smtClean="0">
                <a:latin typeface="Helvetica" pitchFamily="34" charset="0"/>
              </a:rPr>
              <a:t>Generate mechanism/s for people to provide feedback </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72</a:t>
            </a:fld>
            <a:endParaRPr lang="en-US" dirty="0">
              <a:latin typeface="Helvetica" pitchFamily="34" charset="0"/>
            </a:endParaRPr>
          </a:p>
        </p:txBody>
      </p:sp>
      <p:pic>
        <p:nvPicPr>
          <p:cNvPr id="5122" name="Picture 2" descr="I:\Overseas Projects\PHOTOS\2014\Shutterstock 25-a-day\shutterstock_135012329.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75856" y="3861048"/>
            <a:ext cx="2237464" cy="213025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Identify and communicate all priorities, responsibilities and timelines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Stakeholders to be communicated with can be:</a:t>
            </a:r>
          </a:p>
          <a:p>
            <a:pPr marL="360000" indent="-360000">
              <a:spcBef>
                <a:spcPts val="600"/>
              </a:spcBef>
              <a:spcAft>
                <a:spcPts val="1200"/>
              </a:spcAft>
            </a:pPr>
            <a:r>
              <a:rPr lang="en-US" sz="2200" dirty="0" smtClean="0">
                <a:latin typeface="Helvetica" pitchFamily="34" charset="0"/>
              </a:rPr>
              <a:t>Customers and employees</a:t>
            </a:r>
          </a:p>
          <a:p>
            <a:pPr marL="360000" indent="-360000">
              <a:spcBef>
                <a:spcPts val="600"/>
              </a:spcBef>
              <a:spcAft>
                <a:spcPts val="1200"/>
              </a:spcAft>
            </a:pPr>
            <a:r>
              <a:rPr lang="en-US" sz="2200" dirty="0" smtClean="0">
                <a:latin typeface="Helvetica" pitchFamily="34" charset="0"/>
              </a:rPr>
              <a:t>Government agencies</a:t>
            </a:r>
          </a:p>
          <a:p>
            <a:pPr marL="360000" indent="-360000">
              <a:spcBef>
                <a:spcPts val="600"/>
              </a:spcBef>
              <a:spcAft>
                <a:spcPts val="1200"/>
              </a:spcAft>
            </a:pPr>
            <a:r>
              <a:rPr lang="en-US" sz="2200" dirty="0" smtClean="0">
                <a:latin typeface="Helvetica" pitchFamily="34" charset="0"/>
              </a:rPr>
              <a:t>Owners/managers</a:t>
            </a:r>
          </a:p>
          <a:p>
            <a:pPr marL="360000" indent="-360000">
              <a:spcBef>
                <a:spcPts val="600"/>
              </a:spcBef>
              <a:spcAft>
                <a:spcPts val="1200"/>
              </a:spcAft>
            </a:pPr>
            <a:r>
              <a:rPr lang="en-US" sz="2200" dirty="0" smtClean="0">
                <a:latin typeface="Helvetica" pitchFamily="34" charset="0"/>
              </a:rPr>
              <a:t>Investors and shareholders</a:t>
            </a:r>
          </a:p>
          <a:p>
            <a:pPr marL="360000" indent="-360000">
              <a:spcBef>
                <a:spcPts val="600"/>
              </a:spcBef>
              <a:spcAft>
                <a:spcPts val="1200"/>
              </a:spcAft>
            </a:pPr>
            <a:r>
              <a:rPr lang="en-US" sz="2200" dirty="0" smtClean="0">
                <a:latin typeface="Helvetica" pitchFamily="34" charset="0"/>
              </a:rPr>
              <a:t>Suppliers</a:t>
            </a:r>
          </a:p>
          <a:p>
            <a:pPr marL="360000" indent="-360000">
              <a:spcBef>
                <a:spcPts val="600"/>
              </a:spcBef>
              <a:spcAft>
                <a:spcPts val="1200"/>
              </a:spcAft>
            </a:pPr>
            <a:r>
              <a:rPr lang="en-US" sz="2200" dirty="0" smtClean="0">
                <a:latin typeface="Helvetica" pitchFamily="34" charset="0"/>
              </a:rPr>
              <a:t>Strategic partners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73</a:t>
            </a:fld>
            <a:endParaRPr lang="en-US" dirty="0">
              <a:latin typeface="Helvetica" pitchFamily="34" charset="0"/>
            </a:endParaRPr>
          </a:p>
        </p:txBody>
      </p:sp>
      <p:pic>
        <p:nvPicPr>
          <p:cNvPr id="6146" name="Picture 2" descr="I:\Overseas Projects\PHOTOS\2014\Shutterstock 25-a-day\shutterstock_196601204.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07514" y="2132856"/>
            <a:ext cx="2286000" cy="3048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Identify and communicate all priorities, responsibilities and timelines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When communicating there can be a need to:</a:t>
            </a:r>
          </a:p>
          <a:p>
            <a:pPr marL="360000" indent="-360000">
              <a:spcBef>
                <a:spcPts val="600"/>
              </a:spcBef>
              <a:spcAft>
                <a:spcPts val="1200"/>
              </a:spcAft>
            </a:pPr>
            <a:r>
              <a:rPr lang="en-US" sz="2200" dirty="0" smtClean="0">
                <a:latin typeface="Helvetica" pitchFamily="34" charset="0"/>
              </a:rPr>
              <a:t>Explain purpose and rationale</a:t>
            </a:r>
          </a:p>
          <a:p>
            <a:pPr marL="360000" indent="-360000">
              <a:spcBef>
                <a:spcPts val="600"/>
              </a:spcBef>
              <a:spcAft>
                <a:spcPts val="1200"/>
              </a:spcAft>
            </a:pPr>
            <a:r>
              <a:rPr lang="en-US" sz="2200" dirty="0" smtClean="0">
                <a:latin typeface="Helvetica" pitchFamily="34" charset="0"/>
              </a:rPr>
              <a:t>Provide copies of all relevant and associated documentation</a:t>
            </a:r>
          </a:p>
          <a:p>
            <a:pPr marL="360000" indent="-360000">
              <a:spcBef>
                <a:spcPts val="600"/>
              </a:spcBef>
              <a:spcAft>
                <a:spcPts val="1200"/>
              </a:spcAft>
            </a:pPr>
            <a:r>
              <a:rPr lang="en-US" sz="2200" dirty="0" smtClean="0">
                <a:latin typeface="Helvetica" pitchFamily="34" charset="0"/>
              </a:rPr>
              <a:t>Identify key dates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74</a:t>
            </a:fld>
            <a:endParaRPr lang="en-US" dirty="0">
              <a:latin typeface="Helvetica" pitchFamily="34" charset="0"/>
            </a:endParaRPr>
          </a:p>
        </p:txBody>
      </p:sp>
      <p:pic>
        <p:nvPicPr>
          <p:cNvPr id="7170" name="Picture 2" descr="I:\Overseas Projects\PHOTOS\2012\Office\wai_a_kym_254_rgb.t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04048" y="3429000"/>
            <a:ext cx="2462321" cy="164139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Identify and communicate all priorities, responsibilities and timelines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AU" sz="2200" dirty="0" smtClean="0">
                <a:latin typeface="Helvetica" pitchFamily="34" charset="0"/>
              </a:rPr>
              <a:t>Separate and prioritise elements of the policy </a:t>
            </a:r>
            <a:endParaRPr lang="en-US"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Detail allocated roles and responsibilities </a:t>
            </a:r>
          </a:p>
          <a:p>
            <a:pPr marL="360000" indent="-360000">
              <a:spcBef>
                <a:spcPts val="600"/>
              </a:spcBef>
              <a:spcAft>
                <a:spcPts val="1200"/>
              </a:spcAft>
            </a:pPr>
            <a:r>
              <a:rPr lang="en-AU" sz="2200" dirty="0" smtClean="0">
                <a:latin typeface="Helvetica" pitchFamily="34" charset="0"/>
              </a:rPr>
              <a:t>Explain any new/changed scopes of authority </a:t>
            </a:r>
            <a:endParaRPr lang="en-US" sz="2200" dirty="0" smtClean="0">
              <a:latin typeface="Helvetica" pitchFamily="34" charset="0"/>
            </a:endParaRP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75</a:t>
            </a:fld>
            <a:endParaRPr lang="en-US" dirty="0">
              <a:latin typeface="Helvetica" pitchFamily="34" charset="0"/>
            </a:endParaRPr>
          </a:p>
        </p:txBody>
      </p:sp>
      <p:pic>
        <p:nvPicPr>
          <p:cNvPr id="8194" name="Picture 2" descr="I:\Overseas Projects\PHOTOS\2012\Office\MP900289882.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98258" y="3861048"/>
            <a:ext cx="1942827" cy="19624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Identify and communicate all priorities, responsibilities and timelines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AU" sz="2200" dirty="0" smtClean="0">
                <a:latin typeface="Helvetica" pitchFamily="34" charset="0"/>
              </a:rPr>
              <a:t>Inform of training provided to support implementation </a:t>
            </a: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Encourage questions</a:t>
            </a:r>
          </a:p>
          <a:p>
            <a:pPr marL="360000" indent="-360000">
              <a:spcBef>
                <a:spcPts val="600"/>
              </a:spcBef>
              <a:spcAft>
                <a:spcPts val="1200"/>
              </a:spcAft>
            </a:pPr>
            <a:r>
              <a:rPr lang="en-US" sz="2200" dirty="0" smtClean="0">
                <a:latin typeface="Helvetica" pitchFamily="34" charset="0"/>
              </a:rPr>
              <a:t>Be available</a:t>
            </a:r>
          </a:p>
          <a:p>
            <a:pPr marL="360000" indent="-360000">
              <a:spcBef>
                <a:spcPts val="600"/>
              </a:spcBef>
              <a:spcAft>
                <a:spcPts val="1200"/>
              </a:spcAft>
            </a:pPr>
            <a:r>
              <a:rPr lang="en-AU" sz="2200" dirty="0" smtClean="0">
                <a:latin typeface="Helvetica" pitchFamily="34" charset="0"/>
              </a:rPr>
              <a:t>Include new policies in applicable workplace documents</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76</a:t>
            </a:fld>
            <a:endParaRPr lang="en-US" dirty="0">
              <a:latin typeface="Helvetica" pitchFamily="34" charset="0"/>
            </a:endParaRPr>
          </a:p>
        </p:txBody>
      </p:sp>
      <p:pic>
        <p:nvPicPr>
          <p:cNvPr id="9218" name="Picture 2" descr="I:\Overseas Projects\PHOTOS\2012\Office\MP900422803.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91880" y="4005064"/>
            <a:ext cx="1947987" cy="19479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Identify and communicate all priorities, responsibilities and timelines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Keys to communication in this regard:</a:t>
            </a:r>
          </a:p>
          <a:p>
            <a:pPr marL="360000" indent="-360000">
              <a:spcBef>
                <a:spcPts val="600"/>
              </a:spcBef>
              <a:spcAft>
                <a:spcPts val="1200"/>
              </a:spcAft>
            </a:pPr>
            <a:r>
              <a:rPr lang="en-US" sz="2200" dirty="0" smtClean="0">
                <a:latin typeface="Helvetica" pitchFamily="34" charset="0"/>
              </a:rPr>
              <a:t>Must be planned</a:t>
            </a:r>
          </a:p>
          <a:p>
            <a:pPr marL="360000" indent="-360000">
              <a:spcBef>
                <a:spcPts val="600"/>
              </a:spcBef>
              <a:spcAft>
                <a:spcPts val="1200"/>
              </a:spcAft>
            </a:pPr>
            <a:r>
              <a:rPr lang="en-US" sz="2200" dirty="0" smtClean="0">
                <a:latin typeface="Helvetica" pitchFamily="34" charset="0"/>
              </a:rPr>
              <a:t>User ‘preferred medium’ should be used</a:t>
            </a:r>
          </a:p>
          <a:p>
            <a:pPr marL="360000" indent="-360000">
              <a:spcBef>
                <a:spcPts val="600"/>
              </a:spcBef>
              <a:spcAft>
                <a:spcPts val="1200"/>
              </a:spcAft>
            </a:pPr>
            <a:r>
              <a:rPr lang="en-US" sz="2200" dirty="0" smtClean="0">
                <a:latin typeface="Helvetica" pitchFamily="34" charset="0"/>
              </a:rPr>
              <a:t>Pitch at level of the user</a:t>
            </a:r>
          </a:p>
          <a:p>
            <a:pPr marL="360000" indent="-360000">
              <a:spcBef>
                <a:spcPts val="600"/>
              </a:spcBef>
              <a:spcAft>
                <a:spcPts val="1200"/>
              </a:spcAft>
            </a:pPr>
            <a:r>
              <a:rPr lang="en-US" sz="2200" dirty="0" smtClean="0">
                <a:latin typeface="Helvetica" pitchFamily="34" charset="0"/>
              </a:rPr>
              <a:t>Track communications</a:t>
            </a:r>
          </a:p>
          <a:p>
            <a:pPr marL="360000" indent="-360000">
              <a:spcBef>
                <a:spcPts val="600"/>
              </a:spcBef>
              <a:spcAft>
                <a:spcPts val="1200"/>
              </a:spcAft>
            </a:pPr>
            <a:r>
              <a:rPr lang="en-US" sz="2200" dirty="0" smtClean="0">
                <a:latin typeface="Helvetica" pitchFamily="34" charset="0"/>
              </a:rPr>
              <a:t>Follow-up as/if required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77</a:t>
            </a:fld>
            <a:endParaRPr lang="en-US" dirty="0">
              <a:latin typeface="Helvetica" pitchFamily="34" charset="0"/>
            </a:endParaRPr>
          </a:p>
        </p:txBody>
      </p:sp>
      <p:pic>
        <p:nvPicPr>
          <p:cNvPr id="10242" name="Picture 2" descr="I:\Overseas Projects\PHOTOS\2012\Front office 2012\MP900430768.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44208" y="2204864"/>
            <a:ext cx="1707673" cy="238561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Identify and communicate all priorities, responsibilities and timelines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83357"/>
            <a:ext cx="7467600" cy="4525963"/>
          </a:xfrm>
        </p:spPr>
        <p:txBody>
          <a:bodyPr>
            <a:normAutofit/>
          </a:bodyPr>
          <a:lstStyle/>
          <a:p>
            <a:pPr marL="0" indent="0">
              <a:spcBef>
                <a:spcPts val="600"/>
              </a:spcBef>
              <a:spcAft>
                <a:spcPts val="1200"/>
              </a:spcAft>
              <a:buNone/>
            </a:pPr>
            <a:r>
              <a:rPr lang="en-US" sz="2200" dirty="0" smtClean="0">
                <a:latin typeface="Helvetica" pitchFamily="34" charset="0"/>
              </a:rPr>
              <a:t>Communication strategies:</a:t>
            </a:r>
          </a:p>
          <a:p>
            <a:pPr marL="360000" indent="-360000">
              <a:spcBef>
                <a:spcPts val="600"/>
              </a:spcBef>
              <a:spcAft>
                <a:spcPts val="1200"/>
              </a:spcAft>
            </a:pPr>
            <a:r>
              <a:rPr lang="en-US" sz="2200" dirty="0" smtClean="0">
                <a:latin typeface="Helvetica" pitchFamily="34" charset="0"/>
              </a:rPr>
              <a:t>Hold a formal meeting</a:t>
            </a:r>
          </a:p>
          <a:p>
            <a:pPr marL="360000" indent="-360000">
              <a:spcBef>
                <a:spcPts val="600"/>
              </a:spcBef>
              <a:spcAft>
                <a:spcPts val="1200"/>
              </a:spcAft>
            </a:pPr>
            <a:r>
              <a:rPr lang="en-US" sz="2200" dirty="0" smtClean="0">
                <a:latin typeface="Helvetica" pitchFamily="34" charset="0"/>
              </a:rPr>
              <a:t>Speak one-on-one</a:t>
            </a:r>
          </a:p>
          <a:p>
            <a:pPr marL="360000" indent="-360000">
              <a:spcBef>
                <a:spcPts val="600"/>
              </a:spcBef>
              <a:spcAft>
                <a:spcPts val="1200"/>
              </a:spcAft>
            </a:pPr>
            <a:r>
              <a:rPr lang="en-US" sz="2200" dirty="0" smtClean="0">
                <a:latin typeface="Helvetica" pitchFamily="34" charset="0"/>
              </a:rPr>
              <a:t>Provide hard copies</a:t>
            </a:r>
          </a:p>
          <a:p>
            <a:pPr marL="360000" indent="-360000">
              <a:spcBef>
                <a:spcPts val="600"/>
              </a:spcBef>
              <a:spcAft>
                <a:spcPts val="1200"/>
              </a:spcAft>
            </a:pPr>
            <a:r>
              <a:rPr lang="en-US" sz="2200" dirty="0" smtClean="0">
                <a:latin typeface="Helvetica" pitchFamily="34" charset="0"/>
              </a:rPr>
              <a:t>Use electronic options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78</a:t>
            </a:fld>
            <a:endParaRPr lang="en-US" dirty="0">
              <a:latin typeface="Helvetica" pitchFamily="34" charset="0"/>
            </a:endParaRPr>
          </a:p>
        </p:txBody>
      </p:sp>
      <p:pic>
        <p:nvPicPr>
          <p:cNvPr id="11266" name="Picture 2" descr="I:\Overseas Projects\PHOTOS\2014\Shutterstock 25-a-day\shutterstock_179827874.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92080" y="2348880"/>
            <a:ext cx="2565152" cy="192386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46654" cy="1143000"/>
          </a:xfrm>
        </p:spPr>
        <p:txBody>
          <a:bodyPr>
            <a:normAutofit fontScale="90000"/>
          </a:bodyPr>
          <a:lstStyle/>
          <a:p>
            <a:r>
              <a:rPr lang="en-AU" sz="3400" b="1" dirty="0" smtClean="0">
                <a:solidFill>
                  <a:srgbClr val="FF6600"/>
                </a:solidFill>
                <a:latin typeface="Helvetica" pitchFamily="34" charset="0"/>
              </a:rPr>
              <a:t>Develop evaluation systems in consultation with appropriate colleagues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27373"/>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There is generally a need to consult with:</a:t>
            </a:r>
          </a:p>
          <a:p>
            <a:pPr marL="360000" indent="-360000">
              <a:spcBef>
                <a:spcPts val="600"/>
              </a:spcBef>
              <a:spcAft>
                <a:spcPts val="1200"/>
              </a:spcAft>
            </a:pPr>
            <a:r>
              <a:rPr lang="en-US" sz="2200" dirty="0" smtClean="0">
                <a:latin typeface="Helvetica" pitchFamily="34" charset="0"/>
              </a:rPr>
              <a:t>Those who </a:t>
            </a:r>
            <a:r>
              <a:rPr lang="en-US" sz="2200" i="1" dirty="0" smtClean="0">
                <a:latin typeface="Helvetica" pitchFamily="34" charset="0"/>
              </a:rPr>
              <a:t>developed </a:t>
            </a:r>
            <a:r>
              <a:rPr lang="en-US" sz="2200" dirty="0" smtClean="0">
                <a:latin typeface="Helvetica" pitchFamily="34" charset="0"/>
              </a:rPr>
              <a:t>the policy</a:t>
            </a:r>
          </a:p>
          <a:p>
            <a:pPr marL="360000" indent="-360000">
              <a:spcBef>
                <a:spcPts val="600"/>
              </a:spcBef>
              <a:spcAft>
                <a:spcPts val="1200"/>
              </a:spcAft>
            </a:pPr>
            <a:r>
              <a:rPr lang="en-US" sz="2200" dirty="0" smtClean="0">
                <a:latin typeface="Helvetica" pitchFamily="34" charset="0"/>
              </a:rPr>
              <a:t>Staff with responsibility for implementation</a:t>
            </a:r>
          </a:p>
          <a:p>
            <a:pPr marL="360000" indent="-360000">
              <a:spcBef>
                <a:spcPts val="600"/>
              </a:spcBef>
              <a:spcAft>
                <a:spcPts val="1200"/>
              </a:spcAft>
            </a:pPr>
            <a:r>
              <a:rPr lang="en-US" sz="2200" dirty="0" smtClean="0">
                <a:latin typeface="Helvetica" pitchFamily="34" charset="0"/>
              </a:rPr>
              <a:t>Those who are impacted by the policy</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79</a:t>
            </a:fld>
            <a:endParaRPr lang="en-US" dirty="0">
              <a:latin typeface="Helvetica" pitchFamily="34" charset="0"/>
            </a:endParaRPr>
          </a:p>
        </p:txBody>
      </p:sp>
      <p:pic>
        <p:nvPicPr>
          <p:cNvPr id="5" name="Picture 4" descr="shutterstock_127785503.jpg"/>
          <p:cNvPicPr/>
          <p:nvPr/>
        </p:nvPicPr>
        <p:blipFill>
          <a:blip r:embed="rId3" cstate="print"/>
          <a:stretch>
            <a:fillRect/>
          </a:stretch>
        </p:blipFill>
        <p:spPr>
          <a:xfrm>
            <a:off x="3347864" y="4499819"/>
            <a:ext cx="2276475" cy="1552575"/>
          </a:xfrm>
          <a:prstGeom prst="rect">
            <a:avLst/>
          </a:prstGeom>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46654" cy="1143000"/>
          </a:xfrm>
        </p:spPr>
        <p:txBody>
          <a:bodyPr>
            <a:normAutofit fontScale="90000"/>
          </a:bodyPr>
          <a:lstStyle/>
          <a:p>
            <a:r>
              <a:rPr lang="en-AU" sz="3400" b="1" dirty="0" smtClean="0">
                <a:solidFill>
                  <a:srgbClr val="FF6600"/>
                </a:solidFill>
                <a:latin typeface="Helvetica" pitchFamily="34" charset="0"/>
              </a:rPr>
              <a:t>Develop evaluation systems in consultation with appropriate colleagues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783357"/>
            <a:ext cx="7467600" cy="4525963"/>
          </a:xfrm>
        </p:spPr>
        <p:txBody>
          <a:bodyPr>
            <a:normAutofit/>
          </a:bodyPr>
          <a:lstStyle/>
          <a:p>
            <a:pPr marL="0" indent="0">
              <a:spcBef>
                <a:spcPts val="600"/>
              </a:spcBef>
              <a:spcAft>
                <a:spcPts val="1200"/>
              </a:spcAft>
              <a:buNone/>
            </a:pPr>
            <a:r>
              <a:rPr lang="en-US" sz="2200" dirty="0" smtClean="0">
                <a:latin typeface="Helvetica" pitchFamily="34" charset="0"/>
              </a:rPr>
              <a:t>Evaluation:</a:t>
            </a:r>
          </a:p>
          <a:p>
            <a:pPr marL="360000" indent="-360000">
              <a:spcBef>
                <a:spcPts val="600"/>
              </a:spcBef>
              <a:spcAft>
                <a:spcPts val="1200"/>
              </a:spcAft>
            </a:pPr>
            <a:r>
              <a:rPr lang="en-US" sz="2200" dirty="0" smtClean="0">
                <a:latin typeface="Helvetica" pitchFamily="34" charset="0"/>
              </a:rPr>
              <a:t>Must be systematic</a:t>
            </a:r>
          </a:p>
          <a:p>
            <a:pPr marL="360000" indent="-360000">
              <a:spcBef>
                <a:spcPts val="600"/>
              </a:spcBef>
              <a:spcAft>
                <a:spcPts val="1200"/>
              </a:spcAft>
            </a:pPr>
            <a:r>
              <a:rPr lang="en-US" sz="2200" dirty="0" smtClean="0">
                <a:latin typeface="Helvetica" pitchFamily="34" charset="0"/>
              </a:rPr>
              <a:t>Must gather fact-based evidence</a:t>
            </a:r>
          </a:p>
          <a:p>
            <a:pPr marL="360000" indent="-360000">
              <a:spcBef>
                <a:spcPts val="600"/>
              </a:spcBef>
              <a:spcAft>
                <a:spcPts val="1200"/>
              </a:spcAft>
            </a:pPr>
            <a:r>
              <a:rPr lang="en-US" sz="2200" dirty="0" smtClean="0">
                <a:latin typeface="Helvetica" pitchFamily="34" charset="0"/>
              </a:rPr>
              <a:t>Must include analysis of data captured</a:t>
            </a:r>
          </a:p>
          <a:p>
            <a:pPr marL="360000" indent="-360000">
              <a:spcBef>
                <a:spcPts val="600"/>
              </a:spcBef>
              <a:spcAft>
                <a:spcPts val="1200"/>
              </a:spcAft>
            </a:pPr>
            <a:r>
              <a:rPr lang="en-US" sz="2200" dirty="0" smtClean="0">
                <a:latin typeface="Helvetica" pitchFamily="34" charset="0"/>
              </a:rPr>
              <a:t>Must allow for decisions to be made regarding the effectiveness and efficiency of policies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80</a:t>
            </a:fld>
            <a:endParaRPr lang="en-US" dirty="0">
              <a:latin typeface="Helvetica" pitchFamily="34" charset="0"/>
            </a:endParaRPr>
          </a:p>
        </p:txBody>
      </p:sp>
      <p:pic>
        <p:nvPicPr>
          <p:cNvPr id="12290" name="Picture 2" descr="I:\Overseas Projects\PHOTOS\2012\Office\1080177_magnifying_glas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2160" y="1700808"/>
            <a:ext cx="1907630" cy="143072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46654" cy="1143000"/>
          </a:xfrm>
        </p:spPr>
        <p:txBody>
          <a:bodyPr>
            <a:normAutofit fontScale="90000"/>
          </a:bodyPr>
          <a:lstStyle/>
          <a:p>
            <a:r>
              <a:rPr lang="en-AU" sz="3400" b="1" dirty="0" smtClean="0">
                <a:solidFill>
                  <a:srgbClr val="FF6600"/>
                </a:solidFill>
                <a:latin typeface="Helvetica" pitchFamily="34" charset="0"/>
              </a:rPr>
              <a:t>Develop evaluation systems in consultation with appropriate colleagues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855365"/>
            <a:ext cx="7467600" cy="4525963"/>
          </a:xfrm>
        </p:spPr>
        <p:txBody>
          <a:bodyPr>
            <a:normAutofit/>
          </a:bodyPr>
          <a:lstStyle/>
          <a:p>
            <a:pPr marL="0" indent="0">
              <a:spcBef>
                <a:spcPts val="600"/>
              </a:spcBef>
              <a:spcAft>
                <a:spcPts val="1200"/>
              </a:spcAft>
              <a:buNone/>
            </a:pPr>
            <a:r>
              <a:rPr lang="en-US" sz="2200" dirty="0" smtClean="0">
                <a:latin typeface="Helvetica" pitchFamily="34" charset="0"/>
              </a:rPr>
              <a:t>Reasons to evaluate:</a:t>
            </a:r>
          </a:p>
          <a:p>
            <a:pPr marL="360000" indent="-360000">
              <a:spcBef>
                <a:spcPts val="600"/>
              </a:spcBef>
              <a:spcAft>
                <a:spcPts val="1200"/>
              </a:spcAft>
            </a:pPr>
            <a:r>
              <a:rPr lang="en-AU" sz="2200" dirty="0" smtClean="0">
                <a:latin typeface="Helvetica" pitchFamily="34" charset="0"/>
              </a:rPr>
              <a:t>Determine effectiveness</a:t>
            </a:r>
          </a:p>
          <a:p>
            <a:pPr marL="360000" indent="-360000">
              <a:spcBef>
                <a:spcPts val="600"/>
              </a:spcBef>
              <a:spcAft>
                <a:spcPts val="1200"/>
              </a:spcAft>
            </a:pPr>
            <a:r>
              <a:rPr lang="en-AU" sz="2200" dirty="0" smtClean="0">
                <a:latin typeface="Helvetica" pitchFamily="34" charset="0"/>
              </a:rPr>
              <a:t>Learn lessons</a:t>
            </a:r>
          </a:p>
          <a:p>
            <a:pPr marL="360000" indent="-360000">
              <a:spcBef>
                <a:spcPts val="600"/>
              </a:spcBef>
              <a:spcAft>
                <a:spcPts val="1200"/>
              </a:spcAft>
            </a:pPr>
            <a:r>
              <a:rPr lang="en-AU" sz="2200" dirty="0" smtClean="0">
                <a:latin typeface="Helvetica" pitchFamily="34" charset="0"/>
              </a:rPr>
              <a:t>Maintain alignment with compliance obligations</a:t>
            </a:r>
          </a:p>
          <a:p>
            <a:pPr marL="360000" indent="-360000">
              <a:spcBef>
                <a:spcPts val="600"/>
              </a:spcBef>
              <a:spcAft>
                <a:spcPts val="1200"/>
              </a:spcAft>
            </a:pPr>
            <a:r>
              <a:rPr lang="en-AU" sz="2200" dirty="0" smtClean="0">
                <a:latin typeface="Helvetica" pitchFamily="34" charset="0"/>
              </a:rPr>
              <a:t>Demonstrate and discharge ‘due diligence’</a:t>
            </a:r>
            <a:endParaRPr lang="en-US" sz="2200" dirty="0" smtClean="0">
              <a:latin typeface="Helvetica" pitchFamily="34" charset="0"/>
            </a:endParaRP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81</a:t>
            </a:fld>
            <a:endParaRPr lang="en-US" dirty="0">
              <a:latin typeface="Helvetica" pitchFamily="34" charset="0"/>
            </a:endParaRPr>
          </a:p>
        </p:txBody>
      </p:sp>
      <p:pic>
        <p:nvPicPr>
          <p:cNvPr id="13314" name="Picture 2" descr="I:\Overseas Projects\PHOTOS\2014\Shutterstock 25-a-day\shutterstock_115609774.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09533" y="1484784"/>
            <a:ext cx="2255987" cy="169199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46654" cy="1143000"/>
          </a:xfrm>
        </p:spPr>
        <p:txBody>
          <a:bodyPr>
            <a:normAutofit fontScale="90000"/>
          </a:bodyPr>
          <a:lstStyle/>
          <a:p>
            <a:r>
              <a:rPr lang="en-AU" sz="3400" b="1" dirty="0" smtClean="0">
                <a:solidFill>
                  <a:srgbClr val="FF6600"/>
                </a:solidFill>
                <a:latin typeface="Helvetica" pitchFamily="34" charset="0"/>
              </a:rPr>
              <a:t>Develop evaluation systems in consultation with appropriate colleagues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27373"/>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Change ineffective policies</a:t>
            </a:r>
          </a:p>
          <a:p>
            <a:pPr marL="360000" indent="-360000">
              <a:spcBef>
                <a:spcPts val="600"/>
              </a:spcBef>
              <a:spcAft>
                <a:spcPts val="1200"/>
              </a:spcAft>
            </a:pPr>
            <a:r>
              <a:rPr lang="en-US" sz="2200" dirty="0" smtClean="0">
                <a:latin typeface="Helvetica" pitchFamily="34" charset="0"/>
              </a:rPr>
              <a:t>Monitor responsibility and accountability</a:t>
            </a:r>
          </a:p>
          <a:p>
            <a:pPr marL="360000" indent="-360000">
              <a:spcBef>
                <a:spcPts val="600"/>
              </a:spcBef>
              <a:spcAft>
                <a:spcPts val="1200"/>
              </a:spcAft>
            </a:pPr>
            <a:r>
              <a:rPr lang="en-US" sz="2200" dirty="0" smtClean="0">
                <a:latin typeface="Helvetica" pitchFamily="34" charset="0"/>
              </a:rPr>
              <a:t>Avoid entrenching ineffective polices as ‘standard’</a:t>
            </a:r>
          </a:p>
          <a:p>
            <a:pPr marL="360000" indent="-360000">
              <a:spcBef>
                <a:spcPts val="600"/>
              </a:spcBef>
              <a:spcAft>
                <a:spcPts val="1200"/>
              </a:spcAft>
            </a:pPr>
            <a:r>
              <a:rPr lang="en-US" sz="2200" dirty="0" smtClean="0">
                <a:latin typeface="Helvetica" pitchFamily="34" charset="0"/>
              </a:rPr>
              <a:t>Decide future policy</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82</a:t>
            </a:fld>
            <a:endParaRPr lang="en-US" dirty="0">
              <a:latin typeface="Helvetica" pitchFamily="34" charset="0"/>
            </a:endParaRPr>
          </a:p>
        </p:txBody>
      </p:sp>
      <p:pic>
        <p:nvPicPr>
          <p:cNvPr id="14338" name="Picture 2" descr="I:\Overseas Projects\PHOTOS\2014\Shutterstock 25-a-day\shutterstock_153008246.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25113" y="4365104"/>
            <a:ext cx="2471936" cy="164924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46654" cy="1143000"/>
          </a:xfrm>
        </p:spPr>
        <p:txBody>
          <a:bodyPr>
            <a:normAutofit fontScale="90000"/>
          </a:bodyPr>
          <a:lstStyle/>
          <a:p>
            <a:r>
              <a:rPr lang="en-AU" sz="3400" b="1" dirty="0" smtClean="0">
                <a:solidFill>
                  <a:srgbClr val="FF6600"/>
                </a:solidFill>
                <a:latin typeface="Helvetica" pitchFamily="34" charset="0"/>
              </a:rPr>
              <a:t>Develop evaluation systems in consultation with appropriate colleagues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855365"/>
            <a:ext cx="5400600" cy="4525963"/>
          </a:xfrm>
        </p:spPr>
        <p:txBody>
          <a:bodyPr>
            <a:normAutofit lnSpcReduction="10000"/>
          </a:bodyPr>
          <a:lstStyle/>
          <a:p>
            <a:pPr marL="0" indent="0">
              <a:spcBef>
                <a:spcPts val="600"/>
              </a:spcBef>
              <a:spcAft>
                <a:spcPts val="1200"/>
              </a:spcAft>
              <a:buNone/>
            </a:pPr>
            <a:r>
              <a:rPr lang="en-US" sz="2200" dirty="0" smtClean="0">
                <a:latin typeface="Helvetica" pitchFamily="34" charset="0"/>
              </a:rPr>
              <a:t>Points to note regarding evaluation:</a:t>
            </a:r>
          </a:p>
          <a:p>
            <a:pPr marL="360000" indent="-360000">
              <a:spcBef>
                <a:spcPts val="600"/>
              </a:spcBef>
              <a:spcAft>
                <a:spcPts val="1200"/>
              </a:spcAft>
            </a:pPr>
            <a:r>
              <a:rPr lang="en-AU" sz="2200" dirty="0" smtClean="0">
                <a:latin typeface="Helvetica" pitchFamily="34" charset="0"/>
              </a:rPr>
              <a:t>Dates for evaluation/s should be established </a:t>
            </a:r>
            <a:endParaRPr lang="en-US"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A policy can be evaluated while it is still being implemented/used</a:t>
            </a:r>
          </a:p>
          <a:p>
            <a:pPr marL="360000" indent="-360000">
              <a:spcBef>
                <a:spcPts val="600"/>
              </a:spcBef>
              <a:spcAft>
                <a:spcPts val="1200"/>
              </a:spcAft>
            </a:pPr>
            <a:r>
              <a:rPr lang="en-AU" sz="2200" dirty="0" smtClean="0">
                <a:latin typeface="Helvetica" pitchFamily="34" charset="0"/>
              </a:rPr>
              <a:t>Criteria in the policy provides the focus for evaluation</a:t>
            </a:r>
          </a:p>
          <a:p>
            <a:pPr marL="360000" indent="-360000">
              <a:spcBef>
                <a:spcPts val="600"/>
              </a:spcBef>
              <a:spcAft>
                <a:spcPts val="1200"/>
              </a:spcAft>
            </a:pPr>
            <a:r>
              <a:rPr lang="en-AU" sz="2200" dirty="0" smtClean="0">
                <a:latin typeface="Helvetica" pitchFamily="34" charset="0"/>
              </a:rPr>
              <a:t>A combination of evaluations produces a ‘better’ result than a single approach</a:t>
            </a:r>
            <a:endParaRPr lang="en-US" sz="2200" dirty="0" smtClean="0">
              <a:latin typeface="Helvetica" pitchFamily="34" charset="0"/>
            </a:endParaRP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83</a:t>
            </a:fld>
            <a:endParaRPr lang="en-US" dirty="0">
              <a:latin typeface="Helvetica" pitchFamily="34" charset="0"/>
            </a:endParaRPr>
          </a:p>
        </p:txBody>
      </p:sp>
      <p:pic>
        <p:nvPicPr>
          <p:cNvPr id="15362" name="Picture 2" descr="I:\Overseas Projects\PHOTOS\2012\Front office 2012\shutterstock_93620245.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6030" y="3140968"/>
            <a:ext cx="1961233" cy="14709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46654" cy="1143000"/>
          </a:xfrm>
        </p:spPr>
        <p:txBody>
          <a:bodyPr>
            <a:normAutofit fontScale="90000"/>
          </a:bodyPr>
          <a:lstStyle/>
          <a:p>
            <a:r>
              <a:rPr lang="en-AU" sz="3400" b="1" dirty="0" smtClean="0">
                <a:solidFill>
                  <a:srgbClr val="FF6600"/>
                </a:solidFill>
                <a:latin typeface="Helvetica" pitchFamily="34" charset="0"/>
              </a:rPr>
              <a:t>Develop evaluation systems in consultation with appropriate colleagues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855365"/>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The task is often a ‘balancing act’ in relation to time and data gathered</a:t>
            </a:r>
          </a:p>
          <a:p>
            <a:pPr marL="360000" indent="-360000">
              <a:spcBef>
                <a:spcPts val="600"/>
              </a:spcBef>
              <a:spcAft>
                <a:spcPts val="1200"/>
              </a:spcAft>
            </a:pPr>
            <a:r>
              <a:rPr lang="en-US" sz="2200" dirty="0" smtClean="0">
                <a:latin typeface="Helvetica" pitchFamily="34" charset="0"/>
              </a:rPr>
              <a:t>There may be a need to address criteria not stated in the policy when it was developed</a:t>
            </a:r>
          </a:p>
          <a:p>
            <a:pPr marL="360000" indent="-360000">
              <a:spcBef>
                <a:spcPts val="600"/>
              </a:spcBef>
              <a:spcAft>
                <a:spcPts val="1200"/>
              </a:spcAft>
            </a:pPr>
            <a:r>
              <a:rPr lang="en-US" sz="2200" dirty="0" smtClean="0">
                <a:latin typeface="Helvetica" pitchFamily="34" charset="0"/>
              </a:rPr>
              <a:t>A report on findings should be produced</a:t>
            </a:r>
          </a:p>
          <a:p>
            <a:pPr marL="360000" indent="-360000">
              <a:spcBef>
                <a:spcPts val="600"/>
              </a:spcBef>
              <a:spcAft>
                <a:spcPts val="1200"/>
              </a:spcAft>
            </a:pPr>
            <a:r>
              <a:rPr lang="en-US" sz="2200" dirty="0" smtClean="0">
                <a:latin typeface="Helvetica" pitchFamily="34" charset="0"/>
              </a:rPr>
              <a:t>Findings need to be shared with key stakeholders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84</a:t>
            </a:fld>
            <a:endParaRPr lang="en-US" dirty="0">
              <a:latin typeface="Helvetica" pitchFamily="34" charset="0"/>
            </a:endParaRPr>
          </a:p>
        </p:txBody>
      </p:sp>
      <p:pic>
        <p:nvPicPr>
          <p:cNvPr id="5" name="Picture 4" descr="A17 shutterstock_179513282[1].JPG"/>
          <p:cNvPicPr>
            <a:picLocks noChangeAspect="1"/>
          </p:cNvPicPr>
          <p:nvPr/>
        </p:nvPicPr>
        <p:blipFill>
          <a:blip r:embed="rId3" cstate="print"/>
          <a:stretch>
            <a:fillRect/>
          </a:stretch>
        </p:blipFill>
        <p:spPr>
          <a:xfrm>
            <a:off x="3509736" y="4869160"/>
            <a:ext cx="2171748" cy="1448556"/>
          </a:xfrm>
          <a:prstGeom prst="rect">
            <a:avLst/>
          </a:prstGeom>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46654" cy="1143000"/>
          </a:xfrm>
        </p:spPr>
        <p:txBody>
          <a:bodyPr>
            <a:normAutofit fontScale="90000"/>
          </a:bodyPr>
          <a:lstStyle/>
          <a:p>
            <a:r>
              <a:rPr lang="en-AU" sz="3400" b="1" dirty="0" smtClean="0">
                <a:solidFill>
                  <a:srgbClr val="FF6600"/>
                </a:solidFill>
                <a:latin typeface="Helvetica" pitchFamily="34" charset="0"/>
              </a:rPr>
              <a:t>Develop evaluation systems in consultation with appropriate colleagues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60784" y="1927373"/>
            <a:ext cx="7467600" cy="4525963"/>
          </a:xfrm>
        </p:spPr>
        <p:txBody>
          <a:bodyPr>
            <a:normAutofit/>
          </a:bodyPr>
          <a:lstStyle/>
          <a:p>
            <a:pPr marL="0" indent="0">
              <a:spcBef>
                <a:spcPts val="600"/>
              </a:spcBef>
              <a:spcAft>
                <a:spcPts val="1200"/>
              </a:spcAft>
              <a:buNone/>
            </a:pPr>
            <a:r>
              <a:rPr lang="en-US" sz="2200" dirty="0" smtClean="0"/>
              <a:t>Procedures to use when evaluating operational policies:</a:t>
            </a:r>
          </a:p>
          <a:p>
            <a:pPr marL="360000" indent="-360000">
              <a:spcBef>
                <a:spcPts val="600"/>
              </a:spcBef>
              <a:spcAft>
                <a:spcPts val="1200"/>
              </a:spcAft>
            </a:pPr>
            <a:r>
              <a:rPr lang="en-AU" sz="2200" dirty="0" smtClean="0"/>
              <a:t>Analysing stories and anecdotal evidence </a:t>
            </a:r>
            <a:endParaRPr lang="en-US" sz="2200" dirty="0" smtClean="0"/>
          </a:p>
          <a:p>
            <a:pPr marL="360000" indent="-360000">
              <a:spcBef>
                <a:spcPts val="600"/>
              </a:spcBef>
              <a:spcAft>
                <a:spcPts val="1200"/>
              </a:spcAft>
            </a:pPr>
            <a:r>
              <a:rPr lang="en-AU" sz="2200" dirty="0" smtClean="0"/>
              <a:t>Developing and administering series of questions </a:t>
            </a:r>
          </a:p>
          <a:p>
            <a:pPr marL="360000" indent="-360000">
              <a:spcBef>
                <a:spcPts val="600"/>
              </a:spcBef>
              <a:spcAft>
                <a:spcPts val="1200"/>
              </a:spcAft>
            </a:pPr>
            <a:r>
              <a:rPr lang="en-AU" sz="2200" dirty="0" smtClean="0"/>
              <a:t>Undertaking empirical analysis</a:t>
            </a: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85</a:t>
            </a:fld>
            <a:endParaRPr lang="en-US" dirty="0">
              <a:latin typeface="Helvetica" pitchFamily="34" charset="0"/>
            </a:endParaRPr>
          </a:p>
        </p:txBody>
      </p:sp>
      <p:pic>
        <p:nvPicPr>
          <p:cNvPr id="5" name="Picture 4" descr="A20 shutterstock_182023328.jpg"/>
          <p:cNvPicPr>
            <a:picLocks noChangeAspect="1"/>
          </p:cNvPicPr>
          <p:nvPr/>
        </p:nvPicPr>
        <p:blipFill>
          <a:blip r:embed="rId3" cstate="print"/>
          <a:stretch>
            <a:fillRect/>
          </a:stretch>
        </p:blipFill>
        <p:spPr>
          <a:xfrm>
            <a:off x="3563888" y="4365104"/>
            <a:ext cx="1884040" cy="1600200"/>
          </a:xfrm>
          <a:prstGeom prst="rect">
            <a:avLst/>
          </a:prstGeom>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When developing operational policies:</a:t>
            </a:r>
          </a:p>
          <a:p>
            <a:pPr>
              <a:spcBef>
                <a:spcPts val="600"/>
              </a:spcBef>
              <a:spcAft>
                <a:spcPts val="1200"/>
              </a:spcAft>
            </a:pPr>
            <a:r>
              <a:rPr lang="en-AU" sz="2200" dirty="0" smtClean="0">
                <a:latin typeface="Helvetica" pitchFamily="34" charset="0"/>
              </a:rPr>
              <a:t>Obtain and read relevant plans for the organisation and to which the policies relate</a:t>
            </a:r>
          </a:p>
          <a:p>
            <a:pPr>
              <a:spcBef>
                <a:spcPts val="600"/>
              </a:spcBef>
              <a:spcAft>
                <a:spcPts val="1200"/>
              </a:spcAft>
            </a:pPr>
            <a:r>
              <a:rPr lang="en-AU" sz="2200" dirty="0" smtClean="0">
                <a:latin typeface="Helvetica" pitchFamily="34" charset="0"/>
              </a:rPr>
              <a:t>Make sure policies reflect the aims and intentions of the plans</a:t>
            </a:r>
          </a:p>
          <a:p>
            <a:pPr>
              <a:spcBef>
                <a:spcPts val="600"/>
              </a:spcBef>
              <a:spcAft>
                <a:spcPts val="1200"/>
              </a:spcAft>
            </a:pPr>
            <a:r>
              <a:rPr lang="en-AU" sz="2200" dirty="0" smtClean="0">
                <a:latin typeface="Helvetica" pitchFamily="34" charset="0"/>
              </a:rPr>
              <a:t>Realise procedures and practices will flow from the policies</a:t>
            </a:r>
          </a:p>
          <a:p>
            <a:pPr>
              <a:buNone/>
            </a:pPr>
            <a:endParaRPr lang="en-US" sz="2200" dirty="0" smtClean="0">
              <a:latin typeface="Helvetica" pitchFamily="34" charset="0"/>
            </a:endParaRPr>
          </a:p>
          <a:p>
            <a:pPr>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86</a:t>
            </a:fld>
            <a:endParaRPr lang="en-US" dirty="0">
              <a:latin typeface="Helvetica" pitchFamily="34" charset="0"/>
            </a:endParaRPr>
          </a:p>
        </p:txBody>
      </p:sp>
      <p:pic>
        <p:nvPicPr>
          <p:cNvPr id="16386" name="Picture 2" descr="I:\Overseas Projects\PHOTOS\2012\Front office 2012\shutterstock_71651842.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63888" y="4653136"/>
            <a:ext cx="1566888" cy="15668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pPr>
            <a:r>
              <a:rPr lang="en-AU" sz="2200" dirty="0" smtClean="0">
                <a:latin typeface="Helvetica" pitchFamily="34" charset="0"/>
              </a:rPr>
              <a:t>Understand operational polices relate to day-to-date actions and decisions which need to be taken</a:t>
            </a:r>
          </a:p>
          <a:p>
            <a:pPr>
              <a:spcBef>
                <a:spcPts val="600"/>
              </a:spcBef>
              <a:spcAft>
                <a:spcPts val="1200"/>
              </a:spcAft>
            </a:pPr>
            <a:r>
              <a:rPr lang="en-AU" sz="2200" dirty="0" smtClean="0">
                <a:latin typeface="Helvetica" pitchFamily="34" charset="0"/>
              </a:rPr>
              <a:t>Ensure they represent the philosophy of the organisation</a:t>
            </a:r>
          </a:p>
          <a:p>
            <a:pPr>
              <a:spcBef>
                <a:spcPts val="600"/>
              </a:spcBef>
              <a:spcAft>
                <a:spcPts val="1200"/>
              </a:spcAft>
            </a:pPr>
            <a:r>
              <a:rPr lang="en-AU" sz="2200" dirty="0" smtClean="0">
                <a:latin typeface="Helvetica" pitchFamily="34" charset="0"/>
              </a:rPr>
              <a:t>Write them to provide direction and guidance to employees</a:t>
            </a:r>
          </a:p>
          <a:p>
            <a:pPr lvl="0">
              <a:spcBef>
                <a:spcPts val="600"/>
              </a:spcBef>
              <a:spcAft>
                <a:spcPts val="1200"/>
              </a:spcAft>
              <a:buNone/>
            </a:pPr>
            <a:r>
              <a:rPr lang="en-US" sz="2200" dirty="0" smtClean="0">
                <a:latin typeface="Helvetica" pitchFamily="34" charset="0"/>
              </a:rPr>
              <a:t>(Continued)</a:t>
            </a: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87</a:t>
            </a:fld>
            <a:endParaRPr lang="en-US" dirty="0">
              <a:latin typeface="Helvetica" pitchFamily="34" charset="0"/>
            </a:endParaRPr>
          </a:p>
        </p:txBody>
      </p:sp>
      <p:pic>
        <p:nvPicPr>
          <p:cNvPr id="5" name="Picture 2" descr="I:\Overseas Projects\PHOTOS\2012\Front office 2012\shutterstock_71651842.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11961" y="4077072"/>
            <a:ext cx="1926928" cy="19269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pPr>
            <a:r>
              <a:rPr lang="en-AU" sz="2200" dirty="0" smtClean="0">
                <a:latin typeface="Helvetica" pitchFamily="34" charset="0"/>
              </a:rPr>
              <a:t>Involve relevant stakeholders </a:t>
            </a:r>
          </a:p>
          <a:p>
            <a:pPr>
              <a:spcBef>
                <a:spcPts val="600"/>
              </a:spcBef>
              <a:spcAft>
                <a:spcPts val="1200"/>
              </a:spcAft>
            </a:pPr>
            <a:r>
              <a:rPr lang="en-AU" sz="2200" dirty="0" smtClean="0">
                <a:latin typeface="Helvetica" pitchFamily="34" charset="0"/>
              </a:rPr>
              <a:t>Provide clarity </a:t>
            </a:r>
          </a:p>
          <a:p>
            <a:pPr>
              <a:spcBef>
                <a:spcPts val="600"/>
              </a:spcBef>
              <a:spcAft>
                <a:spcPts val="1200"/>
              </a:spcAft>
            </a:pPr>
            <a:r>
              <a:rPr lang="en-AU" sz="2200" dirty="0" smtClean="0">
                <a:latin typeface="Helvetica" pitchFamily="34" charset="0"/>
              </a:rPr>
              <a:t>Obtain management approval prior to their introduction</a:t>
            </a:r>
          </a:p>
          <a:p>
            <a:pPr>
              <a:spcBef>
                <a:spcPts val="600"/>
              </a:spcBef>
              <a:spcAft>
                <a:spcPts val="1200"/>
              </a:spcAft>
            </a:pPr>
            <a:r>
              <a:rPr lang="en-AU" sz="2200" dirty="0" smtClean="0">
                <a:latin typeface="Helvetica" pitchFamily="34" charset="0"/>
              </a:rPr>
              <a:t>Consider using internal templates as the basis for writing them</a:t>
            </a:r>
          </a:p>
          <a:p>
            <a:pPr lvl="0">
              <a:spcBef>
                <a:spcPts val="600"/>
              </a:spcBef>
              <a:spcAft>
                <a:spcPts val="1200"/>
              </a:spcAft>
              <a:buNone/>
            </a:pPr>
            <a:r>
              <a:rPr lang="en-US" sz="2200" dirty="0" smtClean="0">
                <a:latin typeface="Helvetica" pitchFamily="34" charset="0"/>
              </a:rPr>
              <a:t>(Continued)</a:t>
            </a: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88</a:t>
            </a:fld>
            <a:endParaRPr lang="en-US" dirty="0">
              <a:latin typeface="Helvetica" pitchFamily="34" charset="0"/>
            </a:endParaRPr>
          </a:p>
        </p:txBody>
      </p:sp>
      <p:pic>
        <p:nvPicPr>
          <p:cNvPr id="5" name="Picture 2" descr="I:\Overseas Projects\PHOTOS\2012\Front office 2012\shutterstock_71651842.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07904" y="4016460"/>
            <a:ext cx="1926928" cy="19269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pPr>
            <a:r>
              <a:rPr lang="en-AU" sz="2200" dirty="0" smtClean="0">
                <a:latin typeface="Helvetica" pitchFamily="34" charset="0"/>
              </a:rPr>
              <a:t>Prepare them for identified topics based on analysis of actual workplace need</a:t>
            </a:r>
          </a:p>
          <a:p>
            <a:pPr>
              <a:spcBef>
                <a:spcPts val="600"/>
              </a:spcBef>
              <a:spcAft>
                <a:spcPts val="1200"/>
              </a:spcAft>
            </a:pPr>
            <a:r>
              <a:rPr lang="en-AU" sz="2200" dirty="0" smtClean="0">
                <a:latin typeface="Helvetica" pitchFamily="34" charset="0"/>
              </a:rPr>
              <a:t>Generate appropriate scope and objectives for each</a:t>
            </a:r>
          </a:p>
          <a:p>
            <a:pPr>
              <a:spcBef>
                <a:spcPts val="600"/>
              </a:spcBef>
              <a:spcAft>
                <a:spcPts val="1200"/>
              </a:spcAft>
            </a:pPr>
            <a:r>
              <a:rPr lang="en-AU" sz="2200" dirty="0" smtClean="0">
                <a:latin typeface="Helvetica" pitchFamily="34" charset="0"/>
              </a:rPr>
              <a:t>Factor in all relevant internal and external factors impacting the organisation and implementation of the policy</a:t>
            </a:r>
          </a:p>
          <a:p>
            <a:pPr lvl="0">
              <a:spcBef>
                <a:spcPts val="600"/>
              </a:spcBef>
              <a:spcAft>
                <a:spcPts val="1200"/>
              </a:spcAft>
              <a:buNone/>
            </a:pPr>
            <a:r>
              <a:rPr lang="en-US" sz="2200" dirty="0" smtClean="0">
                <a:latin typeface="Helvetica" pitchFamily="34" charset="0"/>
              </a:rPr>
              <a:t>(Continued)</a:t>
            </a: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89</a:t>
            </a:fld>
            <a:endParaRPr lang="en-US" dirty="0">
              <a:latin typeface="Helvetica" pitchFamily="34" charset="0"/>
            </a:endParaRPr>
          </a:p>
        </p:txBody>
      </p:sp>
      <p:pic>
        <p:nvPicPr>
          <p:cNvPr id="5" name="Picture 2" descr="I:\Overseas Projects\PHOTOS\2012\Front office 2012\shutterstock_71651842.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91880" y="4221088"/>
            <a:ext cx="1926928" cy="19269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pPr>
            <a:r>
              <a:rPr lang="en-AU" sz="2200" dirty="0" smtClean="0">
                <a:latin typeface="Helvetica" pitchFamily="34" charset="0"/>
              </a:rPr>
              <a:t>Support them with effective resource strategies</a:t>
            </a:r>
          </a:p>
          <a:p>
            <a:pPr>
              <a:spcBef>
                <a:spcPts val="600"/>
              </a:spcBef>
              <a:spcAft>
                <a:spcPts val="1200"/>
              </a:spcAft>
            </a:pPr>
            <a:r>
              <a:rPr lang="en-AU" sz="2200" dirty="0" smtClean="0">
                <a:latin typeface="Helvetica" pitchFamily="34" charset="0"/>
              </a:rPr>
              <a:t>Ensure supportive framework and systems to enable the policies</a:t>
            </a:r>
          </a:p>
          <a:p>
            <a:pPr>
              <a:spcBef>
                <a:spcPts val="600"/>
              </a:spcBef>
              <a:spcAft>
                <a:spcPts val="1200"/>
              </a:spcAft>
            </a:pPr>
            <a:r>
              <a:rPr lang="en-AU" sz="2200" dirty="0" smtClean="0">
                <a:latin typeface="Helvetica" pitchFamily="34" charset="0"/>
              </a:rPr>
              <a:t>Communicate approved policies to all those with responsibilities under them</a:t>
            </a:r>
          </a:p>
          <a:p>
            <a:pPr>
              <a:spcBef>
                <a:spcPts val="600"/>
              </a:spcBef>
              <a:spcAft>
                <a:spcPts val="1200"/>
              </a:spcAft>
            </a:pPr>
            <a:r>
              <a:rPr lang="en-AU" sz="2200" dirty="0" smtClean="0">
                <a:latin typeface="Helvetica" pitchFamily="34" charset="0"/>
              </a:rPr>
              <a:t>Develop evaluation protocols for each policy</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90</a:t>
            </a:fld>
            <a:endParaRPr lang="en-US" dirty="0">
              <a:latin typeface="Helvetica" pitchFamily="34" charset="0"/>
            </a:endParaRPr>
          </a:p>
        </p:txBody>
      </p:sp>
      <p:pic>
        <p:nvPicPr>
          <p:cNvPr id="5" name="Picture 2" descr="I:\Overseas Projects\PHOTOS\2012\Front office 2012\shutterstock_71651842.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91880" y="4509120"/>
            <a:ext cx="1566888" cy="15668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Element 2 – Administer and monitor operational policy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83357"/>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a:t>
            </a:r>
          </a:p>
          <a:p>
            <a:pPr marL="360000" indent="-360000">
              <a:spcBef>
                <a:spcPts val="600"/>
              </a:spcBef>
              <a:spcAft>
                <a:spcPts val="1200"/>
              </a:spcAft>
            </a:pPr>
            <a:r>
              <a:rPr lang="en-AU" sz="2200" dirty="0" smtClean="0">
                <a:latin typeface="Helvetica" pitchFamily="34" charset="0"/>
              </a:rPr>
              <a:t>Implement and evaluate identified actions in accordance with agreed priorities</a:t>
            </a:r>
          </a:p>
          <a:p>
            <a:pPr marL="360000" indent="-360000">
              <a:spcBef>
                <a:spcPts val="600"/>
              </a:spcBef>
              <a:spcAft>
                <a:spcPts val="1200"/>
              </a:spcAft>
            </a:pPr>
            <a:r>
              <a:rPr lang="en-AU" sz="2200" dirty="0" smtClean="0">
                <a:latin typeface="Helvetica" pitchFamily="34" charset="0"/>
              </a:rPr>
              <a:t>Monitor performance indicators</a:t>
            </a:r>
          </a:p>
          <a:p>
            <a:pPr marL="360000" indent="-360000">
              <a:spcBef>
                <a:spcPts val="600"/>
              </a:spcBef>
              <a:spcAft>
                <a:spcPts val="1200"/>
              </a:spcAft>
            </a:pPr>
            <a:r>
              <a:rPr lang="en-AU" sz="2200" dirty="0" smtClean="0">
                <a:latin typeface="Helvetica" pitchFamily="34" charset="0"/>
              </a:rPr>
              <a:t>Provide progress and other reports in accordance with enterprise requirements</a:t>
            </a:r>
          </a:p>
          <a:p>
            <a:pPr marL="360000" indent="-360000">
              <a:spcBef>
                <a:spcPts val="600"/>
              </a:spcBef>
              <a:spcAft>
                <a:spcPts val="1200"/>
              </a:spcAft>
            </a:pPr>
            <a:r>
              <a:rPr lang="en-AU" sz="2200" dirty="0" smtClean="0">
                <a:latin typeface="Helvetica" pitchFamily="34" charset="0"/>
              </a:rPr>
              <a:t>Make assessment of the need for additional resource requirements and take appropriate action in accordance with enterprise policy</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91</a:t>
            </a:fld>
            <a:endParaRPr lang="en-US" dirty="0">
              <a:latin typeface="Helvetica" pitchFamily="34" charset="0"/>
            </a:endParaRPr>
          </a:p>
        </p:txBody>
      </p:sp>
      <p:pic>
        <p:nvPicPr>
          <p:cNvPr id="5" name="Picture 2" descr="C:\Users\danielc\AppData\Local\Microsoft\Windows\Temporary Internet Files\Content.IE5\B95PH30U\MC900432658[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48264" y="1916832"/>
            <a:ext cx="1426468" cy="142646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332656"/>
            <a:ext cx="7929618" cy="1143000"/>
          </a:xfrm>
        </p:spPr>
        <p:txBody>
          <a:bodyPr>
            <a:normAutofit fontScale="90000"/>
          </a:bodyPr>
          <a:lstStyle/>
          <a:p>
            <a:r>
              <a:rPr lang="en-AU" sz="3400" b="1" dirty="0" smtClean="0">
                <a:solidFill>
                  <a:srgbClr val="FF6600"/>
                </a:solidFill>
                <a:latin typeface="Helvetica" pitchFamily="34" charset="0"/>
              </a:rPr>
              <a:t>Implement and evaluate identified actions in accordance with agreed priorities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200" dirty="0" smtClean="0">
                <a:latin typeface="Helvetica" pitchFamily="34" charset="0"/>
              </a:rPr>
              <a:t>Key factors in relation to implementation of operational policies</a:t>
            </a:r>
            <a:r>
              <a:rPr lang="en-US" sz="2200" dirty="0" smtClean="0">
                <a:latin typeface="Helvetica" pitchFamily="34" charset="0"/>
              </a:rPr>
              <a:t>:</a:t>
            </a:r>
          </a:p>
          <a:p>
            <a:pPr marL="360000" indent="-360000">
              <a:spcBef>
                <a:spcPts val="600"/>
              </a:spcBef>
              <a:spcAft>
                <a:spcPts val="1200"/>
              </a:spcAft>
            </a:pPr>
            <a:r>
              <a:rPr lang="en-AU" sz="2200" dirty="0" smtClean="0">
                <a:latin typeface="Helvetica" pitchFamily="34" charset="0"/>
              </a:rPr>
              <a:t>An implementation plan may be prepared </a:t>
            </a:r>
            <a:endParaRPr lang="en-US"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A suitable and receptive environment needs to be created in the workplace </a:t>
            </a:r>
            <a:endParaRPr lang="en-US" sz="2200" dirty="0" smtClean="0">
              <a:latin typeface="Helvetica" pitchFamily="34" charset="0"/>
            </a:endParaRP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92</a:t>
            </a:fld>
            <a:endParaRPr lang="en-US" dirty="0">
              <a:latin typeface="Helvetica" pitchFamily="34" charset="0"/>
            </a:endParaRPr>
          </a:p>
        </p:txBody>
      </p:sp>
      <p:pic>
        <p:nvPicPr>
          <p:cNvPr id="5" name="Picture 4" descr="A11 158587457.jpg"/>
          <p:cNvPicPr>
            <a:picLocks noChangeAspect="1"/>
          </p:cNvPicPr>
          <p:nvPr/>
        </p:nvPicPr>
        <p:blipFill>
          <a:blip r:embed="rId3" cstate="print"/>
          <a:stretch>
            <a:fillRect/>
          </a:stretch>
        </p:blipFill>
        <p:spPr>
          <a:xfrm>
            <a:off x="3419872" y="4191000"/>
            <a:ext cx="2056372" cy="1371600"/>
          </a:xfrm>
          <a:prstGeom prst="rect">
            <a:avLst/>
          </a:prstGeom>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332656"/>
            <a:ext cx="7929618" cy="1143000"/>
          </a:xfrm>
        </p:spPr>
        <p:txBody>
          <a:bodyPr>
            <a:normAutofit fontScale="90000"/>
          </a:bodyPr>
          <a:lstStyle/>
          <a:p>
            <a:r>
              <a:rPr lang="en-AU" sz="3400" b="1" dirty="0" smtClean="0">
                <a:solidFill>
                  <a:srgbClr val="FF6600"/>
                </a:solidFill>
                <a:latin typeface="Helvetica" pitchFamily="34" charset="0"/>
              </a:rPr>
              <a:t>Implement and evaluate identified actions in accordance with agreed priorities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59" y="1556792"/>
            <a:ext cx="7602863" cy="4525963"/>
          </a:xfrm>
        </p:spPr>
        <p:txBody>
          <a:bodyPr>
            <a:normAutofit/>
          </a:bodyPr>
          <a:lstStyle/>
          <a:p>
            <a:pPr marL="360000" indent="-360000">
              <a:spcBef>
                <a:spcPts val="600"/>
              </a:spcBef>
              <a:spcAft>
                <a:spcPts val="1200"/>
              </a:spcAft>
            </a:pPr>
            <a:r>
              <a:rPr lang="en-US" sz="2200" dirty="0" smtClean="0">
                <a:latin typeface="Helvetica" pitchFamily="34" charset="0"/>
              </a:rPr>
              <a:t>Policies must be implemented entirely ‘as planned’ – changes can come later if required</a:t>
            </a:r>
          </a:p>
          <a:p>
            <a:pPr marL="360000" indent="-360000">
              <a:spcBef>
                <a:spcPts val="600"/>
              </a:spcBef>
              <a:spcAft>
                <a:spcPts val="1200"/>
              </a:spcAft>
            </a:pPr>
            <a:r>
              <a:rPr lang="en-US" sz="2200" dirty="0" smtClean="0">
                <a:latin typeface="Helvetica" pitchFamily="34" charset="0"/>
              </a:rPr>
              <a:t>Monitoring must occur</a:t>
            </a:r>
          </a:p>
          <a:p>
            <a:pPr marL="360000" indent="-360000">
              <a:spcBef>
                <a:spcPts val="600"/>
              </a:spcBef>
              <a:spcAft>
                <a:spcPts val="1200"/>
              </a:spcAft>
            </a:pPr>
            <a:r>
              <a:rPr lang="en-US" sz="2200" dirty="0" smtClean="0">
                <a:latin typeface="Helvetica" pitchFamily="34" charset="0"/>
              </a:rPr>
              <a:t>Corrective action needs to be taken where/as necessary on the basis of evidence gathered/monitoring</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93</a:t>
            </a:fld>
            <a:endParaRPr lang="en-US" dirty="0">
              <a:latin typeface="Helvetica" pitchFamily="34" charset="0"/>
            </a:endParaRPr>
          </a:p>
        </p:txBody>
      </p:sp>
      <p:pic>
        <p:nvPicPr>
          <p:cNvPr id="5" name="Picture 4" descr="A16 shutterstock_173793329.jpg"/>
          <p:cNvPicPr/>
          <p:nvPr/>
        </p:nvPicPr>
        <p:blipFill>
          <a:blip r:embed="rId3" cstate="print"/>
          <a:stretch>
            <a:fillRect/>
          </a:stretch>
        </p:blipFill>
        <p:spPr>
          <a:xfrm>
            <a:off x="3347864" y="4221088"/>
            <a:ext cx="2189189" cy="1368152"/>
          </a:xfrm>
          <a:prstGeom prst="rect">
            <a:avLst/>
          </a:prstGeom>
        </p:spPr>
      </p:pic>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332656"/>
            <a:ext cx="7929618" cy="1143000"/>
          </a:xfrm>
        </p:spPr>
        <p:txBody>
          <a:bodyPr>
            <a:normAutofit fontScale="90000"/>
          </a:bodyPr>
          <a:lstStyle/>
          <a:p>
            <a:r>
              <a:rPr lang="en-AU" sz="3400" b="1" dirty="0" smtClean="0">
                <a:solidFill>
                  <a:srgbClr val="FF6600"/>
                </a:solidFill>
                <a:latin typeface="Helvetica" pitchFamily="34" charset="0"/>
              </a:rPr>
              <a:t>Implement and evaluate identified actions in accordance with agreed priorities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Other considerations when implementing policies:</a:t>
            </a:r>
          </a:p>
          <a:p>
            <a:pPr marL="360000" indent="-360000">
              <a:spcBef>
                <a:spcPts val="600"/>
              </a:spcBef>
              <a:spcAft>
                <a:spcPts val="1200"/>
              </a:spcAft>
            </a:pPr>
            <a:r>
              <a:rPr lang="en-US" sz="2200" dirty="0" smtClean="0">
                <a:latin typeface="Helvetica" pitchFamily="34" charset="0"/>
              </a:rPr>
              <a:t>Have management make a statement in support</a:t>
            </a:r>
          </a:p>
          <a:p>
            <a:pPr marL="360000" indent="-360000">
              <a:spcBef>
                <a:spcPts val="600"/>
              </a:spcBef>
              <a:spcAft>
                <a:spcPts val="1200"/>
              </a:spcAft>
            </a:pPr>
            <a:r>
              <a:rPr lang="en-US" sz="2200" dirty="0" smtClean="0">
                <a:latin typeface="Helvetica" pitchFamily="34" charset="0"/>
              </a:rPr>
              <a:t>Ensure all identified/promised resources are available</a:t>
            </a:r>
          </a:p>
          <a:p>
            <a:pPr marL="360000" indent="-360000">
              <a:spcBef>
                <a:spcPts val="600"/>
              </a:spcBef>
              <a:spcAft>
                <a:spcPts val="1200"/>
              </a:spcAft>
            </a:pPr>
            <a:r>
              <a:rPr lang="en-US" sz="2200" dirty="0" smtClean="0">
                <a:latin typeface="Helvetica" pitchFamily="34" charset="0"/>
              </a:rPr>
              <a:t>Confirm necessary notification has taken place</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94</a:t>
            </a:fld>
            <a:endParaRPr lang="en-US" dirty="0">
              <a:latin typeface="Helvetica" pitchFamily="34" charset="0"/>
            </a:endParaRPr>
          </a:p>
        </p:txBody>
      </p:sp>
      <p:pic>
        <p:nvPicPr>
          <p:cNvPr id="5" name="Picture 4" descr="shutterstock_150075068.jpg"/>
          <p:cNvPicPr/>
          <p:nvPr/>
        </p:nvPicPr>
        <p:blipFill>
          <a:blip r:embed="rId3" cstate="print"/>
          <a:stretch>
            <a:fillRect/>
          </a:stretch>
        </p:blipFill>
        <p:spPr>
          <a:xfrm>
            <a:off x="3059832" y="3933056"/>
            <a:ext cx="2641852" cy="1843709"/>
          </a:xfrm>
          <a:prstGeom prst="rect">
            <a:avLst/>
          </a:prstGeom>
        </p:spPr>
      </p:pic>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332656"/>
            <a:ext cx="7929618" cy="1143000"/>
          </a:xfrm>
        </p:spPr>
        <p:txBody>
          <a:bodyPr>
            <a:normAutofit fontScale="90000"/>
          </a:bodyPr>
          <a:lstStyle/>
          <a:p>
            <a:r>
              <a:rPr lang="en-AU" sz="3400" b="1" dirty="0" smtClean="0">
                <a:solidFill>
                  <a:srgbClr val="FF6600"/>
                </a:solidFill>
                <a:latin typeface="Helvetica" pitchFamily="34" charset="0"/>
              </a:rPr>
              <a:t>Implement and evaluate identified actions in accordance with agreed priorities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Adhere to implementation schedule</a:t>
            </a:r>
          </a:p>
          <a:p>
            <a:pPr marL="360000" indent="-360000">
              <a:spcBef>
                <a:spcPts val="600"/>
              </a:spcBef>
              <a:spcAft>
                <a:spcPts val="1200"/>
              </a:spcAft>
            </a:pPr>
            <a:r>
              <a:rPr lang="en-US" sz="2200" dirty="0" smtClean="0">
                <a:latin typeface="Helvetica" pitchFamily="34" charset="0"/>
              </a:rPr>
              <a:t>Be available to advise and assist</a:t>
            </a:r>
          </a:p>
          <a:p>
            <a:pPr marL="360000" indent="-360000">
              <a:spcBef>
                <a:spcPts val="600"/>
              </a:spcBef>
              <a:spcAft>
                <a:spcPts val="1200"/>
              </a:spcAft>
            </a:pPr>
            <a:r>
              <a:rPr lang="en-US" sz="2200" dirty="0" smtClean="0">
                <a:latin typeface="Helvetica" pitchFamily="34" charset="0"/>
              </a:rPr>
              <a:t>Encourage adherence</a:t>
            </a:r>
          </a:p>
          <a:p>
            <a:pPr marL="360000" indent="-360000">
              <a:spcBef>
                <a:spcPts val="600"/>
              </a:spcBef>
              <a:spcAft>
                <a:spcPts val="1200"/>
              </a:spcAft>
            </a:pPr>
            <a:r>
              <a:rPr lang="en-US" sz="2200" dirty="0" smtClean="0">
                <a:latin typeface="Helvetica" pitchFamily="34" charset="0"/>
              </a:rPr>
              <a:t>Verify functional compliance with imposed obligations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95</a:t>
            </a:fld>
            <a:endParaRPr lang="en-US" dirty="0">
              <a:latin typeface="Helvetica" pitchFamily="34" charset="0"/>
            </a:endParaRPr>
          </a:p>
        </p:txBody>
      </p:sp>
      <p:pic>
        <p:nvPicPr>
          <p:cNvPr id="17410" name="Picture 2" descr="I:\Overseas Projects\PHOTOS\2014\Shutterstock 25-a-day\shutterstock_196601204.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02050" y="4005064"/>
            <a:ext cx="1563836" cy="208511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332656"/>
            <a:ext cx="7929618" cy="1143000"/>
          </a:xfrm>
        </p:spPr>
        <p:txBody>
          <a:bodyPr>
            <a:normAutofit fontScale="90000"/>
          </a:bodyPr>
          <a:lstStyle/>
          <a:p>
            <a:r>
              <a:rPr lang="en-AU" sz="3400" b="1" dirty="0" smtClean="0">
                <a:solidFill>
                  <a:srgbClr val="FF6600"/>
                </a:solidFill>
                <a:latin typeface="Helvetica" pitchFamily="34" charset="0"/>
              </a:rPr>
              <a:t>Implement and evaluate identified actions in accordance with agreed priorities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11349"/>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Undertake required administration</a:t>
            </a:r>
          </a:p>
          <a:p>
            <a:pPr marL="360000" indent="-360000">
              <a:spcBef>
                <a:spcPts val="600"/>
              </a:spcBef>
              <a:spcAft>
                <a:spcPts val="1200"/>
              </a:spcAft>
            </a:pPr>
            <a:r>
              <a:rPr lang="en-US" sz="2200" dirty="0" smtClean="0">
                <a:latin typeface="Helvetica" pitchFamily="34" charset="0"/>
              </a:rPr>
              <a:t>Create a supportive environment</a:t>
            </a:r>
          </a:p>
          <a:p>
            <a:pPr marL="360000" indent="-360000">
              <a:spcBef>
                <a:spcPts val="600"/>
              </a:spcBef>
              <a:spcAft>
                <a:spcPts val="1200"/>
              </a:spcAft>
            </a:pPr>
            <a:r>
              <a:rPr lang="en-US" sz="2200" dirty="0" smtClean="0">
                <a:latin typeface="Helvetica" pitchFamily="34" charset="0"/>
              </a:rPr>
              <a:t>Engage with those who are impacted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96</a:t>
            </a:fld>
            <a:endParaRPr lang="en-US" dirty="0">
              <a:latin typeface="Helvetica" pitchFamily="34" charset="0"/>
            </a:endParaRPr>
          </a:p>
        </p:txBody>
      </p:sp>
      <p:pic>
        <p:nvPicPr>
          <p:cNvPr id="5" name="Picture 4" descr="A21 shutterstock_182028425.jpg"/>
          <p:cNvPicPr/>
          <p:nvPr/>
        </p:nvPicPr>
        <p:blipFill>
          <a:blip r:embed="rId3" cstate="print"/>
          <a:stretch>
            <a:fillRect/>
          </a:stretch>
        </p:blipFill>
        <p:spPr>
          <a:xfrm>
            <a:off x="3440064" y="3717031"/>
            <a:ext cx="2520280" cy="1641891"/>
          </a:xfrm>
          <a:prstGeom prst="rect">
            <a:avLst/>
          </a:prstGeom>
        </p:spPr>
      </p:pic>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332656"/>
            <a:ext cx="7929618" cy="1143000"/>
          </a:xfrm>
        </p:spPr>
        <p:txBody>
          <a:bodyPr>
            <a:normAutofit fontScale="90000"/>
          </a:bodyPr>
          <a:lstStyle/>
          <a:p>
            <a:r>
              <a:rPr lang="en-AU" sz="3400" b="1" dirty="0" smtClean="0">
                <a:solidFill>
                  <a:srgbClr val="FF6600"/>
                </a:solidFill>
                <a:latin typeface="Helvetica" pitchFamily="34" charset="0"/>
              </a:rPr>
              <a:t>Implement and evaluate identified actions in accordance with agreed priorities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‘Primary evaluation’ occurs in the first hours, days or weeks of policy implementation.</a:t>
            </a:r>
          </a:p>
          <a:p>
            <a:pPr marL="0" indent="0">
              <a:spcBef>
                <a:spcPts val="600"/>
              </a:spcBef>
              <a:spcAft>
                <a:spcPts val="1200"/>
              </a:spcAft>
              <a:buNone/>
            </a:pPr>
            <a:r>
              <a:rPr lang="en-US" sz="2200" dirty="0" smtClean="0">
                <a:latin typeface="Helvetica" pitchFamily="34" charset="0"/>
              </a:rPr>
              <a:t>This is needed to:</a:t>
            </a:r>
          </a:p>
          <a:p>
            <a:pPr marL="360000" indent="-360000">
              <a:spcBef>
                <a:spcPts val="600"/>
              </a:spcBef>
              <a:spcAft>
                <a:spcPts val="1200"/>
              </a:spcAft>
            </a:pPr>
            <a:r>
              <a:rPr lang="en-AU" sz="2200" dirty="0" smtClean="0">
                <a:latin typeface="Helvetica" pitchFamily="34" charset="0"/>
              </a:rPr>
              <a:t>Demonstrate ongoing management engagement </a:t>
            </a: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Identify any negative outcomes/consequences as soon as possible</a:t>
            </a:r>
          </a:p>
          <a:p>
            <a:pPr marL="360000" indent="-360000">
              <a:spcBef>
                <a:spcPts val="600"/>
              </a:spcBef>
              <a:spcAft>
                <a:spcPts val="1200"/>
              </a:spcAft>
            </a:pPr>
            <a:r>
              <a:rPr lang="en-US" sz="2200" dirty="0" smtClean="0">
                <a:latin typeface="Helvetica" pitchFamily="34" charset="0"/>
              </a:rPr>
              <a:t>Leverage any positive outcomes/results</a:t>
            </a:r>
          </a:p>
          <a:p>
            <a:pPr marL="360000" indent="-360000">
              <a:spcBef>
                <a:spcPts val="600"/>
              </a:spcBef>
              <a:spcAft>
                <a:spcPts val="1200"/>
              </a:spcAft>
            </a:pPr>
            <a:r>
              <a:rPr lang="en-US" sz="2200" dirty="0" smtClean="0">
                <a:latin typeface="Helvetica" pitchFamily="34" charset="0"/>
              </a:rPr>
              <a:t>Identify relevant unexpected factors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97</a:t>
            </a:fld>
            <a:endParaRPr lang="en-US" dirty="0">
              <a:latin typeface="Helvetica" pitchFamily="34" charset="0"/>
            </a:endParaRPr>
          </a:p>
        </p:txBody>
      </p:sp>
      <p:pic>
        <p:nvPicPr>
          <p:cNvPr id="5" name="Picture 4" descr="I:\Overseas Projects\PHOTOS\2014\Shutterstock 25-a-day\shutterstock_159046976.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23108" y="4437112"/>
            <a:ext cx="2052228" cy="1368152"/>
          </a:xfrm>
          <a:prstGeom prst="rect">
            <a:avLst/>
          </a:prstGeom>
          <a:noFill/>
          <a:ln>
            <a:noFill/>
          </a:ln>
        </p:spPr>
      </p:pic>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332656"/>
            <a:ext cx="7929618" cy="1143000"/>
          </a:xfrm>
        </p:spPr>
        <p:txBody>
          <a:bodyPr>
            <a:normAutofit fontScale="90000"/>
          </a:bodyPr>
          <a:lstStyle/>
          <a:p>
            <a:r>
              <a:rPr lang="en-AU" sz="3400" b="1" dirty="0" smtClean="0">
                <a:solidFill>
                  <a:srgbClr val="FF6600"/>
                </a:solidFill>
                <a:latin typeface="Helvetica" pitchFamily="34" charset="0"/>
              </a:rPr>
              <a:t>Implement and evaluate identified actions in accordance with agreed priorities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Activities involved:</a:t>
            </a:r>
          </a:p>
          <a:p>
            <a:pPr marL="360000" indent="-360000">
              <a:spcBef>
                <a:spcPts val="600"/>
              </a:spcBef>
              <a:spcAft>
                <a:spcPts val="1200"/>
              </a:spcAft>
            </a:pPr>
            <a:r>
              <a:rPr lang="en-AU" sz="2200" dirty="0" smtClean="0">
                <a:latin typeface="Helvetica" pitchFamily="34" charset="0"/>
              </a:rPr>
              <a:t>Engaging in personal observation </a:t>
            </a:r>
            <a:endParaRPr lang="en-US"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Analysing documentation</a:t>
            </a:r>
          </a:p>
          <a:p>
            <a:pPr marL="360000" indent="-360000">
              <a:spcBef>
                <a:spcPts val="600"/>
              </a:spcBef>
              <a:spcAft>
                <a:spcPts val="1200"/>
              </a:spcAft>
            </a:pPr>
            <a:r>
              <a:rPr lang="en-AU" sz="2200" dirty="0" smtClean="0">
                <a:latin typeface="Helvetica" pitchFamily="34" charset="0"/>
              </a:rPr>
              <a:t>Meeting with stakeholders</a:t>
            </a:r>
          </a:p>
          <a:p>
            <a:pPr marL="360000" indent="-360000">
              <a:spcBef>
                <a:spcPts val="600"/>
              </a:spcBef>
              <a:spcAft>
                <a:spcPts val="1200"/>
              </a:spcAft>
            </a:pPr>
            <a:r>
              <a:rPr lang="en-AU" sz="2200" dirty="0" smtClean="0">
                <a:latin typeface="Helvetica" pitchFamily="34" charset="0"/>
              </a:rPr>
              <a:t>Reviewing short-term KPIs </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98</a:t>
            </a:fld>
            <a:endParaRPr lang="en-US" dirty="0">
              <a:latin typeface="Helvetica" pitchFamily="34" charset="0"/>
            </a:endParaRPr>
          </a:p>
        </p:txBody>
      </p:sp>
      <p:pic>
        <p:nvPicPr>
          <p:cNvPr id="5" name="Picture 4" descr="I:\Overseas Projects\PHOTOS\2014\Shutterstock 25-a-day\shutterstock_170984318.jpg"/>
          <p:cNvPicPr/>
          <p:nvPr/>
        </p:nvPicPr>
        <p:blipFill rotWithShape="1">
          <a:blip r:embed="rId3" cstate="print">
            <a:extLst>
              <a:ext uri="{28A0092B-C50C-407E-A947-70E740481C1C}">
                <a14:useLocalDpi xmlns:a14="http://schemas.microsoft.com/office/drawing/2010/main" val="0"/>
              </a:ext>
            </a:extLst>
          </a:blip>
          <a:srcRect l="11428" t="8425" r="8572" b="2931"/>
          <a:stretch/>
        </p:blipFill>
        <p:spPr bwMode="auto">
          <a:xfrm>
            <a:off x="6372200" y="2348880"/>
            <a:ext cx="1258570" cy="1813560"/>
          </a:xfrm>
          <a:prstGeom prst="rect">
            <a:avLst/>
          </a:prstGeom>
          <a:noFill/>
          <a:ln>
            <a:noFill/>
          </a:ln>
          <a:extLst>
            <a:ext uri="{53640926-AAD7-44D8-BBD7-CCE9431645EC}">
              <a14:shadowObscured xmlns:a14="http://schemas.microsoft.com/office/drawing/2010/main"/>
            </a:ext>
          </a:extLst>
        </p:spPr>
      </p:pic>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Monitor performance indicators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Timing of monitoring:</a:t>
            </a:r>
          </a:p>
          <a:p>
            <a:pPr marL="360000" indent="-360000">
              <a:spcBef>
                <a:spcPts val="600"/>
              </a:spcBef>
              <a:spcAft>
                <a:spcPts val="1200"/>
              </a:spcAft>
            </a:pPr>
            <a:r>
              <a:rPr lang="en-US" sz="2200" dirty="0" smtClean="0">
                <a:latin typeface="Helvetica" pitchFamily="34" charset="0"/>
              </a:rPr>
              <a:t>‘Primary evaluation’ occurs in first hours, days or weeks</a:t>
            </a:r>
          </a:p>
          <a:p>
            <a:pPr marL="360000" indent="-360000">
              <a:spcBef>
                <a:spcPts val="600"/>
              </a:spcBef>
              <a:spcAft>
                <a:spcPts val="1200"/>
              </a:spcAft>
            </a:pPr>
            <a:r>
              <a:rPr lang="en-US" sz="2200" dirty="0" smtClean="0">
                <a:latin typeface="Helvetica" pitchFamily="34" charset="0"/>
              </a:rPr>
              <a:t>Monitoring of KPIs may occur:</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Monthly</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After 2 or 3 months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At a scheduled date</a:t>
            </a:r>
          </a:p>
          <a:p>
            <a:pPr marL="360000" indent="-360000">
              <a:spcBef>
                <a:spcPts val="600"/>
              </a:spcBef>
              <a:spcAft>
                <a:spcPts val="1200"/>
              </a:spcAft>
            </a:pPr>
            <a:r>
              <a:rPr lang="en-US" sz="2200" dirty="0" smtClean="0">
                <a:latin typeface="Helvetica" pitchFamily="34" charset="0"/>
              </a:rPr>
              <a:t>If primary evaluation identifies problems/issues, other monitoring occurs more often (or earlier)</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99</a:t>
            </a:fld>
            <a:endParaRPr lang="en-US" dirty="0">
              <a:latin typeface="Helvetica" pitchFamily="34" charset="0"/>
            </a:endParaRPr>
          </a:p>
        </p:txBody>
      </p:sp>
      <p:pic>
        <p:nvPicPr>
          <p:cNvPr id="18434" name="Picture 2" descr="I:\Overseas Projects\PHOTOS\2012\Front office 2012\Copy of shutterstock_105269162.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28184" y="2852936"/>
            <a:ext cx="1883247" cy="194399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Monitor performance indicators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KPIs to be evaluated must be the ones identified in the policy – these may relate to:</a:t>
            </a:r>
          </a:p>
          <a:p>
            <a:pPr marL="360000" indent="-360000">
              <a:spcBef>
                <a:spcPts val="600"/>
              </a:spcBef>
              <a:spcAft>
                <a:spcPts val="1200"/>
              </a:spcAft>
            </a:pPr>
            <a:r>
              <a:rPr lang="en-US" sz="2200" dirty="0" smtClean="0">
                <a:latin typeface="Helvetica" pitchFamily="34" charset="0"/>
              </a:rPr>
              <a:t>Sales</a:t>
            </a:r>
          </a:p>
          <a:p>
            <a:pPr marL="360000" indent="-360000">
              <a:spcBef>
                <a:spcPts val="600"/>
              </a:spcBef>
              <a:spcAft>
                <a:spcPts val="1200"/>
              </a:spcAft>
            </a:pPr>
            <a:r>
              <a:rPr lang="en-US" sz="2200" dirty="0" smtClean="0">
                <a:latin typeface="Helvetica" pitchFamily="34" charset="0"/>
              </a:rPr>
              <a:t>ROI</a:t>
            </a:r>
          </a:p>
          <a:p>
            <a:pPr marL="360000" indent="-360000">
              <a:spcBef>
                <a:spcPts val="600"/>
              </a:spcBef>
              <a:spcAft>
                <a:spcPts val="1200"/>
              </a:spcAft>
            </a:pPr>
            <a:r>
              <a:rPr lang="en-US" sz="2200" dirty="0" smtClean="0">
                <a:latin typeface="Helvetica" pitchFamily="34" charset="0"/>
              </a:rPr>
              <a:t>Growth</a:t>
            </a:r>
          </a:p>
          <a:p>
            <a:pPr marL="360000" indent="-360000">
              <a:spcBef>
                <a:spcPts val="600"/>
              </a:spcBef>
              <a:spcAft>
                <a:spcPts val="1200"/>
              </a:spcAft>
            </a:pPr>
            <a:r>
              <a:rPr lang="en-US" sz="2200" dirty="0" smtClean="0">
                <a:latin typeface="Helvetica" pitchFamily="34" charset="0"/>
              </a:rPr>
              <a:t>Profitability</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100</a:t>
            </a:fld>
            <a:endParaRPr lang="en-US" dirty="0">
              <a:latin typeface="Helvetica" pitchFamily="34" charset="0"/>
            </a:endParaRPr>
          </a:p>
        </p:txBody>
      </p:sp>
      <p:pic>
        <p:nvPicPr>
          <p:cNvPr id="5" name="Picture 4" descr="shutterstock_135122642.jpg"/>
          <p:cNvPicPr>
            <a:picLocks noChangeAspect="1"/>
          </p:cNvPicPr>
          <p:nvPr/>
        </p:nvPicPr>
        <p:blipFill>
          <a:blip r:embed="rId3" cstate="print"/>
          <a:stretch>
            <a:fillRect/>
          </a:stretch>
        </p:blipFill>
        <p:spPr>
          <a:xfrm>
            <a:off x="6300192" y="2564904"/>
            <a:ext cx="1742493" cy="1304516"/>
          </a:xfrm>
          <a:prstGeom prst="rect">
            <a:avLst/>
          </a:prstGeom>
        </p:spPr>
      </p:pic>
      <p:pic>
        <p:nvPicPr>
          <p:cNvPr id="19458" name="Picture 2" descr="I:\Overseas Projects\PHOTOS\2014\Shutterstock 25-a-day\shutterstock_187921547.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83968" y="3437371"/>
            <a:ext cx="1838112" cy="137666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Monitor performance indicators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11349"/>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Processes</a:t>
            </a:r>
          </a:p>
          <a:p>
            <a:pPr marL="360000" indent="-360000">
              <a:spcBef>
                <a:spcPts val="600"/>
              </a:spcBef>
              <a:spcAft>
                <a:spcPts val="1200"/>
              </a:spcAft>
            </a:pPr>
            <a:r>
              <a:rPr lang="en-US" sz="2200" dirty="0" smtClean="0">
                <a:latin typeface="Helvetica" pitchFamily="34" charset="0"/>
              </a:rPr>
              <a:t>Personnel</a:t>
            </a:r>
          </a:p>
          <a:p>
            <a:pPr marL="360000" indent="-360000">
              <a:spcBef>
                <a:spcPts val="600"/>
              </a:spcBef>
              <a:spcAft>
                <a:spcPts val="1200"/>
              </a:spcAft>
            </a:pPr>
            <a:r>
              <a:rPr lang="en-US" sz="2200" dirty="0" smtClean="0">
                <a:latin typeface="Helvetica" pitchFamily="34" charset="0"/>
              </a:rPr>
              <a:t>Turnaround times</a:t>
            </a:r>
          </a:p>
          <a:p>
            <a:pPr marL="360000" indent="-360000">
              <a:spcBef>
                <a:spcPts val="600"/>
              </a:spcBef>
              <a:spcAft>
                <a:spcPts val="1200"/>
              </a:spcAft>
            </a:pPr>
            <a:r>
              <a:rPr lang="en-US" sz="2200" dirty="0" smtClean="0">
                <a:latin typeface="Helvetica" pitchFamily="34" charset="0"/>
              </a:rPr>
              <a:t>Output rates</a:t>
            </a:r>
          </a:p>
          <a:p>
            <a:pPr marL="360000" indent="-360000">
              <a:spcBef>
                <a:spcPts val="600"/>
              </a:spcBef>
              <a:spcAft>
                <a:spcPts val="1200"/>
              </a:spcAft>
            </a:pPr>
            <a:r>
              <a:rPr lang="en-US" sz="2200" dirty="0" smtClean="0">
                <a:latin typeface="Helvetica" pitchFamily="34" charset="0"/>
              </a:rPr>
              <a:t>Quality rates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101</a:t>
            </a:fld>
            <a:endParaRPr lang="en-US" dirty="0">
              <a:latin typeface="Helvetica" pitchFamily="34" charset="0"/>
            </a:endParaRPr>
          </a:p>
        </p:txBody>
      </p:sp>
      <p:pic>
        <p:nvPicPr>
          <p:cNvPr id="5" name="Picture 4" descr="W557_control_system_173410952 NH.jpg"/>
          <p:cNvPicPr>
            <a:picLocks noChangeAspect="1"/>
          </p:cNvPicPr>
          <p:nvPr/>
        </p:nvPicPr>
        <p:blipFill>
          <a:blip r:embed="rId3" cstate="print"/>
          <a:stretch>
            <a:fillRect/>
          </a:stretch>
        </p:blipFill>
        <p:spPr>
          <a:xfrm>
            <a:off x="5364088" y="2492896"/>
            <a:ext cx="2339752" cy="1559835"/>
          </a:xfrm>
          <a:prstGeom prst="rect">
            <a:avLst/>
          </a:prstGeom>
        </p:spPr>
      </p:pic>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Monitor performance indicators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Customer feedback</a:t>
            </a:r>
          </a:p>
          <a:p>
            <a:pPr marL="360000" indent="-360000">
              <a:spcBef>
                <a:spcPts val="600"/>
              </a:spcBef>
              <a:spcAft>
                <a:spcPts val="1200"/>
              </a:spcAft>
            </a:pPr>
            <a:r>
              <a:rPr lang="en-US" sz="2200" dirty="0" smtClean="0">
                <a:latin typeface="Helvetica" pitchFamily="34" charset="0"/>
              </a:rPr>
              <a:t>Equipment usage</a:t>
            </a:r>
          </a:p>
          <a:p>
            <a:pPr marL="360000" indent="-360000">
              <a:spcBef>
                <a:spcPts val="600"/>
              </a:spcBef>
              <a:spcAft>
                <a:spcPts val="1200"/>
              </a:spcAft>
            </a:pPr>
            <a:r>
              <a:rPr lang="en-US" sz="2200" dirty="0" smtClean="0">
                <a:latin typeface="Helvetica" pitchFamily="34" charset="0"/>
              </a:rPr>
              <a:t>Lead times and down times</a:t>
            </a:r>
          </a:p>
          <a:p>
            <a:pPr marL="360000" indent="-360000">
              <a:spcBef>
                <a:spcPts val="600"/>
              </a:spcBef>
              <a:spcAft>
                <a:spcPts val="1200"/>
              </a:spcAft>
            </a:pPr>
            <a:r>
              <a:rPr lang="en-US" sz="2200" dirty="0" smtClean="0">
                <a:latin typeface="Helvetica" pitchFamily="34" charset="0"/>
              </a:rPr>
              <a:t>Compliments and complaints</a:t>
            </a:r>
          </a:p>
          <a:p>
            <a:pPr marL="360000" indent="-360000">
              <a:spcBef>
                <a:spcPts val="600"/>
              </a:spcBef>
              <a:spcAft>
                <a:spcPts val="1200"/>
              </a:spcAft>
            </a:pPr>
            <a:r>
              <a:rPr lang="en-US" sz="2200" dirty="0" smtClean="0">
                <a:latin typeface="Helvetica" pitchFamily="34" charset="0"/>
              </a:rPr>
              <a:t>CSI</a:t>
            </a:r>
          </a:p>
          <a:p>
            <a:pPr marL="360000" indent="-360000">
              <a:spcBef>
                <a:spcPts val="600"/>
              </a:spcBef>
              <a:spcAft>
                <a:spcPts val="1200"/>
              </a:spcAft>
            </a:pPr>
            <a:r>
              <a:rPr lang="en-US" sz="2200" dirty="0" smtClean="0">
                <a:latin typeface="Helvetica" pitchFamily="34" charset="0"/>
              </a:rPr>
              <a:t>Debt servicing costs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102</a:t>
            </a:fld>
            <a:endParaRPr lang="en-US" dirty="0">
              <a:latin typeface="Helvetica" pitchFamily="34" charset="0"/>
            </a:endParaRPr>
          </a:p>
        </p:txBody>
      </p:sp>
      <p:pic>
        <p:nvPicPr>
          <p:cNvPr id="6" name="Picture 5" descr="W256_feedback1_shutterstock_92612392.jpg"/>
          <p:cNvPicPr/>
          <p:nvPr/>
        </p:nvPicPr>
        <p:blipFill>
          <a:blip r:embed="rId3" cstate="print"/>
          <a:stretch>
            <a:fillRect/>
          </a:stretch>
        </p:blipFill>
        <p:spPr>
          <a:xfrm>
            <a:off x="6156176" y="2492896"/>
            <a:ext cx="1485900" cy="1485900"/>
          </a:xfrm>
          <a:prstGeom prst="rect">
            <a:avLst/>
          </a:prstGeom>
        </p:spPr>
      </p:pic>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Monitor performance indicators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200" dirty="0" smtClean="0">
                <a:latin typeface="Helvetica" pitchFamily="34" charset="0"/>
              </a:rPr>
              <a:t>Ways to review the relevance and effectiveness of KPI‘s</a:t>
            </a:r>
            <a:r>
              <a:rPr lang="en-US" sz="2200" dirty="0" smtClean="0">
                <a:latin typeface="Helvetica" pitchFamily="34" charset="0"/>
              </a:rPr>
              <a:t>:</a:t>
            </a:r>
          </a:p>
          <a:p>
            <a:pPr marL="360000" indent="-360000">
              <a:spcBef>
                <a:spcPts val="600"/>
              </a:spcBef>
              <a:spcAft>
                <a:spcPts val="1200"/>
              </a:spcAft>
            </a:pPr>
            <a:r>
              <a:rPr lang="en-AU" sz="2200" dirty="0" smtClean="0">
                <a:latin typeface="Helvetica" pitchFamily="34" charset="0"/>
              </a:rPr>
              <a:t>Discussing KPIs with key stakeholders</a:t>
            </a:r>
            <a:endParaRPr lang="en-US"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Reviewing each KPI </a:t>
            </a:r>
          </a:p>
          <a:p>
            <a:pPr marL="360000" indent="-360000">
              <a:spcBef>
                <a:spcPts val="600"/>
              </a:spcBef>
              <a:spcAft>
                <a:spcPts val="1200"/>
              </a:spcAft>
            </a:pPr>
            <a:r>
              <a:rPr lang="en-AU" sz="2200" dirty="0" smtClean="0">
                <a:latin typeface="Helvetica" pitchFamily="34" charset="0"/>
              </a:rPr>
              <a:t>Reviewing 'required level of achievement'</a:t>
            </a:r>
            <a:endParaRPr lang="en-US" sz="2200" dirty="0" smtClean="0">
              <a:latin typeface="Helvetica" pitchFamily="34" charset="0"/>
            </a:endParaRP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103</a:t>
            </a:fld>
            <a:endParaRPr lang="en-US" dirty="0">
              <a:latin typeface="Helvetica" pitchFamily="34" charset="0"/>
            </a:endParaRPr>
          </a:p>
        </p:txBody>
      </p:sp>
      <p:pic>
        <p:nvPicPr>
          <p:cNvPr id="5" name="Picture 4" descr="shutterstock_162154547.jpg"/>
          <p:cNvPicPr/>
          <p:nvPr/>
        </p:nvPicPr>
        <p:blipFill>
          <a:blip r:embed="rId3" cstate="print"/>
          <a:stretch>
            <a:fillRect/>
          </a:stretch>
        </p:blipFill>
        <p:spPr>
          <a:xfrm>
            <a:off x="3491880" y="4437112"/>
            <a:ext cx="2000250" cy="1333500"/>
          </a:xfrm>
          <a:prstGeom prst="rect">
            <a:avLst/>
          </a:prstGeom>
        </p:spPr>
      </p:pic>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Monitor performance indicators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AU" sz="2200" dirty="0" smtClean="0">
                <a:latin typeface="Helvetica" pitchFamily="34" charset="0"/>
              </a:rPr>
              <a:t>Checking level of success against current KPIs</a:t>
            </a:r>
            <a:endParaRPr lang="en-US"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Identifying reasons KPI's have/not been met</a:t>
            </a:r>
          </a:p>
          <a:p>
            <a:pPr marL="360000" indent="-360000">
              <a:spcBef>
                <a:spcPts val="600"/>
              </a:spcBef>
              <a:spcAft>
                <a:spcPts val="1200"/>
              </a:spcAft>
            </a:pPr>
            <a:r>
              <a:rPr lang="en-AU" sz="2200" dirty="0" smtClean="0">
                <a:latin typeface="Helvetica" pitchFamily="34" charset="0"/>
              </a:rPr>
              <a:t>Determine if KPIs need to be amended</a:t>
            </a:r>
          </a:p>
          <a:p>
            <a:pPr marL="360000" indent="-360000">
              <a:spcBef>
                <a:spcPts val="600"/>
              </a:spcBef>
              <a:spcAft>
                <a:spcPts val="1200"/>
              </a:spcAft>
            </a:pPr>
            <a:r>
              <a:rPr lang="en-AU" sz="2200" dirty="0" smtClean="0">
                <a:latin typeface="Helvetica" pitchFamily="34" charset="0"/>
              </a:rPr>
              <a:t>Making recommendations for changes</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104</a:t>
            </a:fld>
            <a:endParaRPr lang="en-US" dirty="0">
              <a:latin typeface="Helvetica" pitchFamily="34" charset="0"/>
            </a:endParaRPr>
          </a:p>
        </p:txBody>
      </p:sp>
      <p:pic>
        <p:nvPicPr>
          <p:cNvPr id="5" name="Picture 4" descr="shutterstock_132318596.jpg"/>
          <p:cNvPicPr/>
          <p:nvPr/>
        </p:nvPicPr>
        <p:blipFill>
          <a:blip r:embed="rId3" cstate="print"/>
          <a:stretch>
            <a:fillRect/>
          </a:stretch>
        </p:blipFill>
        <p:spPr>
          <a:xfrm>
            <a:off x="3419872" y="4149080"/>
            <a:ext cx="2291481" cy="1531987"/>
          </a:xfrm>
          <a:prstGeom prst="rect">
            <a:avLst/>
          </a:prstGeom>
        </p:spPr>
      </p:pic>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332656"/>
            <a:ext cx="8215370" cy="1143000"/>
          </a:xfrm>
        </p:spPr>
        <p:txBody>
          <a:bodyPr>
            <a:normAutofit fontScale="90000"/>
          </a:bodyPr>
          <a:lstStyle/>
          <a:p>
            <a:r>
              <a:rPr lang="en-AU" sz="3400" b="1" dirty="0" smtClean="0">
                <a:solidFill>
                  <a:srgbClr val="FF6600"/>
                </a:solidFill>
                <a:latin typeface="Helvetica" pitchFamily="34" charset="0"/>
              </a:rPr>
              <a:t>Provide progress and other reports in accordance with enterprise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5832648" cy="4525963"/>
          </a:xfrm>
        </p:spPr>
        <p:txBody>
          <a:bodyPr>
            <a:normAutofit/>
          </a:bodyPr>
          <a:lstStyle/>
          <a:p>
            <a:pPr marL="0" indent="0">
              <a:spcBef>
                <a:spcPts val="600"/>
              </a:spcBef>
              <a:spcAft>
                <a:spcPts val="1200"/>
              </a:spcAft>
              <a:buNone/>
            </a:pPr>
            <a:r>
              <a:rPr lang="en-US" sz="2200" dirty="0" smtClean="0">
                <a:latin typeface="Helvetica" pitchFamily="34" charset="0"/>
              </a:rPr>
              <a:t>Basic report requirements – they must:</a:t>
            </a:r>
          </a:p>
          <a:p>
            <a:pPr marL="360000" indent="-360000">
              <a:spcBef>
                <a:spcPts val="600"/>
              </a:spcBef>
              <a:spcAft>
                <a:spcPts val="1200"/>
              </a:spcAft>
            </a:pPr>
            <a:r>
              <a:rPr lang="en-US" sz="2200" dirty="0" smtClean="0">
                <a:latin typeface="Helvetica" pitchFamily="34" charset="0"/>
              </a:rPr>
              <a:t>Be fair and accurate</a:t>
            </a:r>
          </a:p>
          <a:p>
            <a:pPr marL="360000" indent="-360000">
              <a:spcBef>
                <a:spcPts val="600"/>
              </a:spcBef>
              <a:spcAft>
                <a:spcPts val="1200"/>
              </a:spcAft>
            </a:pPr>
            <a:r>
              <a:rPr lang="en-US" sz="2200" dirty="0" smtClean="0">
                <a:latin typeface="Helvetica" pitchFamily="34" charset="0"/>
              </a:rPr>
              <a:t>Be fact-based</a:t>
            </a:r>
          </a:p>
          <a:p>
            <a:pPr marL="360000" indent="-360000">
              <a:spcBef>
                <a:spcPts val="600"/>
              </a:spcBef>
              <a:spcAft>
                <a:spcPts val="1200"/>
              </a:spcAft>
            </a:pPr>
            <a:r>
              <a:rPr lang="en-US" sz="2200" dirty="0" smtClean="0">
                <a:latin typeface="Helvetica" pitchFamily="34" charset="0"/>
              </a:rPr>
              <a:t>Be produced and distributed by date indicated in the policy</a:t>
            </a:r>
          </a:p>
          <a:p>
            <a:pPr marL="360000" indent="-360000">
              <a:spcBef>
                <a:spcPts val="600"/>
              </a:spcBef>
              <a:spcAft>
                <a:spcPts val="1200"/>
              </a:spcAft>
            </a:pPr>
            <a:r>
              <a:rPr lang="en-US" sz="2200" dirty="0" smtClean="0">
                <a:latin typeface="Helvetica" pitchFamily="34" charset="0"/>
              </a:rPr>
              <a:t>Only be released to authorised persons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105</a:t>
            </a:fld>
            <a:endParaRPr lang="en-US" dirty="0">
              <a:latin typeface="Helvetica" pitchFamily="34" charset="0"/>
            </a:endParaRPr>
          </a:p>
        </p:txBody>
      </p:sp>
      <p:pic>
        <p:nvPicPr>
          <p:cNvPr id="5" name="Picture 4" descr="A18 shutterstock_181389116.jpg"/>
          <p:cNvPicPr/>
          <p:nvPr/>
        </p:nvPicPr>
        <p:blipFill>
          <a:blip r:embed="rId3" cstate="print"/>
          <a:stretch>
            <a:fillRect/>
          </a:stretch>
        </p:blipFill>
        <p:spPr>
          <a:xfrm>
            <a:off x="6804248" y="2132856"/>
            <a:ext cx="1287846" cy="1944216"/>
          </a:xfrm>
          <a:prstGeom prst="rect">
            <a:avLst/>
          </a:prstGeom>
        </p:spPr>
      </p:pic>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332656"/>
            <a:ext cx="8215370" cy="1143000"/>
          </a:xfrm>
        </p:spPr>
        <p:txBody>
          <a:bodyPr>
            <a:normAutofit fontScale="90000"/>
          </a:bodyPr>
          <a:lstStyle/>
          <a:p>
            <a:r>
              <a:rPr lang="en-AU" sz="3400" b="1" dirty="0" smtClean="0">
                <a:solidFill>
                  <a:srgbClr val="FF6600"/>
                </a:solidFill>
                <a:latin typeface="Helvetica" pitchFamily="34" charset="0"/>
              </a:rPr>
              <a:t>Provide progress and other reports in accordance with enterprise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83357"/>
            <a:ext cx="7467600" cy="4525963"/>
          </a:xfrm>
        </p:spPr>
        <p:txBody>
          <a:bodyPr>
            <a:normAutofit/>
          </a:bodyPr>
          <a:lstStyle/>
          <a:p>
            <a:pPr marL="0" indent="0">
              <a:spcBef>
                <a:spcPts val="600"/>
              </a:spcBef>
              <a:spcAft>
                <a:spcPts val="1200"/>
              </a:spcAft>
              <a:buNone/>
            </a:pPr>
            <a:r>
              <a:rPr lang="en-US" sz="2200" dirty="0" smtClean="0">
                <a:latin typeface="Helvetica" pitchFamily="34" charset="0"/>
              </a:rPr>
              <a:t>Options for sharing reports/findings:</a:t>
            </a:r>
          </a:p>
          <a:p>
            <a:pPr marL="360000" indent="-360000">
              <a:spcBef>
                <a:spcPts val="600"/>
              </a:spcBef>
              <a:spcAft>
                <a:spcPts val="1200"/>
              </a:spcAft>
            </a:pPr>
            <a:r>
              <a:rPr lang="en-US" sz="2200" dirty="0" smtClean="0">
                <a:latin typeface="Helvetica" pitchFamily="34" charset="0"/>
              </a:rPr>
              <a:t>Holding meetings and briefings</a:t>
            </a:r>
          </a:p>
          <a:p>
            <a:pPr marL="360000" indent="-360000">
              <a:spcBef>
                <a:spcPts val="600"/>
              </a:spcBef>
              <a:spcAft>
                <a:spcPts val="1200"/>
              </a:spcAft>
            </a:pPr>
            <a:r>
              <a:rPr lang="en-US" sz="2200" dirty="0" smtClean="0">
                <a:latin typeface="Helvetica" pitchFamily="34" charset="0"/>
              </a:rPr>
              <a:t>Distributing hard copy information</a:t>
            </a:r>
          </a:p>
          <a:p>
            <a:pPr marL="360000" indent="-360000">
              <a:spcBef>
                <a:spcPts val="600"/>
              </a:spcBef>
              <a:spcAft>
                <a:spcPts val="1200"/>
              </a:spcAft>
            </a:pPr>
            <a:r>
              <a:rPr lang="en-US" sz="2200" dirty="0" smtClean="0">
                <a:latin typeface="Helvetica" pitchFamily="34" charset="0"/>
              </a:rPr>
              <a:t>Sharing via intranet</a:t>
            </a:r>
          </a:p>
          <a:p>
            <a:pPr marL="360000" indent="-360000">
              <a:spcBef>
                <a:spcPts val="600"/>
              </a:spcBef>
              <a:spcAft>
                <a:spcPts val="1200"/>
              </a:spcAft>
            </a:pPr>
            <a:r>
              <a:rPr lang="en-US" sz="2200" dirty="0" smtClean="0">
                <a:latin typeface="Helvetica" pitchFamily="34" charset="0"/>
              </a:rPr>
              <a:t>Providing face-to-face presentations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106</a:t>
            </a:fld>
            <a:endParaRPr lang="en-US" dirty="0">
              <a:latin typeface="Helvetica" pitchFamily="34" charset="0"/>
            </a:endParaRPr>
          </a:p>
        </p:txBody>
      </p:sp>
      <p:pic>
        <p:nvPicPr>
          <p:cNvPr id="21506" name="Picture 2" descr="I:\Overseas Projects\PHOTOS\2014\Shutterstock 25-a-day\shutterstock_55184434.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28184" y="1916832"/>
            <a:ext cx="2044856" cy="136430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shutterstock_133083470.jpg"/>
          <p:cNvPicPr/>
          <p:nvPr/>
        </p:nvPicPr>
        <p:blipFill>
          <a:blip r:embed="rId4" cstate="print"/>
          <a:stretch>
            <a:fillRect/>
          </a:stretch>
        </p:blipFill>
        <p:spPr>
          <a:xfrm>
            <a:off x="6228184" y="3303428"/>
            <a:ext cx="2042996" cy="1349708"/>
          </a:xfrm>
          <a:prstGeom prst="rect">
            <a:avLst/>
          </a:prstGeom>
        </p:spPr>
      </p:pic>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332656"/>
            <a:ext cx="8215370" cy="1143000"/>
          </a:xfrm>
        </p:spPr>
        <p:txBody>
          <a:bodyPr>
            <a:normAutofit fontScale="90000"/>
          </a:bodyPr>
          <a:lstStyle/>
          <a:p>
            <a:r>
              <a:rPr lang="en-AU" sz="3400" b="1" dirty="0" smtClean="0">
                <a:solidFill>
                  <a:srgbClr val="FF6600"/>
                </a:solidFill>
                <a:latin typeface="Helvetica" pitchFamily="34" charset="0"/>
              </a:rPr>
              <a:t>Provide progress and other reports in accordance with enterprise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200" dirty="0" smtClean="0">
                <a:latin typeface="Helvetica" pitchFamily="34" charset="0"/>
              </a:rPr>
              <a:t>Matters which may be highlighted in reports</a:t>
            </a:r>
            <a:r>
              <a:rPr lang="en-US" sz="2200" dirty="0" smtClean="0">
                <a:latin typeface="Helvetica" pitchFamily="34" charset="0"/>
              </a:rPr>
              <a:t>:</a:t>
            </a:r>
          </a:p>
          <a:p>
            <a:pPr marL="360000" indent="-360000">
              <a:spcBef>
                <a:spcPts val="600"/>
              </a:spcBef>
              <a:spcAft>
                <a:spcPts val="1200"/>
              </a:spcAft>
            </a:pPr>
            <a:r>
              <a:rPr lang="en-AU" sz="2200" dirty="0" smtClean="0">
                <a:latin typeface="Helvetica" pitchFamily="34" charset="0"/>
              </a:rPr>
              <a:t>Explaining if the operational policy is working or not </a:t>
            </a:r>
            <a:endParaRPr lang="en-US"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Identifying reasons why it is working or not</a:t>
            </a:r>
          </a:p>
          <a:p>
            <a:pPr marL="360000" indent="-360000">
              <a:spcBef>
                <a:spcPts val="600"/>
              </a:spcBef>
              <a:spcAft>
                <a:spcPts val="1200"/>
              </a:spcAft>
            </a:pPr>
            <a:r>
              <a:rPr lang="en-AU" sz="2200" dirty="0" smtClean="0">
                <a:latin typeface="Helvetica" pitchFamily="34" charset="0"/>
              </a:rPr>
              <a:t>Highlighting significant variations from KPIs/projections</a:t>
            </a:r>
            <a:endParaRPr lang="en-US" sz="2200" dirty="0" smtClean="0">
              <a:latin typeface="Helvetica" pitchFamily="34" charset="0"/>
            </a:endParaRP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107</a:t>
            </a:fld>
            <a:endParaRPr lang="en-US" dirty="0">
              <a:latin typeface="Helvetica" pitchFamily="34" charset="0"/>
            </a:endParaRPr>
          </a:p>
        </p:txBody>
      </p:sp>
      <p:pic>
        <p:nvPicPr>
          <p:cNvPr id="22530" name="Picture 2" descr="I:\Overseas Projects\PHOTOS\2014\Shutterstock 25-a-day\shutterstock_122607490.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03848" y="3933056"/>
            <a:ext cx="3048000" cy="20907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332656"/>
            <a:ext cx="8215370" cy="1143000"/>
          </a:xfrm>
        </p:spPr>
        <p:txBody>
          <a:bodyPr>
            <a:normAutofit fontScale="90000"/>
          </a:bodyPr>
          <a:lstStyle/>
          <a:p>
            <a:r>
              <a:rPr lang="en-AU" sz="3400" b="1" dirty="0" smtClean="0">
                <a:solidFill>
                  <a:srgbClr val="FF6600"/>
                </a:solidFill>
                <a:latin typeface="Helvetica" pitchFamily="34" charset="0"/>
              </a:rPr>
              <a:t>Provide progress and other reports in accordance with enterprise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Focussing on unusual results</a:t>
            </a:r>
          </a:p>
          <a:p>
            <a:pPr marL="360000" indent="-360000">
              <a:spcBef>
                <a:spcPts val="600"/>
              </a:spcBef>
              <a:spcAft>
                <a:spcPts val="1200"/>
              </a:spcAft>
            </a:pPr>
            <a:r>
              <a:rPr lang="en-US" sz="2200" dirty="0" smtClean="0">
                <a:latin typeface="Helvetica" pitchFamily="34" charset="0"/>
              </a:rPr>
              <a:t>Identifying strengths and weaknesses</a:t>
            </a:r>
          </a:p>
          <a:p>
            <a:pPr marL="360000" indent="-360000">
              <a:spcBef>
                <a:spcPts val="600"/>
              </a:spcBef>
              <a:spcAft>
                <a:spcPts val="1200"/>
              </a:spcAft>
            </a:pPr>
            <a:r>
              <a:rPr lang="en-US" sz="2200" dirty="0" smtClean="0">
                <a:latin typeface="Helvetica" pitchFamily="34" charset="0"/>
              </a:rPr>
              <a:t>Providing weaknesses and areas for improvement</a:t>
            </a:r>
          </a:p>
          <a:p>
            <a:pPr marL="360000" indent="-360000">
              <a:spcBef>
                <a:spcPts val="600"/>
              </a:spcBef>
              <a:spcAft>
                <a:spcPts val="1200"/>
              </a:spcAft>
            </a:pPr>
            <a:r>
              <a:rPr lang="en-US" sz="2200" dirty="0" smtClean="0">
                <a:latin typeface="Helvetica" pitchFamily="34" charset="0"/>
              </a:rPr>
              <a:t>Looking at implications of results on projected business performance/activity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108</a:t>
            </a:fld>
            <a:endParaRPr lang="en-US" dirty="0">
              <a:latin typeface="Helvetica" pitchFamily="34" charset="0"/>
            </a:endParaRPr>
          </a:p>
        </p:txBody>
      </p:sp>
      <p:pic>
        <p:nvPicPr>
          <p:cNvPr id="23554" name="Picture 2" descr="I:\Overseas Projects\PHOTOS\2014\Shutterstock 25-a-day\shutterstock_35163262.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16016" y="4474139"/>
            <a:ext cx="2543944" cy="168138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W649_shutterstock_166633730.jpg"/>
          <p:cNvPicPr>
            <a:picLocks noChangeAspect="1"/>
          </p:cNvPicPr>
          <p:nvPr/>
        </p:nvPicPr>
        <p:blipFill>
          <a:blip r:embed="rId4" cstate="print"/>
          <a:stretch>
            <a:fillRect/>
          </a:stretch>
        </p:blipFill>
        <p:spPr>
          <a:xfrm>
            <a:off x="1835696" y="4474139"/>
            <a:ext cx="2520280" cy="1681867"/>
          </a:xfrm>
          <a:prstGeom prst="rect">
            <a:avLst/>
          </a:prstGeom>
        </p:spPr>
      </p:pic>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Make assessment of the need for additional resource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Action taken to provide additional resources must:</a:t>
            </a:r>
          </a:p>
          <a:p>
            <a:pPr marL="360000" indent="-360000">
              <a:spcBef>
                <a:spcPts val="600"/>
              </a:spcBef>
              <a:spcAft>
                <a:spcPts val="1200"/>
              </a:spcAft>
            </a:pPr>
            <a:r>
              <a:rPr lang="en-US" sz="2200" dirty="0" smtClean="0">
                <a:latin typeface="Helvetica" pitchFamily="34" charset="0"/>
              </a:rPr>
              <a:t>Align with higher level plans</a:t>
            </a:r>
          </a:p>
          <a:p>
            <a:pPr marL="360000" indent="-360000">
              <a:spcBef>
                <a:spcPts val="600"/>
              </a:spcBef>
              <a:spcAft>
                <a:spcPts val="1200"/>
              </a:spcAft>
            </a:pPr>
            <a:r>
              <a:rPr lang="en-US" sz="2200" dirty="0" smtClean="0">
                <a:latin typeface="Helvetica" pitchFamily="34" charset="0"/>
              </a:rPr>
              <a:t>Conform to related other organisational policies</a:t>
            </a:r>
          </a:p>
          <a:p>
            <a:pPr marL="360000" indent="-360000">
              <a:spcBef>
                <a:spcPts val="600"/>
              </a:spcBef>
              <a:spcAft>
                <a:spcPts val="1200"/>
              </a:spcAft>
            </a:pPr>
            <a:r>
              <a:rPr lang="en-US" sz="2200" dirty="0" smtClean="0">
                <a:latin typeface="Helvetica" pitchFamily="34" charset="0"/>
              </a:rPr>
              <a:t>Be approved by management</a:t>
            </a:r>
          </a:p>
          <a:p>
            <a:pPr marL="360000" indent="-360000">
              <a:spcBef>
                <a:spcPts val="600"/>
              </a:spcBef>
              <a:spcAft>
                <a:spcPts val="1200"/>
              </a:spcAft>
            </a:pPr>
            <a:r>
              <a:rPr lang="en-US" sz="2200" dirty="0" smtClean="0">
                <a:latin typeface="Helvetica" pitchFamily="34" charset="0"/>
              </a:rPr>
              <a:t>Incorporate necessary flow-on changes to SOPs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109</a:t>
            </a:fld>
            <a:endParaRPr lang="en-US" dirty="0">
              <a:latin typeface="Helvetica" pitchFamily="34" charset="0"/>
            </a:endParaRPr>
          </a:p>
        </p:txBody>
      </p:sp>
      <p:pic>
        <p:nvPicPr>
          <p:cNvPr id="5" name="Picture 4" descr="A13 shutterstock_159583589.jpg"/>
          <p:cNvPicPr/>
          <p:nvPr/>
        </p:nvPicPr>
        <p:blipFill>
          <a:blip r:embed="rId3" cstate="print"/>
          <a:stretch>
            <a:fillRect/>
          </a:stretch>
        </p:blipFill>
        <p:spPr>
          <a:xfrm>
            <a:off x="3851920" y="4725144"/>
            <a:ext cx="2072051" cy="1656184"/>
          </a:xfrm>
          <a:prstGeom prst="rect">
            <a:avLst/>
          </a:prstGeom>
        </p:spPr>
      </p:pic>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Make assessment of the need for additional resource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11349"/>
            <a:ext cx="7467600" cy="4525963"/>
          </a:xfrm>
        </p:spPr>
        <p:txBody>
          <a:bodyPr>
            <a:normAutofit/>
          </a:bodyPr>
          <a:lstStyle/>
          <a:p>
            <a:pPr marL="0" indent="0">
              <a:spcBef>
                <a:spcPts val="600"/>
              </a:spcBef>
              <a:spcAft>
                <a:spcPts val="1200"/>
              </a:spcAft>
              <a:buNone/>
            </a:pPr>
            <a:r>
              <a:rPr lang="en-US" sz="2200" dirty="0" smtClean="0">
                <a:latin typeface="Helvetica" pitchFamily="34" charset="0"/>
              </a:rPr>
              <a:t>Reasons to revise and adjust policies:</a:t>
            </a:r>
          </a:p>
          <a:p>
            <a:pPr marL="360000" indent="-360000">
              <a:spcBef>
                <a:spcPts val="600"/>
              </a:spcBef>
              <a:spcAft>
                <a:spcPts val="1200"/>
              </a:spcAft>
            </a:pPr>
            <a:r>
              <a:rPr lang="en-AU" sz="2200" dirty="0" smtClean="0">
                <a:latin typeface="Helvetica" pitchFamily="34" charset="0"/>
              </a:rPr>
              <a:t>Factor in new and emerging information </a:t>
            </a:r>
            <a:endParaRPr lang="en-US"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Maintain credibility with stakeholders </a:t>
            </a:r>
          </a:p>
          <a:p>
            <a:pPr marL="360000" indent="-360000">
              <a:spcBef>
                <a:spcPts val="600"/>
              </a:spcBef>
              <a:spcAft>
                <a:spcPts val="1200"/>
              </a:spcAft>
            </a:pPr>
            <a:r>
              <a:rPr lang="en-AU" sz="2200" dirty="0" smtClean="0">
                <a:latin typeface="Helvetica" pitchFamily="34" charset="0"/>
              </a:rPr>
              <a:t>Align with internal obligations imposed on managers and/or management teams </a:t>
            </a:r>
            <a:endParaRPr lang="en-US" sz="2200" dirty="0" smtClean="0">
              <a:latin typeface="Helvetica" pitchFamily="34" charset="0"/>
            </a:endParaRP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110</a:t>
            </a:fld>
            <a:endParaRPr lang="en-US" dirty="0">
              <a:latin typeface="Helvetica" pitchFamily="34" charset="0"/>
            </a:endParaRPr>
          </a:p>
        </p:txBody>
      </p:sp>
      <p:pic>
        <p:nvPicPr>
          <p:cNvPr id="5" name="Picture 4" descr="shutterstock_129565649.jpg"/>
          <p:cNvPicPr/>
          <p:nvPr/>
        </p:nvPicPr>
        <p:blipFill>
          <a:blip r:embed="rId3" cstate="print"/>
          <a:stretch>
            <a:fillRect/>
          </a:stretch>
        </p:blipFill>
        <p:spPr>
          <a:xfrm>
            <a:off x="3779912" y="4509120"/>
            <a:ext cx="2214563" cy="1423988"/>
          </a:xfrm>
          <a:prstGeom prst="rect">
            <a:avLst/>
          </a:prstGeom>
        </p:spPr>
      </p:pic>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Make assessment of the need for additional resource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83357"/>
            <a:ext cx="7467600" cy="4525963"/>
          </a:xfrm>
        </p:spPr>
        <p:txBody>
          <a:bodyPr>
            <a:normAutofit/>
          </a:bodyPr>
          <a:lstStyle/>
          <a:p>
            <a:pPr marL="360000" indent="-360000">
              <a:spcBef>
                <a:spcPts val="600"/>
              </a:spcBef>
              <a:spcAft>
                <a:spcPts val="1200"/>
              </a:spcAft>
            </a:pPr>
            <a:r>
              <a:rPr lang="en-AU" sz="2200" dirty="0" smtClean="0">
                <a:latin typeface="Helvetica" pitchFamily="34" charset="0"/>
              </a:rPr>
              <a:t>Exploit positive results</a:t>
            </a:r>
          </a:p>
          <a:p>
            <a:pPr marL="360000" indent="-360000">
              <a:spcBef>
                <a:spcPts val="600"/>
              </a:spcBef>
              <a:spcAft>
                <a:spcPts val="1200"/>
              </a:spcAft>
            </a:pPr>
            <a:r>
              <a:rPr lang="en-AU" sz="2200" dirty="0" smtClean="0">
                <a:latin typeface="Helvetica" pitchFamily="34" charset="0"/>
              </a:rPr>
              <a:t>Demonstrate responsible management </a:t>
            </a:r>
          </a:p>
          <a:p>
            <a:pPr marL="360000" indent="-360000">
              <a:spcBef>
                <a:spcPts val="600"/>
              </a:spcBef>
              <a:spcAft>
                <a:spcPts val="1200"/>
              </a:spcAft>
            </a:pPr>
            <a:r>
              <a:rPr lang="en-AU" sz="2200" dirty="0" smtClean="0">
                <a:latin typeface="Helvetica" pitchFamily="34" charset="0"/>
              </a:rPr>
              <a:t>Prove ongoing engagement with the initiative and/or the policy</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111</a:t>
            </a:fld>
            <a:endParaRPr lang="en-US" dirty="0">
              <a:latin typeface="Helvetica" pitchFamily="34" charset="0"/>
            </a:endParaRPr>
          </a:p>
        </p:txBody>
      </p:sp>
      <p:pic>
        <p:nvPicPr>
          <p:cNvPr id="5" name="Picture 4" descr="shutterstock_140073586.jpg"/>
          <p:cNvPicPr/>
          <p:nvPr/>
        </p:nvPicPr>
        <p:blipFill>
          <a:blip r:embed="rId3" cstate="print"/>
          <a:stretch>
            <a:fillRect/>
          </a:stretch>
        </p:blipFill>
        <p:spPr>
          <a:xfrm>
            <a:off x="3491880" y="3905250"/>
            <a:ext cx="2417973" cy="1611982"/>
          </a:xfrm>
          <a:prstGeom prst="rect">
            <a:avLst/>
          </a:prstGeom>
        </p:spPr>
      </p:pic>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Make assessment of the need for additional resource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11349"/>
            <a:ext cx="7467600" cy="4525963"/>
          </a:xfrm>
        </p:spPr>
        <p:txBody>
          <a:bodyPr>
            <a:normAutofit/>
          </a:bodyPr>
          <a:lstStyle/>
          <a:p>
            <a:pPr marL="0" indent="0">
              <a:spcBef>
                <a:spcPts val="600"/>
              </a:spcBef>
              <a:spcAft>
                <a:spcPts val="1200"/>
              </a:spcAft>
              <a:buNone/>
            </a:pPr>
            <a:r>
              <a:rPr lang="en-US" sz="2200" dirty="0" smtClean="0">
                <a:latin typeface="Helvetica" pitchFamily="34" charset="0"/>
              </a:rPr>
              <a:t>Basic response options:</a:t>
            </a:r>
          </a:p>
          <a:p>
            <a:pPr marL="360000" indent="-360000">
              <a:spcBef>
                <a:spcPts val="600"/>
              </a:spcBef>
              <a:spcAft>
                <a:spcPts val="1200"/>
              </a:spcAft>
            </a:pPr>
            <a:r>
              <a:rPr lang="en-US" sz="2200" dirty="0" smtClean="0">
                <a:latin typeface="Helvetica" pitchFamily="34" charset="0"/>
              </a:rPr>
              <a:t>Do ‘something’ – depending whether outcome is positive or negative (more on later slides)</a:t>
            </a:r>
          </a:p>
          <a:p>
            <a:pPr marL="360000" indent="-360000">
              <a:spcBef>
                <a:spcPts val="600"/>
              </a:spcBef>
              <a:spcAft>
                <a:spcPts val="1200"/>
              </a:spcAft>
            </a:pPr>
            <a:r>
              <a:rPr lang="en-US" sz="2200" dirty="0" smtClean="0">
                <a:latin typeface="Helvetica" pitchFamily="34" charset="0"/>
              </a:rPr>
              <a:t>Do nothing – provided this is a legitimate/reasoned response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112</a:t>
            </a:fld>
            <a:endParaRPr lang="en-US" dirty="0">
              <a:latin typeface="Helvetica" pitchFamily="34" charset="0"/>
            </a:endParaRPr>
          </a:p>
        </p:txBody>
      </p:sp>
      <p:pic>
        <p:nvPicPr>
          <p:cNvPr id="5" name="Picture 4" descr="shutterstock_198825644.jpg"/>
          <p:cNvPicPr>
            <a:picLocks noChangeAspect="1"/>
          </p:cNvPicPr>
          <p:nvPr/>
        </p:nvPicPr>
        <p:blipFill>
          <a:blip r:embed="rId3" cstate="print"/>
          <a:stretch>
            <a:fillRect/>
          </a:stretch>
        </p:blipFill>
        <p:spPr>
          <a:xfrm>
            <a:off x="3275856" y="4032117"/>
            <a:ext cx="2561549" cy="1944216"/>
          </a:xfrm>
          <a:prstGeom prst="rect">
            <a:avLst/>
          </a:prstGeom>
        </p:spPr>
      </p:pic>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When </a:t>
            </a:r>
            <a:r>
              <a:rPr lang="en-AU" sz="2200" dirty="0" smtClean="0">
                <a:latin typeface="Helvetica" pitchFamily="34" charset="0"/>
              </a:rPr>
              <a:t>administering and monitoring operational policy</a:t>
            </a:r>
            <a:r>
              <a:rPr lang="en-US" sz="2200" dirty="0" smtClean="0">
                <a:latin typeface="Helvetica" pitchFamily="34" charset="0"/>
              </a:rPr>
              <a:t>:</a:t>
            </a:r>
          </a:p>
          <a:p>
            <a:pPr>
              <a:spcBef>
                <a:spcPts val="600"/>
              </a:spcBef>
              <a:spcAft>
                <a:spcPts val="1200"/>
              </a:spcAft>
            </a:pPr>
            <a:r>
              <a:rPr lang="en-AU" sz="2200" dirty="0" smtClean="0">
                <a:latin typeface="Helvetica" pitchFamily="34" charset="0"/>
              </a:rPr>
              <a:t>Implement policies strictly in accordance with planned implementation</a:t>
            </a:r>
          </a:p>
          <a:p>
            <a:pPr>
              <a:spcBef>
                <a:spcPts val="600"/>
              </a:spcBef>
              <a:spcAft>
                <a:spcPts val="1200"/>
              </a:spcAft>
            </a:pPr>
            <a:r>
              <a:rPr lang="en-AU" sz="2200" dirty="0" smtClean="0">
                <a:latin typeface="Helvetica" pitchFamily="34" charset="0"/>
              </a:rPr>
              <a:t>Consider generating a plan for implementation</a:t>
            </a:r>
          </a:p>
          <a:p>
            <a:pPr>
              <a:spcBef>
                <a:spcPts val="600"/>
              </a:spcBef>
              <a:spcAft>
                <a:spcPts val="1200"/>
              </a:spcAft>
            </a:pPr>
            <a:r>
              <a:rPr lang="en-AU" sz="2200" dirty="0" smtClean="0">
                <a:latin typeface="Helvetica" pitchFamily="34" charset="0"/>
              </a:rPr>
              <a:t>Decide if a transitional introductory phase is required</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113</a:t>
            </a:fld>
            <a:endParaRPr lang="en-US" dirty="0">
              <a:latin typeface="Helvetica" pitchFamily="34" charset="0"/>
            </a:endParaRPr>
          </a:p>
        </p:txBody>
      </p:sp>
      <p:pic>
        <p:nvPicPr>
          <p:cNvPr id="5" name="Picture 2" descr="I:\Overseas Projects\PHOTOS\2012\Front office 2012\shutterstock_71651842.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91880" y="4221088"/>
            <a:ext cx="1926928" cy="19269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a:spcBef>
                <a:spcPts val="600"/>
              </a:spcBef>
              <a:spcAft>
                <a:spcPts val="1200"/>
              </a:spcAft>
            </a:pPr>
            <a:r>
              <a:rPr lang="en-AU" sz="2200" dirty="0" smtClean="0">
                <a:latin typeface="Helvetica" pitchFamily="34" charset="0"/>
              </a:rPr>
              <a:t>Ensure required/promised resources have been provided to support implementation</a:t>
            </a:r>
          </a:p>
          <a:p>
            <a:pPr>
              <a:spcBef>
                <a:spcPts val="600"/>
              </a:spcBef>
              <a:spcAft>
                <a:spcPts val="1200"/>
              </a:spcAft>
            </a:pPr>
            <a:r>
              <a:rPr lang="en-AU" sz="2200" dirty="0" smtClean="0">
                <a:latin typeface="Helvetica" pitchFamily="34" charset="0"/>
              </a:rPr>
              <a:t>Provide information and/or training to support implementation</a:t>
            </a:r>
          </a:p>
          <a:p>
            <a:pPr>
              <a:spcBef>
                <a:spcPts val="600"/>
              </a:spcBef>
              <a:spcAft>
                <a:spcPts val="1200"/>
              </a:spcAft>
            </a:pPr>
            <a:r>
              <a:rPr lang="en-AU" sz="2200" dirty="0" smtClean="0">
                <a:latin typeface="Helvetica" pitchFamily="34" charset="0"/>
              </a:rPr>
              <a:t>Be prepared to engage in primary evaluation when the policy is introduced</a:t>
            </a:r>
          </a:p>
          <a:p>
            <a:pPr>
              <a:spcBef>
                <a:spcPts val="600"/>
              </a:spcBef>
              <a:spcAft>
                <a:spcPts val="1200"/>
              </a:spcAft>
            </a:pPr>
            <a:r>
              <a:rPr lang="en-AU" sz="2200" dirty="0" smtClean="0">
                <a:latin typeface="Helvetica" pitchFamily="34" charset="0"/>
              </a:rPr>
              <a:t>Follow up primary evaluation with ongoing monitoring activities</a:t>
            </a:r>
          </a:p>
          <a:p>
            <a:pPr marL="360000" indent="-360000">
              <a:spcBef>
                <a:spcPts val="600"/>
              </a:spcBef>
              <a:spcAft>
                <a:spcPts val="600"/>
              </a:spcAft>
              <a:buNone/>
            </a:pPr>
            <a:endParaRPr lang="en-US" sz="2200" dirty="0" smtClean="0">
              <a:latin typeface="Helvetica" pitchFamily="34" charset="0"/>
            </a:endParaRPr>
          </a:p>
          <a:p>
            <a:pPr marL="360000" indent="-360000">
              <a:spcBef>
                <a:spcPts val="600"/>
              </a:spcBef>
              <a:spcAft>
                <a:spcPts val="600"/>
              </a:spcAft>
              <a:buNone/>
            </a:pPr>
            <a:r>
              <a:rPr lang="en-US" sz="2200" dirty="0" smtClean="0">
                <a:latin typeface="Helvetica" pitchFamily="34" charset="0"/>
              </a:rPr>
              <a:t>(Continued)</a:t>
            </a:r>
          </a:p>
          <a:p>
            <a:pPr marL="360000" indent="-360000">
              <a:spcBef>
                <a:spcPts val="600"/>
              </a:spcBef>
              <a:spcAft>
                <a:spcPts val="6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114</a:t>
            </a:fld>
            <a:endParaRPr lang="en-US" dirty="0">
              <a:latin typeface="Helvetica" pitchFamily="34" charset="0"/>
            </a:endParaRPr>
          </a:p>
        </p:txBody>
      </p:sp>
      <p:pic>
        <p:nvPicPr>
          <p:cNvPr id="5" name="Picture 2" descr="I:\Overseas Projects\PHOTOS\2012\Front office 2012\shutterstock_71651842.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22804" y="4653136"/>
            <a:ext cx="1926928" cy="19269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pPr>
            <a:r>
              <a:rPr lang="en-AU" sz="2200" dirty="0" smtClean="0">
                <a:latin typeface="Helvetica" pitchFamily="34" charset="0"/>
              </a:rPr>
              <a:t>Check/evaluate KPIs</a:t>
            </a:r>
          </a:p>
          <a:p>
            <a:pPr>
              <a:spcBef>
                <a:spcPts val="600"/>
              </a:spcBef>
              <a:spcAft>
                <a:spcPts val="1200"/>
              </a:spcAft>
            </a:pPr>
            <a:r>
              <a:rPr lang="en-AU" sz="2200" dirty="0" smtClean="0">
                <a:latin typeface="Helvetica" pitchFamily="34" charset="0"/>
              </a:rPr>
              <a:t>Monitor and evaluate implementation in accordance with plans</a:t>
            </a:r>
          </a:p>
          <a:p>
            <a:pPr>
              <a:spcBef>
                <a:spcPts val="600"/>
              </a:spcBef>
              <a:spcAft>
                <a:spcPts val="1200"/>
              </a:spcAft>
            </a:pPr>
            <a:r>
              <a:rPr lang="en-AU" sz="2200" dirty="0" smtClean="0">
                <a:latin typeface="Helvetica" pitchFamily="34" charset="0"/>
              </a:rPr>
              <a:t>Report on the findings of monitoring activities</a:t>
            </a:r>
          </a:p>
          <a:p>
            <a:pPr>
              <a:spcBef>
                <a:spcPts val="600"/>
              </a:spcBef>
              <a:spcAft>
                <a:spcPts val="1200"/>
              </a:spcAft>
            </a:pPr>
            <a:r>
              <a:rPr lang="en-AU" sz="2200" dirty="0" smtClean="0">
                <a:latin typeface="Helvetica" pitchFamily="34" charset="0"/>
              </a:rPr>
              <a:t>Determine the need for extra or revised resource provision as the policy is implemented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115</a:t>
            </a:fld>
            <a:endParaRPr lang="en-US" dirty="0">
              <a:latin typeface="Helvetica" pitchFamily="34" charset="0"/>
            </a:endParaRPr>
          </a:p>
        </p:txBody>
      </p:sp>
      <p:pic>
        <p:nvPicPr>
          <p:cNvPr id="5" name="Picture 2" descr="I:\Overseas Projects\PHOTOS\2012\Front office 2012\shutterstock_71651842.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51920" y="4576611"/>
            <a:ext cx="1926928" cy="19269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Element 3 – Conduct ongoing evaluations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6336704"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a:t>
            </a:r>
          </a:p>
          <a:p>
            <a:pPr marL="360000" indent="-360000">
              <a:spcBef>
                <a:spcPts val="600"/>
              </a:spcBef>
              <a:spcAft>
                <a:spcPts val="1200"/>
              </a:spcAft>
            </a:pPr>
            <a:r>
              <a:rPr lang="en-AU" sz="2200" dirty="0" smtClean="0">
                <a:latin typeface="Helvetica" pitchFamily="34" charset="0"/>
              </a:rPr>
              <a:t>Review the operational policy to assess effectiveness in the workplace</a:t>
            </a:r>
            <a:endParaRPr lang="en-US"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Monitor performance</a:t>
            </a:r>
          </a:p>
          <a:p>
            <a:pPr marL="360000" indent="-360000">
              <a:spcBef>
                <a:spcPts val="600"/>
              </a:spcBef>
              <a:spcAft>
                <a:spcPts val="1200"/>
              </a:spcAft>
            </a:pPr>
            <a:r>
              <a:rPr lang="en-AU" sz="2200" dirty="0" smtClean="0">
                <a:latin typeface="Helvetica" pitchFamily="34" charset="0"/>
              </a:rPr>
              <a:t>Identify problems and make adjustments accordingly</a:t>
            </a:r>
          </a:p>
          <a:p>
            <a:pPr marL="360000" indent="-360000">
              <a:spcBef>
                <a:spcPts val="600"/>
              </a:spcBef>
              <a:spcAft>
                <a:spcPts val="1200"/>
              </a:spcAft>
            </a:pPr>
            <a:r>
              <a:rPr lang="en-AU" sz="2200" dirty="0" smtClean="0">
                <a:latin typeface="Helvetica" pitchFamily="34" charset="0"/>
              </a:rPr>
              <a:t>Incorporate the results of evaluation into ongoing planning and operational management</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116</a:t>
            </a:fld>
            <a:endParaRPr lang="en-US" dirty="0">
              <a:latin typeface="Helvetica" pitchFamily="34" charset="0"/>
            </a:endParaRPr>
          </a:p>
        </p:txBody>
      </p:sp>
      <p:pic>
        <p:nvPicPr>
          <p:cNvPr id="5" name="Picture 2" descr="C:\Users\danielc\AppData\Local\Microsoft\Windows\Temporary Internet Files\Content.IE5\B95PH30U\MC900432658[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46971" y="2636912"/>
            <a:ext cx="1426468" cy="142646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Review the operational policy to assess effectiveness in the workplace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Standard requirements in relation to the review of operational policies:</a:t>
            </a:r>
          </a:p>
          <a:p>
            <a:pPr marL="360000" indent="-360000">
              <a:spcBef>
                <a:spcPts val="600"/>
              </a:spcBef>
              <a:spcAft>
                <a:spcPts val="1200"/>
              </a:spcAft>
            </a:pPr>
            <a:r>
              <a:rPr lang="en-US" sz="2200" dirty="0" smtClean="0">
                <a:latin typeface="Helvetica" pitchFamily="34" charset="0"/>
              </a:rPr>
              <a:t>Must be reviewed at the ‘Review date’ set in the policy’</a:t>
            </a:r>
          </a:p>
          <a:p>
            <a:pPr marL="360000" indent="-360000">
              <a:spcBef>
                <a:spcPts val="600"/>
              </a:spcBef>
              <a:spcAft>
                <a:spcPts val="1200"/>
              </a:spcAft>
            </a:pPr>
            <a:r>
              <a:rPr lang="en-US" sz="2200" dirty="0" smtClean="0">
                <a:latin typeface="Helvetica" pitchFamily="34" charset="0"/>
              </a:rPr>
              <a:t>Reviewed on some ‘regular’ basis – such as: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Quarterly</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Every 6 months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Annually</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117</a:t>
            </a:fld>
            <a:endParaRPr lang="en-US" dirty="0">
              <a:latin typeface="Helvetica" pitchFamily="34" charset="0"/>
            </a:endParaRPr>
          </a:p>
        </p:txBody>
      </p:sp>
      <p:pic>
        <p:nvPicPr>
          <p:cNvPr id="5" name="Picture 4" descr="W40_calender.jpg"/>
          <p:cNvPicPr/>
          <p:nvPr/>
        </p:nvPicPr>
        <p:blipFill>
          <a:blip r:embed="rId3" cstate="print"/>
          <a:stretch>
            <a:fillRect/>
          </a:stretch>
        </p:blipFill>
        <p:spPr>
          <a:xfrm>
            <a:off x="5940152" y="3717032"/>
            <a:ext cx="2000250" cy="1333500"/>
          </a:xfrm>
          <a:prstGeom prst="rect">
            <a:avLst/>
          </a:prstGeom>
        </p:spPr>
      </p:pic>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Review the operational policy to assess effectiveness in the workplace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11349"/>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Reviewed after a significant event</a:t>
            </a:r>
          </a:p>
          <a:p>
            <a:pPr marL="360000" indent="-360000">
              <a:spcBef>
                <a:spcPts val="600"/>
              </a:spcBef>
              <a:spcAft>
                <a:spcPts val="1200"/>
              </a:spcAft>
            </a:pPr>
            <a:r>
              <a:rPr lang="en-US" sz="2200" dirty="0" smtClean="0">
                <a:latin typeface="Helvetica" pitchFamily="34" charset="0"/>
              </a:rPr>
              <a:t>Reviewed by suitable person/s</a:t>
            </a:r>
          </a:p>
          <a:p>
            <a:pPr marL="360000" indent="-360000">
              <a:spcBef>
                <a:spcPts val="600"/>
              </a:spcBef>
              <a:spcAft>
                <a:spcPts val="1200"/>
              </a:spcAft>
            </a:pPr>
            <a:r>
              <a:rPr lang="en-US" sz="2200" dirty="0" smtClean="0">
                <a:latin typeface="Helvetica" pitchFamily="34" charset="0"/>
              </a:rPr>
              <a:t>Reviewed using a formal plan/process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118</a:t>
            </a:fld>
            <a:endParaRPr lang="en-US" dirty="0">
              <a:latin typeface="Helvetica" pitchFamily="34" charset="0"/>
            </a:endParaRPr>
          </a:p>
        </p:txBody>
      </p:sp>
      <p:pic>
        <p:nvPicPr>
          <p:cNvPr id="5" name="Picture 4" descr="shutterstock_155573669.jpg"/>
          <p:cNvPicPr/>
          <p:nvPr/>
        </p:nvPicPr>
        <p:blipFill>
          <a:blip r:embed="rId3" cstate="print"/>
          <a:stretch>
            <a:fillRect/>
          </a:stretch>
        </p:blipFill>
        <p:spPr>
          <a:xfrm>
            <a:off x="6300192" y="1772816"/>
            <a:ext cx="1537733" cy="1944216"/>
          </a:xfrm>
          <a:prstGeom prst="rect">
            <a:avLst/>
          </a:prstGeom>
        </p:spPr>
      </p:pic>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Review the operational policy to assess effectiveness in the workplace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03778" cy="4525963"/>
          </a:xfrm>
        </p:spPr>
        <p:txBody>
          <a:bodyPr>
            <a:normAutofit/>
          </a:bodyPr>
          <a:lstStyle/>
          <a:p>
            <a:pPr marL="0" indent="0">
              <a:spcBef>
                <a:spcPts val="600"/>
              </a:spcBef>
              <a:spcAft>
                <a:spcPts val="1200"/>
              </a:spcAft>
              <a:buNone/>
            </a:pPr>
            <a:r>
              <a:rPr lang="en-US" sz="2200" dirty="0" smtClean="0">
                <a:latin typeface="Helvetica" pitchFamily="34" charset="0"/>
              </a:rPr>
              <a:t>Issues to address:</a:t>
            </a:r>
          </a:p>
          <a:p>
            <a:pPr marL="360000" indent="-360000">
              <a:spcBef>
                <a:spcPts val="600"/>
              </a:spcBef>
              <a:spcAft>
                <a:spcPts val="1200"/>
              </a:spcAft>
            </a:pPr>
            <a:r>
              <a:rPr lang="en-US" sz="2200" dirty="0" smtClean="0">
                <a:latin typeface="Helvetica" pitchFamily="34" charset="0"/>
              </a:rPr>
              <a:t>What feedback is being received in relation to the policy?</a:t>
            </a:r>
          </a:p>
          <a:p>
            <a:pPr marL="360000" indent="-360000">
              <a:spcBef>
                <a:spcPts val="600"/>
              </a:spcBef>
              <a:spcAft>
                <a:spcPts val="1200"/>
              </a:spcAft>
            </a:pPr>
            <a:r>
              <a:rPr lang="en-US" sz="2200" dirty="0" smtClean="0">
                <a:latin typeface="Helvetica" pitchFamily="34" charset="0"/>
              </a:rPr>
              <a:t>What are comments from customers who are impacted?</a:t>
            </a:r>
          </a:p>
          <a:p>
            <a:pPr marL="360000" indent="-360000">
              <a:spcBef>
                <a:spcPts val="600"/>
              </a:spcBef>
              <a:spcAft>
                <a:spcPts val="1200"/>
              </a:spcAft>
            </a:pPr>
            <a:r>
              <a:rPr lang="en-US" sz="2200" dirty="0" smtClean="0">
                <a:latin typeface="Helvetica" pitchFamily="34" charset="0"/>
              </a:rPr>
              <a:t>Is there genuine compliance?</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119</a:t>
            </a:fld>
            <a:endParaRPr lang="en-US" dirty="0">
              <a:latin typeface="Helvetica" pitchFamily="34" charset="0"/>
            </a:endParaRPr>
          </a:p>
        </p:txBody>
      </p:sp>
      <p:pic>
        <p:nvPicPr>
          <p:cNvPr id="5" name="Picture 4" descr="Assessment checklist.jpg"/>
          <p:cNvPicPr>
            <a:picLocks noChangeAspect="1"/>
          </p:cNvPicPr>
          <p:nvPr/>
        </p:nvPicPr>
        <p:blipFill>
          <a:blip r:embed="rId3" cstate="print"/>
          <a:stretch>
            <a:fillRect/>
          </a:stretch>
        </p:blipFill>
        <p:spPr>
          <a:xfrm>
            <a:off x="3923928" y="4077072"/>
            <a:ext cx="2133600" cy="1600200"/>
          </a:xfrm>
          <a:prstGeom prst="rect">
            <a:avLst/>
          </a:prstGeom>
        </p:spPr>
      </p:pic>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Review the operational policy to assess effectiveness in the workplace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11349"/>
            <a:ext cx="7467600" cy="4525963"/>
          </a:xfrm>
        </p:spPr>
        <p:txBody>
          <a:bodyPr>
            <a:normAutofit/>
          </a:bodyPr>
          <a:lstStyle/>
          <a:p>
            <a:pPr marL="360000" indent="-360000">
              <a:spcBef>
                <a:spcPts val="600"/>
              </a:spcBef>
              <a:spcAft>
                <a:spcPts val="1200"/>
              </a:spcAft>
            </a:pPr>
            <a:r>
              <a:rPr lang="en-AU" sz="2200" dirty="0" smtClean="0">
                <a:latin typeface="Helvetica" pitchFamily="34" charset="0"/>
              </a:rPr>
              <a:t>What impact is being noticed on topics and targets relevant to the policy </a:t>
            </a:r>
          </a:p>
          <a:p>
            <a:pPr marL="360000" indent="-360000">
              <a:spcBef>
                <a:spcPts val="600"/>
              </a:spcBef>
              <a:spcAft>
                <a:spcPts val="1200"/>
              </a:spcAft>
            </a:pPr>
            <a:r>
              <a:rPr lang="en-AU" sz="2200" dirty="0" smtClean="0">
                <a:latin typeface="Helvetica" pitchFamily="34" charset="0"/>
              </a:rPr>
              <a:t>What impact is being noticed on: </a:t>
            </a:r>
            <a:endParaRPr lang="en-US" sz="2200" dirty="0" smtClean="0">
              <a:latin typeface="Helvetica" pitchFamily="34" charset="0"/>
            </a:endParaRP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Cost</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Quality</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Productivity</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Relevant other factors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120</a:t>
            </a:fld>
            <a:endParaRPr lang="en-US" dirty="0">
              <a:latin typeface="Helvetica" pitchFamily="34" charset="0"/>
            </a:endParaRPr>
          </a:p>
        </p:txBody>
      </p:sp>
      <p:pic>
        <p:nvPicPr>
          <p:cNvPr id="5" name="Picture 4" descr="A9 shutterstock_155310890.jpg"/>
          <p:cNvPicPr/>
          <p:nvPr/>
        </p:nvPicPr>
        <p:blipFill>
          <a:blip r:embed="rId3" cstate="print"/>
          <a:stretch>
            <a:fillRect/>
          </a:stretch>
        </p:blipFill>
        <p:spPr>
          <a:xfrm>
            <a:off x="5943600" y="3048000"/>
            <a:ext cx="2161223" cy="1333500"/>
          </a:xfrm>
          <a:prstGeom prst="rect">
            <a:avLst/>
          </a:prstGeom>
        </p:spPr>
      </p:pic>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Review the operational policy to assess effectiveness in the workplace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11349"/>
            <a:ext cx="7467600" cy="4525963"/>
          </a:xfrm>
        </p:spPr>
        <p:txBody>
          <a:bodyPr>
            <a:normAutofit/>
          </a:bodyPr>
          <a:lstStyle/>
          <a:p>
            <a:pPr marL="0" indent="0">
              <a:spcBef>
                <a:spcPts val="600"/>
              </a:spcBef>
              <a:spcAft>
                <a:spcPts val="1200"/>
              </a:spcAft>
              <a:buNone/>
            </a:pPr>
            <a:r>
              <a:rPr lang="en-US" sz="2200" dirty="0" smtClean="0">
                <a:latin typeface="Helvetica" pitchFamily="34" charset="0"/>
              </a:rPr>
              <a:t>Generic reasons to review – to determine:</a:t>
            </a:r>
          </a:p>
          <a:p>
            <a:pPr marL="360000" indent="-360000">
              <a:spcBef>
                <a:spcPts val="600"/>
              </a:spcBef>
              <a:spcAft>
                <a:spcPts val="1200"/>
              </a:spcAft>
            </a:pPr>
            <a:r>
              <a:rPr lang="en-AU" sz="2200" dirty="0" smtClean="0">
                <a:latin typeface="Helvetica" pitchFamily="34" charset="0"/>
              </a:rPr>
              <a:t>If outcomes for policy are actually being achieved</a:t>
            </a:r>
          </a:p>
          <a:p>
            <a:pPr marL="360000" indent="-360000">
              <a:spcBef>
                <a:spcPts val="600"/>
              </a:spcBef>
              <a:spcAft>
                <a:spcPts val="1200"/>
              </a:spcAft>
            </a:pPr>
            <a:r>
              <a:rPr lang="en-AU" sz="2200" dirty="0" smtClean="0">
                <a:latin typeface="Helvetica" pitchFamily="34" charset="0"/>
              </a:rPr>
              <a:t>Changes needed to achieve identified targets/objectives</a:t>
            </a: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Action to take to capitalise on better than expected results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121</a:t>
            </a:fld>
            <a:endParaRPr lang="en-US" dirty="0">
              <a:latin typeface="Helvetica" pitchFamily="34" charset="0"/>
            </a:endParaRPr>
          </a:p>
        </p:txBody>
      </p:sp>
      <p:pic>
        <p:nvPicPr>
          <p:cNvPr id="5" name="Picture 4" descr="I:\Overseas Projects\PHOTOS\2014\Shutterstock 25-a-day\shutterstock_190955519.jpg"/>
          <p:cNvPicPr/>
          <p:nvPr/>
        </p:nvPicPr>
        <p:blipFill rotWithShape="1">
          <a:blip r:embed="rId3" cstate="print">
            <a:extLst>
              <a:ext uri="{28A0092B-C50C-407E-A947-70E740481C1C}">
                <a14:useLocalDpi xmlns:a14="http://schemas.microsoft.com/office/drawing/2010/main" val="0"/>
              </a:ext>
            </a:extLst>
          </a:blip>
          <a:srcRect l="13553" t="14836" r="11350" b="8215"/>
          <a:stretch/>
        </p:blipFill>
        <p:spPr bwMode="auto">
          <a:xfrm>
            <a:off x="3598758" y="4418175"/>
            <a:ext cx="2096135" cy="1431290"/>
          </a:xfrm>
          <a:prstGeom prst="rect">
            <a:avLst/>
          </a:prstGeom>
          <a:noFill/>
          <a:ln>
            <a:noFill/>
          </a:ln>
          <a:extLst>
            <a:ext uri="{53640926-AAD7-44D8-BBD7-CCE9431645EC}">
              <a14:shadowObscured xmlns:a14="http://schemas.microsoft.com/office/drawing/2010/main"/>
            </a:ext>
          </a:extLst>
        </p:spPr>
      </p:pic>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Review the operational policy to assess effectiveness in the workplace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Generally:</a:t>
            </a:r>
          </a:p>
          <a:p>
            <a:pPr marL="360000" indent="-360000">
              <a:spcBef>
                <a:spcPts val="600"/>
              </a:spcBef>
              <a:spcAft>
                <a:spcPts val="1200"/>
              </a:spcAft>
            </a:pPr>
            <a:r>
              <a:rPr lang="en-US" sz="2200" dirty="0" smtClean="0">
                <a:latin typeface="Helvetica" pitchFamily="34" charset="0"/>
              </a:rPr>
              <a:t>’</a:t>
            </a:r>
            <a:r>
              <a:rPr lang="en-AU" sz="2200" dirty="0" smtClean="0">
                <a:latin typeface="Helvetica" pitchFamily="34" charset="0"/>
              </a:rPr>
              <a:t>Satisfactory’ outcomes lead to no action being taken</a:t>
            </a: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Action results from outcomes which are </a:t>
            </a:r>
            <a:r>
              <a:rPr lang="en-US" sz="2200" i="1" dirty="0" smtClean="0">
                <a:latin typeface="Helvetica" pitchFamily="34" charset="0"/>
              </a:rPr>
              <a:t>significantly </a:t>
            </a:r>
            <a:r>
              <a:rPr lang="en-US" sz="2200" dirty="0" smtClean="0">
                <a:latin typeface="Helvetica" pitchFamily="34" charset="0"/>
              </a:rPr>
              <a:t>above or below expectations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122</a:t>
            </a:fld>
            <a:endParaRPr lang="en-US" dirty="0">
              <a:latin typeface="Helvetica" pitchFamily="34" charset="0"/>
            </a:endParaRPr>
          </a:p>
        </p:txBody>
      </p:sp>
      <p:pic>
        <p:nvPicPr>
          <p:cNvPr id="24578" name="Picture 2" descr="I:\Overseas Projects\PHOTOS\2014\Shutterstock 25-a-day\shutterstock_130330712.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47864" y="3711259"/>
            <a:ext cx="3048000" cy="20335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Monitor performance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200" dirty="0" smtClean="0">
                <a:latin typeface="Helvetica" pitchFamily="34" charset="0"/>
              </a:rPr>
              <a:t>Aim of monitoring business performance</a:t>
            </a:r>
            <a:r>
              <a:rPr lang="en-US" sz="2200" dirty="0" smtClean="0">
                <a:latin typeface="Helvetica" pitchFamily="34" charset="0"/>
              </a:rPr>
              <a:t>:</a:t>
            </a:r>
          </a:p>
          <a:p>
            <a:pPr marL="360000" indent="-360000">
              <a:spcBef>
                <a:spcPts val="600"/>
              </a:spcBef>
              <a:spcAft>
                <a:spcPts val="1200"/>
              </a:spcAft>
            </a:pPr>
            <a:r>
              <a:rPr lang="en-AU" sz="2200" dirty="0" smtClean="0">
                <a:latin typeface="Helvetica" pitchFamily="34" charset="0"/>
              </a:rPr>
              <a:t>Identifying policy areas which are adhered to/implemented as required </a:t>
            </a:r>
            <a:endParaRPr lang="en-US"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Rewarding and/or acknowledging compliant behaviour</a:t>
            </a:r>
          </a:p>
          <a:p>
            <a:pPr marL="360000" indent="-360000">
              <a:spcBef>
                <a:spcPts val="600"/>
              </a:spcBef>
              <a:spcAft>
                <a:spcPts val="1200"/>
              </a:spcAft>
            </a:pPr>
            <a:r>
              <a:rPr lang="en-AU" sz="2200" dirty="0" smtClean="0">
                <a:latin typeface="Helvetica" pitchFamily="34" charset="0"/>
              </a:rPr>
              <a:t>Identifying where areas of policy can be improved</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123</a:t>
            </a:fld>
            <a:endParaRPr lang="en-US" dirty="0">
              <a:latin typeface="Helvetica" pitchFamily="34" charset="0"/>
            </a:endParaRPr>
          </a:p>
        </p:txBody>
      </p:sp>
      <p:pic>
        <p:nvPicPr>
          <p:cNvPr id="25602" name="Picture 2" descr="I:\Overseas Projects\PHOTOS\2014\Shutterstock 25-a-day\shutterstock_108055754.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63888" y="4367649"/>
            <a:ext cx="2098526" cy="178374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Monitor performance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6408712" cy="4525963"/>
          </a:xfrm>
        </p:spPr>
        <p:txBody>
          <a:bodyPr>
            <a:normAutofit/>
          </a:bodyPr>
          <a:lstStyle/>
          <a:p>
            <a:pPr marL="0" indent="0">
              <a:spcBef>
                <a:spcPts val="600"/>
              </a:spcBef>
              <a:spcAft>
                <a:spcPts val="1200"/>
              </a:spcAft>
              <a:buNone/>
            </a:pPr>
            <a:r>
              <a:rPr lang="en-US" sz="2200" dirty="0" smtClean="0">
                <a:latin typeface="Helvetica" pitchFamily="34" charset="0"/>
              </a:rPr>
              <a:t>Points to consider:</a:t>
            </a:r>
          </a:p>
          <a:p>
            <a:pPr marL="360000" indent="-360000">
              <a:spcBef>
                <a:spcPts val="600"/>
              </a:spcBef>
              <a:spcAft>
                <a:spcPts val="1200"/>
              </a:spcAft>
            </a:pPr>
            <a:r>
              <a:rPr lang="en-AU" sz="2200" dirty="0" smtClean="0">
                <a:latin typeface="Helvetica" pitchFamily="34" charset="0"/>
              </a:rPr>
              <a:t>Fact-based/real evidence must be generated as a result of the monitoring processes</a:t>
            </a: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Process must be ongoing</a:t>
            </a:r>
          </a:p>
          <a:p>
            <a:pPr marL="360000" indent="-360000">
              <a:spcBef>
                <a:spcPts val="600"/>
              </a:spcBef>
              <a:spcAft>
                <a:spcPts val="1200"/>
              </a:spcAft>
            </a:pPr>
            <a:r>
              <a:rPr lang="en-US" sz="2200" dirty="0" smtClean="0">
                <a:latin typeface="Helvetica" pitchFamily="34" charset="0"/>
              </a:rPr>
              <a:t>Responsibility for monitoring must be allocated</a:t>
            </a:r>
          </a:p>
          <a:p>
            <a:pPr marL="360000" indent="-360000">
              <a:spcBef>
                <a:spcPts val="600"/>
              </a:spcBef>
              <a:spcAft>
                <a:spcPts val="1200"/>
              </a:spcAft>
            </a:pPr>
            <a:r>
              <a:rPr lang="en-US" sz="2200" dirty="0" smtClean="0">
                <a:latin typeface="Helvetica" pitchFamily="34" charset="0"/>
              </a:rPr>
              <a:t>Supporting resources need to be provided</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124</a:t>
            </a:fld>
            <a:endParaRPr lang="en-US" dirty="0">
              <a:latin typeface="Helvetica" pitchFamily="34" charset="0"/>
            </a:endParaRPr>
          </a:p>
        </p:txBody>
      </p:sp>
      <p:pic>
        <p:nvPicPr>
          <p:cNvPr id="5" name="Picture 4" descr="shutterstock_107128706.jpg"/>
          <p:cNvPicPr/>
          <p:nvPr/>
        </p:nvPicPr>
        <p:blipFill>
          <a:blip r:embed="rId3" cstate="print"/>
          <a:stretch>
            <a:fillRect/>
          </a:stretch>
        </p:blipFill>
        <p:spPr>
          <a:xfrm>
            <a:off x="7152821" y="2852936"/>
            <a:ext cx="1781040" cy="1328167"/>
          </a:xfrm>
          <a:prstGeom prst="rect">
            <a:avLst/>
          </a:prstGeom>
        </p:spPr>
      </p:pic>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Monitor performance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Should feature </a:t>
            </a:r>
            <a:r>
              <a:rPr lang="en-AU" sz="2200" dirty="0" smtClean="0">
                <a:latin typeface="Helvetica" pitchFamily="34" charset="0"/>
              </a:rPr>
              <a:t>360˚ feedback</a:t>
            </a:r>
            <a:r>
              <a:rPr lang="en-US" sz="2200" dirty="0" smtClean="0">
                <a:latin typeface="Helvetica" pitchFamily="34" charset="0"/>
              </a:rPr>
              <a:t> </a:t>
            </a:r>
          </a:p>
          <a:p>
            <a:pPr marL="360000" indent="-360000">
              <a:spcBef>
                <a:spcPts val="600"/>
              </a:spcBef>
              <a:spcAft>
                <a:spcPts val="1200"/>
              </a:spcAft>
            </a:pPr>
            <a:r>
              <a:rPr lang="en-US" sz="2200" dirty="0" smtClean="0">
                <a:latin typeface="Helvetica" pitchFamily="34" charset="0"/>
              </a:rPr>
              <a:t>May require training to support actions</a:t>
            </a:r>
          </a:p>
          <a:p>
            <a:pPr marL="360000" indent="-360000">
              <a:spcBef>
                <a:spcPts val="600"/>
              </a:spcBef>
              <a:spcAft>
                <a:spcPts val="1200"/>
              </a:spcAft>
            </a:pPr>
            <a:r>
              <a:rPr lang="en-US" sz="2200" dirty="0" smtClean="0">
                <a:latin typeface="Helvetica" pitchFamily="34" charset="0"/>
              </a:rPr>
              <a:t>Context must be taken into account</a:t>
            </a:r>
          </a:p>
          <a:p>
            <a:pPr marL="360000" indent="-360000">
              <a:spcBef>
                <a:spcPts val="600"/>
              </a:spcBef>
              <a:spcAft>
                <a:spcPts val="1200"/>
              </a:spcAft>
            </a:pPr>
            <a:r>
              <a:rPr lang="en-US" sz="2200" dirty="0" smtClean="0">
                <a:latin typeface="Helvetica" pitchFamily="34" charset="0"/>
              </a:rPr>
              <a:t>Should capture qualitative and quantitative data</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125</a:t>
            </a:fld>
            <a:endParaRPr lang="en-US" dirty="0">
              <a:latin typeface="Helvetica" pitchFamily="34" charset="0"/>
            </a:endParaRPr>
          </a:p>
        </p:txBody>
      </p:sp>
      <p:pic>
        <p:nvPicPr>
          <p:cNvPr id="26626" name="Picture 2" descr="I:\Overseas Projects\PHOTOS\2014\Shutterstock 25-a-day\shutterstock_98512409.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24937"/>
          <a:stretch/>
        </p:blipFill>
        <p:spPr bwMode="auto">
          <a:xfrm>
            <a:off x="3563888" y="4145671"/>
            <a:ext cx="2035349" cy="152779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Monitor performance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AU" sz="2200" dirty="0" smtClean="0">
                <a:latin typeface="Helvetica" pitchFamily="34" charset="0"/>
              </a:rPr>
              <a:t>Process should generate comparative data </a:t>
            </a: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There may not be a need to monitor </a:t>
            </a:r>
            <a:r>
              <a:rPr lang="en-US" sz="2200" b="1" dirty="0" smtClean="0">
                <a:latin typeface="Helvetica" pitchFamily="34" charset="0"/>
              </a:rPr>
              <a:t>all </a:t>
            </a:r>
            <a:r>
              <a:rPr lang="en-US" sz="2200" dirty="0" smtClean="0">
                <a:latin typeface="Helvetica" pitchFamily="34" charset="0"/>
              </a:rPr>
              <a:t>policies</a:t>
            </a:r>
          </a:p>
          <a:p>
            <a:pPr marL="360000" indent="-360000">
              <a:spcBef>
                <a:spcPts val="600"/>
              </a:spcBef>
              <a:spcAft>
                <a:spcPts val="1200"/>
              </a:spcAft>
            </a:pPr>
            <a:r>
              <a:rPr lang="en-AU" sz="2200" dirty="0" smtClean="0">
                <a:latin typeface="Helvetica" pitchFamily="34" charset="0"/>
              </a:rPr>
              <a:t>Effort must be made to identify reasons for results</a:t>
            </a:r>
            <a:endParaRPr lang="en-US" sz="2200" dirty="0" smtClean="0">
              <a:latin typeface="Helvetica" pitchFamily="34" charset="0"/>
            </a:endParaRPr>
          </a:p>
          <a:p>
            <a:pPr marL="360000" indent="-360000">
              <a:spcBef>
                <a:spcPts val="600"/>
              </a:spcBef>
              <a:spcAft>
                <a:spcPts val="1200"/>
              </a:spcAft>
              <a:buNone/>
            </a:pPr>
            <a:r>
              <a:rPr lang="en-US" sz="2200"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126</a:t>
            </a:fld>
            <a:endParaRPr lang="en-US" dirty="0">
              <a:latin typeface="Helvetica" pitchFamily="34" charset="0"/>
            </a:endParaRPr>
          </a:p>
        </p:txBody>
      </p:sp>
      <p:pic>
        <p:nvPicPr>
          <p:cNvPr id="5" name="Picture 4" descr="W112_business_documents_shutterstock_156031889.jpg"/>
          <p:cNvPicPr>
            <a:picLocks noChangeAspect="1"/>
          </p:cNvPicPr>
          <p:nvPr/>
        </p:nvPicPr>
        <p:blipFill>
          <a:blip r:embed="rId3" cstate="print"/>
          <a:stretch>
            <a:fillRect/>
          </a:stretch>
        </p:blipFill>
        <p:spPr>
          <a:xfrm>
            <a:off x="3491880" y="3824187"/>
            <a:ext cx="2323700" cy="1549908"/>
          </a:xfrm>
          <a:prstGeom prst="rect">
            <a:avLst/>
          </a:prstGeom>
        </p:spPr>
      </p:pic>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Monitor performance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20880" cy="4525963"/>
          </a:xfrm>
        </p:spPr>
        <p:txBody>
          <a:bodyPr>
            <a:normAutofit/>
          </a:bodyPr>
          <a:lstStyle/>
          <a:p>
            <a:pPr marL="360000" indent="-360000">
              <a:spcBef>
                <a:spcPts val="600"/>
              </a:spcBef>
              <a:spcAft>
                <a:spcPts val="1200"/>
              </a:spcAft>
            </a:pPr>
            <a:r>
              <a:rPr lang="en-AU" sz="2200" dirty="0" smtClean="0">
                <a:latin typeface="Helvetica" pitchFamily="34" charset="0"/>
              </a:rPr>
              <a:t>The policy being monitored must be seen as part of ‘the bigger picture’</a:t>
            </a:r>
            <a:endParaRPr lang="en-US"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Records should be generated and maintained</a:t>
            </a:r>
            <a:endParaRPr lang="en-US"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Monitoring activity/activities are not an end in themselves</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127</a:t>
            </a:fld>
            <a:endParaRPr lang="en-US" dirty="0">
              <a:latin typeface="Helvetica" pitchFamily="34" charset="0"/>
            </a:endParaRPr>
          </a:p>
        </p:txBody>
      </p:sp>
      <p:pic>
        <p:nvPicPr>
          <p:cNvPr id="27651" name="Picture 3" descr="I:\Overseas Projects\PHOTOS\2012\Front office 2012\Filing cabinet.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91880" y="3772063"/>
            <a:ext cx="1391943" cy="222710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Identify problems and make adjustments accordingly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83357"/>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Taking no action in response to policy monitoring and evaluations is a legitimate response:</a:t>
            </a:r>
          </a:p>
          <a:p>
            <a:pPr marL="360000" indent="-360000">
              <a:spcBef>
                <a:spcPts val="600"/>
              </a:spcBef>
              <a:spcAft>
                <a:spcPts val="1200"/>
              </a:spcAft>
            </a:pPr>
            <a:r>
              <a:rPr lang="en-US" sz="2200" dirty="0" smtClean="0">
                <a:latin typeface="Helvetica" pitchFamily="34" charset="0"/>
              </a:rPr>
              <a:t>If policy is working as required/expected</a:t>
            </a:r>
          </a:p>
          <a:p>
            <a:pPr marL="360000" indent="-360000">
              <a:spcBef>
                <a:spcPts val="600"/>
              </a:spcBef>
              <a:spcAft>
                <a:spcPts val="1200"/>
              </a:spcAft>
            </a:pPr>
            <a:r>
              <a:rPr lang="en-US" sz="2200" dirty="0" smtClean="0">
                <a:latin typeface="Helvetica" pitchFamily="34" charset="0"/>
              </a:rPr>
              <a:t>The results are ‘good enough’</a:t>
            </a:r>
          </a:p>
          <a:p>
            <a:pPr marL="360000" indent="-360000">
              <a:spcBef>
                <a:spcPts val="600"/>
              </a:spcBef>
              <a:spcAft>
                <a:spcPts val="1200"/>
              </a:spcAft>
            </a:pPr>
            <a:r>
              <a:rPr lang="en-US" sz="2200" dirty="0" smtClean="0">
                <a:latin typeface="Helvetica" pitchFamily="34" charset="0"/>
              </a:rPr>
              <a:t>If it is believed more time is needed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128</a:t>
            </a:fld>
            <a:endParaRPr lang="en-US" dirty="0">
              <a:latin typeface="Helvetica" pitchFamily="34" charset="0"/>
            </a:endParaRPr>
          </a:p>
        </p:txBody>
      </p:sp>
      <p:pic>
        <p:nvPicPr>
          <p:cNvPr id="1026" name="Picture 2" descr="I:\Overseas Projects\PHOTOS\2014\Cindy's photos\Dollarphotoclub_62396177.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04248" y="2492896"/>
            <a:ext cx="1996493" cy="137758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Identify problems and make adjustments accordingly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11349"/>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Possible responses to positive outcomes:</a:t>
            </a:r>
          </a:p>
          <a:p>
            <a:pPr marL="360000" indent="-360000">
              <a:spcBef>
                <a:spcPts val="600"/>
              </a:spcBef>
              <a:spcAft>
                <a:spcPts val="1200"/>
              </a:spcAft>
            </a:pPr>
            <a:r>
              <a:rPr lang="en-AU" sz="2200" dirty="0" smtClean="0">
                <a:latin typeface="Helvetica" pitchFamily="34" charset="0"/>
              </a:rPr>
              <a:t>Reviewing and revising policies </a:t>
            </a:r>
            <a:endParaRPr lang="en-US"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Endorsing the existing policies</a:t>
            </a:r>
          </a:p>
          <a:p>
            <a:pPr marL="360000" indent="-360000">
              <a:spcBef>
                <a:spcPts val="600"/>
              </a:spcBef>
              <a:spcAft>
                <a:spcPts val="1200"/>
              </a:spcAft>
            </a:pPr>
            <a:r>
              <a:rPr lang="en-AU" sz="2200" dirty="0" smtClean="0">
                <a:latin typeface="Helvetica" pitchFamily="34" charset="0"/>
              </a:rPr>
              <a:t>Producing revised/enhanced targets for outcomes </a:t>
            </a:r>
            <a:endParaRPr lang="en-US" sz="2200" dirty="0" smtClean="0">
              <a:latin typeface="Helvetica" pitchFamily="34" charset="0"/>
            </a:endParaRP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129</a:t>
            </a:fld>
            <a:endParaRPr lang="en-US" dirty="0">
              <a:latin typeface="Helvetica" pitchFamily="34" charset="0"/>
            </a:endParaRPr>
          </a:p>
        </p:txBody>
      </p:sp>
      <p:pic>
        <p:nvPicPr>
          <p:cNvPr id="2050" name="Picture 2" descr="I:\Overseas Projects\PHOTOS\2014\Cindy's photos\stockfresh_2324721_portrait-of-a-business-team-having-a-meeting_sizeX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9872" y="4564616"/>
            <a:ext cx="2416090" cy="16680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Identify problems and make adjustments accordingly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83357"/>
            <a:ext cx="7467600" cy="4525963"/>
          </a:xfrm>
        </p:spPr>
        <p:txBody>
          <a:bodyPr>
            <a:normAutofit/>
          </a:bodyPr>
          <a:lstStyle/>
          <a:p>
            <a:pPr marL="360000" indent="-360000">
              <a:spcBef>
                <a:spcPts val="600"/>
              </a:spcBef>
              <a:spcAft>
                <a:spcPts val="1200"/>
              </a:spcAft>
            </a:pPr>
            <a:r>
              <a:rPr lang="en-AU" sz="2200" dirty="0" smtClean="0">
                <a:latin typeface="Helvetica" pitchFamily="34" charset="0"/>
              </a:rPr>
              <a:t>Continuing support for initiatives /elements which have generated these results – in terms of:</a:t>
            </a:r>
            <a:endParaRPr lang="en-US" sz="2200" dirty="0" smtClean="0">
              <a:latin typeface="Helvetica" pitchFamily="34" charset="0"/>
            </a:endParaRP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Funding</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Moral support</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Other resources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130</a:t>
            </a:fld>
            <a:endParaRPr lang="en-US" dirty="0">
              <a:latin typeface="Helvetica" pitchFamily="34" charset="0"/>
            </a:endParaRPr>
          </a:p>
        </p:txBody>
      </p:sp>
      <p:pic>
        <p:nvPicPr>
          <p:cNvPr id="3074" name="Picture 2" descr="I:\Overseas Projects\PHOTOS\2014\Cindy's photos\Dollarphotoclub_33743489.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22294" y="2780928"/>
            <a:ext cx="2592020" cy="172819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Identify problems and make adjustments accordingly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83357"/>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Transferring lessons learned</a:t>
            </a:r>
          </a:p>
          <a:p>
            <a:pPr marL="360000" indent="-360000">
              <a:spcBef>
                <a:spcPts val="600"/>
              </a:spcBef>
              <a:spcAft>
                <a:spcPts val="1200"/>
              </a:spcAft>
            </a:pPr>
            <a:r>
              <a:rPr lang="en-US" sz="2200" dirty="0" smtClean="0">
                <a:latin typeface="Helvetica" pitchFamily="34" charset="0"/>
              </a:rPr>
              <a:t>Promoting success</a:t>
            </a:r>
          </a:p>
          <a:p>
            <a:pPr marL="360000" indent="-360000">
              <a:spcBef>
                <a:spcPts val="600"/>
              </a:spcBef>
              <a:spcAft>
                <a:spcPts val="1200"/>
              </a:spcAft>
            </a:pPr>
            <a:r>
              <a:rPr lang="en-US" sz="2200" dirty="0" smtClean="0">
                <a:latin typeface="Helvetica" pitchFamily="34" charset="0"/>
              </a:rPr>
              <a:t>Developing associated policies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131</a:t>
            </a:fld>
            <a:endParaRPr lang="en-US" dirty="0">
              <a:latin typeface="Helvetica" pitchFamily="34" charset="0"/>
            </a:endParaRPr>
          </a:p>
        </p:txBody>
      </p:sp>
      <p:pic>
        <p:nvPicPr>
          <p:cNvPr id="4098" name="Picture 2" descr="I:\Overseas Projects\PHOTOS\2014\Cindy's photos\Dollarphotoclub_33754970.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40152" y="1916832"/>
            <a:ext cx="2181932" cy="145477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Identify problems and make adjustments accordingly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Possible responses to negative outcomes:</a:t>
            </a:r>
          </a:p>
          <a:p>
            <a:pPr marL="360000" indent="-360000">
              <a:spcBef>
                <a:spcPts val="600"/>
              </a:spcBef>
              <a:spcAft>
                <a:spcPts val="1200"/>
              </a:spcAft>
            </a:pPr>
            <a:r>
              <a:rPr lang="en-AU" sz="2200" dirty="0" smtClean="0">
                <a:latin typeface="Helvetica" pitchFamily="34" charset="0"/>
              </a:rPr>
              <a:t>Holding a formal enquiry into the outcomes </a:t>
            </a:r>
            <a:endParaRPr lang="en-US"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Conducting additional or different </a:t>
            </a:r>
            <a:r>
              <a:rPr lang="en-AU" sz="2200" i="1" dirty="0" smtClean="0">
                <a:latin typeface="Helvetica" pitchFamily="34" charset="0"/>
              </a:rPr>
              <a:t>research</a:t>
            </a:r>
          </a:p>
          <a:p>
            <a:pPr marL="360000" indent="-360000">
              <a:spcBef>
                <a:spcPts val="600"/>
              </a:spcBef>
              <a:spcAft>
                <a:spcPts val="1200"/>
              </a:spcAft>
            </a:pPr>
            <a:r>
              <a:rPr lang="en-AU" sz="2200" dirty="0" smtClean="0">
                <a:latin typeface="Helvetica" pitchFamily="34" charset="0"/>
              </a:rPr>
              <a:t>Undertaking different data </a:t>
            </a:r>
            <a:r>
              <a:rPr lang="en-AU" sz="2200" i="1" dirty="0" smtClean="0">
                <a:latin typeface="Helvetica" pitchFamily="34" charset="0"/>
              </a:rPr>
              <a:t>analysis </a:t>
            </a:r>
            <a:r>
              <a:rPr lang="en-AU" sz="2200" dirty="0" smtClean="0">
                <a:latin typeface="Helvetica" pitchFamily="34" charset="0"/>
              </a:rPr>
              <a:t>techniques</a:t>
            </a:r>
            <a:endParaRPr lang="en-US" sz="2200" dirty="0" smtClean="0">
              <a:latin typeface="Helvetica" pitchFamily="34" charset="0"/>
            </a:endParaRP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132</a:t>
            </a:fld>
            <a:endParaRPr lang="en-US" dirty="0">
              <a:latin typeface="Helvetica" pitchFamily="34" charset="0"/>
            </a:endParaRPr>
          </a:p>
        </p:txBody>
      </p:sp>
      <p:pic>
        <p:nvPicPr>
          <p:cNvPr id="5122" name="Picture 2" descr="I:\Overseas Projects\PHOTOS\2014\Cindy's photos\Dollarphotoclub_34000777.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760" r="6059"/>
          <a:stretch/>
        </p:blipFill>
        <p:spPr bwMode="auto">
          <a:xfrm>
            <a:off x="2771800" y="4055395"/>
            <a:ext cx="3122377" cy="189234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Identify problems and make adjustments accordingly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11349"/>
            <a:ext cx="7467600" cy="4525963"/>
          </a:xfrm>
        </p:spPr>
        <p:txBody>
          <a:bodyPr>
            <a:normAutofit/>
          </a:bodyPr>
          <a:lstStyle/>
          <a:p>
            <a:pPr marL="360000" indent="-360000">
              <a:spcBef>
                <a:spcPts val="600"/>
              </a:spcBef>
              <a:spcAft>
                <a:spcPts val="1200"/>
              </a:spcAft>
            </a:pPr>
            <a:r>
              <a:rPr lang="en-AU" sz="2200" dirty="0" smtClean="0">
                <a:latin typeface="Helvetica" pitchFamily="34" charset="0"/>
              </a:rPr>
              <a:t>Reviewing and revising policies</a:t>
            </a:r>
            <a:endParaRPr lang="en-US"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Providing more training to participants</a:t>
            </a:r>
          </a:p>
          <a:p>
            <a:pPr marL="360000" indent="-360000">
              <a:spcBef>
                <a:spcPts val="600"/>
              </a:spcBef>
              <a:spcAft>
                <a:spcPts val="1200"/>
              </a:spcAft>
            </a:pPr>
            <a:r>
              <a:rPr lang="en-AU" sz="2200" dirty="0" smtClean="0">
                <a:latin typeface="Helvetica" pitchFamily="34" charset="0"/>
              </a:rPr>
              <a:t>Conducting more or different promotion of the policy</a:t>
            </a:r>
            <a:endParaRPr lang="en-US" sz="2200" dirty="0" smtClean="0">
              <a:latin typeface="Helvetica" pitchFamily="34" charset="0"/>
            </a:endParaRP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133</a:t>
            </a:fld>
            <a:endParaRPr lang="en-US" dirty="0">
              <a:latin typeface="Helvetica" pitchFamily="34" charset="0"/>
            </a:endParaRPr>
          </a:p>
        </p:txBody>
      </p:sp>
      <p:pic>
        <p:nvPicPr>
          <p:cNvPr id="6146" name="Picture 2" descr="I:\Overseas Projects\PHOTOS\2014\Cindy's photos\Dollarphotoclub_33926604.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75856" y="4077072"/>
            <a:ext cx="2483377" cy="165543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Identify problems and make adjustments accordingly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83357"/>
            <a:ext cx="7467600" cy="4525963"/>
          </a:xfrm>
        </p:spPr>
        <p:txBody>
          <a:bodyPr>
            <a:normAutofit/>
          </a:bodyPr>
          <a:lstStyle/>
          <a:p>
            <a:pPr marL="360000" indent="-360000">
              <a:spcBef>
                <a:spcPts val="600"/>
              </a:spcBef>
              <a:spcAft>
                <a:spcPts val="1200"/>
              </a:spcAft>
            </a:pPr>
            <a:r>
              <a:rPr lang="en-AU" sz="2200" dirty="0" smtClean="0">
                <a:latin typeface="Helvetica" pitchFamily="34" charset="0"/>
              </a:rPr>
              <a:t>Apologising and explaining the outcomes </a:t>
            </a:r>
          </a:p>
          <a:p>
            <a:pPr marL="360000" indent="-360000">
              <a:spcBef>
                <a:spcPts val="600"/>
              </a:spcBef>
              <a:spcAft>
                <a:spcPts val="1200"/>
              </a:spcAft>
            </a:pPr>
            <a:r>
              <a:rPr lang="en-AU" sz="2200" dirty="0" smtClean="0">
                <a:latin typeface="Helvetica" pitchFamily="34" charset="0"/>
              </a:rPr>
              <a:t>Accepting the outcomes and being satisfied with the less-than-expected results</a:t>
            </a:r>
          </a:p>
          <a:p>
            <a:pPr marL="360000" indent="-360000">
              <a:spcBef>
                <a:spcPts val="600"/>
              </a:spcBef>
              <a:spcAft>
                <a:spcPts val="1200"/>
              </a:spcAft>
            </a:pPr>
            <a:r>
              <a:rPr lang="en-AU" sz="2200" dirty="0" smtClean="0">
                <a:latin typeface="Helvetica" pitchFamily="34" charset="0"/>
              </a:rPr>
              <a:t>Abolishing the policy</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134</a:t>
            </a:fld>
            <a:endParaRPr lang="en-US" dirty="0">
              <a:latin typeface="Helvetica" pitchFamily="34" charset="0"/>
            </a:endParaRPr>
          </a:p>
        </p:txBody>
      </p:sp>
      <p:pic>
        <p:nvPicPr>
          <p:cNvPr id="7170" name="Picture 2" descr="I:\Overseas Projects\PHOTOS\2014\Cindy's photos\Dollarphotoclub_63970798.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75856" y="4100092"/>
            <a:ext cx="2489418" cy="16533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4234" y="332656"/>
            <a:ext cx="8358246" cy="1143000"/>
          </a:xfrm>
        </p:spPr>
        <p:txBody>
          <a:bodyPr>
            <a:normAutofit/>
          </a:bodyPr>
          <a:lstStyle/>
          <a:p>
            <a:r>
              <a:rPr lang="en-AU" sz="3400" b="1" dirty="0" smtClean="0">
                <a:solidFill>
                  <a:srgbClr val="FF6600"/>
                </a:solidFill>
                <a:latin typeface="Helvetica" pitchFamily="34" charset="0"/>
              </a:rPr>
              <a:t>Incorporate results of evaluation into planning and operational management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11349"/>
            <a:ext cx="7467600" cy="4525963"/>
          </a:xfrm>
        </p:spPr>
        <p:txBody>
          <a:bodyPr>
            <a:normAutofit/>
          </a:bodyPr>
          <a:lstStyle/>
          <a:p>
            <a:pPr marL="0" indent="0">
              <a:spcBef>
                <a:spcPts val="600"/>
              </a:spcBef>
              <a:spcAft>
                <a:spcPts val="1200"/>
              </a:spcAft>
              <a:buNone/>
            </a:pPr>
            <a:r>
              <a:rPr lang="en-AU" sz="2200" dirty="0" smtClean="0">
                <a:latin typeface="Helvetica" pitchFamily="34" charset="0"/>
              </a:rPr>
              <a:t>Non-negotiable elements/considerations – all action taken: </a:t>
            </a:r>
            <a:endParaRPr lang="en-US"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Must feature collaboration with stakeholders</a:t>
            </a:r>
          </a:p>
          <a:p>
            <a:pPr marL="360000" indent="-360000">
              <a:spcBef>
                <a:spcPts val="600"/>
              </a:spcBef>
              <a:spcAft>
                <a:spcPts val="1200"/>
              </a:spcAft>
            </a:pPr>
            <a:r>
              <a:rPr lang="en-AU" sz="2200" dirty="0" smtClean="0">
                <a:latin typeface="Helvetica" pitchFamily="34" charset="0"/>
              </a:rPr>
              <a:t>Must be based on fact and evidence-based analysis</a:t>
            </a:r>
          </a:p>
          <a:p>
            <a:pPr marL="360000" indent="-360000">
              <a:spcBef>
                <a:spcPts val="600"/>
              </a:spcBef>
              <a:spcAft>
                <a:spcPts val="1200"/>
              </a:spcAft>
            </a:pPr>
            <a:r>
              <a:rPr lang="en-AU" sz="2200" dirty="0" smtClean="0">
                <a:latin typeface="Helvetica" pitchFamily="34" charset="0"/>
              </a:rPr>
              <a:t>Need to generate improvement to current situation</a:t>
            </a:r>
          </a:p>
          <a:p>
            <a:pPr marL="360000" indent="-360000">
              <a:spcBef>
                <a:spcPts val="600"/>
              </a:spcBef>
              <a:spcAft>
                <a:spcPts val="1200"/>
              </a:spcAft>
            </a:pPr>
            <a:r>
              <a:rPr lang="en-AU" sz="2200" dirty="0" smtClean="0">
                <a:latin typeface="Helvetica" pitchFamily="34" charset="0"/>
              </a:rPr>
              <a:t>Must address identified need and/or deficiencies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135</a:t>
            </a:fld>
            <a:endParaRPr lang="en-US" dirty="0">
              <a:latin typeface="Helvetica" pitchFamily="34" charset="0"/>
            </a:endParaRPr>
          </a:p>
        </p:txBody>
      </p:sp>
      <p:pic>
        <p:nvPicPr>
          <p:cNvPr id="8194" name="Picture 2" descr="I:\Overseas Projects\PHOTOS\2014\Cindy's photos\Dollarphotoclub_71587354.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4899" t="6540" r="7946"/>
          <a:stretch/>
        </p:blipFill>
        <p:spPr bwMode="auto">
          <a:xfrm>
            <a:off x="3491880" y="4797152"/>
            <a:ext cx="2222259" cy="158854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4234" y="332656"/>
            <a:ext cx="8358246" cy="1143000"/>
          </a:xfrm>
        </p:spPr>
        <p:txBody>
          <a:bodyPr>
            <a:normAutofit/>
          </a:bodyPr>
          <a:lstStyle/>
          <a:p>
            <a:r>
              <a:rPr lang="en-AU" sz="3400" b="1" dirty="0" smtClean="0">
                <a:solidFill>
                  <a:srgbClr val="FF6600"/>
                </a:solidFill>
                <a:latin typeface="Helvetica" pitchFamily="34" charset="0"/>
              </a:rPr>
              <a:t>Incorporate results of evaluation into planning and operational management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60784" y="1783357"/>
            <a:ext cx="5811416" cy="4525963"/>
          </a:xfrm>
        </p:spPr>
        <p:txBody>
          <a:bodyPr>
            <a:normAutofit/>
          </a:bodyPr>
          <a:lstStyle/>
          <a:p>
            <a:pPr marL="360000" indent="-360000">
              <a:spcBef>
                <a:spcPts val="600"/>
              </a:spcBef>
              <a:spcAft>
                <a:spcPts val="1200"/>
              </a:spcAft>
            </a:pPr>
            <a:r>
              <a:rPr lang="en-AU" sz="2200" dirty="0" smtClean="0">
                <a:latin typeface="Helvetica" pitchFamily="34" charset="0"/>
              </a:rPr>
              <a:t>Have to be cost-effective</a:t>
            </a:r>
          </a:p>
          <a:p>
            <a:pPr marL="360000" indent="-360000">
              <a:spcBef>
                <a:spcPts val="600"/>
              </a:spcBef>
              <a:spcAft>
                <a:spcPts val="1200"/>
              </a:spcAft>
            </a:pPr>
            <a:r>
              <a:rPr lang="en-AU" sz="2200" dirty="0" smtClean="0">
                <a:latin typeface="Helvetica" pitchFamily="34" charset="0"/>
              </a:rPr>
              <a:t>Must be viable, legal and practical</a:t>
            </a:r>
          </a:p>
          <a:p>
            <a:pPr marL="360000" indent="-360000">
              <a:spcBef>
                <a:spcPts val="600"/>
              </a:spcBef>
              <a:spcAft>
                <a:spcPts val="1200"/>
              </a:spcAft>
            </a:pPr>
            <a:r>
              <a:rPr lang="en-AU" sz="2200" dirty="0" smtClean="0">
                <a:latin typeface="Helvetica" pitchFamily="34" charset="0"/>
              </a:rPr>
              <a:t>Must feature use of version control protocols</a:t>
            </a:r>
          </a:p>
          <a:p>
            <a:r>
              <a:rPr lang="en-AU" sz="2200" dirty="0" smtClean="0">
                <a:latin typeface="Helvetica" pitchFamily="34" charset="0"/>
              </a:rPr>
              <a:t>Must be approved by management</a:t>
            </a:r>
          </a:p>
          <a:p>
            <a:pPr marL="360000" indent="-360000">
              <a:spcBef>
                <a:spcPts val="600"/>
              </a:spcBef>
              <a:spcAft>
                <a:spcPts val="1200"/>
              </a:spcAft>
              <a:buNone/>
            </a:pPr>
            <a:endParaRPr lang="en-US" sz="2200" dirty="0"/>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136</a:t>
            </a:fld>
            <a:endParaRPr lang="en-US" dirty="0">
              <a:latin typeface="Helvetica" pitchFamily="34" charset="0"/>
            </a:endParaRPr>
          </a:p>
        </p:txBody>
      </p:sp>
      <p:pic>
        <p:nvPicPr>
          <p:cNvPr id="5" name="Picture 4" descr="shutterstock_107128706.jpg"/>
          <p:cNvPicPr/>
          <p:nvPr/>
        </p:nvPicPr>
        <p:blipFill>
          <a:blip r:embed="rId3" cstate="print"/>
          <a:stretch>
            <a:fillRect/>
          </a:stretch>
        </p:blipFill>
        <p:spPr>
          <a:xfrm>
            <a:off x="6011119" y="2420888"/>
            <a:ext cx="2274399" cy="1512168"/>
          </a:xfrm>
          <a:prstGeom prst="rect">
            <a:avLst/>
          </a:prstGeom>
        </p:spPr>
      </p:pic>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4234" y="332656"/>
            <a:ext cx="8358246" cy="1143000"/>
          </a:xfrm>
        </p:spPr>
        <p:txBody>
          <a:bodyPr>
            <a:normAutofit/>
          </a:bodyPr>
          <a:lstStyle/>
          <a:p>
            <a:r>
              <a:rPr lang="en-AU" sz="3400" b="1" dirty="0" smtClean="0">
                <a:solidFill>
                  <a:srgbClr val="FF6600"/>
                </a:solidFill>
                <a:latin typeface="Helvetica" pitchFamily="34" charset="0"/>
              </a:rPr>
              <a:t>Incorporate results of evaluation into planning and operational management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11349"/>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Practical actions may include:</a:t>
            </a:r>
          </a:p>
          <a:p>
            <a:pPr marL="360000" indent="-360000">
              <a:spcBef>
                <a:spcPts val="600"/>
              </a:spcBef>
              <a:spcAft>
                <a:spcPts val="1200"/>
              </a:spcAft>
            </a:pPr>
            <a:r>
              <a:rPr lang="en-US" sz="2200" dirty="0" smtClean="0">
                <a:latin typeface="Helvetica" pitchFamily="34" charset="0"/>
              </a:rPr>
              <a:t>Re-writing existing policies</a:t>
            </a:r>
          </a:p>
          <a:p>
            <a:pPr marL="360000" indent="-360000">
              <a:spcBef>
                <a:spcPts val="600"/>
              </a:spcBef>
              <a:spcAft>
                <a:spcPts val="1200"/>
              </a:spcAft>
            </a:pPr>
            <a:r>
              <a:rPr lang="en-US" sz="2200" dirty="0" smtClean="0">
                <a:latin typeface="Helvetica" pitchFamily="34" charset="0"/>
              </a:rPr>
              <a:t>Circulating drafts for comment</a:t>
            </a:r>
          </a:p>
          <a:p>
            <a:pPr marL="360000" indent="-360000">
              <a:spcBef>
                <a:spcPts val="600"/>
              </a:spcBef>
              <a:spcAft>
                <a:spcPts val="1200"/>
              </a:spcAft>
            </a:pPr>
            <a:r>
              <a:rPr lang="en-US" sz="2200" dirty="0" smtClean="0">
                <a:latin typeface="Helvetica" pitchFamily="34" charset="0"/>
              </a:rPr>
              <a:t>Scrapping old/unsatisfactory policies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137</a:t>
            </a:fld>
            <a:endParaRPr lang="en-US" dirty="0">
              <a:latin typeface="Helvetica" pitchFamily="34" charset="0"/>
            </a:endParaRPr>
          </a:p>
        </p:txBody>
      </p:sp>
      <p:pic>
        <p:nvPicPr>
          <p:cNvPr id="9218" name="Picture 2" descr="I:\Overseas Projects\PHOTOS\2014\Cindy's photos\Dollarphotoclub_62074765.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09684" y="2178280"/>
            <a:ext cx="2051719" cy="153875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4234" y="332656"/>
            <a:ext cx="8358246" cy="1143000"/>
          </a:xfrm>
        </p:spPr>
        <p:txBody>
          <a:bodyPr>
            <a:normAutofit/>
          </a:bodyPr>
          <a:lstStyle/>
          <a:p>
            <a:r>
              <a:rPr lang="en-AU" sz="3400" b="1" dirty="0" smtClean="0">
                <a:solidFill>
                  <a:srgbClr val="FF6600"/>
                </a:solidFill>
                <a:latin typeface="Helvetica" pitchFamily="34" charset="0"/>
              </a:rPr>
              <a:t>Incorporate results of evaluation into planning and operational management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783357"/>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Deleting dated/irrelevant policies</a:t>
            </a:r>
          </a:p>
          <a:p>
            <a:pPr marL="360000" indent="-360000">
              <a:spcBef>
                <a:spcPts val="600"/>
              </a:spcBef>
              <a:spcAft>
                <a:spcPts val="1200"/>
              </a:spcAft>
            </a:pPr>
            <a:r>
              <a:rPr lang="en-US" sz="2200" dirty="0" smtClean="0">
                <a:latin typeface="Helvetica" pitchFamily="34" charset="0"/>
              </a:rPr>
              <a:t>Applying applicable QC procedures</a:t>
            </a:r>
          </a:p>
          <a:p>
            <a:pPr marL="360000" indent="-360000">
              <a:spcBef>
                <a:spcPts val="600"/>
              </a:spcBef>
              <a:spcAft>
                <a:spcPts val="1200"/>
              </a:spcAft>
            </a:pPr>
            <a:r>
              <a:rPr lang="en-US" sz="2200" dirty="0" smtClean="0">
                <a:latin typeface="Helvetica" pitchFamily="34" charset="0"/>
              </a:rPr>
              <a:t>Introducing new policies</a:t>
            </a:r>
          </a:p>
          <a:p>
            <a:pPr marL="360000" indent="-360000">
              <a:spcBef>
                <a:spcPts val="600"/>
              </a:spcBef>
              <a:spcAft>
                <a:spcPts val="1200"/>
              </a:spcAft>
            </a:pPr>
            <a:r>
              <a:rPr lang="en-US" sz="2200" dirty="0" smtClean="0">
                <a:latin typeface="Helvetica" pitchFamily="34" charset="0"/>
              </a:rPr>
              <a:t>Promoting awareness of policies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138</a:t>
            </a:fld>
            <a:endParaRPr lang="en-US" dirty="0">
              <a:latin typeface="Helvetica" pitchFamily="34" charset="0"/>
            </a:endParaRPr>
          </a:p>
        </p:txBody>
      </p:sp>
      <p:pic>
        <p:nvPicPr>
          <p:cNvPr id="10242" name="Picture 2" descr="I:\Overseas Projects\PHOTOS\2014\Shutterstock 25-a-day\shutterstock_146630210.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56176" y="2276872"/>
            <a:ext cx="2076314" cy="138529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4234" y="332656"/>
            <a:ext cx="8358246" cy="1143000"/>
          </a:xfrm>
        </p:spPr>
        <p:txBody>
          <a:bodyPr>
            <a:normAutofit/>
          </a:bodyPr>
          <a:lstStyle/>
          <a:p>
            <a:r>
              <a:rPr lang="en-AU" sz="3400" b="1" dirty="0" smtClean="0">
                <a:solidFill>
                  <a:srgbClr val="FF6600"/>
                </a:solidFill>
                <a:latin typeface="Helvetica" pitchFamily="34" charset="0"/>
              </a:rPr>
              <a:t>Incorporate results of evaluation into planning and operational management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783357"/>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Enhancing level of compliance</a:t>
            </a:r>
          </a:p>
          <a:p>
            <a:pPr marL="360000" indent="-360000">
              <a:spcBef>
                <a:spcPts val="600"/>
              </a:spcBef>
              <a:spcAft>
                <a:spcPts val="1200"/>
              </a:spcAft>
            </a:pPr>
            <a:r>
              <a:rPr lang="en-US" sz="2200" dirty="0" smtClean="0">
                <a:latin typeface="Helvetica" pitchFamily="34" charset="0"/>
              </a:rPr>
              <a:t>Updating databases with new/revised policies</a:t>
            </a:r>
          </a:p>
          <a:p>
            <a:pPr marL="360000" indent="-360000">
              <a:spcBef>
                <a:spcPts val="600"/>
              </a:spcBef>
              <a:spcAft>
                <a:spcPts val="1200"/>
              </a:spcAft>
            </a:pPr>
            <a:r>
              <a:rPr lang="en-US" sz="2200" dirty="0" smtClean="0">
                <a:latin typeface="Helvetica" pitchFamily="34" charset="0"/>
              </a:rPr>
              <a:t>Incorporating policies into SOPs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139</a:t>
            </a:fld>
            <a:endParaRPr lang="en-US" dirty="0">
              <a:latin typeface="Helvetica" pitchFamily="34" charset="0"/>
            </a:endParaRPr>
          </a:p>
        </p:txBody>
      </p:sp>
      <p:pic>
        <p:nvPicPr>
          <p:cNvPr id="11266" name="Picture 2" descr="I:\Overseas Projects\PHOTOS\2014\Shutterstock 25-a-day\shutterstock_138129767.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47864" y="4100850"/>
            <a:ext cx="2471936" cy="164409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358246" cy="1143000"/>
          </a:xfrm>
        </p:spPr>
        <p:txBody>
          <a:bodyPr>
            <a:normAutofit/>
          </a:bodyPr>
          <a:lstStyle/>
          <a:p>
            <a:r>
              <a:rPr lang="en-AU" sz="3400" b="1" dirty="0" smtClean="0">
                <a:solidFill>
                  <a:srgbClr val="FF6600"/>
                </a:solidFill>
                <a:latin typeface="Helvetica" pitchFamily="34" charset="0"/>
              </a:rPr>
              <a:t>Incorporate results of evaluation into planning and operational management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5400600" cy="4525963"/>
          </a:xfrm>
        </p:spPr>
        <p:txBody>
          <a:bodyPr>
            <a:normAutofit/>
          </a:bodyPr>
          <a:lstStyle/>
          <a:p>
            <a:pPr marL="360000" indent="-360000">
              <a:spcBef>
                <a:spcPts val="600"/>
              </a:spcBef>
              <a:spcAft>
                <a:spcPts val="1200"/>
              </a:spcAft>
            </a:pPr>
            <a:r>
              <a:rPr lang="en-US" sz="2200" dirty="0" smtClean="0">
                <a:latin typeface="Helvetica" pitchFamily="34" charset="0"/>
              </a:rPr>
              <a:t>Circulating hard copies</a:t>
            </a:r>
          </a:p>
          <a:p>
            <a:pPr marL="360000" indent="-360000">
              <a:spcBef>
                <a:spcPts val="600"/>
              </a:spcBef>
              <a:spcAft>
                <a:spcPts val="1200"/>
              </a:spcAft>
            </a:pPr>
            <a:r>
              <a:rPr lang="en-US" sz="2200" dirty="0" smtClean="0">
                <a:latin typeface="Helvetica" pitchFamily="34" charset="0"/>
              </a:rPr>
              <a:t>Preparing new/revised accompanying SOPs</a:t>
            </a:r>
          </a:p>
          <a:p>
            <a:pPr marL="360000" indent="-360000">
              <a:spcBef>
                <a:spcPts val="600"/>
              </a:spcBef>
              <a:spcAft>
                <a:spcPts val="1200"/>
              </a:spcAft>
            </a:pPr>
            <a:r>
              <a:rPr lang="en-US" sz="2200" dirty="0" smtClean="0">
                <a:latin typeface="Helvetica" pitchFamily="34" charset="0"/>
              </a:rPr>
              <a:t>Making formal presentations</a:t>
            </a:r>
          </a:p>
          <a:p>
            <a:pPr marL="360000" indent="-360000">
              <a:spcBef>
                <a:spcPts val="600"/>
              </a:spcBef>
              <a:spcAft>
                <a:spcPts val="1200"/>
              </a:spcAft>
            </a:pPr>
            <a:r>
              <a:rPr lang="en-US" sz="2200" dirty="0" smtClean="0">
                <a:latin typeface="Helvetica" pitchFamily="34" charset="0"/>
              </a:rPr>
              <a:t>Revising records management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140</a:t>
            </a:fld>
            <a:endParaRPr lang="en-US" dirty="0">
              <a:latin typeface="Helvetica" pitchFamily="34" charset="0"/>
            </a:endParaRPr>
          </a:p>
        </p:txBody>
      </p:sp>
      <p:pic>
        <p:nvPicPr>
          <p:cNvPr id="12290" name="Picture 2" descr="I:\Overseas Projects\PHOTOS\2014\Shutterstock 25-a-day\shutterstock_177291365.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00192" y="2420888"/>
            <a:ext cx="2022526" cy="134940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3</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When </a:t>
            </a:r>
            <a:r>
              <a:rPr lang="en-AU" sz="2200" dirty="0" smtClean="0">
                <a:latin typeface="Helvetica" pitchFamily="34" charset="0"/>
              </a:rPr>
              <a:t>conducting ongoing evaluation</a:t>
            </a:r>
            <a:r>
              <a:rPr lang="en-US" sz="2200" dirty="0" smtClean="0">
                <a:latin typeface="Helvetica" pitchFamily="34" charset="0"/>
              </a:rPr>
              <a:t>:</a:t>
            </a:r>
          </a:p>
          <a:p>
            <a:pPr>
              <a:spcBef>
                <a:spcPts val="600"/>
              </a:spcBef>
              <a:spcAft>
                <a:spcPts val="600"/>
              </a:spcAft>
            </a:pPr>
            <a:r>
              <a:rPr lang="en-AU" sz="2200" dirty="0" smtClean="0">
                <a:latin typeface="Helvetica" pitchFamily="34" charset="0"/>
              </a:rPr>
              <a:t>Review policies in accordance with scheduled evaluation dates/times</a:t>
            </a:r>
          </a:p>
          <a:p>
            <a:pPr>
              <a:spcBef>
                <a:spcPts val="600"/>
              </a:spcBef>
              <a:spcAft>
                <a:spcPts val="600"/>
              </a:spcAft>
            </a:pPr>
            <a:r>
              <a:rPr lang="en-AU" sz="2200" dirty="0" smtClean="0">
                <a:latin typeface="Helvetica" pitchFamily="34" charset="0"/>
              </a:rPr>
              <a:t>Focus on determining effectiveness of the policies</a:t>
            </a:r>
          </a:p>
          <a:p>
            <a:pPr>
              <a:spcBef>
                <a:spcPts val="600"/>
              </a:spcBef>
              <a:spcAft>
                <a:spcPts val="600"/>
              </a:spcAft>
            </a:pPr>
            <a:r>
              <a:rPr lang="en-AU" sz="2200" dirty="0" smtClean="0">
                <a:latin typeface="Helvetica" pitchFamily="34" charset="0"/>
              </a:rPr>
              <a:t>Engage with policy users and those impacted by the policies</a:t>
            </a: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141</a:t>
            </a:fld>
            <a:endParaRPr lang="en-US" dirty="0">
              <a:latin typeface="Helvetica" pitchFamily="34" charset="0"/>
            </a:endParaRPr>
          </a:p>
        </p:txBody>
      </p:sp>
      <p:pic>
        <p:nvPicPr>
          <p:cNvPr id="5" name="Picture 2" descr="I:\Overseas Projects\PHOTOS\2012\Front office 2012\shutterstock_71651842.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63888" y="4293096"/>
            <a:ext cx="1782912" cy="178291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3</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pPr>
            <a:r>
              <a:rPr lang="en-AU" sz="2200" dirty="0" smtClean="0">
                <a:latin typeface="Helvetica" pitchFamily="34" charset="0"/>
              </a:rPr>
              <a:t>Follow a formal plan/process</a:t>
            </a:r>
          </a:p>
          <a:p>
            <a:pPr>
              <a:spcBef>
                <a:spcPts val="600"/>
              </a:spcBef>
              <a:spcAft>
                <a:spcPts val="1200"/>
              </a:spcAft>
            </a:pPr>
            <a:r>
              <a:rPr lang="en-AU" sz="2200" dirty="0" smtClean="0">
                <a:latin typeface="Helvetica" pitchFamily="34" charset="0"/>
              </a:rPr>
              <a:t>Be prepared to take action where required/as necessary</a:t>
            </a:r>
          </a:p>
          <a:p>
            <a:pPr>
              <a:spcBef>
                <a:spcPts val="600"/>
              </a:spcBef>
              <a:spcAft>
                <a:spcPts val="1200"/>
              </a:spcAft>
            </a:pPr>
            <a:r>
              <a:rPr lang="en-AU" sz="2200" dirty="0" smtClean="0">
                <a:latin typeface="Helvetica" pitchFamily="34" charset="0"/>
              </a:rPr>
              <a:t>Realise taking no action is sometimes is an acceptable response to some evaluations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142</a:t>
            </a:fld>
            <a:endParaRPr lang="en-US" dirty="0">
              <a:latin typeface="Helvetica" pitchFamily="34" charset="0"/>
            </a:endParaRPr>
          </a:p>
        </p:txBody>
      </p:sp>
      <p:pic>
        <p:nvPicPr>
          <p:cNvPr id="5" name="Picture 2" descr="I:\Overseas Projects\PHOTOS\2012\Front office 2012\shutterstock_71651842.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19872" y="4077072"/>
            <a:ext cx="1926928" cy="19269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3</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pPr>
            <a:r>
              <a:rPr lang="en-AU" sz="2200" dirty="0" smtClean="0">
                <a:latin typeface="Helvetica" pitchFamily="34" charset="0"/>
              </a:rPr>
              <a:t>Continue to focus on organisational performance during the evaluation</a:t>
            </a:r>
          </a:p>
          <a:p>
            <a:pPr>
              <a:spcBef>
                <a:spcPts val="600"/>
              </a:spcBef>
              <a:spcAft>
                <a:spcPts val="1200"/>
              </a:spcAft>
            </a:pPr>
            <a:r>
              <a:rPr lang="en-AU" sz="2200" dirty="0" smtClean="0">
                <a:latin typeface="Helvetica" pitchFamily="34" charset="0"/>
              </a:rPr>
              <a:t>Reward/acknowledge compliant behaviour</a:t>
            </a:r>
          </a:p>
          <a:p>
            <a:pPr>
              <a:spcBef>
                <a:spcPts val="600"/>
              </a:spcBef>
              <a:spcAft>
                <a:spcPts val="1200"/>
              </a:spcAft>
            </a:pPr>
            <a:r>
              <a:rPr lang="en-AU" sz="2200" dirty="0" smtClean="0">
                <a:latin typeface="Helvetica" pitchFamily="34" charset="0"/>
              </a:rPr>
              <a:t>Generate cumulative data to use as the basis for the evaluation</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143</a:t>
            </a:fld>
            <a:endParaRPr lang="en-US" dirty="0">
              <a:latin typeface="Helvetica" pitchFamily="34" charset="0"/>
            </a:endParaRPr>
          </a:p>
        </p:txBody>
      </p:sp>
      <p:pic>
        <p:nvPicPr>
          <p:cNvPr id="5" name="Picture 2" descr="I:\Overseas Projects\PHOTOS\2012\Front office 2012\shutterstock_71651842.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75856" y="4005064"/>
            <a:ext cx="1926928" cy="19269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3</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pPr>
            <a:r>
              <a:rPr lang="en-AU" sz="2200" dirty="0" smtClean="0">
                <a:latin typeface="Helvetica" pitchFamily="34" charset="0"/>
              </a:rPr>
              <a:t>Capture objective evidence to use in the evaluation process</a:t>
            </a:r>
          </a:p>
          <a:p>
            <a:pPr>
              <a:spcBef>
                <a:spcPts val="600"/>
              </a:spcBef>
              <a:spcAft>
                <a:spcPts val="1200"/>
              </a:spcAft>
            </a:pPr>
            <a:r>
              <a:rPr lang="en-AU" sz="2200" dirty="0" smtClean="0">
                <a:latin typeface="Helvetica" pitchFamily="34" charset="0"/>
              </a:rPr>
              <a:t>Identify problems based on actual proof</a:t>
            </a:r>
          </a:p>
          <a:p>
            <a:pPr>
              <a:spcBef>
                <a:spcPts val="600"/>
              </a:spcBef>
              <a:spcAft>
                <a:spcPts val="1200"/>
              </a:spcAft>
            </a:pPr>
            <a:r>
              <a:rPr lang="en-AU" sz="2200" dirty="0" smtClean="0">
                <a:latin typeface="Helvetica" pitchFamily="34" charset="0"/>
              </a:rPr>
              <a:t>Respond to the causes of positive and negative outcomes</a:t>
            </a:r>
          </a:p>
          <a:p>
            <a:pPr>
              <a:spcBef>
                <a:spcPts val="600"/>
              </a:spcBef>
              <a:spcAft>
                <a:spcPts val="1200"/>
              </a:spcAft>
            </a:pPr>
            <a:r>
              <a:rPr lang="en-AU" sz="2200" dirty="0" smtClean="0">
                <a:latin typeface="Helvetica" pitchFamily="34" charset="0"/>
              </a:rPr>
              <a:t>Factor in lessons learned from the evaluations into ongoing planning and operational management</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144</a:t>
            </a:fld>
            <a:endParaRPr lang="en-US" dirty="0">
              <a:latin typeface="Helvetica" pitchFamily="34" charset="0"/>
            </a:endParaRPr>
          </a:p>
        </p:txBody>
      </p:sp>
      <p:pic>
        <p:nvPicPr>
          <p:cNvPr id="5" name="Picture 2" descr="I:\Overseas Projects\PHOTOS\2012\Front office 2012\shutterstock_71651842.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79912" y="4869160"/>
            <a:ext cx="1368152" cy="136815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PPT_Tour_operation_templates_130214">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PPT_Tour_operation_templates_130214</Template>
  <TotalTime>1337</TotalTime>
  <Words>18458</Words>
  <Application>Microsoft Office PowerPoint</Application>
  <PresentationFormat>On-screen Show (4:3)</PresentationFormat>
  <Paragraphs>2366</Paragraphs>
  <Slides>144</Slides>
  <Notes>144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144</vt:i4>
      </vt:variant>
    </vt:vector>
  </HeadingPairs>
  <TitlesOfParts>
    <vt:vector size="150" baseType="lpstr">
      <vt:lpstr>Arial</vt:lpstr>
      <vt:lpstr>Calibri</vt:lpstr>
      <vt:lpstr>Franklin Gothic Book</vt:lpstr>
      <vt:lpstr>Helvetica</vt:lpstr>
      <vt:lpstr>Wingdings 2</vt:lpstr>
      <vt:lpstr>PPT_Tour_operation_templates_130214</vt:lpstr>
      <vt:lpstr>Develop and implement operational pOLICIEs</vt:lpstr>
      <vt:lpstr>Clean premises and equipment</vt:lpstr>
      <vt:lpstr>Assessment</vt:lpstr>
      <vt:lpstr>Element 1 – Develop operational policies</vt:lpstr>
      <vt:lpstr>Element 1 – Develop operational policies</vt:lpstr>
      <vt:lpstr>Develop operational polices and strategies based on needs and opportunities</vt:lpstr>
      <vt:lpstr>Develop operational polices and strategies based on needs and opportunities</vt:lpstr>
      <vt:lpstr>Develop operational polices and strategies based on needs and opportunities</vt:lpstr>
      <vt:lpstr>Develop operational polices and strategies based on needs and opportunities</vt:lpstr>
      <vt:lpstr>Develop operational polices and strategies based on needs and opportunities</vt:lpstr>
      <vt:lpstr>Develop operational polices and strategies based on needs and opportunities</vt:lpstr>
      <vt:lpstr>Develop operational polices and strategies based on needs and opportunities</vt:lpstr>
      <vt:lpstr>Develop operational polices and strategies based on needs and opportunities</vt:lpstr>
      <vt:lpstr>Develop operational polices and strategies based on needs and opportunities</vt:lpstr>
      <vt:lpstr>Develop operational polices and strategies based on needs and opportunities</vt:lpstr>
      <vt:lpstr>Develop operational polices and strategies based on needs and opportunities</vt:lpstr>
      <vt:lpstr>Develop operational polices and strategies based on needs and opportunities</vt:lpstr>
      <vt:lpstr>Develop operational polices and strategies based on needs and opportunities</vt:lpstr>
      <vt:lpstr>Develop operational polices and strategies based on needs and opportunities</vt:lpstr>
      <vt:lpstr>Develop operational polices and strategies based on needs and opportunities</vt:lpstr>
      <vt:lpstr>Develop operational polices and strategies based on needs and opportunities</vt:lpstr>
      <vt:lpstr>Develop operational polices and strategies based on needs and opportunities</vt:lpstr>
      <vt:lpstr>Develop operational polices and strategies based on needs and opportunities</vt:lpstr>
      <vt:lpstr>Develop operational polices and strategies based on needs and opportunities</vt:lpstr>
      <vt:lpstr>Develop operational polices and strategies based on needs and opportunities</vt:lpstr>
      <vt:lpstr>Develop operational polices and strategies based on needs and opportunities</vt:lpstr>
      <vt:lpstr>Develop operational polices and strategies based on needs and opportunities</vt:lpstr>
      <vt:lpstr>Develop operational polices and strategies based on needs and opportunities</vt:lpstr>
      <vt:lpstr>Develop operational polices and strategies based on needs and opportunities</vt:lpstr>
      <vt:lpstr>Develop operational polices and strategies based on needs and opportunities</vt:lpstr>
      <vt:lpstr>Develop scope and objectives of the required initiative</vt:lpstr>
      <vt:lpstr>Develop scope and objectives of the required initiative</vt:lpstr>
      <vt:lpstr>Develop scope and objectives of the required initiative</vt:lpstr>
      <vt:lpstr>Develop scope and objectives of the required initiative</vt:lpstr>
      <vt:lpstr>Develop scope and objectives of the required initiative</vt:lpstr>
      <vt:lpstr>Develop scope and objectives of the required initiative</vt:lpstr>
      <vt:lpstr>Develop scope and objectives of the required initiative</vt:lpstr>
      <vt:lpstr>Develop scope and objectives of the required initiative</vt:lpstr>
      <vt:lpstr>Develop scope and objectives of the required initiative</vt:lpstr>
      <vt:lpstr>Identify and analyse internal and external factors that may impact on the policy</vt:lpstr>
      <vt:lpstr>Identify and analyse internal and external factors that may impact on the policy</vt:lpstr>
      <vt:lpstr>Identify and analyse internal and external factors that may impact on the policy</vt:lpstr>
      <vt:lpstr>Identify and analyse internal and external factors that may impact on the policy</vt:lpstr>
      <vt:lpstr>Identify and analyse internal and external factors that may impact on the policy</vt:lpstr>
      <vt:lpstr>Identify and analyse internal and external factors that may impact on the policy</vt:lpstr>
      <vt:lpstr>Identify and analyse internal and external factors that may impact on the policy</vt:lpstr>
      <vt:lpstr>Identify and analyse internal and external factors that may impact on the policy</vt:lpstr>
      <vt:lpstr>Identify and analyse internal and external factors that may impact on the policy</vt:lpstr>
      <vt:lpstr>Consult appropriate stakeholders during the development of the policy</vt:lpstr>
      <vt:lpstr>Consult appropriate stakeholders during the development of the policy</vt:lpstr>
      <vt:lpstr>Consult appropriate stakeholders during the development of the policy</vt:lpstr>
      <vt:lpstr>Consult appropriate stakeholders during the development of the policy</vt:lpstr>
      <vt:lpstr>Consult appropriate stakeholders during the development of the policy</vt:lpstr>
      <vt:lpstr>Consult appropriate stakeholders during the development of the policy</vt:lpstr>
      <vt:lpstr>Consult appropriate stakeholders during the development of the policy</vt:lpstr>
      <vt:lpstr>Consult appropriate stakeholders during the development of the policy</vt:lpstr>
      <vt:lpstr>Develop appropriate and financially-sound resource strategies</vt:lpstr>
      <vt:lpstr>Develop appropriate and financially-sound resource strategies</vt:lpstr>
      <vt:lpstr>Develop appropriate and financially-sound resource strategies</vt:lpstr>
      <vt:lpstr>Develop appropriate and financially-sound resource strategies</vt:lpstr>
      <vt:lpstr>Develop appropriate and financially-sound resource strategies</vt:lpstr>
      <vt:lpstr>Develop appropriate and financially-sound resource strategies</vt:lpstr>
      <vt:lpstr>Develop appropriate and financially-sound resource strategies</vt:lpstr>
      <vt:lpstr>Develop appropriate and financially-sound resource strategies</vt:lpstr>
      <vt:lpstr>Develop appropriate and financially-sound resource strategies</vt:lpstr>
      <vt:lpstr>Develop appropriate and financially-sound resource strategies</vt:lpstr>
      <vt:lpstr>Develop appropriate and financially-sound resource strategies</vt:lpstr>
      <vt:lpstr>Develop administrative framework and systems for the planned initiative</vt:lpstr>
      <vt:lpstr>Develop administrative framework and systems for the planned initiative</vt:lpstr>
      <vt:lpstr>Develop administrative framework and systems for the planned initiative</vt:lpstr>
      <vt:lpstr>Develop administrative framework and systems for the planned initiative</vt:lpstr>
      <vt:lpstr>Develop administrative framework and systems for the planned initiative</vt:lpstr>
      <vt:lpstr>Identify and communicate all priorities, responsibilities and timelines</vt:lpstr>
      <vt:lpstr>Identify and communicate all priorities, responsibilities and timelines</vt:lpstr>
      <vt:lpstr>Identify and communicate all priorities, responsibilities and timelines</vt:lpstr>
      <vt:lpstr>Identify and communicate all priorities, responsibilities and timelines</vt:lpstr>
      <vt:lpstr>Identify and communicate all priorities, responsibilities and timelines</vt:lpstr>
      <vt:lpstr>Identify and communicate all priorities, responsibilities and timelines</vt:lpstr>
      <vt:lpstr>Develop evaluation systems in consultation with appropriate colleagues</vt:lpstr>
      <vt:lpstr>Develop evaluation systems in consultation with appropriate colleagues</vt:lpstr>
      <vt:lpstr>Develop evaluation systems in consultation with appropriate colleagues</vt:lpstr>
      <vt:lpstr>Develop evaluation systems in consultation with appropriate colleagues</vt:lpstr>
      <vt:lpstr>Develop evaluation systems in consultation with appropriate colleagues</vt:lpstr>
      <vt:lpstr>Develop evaluation systems in consultation with appropriate colleagues</vt:lpstr>
      <vt:lpstr>Develop evaluation systems in consultation with appropriate colleagues</vt:lpstr>
      <vt:lpstr>Summary – Element 1</vt:lpstr>
      <vt:lpstr>Summary – Element 1</vt:lpstr>
      <vt:lpstr>Summary – Element 1</vt:lpstr>
      <vt:lpstr>Summary – Element 1</vt:lpstr>
      <vt:lpstr>Summary – Element 1</vt:lpstr>
      <vt:lpstr>Element 2 – Administer and monitor operational policy</vt:lpstr>
      <vt:lpstr>Implement and evaluate identified actions in accordance with agreed priorities</vt:lpstr>
      <vt:lpstr>Implement and evaluate identified actions in accordance with agreed priorities</vt:lpstr>
      <vt:lpstr>Implement and evaluate identified actions in accordance with agreed priorities</vt:lpstr>
      <vt:lpstr>Implement and evaluate identified actions in accordance with agreed priorities</vt:lpstr>
      <vt:lpstr>Implement and evaluate identified actions in accordance with agreed priorities</vt:lpstr>
      <vt:lpstr>Implement and evaluate identified actions in accordance with agreed priorities</vt:lpstr>
      <vt:lpstr>Implement and evaluate identified actions in accordance with agreed priorities</vt:lpstr>
      <vt:lpstr>Monitor performance indicators</vt:lpstr>
      <vt:lpstr>Monitor performance indicators</vt:lpstr>
      <vt:lpstr>Monitor performance indicators</vt:lpstr>
      <vt:lpstr>Monitor performance indicators</vt:lpstr>
      <vt:lpstr>Monitor performance indicators</vt:lpstr>
      <vt:lpstr>Monitor performance indicators</vt:lpstr>
      <vt:lpstr>Provide progress and other reports in accordance with enterprise requirements</vt:lpstr>
      <vt:lpstr>Provide progress and other reports in accordance with enterprise requirements</vt:lpstr>
      <vt:lpstr>Provide progress and other reports in accordance with enterprise requirements</vt:lpstr>
      <vt:lpstr>Provide progress and other reports in accordance with enterprise requirements</vt:lpstr>
      <vt:lpstr>Make assessment of the need for additional resource requirements</vt:lpstr>
      <vt:lpstr>Make assessment of the need for additional resource requirements</vt:lpstr>
      <vt:lpstr>Make assessment of the need for additional resource requirements</vt:lpstr>
      <vt:lpstr>Make assessment of the need for additional resource requirements</vt:lpstr>
      <vt:lpstr>Summary – Element 2</vt:lpstr>
      <vt:lpstr>Summary – Element 2</vt:lpstr>
      <vt:lpstr>Summary – Element 2</vt:lpstr>
      <vt:lpstr>Element 3 – Conduct ongoing evaluations</vt:lpstr>
      <vt:lpstr>Review the operational policy to assess effectiveness in the workplace</vt:lpstr>
      <vt:lpstr>Review the operational policy to assess effectiveness in the workplace</vt:lpstr>
      <vt:lpstr>Review the operational policy to assess effectiveness in the workplace</vt:lpstr>
      <vt:lpstr>Review the operational policy to assess effectiveness in the workplace</vt:lpstr>
      <vt:lpstr>Review the operational policy to assess effectiveness in the workplace</vt:lpstr>
      <vt:lpstr>Review the operational policy to assess effectiveness in the workplace</vt:lpstr>
      <vt:lpstr>Monitor performance</vt:lpstr>
      <vt:lpstr>Monitor performance</vt:lpstr>
      <vt:lpstr>Monitor performance</vt:lpstr>
      <vt:lpstr>Monitor performance</vt:lpstr>
      <vt:lpstr>Monitor performance</vt:lpstr>
      <vt:lpstr>Identify problems and make adjustments accordingly</vt:lpstr>
      <vt:lpstr>Identify problems and make adjustments accordingly</vt:lpstr>
      <vt:lpstr>Identify problems and make adjustments accordingly</vt:lpstr>
      <vt:lpstr>Identify problems and make adjustments accordingly</vt:lpstr>
      <vt:lpstr>Identify problems and make adjustments accordingly</vt:lpstr>
      <vt:lpstr>Identify problems and make adjustments accordingly</vt:lpstr>
      <vt:lpstr>Identify problems and make adjustments accordingly</vt:lpstr>
      <vt:lpstr>Incorporate results of evaluation into planning and operational management</vt:lpstr>
      <vt:lpstr>Incorporate results of evaluation into planning and operational management</vt:lpstr>
      <vt:lpstr>Incorporate results of evaluation into planning and operational management</vt:lpstr>
      <vt:lpstr>Incorporate results of evaluation into planning and operational management</vt:lpstr>
      <vt:lpstr>Incorporate results of evaluation into planning and operational management</vt:lpstr>
      <vt:lpstr>Incorporate results of evaluation into planning and operational management</vt:lpstr>
      <vt:lpstr>Summary – Element 3</vt:lpstr>
      <vt:lpstr>Summary – Element 3</vt:lpstr>
      <vt:lpstr>Summary – Element 3</vt:lpstr>
      <vt:lpstr>Summary – Element 3</vt:lpstr>
    </vt:vector>
  </TitlesOfParts>
  <Company>William Angliss TAFE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Develop and implement operational plans</dc:title>
  <dc:creator>Daniel James Chee</dc:creator>
  <cp:lastModifiedBy>Carla Angelica Co</cp:lastModifiedBy>
  <cp:revision>175</cp:revision>
  <dcterms:created xsi:type="dcterms:W3CDTF">2014-05-14T07:09:18Z</dcterms:created>
  <dcterms:modified xsi:type="dcterms:W3CDTF">2016-07-18T07:15:46Z</dcterms:modified>
</cp:coreProperties>
</file>