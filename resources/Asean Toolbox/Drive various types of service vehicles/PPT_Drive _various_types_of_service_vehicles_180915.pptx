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notesMasterIdLst>
    <p:notesMasterId r:id="rId87"/>
  </p:notesMasterIdLst>
  <p:handoutMasterIdLst>
    <p:handoutMasterId r:id="rId88"/>
  </p:handoutMasterIdLst>
  <p:sldIdLst>
    <p:sldId id="397" r:id="rId3"/>
    <p:sldId id="296" r:id="rId4"/>
    <p:sldId id="297" r:id="rId5"/>
    <p:sldId id="298" r:id="rId6"/>
    <p:sldId id="304" r:id="rId7"/>
    <p:sldId id="327" r:id="rId8"/>
    <p:sldId id="305" r:id="rId9"/>
    <p:sldId id="368" r:id="rId10"/>
    <p:sldId id="369" r:id="rId11"/>
    <p:sldId id="370" r:id="rId12"/>
    <p:sldId id="328" r:id="rId13"/>
    <p:sldId id="371" r:id="rId14"/>
    <p:sldId id="331" r:id="rId15"/>
    <p:sldId id="372" r:id="rId16"/>
    <p:sldId id="332" r:id="rId17"/>
    <p:sldId id="306" r:id="rId18"/>
    <p:sldId id="373" r:id="rId19"/>
    <p:sldId id="374" r:id="rId20"/>
    <p:sldId id="307" r:id="rId21"/>
    <p:sldId id="333" r:id="rId22"/>
    <p:sldId id="300" r:id="rId23"/>
    <p:sldId id="308" r:id="rId24"/>
    <p:sldId id="334" r:id="rId25"/>
    <p:sldId id="342" r:id="rId26"/>
    <p:sldId id="309" r:id="rId27"/>
    <p:sldId id="310" r:id="rId28"/>
    <p:sldId id="311" r:id="rId29"/>
    <p:sldId id="345" r:id="rId30"/>
    <p:sldId id="343" r:id="rId31"/>
    <p:sldId id="344" r:id="rId32"/>
    <p:sldId id="312" r:id="rId33"/>
    <p:sldId id="346" r:id="rId34"/>
    <p:sldId id="313" r:id="rId35"/>
    <p:sldId id="347" r:id="rId36"/>
    <p:sldId id="348" r:id="rId37"/>
    <p:sldId id="349" r:id="rId38"/>
    <p:sldId id="350" r:id="rId39"/>
    <p:sldId id="351" r:id="rId40"/>
    <p:sldId id="352" r:id="rId41"/>
    <p:sldId id="353" r:id="rId42"/>
    <p:sldId id="354" r:id="rId43"/>
    <p:sldId id="355" r:id="rId44"/>
    <p:sldId id="356" r:id="rId45"/>
    <p:sldId id="357" r:id="rId46"/>
    <p:sldId id="301" r:id="rId47"/>
    <p:sldId id="314" r:id="rId48"/>
    <p:sldId id="315" r:id="rId49"/>
    <p:sldId id="316" r:id="rId50"/>
    <p:sldId id="375" r:id="rId51"/>
    <p:sldId id="317" r:id="rId52"/>
    <p:sldId id="318" r:id="rId53"/>
    <p:sldId id="319" r:id="rId54"/>
    <p:sldId id="302" r:id="rId55"/>
    <p:sldId id="320" r:id="rId56"/>
    <p:sldId id="376" r:id="rId57"/>
    <p:sldId id="382" r:id="rId58"/>
    <p:sldId id="377" r:id="rId59"/>
    <p:sldId id="381" r:id="rId60"/>
    <p:sldId id="380" r:id="rId61"/>
    <p:sldId id="379" r:id="rId62"/>
    <p:sldId id="378" r:id="rId63"/>
    <p:sldId id="383" r:id="rId64"/>
    <p:sldId id="384" r:id="rId65"/>
    <p:sldId id="385" r:id="rId66"/>
    <p:sldId id="391" r:id="rId67"/>
    <p:sldId id="390" r:id="rId68"/>
    <p:sldId id="389" r:id="rId69"/>
    <p:sldId id="388" r:id="rId70"/>
    <p:sldId id="387" r:id="rId71"/>
    <p:sldId id="386" r:id="rId72"/>
    <p:sldId id="392" r:id="rId73"/>
    <p:sldId id="393" r:id="rId74"/>
    <p:sldId id="361" r:id="rId75"/>
    <p:sldId id="322" r:id="rId76"/>
    <p:sldId id="323" r:id="rId77"/>
    <p:sldId id="394" r:id="rId78"/>
    <p:sldId id="395" r:id="rId79"/>
    <p:sldId id="363" r:id="rId80"/>
    <p:sldId id="325" r:id="rId81"/>
    <p:sldId id="396" r:id="rId82"/>
    <p:sldId id="326" r:id="rId83"/>
    <p:sldId id="365" r:id="rId84"/>
    <p:sldId id="366" r:id="rId85"/>
    <p:sldId id="299" r:id="rId8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3" autoAdjust="0"/>
    <p:restoredTop sz="79525" autoAdjust="0"/>
  </p:normalViewPr>
  <p:slideViewPr>
    <p:cSldViewPr>
      <p:cViewPr varScale="1">
        <p:scale>
          <a:sx n="73" d="100"/>
          <a:sy n="73" d="100"/>
        </p:scale>
        <p:origin x="17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9108"/>
    </p:cViewPr>
  </p:sorterViewPr>
  <p:notesViewPr>
    <p:cSldViewPr>
      <p:cViewPr varScale="1">
        <p:scale>
          <a:sx n="83" d="100"/>
          <a:sy n="83" d="100"/>
        </p:scale>
        <p:origin x="-4152" y="-9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DFF00-3BB8-40C2-9E89-18D7894E82AC}"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en-AU"/>
        </a:p>
      </dgm:t>
    </dgm:pt>
    <dgm:pt modelId="{483B32FD-EEB2-4B3A-9061-C3884F05C05C}">
      <dgm:prSet phldrT="[Text]" custT="1"/>
      <dgm:spPr/>
      <dgm:t>
        <a:bodyPr/>
        <a:lstStyle/>
        <a:p>
          <a:r>
            <a:rPr lang="en-AU" sz="2200" dirty="0" smtClean="0">
              <a:latin typeface="Helvetica" pitchFamily="34" charset="0"/>
              <a:ea typeface="Times New Roman"/>
              <a:cs typeface="Times New Roman"/>
            </a:rPr>
            <a:t>Monitor service vehicles</a:t>
          </a:r>
          <a:endParaRPr lang="en-AU" sz="2200" dirty="0"/>
        </a:p>
      </dgm:t>
    </dgm:pt>
    <dgm:pt modelId="{3F1E535B-3779-4206-A5B0-4C390B29E331}" type="parTrans" cxnId="{96E650AD-22B3-40C9-B7F6-4AD8A6E2B844}">
      <dgm:prSet/>
      <dgm:spPr/>
      <dgm:t>
        <a:bodyPr/>
        <a:lstStyle/>
        <a:p>
          <a:endParaRPr lang="en-AU" sz="2200"/>
        </a:p>
      </dgm:t>
    </dgm:pt>
    <dgm:pt modelId="{E792774A-CE84-433A-BDE6-D54F9A130316}" type="sibTrans" cxnId="{96E650AD-22B3-40C9-B7F6-4AD8A6E2B844}">
      <dgm:prSet/>
      <dgm:spPr/>
      <dgm:t>
        <a:bodyPr/>
        <a:lstStyle/>
        <a:p>
          <a:endParaRPr lang="en-AU" sz="2200"/>
        </a:p>
      </dgm:t>
    </dgm:pt>
    <dgm:pt modelId="{4425B619-CA13-43BC-9F82-D01E3196891F}">
      <dgm:prSet phldrT="[Text]" custT="1"/>
      <dgm:spPr/>
      <dgm:t>
        <a:bodyPr/>
        <a:lstStyle/>
        <a:p>
          <a:r>
            <a:rPr lang="en-AU" sz="2200" dirty="0" smtClean="0">
              <a:latin typeface="Helvetica" pitchFamily="34" charset="0"/>
              <a:ea typeface="Times New Roman"/>
              <a:cs typeface="Times New Roman"/>
            </a:rPr>
            <a:t>Monitor road conditions</a:t>
          </a:r>
          <a:endParaRPr lang="en-AU" sz="2200" dirty="0"/>
        </a:p>
      </dgm:t>
    </dgm:pt>
    <dgm:pt modelId="{0316F9D8-7602-4BFE-9157-FA2B8AA444CE}" type="parTrans" cxnId="{C0932607-DFD0-4355-A9EE-152375D397FE}">
      <dgm:prSet/>
      <dgm:spPr/>
      <dgm:t>
        <a:bodyPr/>
        <a:lstStyle/>
        <a:p>
          <a:endParaRPr lang="en-AU" sz="2200"/>
        </a:p>
      </dgm:t>
    </dgm:pt>
    <dgm:pt modelId="{F7AD5F00-BFB7-4053-92C2-1AAB1CDF487F}" type="sibTrans" cxnId="{C0932607-DFD0-4355-A9EE-152375D397FE}">
      <dgm:prSet/>
      <dgm:spPr/>
      <dgm:t>
        <a:bodyPr/>
        <a:lstStyle/>
        <a:p>
          <a:endParaRPr lang="en-AU" sz="2200"/>
        </a:p>
      </dgm:t>
    </dgm:pt>
    <dgm:pt modelId="{DC70653A-0096-4A62-B3F3-F348242B31A3}">
      <dgm:prSet phldrT="[Text]" custT="1"/>
      <dgm:spPr/>
      <dgm:t>
        <a:bodyPr/>
        <a:lstStyle/>
        <a:p>
          <a:r>
            <a:rPr lang="en-AU" sz="2200" dirty="0" smtClean="0">
              <a:latin typeface="Helvetica" pitchFamily="34" charset="0"/>
              <a:ea typeface="Times New Roman"/>
              <a:cs typeface="Times New Roman"/>
            </a:rPr>
            <a:t>Drive vehicles</a:t>
          </a:r>
          <a:endParaRPr lang="en-AU" sz="2200" dirty="0"/>
        </a:p>
      </dgm:t>
    </dgm:pt>
    <dgm:pt modelId="{72E508FC-09D4-48E4-B0A2-63E10D9974E8}" type="parTrans" cxnId="{0B72613A-1D0F-4513-84B0-ABD0B321425F}">
      <dgm:prSet/>
      <dgm:spPr/>
      <dgm:t>
        <a:bodyPr/>
        <a:lstStyle/>
        <a:p>
          <a:endParaRPr lang="en-AU" sz="2200"/>
        </a:p>
      </dgm:t>
    </dgm:pt>
    <dgm:pt modelId="{15E40E82-724C-4BC2-8FDF-804C02ED4AC2}" type="sibTrans" cxnId="{0B72613A-1D0F-4513-84B0-ABD0B321425F}">
      <dgm:prSet/>
      <dgm:spPr/>
      <dgm:t>
        <a:bodyPr/>
        <a:lstStyle/>
        <a:p>
          <a:endParaRPr lang="en-AU" sz="2200"/>
        </a:p>
      </dgm:t>
    </dgm:pt>
    <dgm:pt modelId="{412CDEFF-9AC4-4911-856C-5FC4C00123E0}">
      <dgm:prSet custT="1"/>
      <dgm:spPr/>
      <dgm:t>
        <a:bodyPr/>
        <a:lstStyle/>
        <a:p>
          <a:r>
            <a:rPr lang="en-AU" sz="2200" dirty="0" smtClean="0">
              <a:latin typeface="Helvetica" pitchFamily="34" charset="0"/>
              <a:ea typeface="Times New Roman"/>
              <a:cs typeface="Times New Roman"/>
            </a:rPr>
            <a:t>Obtain driver’s licence(s)</a:t>
          </a:r>
          <a:endParaRPr lang="en-AU" sz="2200" dirty="0"/>
        </a:p>
      </dgm:t>
    </dgm:pt>
    <dgm:pt modelId="{5D27BB7B-85F5-41E0-83C9-D39D3DD29AFA}" type="parTrans" cxnId="{2937E557-DF18-4AB1-B86E-8B075248D652}">
      <dgm:prSet/>
      <dgm:spPr/>
      <dgm:t>
        <a:bodyPr/>
        <a:lstStyle/>
        <a:p>
          <a:endParaRPr lang="en-AU" sz="2200"/>
        </a:p>
      </dgm:t>
    </dgm:pt>
    <dgm:pt modelId="{8C3DBF6A-357D-4B60-99E7-AE57E4A20CA9}" type="sibTrans" cxnId="{2937E557-DF18-4AB1-B86E-8B075248D652}">
      <dgm:prSet/>
      <dgm:spPr/>
      <dgm:t>
        <a:bodyPr/>
        <a:lstStyle/>
        <a:p>
          <a:endParaRPr lang="en-AU" sz="2200"/>
        </a:p>
      </dgm:t>
    </dgm:pt>
    <dgm:pt modelId="{8187E203-4F54-4C2B-A4A3-BE29EC25433B}" type="pres">
      <dgm:prSet presAssocID="{1E7DFF00-3BB8-40C2-9E89-18D7894E82AC}" presName="Name0" presStyleCnt="0">
        <dgm:presLayoutVars>
          <dgm:chMax val="7"/>
          <dgm:chPref val="7"/>
          <dgm:dir/>
        </dgm:presLayoutVars>
      </dgm:prSet>
      <dgm:spPr/>
      <dgm:t>
        <a:bodyPr/>
        <a:lstStyle/>
        <a:p>
          <a:endParaRPr lang="en-AU"/>
        </a:p>
      </dgm:t>
    </dgm:pt>
    <dgm:pt modelId="{8BBB96BA-23EF-4A5D-98A6-28840EEB52B4}" type="pres">
      <dgm:prSet presAssocID="{1E7DFF00-3BB8-40C2-9E89-18D7894E82AC}" presName="Name1" presStyleCnt="0"/>
      <dgm:spPr/>
    </dgm:pt>
    <dgm:pt modelId="{C5A09723-075A-483D-B363-9DC1290951AF}" type="pres">
      <dgm:prSet presAssocID="{1E7DFF00-3BB8-40C2-9E89-18D7894E82AC}" presName="cycle" presStyleCnt="0"/>
      <dgm:spPr/>
    </dgm:pt>
    <dgm:pt modelId="{2A786BD5-5AC8-4866-9AEC-7851C1640407}" type="pres">
      <dgm:prSet presAssocID="{1E7DFF00-3BB8-40C2-9E89-18D7894E82AC}" presName="srcNode" presStyleLbl="node1" presStyleIdx="0" presStyleCnt="4"/>
      <dgm:spPr/>
    </dgm:pt>
    <dgm:pt modelId="{5E0AEC6D-7DBD-446D-8E72-7282DBD21F0C}" type="pres">
      <dgm:prSet presAssocID="{1E7DFF00-3BB8-40C2-9E89-18D7894E82AC}" presName="conn" presStyleLbl="parChTrans1D2" presStyleIdx="0" presStyleCnt="1"/>
      <dgm:spPr/>
      <dgm:t>
        <a:bodyPr/>
        <a:lstStyle/>
        <a:p>
          <a:endParaRPr lang="en-AU"/>
        </a:p>
      </dgm:t>
    </dgm:pt>
    <dgm:pt modelId="{A35CBC60-B3DB-4DA9-96E1-53DA00C37814}" type="pres">
      <dgm:prSet presAssocID="{1E7DFF00-3BB8-40C2-9E89-18D7894E82AC}" presName="extraNode" presStyleLbl="node1" presStyleIdx="0" presStyleCnt="4"/>
      <dgm:spPr/>
    </dgm:pt>
    <dgm:pt modelId="{C546D785-3F2C-4275-B1D6-BD7E72DBCBC0}" type="pres">
      <dgm:prSet presAssocID="{1E7DFF00-3BB8-40C2-9E89-18D7894E82AC}" presName="dstNode" presStyleLbl="node1" presStyleIdx="0" presStyleCnt="4"/>
      <dgm:spPr/>
    </dgm:pt>
    <dgm:pt modelId="{3E6A4050-CE09-4DF9-99F5-98550002A32C}" type="pres">
      <dgm:prSet presAssocID="{412CDEFF-9AC4-4911-856C-5FC4C00123E0}" presName="text_1" presStyleLbl="node1" presStyleIdx="0" presStyleCnt="4">
        <dgm:presLayoutVars>
          <dgm:bulletEnabled val="1"/>
        </dgm:presLayoutVars>
      </dgm:prSet>
      <dgm:spPr/>
      <dgm:t>
        <a:bodyPr/>
        <a:lstStyle/>
        <a:p>
          <a:endParaRPr lang="en-AU"/>
        </a:p>
      </dgm:t>
    </dgm:pt>
    <dgm:pt modelId="{CF6A1F57-8052-4B99-AC0B-3BD79D71FECB}" type="pres">
      <dgm:prSet presAssocID="{412CDEFF-9AC4-4911-856C-5FC4C00123E0}" presName="accent_1" presStyleCnt="0"/>
      <dgm:spPr/>
    </dgm:pt>
    <dgm:pt modelId="{2DB83B6C-C1EA-44BF-BF08-353E8D58024E}" type="pres">
      <dgm:prSet presAssocID="{412CDEFF-9AC4-4911-856C-5FC4C00123E0}" presName="accentRepeatNode" presStyleLbl="solidFgAcc1" presStyleIdx="0" presStyleCnt="4"/>
      <dgm:spPr/>
    </dgm:pt>
    <dgm:pt modelId="{CA4214C0-9DCA-4175-BFA8-EC0A36136CA9}" type="pres">
      <dgm:prSet presAssocID="{483B32FD-EEB2-4B3A-9061-C3884F05C05C}" presName="text_2" presStyleLbl="node1" presStyleIdx="1" presStyleCnt="4">
        <dgm:presLayoutVars>
          <dgm:bulletEnabled val="1"/>
        </dgm:presLayoutVars>
      </dgm:prSet>
      <dgm:spPr/>
      <dgm:t>
        <a:bodyPr/>
        <a:lstStyle/>
        <a:p>
          <a:endParaRPr lang="en-AU"/>
        </a:p>
      </dgm:t>
    </dgm:pt>
    <dgm:pt modelId="{E6D88FD5-4C19-4891-ACEF-0AAB7344BC09}" type="pres">
      <dgm:prSet presAssocID="{483B32FD-EEB2-4B3A-9061-C3884F05C05C}" presName="accent_2" presStyleCnt="0"/>
      <dgm:spPr/>
    </dgm:pt>
    <dgm:pt modelId="{7248C83F-EB4F-42F2-A681-74004FD99DE0}" type="pres">
      <dgm:prSet presAssocID="{483B32FD-EEB2-4B3A-9061-C3884F05C05C}" presName="accentRepeatNode" presStyleLbl="solidFgAcc1" presStyleIdx="1" presStyleCnt="4"/>
      <dgm:spPr/>
    </dgm:pt>
    <dgm:pt modelId="{748034A7-B232-4825-9301-203FF26223E1}" type="pres">
      <dgm:prSet presAssocID="{4425B619-CA13-43BC-9F82-D01E3196891F}" presName="text_3" presStyleLbl="node1" presStyleIdx="2" presStyleCnt="4">
        <dgm:presLayoutVars>
          <dgm:bulletEnabled val="1"/>
        </dgm:presLayoutVars>
      </dgm:prSet>
      <dgm:spPr/>
      <dgm:t>
        <a:bodyPr/>
        <a:lstStyle/>
        <a:p>
          <a:endParaRPr lang="en-AU"/>
        </a:p>
      </dgm:t>
    </dgm:pt>
    <dgm:pt modelId="{23071697-FF8F-4016-897C-FDEB939D7954}" type="pres">
      <dgm:prSet presAssocID="{4425B619-CA13-43BC-9F82-D01E3196891F}" presName="accent_3" presStyleCnt="0"/>
      <dgm:spPr/>
    </dgm:pt>
    <dgm:pt modelId="{85287054-BE02-4223-ABC4-C7C2233636AF}" type="pres">
      <dgm:prSet presAssocID="{4425B619-CA13-43BC-9F82-D01E3196891F}" presName="accentRepeatNode" presStyleLbl="solidFgAcc1" presStyleIdx="2" presStyleCnt="4"/>
      <dgm:spPr/>
    </dgm:pt>
    <dgm:pt modelId="{8F8AC16C-668C-454F-87D2-458EF9105D8F}" type="pres">
      <dgm:prSet presAssocID="{DC70653A-0096-4A62-B3F3-F348242B31A3}" presName="text_4" presStyleLbl="node1" presStyleIdx="3" presStyleCnt="4">
        <dgm:presLayoutVars>
          <dgm:bulletEnabled val="1"/>
        </dgm:presLayoutVars>
      </dgm:prSet>
      <dgm:spPr/>
      <dgm:t>
        <a:bodyPr/>
        <a:lstStyle/>
        <a:p>
          <a:endParaRPr lang="en-AU"/>
        </a:p>
      </dgm:t>
    </dgm:pt>
    <dgm:pt modelId="{CAAFA773-FBDE-4939-B241-D637D487A0AD}" type="pres">
      <dgm:prSet presAssocID="{DC70653A-0096-4A62-B3F3-F348242B31A3}" presName="accent_4" presStyleCnt="0"/>
      <dgm:spPr/>
    </dgm:pt>
    <dgm:pt modelId="{1D064583-A979-4299-A88D-FDF2818D8A5B}" type="pres">
      <dgm:prSet presAssocID="{DC70653A-0096-4A62-B3F3-F348242B31A3}" presName="accentRepeatNode" presStyleLbl="solidFgAcc1" presStyleIdx="3" presStyleCnt="4"/>
      <dgm:spPr/>
    </dgm:pt>
  </dgm:ptLst>
  <dgm:cxnLst>
    <dgm:cxn modelId="{CC4D4E9B-7479-45EC-9682-84827AAF4ED6}" type="presOf" srcId="{DC70653A-0096-4A62-B3F3-F348242B31A3}" destId="{8F8AC16C-668C-454F-87D2-458EF9105D8F}" srcOrd="0" destOrd="0" presId="urn:microsoft.com/office/officeart/2008/layout/VerticalCurvedList"/>
    <dgm:cxn modelId="{841211FE-3AE7-418A-96F3-2E3D5A112712}" type="presOf" srcId="{4425B619-CA13-43BC-9F82-D01E3196891F}" destId="{748034A7-B232-4825-9301-203FF26223E1}" srcOrd="0" destOrd="0" presId="urn:microsoft.com/office/officeart/2008/layout/VerticalCurvedList"/>
    <dgm:cxn modelId="{BB00AF8A-833A-48E5-BB95-4AA3CA84B640}" type="presOf" srcId="{8C3DBF6A-357D-4B60-99E7-AE57E4A20CA9}" destId="{5E0AEC6D-7DBD-446D-8E72-7282DBD21F0C}" srcOrd="0" destOrd="0" presId="urn:microsoft.com/office/officeart/2008/layout/VerticalCurvedList"/>
    <dgm:cxn modelId="{C0932607-DFD0-4355-A9EE-152375D397FE}" srcId="{1E7DFF00-3BB8-40C2-9E89-18D7894E82AC}" destId="{4425B619-CA13-43BC-9F82-D01E3196891F}" srcOrd="2" destOrd="0" parTransId="{0316F9D8-7602-4BFE-9157-FA2B8AA444CE}" sibTransId="{F7AD5F00-BFB7-4053-92C2-1AAB1CDF487F}"/>
    <dgm:cxn modelId="{0B72613A-1D0F-4513-84B0-ABD0B321425F}" srcId="{1E7DFF00-3BB8-40C2-9E89-18D7894E82AC}" destId="{DC70653A-0096-4A62-B3F3-F348242B31A3}" srcOrd="3" destOrd="0" parTransId="{72E508FC-09D4-48E4-B0A2-63E10D9974E8}" sibTransId="{15E40E82-724C-4BC2-8FDF-804C02ED4AC2}"/>
    <dgm:cxn modelId="{A51A790E-272B-40AE-A383-D5C7E7A04617}" type="presOf" srcId="{1E7DFF00-3BB8-40C2-9E89-18D7894E82AC}" destId="{8187E203-4F54-4C2B-A4A3-BE29EC25433B}" srcOrd="0" destOrd="0" presId="urn:microsoft.com/office/officeart/2008/layout/VerticalCurvedList"/>
    <dgm:cxn modelId="{4C4E61AF-4D9F-4E58-8AF3-F1088999BEB5}" type="presOf" srcId="{483B32FD-EEB2-4B3A-9061-C3884F05C05C}" destId="{CA4214C0-9DCA-4175-BFA8-EC0A36136CA9}" srcOrd="0" destOrd="0" presId="urn:microsoft.com/office/officeart/2008/layout/VerticalCurvedList"/>
    <dgm:cxn modelId="{A21F5EBC-965A-4305-8E76-05E5AC9BB6F7}" type="presOf" srcId="{412CDEFF-9AC4-4911-856C-5FC4C00123E0}" destId="{3E6A4050-CE09-4DF9-99F5-98550002A32C}" srcOrd="0" destOrd="0" presId="urn:microsoft.com/office/officeart/2008/layout/VerticalCurvedList"/>
    <dgm:cxn modelId="{96E650AD-22B3-40C9-B7F6-4AD8A6E2B844}" srcId="{1E7DFF00-3BB8-40C2-9E89-18D7894E82AC}" destId="{483B32FD-EEB2-4B3A-9061-C3884F05C05C}" srcOrd="1" destOrd="0" parTransId="{3F1E535B-3779-4206-A5B0-4C390B29E331}" sibTransId="{E792774A-CE84-433A-BDE6-D54F9A130316}"/>
    <dgm:cxn modelId="{2937E557-DF18-4AB1-B86E-8B075248D652}" srcId="{1E7DFF00-3BB8-40C2-9E89-18D7894E82AC}" destId="{412CDEFF-9AC4-4911-856C-5FC4C00123E0}" srcOrd="0" destOrd="0" parTransId="{5D27BB7B-85F5-41E0-83C9-D39D3DD29AFA}" sibTransId="{8C3DBF6A-357D-4B60-99E7-AE57E4A20CA9}"/>
    <dgm:cxn modelId="{43A0DAC4-B4B9-4E7D-BC68-276C6E8209AB}" type="presParOf" srcId="{8187E203-4F54-4C2B-A4A3-BE29EC25433B}" destId="{8BBB96BA-23EF-4A5D-98A6-28840EEB52B4}" srcOrd="0" destOrd="0" presId="urn:microsoft.com/office/officeart/2008/layout/VerticalCurvedList"/>
    <dgm:cxn modelId="{C9B5AEC4-C48C-44DB-9111-57471F69C1D8}" type="presParOf" srcId="{8BBB96BA-23EF-4A5D-98A6-28840EEB52B4}" destId="{C5A09723-075A-483D-B363-9DC1290951AF}" srcOrd="0" destOrd="0" presId="urn:microsoft.com/office/officeart/2008/layout/VerticalCurvedList"/>
    <dgm:cxn modelId="{51903DA7-37BE-46AB-8AF1-5B5B8F378D9E}" type="presParOf" srcId="{C5A09723-075A-483D-B363-9DC1290951AF}" destId="{2A786BD5-5AC8-4866-9AEC-7851C1640407}" srcOrd="0" destOrd="0" presId="urn:microsoft.com/office/officeart/2008/layout/VerticalCurvedList"/>
    <dgm:cxn modelId="{1200D672-E8EB-48F2-90BA-842286AEDDE7}" type="presParOf" srcId="{C5A09723-075A-483D-B363-9DC1290951AF}" destId="{5E0AEC6D-7DBD-446D-8E72-7282DBD21F0C}" srcOrd="1" destOrd="0" presId="urn:microsoft.com/office/officeart/2008/layout/VerticalCurvedList"/>
    <dgm:cxn modelId="{E5F33152-4ECF-451C-BAF1-7201E07F49A9}" type="presParOf" srcId="{C5A09723-075A-483D-B363-9DC1290951AF}" destId="{A35CBC60-B3DB-4DA9-96E1-53DA00C37814}" srcOrd="2" destOrd="0" presId="urn:microsoft.com/office/officeart/2008/layout/VerticalCurvedList"/>
    <dgm:cxn modelId="{F8134CD8-7916-4DCA-8689-F22DAE526ABE}" type="presParOf" srcId="{C5A09723-075A-483D-B363-9DC1290951AF}" destId="{C546D785-3F2C-4275-B1D6-BD7E72DBCBC0}" srcOrd="3" destOrd="0" presId="urn:microsoft.com/office/officeart/2008/layout/VerticalCurvedList"/>
    <dgm:cxn modelId="{C6FD925E-F85D-4028-A493-4C9C0186DF30}" type="presParOf" srcId="{8BBB96BA-23EF-4A5D-98A6-28840EEB52B4}" destId="{3E6A4050-CE09-4DF9-99F5-98550002A32C}" srcOrd="1" destOrd="0" presId="urn:microsoft.com/office/officeart/2008/layout/VerticalCurvedList"/>
    <dgm:cxn modelId="{6D5E013D-A118-43BA-BC0F-5D2CDF588BB0}" type="presParOf" srcId="{8BBB96BA-23EF-4A5D-98A6-28840EEB52B4}" destId="{CF6A1F57-8052-4B99-AC0B-3BD79D71FECB}" srcOrd="2" destOrd="0" presId="urn:microsoft.com/office/officeart/2008/layout/VerticalCurvedList"/>
    <dgm:cxn modelId="{D1DF0C8B-3C1B-4C65-9580-F70CEC75BC35}" type="presParOf" srcId="{CF6A1F57-8052-4B99-AC0B-3BD79D71FECB}" destId="{2DB83B6C-C1EA-44BF-BF08-353E8D58024E}" srcOrd="0" destOrd="0" presId="urn:microsoft.com/office/officeart/2008/layout/VerticalCurvedList"/>
    <dgm:cxn modelId="{91BB236D-E3B1-486C-9F9D-7F64A3B3EA59}" type="presParOf" srcId="{8BBB96BA-23EF-4A5D-98A6-28840EEB52B4}" destId="{CA4214C0-9DCA-4175-BFA8-EC0A36136CA9}" srcOrd="3" destOrd="0" presId="urn:microsoft.com/office/officeart/2008/layout/VerticalCurvedList"/>
    <dgm:cxn modelId="{0220EE24-9C07-40B3-8919-04250D398335}" type="presParOf" srcId="{8BBB96BA-23EF-4A5D-98A6-28840EEB52B4}" destId="{E6D88FD5-4C19-4891-ACEF-0AAB7344BC09}" srcOrd="4" destOrd="0" presId="urn:microsoft.com/office/officeart/2008/layout/VerticalCurvedList"/>
    <dgm:cxn modelId="{613918F7-790F-4142-BB79-0A9612B84CED}" type="presParOf" srcId="{E6D88FD5-4C19-4891-ACEF-0AAB7344BC09}" destId="{7248C83F-EB4F-42F2-A681-74004FD99DE0}" srcOrd="0" destOrd="0" presId="urn:microsoft.com/office/officeart/2008/layout/VerticalCurvedList"/>
    <dgm:cxn modelId="{B3EC31EC-54B5-4B71-81BF-9205C96C3C02}" type="presParOf" srcId="{8BBB96BA-23EF-4A5D-98A6-28840EEB52B4}" destId="{748034A7-B232-4825-9301-203FF26223E1}" srcOrd="5" destOrd="0" presId="urn:microsoft.com/office/officeart/2008/layout/VerticalCurvedList"/>
    <dgm:cxn modelId="{A0332DEB-1612-4FAF-B130-81D1D219E275}" type="presParOf" srcId="{8BBB96BA-23EF-4A5D-98A6-28840EEB52B4}" destId="{23071697-FF8F-4016-897C-FDEB939D7954}" srcOrd="6" destOrd="0" presId="urn:microsoft.com/office/officeart/2008/layout/VerticalCurvedList"/>
    <dgm:cxn modelId="{09F9CE97-FE78-4DFF-BE9A-AD378515B1D3}" type="presParOf" srcId="{23071697-FF8F-4016-897C-FDEB939D7954}" destId="{85287054-BE02-4223-ABC4-C7C2233636AF}" srcOrd="0" destOrd="0" presId="urn:microsoft.com/office/officeart/2008/layout/VerticalCurvedList"/>
    <dgm:cxn modelId="{06C0DFD6-F354-48C6-98DA-BD8C19B6F899}" type="presParOf" srcId="{8BBB96BA-23EF-4A5D-98A6-28840EEB52B4}" destId="{8F8AC16C-668C-454F-87D2-458EF9105D8F}" srcOrd="7" destOrd="0" presId="urn:microsoft.com/office/officeart/2008/layout/VerticalCurvedList"/>
    <dgm:cxn modelId="{FD178E43-A924-4593-9AAC-A553EEC56D5F}" type="presParOf" srcId="{8BBB96BA-23EF-4A5D-98A6-28840EEB52B4}" destId="{CAAFA773-FBDE-4939-B241-D637D487A0AD}" srcOrd="8" destOrd="0" presId="urn:microsoft.com/office/officeart/2008/layout/VerticalCurvedList"/>
    <dgm:cxn modelId="{834544D0-EF59-475B-93F8-75F1A52662A9}" type="presParOf" srcId="{CAAFA773-FBDE-4939-B241-D637D487A0AD}" destId="{1D064583-A979-4299-A88D-FDF2818D8A5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7/19/2016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7/19/2016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2514108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Manual(TM)</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sz="1200" kern="1200" baseline="0" dirty="0" smtClean="0">
              <a:solidFill>
                <a:schemeClr val="tx1"/>
              </a:solidFill>
              <a:ea typeface="+mn-ea"/>
              <a:cs typeface="+mn-cs"/>
            </a:endParaRPr>
          </a:p>
          <a:p>
            <a:endParaRPr kumimoji="0" lang="en-US" sz="1200" b="0" i="0" u="none" strike="noStrike" kern="1200" cap="none" spc="0" normalizeH="0" baseline="0" noProof="0" dirty="0" smtClean="0">
              <a:ln>
                <a:noFill/>
              </a:ln>
              <a:solidFill>
                <a:schemeClr val="tx1"/>
              </a:solidFill>
              <a:effectLst/>
              <a:uLnTx/>
              <a:uFillTx/>
              <a:ea typeface="+mn-ea"/>
              <a:cs typeface="+mn-cs"/>
            </a:endParaRPr>
          </a:p>
          <a:p>
            <a:pPr marL="171450" indent="-171450">
              <a:buFont typeface="Arial" panose="020B0604020202020204" pitchFamily="34" charset="0"/>
              <a:buChar char="•"/>
            </a:pPr>
            <a:r>
              <a:rPr kumimoji="0" lang="en-US" sz="1200" b="0" i="0" u="none" strike="noStrike" kern="1200" cap="none" spc="0" normalizeH="0" baseline="0" noProof="0" dirty="0" smtClean="0">
                <a:ln>
                  <a:noFill/>
                </a:ln>
                <a:solidFill>
                  <a:prstClr val="black"/>
                </a:solidFill>
                <a:effectLst/>
                <a:uLnTx/>
                <a:uFillTx/>
              </a:rPr>
              <a:t>Discuss housekeeping issues such as times of attendance, expected classroom behavior, contact details, any resources required such as a calculator.</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Explain that the trainees will be assessed and the requirements of those assessments.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710282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7552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performance criteria for Element 1</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894162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the types of vehicles that may be included for these tasks.</a:t>
            </a:r>
          </a:p>
          <a:p>
            <a:pPr>
              <a:buFont typeface="Arial" pitchFamily="34" charset="0"/>
              <a:buChar char="•"/>
            </a:pPr>
            <a:r>
              <a:rPr lang="en-AU" baseline="0" noProof="0" dirty="0" smtClean="0"/>
              <a:t>Why would you need to be familiar with the vehicle – brainstorm this for example:</a:t>
            </a:r>
          </a:p>
          <a:p>
            <a:pPr lvl="1">
              <a:buFont typeface="Arial" pitchFamily="34" charset="0"/>
              <a:buChar char="•"/>
            </a:pPr>
            <a:r>
              <a:rPr lang="en-AU" baseline="0" noProof="0" dirty="0" smtClean="0"/>
              <a:t>Manual</a:t>
            </a:r>
          </a:p>
          <a:p>
            <a:pPr lvl="1">
              <a:buFont typeface="Arial" pitchFamily="34" charset="0"/>
              <a:buChar char="•"/>
            </a:pPr>
            <a:r>
              <a:rPr lang="en-AU" baseline="0" noProof="0" dirty="0" smtClean="0"/>
              <a:t>Auto</a:t>
            </a:r>
          </a:p>
          <a:p>
            <a:pPr lvl="1">
              <a:buFont typeface="Arial" pitchFamily="34" charset="0"/>
              <a:buChar char="•"/>
            </a:pPr>
            <a:r>
              <a:rPr lang="en-AU" baseline="0" noProof="0" dirty="0" smtClean="0"/>
              <a:t>Professionalism</a:t>
            </a:r>
          </a:p>
          <a:p>
            <a:pPr lvl="1">
              <a:buFont typeface="Arial" pitchFamily="34" charset="0"/>
              <a:buChar char="•"/>
            </a:pPr>
            <a:r>
              <a:rPr lang="en-AU" baseline="0" noProof="0" dirty="0" smtClean="0"/>
              <a:t>Safety</a:t>
            </a:r>
          </a:p>
          <a:p>
            <a:pPr lvl="1">
              <a:buFont typeface="Arial" pitchFamily="34" charset="0"/>
              <a:buChar char="•"/>
            </a:pPr>
            <a:r>
              <a:rPr lang="en-AU" baseline="0" noProof="0" dirty="0" smtClean="0"/>
              <a:t>Vehicle features</a:t>
            </a:r>
          </a:p>
          <a:p>
            <a:pPr>
              <a:buFont typeface="Arial" pitchFamily="34" charset="0"/>
              <a:buChar char="•"/>
            </a:pPr>
            <a:endParaRPr lang="en-AU" baseline="0" noProof="0" dirty="0" smtClean="0"/>
          </a:p>
          <a:p>
            <a:pPr>
              <a:buFont typeface="Arial" pitchFamily="34" charset="0"/>
              <a:buChar char="•"/>
            </a:pPr>
            <a:endParaRPr lang="en-AU" baseline="0" noProof="0" dirty="0" smtClean="0"/>
          </a:p>
          <a:p>
            <a:pPr>
              <a:buFont typeface="Arial" pitchFamily="34" charset="0"/>
              <a:buChar char="•"/>
            </a:pPr>
            <a:endParaRPr lang="en-AU" baseline="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41077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baseline="0" noProof="0" dirty="0" smtClean="0"/>
              <a:t>Use the internet connection to display images of any vehicle trainees are not familiar with.</a:t>
            </a:r>
          </a:p>
          <a:p>
            <a:pPr>
              <a:buFont typeface="Arial" pitchFamily="34" charset="0"/>
              <a:buChar char="•"/>
            </a:pPr>
            <a:r>
              <a:rPr lang="en-AU" baseline="0" noProof="0" dirty="0" smtClean="0"/>
              <a:t>Check previous knowledge or experience with listed vehicles</a:t>
            </a:r>
          </a:p>
          <a:p>
            <a:pPr lvl="1">
              <a:buFont typeface="Arial" pitchFamily="34" charset="0"/>
              <a:buChar char="•"/>
            </a:pPr>
            <a:r>
              <a:rPr lang="en-AU" baseline="0" noProof="0" dirty="0" smtClean="0"/>
              <a:t>Size, length and weight of vehicle can have an impact on ease of driving.</a:t>
            </a:r>
          </a:p>
          <a:p>
            <a:pPr>
              <a:buFont typeface="Arial" pitchFamily="34" charset="0"/>
              <a:buChar char="•"/>
            </a:pPr>
            <a:endParaRPr lang="en-AU" baseline="0" noProof="0" dirty="0" smtClean="0"/>
          </a:p>
          <a:p>
            <a:pPr>
              <a:buFont typeface="Arial" pitchFamily="34" charset="0"/>
              <a:buNone/>
            </a:pPr>
            <a:r>
              <a:rPr lang="en-AU" baseline="0" noProof="0" dirty="0" smtClean="0"/>
              <a:t>Encourage time for familiarisation of vehicle and test drive. Before using in an operational situation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3734830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Discuss as needed and review table (license grades) on next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3118259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Animation has been applied to each point to allow for emphasis or further discussion as needed.</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endParaRPr kumimoji="0" lang="en-AU" sz="2000" b="0" i="0" u="none" strike="noStrike" kern="1200" cap="none" spc="0" normalizeH="0" baseline="0" noProof="0" dirty="0" smtClean="0">
              <a:ln>
                <a:noFill/>
              </a:ln>
              <a:solidFill>
                <a:prstClr val="black"/>
              </a:solidFill>
              <a:effectLst/>
              <a:uLnTx/>
              <a:uFillTx/>
              <a:ea typeface="Calibri"/>
              <a:cs typeface="Times New Roman"/>
            </a:endParaRP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Some ASEAN countries will accept and recognise driver’s licences issued from </a:t>
            </a:r>
            <a:r>
              <a:rPr kumimoji="0" lang="en-AU" sz="2000" b="0" i="1" u="none" strike="noStrike" kern="1200" cap="none" spc="0" normalizeH="0" baseline="0" noProof="0" dirty="0" smtClean="0">
                <a:ln>
                  <a:noFill/>
                </a:ln>
                <a:solidFill>
                  <a:prstClr val="black"/>
                </a:solidFill>
                <a:effectLst/>
                <a:uLnTx/>
                <a:uFillTx/>
                <a:ea typeface="Calibri"/>
                <a:cs typeface="Times New Roman"/>
              </a:rPr>
              <a:t>any</a:t>
            </a:r>
            <a:r>
              <a:rPr kumimoji="0" lang="en-AU" sz="2000" b="0" i="0" u="none" strike="noStrike" kern="1200" cap="none" spc="0" normalizeH="0" baseline="0" noProof="0" dirty="0" smtClean="0">
                <a:ln>
                  <a:noFill/>
                </a:ln>
                <a:solidFill>
                  <a:prstClr val="black"/>
                </a:solidFill>
                <a:effectLst/>
                <a:uLnTx/>
                <a:uFillTx/>
                <a:ea typeface="Calibri"/>
                <a:cs typeface="Times New Roman"/>
              </a:rPr>
              <a:t> other ASEAN country</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A new ASEAN driving licence issued by Thailand has been approved for use in all 10 ASEAN Member States</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Standard 4WD vehicles do not require a separate licence</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A special licence is required to drive buses, coaches. Light and heavy vehicles</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People seeking a driving licence may be required to obtain a Learner’s Driving Licence – meaning: </a:t>
            </a:r>
          </a:p>
          <a:p>
            <a:pPr marL="733806" marR="0" lvl="1" indent="-285750" algn="l" defTabSz="914400" rtl="0" eaLnBrk="1" fontAlgn="auto" latinLnBrk="0" hangingPunct="1">
              <a:lnSpc>
                <a:spcPct val="100000"/>
              </a:lnSpc>
              <a:spcBef>
                <a:spcPts val="400"/>
              </a:spcBef>
              <a:spcAft>
                <a:spcPts val="800"/>
              </a:spcAft>
              <a:buClr>
                <a:srgbClr val="7FD13B"/>
              </a:buClr>
              <a:buSzPct val="90000"/>
              <a:buFont typeface="Arial" panose="020B0604020202020204" pitchFamily="34" charset="0"/>
              <a:buChar char="•"/>
              <a:tabLst/>
              <a:defRPr/>
            </a:pPr>
            <a:r>
              <a:rPr kumimoji="0" lang="en-AU" sz="1500" b="0" i="0" u="none" strike="noStrike" kern="1200" cap="none" spc="0" normalizeH="0" baseline="0" noProof="0" dirty="0" smtClean="0">
                <a:ln>
                  <a:noFill/>
                </a:ln>
                <a:solidFill>
                  <a:prstClr val="black"/>
                </a:solidFill>
                <a:effectLst/>
                <a:uLnTx/>
                <a:uFillTx/>
                <a:ea typeface="Calibri"/>
                <a:cs typeface="Calibri"/>
              </a:rPr>
              <a:t>They need to pass a Theory Test </a:t>
            </a:r>
          </a:p>
          <a:p>
            <a:pPr marL="733806" marR="0" lvl="1" indent="-285750" algn="l" defTabSz="914400" rtl="0" eaLnBrk="1" fontAlgn="auto" latinLnBrk="0" hangingPunct="1">
              <a:lnSpc>
                <a:spcPct val="100000"/>
              </a:lnSpc>
              <a:spcBef>
                <a:spcPts val="400"/>
              </a:spcBef>
              <a:spcAft>
                <a:spcPts val="800"/>
              </a:spcAft>
              <a:buClr>
                <a:srgbClr val="7FD13B"/>
              </a:buClr>
              <a:buSzPct val="90000"/>
              <a:buFont typeface="Arial" panose="020B0604020202020204" pitchFamily="34" charset="0"/>
              <a:buChar char="•"/>
              <a:tabLst/>
              <a:defRPr/>
            </a:pPr>
            <a:r>
              <a:rPr kumimoji="0" lang="en-AU" sz="1500" b="0" i="0" u="none" strike="noStrike" kern="1200" cap="none" spc="0" normalizeH="0" baseline="0" noProof="0" dirty="0" smtClean="0">
                <a:ln>
                  <a:noFill/>
                </a:ln>
                <a:solidFill>
                  <a:prstClr val="black"/>
                </a:solidFill>
                <a:effectLst/>
                <a:uLnTx/>
                <a:uFillTx/>
                <a:ea typeface="Calibri"/>
                <a:cs typeface="Calibri"/>
              </a:rPr>
              <a:t>They can drive a vehicle to gain experience and expertise only under the guidance and supervision of a fully licensed driver</a:t>
            </a:r>
          </a:p>
          <a:p>
            <a:pPr marL="733806" marR="0" lvl="1" indent="-285750" algn="l" defTabSz="914400" rtl="0" eaLnBrk="1" fontAlgn="auto" latinLnBrk="0" hangingPunct="1">
              <a:lnSpc>
                <a:spcPct val="100000"/>
              </a:lnSpc>
              <a:spcBef>
                <a:spcPts val="400"/>
              </a:spcBef>
              <a:spcAft>
                <a:spcPts val="800"/>
              </a:spcAft>
              <a:buClr>
                <a:srgbClr val="7FD13B"/>
              </a:buClr>
              <a:buSzPct val="90000"/>
              <a:buFont typeface="Arial" panose="020B0604020202020204" pitchFamily="34" charset="0"/>
              <a:buChar char="•"/>
              <a:tabLst/>
              <a:defRPr/>
            </a:pPr>
            <a:r>
              <a:rPr kumimoji="0" lang="en-AU" sz="1500" b="0" i="0" u="sng" strike="noStrike" kern="1200" cap="none" spc="0" normalizeH="0" baseline="0" noProof="0" dirty="0" smtClean="0">
                <a:ln>
                  <a:noFill/>
                </a:ln>
                <a:solidFill>
                  <a:prstClr val="black"/>
                </a:solidFill>
                <a:effectLst/>
                <a:uLnTx/>
                <a:uFillTx/>
                <a:ea typeface="Calibri"/>
                <a:cs typeface="Calibri"/>
              </a:rPr>
              <a:t>This licence is only valid in the country of issue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683670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6576" marR="0" lvl="0" indent="0" algn="l" defTabSz="914400" rtl="0" eaLnBrk="1" fontAlgn="auto" latinLnBrk="0" hangingPunct="1">
              <a:lnSpc>
                <a:spcPct val="100000"/>
              </a:lnSpc>
              <a:spcBef>
                <a:spcPts val="400"/>
              </a:spcBef>
              <a:spcAft>
                <a:spcPts val="800"/>
              </a:spcAft>
              <a:buClr>
                <a:srgbClr val="7FD13B"/>
              </a:buClr>
              <a:buSzPct val="80000"/>
              <a:buFont typeface="Wingdings 2"/>
              <a:buNone/>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Animation has been applied to each point to allow for emphasis or further discussion as needed.</a:t>
            </a:r>
          </a:p>
          <a:p>
            <a:endParaRPr lang="en-AU" dirty="0" smtClean="0"/>
          </a:p>
          <a:p>
            <a:endParaRPr lang="en-AU" dirty="0" smtClean="0"/>
          </a:p>
          <a:p>
            <a:pPr marL="342900" lvl="0" indent="-342900">
              <a:spcBef>
                <a:spcPts val="300"/>
              </a:spcBef>
              <a:spcAft>
                <a:spcPts val="600"/>
              </a:spcAft>
              <a:buFont typeface="Symbol"/>
              <a:buChar char=""/>
            </a:pPr>
            <a:r>
              <a:rPr lang="en-AU" sz="1200" dirty="0" smtClean="0">
                <a:effectLst/>
                <a:ea typeface="Calibri"/>
                <a:cs typeface="Times New Roman"/>
              </a:rPr>
              <a:t>When the initial driving licence is granted it may take the form of a Probationary licence – meaning the holder is subject to special obligations for a given period of 1 – 3 years</a:t>
            </a:r>
          </a:p>
          <a:p>
            <a:pPr marL="342900" lvl="0" indent="-342900">
              <a:spcBef>
                <a:spcPts val="300"/>
              </a:spcBef>
              <a:spcAft>
                <a:spcPts val="600"/>
              </a:spcAft>
              <a:buFont typeface="Symbol"/>
              <a:buChar char=""/>
            </a:pPr>
            <a:r>
              <a:rPr lang="en-AU" sz="1200" dirty="0" smtClean="0">
                <a:effectLst/>
                <a:ea typeface="Calibri"/>
                <a:cs typeface="Times New Roman"/>
              </a:rPr>
              <a:t>Manual and automatic transmission vehicles are treated differently – in that:</a:t>
            </a:r>
          </a:p>
          <a:p>
            <a:pPr marL="342900" lvl="0" indent="-342900">
              <a:spcBef>
                <a:spcPts val="300"/>
              </a:spcBef>
              <a:spcAft>
                <a:spcPts val="600"/>
              </a:spcAft>
              <a:buFont typeface="Helvetica"/>
              <a:buChar char="–"/>
            </a:pPr>
            <a:r>
              <a:rPr lang="en-AU" sz="1200" dirty="0" smtClean="0">
                <a:effectLst/>
                <a:ea typeface="Calibri"/>
                <a:cs typeface="Calibri"/>
              </a:rPr>
              <a:t>A person who holds an ‘automatic only’ licence cannot drive a manual vehicle</a:t>
            </a:r>
          </a:p>
          <a:p>
            <a:pPr marL="342900" lvl="0" indent="-342900">
              <a:spcBef>
                <a:spcPts val="300"/>
              </a:spcBef>
              <a:spcAft>
                <a:spcPts val="600"/>
              </a:spcAft>
              <a:buFont typeface="Helvetica"/>
              <a:buChar char="–"/>
            </a:pPr>
            <a:r>
              <a:rPr lang="en-AU" sz="1200" dirty="0" smtClean="0">
                <a:effectLst/>
                <a:ea typeface="Calibri"/>
                <a:cs typeface="Calibri"/>
              </a:rPr>
              <a:t>A person holding a manual licence is allowed to drive a manual vehicle</a:t>
            </a:r>
          </a:p>
          <a:p>
            <a:pPr marL="342900" lvl="0" indent="-342900">
              <a:spcBef>
                <a:spcPts val="300"/>
              </a:spcBef>
              <a:spcAft>
                <a:spcPts val="600"/>
              </a:spcAft>
              <a:buFont typeface="Symbol"/>
              <a:buChar char=""/>
            </a:pPr>
            <a:r>
              <a:rPr lang="en-AU" sz="1200" dirty="0" smtClean="0">
                <a:effectLst/>
                <a:ea typeface="Calibri"/>
                <a:cs typeface="Times New Roman"/>
              </a:rPr>
              <a:t>A ‘full’ driving licence will/may only be issued when the requirements of the Probationary licence have been met </a:t>
            </a:r>
          </a:p>
          <a:p>
            <a:pPr marL="342900" lvl="0" indent="-342900">
              <a:spcBef>
                <a:spcPts val="300"/>
              </a:spcBef>
              <a:spcAft>
                <a:spcPts val="600"/>
              </a:spcAft>
              <a:buFont typeface="Symbol"/>
              <a:buChar char=""/>
            </a:pPr>
            <a:r>
              <a:rPr lang="en-AU" sz="1200" dirty="0" smtClean="0">
                <a:effectLst/>
                <a:ea typeface="Calibri"/>
                <a:cs typeface="Times New Roman"/>
              </a:rPr>
              <a:t>Licences are not ‘permanent’ – they are issued for a limited period of time (say, 5 years) and must be renewed following host country re-application protocols/renewal procedures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407805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Animation has been applied to each point to allow for emphasis or further discussion as needed.</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100" b="0" i="0" u="none" strike="noStrike" kern="1200" cap="none" spc="0" normalizeH="0" baseline="0" noProof="0" dirty="0" smtClean="0">
                <a:ln>
                  <a:noFill/>
                </a:ln>
                <a:solidFill>
                  <a:prstClr val="black"/>
                </a:solidFill>
                <a:effectLst/>
                <a:uLnTx/>
                <a:uFillTx/>
                <a:ea typeface="Calibri"/>
                <a:cs typeface="Times New Roman"/>
              </a:rPr>
              <a:t>Licences are not ‘permanent’ – they are issued for a limited period of time (say, 5 years) and must be renewed following host country re-application protocols/renewal procedures</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People of a certain age (say, 70+ years) may be required to obtain a medical certificate stating their fitness to drive </a:t>
            </a:r>
          </a:p>
          <a:p>
            <a:pPr marL="379476" marR="0" lvl="0"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Times New Roman"/>
              </a:rPr>
              <a:t>Driving is a privilege not a right – the law has penalties for failure to comply with host country road legislation, such as:</a:t>
            </a:r>
          </a:p>
          <a:p>
            <a:pPr marL="836676" marR="0" lvl="1"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Calibri"/>
              </a:rPr>
              <a:t>Demerit points – such that when a maximum number of points has been given to the driver for driving offence their licence will be suspended or cancelled</a:t>
            </a:r>
          </a:p>
          <a:p>
            <a:pPr marL="836676" marR="0" lvl="1" indent="-342900" algn="l" defTabSz="914400" rtl="0" eaLnBrk="1" fontAlgn="auto" latinLnBrk="0" hangingPunct="1">
              <a:lnSpc>
                <a:spcPct val="100000"/>
              </a:lnSpc>
              <a:spcBef>
                <a:spcPts val="400"/>
              </a:spcBef>
              <a:spcAft>
                <a:spcPts val="800"/>
              </a:spcAft>
              <a:buClr>
                <a:srgbClr val="7FD13B"/>
              </a:buClr>
              <a:buSzPct val="80000"/>
              <a:buFont typeface="Arial" panose="020B0604020202020204" pitchFamily="34" charset="0"/>
              <a:buChar char="•"/>
              <a:tabLst/>
              <a:defRPr/>
            </a:pPr>
            <a:r>
              <a:rPr kumimoji="0" lang="en-AU" sz="2000" b="0" i="0" u="none" strike="noStrike" kern="1200" cap="none" spc="0" normalizeH="0" baseline="0" noProof="0" dirty="0" smtClean="0">
                <a:ln>
                  <a:noFill/>
                </a:ln>
                <a:solidFill>
                  <a:prstClr val="black"/>
                </a:solidFill>
                <a:effectLst/>
                <a:uLnTx/>
                <a:uFillTx/>
                <a:ea typeface="Calibri"/>
                <a:cs typeface="Calibri"/>
              </a:rPr>
              <a:t>Monetary fines for failing to comply with road laws.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576589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any relevant knowledge or experience in the room.</a:t>
            </a:r>
          </a:p>
          <a:p>
            <a:r>
              <a:rPr lang="en-AU" baseline="0" dirty="0" smtClean="0"/>
              <a:t>Web addresses available for viewing on next slide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984769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Visit these websites and discuss as necessary.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021652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View the website for the Land Transport Office or similar in your country to view license requirements. View</a:t>
            </a:r>
            <a:r>
              <a:rPr lang="en-AU" baseline="0" dirty="0" smtClean="0"/>
              <a:t> application pre-requisites on next slide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674765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application requirements in your country. View a website or have a copy of an application form for viewing.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Review the points in the TM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212362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Inform</a:t>
            </a:r>
            <a:r>
              <a:rPr lang="en-AU" baseline="0" dirty="0" smtClean="0"/>
              <a:t> trainees on context of gaining a drivers license. Obtained through </a:t>
            </a:r>
          </a:p>
          <a:p>
            <a:pPr marL="342900" lvl="0" indent="-342900">
              <a:spcBef>
                <a:spcPts val="300"/>
              </a:spcBef>
              <a:spcAft>
                <a:spcPts val="600"/>
              </a:spcAft>
              <a:buFont typeface="Symbol"/>
              <a:buChar char=""/>
            </a:pPr>
            <a:r>
              <a:rPr lang="en-AU" sz="1200" dirty="0" smtClean="0">
                <a:effectLst/>
                <a:ea typeface="Calibri"/>
                <a:cs typeface="Times New Roman"/>
              </a:rPr>
              <a:t>Private companies operating as licensed Driving schools or Driving Centres</a:t>
            </a:r>
          </a:p>
          <a:p>
            <a:pPr marL="342900" lvl="0" indent="-342900">
              <a:spcBef>
                <a:spcPts val="300"/>
              </a:spcBef>
              <a:spcAft>
                <a:spcPts val="600"/>
              </a:spcAft>
              <a:buFont typeface="Symbol"/>
              <a:buChar char=""/>
            </a:pPr>
            <a:r>
              <a:rPr lang="en-AU" sz="1200" dirty="0" smtClean="0">
                <a:effectLst/>
                <a:ea typeface="Calibri"/>
                <a:cs typeface="Times New Roman"/>
              </a:rPr>
              <a:t>Licensed individuals operating as private driving instructors.</a:t>
            </a:r>
          </a:p>
          <a:p>
            <a:pPr>
              <a:spcBef>
                <a:spcPts val="400"/>
              </a:spcBef>
              <a:spcAft>
                <a:spcPts val="800"/>
              </a:spcAft>
            </a:pPr>
            <a:r>
              <a:rPr lang="en-AU" sz="1200" dirty="0" smtClean="0">
                <a:effectLst/>
                <a:ea typeface="Calibri"/>
                <a:cs typeface="Calibri"/>
              </a:rPr>
              <a:t>Dual-control cars may be used.</a:t>
            </a:r>
          </a:p>
          <a:p>
            <a:pPr>
              <a:spcBef>
                <a:spcPts val="400"/>
              </a:spcBef>
              <a:spcAft>
                <a:spcPts val="800"/>
              </a:spcAft>
            </a:pPr>
            <a:endParaRPr lang="en-AU" sz="1200" dirty="0" smtClean="0">
              <a:effectLst/>
              <a:ea typeface="Calibri"/>
              <a:cs typeface="Calibri"/>
            </a:endParaRPr>
          </a:p>
          <a:p>
            <a:pPr>
              <a:spcBef>
                <a:spcPts val="400"/>
              </a:spcBef>
              <a:spcAft>
                <a:spcPts val="800"/>
              </a:spcAft>
            </a:pPr>
            <a:r>
              <a:rPr lang="en-AU" sz="1200" dirty="0" smtClean="0">
                <a:effectLst/>
                <a:ea typeface="Calibri"/>
                <a:cs typeface="Calibri"/>
              </a:rPr>
              <a:t>Review the points on the</a:t>
            </a:r>
            <a:r>
              <a:rPr lang="en-AU" sz="1200" baseline="0" dirty="0" smtClean="0">
                <a:effectLst/>
                <a:ea typeface="Calibri"/>
                <a:cs typeface="Calibri"/>
              </a:rPr>
              <a:t> slide and discuss further based on what is provided in your local area if known.</a:t>
            </a:r>
          </a:p>
          <a:p>
            <a:pPr>
              <a:spcBef>
                <a:spcPts val="400"/>
              </a:spcBef>
              <a:spcAft>
                <a:spcPts val="800"/>
              </a:spcAft>
            </a:pPr>
            <a:endParaRPr lang="en-AU" sz="1200" baseline="0" dirty="0" smtClean="0">
              <a:effectLst/>
              <a:ea typeface="Calibri"/>
              <a:cs typeface="Calibri"/>
            </a:endParaRPr>
          </a:p>
          <a:p>
            <a:pPr>
              <a:spcBef>
                <a:spcPts val="400"/>
              </a:spcBef>
              <a:spcAft>
                <a:spcPts val="800"/>
              </a:spcAft>
            </a:pPr>
            <a:endParaRPr lang="en-AU" sz="1200" dirty="0" smtClean="0">
              <a:effectLst/>
              <a:ea typeface="Calibri"/>
              <a:cs typeface="Calibri"/>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710097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Working from TM review points </a:t>
            </a:r>
            <a:r>
              <a:rPr lang="en-AU" baseline="0" noProof="0" dirty="0" smtClean="0"/>
              <a:t>listed here and discuss further as they apply to your country</a:t>
            </a:r>
          </a:p>
          <a:p>
            <a:pPr>
              <a:buFont typeface="Arial" pitchFamily="34" charset="0"/>
              <a:buChar char="•"/>
            </a:pPr>
            <a:r>
              <a:rPr lang="en-AU" baseline="0" noProof="0" dirty="0" smtClean="0"/>
              <a:t>What drink driving laws apply?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1239720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spcBef>
                <a:spcPts val="400"/>
              </a:spcBef>
              <a:spcAft>
                <a:spcPts val="800"/>
              </a:spcAft>
            </a:pPr>
            <a:r>
              <a:rPr lang="en-AU" sz="1200" dirty="0" smtClean="0">
                <a:effectLst/>
                <a:ea typeface="Calibri"/>
                <a:cs typeface="Calibri"/>
              </a:rPr>
              <a:t>Elaborate on these points as needed.</a:t>
            </a:r>
          </a:p>
          <a:p>
            <a:pPr>
              <a:spcBef>
                <a:spcPts val="400"/>
              </a:spcBef>
              <a:spcAft>
                <a:spcPts val="800"/>
              </a:spcAft>
            </a:pPr>
            <a:endParaRPr lang="en-AU" sz="1200" dirty="0" smtClean="0">
              <a:effectLst/>
              <a:ea typeface="Calibri"/>
              <a:cs typeface="Calibri"/>
            </a:endParaRPr>
          </a:p>
          <a:p>
            <a:pPr>
              <a:spcBef>
                <a:spcPts val="400"/>
              </a:spcBef>
              <a:spcAft>
                <a:spcPts val="800"/>
              </a:spcAft>
            </a:pPr>
            <a:r>
              <a:rPr lang="en-AU" sz="1200" dirty="0" smtClean="0">
                <a:effectLst/>
                <a:ea typeface="Calibri"/>
                <a:cs typeface="Calibri"/>
              </a:rPr>
              <a:t>The theory component may address topics such as:</a:t>
            </a:r>
          </a:p>
          <a:p>
            <a:pPr marL="342900" lvl="0" indent="-342900">
              <a:spcBef>
                <a:spcPts val="300"/>
              </a:spcBef>
              <a:spcAft>
                <a:spcPts val="600"/>
              </a:spcAft>
              <a:buFont typeface="Symbol"/>
              <a:buChar char=""/>
            </a:pPr>
            <a:r>
              <a:rPr lang="en-AU" sz="1200" dirty="0" smtClean="0">
                <a:effectLst/>
                <a:ea typeface="Calibri"/>
                <a:cs typeface="Times New Roman"/>
              </a:rPr>
              <a:t>Basic rules and responsibilities</a:t>
            </a:r>
          </a:p>
          <a:p>
            <a:pPr marL="342900" lvl="0" indent="-342900">
              <a:spcBef>
                <a:spcPts val="300"/>
              </a:spcBef>
              <a:spcAft>
                <a:spcPts val="600"/>
              </a:spcAft>
              <a:buFont typeface="Symbol"/>
              <a:buChar char=""/>
            </a:pPr>
            <a:r>
              <a:rPr lang="en-AU" sz="1200" dirty="0" smtClean="0">
                <a:effectLst/>
                <a:ea typeface="Calibri"/>
                <a:cs typeface="Times New Roman"/>
              </a:rPr>
              <a:t>Alcohol, drugs, medicine and driving</a:t>
            </a:r>
          </a:p>
          <a:p>
            <a:pPr marL="342900" lvl="0" indent="-342900">
              <a:spcBef>
                <a:spcPts val="300"/>
              </a:spcBef>
              <a:spcAft>
                <a:spcPts val="600"/>
              </a:spcAft>
              <a:buFont typeface="Symbol"/>
              <a:buChar char=""/>
            </a:pPr>
            <a:r>
              <a:rPr lang="en-AU" sz="1200" dirty="0" smtClean="0">
                <a:effectLst/>
                <a:ea typeface="Calibri"/>
                <a:cs typeface="Times New Roman"/>
              </a:rPr>
              <a:t>Need for and use of seat belts</a:t>
            </a:r>
          </a:p>
          <a:p>
            <a:pPr marL="342900" lvl="0" indent="-342900">
              <a:spcBef>
                <a:spcPts val="300"/>
              </a:spcBef>
              <a:spcAft>
                <a:spcPts val="600"/>
              </a:spcAft>
              <a:buFont typeface="Symbol"/>
              <a:buChar char=""/>
            </a:pPr>
            <a:r>
              <a:rPr lang="en-AU" sz="1200" dirty="0" smtClean="0">
                <a:effectLst/>
                <a:ea typeface="Calibri"/>
                <a:cs typeface="Times New Roman"/>
              </a:rPr>
              <a:t>Meaning of road signs</a:t>
            </a:r>
          </a:p>
          <a:p>
            <a:pPr marL="342900" lvl="0" indent="-342900">
              <a:spcBef>
                <a:spcPts val="300"/>
              </a:spcBef>
              <a:spcAft>
                <a:spcPts val="600"/>
              </a:spcAft>
              <a:buFont typeface="Symbol"/>
              <a:buChar char=""/>
            </a:pPr>
            <a:r>
              <a:rPr lang="en-AU" sz="1200" dirty="0" smtClean="0">
                <a:effectLst/>
                <a:ea typeface="Calibri"/>
                <a:cs typeface="Times New Roman"/>
              </a:rPr>
              <a:t>Speed limits</a:t>
            </a:r>
          </a:p>
          <a:p>
            <a:pPr marL="342900" lvl="0" indent="-342900">
              <a:spcBef>
                <a:spcPts val="300"/>
              </a:spcBef>
              <a:spcAft>
                <a:spcPts val="600"/>
              </a:spcAft>
              <a:buFont typeface="Symbol"/>
              <a:buChar char=""/>
            </a:pPr>
            <a:r>
              <a:rPr lang="en-AU" sz="1200" dirty="0" smtClean="0">
                <a:effectLst/>
                <a:ea typeface="Calibri"/>
                <a:cs typeface="Times New Roman"/>
              </a:rPr>
              <a:t>Give way rules</a:t>
            </a:r>
          </a:p>
          <a:p>
            <a:pPr marL="342900" lvl="0" indent="-342900">
              <a:spcBef>
                <a:spcPts val="300"/>
              </a:spcBef>
              <a:spcAft>
                <a:spcPts val="600"/>
              </a:spcAft>
              <a:buFont typeface="Symbol"/>
              <a:buChar char=""/>
            </a:pPr>
            <a:r>
              <a:rPr lang="en-AU" sz="1200" dirty="0" smtClean="0">
                <a:effectLst/>
                <a:ea typeface="Calibri"/>
                <a:cs typeface="Times New Roman"/>
              </a:rPr>
              <a:t>Road marking</a:t>
            </a:r>
          </a:p>
          <a:p>
            <a:pPr marL="342900" lvl="0" indent="-342900">
              <a:spcBef>
                <a:spcPts val="300"/>
              </a:spcBef>
              <a:spcAft>
                <a:spcPts val="600"/>
              </a:spcAft>
              <a:buFont typeface="Symbol"/>
              <a:buChar char=""/>
            </a:pPr>
            <a:r>
              <a:rPr lang="en-AU" sz="1200" dirty="0" smtClean="0">
                <a:effectLst/>
                <a:ea typeface="Calibri"/>
                <a:cs typeface="Times New Roman"/>
              </a:rPr>
              <a:t>Traffic control/traffic lights</a:t>
            </a:r>
          </a:p>
          <a:p>
            <a:pPr marL="342900" lvl="0" indent="-342900">
              <a:spcBef>
                <a:spcPts val="300"/>
              </a:spcBef>
              <a:spcAft>
                <a:spcPts val="600"/>
              </a:spcAft>
              <a:buFont typeface="Symbol"/>
              <a:buChar char=""/>
            </a:pPr>
            <a:r>
              <a:rPr lang="en-AU" sz="1200" dirty="0" smtClean="0">
                <a:effectLst/>
                <a:ea typeface="Calibri"/>
                <a:cs typeface="Times New Roman"/>
              </a:rPr>
              <a:t>Road courtesy</a:t>
            </a:r>
          </a:p>
          <a:p>
            <a:pPr marL="342900" lvl="0" indent="-342900">
              <a:spcBef>
                <a:spcPts val="300"/>
              </a:spcBef>
              <a:spcAft>
                <a:spcPts val="600"/>
              </a:spcAft>
              <a:buFont typeface="Symbol"/>
              <a:buChar char=""/>
            </a:pPr>
            <a:r>
              <a:rPr lang="en-AU" sz="1200" dirty="0" smtClean="0">
                <a:effectLst/>
                <a:ea typeface="Calibri"/>
                <a:cs typeface="Times New Roman"/>
              </a:rPr>
              <a:t>Safe and/or defensive driving</a:t>
            </a:r>
          </a:p>
          <a:p>
            <a:pPr marL="342900" lvl="0" indent="-342900">
              <a:spcBef>
                <a:spcPts val="300"/>
              </a:spcBef>
              <a:spcAft>
                <a:spcPts val="600"/>
              </a:spcAft>
              <a:buFont typeface="Symbol"/>
              <a:buChar char=""/>
            </a:pPr>
            <a:r>
              <a:rPr lang="en-AU" sz="1200" dirty="0" smtClean="0">
                <a:effectLst/>
                <a:ea typeface="Calibri"/>
                <a:cs typeface="Times New Roman"/>
              </a:rPr>
              <a:t>Parking</a:t>
            </a:r>
          </a:p>
          <a:p>
            <a:pPr marL="342900" lvl="0" indent="-342900">
              <a:spcBef>
                <a:spcPts val="300"/>
              </a:spcBef>
              <a:spcAft>
                <a:spcPts val="600"/>
              </a:spcAft>
              <a:buFont typeface="Symbol"/>
              <a:buChar char=""/>
            </a:pPr>
            <a:r>
              <a:rPr lang="en-AU" sz="1200" dirty="0" smtClean="0">
                <a:effectLst/>
                <a:ea typeface="Calibri"/>
                <a:cs typeface="Times New Roman"/>
              </a:rPr>
              <a:t>Offences and penalties</a:t>
            </a:r>
          </a:p>
          <a:p>
            <a:pPr marL="342900" lvl="0" indent="-342900">
              <a:spcBef>
                <a:spcPts val="300"/>
              </a:spcBef>
              <a:spcAft>
                <a:spcPts val="600"/>
              </a:spcAft>
              <a:buFont typeface="Symbol"/>
              <a:buChar char=""/>
            </a:pPr>
            <a:r>
              <a:rPr lang="en-AU" sz="1200" dirty="0" smtClean="0">
                <a:effectLst/>
                <a:ea typeface="Calibri"/>
                <a:cs typeface="Times New Roman"/>
              </a:rPr>
              <a:t>Legal responsibilities.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592878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171450" lvl="0" indent="-171450">
              <a:spcBef>
                <a:spcPts val="300"/>
              </a:spcBef>
              <a:spcAft>
                <a:spcPts val="600"/>
              </a:spcAft>
              <a:buFont typeface="Arial" panose="020B0604020202020204" pitchFamily="34" charset="0"/>
              <a:buChar char="•"/>
            </a:pPr>
            <a:r>
              <a:rPr lang="en-AU" sz="1200" dirty="0" smtClean="0">
                <a:effectLst/>
                <a:ea typeface="Calibri"/>
                <a:cs typeface="Times New Roman"/>
              </a:rPr>
              <a:t>Have trainees highlight or add any notes in their TM as discussed </a:t>
            </a:r>
          </a:p>
          <a:p>
            <a:pPr marL="171450" lvl="0" indent="-171450">
              <a:spcBef>
                <a:spcPts val="300"/>
              </a:spcBef>
              <a:spcAft>
                <a:spcPts val="600"/>
              </a:spcAft>
              <a:buFont typeface="Arial" panose="020B0604020202020204" pitchFamily="34" charset="0"/>
              <a:buChar char="•"/>
            </a:pPr>
            <a:endParaRPr lang="en-AU" sz="1200" dirty="0" smtClean="0">
              <a:effectLst/>
              <a:ea typeface="Calibri"/>
              <a:cs typeface="Times New Roman"/>
            </a:endParaRPr>
          </a:p>
          <a:p>
            <a:pPr marL="171450" lvl="0" indent="-171450">
              <a:spcBef>
                <a:spcPts val="300"/>
              </a:spcBef>
              <a:spcAft>
                <a:spcPts val="600"/>
              </a:spcAft>
              <a:buFont typeface="Arial" panose="020B0604020202020204" pitchFamily="34" charset="0"/>
              <a:buChar char="•"/>
            </a:pPr>
            <a:r>
              <a:rPr lang="en-AU" sz="1200" dirty="0" smtClean="0">
                <a:effectLst/>
                <a:ea typeface="Calibri"/>
                <a:cs typeface="Times New Roman"/>
              </a:rPr>
              <a:t>Pre-drive checks – where the controls of the vehicle are identified, set and/or checked/verified</a:t>
            </a:r>
          </a:p>
          <a:p>
            <a:pPr marL="171450" lvl="0" indent="-171450">
              <a:spcBef>
                <a:spcPts val="300"/>
              </a:spcBef>
              <a:spcAft>
                <a:spcPts val="600"/>
              </a:spcAft>
              <a:buFont typeface="Arial" panose="020B0604020202020204" pitchFamily="34" charset="0"/>
              <a:buChar char="•"/>
            </a:pPr>
            <a:r>
              <a:rPr lang="en-AU" sz="1200" dirty="0" smtClean="0">
                <a:effectLst/>
                <a:ea typeface="Calibri"/>
                <a:cs typeface="Times New Roman"/>
              </a:rPr>
              <a:t>Basic level tasks – such as driving in light traffic and:</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Starting and travelling at an appropriate speed relative to the conditions and the posted speed limit</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Stopping as and when required maintaining an appropriate distance between vehicles</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Observing traffic, pedestrians and other road users</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Turning left and right using indicators as required</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Changing lanes and staying in the correct lane</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Reverse parking</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Executing a three-point turn</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Demonstrating overall control of vehicle</a:t>
            </a:r>
          </a:p>
          <a:p>
            <a:pPr marL="171450" lvl="0" indent="-171450">
              <a:spcBef>
                <a:spcPts val="300"/>
              </a:spcBef>
              <a:spcAft>
                <a:spcPts val="600"/>
              </a:spcAft>
              <a:buFont typeface="Arial" panose="020B0604020202020204" pitchFamily="34" charset="0"/>
              <a:buChar char="•"/>
            </a:pPr>
            <a:r>
              <a:rPr lang="en-AU" sz="1200" dirty="0" smtClean="0">
                <a:effectLst/>
                <a:ea typeface="Calibri"/>
                <a:cs typeface="Times New Roman"/>
              </a:rPr>
              <a:t>Advanced level tasks – such as driving in heavy  traffic and:</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All the above</a:t>
            </a: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Merging with other traffic</a:t>
            </a:r>
          </a:p>
          <a:p>
            <a:pPr marL="800100" lvl="1" indent="-342900">
              <a:spcBef>
                <a:spcPts val="300"/>
              </a:spcBef>
              <a:spcAft>
                <a:spcPts val="600"/>
              </a:spcAft>
              <a:buFont typeface="Wingdings" panose="05000000000000000000" pitchFamily="2" charset="2"/>
              <a:buChar char="§"/>
            </a:pPr>
            <a:endParaRPr lang="en-AU" sz="1200" dirty="0" smtClean="0">
              <a:effectLst/>
              <a:ea typeface="Calibri"/>
              <a:cs typeface="Calibri"/>
            </a:endParaRPr>
          </a:p>
          <a:p>
            <a:pPr marL="800100" lvl="1" indent="-342900">
              <a:spcBef>
                <a:spcPts val="300"/>
              </a:spcBef>
              <a:spcAft>
                <a:spcPts val="600"/>
              </a:spcAft>
              <a:buFont typeface="Wingdings" panose="05000000000000000000" pitchFamily="2" charset="2"/>
              <a:buChar char="§"/>
            </a:pPr>
            <a:r>
              <a:rPr lang="en-AU" sz="1200" dirty="0" smtClean="0">
                <a:effectLst/>
                <a:ea typeface="Calibri"/>
                <a:cs typeface="Calibri"/>
              </a:rPr>
              <a:t>Refer to TM for remaining notes. Discuss if there is any requirement for  a learner logbook  or prescribed experience</a:t>
            </a:r>
            <a:r>
              <a:rPr lang="en-AU" sz="1200" baseline="0" dirty="0" smtClean="0">
                <a:effectLst/>
                <a:ea typeface="Calibri"/>
                <a:cs typeface="Calibri"/>
              </a:rPr>
              <a:t> in your country or neighbouring countries should you cross any borders whilst driving as a learner.</a:t>
            </a:r>
            <a:endParaRPr lang="en-AU" sz="1200" dirty="0" smtClean="0">
              <a:effectLst/>
              <a:ea typeface="Calibri"/>
              <a:cs typeface="Calibri"/>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666655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Review additional material in TM and discuss as relevant to your location</a:t>
            </a:r>
            <a:r>
              <a:rPr lang="en-US" baseline="0" dirty="0" smtClean="0"/>
              <a:t>.</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Confirm requirements for Work Project 1.1</a:t>
            </a:r>
          </a:p>
          <a:p>
            <a:pPr>
              <a:buFont typeface="Arial" pitchFamily="34" charset="0"/>
              <a:buChar char="•"/>
            </a:pPr>
            <a:endParaRPr lang="en-US" baseline="0" dirty="0" smtClean="0"/>
          </a:p>
          <a:p>
            <a:pPr>
              <a:buFont typeface="Arial" pitchFamily="34" charset="0"/>
              <a:buChar char="•"/>
            </a:pPr>
            <a:endParaRPr lang="en-US" baseline="0"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3536986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Continue from previous slide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Failure retest/re-sits may have particular requirements you should discuss for your location.</a:t>
            </a:r>
          </a:p>
          <a:p>
            <a:pPr>
              <a:buFont typeface="Arial" pitchFamily="34" charset="0"/>
              <a:buChar char="•"/>
            </a:pPr>
            <a:endParaRPr lang="en-US" dirty="0" smtClean="0"/>
          </a:p>
          <a:p>
            <a:pPr>
              <a:buFont typeface="Arial" pitchFamily="34" charset="0"/>
              <a:buChar char="•"/>
            </a:pPr>
            <a:r>
              <a:rPr lang="en-US" dirty="0" smtClean="0"/>
              <a:t>Confirm requirements for Work</a:t>
            </a:r>
            <a:r>
              <a:rPr lang="en-US" baseline="0" dirty="0" smtClean="0"/>
              <a:t> Project 1.1</a:t>
            </a:r>
          </a:p>
          <a:p>
            <a:pPr>
              <a:buFont typeface="Arial" pitchFamily="34" charset="0"/>
              <a:buChar char="•"/>
            </a:pPr>
            <a:endParaRPr lang="en-US"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1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3321814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performance criteria for Element 2</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14152011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Following the TM, clarify what this manual is</a:t>
            </a:r>
            <a:r>
              <a:rPr lang="en-US" baseline="0" dirty="0" smtClean="0"/>
              <a:t> and is not aiming to achieve.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1657050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Take time to work through all of the points listed in the TM and ensure trainees understand each check  and its relevance or importance.</a:t>
            </a:r>
          </a:p>
          <a:p>
            <a:r>
              <a:rPr lang="en-AU" dirty="0" smtClean="0"/>
              <a:t>(You</a:t>
            </a:r>
            <a:r>
              <a:rPr lang="en-AU" baseline="0" dirty="0" smtClean="0"/>
              <a:t> may be able to arrange access to a vehicle for this section of training and have trainees demonstrate the points to check.)</a:t>
            </a:r>
          </a:p>
          <a:p>
            <a:r>
              <a:rPr lang="en-AU" baseline="0" dirty="0" smtClean="0"/>
              <a:t>View the website and discuss as relevant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874683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Follows on from previous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each point and it relevance or importance in the check. If you do not have a vehicle to physically go through a check, display appropriate images to the group so they are able to associate the steps with visual images or diagrams.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View the website and discuss as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6822188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Have samples of paperwork available for viewing and discussion. Good and bad examples</a:t>
            </a:r>
            <a:r>
              <a:rPr lang="en-US" baseline="0" dirty="0" smtClean="0"/>
              <a:t> where possible.</a:t>
            </a:r>
          </a:p>
          <a:p>
            <a:pPr>
              <a:buFont typeface="Arial" pitchFamily="34" charset="0"/>
              <a:buChar char="•"/>
            </a:pPr>
            <a:r>
              <a:rPr lang="en-US" baseline="0" dirty="0" smtClean="0"/>
              <a:t>Follow TM and ensure understanding of each step.</a:t>
            </a:r>
            <a:endParaRPr lang="en-US" dirty="0" smtClean="0"/>
          </a:p>
          <a:p>
            <a:pPr>
              <a:buFont typeface="Arial" pitchFamily="34" charset="0"/>
              <a:buChar char="•"/>
            </a:pPr>
            <a:endParaRPr lang="en-US" dirty="0" smtClean="0"/>
          </a:p>
          <a:p>
            <a:pPr>
              <a:buFont typeface="Arial" pitchFamily="34" charset="0"/>
              <a:buChar char="•"/>
            </a:pPr>
            <a:r>
              <a:rPr lang="en-US" dirty="0" smtClean="0"/>
              <a:t>A sample maintenance log is available on the website.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312977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Have</a:t>
            </a:r>
            <a:r>
              <a:rPr lang="en-US" baseline="0" dirty="0" smtClean="0"/>
              <a:t> discussion regarding associated points listed in TM. Check any trainee knowledge or experience in these areas.</a:t>
            </a:r>
            <a:endParaRPr lang="en-US" dirty="0" smtClean="0"/>
          </a:p>
          <a:p>
            <a:pPr>
              <a:buFont typeface="Arial" pitchFamily="34" charset="0"/>
              <a:buChar cha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There are several more links that may be worth viewing within the attached link on this slide</a:t>
            </a:r>
          </a:p>
          <a:p>
            <a:pPr>
              <a:buFont typeface="Arial" pitchFamily="34" charset="0"/>
              <a:buChar char="•"/>
            </a:pPr>
            <a:r>
              <a:rPr lang="en-US" baseline="0" dirty="0" smtClean="0"/>
              <a:t>Have available any sample documentation to show trainees.</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841249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the points as listed in the TM and view the associated web link as appropriate.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Take time to review and run quiz questions at the end of each task to ensure trainees are retaining key points and steps.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37231244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Continues from previous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the points as listed in the TM and view the associated web link as appropriate.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Take time to review and run quiz questions at the end of each task to ensure trainees are retaining key points and steps.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724353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the points as listed in the TM and view the associated web link as appropriate.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Take time to review and run quiz questions at the end of each task to ensure trainees are retaining key points and steps.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If possible arrange for a vehicle to demonstrate actual tasks.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6112966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Continues from previous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Discuss the points as listed in the TM and view the associated web link as appropriate.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Take time to review and run quiz questions at the end of each task to ensure trainees are retaining key points and steps.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If possible arrange for a vehicle to demonstrate actual tasks.</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406524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topics and associated points listed in the TM. Have trainees share their knowledge and experience for each point.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697244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Provide some sample calculations for trainees to complete.</a:t>
            </a:r>
          </a:p>
          <a:p>
            <a:r>
              <a:rPr lang="en-AU" dirty="0" smtClean="0"/>
              <a:t>View websites for further discussion points.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3047286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each point detailing why</a:t>
            </a:r>
            <a:r>
              <a:rPr lang="en-US" baseline="0" dirty="0" smtClean="0"/>
              <a:t> it needs to be remembered.</a:t>
            </a:r>
          </a:p>
          <a:p>
            <a:pPr marL="935990" indent="-935990">
              <a:spcBef>
                <a:spcPts val="1200"/>
              </a:spcBef>
              <a:spcAft>
                <a:spcPts val="1200"/>
              </a:spcAft>
            </a:pPr>
            <a:r>
              <a:rPr lang="en-AU" sz="1600" b="1" dirty="0" smtClean="0">
                <a:solidFill>
                  <a:srgbClr val="45545F"/>
                </a:solidFill>
                <a:effectLst/>
                <a:ea typeface="Times New Roman"/>
                <a:cs typeface="Times New Roman"/>
              </a:rPr>
              <a:t>Important notes</a:t>
            </a:r>
          </a:p>
          <a:p>
            <a:pPr>
              <a:spcBef>
                <a:spcPts val="400"/>
              </a:spcBef>
              <a:spcAft>
                <a:spcPts val="800"/>
              </a:spcAft>
            </a:pPr>
            <a:r>
              <a:rPr lang="en-AU" sz="1200" dirty="0" smtClean="0">
                <a:effectLst/>
                <a:ea typeface="Calibri"/>
                <a:cs typeface="Calibri"/>
              </a:rPr>
              <a:t>In relation to this section it is vital those undertaking repairs note:</a:t>
            </a:r>
          </a:p>
          <a:p>
            <a:pPr marL="342900" lvl="0" indent="-342900">
              <a:spcBef>
                <a:spcPts val="300"/>
              </a:spcBef>
              <a:spcAft>
                <a:spcPts val="600"/>
              </a:spcAft>
              <a:buFont typeface="Symbol"/>
              <a:buChar char=""/>
            </a:pPr>
            <a:r>
              <a:rPr lang="en-AU" sz="1200" dirty="0" smtClean="0">
                <a:effectLst/>
                <a:ea typeface="Calibri"/>
                <a:cs typeface="Times New Roman"/>
              </a:rPr>
              <a:t>Performing repairs to vehicles which are still under warranty can void the warranty – so there is a need to check this before proceeding any further</a:t>
            </a:r>
          </a:p>
          <a:p>
            <a:pPr marL="342900" lvl="0" indent="-342900">
              <a:spcBef>
                <a:spcPts val="300"/>
              </a:spcBef>
              <a:spcAft>
                <a:spcPts val="600"/>
              </a:spcAft>
              <a:buFont typeface="Symbol"/>
              <a:buChar char=""/>
            </a:pPr>
            <a:r>
              <a:rPr lang="en-AU" sz="1200" dirty="0" smtClean="0">
                <a:effectLst/>
                <a:ea typeface="Calibri"/>
                <a:cs typeface="Times New Roman"/>
              </a:rPr>
              <a:t>The actual work required may differ between makes and models of vehicles – the procedures listed in the notes are </a:t>
            </a:r>
            <a:r>
              <a:rPr lang="en-AU" sz="1200" b="1" dirty="0" smtClean="0">
                <a:effectLst/>
                <a:ea typeface="Calibri"/>
                <a:cs typeface="Times New Roman"/>
              </a:rPr>
              <a:t>indicative only</a:t>
            </a:r>
            <a:r>
              <a:rPr lang="en-AU" sz="1200" dirty="0" smtClean="0">
                <a:effectLst/>
                <a:ea typeface="Calibri"/>
                <a:cs typeface="Times New Roman"/>
              </a:rPr>
              <a:t> </a:t>
            </a:r>
          </a:p>
          <a:p>
            <a:pPr marL="342900" lvl="0" indent="-342900">
              <a:spcBef>
                <a:spcPts val="300"/>
              </a:spcBef>
              <a:spcAft>
                <a:spcPts val="600"/>
              </a:spcAft>
              <a:buFont typeface="Symbol"/>
              <a:buChar char=""/>
            </a:pPr>
            <a:r>
              <a:rPr lang="en-AU" sz="1200" dirty="0" smtClean="0">
                <a:effectLst/>
                <a:ea typeface="Calibri"/>
                <a:cs typeface="Times New Roman"/>
              </a:rPr>
              <a:t>Always read Owner’s manual or Workshop manual to determine exact specifications for individual vehicles</a:t>
            </a:r>
          </a:p>
          <a:p>
            <a:pPr marL="342900" lvl="0" indent="-342900">
              <a:spcBef>
                <a:spcPts val="300"/>
              </a:spcBef>
              <a:spcAft>
                <a:spcPts val="600"/>
              </a:spcAft>
              <a:buFont typeface="Symbol"/>
              <a:buChar char=""/>
            </a:pPr>
            <a:r>
              <a:rPr lang="en-AU" sz="1200" dirty="0" smtClean="0">
                <a:effectLst/>
                <a:ea typeface="Calibri"/>
                <a:cs typeface="Times New Roman"/>
              </a:rPr>
              <a:t>Obtain the right parts before starting the job</a:t>
            </a:r>
          </a:p>
          <a:p>
            <a:pPr marL="342900" lvl="0" indent="-342900">
              <a:spcBef>
                <a:spcPts val="300"/>
              </a:spcBef>
              <a:spcAft>
                <a:spcPts val="600"/>
              </a:spcAft>
              <a:buFont typeface="Symbol"/>
              <a:buChar char=""/>
            </a:pPr>
            <a:r>
              <a:rPr lang="en-AU" sz="1200" dirty="0" smtClean="0">
                <a:effectLst/>
                <a:ea typeface="Calibri"/>
                <a:cs typeface="Times New Roman"/>
              </a:rPr>
              <a:t>Obtain and use the right tool/s for the job</a:t>
            </a:r>
          </a:p>
          <a:p>
            <a:pPr marL="342900" lvl="0" indent="-342900">
              <a:spcBef>
                <a:spcPts val="300"/>
              </a:spcBef>
              <a:spcAft>
                <a:spcPts val="600"/>
              </a:spcAft>
              <a:buFont typeface="Symbol"/>
              <a:buChar char=""/>
            </a:pPr>
            <a:r>
              <a:rPr lang="en-AU" sz="1200" dirty="0" smtClean="0">
                <a:effectLst/>
                <a:ea typeface="Calibri"/>
                <a:cs typeface="Times New Roman"/>
              </a:rPr>
              <a:t>Work steadily – never rush a job</a:t>
            </a:r>
          </a:p>
          <a:p>
            <a:pPr marL="342900" lvl="0" indent="-342900">
              <a:spcBef>
                <a:spcPts val="300"/>
              </a:spcBef>
              <a:spcAft>
                <a:spcPts val="600"/>
              </a:spcAft>
              <a:buFont typeface="Symbol"/>
              <a:buChar char=""/>
            </a:pPr>
            <a:r>
              <a:rPr lang="en-AU" sz="1200" dirty="0" smtClean="0">
                <a:effectLst/>
                <a:ea typeface="Calibri"/>
                <a:cs typeface="Times New Roman"/>
              </a:rPr>
              <a:t>Check the surrounding areas/sections for debris and/or damage at the same time – and respond as indicated</a:t>
            </a:r>
          </a:p>
          <a:p>
            <a:pPr marL="342900" lvl="0" indent="-342900">
              <a:spcBef>
                <a:spcPts val="300"/>
              </a:spcBef>
              <a:spcAft>
                <a:spcPts val="600"/>
              </a:spcAft>
              <a:buFont typeface="Symbol"/>
              <a:buChar char=""/>
            </a:pPr>
            <a:r>
              <a:rPr lang="en-AU" sz="1200" dirty="0" smtClean="0">
                <a:effectLst/>
                <a:ea typeface="Calibri"/>
                <a:cs typeface="Times New Roman"/>
              </a:rPr>
              <a:t>Never be afraid of asking for help, advice or direction from a more qualified or experienced person or head office. </a:t>
            </a:r>
          </a:p>
          <a:p>
            <a:pPr>
              <a:buFont typeface="Arial" pitchFamily="34" charset="0"/>
              <a:buChar char="•"/>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232489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Brainstorm types of globes to replace (they are listed in TM)</a:t>
            </a:r>
            <a:r>
              <a:rPr lang="en-AU" baseline="0" dirty="0" smtClean="0"/>
              <a:t> and discuss impact if they are faulty or not working. Also discuss potential for fines from police as some countries police roads and vehicles more heavily than others.</a:t>
            </a:r>
            <a:endParaRPr lang="en-AU" dirty="0" smtClean="0"/>
          </a:p>
          <a:p>
            <a:r>
              <a:rPr lang="en-AU" dirty="0" smtClean="0"/>
              <a:t>The procedure for this task is listed in the TM for discussion.</a:t>
            </a:r>
          </a:p>
          <a:p>
            <a:r>
              <a:rPr lang="en-AU" dirty="0" smtClean="0"/>
              <a:t>It would be appropriate to demonstrate this task on a vehicle if possible.</a:t>
            </a:r>
          </a:p>
          <a:p>
            <a:r>
              <a:rPr lang="en-AU" dirty="0" smtClean="0"/>
              <a:t>Web links are attached</a:t>
            </a:r>
            <a:r>
              <a:rPr lang="en-AU" baseline="0" dirty="0" smtClean="0"/>
              <a:t> for inclusion according to trainers preference.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4614472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059097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3221165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806523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549761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2961935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7574669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4170995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This task should be demonstrated for trainees with each trainee to have practise time, preferably to a time limit as a bench mark for improvement.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6587301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1290722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The procedure for this task is listed in the TM for 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It would be appropriate to demonstrate this task on a vehicle if possible.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Web links are attached for inclusion according to trainers preference.</a:t>
            </a:r>
          </a:p>
          <a:p>
            <a:endParaRPr lang="en-AU"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2  to confirm what has been completed for this element.</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3828664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performance criteria for</a:t>
            </a:r>
            <a:r>
              <a:rPr lang="en-AU" baseline="0" noProof="0" dirty="0" smtClean="0"/>
              <a:t> Element 3</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1054293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Have trainees close their manuals.</a:t>
            </a:r>
            <a:r>
              <a:rPr lang="en-US" baseline="0" dirty="0" smtClean="0"/>
              <a:t> In small groups have them brainstorm aspects of road conditions and traffic. Provide a time limit to see which group can develop the most in-depth list (WITHOUT referring to the TM).</a:t>
            </a:r>
          </a:p>
          <a:p>
            <a:pPr>
              <a:buFont typeface="Arial" pitchFamily="34" charset="0"/>
              <a:buChar char="•"/>
            </a:pPr>
            <a:r>
              <a:rPr lang="en-US" baseline="0" dirty="0" smtClean="0"/>
              <a:t>Once completed have the groups present to the class and cross check against their own list. Once completed refer to TM for any details missed.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40184063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safety issues and assessing traffic conditions. Call on trainee knowledge and experience.</a:t>
            </a:r>
          </a:p>
          <a:p>
            <a:pPr>
              <a:buFont typeface="Arial" pitchFamily="34" charset="0"/>
              <a:buChar char="•"/>
            </a:pPr>
            <a:r>
              <a:rPr lang="en-US" dirty="0" smtClean="0"/>
              <a:t>Have trainees explain their understanding of the bullet points</a:t>
            </a:r>
            <a:r>
              <a:rPr lang="en-US" baseline="0" dirty="0" smtClean="0"/>
              <a:t> and how they would consider these issue and adjust driving accordingly to maintain safety.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16505139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importance of staying in communication with relevant parties. Discuss points from TM in further detail and as needed</a:t>
            </a:r>
          </a:p>
          <a:p>
            <a:pPr>
              <a:buFont typeface="Arial" pitchFamily="34" charset="0"/>
              <a:buChar cha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31560881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points from TM in further detail and as needed</a:t>
            </a:r>
          </a:p>
          <a:p>
            <a:pPr>
              <a:buFont typeface="Arial"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Have trainees close manuals for next task.(3.4)</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8572844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Brainstorm</a:t>
            </a:r>
            <a:r>
              <a:rPr lang="en-US" baseline="0" dirty="0" smtClean="0"/>
              <a:t> what factors may cause delays. Aim to do this without using the TM at this point.</a:t>
            </a:r>
          </a:p>
          <a:p>
            <a:pPr>
              <a:buFont typeface="Arial" pitchFamily="34" charset="0"/>
              <a:buChar char="•"/>
            </a:pPr>
            <a:r>
              <a:rPr lang="en-US" baseline="0" dirty="0" smtClean="0"/>
              <a:t>Refer to this once suggestions have been exhausted.</a:t>
            </a:r>
            <a:endParaRPr lang="en-US" dirty="0" smtClean="0"/>
          </a:p>
          <a:p>
            <a:pPr>
              <a:buFont typeface="Arial" pitchFamily="34" charset="0"/>
              <a:buChar cha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Activity – In small groups, allocate an origin destination (have several pre-selected to allocate from) your tour vehicle is returning from.  Identify a head office location for a tour company which is to be your return location.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Have the groups identify the most direct and efficient route to the head office. Once complete have them indicate an alternative route they may be required to use due to traffic or some other problem.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Is it likely to add any additional time to the journey?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39043695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This performance criteria links with the previous two (road and traffic conditions)</a:t>
            </a:r>
          </a:p>
          <a:p>
            <a:pPr>
              <a:buFont typeface="Arial" pitchFamily="34" charset="0"/>
              <a:buChar char="•"/>
            </a:pPr>
            <a:r>
              <a:rPr lang="en-US" dirty="0" smtClean="0"/>
              <a:t>Consider the</a:t>
            </a:r>
            <a:r>
              <a:rPr lang="en-US" baseline="0" dirty="0" smtClean="0"/>
              <a:t> factors discussed so far and determine if there are additional factors identified here that also need to be considered.</a:t>
            </a:r>
          </a:p>
          <a:p>
            <a:pPr>
              <a:buFont typeface="Arial" pitchFamily="34" charset="0"/>
              <a:buChar char="•"/>
            </a:pPr>
            <a:r>
              <a:rPr lang="en-US" baseline="0" dirty="0" smtClean="0"/>
              <a:t>Review the bullet points in the TM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1035191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points as listed</a:t>
            </a:r>
            <a:r>
              <a:rPr lang="en-US" baseline="0" dirty="0" smtClean="0"/>
              <a:t> in the TM. Have a variety of road maps available for trainees to check their map reading skills. Ensure they can interpret the legend and scale on the map and locate the compass image for overall direction?</a:t>
            </a:r>
          </a:p>
          <a:p>
            <a:pPr>
              <a:buFont typeface="Arial"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3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21626380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performance criteria for Element 4</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35793910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The following section requires the use of a vehicle for demonstration purposes and practice tasks.</a:t>
            </a:r>
          </a:p>
          <a:p>
            <a:pPr>
              <a:buFont typeface="Arial" pitchFamily="34" charset="0"/>
              <a:buChar char="•"/>
            </a:pPr>
            <a:r>
              <a:rPr lang="en-US" dirty="0" smtClean="0"/>
              <a:t>Review the above listed points and proceed to identify and discuss further associated points in TM ensuring questioning and inclusion of trainees</a:t>
            </a:r>
            <a:r>
              <a:rPr lang="en-US" baseline="0" dirty="0" smtClean="0"/>
              <a:t> to confirm understanding.</a:t>
            </a:r>
          </a:p>
          <a:p>
            <a:pPr>
              <a:buFont typeface="Arial" pitchFamily="34" charset="0"/>
              <a:buChar cha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This topic requires demonstration by trainees so access to a suitable vehicle for training is required.</a:t>
            </a:r>
            <a:endParaRPr lang="en-AU"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7725661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Take time to view websites. Substitute for suitable local versions as available.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This topic requires demonstration by trainees so access to a suitable vehicle for demonstration and training is required.</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4317698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Talk through what is involved with each of these points. Have an</a:t>
            </a:r>
            <a:r>
              <a:rPr lang="en-AU" baseline="0" dirty="0" smtClean="0"/>
              <a:t> appropriate vehicle to demonstrate with or alternatively have suitable film clips to support discussion.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9966256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the effect of lowering tyre pressure. Use a pressure gauge</a:t>
            </a:r>
            <a:r>
              <a:rPr lang="en-AU" baseline="0" dirty="0" smtClean="0"/>
              <a:t> and demonstrate how to do this.</a:t>
            </a:r>
          </a:p>
          <a:p>
            <a:r>
              <a:rPr lang="en-AU" baseline="0" dirty="0" smtClean="0"/>
              <a:t>View the website and discuss further</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9680534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Explain hazards and</a:t>
            </a:r>
            <a:r>
              <a:rPr lang="en-AU" baseline="0" dirty="0" smtClean="0"/>
              <a:t> difficulties that may be encountered when driving on sand  (hard and soft)</a:t>
            </a:r>
          </a:p>
          <a:p>
            <a:r>
              <a:rPr lang="en-AU" baseline="0" dirty="0" smtClean="0"/>
              <a:t>Enquire about any experience within the room</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3639575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Review all key points listed in TM.</a:t>
            </a:r>
            <a:r>
              <a:rPr lang="en-AU" baseline="0" dirty="0" smtClean="0"/>
              <a:t> Emphasise safety aspects. Vehicle rollover/getting stuck.</a:t>
            </a:r>
          </a:p>
          <a:p>
            <a:r>
              <a:rPr lang="en-AU" baseline="0" dirty="0" smtClean="0"/>
              <a:t>A number of websites are listed on the next slide. View these in between discussing key points to maintain trainee interest and highlight key information.</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2885249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Use links to present “how to” video clips to class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5622068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Ask any drivers in the class to describe their</a:t>
            </a:r>
            <a:r>
              <a:rPr lang="en-AU" baseline="0" dirty="0" smtClean="0"/>
              <a:t> experiences driving in soft ground or mud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42458284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techniques</a:t>
            </a:r>
            <a:r>
              <a:rPr lang="en-AU" baseline="0" dirty="0" smtClean="0"/>
              <a:t> and skill required in controlling and driving the vehicle. Seek any experience within the room to share relevant experience.</a:t>
            </a:r>
          </a:p>
          <a:p>
            <a:r>
              <a:rPr lang="en-AU" baseline="0" dirty="0" smtClean="0"/>
              <a:t>View the following web links intermittently to support discussion and provide visual example.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41358630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Use “how to” video clips for class group</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2435226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342900" lvl="0" indent="-342900">
              <a:spcBef>
                <a:spcPts val="300"/>
              </a:spcBef>
              <a:spcAft>
                <a:spcPts val="600"/>
              </a:spcAft>
              <a:buFont typeface="Symbol"/>
              <a:buChar char=""/>
            </a:pPr>
            <a:r>
              <a:rPr lang="en-AU" sz="1200" dirty="0" smtClean="0">
                <a:effectLst/>
                <a:ea typeface="Calibri"/>
                <a:cs typeface="Times New Roman"/>
              </a:rPr>
              <a:t>Discuss all points listed in teacher notes here as presented in TM. Emphasise things to remember</a:t>
            </a:r>
            <a:r>
              <a:rPr lang="en-AU" sz="1200" baseline="0" dirty="0" smtClean="0">
                <a:effectLst/>
                <a:ea typeface="Calibri"/>
                <a:cs typeface="Times New Roman"/>
              </a:rPr>
              <a:t> and practise as well as safety points. Break up discussion by viewing the web links on the next slide</a:t>
            </a:r>
            <a:endParaRPr lang="en-AU" sz="1200" dirty="0" smtClean="0">
              <a:effectLst/>
              <a:ea typeface="Calibri"/>
              <a:cs typeface="Times New Roman"/>
            </a:endParaRPr>
          </a:p>
          <a:p>
            <a:pPr marL="342900" lvl="0" indent="-342900">
              <a:spcBef>
                <a:spcPts val="300"/>
              </a:spcBef>
              <a:spcAft>
                <a:spcPts val="600"/>
              </a:spcAft>
              <a:buFont typeface="Symbol"/>
              <a:buChar char=""/>
            </a:pPr>
            <a:r>
              <a:rPr lang="en-AU" sz="1200" dirty="0" smtClean="0">
                <a:effectLst/>
                <a:ea typeface="Calibri"/>
                <a:cs typeface="Times New Roman"/>
              </a:rPr>
              <a:t>Uncomfortable ride for passengers</a:t>
            </a:r>
          </a:p>
          <a:p>
            <a:pPr marL="342900" lvl="0" indent="-342900">
              <a:spcBef>
                <a:spcPts val="300"/>
              </a:spcBef>
              <a:spcAft>
                <a:spcPts val="600"/>
              </a:spcAft>
              <a:buFont typeface="Symbol"/>
              <a:buChar char=""/>
            </a:pPr>
            <a:r>
              <a:rPr lang="en-AU" sz="1200" dirty="0" smtClean="0">
                <a:effectLst/>
                <a:ea typeface="Calibri"/>
                <a:cs typeface="Times New Roman"/>
              </a:rPr>
              <a:t>Slow travel times – which may negatively impact itinerary</a:t>
            </a:r>
          </a:p>
          <a:p>
            <a:pPr marL="342900" lvl="0" indent="-342900">
              <a:spcBef>
                <a:spcPts val="300"/>
              </a:spcBef>
              <a:spcAft>
                <a:spcPts val="600"/>
              </a:spcAft>
              <a:buFont typeface="Symbol"/>
              <a:buChar char=""/>
            </a:pPr>
            <a:r>
              <a:rPr lang="en-AU" sz="1200" dirty="0" smtClean="0">
                <a:effectLst/>
                <a:ea typeface="Calibri"/>
                <a:cs typeface="Times New Roman"/>
              </a:rPr>
              <a:t>Punctures</a:t>
            </a:r>
          </a:p>
          <a:p>
            <a:pPr marL="342900" lvl="0" indent="-342900">
              <a:spcBef>
                <a:spcPts val="300"/>
              </a:spcBef>
              <a:spcAft>
                <a:spcPts val="600"/>
              </a:spcAft>
              <a:buFont typeface="Symbol"/>
              <a:buChar char=""/>
            </a:pPr>
            <a:r>
              <a:rPr lang="en-AU" sz="1200" dirty="0" smtClean="0">
                <a:effectLst/>
                <a:ea typeface="Calibri"/>
                <a:cs typeface="Times New Roman"/>
              </a:rPr>
              <a:t>Damage to the vehicle especially the chassis and sub-structure/under-side parts of the vehicle such as diffs and fuel tanks.</a:t>
            </a:r>
          </a:p>
          <a:p>
            <a:pPr>
              <a:spcBef>
                <a:spcPts val="400"/>
              </a:spcBef>
              <a:spcAft>
                <a:spcPts val="800"/>
              </a:spcAft>
            </a:pPr>
            <a:r>
              <a:rPr lang="en-AU" sz="1200" dirty="0" smtClean="0">
                <a:effectLst/>
                <a:ea typeface="Calibri"/>
                <a:cs typeface="Calibri"/>
              </a:rPr>
              <a:t>When driving rocky terrain:</a:t>
            </a:r>
          </a:p>
          <a:p>
            <a:pPr marL="342900" lvl="0" indent="-342900">
              <a:spcBef>
                <a:spcPts val="300"/>
              </a:spcBef>
              <a:spcAft>
                <a:spcPts val="600"/>
              </a:spcAft>
              <a:buFont typeface="Symbol"/>
              <a:buChar char=""/>
            </a:pPr>
            <a:r>
              <a:rPr lang="en-AU" sz="1200" dirty="0" smtClean="0">
                <a:effectLst/>
                <a:ea typeface="Calibri"/>
                <a:cs typeface="Times New Roman"/>
              </a:rPr>
              <a:t>Inspect the path – as described above</a:t>
            </a:r>
          </a:p>
          <a:p>
            <a:pPr marL="342900" lvl="0" indent="-342900">
              <a:spcBef>
                <a:spcPts val="300"/>
              </a:spcBef>
              <a:spcAft>
                <a:spcPts val="600"/>
              </a:spcAft>
              <a:buFont typeface="Symbol"/>
              <a:buChar char=""/>
            </a:pPr>
            <a:r>
              <a:rPr lang="en-AU" sz="1200" dirty="0" smtClean="0">
                <a:effectLst/>
                <a:ea typeface="Calibri"/>
                <a:cs typeface="Times New Roman"/>
              </a:rPr>
              <a:t>Reduce pressures in tyres</a:t>
            </a:r>
          </a:p>
          <a:p>
            <a:pPr marL="342900" lvl="0" indent="-342900">
              <a:spcBef>
                <a:spcPts val="300"/>
              </a:spcBef>
              <a:spcAft>
                <a:spcPts val="600"/>
              </a:spcAft>
              <a:buFont typeface="Symbol"/>
              <a:buChar char=""/>
            </a:pPr>
            <a:r>
              <a:rPr lang="en-AU" sz="1200" dirty="0" smtClean="0">
                <a:effectLst/>
                <a:ea typeface="Calibri"/>
                <a:cs typeface="Times New Roman"/>
              </a:rPr>
              <a:t>Engage 4WD – which may require locking in hubs</a:t>
            </a:r>
          </a:p>
          <a:p>
            <a:pPr marL="342900" lvl="0" indent="-342900">
              <a:spcBef>
                <a:spcPts val="300"/>
              </a:spcBef>
              <a:spcAft>
                <a:spcPts val="600"/>
              </a:spcAft>
              <a:buFont typeface="Symbol"/>
              <a:buChar char=""/>
            </a:pPr>
            <a:r>
              <a:rPr lang="en-AU" sz="1200" dirty="0" smtClean="0">
                <a:effectLst/>
                <a:ea typeface="Calibri"/>
                <a:cs typeface="Times New Roman"/>
              </a:rPr>
              <a:t>Engage diff locks – if fitted and if necessary</a:t>
            </a:r>
          </a:p>
          <a:p>
            <a:pPr marL="342900" lvl="0" indent="-342900">
              <a:spcBef>
                <a:spcPts val="300"/>
              </a:spcBef>
              <a:spcAft>
                <a:spcPts val="600"/>
              </a:spcAft>
              <a:buFont typeface="Symbol"/>
              <a:buChar char=""/>
            </a:pPr>
            <a:r>
              <a:rPr lang="en-AU" sz="1200" dirty="0" smtClean="0">
                <a:effectLst/>
                <a:ea typeface="Calibri"/>
                <a:cs typeface="Times New Roman"/>
              </a:rPr>
              <a:t>Turn off air conditioner – to avoid inconsistent engine acceleration</a:t>
            </a:r>
          </a:p>
          <a:p>
            <a:pPr marL="342900" lvl="0" indent="-342900">
              <a:spcBef>
                <a:spcPts val="300"/>
              </a:spcBef>
              <a:spcAft>
                <a:spcPts val="600"/>
              </a:spcAft>
              <a:buFont typeface="Symbol"/>
              <a:buChar char=""/>
            </a:pPr>
            <a:r>
              <a:rPr lang="en-AU" sz="1200" dirty="0" smtClean="0">
                <a:effectLst/>
                <a:ea typeface="Calibri"/>
                <a:cs typeface="Times New Roman"/>
              </a:rPr>
              <a:t>Begin in a manner that reflects the findings of observation – which may require, as appropriate:</a:t>
            </a:r>
          </a:p>
          <a:p>
            <a:pPr marL="342900" lvl="0" indent="-342900">
              <a:spcBef>
                <a:spcPts val="300"/>
              </a:spcBef>
              <a:spcAft>
                <a:spcPts val="600"/>
              </a:spcAft>
              <a:buFont typeface="Helvetica"/>
              <a:buChar char="–"/>
            </a:pPr>
            <a:r>
              <a:rPr lang="en-AU" sz="1200" dirty="0" smtClean="0">
                <a:effectLst/>
                <a:ea typeface="Calibri"/>
                <a:cs typeface="Calibri"/>
              </a:rPr>
              <a:t>Selecting Low range first or second gear </a:t>
            </a:r>
          </a:p>
          <a:p>
            <a:pPr marL="342900" lvl="0" indent="-342900">
              <a:spcBef>
                <a:spcPts val="300"/>
              </a:spcBef>
              <a:spcAft>
                <a:spcPts val="600"/>
              </a:spcAft>
              <a:buFont typeface="Helvetica"/>
              <a:buChar char="–"/>
            </a:pPr>
            <a:r>
              <a:rPr lang="en-AU" sz="1200" dirty="0" smtClean="0">
                <a:effectLst/>
                <a:ea typeface="Calibri"/>
                <a:cs typeface="Calibri"/>
              </a:rPr>
              <a:t>Driving slowly (‘crawling’) and smoothly to avoid wheel spin</a:t>
            </a:r>
          </a:p>
          <a:p>
            <a:pPr marL="342900" lvl="0" indent="-342900">
              <a:spcBef>
                <a:spcPts val="300"/>
              </a:spcBef>
              <a:spcAft>
                <a:spcPts val="600"/>
              </a:spcAft>
              <a:buFont typeface="Helvetica"/>
              <a:buChar char="–"/>
            </a:pPr>
            <a:r>
              <a:rPr lang="en-AU" sz="1200" dirty="0" smtClean="0">
                <a:effectLst/>
                <a:ea typeface="Calibri"/>
                <a:cs typeface="Calibri"/>
              </a:rPr>
              <a:t>Intelligently choosing the path to take to avoid traps, rocks and beaching of the vehicle</a:t>
            </a:r>
          </a:p>
          <a:p>
            <a:pPr marL="342900" lvl="0" indent="-342900">
              <a:spcBef>
                <a:spcPts val="300"/>
              </a:spcBef>
              <a:spcAft>
                <a:spcPts val="600"/>
              </a:spcAft>
              <a:buFont typeface="Symbol"/>
              <a:buChar char=""/>
            </a:pPr>
            <a:r>
              <a:rPr lang="en-AU" sz="1200" dirty="0" smtClean="0">
                <a:effectLst/>
                <a:ea typeface="Calibri"/>
                <a:cs typeface="Times New Roman"/>
              </a:rPr>
              <a:t>Be prepared to ask passengers to get out of the vehicle – if patches of the route are dangerous</a:t>
            </a:r>
          </a:p>
          <a:p>
            <a:pPr marL="342900" lvl="0" indent="-342900">
              <a:spcBef>
                <a:spcPts val="300"/>
              </a:spcBef>
              <a:spcAft>
                <a:spcPts val="600"/>
              </a:spcAft>
              <a:buFont typeface="Symbol"/>
              <a:buChar char=""/>
            </a:pPr>
            <a:r>
              <a:rPr lang="en-AU" sz="1200" dirty="0" smtClean="0">
                <a:effectLst/>
                <a:ea typeface="Calibri"/>
                <a:cs typeface="Times New Roman"/>
              </a:rPr>
              <a:t>Be prepared to ask passengers to act as spotters – to assist with providing directions on where to position wheels</a:t>
            </a:r>
          </a:p>
          <a:p>
            <a:pPr marL="342900" lvl="0" indent="-342900">
              <a:spcBef>
                <a:spcPts val="300"/>
              </a:spcBef>
              <a:spcAft>
                <a:spcPts val="600"/>
              </a:spcAft>
              <a:buFont typeface="Symbol"/>
              <a:buChar char=""/>
            </a:pPr>
            <a:r>
              <a:rPr lang="en-AU" sz="1200" dirty="0" smtClean="0">
                <a:effectLst/>
                <a:ea typeface="Calibri"/>
                <a:cs typeface="Times New Roman"/>
              </a:rPr>
              <a:t>Try to stay on the high parts – straddling any ruts which may be present</a:t>
            </a:r>
          </a:p>
          <a:p>
            <a:pPr marL="342900" lvl="0" indent="-342900">
              <a:spcBef>
                <a:spcPts val="300"/>
              </a:spcBef>
              <a:spcAft>
                <a:spcPts val="600"/>
              </a:spcAft>
              <a:buFont typeface="Symbol"/>
              <a:buChar char=""/>
            </a:pPr>
            <a:r>
              <a:rPr lang="en-AU" sz="1200" dirty="0" smtClean="0">
                <a:effectLst/>
                <a:ea typeface="Calibri"/>
                <a:cs typeface="Times New Roman"/>
              </a:rPr>
              <a:t>Re-inflate tyres when the rocky terrain has been negotiated.</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3284455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in relation to information on previous slide.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51370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spcBef>
                <a:spcPts val="400"/>
              </a:spcBef>
              <a:spcAft>
                <a:spcPts val="800"/>
              </a:spcAft>
            </a:pPr>
            <a:r>
              <a:rPr lang="en-AU" sz="1200" dirty="0" smtClean="0">
                <a:effectLst/>
                <a:ea typeface="Calibri"/>
                <a:cs typeface="Calibri"/>
              </a:rPr>
              <a:t>Discuss each of the points</a:t>
            </a:r>
            <a:r>
              <a:rPr lang="en-AU" sz="1200" baseline="0" dirty="0" smtClean="0">
                <a:effectLst/>
                <a:ea typeface="Calibri"/>
                <a:cs typeface="Calibri"/>
              </a:rPr>
              <a:t> listed in TM. Some points will now start to repeat and can be used as a revision point with the group.</a:t>
            </a:r>
            <a:endParaRPr lang="en-AU" sz="1200" dirty="0" smtClean="0">
              <a:effectLst/>
              <a:ea typeface="Calibri"/>
              <a:cs typeface="Calibri"/>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9198467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dirty="0" smtClean="0"/>
              <a:t>Use the web links (on next slide) to assist with explanations</a:t>
            </a:r>
            <a:r>
              <a:rPr lang="en-AU" baseline="0" dirty="0" smtClean="0"/>
              <a:t> and visuals as the many bullet points in the TM are reviewed.</a:t>
            </a:r>
            <a:endParaRPr lang="en-AU" dirty="0" smtClean="0"/>
          </a:p>
          <a:p>
            <a:r>
              <a:rPr lang="en-AU" dirty="0" smtClean="0"/>
              <a:t>Explain the following as key details.</a:t>
            </a:r>
          </a:p>
          <a:p>
            <a:pPr marL="342900" lvl="0" indent="-342900">
              <a:spcBef>
                <a:spcPts val="300"/>
              </a:spcBef>
              <a:spcAft>
                <a:spcPts val="600"/>
              </a:spcAft>
              <a:buFont typeface="Symbol"/>
              <a:buChar char=""/>
            </a:pPr>
            <a:r>
              <a:rPr lang="en-AU" sz="1200" dirty="0" smtClean="0">
                <a:effectLst/>
                <a:ea typeface="Calibri"/>
                <a:cs typeface="Times New Roman"/>
              </a:rPr>
              <a:t>Inspect the path – looking for:</a:t>
            </a:r>
          </a:p>
          <a:p>
            <a:pPr marL="342900" lvl="0" indent="-342900">
              <a:spcBef>
                <a:spcPts val="300"/>
              </a:spcBef>
              <a:spcAft>
                <a:spcPts val="600"/>
              </a:spcAft>
              <a:buFont typeface="Helvetica"/>
              <a:buChar char="–"/>
            </a:pPr>
            <a:r>
              <a:rPr lang="en-AU" sz="1200" dirty="0" smtClean="0">
                <a:effectLst/>
                <a:ea typeface="Calibri"/>
                <a:cs typeface="Calibri"/>
              </a:rPr>
              <a:t>A suitable route through/across the track which presents itself – taking into account, for example, ruts, holes, fallen trees, rocks </a:t>
            </a:r>
          </a:p>
          <a:p>
            <a:pPr marL="342900" lvl="0" indent="-342900">
              <a:spcBef>
                <a:spcPts val="300"/>
              </a:spcBef>
              <a:spcAft>
                <a:spcPts val="600"/>
              </a:spcAft>
              <a:buFont typeface="Helvetica"/>
              <a:buChar char="–"/>
            </a:pPr>
            <a:r>
              <a:rPr lang="en-AU" sz="1200" dirty="0" smtClean="0">
                <a:effectLst/>
                <a:ea typeface="Calibri"/>
                <a:cs typeface="Calibri"/>
              </a:rPr>
              <a:t>Surface condition – in relation to whether the ground is wet or dry and whether it is hard underfoot or soft</a:t>
            </a:r>
          </a:p>
          <a:p>
            <a:pPr marL="342900" lvl="0" indent="-342900">
              <a:spcBef>
                <a:spcPts val="300"/>
              </a:spcBef>
              <a:spcAft>
                <a:spcPts val="600"/>
              </a:spcAft>
              <a:buFont typeface="Helvetica"/>
              <a:buChar char="–"/>
            </a:pPr>
            <a:r>
              <a:rPr lang="en-AU" sz="1200" dirty="0" smtClean="0">
                <a:effectLst/>
                <a:ea typeface="Calibri"/>
                <a:cs typeface="Calibri"/>
              </a:rPr>
              <a:t>Departure angle at the end of the incline – to ensure the vehicle can leave the incline and make it to level ground instead of being stuck half-way between the incline and the flat ground</a:t>
            </a:r>
          </a:p>
          <a:p>
            <a:pPr marL="342900" lvl="0" indent="-342900">
              <a:spcBef>
                <a:spcPts val="300"/>
              </a:spcBef>
              <a:spcAft>
                <a:spcPts val="600"/>
              </a:spcAft>
              <a:buFont typeface="Helvetica"/>
              <a:buChar char="–"/>
            </a:pPr>
            <a:r>
              <a:rPr lang="en-AU" sz="1200" dirty="0" smtClean="0">
                <a:effectLst/>
                <a:ea typeface="Calibri"/>
                <a:cs typeface="Calibri"/>
              </a:rPr>
              <a:t>Length of the descent – in terms of the distance to be covered to compete the descent</a:t>
            </a:r>
          </a:p>
          <a:p>
            <a:pPr marL="342900" lvl="0" indent="-342900">
              <a:spcBef>
                <a:spcPts val="300"/>
              </a:spcBef>
              <a:spcAft>
                <a:spcPts val="600"/>
              </a:spcAft>
              <a:buFont typeface="Helvetica"/>
              <a:buChar char="–"/>
            </a:pPr>
            <a:r>
              <a:rPr lang="en-AU" sz="1200" dirty="0" smtClean="0">
                <a:effectLst/>
                <a:ea typeface="Calibri"/>
                <a:cs typeface="Calibri"/>
              </a:rPr>
              <a:t>General angle/severity of the descent</a:t>
            </a:r>
          </a:p>
          <a:p>
            <a:pPr marL="342900" lvl="0" indent="-342900">
              <a:spcBef>
                <a:spcPts val="300"/>
              </a:spcBef>
              <a:spcAft>
                <a:spcPts val="600"/>
              </a:spcAft>
              <a:buFont typeface="Helvetica"/>
              <a:buChar char="–"/>
            </a:pPr>
            <a:r>
              <a:rPr lang="en-AU" sz="1200" dirty="0" smtClean="0">
                <a:effectLst/>
                <a:ea typeface="Calibri"/>
                <a:cs typeface="Calibri"/>
              </a:rPr>
              <a:t>Possible run-off points (into banks, bushes, trees) – in case the descent becomes out-of-control</a:t>
            </a:r>
          </a:p>
          <a:p>
            <a:pPr marL="342900" lvl="0" indent="-342900">
              <a:spcBef>
                <a:spcPts val="300"/>
              </a:spcBef>
              <a:spcAft>
                <a:spcPts val="600"/>
              </a:spcAft>
              <a:buFont typeface="Helvetica"/>
              <a:buChar char="–"/>
            </a:pPr>
            <a:r>
              <a:rPr lang="en-AU" sz="1200" dirty="0" smtClean="0">
                <a:effectLst/>
                <a:ea typeface="Calibri"/>
                <a:cs typeface="Calibri"/>
              </a:rPr>
              <a:t>The following points have been included</a:t>
            </a:r>
            <a:r>
              <a:rPr lang="en-AU" sz="1200" baseline="0" dirty="0" smtClean="0">
                <a:effectLst/>
                <a:ea typeface="Calibri"/>
                <a:cs typeface="Calibri"/>
              </a:rPr>
              <a:t> with other sections and should now be revision points</a:t>
            </a:r>
            <a:endParaRPr lang="en-AU" sz="1200" dirty="0" smtClean="0">
              <a:effectLst/>
              <a:ea typeface="Calibri"/>
              <a:cs typeface="Calibri"/>
            </a:endParaRPr>
          </a:p>
          <a:p>
            <a:pPr marL="342900" lvl="0" indent="-342900">
              <a:spcBef>
                <a:spcPts val="300"/>
              </a:spcBef>
              <a:spcAft>
                <a:spcPts val="600"/>
              </a:spcAft>
              <a:buFont typeface="Symbol"/>
              <a:buChar char=""/>
            </a:pPr>
            <a:r>
              <a:rPr lang="en-AU" dirty="0" smtClean="0"/>
              <a:t> </a:t>
            </a:r>
            <a:r>
              <a:rPr lang="en-AU" sz="1200" dirty="0" smtClean="0">
                <a:effectLst/>
                <a:ea typeface="Calibri"/>
                <a:cs typeface="Times New Roman"/>
              </a:rPr>
              <a:t>Engage 4WD – which may require locking in hubs</a:t>
            </a:r>
          </a:p>
          <a:p>
            <a:pPr marL="342900" lvl="0" indent="-342900">
              <a:spcBef>
                <a:spcPts val="300"/>
              </a:spcBef>
              <a:spcAft>
                <a:spcPts val="600"/>
              </a:spcAft>
              <a:buFont typeface="Symbol"/>
              <a:buChar char=""/>
            </a:pPr>
            <a:r>
              <a:rPr lang="en-AU" sz="1200" dirty="0" smtClean="0">
                <a:effectLst/>
                <a:ea typeface="Calibri"/>
                <a:cs typeface="Times New Roman"/>
              </a:rPr>
              <a:t>Engage diff lock</a:t>
            </a:r>
          </a:p>
          <a:p>
            <a:pPr marL="342900" lvl="0" indent="-342900">
              <a:spcBef>
                <a:spcPts val="300"/>
              </a:spcBef>
              <a:spcAft>
                <a:spcPts val="600"/>
              </a:spcAft>
              <a:buFont typeface="Symbol"/>
              <a:buChar char=""/>
            </a:pPr>
            <a:r>
              <a:rPr lang="en-AU" sz="1200" dirty="0" smtClean="0">
                <a:effectLst/>
                <a:ea typeface="Calibri"/>
                <a:cs typeface="Times New Roman"/>
              </a:rPr>
              <a:t>Turn off air conditioner – to avoid inconsistent engine acceleration</a:t>
            </a:r>
          </a:p>
          <a:p>
            <a:r>
              <a:rPr lang="en-AU" dirty="0" smtClean="0"/>
              <a:t>Continue through the list of points taking time to quiz trainees at the end to ensure engagement and understanding.</a:t>
            </a:r>
          </a:p>
          <a:p>
            <a:r>
              <a:rPr lang="en-AU" dirty="0" smtClean="0"/>
              <a:t>Have</a:t>
            </a:r>
            <a:r>
              <a:rPr lang="en-AU" baseline="0" dirty="0" smtClean="0"/>
              <a:t> trainees explain Stall Recovery as this was also done in previous topic.</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8324676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Use these video clips for class presentation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0003184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Many safety issues to emphasise throughout these points. Work through notes in TM having trainees add any other</a:t>
            </a:r>
            <a:r>
              <a:rPr lang="en-AU" baseline="0" dirty="0" smtClean="0"/>
              <a:t> notes discussed. Use web links to demonstrate visually and reinforce discussion points.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3180986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Engage</a:t>
            </a:r>
            <a:r>
              <a:rPr lang="en-AU" baseline="0" dirty="0" smtClean="0"/>
              <a:t> trainees by asking what is likely to happen in each of these points.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6215708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each point having trainees take notes as needed. Check for any knowledge or experience in this area. Again some points will repeat from previous topics.</a:t>
            </a:r>
          </a:p>
          <a:p>
            <a:r>
              <a:rPr lang="en-AU" dirty="0" smtClean="0"/>
              <a:t>Use the web links (on next slide) to help break up discussion and provide visual explanations and examples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4871752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Web links to use with previous slides on ‘water crossings’.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16314997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situations</a:t>
            </a:r>
            <a:r>
              <a:rPr lang="en-AU" baseline="0" dirty="0" smtClean="0"/>
              <a:t> when a trailer may be necessary. Discuss types of trailers that may be used for such purposes as camping gear, luggage, food supplies.</a:t>
            </a:r>
          </a:p>
          <a:p>
            <a:r>
              <a:rPr lang="en-AU" baseline="0" dirty="0" smtClean="0"/>
              <a:t>Work through the steps for each topic verbally explaining any equipment or terminology.</a:t>
            </a:r>
          </a:p>
          <a:p>
            <a:r>
              <a:rPr lang="en-AU" baseline="0" dirty="0" smtClean="0"/>
              <a:t>This criteria requires a demonstration so a vehicle, trailer and associated equipment will need to be sourced.</a:t>
            </a:r>
          </a:p>
          <a:p>
            <a:endParaRPr lang="en-AU" baseline="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94270086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Share knowledge and experience within the group. Discuss finer details of reversing and safety points</a:t>
            </a:r>
            <a:r>
              <a:rPr lang="en-US" baseline="0" dirty="0" smtClean="0"/>
              <a:t> working with points listed in TM</a:t>
            </a:r>
            <a:endParaRPr lang="en-US" dirty="0" smtClean="0"/>
          </a:p>
          <a:p>
            <a:pPr>
              <a:buFont typeface="Arial" pitchFamily="34" charset="0"/>
              <a:buChar char="•"/>
            </a:pPr>
            <a:r>
              <a:rPr lang="en-US" dirty="0" smtClean="0"/>
              <a:t>View web links as appropriate.</a:t>
            </a:r>
          </a:p>
          <a:p>
            <a:pPr>
              <a:buFont typeface="Arial" pitchFamily="34" charset="0"/>
              <a:buChar char="•"/>
            </a:pPr>
            <a:r>
              <a:rPr lang="en-US" dirty="0" smtClean="0"/>
              <a:t>Demonstrate in a vehicle.</a:t>
            </a:r>
          </a:p>
          <a:p>
            <a:pPr>
              <a:buFont typeface="Arial" pitchFamily="34" charset="0"/>
              <a:buChar cha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This criteria requires a demonstration so a vehicle will need to be sourced.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74</a:t>
            </a:fld>
            <a:endParaRPr lang="en-US" dirty="0">
              <a:solidFill>
                <a:prstClr val="black"/>
              </a:solidFill>
            </a:endParaRPr>
          </a:p>
        </p:txBody>
      </p:sp>
    </p:spTree>
    <p:extLst>
      <p:ext uri="{BB962C8B-B14F-4D97-AF65-F5344CB8AC3E}">
        <p14:creationId xmlns:p14="http://schemas.microsoft.com/office/powerpoint/2010/main" val="303893531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Demonstrate the correct procedure for reversing.</a:t>
            </a:r>
          </a:p>
          <a:p>
            <a:pPr>
              <a:buFont typeface="Arial" pitchFamily="34" charset="0"/>
              <a:buChar char="•"/>
            </a:pPr>
            <a:r>
              <a:rPr lang="en-US" dirty="0" smtClean="0"/>
              <a:t>Ensure trainees are able to verbalise each step and demonstrate.</a:t>
            </a:r>
          </a:p>
          <a:p>
            <a:pPr>
              <a:buFont typeface="Arial" pitchFamily="34" charset="0"/>
              <a:buChar char="•"/>
            </a:pPr>
            <a:r>
              <a:rPr lang="en-US" dirty="0" smtClean="0"/>
              <a:t>View web links to support training.</a:t>
            </a:r>
          </a:p>
          <a:p>
            <a:pPr>
              <a:buFont typeface="Arial" pitchFamily="34" charset="0"/>
              <a:buChar char="•"/>
            </a:pPr>
            <a:r>
              <a:rPr lang="en-US" dirty="0" smtClean="0"/>
              <a:t>Complete practical aspects with each trainee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75</a:t>
            </a:fld>
            <a:endParaRPr lang="en-US" dirty="0">
              <a:solidFill>
                <a:prstClr val="black"/>
              </a:solidFill>
            </a:endParaRPr>
          </a:p>
        </p:txBody>
      </p:sp>
    </p:spTree>
    <p:extLst>
      <p:ext uri="{BB962C8B-B14F-4D97-AF65-F5344CB8AC3E}">
        <p14:creationId xmlns:p14="http://schemas.microsoft.com/office/powerpoint/2010/main" val="31888420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Demonstrate the correct procedure for parking and shutting down the vehicle at the end of a shift. Use notes in TM as a guide.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Remind trainees while some steps are general others may be specific to the company you are working for.</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Ensure trainees are able to verbalise each step and demonstrate.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rPr>
              <a:t>View web links to support training.</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51963228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Web links to use in conjunction with notes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40280158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Each topic has multiple associated points to review in the TM. Discuss with trainees and have them highlight points and make notes as needed</a:t>
            </a:r>
          </a:p>
          <a:p>
            <a:pPr>
              <a:buFont typeface="Arial" pitchFamily="34" charset="0"/>
              <a:buChar char="•"/>
            </a:pPr>
            <a:r>
              <a:rPr lang="en-US" dirty="0" smtClean="0"/>
              <a:t>Seek</a:t>
            </a:r>
            <a:r>
              <a:rPr lang="en-US" baseline="0" dirty="0" smtClean="0"/>
              <a:t> input from trainees regarding knowledge and experience.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78</a:t>
            </a:fld>
            <a:endParaRPr lang="en-US" dirty="0">
              <a:solidFill>
                <a:prstClr val="black"/>
              </a:solidFill>
            </a:endParaRPr>
          </a:p>
        </p:txBody>
      </p:sp>
    </p:spTree>
    <p:extLst>
      <p:ext uri="{BB962C8B-B14F-4D97-AF65-F5344CB8AC3E}">
        <p14:creationId xmlns:p14="http://schemas.microsoft.com/office/powerpoint/2010/main" val="404679428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Ensure trainees understand what is ‘Duty of Care’. (In detail on next slide)</a:t>
            </a:r>
          </a:p>
          <a:p>
            <a:pPr>
              <a:buFont typeface="Arial" pitchFamily="34" charset="0"/>
              <a:buChar char="•"/>
            </a:pPr>
            <a:endParaRPr lang="en-US" dirty="0" smtClean="0"/>
          </a:p>
          <a:p>
            <a:pPr>
              <a:buFont typeface="Arial" pitchFamily="34" charset="0"/>
              <a:buChar char="•"/>
            </a:pPr>
            <a:r>
              <a:rPr lang="en-US" dirty="0" smtClean="0"/>
              <a:t>Discus each of the Important notes in detail as needed.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79</a:t>
            </a:fld>
            <a:endParaRPr lang="en-US" dirty="0">
              <a:solidFill>
                <a:prstClr val="black"/>
              </a:solidFill>
            </a:endParaRPr>
          </a:p>
        </p:txBody>
      </p:sp>
    </p:spTree>
    <p:extLst>
      <p:ext uri="{BB962C8B-B14F-4D97-AF65-F5344CB8AC3E}">
        <p14:creationId xmlns:p14="http://schemas.microsoft.com/office/powerpoint/2010/main" val="14606354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marL="935990" indent="-935990">
              <a:spcBef>
                <a:spcPts val="1200"/>
              </a:spcBef>
              <a:spcAft>
                <a:spcPts val="1200"/>
              </a:spcAft>
            </a:pPr>
            <a:r>
              <a:rPr lang="en-AU" sz="1600" b="0" dirty="0" smtClean="0">
                <a:solidFill>
                  <a:srgbClr val="45545F"/>
                </a:solidFill>
                <a:effectLst/>
                <a:ea typeface="Times New Roman"/>
                <a:cs typeface="Times New Roman"/>
              </a:rPr>
              <a:t>Emphasise the responsibility</a:t>
            </a:r>
            <a:r>
              <a:rPr lang="en-AU" sz="1600" b="0" baseline="0" dirty="0" smtClean="0">
                <a:solidFill>
                  <a:srgbClr val="45545F"/>
                </a:solidFill>
                <a:effectLst/>
                <a:ea typeface="Times New Roman"/>
                <a:cs typeface="Times New Roman"/>
              </a:rPr>
              <a:t> involved with duty of care.</a:t>
            </a:r>
          </a:p>
          <a:p>
            <a:pPr marL="935990" indent="-935990">
              <a:spcBef>
                <a:spcPts val="1200"/>
              </a:spcBef>
              <a:spcAft>
                <a:spcPts val="1200"/>
              </a:spcAft>
            </a:pPr>
            <a:endParaRPr lang="en-AU" sz="1600" b="0" dirty="0" smtClean="0">
              <a:solidFill>
                <a:srgbClr val="45545F"/>
              </a:solidFill>
              <a:effectLst/>
              <a:ea typeface="Times New Roman"/>
              <a:cs typeface="Times New Roman"/>
            </a:endParaRPr>
          </a:p>
          <a:p>
            <a:pPr marL="935990" indent="-935990">
              <a:spcBef>
                <a:spcPts val="1200"/>
              </a:spcBef>
              <a:spcAft>
                <a:spcPts val="1200"/>
              </a:spcAft>
            </a:pPr>
            <a:r>
              <a:rPr lang="en-AU" sz="1600" b="1" dirty="0" smtClean="0">
                <a:solidFill>
                  <a:srgbClr val="45545F"/>
                </a:solidFill>
                <a:effectLst/>
                <a:ea typeface="Times New Roman"/>
                <a:cs typeface="Times New Roman"/>
              </a:rPr>
              <a:t>Duty of Care</a:t>
            </a:r>
          </a:p>
          <a:p>
            <a:pPr>
              <a:spcBef>
                <a:spcPts val="400"/>
              </a:spcBef>
              <a:spcAft>
                <a:spcPts val="800"/>
              </a:spcAft>
            </a:pPr>
            <a:r>
              <a:rPr lang="en-AU" sz="1200" dirty="0" smtClean="0">
                <a:effectLst/>
                <a:ea typeface="Calibri"/>
                <a:cs typeface="Calibri"/>
              </a:rPr>
              <a:t>Common law imposes an obligation on all vehicle drivers to:</a:t>
            </a:r>
          </a:p>
          <a:p>
            <a:pPr marL="342900" lvl="0" indent="-342900">
              <a:spcBef>
                <a:spcPts val="300"/>
              </a:spcBef>
              <a:spcAft>
                <a:spcPts val="600"/>
              </a:spcAft>
              <a:buFont typeface="Symbol"/>
              <a:buChar char=""/>
            </a:pPr>
            <a:r>
              <a:rPr lang="en-AU" sz="1200" dirty="0" smtClean="0">
                <a:effectLst/>
                <a:ea typeface="Calibri"/>
                <a:cs typeface="Times New Roman"/>
              </a:rPr>
              <a:t>Create and maintain a touring environment that does not pose a risk to people (staff, members of the public, customers)</a:t>
            </a:r>
          </a:p>
          <a:p>
            <a:pPr marL="342900" lvl="0" indent="-342900">
              <a:spcBef>
                <a:spcPts val="300"/>
              </a:spcBef>
              <a:spcAft>
                <a:spcPts val="600"/>
              </a:spcAft>
              <a:buFont typeface="Symbol"/>
              <a:buChar char=""/>
            </a:pPr>
            <a:r>
              <a:rPr lang="en-AU" sz="1200" dirty="0" smtClean="0">
                <a:effectLst/>
                <a:ea typeface="Calibri"/>
                <a:cs typeface="Times New Roman"/>
              </a:rPr>
              <a:t>Take action to avoid causing foreseeable harm to people/customers/tour group members or their property/belongings while they are on tour</a:t>
            </a:r>
          </a:p>
          <a:p>
            <a:pPr marL="342900" lvl="0" indent="-342900">
              <a:spcBef>
                <a:spcPts val="300"/>
              </a:spcBef>
              <a:spcAft>
                <a:spcPts val="600"/>
              </a:spcAft>
              <a:buFont typeface="Symbol"/>
              <a:buChar char=""/>
            </a:pPr>
            <a:r>
              <a:rPr lang="en-AU" sz="1200" dirty="0" smtClean="0">
                <a:effectLst/>
                <a:ea typeface="Calibri"/>
                <a:cs typeface="Times New Roman"/>
              </a:rPr>
              <a:t>Avoid engaging in risky behaviour or actions which will pose a threat to anyone.</a:t>
            </a:r>
          </a:p>
          <a:p>
            <a:pPr>
              <a:spcBef>
                <a:spcPts val="400"/>
              </a:spcBef>
              <a:spcAft>
                <a:spcPts val="800"/>
              </a:spcAft>
            </a:pPr>
            <a:r>
              <a:rPr lang="en-AU" sz="1200" dirty="0" smtClean="0">
                <a:effectLst/>
                <a:ea typeface="Calibri"/>
                <a:cs typeface="Calibri"/>
              </a:rPr>
              <a:t>In practice this means the driver needs to/has responsibility for ensuring:</a:t>
            </a:r>
          </a:p>
          <a:p>
            <a:pPr marL="342900" lvl="0" indent="-342900">
              <a:spcBef>
                <a:spcPts val="300"/>
              </a:spcBef>
              <a:spcAft>
                <a:spcPts val="600"/>
              </a:spcAft>
              <a:buFont typeface="Symbol"/>
              <a:buChar char=""/>
            </a:pPr>
            <a:r>
              <a:rPr lang="en-AU" sz="1200" dirty="0" smtClean="0">
                <a:effectLst/>
                <a:ea typeface="Calibri"/>
                <a:cs typeface="Times New Roman"/>
              </a:rPr>
              <a:t>The vehicle is safe/roadworthy when it departs</a:t>
            </a:r>
          </a:p>
          <a:p>
            <a:pPr marL="342900" lvl="0" indent="-342900">
              <a:spcBef>
                <a:spcPts val="300"/>
              </a:spcBef>
              <a:spcAft>
                <a:spcPts val="600"/>
              </a:spcAft>
              <a:buFont typeface="Symbol"/>
              <a:buChar char=""/>
            </a:pPr>
            <a:r>
              <a:rPr lang="en-AU" sz="1200" dirty="0" smtClean="0">
                <a:effectLst/>
                <a:ea typeface="Calibri"/>
                <a:cs typeface="Times New Roman"/>
              </a:rPr>
              <a:t>The safety/roadworthiness of the vehicle is maintained through the trip</a:t>
            </a:r>
          </a:p>
          <a:p>
            <a:pPr marL="342900" lvl="0" indent="-342900">
              <a:spcBef>
                <a:spcPts val="300"/>
              </a:spcBef>
              <a:spcAft>
                <a:spcPts val="600"/>
              </a:spcAft>
              <a:buFont typeface="Symbol"/>
              <a:buChar char=""/>
            </a:pPr>
            <a:r>
              <a:rPr lang="en-AU" sz="1200" dirty="0" smtClean="0">
                <a:effectLst/>
                <a:ea typeface="Calibri"/>
                <a:cs typeface="Times New Roman"/>
              </a:rPr>
              <a:t>All road rules and speed limits are obeyed </a:t>
            </a:r>
          </a:p>
          <a:p>
            <a:pPr marL="342900" lvl="0" indent="-342900">
              <a:spcBef>
                <a:spcPts val="300"/>
              </a:spcBef>
              <a:spcAft>
                <a:spcPts val="600"/>
              </a:spcAft>
              <a:buFont typeface="Symbol"/>
              <a:buChar char=""/>
            </a:pPr>
            <a:r>
              <a:rPr lang="en-AU" sz="1200" dirty="0" smtClean="0">
                <a:effectLst/>
                <a:ea typeface="Calibri"/>
                <a:cs typeface="Times New Roman"/>
              </a:rPr>
              <a:t>The vehicle is driven in a safe and responsible manner</a:t>
            </a:r>
          </a:p>
          <a:p>
            <a:pPr marL="342900" lvl="0" indent="-342900">
              <a:spcBef>
                <a:spcPts val="300"/>
              </a:spcBef>
              <a:spcAft>
                <a:spcPts val="600"/>
              </a:spcAft>
              <a:buFont typeface="Symbol"/>
              <a:buChar char=""/>
            </a:pPr>
            <a:r>
              <a:rPr lang="en-AU" sz="1200" dirty="0" smtClean="0">
                <a:effectLst/>
                <a:ea typeface="Calibri"/>
                <a:cs typeface="Times New Roman"/>
              </a:rPr>
              <a:t>Obvious risks are avoided or controlled</a:t>
            </a:r>
          </a:p>
          <a:p>
            <a:pPr marL="342900" lvl="0" indent="-342900">
              <a:spcBef>
                <a:spcPts val="300"/>
              </a:spcBef>
              <a:spcAft>
                <a:spcPts val="600"/>
              </a:spcAft>
              <a:buFont typeface="Symbol"/>
              <a:buChar char=""/>
            </a:pPr>
            <a:r>
              <a:rPr lang="en-AU" sz="1200" dirty="0" smtClean="0">
                <a:effectLst/>
                <a:ea typeface="Calibri"/>
                <a:cs typeface="Times New Roman"/>
              </a:rPr>
              <a:t>Passengers are informed about potential risks/hazards</a:t>
            </a:r>
          </a:p>
          <a:p>
            <a:pPr marL="342900" lvl="0" indent="-342900">
              <a:spcBef>
                <a:spcPts val="300"/>
              </a:spcBef>
              <a:spcAft>
                <a:spcPts val="600"/>
              </a:spcAft>
              <a:buFont typeface="Symbol"/>
              <a:buChar char=""/>
            </a:pPr>
            <a:r>
              <a:rPr lang="en-AU" sz="1200" dirty="0" smtClean="0">
                <a:effectLst/>
                <a:ea typeface="Calibri"/>
                <a:cs typeface="Times New Roman"/>
              </a:rPr>
              <a:t>Passengers comply with safety rules</a:t>
            </a:r>
          </a:p>
          <a:p>
            <a:pPr marL="342900" lvl="0" indent="-342900">
              <a:spcBef>
                <a:spcPts val="300"/>
              </a:spcBef>
              <a:spcAft>
                <a:spcPts val="600"/>
              </a:spcAft>
              <a:buFont typeface="Symbol"/>
              <a:buChar char=""/>
            </a:pPr>
            <a:r>
              <a:rPr lang="en-AU" sz="1200" dirty="0" smtClean="0">
                <a:effectLst/>
                <a:ea typeface="Calibri"/>
                <a:cs typeface="Times New Roman"/>
              </a:rPr>
              <a:t>Cargo is stored/stowed appropriately – which may require:</a:t>
            </a:r>
          </a:p>
          <a:p>
            <a:pPr marL="342900" lvl="0" indent="-342900">
              <a:spcBef>
                <a:spcPts val="300"/>
              </a:spcBef>
              <a:spcAft>
                <a:spcPts val="600"/>
              </a:spcAft>
              <a:buFont typeface="Helvetica"/>
              <a:buChar char="–"/>
            </a:pPr>
            <a:r>
              <a:rPr lang="en-AU" sz="1200" dirty="0" smtClean="0">
                <a:effectLst/>
                <a:ea typeface="Calibri"/>
                <a:cs typeface="Calibri"/>
              </a:rPr>
              <a:t>Re-packing/re-locating items for off-road 4-wheel drive travel to attain a lower centre of gravity for the vehicle</a:t>
            </a:r>
          </a:p>
          <a:p>
            <a:pPr marL="342900" lvl="0" indent="-342900">
              <a:spcBef>
                <a:spcPts val="300"/>
              </a:spcBef>
              <a:spcAft>
                <a:spcPts val="600"/>
              </a:spcAft>
              <a:buFont typeface="Helvetica"/>
              <a:buChar char="–"/>
            </a:pPr>
            <a:r>
              <a:rPr lang="en-AU" sz="1200" dirty="0" smtClean="0">
                <a:effectLst/>
                <a:ea typeface="Calibri"/>
                <a:cs typeface="Calibri"/>
              </a:rPr>
              <a:t>Placing items behind physical protection barriers – or otherwise securing them to prevent injuring people or causing vehicle damage.</a:t>
            </a:r>
          </a:p>
          <a:p>
            <a:pPr>
              <a:lnSpc>
                <a:spcPct val="115000"/>
              </a:lnSpc>
              <a:spcAft>
                <a:spcPts val="1000"/>
              </a:spcAft>
            </a:pPr>
            <a:endParaRPr lang="en-AU" sz="1200" dirty="0" smtClean="0">
              <a:effectLst/>
              <a:ea typeface="Times New Roman"/>
              <a:cs typeface="Times New Roman"/>
            </a:endParaRPr>
          </a:p>
          <a:p>
            <a:pPr>
              <a:spcBef>
                <a:spcPts val="400"/>
              </a:spcBef>
              <a:spcAft>
                <a:spcPts val="800"/>
              </a:spcAft>
            </a:pPr>
            <a:r>
              <a:rPr lang="en-AU" sz="1200" b="1" dirty="0" smtClean="0">
                <a:effectLst/>
                <a:ea typeface="Calibri"/>
                <a:cs typeface="Calibri"/>
              </a:rPr>
              <a:t>Consequences of failing to meet Duty of Care obligations</a:t>
            </a:r>
            <a:endParaRPr lang="en-AU" sz="1200" dirty="0" smtClean="0">
              <a:effectLst/>
              <a:ea typeface="Calibri"/>
              <a:cs typeface="Calibri"/>
            </a:endParaRPr>
          </a:p>
          <a:p>
            <a:pPr>
              <a:spcBef>
                <a:spcPts val="400"/>
              </a:spcBef>
              <a:spcAft>
                <a:spcPts val="800"/>
              </a:spcAft>
            </a:pPr>
            <a:r>
              <a:rPr lang="en-AU" sz="1200" dirty="0" smtClean="0">
                <a:effectLst/>
                <a:ea typeface="Calibri"/>
                <a:cs typeface="Calibri"/>
              </a:rPr>
              <a:t>If drivers fail to meet their Duty of Care obligations:</a:t>
            </a:r>
          </a:p>
          <a:p>
            <a:pPr marL="342900" lvl="0" indent="-342900">
              <a:spcBef>
                <a:spcPts val="300"/>
              </a:spcBef>
              <a:spcAft>
                <a:spcPts val="600"/>
              </a:spcAft>
              <a:buFont typeface="Symbol"/>
              <a:buChar char=""/>
            </a:pPr>
            <a:r>
              <a:rPr lang="en-AU" sz="1200" dirty="0" smtClean="0">
                <a:effectLst/>
                <a:ea typeface="Calibri"/>
                <a:cs typeface="Times New Roman"/>
              </a:rPr>
              <a:t>They may be sued by passengers/those they injure or who lose property for negligence </a:t>
            </a:r>
          </a:p>
          <a:p>
            <a:pPr marL="342900" lvl="0" indent="-342900">
              <a:spcBef>
                <a:spcPts val="300"/>
              </a:spcBef>
              <a:spcAft>
                <a:spcPts val="600"/>
              </a:spcAft>
              <a:buFont typeface="Symbol"/>
              <a:buChar char=""/>
            </a:pPr>
            <a:r>
              <a:rPr lang="en-AU" sz="1200" dirty="0" smtClean="0">
                <a:effectLst/>
                <a:ea typeface="Calibri"/>
                <a:cs typeface="Times New Roman"/>
              </a:rPr>
              <a:t>The Tour Operator they work may be sued for not discharging their Due Diligence obligations by properly training their drivers.</a:t>
            </a:r>
          </a:p>
          <a:p>
            <a:pPr marL="457200" indent="-228600">
              <a:spcBef>
                <a:spcPts val="300"/>
              </a:spcBef>
              <a:spcAft>
                <a:spcPts val="600"/>
              </a:spcAft>
            </a:pPr>
            <a:r>
              <a:rPr lang="en-AU" sz="1200" dirty="0" smtClean="0">
                <a:effectLst/>
                <a:ea typeface="Calibri"/>
                <a:cs typeface="Times New Roman"/>
              </a:rPr>
              <a:t>The outcomes of successful civil claims for negligence are commonly the awarding of money (‘damages’) to the person who has been injured or suffered loss.</a:t>
            </a:r>
          </a:p>
          <a:p>
            <a:r>
              <a:rPr lang="en-AU" dirty="0" smtClean="0"/>
              <a:t>Review</a:t>
            </a:r>
            <a:r>
              <a:rPr lang="en-AU" baseline="0" dirty="0" smtClean="0"/>
              <a:t> notes for Important Points. Check for any questions or queries from trainees.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5564021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Emphasise</a:t>
            </a:r>
            <a:r>
              <a:rPr lang="en-US" baseline="0" dirty="0" smtClean="0"/>
              <a:t> the following points and discuss in greater detail as needed.</a:t>
            </a:r>
            <a:endParaRPr lang="en-US"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81</a:t>
            </a:fld>
            <a:endParaRPr lang="en-US" dirty="0">
              <a:solidFill>
                <a:prstClr val="black"/>
              </a:solidFill>
            </a:endParaRPr>
          </a:p>
        </p:txBody>
      </p:sp>
    </p:spTree>
    <p:extLst>
      <p:ext uri="{BB962C8B-B14F-4D97-AF65-F5344CB8AC3E}">
        <p14:creationId xmlns:p14="http://schemas.microsoft.com/office/powerpoint/2010/main" val="5362447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Take time to have adequate discussion on these dangerous situations. Review the TM notes as  you go.</a:t>
            </a:r>
          </a:p>
          <a:p>
            <a:pPr>
              <a:buFont typeface="Arial" pitchFamily="34" charset="0"/>
              <a:buChar char="•"/>
            </a:pPr>
            <a:r>
              <a:rPr lang="en-US" dirty="0" smtClean="0"/>
              <a:t>Again encourage trainees to share any relevant knowledge or experience</a:t>
            </a:r>
          </a:p>
          <a:p>
            <a:pPr>
              <a:buFont typeface="Arial" pitchFamily="34" charset="0"/>
              <a:buChar char="•"/>
            </a:pPr>
            <a:r>
              <a:rPr lang="en-US" dirty="0" smtClean="0"/>
              <a:t>After discussion is completed quiz trainees on their knowledge by asking questions regarding various procedures</a:t>
            </a:r>
            <a:r>
              <a:rPr lang="en-US" baseline="0" dirty="0" smtClean="0"/>
              <a:t> or strategies.</a:t>
            </a:r>
            <a:endParaRPr lang="en-US" dirty="0" smtClean="0"/>
          </a:p>
          <a:p>
            <a:pPr>
              <a:buFont typeface="Arial" pitchFamily="34" charset="0"/>
              <a:buChar char="•"/>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82</a:t>
            </a:fld>
            <a:endParaRPr lang="en-US" dirty="0">
              <a:solidFill>
                <a:prstClr val="black"/>
              </a:solidFill>
            </a:endParaRPr>
          </a:p>
        </p:txBody>
      </p:sp>
    </p:spTree>
    <p:extLst>
      <p:ext uri="{BB962C8B-B14F-4D97-AF65-F5344CB8AC3E}">
        <p14:creationId xmlns:p14="http://schemas.microsoft.com/office/powerpoint/2010/main" val="26113365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procedure currently known within the group for dealing with these situations.</a:t>
            </a:r>
          </a:p>
          <a:p>
            <a:pPr>
              <a:buFont typeface="Arial" pitchFamily="34" charset="0"/>
              <a:buChar char="•"/>
            </a:pPr>
            <a:r>
              <a:rPr lang="en-US" dirty="0" smtClean="0"/>
              <a:t>Correct any knowledge or procedures that may be incorrect.</a:t>
            </a:r>
          </a:p>
          <a:p>
            <a:pPr>
              <a:buFont typeface="Arial" pitchFamily="34" charset="0"/>
              <a:buChar char="•"/>
            </a:pPr>
            <a:r>
              <a:rPr lang="en-US" dirty="0" smtClean="0"/>
              <a:t>Review each of the points within the TM and confirm all trainees are familiar with correct general procedures as listed. Company policy would also be incorporated.</a:t>
            </a:r>
          </a:p>
          <a:p>
            <a:pPr>
              <a:buFont typeface="Arial" pitchFamily="34" charset="0"/>
              <a:buNone/>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4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83</a:t>
            </a:fld>
            <a:endParaRPr lang="en-US" dirty="0">
              <a:solidFill>
                <a:prstClr val="black"/>
              </a:solidFill>
            </a:endParaRPr>
          </a:p>
        </p:txBody>
      </p:sp>
    </p:spTree>
    <p:extLst>
      <p:ext uri="{BB962C8B-B14F-4D97-AF65-F5344CB8AC3E}">
        <p14:creationId xmlns:p14="http://schemas.microsoft.com/office/powerpoint/2010/main" val="22319354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learners on what assessment is required and how it is to be conducted.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84</a:t>
            </a:fld>
            <a:endParaRPr lang="en-US" dirty="0">
              <a:solidFill>
                <a:prstClr val="black"/>
              </a:solidFill>
            </a:endParaRPr>
          </a:p>
        </p:txBody>
      </p:sp>
    </p:spTree>
    <p:extLst>
      <p:ext uri="{BB962C8B-B14F-4D97-AF65-F5344CB8AC3E}">
        <p14:creationId xmlns:p14="http://schemas.microsoft.com/office/powerpoint/2010/main" val="845035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7/19/2016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7/19/2016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7/19/2016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7/19/2016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solidFill>
                  <a:srgbClr val="4E5B6F">
                    <a:shade val="50000"/>
                  </a:srgbClr>
                </a:solidFill>
              </a:rPr>
              <a:pPr/>
              <a:t>7/19/2016</a:t>
            </a:fld>
            <a:endParaRPr lang="en-US" dirty="0">
              <a:solidFill>
                <a:srgbClr val="4E5B6F">
                  <a:shade val="50000"/>
                </a:srgbClr>
              </a:solidFill>
            </a:endParaRPr>
          </a:p>
        </p:txBody>
      </p:sp>
      <p:sp>
        <p:nvSpPr>
          <p:cNvPr id="19" name="Footer Placeholder 18"/>
          <p:cNvSpPr>
            <a:spLocks noGrp="1"/>
          </p:cNvSpPr>
          <p:nvPr>
            <p:ph type="ftr" sz="quarter" idx="11"/>
          </p:nvPr>
        </p:nvSpPr>
        <p:spPr/>
        <p:txBody>
          <a:bodyPr/>
          <a:lstStyle/>
          <a:p>
            <a:endParaRPr lang="en-US" dirty="0">
              <a:solidFill>
                <a:srgbClr val="4E5B6F">
                  <a:shade val="50000"/>
                </a:srgbClr>
              </a:solidFill>
            </a:endParaRPr>
          </a:p>
        </p:txBody>
      </p:sp>
      <p:sp>
        <p:nvSpPr>
          <p:cNvPr id="27" name="Slide Number Placeholder 2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505212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solidFill>
                  <a:srgbClr val="4E5B6F">
                    <a:shade val="50000"/>
                  </a:srgbClr>
                </a:solidFill>
              </a:rPr>
              <a:pPr/>
              <a:t>7/19/2016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290635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solidFill>
                  <a:srgbClr val="4E5B6F">
                    <a:shade val="50000"/>
                  </a:srgbClr>
                </a:solidFill>
              </a:rPr>
              <a:pPr/>
              <a:t>7/19/2016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2805720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solidFill>
                  <a:srgbClr val="4E5B6F">
                    <a:shade val="50000"/>
                  </a:srgbClr>
                </a:solidFill>
              </a:rPr>
              <a:pPr/>
              <a:t>7/19/2016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3541425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solidFill>
                  <a:srgbClr val="4E5B6F">
                    <a:shade val="50000"/>
                  </a:srgbClr>
                </a:solidFill>
              </a:rPr>
              <a:pPr/>
              <a:t>7/19/2016</a:t>
            </a:fld>
            <a:endParaRPr lang="en-US" dirty="0">
              <a:solidFill>
                <a:srgbClr val="4E5B6F">
                  <a:shade val="50000"/>
                </a:srgbClr>
              </a:solidFill>
            </a:endParaRPr>
          </a:p>
        </p:txBody>
      </p:sp>
      <p:sp>
        <p:nvSpPr>
          <p:cNvPr id="8" name="Footer Placeholder 7"/>
          <p:cNvSpPr>
            <a:spLocks noGrp="1"/>
          </p:cNvSpPr>
          <p:nvPr>
            <p:ph type="ftr" sz="quarter" idx="11"/>
          </p:nvPr>
        </p:nvSpPr>
        <p:spPr/>
        <p:txBody>
          <a:bodyPr/>
          <a:lstStyle/>
          <a:p>
            <a:endParaRPr lang="en-US" dirty="0">
              <a:solidFill>
                <a:srgbClr val="4E5B6F">
                  <a:shade val="50000"/>
                </a:srgbClr>
              </a:solidFill>
            </a:endParaRPr>
          </a:p>
        </p:txBody>
      </p:sp>
      <p:sp>
        <p:nvSpPr>
          <p:cNvPr id="9" name="Slide Number Placeholder 8"/>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1809889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solidFill>
                  <a:srgbClr val="4E5B6F">
                    <a:shade val="50000"/>
                  </a:srgbClr>
                </a:solidFill>
              </a:rPr>
              <a:pPr/>
              <a:t>7/19/2016</a:t>
            </a:fld>
            <a:endParaRPr lang="en-US" dirty="0">
              <a:solidFill>
                <a:srgbClr val="4E5B6F">
                  <a:shade val="50000"/>
                </a:srgbClr>
              </a:solidFill>
            </a:endParaRPr>
          </a:p>
        </p:txBody>
      </p:sp>
      <p:sp>
        <p:nvSpPr>
          <p:cNvPr id="8" name="Slide Number Placeholder 7"/>
          <p:cNvSpPr>
            <a:spLocks noGrp="1"/>
          </p:cNvSpPr>
          <p:nvPr>
            <p:ph type="sldNum" sz="quarter" idx="11"/>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
        <p:nvSpPr>
          <p:cNvPr id="9" name="Footer Placeholder 8"/>
          <p:cNvSpPr>
            <a:spLocks noGrp="1"/>
          </p:cNvSpPr>
          <p:nvPr>
            <p:ph type="ftr" sz="quarter" idx="12"/>
          </p:nvPr>
        </p:nvSpPr>
        <p:spPr/>
        <p:txBody>
          <a:bodyPr/>
          <a:lstStyle/>
          <a:p>
            <a:endParaRPr lang="en-US" dirty="0">
              <a:solidFill>
                <a:srgbClr val="4E5B6F">
                  <a:shade val="50000"/>
                </a:srgbClr>
              </a:solidFill>
            </a:endParaRPr>
          </a:p>
        </p:txBody>
      </p:sp>
    </p:spTree>
    <p:extLst>
      <p:ext uri="{BB962C8B-B14F-4D97-AF65-F5344CB8AC3E}">
        <p14:creationId xmlns:p14="http://schemas.microsoft.com/office/powerpoint/2010/main" val="27633145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solidFill>
                  <a:srgbClr val="4E5B6F">
                    <a:shade val="50000"/>
                  </a:srgbClr>
                </a:solidFill>
              </a:rPr>
              <a:pPr/>
              <a:t>7/19/2016</a:t>
            </a:fld>
            <a:endParaRPr lang="en-US" dirty="0">
              <a:solidFill>
                <a:srgbClr val="4E5B6F">
                  <a:shade val="50000"/>
                </a:srgbClr>
              </a:solidFill>
            </a:endParaRPr>
          </a:p>
        </p:txBody>
      </p:sp>
      <p:sp>
        <p:nvSpPr>
          <p:cNvPr id="3" name="Footer Placeholder 2"/>
          <p:cNvSpPr>
            <a:spLocks noGrp="1"/>
          </p:cNvSpPr>
          <p:nvPr>
            <p:ph type="ftr" sz="quarter" idx="11"/>
          </p:nvPr>
        </p:nvSpPr>
        <p:spPr/>
        <p:txBody>
          <a:bodyPr/>
          <a:lstStyle/>
          <a:p>
            <a:endParaRPr lang="en-US" dirty="0">
              <a:solidFill>
                <a:srgbClr val="4E5B6F">
                  <a:shade val="50000"/>
                </a:srgbClr>
              </a:solidFill>
            </a:endParaRPr>
          </a:p>
        </p:txBody>
      </p:sp>
      <p:sp>
        <p:nvSpPr>
          <p:cNvPr id="4" name="Slide Number Placeholder 3"/>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36253596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solidFill>
                  <a:srgbClr val="4E5B6F">
                    <a:shade val="50000"/>
                  </a:srgbClr>
                </a:solidFill>
              </a:rPr>
              <a:pPr/>
              <a:t>7/19/2016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39238656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solidFill>
                  <a:srgbClr val="4E5B6F">
                    <a:shade val="50000"/>
                  </a:srgbClr>
                </a:solidFill>
              </a:rPr>
              <a:pPr/>
              <a:t>7/19/2016</a:t>
            </a:fld>
            <a:endParaRPr lang="en-US" dirty="0">
              <a:solidFill>
                <a:srgbClr val="4E5B6F">
                  <a:shade val="50000"/>
                </a:srgbClr>
              </a:solidFill>
            </a:endParaRPr>
          </a:p>
        </p:txBody>
      </p:sp>
      <p:sp>
        <p:nvSpPr>
          <p:cNvPr id="6" name="Footer Placeholder 5"/>
          <p:cNvSpPr>
            <a:spLocks noGrp="1"/>
          </p:cNvSpPr>
          <p:nvPr>
            <p:ph type="ftr" sz="quarter" idx="11"/>
          </p:nvPr>
        </p:nvSpPr>
        <p:spPr/>
        <p:txBody>
          <a:bodyPr/>
          <a:lstStyle/>
          <a:p>
            <a:endParaRPr lang="en-US" dirty="0">
              <a:solidFill>
                <a:srgbClr val="4E5B6F">
                  <a:shade val="50000"/>
                </a:srgbClr>
              </a:solidFill>
            </a:endParaRPr>
          </a:p>
        </p:txBody>
      </p:sp>
      <p:sp>
        <p:nvSpPr>
          <p:cNvPr id="7" name="Slide Number Placeholder 6"/>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25807174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solidFill>
                  <a:srgbClr val="4E5B6F">
                    <a:shade val="50000"/>
                  </a:srgbClr>
                </a:solidFill>
              </a:rPr>
              <a:pPr/>
              <a:t>7/19/2016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2690359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solidFill>
                  <a:srgbClr val="4E5B6F">
                    <a:shade val="50000"/>
                  </a:srgbClr>
                </a:solidFill>
              </a:rPr>
              <a:pPr/>
              <a:t>7/19/2016</a:t>
            </a:fld>
            <a:endParaRPr lang="en-US" dirty="0">
              <a:solidFill>
                <a:srgbClr val="4E5B6F">
                  <a:shade val="50000"/>
                </a:srgbClr>
              </a:solidFill>
            </a:endParaRPr>
          </a:p>
        </p:txBody>
      </p:sp>
      <p:sp>
        <p:nvSpPr>
          <p:cNvPr id="5" name="Footer Placeholder 4"/>
          <p:cNvSpPr>
            <a:spLocks noGrp="1"/>
          </p:cNvSpPr>
          <p:nvPr>
            <p:ph type="ftr" sz="quarter" idx="11"/>
          </p:nvPr>
        </p:nvSpPr>
        <p:spPr/>
        <p:txBody>
          <a:bodyPr/>
          <a:lstStyle/>
          <a:p>
            <a:endParaRPr lang="en-US" dirty="0">
              <a:solidFill>
                <a:srgbClr val="4E5B6F">
                  <a:shade val="50000"/>
                </a:srgbClr>
              </a:solidFill>
            </a:endParaRPr>
          </a:p>
        </p:txBody>
      </p:sp>
      <p:sp>
        <p:nvSpPr>
          <p:cNvPr id="6" name="Slide Number Placeholder 5"/>
          <p:cNvSpPr>
            <a:spLocks noGrp="1"/>
          </p:cNvSpPr>
          <p:nvPr>
            <p:ph type="sldNum" sz="quarter" idx="12"/>
          </p:nvPr>
        </p:nvSpPr>
        <p:spPr/>
        <p:txBody>
          <a:body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4034293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7/19/2016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lang="en-US" dirty="0">
              <a:solidFill>
                <a:prstClr val="black"/>
              </a:solidFill>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lang="en-US" dirty="0">
              <a:solidFill>
                <a:prstClr val="black"/>
              </a:solidFill>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solidFill>
                  <a:srgbClr val="4E5B6F">
                    <a:shade val="50000"/>
                  </a:srgbClr>
                </a:solidFill>
              </a:rPr>
              <a:pPr/>
              <a:t>7/19/2016</a:t>
            </a:fld>
            <a:endParaRPr lang="en-US" dirty="0">
              <a:solidFill>
                <a:srgbClr val="4E5B6F">
                  <a:shade val="50000"/>
                </a:srgbClr>
              </a:solidFill>
            </a:endParaRPr>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solidFill>
                <a:srgbClr val="4E5B6F">
                  <a:shade val="50000"/>
                </a:srgbClr>
              </a:solidFill>
            </a:endParaRPr>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solidFill>
                  <a:srgbClr val="4E5B6F">
                    <a:shade val="50000"/>
                  </a:srgbClr>
                </a:solidFill>
              </a:rPr>
              <a:pPr/>
              <a:t>‹#›</a:t>
            </a:fld>
            <a:endParaRPr lang="en-US" dirty="0">
              <a:solidFill>
                <a:srgbClr val="4E5B6F">
                  <a:shade val="50000"/>
                </a:srgbClr>
              </a:solidFill>
            </a:endParaRPr>
          </a:p>
        </p:txBody>
      </p:sp>
    </p:spTree>
    <p:extLst>
      <p:ext uri="{BB962C8B-B14F-4D97-AF65-F5344CB8AC3E}">
        <p14:creationId xmlns:p14="http://schemas.microsoft.com/office/powerpoint/2010/main" val="55889732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treaty.kemlu.go.id/uploads-pub/5121_ASEAN-1985-0051.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treaty.kemlu.go.id/uploads-pub/5121_ASEAN-1985-0051.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hyperlink" Target="http://www.thaivisa.com/forum/topic/833756-new-driver-license-is-valid-in-asean-member-countries/"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driving-school.com.my/driving-license/how-to-secure-a-malaysian-public-service-vehicle-licens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lta.gov.sg/content/ltaweb/en/industry-matters/vocational-licences.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transport.tas.gov.au/standard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3" Type="http://schemas.openxmlformats.org/officeDocument/2006/relationships/hyperlink" Target="http://smartdriving.co.uk/Driving/Driving_emergencies/Brakes_fail.htm"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hyperlink" Target="http://www.vertex42.com/ExcelTemplates/vehicle-maintenance-log.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t--JMt9cECU" TargetMode="External"/><Relationship Id="rId7" Type="http://schemas.openxmlformats.org/officeDocument/2006/relationships/hyperlink" Target="https://www.youtube.com/watch?v=aVUtdlzrktI"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www.youtube.com/watch?v=QY6_3o6rpLc" TargetMode="External"/><Relationship Id="rId5" Type="http://schemas.openxmlformats.org/officeDocument/2006/relationships/hyperlink" Target="https://www.youtube.com/watch?v=dag7N8me1tE" TargetMode="External"/><Relationship Id="rId4" Type="http://schemas.openxmlformats.org/officeDocument/2006/relationships/hyperlink" Target="https://www.youtube.com/watch?v=rT86aCFUDUc"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youtube.com/watch?v=qpryIxF0hiY" TargetMode="External"/><Relationship Id="rId3" Type="http://schemas.openxmlformats.org/officeDocument/2006/relationships/hyperlink" Target="https://www.youtube.com/watch?v=dag7N8me1tE" TargetMode="External"/><Relationship Id="rId7" Type="http://schemas.openxmlformats.org/officeDocument/2006/relationships/hyperlink" Target="https://www.youtube.com/watch?v=nsBVnuOtr6U"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www.youtube.com/watch?v=S1pe5JXqN1o" TargetMode="External"/><Relationship Id="rId5" Type="http://schemas.openxmlformats.org/officeDocument/2006/relationships/hyperlink" Target="https://www.youtube.com/watch?v=LvrkassME74" TargetMode="External"/><Relationship Id="rId4" Type="http://schemas.openxmlformats.org/officeDocument/2006/relationships/hyperlink" Target="https://www.youtube.com/watch?v=hq671_hfhFE"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kRQ3QilQtJA"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hyperlink" Target="https://www.youtube.com/watch?v=ONm0DL5koRg"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Ob-hN0LZbbQ"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youtube.com/watch?v=m2B57fxQSP4" TargetMode="External"/><Relationship Id="rId5" Type="http://schemas.openxmlformats.org/officeDocument/2006/relationships/hyperlink" Target="https://www.youtube.com/watch?v=D05vX-G9iV4" TargetMode="External"/><Relationship Id="rId4" Type="http://schemas.openxmlformats.org/officeDocument/2006/relationships/hyperlink" Target="http://www.supercheapauto.com.au/how-to/Car-Cleaning/Cleaning-Windscreen-and-Windows.aspx?id=100"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motormouth.com.au/myvehicle/consumptioncalculator.aspx"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calculator-converter.com/l_100km_calculate_l_100_km_fuel_efficiency_consumption_economy_calculator.php"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www.youtube.com/watch?v=5F31wzh60zo" TargetMode="External"/><Relationship Id="rId3" Type="http://schemas.openxmlformats.org/officeDocument/2006/relationships/hyperlink" Target="http://www.supercheapauto.com.au/how-to/Outside-the-Car/Checking-and-Changing-an-Automotive-Light-Globe.aspx?id=79" TargetMode="External"/><Relationship Id="rId7" Type="http://schemas.openxmlformats.org/officeDocument/2006/relationships/hyperlink" Target="https://www.youtube.com/watch?v=mgGWFqPe0M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www.youtube.com/watch?v=cB99QN1AYBU" TargetMode="External"/><Relationship Id="rId5" Type="http://schemas.openxmlformats.org/officeDocument/2006/relationships/hyperlink" Target="https://www.youtube.com/watch?v=jk1kFc56dwk" TargetMode="External"/><Relationship Id="rId4" Type="http://schemas.openxmlformats.org/officeDocument/2006/relationships/hyperlink" Target="https://www.youtube.com/watch?v=6hURsa46t4M" TargetMode="External"/><Relationship Id="rId9" Type="http://schemas.openxmlformats.org/officeDocument/2006/relationships/hyperlink" Target="https://www.youtube.com/watch?v=9POigqpLxQc"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www.wikihow.com/Change-an-Automotive-Belt" TargetMode="External"/><Relationship Id="rId3" Type="http://schemas.openxmlformats.org/officeDocument/2006/relationships/hyperlink" Target="https://www.youtube.com/watch?v=4hnOUs9eiN4" TargetMode="External"/><Relationship Id="rId7" Type="http://schemas.openxmlformats.org/officeDocument/2006/relationships/hyperlink" Target="https://www.youtube.com/watch?v=XD0LNkFYPGQ"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www.youtube.com/watch?v=01J3Fp9_bMA" TargetMode="External"/><Relationship Id="rId5" Type="http://schemas.openxmlformats.org/officeDocument/2006/relationships/hyperlink" Target="https://www.youtube.com/watch?v=Wg1AX77xEBQ" TargetMode="External"/><Relationship Id="rId4" Type="http://schemas.openxmlformats.org/officeDocument/2006/relationships/hyperlink" Target="http://www.supercheapauto.com.au/how-to/Servicing-Mechanical/Replacing-a-Drive-Belt.aspx?id=7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AGmQ50naiGg"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s://www.youtube.com/watch?v=xH0D22ITjQU" TargetMode="External"/><Relationship Id="rId4" Type="http://schemas.openxmlformats.org/officeDocument/2006/relationships/hyperlink" Target="https://www.youtube.com/watch?v=C64z0L9816A"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www.supercheapauto.com.au/how-to/Servicing-Mechanical/Replacing-Spark-Plugs.aspx?id=68"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6.jpg"/><Relationship Id="rId4" Type="http://schemas.openxmlformats.org/officeDocument/2006/relationships/hyperlink" Target="https://www.youtube.com/watch?v=jj06A6UdHvI"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RCcmN-r5Z9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autorepair.about.com/od/enginerelateddiyjobs/l/aa081404a.htm" TargetMode="External"/><Relationship Id="rId4" Type="http://schemas.openxmlformats.org/officeDocument/2006/relationships/hyperlink" Target="https://www.youtube.com/watch?v=4Po_1pNHE1Y"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kOXeo-kqg68"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hyperlink" Target="https://www.youtube.com/watch?v=faWZmG0fXy8"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U-1y8NIEhKM"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www.youtube.com/watch?v=D6j8fwGCrHs" TargetMode="External"/><Relationship Id="rId5" Type="http://schemas.openxmlformats.org/officeDocument/2006/relationships/hyperlink" Target="https://www.youtube.com/watch?v=d8ASeN4rgek" TargetMode="External"/><Relationship Id="rId4" Type="http://schemas.openxmlformats.org/officeDocument/2006/relationships/hyperlink" Target="https://www.youtube.com/watch?v=77lBQ_CRqdo"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QpRovzCeM4Q"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www.wikihow.com/Set-Rear%E2%80%90View-Mirrors-to-Eliminate-Blind-Spots"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www.youtube.com/watch?v=fGp1meWKCD8"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hyperlink" Target="https://www.youtube.com/watch?v=joBmbh0AGSQ"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ulQmDaqv4F4" TargetMode="External"/><Relationship Id="rId7" Type="http://schemas.openxmlformats.org/officeDocument/2006/relationships/hyperlink" Target="https://www.youtube.com/watch?v=wi5uBUaMsrA"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s://www.youtube.com/watch?v=2QR1vag1N9Q" TargetMode="External"/><Relationship Id="rId5" Type="http://schemas.openxmlformats.org/officeDocument/2006/relationships/hyperlink" Target="https://www.youtube.com/watch?v=tmW9YJpVwO4" TargetMode="External"/><Relationship Id="rId4" Type="http://schemas.openxmlformats.org/officeDocument/2006/relationships/hyperlink" Target="https://www.youtube.com/watch?v=LRQJgTxRhOA"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xTTbt2IDh_I"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K6fT1D2-YYI"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www.qld.gov.au/transport/licensing/getting/education/videos/" TargetMode="External"/><Relationship Id="rId4" Type="http://schemas.openxmlformats.org/officeDocument/2006/relationships/hyperlink" Target="https://www.youtube.com/watch?v=tBlm4AV4ovw"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www.offroadaussie.com/2013/02/4wd-tips-and-tricks-tyre-pressure/"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hyperlink" Target="https://www.youtube.com/watch?v=lnt_D9zKjiY" TargetMode="External"/><Relationship Id="rId3" Type="http://schemas.openxmlformats.org/officeDocument/2006/relationships/hyperlink" Target="http://4xoverland.com/how-do-4x4s-work/4x4-driving/" TargetMode="External"/><Relationship Id="rId7" Type="http://schemas.openxmlformats.org/officeDocument/2006/relationships/hyperlink" Target="http://www.outbackcrossing.com.au/FourWheelDrive/How_To_Drive_0n_Sand.shtml"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hyperlink" Target="https://www.youtube.com/watch?v=KHI_cMrvsrM" TargetMode="External"/><Relationship Id="rId5" Type="http://schemas.openxmlformats.org/officeDocument/2006/relationships/hyperlink" Target="https://www.youtube.com/watch?v=I2bA6aC4g50" TargetMode="External"/><Relationship Id="rId4" Type="http://schemas.openxmlformats.org/officeDocument/2006/relationships/hyperlink" Target="https://www.youtube.com/watch?v=iT0Zph4h-L4" TargetMode="External"/><Relationship Id="rId9" Type="http://schemas.openxmlformats.org/officeDocument/2006/relationships/hyperlink" Target="http://www.iventureclub.com.au/4x4-tips/article.html?k=YqKAOl33YuQ"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4xoverland.com/how-do-4x4s-work/4x4-driving/"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www.toughtoys.com.au/how-to-4x4/mud-driving-techniques/" TargetMode="External"/><Relationship Id="rId5" Type="http://schemas.openxmlformats.org/officeDocument/2006/relationships/hyperlink" Target="http://www.iventureclub.com.au/4x4-tips/article.html?k=hmcpHxSX7pc" TargetMode="External"/><Relationship Id="rId4" Type="http://schemas.openxmlformats.org/officeDocument/2006/relationships/hyperlink" Target="https://www.youtube.com/watch?v=O7iqHO8__R8"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www.4-wheeling-in-western-australia.com/rock-crawling.html"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hyperlink" Target="http://www.toughtoys.com.au/how-to-4x4/driving-rocky-terrain/" TargetMode="External"/><Relationship Id="rId4" Type="http://schemas.openxmlformats.org/officeDocument/2006/relationships/hyperlink" Target="http://www.iventureclub.com.au/4x4-tips/article.html?k=1ImWwpAqbd0"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www.4x4australia.com.au/gear/1004/4x4-steep-slopes-tips/"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hyperlink" Target="http://www.iventureclub.com.au/4x4-tips/article.html?k=Jem4UGra2DY" TargetMode="External"/><Relationship Id="rId5" Type="http://schemas.openxmlformats.org/officeDocument/2006/relationships/hyperlink" Target="https://www.youtube.com/watch?v=uTW3H4WBxnY" TargetMode="External"/><Relationship Id="rId4" Type="http://schemas.openxmlformats.org/officeDocument/2006/relationships/hyperlink" Target="http://4xoverland.com/how-do-4x4s-work/4x4-driving/"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hyperlink" Target="http://www.4wdonline.com/A/Water.html" TargetMode="External"/><Relationship Id="rId3" Type="http://schemas.openxmlformats.org/officeDocument/2006/relationships/hyperlink" Target="http://www.iventureclub.com.au/4x4-tips/article.html?k=zFA1eN-qEzg" TargetMode="External"/><Relationship Id="rId7" Type="http://schemas.openxmlformats.org/officeDocument/2006/relationships/hyperlink" Target="http://www.4-wheeling-in-western-australia.com/river-crossings.html"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hyperlink" Target="http://www.outbacktravelaustralia.com.au/driving-towing-4wd-driving-skills/water-crossings" TargetMode="External"/><Relationship Id="rId5" Type="http://schemas.openxmlformats.org/officeDocument/2006/relationships/hyperlink" Target="https://www.youtube.com/watch?v=wNtJNuhIf4I" TargetMode="External"/><Relationship Id="rId4" Type="http://schemas.openxmlformats.org/officeDocument/2006/relationships/hyperlink" Target="http://www.toughtoys.com.au/how-to-4x4/water-crossings/" TargetMode="External"/><Relationship Id="rId9" Type="http://schemas.openxmlformats.org/officeDocument/2006/relationships/hyperlink" Target="http://www.pps.net.au/4wdencounter/4wdtech/water.html"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www.qld.gov.au/transport/licensing/getting/education/videos/"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hyperlink" Target="https://www.youtube.com/watch?v=TOMUo7LXE68" TargetMode="External"/><Relationship Id="rId5" Type="http://schemas.openxmlformats.org/officeDocument/2006/relationships/hyperlink" Target="https://www.youtube.com/watch?v=orDT9Sm_Y1I" TargetMode="External"/><Relationship Id="rId4" Type="http://schemas.openxmlformats.org/officeDocument/2006/relationships/hyperlink" Target="https://www.youtube.com/watch?v=_FzNRQFhSSk"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www.youtube.com/watch?v=cqW73F8CbXM" TargetMode="External"/><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hyperlink" Target="https://www.youtube.com/watch?v=jo0MLjY8ppU"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youtube.com/watch?v=PtygeD4t6ig"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hyperlink" Target="https://www.youtube.com/watch?v=BF44oWTY47M" TargetMode="External"/><Relationship Id="rId5" Type="http://schemas.openxmlformats.org/officeDocument/2006/relationships/hyperlink" Target="https://www.youtube.com/watch?v=-8AAciq3wqo" TargetMode="External"/><Relationship Id="rId4" Type="http://schemas.openxmlformats.org/officeDocument/2006/relationships/hyperlink" Target="https://www.youtube.com/watch?v=199QsWyBhpo"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www.vicroads.vic.gov.au/searchresultpage?q=bus%20inspection"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8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DRIVE VARIOUS TYPES OF SERVICE VEHICLES</a:t>
            </a:r>
          </a:p>
        </p:txBody>
      </p:sp>
      <p:sp>
        <p:nvSpPr>
          <p:cNvPr id="3" name="Subtitle 2"/>
          <p:cNvSpPr>
            <a:spLocks noGrp="1"/>
          </p:cNvSpPr>
          <p:nvPr>
            <p:ph type="subTitle" idx="1"/>
          </p:nvPr>
        </p:nvSpPr>
        <p:spPr>
          <a:xfrm>
            <a:off x="5868144" y="2060848"/>
            <a:ext cx="2541268" cy="289742"/>
          </a:xfrm>
        </p:spPr>
        <p:txBody>
          <a:bodyPr>
            <a:normAutofit lnSpcReduction="10000"/>
          </a:bodyPr>
          <a:lstStyle/>
          <a:p>
            <a:r>
              <a:rPr lang="en-AU" b="1" dirty="0">
                <a:latin typeface="Helvetica" pitchFamily="34" charset="0"/>
              </a:rPr>
              <a:t>D2.TTG.CL3.09</a:t>
            </a:r>
          </a:p>
        </p:txBody>
      </p:sp>
      <p:sp>
        <p:nvSpPr>
          <p:cNvPr id="4" name="Slide Number Placeholder 3"/>
          <p:cNvSpPr>
            <a:spLocks noGrp="1"/>
          </p:cNvSpPr>
          <p:nvPr>
            <p:ph type="sldNum" sz="quarter" idx="12"/>
          </p:nvPr>
        </p:nvSpPr>
        <p:spPr/>
        <p:txBody>
          <a:bodyPr/>
          <a:lstStyle/>
          <a:p>
            <a:r>
              <a:rPr lang="en-AU" dirty="0" smtClean="0">
                <a:solidFill>
                  <a:srgbClr val="4E5B6F">
                    <a:shade val="50000"/>
                  </a:srgbClr>
                </a:solidFill>
              </a:rPr>
              <a:t> </a:t>
            </a:r>
            <a:r>
              <a:rPr lang="en-AU" dirty="0" smtClean="0">
                <a:solidFill>
                  <a:srgbClr val="4E5B6F">
                    <a:shade val="50000"/>
                  </a:srgbClr>
                </a:solidFill>
                <a:latin typeface="Helvetica" pitchFamily="34" charset="0"/>
              </a:rPr>
              <a:t>Slide </a:t>
            </a:r>
            <a:fld id="{90BDF71C-F485-43AE-8825-5070AF1EA8C9}" type="slidenum">
              <a:rPr lang="en-AU" smtClean="0">
                <a:solidFill>
                  <a:srgbClr val="4E5B6F">
                    <a:shade val="50000"/>
                  </a:srgbClr>
                </a:solidFill>
                <a:latin typeface="Helvetica" pitchFamily="34" charset="0"/>
              </a:rPr>
              <a:pPr/>
              <a:t>1</a:t>
            </a:fld>
            <a:endParaRPr lang="en-AU" dirty="0">
              <a:solidFill>
                <a:srgbClr val="4E5B6F">
                  <a:shade val="50000"/>
                </a:srgbClr>
              </a:solidFill>
              <a:latin typeface="Helvetica" pitchFamily="34" charset="0"/>
            </a:endParaRPr>
          </a:p>
        </p:txBody>
      </p:sp>
      <p:grpSp>
        <p:nvGrpSpPr>
          <p:cNvPr id="6" name="Group 5"/>
          <p:cNvGrpSpPr/>
          <p:nvPr/>
        </p:nvGrpSpPr>
        <p:grpSpPr>
          <a:xfrm>
            <a:off x="733490" y="2101850"/>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extLst>
      <p:ext uri="{BB962C8B-B14F-4D97-AF65-F5344CB8AC3E}">
        <p14:creationId xmlns:p14="http://schemas.microsoft.com/office/powerpoint/2010/main" val="260623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pPr algn="ctr"/>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920880" cy="5328592"/>
          </a:xfrm>
        </p:spPr>
        <p:txBody>
          <a:bodyPr>
            <a:normAutofit/>
          </a:bodyPr>
          <a:lstStyle/>
          <a:p>
            <a:pPr marL="0" indent="0">
              <a:spcBef>
                <a:spcPts val="600"/>
              </a:spcBef>
              <a:spcAft>
                <a:spcPts val="1200"/>
              </a:spcAft>
              <a:buNone/>
            </a:pPr>
            <a:r>
              <a:rPr lang="en-AU" sz="2400" b="1" dirty="0" smtClean="0">
                <a:latin typeface="Helvetica" pitchFamily="34" charset="0"/>
              </a:rPr>
              <a:t>This unit comprises four Elements:</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a:t>
            </a:fld>
            <a:endParaRPr lang="en-US" dirty="0">
              <a:solidFill>
                <a:srgbClr val="4E5B6F">
                  <a:shade val="50000"/>
                </a:srgbClr>
              </a:solidFill>
              <a:latin typeface="Helvetica" pitchFamily="34" charset="0"/>
            </a:endParaRPr>
          </a:p>
        </p:txBody>
      </p:sp>
      <p:graphicFrame>
        <p:nvGraphicFramePr>
          <p:cNvPr id="5" name="Diagram 4"/>
          <p:cNvGraphicFramePr/>
          <p:nvPr>
            <p:extLst>
              <p:ext uri="{D42A27DB-BD31-4B8C-83A1-F6EECF244321}">
                <p14:modId xmlns:p14="http://schemas.microsoft.com/office/powerpoint/2010/main" val="2594657213"/>
              </p:ext>
            </p:extLst>
          </p:nvPr>
        </p:nvGraphicFramePr>
        <p:xfrm>
          <a:off x="755576" y="184482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971600" y="2278033"/>
            <a:ext cx="468052" cy="430887"/>
          </a:xfrm>
          <a:prstGeom prst="rect">
            <a:avLst/>
          </a:prstGeom>
          <a:noFill/>
        </p:spPr>
        <p:txBody>
          <a:bodyPr wrap="square" rtlCol="0">
            <a:spAutoFit/>
          </a:bodyPr>
          <a:lstStyle/>
          <a:p>
            <a:pPr algn="ctr"/>
            <a:r>
              <a:rPr lang="en-AU" sz="2200" b="1" dirty="0" smtClean="0">
                <a:latin typeface="Helvetica" pitchFamily="34" charset="0"/>
              </a:rPr>
              <a:t>1</a:t>
            </a:r>
            <a:endParaRPr lang="en-AU" sz="2200" b="1" dirty="0">
              <a:latin typeface="Helvetica" pitchFamily="34" charset="0"/>
            </a:endParaRPr>
          </a:p>
        </p:txBody>
      </p:sp>
      <p:sp>
        <p:nvSpPr>
          <p:cNvPr id="7" name="TextBox 6"/>
          <p:cNvSpPr txBox="1"/>
          <p:nvPr/>
        </p:nvSpPr>
        <p:spPr>
          <a:xfrm>
            <a:off x="1367644" y="3214137"/>
            <a:ext cx="468052" cy="430887"/>
          </a:xfrm>
          <a:prstGeom prst="rect">
            <a:avLst/>
          </a:prstGeom>
          <a:noFill/>
        </p:spPr>
        <p:txBody>
          <a:bodyPr wrap="square" rtlCol="0">
            <a:spAutoFit/>
          </a:bodyPr>
          <a:lstStyle/>
          <a:p>
            <a:pPr algn="ctr"/>
            <a:r>
              <a:rPr lang="en-AU" sz="2200" b="1" dirty="0" smtClean="0">
                <a:latin typeface="Helvetica" pitchFamily="34" charset="0"/>
              </a:rPr>
              <a:t>2</a:t>
            </a:r>
            <a:endParaRPr lang="en-AU" sz="2200" b="1" dirty="0">
              <a:latin typeface="Helvetica" pitchFamily="34" charset="0"/>
            </a:endParaRPr>
          </a:p>
        </p:txBody>
      </p:sp>
      <p:sp>
        <p:nvSpPr>
          <p:cNvPr id="8" name="TextBox 7"/>
          <p:cNvSpPr txBox="1"/>
          <p:nvPr/>
        </p:nvSpPr>
        <p:spPr>
          <a:xfrm>
            <a:off x="1331640" y="4150241"/>
            <a:ext cx="468052" cy="430887"/>
          </a:xfrm>
          <a:prstGeom prst="rect">
            <a:avLst/>
          </a:prstGeom>
          <a:noFill/>
        </p:spPr>
        <p:txBody>
          <a:bodyPr wrap="square" rtlCol="0">
            <a:spAutoFit/>
          </a:bodyPr>
          <a:lstStyle/>
          <a:p>
            <a:pPr algn="ctr"/>
            <a:r>
              <a:rPr lang="en-AU" sz="2200" b="1" dirty="0" smtClean="0">
                <a:latin typeface="Helvetica" pitchFamily="34" charset="0"/>
              </a:rPr>
              <a:t>3</a:t>
            </a:r>
            <a:endParaRPr lang="en-AU" sz="2200" b="1" dirty="0">
              <a:latin typeface="Helvetica" pitchFamily="34" charset="0"/>
            </a:endParaRPr>
          </a:p>
        </p:txBody>
      </p:sp>
      <p:sp>
        <p:nvSpPr>
          <p:cNvPr id="9" name="TextBox 8"/>
          <p:cNvSpPr txBox="1"/>
          <p:nvPr/>
        </p:nvSpPr>
        <p:spPr>
          <a:xfrm>
            <a:off x="971600" y="5086345"/>
            <a:ext cx="468052" cy="430887"/>
          </a:xfrm>
          <a:prstGeom prst="rect">
            <a:avLst/>
          </a:prstGeom>
          <a:noFill/>
        </p:spPr>
        <p:txBody>
          <a:bodyPr wrap="square" rtlCol="0">
            <a:spAutoFit/>
          </a:bodyPr>
          <a:lstStyle/>
          <a:p>
            <a:pPr algn="ctr"/>
            <a:r>
              <a:rPr lang="en-AU" sz="2200" b="1" dirty="0" smtClean="0">
                <a:latin typeface="Helvetica" pitchFamily="34" charset="0"/>
              </a:rPr>
              <a:t>4</a:t>
            </a:r>
            <a:endParaRPr lang="en-AU" sz="2200" b="1" dirty="0">
              <a:latin typeface="Helvetica" pitchFamily="34" charset="0"/>
            </a:endParaRPr>
          </a:p>
        </p:txBody>
      </p:sp>
    </p:spTree>
    <p:extLst>
      <p:ext uri="{BB962C8B-B14F-4D97-AF65-F5344CB8AC3E}">
        <p14:creationId xmlns:p14="http://schemas.microsoft.com/office/powerpoint/2010/main" val="7324846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1916832"/>
            <a:ext cx="2228841" cy="2255912"/>
          </a:xfrm>
          <a:prstGeom prst="rect">
            <a:avLst/>
          </a:prstGeom>
        </p:spPr>
      </p:pic>
      <p:sp>
        <p:nvSpPr>
          <p:cNvPr id="2" name="Title 1"/>
          <p:cNvSpPr>
            <a:spLocks noGrp="1"/>
          </p:cNvSpPr>
          <p:nvPr>
            <p:ph type="title"/>
          </p:nvPr>
        </p:nvSpPr>
        <p:spPr>
          <a:xfrm>
            <a:off x="611560" y="332656"/>
            <a:ext cx="7467600" cy="810344"/>
          </a:xfrm>
        </p:spPr>
        <p:txBody>
          <a:bodyPr>
            <a:normAutofit/>
          </a:bodyPr>
          <a:lstStyle/>
          <a:p>
            <a:pPr algn="ctr"/>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256584"/>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5167874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rmAutofit/>
          </a:bodyPr>
          <a:lstStyle/>
          <a:p>
            <a:pPr algn="ctr"/>
            <a:r>
              <a:rPr lang="en-AU" sz="3400" b="1" dirty="0">
                <a:solidFill>
                  <a:srgbClr val="FF6600"/>
                </a:solidFill>
                <a:latin typeface="Helvetica" pitchFamily="34" charset="0"/>
              </a:rPr>
              <a:t>Element 1: Obtain driver’s licence(s)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694240" cy="5112568"/>
          </a:xfrm>
        </p:spPr>
        <p:txBody>
          <a:bodyPr>
            <a:normAutofit/>
          </a:bodyPr>
          <a:lstStyle/>
          <a:p>
            <a:pPr marL="723900" indent="-687388">
              <a:lnSpc>
                <a:spcPct val="150000"/>
              </a:lnSpc>
              <a:buNone/>
            </a:pPr>
            <a:r>
              <a:rPr lang="en-AU" sz="2400" dirty="0" smtClean="0">
                <a:latin typeface="Helvetica" pitchFamily="34" charset="0"/>
              </a:rPr>
              <a:t>1.1</a:t>
            </a:r>
            <a:r>
              <a:rPr lang="en-AU" sz="2400" dirty="0">
                <a:latin typeface="Helvetica" pitchFamily="34" charset="0"/>
              </a:rPr>
              <a:t>	Identify the vehicles that have to be </a:t>
            </a:r>
            <a:r>
              <a:rPr lang="en-AU" sz="2400" dirty="0" smtClean="0">
                <a:latin typeface="Helvetica" pitchFamily="34" charset="0"/>
              </a:rPr>
              <a:t>driven</a:t>
            </a:r>
          </a:p>
          <a:p>
            <a:pPr marL="723900" indent="-687388">
              <a:lnSpc>
                <a:spcPct val="150000"/>
              </a:lnSpc>
              <a:buNone/>
            </a:pPr>
            <a:r>
              <a:rPr lang="en-AU" sz="2400" dirty="0" smtClean="0">
                <a:latin typeface="Helvetica" pitchFamily="34" charset="0"/>
              </a:rPr>
              <a:t>1.2</a:t>
            </a:r>
            <a:r>
              <a:rPr lang="en-AU" sz="2400" dirty="0">
                <a:latin typeface="Helvetica" pitchFamily="34" charset="0"/>
              </a:rPr>
              <a:t>	Identify the driver’s licence(s) that need to be </a:t>
            </a:r>
            <a:r>
              <a:rPr lang="en-AU" sz="2400" dirty="0" smtClean="0">
                <a:latin typeface="Helvetica" pitchFamily="34" charset="0"/>
              </a:rPr>
              <a:t>obtained</a:t>
            </a:r>
          </a:p>
          <a:p>
            <a:pPr marL="723900" indent="-687388">
              <a:lnSpc>
                <a:spcPct val="150000"/>
              </a:lnSpc>
              <a:buNone/>
            </a:pPr>
            <a:r>
              <a:rPr lang="en-AU" sz="2400" dirty="0" smtClean="0">
                <a:latin typeface="Helvetica" pitchFamily="34" charset="0"/>
              </a:rPr>
              <a:t>1.3</a:t>
            </a:r>
            <a:r>
              <a:rPr lang="en-AU" sz="2400" dirty="0">
                <a:latin typeface="Helvetica" pitchFamily="34" charset="0"/>
              </a:rPr>
              <a:t>	Undertake training to obtain the necessary licence(s</a:t>
            </a:r>
            <a:r>
              <a:rPr lang="en-AU" sz="2400" dirty="0" smtClean="0">
                <a:latin typeface="Helvetica" pitchFamily="34" charset="0"/>
              </a:rPr>
              <a:t>)</a:t>
            </a:r>
          </a:p>
          <a:p>
            <a:pPr marL="723900" indent="-687388">
              <a:lnSpc>
                <a:spcPct val="150000"/>
              </a:lnSpc>
              <a:buNone/>
            </a:pPr>
            <a:r>
              <a:rPr lang="en-AU" sz="2400" dirty="0" smtClean="0">
                <a:latin typeface="Helvetica" pitchFamily="34" charset="0"/>
              </a:rPr>
              <a:t>1.4</a:t>
            </a:r>
            <a:r>
              <a:rPr lang="en-AU" sz="2400" dirty="0">
                <a:latin typeface="Helvetica" pitchFamily="34" charset="0"/>
              </a:rPr>
              <a:t>	Undertake driver licence assessment successfully</a:t>
            </a:r>
            <a:endParaRPr lang="en-AU"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a:t>
            </a:fld>
            <a:endParaRPr lang="en-US" dirty="0">
              <a:solidFill>
                <a:srgbClr val="4E5B6F">
                  <a:shade val="50000"/>
                </a:srgbClr>
              </a:solidFill>
              <a:latin typeface="Helvetica" pitchFamily="34" charset="0"/>
            </a:endParaRPr>
          </a:p>
        </p:txBody>
      </p:sp>
      <p:pic>
        <p:nvPicPr>
          <p:cNvPr id="5" name="Picture 9" descr="j02129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8" y="5284825"/>
            <a:ext cx="1583631" cy="99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359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2042" y="3704974"/>
            <a:ext cx="1807017" cy="1199009"/>
          </a:xfrm>
          <a:prstGeom prst="rect">
            <a:avLst/>
          </a:prstGeom>
        </p:spPr>
      </p:pic>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smtClean="0">
                <a:solidFill>
                  <a:srgbClr val="FF6600"/>
                </a:solidFill>
                <a:latin typeface="Helvetica" pitchFamily="34" charset="0"/>
              </a:rPr>
              <a:t>1.1	Identify </a:t>
            </a:r>
            <a:r>
              <a:rPr lang="en-AU" sz="3400" b="1" dirty="0">
                <a:solidFill>
                  <a:srgbClr val="FF6600"/>
                </a:solidFill>
                <a:latin typeface="Helvetica" pitchFamily="34" charset="0"/>
              </a:rPr>
              <a:t>the vehicles that </a:t>
            </a:r>
            <a:r>
              <a:rPr lang="en-AU" sz="3400" b="1" dirty="0" smtClean="0">
                <a:solidFill>
                  <a:srgbClr val="FF6600"/>
                </a:solidFill>
                <a:latin typeface="Helvetica" pitchFamily="34" charset="0"/>
              </a:rPr>
              <a:t>have to </a:t>
            </a:r>
            <a:r>
              <a:rPr lang="en-AU" sz="3400" b="1" dirty="0">
                <a:solidFill>
                  <a:srgbClr val="FF6600"/>
                </a:solidFill>
                <a:latin typeface="Helvetica" pitchFamily="34" charset="0"/>
              </a:rPr>
              <a:t>be driven</a:t>
            </a:r>
          </a:p>
        </p:txBody>
      </p:sp>
      <p:sp>
        <p:nvSpPr>
          <p:cNvPr id="3" name="Content Placeholder 2"/>
          <p:cNvSpPr>
            <a:spLocks noGrp="1"/>
          </p:cNvSpPr>
          <p:nvPr>
            <p:ph idx="1"/>
          </p:nvPr>
        </p:nvSpPr>
        <p:spPr>
          <a:xfrm>
            <a:off x="611560" y="1844824"/>
            <a:ext cx="7488832" cy="4824536"/>
          </a:xfrm>
        </p:spPr>
        <p:txBody>
          <a:bodyPr>
            <a:normAutofit/>
          </a:bodyPr>
          <a:lstStyle/>
          <a:p>
            <a:pPr marL="0" indent="0">
              <a:spcBef>
                <a:spcPts val="600"/>
              </a:spcBef>
              <a:spcAft>
                <a:spcPts val="1200"/>
              </a:spcAft>
              <a:buNone/>
            </a:pPr>
            <a:r>
              <a:rPr lang="en-AU" sz="2000" b="1" dirty="0" smtClean="0">
                <a:latin typeface="Helvetica" pitchFamily="34" charset="0"/>
              </a:rPr>
              <a:t>Service vehicles</a:t>
            </a:r>
          </a:p>
          <a:p>
            <a:pPr marL="36576" indent="0">
              <a:spcBef>
                <a:spcPts val="400"/>
              </a:spcBef>
              <a:spcAft>
                <a:spcPts val="800"/>
              </a:spcAft>
              <a:buNone/>
            </a:pPr>
            <a:r>
              <a:rPr lang="en-AU" sz="2000" dirty="0">
                <a:latin typeface="Helvetica" pitchFamily="34" charset="0"/>
                <a:ea typeface="Calibri"/>
                <a:cs typeface="Calibri"/>
              </a:rPr>
              <a:t>Service vehicles may be seen </a:t>
            </a:r>
            <a:r>
              <a:rPr lang="en-AU" sz="2000" dirty="0" smtClean="0">
                <a:latin typeface="Helvetica" pitchFamily="34" charset="0"/>
                <a:ea typeface="Calibri"/>
                <a:cs typeface="Calibri"/>
              </a:rPr>
              <a:t>as any vehicle:</a:t>
            </a:r>
          </a:p>
          <a:p>
            <a:pPr>
              <a:spcBef>
                <a:spcPts val="400"/>
              </a:spcBef>
              <a:spcAft>
                <a:spcPts val="800"/>
              </a:spcAft>
            </a:pPr>
            <a:r>
              <a:rPr lang="en-AU" sz="2000" dirty="0" smtClean="0">
                <a:latin typeface="Helvetica" pitchFamily="34" charset="0"/>
                <a:ea typeface="Calibri"/>
                <a:cs typeface="Times New Roman"/>
              </a:rPr>
              <a:t>the </a:t>
            </a:r>
            <a:r>
              <a:rPr lang="en-AU" sz="2000" dirty="0">
                <a:latin typeface="Helvetica" pitchFamily="34" charset="0"/>
                <a:ea typeface="Calibri"/>
                <a:cs typeface="Times New Roman"/>
              </a:rPr>
              <a:t>tour operator/travel agency uses to conduct its day-to-day </a:t>
            </a:r>
            <a:r>
              <a:rPr lang="en-AU" sz="2000" dirty="0" smtClean="0">
                <a:latin typeface="Helvetica" pitchFamily="34" charset="0"/>
                <a:ea typeface="Calibri"/>
                <a:cs typeface="Times New Roman"/>
              </a:rPr>
              <a:t>business</a:t>
            </a:r>
          </a:p>
          <a:p>
            <a:pPr>
              <a:spcBef>
                <a:spcPts val="400"/>
              </a:spcBef>
              <a:spcAft>
                <a:spcPts val="800"/>
              </a:spcAft>
            </a:pPr>
            <a:r>
              <a:rPr lang="en-AU" sz="2000" dirty="0" smtClean="0">
                <a:latin typeface="Helvetica" pitchFamily="34" charset="0"/>
                <a:ea typeface="Calibri"/>
                <a:cs typeface="Times New Roman"/>
              </a:rPr>
              <a:t>driven </a:t>
            </a:r>
            <a:r>
              <a:rPr lang="en-AU" sz="2000" dirty="0">
                <a:latin typeface="Helvetica" pitchFamily="34" charset="0"/>
                <a:ea typeface="Calibri"/>
                <a:cs typeface="Times New Roman"/>
              </a:rPr>
              <a:t>by tour guides while on </a:t>
            </a:r>
            <a:r>
              <a:rPr lang="en-AU" sz="2000" dirty="0" smtClean="0">
                <a:latin typeface="Helvetica" pitchFamily="34" charset="0"/>
                <a:ea typeface="Calibri"/>
                <a:cs typeface="Times New Roman"/>
              </a:rPr>
              <a:t>tour</a:t>
            </a:r>
          </a:p>
          <a:p>
            <a:pPr>
              <a:spcBef>
                <a:spcPts val="400"/>
              </a:spcBef>
              <a:spcAft>
                <a:spcPts val="800"/>
              </a:spcAft>
            </a:pPr>
            <a:r>
              <a:rPr lang="en-AU" sz="2000" dirty="0" smtClean="0">
                <a:latin typeface="Helvetica" pitchFamily="34" charset="0"/>
                <a:ea typeface="Calibri"/>
                <a:cs typeface="Times New Roman"/>
              </a:rPr>
              <a:t>used </a:t>
            </a:r>
            <a:r>
              <a:rPr lang="en-AU" sz="2000" dirty="0">
                <a:latin typeface="Helvetica" pitchFamily="34" charset="0"/>
                <a:ea typeface="Calibri"/>
                <a:cs typeface="Times New Roman"/>
              </a:rPr>
              <a:t>to transfer passengers – for example, from </a:t>
            </a:r>
            <a:r>
              <a:rPr lang="en-AU" sz="2000" dirty="0" smtClean="0">
                <a:latin typeface="Helvetica" pitchFamily="34" charset="0"/>
                <a:ea typeface="Calibri"/>
                <a:cs typeface="Times New Roman"/>
              </a:rPr>
              <a:t/>
            </a:r>
            <a:br>
              <a:rPr lang="en-AU" sz="2000" dirty="0" smtClean="0">
                <a:latin typeface="Helvetica" pitchFamily="34" charset="0"/>
                <a:ea typeface="Calibri"/>
                <a:cs typeface="Times New Roman"/>
              </a:rPr>
            </a:br>
            <a:r>
              <a:rPr lang="en-AU" sz="2000" dirty="0" smtClean="0">
                <a:latin typeface="Helvetica" pitchFamily="34" charset="0"/>
                <a:ea typeface="Calibri"/>
                <a:cs typeface="Times New Roman"/>
              </a:rPr>
              <a:t>hotels </a:t>
            </a:r>
            <a:r>
              <a:rPr lang="en-AU" sz="2000" dirty="0">
                <a:latin typeface="Helvetica" pitchFamily="34" charset="0"/>
                <a:ea typeface="Calibri"/>
                <a:cs typeface="Times New Roman"/>
              </a:rPr>
              <a:t>to a tour mustering point </a:t>
            </a:r>
            <a:endParaRPr lang="en-AU" sz="2000" dirty="0" smtClean="0">
              <a:latin typeface="Helvetica" pitchFamily="34" charset="0"/>
              <a:ea typeface="Calibri"/>
              <a:cs typeface="Times New Roman"/>
            </a:endParaRPr>
          </a:p>
          <a:p>
            <a:pPr>
              <a:spcBef>
                <a:spcPts val="400"/>
              </a:spcBef>
              <a:spcAft>
                <a:spcPts val="800"/>
              </a:spcAft>
            </a:pPr>
            <a:r>
              <a:rPr lang="en-AU" sz="2000" dirty="0" smtClean="0">
                <a:latin typeface="Helvetica" pitchFamily="34" charset="0"/>
                <a:ea typeface="Calibri"/>
                <a:cs typeface="Times New Roman"/>
              </a:rPr>
              <a:t>that </a:t>
            </a:r>
            <a:r>
              <a:rPr lang="en-AU" sz="2000" dirty="0">
                <a:latin typeface="Helvetica" pitchFamily="34" charset="0"/>
                <a:ea typeface="Calibri"/>
                <a:cs typeface="Times New Roman"/>
              </a:rPr>
              <a:t>provides support to a tour – such as </a:t>
            </a:r>
            <a:r>
              <a:rPr lang="en-AU" sz="2000" dirty="0" smtClean="0">
                <a:latin typeface="Helvetica" pitchFamily="34" charset="0"/>
                <a:ea typeface="Calibri"/>
                <a:cs typeface="Times New Roman"/>
              </a:rPr>
              <a:t/>
            </a:r>
            <a:br>
              <a:rPr lang="en-AU" sz="2000" dirty="0" smtClean="0">
                <a:latin typeface="Helvetica" pitchFamily="34" charset="0"/>
                <a:ea typeface="Calibri"/>
                <a:cs typeface="Times New Roman"/>
              </a:rPr>
            </a:br>
            <a:r>
              <a:rPr lang="en-AU" sz="2000" dirty="0" smtClean="0">
                <a:latin typeface="Helvetica" pitchFamily="34" charset="0"/>
                <a:ea typeface="Calibri"/>
                <a:cs typeface="Times New Roman"/>
              </a:rPr>
              <a:t>transportation </a:t>
            </a:r>
            <a:r>
              <a:rPr lang="en-AU" sz="2000" dirty="0">
                <a:latin typeface="Helvetica" pitchFamily="34" charset="0"/>
                <a:ea typeface="Calibri"/>
                <a:cs typeface="Times New Roman"/>
              </a:rPr>
              <a:t>of gear and/or </a:t>
            </a:r>
            <a:r>
              <a:rPr lang="en-AU" sz="2000" dirty="0" smtClean="0">
                <a:latin typeface="Helvetica" pitchFamily="34" charset="0"/>
                <a:ea typeface="Calibri"/>
                <a:cs typeface="Times New Roman"/>
              </a:rPr>
              <a:t>catering</a:t>
            </a:r>
            <a:endParaRPr lang="en-AU" sz="2000" dirty="0">
              <a:latin typeface="Helvetica" pitchFamily="34" charset="0"/>
              <a:ea typeface="Calibri"/>
              <a:cs typeface="Times New Roman"/>
            </a:endParaRPr>
          </a:p>
          <a:p>
            <a:pPr marL="301752" lvl="1" indent="0">
              <a:spcBef>
                <a:spcPts val="600"/>
              </a:spcBef>
              <a:spcAft>
                <a:spcPts val="1200"/>
              </a:spcAft>
              <a:buNone/>
            </a:pPr>
            <a:endParaRPr lang="en-AU" sz="2000" dirty="0">
              <a:latin typeface="Helvetica" pitchFamily="34" charset="0"/>
            </a:endParaRPr>
          </a:p>
          <a:p>
            <a:pPr marL="661752" lvl="1" indent="-360000">
              <a:spcBef>
                <a:spcPts val="600"/>
              </a:spcBef>
              <a:spcAft>
                <a:spcPts val="1200"/>
              </a:spcAft>
            </a:pPr>
            <a:endParaRPr lang="en-AU" sz="2000" dirty="0" smtClean="0">
              <a:latin typeface="Helvetica" pitchFamily="34" charset="0"/>
            </a:endParaRPr>
          </a:p>
          <a:p>
            <a:pPr marL="661752" lvl="1" indent="-360000">
              <a:spcBef>
                <a:spcPts val="600"/>
              </a:spcBef>
              <a:spcAft>
                <a:spcPts val="1200"/>
              </a:spcAft>
            </a:pPr>
            <a:endParaRPr lang="en-AU" sz="2000" dirty="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0672253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704856" cy="4680520"/>
          </a:xfrm>
        </p:spPr>
        <p:txBody>
          <a:bodyPr>
            <a:normAutofit/>
          </a:bodyPr>
          <a:lstStyle/>
          <a:p>
            <a:pPr marL="0" indent="0">
              <a:spcBef>
                <a:spcPts val="1200"/>
              </a:spcBef>
              <a:spcAft>
                <a:spcPts val="1200"/>
              </a:spcAft>
              <a:buNone/>
            </a:pPr>
            <a:r>
              <a:rPr lang="en-AU" sz="2200" b="1" dirty="0">
                <a:latin typeface="Helvetica" pitchFamily="34" charset="0"/>
                <a:ea typeface="Times New Roman"/>
                <a:cs typeface="Times New Roman"/>
              </a:rPr>
              <a:t>List of possible service vehicles</a:t>
            </a:r>
          </a:p>
          <a:p>
            <a:pPr>
              <a:spcBef>
                <a:spcPts val="400"/>
              </a:spcBef>
              <a:spcAft>
                <a:spcPts val="800"/>
              </a:spcAft>
            </a:pPr>
            <a:r>
              <a:rPr lang="en-AU" sz="2200" dirty="0">
                <a:latin typeface="Helvetica" pitchFamily="34" charset="0"/>
                <a:ea typeface="Calibri"/>
                <a:cs typeface="Calibri"/>
              </a:rPr>
              <a:t>Different businesses will have different </a:t>
            </a:r>
            <a:r>
              <a:rPr lang="en-AU" sz="2200" dirty="0" smtClean="0">
                <a:latin typeface="Helvetica" pitchFamily="34" charset="0"/>
                <a:ea typeface="Calibri"/>
                <a:cs typeface="Calibri"/>
              </a:rPr>
              <a:t>vehicles:</a:t>
            </a:r>
            <a:endParaRPr lang="en-AU" sz="2200" dirty="0">
              <a:latin typeface="Helvetica" pitchFamily="34" charset="0"/>
              <a:ea typeface="Calibri"/>
              <a:cs typeface="Calibri"/>
            </a:endParaRPr>
          </a:p>
          <a:p>
            <a:pPr marL="725488" lvl="0" indent="-342900">
              <a:spcBef>
                <a:spcPts val="300"/>
              </a:spcBef>
              <a:spcAft>
                <a:spcPts val="600"/>
              </a:spcAft>
              <a:buFont typeface="Symbol"/>
              <a:buChar char=""/>
            </a:pPr>
            <a:r>
              <a:rPr lang="en-AU" sz="2200" dirty="0">
                <a:latin typeface="Helvetica" pitchFamily="34" charset="0"/>
                <a:ea typeface="Calibri"/>
                <a:cs typeface="Times New Roman"/>
              </a:rPr>
              <a:t>Cars </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Four-wheel drives</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Utilities</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Light </a:t>
            </a:r>
            <a:r>
              <a:rPr lang="en-AU" sz="2200" dirty="0">
                <a:latin typeface="Helvetica" pitchFamily="34" charset="0"/>
                <a:ea typeface="Calibri"/>
                <a:cs typeface="Times New Roman"/>
              </a:rPr>
              <a:t>and heavy commercial </a:t>
            </a:r>
            <a:r>
              <a:rPr lang="en-AU" sz="2200" dirty="0" smtClean="0">
                <a:latin typeface="Helvetica" pitchFamily="34" charset="0"/>
                <a:ea typeface="Calibri"/>
                <a:cs typeface="Times New Roman"/>
              </a:rPr>
              <a:t/>
            </a:r>
            <a:br>
              <a:rPr lang="en-AU" sz="2200" dirty="0" smtClean="0">
                <a:latin typeface="Helvetica" pitchFamily="34" charset="0"/>
                <a:ea typeface="Calibri"/>
                <a:cs typeface="Times New Roman"/>
              </a:rPr>
            </a:br>
            <a:r>
              <a:rPr lang="en-AU" sz="2200" dirty="0" smtClean="0">
                <a:latin typeface="Helvetica" pitchFamily="34" charset="0"/>
                <a:ea typeface="Calibri"/>
                <a:cs typeface="Times New Roman"/>
              </a:rPr>
              <a:t>vehicles </a:t>
            </a:r>
            <a:r>
              <a:rPr lang="en-AU" sz="2200" dirty="0">
                <a:latin typeface="Helvetica" pitchFamily="34" charset="0"/>
                <a:ea typeface="Calibri"/>
                <a:cs typeface="Times New Roman"/>
              </a:rPr>
              <a:t>– such </a:t>
            </a:r>
            <a:r>
              <a:rPr lang="en-AU" sz="2200" dirty="0" smtClean="0">
                <a:latin typeface="Helvetica" pitchFamily="34" charset="0"/>
                <a:ea typeface="Calibri"/>
                <a:cs typeface="Times New Roman"/>
              </a:rPr>
              <a:t>as vans</a:t>
            </a:r>
            <a:endParaRPr lang="en-AU" sz="2200" dirty="0">
              <a:latin typeface="Helvetica" pitchFamily="34" charset="0"/>
              <a:ea typeface="Calibri"/>
              <a:cs typeface="Times New Roman"/>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a:t>
            </a:fld>
            <a:endParaRPr lang="en-US" dirty="0">
              <a:solidFill>
                <a:srgbClr val="4E5B6F">
                  <a:shade val="50000"/>
                </a:srgbClr>
              </a:solidFill>
              <a:latin typeface="Helvetica" pitchFamily="34" charset="0"/>
            </a:endParaRPr>
          </a:p>
        </p:txBody>
      </p:sp>
      <p:sp>
        <p:nvSpPr>
          <p:cNvPr id="6" name="Title 1"/>
          <p:cNvSpPr txBox="1">
            <a:spLocks/>
          </p:cNvSpPr>
          <p:nvPr/>
        </p:nvSpPr>
        <p:spPr>
          <a:xfrm>
            <a:off x="763960" y="485056"/>
            <a:ext cx="7467600" cy="1143000"/>
          </a:xfrm>
          <a:prstGeom prst="rect">
            <a:avLst/>
          </a:prstGeom>
        </p:spPr>
        <p:txBody>
          <a:bodyPr vert="horz" lIns="45720" rIns="45720" anchor="ctr">
            <a:norm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900113" indent="-900113"/>
            <a:r>
              <a:rPr lang="en-AU" sz="3400" b="1" dirty="0" smtClean="0">
                <a:solidFill>
                  <a:srgbClr val="FF6600"/>
                </a:solidFill>
                <a:latin typeface="Helvetica" pitchFamily="34" charset="0"/>
              </a:rPr>
              <a:t>1.1	Identify the vehicles that have to be driven</a:t>
            </a:r>
            <a:endParaRPr lang="en-AU" sz="34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43600" y="3212976"/>
            <a:ext cx="2687960" cy="1618152"/>
          </a:xfrm>
          <a:prstGeom prst="rect">
            <a:avLst/>
          </a:prstGeom>
        </p:spPr>
      </p:pic>
    </p:spTree>
    <p:extLst>
      <p:ext uri="{BB962C8B-B14F-4D97-AF65-F5344CB8AC3E}">
        <p14:creationId xmlns:p14="http://schemas.microsoft.com/office/powerpoint/2010/main" val="40128885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sp>
        <p:nvSpPr>
          <p:cNvPr id="3" name="Content Placeholder 2"/>
          <p:cNvSpPr>
            <a:spLocks noGrp="1"/>
          </p:cNvSpPr>
          <p:nvPr>
            <p:ph idx="1"/>
          </p:nvPr>
        </p:nvSpPr>
        <p:spPr>
          <a:xfrm>
            <a:off x="611560" y="1700808"/>
            <a:ext cx="7632848" cy="5157192"/>
          </a:xfrm>
        </p:spPr>
        <p:txBody>
          <a:bodyPr>
            <a:noAutofit/>
          </a:bodyPr>
          <a:lstStyle/>
          <a:p>
            <a:pPr marL="360000" indent="-360000">
              <a:spcBef>
                <a:spcPts val="600"/>
              </a:spcBef>
              <a:spcAft>
                <a:spcPts val="600"/>
              </a:spcAft>
            </a:pPr>
            <a:r>
              <a:rPr lang="en-AU" sz="2000" dirty="0" smtClean="0">
                <a:latin typeface="Helvetica" pitchFamily="34" charset="0"/>
                <a:ea typeface="Calibri"/>
                <a:cs typeface="Times New Roman"/>
              </a:rPr>
              <a:t>Under </a:t>
            </a:r>
            <a:r>
              <a:rPr lang="en-AU" sz="2000" dirty="0">
                <a:latin typeface="Helvetica" pitchFamily="34" charset="0"/>
                <a:ea typeface="Calibri"/>
                <a:cs typeface="Times New Roman"/>
              </a:rPr>
              <a:t>a 1985 ASEAN agreement the drivers’ licences </a:t>
            </a:r>
            <a:r>
              <a:rPr lang="en-AU" sz="2000" dirty="0" smtClean="0">
                <a:latin typeface="Helvetica" pitchFamily="34" charset="0"/>
                <a:ea typeface="Calibri"/>
                <a:cs typeface="Times New Roman"/>
              </a:rPr>
              <a:t>of: </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Brunei Darussalam</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Republic </a:t>
            </a:r>
            <a:r>
              <a:rPr lang="en-AU" sz="2000" dirty="0">
                <a:latin typeface="Helvetica" pitchFamily="34" charset="0"/>
                <a:ea typeface="Calibri"/>
                <a:cs typeface="Times New Roman"/>
              </a:rPr>
              <a:t>of </a:t>
            </a:r>
            <a:r>
              <a:rPr lang="en-AU" sz="2000" dirty="0" smtClean="0">
                <a:latin typeface="Helvetica" pitchFamily="34" charset="0"/>
                <a:ea typeface="Calibri"/>
                <a:cs typeface="Times New Roman"/>
              </a:rPr>
              <a:t>Indonesia</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Malaysia</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Republic </a:t>
            </a:r>
            <a:r>
              <a:rPr lang="en-AU" sz="2000" dirty="0">
                <a:latin typeface="Helvetica" pitchFamily="34" charset="0"/>
                <a:ea typeface="Calibri"/>
                <a:cs typeface="Times New Roman"/>
              </a:rPr>
              <a:t>of the </a:t>
            </a:r>
            <a:r>
              <a:rPr lang="en-AU" sz="2000" dirty="0" smtClean="0">
                <a:latin typeface="Helvetica" pitchFamily="34" charset="0"/>
                <a:ea typeface="Calibri"/>
                <a:cs typeface="Times New Roman"/>
              </a:rPr>
              <a:t>Philippines</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Republic </a:t>
            </a:r>
            <a:r>
              <a:rPr lang="en-AU" sz="2000" dirty="0">
                <a:latin typeface="Helvetica" pitchFamily="34" charset="0"/>
                <a:ea typeface="Calibri"/>
                <a:cs typeface="Times New Roman"/>
              </a:rPr>
              <a:t>of </a:t>
            </a:r>
            <a:r>
              <a:rPr lang="en-AU" sz="2000" dirty="0" smtClean="0">
                <a:latin typeface="Helvetica" pitchFamily="34" charset="0"/>
                <a:ea typeface="Calibri"/>
                <a:cs typeface="Times New Roman"/>
              </a:rPr>
              <a:t>Singapore</a:t>
            </a:r>
          </a:p>
          <a:p>
            <a:pPr marL="644652" lvl="1" indent="-342900">
              <a:spcBef>
                <a:spcPts val="600"/>
              </a:spcBef>
              <a:spcAft>
                <a:spcPts val="600"/>
              </a:spcAft>
              <a:buFont typeface="Symbol"/>
              <a:buChar char=""/>
            </a:pPr>
            <a:r>
              <a:rPr lang="en-AU" sz="2000" dirty="0" smtClean="0">
                <a:latin typeface="Helvetica" pitchFamily="34" charset="0"/>
                <a:ea typeface="Calibri"/>
                <a:cs typeface="Times New Roman"/>
              </a:rPr>
              <a:t>Kingdom </a:t>
            </a:r>
            <a:r>
              <a:rPr lang="en-AU" sz="2000" dirty="0">
                <a:latin typeface="Helvetica" pitchFamily="34" charset="0"/>
                <a:ea typeface="Calibri"/>
                <a:cs typeface="Times New Roman"/>
              </a:rPr>
              <a:t>of </a:t>
            </a:r>
            <a:r>
              <a:rPr lang="en-AU" sz="2000" dirty="0" smtClean="0">
                <a:latin typeface="Helvetica" pitchFamily="34" charset="0"/>
                <a:ea typeface="Calibri"/>
                <a:cs typeface="Times New Roman"/>
              </a:rPr>
              <a:t>Thailand</a:t>
            </a:r>
          </a:p>
          <a:p>
            <a:pPr marL="0" lvl="0" indent="0">
              <a:spcBef>
                <a:spcPts val="600"/>
              </a:spcBef>
              <a:spcAft>
                <a:spcPts val="600"/>
              </a:spcAft>
              <a:buNone/>
            </a:pPr>
            <a:r>
              <a:rPr lang="en-AU" sz="2000" dirty="0" smtClean="0">
                <a:latin typeface="Helvetica" pitchFamily="34" charset="0"/>
                <a:ea typeface="Calibri"/>
                <a:cs typeface="Times New Roman"/>
              </a:rPr>
              <a:t>     are </a:t>
            </a:r>
            <a:r>
              <a:rPr lang="en-AU" sz="2000" dirty="0">
                <a:latin typeface="Helvetica" pitchFamily="34" charset="0"/>
                <a:ea typeface="Calibri"/>
                <a:cs typeface="Times New Roman"/>
              </a:rPr>
              <a:t>recognised by all those ASEAN Member </a:t>
            </a:r>
            <a:r>
              <a:rPr lang="en-AU" sz="2000" dirty="0" smtClean="0">
                <a:latin typeface="Helvetica" pitchFamily="34" charset="0"/>
                <a:ea typeface="Calibri"/>
                <a:cs typeface="Times New Roman"/>
              </a:rPr>
              <a:t>States</a:t>
            </a:r>
          </a:p>
          <a:p>
            <a:pPr marL="0" lvl="0" indent="0">
              <a:spcBef>
                <a:spcPts val="600"/>
              </a:spcBef>
              <a:spcAft>
                <a:spcPts val="600"/>
              </a:spcAft>
              <a:buNone/>
            </a:pPr>
            <a:endParaRPr lang="en-AU" sz="2000" dirty="0" smtClean="0">
              <a:latin typeface="Helvetica" pitchFamily="34" charset="0"/>
              <a:ea typeface="Calibri"/>
              <a:cs typeface="Times New Roman"/>
            </a:endParaRPr>
          </a:p>
          <a:p>
            <a:pPr marL="36576" indent="0">
              <a:spcBef>
                <a:spcPts val="600"/>
              </a:spcBef>
              <a:spcAft>
                <a:spcPts val="600"/>
              </a:spcAft>
              <a:buNone/>
            </a:pPr>
            <a:r>
              <a:rPr lang="en-AU" sz="1600" dirty="0">
                <a:latin typeface="Helvetica" pitchFamily="34" charset="0"/>
                <a:ea typeface="Calibri"/>
                <a:cs typeface="Calibri"/>
              </a:rPr>
              <a:t>(Source: </a:t>
            </a:r>
            <a:r>
              <a:rPr lang="en-AU" sz="1600" u="sng" dirty="0">
                <a:solidFill>
                  <a:srgbClr val="0000FF"/>
                </a:solidFill>
                <a:latin typeface="Helvetica" pitchFamily="34" charset="0"/>
                <a:ea typeface="Calibri"/>
                <a:cs typeface="Calibri"/>
                <a:hlinkClick r:id="rId3"/>
              </a:rPr>
              <a:t>http://treaty.kemlu.go.id/uploads-pub/5121_ASEAN-1985-0051.pdf</a:t>
            </a:r>
            <a:r>
              <a:rPr lang="en-AU" sz="1600" dirty="0">
                <a:latin typeface="Helvetica" pitchFamily="34" charset="0"/>
                <a:ea typeface="Calibri"/>
                <a:cs typeface="Calibri"/>
              </a:rPr>
              <a:t> - Agreement on the recognition of domestic driving licences issued by ASEAN countries).</a:t>
            </a:r>
          </a:p>
          <a:p>
            <a:pPr marL="0" lvl="0" indent="0">
              <a:spcBef>
                <a:spcPts val="600"/>
              </a:spcBef>
              <a:spcAft>
                <a:spcPts val="600"/>
              </a:spcAft>
              <a:buNone/>
            </a:pPr>
            <a:endParaRPr lang="en-AU" sz="2000" dirty="0">
              <a:latin typeface="Helvetica" pitchFamily="34" charset="0"/>
              <a:ea typeface="Calibri"/>
              <a:cs typeface="Times New Roman"/>
            </a:endParaRPr>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8064" y="2496986"/>
            <a:ext cx="2759968" cy="2069976"/>
          </a:xfrm>
          <a:prstGeom prst="rect">
            <a:avLst/>
          </a:prstGeom>
        </p:spPr>
      </p:pic>
    </p:spTree>
    <p:extLst>
      <p:ext uri="{BB962C8B-B14F-4D97-AF65-F5344CB8AC3E}">
        <p14:creationId xmlns:p14="http://schemas.microsoft.com/office/powerpoint/2010/main" val="6035897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72816"/>
            <a:ext cx="7643192" cy="4353347"/>
          </a:xfrm>
        </p:spPr>
        <p:txBody>
          <a:bodyPr>
            <a:noAutofit/>
          </a:bodyPr>
          <a:lstStyle/>
          <a:p>
            <a:pPr lvl="0">
              <a:lnSpc>
                <a:spcPct val="120000"/>
              </a:lnSpc>
              <a:spcBef>
                <a:spcPts val="600"/>
              </a:spcBef>
              <a:spcAft>
                <a:spcPts val="1200"/>
              </a:spcAft>
              <a:buClr>
                <a:srgbClr val="7FD13B"/>
              </a:buClr>
            </a:pPr>
            <a:r>
              <a:rPr lang="en-AU" sz="2000" dirty="0" smtClean="0">
                <a:latin typeface="Helvetica" pitchFamily="34" charset="0"/>
                <a:ea typeface="Calibri"/>
                <a:cs typeface="Times New Roman"/>
              </a:rPr>
              <a:t>Some </a:t>
            </a:r>
            <a:r>
              <a:rPr lang="en-AU" sz="2000" dirty="0">
                <a:latin typeface="Helvetica" pitchFamily="34" charset="0"/>
                <a:ea typeface="Calibri"/>
                <a:cs typeface="Times New Roman"/>
              </a:rPr>
              <a:t>ASEAN countries will accept and recognise driver’s licences issued from </a:t>
            </a:r>
            <a:r>
              <a:rPr lang="en-AU" sz="2000" i="1" dirty="0">
                <a:latin typeface="Helvetica" pitchFamily="34" charset="0"/>
                <a:ea typeface="Calibri"/>
                <a:cs typeface="Times New Roman"/>
              </a:rPr>
              <a:t>any</a:t>
            </a:r>
            <a:r>
              <a:rPr lang="en-AU" sz="2000" dirty="0">
                <a:latin typeface="Helvetica" pitchFamily="34" charset="0"/>
                <a:ea typeface="Calibri"/>
                <a:cs typeface="Times New Roman"/>
              </a:rPr>
              <a:t> other ASEAN </a:t>
            </a:r>
            <a:r>
              <a:rPr lang="en-AU" sz="2000" dirty="0" smtClean="0">
                <a:latin typeface="Helvetica" pitchFamily="34" charset="0"/>
                <a:ea typeface="Calibri"/>
                <a:cs typeface="Times New Roman"/>
              </a:rPr>
              <a:t>country</a:t>
            </a:r>
          </a:p>
          <a:p>
            <a:pPr lvl="0">
              <a:lnSpc>
                <a:spcPct val="120000"/>
              </a:lnSpc>
              <a:spcBef>
                <a:spcPts val="600"/>
              </a:spcBef>
              <a:spcAft>
                <a:spcPts val="1200"/>
              </a:spcAft>
              <a:buClr>
                <a:srgbClr val="7FD13B"/>
              </a:buClr>
            </a:pPr>
            <a:r>
              <a:rPr lang="en-AU" sz="2000" dirty="0" smtClean="0">
                <a:latin typeface="Helvetica" pitchFamily="34" charset="0"/>
                <a:ea typeface="Calibri"/>
                <a:cs typeface="Times New Roman"/>
              </a:rPr>
              <a:t>A </a:t>
            </a:r>
            <a:r>
              <a:rPr lang="en-AU" sz="2000" dirty="0">
                <a:latin typeface="Helvetica" pitchFamily="34" charset="0"/>
                <a:ea typeface="Calibri"/>
                <a:cs typeface="Times New Roman"/>
              </a:rPr>
              <a:t>new ASEAN driving licence issued by Thailand has been approved for use in all 10 ASEAN Member </a:t>
            </a:r>
            <a:r>
              <a:rPr lang="en-AU" sz="2000" dirty="0" smtClean="0">
                <a:latin typeface="Helvetica" pitchFamily="34" charset="0"/>
                <a:ea typeface="Calibri"/>
                <a:cs typeface="Times New Roman"/>
              </a:rPr>
              <a:t>States</a:t>
            </a:r>
          </a:p>
          <a:p>
            <a:pPr lvl="0">
              <a:lnSpc>
                <a:spcPct val="120000"/>
              </a:lnSpc>
              <a:spcBef>
                <a:spcPts val="600"/>
              </a:spcBef>
              <a:spcAft>
                <a:spcPts val="1200"/>
              </a:spcAft>
              <a:buClr>
                <a:srgbClr val="7FD13B"/>
              </a:buClr>
            </a:pPr>
            <a:r>
              <a:rPr lang="en-AU" sz="2000" dirty="0" smtClean="0">
                <a:latin typeface="Helvetica" pitchFamily="34" charset="0"/>
                <a:ea typeface="Calibri"/>
                <a:cs typeface="Times New Roman"/>
              </a:rPr>
              <a:t>Standard </a:t>
            </a:r>
            <a:r>
              <a:rPr lang="en-AU" sz="2000" dirty="0">
                <a:latin typeface="Helvetica" pitchFamily="34" charset="0"/>
                <a:ea typeface="Calibri"/>
                <a:cs typeface="Times New Roman"/>
              </a:rPr>
              <a:t>4WD vehicles do not require a separate </a:t>
            </a:r>
            <a:r>
              <a:rPr lang="en-AU" sz="2000" dirty="0" smtClean="0">
                <a:latin typeface="Helvetica" pitchFamily="34" charset="0"/>
                <a:ea typeface="Calibri"/>
                <a:cs typeface="Times New Roman"/>
              </a:rPr>
              <a:t>licence</a:t>
            </a:r>
          </a:p>
          <a:p>
            <a:pPr lvl="0">
              <a:lnSpc>
                <a:spcPct val="120000"/>
              </a:lnSpc>
              <a:spcBef>
                <a:spcPts val="600"/>
              </a:spcBef>
              <a:spcAft>
                <a:spcPts val="1200"/>
              </a:spcAft>
              <a:buClr>
                <a:srgbClr val="7FD13B"/>
              </a:buClr>
            </a:pPr>
            <a:r>
              <a:rPr lang="en-AU" sz="2000" dirty="0" smtClean="0">
                <a:latin typeface="Helvetica" pitchFamily="34" charset="0"/>
                <a:ea typeface="Calibri"/>
                <a:cs typeface="Times New Roman"/>
              </a:rPr>
              <a:t>A </a:t>
            </a:r>
            <a:r>
              <a:rPr lang="en-AU" sz="2000" dirty="0">
                <a:latin typeface="Helvetica" pitchFamily="34" charset="0"/>
                <a:ea typeface="Calibri"/>
                <a:cs typeface="Times New Roman"/>
              </a:rPr>
              <a:t>special licence is required to </a:t>
            </a:r>
            <a:r>
              <a:rPr lang="en-AU" sz="2000" dirty="0" smtClean="0">
                <a:latin typeface="Helvetica" pitchFamily="34" charset="0"/>
                <a:ea typeface="Calibri"/>
                <a:cs typeface="Times New Roman"/>
              </a:rPr>
              <a:t>drive buses, coaches, light and heavy vehicles</a:t>
            </a:r>
          </a:p>
          <a:p>
            <a:pPr lvl="0">
              <a:lnSpc>
                <a:spcPct val="120000"/>
              </a:lnSpc>
              <a:spcBef>
                <a:spcPts val="600"/>
              </a:spcBef>
              <a:spcAft>
                <a:spcPts val="1200"/>
              </a:spcAft>
              <a:buClr>
                <a:srgbClr val="7FD13B"/>
              </a:buClr>
            </a:pPr>
            <a:r>
              <a:rPr lang="en-AU" sz="2000" dirty="0" smtClean="0">
                <a:latin typeface="Helvetica" pitchFamily="34" charset="0"/>
                <a:ea typeface="Calibri"/>
                <a:cs typeface="Times New Roman"/>
              </a:rPr>
              <a:t>People </a:t>
            </a:r>
            <a:r>
              <a:rPr lang="en-AU" sz="2000" dirty="0">
                <a:latin typeface="Helvetica" pitchFamily="34" charset="0"/>
                <a:ea typeface="Calibri"/>
                <a:cs typeface="Times New Roman"/>
              </a:rPr>
              <a:t>seeking a driving licence may be required to obtain a Learner’s Driving Licence – </a:t>
            </a:r>
            <a:r>
              <a:rPr lang="en-AU" sz="2000" dirty="0" smtClean="0">
                <a:latin typeface="Helvetica" pitchFamily="34" charset="0"/>
                <a:ea typeface="Calibri"/>
                <a:cs typeface="Times New Roman"/>
              </a:rPr>
              <a:t>meaning: …see TM</a:t>
            </a:r>
          </a:p>
          <a:p>
            <a:pPr>
              <a:lnSpc>
                <a:spcPct val="120000"/>
              </a:lnSpc>
              <a:spcBef>
                <a:spcPts val="600"/>
              </a:spcBef>
              <a:spcAft>
                <a:spcPts val="1200"/>
              </a:spcAft>
            </a:pPr>
            <a:endParaRPr lang="en-AU" sz="2000" dirty="0"/>
          </a:p>
        </p:txBody>
      </p:sp>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96951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00808"/>
            <a:ext cx="7467600" cy="4425355"/>
          </a:xfrm>
        </p:spPr>
        <p:txBody>
          <a:bodyPr>
            <a:normAutofit/>
          </a:bodyPr>
          <a:lstStyle/>
          <a:p>
            <a:pPr lvl="0">
              <a:spcBef>
                <a:spcPts val="600"/>
              </a:spcBef>
              <a:spcAft>
                <a:spcPts val="1200"/>
              </a:spcAft>
              <a:buClr>
                <a:srgbClr val="7FD13B"/>
              </a:buClr>
            </a:pPr>
            <a:r>
              <a:rPr lang="en-AU" sz="2200" dirty="0" smtClean="0">
                <a:solidFill>
                  <a:prstClr val="black"/>
                </a:solidFill>
                <a:latin typeface="Helvetica" pitchFamily="34" charset="0"/>
                <a:ea typeface="Calibri"/>
                <a:cs typeface="Times New Roman"/>
              </a:rPr>
              <a:t>When </a:t>
            </a:r>
            <a:r>
              <a:rPr lang="en-AU" sz="2200" dirty="0">
                <a:solidFill>
                  <a:prstClr val="black"/>
                </a:solidFill>
                <a:latin typeface="Helvetica" pitchFamily="34" charset="0"/>
                <a:ea typeface="Calibri"/>
                <a:cs typeface="Times New Roman"/>
              </a:rPr>
              <a:t>the initial driving licence is granted it may take the form of a Probationary licence – meaning the holder is subject to special obligations for a given period of 1 – 3 </a:t>
            </a:r>
            <a:r>
              <a:rPr lang="en-AU" sz="2200" dirty="0" smtClean="0">
                <a:solidFill>
                  <a:prstClr val="black"/>
                </a:solidFill>
                <a:latin typeface="Helvetica" pitchFamily="34" charset="0"/>
                <a:ea typeface="Calibri"/>
                <a:cs typeface="Times New Roman"/>
              </a:rPr>
              <a:t>years</a:t>
            </a:r>
          </a:p>
          <a:p>
            <a:pPr lvl="0">
              <a:spcBef>
                <a:spcPts val="600"/>
              </a:spcBef>
              <a:spcAft>
                <a:spcPts val="1200"/>
              </a:spcAft>
              <a:buClr>
                <a:srgbClr val="7FD13B"/>
              </a:buClr>
            </a:pPr>
            <a:r>
              <a:rPr lang="en-AU" sz="2200" dirty="0" smtClean="0">
                <a:solidFill>
                  <a:prstClr val="black"/>
                </a:solidFill>
                <a:latin typeface="Helvetica" pitchFamily="34" charset="0"/>
                <a:ea typeface="Calibri"/>
                <a:cs typeface="Times New Roman"/>
              </a:rPr>
              <a:t>Manual </a:t>
            </a:r>
            <a:r>
              <a:rPr lang="en-AU" sz="2200" dirty="0">
                <a:solidFill>
                  <a:prstClr val="black"/>
                </a:solidFill>
                <a:latin typeface="Helvetica" pitchFamily="34" charset="0"/>
                <a:ea typeface="Calibri"/>
                <a:cs typeface="Times New Roman"/>
              </a:rPr>
              <a:t>and automatic transmission </a:t>
            </a:r>
            <a:r>
              <a:rPr lang="en-AU" sz="2200" dirty="0" smtClean="0">
                <a:solidFill>
                  <a:prstClr val="black"/>
                </a:solidFill>
                <a:latin typeface="Helvetica" pitchFamily="34" charset="0"/>
                <a:ea typeface="Calibri"/>
                <a:cs typeface="Times New Roman"/>
              </a:rPr>
              <a:t/>
            </a:r>
            <a:br>
              <a:rPr lang="en-AU" sz="2200" dirty="0" smtClean="0">
                <a:solidFill>
                  <a:prstClr val="black"/>
                </a:solidFill>
                <a:latin typeface="Helvetica" pitchFamily="34" charset="0"/>
                <a:ea typeface="Calibri"/>
                <a:cs typeface="Times New Roman"/>
              </a:rPr>
            </a:br>
            <a:r>
              <a:rPr lang="en-AU" sz="2200" dirty="0" smtClean="0">
                <a:solidFill>
                  <a:prstClr val="black"/>
                </a:solidFill>
                <a:latin typeface="Helvetica" pitchFamily="34" charset="0"/>
                <a:ea typeface="Calibri"/>
                <a:cs typeface="Times New Roman"/>
              </a:rPr>
              <a:t>vehicles </a:t>
            </a:r>
            <a:r>
              <a:rPr lang="en-AU" sz="2200" dirty="0">
                <a:solidFill>
                  <a:prstClr val="black"/>
                </a:solidFill>
                <a:latin typeface="Helvetica" pitchFamily="34" charset="0"/>
                <a:ea typeface="Calibri"/>
                <a:cs typeface="Times New Roman"/>
              </a:rPr>
              <a:t>are treated differently – </a:t>
            </a:r>
            <a:r>
              <a:rPr lang="en-AU" sz="2200" dirty="0" smtClean="0">
                <a:solidFill>
                  <a:prstClr val="black"/>
                </a:solidFill>
                <a:latin typeface="Helvetica" pitchFamily="34" charset="0"/>
                <a:ea typeface="Calibri"/>
                <a:cs typeface="Times New Roman"/>
              </a:rPr>
              <a:t/>
            </a:r>
            <a:br>
              <a:rPr lang="en-AU" sz="2200" dirty="0" smtClean="0">
                <a:solidFill>
                  <a:prstClr val="black"/>
                </a:solidFill>
                <a:latin typeface="Helvetica" pitchFamily="34" charset="0"/>
                <a:ea typeface="Calibri"/>
                <a:cs typeface="Times New Roman"/>
              </a:rPr>
            </a:br>
            <a:r>
              <a:rPr lang="en-AU" sz="2200" dirty="0" smtClean="0">
                <a:solidFill>
                  <a:prstClr val="black"/>
                </a:solidFill>
                <a:latin typeface="Helvetica" pitchFamily="34" charset="0"/>
                <a:ea typeface="Calibri"/>
                <a:cs typeface="Times New Roman"/>
              </a:rPr>
              <a:t>in that:…see TM</a:t>
            </a:r>
          </a:p>
          <a:p>
            <a:pPr lvl="0">
              <a:spcBef>
                <a:spcPts val="600"/>
              </a:spcBef>
              <a:spcAft>
                <a:spcPts val="1200"/>
              </a:spcAft>
              <a:buClr>
                <a:srgbClr val="7FD13B"/>
              </a:buClr>
            </a:pPr>
            <a:r>
              <a:rPr lang="en-AU" sz="2200" dirty="0" smtClean="0">
                <a:solidFill>
                  <a:prstClr val="black"/>
                </a:solidFill>
                <a:latin typeface="Helvetica" pitchFamily="34" charset="0"/>
                <a:ea typeface="Calibri"/>
                <a:cs typeface="Times New Roman"/>
              </a:rPr>
              <a:t>A </a:t>
            </a:r>
            <a:r>
              <a:rPr lang="en-AU" sz="2200" dirty="0">
                <a:solidFill>
                  <a:prstClr val="black"/>
                </a:solidFill>
                <a:latin typeface="Helvetica" pitchFamily="34" charset="0"/>
                <a:ea typeface="Calibri"/>
                <a:cs typeface="Times New Roman"/>
              </a:rPr>
              <a:t>‘full’ driving licence will/may only be issued when the requirements of the Probationary licence have been met </a:t>
            </a:r>
            <a:endParaRPr lang="en-AU" sz="2200" dirty="0" smtClean="0">
              <a:solidFill>
                <a:prstClr val="black"/>
              </a:solidFill>
              <a:latin typeface="Helvetica" pitchFamily="34" charset="0"/>
              <a:ea typeface="Calibri"/>
              <a:cs typeface="Times New Roman"/>
            </a:endParaRPr>
          </a:p>
        </p:txBody>
      </p:sp>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2996952"/>
            <a:ext cx="2161266" cy="1301082"/>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80413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lvl="0">
              <a:spcBef>
                <a:spcPts val="400"/>
              </a:spcBef>
              <a:spcAft>
                <a:spcPts val="800"/>
              </a:spcAft>
              <a:buClr>
                <a:srgbClr val="7FD13B"/>
              </a:buClr>
            </a:pPr>
            <a:r>
              <a:rPr lang="en-AU" sz="2800" dirty="0">
                <a:solidFill>
                  <a:prstClr val="black"/>
                </a:solidFill>
                <a:latin typeface="Helvetica" pitchFamily="34" charset="0"/>
                <a:ea typeface="Calibri"/>
                <a:cs typeface="Times New Roman"/>
              </a:rPr>
              <a:t>Licences are not ‘permanent’ – they are issued for a limited period of time (say, 5 years) and must be renewed following host country re-application protocols/renewal </a:t>
            </a:r>
            <a:r>
              <a:rPr lang="en-AU" sz="2800" dirty="0" smtClean="0">
                <a:solidFill>
                  <a:prstClr val="black"/>
                </a:solidFill>
                <a:latin typeface="Helvetica" pitchFamily="34" charset="0"/>
                <a:ea typeface="Calibri"/>
                <a:cs typeface="Times New Roman"/>
              </a:rPr>
              <a:t>procedures</a:t>
            </a:r>
          </a:p>
          <a:p>
            <a:pPr lvl="0">
              <a:spcBef>
                <a:spcPts val="400"/>
              </a:spcBef>
              <a:spcAft>
                <a:spcPts val="800"/>
              </a:spcAft>
              <a:buClr>
                <a:srgbClr val="7FD13B"/>
              </a:buClr>
            </a:pPr>
            <a:r>
              <a:rPr lang="en-AU" sz="2800" dirty="0" smtClean="0">
                <a:latin typeface="Helvetica" pitchFamily="34" charset="0"/>
                <a:ea typeface="Calibri"/>
                <a:cs typeface="Times New Roman"/>
              </a:rPr>
              <a:t>People </a:t>
            </a:r>
            <a:r>
              <a:rPr lang="en-AU" sz="2800" dirty="0">
                <a:latin typeface="Helvetica" pitchFamily="34" charset="0"/>
                <a:ea typeface="Calibri"/>
                <a:cs typeface="Times New Roman"/>
              </a:rPr>
              <a:t>of a certain age (say, 70+ years) may be required to obtain a medical certificate stating their fitness to drive </a:t>
            </a:r>
            <a:endParaRPr lang="en-AU" sz="2800" dirty="0" smtClean="0">
              <a:latin typeface="Helvetica" pitchFamily="34" charset="0"/>
              <a:ea typeface="Calibri"/>
              <a:cs typeface="Times New Roman"/>
            </a:endParaRPr>
          </a:p>
          <a:p>
            <a:pPr lvl="0">
              <a:spcBef>
                <a:spcPts val="400"/>
              </a:spcBef>
              <a:spcAft>
                <a:spcPts val="800"/>
              </a:spcAft>
              <a:buClr>
                <a:srgbClr val="7FD13B"/>
              </a:buClr>
            </a:pPr>
            <a:r>
              <a:rPr lang="en-AU" sz="2800" dirty="0" smtClean="0">
                <a:latin typeface="Helvetica" pitchFamily="34" charset="0"/>
                <a:ea typeface="Calibri"/>
                <a:cs typeface="Times New Roman"/>
              </a:rPr>
              <a:t>Driving </a:t>
            </a:r>
            <a:r>
              <a:rPr lang="en-AU" sz="2800" dirty="0">
                <a:latin typeface="Helvetica" pitchFamily="34" charset="0"/>
                <a:ea typeface="Calibri"/>
                <a:cs typeface="Times New Roman"/>
              </a:rPr>
              <a:t>is a privilege not a right – the law has penalties for failure to comply with host country road legislation, such </a:t>
            </a:r>
            <a:r>
              <a:rPr lang="en-AU" sz="2800" dirty="0" smtClean="0">
                <a:latin typeface="Helvetica" pitchFamily="34" charset="0"/>
                <a:ea typeface="Calibri"/>
                <a:cs typeface="Times New Roman"/>
              </a:rPr>
              <a:t>as:…see TM</a:t>
            </a:r>
          </a:p>
          <a:p>
            <a:endParaRPr lang="en-AU" dirty="0"/>
          </a:p>
        </p:txBody>
      </p:sp>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8113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1544204011"/>
              </p:ext>
            </p:extLst>
          </p:nvPr>
        </p:nvGraphicFramePr>
        <p:xfrm>
          <a:off x="755576" y="1628800"/>
          <a:ext cx="7488832" cy="4709717"/>
        </p:xfrm>
        <a:graphic>
          <a:graphicData uri="http://schemas.openxmlformats.org/drawingml/2006/table">
            <a:tbl>
              <a:tblPr firstRow="1" firstCol="1" bandRow="1">
                <a:tableStyleId>{5C22544A-7EE6-4342-B048-85BDC9FD1C3A}</a:tableStyleId>
              </a:tblPr>
              <a:tblGrid>
                <a:gridCol w="2363640"/>
                <a:gridCol w="5125192"/>
              </a:tblGrid>
              <a:tr h="299519">
                <a:tc gridSpan="2">
                  <a:txBody>
                    <a:bodyPr/>
                    <a:lstStyle/>
                    <a:p>
                      <a:pPr marL="681990" indent="-228600" algn="ctr">
                        <a:spcBef>
                          <a:spcPts val="1200"/>
                        </a:spcBef>
                        <a:spcAft>
                          <a:spcPts val="1200"/>
                        </a:spcAft>
                      </a:pPr>
                      <a:r>
                        <a:rPr lang="en-US" sz="2000" dirty="0">
                          <a:effectLst/>
                        </a:rPr>
                        <a:t>Licence classifications</a:t>
                      </a:r>
                      <a:endParaRPr lang="en-AU" sz="2000" dirty="0">
                        <a:effectLst/>
                        <a:latin typeface="Helvetica" pitchFamily="34" charset="0"/>
                        <a:ea typeface="Times New Roman"/>
                        <a:cs typeface="Times New Roman"/>
                      </a:endParaRPr>
                    </a:p>
                  </a:txBody>
                  <a:tcPr marL="68580" marR="68580" marT="0" marB="0"/>
                </a:tc>
                <a:tc hMerge="1">
                  <a:txBody>
                    <a:bodyPr/>
                    <a:lstStyle/>
                    <a:p>
                      <a:endParaRPr lang="en-AU"/>
                    </a:p>
                  </a:txBody>
                  <a:tcPr/>
                </a:tc>
              </a:tr>
              <a:tr h="271263">
                <a:tc>
                  <a:txBody>
                    <a:bodyPr/>
                    <a:lstStyle/>
                    <a:p>
                      <a:pPr marL="681990" indent="-228600" algn="l">
                        <a:lnSpc>
                          <a:spcPct val="100000"/>
                        </a:lnSpc>
                        <a:spcBef>
                          <a:spcPts val="300"/>
                        </a:spcBef>
                        <a:spcAft>
                          <a:spcPts val="300"/>
                        </a:spcAft>
                      </a:pPr>
                      <a:r>
                        <a:rPr lang="en-US" sz="1200" dirty="0">
                          <a:solidFill>
                            <a:schemeClr val="tx1"/>
                          </a:solidFill>
                          <a:effectLst/>
                        </a:rPr>
                        <a:t>Motor cycle</a:t>
                      </a:r>
                      <a:endParaRPr lang="en-AU" sz="1200" dirty="0">
                        <a:solidFill>
                          <a:schemeClr val="tx1"/>
                        </a:solidFill>
                        <a:effectLst/>
                        <a:latin typeface="Helvetica" pitchFamily="34" charset="0"/>
                        <a:ea typeface="Times New Roman"/>
                        <a:cs typeface="Times New Roman"/>
                      </a:endParaRPr>
                    </a:p>
                  </a:txBody>
                  <a:tcPr marL="68580" marR="68580" marT="0" marB="0" anchor="ctr"/>
                </a:tc>
                <a:tc>
                  <a:txBody>
                    <a:bodyPr/>
                    <a:lstStyle/>
                    <a:p>
                      <a:pPr marL="0" indent="0">
                        <a:spcBef>
                          <a:spcPts val="300"/>
                        </a:spcBef>
                        <a:spcAft>
                          <a:spcPts val="300"/>
                        </a:spcAft>
                      </a:pPr>
                      <a:r>
                        <a:rPr lang="en-US" sz="1200" dirty="0">
                          <a:effectLst/>
                        </a:rPr>
                        <a:t>different licence types for bikes of varying engine capacities</a:t>
                      </a:r>
                      <a:endParaRPr lang="en-AU" sz="1200" dirty="0">
                        <a:effectLst/>
                        <a:latin typeface="Helvetica" pitchFamily="34" charset="0"/>
                        <a:ea typeface="Times New Roman"/>
                        <a:cs typeface="Times New Roman"/>
                      </a:endParaRPr>
                    </a:p>
                  </a:txBody>
                  <a:tcPr marL="68580" marR="68580" marT="0" marB="0" anchor="ctr"/>
                </a:tc>
              </a:tr>
              <a:tr h="1368152">
                <a:tc>
                  <a:txBody>
                    <a:bodyPr/>
                    <a:lstStyle/>
                    <a:p>
                      <a:pPr marL="0" indent="0" algn="ctr">
                        <a:lnSpc>
                          <a:spcPct val="100000"/>
                        </a:lnSpc>
                        <a:spcBef>
                          <a:spcPts val="300"/>
                        </a:spcBef>
                        <a:spcAft>
                          <a:spcPts val="300"/>
                        </a:spcAft>
                      </a:pPr>
                      <a:r>
                        <a:rPr lang="en-US" sz="1200" dirty="0">
                          <a:solidFill>
                            <a:schemeClr val="tx1"/>
                          </a:solidFill>
                          <a:effectLst/>
                        </a:rPr>
                        <a:t>Private motor </a:t>
                      </a:r>
                      <a:r>
                        <a:rPr lang="en-US" sz="1200" dirty="0" smtClean="0">
                          <a:solidFill>
                            <a:schemeClr val="tx1"/>
                          </a:solidFill>
                          <a:effectLst/>
                        </a:rPr>
                        <a:t>cars/vehicles</a:t>
                      </a:r>
                    </a:p>
                  </a:txBody>
                  <a:tcPr marL="68580" marR="68580" marT="0" marB="0" anchor="ctr"/>
                </a:tc>
                <a:tc>
                  <a:txBody>
                    <a:bodyPr/>
                    <a:lstStyle/>
                    <a:p>
                      <a:pPr marL="342900" lvl="0" indent="-342900">
                        <a:spcBef>
                          <a:spcPts val="300"/>
                        </a:spcBef>
                        <a:spcAft>
                          <a:spcPts val="300"/>
                        </a:spcAft>
                        <a:buFont typeface="Symbol"/>
                        <a:buChar char=""/>
                      </a:pPr>
                      <a:r>
                        <a:rPr lang="en-AU" sz="1200" dirty="0">
                          <a:effectLst/>
                        </a:rPr>
                        <a:t>with possible variations, restrictions/limitations centred on:</a:t>
                      </a:r>
                    </a:p>
                    <a:p>
                      <a:pPr marL="725488" lvl="0" indent="-342900">
                        <a:spcBef>
                          <a:spcPts val="300"/>
                        </a:spcBef>
                        <a:spcAft>
                          <a:spcPts val="300"/>
                        </a:spcAft>
                        <a:buFont typeface="Helvetica"/>
                        <a:buChar char="–"/>
                      </a:pPr>
                      <a:r>
                        <a:rPr lang="en-AU" sz="1200" dirty="0">
                          <a:effectLst/>
                        </a:rPr>
                        <a:t>Vehicle weight when </a:t>
                      </a:r>
                      <a:r>
                        <a:rPr lang="en-AU" sz="1200" dirty="0" smtClean="0">
                          <a:effectLst/>
                        </a:rPr>
                        <a:t>un-laden </a:t>
                      </a:r>
                      <a:r>
                        <a:rPr lang="en-AU" sz="1200" dirty="0">
                          <a:effectLst/>
                        </a:rPr>
                        <a:t>– for example, 2,500kg</a:t>
                      </a:r>
                    </a:p>
                    <a:p>
                      <a:pPr marL="725488" lvl="0" indent="-342900">
                        <a:spcBef>
                          <a:spcPts val="300"/>
                        </a:spcBef>
                        <a:spcAft>
                          <a:spcPts val="300"/>
                        </a:spcAft>
                        <a:buFont typeface="Helvetica"/>
                        <a:buChar char="–"/>
                      </a:pPr>
                      <a:r>
                        <a:rPr lang="en-AU" sz="1200" dirty="0">
                          <a:effectLst/>
                        </a:rPr>
                        <a:t>Maximum number of vehicle passengers – such as 7 passengers excluding the driver</a:t>
                      </a:r>
                    </a:p>
                    <a:p>
                      <a:pPr marL="725488" lvl="0" indent="-342900">
                        <a:spcBef>
                          <a:spcPts val="300"/>
                        </a:spcBef>
                        <a:spcAft>
                          <a:spcPts val="300"/>
                        </a:spcAft>
                        <a:buFont typeface="Helvetica"/>
                        <a:buChar char="–"/>
                      </a:pPr>
                      <a:r>
                        <a:rPr lang="en-AU" sz="1200" dirty="0">
                          <a:effectLst/>
                        </a:rPr>
                        <a:t>Whether vehicle is a manual or automatic vehicle</a:t>
                      </a:r>
                      <a:endParaRPr lang="en-AU" sz="1200" dirty="0">
                        <a:effectLst/>
                        <a:latin typeface="Helvetica" pitchFamily="34" charset="0"/>
                        <a:ea typeface="Calibri"/>
                        <a:cs typeface="Calibri"/>
                      </a:endParaRPr>
                    </a:p>
                  </a:txBody>
                  <a:tcPr marL="68580" marR="68580" marT="0" marB="0" anchor="ctr"/>
                </a:tc>
              </a:tr>
              <a:tr h="288032">
                <a:tc>
                  <a:txBody>
                    <a:bodyPr/>
                    <a:lstStyle/>
                    <a:p>
                      <a:pPr marL="681990" indent="-228600" algn="l">
                        <a:lnSpc>
                          <a:spcPct val="100000"/>
                        </a:lnSpc>
                        <a:spcBef>
                          <a:spcPts val="300"/>
                        </a:spcBef>
                        <a:spcAft>
                          <a:spcPts val="300"/>
                        </a:spcAft>
                      </a:pPr>
                      <a:r>
                        <a:rPr lang="en-US" sz="1200" dirty="0">
                          <a:solidFill>
                            <a:schemeClr val="tx1"/>
                          </a:solidFill>
                          <a:effectLst/>
                        </a:rPr>
                        <a:t>Commercial car</a:t>
                      </a:r>
                      <a:endParaRPr lang="en-AU" sz="1200" dirty="0">
                        <a:solidFill>
                          <a:schemeClr val="tx1"/>
                        </a:solidFill>
                        <a:effectLst/>
                        <a:latin typeface="Helvetica" pitchFamily="34" charset="0"/>
                        <a:ea typeface="Times New Roman"/>
                        <a:cs typeface="Times New Roman"/>
                      </a:endParaRPr>
                    </a:p>
                  </a:txBody>
                  <a:tcPr marL="68580" marR="68580" marT="0" marB="0" anchor="ctr"/>
                </a:tc>
                <a:tc>
                  <a:txBody>
                    <a:bodyPr/>
                    <a:lstStyle/>
                    <a:p>
                      <a:pPr marL="0" indent="0">
                        <a:spcBef>
                          <a:spcPts val="300"/>
                        </a:spcBef>
                        <a:spcAft>
                          <a:spcPts val="300"/>
                        </a:spcAft>
                      </a:pPr>
                      <a:r>
                        <a:rPr lang="en-US" sz="1200" dirty="0">
                          <a:effectLst/>
                        </a:rPr>
                        <a:t>for operation of a taxi</a:t>
                      </a:r>
                      <a:endParaRPr lang="en-AU" sz="1200" dirty="0">
                        <a:effectLst/>
                        <a:latin typeface="Helvetica" pitchFamily="34" charset="0"/>
                        <a:ea typeface="Times New Roman"/>
                        <a:cs typeface="Times New Roman"/>
                      </a:endParaRPr>
                    </a:p>
                  </a:txBody>
                  <a:tcPr marL="68580" marR="68580" marT="0" marB="0" anchor="ctr"/>
                </a:tc>
              </a:tr>
              <a:tr h="288033">
                <a:tc>
                  <a:txBody>
                    <a:bodyPr/>
                    <a:lstStyle/>
                    <a:p>
                      <a:pPr marL="457200" indent="-228600" algn="l">
                        <a:lnSpc>
                          <a:spcPct val="100000"/>
                        </a:lnSpc>
                        <a:spcBef>
                          <a:spcPts val="300"/>
                        </a:spcBef>
                        <a:spcAft>
                          <a:spcPts val="300"/>
                        </a:spcAft>
                      </a:pPr>
                      <a:r>
                        <a:rPr lang="en-AU" sz="1200" dirty="0">
                          <a:solidFill>
                            <a:schemeClr val="tx1"/>
                          </a:solidFill>
                          <a:effectLst/>
                        </a:rPr>
                        <a:t>Buses and coaches</a:t>
                      </a:r>
                      <a:endParaRPr lang="en-AU" sz="1200" dirty="0">
                        <a:solidFill>
                          <a:schemeClr val="tx1"/>
                        </a:solidFill>
                        <a:effectLst/>
                        <a:latin typeface="Helvetica" pitchFamily="34" charset="0"/>
                        <a:ea typeface="Calibri"/>
                        <a:cs typeface="Times New Roman"/>
                      </a:endParaRPr>
                    </a:p>
                  </a:txBody>
                  <a:tcPr marL="68580" marR="68580" marT="0" marB="0" anchor="ctr"/>
                </a:tc>
                <a:tc>
                  <a:txBody>
                    <a:bodyPr/>
                    <a:lstStyle/>
                    <a:p>
                      <a:pPr marL="681990" indent="-228600">
                        <a:spcBef>
                          <a:spcPts val="300"/>
                        </a:spcBef>
                        <a:spcAft>
                          <a:spcPts val="300"/>
                        </a:spcAft>
                      </a:pPr>
                      <a:r>
                        <a:rPr lang="en-AU" sz="1200" dirty="0">
                          <a:effectLst/>
                        </a:rPr>
                        <a:t> </a:t>
                      </a:r>
                      <a:endParaRPr lang="en-AU" sz="1200" dirty="0">
                        <a:effectLst/>
                        <a:latin typeface="Helvetica" pitchFamily="34" charset="0"/>
                        <a:ea typeface="Times New Roman"/>
                        <a:cs typeface="Times New Roman"/>
                      </a:endParaRPr>
                    </a:p>
                  </a:txBody>
                  <a:tcPr marL="68580" marR="68580" marT="0" marB="0" anchor="ctr"/>
                </a:tc>
              </a:tr>
              <a:tr h="772743">
                <a:tc>
                  <a:txBody>
                    <a:bodyPr/>
                    <a:lstStyle/>
                    <a:p>
                      <a:pPr marL="681990" indent="-228600" algn="l">
                        <a:lnSpc>
                          <a:spcPct val="100000"/>
                        </a:lnSpc>
                        <a:spcBef>
                          <a:spcPts val="300"/>
                        </a:spcBef>
                        <a:spcAft>
                          <a:spcPts val="300"/>
                        </a:spcAft>
                      </a:pPr>
                      <a:r>
                        <a:rPr lang="en-US" sz="1200" dirty="0">
                          <a:solidFill>
                            <a:schemeClr val="tx1"/>
                          </a:solidFill>
                          <a:effectLst/>
                        </a:rPr>
                        <a:t>Light vehicles</a:t>
                      </a:r>
                      <a:endParaRPr lang="en-AU" sz="1200" dirty="0">
                        <a:solidFill>
                          <a:schemeClr val="tx1"/>
                        </a:solidFill>
                        <a:effectLst/>
                        <a:latin typeface="Helvetica" pitchFamily="34" charset="0"/>
                        <a:ea typeface="Times New Roman"/>
                        <a:cs typeface="Times New Roman"/>
                      </a:endParaRPr>
                    </a:p>
                  </a:txBody>
                  <a:tcPr marL="68580" marR="68580" marT="0" marB="0" anchor="ctr"/>
                </a:tc>
                <a:tc>
                  <a:txBody>
                    <a:bodyPr/>
                    <a:lstStyle/>
                    <a:p>
                      <a:pPr marL="342900" lvl="0" indent="-342900">
                        <a:spcBef>
                          <a:spcPts val="300"/>
                        </a:spcBef>
                        <a:spcAft>
                          <a:spcPts val="300"/>
                        </a:spcAft>
                        <a:buFont typeface="Symbol"/>
                        <a:buChar char=""/>
                      </a:pPr>
                      <a:r>
                        <a:rPr lang="en-AU" sz="1200" dirty="0">
                          <a:effectLst/>
                        </a:rPr>
                        <a:t>being:</a:t>
                      </a:r>
                    </a:p>
                    <a:p>
                      <a:pPr marL="725488" lvl="0" indent="-342900">
                        <a:spcBef>
                          <a:spcPts val="300"/>
                        </a:spcBef>
                        <a:spcAft>
                          <a:spcPts val="300"/>
                        </a:spcAft>
                        <a:buFont typeface="Helvetica"/>
                        <a:buChar char="–"/>
                      </a:pPr>
                      <a:r>
                        <a:rPr lang="en-AU" sz="1200" dirty="0">
                          <a:effectLst/>
                        </a:rPr>
                        <a:t>Vans</a:t>
                      </a:r>
                    </a:p>
                    <a:p>
                      <a:pPr marL="725488" lvl="0" indent="-342900">
                        <a:spcBef>
                          <a:spcPts val="300"/>
                        </a:spcBef>
                        <a:spcAft>
                          <a:spcPts val="300"/>
                        </a:spcAft>
                        <a:buFont typeface="Helvetica"/>
                        <a:buChar char="–"/>
                      </a:pPr>
                      <a:r>
                        <a:rPr lang="en-AU" sz="1200" dirty="0">
                          <a:effectLst/>
                        </a:rPr>
                        <a:t>Lorries under a certain weight</a:t>
                      </a:r>
                      <a:endParaRPr lang="en-AU" sz="1200" dirty="0">
                        <a:effectLst/>
                        <a:latin typeface="Helvetica" pitchFamily="34" charset="0"/>
                        <a:ea typeface="Calibri"/>
                        <a:cs typeface="Calibri"/>
                      </a:endParaRPr>
                    </a:p>
                  </a:txBody>
                  <a:tcPr marL="68580" marR="68580" marT="0" marB="0" anchor="ctr"/>
                </a:tc>
              </a:tr>
              <a:tr h="643951">
                <a:tc>
                  <a:txBody>
                    <a:bodyPr/>
                    <a:lstStyle/>
                    <a:p>
                      <a:pPr marL="681990" indent="-228600" algn="l">
                        <a:lnSpc>
                          <a:spcPct val="100000"/>
                        </a:lnSpc>
                        <a:spcBef>
                          <a:spcPts val="300"/>
                        </a:spcBef>
                        <a:spcAft>
                          <a:spcPts val="300"/>
                        </a:spcAft>
                      </a:pPr>
                      <a:r>
                        <a:rPr lang="en-US" sz="1200" dirty="0">
                          <a:solidFill>
                            <a:schemeClr val="tx1"/>
                          </a:solidFill>
                          <a:effectLst/>
                        </a:rPr>
                        <a:t>Medium vehicles</a:t>
                      </a:r>
                      <a:endParaRPr lang="en-AU" sz="1200" dirty="0">
                        <a:solidFill>
                          <a:schemeClr val="tx1"/>
                        </a:solidFill>
                        <a:effectLst/>
                        <a:latin typeface="Helvetica" pitchFamily="34" charset="0"/>
                        <a:ea typeface="Times New Roman"/>
                        <a:cs typeface="Times New Roman"/>
                      </a:endParaRPr>
                    </a:p>
                  </a:txBody>
                  <a:tcPr marL="68580" marR="68580" marT="0" marB="0" anchor="ctr"/>
                </a:tc>
                <a:tc>
                  <a:txBody>
                    <a:bodyPr/>
                    <a:lstStyle/>
                    <a:p>
                      <a:pPr marL="342900" lvl="0" indent="-342900">
                        <a:spcBef>
                          <a:spcPts val="300"/>
                        </a:spcBef>
                        <a:spcAft>
                          <a:spcPts val="300"/>
                        </a:spcAft>
                        <a:buFont typeface="Symbol"/>
                        <a:buChar char=""/>
                      </a:pPr>
                      <a:r>
                        <a:rPr lang="en-AU" sz="1200" dirty="0">
                          <a:effectLst/>
                        </a:rPr>
                        <a:t>which may include:</a:t>
                      </a:r>
                    </a:p>
                    <a:p>
                      <a:pPr marL="725488" lvl="0" indent="-342900">
                        <a:spcBef>
                          <a:spcPts val="300"/>
                        </a:spcBef>
                        <a:spcAft>
                          <a:spcPts val="300"/>
                        </a:spcAft>
                        <a:buFont typeface="Helvetica"/>
                        <a:buChar char="–"/>
                      </a:pPr>
                      <a:r>
                        <a:rPr lang="en-AU" sz="1200" dirty="0">
                          <a:effectLst/>
                        </a:rPr>
                        <a:t>Non-reticulated lorries below a nominated length and/or weight</a:t>
                      </a:r>
                      <a:endParaRPr lang="en-AU" sz="1200" dirty="0">
                        <a:effectLst/>
                        <a:latin typeface="Helvetica" pitchFamily="34" charset="0"/>
                        <a:ea typeface="Calibri"/>
                        <a:cs typeface="Calibri"/>
                      </a:endParaRPr>
                    </a:p>
                  </a:txBody>
                  <a:tcPr marL="68580" marR="68580" marT="0" marB="0" anchor="ctr"/>
                </a:tc>
              </a:tr>
              <a:tr h="772743">
                <a:tc>
                  <a:txBody>
                    <a:bodyPr/>
                    <a:lstStyle/>
                    <a:p>
                      <a:pPr marL="681990" indent="-228600" algn="l">
                        <a:lnSpc>
                          <a:spcPct val="100000"/>
                        </a:lnSpc>
                        <a:spcBef>
                          <a:spcPts val="300"/>
                        </a:spcBef>
                        <a:spcAft>
                          <a:spcPts val="300"/>
                        </a:spcAft>
                      </a:pPr>
                      <a:r>
                        <a:rPr lang="en-US" sz="1200" dirty="0">
                          <a:solidFill>
                            <a:schemeClr val="tx1"/>
                          </a:solidFill>
                          <a:effectLst/>
                        </a:rPr>
                        <a:t>Heavy vehicles</a:t>
                      </a:r>
                      <a:endParaRPr lang="en-AU" sz="1200" dirty="0">
                        <a:solidFill>
                          <a:schemeClr val="tx1"/>
                        </a:solidFill>
                        <a:effectLst/>
                        <a:latin typeface="Helvetica" pitchFamily="34" charset="0"/>
                        <a:ea typeface="Times New Roman"/>
                        <a:cs typeface="Times New Roman"/>
                      </a:endParaRPr>
                    </a:p>
                  </a:txBody>
                  <a:tcPr marL="68580" marR="68580" marT="0" marB="0" anchor="ctr"/>
                </a:tc>
                <a:tc>
                  <a:txBody>
                    <a:bodyPr/>
                    <a:lstStyle/>
                    <a:p>
                      <a:pPr marL="342900" lvl="0" indent="-342900">
                        <a:spcBef>
                          <a:spcPts val="300"/>
                        </a:spcBef>
                        <a:spcAft>
                          <a:spcPts val="300"/>
                        </a:spcAft>
                        <a:buFont typeface="Symbol"/>
                        <a:buChar char=""/>
                      </a:pPr>
                      <a:r>
                        <a:rPr lang="en-AU" sz="1200" dirty="0">
                          <a:effectLst/>
                        </a:rPr>
                        <a:t>which apply to, for example:</a:t>
                      </a:r>
                    </a:p>
                    <a:p>
                      <a:pPr marL="725488" lvl="0" indent="-342900">
                        <a:spcBef>
                          <a:spcPts val="300"/>
                        </a:spcBef>
                        <a:spcAft>
                          <a:spcPts val="300"/>
                        </a:spcAft>
                        <a:buFont typeface="Helvetica"/>
                        <a:buChar char="–"/>
                      </a:pPr>
                      <a:r>
                        <a:rPr lang="en-AU" sz="1200" dirty="0">
                          <a:effectLst/>
                        </a:rPr>
                        <a:t>The largest trucks</a:t>
                      </a:r>
                    </a:p>
                    <a:p>
                      <a:pPr marL="725488" lvl="0" indent="-342900">
                        <a:spcBef>
                          <a:spcPts val="300"/>
                        </a:spcBef>
                        <a:spcAft>
                          <a:spcPts val="300"/>
                        </a:spcAft>
                        <a:buFont typeface="Helvetica"/>
                        <a:buChar char="–"/>
                      </a:pPr>
                      <a:r>
                        <a:rPr lang="en-AU" sz="1200" dirty="0">
                          <a:effectLst/>
                        </a:rPr>
                        <a:t>Reticulated vehicles.</a:t>
                      </a:r>
                      <a:endParaRPr lang="en-AU" sz="1200" dirty="0">
                        <a:effectLst/>
                        <a:latin typeface="Helvetica" pitchFamily="34" charset="0"/>
                        <a:ea typeface="Calibri"/>
                        <a:cs typeface="Calibri"/>
                      </a:endParaRPr>
                    </a:p>
                  </a:txBody>
                  <a:tcPr marL="68580" marR="68580" marT="0" marB="0" anchor="ctr"/>
                </a:tc>
              </a:tr>
            </a:tbl>
          </a:graphicData>
        </a:graphic>
      </p:graphicFrame>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6615762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467600" cy="5069160"/>
          </a:xfrm>
        </p:spPr>
        <p:txBody>
          <a:bodyPr>
            <a:normAutofit/>
          </a:bodyPr>
          <a:lstStyle/>
          <a:p>
            <a:pPr marL="36576" indent="0">
              <a:spcBef>
                <a:spcPts val="600"/>
              </a:spcBef>
              <a:spcAft>
                <a:spcPts val="800"/>
              </a:spcAft>
              <a:buNone/>
            </a:pPr>
            <a:r>
              <a:rPr lang="en-AU" sz="2200" b="1" dirty="0" smtClean="0">
                <a:latin typeface="Helvetica" pitchFamily="34" charset="0"/>
                <a:ea typeface="Calibri"/>
                <a:cs typeface="Calibri"/>
              </a:rPr>
              <a:t>Websites</a:t>
            </a:r>
            <a:endParaRPr lang="en-AU" sz="2200" dirty="0">
              <a:latin typeface="Helvetica" pitchFamily="34" charset="0"/>
              <a:ea typeface="Calibri"/>
              <a:cs typeface="Calibri"/>
            </a:endParaRPr>
          </a:p>
          <a:p>
            <a:pPr>
              <a:spcBef>
                <a:spcPts val="600"/>
              </a:spcBef>
              <a:spcAft>
                <a:spcPts val="800"/>
              </a:spcAft>
            </a:pPr>
            <a:r>
              <a:rPr lang="en-AU" sz="2200" dirty="0">
                <a:latin typeface="Helvetica" pitchFamily="34" charset="0"/>
                <a:ea typeface="Calibri"/>
                <a:cs typeface="Calibri"/>
              </a:rPr>
              <a:t>It is interesting to visit:</a:t>
            </a:r>
          </a:p>
          <a:p>
            <a:pPr lvl="1">
              <a:spcBef>
                <a:spcPts val="600"/>
              </a:spcBef>
              <a:spcAft>
                <a:spcPts val="800"/>
              </a:spcAft>
            </a:pPr>
            <a:r>
              <a:rPr lang="en-AU" sz="2200" u="sng" dirty="0">
                <a:solidFill>
                  <a:srgbClr val="0000FF"/>
                </a:solidFill>
                <a:latin typeface="Helvetica" pitchFamily="34" charset="0"/>
                <a:ea typeface="Calibri"/>
                <a:cs typeface="Calibri"/>
                <a:hlinkClick r:id="rId3"/>
              </a:rPr>
              <a:t>http://</a:t>
            </a:r>
            <a:r>
              <a:rPr lang="en-AU" sz="2200" u="sng" dirty="0" smtClean="0">
                <a:solidFill>
                  <a:srgbClr val="0000FF"/>
                </a:solidFill>
                <a:latin typeface="Helvetica" pitchFamily="34" charset="0"/>
                <a:ea typeface="Calibri"/>
                <a:cs typeface="Calibri"/>
                <a:hlinkClick r:id="rId3"/>
              </a:rPr>
              <a:t>treaty.kemlu.go.id/uploads-pub/5121_ASEAN-1985-0051.pdf</a:t>
            </a:r>
            <a:r>
              <a:rPr lang="en-AU" sz="2200" dirty="0">
                <a:latin typeface="Helvetica" pitchFamily="34" charset="0"/>
                <a:ea typeface="Calibri"/>
                <a:cs typeface="Calibri"/>
              </a:rPr>
              <a:t> </a:t>
            </a:r>
            <a:r>
              <a:rPr lang="en-AU" sz="2200" dirty="0" smtClean="0">
                <a:latin typeface="Helvetica" pitchFamily="34" charset="0"/>
                <a:ea typeface="Calibri"/>
                <a:cs typeface="Calibri"/>
              </a:rPr>
              <a:t>- Agreement </a:t>
            </a:r>
            <a:r>
              <a:rPr lang="en-AU" sz="2200" dirty="0">
                <a:latin typeface="Helvetica" pitchFamily="34" charset="0"/>
                <a:ea typeface="Calibri"/>
                <a:cs typeface="Calibri"/>
              </a:rPr>
              <a:t>on the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recognition </a:t>
            </a:r>
            <a:r>
              <a:rPr lang="en-AU" sz="2200" dirty="0">
                <a:latin typeface="Helvetica" pitchFamily="34" charset="0"/>
                <a:ea typeface="Calibri"/>
                <a:cs typeface="Calibri"/>
              </a:rPr>
              <a:t>of domestic driving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licences </a:t>
            </a:r>
            <a:r>
              <a:rPr lang="en-AU" sz="2200" dirty="0">
                <a:latin typeface="Helvetica" pitchFamily="34" charset="0"/>
                <a:ea typeface="Calibri"/>
                <a:cs typeface="Calibri"/>
              </a:rPr>
              <a:t>issued by ASEAN countries</a:t>
            </a:r>
          </a:p>
          <a:p>
            <a:pPr lvl="1">
              <a:spcBef>
                <a:spcPts val="1200"/>
              </a:spcBef>
              <a:spcAft>
                <a:spcPts val="1200"/>
              </a:spcAft>
            </a:pPr>
            <a:r>
              <a:rPr lang="en-AU" sz="2200" u="sng" dirty="0">
                <a:solidFill>
                  <a:srgbClr val="0000FF"/>
                </a:solidFill>
                <a:latin typeface="Helvetica" pitchFamily="34" charset="0"/>
                <a:ea typeface="Calibri"/>
                <a:cs typeface="Calibri"/>
                <a:hlinkClick r:id="rId4"/>
              </a:rPr>
              <a:t>http://www.thaivisa.com/forum/topic/833756-new-driver-license-is-valid-in-asean-member-countries/</a:t>
            </a:r>
            <a:endParaRPr lang="en-AU" sz="2200" dirty="0">
              <a:latin typeface="Helvetica" pitchFamily="34" charset="0"/>
              <a:ea typeface="Calibri"/>
              <a:cs typeface="Calibri"/>
            </a:endParaRPr>
          </a:p>
          <a:p>
            <a:pPr>
              <a:spcBef>
                <a:spcPts val="600"/>
              </a:spcBef>
              <a:spcAft>
                <a:spcPts val="800"/>
              </a:spcAft>
            </a:pPr>
            <a:endParaRPr lang="en-AU" sz="2200" dirty="0">
              <a:latin typeface="Helvetica" pitchFamily="34" charset="0"/>
              <a:ea typeface="Calibri"/>
              <a:cs typeface="Calibri"/>
            </a:endParaRPr>
          </a:p>
          <a:p>
            <a:pPr>
              <a:spcBef>
                <a:spcPts val="600"/>
              </a:spcBef>
            </a:pPr>
            <a:endParaRPr lang="en-AU" sz="2200" dirty="0"/>
          </a:p>
        </p:txBody>
      </p:sp>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4208" y="3169720"/>
            <a:ext cx="1646305" cy="1088962"/>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277641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628800"/>
            <a:ext cx="8075240" cy="5069160"/>
          </a:xfrm>
        </p:spPr>
        <p:txBody>
          <a:bodyPr>
            <a:normAutofit/>
          </a:bodyPr>
          <a:lstStyle/>
          <a:p>
            <a:pPr marL="0" indent="0">
              <a:spcBef>
                <a:spcPts val="1200"/>
              </a:spcBef>
              <a:spcAft>
                <a:spcPts val="1200"/>
              </a:spcAft>
              <a:buNone/>
            </a:pPr>
            <a:r>
              <a:rPr lang="en-AU" sz="2200" b="1" dirty="0">
                <a:latin typeface="Helvetica" pitchFamily="34" charset="0"/>
                <a:ea typeface="Times New Roman"/>
                <a:cs typeface="Times New Roman"/>
              </a:rPr>
              <a:t>Licence </a:t>
            </a:r>
            <a:r>
              <a:rPr lang="en-AU" sz="2200" b="1" dirty="0" smtClean="0">
                <a:latin typeface="Helvetica" pitchFamily="34" charset="0"/>
                <a:ea typeface="Times New Roman"/>
                <a:cs typeface="Times New Roman"/>
              </a:rPr>
              <a:t>identification</a:t>
            </a:r>
          </a:p>
          <a:p>
            <a:pPr>
              <a:spcBef>
                <a:spcPts val="400"/>
              </a:spcBef>
              <a:spcAft>
                <a:spcPts val="800"/>
              </a:spcAft>
            </a:pPr>
            <a:r>
              <a:rPr lang="en-AU" sz="2200" dirty="0">
                <a:latin typeface="Helvetica" pitchFamily="34" charset="0"/>
                <a:ea typeface="Calibri"/>
                <a:cs typeface="Calibri"/>
              </a:rPr>
              <a:t>To fully identify the specific driving licence requirements for individual countries it is necessary to:</a:t>
            </a:r>
          </a:p>
          <a:p>
            <a:pPr marL="644652" lvl="1" indent="-342900">
              <a:spcBef>
                <a:spcPts val="300"/>
              </a:spcBef>
              <a:spcAft>
                <a:spcPts val="600"/>
              </a:spcAft>
              <a:buFont typeface="Symbol"/>
              <a:buChar char=""/>
            </a:pPr>
            <a:r>
              <a:rPr lang="en-AU" sz="2200" dirty="0">
                <a:latin typeface="Helvetica" pitchFamily="34" charset="0"/>
                <a:ea typeface="Calibri"/>
                <a:cs typeface="Times New Roman"/>
              </a:rPr>
              <a:t>Contact the relevant Land Transportation Office or similar</a:t>
            </a:r>
          </a:p>
          <a:p>
            <a:pPr marL="644652" lvl="1" indent="-342900">
              <a:spcBef>
                <a:spcPts val="300"/>
              </a:spcBef>
              <a:spcAft>
                <a:spcPts val="600"/>
              </a:spcAft>
              <a:buFont typeface="Symbol"/>
              <a:buChar char=""/>
            </a:pPr>
            <a:r>
              <a:rPr lang="en-AU" sz="2200" dirty="0">
                <a:latin typeface="Helvetica" pitchFamily="34" charset="0"/>
                <a:ea typeface="Calibri"/>
                <a:cs typeface="Times New Roman"/>
              </a:rPr>
              <a:t>Determine if the country requires</a:t>
            </a:r>
            <a:r>
              <a:rPr lang="en-AU" sz="2200" dirty="0" smtClean="0">
                <a:latin typeface="Helvetica" pitchFamily="34" charset="0"/>
                <a:ea typeface="Calibri"/>
                <a:cs typeface="Times New Roman"/>
              </a:rPr>
              <a:t>:</a:t>
            </a:r>
            <a:endParaRPr lang="en-AU" sz="2200" b="1" dirty="0" smtClean="0">
              <a:solidFill>
                <a:srgbClr val="45545F"/>
              </a:solidFill>
              <a:latin typeface="Helvetica" pitchFamily="34" charset="0"/>
              <a:ea typeface="Times New Roman"/>
              <a:cs typeface="Times New Roman"/>
            </a:endParaRPr>
          </a:p>
          <a:p>
            <a:pPr marL="1079500" lvl="0" indent="-342900">
              <a:spcBef>
                <a:spcPts val="300"/>
              </a:spcBef>
              <a:spcAft>
                <a:spcPts val="600"/>
              </a:spcAft>
              <a:buFont typeface="Wingdings" panose="05000000000000000000" pitchFamily="2" charset="2"/>
              <a:buChar char="§"/>
            </a:pPr>
            <a:r>
              <a:rPr lang="en-AU" sz="2200" dirty="0">
                <a:latin typeface="Helvetica" pitchFamily="34" charset="0"/>
                <a:ea typeface="Calibri"/>
                <a:cs typeface="Calibri"/>
              </a:rPr>
              <a:t>A Public Service Vehicle Licence – for example, see </a:t>
            </a:r>
            <a:r>
              <a:rPr lang="en-AU" sz="2200" u="sng" dirty="0">
                <a:solidFill>
                  <a:srgbClr val="0000FF"/>
                </a:solidFill>
                <a:latin typeface="Helvetica" pitchFamily="34" charset="0"/>
                <a:ea typeface="Calibri"/>
                <a:cs typeface="Calibri"/>
                <a:hlinkClick r:id="rId3"/>
              </a:rPr>
              <a:t>http://driving-school.com.my/driving-license/how-to-secure-a-malaysian-public-service-vehicle-license/</a:t>
            </a:r>
            <a:r>
              <a:rPr lang="en-AU" sz="2200" dirty="0">
                <a:latin typeface="Helvetica" pitchFamily="34" charset="0"/>
                <a:ea typeface="Calibri"/>
                <a:cs typeface="Calibri"/>
              </a:rPr>
              <a:t> </a:t>
            </a:r>
          </a:p>
          <a:p>
            <a:pPr marL="1079500" lvl="0" indent="-342900">
              <a:spcBef>
                <a:spcPts val="300"/>
              </a:spcBef>
              <a:spcAft>
                <a:spcPts val="600"/>
              </a:spcAft>
              <a:buFont typeface="Wingdings" panose="05000000000000000000" pitchFamily="2" charset="2"/>
              <a:buChar char="§"/>
            </a:pPr>
            <a:r>
              <a:rPr lang="en-AU" sz="2200" dirty="0">
                <a:latin typeface="Helvetica" pitchFamily="34" charset="0"/>
                <a:ea typeface="Calibri"/>
                <a:cs typeface="Calibri"/>
              </a:rPr>
              <a:t>A special licence or permit – such as a Bus Driver’s Vocational Licence, see </a:t>
            </a:r>
            <a:r>
              <a:rPr lang="en-AU" sz="2200" u="sng" dirty="0">
                <a:solidFill>
                  <a:srgbClr val="0000FF"/>
                </a:solidFill>
                <a:latin typeface="Helvetica" pitchFamily="34" charset="0"/>
                <a:ea typeface="Calibri"/>
                <a:cs typeface="Calibri"/>
                <a:hlinkClick r:id="rId4"/>
              </a:rPr>
              <a:t>http://www.lta.gov.sg/content/ltaweb/en/industry-matters/vocational-licences.html</a:t>
            </a:r>
            <a:r>
              <a:rPr lang="en-AU" sz="2200" dirty="0">
                <a:latin typeface="Helvetica" pitchFamily="34" charset="0"/>
                <a:ea typeface="Calibri"/>
                <a:cs typeface="Calibri"/>
              </a:rPr>
              <a:t> </a:t>
            </a:r>
            <a:endParaRPr lang="en-AU" sz="2200" b="1" dirty="0">
              <a:solidFill>
                <a:srgbClr val="45545F"/>
              </a:solidFill>
              <a:latin typeface="Helvetica" pitchFamily="34" charset="0"/>
              <a:ea typeface="Times New Roman"/>
              <a:cs typeface="Times New Roman"/>
            </a:endParaRPr>
          </a:p>
        </p:txBody>
      </p:sp>
      <p:sp>
        <p:nvSpPr>
          <p:cNvPr id="6"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8839440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556792"/>
            <a:ext cx="8064896" cy="5301208"/>
          </a:xfrm>
        </p:spPr>
        <p:txBody>
          <a:bodyPr>
            <a:normAutofit/>
          </a:bodyPr>
          <a:lstStyle/>
          <a:p>
            <a:pPr marL="0" lvl="0" indent="0">
              <a:spcBef>
                <a:spcPts val="1200"/>
              </a:spcBef>
              <a:spcAft>
                <a:spcPts val="1200"/>
              </a:spcAft>
              <a:buClr>
                <a:srgbClr val="7FD13B"/>
              </a:buClr>
              <a:buNone/>
            </a:pPr>
            <a:r>
              <a:rPr lang="en-AU" sz="2200" b="1" dirty="0">
                <a:latin typeface="Helvetica" pitchFamily="34" charset="0"/>
                <a:ea typeface="Times New Roman"/>
                <a:cs typeface="Times New Roman"/>
              </a:rPr>
              <a:t>Application pre-requisites</a:t>
            </a:r>
          </a:p>
          <a:p>
            <a:pPr>
              <a:spcBef>
                <a:spcPts val="400"/>
              </a:spcBef>
              <a:spcAft>
                <a:spcPts val="800"/>
              </a:spcAft>
            </a:pPr>
            <a:r>
              <a:rPr lang="en-AU" sz="2200" dirty="0">
                <a:latin typeface="Helvetica" pitchFamily="34" charset="0"/>
                <a:ea typeface="Calibri"/>
                <a:cs typeface="Calibri"/>
              </a:rPr>
              <a:t>Always check with local Authorities when applying for any driving licence as requirements may:</a:t>
            </a:r>
          </a:p>
          <a:p>
            <a:pPr marL="644652" lvl="1" indent="-342900">
              <a:spcBef>
                <a:spcPts val="300"/>
              </a:spcBef>
              <a:spcAft>
                <a:spcPts val="600"/>
              </a:spcAft>
              <a:buFont typeface="Symbol"/>
              <a:buChar char=""/>
            </a:pPr>
            <a:r>
              <a:rPr lang="en-AU" sz="2200" dirty="0">
                <a:latin typeface="Helvetica" pitchFamily="34" charset="0"/>
                <a:ea typeface="Calibri"/>
                <a:cs typeface="Times New Roman"/>
              </a:rPr>
              <a:t>Change over time</a:t>
            </a:r>
          </a:p>
          <a:p>
            <a:pPr marL="644652" lvl="1" indent="-342900">
              <a:spcBef>
                <a:spcPts val="300"/>
              </a:spcBef>
              <a:spcAft>
                <a:spcPts val="600"/>
              </a:spcAft>
              <a:buFont typeface="Symbol"/>
              <a:buChar char=""/>
            </a:pPr>
            <a:r>
              <a:rPr lang="en-AU" sz="2200" dirty="0">
                <a:latin typeface="Helvetica" pitchFamily="34" charset="0"/>
                <a:ea typeface="Calibri"/>
                <a:cs typeface="Times New Roman"/>
              </a:rPr>
              <a:t>Vary between </a:t>
            </a:r>
            <a:r>
              <a:rPr lang="en-AU" sz="2200" dirty="0" smtClean="0">
                <a:latin typeface="Helvetica" pitchFamily="34" charset="0"/>
                <a:ea typeface="Calibri"/>
                <a:cs typeface="Times New Roman"/>
              </a:rPr>
              <a:t>countries</a:t>
            </a:r>
          </a:p>
          <a:p>
            <a:pPr>
              <a:spcBef>
                <a:spcPts val="400"/>
              </a:spcBef>
              <a:spcAft>
                <a:spcPts val="800"/>
              </a:spcAft>
            </a:pPr>
            <a:r>
              <a:rPr lang="en-AU" sz="2200" dirty="0" smtClean="0">
                <a:latin typeface="Helvetica" pitchFamily="34" charset="0"/>
                <a:ea typeface="Calibri"/>
                <a:cs typeface="Calibri"/>
              </a:rPr>
              <a:t>Indicative </a:t>
            </a:r>
            <a:r>
              <a:rPr lang="en-AU" sz="2200" dirty="0">
                <a:latin typeface="Helvetica" pitchFamily="34" charset="0"/>
                <a:ea typeface="Calibri"/>
                <a:cs typeface="Calibri"/>
              </a:rPr>
              <a:t>pre-requisites when applying for a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driving </a:t>
            </a:r>
            <a:r>
              <a:rPr lang="en-AU" sz="2200" dirty="0">
                <a:latin typeface="Helvetica" pitchFamily="34" charset="0"/>
                <a:ea typeface="Calibri"/>
                <a:cs typeface="Calibri"/>
              </a:rPr>
              <a:t>licence may be:</a:t>
            </a:r>
          </a:p>
          <a:p>
            <a:pPr marL="644652" lvl="1" indent="-342900">
              <a:spcBef>
                <a:spcPts val="300"/>
              </a:spcBef>
              <a:spcAft>
                <a:spcPts val="600"/>
              </a:spcAft>
              <a:buFont typeface="Symbol"/>
              <a:buChar char=""/>
            </a:pPr>
            <a:r>
              <a:rPr lang="en-AU" sz="2200" dirty="0">
                <a:latin typeface="Helvetica" pitchFamily="34" charset="0"/>
                <a:ea typeface="Calibri"/>
                <a:cs typeface="Times New Roman"/>
              </a:rPr>
              <a:t>To make application on a nominated form </a:t>
            </a:r>
            <a:endParaRPr lang="en-AU" sz="2200" dirty="0" smtClean="0">
              <a:latin typeface="Helvetica" pitchFamily="34" charset="0"/>
              <a:ea typeface="Calibri"/>
              <a:cs typeface="Times New Roman"/>
            </a:endParaRPr>
          </a:p>
          <a:p>
            <a:pPr marL="644652" lvl="1" indent="-342900">
              <a:spcBef>
                <a:spcPts val="300"/>
              </a:spcBef>
              <a:spcAft>
                <a:spcPts val="600"/>
              </a:spcAft>
              <a:buFont typeface="Symbol"/>
              <a:buChar char=""/>
            </a:pPr>
            <a:r>
              <a:rPr lang="en-AU" sz="2200" dirty="0" smtClean="0">
                <a:latin typeface="Helvetica" pitchFamily="34" charset="0"/>
                <a:ea typeface="Calibri"/>
                <a:cs typeface="Times New Roman"/>
              </a:rPr>
              <a:t>To </a:t>
            </a:r>
            <a:r>
              <a:rPr lang="en-AU" sz="2200" dirty="0">
                <a:latin typeface="Helvetica" pitchFamily="34" charset="0"/>
                <a:ea typeface="Calibri"/>
                <a:cs typeface="Times New Roman"/>
              </a:rPr>
              <a:t>pay a stated </a:t>
            </a:r>
            <a:r>
              <a:rPr lang="en-AU" sz="2200" dirty="0" smtClean="0">
                <a:latin typeface="Helvetica" pitchFamily="34" charset="0"/>
                <a:ea typeface="Calibri"/>
                <a:cs typeface="Times New Roman"/>
              </a:rPr>
              <a:t>fee</a:t>
            </a:r>
          </a:p>
          <a:p>
            <a:pPr marL="644652" lvl="1" indent="-342900">
              <a:spcBef>
                <a:spcPts val="300"/>
              </a:spcBef>
              <a:spcAft>
                <a:spcPts val="600"/>
              </a:spcAft>
              <a:buFont typeface="Symbol"/>
              <a:buChar char=""/>
            </a:pPr>
            <a:r>
              <a:rPr lang="en-AU" sz="2200" dirty="0" smtClean="0">
                <a:latin typeface="Helvetica" pitchFamily="34" charset="0"/>
                <a:ea typeface="Calibri"/>
                <a:cs typeface="Times New Roman"/>
              </a:rPr>
              <a:t>…continued in  TM</a:t>
            </a:r>
            <a:endParaRPr lang="en-AU" sz="2200" dirty="0">
              <a:latin typeface="Helvetica" pitchFamily="34" charset="0"/>
              <a:ea typeface="Calibri"/>
              <a:cs typeface="Times New Roman"/>
            </a:endParaRPr>
          </a:p>
        </p:txBody>
      </p:sp>
      <p:sp>
        <p:nvSpPr>
          <p:cNvPr id="5"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1.2	Identify the driver’s licence(s) that need to be obtained</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99393" y="3004073"/>
            <a:ext cx="1661931" cy="1661931"/>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098414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1.3	Undertake training to obtain the necessary licence(s)</a:t>
            </a:r>
            <a:endParaRPr lang="en-AU" dirty="0"/>
          </a:p>
        </p:txBody>
      </p:sp>
      <p:sp>
        <p:nvSpPr>
          <p:cNvPr id="3" name="Content Placeholder 2"/>
          <p:cNvSpPr>
            <a:spLocks noGrp="1"/>
          </p:cNvSpPr>
          <p:nvPr>
            <p:ph idx="1"/>
          </p:nvPr>
        </p:nvSpPr>
        <p:spPr>
          <a:xfrm>
            <a:off x="457200" y="1600200"/>
            <a:ext cx="7787208" cy="5069160"/>
          </a:xfrm>
        </p:spPr>
        <p:txBody>
          <a:bodyPr>
            <a:normAutofit/>
          </a:bodyPr>
          <a:lstStyle/>
          <a:p>
            <a:pPr marL="355600" indent="-355600">
              <a:spcBef>
                <a:spcPts val="600"/>
              </a:spcBef>
              <a:spcAft>
                <a:spcPts val="1200"/>
              </a:spcAft>
            </a:pPr>
            <a:r>
              <a:rPr lang="en-AU" sz="2200" dirty="0">
                <a:latin typeface="Helvetica" pitchFamily="34" charset="0"/>
                <a:ea typeface="Calibri"/>
                <a:cs typeface="Calibri"/>
              </a:rPr>
              <a:t>Training is generally:</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Arranged at a time to suit the individual</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Paid for on a per session basis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Conducted in the local area</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Tailored to suit the individual needs and experience </a:t>
            </a:r>
            <a:r>
              <a:rPr lang="en-AU" sz="2200" dirty="0" smtClean="0">
                <a:latin typeface="Helvetica" pitchFamily="34" charset="0"/>
                <a:ea typeface="Calibri"/>
                <a:cs typeface="Times New Roman"/>
              </a:rPr>
              <a:t>….</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Organised </a:t>
            </a:r>
            <a:r>
              <a:rPr lang="en-AU" sz="2200" dirty="0">
                <a:latin typeface="Helvetica" pitchFamily="34" charset="0"/>
                <a:ea typeface="Calibri"/>
                <a:cs typeface="Times New Roman"/>
              </a:rPr>
              <a:t>to cover a range of different driving </a:t>
            </a:r>
            <a:r>
              <a:rPr lang="en-AU" sz="2200" dirty="0" smtClean="0">
                <a:latin typeface="Helvetica" pitchFamily="34" charset="0"/>
                <a:ea typeface="Calibri"/>
                <a:cs typeface="Times New Roman"/>
              </a:rPr>
              <a:t>conditions….</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Courses </a:t>
            </a:r>
            <a:r>
              <a:rPr lang="en-AU" sz="2200" dirty="0">
                <a:latin typeface="Helvetica" pitchFamily="34" charset="0"/>
                <a:ea typeface="Calibri"/>
                <a:cs typeface="Times New Roman"/>
              </a:rPr>
              <a:t>are generally conducted at scheduled and regular </a:t>
            </a:r>
            <a:r>
              <a:rPr lang="en-AU" sz="2200" dirty="0" smtClean="0">
                <a:latin typeface="Helvetica" pitchFamily="34" charset="0"/>
                <a:ea typeface="Calibri"/>
                <a:cs typeface="Times New Roman"/>
              </a:rPr>
              <a:t>dates….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7" y="2348880"/>
            <a:ext cx="1849337" cy="122796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5258262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1.3	Undertake training to obtain the necessary licence(s)</a:t>
            </a:r>
          </a:p>
        </p:txBody>
      </p:sp>
      <p:sp>
        <p:nvSpPr>
          <p:cNvPr id="3" name="Content Placeholder 2"/>
          <p:cNvSpPr>
            <a:spLocks noGrp="1"/>
          </p:cNvSpPr>
          <p:nvPr>
            <p:ph idx="1"/>
          </p:nvPr>
        </p:nvSpPr>
        <p:spPr>
          <a:xfrm>
            <a:off x="611560" y="1772816"/>
            <a:ext cx="7776864" cy="4752528"/>
          </a:xfrm>
        </p:spPr>
        <p:txBody>
          <a:bodyPr>
            <a:normAutofit/>
          </a:bodyPr>
          <a:lstStyle/>
          <a:p>
            <a:pPr marL="355600" indent="-355600">
              <a:spcBef>
                <a:spcPts val="400"/>
              </a:spcBef>
              <a:spcAft>
                <a:spcPts val="800"/>
              </a:spcAft>
            </a:pPr>
            <a:r>
              <a:rPr lang="en-AU" sz="2200" b="1" dirty="0">
                <a:latin typeface="Helvetica" pitchFamily="34" charset="0"/>
                <a:ea typeface="Calibri"/>
                <a:cs typeface="Calibri"/>
              </a:rPr>
              <a:t>Learner drivers</a:t>
            </a:r>
            <a:endParaRPr lang="en-AU" sz="2200" dirty="0">
              <a:latin typeface="Helvetica" pitchFamily="34" charset="0"/>
              <a:ea typeface="Calibri"/>
              <a:cs typeface="Calibri"/>
            </a:endParaRPr>
          </a:p>
          <a:p>
            <a:pPr marL="350838" indent="0">
              <a:spcBef>
                <a:spcPts val="400"/>
              </a:spcBef>
              <a:spcAft>
                <a:spcPts val="800"/>
              </a:spcAft>
              <a:buNone/>
            </a:pPr>
            <a:r>
              <a:rPr lang="en-AU" sz="2200" dirty="0">
                <a:latin typeface="Helvetica" pitchFamily="34" charset="0"/>
                <a:ea typeface="Calibri"/>
                <a:cs typeface="Calibri"/>
              </a:rPr>
              <a:t>When holding a Learner’s permit/licence there </a:t>
            </a:r>
            <a:r>
              <a:rPr lang="en-AU" sz="2200" b="1" dirty="0">
                <a:latin typeface="Helvetica" pitchFamily="34" charset="0"/>
                <a:ea typeface="Calibri"/>
                <a:cs typeface="Calibri"/>
              </a:rPr>
              <a:t>may</a:t>
            </a:r>
            <a:r>
              <a:rPr lang="en-AU" sz="2200" dirty="0">
                <a:latin typeface="Helvetica" pitchFamily="34" charset="0"/>
                <a:ea typeface="Calibri"/>
                <a:cs typeface="Calibri"/>
              </a:rPr>
              <a:t> be a need for the driver to:</a:t>
            </a:r>
          </a:p>
          <a:p>
            <a:pPr marL="725488" lvl="0" indent="-342900">
              <a:spcBef>
                <a:spcPts val="300"/>
              </a:spcBef>
              <a:spcAft>
                <a:spcPts val="600"/>
              </a:spcAft>
              <a:buFont typeface="Symbol"/>
              <a:buChar char=""/>
            </a:pPr>
            <a:r>
              <a:rPr lang="en-AU" sz="2200" dirty="0">
                <a:latin typeface="Helvetica" pitchFamily="34" charset="0"/>
                <a:ea typeface="Calibri"/>
                <a:cs typeface="Times New Roman"/>
              </a:rPr>
              <a:t>Display ‘L’ plates </a:t>
            </a:r>
            <a:r>
              <a:rPr lang="en-AU" sz="2200" dirty="0" smtClean="0">
                <a:latin typeface="Helvetica" pitchFamily="34" charset="0"/>
                <a:ea typeface="Calibri"/>
                <a:cs typeface="Times New Roman"/>
              </a:rPr>
              <a:t>…</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Be </a:t>
            </a:r>
            <a:r>
              <a:rPr lang="en-AU" sz="2200" dirty="0">
                <a:latin typeface="Helvetica" pitchFamily="34" charset="0"/>
                <a:ea typeface="Calibri"/>
                <a:cs typeface="Times New Roman"/>
              </a:rPr>
              <a:t>accompanied at all times by a fully qualified </a:t>
            </a:r>
            <a:r>
              <a:rPr lang="en-AU" sz="2200" dirty="0" smtClean="0">
                <a:latin typeface="Helvetica" pitchFamily="34" charset="0"/>
                <a:ea typeface="Calibri"/>
                <a:cs typeface="Times New Roman"/>
              </a:rPr>
              <a:t>driver…</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Observe restrictions…</a:t>
            </a:r>
          </a:p>
          <a:p>
            <a:pPr marL="725488" lvl="0" indent="-342900">
              <a:spcBef>
                <a:spcPts val="300"/>
              </a:spcBef>
              <a:spcAft>
                <a:spcPts val="600"/>
              </a:spcAft>
              <a:buFont typeface="Symbol"/>
              <a:buChar char=""/>
            </a:pPr>
            <a:r>
              <a:rPr lang="en-AU" sz="2200" dirty="0" smtClean="0">
                <a:latin typeface="Helvetica" pitchFamily="34" charset="0"/>
                <a:ea typeface="Calibri"/>
                <a:cs typeface="Times New Roman"/>
              </a:rPr>
              <a:t>Not </a:t>
            </a:r>
            <a:r>
              <a:rPr lang="en-AU" sz="2200" dirty="0">
                <a:latin typeface="Helvetica" pitchFamily="34" charset="0"/>
                <a:ea typeface="Calibri"/>
                <a:cs typeface="Times New Roman"/>
              </a:rPr>
              <a:t>tow a trailer</a:t>
            </a:r>
          </a:p>
          <a:p>
            <a:pPr marL="725488" lvl="0" indent="-342900">
              <a:spcBef>
                <a:spcPts val="300"/>
              </a:spcBef>
              <a:spcAft>
                <a:spcPts val="600"/>
              </a:spcAft>
              <a:buFont typeface="Symbol"/>
              <a:buChar char=""/>
            </a:pPr>
            <a:r>
              <a:rPr lang="en-AU" sz="2200" dirty="0">
                <a:latin typeface="Helvetica" pitchFamily="34" charset="0"/>
                <a:ea typeface="Calibri"/>
                <a:cs typeface="Times New Roman"/>
              </a:rPr>
              <a:t>Have zero blood </a:t>
            </a:r>
            <a:r>
              <a:rPr lang="en-AU" sz="2200" dirty="0" smtClean="0">
                <a:latin typeface="Helvetica" pitchFamily="34" charset="0"/>
                <a:ea typeface="Calibri"/>
                <a:cs typeface="Times New Roman"/>
              </a:rPr>
              <a:t>alcohol</a:t>
            </a:r>
            <a:endParaRPr lang="en-AU" sz="2200" dirty="0">
              <a:latin typeface="Helvetica" pitchFamily="34" charset="0"/>
              <a:ea typeface="Calibri"/>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16</a:t>
            </a:fld>
            <a:endParaRPr lang="en-US" dirty="0">
              <a:solidFill>
                <a:srgbClr val="4E5B6F">
                  <a:shade val="50000"/>
                </a:srgbClr>
              </a:solidFill>
              <a:latin typeface="Helvetica"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2134" y="4005064"/>
            <a:ext cx="1689803" cy="1667272"/>
          </a:xfrm>
          <a:prstGeom prst="rect">
            <a:avLst/>
          </a:prstGeom>
        </p:spPr>
      </p:pic>
    </p:spTree>
    <p:extLst>
      <p:ext uri="{BB962C8B-B14F-4D97-AF65-F5344CB8AC3E}">
        <p14:creationId xmlns:p14="http://schemas.microsoft.com/office/powerpoint/2010/main" val="14221351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1.3	Undertake training to obtain the necessary licence(s)</a:t>
            </a:r>
            <a:endParaRPr lang="en-AU" dirty="0"/>
          </a:p>
        </p:txBody>
      </p:sp>
      <p:sp>
        <p:nvSpPr>
          <p:cNvPr id="3" name="Content Placeholder 2"/>
          <p:cNvSpPr>
            <a:spLocks noGrp="1"/>
          </p:cNvSpPr>
          <p:nvPr>
            <p:ph idx="1"/>
          </p:nvPr>
        </p:nvSpPr>
        <p:spPr>
          <a:xfrm>
            <a:off x="457200" y="1700808"/>
            <a:ext cx="7467600" cy="5040560"/>
          </a:xfrm>
        </p:spPr>
        <p:txBody>
          <a:bodyPr>
            <a:normAutofit/>
          </a:bodyPr>
          <a:lstStyle/>
          <a:p>
            <a:pPr marL="355600" indent="-355600">
              <a:spcBef>
                <a:spcPts val="600"/>
              </a:spcBef>
              <a:spcAft>
                <a:spcPts val="1200"/>
              </a:spcAft>
            </a:pPr>
            <a:r>
              <a:rPr lang="en-AU" sz="2200" dirty="0">
                <a:latin typeface="Helvetica" pitchFamily="34" charset="0"/>
                <a:ea typeface="Calibri"/>
                <a:cs typeface="Calibri"/>
              </a:rPr>
              <a:t>Driver training </a:t>
            </a:r>
            <a:r>
              <a:rPr lang="en-AU" sz="2200" dirty="0" smtClean="0">
                <a:latin typeface="Helvetica" pitchFamily="34" charset="0"/>
                <a:ea typeface="Calibri"/>
                <a:cs typeface="Calibri"/>
              </a:rPr>
              <a:t>theory:</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Basic rules and responsibilities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Alcohol, drugs, medicine and driving</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Need for and use of seat belts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Meaning of road </a:t>
            </a:r>
            <a:r>
              <a:rPr lang="en-AU" sz="2200" dirty="0" smtClean="0">
                <a:latin typeface="Helvetica" pitchFamily="34" charset="0"/>
                <a:ea typeface="Calibri"/>
                <a:cs typeface="Times New Roman"/>
              </a:rPr>
              <a:t>signs</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…continued in TM</a:t>
            </a:r>
            <a:endParaRPr lang="en-AU" sz="22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3861048"/>
            <a:ext cx="1553205" cy="148590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0980388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1.3	Undertake training to obtain the necessary licence(s)</a:t>
            </a:r>
            <a:endParaRPr lang="en-AU" dirty="0"/>
          </a:p>
        </p:txBody>
      </p:sp>
      <p:sp>
        <p:nvSpPr>
          <p:cNvPr id="3" name="Content Placeholder 2"/>
          <p:cNvSpPr>
            <a:spLocks noGrp="1"/>
          </p:cNvSpPr>
          <p:nvPr>
            <p:ph idx="1"/>
          </p:nvPr>
        </p:nvSpPr>
        <p:spPr>
          <a:xfrm>
            <a:off x="457200" y="1628800"/>
            <a:ext cx="7467600" cy="4752528"/>
          </a:xfrm>
        </p:spPr>
        <p:txBody>
          <a:bodyPr>
            <a:normAutofit/>
          </a:bodyPr>
          <a:lstStyle/>
          <a:p>
            <a:pPr marL="355600" lvl="0" indent="-355600">
              <a:spcBef>
                <a:spcPts val="600"/>
              </a:spcBef>
              <a:spcAft>
                <a:spcPts val="1200"/>
              </a:spcAft>
              <a:buClr>
                <a:srgbClr val="7FD13B"/>
              </a:buClr>
            </a:pPr>
            <a:r>
              <a:rPr lang="en-AU" sz="2200" dirty="0" smtClean="0">
                <a:solidFill>
                  <a:prstClr val="black"/>
                </a:solidFill>
                <a:latin typeface="Helvetica" pitchFamily="34" charset="0"/>
                <a:ea typeface="Calibri"/>
                <a:cs typeface="Calibri"/>
              </a:rPr>
              <a:t>Driver </a:t>
            </a:r>
            <a:r>
              <a:rPr lang="en-AU" sz="2200" dirty="0">
                <a:solidFill>
                  <a:prstClr val="black"/>
                </a:solidFill>
                <a:latin typeface="Helvetica" pitchFamily="34" charset="0"/>
                <a:ea typeface="Calibri"/>
                <a:cs typeface="Calibri"/>
              </a:rPr>
              <a:t>training </a:t>
            </a:r>
            <a:r>
              <a:rPr lang="en-AU" sz="2200" dirty="0" smtClean="0">
                <a:solidFill>
                  <a:prstClr val="black"/>
                </a:solidFill>
                <a:latin typeface="Helvetica" pitchFamily="34" charset="0"/>
                <a:ea typeface="Calibri"/>
                <a:cs typeface="Calibri"/>
              </a:rPr>
              <a:t>practical:</a:t>
            </a:r>
            <a:endParaRPr lang="en-AU" sz="2200" dirty="0">
              <a:solidFill>
                <a:prstClr val="black"/>
              </a:solidFill>
              <a:latin typeface="Helvetica" pitchFamily="34" charset="0"/>
              <a:ea typeface="Calibri"/>
              <a:cs typeface="Calibri"/>
            </a:endParaRPr>
          </a:p>
          <a:p>
            <a:pPr marL="644525" lvl="1" indent="-288925">
              <a:spcBef>
                <a:spcPts val="600"/>
              </a:spcBef>
              <a:spcAft>
                <a:spcPts val="1200"/>
              </a:spcAft>
              <a:buFont typeface="Symbol"/>
              <a:buChar char=""/>
            </a:pPr>
            <a:r>
              <a:rPr lang="en-AU" sz="2200" dirty="0">
                <a:latin typeface="Helvetica" pitchFamily="34" charset="0"/>
                <a:ea typeface="Calibri"/>
                <a:cs typeface="Times New Roman"/>
              </a:rPr>
              <a:t>Pre-drive checks </a:t>
            </a:r>
            <a:endParaRPr lang="en-AU" sz="2200" dirty="0" smtClean="0">
              <a:latin typeface="Helvetica" pitchFamily="34" charset="0"/>
              <a:ea typeface="Calibri"/>
              <a:cs typeface="Times New Roman"/>
            </a:endParaRPr>
          </a:p>
          <a:p>
            <a:pPr marL="644525" lvl="1" indent="-288925">
              <a:spcBef>
                <a:spcPts val="600"/>
              </a:spcBef>
              <a:spcAft>
                <a:spcPts val="1200"/>
              </a:spcAft>
              <a:buFont typeface="Symbol"/>
              <a:buChar char=""/>
            </a:pPr>
            <a:r>
              <a:rPr lang="en-AU" sz="2200" dirty="0" smtClean="0">
                <a:latin typeface="Helvetica" pitchFamily="34" charset="0"/>
                <a:ea typeface="Calibri"/>
                <a:cs typeface="Times New Roman"/>
              </a:rPr>
              <a:t>Basic </a:t>
            </a:r>
            <a:r>
              <a:rPr lang="en-AU" sz="2200" dirty="0">
                <a:latin typeface="Helvetica" pitchFamily="34" charset="0"/>
                <a:ea typeface="Calibri"/>
                <a:cs typeface="Times New Roman"/>
              </a:rPr>
              <a:t>level tasks </a:t>
            </a:r>
            <a:endParaRPr lang="en-AU" sz="2200" dirty="0" smtClean="0">
              <a:latin typeface="Helvetica" pitchFamily="34" charset="0"/>
              <a:ea typeface="Calibri"/>
              <a:cs typeface="Times New Roman"/>
            </a:endParaRPr>
          </a:p>
          <a:p>
            <a:pPr marL="644525" lvl="1" indent="-288925">
              <a:spcBef>
                <a:spcPts val="600"/>
              </a:spcBef>
              <a:spcAft>
                <a:spcPts val="1200"/>
              </a:spcAft>
              <a:buFont typeface="Symbol"/>
              <a:buChar char=""/>
            </a:pPr>
            <a:r>
              <a:rPr lang="en-AU" sz="2200" dirty="0" smtClean="0">
                <a:latin typeface="Helvetica" pitchFamily="34" charset="0"/>
                <a:ea typeface="Calibri"/>
                <a:cs typeface="Times New Roman"/>
              </a:rPr>
              <a:t>Advanced </a:t>
            </a:r>
            <a:r>
              <a:rPr lang="en-AU" sz="2200" dirty="0">
                <a:latin typeface="Helvetica" pitchFamily="34" charset="0"/>
                <a:ea typeface="Calibri"/>
                <a:cs typeface="Times New Roman"/>
              </a:rPr>
              <a:t>level </a:t>
            </a:r>
            <a:r>
              <a:rPr lang="en-AU" sz="2200" dirty="0" smtClean="0">
                <a:latin typeface="Helvetica" pitchFamily="34" charset="0"/>
                <a:ea typeface="Calibri"/>
                <a:cs typeface="Times New Roman"/>
              </a:rPr>
              <a:t>tasks</a:t>
            </a:r>
          </a:p>
          <a:p>
            <a:pPr marL="644525" lvl="1" indent="-288925">
              <a:spcBef>
                <a:spcPts val="600"/>
              </a:spcBef>
              <a:spcAft>
                <a:spcPts val="1200"/>
              </a:spcAft>
              <a:buFont typeface="Symbol"/>
              <a:buChar char=""/>
            </a:pPr>
            <a:r>
              <a:rPr lang="en-AU" sz="2200" dirty="0" smtClean="0">
                <a:latin typeface="Helvetica" pitchFamily="34" charset="0"/>
                <a:ea typeface="Times New Roman"/>
                <a:cs typeface="Times New Roman"/>
              </a:rPr>
              <a:t>Using </a:t>
            </a:r>
            <a:r>
              <a:rPr lang="en-AU" sz="2200" dirty="0">
                <a:latin typeface="Helvetica" pitchFamily="34" charset="0"/>
                <a:ea typeface="Times New Roman"/>
                <a:cs typeface="Times New Roman"/>
              </a:rPr>
              <a:t>manual and automatic transmission </a:t>
            </a:r>
            <a:r>
              <a:rPr lang="en-AU" sz="2200" dirty="0" smtClean="0">
                <a:latin typeface="Helvetica" pitchFamily="34" charset="0"/>
                <a:ea typeface="Times New Roman"/>
                <a:cs typeface="Times New Roman"/>
              </a:rPr>
              <a:t>vehicles</a:t>
            </a:r>
          </a:p>
          <a:p>
            <a:pPr marL="644525" lvl="1" indent="-288925">
              <a:spcBef>
                <a:spcPts val="600"/>
              </a:spcBef>
              <a:spcAft>
                <a:spcPts val="1200"/>
              </a:spcAft>
              <a:buFont typeface="Symbol"/>
              <a:buChar char=""/>
            </a:pPr>
            <a:r>
              <a:rPr lang="en-AU" sz="2200" dirty="0" smtClean="0">
                <a:latin typeface="Helvetica" pitchFamily="34" charset="0"/>
                <a:ea typeface="Times New Roman"/>
                <a:cs typeface="Times New Roman"/>
              </a:rPr>
              <a:t>It </a:t>
            </a:r>
            <a:r>
              <a:rPr lang="en-AU" sz="2200" dirty="0">
                <a:latin typeface="Helvetica" pitchFamily="34" charset="0"/>
                <a:ea typeface="Times New Roman"/>
                <a:cs typeface="Times New Roman"/>
              </a:rPr>
              <a:t>can also be a requirement the Learner attains a minimum of prescribed </a:t>
            </a:r>
            <a:r>
              <a:rPr lang="en-AU" sz="2200" dirty="0" smtClean="0">
                <a:latin typeface="Helvetica" pitchFamily="34" charset="0"/>
                <a:ea typeface="Times New Roman"/>
                <a:cs typeface="Times New Roman"/>
              </a:rPr>
              <a:t>experience… </a:t>
            </a:r>
            <a:endParaRPr lang="en-AU" sz="2200"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9952" y="1916832"/>
            <a:ext cx="1740024" cy="1740024"/>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8306272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1.4	Undertake driver licence assessment successfully</a:t>
            </a:r>
          </a:p>
        </p:txBody>
      </p:sp>
      <p:sp>
        <p:nvSpPr>
          <p:cNvPr id="3" name="Content Placeholder 2"/>
          <p:cNvSpPr>
            <a:spLocks noGrp="1"/>
          </p:cNvSpPr>
          <p:nvPr>
            <p:ph idx="1"/>
          </p:nvPr>
        </p:nvSpPr>
        <p:spPr>
          <a:xfrm>
            <a:off x="611560" y="1772816"/>
            <a:ext cx="7776864" cy="4743408"/>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Possible pre-requisites</a:t>
            </a:r>
          </a:p>
          <a:p>
            <a:pPr marL="342900" lvl="0" indent="-342900">
              <a:spcBef>
                <a:spcPts val="600"/>
              </a:spcBef>
              <a:spcAft>
                <a:spcPts val="1200"/>
              </a:spcAft>
              <a:buFont typeface="Symbol"/>
              <a:buChar char=""/>
            </a:pPr>
            <a:r>
              <a:rPr lang="en-AU" sz="2200" dirty="0" smtClean="0">
                <a:latin typeface="Helvetica" pitchFamily="34" charset="0"/>
                <a:ea typeface="Calibri"/>
                <a:cs typeface="Times New Roman"/>
              </a:rPr>
              <a:t>Properly </a:t>
            </a:r>
            <a:r>
              <a:rPr lang="en-AU" sz="2200" dirty="0">
                <a:latin typeface="Helvetica" pitchFamily="34" charset="0"/>
                <a:ea typeface="Calibri"/>
                <a:cs typeface="Times New Roman"/>
              </a:rPr>
              <a:t>and fully completed application form </a:t>
            </a:r>
          </a:p>
          <a:p>
            <a:pPr marL="342900" lvl="0" indent="-342900">
              <a:spcBef>
                <a:spcPts val="600"/>
              </a:spcBef>
              <a:spcAft>
                <a:spcPts val="1200"/>
              </a:spcAft>
              <a:buFont typeface="Symbol"/>
              <a:buChar char=""/>
            </a:pPr>
            <a:r>
              <a:rPr lang="en-AU" sz="2200" dirty="0" smtClean="0">
                <a:latin typeface="Helvetica" pitchFamily="34" charset="0"/>
                <a:ea typeface="Calibri"/>
                <a:cs typeface="Times New Roman"/>
              </a:rPr>
              <a:t>Payment </a:t>
            </a:r>
            <a:r>
              <a:rPr lang="en-AU" sz="2200" dirty="0">
                <a:latin typeface="Helvetica" pitchFamily="34" charset="0"/>
                <a:ea typeface="Calibri"/>
                <a:cs typeface="Times New Roman"/>
              </a:rPr>
              <a:t>of a fee </a:t>
            </a:r>
            <a:endParaRPr lang="en-AU" sz="2200" dirty="0" smtClean="0">
              <a:latin typeface="Helvetica" pitchFamily="34" charset="0"/>
              <a:ea typeface="Calibri"/>
              <a:cs typeface="Times New Roman"/>
            </a:endParaRPr>
          </a:p>
          <a:p>
            <a:pPr marL="342900" lvl="0" indent="-342900">
              <a:spcBef>
                <a:spcPts val="600"/>
              </a:spcBef>
              <a:spcAft>
                <a:spcPts val="1200"/>
              </a:spcAft>
              <a:buFont typeface="Symbol"/>
              <a:buChar char=""/>
            </a:pPr>
            <a:r>
              <a:rPr lang="en-AU" sz="2200" dirty="0" smtClean="0">
                <a:latin typeface="Helvetica" pitchFamily="34" charset="0"/>
                <a:ea typeface="Calibri"/>
                <a:cs typeface="Times New Roman"/>
              </a:rPr>
              <a:t>Evidence </a:t>
            </a:r>
            <a:r>
              <a:rPr lang="en-AU" sz="2200" dirty="0">
                <a:latin typeface="Helvetica" pitchFamily="34" charset="0"/>
                <a:ea typeface="Calibri"/>
                <a:cs typeface="Times New Roman"/>
              </a:rPr>
              <a:t>of successful completion of a nominated driver training </a:t>
            </a:r>
            <a:r>
              <a:rPr lang="en-AU" sz="2200" dirty="0" smtClean="0">
                <a:latin typeface="Helvetica" pitchFamily="34" charset="0"/>
                <a:ea typeface="Calibri"/>
                <a:cs typeface="Times New Roman"/>
              </a:rPr>
              <a:t>course</a:t>
            </a:r>
          </a:p>
          <a:p>
            <a:pPr marL="342900" lvl="0" indent="-342900">
              <a:spcBef>
                <a:spcPts val="600"/>
              </a:spcBef>
              <a:spcAft>
                <a:spcPts val="1200"/>
              </a:spcAft>
              <a:buFont typeface="Symbol"/>
              <a:buChar char=""/>
            </a:pPr>
            <a:r>
              <a:rPr lang="en-AU" sz="2200" dirty="0" smtClean="0">
                <a:latin typeface="Helvetica" pitchFamily="34" charset="0"/>
                <a:ea typeface="Calibri"/>
                <a:cs typeface="Times New Roman"/>
              </a:rPr>
              <a:t>Proof </a:t>
            </a:r>
            <a:r>
              <a:rPr lang="en-AU" sz="2200" dirty="0">
                <a:latin typeface="Helvetica" pitchFamily="34" charset="0"/>
                <a:ea typeface="Calibri"/>
                <a:cs typeface="Times New Roman"/>
              </a:rPr>
              <a:t>of identity or age</a:t>
            </a:r>
          </a:p>
          <a:p>
            <a:pPr marL="342900" lvl="0" indent="-342900">
              <a:spcBef>
                <a:spcPts val="600"/>
              </a:spcBef>
              <a:spcAft>
                <a:spcPts val="1200"/>
              </a:spcAft>
              <a:buFont typeface="Symbol"/>
              <a:buChar char=""/>
            </a:pPr>
            <a:r>
              <a:rPr lang="en-AU" sz="2200" dirty="0">
                <a:latin typeface="Helvetica" pitchFamily="34" charset="0"/>
                <a:ea typeface="Calibri"/>
                <a:cs typeface="Times New Roman"/>
              </a:rPr>
              <a:t>Evidence of having held a nominated other/lower classification of licence for a stated </a:t>
            </a:r>
            <a:r>
              <a:rPr lang="en-AU" sz="2200" dirty="0" smtClean="0">
                <a:latin typeface="Helvetica" pitchFamily="34" charset="0"/>
                <a:ea typeface="Calibri"/>
                <a:cs typeface="Times New Roman"/>
              </a:rPr>
              <a:t>period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179130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1.4	Undertake driver licence assessment successfully</a:t>
            </a:r>
          </a:p>
        </p:txBody>
      </p:sp>
      <p:sp>
        <p:nvSpPr>
          <p:cNvPr id="3" name="Content Placeholder 2"/>
          <p:cNvSpPr>
            <a:spLocks noGrp="1"/>
          </p:cNvSpPr>
          <p:nvPr>
            <p:ph idx="1"/>
          </p:nvPr>
        </p:nvSpPr>
        <p:spPr>
          <a:xfrm>
            <a:off x="611560" y="1772816"/>
            <a:ext cx="7776864" cy="4743408"/>
          </a:xfrm>
        </p:spPr>
        <p:txBody>
          <a:bodyPr>
            <a:normAutofit/>
          </a:bodyPr>
          <a:lstStyle/>
          <a:p>
            <a:pPr marL="355600" lvl="0" indent="-355600">
              <a:lnSpc>
                <a:spcPct val="115000"/>
              </a:lnSpc>
              <a:spcBef>
                <a:spcPts val="600"/>
              </a:spcBef>
              <a:spcAft>
                <a:spcPts val="1200"/>
              </a:spcAft>
              <a:buClr>
                <a:srgbClr val="7FD13B"/>
              </a:buClr>
            </a:pPr>
            <a:r>
              <a:rPr lang="en-AU" sz="2200" b="1" dirty="0">
                <a:solidFill>
                  <a:prstClr val="black"/>
                </a:solidFill>
              </a:rPr>
              <a:t>Standard </a:t>
            </a:r>
            <a:r>
              <a:rPr lang="en-AU" sz="2200" b="1" dirty="0" smtClean="0">
                <a:solidFill>
                  <a:prstClr val="black"/>
                </a:solidFill>
              </a:rPr>
              <a:t>requirements</a:t>
            </a:r>
            <a:endParaRPr lang="en-AU" sz="2200" b="1" dirty="0" smtClean="0"/>
          </a:p>
          <a:p>
            <a:pPr marL="725488" lvl="0" indent="-369888">
              <a:spcBef>
                <a:spcPts val="600"/>
              </a:spcBef>
              <a:spcAft>
                <a:spcPts val="1200"/>
              </a:spcAft>
              <a:buFont typeface="Symbol"/>
              <a:buChar char=""/>
            </a:pPr>
            <a:r>
              <a:rPr lang="en-AU" sz="2200" dirty="0" smtClean="0">
                <a:latin typeface="Helvetica" pitchFamily="34" charset="0"/>
                <a:ea typeface="Calibri"/>
                <a:cs typeface="Times New Roman"/>
              </a:rPr>
              <a:t>Medical report </a:t>
            </a:r>
          </a:p>
          <a:p>
            <a:pPr marL="725488" lvl="0" indent="-369888">
              <a:spcBef>
                <a:spcPts val="600"/>
              </a:spcBef>
              <a:spcAft>
                <a:spcPts val="1200"/>
              </a:spcAft>
              <a:buFont typeface="Symbol"/>
              <a:buChar char=""/>
            </a:pPr>
            <a:r>
              <a:rPr lang="en-AU" sz="2200" dirty="0" smtClean="0">
                <a:latin typeface="Helvetica" pitchFamily="34" charset="0"/>
                <a:ea typeface="Calibri"/>
                <a:cs typeface="Times New Roman"/>
              </a:rPr>
              <a:t>Copy </a:t>
            </a:r>
            <a:r>
              <a:rPr lang="en-AU" sz="2200" dirty="0">
                <a:latin typeface="Helvetica" pitchFamily="34" charset="0"/>
                <a:ea typeface="Calibri"/>
                <a:cs typeface="Times New Roman"/>
              </a:rPr>
              <a:t>of passport and/or work or other visa</a:t>
            </a:r>
          </a:p>
          <a:p>
            <a:pPr marL="725488" lvl="0" indent="-369888">
              <a:spcBef>
                <a:spcPts val="600"/>
              </a:spcBef>
              <a:spcAft>
                <a:spcPts val="1200"/>
              </a:spcAft>
              <a:buFont typeface="Symbol"/>
              <a:buChar char=""/>
            </a:pPr>
            <a:r>
              <a:rPr lang="en-AU" sz="2200" dirty="0">
                <a:latin typeface="Helvetica" pitchFamily="34" charset="0"/>
                <a:ea typeface="Calibri"/>
                <a:cs typeface="Times New Roman"/>
              </a:rPr>
              <a:t>Satisfactory completion of </a:t>
            </a:r>
            <a:r>
              <a:rPr lang="en-AU" sz="2200" dirty="0" smtClean="0">
                <a:latin typeface="Helvetica" pitchFamily="34" charset="0"/>
                <a:ea typeface="Calibri"/>
                <a:cs typeface="Times New Roman"/>
              </a:rPr>
              <a:t>both </a:t>
            </a:r>
            <a:br>
              <a:rPr lang="en-AU" sz="2200" dirty="0" smtClean="0">
                <a:latin typeface="Helvetica" pitchFamily="34" charset="0"/>
                <a:ea typeface="Calibri"/>
                <a:cs typeface="Times New Roman"/>
              </a:rPr>
            </a:br>
            <a:r>
              <a:rPr lang="en-AU" sz="2200" dirty="0" smtClean="0">
                <a:latin typeface="Helvetica" pitchFamily="34" charset="0"/>
                <a:ea typeface="Calibri"/>
                <a:cs typeface="Times New Roman"/>
              </a:rPr>
              <a:t>a </a:t>
            </a:r>
            <a:r>
              <a:rPr lang="en-AU" sz="2200" dirty="0">
                <a:latin typeface="Helvetica" pitchFamily="34" charset="0"/>
                <a:ea typeface="Calibri"/>
                <a:cs typeface="Times New Roman"/>
              </a:rPr>
              <a:t>Theory </a:t>
            </a:r>
            <a:r>
              <a:rPr lang="en-AU" sz="2200" dirty="0" smtClean="0">
                <a:latin typeface="Helvetica" pitchFamily="34" charset="0"/>
                <a:ea typeface="Calibri"/>
                <a:cs typeface="Times New Roman"/>
              </a:rPr>
              <a:t>test </a:t>
            </a:r>
          </a:p>
          <a:p>
            <a:pPr marL="725488" lvl="0" indent="-369888">
              <a:spcBef>
                <a:spcPts val="600"/>
              </a:spcBef>
              <a:spcAft>
                <a:spcPts val="1200"/>
              </a:spcAft>
              <a:buFont typeface="Symbol"/>
              <a:buChar char=""/>
            </a:pPr>
            <a:r>
              <a:rPr lang="en-AU" sz="2200" dirty="0" smtClean="0">
                <a:latin typeface="Helvetica" pitchFamily="34" charset="0"/>
                <a:ea typeface="Times New Roman"/>
                <a:cs typeface="Times New Roman"/>
              </a:rPr>
              <a:t>Satisfactory completion of a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Practical test</a:t>
            </a:r>
          </a:p>
          <a:p>
            <a:pPr marL="355600" lvl="0" indent="-355600">
              <a:lnSpc>
                <a:spcPct val="115000"/>
              </a:lnSpc>
              <a:spcBef>
                <a:spcPts val="600"/>
              </a:spcBef>
              <a:spcAft>
                <a:spcPts val="1200"/>
              </a:spcAft>
              <a:buClr>
                <a:srgbClr val="7FD13B"/>
              </a:buClr>
            </a:pPr>
            <a:r>
              <a:rPr lang="en-AU" sz="2200" b="1" dirty="0" smtClean="0">
                <a:latin typeface="Helvetica" pitchFamily="34" charset="0"/>
              </a:rPr>
              <a:t>Failure</a:t>
            </a:r>
            <a:endParaRPr lang="en-AU" sz="2200" b="1"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20</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32469" y="3645024"/>
            <a:ext cx="2471936" cy="2083842"/>
          </a:xfrm>
          <a:prstGeom prst="rect">
            <a:avLst/>
          </a:prstGeom>
        </p:spPr>
      </p:pic>
    </p:spTree>
    <p:extLst>
      <p:ext uri="{BB962C8B-B14F-4D97-AF65-F5344CB8AC3E}">
        <p14:creationId xmlns:p14="http://schemas.microsoft.com/office/powerpoint/2010/main" val="1033792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770440" cy="1247056"/>
          </a:xfrm>
        </p:spPr>
        <p:txBody>
          <a:bodyPr>
            <a:normAutofit/>
          </a:bodyPr>
          <a:lstStyle/>
          <a:p>
            <a:pPr algn="ctr"/>
            <a:r>
              <a:rPr lang="en-AU" sz="3400" b="1" dirty="0">
                <a:solidFill>
                  <a:srgbClr val="FF6600"/>
                </a:solidFill>
                <a:latin typeface="Helvetica" pitchFamily="34" charset="0"/>
              </a:rPr>
              <a:t>Element </a:t>
            </a:r>
            <a:r>
              <a:rPr lang="en-AU" sz="3400" b="1" dirty="0" smtClean="0">
                <a:solidFill>
                  <a:srgbClr val="FF6600"/>
                </a:solidFill>
                <a:latin typeface="Helvetica" pitchFamily="34" charset="0"/>
              </a:rPr>
              <a:t>2</a:t>
            </a:r>
            <a:r>
              <a:rPr lang="en-AU" sz="3400" b="1" dirty="0">
                <a:solidFill>
                  <a:srgbClr val="FF6600"/>
                </a:solidFill>
                <a:latin typeface="Helvetica" pitchFamily="34" charset="0"/>
              </a:rPr>
              <a:t>: Monitor </a:t>
            </a:r>
            <a:r>
              <a:rPr lang="en-AU" sz="3400" b="1" dirty="0" smtClean="0">
                <a:solidFill>
                  <a:srgbClr val="FF6600"/>
                </a:solidFill>
                <a:latin typeface="Helvetica" pitchFamily="34" charset="0"/>
              </a:rPr>
              <a:t>service vehicles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694240" cy="5112568"/>
          </a:xfrm>
        </p:spPr>
        <p:txBody>
          <a:bodyPr>
            <a:normAutofit/>
          </a:bodyPr>
          <a:lstStyle/>
          <a:p>
            <a:pPr marL="723900" indent="-723900">
              <a:lnSpc>
                <a:spcPct val="120000"/>
              </a:lnSpc>
              <a:spcBef>
                <a:spcPts val="600"/>
              </a:spcBef>
              <a:spcAft>
                <a:spcPts val="1200"/>
              </a:spcAft>
              <a:buNone/>
            </a:pPr>
            <a:r>
              <a:rPr lang="en-AU" sz="2000" dirty="0" smtClean="0">
                <a:latin typeface="Helvetica" pitchFamily="34" charset="0"/>
              </a:rPr>
              <a:t>2.1	Perform </a:t>
            </a:r>
            <a:r>
              <a:rPr lang="en-AU" sz="2000" dirty="0">
                <a:latin typeface="Helvetica" pitchFamily="34" charset="0"/>
              </a:rPr>
              <a:t>regular preventative maintenance and operational checks of designated </a:t>
            </a:r>
            <a:r>
              <a:rPr lang="en-AU" sz="2000" dirty="0" smtClean="0">
                <a:latin typeface="Helvetica" pitchFamily="34" charset="0"/>
              </a:rPr>
              <a:t>vehicles</a:t>
            </a:r>
          </a:p>
          <a:p>
            <a:pPr marL="723900" indent="-723900">
              <a:lnSpc>
                <a:spcPct val="120000"/>
              </a:lnSpc>
              <a:spcBef>
                <a:spcPts val="600"/>
              </a:spcBef>
              <a:spcAft>
                <a:spcPts val="1200"/>
              </a:spcAft>
              <a:buNone/>
            </a:pPr>
            <a:r>
              <a:rPr lang="en-AU" sz="2000" dirty="0">
                <a:latin typeface="Helvetica" pitchFamily="34" charset="0"/>
              </a:rPr>
              <a:t>2</a:t>
            </a:r>
            <a:r>
              <a:rPr lang="en-AU" sz="2000" dirty="0" smtClean="0">
                <a:latin typeface="Helvetica" pitchFamily="34" charset="0"/>
              </a:rPr>
              <a:t>.2</a:t>
            </a:r>
            <a:r>
              <a:rPr lang="en-AU" sz="2000" dirty="0">
                <a:latin typeface="Helvetica" pitchFamily="34" charset="0"/>
              </a:rPr>
              <a:t>	Complete and retain service reports as </a:t>
            </a:r>
            <a:r>
              <a:rPr lang="en-AU" sz="2000" dirty="0" smtClean="0">
                <a:latin typeface="Helvetica" pitchFamily="34" charset="0"/>
              </a:rPr>
              <a:t>required</a:t>
            </a:r>
          </a:p>
          <a:p>
            <a:pPr marL="723900" indent="-723900">
              <a:lnSpc>
                <a:spcPct val="120000"/>
              </a:lnSpc>
              <a:spcBef>
                <a:spcPts val="600"/>
              </a:spcBef>
              <a:spcAft>
                <a:spcPts val="1200"/>
              </a:spcAft>
              <a:buNone/>
            </a:pPr>
            <a:r>
              <a:rPr lang="en-AU" sz="2000" dirty="0" smtClean="0">
                <a:latin typeface="Helvetica" pitchFamily="34" charset="0"/>
              </a:rPr>
              <a:t>2.3</a:t>
            </a:r>
            <a:r>
              <a:rPr lang="en-AU" sz="2000" dirty="0">
                <a:latin typeface="Helvetica" pitchFamily="34" charset="0"/>
              </a:rPr>
              <a:t>	Adhere to scheduled maintenance and service requirements as set out by the vehicle </a:t>
            </a:r>
            <a:r>
              <a:rPr lang="en-AU" sz="2000" dirty="0" smtClean="0">
                <a:latin typeface="Helvetica" pitchFamily="34" charset="0"/>
              </a:rPr>
              <a:t>manufacturer</a:t>
            </a:r>
          </a:p>
          <a:p>
            <a:pPr marL="723900" indent="-723900">
              <a:lnSpc>
                <a:spcPct val="120000"/>
              </a:lnSpc>
              <a:spcBef>
                <a:spcPts val="600"/>
              </a:spcBef>
              <a:spcAft>
                <a:spcPts val="1200"/>
              </a:spcAft>
              <a:buNone/>
            </a:pPr>
            <a:r>
              <a:rPr lang="en-AU" sz="2000" dirty="0" smtClean="0">
                <a:latin typeface="Helvetica" pitchFamily="34" charset="0"/>
              </a:rPr>
              <a:t>2.4</a:t>
            </a:r>
            <a:r>
              <a:rPr lang="en-AU" sz="2000" dirty="0">
                <a:latin typeface="Helvetica" pitchFamily="34" charset="0"/>
              </a:rPr>
              <a:t>	Conduct special checks and service after designated </a:t>
            </a:r>
            <a:r>
              <a:rPr lang="en-AU" sz="2000" dirty="0" smtClean="0">
                <a:latin typeface="Helvetica" pitchFamily="34" charset="0"/>
              </a:rPr>
              <a:t>trips</a:t>
            </a:r>
          </a:p>
          <a:p>
            <a:pPr marL="723900" indent="-723900">
              <a:lnSpc>
                <a:spcPct val="120000"/>
              </a:lnSpc>
              <a:spcBef>
                <a:spcPts val="600"/>
              </a:spcBef>
              <a:spcAft>
                <a:spcPts val="1200"/>
              </a:spcAft>
              <a:buNone/>
            </a:pPr>
            <a:r>
              <a:rPr lang="en-AU" sz="2000" dirty="0" smtClean="0">
                <a:latin typeface="Helvetica" pitchFamily="34" charset="0"/>
              </a:rPr>
              <a:t>2.5	Check </a:t>
            </a:r>
            <a:r>
              <a:rPr lang="en-AU" sz="2000" dirty="0">
                <a:latin typeface="Helvetica" pitchFamily="34" charset="0"/>
              </a:rPr>
              <a:t>performance and efficiency of vehicle during </a:t>
            </a:r>
            <a:r>
              <a:rPr lang="en-AU" sz="2000" dirty="0" smtClean="0">
                <a:latin typeface="Helvetica" pitchFamily="34" charset="0"/>
              </a:rPr>
              <a:t>operation</a:t>
            </a:r>
          </a:p>
          <a:p>
            <a:pPr marL="723900" indent="-723900">
              <a:lnSpc>
                <a:spcPct val="120000"/>
              </a:lnSpc>
              <a:spcBef>
                <a:spcPts val="600"/>
              </a:spcBef>
              <a:spcAft>
                <a:spcPts val="1200"/>
              </a:spcAft>
              <a:buNone/>
            </a:pPr>
            <a:r>
              <a:rPr lang="en-AU" sz="2000" dirty="0" smtClean="0">
                <a:latin typeface="Helvetica" pitchFamily="34" charset="0"/>
              </a:rPr>
              <a:t>2.6	Undertake </a:t>
            </a:r>
            <a:r>
              <a:rPr lang="en-AU" sz="2000" dirty="0">
                <a:latin typeface="Helvetica" pitchFamily="34" charset="0"/>
              </a:rPr>
              <a:t>minor routine repairs</a:t>
            </a:r>
            <a:endParaRPr lang="en-AU"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21</a:t>
            </a:fld>
            <a:endParaRPr lang="en-US" dirty="0">
              <a:solidFill>
                <a:srgbClr val="4E5B6F">
                  <a:shade val="50000"/>
                </a:srgbClr>
              </a:solidFill>
              <a:latin typeface="Helvetica" pitchFamily="34" charset="0"/>
            </a:endParaRPr>
          </a:p>
        </p:txBody>
      </p:sp>
      <p:pic>
        <p:nvPicPr>
          <p:cNvPr id="5" name="Picture 9" descr="j02129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9872" y="5864404"/>
            <a:ext cx="1583631" cy="99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861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848872" cy="4968552"/>
          </a:xfrm>
        </p:spPr>
        <p:txBody>
          <a:bodyPr>
            <a:noAutofit/>
          </a:bodyPr>
          <a:lstStyle/>
          <a:p>
            <a:pPr marL="0" indent="0">
              <a:spcBef>
                <a:spcPts val="600"/>
              </a:spcBef>
              <a:spcAft>
                <a:spcPts val="600"/>
              </a:spcAft>
              <a:buNone/>
            </a:pPr>
            <a:r>
              <a:rPr lang="en-AU" sz="2000" dirty="0">
                <a:latin typeface="Helvetica" pitchFamily="34" charset="0"/>
                <a:ea typeface="Times New Roman"/>
                <a:cs typeface="Times New Roman"/>
              </a:rPr>
              <a:t>This section examines the practice of conducting visual inspections and describes a range of checks which are commonly made.</a:t>
            </a:r>
            <a:endParaRPr lang="en-US" sz="2000" dirty="0" smtClean="0">
              <a:latin typeface="Helvetica" pitchFamily="34" charset="0"/>
            </a:endParaRPr>
          </a:p>
          <a:p>
            <a:pPr marL="355600" indent="-355600">
              <a:spcBef>
                <a:spcPts val="600"/>
              </a:spcBef>
              <a:spcAft>
                <a:spcPts val="600"/>
              </a:spcAft>
            </a:pPr>
            <a:r>
              <a:rPr lang="en-AU" sz="2000" b="1" dirty="0" smtClean="0">
                <a:latin typeface="Helvetica" pitchFamily="34" charset="0"/>
              </a:rPr>
              <a:t>Important points</a:t>
            </a:r>
          </a:p>
          <a:p>
            <a:pPr marL="723900" lvl="1" indent="-368300">
              <a:lnSpc>
                <a:spcPct val="150000"/>
              </a:lnSpc>
              <a:spcBef>
                <a:spcPts val="600"/>
              </a:spcBef>
              <a:spcAft>
                <a:spcPts val="600"/>
              </a:spcAft>
              <a:buFont typeface="Symbol"/>
              <a:buChar char=""/>
            </a:pPr>
            <a:r>
              <a:rPr lang="en-AU" sz="2000" dirty="0">
                <a:latin typeface="Helvetica" pitchFamily="34" charset="0"/>
                <a:ea typeface="Calibri"/>
                <a:cs typeface="Times New Roman"/>
              </a:rPr>
              <a:t>This unit is not intended to provide the training needed for becoming a fully-qualified/A-grade </a:t>
            </a:r>
            <a:r>
              <a:rPr lang="en-AU" sz="2000" dirty="0" smtClean="0">
                <a:latin typeface="Helvetica" pitchFamily="34" charset="0"/>
                <a:ea typeface="Calibri"/>
                <a:cs typeface="Times New Roman"/>
              </a:rPr>
              <a:t>mechanic</a:t>
            </a:r>
            <a:endParaRPr lang="en-AU" sz="2000" dirty="0">
              <a:latin typeface="Helvetica" pitchFamily="34" charset="0"/>
              <a:ea typeface="Calibri"/>
              <a:cs typeface="Times New Roman"/>
            </a:endParaRPr>
          </a:p>
          <a:p>
            <a:pPr marL="723900" lvl="1" indent="-368300">
              <a:lnSpc>
                <a:spcPct val="150000"/>
              </a:lnSpc>
              <a:spcBef>
                <a:spcPts val="600"/>
              </a:spcBef>
              <a:spcAft>
                <a:spcPts val="600"/>
              </a:spcAft>
              <a:buFont typeface="Symbol"/>
              <a:buChar char=""/>
            </a:pPr>
            <a:r>
              <a:rPr lang="en-AU" sz="2000" dirty="0">
                <a:latin typeface="Helvetica" pitchFamily="34" charset="0"/>
                <a:ea typeface="Calibri"/>
                <a:cs typeface="Times New Roman"/>
              </a:rPr>
              <a:t>The manual and the notes cannot address the requirements for all types, makes and models of </a:t>
            </a:r>
            <a:r>
              <a:rPr lang="en-AU" sz="2000" dirty="0" smtClean="0">
                <a:latin typeface="Helvetica" pitchFamily="34" charset="0"/>
                <a:ea typeface="Calibri"/>
                <a:cs typeface="Times New Roman"/>
              </a:rPr>
              <a:t>service vehicles</a:t>
            </a:r>
            <a:endParaRPr lang="en-AU" sz="2000" dirty="0">
              <a:latin typeface="Helvetica" pitchFamily="34" charset="0"/>
              <a:ea typeface="Calibri"/>
              <a:cs typeface="Times New Roman"/>
            </a:endParaRPr>
          </a:p>
          <a:p>
            <a:pPr marL="723900" lvl="1" indent="-368300">
              <a:lnSpc>
                <a:spcPct val="150000"/>
              </a:lnSpc>
              <a:spcBef>
                <a:spcPts val="600"/>
              </a:spcBef>
              <a:spcAft>
                <a:spcPts val="600"/>
              </a:spcAft>
              <a:buFont typeface="Symbol"/>
              <a:buChar char=""/>
            </a:pPr>
            <a:r>
              <a:rPr lang="en-AU" sz="2000" dirty="0">
                <a:latin typeface="Helvetica" pitchFamily="34" charset="0"/>
                <a:ea typeface="Calibri"/>
                <a:cs typeface="Times New Roman"/>
              </a:rPr>
              <a:t>Cleaning is an important element </a:t>
            </a:r>
            <a:endParaRPr lang="en-AU" sz="2000" dirty="0" smtClean="0">
              <a:latin typeface="Helvetica" pitchFamily="34" charset="0"/>
              <a:ea typeface="Calibri"/>
              <a:cs typeface="Times New Roman"/>
            </a:endParaRPr>
          </a:p>
          <a:p>
            <a:pPr marL="723900" lvl="1" indent="-368300">
              <a:lnSpc>
                <a:spcPct val="150000"/>
              </a:lnSpc>
              <a:spcBef>
                <a:spcPts val="600"/>
              </a:spcBef>
              <a:spcAft>
                <a:spcPts val="600"/>
              </a:spcAft>
              <a:buFont typeface="Symbol"/>
              <a:buChar char=""/>
            </a:pPr>
            <a:r>
              <a:rPr lang="en-AU" sz="2000" dirty="0" smtClean="0">
                <a:latin typeface="Helvetica" pitchFamily="34" charset="0"/>
                <a:ea typeface="Calibri"/>
                <a:cs typeface="Times New Roman"/>
              </a:rPr>
              <a:t>Inspections/checks</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22</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457200" y="274638"/>
            <a:ext cx="8686800" cy="1143000"/>
          </a:xfrm>
        </p:spPr>
        <p:txBody>
          <a:bodyPr>
            <a:normAutofit fontScale="90000"/>
          </a:bodyPr>
          <a:lstStyle/>
          <a:p>
            <a:pPr marL="723900" indent="-723900"/>
            <a:r>
              <a:rPr lang="en-AU" sz="3100" b="1" dirty="0">
                <a:solidFill>
                  <a:srgbClr val="FF6600"/>
                </a:solidFill>
                <a:latin typeface="Helvetica" pitchFamily="34" charset="0"/>
              </a:rPr>
              <a:t>2.1	Perform regular preventative maintenance </a:t>
            </a:r>
            <a:r>
              <a:rPr lang="en-AU" sz="3100" b="1" dirty="0" smtClean="0">
                <a:solidFill>
                  <a:srgbClr val="FF6600"/>
                </a:solidFill>
                <a:latin typeface="Helvetica" pitchFamily="34" charset="0"/>
              </a:rPr>
              <a:t>&amp; </a:t>
            </a:r>
            <a:r>
              <a:rPr lang="en-AU" sz="3100" b="1" dirty="0">
                <a:solidFill>
                  <a:srgbClr val="FF6600"/>
                </a:solidFill>
                <a:latin typeface="Helvetica" pitchFamily="34" charset="0"/>
              </a:rPr>
              <a:t>operational checks of designated vehicles</a:t>
            </a:r>
            <a:endParaRPr lang="en-AU" dirty="0"/>
          </a:p>
        </p:txBody>
      </p:sp>
    </p:spTree>
    <p:extLst>
      <p:ext uri="{BB962C8B-B14F-4D97-AF65-F5344CB8AC3E}">
        <p14:creationId xmlns:p14="http://schemas.microsoft.com/office/powerpoint/2010/main" val="31411460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686800" cy="1143000"/>
          </a:xfrm>
        </p:spPr>
        <p:txBody>
          <a:bodyPr>
            <a:normAutofit fontScale="90000"/>
          </a:bodyPr>
          <a:lstStyle/>
          <a:p>
            <a:pPr marL="723900" indent="-723900"/>
            <a:r>
              <a:rPr lang="en-AU" sz="3100" b="1" dirty="0">
                <a:solidFill>
                  <a:srgbClr val="FF6600"/>
                </a:solidFill>
                <a:latin typeface="Helvetica" pitchFamily="34" charset="0"/>
              </a:rPr>
              <a:t>2.1	Perform regular preventative maintenance </a:t>
            </a:r>
            <a:r>
              <a:rPr lang="en-AU" sz="3100" b="1" dirty="0" smtClean="0">
                <a:solidFill>
                  <a:srgbClr val="FF6600"/>
                </a:solidFill>
                <a:latin typeface="Helvetica" pitchFamily="34" charset="0"/>
              </a:rPr>
              <a:t>&amp; </a:t>
            </a:r>
            <a:r>
              <a:rPr lang="en-AU" sz="3100" b="1" dirty="0">
                <a:solidFill>
                  <a:srgbClr val="FF6600"/>
                </a:solidFill>
                <a:latin typeface="Helvetica" pitchFamily="34" charset="0"/>
              </a:rPr>
              <a:t>operational checks of designated vehicles</a:t>
            </a:r>
            <a:endParaRPr lang="en-AU" dirty="0"/>
          </a:p>
        </p:txBody>
      </p:sp>
      <p:sp>
        <p:nvSpPr>
          <p:cNvPr id="3" name="Content Placeholder 2"/>
          <p:cNvSpPr>
            <a:spLocks noGrp="1"/>
          </p:cNvSpPr>
          <p:nvPr>
            <p:ph idx="1"/>
          </p:nvPr>
        </p:nvSpPr>
        <p:spPr>
          <a:xfrm>
            <a:off x="457200" y="1600200"/>
            <a:ext cx="7467600" cy="4853136"/>
          </a:xfrm>
        </p:spPr>
        <p:txBody>
          <a:bodyPr>
            <a:normAutofit/>
          </a:bodyPr>
          <a:lstStyle/>
          <a:p>
            <a:pPr marL="0" indent="0">
              <a:spcBef>
                <a:spcPts val="1200"/>
              </a:spcBef>
              <a:spcAft>
                <a:spcPts val="1200"/>
              </a:spcAft>
              <a:buNone/>
            </a:pPr>
            <a:r>
              <a:rPr lang="en-AU" sz="2200" b="1" dirty="0" smtClean="0">
                <a:latin typeface="Helvetica" pitchFamily="34" charset="0"/>
                <a:ea typeface="Times New Roman"/>
                <a:cs typeface="Times New Roman"/>
              </a:rPr>
              <a:t>Vehicle inspection checklist</a:t>
            </a:r>
          </a:p>
          <a:p>
            <a:pPr>
              <a:lnSpc>
                <a:spcPct val="115000"/>
              </a:lnSpc>
              <a:spcAft>
                <a:spcPts val="1000"/>
              </a:spcAft>
            </a:pPr>
            <a:r>
              <a:rPr lang="en-AU" sz="2200" dirty="0">
                <a:latin typeface="Helvetica" pitchFamily="34" charset="0"/>
                <a:ea typeface="Times New Roman"/>
                <a:cs typeface="Times New Roman"/>
              </a:rPr>
              <a:t>Checking and topping up fluid levels </a:t>
            </a:r>
          </a:p>
          <a:p>
            <a:pPr>
              <a:lnSpc>
                <a:spcPct val="115000"/>
              </a:lnSpc>
              <a:spcAft>
                <a:spcPts val="1000"/>
              </a:spcAft>
            </a:pPr>
            <a:r>
              <a:rPr lang="en-AU" sz="2200" dirty="0">
                <a:latin typeface="Helvetica" pitchFamily="34" charset="0"/>
                <a:ea typeface="Times New Roman"/>
                <a:cs typeface="Times New Roman"/>
              </a:rPr>
              <a:t>Checking vehicle tyres </a:t>
            </a:r>
          </a:p>
          <a:p>
            <a:pPr>
              <a:lnSpc>
                <a:spcPct val="115000"/>
              </a:lnSpc>
              <a:spcAft>
                <a:spcPts val="1000"/>
              </a:spcAft>
            </a:pPr>
            <a:r>
              <a:rPr lang="en-AU" sz="2200" dirty="0">
                <a:latin typeface="Helvetica" pitchFamily="34" charset="0"/>
                <a:ea typeface="Times New Roman"/>
                <a:cs typeface="Times New Roman"/>
              </a:rPr>
              <a:t>Checking vehicle lights </a:t>
            </a:r>
          </a:p>
          <a:p>
            <a:pPr>
              <a:lnSpc>
                <a:spcPct val="115000"/>
              </a:lnSpc>
              <a:spcAft>
                <a:spcPts val="1000"/>
              </a:spcAft>
            </a:pPr>
            <a:r>
              <a:rPr lang="en-AU" sz="2200" dirty="0">
                <a:latin typeface="Helvetica" pitchFamily="34" charset="0"/>
                <a:ea typeface="Times New Roman"/>
                <a:cs typeface="Times New Roman"/>
              </a:rPr>
              <a:t>Checking all vehicle glass, inside and out </a:t>
            </a:r>
          </a:p>
          <a:p>
            <a:pPr>
              <a:lnSpc>
                <a:spcPct val="115000"/>
              </a:lnSpc>
              <a:spcAft>
                <a:spcPts val="1000"/>
              </a:spcAft>
            </a:pPr>
            <a:r>
              <a:rPr lang="en-AU" sz="2200" dirty="0">
                <a:latin typeface="Helvetica" pitchFamily="34" charset="0"/>
                <a:ea typeface="Times New Roman"/>
                <a:cs typeface="Times New Roman"/>
              </a:rPr>
              <a:t>Checking seatbelts fitted to the </a:t>
            </a:r>
            <a:r>
              <a:rPr lang="en-AU" sz="2200" dirty="0" smtClean="0">
                <a:latin typeface="Helvetica" pitchFamily="34" charset="0"/>
                <a:ea typeface="Times New Roman"/>
                <a:cs typeface="Times New Roman"/>
              </a:rPr>
              <a:t>vehicle: </a:t>
            </a:r>
          </a:p>
          <a:p>
            <a:pPr marL="722313" lvl="1" indent="-366713">
              <a:lnSpc>
                <a:spcPct val="115000"/>
              </a:lnSpc>
              <a:spcAft>
                <a:spcPts val="1000"/>
              </a:spcAft>
            </a:pPr>
            <a:r>
              <a:rPr lang="en-AU" sz="2200" u="sng" dirty="0">
                <a:solidFill>
                  <a:srgbClr val="0000FF"/>
                </a:solidFill>
                <a:latin typeface="Helvetica" pitchFamily="34" charset="0"/>
                <a:ea typeface="Times New Roman"/>
                <a:cs typeface="Times New Roman"/>
                <a:hlinkClick r:id="rId3"/>
              </a:rPr>
              <a:t>www.transport.tas.gov.au/standards/</a:t>
            </a:r>
            <a:r>
              <a:rPr lang="en-AU" sz="2200" dirty="0">
                <a:latin typeface="Helvetica" pitchFamily="34" charset="0"/>
                <a:ea typeface="Times New Roman"/>
                <a:cs typeface="Times New Roman"/>
              </a:rPr>
              <a:t> </a:t>
            </a:r>
          </a:p>
          <a:p>
            <a:pPr marL="935990" indent="-935990">
              <a:spcBef>
                <a:spcPts val="1200"/>
              </a:spcBef>
              <a:spcAft>
                <a:spcPts val="1200"/>
              </a:spcAft>
            </a:pPr>
            <a:endParaRPr lang="en-AU" sz="2200" b="1" dirty="0" smtClean="0">
              <a:solidFill>
                <a:srgbClr val="45545F"/>
              </a:solidFill>
              <a:latin typeface="Helvetica" pitchFamily="34" charset="0"/>
              <a:ea typeface="Times New Roman"/>
              <a:cs typeface="Times New Roman"/>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120" y="1844824"/>
            <a:ext cx="1806994" cy="1806994"/>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4335407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931224" cy="4709120"/>
          </a:xfrm>
        </p:spPr>
        <p:txBody>
          <a:bodyPr>
            <a:normAutofit/>
          </a:bodyPr>
          <a:lstStyle/>
          <a:p>
            <a:pPr marL="0" indent="0">
              <a:spcBef>
                <a:spcPts val="400"/>
              </a:spcBef>
              <a:spcAft>
                <a:spcPts val="600"/>
              </a:spcAft>
              <a:buNone/>
            </a:pPr>
            <a:r>
              <a:rPr lang="en-AU" sz="2200" b="1" dirty="0">
                <a:latin typeface="Helvetica" pitchFamily="34" charset="0"/>
                <a:ea typeface="Times New Roman"/>
                <a:cs typeface="Times New Roman"/>
              </a:rPr>
              <a:t>In addition</a:t>
            </a:r>
            <a:endParaRPr lang="en-AU" sz="2200" dirty="0">
              <a:latin typeface="Helvetica" pitchFamily="34" charset="0"/>
              <a:ea typeface="Calibri"/>
              <a:cs typeface="Calibri"/>
            </a:endParaRPr>
          </a:p>
          <a:p>
            <a:pPr>
              <a:lnSpc>
                <a:spcPct val="115000"/>
              </a:lnSpc>
              <a:spcAft>
                <a:spcPts val="1000"/>
              </a:spcAft>
            </a:pPr>
            <a:r>
              <a:rPr lang="en-AU" sz="2200" dirty="0">
                <a:latin typeface="Helvetica" pitchFamily="34" charset="0"/>
                <a:ea typeface="Times New Roman"/>
                <a:cs typeface="Times New Roman"/>
              </a:rPr>
              <a:t>Conducting a physical test of the </a:t>
            </a:r>
            <a:r>
              <a:rPr lang="en-AU" sz="2200" dirty="0" smtClean="0">
                <a:latin typeface="Helvetica" pitchFamily="34" charset="0"/>
                <a:ea typeface="Times New Roman"/>
                <a:cs typeface="Times New Roman"/>
              </a:rPr>
              <a:t>brakes: </a:t>
            </a:r>
          </a:p>
          <a:p>
            <a:pPr marL="722313" lvl="1" indent="-366713">
              <a:lnSpc>
                <a:spcPct val="115000"/>
              </a:lnSpc>
              <a:spcAft>
                <a:spcPts val="1000"/>
              </a:spcAft>
            </a:pPr>
            <a:r>
              <a:rPr lang="en-AU" sz="2200" u="sng" dirty="0">
                <a:latin typeface="Helvetica" pitchFamily="34" charset="0"/>
                <a:ea typeface="Times New Roman"/>
                <a:cs typeface="Times New Roman"/>
                <a:hlinkClick r:id="rId3"/>
              </a:rPr>
              <a:t>http://smartdriving.co.uk/Driving/Driving_emergencies/Brakes_fail.htm</a:t>
            </a:r>
            <a:endParaRPr lang="en-AU" sz="2200" dirty="0" smtClean="0">
              <a:latin typeface="Helvetica" pitchFamily="34" charset="0"/>
              <a:ea typeface="Times New Roman"/>
              <a:cs typeface="Times New Roman"/>
            </a:endParaRPr>
          </a:p>
          <a:p>
            <a:pPr>
              <a:lnSpc>
                <a:spcPct val="115000"/>
              </a:lnSpc>
              <a:spcAft>
                <a:spcPts val="1000"/>
              </a:spcAft>
            </a:pPr>
            <a:r>
              <a:rPr lang="en-AU" sz="2200" dirty="0" smtClean="0">
                <a:latin typeface="Helvetica" pitchFamily="34" charset="0"/>
                <a:ea typeface="Times New Roman"/>
                <a:cs typeface="Times New Roman"/>
              </a:rPr>
              <a:t>Check and test communication </a:t>
            </a:r>
            <a:r>
              <a:rPr lang="en-AU" sz="2200" dirty="0">
                <a:latin typeface="Helvetica" pitchFamily="34" charset="0"/>
                <a:ea typeface="Times New Roman"/>
                <a:cs typeface="Times New Roman"/>
              </a:rPr>
              <a:t>facilities </a:t>
            </a:r>
          </a:p>
          <a:p>
            <a:pPr>
              <a:lnSpc>
                <a:spcPct val="115000"/>
              </a:lnSpc>
              <a:spcAft>
                <a:spcPts val="1000"/>
              </a:spcAft>
            </a:pPr>
            <a:r>
              <a:rPr lang="en-AU" sz="2200" dirty="0">
                <a:latin typeface="Helvetica" pitchFamily="34" charset="0"/>
                <a:ea typeface="Times New Roman"/>
                <a:cs typeface="Times New Roman"/>
              </a:rPr>
              <a:t>Check security features </a:t>
            </a:r>
          </a:p>
          <a:p>
            <a:pPr>
              <a:lnSpc>
                <a:spcPct val="115000"/>
              </a:lnSpc>
              <a:spcAft>
                <a:spcPts val="1000"/>
              </a:spcAft>
            </a:pPr>
            <a:r>
              <a:rPr lang="en-AU" sz="2200" dirty="0">
                <a:latin typeface="Helvetica" pitchFamily="34" charset="0"/>
                <a:ea typeface="Times New Roman"/>
                <a:cs typeface="Times New Roman"/>
              </a:rPr>
              <a:t>Starting the vehicle and running the motor </a:t>
            </a:r>
            <a:endParaRPr lang="en-AU" sz="2200" dirty="0" smtClean="0">
              <a:latin typeface="Helvetica" pitchFamily="34" charset="0"/>
              <a:ea typeface="Times New Roman"/>
              <a:cs typeface="Times New Roman"/>
            </a:endParaRPr>
          </a:p>
          <a:p>
            <a:pPr>
              <a:lnSpc>
                <a:spcPct val="115000"/>
              </a:lnSpc>
              <a:spcAft>
                <a:spcPts val="1000"/>
              </a:spcAft>
            </a:pPr>
            <a:r>
              <a:rPr lang="en-AU" sz="2200" dirty="0" smtClean="0">
                <a:latin typeface="Helvetica" pitchFamily="34" charset="0"/>
                <a:ea typeface="Times New Roman"/>
                <a:cs typeface="Times New Roman"/>
              </a:rPr>
              <a:t>Check </a:t>
            </a:r>
            <a:r>
              <a:rPr lang="en-AU" sz="2200" dirty="0">
                <a:latin typeface="Helvetica" pitchFamily="34" charset="0"/>
                <a:ea typeface="Times New Roman"/>
                <a:cs typeface="Times New Roman"/>
              </a:rPr>
              <a:t>maintenance reports from previous trips </a:t>
            </a:r>
          </a:p>
        </p:txBody>
      </p:sp>
      <p:sp>
        <p:nvSpPr>
          <p:cNvPr id="5" name="Title 1"/>
          <p:cNvSpPr>
            <a:spLocks noGrp="1"/>
          </p:cNvSpPr>
          <p:nvPr>
            <p:ph type="title"/>
          </p:nvPr>
        </p:nvSpPr>
        <p:spPr>
          <a:xfrm>
            <a:off x="457200" y="260648"/>
            <a:ext cx="8686800" cy="1143000"/>
          </a:xfrm>
        </p:spPr>
        <p:txBody>
          <a:bodyPr>
            <a:normAutofit fontScale="90000"/>
          </a:bodyPr>
          <a:lstStyle/>
          <a:p>
            <a:pPr marL="723900" indent="-723900"/>
            <a:r>
              <a:rPr lang="en-AU" sz="3100" b="1" dirty="0">
                <a:solidFill>
                  <a:srgbClr val="FF6600"/>
                </a:solidFill>
                <a:latin typeface="Helvetica" pitchFamily="34" charset="0"/>
              </a:rPr>
              <a:t>2.1	Perform regular preventative maintenance </a:t>
            </a:r>
            <a:r>
              <a:rPr lang="en-AU" sz="3100" b="1" dirty="0" smtClean="0">
                <a:solidFill>
                  <a:srgbClr val="FF6600"/>
                </a:solidFill>
                <a:latin typeface="Helvetica" pitchFamily="34" charset="0"/>
              </a:rPr>
              <a:t>&amp; </a:t>
            </a:r>
            <a:r>
              <a:rPr lang="en-AU" sz="3100" b="1" dirty="0">
                <a:solidFill>
                  <a:srgbClr val="FF6600"/>
                </a:solidFill>
                <a:latin typeface="Helvetica" pitchFamily="34" charset="0"/>
              </a:rPr>
              <a:t>operational checks of designated vehicles</a:t>
            </a:r>
            <a:endParaRPr lang="en-AU"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6216" y="3284984"/>
            <a:ext cx="1807096" cy="1807096"/>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061296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143000"/>
          </a:xfrm>
        </p:spPr>
        <p:txBody>
          <a:bodyPr>
            <a:normAutofit/>
          </a:bodyPr>
          <a:lstStyle/>
          <a:p>
            <a:pPr marL="900113" indent="-900113"/>
            <a:r>
              <a:rPr lang="en-AU" sz="3400" b="1" dirty="0">
                <a:solidFill>
                  <a:srgbClr val="FF6600"/>
                </a:solidFill>
                <a:latin typeface="Helvetica" pitchFamily="34" charset="0"/>
              </a:rPr>
              <a:t>2.2	Complete and retain service reports as required</a:t>
            </a:r>
          </a:p>
        </p:txBody>
      </p:sp>
      <p:sp>
        <p:nvSpPr>
          <p:cNvPr id="3" name="Content Placeholder 2"/>
          <p:cNvSpPr>
            <a:spLocks noGrp="1"/>
          </p:cNvSpPr>
          <p:nvPr>
            <p:ph idx="1"/>
          </p:nvPr>
        </p:nvSpPr>
        <p:spPr>
          <a:xfrm>
            <a:off x="611560" y="1556792"/>
            <a:ext cx="7467600" cy="5301208"/>
          </a:xfrm>
        </p:spPr>
        <p:txBody>
          <a:bodyPr>
            <a:noAutofit/>
          </a:bodyPr>
          <a:lstStyle/>
          <a:p>
            <a:pPr marL="0" indent="0">
              <a:spcBef>
                <a:spcPts val="600"/>
              </a:spcBef>
              <a:spcAft>
                <a:spcPts val="600"/>
              </a:spcAft>
              <a:buNone/>
            </a:pPr>
            <a:r>
              <a:rPr lang="en-AU" sz="1800" dirty="0">
                <a:latin typeface="Helvetica" pitchFamily="34" charset="0"/>
                <a:ea typeface="Times New Roman"/>
                <a:cs typeface="Times New Roman"/>
              </a:rPr>
              <a:t>Tour Operators who operate their own </a:t>
            </a:r>
            <a:r>
              <a:rPr lang="en-AU" sz="1800" dirty="0" smtClean="0">
                <a:latin typeface="Helvetica" pitchFamily="34" charset="0"/>
                <a:ea typeface="Times New Roman"/>
                <a:cs typeface="Times New Roman"/>
              </a:rPr>
              <a:t>vehicles will </a:t>
            </a:r>
            <a:r>
              <a:rPr lang="en-AU" sz="1800" dirty="0">
                <a:latin typeface="Helvetica" pitchFamily="34" charset="0"/>
                <a:ea typeface="Times New Roman"/>
                <a:cs typeface="Times New Roman"/>
              </a:rPr>
              <a:t>require their drivers to complete and retain </a:t>
            </a:r>
            <a:r>
              <a:rPr lang="en-AU" sz="1800" dirty="0" smtClean="0">
                <a:latin typeface="Helvetica" pitchFamily="34" charset="0"/>
                <a:ea typeface="Times New Roman"/>
                <a:cs typeface="Times New Roman"/>
              </a:rPr>
              <a:t>paperwork:</a:t>
            </a:r>
          </a:p>
          <a:p>
            <a:pPr>
              <a:spcBef>
                <a:spcPts val="600"/>
              </a:spcBef>
              <a:spcAft>
                <a:spcPts val="600"/>
              </a:spcAft>
            </a:pPr>
            <a:r>
              <a:rPr lang="en-AU" sz="1800" b="1" dirty="0" smtClean="0">
                <a:latin typeface="Helvetica" pitchFamily="34" charset="0"/>
              </a:rPr>
              <a:t>Completing </a:t>
            </a:r>
            <a:r>
              <a:rPr lang="en-AU" sz="1800" b="1" dirty="0">
                <a:latin typeface="Helvetica" pitchFamily="34" charset="0"/>
              </a:rPr>
              <a:t>the internal </a:t>
            </a:r>
            <a:r>
              <a:rPr lang="en-AU" sz="1800" b="1" dirty="0" smtClean="0">
                <a:latin typeface="Helvetica" pitchFamily="34" charset="0"/>
              </a:rPr>
              <a:t>documents</a:t>
            </a:r>
          </a:p>
          <a:p>
            <a:pPr lvl="1">
              <a:spcBef>
                <a:spcPts val="600"/>
              </a:spcBef>
              <a:spcAft>
                <a:spcPts val="600"/>
              </a:spcAft>
            </a:pPr>
            <a:r>
              <a:rPr lang="en-AU" sz="1800" dirty="0">
                <a:latin typeface="Helvetica" pitchFamily="34" charset="0"/>
                <a:ea typeface="Calibri"/>
                <a:cs typeface="Calibri"/>
              </a:rPr>
              <a:t>‘Service Report’ </a:t>
            </a:r>
            <a:r>
              <a:rPr lang="en-AU" sz="1800" dirty="0" smtClean="0">
                <a:latin typeface="Helvetica" pitchFamily="34" charset="0"/>
                <a:ea typeface="Calibri"/>
                <a:cs typeface="Calibri"/>
              </a:rPr>
              <a:t>form/log</a:t>
            </a:r>
            <a:endParaRPr lang="en-AU" sz="1800" dirty="0">
              <a:latin typeface="Helvetica" pitchFamily="34" charset="0"/>
              <a:ea typeface="Calibri"/>
              <a:cs typeface="Calibri"/>
            </a:endParaRPr>
          </a:p>
          <a:p>
            <a:pPr lvl="1">
              <a:spcBef>
                <a:spcPts val="600"/>
              </a:spcBef>
              <a:spcAft>
                <a:spcPts val="600"/>
              </a:spcAft>
            </a:pPr>
            <a:r>
              <a:rPr lang="en-AU" sz="1800" dirty="0" smtClean="0">
                <a:latin typeface="Helvetica" pitchFamily="34" charset="0"/>
                <a:ea typeface="Calibri"/>
                <a:cs typeface="Calibri"/>
              </a:rPr>
              <a:t>‘Defect </a:t>
            </a:r>
            <a:r>
              <a:rPr lang="en-AU" sz="1800" dirty="0">
                <a:latin typeface="Helvetica" pitchFamily="34" charset="0"/>
                <a:ea typeface="Calibri"/>
                <a:cs typeface="Calibri"/>
              </a:rPr>
              <a:t>Report’ </a:t>
            </a:r>
          </a:p>
          <a:p>
            <a:pPr lvl="1">
              <a:spcBef>
                <a:spcPts val="600"/>
              </a:spcBef>
              <a:spcAft>
                <a:spcPts val="600"/>
              </a:spcAft>
            </a:pPr>
            <a:r>
              <a:rPr lang="en-AU" sz="1800" dirty="0" smtClean="0">
                <a:latin typeface="Helvetica" pitchFamily="34" charset="0"/>
                <a:ea typeface="Calibri"/>
                <a:cs typeface="Calibri"/>
              </a:rPr>
              <a:t>‘Request </a:t>
            </a:r>
            <a:r>
              <a:rPr lang="en-AU" sz="1800" dirty="0">
                <a:latin typeface="Helvetica" pitchFamily="34" charset="0"/>
                <a:ea typeface="Calibri"/>
                <a:cs typeface="Calibri"/>
              </a:rPr>
              <a:t>for Service/Maintenance’.</a:t>
            </a:r>
          </a:p>
          <a:p>
            <a:pPr>
              <a:spcBef>
                <a:spcPts val="600"/>
              </a:spcBef>
              <a:spcAft>
                <a:spcPts val="600"/>
              </a:spcAft>
            </a:pPr>
            <a:r>
              <a:rPr lang="en-AU" sz="1800" b="1" dirty="0" smtClean="0">
                <a:latin typeface="Helvetica" pitchFamily="34" charset="0"/>
                <a:ea typeface="Calibri"/>
                <a:cs typeface="Calibri"/>
              </a:rPr>
              <a:t>Websites</a:t>
            </a:r>
            <a:endParaRPr lang="en-AU" sz="1800" dirty="0">
              <a:latin typeface="Helvetica" pitchFamily="34" charset="0"/>
              <a:ea typeface="Calibri"/>
              <a:cs typeface="Calibri"/>
            </a:endParaRPr>
          </a:p>
          <a:p>
            <a:pPr lvl="1">
              <a:spcBef>
                <a:spcPts val="600"/>
              </a:spcBef>
              <a:spcAft>
                <a:spcPts val="600"/>
              </a:spcAft>
            </a:pPr>
            <a:r>
              <a:rPr lang="en-AU" sz="1800" u="sng" dirty="0">
                <a:solidFill>
                  <a:srgbClr val="FF9933"/>
                </a:solidFill>
                <a:latin typeface="Helvetica" pitchFamily="34" charset="0"/>
                <a:ea typeface="Calibri"/>
                <a:cs typeface="Calibri"/>
              </a:rPr>
              <a:t>download.microsoft.com/download/9/d/c/.../Vehicle_Repair_Log.xlt – Vehicle repair </a:t>
            </a:r>
            <a:r>
              <a:rPr lang="en-AU" sz="1800" u="sng" dirty="0" smtClean="0">
                <a:solidFill>
                  <a:srgbClr val="FF9933"/>
                </a:solidFill>
                <a:latin typeface="Helvetica" pitchFamily="34" charset="0"/>
                <a:ea typeface="Calibri"/>
                <a:cs typeface="Calibri"/>
              </a:rPr>
              <a:t>log</a:t>
            </a:r>
          </a:p>
          <a:p>
            <a:pPr lvl="1">
              <a:spcBef>
                <a:spcPts val="600"/>
              </a:spcBef>
              <a:spcAft>
                <a:spcPts val="600"/>
              </a:spcAft>
            </a:pPr>
            <a:r>
              <a:rPr lang="en-AU" sz="1800" u="sng" dirty="0" smtClean="0">
                <a:solidFill>
                  <a:srgbClr val="FF9933"/>
                </a:solidFill>
                <a:latin typeface="Helvetica" pitchFamily="34" charset="0"/>
                <a:ea typeface="Calibri"/>
                <a:cs typeface="Calibri"/>
                <a:hlinkClick r:id="rId3"/>
              </a:rPr>
              <a:t>http</a:t>
            </a:r>
            <a:r>
              <a:rPr lang="en-AU" sz="1800" u="sng" dirty="0">
                <a:solidFill>
                  <a:srgbClr val="FF9933"/>
                </a:solidFill>
                <a:latin typeface="Helvetica" pitchFamily="34" charset="0"/>
                <a:ea typeface="Calibri"/>
                <a:cs typeface="Calibri"/>
                <a:hlinkClick r:id="rId3"/>
              </a:rPr>
              <a:t>://www.vertex42.com/ExcelTemplates/vehicle-maintenance-log.html</a:t>
            </a:r>
            <a:r>
              <a:rPr lang="en-AU" sz="1800" u="sng" dirty="0">
                <a:solidFill>
                  <a:srgbClr val="FF9933"/>
                </a:solidFill>
                <a:latin typeface="Helvetica" pitchFamily="34" charset="0"/>
                <a:ea typeface="Calibri"/>
                <a:cs typeface="Calibri"/>
              </a:rPr>
              <a:t> - Vehicle maintenance </a:t>
            </a:r>
            <a:r>
              <a:rPr lang="en-AU" sz="1800" u="sng" dirty="0" smtClean="0">
                <a:solidFill>
                  <a:srgbClr val="FF9933"/>
                </a:solidFill>
                <a:latin typeface="Helvetica" pitchFamily="34" charset="0"/>
                <a:ea typeface="Calibri"/>
                <a:cs typeface="Calibri"/>
              </a:rPr>
              <a:t>log</a:t>
            </a:r>
            <a:endParaRPr lang="en-US" sz="1800" u="sng" dirty="0">
              <a:solidFill>
                <a:srgbClr val="FF9933"/>
              </a:solidFill>
              <a:latin typeface="Helvetica" pitchFamily="34" charset="0"/>
              <a:ea typeface="Calibri"/>
              <a:cs typeface="Calibri"/>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25</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36096" y="2348880"/>
            <a:ext cx="2521373" cy="1682229"/>
          </a:xfrm>
          <a:prstGeom prst="rect">
            <a:avLst/>
          </a:prstGeom>
        </p:spPr>
      </p:pic>
    </p:spTree>
    <p:extLst>
      <p:ext uri="{BB962C8B-B14F-4D97-AF65-F5344CB8AC3E}">
        <p14:creationId xmlns:p14="http://schemas.microsoft.com/office/powerpoint/2010/main" val="4027726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440160"/>
          </a:xfrm>
        </p:spPr>
        <p:txBody>
          <a:bodyPr>
            <a:normAutofit fontScale="90000"/>
          </a:bodyPr>
          <a:lstStyle/>
          <a:p>
            <a:pPr marL="723900" indent="-723900"/>
            <a:r>
              <a:rPr lang="en-AU" sz="3400" b="1" dirty="0">
                <a:solidFill>
                  <a:srgbClr val="FF6600"/>
                </a:solidFill>
                <a:latin typeface="Helvetica" pitchFamily="34" charset="0"/>
              </a:rPr>
              <a:t>2.3	Adhere to scheduled maintenance and service requirements as set out by the vehicle manufacturer</a:t>
            </a:r>
          </a:p>
        </p:txBody>
      </p:sp>
      <p:sp>
        <p:nvSpPr>
          <p:cNvPr id="3" name="Content Placeholder 2"/>
          <p:cNvSpPr>
            <a:spLocks noGrp="1"/>
          </p:cNvSpPr>
          <p:nvPr>
            <p:ph idx="1"/>
          </p:nvPr>
        </p:nvSpPr>
        <p:spPr>
          <a:xfrm>
            <a:off x="611560" y="2204864"/>
            <a:ext cx="7776864" cy="4320480"/>
          </a:xfrm>
        </p:spPr>
        <p:txBody>
          <a:bodyPr>
            <a:normAutofit/>
          </a:bodyPr>
          <a:lstStyle/>
          <a:p>
            <a:pPr>
              <a:lnSpc>
                <a:spcPct val="150000"/>
              </a:lnSpc>
              <a:spcBef>
                <a:spcPts val="600"/>
              </a:spcBef>
              <a:spcAft>
                <a:spcPts val="1200"/>
              </a:spcAft>
            </a:pPr>
            <a:r>
              <a:rPr lang="en-AU" sz="2200" dirty="0" smtClean="0">
                <a:latin typeface="Helvetica" pitchFamily="34" charset="0"/>
              </a:rPr>
              <a:t>Generic requirements:</a:t>
            </a:r>
          </a:p>
          <a:p>
            <a:pPr marL="725488" lvl="0" indent="-342900">
              <a:spcBef>
                <a:spcPts val="600"/>
              </a:spcBef>
              <a:spcAft>
                <a:spcPts val="1200"/>
              </a:spcAft>
              <a:buFont typeface="Symbol"/>
              <a:buChar char=""/>
            </a:pPr>
            <a:r>
              <a:rPr lang="en-AU" sz="2200" dirty="0">
                <a:latin typeface="Helvetica" pitchFamily="34" charset="0"/>
                <a:ea typeface="Calibri"/>
                <a:cs typeface="Times New Roman"/>
              </a:rPr>
              <a:t>Vehicles must be serviced at nominated times – as appropriate, designated by either:</a:t>
            </a:r>
          </a:p>
          <a:p>
            <a:pPr marL="1079500" lvl="0" indent="-342900">
              <a:spcBef>
                <a:spcPts val="600"/>
              </a:spcBef>
              <a:spcAft>
                <a:spcPts val="1200"/>
              </a:spcAft>
              <a:buFont typeface="Wingdings" panose="05000000000000000000" pitchFamily="2" charset="2"/>
              <a:buChar char="§"/>
            </a:pPr>
            <a:r>
              <a:rPr lang="en-AU" sz="2200" dirty="0">
                <a:latin typeface="Helvetica" pitchFamily="34" charset="0"/>
                <a:ea typeface="Calibri"/>
                <a:cs typeface="Calibri"/>
              </a:rPr>
              <a:t>Distance travelled, or </a:t>
            </a:r>
          </a:p>
          <a:p>
            <a:pPr marL="1079500" lvl="0" indent="-342900">
              <a:spcBef>
                <a:spcPts val="600"/>
              </a:spcBef>
              <a:spcAft>
                <a:spcPts val="1200"/>
              </a:spcAft>
              <a:buFont typeface="Wingdings" panose="05000000000000000000" pitchFamily="2" charset="2"/>
              <a:buChar char="§"/>
            </a:pPr>
            <a:r>
              <a:rPr lang="en-AU" sz="2200" dirty="0">
                <a:latin typeface="Helvetica" pitchFamily="34" charset="0"/>
                <a:ea typeface="Calibri"/>
                <a:cs typeface="Calibri"/>
              </a:rPr>
              <a:t>Operating hours</a:t>
            </a:r>
          </a:p>
          <a:p>
            <a:pPr>
              <a:lnSpc>
                <a:spcPct val="150000"/>
              </a:lnSpc>
              <a:spcBef>
                <a:spcPts val="600"/>
              </a:spcBef>
              <a:spcAft>
                <a:spcPts val="1200"/>
              </a:spcAft>
            </a:pPr>
            <a:r>
              <a:rPr lang="en-AU" sz="2200" dirty="0" smtClean="0">
                <a:latin typeface="Helvetica" pitchFamily="34" charset="0"/>
              </a:rPr>
              <a:t>Sample requirements</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26</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933056"/>
            <a:ext cx="2327920" cy="1552723"/>
          </a:xfrm>
          <a:prstGeom prst="rect">
            <a:avLst/>
          </a:prstGeom>
        </p:spPr>
      </p:pic>
    </p:spTree>
    <p:extLst>
      <p:ext uri="{BB962C8B-B14F-4D97-AF65-F5344CB8AC3E}">
        <p14:creationId xmlns:p14="http://schemas.microsoft.com/office/powerpoint/2010/main" val="193805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2.4	Conduct special checks and service after designated trips</a:t>
            </a:r>
          </a:p>
        </p:txBody>
      </p:sp>
      <p:sp>
        <p:nvSpPr>
          <p:cNvPr id="3" name="Content Placeholder 2"/>
          <p:cNvSpPr>
            <a:spLocks noGrp="1"/>
          </p:cNvSpPr>
          <p:nvPr>
            <p:ph idx="1"/>
          </p:nvPr>
        </p:nvSpPr>
        <p:spPr>
          <a:xfrm>
            <a:off x="611560" y="1628800"/>
            <a:ext cx="7776864" cy="4968552"/>
          </a:xfrm>
        </p:spPr>
        <p:txBody>
          <a:bodyPr>
            <a:noAutofit/>
          </a:bodyPr>
          <a:lstStyle/>
          <a:p>
            <a:pPr marL="36576" indent="0">
              <a:spcBef>
                <a:spcPts val="600"/>
              </a:spcBef>
              <a:spcAft>
                <a:spcPts val="600"/>
              </a:spcAft>
              <a:buNone/>
            </a:pPr>
            <a:r>
              <a:rPr lang="en-AU" sz="1800" dirty="0">
                <a:latin typeface="Helvetica" pitchFamily="34" charset="0"/>
              </a:rPr>
              <a:t>This section </a:t>
            </a:r>
            <a:r>
              <a:rPr lang="en-AU" sz="1800" dirty="0" smtClean="0">
                <a:latin typeface="Helvetica" pitchFamily="34" charset="0"/>
              </a:rPr>
              <a:t>details </a:t>
            </a:r>
            <a:r>
              <a:rPr lang="en-AU" sz="1800" dirty="0">
                <a:latin typeface="Helvetica" pitchFamily="34" charset="0"/>
              </a:rPr>
              <a:t>activities involved in the inspection process.</a:t>
            </a:r>
          </a:p>
          <a:p>
            <a:pPr marL="0" indent="0">
              <a:spcBef>
                <a:spcPts val="600"/>
              </a:spcBef>
              <a:spcAft>
                <a:spcPts val="600"/>
              </a:spcAft>
              <a:buNone/>
            </a:pPr>
            <a:r>
              <a:rPr lang="en-AU" sz="1800" b="1" u="sng" dirty="0">
                <a:latin typeface="Helvetica" pitchFamily="34" charset="0"/>
              </a:rPr>
              <a:t>Post-trip </a:t>
            </a:r>
            <a:r>
              <a:rPr lang="en-AU" sz="1800" b="1" u="sng" dirty="0" smtClean="0">
                <a:latin typeface="Helvetica" pitchFamily="34" charset="0"/>
              </a:rPr>
              <a:t>checks</a:t>
            </a:r>
          </a:p>
          <a:p>
            <a:pPr marL="0" indent="0">
              <a:spcBef>
                <a:spcPts val="600"/>
              </a:spcBef>
              <a:spcAft>
                <a:spcPts val="600"/>
              </a:spcAft>
              <a:buNone/>
            </a:pPr>
            <a:r>
              <a:rPr lang="en-AU" sz="1800" b="1" dirty="0">
                <a:latin typeface="Helvetica" pitchFamily="34" charset="0"/>
              </a:rPr>
              <a:t>Internal checks</a:t>
            </a:r>
            <a:endParaRPr lang="en-AU" sz="1800" dirty="0">
              <a:latin typeface="Helvetica" pitchFamily="34" charset="0"/>
            </a:endParaRPr>
          </a:p>
          <a:p>
            <a:pPr>
              <a:spcBef>
                <a:spcPts val="600"/>
              </a:spcBef>
              <a:spcAft>
                <a:spcPts val="600"/>
              </a:spcAft>
            </a:pPr>
            <a:r>
              <a:rPr lang="en-AU" sz="1800" u="sng" dirty="0" smtClean="0">
                <a:solidFill>
                  <a:srgbClr val="0000FF"/>
                </a:solidFill>
                <a:latin typeface="Helvetica" pitchFamily="34" charset="0"/>
                <a:ea typeface="Calibri"/>
                <a:cs typeface="Calibri"/>
                <a:hlinkClick r:id="rId3"/>
              </a:rPr>
              <a:t>https</a:t>
            </a:r>
            <a:r>
              <a:rPr lang="en-AU" sz="1800" u="sng" dirty="0">
                <a:solidFill>
                  <a:srgbClr val="0000FF"/>
                </a:solidFill>
                <a:latin typeface="Helvetica" pitchFamily="34" charset="0"/>
                <a:ea typeface="Calibri"/>
                <a:cs typeface="Calibri"/>
                <a:hlinkClick r:id="rId3"/>
              </a:rPr>
              <a:t>://www.youtube.com/watch?v=t--JMt9cECU</a:t>
            </a:r>
            <a:r>
              <a:rPr lang="en-AU" sz="1800" dirty="0">
                <a:latin typeface="Helvetica" pitchFamily="34" charset="0"/>
                <a:ea typeface="Calibri"/>
                <a:cs typeface="Calibri"/>
              </a:rPr>
              <a:t> – Interior auto detailing</a:t>
            </a:r>
          </a:p>
          <a:p>
            <a:pPr>
              <a:spcBef>
                <a:spcPts val="600"/>
              </a:spcBef>
              <a:spcAft>
                <a:spcPts val="600"/>
              </a:spcAft>
            </a:pPr>
            <a:r>
              <a:rPr lang="en-AU" sz="1800" u="sng" dirty="0">
                <a:solidFill>
                  <a:srgbClr val="0000FF"/>
                </a:solidFill>
                <a:latin typeface="Helvetica" pitchFamily="34" charset="0"/>
                <a:ea typeface="Calibri"/>
                <a:cs typeface="Calibri"/>
                <a:hlinkClick r:id="rId4"/>
              </a:rPr>
              <a:t>https://www.youtube.com/watch?v=rT86aCFUDUc</a:t>
            </a:r>
            <a:r>
              <a:rPr lang="en-AU" sz="1800" dirty="0">
                <a:latin typeface="Helvetica" pitchFamily="34" charset="0"/>
                <a:ea typeface="Calibri"/>
                <a:cs typeface="Calibri"/>
              </a:rPr>
              <a:t> – How to clean upholstery: hot water extraction</a:t>
            </a:r>
          </a:p>
          <a:p>
            <a:pPr>
              <a:spcBef>
                <a:spcPts val="600"/>
              </a:spcBef>
              <a:spcAft>
                <a:spcPts val="600"/>
              </a:spcAft>
            </a:pPr>
            <a:r>
              <a:rPr lang="en-AU" sz="1800" u="sng" dirty="0">
                <a:solidFill>
                  <a:srgbClr val="0000FF"/>
                </a:solidFill>
                <a:latin typeface="Helvetica" pitchFamily="34" charset="0"/>
                <a:ea typeface="Calibri"/>
                <a:cs typeface="Calibri"/>
                <a:hlinkClick r:id="rId5"/>
              </a:rPr>
              <a:t>https://www.youtube.com/watch?v=dag7N8me1tE</a:t>
            </a:r>
            <a:r>
              <a:rPr lang="en-AU" sz="1800" dirty="0">
                <a:latin typeface="Helvetica" pitchFamily="34" charset="0"/>
                <a:ea typeface="Calibri"/>
                <a:cs typeface="Calibri"/>
              </a:rPr>
              <a:t> – Door jamb detailing and cleaning: how to clean door jambs to perfection!</a:t>
            </a:r>
          </a:p>
          <a:p>
            <a:pPr>
              <a:spcBef>
                <a:spcPts val="600"/>
              </a:spcBef>
              <a:spcAft>
                <a:spcPts val="600"/>
              </a:spcAft>
            </a:pPr>
            <a:r>
              <a:rPr lang="en-AU" sz="1800" u="sng" dirty="0">
                <a:solidFill>
                  <a:srgbClr val="0000FF"/>
                </a:solidFill>
                <a:latin typeface="Helvetica" pitchFamily="34" charset="0"/>
                <a:ea typeface="Calibri"/>
                <a:cs typeface="Calibri"/>
                <a:hlinkClick r:id="rId6"/>
              </a:rPr>
              <a:t>https://www.youtube.com/watch?v=QY6_3o6rpLc</a:t>
            </a:r>
            <a:r>
              <a:rPr lang="en-AU" sz="1800" dirty="0">
                <a:latin typeface="Helvetica" pitchFamily="34" charset="0"/>
                <a:ea typeface="Calibri"/>
                <a:cs typeface="Calibri"/>
              </a:rPr>
              <a:t> – Detailing black door jambs: Darren’s professional tips!</a:t>
            </a:r>
          </a:p>
          <a:p>
            <a:pPr>
              <a:spcBef>
                <a:spcPts val="600"/>
              </a:spcBef>
              <a:spcAft>
                <a:spcPts val="600"/>
              </a:spcAft>
            </a:pPr>
            <a:r>
              <a:rPr lang="en-AU" sz="1800" u="sng" dirty="0">
                <a:solidFill>
                  <a:srgbClr val="0000FF"/>
                </a:solidFill>
                <a:latin typeface="Helvetica" pitchFamily="34" charset="0"/>
                <a:ea typeface="Calibri"/>
                <a:cs typeface="Calibri"/>
                <a:hlinkClick r:id="rId7"/>
              </a:rPr>
              <a:t>https://www.youtube.com/watch?v=aVUtdlzrktI</a:t>
            </a:r>
            <a:r>
              <a:rPr lang="en-AU" sz="1800" dirty="0">
                <a:latin typeface="Helvetica" pitchFamily="34" charset="0"/>
                <a:ea typeface="Calibri"/>
                <a:cs typeface="Calibri"/>
              </a:rPr>
              <a:t> – Car glass: Cleaning and polishing</a:t>
            </a:r>
          </a:p>
          <a:p>
            <a:pPr marL="0" indent="0">
              <a:spcBef>
                <a:spcPts val="600"/>
              </a:spcBef>
              <a:spcAft>
                <a:spcPts val="600"/>
              </a:spcAft>
              <a:buNone/>
            </a:pPr>
            <a:endParaRPr lang="en-AU" sz="1800" b="1" dirty="0"/>
          </a:p>
          <a:p>
            <a:pPr marL="360000" indent="-360000">
              <a:spcBef>
                <a:spcPts val="600"/>
              </a:spcBef>
              <a:spcAft>
                <a:spcPts val="6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2319327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2.4	Conduct special checks and service after designated trips</a:t>
            </a:r>
            <a:endParaRPr lang="en-AU" dirty="0"/>
          </a:p>
        </p:txBody>
      </p:sp>
      <p:sp>
        <p:nvSpPr>
          <p:cNvPr id="3" name="Content Placeholder 2"/>
          <p:cNvSpPr>
            <a:spLocks noGrp="1"/>
          </p:cNvSpPr>
          <p:nvPr>
            <p:ph idx="1"/>
          </p:nvPr>
        </p:nvSpPr>
        <p:spPr>
          <a:xfrm>
            <a:off x="457200" y="1600200"/>
            <a:ext cx="8003232" cy="5069160"/>
          </a:xfrm>
        </p:spPr>
        <p:txBody>
          <a:bodyPr>
            <a:noAutofit/>
          </a:bodyPr>
          <a:lstStyle/>
          <a:p>
            <a:pPr marL="0" lvl="0" indent="0">
              <a:spcBef>
                <a:spcPts val="600"/>
              </a:spcBef>
              <a:spcAft>
                <a:spcPts val="1200"/>
              </a:spcAft>
              <a:buClr>
                <a:srgbClr val="7FD13B"/>
              </a:buClr>
              <a:buNone/>
            </a:pPr>
            <a:r>
              <a:rPr lang="en-AU" sz="2200" b="1" dirty="0" smtClean="0">
                <a:solidFill>
                  <a:prstClr val="black"/>
                </a:solidFill>
                <a:latin typeface="Helvetica" pitchFamily="34" charset="0"/>
              </a:rPr>
              <a:t>Internal checks</a:t>
            </a:r>
            <a:endParaRPr lang="en-AU" sz="2200" i="1" u="sng" dirty="0" smtClean="0">
              <a:solidFill>
                <a:prstClr val="black"/>
              </a:solidFill>
              <a:latin typeface="Helvetica" pitchFamily="34" charset="0"/>
              <a:hlinkClick r:id="rId3"/>
            </a:endParaRPr>
          </a:p>
          <a:p>
            <a:pPr>
              <a:spcBef>
                <a:spcPts val="400"/>
              </a:spcBef>
              <a:spcAft>
                <a:spcPts val="800"/>
              </a:spcAft>
            </a:pPr>
            <a:r>
              <a:rPr lang="en-AU" sz="2200" u="sng" dirty="0" smtClean="0">
                <a:solidFill>
                  <a:srgbClr val="0000FF"/>
                </a:solidFill>
                <a:latin typeface="Helvetica" pitchFamily="34" charset="0"/>
                <a:ea typeface="Calibri"/>
                <a:cs typeface="Calibri"/>
                <a:hlinkClick r:id="rId4"/>
              </a:rPr>
              <a:t>https://www.youtube.com/watch?v=hq671_hfhFE</a:t>
            </a:r>
            <a:r>
              <a:rPr lang="en-AU" sz="2200" dirty="0" smtClean="0">
                <a:latin typeface="Helvetica" pitchFamily="34" charset="0"/>
                <a:ea typeface="Calibri"/>
                <a:cs typeface="Calibri"/>
              </a:rPr>
              <a:t>                     How to streak free clean windows: Auto detailer’s tip</a:t>
            </a:r>
          </a:p>
          <a:p>
            <a:pPr>
              <a:spcBef>
                <a:spcPts val="400"/>
              </a:spcBef>
              <a:spcAft>
                <a:spcPts val="800"/>
              </a:spcAft>
            </a:pPr>
            <a:r>
              <a:rPr lang="en-AU" sz="2200" u="sng" dirty="0" smtClean="0">
                <a:solidFill>
                  <a:srgbClr val="0000FF"/>
                </a:solidFill>
                <a:latin typeface="Helvetica" pitchFamily="34" charset="0"/>
                <a:ea typeface="Calibri"/>
                <a:cs typeface="Calibri"/>
                <a:hlinkClick r:id="rId5"/>
              </a:rPr>
              <a:t>https</a:t>
            </a:r>
            <a:r>
              <a:rPr lang="en-AU" sz="2200" u="sng" dirty="0">
                <a:solidFill>
                  <a:srgbClr val="0000FF"/>
                </a:solidFill>
                <a:latin typeface="Helvetica" pitchFamily="34" charset="0"/>
                <a:ea typeface="Calibri"/>
                <a:cs typeface="Calibri"/>
                <a:hlinkClick r:id="rId5"/>
              </a:rPr>
              <a:t>://www.youtube.com/watch?v=LvrkassME74</a:t>
            </a:r>
            <a:r>
              <a:rPr lang="en-AU" sz="2200" dirty="0">
                <a:latin typeface="Helvetica" pitchFamily="34" charset="0"/>
                <a:ea typeface="Calibri"/>
                <a:cs typeface="Calibri"/>
              </a:rPr>
              <a:t> </a:t>
            </a:r>
            <a:r>
              <a:rPr lang="en-AU" sz="2200" dirty="0" smtClean="0">
                <a:latin typeface="Helvetica" pitchFamily="34" charset="0"/>
                <a:ea typeface="Calibri"/>
                <a:cs typeface="Calibri"/>
              </a:rPr>
              <a:t>              Cleaning </a:t>
            </a:r>
            <a:r>
              <a:rPr lang="en-AU" sz="2200" dirty="0">
                <a:latin typeface="Helvetica" pitchFamily="34" charset="0"/>
                <a:ea typeface="Calibri"/>
                <a:cs typeface="Calibri"/>
              </a:rPr>
              <a:t>and detailing car dash</a:t>
            </a:r>
          </a:p>
          <a:p>
            <a:pPr>
              <a:spcBef>
                <a:spcPts val="400"/>
              </a:spcBef>
              <a:spcAft>
                <a:spcPts val="800"/>
              </a:spcAft>
            </a:pPr>
            <a:r>
              <a:rPr lang="en-AU" sz="2200" u="sng" dirty="0">
                <a:solidFill>
                  <a:srgbClr val="0000FF"/>
                </a:solidFill>
                <a:latin typeface="Helvetica" pitchFamily="34" charset="0"/>
                <a:ea typeface="Calibri"/>
                <a:cs typeface="Calibri"/>
                <a:hlinkClick r:id="rId6"/>
              </a:rPr>
              <a:t>https://www.youtube.com/watch?v=S1pe5JXqN1o</a:t>
            </a:r>
            <a:r>
              <a:rPr lang="en-AU" sz="2200" dirty="0">
                <a:latin typeface="Helvetica" pitchFamily="34" charset="0"/>
                <a:ea typeface="Calibri"/>
                <a:cs typeface="Calibri"/>
              </a:rPr>
              <a:t>  </a:t>
            </a:r>
            <a:r>
              <a:rPr lang="en-AU" sz="2200" dirty="0" smtClean="0">
                <a:latin typeface="Helvetica" pitchFamily="34" charset="0"/>
                <a:ea typeface="Calibri"/>
                <a:cs typeface="Calibri"/>
              </a:rPr>
              <a:t>                 </a:t>
            </a:r>
            <a:r>
              <a:rPr lang="en-AU" sz="2200" dirty="0">
                <a:latin typeface="Helvetica" pitchFamily="34" charset="0"/>
                <a:ea typeface="Calibri"/>
                <a:cs typeface="Calibri"/>
              </a:rPr>
              <a:t>How to clean &amp; protect vinyl, rubber and plastic</a:t>
            </a:r>
          </a:p>
          <a:p>
            <a:pPr>
              <a:spcBef>
                <a:spcPts val="400"/>
              </a:spcBef>
              <a:spcAft>
                <a:spcPts val="800"/>
              </a:spcAft>
            </a:pPr>
            <a:r>
              <a:rPr lang="en-AU" sz="2200" u="sng" dirty="0">
                <a:solidFill>
                  <a:srgbClr val="0000FF"/>
                </a:solidFill>
                <a:latin typeface="Helvetica" pitchFamily="34" charset="0"/>
                <a:ea typeface="Calibri"/>
                <a:cs typeface="Calibri"/>
                <a:hlinkClick r:id="rId7"/>
              </a:rPr>
              <a:t>https://www.youtube.com/watch?v=nsBVnuOtr6U</a:t>
            </a:r>
            <a:r>
              <a:rPr lang="en-AU" sz="2200" dirty="0">
                <a:latin typeface="Helvetica" pitchFamily="34" charset="0"/>
                <a:ea typeface="Calibri"/>
                <a:cs typeface="Calibri"/>
              </a:rPr>
              <a:t> </a:t>
            </a:r>
            <a:r>
              <a:rPr lang="en-AU" sz="2200" dirty="0" smtClean="0">
                <a:latin typeface="Helvetica" pitchFamily="34" charset="0"/>
                <a:ea typeface="Calibri"/>
                <a:cs typeface="Calibri"/>
              </a:rPr>
              <a:t>               Cleaning </a:t>
            </a:r>
            <a:r>
              <a:rPr lang="en-AU" sz="2200" dirty="0">
                <a:latin typeface="Helvetica" pitchFamily="34" charset="0"/>
                <a:ea typeface="Calibri"/>
                <a:cs typeface="Calibri"/>
              </a:rPr>
              <a:t>vehicle interiors</a:t>
            </a:r>
          </a:p>
          <a:p>
            <a:pPr>
              <a:spcBef>
                <a:spcPts val="400"/>
              </a:spcBef>
              <a:spcAft>
                <a:spcPts val="800"/>
              </a:spcAft>
            </a:pPr>
            <a:r>
              <a:rPr lang="en-AU" sz="2200" u="sng" dirty="0">
                <a:solidFill>
                  <a:srgbClr val="0000FF"/>
                </a:solidFill>
                <a:latin typeface="Helvetica" pitchFamily="34" charset="0"/>
                <a:ea typeface="Calibri"/>
                <a:cs typeface="Calibri"/>
                <a:hlinkClick r:id="rId8"/>
              </a:rPr>
              <a:t>https://www.youtube.com/watch?v=qpryIxF0hiY</a:t>
            </a:r>
            <a:r>
              <a:rPr lang="en-AU" sz="2200" dirty="0">
                <a:latin typeface="Helvetica" pitchFamily="34" charset="0"/>
                <a:ea typeface="Calibri"/>
                <a:cs typeface="Calibri"/>
              </a:rPr>
              <a:t> </a:t>
            </a:r>
            <a:r>
              <a:rPr lang="en-AU" sz="2200" dirty="0" smtClean="0">
                <a:latin typeface="Helvetica" pitchFamily="34" charset="0"/>
                <a:ea typeface="Calibri"/>
                <a:cs typeface="Calibri"/>
              </a:rPr>
              <a:t>                Detailing </a:t>
            </a:r>
            <a:r>
              <a:rPr lang="en-AU" sz="2200" dirty="0">
                <a:latin typeface="Helvetica" pitchFamily="34" charset="0"/>
                <a:ea typeface="Calibri"/>
                <a:cs typeface="Calibri"/>
              </a:rPr>
              <a:t>a car auto interior cracks and </a:t>
            </a:r>
            <a:r>
              <a:rPr lang="en-AU" sz="2200" dirty="0" smtClean="0">
                <a:latin typeface="Helvetica" pitchFamily="34" charset="0"/>
                <a:ea typeface="Calibri"/>
                <a:cs typeface="Calibri"/>
              </a:rPr>
              <a:t>crevices</a:t>
            </a:r>
            <a:endParaRPr lang="en-AU" sz="2200" dirty="0">
              <a:latin typeface="Helvetica" pitchFamily="34" charset="0"/>
              <a:ea typeface="Calibri"/>
              <a:cs typeface="Calibri"/>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5285415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2.4	Conduct special checks and service after designated trips</a:t>
            </a:r>
            <a:endParaRPr lang="en-AU" dirty="0"/>
          </a:p>
        </p:txBody>
      </p:sp>
      <p:sp>
        <p:nvSpPr>
          <p:cNvPr id="3" name="Content Placeholder 2"/>
          <p:cNvSpPr>
            <a:spLocks noGrp="1"/>
          </p:cNvSpPr>
          <p:nvPr>
            <p:ph idx="1"/>
          </p:nvPr>
        </p:nvSpPr>
        <p:spPr>
          <a:xfrm>
            <a:off x="457200" y="1772816"/>
            <a:ext cx="7467600" cy="4353347"/>
          </a:xfrm>
        </p:spPr>
        <p:txBody>
          <a:bodyPr>
            <a:normAutofit/>
          </a:bodyPr>
          <a:lstStyle/>
          <a:p>
            <a:pPr marL="36576" indent="0">
              <a:spcBef>
                <a:spcPts val="400"/>
              </a:spcBef>
              <a:spcAft>
                <a:spcPts val="800"/>
              </a:spcAft>
              <a:buNone/>
            </a:pPr>
            <a:r>
              <a:rPr lang="en-AU" sz="2200" b="1" dirty="0">
                <a:latin typeface="Helvetica" pitchFamily="34" charset="0"/>
                <a:ea typeface="Calibri"/>
                <a:cs typeface="Calibri"/>
              </a:rPr>
              <a:t>External checks</a:t>
            </a:r>
            <a:endParaRPr lang="en-AU" sz="2200" dirty="0">
              <a:latin typeface="Helvetica" pitchFamily="34" charset="0"/>
              <a:ea typeface="Calibri"/>
              <a:cs typeface="Calibri"/>
            </a:endParaRPr>
          </a:p>
          <a:p>
            <a:pPr marL="420624" lvl="1" indent="-384048">
              <a:buSzPct val="80000"/>
              <a:buFont typeface="Wingdings 2"/>
              <a:buChar char=""/>
            </a:pPr>
            <a:r>
              <a:rPr lang="en-AU" sz="2200" dirty="0" smtClean="0">
                <a:latin typeface="Helvetica" pitchFamily="34" charset="0"/>
                <a:ea typeface="Times New Roman"/>
                <a:cs typeface="Times New Roman"/>
              </a:rPr>
              <a:t>Using </a:t>
            </a:r>
            <a:r>
              <a:rPr lang="en-AU" sz="2200" dirty="0">
                <a:latin typeface="Helvetica" pitchFamily="34" charset="0"/>
                <a:ea typeface="Times New Roman"/>
                <a:cs typeface="Times New Roman"/>
              </a:rPr>
              <a:t>a pressure washer </a:t>
            </a:r>
          </a:p>
          <a:p>
            <a:pPr marL="457200" indent="-228600">
              <a:spcBef>
                <a:spcPts val="300"/>
              </a:spcBef>
              <a:spcAft>
                <a:spcPts val="600"/>
              </a:spcAft>
            </a:pPr>
            <a:r>
              <a:rPr lang="en-AU" sz="2200" u="sng" dirty="0">
                <a:solidFill>
                  <a:srgbClr val="0000FF"/>
                </a:solidFill>
                <a:latin typeface="Helvetica" pitchFamily="34" charset="0"/>
                <a:ea typeface="Calibri"/>
                <a:cs typeface="Times New Roman"/>
                <a:hlinkClick r:id="rId3"/>
              </a:rPr>
              <a:t>https://www.youtube.com/watch?v=kRQ3QilQtJA</a:t>
            </a:r>
            <a:r>
              <a:rPr lang="en-AU" sz="2200" dirty="0">
                <a:latin typeface="Helvetica" pitchFamily="34" charset="0"/>
                <a:ea typeface="Calibri"/>
                <a:cs typeface="Times New Roman"/>
              </a:rPr>
              <a:t> – Pressure washer basics</a:t>
            </a:r>
          </a:p>
          <a:p>
            <a:pPr marL="457200" indent="-228600">
              <a:spcBef>
                <a:spcPts val="300"/>
              </a:spcBef>
              <a:spcAft>
                <a:spcPts val="600"/>
              </a:spcAft>
            </a:pPr>
            <a:r>
              <a:rPr lang="en-AU" sz="2200" u="sng" dirty="0">
                <a:solidFill>
                  <a:srgbClr val="0000FF"/>
                </a:solidFill>
                <a:latin typeface="Helvetica" pitchFamily="34" charset="0"/>
                <a:ea typeface="Calibri"/>
                <a:cs typeface="Times New Roman"/>
                <a:hlinkClick r:id="rId4"/>
              </a:rPr>
              <a:t>https://www.youtube.com/watch?v=ONm0DL5koRg</a:t>
            </a:r>
            <a:r>
              <a:rPr lang="en-AU" sz="2200" dirty="0">
                <a:latin typeface="Helvetica" pitchFamily="34" charset="0"/>
                <a:ea typeface="Calibri"/>
                <a:cs typeface="Times New Roman"/>
              </a:rPr>
              <a:t> – How to wash a car </a:t>
            </a:r>
            <a:r>
              <a:rPr lang="en-AU" sz="2200" dirty="0" smtClean="0">
                <a:latin typeface="Helvetica" pitchFamily="34" charset="0"/>
                <a:ea typeface="Calibri"/>
                <a:cs typeface="Times New Roman"/>
              </a:rPr>
              <a:t>engine</a:t>
            </a:r>
            <a:endParaRPr lang="en-AU" sz="2200" dirty="0">
              <a:latin typeface="Helvetica" pitchFamily="34" charset="0"/>
              <a:ea typeface="Calibri"/>
              <a:cs typeface="Times New Roman"/>
            </a:endParaRPr>
          </a:p>
          <a:p>
            <a:pPr lvl="1"/>
            <a:endParaRPr lang="en-AU" sz="2200" dirty="0"/>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9792" y="4293096"/>
            <a:ext cx="2037214" cy="1629771"/>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9759028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2.4	Conduct special checks and service after designated trips</a:t>
            </a:r>
            <a:endParaRPr lang="en-AU" dirty="0"/>
          </a:p>
        </p:txBody>
      </p:sp>
      <p:sp>
        <p:nvSpPr>
          <p:cNvPr id="3" name="Content Placeholder 2"/>
          <p:cNvSpPr>
            <a:spLocks noGrp="1"/>
          </p:cNvSpPr>
          <p:nvPr>
            <p:ph idx="1"/>
          </p:nvPr>
        </p:nvSpPr>
        <p:spPr>
          <a:xfrm>
            <a:off x="457200" y="1600200"/>
            <a:ext cx="7643192" cy="4997152"/>
          </a:xfrm>
        </p:spPr>
        <p:txBody>
          <a:bodyPr>
            <a:normAutofit/>
          </a:bodyPr>
          <a:lstStyle/>
          <a:p>
            <a:pPr marL="36576" indent="0">
              <a:spcBef>
                <a:spcPts val="600"/>
              </a:spcBef>
              <a:spcAft>
                <a:spcPts val="600"/>
              </a:spcAft>
              <a:buNone/>
            </a:pPr>
            <a:r>
              <a:rPr lang="en-AU" sz="1800" b="1" dirty="0">
                <a:latin typeface="Helvetica" pitchFamily="34" charset="0"/>
                <a:ea typeface="Calibri"/>
                <a:cs typeface="Calibri"/>
              </a:rPr>
              <a:t>External checks</a:t>
            </a:r>
            <a:endParaRPr lang="en-AU" sz="1800" dirty="0">
              <a:latin typeface="Helvetica" pitchFamily="34" charset="0"/>
              <a:ea typeface="Calibri"/>
              <a:cs typeface="Calibri"/>
            </a:endParaRPr>
          </a:p>
          <a:p>
            <a:pPr>
              <a:spcBef>
                <a:spcPts val="600"/>
              </a:spcBef>
              <a:spcAft>
                <a:spcPts val="600"/>
              </a:spcAft>
            </a:pPr>
            <a:r>
              <a:rPr lang="en-AU" sz="1800" dirty="0"/>
              <a:t>Cleaning the outside windows and mirrors </a:t>
            </a:r>
            <a:endParaRPr lang="en-AU" sz="1800" dirty="0" smtClean="0"/>
          </a:p>
          <a:p>
            <a:pPr>
              <a:spcBef>
                <a:spcPts val="600"/>
              </a:spcBef>
              <a:spcAft>
                <a:spcPts val="600"/>
              </a:spcAft>
            </a:pPr>
            <a:r>
              <a:rPr lang="en-AU" sz="1800" u="sng" dirty="0">
                <a:latin typeface="Helvetica" pitchFamily="34" charset="0"/>
                <a:hlinkClick r:id="rId3"/>
              </a:rPr>
              <a:t>https://www.youtube.com/watch?v=Ob-hN0LZbbQ</a:t>
            </a:r>
            <a:r>
              <a:rPr lang="en-AU" sz="1800" dirty="0">
                <a:latin typeface="Helvetica" pitchFamily="34" charset="0"/>
              </a:rPr>
              <a:t> – Cleaning auto glass</a:t>
            </a:r>
          </a:p>
          <a:p>
            <a:pPr>
              <a:spcBef>
                <a:spcPts val="600"/>
              </a:spcBef>
              <a:spcAft>
                <a:spcPts val="600"/>
              </a:spcAft>
            </a:pPr>
            <a:r>
              <a:rPr lang="en-AU" sz="1800" u="sng" dirty="0">
                <a:latin typeface="Helvetica" pitchFamily="34" charset="0"/>
                <a:hlinkClick r:id="rId4"/>
              </a:rPr>
              <a:t>http://www.supercheapauto.com.au/how-to/Car-Cleaning/Cleaning-Windscreen-and-Windows.aspx?id=100</a:t>
            </a:r>
            <a:r>
              <a:rPr lang="en-AU" sz="1800" dirty="0">
                <a:latin typeface="Helvetica" pitchFamily="34" charset="0"/>
              </a:rPr>
              <a:t> – Cleaning windscreen and windows</a:t>
            </a:r>
          </a:p>
          <a:p>
            <a:pPr>
              <a:spcBef>
                <a:spcPts val="600"/>
              </a:spcBef>
              <a:spcAft>
                <a:spcPts val="600"/>
              </a:spcAft>
            </a:pPr>
            <a:r>
              <a:rPr lang="en-AU" sz="1800" u="sng" dirty="0">
                <a:latin typeface="Helvetica" pitchFamily="34" charset="0"/>
                <a:hlinkClick r:id="rId5"/>
              </a:rPr>
              <a:t>https://www.youtube.com/watch?v=D05vX-G9iV4</a:t>
            </a:r>
            <a:r>
              <a:rPr lang="en-AU" sz="1800" dirty="0">
                <a:latin typeface="Helvetica" pitchFamily="34" charset="0"/>
              </a:rPr>
              <a:t> – How to </a:t>
            </a:r>
            <a:r>
              <a:rPr lang="en-AU" sz="1800" dirty="0" smtClean="0">
                <a:latin typeface="Helvetica" pitchFamily="34" charset="0"/>
              </a:rPr>
              <a:t>super clean </a:t>
            </a:r>
            <a:r>
              <a:rPr lang="en-AU" sz="1800" dirty="0">
                <a:latin typeface="Helvetica" pitchFamily="34" charset="0"/>
              </a:rPr>
              <a:t>your windshield</a:t>
            </a:r>
          </a:p>
          <a:p>
            <a:pPr>
              <a:spcBef>
                <a:spcPts val="600"/>
              </a:spcBef>
              <a:spcAft>
                <a:spcPts val="600"/>
              </a:spcAft>
            </a:pPr>
            <a:r>
              <a:rPr lang="en-AU" sz="1800" u="sng" dirty="0">
                <a:latin typeface="Helvetica" pitchFamily="34" charset="0"/>
                <a:hlinkClick r:id="rId6"/>
              </a:rPr>
              <a:t>https://www.youtube.com/watch?v=m2B57fxQSP4</a:t>
            </a:r>
            <a:r>
              <a:rPr lang="en-AU" sz="1800" dirty="0">
                <a:latin typeface="Helvetica" pitchFamily="34" charset="0"/>
              </a:rPr>
              <a:t> – RainX windshield rain repellent test and </a:t>
            </a:r>
            <a:r>
              <a:rPr lang="en-AU" sz="1800" dirty="0" smtClean="0">
                <a:latin typeface="Helvetica" pitchFamily="34" charset="0"/>
              </a:rPr>
              <a:t>review</a:t>
            </a:r>
          </a:p>
          <a:p>
            <a:pPr>
              <a:spcBef>
                <a:spcPts val="600"/>
              </a:spcBef>
              <a:spcAft>
                <a:spcPts val="600"/>
              </a:spcAft>
            </a:pPr>
            <a:r>
              <a:rPr lang="en-AU" sz="1800" dirty="0"/>
              <a:t>Polishing chrome and </a:t>
            </a:r>
            <a:r>
              <a:rPr lang="en-AU" sz="1800" dirty="0" smtClean="0"/>
              <a:t>fittings</a:t>
            </a:r>
          </a:p>
          <a:p>
            <a:pPr>
              <a:spcBef>
                <a:spcPts val="600"/>
              </a:spcBef>
              <a:spcAft>
                <a:spcPts val="600"/>
              </a:spcAft>
            </a:pPr>
            <a:r>
              <a:rPr lang="en-AU" sz="1800" dirty="0" smtClean="0"/>
              <a:t> </a:t>
            </a:r>
            <a:r>
              <a:rPr lang="en-AU" sz="1800" dirty="0"/>
              <a:t>Applying tyre black </a:t>
            </a:r>
            <a:endParaRPr lang="en-AU" sz="1800" dirty="0">
              <a:latin typeface="Helvetica" pitchFamily="34" charset="0"/>
            </a:endParaRPr>
          </a:p>
          <a:p>
            <a:pPr>
              <a:spcBef>
                <a:spcPts val="600"/>
              </a:spcBef>
              <a:spcAft>
                <a:spcPts val="600"/>
              </a:spcAft>
            </a:pPr>
            <a:endParaRPr lang="en-AU" sz="18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3575581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85800"/>
            <a:ext cx="7467600" cy="1143000"/>
          </a:xfrm>
        </p:spPr>
        <p:txBody>
          <a:bodyPr>
            <a:normAutofit fontScale="90000"/>
          </a:bodyPr>
          <a:lstStyle/>
          <a:p>
            <a:pPr marL="900113" indent="-900113"/>
            <a:r>
              <a:rPr lang="en-AU" sz="3400" b="1" dirty="0" smtClean="0">
                <a:solidFill>
                  <a:srgbClr val="FF6600"/>
                </a:solidFill>
                <a:latin typeface="Helvetica" pitchFamily="34" charset="0"/>
              </a:rPr>
              <a:t>2.5	Check </a:t>
            </a:r>
            <a:r>
              <a:rPr lang="en-AU" sz="3400" b="1" dirty="0">
                <a:solidFill>
                  <a:srgbClr val="FF6600"/>
                </a:solidFill>
                <a:latin typeface="Helvetica" pitchFamily="34" charset="0"/>
              </a:rPr>
              <a:t>performance and efficiency of vehicle during operation</a:t>
            </a:r>
          </a:p>
        </p:txBody>
      </p:sp>
      <p:sp>
        <p:nvSpPr>
          <p:cNvPr id="3" name="Content Placeholder 2"/>
          <p:cNvSpPr>
            <a:spLocks noGrp="1"/>
          </p:cNvSpPr>
          <p:nvPr>
            <p:ph idx="1"/>
          </p:nvPr>
        </p:nvSpPr>
        <p:spPr>
          <a:xfrm>
            <a:off x="611560" y="1916832"/>
            <a:ext cx="7467600" cy="4165923"/>
          </a:xfrm>
        </p:spPr>
        <p:txBody>
          <a:bodyPr>
            <a:normAutofit/>
          </a:bodyPr>
          <a:lstStyle/>
          <a:p>
            <a:pPr marL="36576" indent="0">
              <a:spcBef>
                <a:spcPts val="600"/>
              </a:spcBef>
              <a:spcAft>
                <a:spcPts val="1200"/>
              </a:spcAft>
              <a:buNone/>
            </a:pPr>
            <a:r>
              <a:rPr lang="en-AU" sz="2200" dirty="0">
                <a:latin typeface="Helvetica" pitchFamily="34" charset="0"/>
              </a:rPr>
              <a:t>A standard requirement for </a:t>
            </a:r>
            <a:r>
              <a:rPr lang="en-AU" sz="2200" dirty="0" smtClean="0">
                <a:latin typeface="Helvetica" pitchFamily="34" charset="0"/>
              </a:rPr>
              <a:t>vehicle drivers </a:t>
            </a:r>
            <a:r>
              <a:rPr lang="en-AU" sz="2200" dirty="0">
                <a:latin typeface="Helvetica" pitchFamily="34" charset="0"/>
              </a:rPr>
              <a:t>is the need for them to monitor the performance and efficiency of the vehicles they </a:t>
            </a:r>
            <a:r>
              <a:rPr lang="en-AU" sz="2200" dirty="0" smtClean="0">
                <a:latin typeface="Helvetica" pitchFamily="34" charset="0"/>
              </a:rPr>
              <a:t>drive</a:t>
            </a:r>
            <a:r>
              <a:rPr lang="en-AU" sz="2200" dirty="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Ways </a:t>
            </a:r>
            <a:r>
              <a:rPr lang="en-AU" sz="2200" dirty="0">
                <a:latin typeface="Helvetica" pitchFamily="34" charset="0"/>
              </a:rPr>
              <a:t>to monitor vehicle performance and </a:t>
            </a:r>
            <a:r>
              <a:rPr lang="en-AU" sz="2200" dirty="0" smtClean="0">
                <a:latin typeface="Helvetica" pitchFamily="34" charset="0"/>
              </a:rPr>
              <a:t>efficiency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31</a:t>
            </a:fld>
            <a:endParaRPr lang="en-US" dirty="0">
              <a:solidFill>
                <a:srgbClr val="4E5B6F">
                  <a:shade val="50000"/>
                </a:srgbClr>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9792" y="3789040"/>
            <a:ext cx="2759968" cy="2069976"/>
          </a:xfrm>
          <a:prstGeom prst="rect">
            <a:avLst/>
          </a:prstGeom>
        </p:spPr>
      </p:pic>
    </p:spTree>
    <p:extLst>
      <p:ext uri="{BB962C8B-B14F-4D97-AF65-F5344CB8AC3E}">
        <p14:creationId xmlns:p14="http://schemas.microsoft.com/office/powerpoint/2010/main" val="11591359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87208" cy="1143000"/>
          </a:xfrm>
        </p:spPr>
        <p:txBody>
          <a:bodyPr>
            <a:normAutofit/>
          </a:bodyPr>
          <a:lstStyle/>
          <a:p>
            <a:pPr marL="900113" indent="-900113"/>
            <a:r>
              <a:rPr lang="en-AU" sz="3200" b="1" dirty="0" smtClean="0">
                <a:solidFill>
                  <a:srgbClr val="FF6600"/>
                </a:solidFill>
                <a:latin typeface="Helvetica" pitchFamily="34" charset="0"/>
              </a:rPr>
              <a:t>2.5	Check </a:t>
            </a:r>
            <a:r>
              <a:rPr lang="en-AU" sz="3200" b="1" dirty="0">
                <a:solidFill>
                  <a:srgbClr val="FF6600"/>
                </a:solidFill>
                <a:latin typeface="Helvetica" pitchFamily="34" charset="0"/>
              </a:rPr>
              <a:t>performance and efficiency of vehicle during operation</a:t>
            </a:r>
            <a:endParaRPr lang="en-AU" sz="3200" dirty="0"/>
          </a:p>
        </p:txBody>
      </p:sp>
      <p:sp>
        <p:nvSpPr>
          <p:cNvPr id="3" name="Content Placeholder 2"/>
          <p:cNvSpPr>
            <a:spLocks noGrp="1"/>
          </p:cNvSpPr>
          <p:nvPr>
            <p:ph idx="1"/>
          </p:nvPr>
        </p:nvSpPr>
        <p:spPr>
          <a:xfrm>
            <a:off x="457200" y="1628800"/>
            <a:ext cx="7571184" cy="4968552"/>
          </a:xfrm>
        </p:spPr>
        <p:txBody>
          <a:bodyPr>
            <a:normAutofit/>
          </a:bodyPr>
          <a:lstStyle/>
          <a:p>
            <a:pPr marL="36576" indent="0">
              <a:spcBef>
                <a:spcPts val="600"/>
              </a:spcBef>
              <a:spcAft>
                <a:spcPts val="600"/>
              </a:spcAft>
              <a:buNone/>
            </a:pPr>
            <a:r>
              <a:rPr lang="en-AU" sz="1800" b="1" dirty="0">
                <a:latin typeface="Helvetica" pitchFamily="34" charset="0"/>
              </a:rPr>
              <a:t>Calculating fuel </a:t>
            </a:r>
            <a:r>
              <a:rPr lang="en-AU" sz="1800" b="1" dirty="0" smtClean="0">
                <a:latin typeface="Helvetica" pitchFamily="34" charset="0"/>
              </a:rPr>
              <a:t>consumption</a:t>
            </a:r>
            <a:endParaRPr lang="en-AU" sz="1800" dirty="0">
              <a:latin typeface="Helvetica" pitchFamily="34" charset="0"/>
            </a:endParaRPr>
          </a:p>
          <a:p>
            <a:pPr marL="355600" indent="-355600">
              <a:spcBef>
                <a:spcPts val="600"/>
              </a:spcBef>
              <a:spcAft>
                <a:spcPts val="600"/>
              </a:spcAft>
            </a:pPr>
            <a:r>
              <a:rPr lang="en-AU" sz="1800" dirty="0" smtClean="0">
                <a:latin typeface="Helvetica" pitchFamily="34" charset="0"/>
              </a:rPr>
              <a:t>To </a:t>
            </a:r>
            <a:r>
              <a:rPr lang="en-AU" sz="1800" dirty="0">
                <a:latin typeface="Helvetica" pitchFamily="34" charset="0"/>
              </a:rPr>
              <a:t>calculate fuel consumption (in terms of kilometres per litre) simply divide distance travelled by fuel used.</a:t>
            </a:r>
          </a:p>
          <a:p>
            <a:pPr marL="350838" indent="0">
              <a:spcBef>
                <a:spcPts val="600"/>
              </a:spcBef>
              <a:spcAft>
                <a:spcPts val="600"/>
              </a:spcAft>
              <a:buNone/>
            </a:pPr>
            <a:r>
              <a:rPr lang="en-AU" sz="1800" dirty="0">
                <a:latin typeface="Helvetica" pitchFamily="34" charset="0"/>
              </a:rPr>
              <a:t>For example:</a:t>
            </a:r>
          </a:p>
          <a:p>
            <a:pPr lvl="1">
              <a:spcBef>
                <a:spcPts val="600"/>
              </a:spcBef>
              <a:spcAft>
                <a:spcPts val="600"/>
              </a:spcAft>
            </a:pPr>
            <a:r>
              <a:rPr lang="en-AU" sz="1800" dirty="0">
                <a:latin typeface="Helvetica" pitchFamily="34" charset="0"/>
              </a:rPr>
              <a:t>Distance </a:t>
            </a:r>
            <a:r>
              <a:rPr lang="en-AU" sz="1800" dirty="0" smtClean="0">
                <a:latin typeface="Helvetica" pitchFamily="34" charset="0"/>
              </a:rPr>
              <a:t>travelled </a:t>
            </a:r>
            <a:r>
              <a:rPr lang="en-AU" sz="1800" dirty="0">
                <a:latin typeface="Helvetica" pitchFamily="34" charset="0"/>
              </a:rPr>
              <a:t>= 875 kilometres</a:t>
            </a:r>
          </a:p>
          <a:p>
            <a:pPr lvl="1">
              <a:spcBef>
                <a:spcPts val="600"/>
              </a:spcBef>
              <a:spcAft>
                <a:spcPts val="600"/>
              </a:spcAft>
            </a:pPr>
            <a:r>
              <a:rPr lang="en-AU" sz="1800" dirty="0">
                <a:latin typeface="Helvetica" pitchFamily="34" charset="0"/>
              </a:rPr>
              <a:t>Fuel used = 294 litres</a:t>
            </a:r>
          </a:p>
          <a:p>
            <a:pPr lvl="1">
              <a:spcBef>
                <a:spcPts val="600"/>
              </a:spcBef>
              <a:spcAft>
                <a:spcPts val="600"/>
              </a:spcAft>
            </a:pPr>
            <a:r>
              <a:rPr lang="en-AU" sz="1800" dirty="0">
                <a:latin typeface="Helvetica" pitchFamily="34" charset="0"/>
              </a:rPr>
              <a:t>875 ÷ 294 = 2.98 </a:t>
            </a:r>
            <a:r>
              <a:rPr lang="en-AU" sz="1800" dirty="0" smtClean="0">
                <a:latin typeface="Helvetica" pitchFamily="34" charset="0"/>
              </a:rPr>
              <a:t>km/L</a:t>
            </a:r>
            <a:endParaRPr lang="en-AU" sz="1800" dirty="0">
              <a:latin typeface="Helvetica" pitchFamily="34" charset="0"/>
            </a:endParaRPr>
          </a:p>
          <a:p>
            <a:pPr marL="355600" indent="-355600">
              <a:spcBef>
                <a:spcPts val="600"/>
              </a:spcBef>
              <a:spcAft>
                <a:spcPts val="600"/>
              </a:spcAft>
            </a:pPr>
            <a:r>
              <a:rPr lang="en-AU" sz="1800" u="sng" dirty="0">
                <a:latin typeface="Helvetica" pitchFamily="34" charset="0"/>
                <a:hlinkClick r:id="rId3"/>
              </a:rPr>
              <a:t>https://motormouth.com.au/myvehicle/consumptioncalculator.aspx</a:t>
            </a:r>
            <a:endParaRPr lang="en-AU" sz="1800" dirty="0">
              <a:latin typeface="Helvetica" pitchFamily="34" charset="0"/>
            </a:endParaRPr>
          </a:p>
          <a:p>
            <a:pPr marL="355600" indent="-355600">
              <a:spcBef>
                <a:spcPts val="600"/>
              </a:spcBef>
              <a:spcAft>
                <a:spcPts val="600"/>
              </a:spcAft>
            </a:pPr>
            <a:r>
              <a:rPr lang="en-AU" sz="1800" u="sng" dirty="0">
                <a:latin typeface="Helvetica" pitchFamily="34" charset="0"/>
                <a:hlinkClick r:id="rId4"/>
              </a:rPr>
              <a:t>http://calculator-converter.com/l_100km_calculate_l_100_km_fuel_efficiency_consumption_economy_calculator.php</a:t>
            </a:r>
            <a:endParaRPr lang="en-AU" sz="1800" dirty="0">
              <a:latin typeface="Helvetica"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3098475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3" name="Content Placeholder 2"/>
          <p:cNvSpPr>
            <a:spLocks noGrp="1"/>
          </p:cNvSpPr>
          <p:nvPr>
            <p:ph idx="1"/>
          </p:nvPr>
        </p:nvSpPr>
        <p:spPr>
          <a:xfrm>
            <a:off x="611560" y="1484784"/>
            <a:ext cx="7776864" cy="5112568"/>
          </a:xfrm>
        </p:spPr>
        <p:txBody>
          <a:bodyPr>
            <a:normAutofit/>
          </a:bodyPr>
          <a:lstStyle/>
          <a:p>
            <a:pPr marL="36576" indent="0">
              <a:lnSpc>
                <a:spcPct val="150000"/>
              </a:lnSpc>
              <a:buNone/>
            </a:pPr>
            <a:r>
              <a:rPr lang="en-AU" sz="2200" b="1" dirty="0" smtClean="0">
                <a:latin typeface="Helvetica" pitchFamily="34" charset="0"/>
              </a:rPr>
              <a:t>Important </a:t>
            </a:r>
            <a:r>
              <a:rPr lang="en-AU" sz="2200" b="1" dirty="0">
                <a:latin typeface="Helvetica" pitchFamily="34" charset="0"/>
              </a:rPr>
              <a:t>notes</a:t>
            </a:r>
          </a:p>
          <a:p>
            <a:pPr lvl="0">
              <a:lnSpc>
                <a:spcPct val="150000"/>
              </a:lnSpc>
            </a:pPr>
            <a:r>
              <a:rPr lang="en-AU" sz="2200" dirty="0" smtClean="0">
                <a:latin typeface="Helvetica" pitchFamily="34" charset="0"/>
              </a:rPr>
              <a:t>Performing </a:t>
            </a:r>
            <a:r>
              <a:rPr lang="en-AU" sz="2200" dirty="0">
                <a:latin typeface="Helvetica" pitchFamily="34" charset="0"/>
              </a:rPr>
              <a:t>repairs to vehicles which are still under warranty can void the </a:t>
            </a:r>
            <a:r>
              <a:rPr lang="en-AU" sz="2200" dirty="0" smtClean="0">
                <a:latin typeface="Helvetica" pitchFamily="34" charset="0"/>
              </a:rPr>
              <a:t>warranty</a:t>
            </a:r>
          </a:p>
          <a:p>
            <a:pPr lvl="0">
              <a:lnSpc>
                <a:spcPct val="150000"/>
              </a:lnSpc>
            </a:pPr>
            <a:r>
              <a:rPr lang="en-AU" sz="2200" dirty="0" smtClean="0">
                <a:latin typeface="Helvetica" pitchFamily="34" charset="0"/>
              </a:rPr>
              <a:t>The </a:t>
            </a:r>
            <a:r>
              <a:rPr lang="en-AU" sz="2200" dirty="0">
                <a:latin typeface="Helvetica" pitchFamily="34" charset="0"/>
              </a:rPr>
              <a:t>actual work required may differ between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makes </a:t>
            </a:r>
            <a:r>
              <a:rPr lang="en-AU" sz="2200" dirty="0">
                <a:latin typeface="Helvetica" pitchFamily="34" charset="0"/>
              </a:rPr>
              <a:t>and models of </a:t>
            </a:r>
            <a:r>
              <a:rPr lang="en-AU" sz="2200" dirty="0" smtClean="0">
                <a:latin typeface="Helvetica" pitchFamily="34" charset="0"/>
              </a:rPr>
              <a:t>vehicles</a:t>
            </a:r>
          </a:p>
          <a:p>
            <a:pPr lvl="0">
              <a:lnSpc>
                <a:spcPct val="150000"/>
              </a:lnSpc>
            </a:pPr>
            <a:r>
              <a:rPr lang="en-AU" sz="2200" dirty="0" smtClean="0">
                <a:latin typeface="Helvetica" pitchFamily="34" charset="0"/>
              </a:rPr>
              <a:t>Always </a:t>
            </a:r>
            <a:r>
              <a:rPr lang="en-AU" sz="2200" dirty="0">
                <a:latin typeface="Helvetica" pitchFamily="34" charset="0"/>
              </a:rPr>
              <a:t>read Owner’s manual </a:t>
            </a:r>
            <a:r>
              <a:rPr lang="en-AU" sz="2200" dirty="0" smtClean="0">
                <a:latin typeface="Helvetica" pitchFamily="34" charset="0"/>
              </a:rPr>
              <a:t>or Workshop </a:t>
            </a:r>
            <a:r>
              <a:rPr lang="en-AU" sz="2200" dirty="0">
                <a:latin typeface="Helvetica" pitchFamily="34" charset="0"/>
              </a:rPr>
              <a:t>manual </a:t>
            </a:r>
            <a:endParaRPr lang="en-AU" sz="2200" dirty="0" smtClean="0">
              <a:latin typeface="Helvetica" pitchFamily="34" charset="0"/>
            </a:endParaRPr>
          </a:p>
          <a:p>
            <a:pPr lvl="0">
              <a:lnSpc>
                <a:spcPct val="150000"/>
              </a:lnSpc>
            </a:pPr>
            <a:r>
              <a:rPr lang="en-AU" sz="2200" dirty="0" smtClean="0">
                <a:latin typeface="Helvetica" pitchFamily="34" charset="0"/>
              </a:rPr>
              <a:t>Obtain </a:t>
            </a:r>
            <a:r>
              <a:rPr lang="en-AU" sz="2200" dirty="0">
                <a:latin typeface="Helvetica" pitchFamily="34" charset="0"/>
              </a:rPr>
              <a:t>the right parts before starting the </a:t>
            </a:r>
            <a:r>
              <a:rPr lang="en-AU" sz="2200" dirty="0" smtClean="0">
                <a:latin typeface="Helvetica" pitchFamily="34" charset="0"/>
              </a:rPr>
              <a:t>job</a:t>
            </a:r>
          </a:p>
          <a:p>
            <a:pPr lvl="0">
              <a:lnSpc>
                <a:spcPct val="150000"/>
              </a:lnSpc>
            </a:pPr>
            <a:r>
              <a:rPr lang="en-AU" sz="2200" dirty="0" smtClean="0">
                <a:latin typeface="Helvetica" pitchFamily="34" charset="0"/>
              </a:rPr>
              <a:t>…continued in TM</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33</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4288" y="2636912"/>
            <a:ext cx="916682" cy="1666695"/>
          </a:xfrm>
          <a:prstGeom prst="rect">
            <a:avLst/>
          </a:prstGeom>
        </p:spPr>
      </p:pic>
    </p:spTree>
    <p:extLst>
      <p:ext uri="{BB962C8B-B14F-4D97-AF65-F5344CB8AC3E}">
        <p14:creationId xmlns:p14="http://schemas.microsoft.com/office/powerpoint/2010/main" val="9783354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7859216" cy="5400600"/>
          </a:xfrm>
        </p:spPr>
        <p:txBody>
          <a:bodyPr>
            <a:noAutofit/>
          </a:bodyPr>
          <a:lstStyle/>
          <a:p>
            <a:pPr marL="36576" indent="0">
              <a:spcBef>
                <a:spcPts val="600"/>
              </a:spcBef>
              <a:spcAft>
                <a:spcPts val="600"/>
              </a:spcAft>
              <a:buNone/>
            </a:pPr>
            <a:r>
              <a:rPr lang="en-AU" sz="1700" b="1" dirty="0">
                <a:latin typeface="Helvetica" pitchFamily="34" charset="0"/>
              </a:rPr>
              <a:t>Replacing blown </a:t>
            </a:r>
            <a:r>
              <a:rPr lang="en-AU" sz="1700" b="1" dirty="0" smtClean="0">
                <a:latin typeface="Helvetica" pitchFamily="34" charset="0"/>
              </a:rPr>
              <a:t>globes</a:t>
            </a:r>
          </a:p>
          <a:p>
            <a:pPr marL="36576" indent="0">
              <a:spcBef>
                <a:spcPts val="600"/>
              </a:spcBef>
              <a:spcAft>
                <a:spcPts val="600"/>
              </a:spcAft>
              <a:buNone/>
            </a:pPr>
            <a:r>
              <a:rPr lang="en-AU" sz="1700" b="1" dirty="0" smtClean="0">
                <a:latin typeface="Helvetica" pitchFamily="34" charset="0"/>
              </a:rPr>
              <a:t> </a:t>
            </a:r>
            <a:r>
              <a:rPr lang="en-AU" sz="1700" u="sng" dirty="0" smtClean="0">
                <a:latin typeface="Helvetica" pitchFamily="34" charset="0"/>
                <a:hlinkClick r:id="rId3"/>
              </a:rPr>
              <a:t>http</a:t>
            </a:r>
            <a:r>
              <a:rPr lang="en-AU" sz="1700" u="sng" dirty="0">
                <a:latin typeface="Helvetica" pitchFamily="34" charset="0"/>
                <a:hlinkClick r:id="rId3"/>
              </a:rPr>
              <a:t>://www.supercheapauto.com.au/how-to/Outside-the-Car/Checking-and-Changing-an-Automotive-Light-Globe.aspx?id=79</a:t>
            </a:r>
            <a:r>
              <a:rPr lang="en-AU" sz="1700" dirty="0">
                <a:latin typeface="Helvetica" pitchFamily="34" charset="0"/>
              </a:rPr>
              <a:t> – Checking and changing an automotive light globe</a:t>
            </a:r>
          </a:p>
          <a:p>
            <a:pPr>
              <a:spcBef>
                <a:spcPts val="600"/>
              </a:spcBef>
              <a:spcAft>
                <a:spcPts val="600"/>
              </a:spcAft>
            </a:pPr>
            <a:r>
              <a:rPr lang="en-AU" sz="1700" u="sng" dirty="0">
                <a:latin typeface="Helvetica" pitchFamily="34" charset="0"/>
                <a:hlinkClick r:id="rId4"/>
              </a:rPr>
              <a:t>https://www.youtube.com/watch?v=6hURsa46t4M</a:t>
            </a:r>
            <a:r>
              <a:rPr lang="en-AU" sz="1700" dirty="0">
                <a:latin typeface="Helvetica" pitchFamily="34" charset="0"/>
              </a:rPr>
              <a:t> – How to change a headlight bulb </a:t>
            </a:r>
          </a:p>
          <a:p>
            <a:pPr>
              <a:spcBef>
                <a:spcPts val="600"/>
              </a:spcBef>
              <a:spcAft>
                <a:spcPts val="600"/>
              </a:spcAft>
            </a:pPr>
            <a:r>
              <a:rPr lang="en-AU" sz="1700" u="sng" dirty="0">
                <a:latin typeface="Helvetica" pitchFamily="34" charset="0"/>
                <a:hlinkClick r:id="rId5"/>
              </a:rPr>
              <a:t>https://</a:t>
            </a:r>
            <a:r>
              <a:rPr lang="en-AU" sz="1700" u="sng" dirty="0" smtClean="0">
                <a:latin typeface="Helvetica" pitchFamily="34" charset="0"/>
                <a:hlinkClick r:id="rId5"/>
              </a:rPr>
              <a:t>www.youtube.com/watch?v=jk1kFc56dwk</a:t>
            </a:r>
            <a:r>
              <a:rPr lang="en-AU" sz="1700" dirty="0">
                <a:latin typeface="Helvetica" pitchFamily="34" charset="0"/>
              </a:rPr>
              <a:t> </a:t>
            </a:r>
            <a:r>
              <a:rPr lang="en-AU" sz="1700" dirty="0" smtClean="0">
                <a:latin typeface="Helvetica" pitchFamily="34" charset="0"/>
              </a:rPr>
              <a:t>– </a:t>
            </a:r>
            <a:r>
              <a:rPr lang="en-AU" sz="1700" dirty="0">
                <a:latin typeface="Helvetica" pitchFamily="34" charset="0"/>
              </a:rPr>
              <a:t>How to replace headlight bulbs</a:t>
            </a:r>
          </a:p>
          <a:p>
            <a:pPr>
              <a:spcBef>
                <a:spcPts val="600"/>
              </a:spcBef>
              <a:spcAft>
                <a:spcPts val="600"/>
              </a:spcAft>
            </a:pPr>
            <a:r>
              <a:rPr lang="en-AU" sz="1700" u="sng" dirty="0">
                <a:latin typeface="Helvetica" pitchFamily="34" charset="0"/>
                <a:hlinkClick r:id="rId6"/>
              </a:rPr>
              <a:t>https://www.youtube.com/watch?v=cB99QN1AYBU</a:t>
            </a:r>
            <a:r>
              <a:rPr lang="en-AU" sz="1700" dirty="0">
                <a:latin typeface="Helvetica" pitchFamily="34" charset="0"/>
              </a:rPr>
              <a:t> – How to install replace front lower side reflector</a:t>
            </a:r>
          </a:p>
          <a:p>
            <a:pPr>
              <a:spcBef>
                <a:spcPts val="600"/>
              </a:spcBef>
              <a:spcAft>
                <a:spcPts val="600"/>
              </a:spcAft>
            </a:pPr>
            <a:r>
              <a:rPr lang="en-AU" sz="1700" u="sng" dirty="0">
                <a:latin typeface="Helvetica" pitchFamily="34" charset="0"/>
                <a:hlinkClick r:id="rId7"/>
              </a:rPr>
              <a:t>https://</a:t>
            </a:r>
            <a:r>
              <a:rPr lang="en-AU" sz="1700" u="sng" dirty="0" smtClean="0">
                <a:latin typeface="Helvetica" pitchFamily="34" charset="0"/>
                <a:hlinkClick r:id="rId7"/>
              </a:rPr>
              <a:t>www.youtube.com/watch?v=mgGWFqPe0Ms</a:t>
            </a:r>
            <a:r>
              <a:rPr lang="en-AU" sz="1700" dirty="0" smtClean="0">
                <a:latin typeface="Helvetica" pitchFamily="34" charset="0"/>
              </a:rPr>
              <a:t> – </a:t>
            </a:r>
            <a:r>
              <a:rPr lang="en-AU" sz="1700" dirty="0">
                <a:latin typeface="Helvetica" pitchFamily="34" charset="0"/>
              </a:rPr>
              <a:t>Headlight bulb replacement service: 2005 Honda CRV</a:t>
            </a:r>
            <a:r>
              <a:rPr lang="en-AU" sz="1700" u="sng" dirty="0">
                <a:latin typeface="Helvetica" pitchFamily="34" charset="0"/>
              </a:rPr>
              <a:t> </a:t>
            </a:r>
            <a:endParaRPr lang="en-AU" sz="1700" dirty="0">
              <a:latin typeface="Helvetica" pitchFamily="34" charset="0"/>
            </a:endParaRPr>
          </a:p>
          <a:p>
            <a:pPr>
              <a:spcBef>
                <a:spcPts val="600"/>
              </a:spcBef>
              <a:spcAft>
                <a:spcPts val="600"/>
              </a:spcAft>
            </a:pPr>
            <a:r>
              <a:rPr lang="en-AU" sz="1700" u="sng" dirty="0">
                <a:latin typeface="Helvetica" pitchFamily="34" charset="0"/>
                <a:hlinkClick r:id="rId8"/>
              </a:rPr>
              <a:t>https://www.youtube.com/watch?v=5F31wzh60zo</a:t>
            </a:r>
            <a:r>
              <a:rPr lang="en-AU" sz="1700" dirty="0">
                <a:latin typeface="Helvetica" pitchFamily="34" charset="0"/>
              </a:rPr>
              <a:t> – How to replace taillight</a:t>
            </a:r>
          </a:p>
          <a:p>
            <a:pPr>
              <a:spcBef>
                <a:spcPts val="600"/>
              </a:spcBef>
              <a:spcAft>
                <a:spcPts val="600"/>
              </a:spcAft>
            </a:pPr>
            <a:r>
              <a:rPr lang="en-AU" sz="1700" u="sng" dirty="0">
                <a:latin typeface="Helvetica" pitchFamily="34" charset="0"/>
                <a:hlinkClick r:id="rId9"/>
              </a:rPr>
              <a:t>https://www.youtube.com/watch?v=9POigqpLxQc</a:t>
            </a:r>
            <a:r>
              <a:rPr lang="en-AU" sz="1700" dirty="0">
                <a:latin typeface="Helvetica" pitchFamily="34" charset="0"/>
              </a:rPr>
              <a:t> – How to replace fog light and </a:t>
            </a:r>
            <a:r>
              <a:rPr lang="en-AU" sz="1700" dirty="0" smtClean="0">
                <a:latin typeface="Helvetica" pitchFamily="34" charset="0"/>
              </a:rPr>
              <a:t>bulb</a:t>
            </a:r>
            <a:endParaRPr lang="en-AU" sz="1700" dirty="0">
              <a:latin typeface="Helvetica" pitchFamily="34" charset="0"/>
            </a:endParaRPr>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7768731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7715200" cy="5256584"/>
          </a:xfrm>
        </p:spPr>
        <p:txBody>
          <a:bodyPr>
            <a:noAutofit/>
          </a:bodyPr>
          <a:lstStyle/>
          <a:p>
            <a:pPr marL="36576" indent="0">
              <a:spcBef>
                <a:spcPts val="600"/>
              </a:spcBef>
              <a:spcAft>
                <a:spcPts val="600"/>
              </a:spcAft>
              <a:buNone/>
            </a:pPr>
            <a:r>
              <a:rPr lang="en-AU" sz="2000" b="1" dirty="0">
                <a:latin typeface="Helvetica" pitchFamily="34" charset="0"/>
              </a:rPr>
              <a:t>Replacing a fan </a:t>
            </a:r>
            <a:r>
              <a:rPr lang="en-AU" sz="2000" b="1" dirty="0" smtClean="0">
                <a:latin typeface="Helvetica" pitchFamily="34" charset="0"/>
              </a:rPr>
              <a:t>belt</a:t>
            </a:r>
          </a:p>
          <a:p>
            <a:pPr>
              <a:spcBef>
                <a:spcPts val="600"/>
              </a:spcBef>
              <a:spcAft>
                <a:spcPts val="600"/>
              </a:spcAft>
            </a:pPr>
            <a:r>
              <a:rPr lang="en-AU" sz="2000" u="sng" dirty="0" smtClean="0">
                <a:latin typeface="Helvetica" pitchFamily="34" charset="0"/>
                <a:hlinkClick r:id="rId3"/>
              </a:rPr>
              <a:t>https</a:t>
            </a:r>
            <a:r>
              <a:rPr lang="en-AU" sz="2000" u="sng" dirty="0">
                <a:latin typeface="Helvetica" pitchFamily="34" charset="0"/>
                <a:hlinkClick r:id="rId3"/>
              </a:rPr>
              <a:t>://www.youtube.com/watch?v=4hnOUs9eiN4</a:t>
            </a:r>
            <a:r>
              <a:rPr lang="en-AU" sz="2000" dirty="0">
                <a:latin typeface="Helvetica" pitchFamily="34" charset="0"/>
              </a:rPr>
              <a:t> – Change a fan belt</a:t>
            </a:r>
          </a:p>
          <a:p>
            <a:pPr>
              <a:spcBef>
                <a:spcPts val="600"/>
              </a:spcBef>
              <a:spcAft>
                <a:spcPts val="600"/>
              </a:spcAft>
            </a:pPr>
            <a:r>
              <a:rPr lang="en-AU" sz="2000" u="sng" dirty="0">
                <a:latin typeface="Helvetica" pitchFamily="34" charset="0"/>
                <a:hlinkClick r:id="rId4"/>
              </a:rPr>
              <a:t>http://www.supercheapauto.com.au/how-to/Servicing-Mechanical/Replacing-a-Drive-Belt.aspx?id=76</a:t>
            </a:r>
            <a:r>
              <a:rPr lang="en-AU" sz="2000" dirty="0">
                <a:latin typeface="Helvetica" pitchFamily="34" charset="0"/>
              </a:rPr>
              <a:t> – Replacing a drive belt</a:t>
            </a:r>
          </a:p>
          <a:p>
            <a:pPr>
              <a:spcBef>
                <a:spcPts val="600"/>
              </a:spcBef>
              <a:spcAft>
                <a:spcPts val="600"/>
              </a:spcAft>
            </a:pPr>
            <a:r>
              <a:rPr lang="en-AU" sz="2000" u="sng" dirty="0">
                <a:latin typeface="Helvetica" pitchFamily="34" charset="0"/>
                <a:hlinkClick r:id="rId5"/>
              </a:rPr>
              <a:t>https://www.youtube.com/watch?v=Wg1AX77xEBQ</a:t>
            </a:r>
            <a:r>
              <a:rPr lang="en-AU" sz="2000" dirty="0">
                <a:latin typeface="Helvetica" pitchFamily="34" charset="0"/>
              </a:rPr>
              <a:t> – How to replace a serpentine belt</a:t>
            </a:r>
          </a:p>
          <a:p>
            <a:pPr>
              <a:spcBef>
                <a:spcPts val="600"/>
              </a:spcBef>
              <a:spcAft>
                <a:spcPts val="600"/>
              </a:spcAft>
            </a:pPr>
            <a:r>
              <a:rPr lang="en-AU" sz="2000" u="sng" dirty="0">
                <a:latin typeface="Helvetica" pitchFamily="34" charset="0"/>
                <a:hlinkClick r:id="rId6"/>
              </a:rPr>
              <a:t>https://www.youtube.com/watch?v=01J3Fp9_bMA</a:t>
            </a:r>
            <a:r>
              <a:rPr lang="en-AU" sz="2000" dirty="0">
                <a:latin typeface="Helvetica" pitchFamily="34" charset="0"/>
              </a:rPr>
              <a:t> – How to replace a serpentine belt: Toyota Corolla</a:t>
            </a:r>
          </a:p>
          <a:p>
            <a:pPr>
              <a:spcBef>
                <a:spcPts val="600"/>
              </a:spcBef>
              <a:spcAft>
                <a:spcPts val="600"/>
              </a:spcAft>
            </a:pPr>
            <a:r>
              <a:rPr lang="en-AU" sz="2000" u="sng" dirty="0">
                <a:latin typeface="Helvetica" pitchFamily="34" charset="0"/>
                <a:hlinkClick r:id="rId7"/>
              </a:rPr>
              <a:t>https://www.youtube.com/watch?v=XD0LNkFYPGQ</a:t>
            </a:r>
            <a:r>
              <a:rPr lang="en-AU" sz="2000" dirty="0">
                <a:latin typeface="Helvetica" pitchFamily="34" charset="0"/>
              </a:rPr>
              <a:t> – Toyota timing belt</a:t>
            </a:r>
          </a:p>
          <a:p>
            <a:pPr>
              <a:spcBef>
                <a:spcPts val="600"/>
              </a:spcBef>
              <a:spcAft>
                <a:spcPts val="600"/>
              </a:spcAft>
            </a:pPr>
            <a:r>
              <a:rPr lang="en-AU" sz="2000" u="sng" dirty="0">
                <a:latin typeface="Helvetica" pitchFamily="34" charset="0"/>
                <a:hlinkClick r:id="rId8"/>
              </a:rPr>
              <a:t>http://</a:t>
            </a:r>
            <a:r>
              <a:rPr lang="en-AU" sz="2000" u="sng" dirty="0" smtClean="0">
                <a:latin typeface="Helvetica" pitchFamily="34" charset="0"/>
                <a:hlinkClick r:id="rId8"/>
              </a:rPr>
              <a:t>www.wikihow.com/Change-an-Automotive-Belt</a:t>
            </a:r>
            <a:endParaRPr lang="en-AU" sz="2000" dirty="0">
              <a:latin typeface="Helvetica" pitchFamily="34" charset="0"/>
            </a:endParaRPr>
          </a:p>
          <a:p>
            <a:pPr>
              <a:spcBef>
                <a:spcPts val="600"/>
              </a:spcBef>
              <a:spcAft>
                <a:spcPts val="600"/>
              </a:spcAft>
            </a:pPr>
            <a:endParaRPr lang="en-AU" sz="2000" dirty="0">
              <a:latin typeface="Helvetica" pitchFamily="34" charset="0"/>
            </a:endParaRPr>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4464008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7283152" cy="4641379"/>
          </a:xfrm>
        </p:spPr>
        <p:txBody>
          <a:bodyPr>
            <a:normAutofit/>
          </a:bodyPr>
          <a:lstStyle/>
          <a:p>
            <a:pPr marL="36576" indent="0">
              <a:spcBef>
                <a:spcPts val="600"/>
              </a:spcBef>
              <a:spcAft>
                <a:spcPts val="1200"/>
              </a:spcAft>
              <a:buNone/>
            </a:pPr>
            <a:r>
              <a:rPr lang="en-AU" sz="2200" b="1" dirty="0">
                <a:latin typeface="Helvetica" pitchFamily="34" charset="0"/>
              </a:rPr>
              <a:t>Replacing radiator </a:t>
            </a:r>
            <a:r>
              <a:rPr lang="en-AU" sz="2200" b="1" dirty="0" smtClean="0">
                <a:latin typeface="Helvetica" pitchFamily="34" charset="0"/>
              </a:rPr>
              <a:t>hoses</a:t>
            </a:r>
          </a:p>
          <a:p>
            <a:pPr>
              <a:spcBef>
                <a:spcPts val="600"/>
              </a:spcBef>
              <a:spcAft>
                <a:spcPts val="1200"/>
              </a:spcAft>
            </a:pPr>
            <a:r>
              <a:rPr lang="en-AU" sz="2200" u="sng" dirty="0" smtClean="0">
                <a:latin typeface="Helvetica" pitchFamily="34" charset="0"/>
                <a:hlinkClick r:id="rId3"/>
              </a:rPr>
              <a:t>https</a:t>
            </a:r>
            <a:r>
              <a:rPr lang="en-AU" sz="2200" u="sng" dirty="0">
                <a:latin typeface="Helvetica" pitchFamily="34" charset="0"/>
                <a:hlinkClick r:id="rId3"/>
              </a:rPr>
              <a:t>://www.youtube.com/watch?v=AGmQ50naiGg</a:t>
            </a:r>
            <a:r>
              <a:rPr lang="en-AU" sz="2200" dirty="0">
                <a:latin typeface="Helvetica" pitchFamily="34" charset="0"/>
              </a:rPr>
              <a:t> – How to replace a radiator hose (upper and lower)</a:t>
            </a:r>
          </a:p>
          <a:p>
            <a:pPr>
              <a:spcBef>
                <a:spcPts val="600"/>
              </a:spcBef>
              <a:spcAft>
                <a:spcPts val="1200"/>
              </a:spcAft>
            </a:pPr>
            <a:r>
              <a:rPr lang="en-AU" sz="2200" u="sng" dirty="0">
                <a:latin typeface="Helvetica" pitchFamily="34" charset="0"/>
                <a:hlinkClick r:id="rId4"/>
              </a:rPr>
              <a:t>https://www.youtube.com/watch?v=C64z0L9816A</a:t>
            </a:r>
            <a:r>
              <a:rPr lang="en-AU" sz="2200" dirty="0">
                <a:latin typeface="Helvetica" pitchFamily="34" charset="0"/>
              </a:rPr>
              <a:t> – Replacing radiator hose</a:t>
            </a:r>
          </a:p>
          <a:p>
            <a:pPr>
              <a:spcBef>
                <a:spcPts val="600"/>
              </a:spcBef>
              <a:spcAft>
                <a:spcPts val="1200"/>
              </a:spcAft>
            </a:pPr>
            <a:r>
              <a:rPr lang="en-AU" sz="2200" u="sng" dirty="0">
                <a:latin typeface="Helvetica" pitchFamily="34" charset="0"/>
                <a:hlinkClick r:id="rId5"/>
              </a:rPr>
              <a:t>https://www.youtube.com/watch?v=xH0D22ITjQU</a:t>
            </a:r>
            <a:r>
              <a:rPr lang="en-AU" sz="2200" dirty="0">
                <a:latin typeface="Helvetica" pitchFamily="34" charset="0"/>
              </a:rPr>
              <a:t> – How to replace the upper radiator </a:t>
            </a:r>
            <a:r>
              <a:rPr lang="en-AU" sz="2200" dirty="0" smtClean="0">
                <a:latin typeface="Helvetica" pitchFamily="34" charset="0"/>
              </a:rPr>
              <a:t>hose</a:t>
            </a:r>
            <a:endParaRPr lang="en-AU" sz="2200" dirty="0">
              <a:latin typeface="Helvetica" pitchFamily="34" charset="0"/>
            </a:endParaRPr>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36</a:t>
            </a:fld>
            <a:endParaRPr lang="en-US" dirty="0">
              <a:solidFill>
                <a:srgbClr val="4E5B6F">
                  <a:shade val="50000"/>
                </a:srgbClr>
              </a:solidFill>
              <a:latin typeface="Helvetica" pitchFamily="34" charset="0"/>
            </a:endParaRP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43808" y="4797152"/>
            <a:ext cx="2024063" cy="1343025"/>
          </a:xfrm>
          <a:prstGeom prst="rect">
            <a:avLst/>
          </a:prstGeom>
        </p:spPr>
      </p:pic>
    </p:spTree>
    <p:extLst>
      <p:ext uri="{BB962C8B-B14F-4D97-AF65-F5344CB8AC3E}">
        <p14:creationId xmlns:p14="http://schemas.microsoft.com/office/powerpoint/2010/main" val="37224130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6576" indent="0">
              <a:spcBef>
                <a:spcPts val="600"/>
              </a:spcBef>
              <a:spcAft>
                <a:spcPts val="1200"/>
              </a:spcAft>
              <a:buNone/>
            </a:pPr>
            <a:r>
              <a:rPr lang="en-AU" sz="2200" b="1" dirty="0">
                <a:latin typeface="Helvetica" pitchFamily="34" charset="0"/>
              </a:rPr>
              <a:t>Replacing spark plugs</a:t>
            </a:r>
          </a:p>
          <a:p>
            <a:pPr>
              <a:spcBef>
                <a:spcPts val="600"/>
              </a:spcBef>
              <a:spcAft>
                <a:spcPts val="1200"/>
              </a:spcAft>
            </a:pPr>
            <a:r>
              <a:rPr lang="en-AU" sz="2200" u="sng" dirty="0" smtClean="0">
                <a:latin typeface="Helvetica" pitchFamily="34" charset="0"/>
                <a:hlinkClick r:id="rId3"/>
              </a:rPr>
              <a:t>http</a:t>
            </a:r>
            <a:r>
              <a:rPr lang="en-AU" sz="2200" u="sng" dirty="0">
                <a:latin typeface="Helvetica" pitchFamily="34" charset="0"/>
                <a:hlinkClick r:id="rId3"/>
              </a:rPr>
              <a:t>://www.supercheapauto.com.au/how-to/Servicing-Mechanical/Replacing-Spark-Plugs.aspx?id=68</a:t>
            </a:r>
            <a:r>
              <a:rPr lang="en-AU" sz="2200" dirty="0">
                <a:latin typeface="Helvetica" pitchFamily="34" charset="0"/>
              </a:rPr>
              <a:t> – Replacing spark plugs</a:t>
            </a:r>
          </a:p>
          <a:p>
            <a:pPr>
              <a:spcBef>
                <a:spcPts val="600"/>
              </a:spcBef>
              <a:spcAft>
                <a:spcPts val="1200"/>
              </a:spcAft>
            </a:pPr>
            <a:r>
              <a:rPr lang="en-AU" sz="2200" u="sng" dirty="0">
                <a:latin typeface="Helvetica" pitchFamily="34" charset="0"/>
                <a:hlinkClick r:id="rId4"/>
              </a:rPr>
              <a:t>https://www.youtube.com/watch?v=jj06A6UdHvI</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Changing spark plugs and replacing plug </a:t>
            </a:r>
            <a:r>
              <a:rPr lang="en-AU" sz="2200" dirty="0" smtClean="0">
                <a:latin typeface="Helvetica" pitchFamily="34" charset="0"/>
              </a:rPr>
              <a:t>wires</a:t>
            </a:r>
            <a:endParaRPr lang="en-AU" sz="2200" dirty="0">
              <a:latin typeface="Helvetica" pitchFamily="34" charset="0"/>
            </a:endParaRPr>
          </a:p>
          <a:p>
            <a:pPr>
              <a:spcBef>
                <a:spcPts val="600"/>
              </a:spcBef>
              <a:spcAft>
                <a:spcPts val="1200"/>
              </a:spcAft>
            </a:pPr>
            <a:endParaRPr lang="en-AU" sz="2200" dirty="0">
              <a:latin typeface="Helvetica" pitchFamily="34" charset="0"/>
            </a:endParaRPr>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37</a:t>
            </a:fld>
            <a:endParaRPr lang="en-US" dirty="0">
              <a:solidFill>
                <a:srgbClr val="4E5B6F">
                  <a:shade val="50000"/>
                </a:srgbClr>
              </a:solidFill>
              <a:latin typeface="Helvetica" pitchFamily="3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4288" y="2996952"/>
            <a:ext cx="1071590" cy="1956818"/>
          </a:xfrm>
          <a:prstGeom prst="rect">
            <a:avLst/>
          </a:prstGeom>
        </p:spPr>
      </p:pic>
    </p:spTree>
    <p:extLst>
      <p:ext uri="{BB962C8B-B14F-4D97-AF65-F5344CB8AC3E}">
        <p14:creationId xmlns:p14="http://schemas.microsoft.com/office/powerpoint/2010/main" val="32694320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467600" cy="4925144"/>
          </a:xfrm>
        </p:spPr>
        <p:txBody>
          <a:bodyPr>
            <a:normAutofit/>
          </a:bodyPr>
          <a:lstStyle/>
          <a:p>
            <a:pPr marL="36576" indent="0">
              <a:spcBef>
                <a:spcPts val="600"/>
              </a:spcBef>
              <a:spcAft>
                <a:spcPts val="1200"/>
              </a:spcAft>
              <a:buNone/>
            </a:pPr>
            <a:r>
              <a:rPr lang="en-AU" sz="2200" b="1" dirty="0">
                <a:latin typeface="Helvetica" pitchFamily="34" charset="0"/>
              </a:rPr>
              <a:t>Replacing glow </a:t>
            </a:r>
            <a:r>
              <a:rPr lang="en-AU" sz="2200" b="1" dirty="0" smtClean="0">
                <a:latin typeface="Helvetica" pitchFamily="34" charset="0"/>
              </a:rPr>
              <a:t>plugs</a:t>
            </a:r>
          </a:p>
          <a:p>
            <a:pPr>
              <a:spcBef>
                <a:spcPts val="600"/>
              </a:spcBef>
              <a:spcAft>
                <a:spcPts val="1200"/>
              </a:spcAft>
            </a:pPr>
            <a:r>
              <a:rPr lang="en-AU" sz="2200" u="sng" dirty="0" smtClean="0">
                <a:latin typeface="Helvetica" pitchFamily="34" charset="0"/>
                <a:hlinkClick r:id="rId3"/>
              </a:rPr>
              <a:t>https</a:t>
            </a:r>
            <a:r>
              <a:rPr lang="en-AU" sz="2200" u="sng" dirty="0">
                <a:latin typeface="Helvetica" pitchFamily="34" charset="0"/>
                <a:hlinkClick r:id="rId3"/>
              </a:rPr>
              <a:t>://www.youtube.com/watch?v=RCcmN-r5Z9M</a:t>
            </a:r>
            <a:r>
              <a:rPr lang="en-AU" sz="2200" dirty="0">
                <a:latin typeface="Helvetica" pitchFamily="34" charset="0"/>
              </a:rPr>
              <a:t> – Replacing glow plugs in a Mitsubishi Delica L400</a:t>
            </a:r>
          </a:p>
          <a:p>
            <a:pPr>
              <a:spcBef>
                <a:spcPts val="600"/>
              </a:spcBef>
              <a:spcAft>
                <a:spcPts val="1200"/>
              </a:spcAft>
            </a:pPr>
            <a:r>
              <a:rPr lang="en-AU" sz="2200" u="sng" dirty="0">
                <a:latin typeface="Helvetica" pitchFamily="34" charset="0"/>
                <a:hlinkClick r:id="rId4"/>
              </a:rPr>
              <a:t>https://www.youtube.com/watch?v=4Po_1pNHE1Y</a:t>
            </a:r>
            <a:r>
              <a:rPr lang="en-AU" sz="2200" dirty="0">
                <a:latin typeface="Helvetica" pitchFamily="34" charset="0"/>
              </a:rPr>
              <a:t> – Glow plug change</a:t>
            </a:r>
          </a:p>
          <a:p>
            <a:pPr>
              <a:spcBef>
                <a:spcPts val="600"/>
              </a:spcBef>
              <a:spcAft>
                <a:spcPts val="1200"/>
              </a:spcAft>
            </a:pPr>
            <a:r>
              <a:rPr lang="en-AU" sz="2200" u="sng" dirty="0">
                <a:latin typeface="Helvetica" pitchFamily="34" charset="0"/>
                <a:hlinkClick r:id="rId4"/>
              </a:rPr>
              <a:t>https://www.youtube.com/watch?v=4Po_1pNHE1Y</a:t>
            </a:r>
            <a:r>
              <a:rPr lang="en-AU" sz="2200" dirty="0">
                <a:latin typeface="Helvetica" pitchFamily="34" charset="0"/>
              </a:rPr>
              <a:t> – Easy and complete glow plug test.</a:t>
            </a:r>
          </a:p>
          <a:p>
            <a:pPr>
              <a:spcBef>
                <a:spcPts val="600"/>
              </a:spcBef>
              <a:spcAft>
                <a:spcPts val="1200"/>
              </a:spcAft>
            </a:pPr>
            <a:r>
              <a:rPr lang="en-AU" sz="2200" u="sng" dirty="0">
                <a:latin typeface="Helvetica" pitchFamily="34" charset="0"/>
                <a:hlinkClick r:id="rId5"/>
              </a:rPr>
              <a:t>http://autorepair.about.com/od/enginerelateddiyjobs/l/aa081404a.htm</a:t>
            </a:r>
            <a:r>
              <a:rPr lang="en-AU" sz="2200" dirty="0">
                <a:latin typeface="Helvetica" pitchFamily="34" charset="0"/>
              </a:rPr>
              <a:t> – How to replace your diesel glow </a:t>
            </a:r>
            <a:r>
              <a:rPr lang="en-AU" sz="2200" dirty="0" smtClean="0">
                <a:latin typeface="Helvetica" pitchFamily="34" charset="0"/>
              </a:rPr>
              <a:t>plugs</a:t>
            </a: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5816465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7467600" cy="4968552"/>
          </a:xfrm>
        </p:spPr>
        <p:txBody>
          <a:bodyPr>
            <a:normAutofit/>
          </a:bodyPr>
          <a:lstStyle/>
          <a:p>
            <a:pPr marL="36576" indent="0">
              <a:spcBef>
                <a:spcPts val="600"/>
              </a:spcBef>
              <a:spcAft>
                <a:spcPts val="1200"/>
              </a:spcAft>
              <a:buNone/>
            </a:pPr>
            <a:r>
              <a:rPr lang="en-AU" sz="2200" b="1" dirty="0">
                <a:latin typeface="Helvetica" pitchFamily="34" charset="0"/>
              </a:rPr>
              <a:t>Replacing a fuse</a:t>
            </a:r>
          </a:p>
          <a:p>
            <a:pPr>
              <a:spcBef>
                <a:spcPts val="600"/>
              </a:spcBef>
              <a:spcAft>
                <a:spcPts val="1200"/>
              </a:spcAft>
            </a:pPr>
            <a:r>
              <a:rPr lang="en-AU" sz="2200" u="sng" dirty="0" smtClean="0">
                <a:latin typeface="Helvetica" pitchFamily="34" charset="0"/>
                <a:hlinkClick r:id="rId3"/>
              </a:rPr>
              <a:t>https</a:t>
            </a:r>
            <a:r>
              <a:rPr lang="en-AU" sz="2200" u="sng" dirty="0">
                <a:latin typeface="Helvetica" pitchFamily="34" charset="0"/>
                <a:hlinkClick r:id="rId3"/>
              </a:rPr>
              <a:t>://www.youtube.com/watch?v=kOXeo-kqg68</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How to replace a blown fuse in a car</a:t>
            </a:r>
          </a:p>
          <a:p>
            <a:pPr>
              <a:spcBef>
                <a:spcPts val="600"/>
              </a:spcBef>
              <a:spcAft>
                <a:spcPts val="1200"/>
              </a:spcAft>
            </a:pPr>
            <a:r>
              <a:rPr lang="en-AU" sz="2200" u="sng" dirty="0">
                <a:latin typeface="Helvetica" pitchFamily="34" charset="0"/>
                <a:hlinkClick r:id="rId4"/>
              </a:rPr>
              <a:t>https://www.youtube.com/watch?v=faWZmG0fXy8</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How to find and replace a blown fuse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in </a:t>
            </a:r>
            <a:r>
              <a:rPr lang="en-AU" sz="2200" dirty="0">
                <a:latin typeface="Helvetica" pitchFamily="34" charset="0"/>
              </a:rPr>
              <a:t>your car or </a:t>
            </a:r>
            <a:r>
              <a:rPr lang="en-AU" sz="2200" dirty="0" smtClean="0">
                <a:latin typeface="Helvetica" pitchFamily="34" charset="0"/>
              </a:rPr>
              <a:t>truck</a:t>
            </a:r>
            <a:endParaRPr lang="en-AU" sz="2200" dirty="0">
              <a:latin typeface="Helvetica" pitchFamily="34" charset="0"/>
            </a:endParaRPr>
          </a:p>
          <a:p>
            <a:pPr>
              <a:spcBef>
                <a:spcPts val="600"/>
              </a:spcBef>
              <a:spcAft>
                <a:spcPts val="1200"/>
              </a:spcAft>
            </a:pP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39</a:t>
            </a:fld>
            <a:endParaRPr lang="en-US" dirty="0">
              <a:solidFill>
                <a:srgbClr val="4E5B6F">
                  <a:shade val="50000"/>
                </a:srgbClr>
              </a:solidFill>
              <a:latin typeface="Helvetica" pitchFamily="34"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76862" y="3429000"/>
            <a:ext cx="1701406" cy="2561668"/>
          </a:xfrm>
          <a:prstGeom prst="rect">
            <a:avLst/>
          </a:prstGeom>
        </p:spPr>
      </p:pic>
    </p:spTree>
    <p:extLst>
      <p:ext uri="{BB962C8B-B14F-4D97-AF65-F5344CB8AC3E}">
        <p14:creationId xmlns:p14="http://schemas.microsoft.com/office/powerpoint/2010/main" val="39957582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8075240" cy="5040560"/>
          </a:xfrm>
        </p:spPr>
        <p:txBody>
          <a:bodyPr>
            <a:normAutofit/>
          </a:bodyPr>
          <a:lstStyle/>
          <a:p>
            <a:pPr marL="36576" indent="0">
              <a:spcBef>
                <a:spcPts val="600"/>
              </a:spcBef>
              <a:spcAft>
                <a:spcPts val="1200"/>
              </a:spcAft>
              <a:buNone/>
            </a:pPr>
            <a:r>
              <a:rPr lang="en-AU" sz="2200" b="1" dirty="0">
                <a:latin typeface="Helvetica" pitchFamily="34" charset="0"/>
              </a:rPr>
              <a:t>Replacing </a:t>
            </a:r>
            <a:r>
              <a:rPr lang="en-AU" sz="2200" b="1" dirty="0" smtClean="0">
                <a:latin typeface="Helvetica" pitchFamily="34" charset="0"/>
              </a:rPr>
              <a:t>mirrors</a:t>
            </a:r>
          </a:p>
          <a:p>
            <a:pPr>
              <a:spcBef>
                <a:spcPts val="600"/>
              </a:spcBef>
              <a:spcAft>
                <a:spcPts val="1200"/>
              </a:spcAft>
            </a:pPr>
            <a:r>
              <a:rPr lang="en-AU" sz="2200" u="sng" dirty="0" smtClean="0">
                <a:latin typeface="Helvetica" pitchFamily="34" charset="0"/>
                <a:hlinkClick r:id="rId3"/>
              </a:rPr>
              <a:t>https</a:t>
            </a:r>
            <a:r>
              <a:rPr lang="en-AU" sz="2200" u="sng" dirty="0">
                <a:latin typeface="Helvetica" pitchFamily="34" charset="0"/>
                <a:hlinkClick r:id="rId3"/>
              </a:rPr>
              <a:t>://www.youtube.com/watch?v=U-1y8NIEhKM</a:t>
            </a:r>
            <a:r>
              <a:rPr lang="en-AU" sz="2200" dirty="0">
                <a:latin typeface="Helvetica" pitchFamily="34" charset="0"/>
              </a:rPr>
              <a:t>  </a:t>
            </a:r>
            <a:r>
              <a:rPr lang="en-AU" sz="2200" dirty="0" smtClean="0">
                <a:latin typeface="Helvetica" pitchFamily="34" charset="0"/>
              </a:rPr>
              <a:t>                                    Auto </a:t>
            </a:r>
            <a:r>
              <a:rPr lang="en-AU" sz="2200" dirty="0">
                <a:latin typeface="Helvetica" pitchFamily="34" charset="0"/>
              </a:rPr>
              <a:t>side mirror replacement</a:t>
            </a:r>
          </a:p>
          <a:p>
            <a:pPr>
              <a:spcBef>
                <a:spcPts val="600"/>
              </a:spcBef>
              <a:spcAft>
                <a:spcPts val="1200"/>
              </a:spcAft>
            </a:pPr>
            <a:r>
              <a:rPr lang="en-AU" sz="2200" u="sng" dirty="0">
                <a:latin typeface="Helvetica" pitchFamily="34" charset="0"/>
                <a:hlinkClick r:id="rId4"/>
              </a:rPr>
              <a:t>https://www.youtube.com/watch?v=77lBQ_CRqdo</a:t>
            </a:r>
            <a:r>
              <a:rPr lang="en-AU" sz="2200" dirty="0">
                <a:latin typeface="Helvetica" pitchFamily="34" charset="0"/>
              </a:rPr>
              <a:t>  </a:t>
            </a:r>
            <a:r>
              <a:rPr lang="en-AU" sz="2200" dirty="0" smtClean="0">
                <a:latin typeface="Helvetica" pitchFamily="34" charset="0"/>
              </a:rPr>
              <a:t>                                      Replace </a:t>
            </a:r>
            <a:r>
              <a:rPr lang="en-AU" sz="2200" dirty="0">
                <a:latin typeface="Helvetica" pitchFamily="34" charset="0"/>
              </a:rPr>
              <a:t>your passenger side mirror</a:t>
            </a:r>
          </a:p>
          <a:p>
            <a:pPr>
              <a:spcBef>
                <a:spcPts val="600"/>
              </a:spcBef>
              <a:spcAft>
                <a:spcPts val="1200"/>
              </a:spcAft>
            </a:pPr>
            <a:r>
              <a:rPr lang="en-AU" sz="2200" u="sng" dirty="0">
                <a:latin typeface="Helvetica" pitchFamily="34" charset="0"/>
                <a:hlinkClick r:id="rId5"/>
              </a:rPr>
              <a:t>https://www.youtube.com/watch?v=d8ASeN4rgek</a:t>
            </a:r>
            <a:r>
              <a:rPr lang="en-AU" sz="2200" dirty="0">
                <a:latin typeface="Helvetica" pitchFamily="34" charset="0"/>
              </a:rPr>
              <a:t>  </a:t>
            </a:r>
            <a:r>
              <a:rPr lang="en-AU" sz="2200" dirty="0" smtClean="0">
                <a:latin typeface="Helvetica" pitchFamily="34" charset="0"/>
              </a:rPr>
              <a:t>                                     Plastic </a:t>
            </a:r>
            <a:r>
              <a:rPr lang="en-AU" sz="2200" dirty="0">
                <a:latin typeface="Helvetica" pitchFamily="34" charset="0"/>
              </a:rPr>
              <a:t>backed mirror glass installation</a:t>
            </a:r>
          </a:p>
          <a:p>
            <a:pPr>
              <a:spcBef>
                <a:spcPts val="600"/>
              </a:spcBef>
              <a:spcAft>
                <a:spcPts val="1200"/>
              </a:spcAft>
            </a:pPr>
            <a:r>
              <a:rPr lang="en-AU" sz="2200" u="sng" dirty="0">
                <a:latin typeface="Helvetica" pitchFamily="34" charset="0"/>
                <a:hlinkClick r:id="rId6"/>
              </a:rPr>
              <a:t>https://www.youtube.com/watch?v=D6j8fwGCrHs</a:t>
            </a:r>
            <a:r>
              <a:rPr lang="en-AU" sz="2200" dirty="0">
                <a:latin typeface="Helvetica" pitchFamily="34" charset="0"/>
              </a:rPr>
              <a:t>  </a:t>
            </a:r>
            <a:r>
              <a:rPr lang="en-AU" sz="2200" dirty="0" smtClean="0">
                <a:latin typeface="Helvetica" pitchFamily="34" charset="0"/>
              </a:rPr>
              <a:t>                                         Side </a:t>
            </a:r>
            <a:r>
              <a:rPr lang="en-AU" sz="2200" dirty="0">
                <a:latin typeface="Helvetica" pitchFamily="34" charset="0"/>
              </a:rPr>
              <a:t>mirror glass </a:t>
            </a:r>
            <a:r>
              <a:rPr lang="en-AU" sz="2200" dirty="0" smtClean="0">
                <a:latin typeface="Helvetica" pitchFamily="34" charset="0"/>
              </a:rPr>
              <a:t>replacement</a:t>
            </a: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2838026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787208" cy="4781128"/>
          </a:xfrm>
        </p:spPr>
        <p:txBody>
          <a:bodyPr>
            <a:normAutofit/>
          </a:bodyPr>
          <a:lstStyle/>
          <a:p>
            <a:pPr marL="36576" indent="0">
              <a:spcBef>
                <a:spcPts val="600"/>
              </a:spcBef>
              <a:spcAft>
                <a:spcPts val="1200"/>
              </a:spcAft>
              <a:buNone/>
            </a:pPr>
            <a:r>
              <a:rPr lang="en-AU" sz="2200" b="1" dirty="0">
                <a:latin typeface="Helvetica" pitchFamily="34" charset="0"/>
              </a:rPr>
              <a:t>Alignment of external mirrors</a:t>
            </a:r>
            <a:endParaRPr lang="en-AU" sz="2200" dirty="0">
              <a:latin typeface="Helvetica" pitchFamily="34" charset="0"/>
            </a:endParaRPr>
          </a:p>
          <a:p>
            <a:pPr marL="355600" indent="-355600">
              <a:spcBef>
                <a:spcPts val="600"/>
              </a:spcBef>
              <a:spcAft>
                <a:spcPts val="1200"/>
              </a:spcAft>
            </a:pPr>
            <a:r>
              <a:rPr lang="en-AU" sz="2200" dirty="0" smtClean="0">
                <a:latin typeface="Helvetica" pitchFamily="34" charset="0"/>
                <a:ea typeface="Calibri"/>
                <a:cs typeface="Calibri"/>
              </a:rPr>
              <a:t>Ensure external </a:t>
            </a:r>
            <a:r>
              <a:rPr lang="en-AU" sz="2200" dirty="0">
                <a:latin typeface="Helvetica" pitchFamily="34" charset="0"/>
                <a:ea typeface="Calibri"/>
                <a:cs typeface="Calibri"/>
              </a:rPr>
              <a:t>mirrors remain correctly aligned so there are no ‘blind spots</a:t>
            </a:r>
            <a:r>
              <a:rPr lang="en-AU" sz="2200" dirty="0" smtClean="0">
                <a:latin typeface="Helvetica" pitchFamily="34" charset="0"/>
                <a:ea typeface="Calibri"/>
                <a:cs typeface="Calibri"/>
              </a:rPr>
              <a:t>’:</a:t>
            </a:r>
            <a:endParaRPr lang="en-AU" sz="2200" dirty="0">
              <a:latin typeface="Helvetica" pitchFamily="34" charset="0"/>
              <a:ea typeface="Calibri"/>
              <a:cs typeface="Calibri"/>
            </a:endParaRPr>
          </a:p>
          <a:p>
            <a:pPr marL="722313" lvl="1" indent="-366713">
              <a:spcBef>
                <a:spcPts val="600"/>
              </a:spcBef>
              <a:spcAft>
                <a:spcPts val="1200"/>
              </a:spcAft>
            </a:pPr>
            <a:r>
              <a:rPr lang="en-AU" sz="2200" u="sng" dirty="0" smtClean="0">
                <a:solidFill>
                  <a:srgbClr val="0000FF"/>
                </a:solidFill>
                <a:latin typeface="Helvetica" pitchFamily="34" charset="0"/>
                <a:ea typeface="Calibri"/>
                <a:cs typeface="Calibri"/>
                <a:hlinkClick r:id="rId3"/>
              </a:rPr>
              <a:t>https</a:t>
            </a:r>
            <a:r>
              <a:rPr lang="en-AU" sz="2200" u="sng" dirty="0">
                <a:solidFill>
                  <a:srgbClr val="0000FF"/>
                </a:solidFill>
                <a:latin typeface="Helvetica" pitchFamily="34" charset="0"/>
                <a:ea typeface="Calibri"/>
                <a:cs typeface="Calibri"/>
                <a:hlinkClick r:id="rId3"/>
              </a:rPr>
              <a:t>://www.youtube.com/watch?v=QpRovzCeM4Q</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Are your car mirrors adjusted correctly?</a:t>
            </a:r>
          </a:p>
          <a:p>
            <a:pPr marL="722313" lvl="1" indent="-366713">
              <a:spcBef>
                <a:spcPts val="600"/>
              </a:spcBef>
              <a:spcAft>
                <a:spcPts val="1200"/>
              </a:spcAft>
            </a:pPr>
            <a:r>
              <a:rPr lang="en-AU" sz="2200" u="sng" dirty="0">
                <a:solidFill>
                  <a:srgbClr val="0000FF"/>
                </a:solidFill>
                <a:latin typeface="Helvetica" pitchFamily="34" charset="0"/>
                <a:ea typeface="Calibri"/>
                <a:cs typeface="Calibri"/>
                <a:hlinkClick r:id="rId4"/>
              </a:rPr>
              <a:t>http://www.wikihow.com/Set-Rear%E2%80%90View-Mirrors-to-Eliminate-Blind-Spots</a:t>
            </a:r>
            <a:r>
              <a:rPr lang="en-AU" sz="2200" dirty="0">
                <a:latin typeface="Helvetica" pitchFamily="34" charset="0"/>
                <a:ea typeface="Calibri"/>
                <a:cs typeface="Calibri"/>
              </a:rPr>
              <a:t> </a:t>
            </a: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99335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36576" indent="0">
              <a:spcBef>
                <a:spcPts val="600"/>
              </a:spcBef>
              <a:spcAft>
                <a:spcPts val="1200"/>
              </a:spcAft>
              <a:buNone/>
            </a:pPr>
            <a:r>
              <a:rPr lang="en-AU" sz="2200" b="1" dirty="0">
                <a:latin typeface="Helvetica" pitchFamily="34" charset="0"/>
              </a:rPr>
              <a:t>Changing tyres</a:t>
            </a:r>
          </a:p>
          <a:p>
            <a:pPr>
              <a:spcBef>
                <a:spcPts val="600"/>
              </a:spcBef>
              <a:spcAft>
                <a:spcPts val="1200"/>
              </a:spcAft>
            </a:pPr>
            <a:r>
              <a:rPr lang="en-AU" sz="2200" u="sng" dirty="0">
                <a:latin typeface="Helvetica" pitchFamily="34" charset="0"/>
                <a:hlinkClick r:id="rId3"/>
              </a:rPr>
              <a:t>https://www.youtube.com/watch?v=fGp1meWKCD8</a:t>
            </a:r>
            <a:r>
              <a:rPr lang="en-AU" sz="2200" dirty="0">
                <a:latin typeface="Helvetica" pitchFamily="34" charset="0"/>
              </a:rPr>
              <a:t> – How to change a tire</a:t>
            </a:r>
          </a:p>
          <a:p>
            <a:pPr>
              <a:spcBef>
                <a:spcPts val="600"/>
              </a:spcBef>
              <a:spcAft>
                <a:spcPts val="1200"/>
              </a:spcAft>
            </a:pPr>
            <a:r>
              <a:rPr lang="en-AU" sz="2200" u="sng" dirty="0">
                <a:latin typeface="Helvetica" pitchFamily="34" charset="0"/>
                <a:hlinkClick r:id="rId4"/>
              </a:rPr>
              <a:t>https://www.youtube.com/watch?v=joBmbh0AGSQ</a:t>
            </a:r>
            <a:r>
              <a:rPr lang="en-AU" sz="2200" dirty="0">
                <a:latin typeface="Helvetica" pitchFamily="34" charset="0"/>
              </a:rPr>
              <a:t> – How to change a tire: change a flat car tire step-by-step</a:t>
            </a:r>
          </a:p>
          <a:p>
            <a:pPr>
              <a:spcBef>
                <a:spcPts val="600"/>
              </a:spcBef>
              <a:spcAft>
                <a:spcPts val="1200"/>
              </a:spcAft>
            </a:pP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42</a:t>
            </a:fld>
            <a:endParaRPr lang="en-US" dirty="0">
              <a:solidFill>
                <a:srgbClr val="4E5B6F">
                  <a:shade val="50000"/>
                </a:srgbClr>
              </a:solidFill>
              <a:latin typeface="Helvetica" pitchFamily="34"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3450" y="4365104"/>
            <a:ext cx="2292293" cy="1528960"/>
          </a:xfrm>
          <a:prstGeom prst="rect">
            <a:avLst/>
          </a:prstGeom>
        </p:spPr>
      </p:pic>
    </p:spTree>
    <p:extLst>
      <p:ext uri="{BB962C8B-B14F-4D97-AF65-F5344CB8AC3E}">
        <p14:creationId xmlns:p14="http://schemas.microsoft.com/office/powerpoint/2010/main" val="42505594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7859216" cy="4968552"/>
          </a:xfrm>
        </p:spPr>
        <p:txBody>
          <a:bodyPr>
            <a:normAutofit lnSpcReduction="10000"/>
          </a:bodyPr>
          <a:lstStyle/>
          <a:p>
            <a:pPr marL="36576" indent="0">
              <a:spcBef>
                <a:spcPts val="600"/>
              </a:spcBef>
              <a:spcAft>
                <a:spcPts val="600"/>
              </a:spcAft>
              <a:buNone/>
            </a:pPr>
            <a:r>
              <a:rPr lang="en-AU" sz="2200" b="1" dirty="0">
                <a:latin typeface="Helvetica" pitchFamily="34" charset="0"/>
              </a:rPr>
              <a:t>Repairing </a:t>
            </a:r>
            <a:r>
              <a:rPr lang="en-AU" sz="2200" b="1" dirty="0" smtClean="0">
                <a:latin typeface="Helvetica" pitchFamily="34" charset="0"/>
              </a:rPr>
              <a:t>punctures</a:t>
            </a:r>
            <a:endParaRPr lang="en-AU" sz="2200" b="1" dirty="0">
              <a:latin typeface="Helvetica" pitchFamily="34" charset="0"/>
            </a:endParaRPr>
          </a:p>
          <a:p>
            <a:pPr>
              <a:spcBef>
                <a:spcPts val="600"/>
              </a:spcBef>
              <a:spcAft>
                <a:spcPts val="600"/>
              </a:spcAft>
            </a:pPr>
            <a:r>
              <a:rPr lang="en-AU" sz="2200" u="sng" dirty="0">
                <a:latin typeface="Helvetica" pitchFamily="34" charset="0"/>
                <a:hlinkClick r:id="rId3"/>
              </a:rPr>
              <a:t>https://www.youtube.com/watch?v=ulQmDaqv4F4</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Best tire repair video</a:t>
            </a:r>
          </a:p>
          <a:p>
            <a:pPr>
              <a:spcBef>
                <a:spcPts val="600"/>
              </a:spcBef>
              <a:spcAft>
                <a:spcPts val="600"/>
              </a:spcAft>
            </a:pPr>
            <a:r>
              <a:rPr lang="en-AU" sz="2200" u="sng" dirty="0">
                <a:latin typeface="Helvetica" pitchFamily="34" charset="0"/>
                <a:hlinkClick r:id="rId4"/>
              </a:rPr>
              <a:t>https://www.youtube.com/watch?v=LRQJgTxRhOA</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How to repair a puncture in a tyre with a repair plug/string</a:t>
            </a:r>
          </a:p>
          <a:p>
            <a:pPr>
              <a:spcBef>
                <a:spcPts val="600"/>
              </a:spcBef>
              <a:spcAft>
                <a:spcPts val="600"/>
              </a:spcAft>
            </a:pPr>
            <a:r>
              <a:rPr lang="en-AU" sz="2200" u="sng" dirty="0">
                <a:latin typeface="Helvetica" pitchFamily="34" charset="0"/>
                <a:hlinkClick r:id="rId5"/>
              </a:rPr>
              <a:t>https://www.youtube.com/watch?v=tmW9YJpVwO4</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MSCTC Tire changing training video [using a commercial machine]</a:t>
            </a:r>
          </a:p>
          <a:p>
            <a:pPr>
              <a:spcBef>
                <a:spcPts val="600"/>
              </a:spcBef>
              <a:spcAft>
                <a:spcPts val="600"/>
              </a:spcAft>
            </a:pPr>
            <a:r>
              <a:rPr lang="en-AU" sz="2200" u="sng" dirty="0">
                <a:latin typeface="Helvetica" pitchFamily="34" charset="0"/>
                <a:hlinkClick r:id="rId6"/>
              </a:rPr>
              <a:t>https://www.youtube.com/watch?v=2QR1vag1N9Q</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Professional tire repair.</a:t>
            </a:r>
          </a:p>
          <a:p>
            <a:pPr>
              <a:spcBef>
                <a:spcPts val="600"/>
              </a:spcBef>
              <a:spcAft>
                <a:spcPts val="600"/>
              </a:spcAft>
            </a:pPr>
            <a:r>
              <a:rPr lang="en-AU" sz="2200" u="sng" dirty="0">
                <a:latin typeface="Helvetica" pitchFamily="34" charset="0"/>
                <a:hlinkClick r:id="rId7"/>
              </a:rPr>
              <a:t>https://www.youtube.com/watch?v=wi5uBUaMsrA</a:t>
            </a:r>
            <a:r>
              <a:rPr lang="en-AU" sz="2200" dirty="0">
                <a:latin typeface="Helvetica" pitchFamily="34" charset="0"/>
              </a:rPr>
              <a:t>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 </a:t>
            </a:r>
            <a:r>
              <a:rPr lang="en-AU" sz="2200" dirty="0">
                <a:latin typeface="Helvetica" pitchFamily="34" charset="0"/>
              </a:rPr>
              <a:t>How to repair a car or light truck </a:t>
            </a:r>
            <a:r>
              <a:rPr lang="en-AU" sz="2200" dirty="0" smtClean="0">
                <a:latin typeface="Helvetica" pitchFamily="34" charset="0"/>
              </a:rPr>
              <a:t>tire</a:t>
            </a: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6398151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484784"/>
            <a:ext cx="7467600" cy="5069160"/>
          </a:xfrm>
        </p:spPr>
        <p:txBody>
          <a:bodyPr>
            <a:normAutofit/>
          </a:bodyPr>
          <a:lstStyle/>
          <a:p>
            <a:pPr marL="36576" indent="0">
              <a:spcBef>
                <a:spcPts val="600"/>
              </a:spcBef>
              <a:spcAft>
                <a:spcPts val="1200"/>
              </a:spcAft>
              <a:buNone/>
            </a:pPr>
            <a:r>
              <a:rPr lang="en-AU" sz="2200" b="1" dirty="0">
                <a:latin typeface="Helvetica" pitchFamily="34" charset="0"/>
              </a:rPr>
              <a:t>Tyre inflation</a:t>
            </a:r>
            <a:endParaRPr lang="en-AU" sz="2200" dirty="0">
              <a:latin typeface="Helvetica" pitchFamily="34" charset="0"/>
            </a:endParaRPr>
          </a:p>
          <a:p>
            <a:pPr marL="355600" indent="-355600">
              <a:spcBef>
                <a:spcPts val="600"/>
              </a:spcBef>
              <a:spcAft>
                <a:spcPts val="1200"/>
              </a:spcAft>
            </a:pPr>
            <a:r>
              <a:rPr lang="en-AU" sz="2200" dirty="0">
                <a:latin typeface="Helvetica" pitchFamily="34" charset="0"/>
              </a:rPr>
              <a:t>When punctures have been repaired the tyre may need to be </a:t>
            </a:r>
            <a:r>
              <a:rPr lang="en-AU" sz="2200" dirty="0" smtClean="0">
                <a:latin typeface="Helvetica" pitchFamily="34" charset="0"/>
              </a:rPr>
              <a:t>inflated</a:t>
            </a:r>
            <a:endParaRPr lang="en-AU" sz="2200" dirty="0">
              <a:latin typeface="Helvetica" pitchFamily="34" charset="0"/>
            </a:endParaRPr>
          </a:p>
          <a:p>
            <a:pPr marL="355600" indent="-355600">
              <a:spcBef>
                <a:spcPts val="600"/>
              </a:spcBef>
              <a:spcAft>
                <a:spcPts val="1200"/>
              </a:spcAft>
            </a:pPr>
            <a:r>
              <a:rPr lang="en-AU" sz="2200" dirty="0">
                <a:latin typeface="Helvetica" pitchFamily="34" charset="0"/>
              </a:rPr>
              <a:t>This may be achieved using:</a:t>
            </a:r>
          </a:p>
          <a:p>
            <a:pPr marL="722313" lvl="1" indent="-366713">
              <a:spcBef>
                <a:spcPts val="600"/>
              </a:spcBef>
              <a:spcAft>
                <a:spcPts val="1200"/>
              </a:spcAft>
            </a:pPr>
            <a:r>
              <a:rPr lang="en-AU" sz="2200" dirty="0">
                <a:latin typeface="Helvetica" pitchFamily="34" charset="0"/>
              </a:rPr>
              <a:t>An external pump powered by the electrics </a:t>
            </a:r>
            <a:r>
              <a:rPr lang="en-AU" sz="2200" dirty="0" smtClean="0">
                <a:latin typeface="Helvetica" pitchFamily="34" charset="0"/>
              </a:rPr>
              <a:t>of the vehicle</a:t>
            </a:r>
            <a:endParaRPr lang="en-AU" sz="2200" dirty="0">
              <a:latin typeface="Helvetica" pitchFamily="34" charset="0"/>
            </a:endParaRPr>
          </a:p>
          <a:p>
            <a:pPr marL="722313" lvl="1" indent="-366713">
              <a:spcBef>
                <a:spcPts val="600"/>
              </a:spcBef>
              <a:spcAft>
                <a:spcPts val="1200"/>
              </a:spcAft>
            </a:pPr>
            <a:r>
              <a:rPr lang="en-AU" sz="2200" dirty="0">
                <a:latin typeface="Helvetica" pitchFamily="34" charset="0"/>
              </a:rPr>
              <a:t>An on-board tyre inflation system – as shown at </a:t>
            </a:r>
            <a:r>
              <a:rPr lang="en-AU" sz="2200" u="sng" dirty="0">
                <a:latin typeface="Helvetica" pitchFamily="34" charset="0"/>
                <a:hlinkClick r:id="rId3"/>
              </a:rPr>
              <a:t>https://www.youtube.com/watch?v=xTTbt2IDh_I</a:t>
            </a:r>
            <a:endParaRPr lang="en-AU" sz="2200" dirty="0">
              <a:latin typeface="Helvetica" pitchFamily="34" charset="0"/>
            </a:endParaRPr>
          </a:p>
          <a:p>
            <a:pPr marL="722313" lvl="1" indent="-366713">
              <a:spcBef>
                <a:spcPts val="600"/>
              </a:spcBef>
              <a:spcAft>
                <a:spcPts val="1200"/>
              </a:spcAft>
            </a:pPr>
            <a:r>
              <a:rPr lang="en-AU" sz="2200" dirty="0">
                <a:latin typeface="Helvetica" pitchFamily="34" charset="0"/>
              </a:rPr>
              <a:t>Tyre inflator at a garage/service </a:t>
            </a:r>
            <a:r>
              <a:rPr lang="en-AU" sz="2200" dirty="0" smtClean="0">
                <a:latin typeface="Helvetica" pitchFamily="34" charset="0"/>
              </a:rPr>
              <a:t>station</a:t>
            </a:r>
            <a:endParaRPr lang="en-AU" sz="2200" dirty="0">
              <a:latin typeface="Helvetica" pitchFamily="34" charset="0"/>
            </a:endParaRPr>
          </a:p>
          <a:p>
            <a:pPr>
              <a:spcBef>
                <a:spcPts val="600"/>
              </a:spcBef>
              <a:spcAft>
                <a:spcPts val="1200"/>
              </a:spcAft>
            </a:pPr>
            <a:endParaRPr lang="en-AU" sz="2200" dirty="0"/>
          </a:p>
        </p:txBody>
      </p:sp>
      <p:sp>
        <p:nvSpPr>
          <p:cNvPr id="6" name="Title 1"/>
          <p:cNvSpPr>
            <a:spLocks noGrp="1"/>
          </p:cNvSpPr>
          <p:nvPr>
            <p:ph type="title"/>
          </p:nvPr>
        </p:nvSpPr>
        <p:spPr>
          <a:xfrm>
            <a:off x="553980" y="188640"/>
            <a:ext cx="7632848" cy="1143000"/>
          </a:xfrm>
        </p:spPr>
        <p:txBody>
          <a:bodyPr>
            <a:normAutofit/>
          </a:bodyPr>
          <a:lstStyle/>
          <a:p>
            <a:pPr marL="900113" indent="-900113"/>
            <a:r>
              <a:rPr lang="en-AU" sz="3400" b="1" dirty="0" smtClean="0">
                <a:solidFill>
                  <a:srgbClr val="FF6600"/>
                </a:solidFill>
                <a:latin typeface="Helvetica" pitchFamily="34" charset="0"/>
              </a:rPr>
              <a:t>2.6	Undertake </a:t>
            </a:r>
            <a:r>
              <a:rPr lang="en-AU" sz="3400" b="1" dirty="0">
                <a:solidFill>
                  <a:srgbClr val="FF6600"/>
                </a:solidFill>
                <a:latin typeface="Helvetica" pitchFamily="34" charset="0"/>
              </a:rPr>
              <a:t>minor routine repairs</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8091593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rmAutofit/>
          </a:bodyPr>
          <a:lstStyle/>
          <a:p>
            <a:pPr algn="ctr"/>
            <a:r>
              <a:rPr lang="en-AU" sz="3400" b="1" dirty="0">
                <a:solidFill>
                  <a:srgbClr val="FF6600"/>
                </a:solidFill>
                <a:latin typeface="Helvetica" pitchFamily="34" charset="0"/>
              </a:rPr>
              <a:t>Element 3: Monitor road conditions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94240" cy="4844008"/>
          </a:xfrm>
        </p:spPr>
        <p:txBody>
          <a:bodyPr>
            <a:normAutofit fontScale="92500" lnSpcReduction="20000"/>
          </a:bodyPr>
          <a:lstStyle/>
          <a:p>
            <a:pPr marL="531813" indent="-531813">
              <a:lnSpc>
                <a:spcPct val="150000"/>
              </a:lnSpc>
              <a:spcBef>
                <a:spcPts val="600"/>
              </a:spcBef>
              <a:spcAft>
                <a:spcPts val="1200"/>
              </a:spcAft>
              <a:buNone/>
            </a:pPr>
            <a:r>
              <a:rPr lang="en-AU" sz="2400" dirty="0" smtClean="0">
                <a:latin typeface="Helvetica" pitchFamily="34" charset="0"/>
              </a:rPr>
              <a:t>3.1</a:t>
            </a:r>
            <a:r>
              <a:rPr lang="en-AU" sz="2400" dirty="0">
                <a:latin typeface="Helvetica" pitchFamily="34" charset="0"/>
              </a:rPr>
              <a:t>	Assess road </a:t>
            </a:r>
            <a:r>
              <a:rPr lang="en-AU" sz="2400" dirty="0" smtClean="0">
                <a:latin typeface="Helvetica" pitchFamily="34" charset="0"/>
              </a:rPr>
              <a:t>conditions</a:t>
            </a:r>
          </a:p>
          <a:p>
            <a:pPr marL="531813" indent="-531813">
              <a:lnSpc>
                <a:spcPct val="150000"/>
              </a:lnSpc>
              <a:spcBef>
                <a:spcPts val="600"/>
              </a:spcBef>
              <a:spcAft>
                <a:spcPts val="1200"/>
              </a:spcAft>
              <a:buNone/>
            </a:pPr>
            <a:r>
              <a:rPr lang="en-AU" sz="2400" dirty="0" smtClean="0">
                <a:latin typeface="Helvetica" pitchFamily="34" charset="0"/>
              </a:rPr>
              <a:t>3.2</a:t>
            </a:r>
            <a:r>
              <a:rPr lang="en-AU" sz="2400" dirty="0">
                <a:latin typeface="Helvetica" pitchFamily="34" charset="0"/>
              </a:rPr>
              <a:t>	Assess traffic </a:t>
            </a:r>
            <a:r>
              <a:rPr lang="en-AU" sz="2400" dirty="0" smtClean="0">
                <a:latin typeface="Helvetica" pitchFamily="34" charset="0"/>
              </a:rPr>
              <a:t>conditions</a:t>
            </a:r>
          </a:p>
          <a:p>
            <a:pPr marL="531813" indent="-531813">
              <a:lnSpc>
                <a:spcPct val="150000"/>
              </a:lnSpc>
              <a:spcBef>
                <a:spcPts val="600"/>
              </a:spcBef>
              <a:spcAft>
                <a:spcPts val="1200"/>
              </a:spcAft>
              <a:buNone/>
            </a:pPr>
            <a:r>
              <a:rPr lang="en-AU" sz="2400" dirty="0" smtClean="0">
                <a:latin typeface="Helvetica" pitchFamily="34" charset="0"/>
              </a:rPr>
              <a:t>3.3</a:t>
            </a:r>
            <a:r>
              <a:rPr lang="en-AU" sz="2400" dirty="0">
                <a:latin typeface="Helvetica" pitchFamily="34" charset="0"/>
              </a:rPr>
              <a:t>	Feedback information about road and </a:t>
            </a:r>
            <a:r>
              <a:rPr lang="en-AU" sz="2400" dirty="0" smtClean="0">
                <a:latin typeface="Helvetica" pitchFamily="34" charset="0"/>
              </a:rPr>
              <a:t/>
            </a:r>
            <a:br>
              <a:rPr lang="en-AU" sz="2400" dirty="0" smtClean="0">
                <a:latin typeface="Helvetica" pitchFamily="34" charset="0"/>
              </a:rPr>
            </a:br>
            <a:r>
              <a:rPr lang="en-AU" sz="2400" dirty="0" smtClean="0">
                <a:latin typeface="Helvetica" pitchFamily="34" charset="0"/>
              </a:rPr>
              <a:t>traffic </a:t>
            </a:r>
            <a:r>
              <a:rPr lang="en-AU" sz="2400" dirty="0">
                <a:latin typeface="Helvetica" pitchFamily="34" charset="0"/>
              </a:rPr>
              <a:t>conditions to head </a:t>
            </a:r>
            <a:r>
              <a:rPr lang="en-AU" sz="2400" dirty="0" smtClean="0">
                <a:latin typeface="Helvetica" pitchFamily="34" charset="0"/>
              </a:rPr>
              <a:t>office</a:t>
            </a:r>
          </a:p>
          <a:p>
            <a:pPr marL="531813" indent="-531813">
              <a:lnSpc>
                <a:spcPct val="150000"/>
              </a:lnSpc>
              <a:spcBef>
                <a:spcPts val="600"/>
              </a:spcBef>
              <a:spcAft>
                <a:spcPts val="1200"/>
              </a:spcAft>
              <a:buNone/>
            </a:pPr>
            <a:r>
              <a:rPr lang="en-AU" sz="2400" dirty="0" smtClean="0">
                <a:latin typeface="Helvetica" pitchFamily="34" charset="0"/>
              </a:rPr>
              <a:t>3.4</a:t>
            </a:r>
            <a:r>
              <a:rPr lang="en-AU" sz="2400" dirty="0">
                <a:latin typeface="Helvetica" pitchFamily="34" charset="0"/>
              </a:rPr>
              <a:t>	</a:t>
            </a:r>
            <a:r>
              <a:rPr lang="en-AU" sz="2400" dirty="0" smtClean="0">
                <a:latin typeface="Helvetica" pitchFamily="34" charset="0"/>
              </a:rPr>
              <a:t>Identify </a:t>
            </a:r>
            <a:r>
              <a:rPr lang="en-AU" sz="2400" dirty="0">
                <a:latin typeface="Helvetica" pitchFamily="34" charset="0"/>
              </a:rPr>
              <a:t>factors that may cause delays </a:t>
            </a:r>
            <a:r>
              <a:rPr lang="en-AU" sz="2400" dirty="0" smtClean="0">
                <a:latin typeface="Helvetica" pitchFamily="34" charset="0"/>
              </a:rPr>
              <a:t/>
            </a:r>
            <a:br>
              <a:rPr lang="en-AU" sz="2400" dirty="0" smtClean="0">
                <a:latin typeface="Helvetica" pitchFamily="34" charset="0"/>
              </a:rPr>
            </a:br>
            <a:r>
              <a:rPr lang="en-AU" sz="2400" dirty="0" smtClean="0">
                <a:latin typeface="Helvetica" pitchFamily="34" charset="0"/>
              </a:rPr>
              <a:t>or </a:t>
            </a:r>
            <a:r>
              <a:rPr lang="en-AU" sz="2400" dirty="0">
                <a:latin typeface="Helvetica" pitchFamily="34" charset="0"/>
              </a:rPr>
              <a:t>route </a:t>
            </a:r>
            <a:r>
              <a:rPr lang="en-AU" sz="2400" dirty="0" smtClean="0">
                <a:latin typeface="Helvetica" pitchFamily="34" charset="0"/>
              </a:rPr>
              <a:t>deviations</a:t>
            </a:r>
          </a:p>
          <a:p>
            <a:pPr marL="531813" indent="-531813">
              <a:lnSpc>
                <a:spcPct val="150000"/>
              </a:lnSpc>
              <a:spcBef>
                <a:spcPts val="600"/>
              </a:spcBef>
              <a:spcAft>
                <a:spcPts val="1200"/>
              </a:spcAft>
              <a:buNone/>
            </a:pPr>
            <a:r>
              <a:rPr lang="en-AU" sz="2400" dirty="0" smtClean="0">
                <a:latin typeface="Helvetica" pitchFamily="34" charset="0"/>
              </a:rPr>
              <a:t>3.5	Factor </a:t>
            </a:r>
            <a:r>
              <a:rPr lang="en-AU" sz="2400" dirty="0">
                <a:latin typeface="Helvetica" pitchFamily="34" charset="0"/>
              </a:rPr>
              <a:t>conditions into choice of route to be </a:t>
            </a:r>
            <a:r>
              <a:rPr lang="en-AU" sz="2400" dirty="0" smtClean="0">
                <a:latin typeface="Helvetica" pitchFamily="34" charset="0"/>
              </a:rPr>
              <a:t>taken</a:t>
            </a:r>
          </a:p>
          <a:p>
            <a:pPr marL="531813" indent="-531813">
              <a:lnSpc>
                <a:spcPct val="150000"/>
              </a:lnSpc>
              <a:spcBef>
                <a:spcPts val="600"/>
              </a:spcBef>
              <a:spcAft>
                <a:spcPts val="1200"/>
              </a:spcAft>
              <a:buNone/>
            </a:pPr>
            <a:r>
              <a:rPr lang="en-AU" sz="2400" dirty="0" smtClean="0">
                <a:latin typeface="Helvetica" pitchFamily="34" charset="0"/>
              </a:rPr>
              <a:t>3.6	Read </a:t>
            </a:r>
            <a:r>
              <a:rPr lang="en-AU" sz="2400" dirty="0">
                <a:latin typeface="Helvetica" pitchFamily="34" charset="0"/>
              </a:rPr>
              <a:t>a map</a:t>
            </a:r>
            <a:endParaRPr lang="en-AU"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45</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2636912"/>
            <a:ext cx="1812032" cy="1725054"/>
          </a:xfrm>
          <a:prstGeom prst="rect">
            <a:avLst/>
          </a:prstGeom>
        </p:spPr>
      </p:pic>
    </p:spTree>
    <p:extLst>
      <p:ext uri="{BB962C8B-B14F-4D97-AF65-F5344CB8AC3E}">
        <p14:creationId xmlns:p14="http://schemas.microsoft.com/office/powerpoint/2010/main" val="198429674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a:solidFill>
                  <a:srgbClr val="FF6600"/>
                </a:solidFill>
                <a:latin typeface="Helvetica" pitchFamily="34" charset="0"/>
              </a:rPr>
              <a:t>3.1	Assess road conditions</a:t>
            </a:r>
          </a:p>
        </p:txBody>
      </p:sp>
      <p:sp>
        <p:nvSpPr>
          <p:cNvPr id="3" name="Content Placeholder 2"/>
          <p:cNvSpPr>
            <a:spLocks noGrp="1"/>
          </p:cNvSpPr>
          <p:nvPr>
            <p:ph idx="1"/>
          </p:nvPr>
        </p:nvSpPr>
        <p:spPr>
          <a:xfrm>
            <a:off x="611560" y="1556792"/>
            <a:ext cx="7704856" cy="5184576"/>
          </a:xfrm>
        </p:spPr>
        <p:txBody>
          <a:bodyPr>
            <a:noAutofit/>
          </a:bodyPr>
          <a:lstStyle/>
          <a:p>
            <a:pPr marL="36576" indent="0">
              <a:spcBef>
                <a:spcPts val="600"/>
              </a:spcBef>
              <a:spcAft>
                <a:spcPts val="1200"/>
              </a:spcAft>
              <a:buNone/>
            </a:pPr>
            <a:r>
              <a:rPr lang="en-AU" sz="2000" dirty="0">
                <a:latin typeface="Helvetica" pitchFamily="34" charset="0"/>
              </a:rPr>
              <a:t>All drivers need to assess road and traffic conditions on an ongoing basis</a:t>
            </a:r>
            <a:r>
              <a:rPr lang="en-AU" sz="2000" dirty="0" smtClean="0">
                <a:latin typeface="Helvetica" pitchFamily="34" charset="0"/>
              </a:rPr>
              <a:t>.</a:t>
            </a:r>
            <a:endParaRPr lang="en-AU" sz="2000" dirty="0">
              <a:latin typeface="Helvetica" pitchFamily="34" charset="0"/>
            </a:endParaRPr>
          </a:p>
          <a:p>
            <a:pPr marL="355600" indent="-355600">
              <a:spcBef>
                <a:spcPts val="600"/>
              </a:spcBef>
              <a:spcAft>
                <a:spcPts val="1200"/>
              </a:spcAft>
            </a:pPr>
            <a:r>
              <a:rPr lang="en-AU" sz="2000" b="1" dirty="0">
                <a:latin typeface="Helvetica" pitchFamily="34" charset="0"/>
              </a:rPr>
              <a:t>Need to monitor and </a:t>
            </a:r>
            <a:r>
              <a:rPr lang="en-AU" sz="2000" b="1" dirty="0" smtClean="0">
                <a:latin typeface="Helvetica" pitchFamily="34" charset="0"/>
              </a:rPr>
              <a:t>assess</a:t>
            </a:r>
          </a:p>
          <a:p>
            <a:pPr marL="722313" lvl="1" indent="-366713">
              <a:lnSpc>
                <a:spcPct val="115000"/>
              </a:lnSpc>
              <a:spcBef>
                <a:spcPts val="600"/>
              </a:spcBef>
              <a:spcAft>
                <a:spcPts val="1200"/>
              </a:spcAft>
            </a:pPr>
            <a:r>
              <a:rPr lang="en-AU" sz="2000" dirty="0">
                <a:latin typeface="Helvetica" pitchFamily="34" charset="0"/>
                <a:ea typeface="Times New Roman"/>
                <a:cs typeface="Times New Roman"/>
              </a:rPr>
              <a:t>An idea of the conditions to be expected can be obtained </a:t>
            </a:r>
          </a:p>
          <a:p>
            <a:pPr marL="722313" lvl="1" indent="-366713">
              <a:lnSpc>
                <a:spcPct val="115000"/>
              </a:lnSpc>
              <a:spcBef>
                <a:spcPts val="600"/>
              </a:spcBef>
              <a:spcAft>
                <a:spcPts val="1200"/>
              </a:spcAft>
            </a:pPr>
            <a:r>
              <a:rPr lang="en-AU" sz="2000" dirty="0">
                <a:latin typeface="Helvetica" pitchFamily="34" charset="0"/>
                <a:ea typeface="Times New Roman"/>
                <a:cs typeface="Times New Roman"/>
              </a:rPr>
              <a:t>The optimum route can be selected </a:t>
            </a:r>
          </a:p>
          <a:p>
            <a:pPr marL="722313" lvl="1" indent="-366713">
              <a:lnSpc>
                <a:spcPct val="115000"/>
              </a:lnSpc>
              <a:spcBef>
                <a:spcPts val="600"/>
              </a:spcBef>
              <a:spcAft>
                <a:spcPts val="1200"/>
              </a:spcAft>
            </a:pPr>
            <a:r>
              <a:rPr lang="en-AU" sz="2000" dirty="0">
                <a:latin typeface="Helvetica" pitchFamily="34" charset="0"/>
                <a:ea typeface="Times New Roman"/>
                <a:cs typeface="Times New Roman"/>
              </a:rPr>
              <a:t>An alternate route can be chosen if necessary </a:t>
            </a:r>
          </a:p>
          <a:p>
            <a:pPr marL="722313" lvl="1" indent="-366713">
              <a:lnSpc>
                <a:spcPct val="115000"/>
              </a:lnSpc>
              <a:spcBef>
                <a:spcPts val="600"/>
              </a:spcBef>
              <a:spcAft>
                <a:spcPts val="1200"/>
              </a:spcAft>
            </a:pPr>
            <a:r>
              <a:rPr lang="en-AU" sz="2000" dirty="0">
                <a:latin typeface="Helvetica" pitchFamily="34" charset="0"/>
                <a:ea typeface="Times New Roman"/>
                <a:cs typeface="Times New Roman"/>
              </a:rPr>
              <a:t>Driving times can be calculated </a:t>
            </a:r>
          </a:p>
          <a:p>
            <a:pPr marL="722313" lvl="1" indent="-366713">
              <a:lnSpc>
                <a:spcPct val="115000"/>
              </a:lnSpc>
              <a:spcBef>
                <a:spcPts val="600"/>
              </a:spcBef>
              <a:spcAft>
                <a:spcPts val="1200"/>
              </a:spcAft>
            </a:pPr>
            <a:r>
              <a:rPr lang="en-AU" sz="2000" dirty="0">
                <a:latin typeface="Helvetica" pitchFamily="34" charset="0"/>
                <a:ea typeface="Times New Roman"/>
                <a:cs typeface="Times New Roman"/>
              </a:rPr>
              <a:t>The driver can decide which vehicle type needs to be taken </a:t>
            </a:r>
          </a:p>
          <a:p>
            <a:pPr>
              <a:spcBef>
                <a:spcPts val="600"/>
              </a:spcBef>
              <a:spcAft>
                <a:spcPts val="1200"/>
              </a:spcAft>
            </a:pPr>
            <a:endParaRPr lang="en-AU" sz="2000" b="1" dirty="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2667481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a:solidFill>
                  <a:srgbClr val="FF6600"/>
                </a:solidFill>
                <a:latin typeface="Helvetica" pitchFamily="34" charset="0"/>
              </a:rPr>
              <a:t>3.2	Assess traffic conditions</a:t>
            </a:r>
          </a:p>
        </p:txBody>
      </p:sp>
      <p:sp>
        <p:nvSpPr>
          <p:cNvPr id="3" name="Content Placeholder 2"/>
          <p:cNvSpPr>
            <a:spLocks noGrp="1"/>
          </p:cNvSpPr>
          <p:nvPr>
            <p:ph idx="1"/>
          </p:nvPr>
        </p:nvSpPr>
        <p:spPr>
          <a:xfrm>
            <a:off x="611560" y="1556792"/>
            <a:ext cx="7920880" cy="4752528"/>
          </a:xfrm>
        </p:spPr>
        <p:txBody>
          <a:bodyPr>
            <a:normAutofit/>
          </a:bodyPr>
          <a:lstStyle/>
          <a:p>
            <a:pPr marL="36576" indent="0">
              <a:spcBef>
                <a:spcPts val="600"/>
              </a:spcBef>
              <a:spcAft>
                <a:spcPts val="1200"/>
              </a:spcAft>
              <a:buNone/>
            </a:pPr>
            <a:r>
              <a:rPr lang="en-AU" sz="2200" b="1" dirty="0" smtClean="0">
                <a:latin typeface="Helvetica" pitchFamily="34" charset="0"/>
              </a:rPr>
              <a:t>Evaluating </a:t>
            </a:r>
            <a:r>
              <a:rPr lang="en-AU" sz="2200" b="1" dirty="0">
                <a:latin typeface="Helvetica" pitchFamily="34" charset="0"/>
              </a:rPr>
              <a:t>traffic conditions</a:t>
            </a:r>
          </a:p>
          <a:p>
            <a:pPr>
              <a:spcBef>
                <a:spcPts val="600"/>
              </a:spcBef>
              <a:spcAft>
                <a:spcPts val="1200"/>
              </a:spcAft>
            </a:pPr>
            <a:r>
              <a:rPr lang="en-AU" sz="2200" dirty="0" smtClean="0">
                <a:latin typeface="Helvetica" pitchFamily="34" charset="0"/>
              </a:rPr>
              <a:t>Be </a:t>
            </a:r>
            <a:r>
              <a:rPr lang="en-AU" sz="2200" dirty="0">
                <a:latin typeface="Helvetica" pitchFamily="34" charset="0"/>
              </a:rPr>
              <a:t>aware of the volume of traffic on the </a:t>
            </a:r>
            <a:r>
              <a:rPr lang="en-AU" sz="2200" dirty="0" smtClean="0">
                <a:latin typeface="Helvetica" pitchFamily="34" charset="0"/>
              </a:rPr>
              <a:t>road</a:t>
            </a:r>
            <a:endParaRPr lang="en-AU" sz="2200" dirty="0">
              <a:latin typeface="Helvetica" pitchFamily="34" charset="0"/>
            </a:endParaRPr>
          </a:p>
          <a:p>
            <a:pPr>
              <a:spcBef>
                <a:spcPts val="600"/>
              </a:spcBef>
              <a:spcAft>
                <a:spcPts val="1200"/>
              </a:spcAft>
            </a:pPr>
            <a:r>
              <a:rPr lang="en-AU" sz="2200" dirty="0">
                <a:latin typeface="Helvetica" pitchFamily="34" charset="0"/>
              </a:rPr>
              <a:t>Judge need to slow average travel </a:t>
            </a:r>
            <a:r>
              <a:rPr lang="en-AU" sz="2200" dirty="0" smtClean="0">
                <a:latin typeface="Helvetica" pitchFamily="34" charset="0"/>
              </a:rPr>
              <a:t>speed</a:t>
            </a:r>
            <a:endParaRPr lang="en-AU" sz="2200" dirty="0">
              <a:latin typeface="Helvetica" pitchFamily="34" charset="0"/>
            </a:endParaRPr>
          </a:p>
          <a:p>
            <a:pPr>
              <a:spcBef>
                <a:spcPts val="600"/>
              </a:spcBef>
              <a:spcAft>
                <a:spcPts val="1200"/>
              </a:spcAft>
            </a:pPr>
            <a:r>
              <a:rPr lang="en-AU" sz="2200" dirty="0">
                <a:latin typeface="Helvetica" pitchFamily="34" charset="0"/>
              </a:rPr>
              <a:t>Note the proximity of other </a:t>
            </a:r>
            <a:r>
              <a:rPr lang="en-AU" sz="2200" dirty="0" smtClean="0">
                <a:latin typeface="Helvetica" pitchFamily="34" charset="0"/>
              </a:rPr>
              <a:t>vehicles</a:t>
            </a:r>
            <a:endParaRPr lang="en-AU" sz="2200" dirty="0">
              <a:latin typeface="Helvetica" pitchFamily="34" charset="0"/>
            </a:endParaRPr>
          </a:p>
          <a:p>
            <a:pPr lvl="0">
              <a:spcBef>
                <a:spcPts val="600"/>
              </a:spcBef>
              <a:spcAft>
                <a:spcPts val="1200"/>
              </a:spcAft>
            </a:pPr>
            <a:r>
              <a:rPr lang="en-AU" sz="2200" dirty="0">
                <a:latin typeface="Helvetica" pitchFamily="34" charset="0"/>
              </a:rPr>
              <a:t>Assess the speed of other road users</a:t>
            </a:r>
          </a:p>
          <a:p>
            <a:pPr lvl="0">
              <a:spcBef>
                <a:spcPts val="600"/>
              </a:spcBef>
              <a:spcAft>
                <a:spcPts val="1200"/>
              </a:spcAft>
            </a:pPr>
            <a:r>
              <a:rPr lang="en-AU" sz="2200" dirty="0" smtClean="0">
                <a:latin typeface="Helvetica" pitchFamily="34" charset="0"/>
              </a:rPr>
              <a:t>Be </a:t>
            </a:r>
            <a:r>
              <a:rPr lang="en-AU" sz="2200" dirty="0">
                <a:latin typeface="Helvetica" pitchFamily="34" charset="0"/>
              </a:rPr>
              <a:t>familiar with the type of other vehicles using the </a:t>
            </a:r>
            <a:r>
              <a:rPr lang="en-AU" sz="2200" dirty="0" smtClean="0">
                <a:latin typeface="Helvetica" pitchFamily="34" charset="0"/>
              </a:rPr>
              <a:t>road</a:t>
            </a:r>
          </a:p>
          <a:p>
            <a:pPr>
              <a:spcBef>
                <a:spcPts val="600"/>
              </a:spcBef>
              <a:spcAft>
                <a:spcPts val="1200"/>
              </a:spcAft>
            </a:pPr>
            <a:r>
              <a:rPr lang="en-AU" sz="2200" dirty="0">
                <a:latin typeface="Helvetica" pitchFamily="34" charset="0"/>
              </a:rPr>
              <a:t>Use the extra height of the vehicle to look above cars/other traffic to ‘see ahead</a:t>
            </a:r>
            <a:r>
              <a:rPr lang="en-AU" sz="2200" dirty="0" smtClean="0">
                <a:latin typeface="Helvetica" pitchFamily="34" charset="0"/>
              </a:rPr>
              <a: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5701707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fontScale="90000"/>
          </a:bodyPr>
          <a:lstStyle/>
          <a:p>
            <a:pPr marL="723900" indent="-723900"/>
            <a:r>
              <a:rPr lang="en-AU" sz="3400" b="1" dirty="0" smtClean="0">
                <a:solidFill>
                  <a:srgbClr val="FF6600"/>
                </a:solidFill>
                <a:latin typeface="Helvetica" pitchFamily="34" charset="0"/>
              </a:rPr>
              <a:t>3.3	Feedback </a:t>
            </a:r>
            <a:r>
              <a:rPr lang="en-AU" sz="3400" b="1" dirty="0">
                <a:solidFill>
                  <a:srgbClr val="FF6600"/>
                </a:solidFill>
                <a:latin typeface="Helvetica" pitchFamily="34" charset="0"/>
              </a:rPr>
              <a:t>information about road and traffic conditions to head office</a:t>
            </a:r>
          </a:p>
        </p:txBody>
      </p:sp>
      <p:sp>
        <p:nvSpPr>
          <p:cNvPr id="3" name="Content Placeholder 2"/>
          <p:cNvSpPr>
            <a:spLocks noGrp="1"/>
          </p:cNvSpPr>
          <p:nvPr>
            <p:ph idx="1"/>
          </p:nvPr>
        </p:nvSpPr>
        <p:spPr>
          <a:xfrm>
            <a:off x="611560" y="1556792"/>
            <a:ext cx="7992888" cy="5301208"/>
          </a:xfrm>
        </p:spPr>
        <p:txBody>
          <a:bodyPr>
            <a:normAutofit/>
          </a:bodyPr>
          <a:lstStyle/>
          <a:p>
            <a:pPr marL="36576" indent="0">
              <a:lnSpc>
                <a:spcPct val="150000"/>
              </a:lnSpc>
              <a:spcBef>
                <a:spcPts val="600"/>
              </a:spcBef>
              <a:spcAft>
                <a:spcPts val="1200"/>
              </a:spcAft>
              <a:buNone/>
            </a:pPr>
            <a:r>
              <a:rPr lang="en-AU" sz="2000" dirty="0">
                <a:latin typeface="Helvetica" pitchFamily="34" charset="0"/>
              </a:rPr>
              <a:t>Standard practice in the industry is for </a:t>
            </a:r>
            <a:r>
              <a:rPr lang="en-AU" sz="2000" dirty="0" smtClean="0">
                <a:latin typeface="Helvetica" pitchFamily="34" charset="0"/>
              </a:rPr>
              <a:t>drivers </a:t>
            </a:r>
            <a:r>
              <a:rPr lang="en-AU" sz="2000" dirty="0">
                <a:latin typeface="Helvetica" pitchFamily="34" charset="0"/>
              </a:rPr>
              <a:t>to provide information back to head office and other drivers regarding actual road and traffic conditions they are </a:t>
            </a:r>
            <a:r>
              <a:rPr lang="en-AU" sz="2000" dirty="0" smtClean="0">
                <a:latin typeface="Helvetica" pitchFamily="34" charset="0"/>
              </a:rPr>
              <a:t>experiencing.</a:t>
            </a:r>
          </a:p>
          <a:p>
            <a:pPr marL="0" indent="0">
              <a:spcBef>
                <a:spcPts val="600"/>
              </a:spcBef>
              <a:spcAft>
                <a:spcPts val="1200"/>
              </a:spcAft>
              <a:buNone/>
            </a:pPr>
            <a:r>
              <a:rPr lang="en-AU" sz="2000" b="1" dirty="0" smtClean="0">
                <a:latin typeface="Helvetica" pitchFamily="34" charset="0"/>
                <a:ea typeface="Times New Roman"/>
                <a:cs typeface="Times New Roman"/>
              </a:rPr>
              <a:t>Ways </a:t>
            </a:r>
            <a:r>
              <a:rPr lang="en-AU" sz="2000" b="1" dirty="0">
                <a:latin typeface="Helvetica" pitchFamily="34" charset="0"/>
                <a:ea typeface="Times New Roman"/>
                <a:cs typeface="Times New Roman"/>
              </a:rPr>
              <a:t>to provide feedback</a:t>
            </a:r>
          </a:p>
          <a:p>
            <a:pPr marL="355600" indent="-355600">
              <a:spcBef>
                <a:spcPts val="600"/>
              </a:spcBef>
              <a:spcAft>
                <a:spcPts val="1200"/>
              </a:spcAft>
            </a:pPr>
            <a:r>
              <a:rPr lang="en-AU" sz="2000" dirty="0">
                <a:latin typeface="Helvetica" pitchFamily="34" charset="0"/>
                <a:ea typeface="Calibri"/>
                <a:cs typeface="Calibri"/>
              </a:rPr>
              <a:t>Feedback about road and traffic conditions is usually provided:</a:t>
            </a:r>
          </a:p>
          <a:p>
            <a:pPr marL="723900" lvl="1" indent="-368300">
              <a:spcBef>
                <a:spcPts val="600"/>
              </a:spcBef>
              <a:spcAft>
                <a:spcPts val="1200"/>
              </a:spcAft>
              <a:buFont typeface="Symbol"/>
              <a:buChar char=""/>
            </a:pPr>
            <a:r>
              <a:rPr lang="en-AU" sz="2000" dirty="0">
                <a:latin typeface="Helvetica" pitchFamily="34" charset="0"/>
                <a:ea typeface="Calibri"/>
                <a:cs typeface="Times New Roman"/>
              </a:rPr>
              <a:t>Using the two-way radio on board the vehicle</a:t>
            </a:r>
          </a:p>
          <a:p>
            <a:pPr marL="723900" lvl="1" indent="-368300">
              <a:spcBef>
                <a:spcPts val="600"/>
              </a:spcBef>
              <a:spcAft>
                <a:spcPts val="1200"/>
              </a:spcAft>
              <a:buFont typeface="Symbol"/>
              <a:buChar char=""/>
            </a:pPr>
            <a:r>
              <a:rPr lang="en-AU" sz="2000" dirty="0">
                <a:latin typeface="Helvetica" pitchFamily="34" charset="0"/>
                <a:ea typeface="Calibri"/>
                <a:cs typeface="Times New Roman"/>
              </a:rPr>
              <a:t>Using driver cell phone – in compliance with local laws regarding use of these when driving a </a:t>
            </a:r>
            <a:r>
              <a:rPr lang="en-AU" sz="2000" dirty="0" smtClean="0">
                <a:latin typeface="Helvetica" pitchFamily="34" charset="0"/>
                <a:ea typeface="Calibri"/>
                <a:cs typeface="Times New Roman"/>
              </a:rPr>
              <a:t>vehicle</a:t>
            </a:r>
            <a:endParaRPr lang="en-AU" sz="2000" dirty="0">
              <a:latin typeface="Helvetica" pitchFamily="34" charset="0"/>
              <a:ea typeface="Calibri"/>
              <a:cs typeface="Times New Roman"/>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8311396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fontScale="90000"/>
          </a:bodyPr>
          <a:lstStyle/>
          <a:p>
            <a:pPr marL="723900" indent="-723900"/>
            <a:r>
              <a:rPr lang="en-AU" sz="3400" b="1" dirty="0" smtClean="0">
                <a:solidFill>
                  <a:srgbClr val="FF6600"/>
                </a:solidFill>
                <a:latin typeface="Helvetica" pitchFamily="34" charset="0"/>
              </a:rPr>
              <a:t>3.3	Feedback </a:t>
            </a:r>
            <a:r>
              <a:rPr lang="en-AU" sz="3400" b="1" dirty="0">
                <a:solidFill>
                  <a:srgbClr val="FF6600"/>
                </a:solidFill>
                <a:latin typeface="Helvetica" pitchFamily="34" charset="0"/>
              </a:rPr>
              <a:t>information about road and traffic conditions to head office</a:t>
            </a:r>
          </a:p>
        </p:txBody>
      </p:sp>
      <p:sp>
        <p:nvSpPr>
          <p:cNvPr id="3" name="Content Placeholder 2"/>
          <p:cNvSpPr>
            <a:spLocks noGrp="1"/>
          </p:cNvSpPr>
          <p:nvPr>
            <p:ph idx="1"/>
          </p:nvPr>
        </p:nvSpPr>
        <p:spPr>
          <a:xfrm>
            <a:off x="611560" y="1916832"/>
            <a:ext cx="7992888" cy="4165923"/>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Need to feedback </a:t>
            </a:r>
            <a:r>
              <a:rPr lang="en-AU" sz="2200" b="1" dirty="0" smtClean="0">
                <a:latin typeface="Helvetica" pitchFamily="34" charset="0"/>
                <a:ea typeface="Times New Roman"/>
                <a:cs typeface="Times New Roman"/>
              </a:rPr>
              <a:t>information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Keep </a:t>
            </a:r>
            <a:r>
              <a:rPr lang="en-AU" sz="2200" dirty="0">
                <a:latin typeface="Helvetica" pitchFamily="34" charset="0"/>
              </a:rPr>
              <a:t>head office up-to-date regarding their </a:t>
            </a:r>
            <a:r>
              <a:rPr lang="en-AU" sz="2200" dirty="0" smtClean="0">
                <a:latin typeface="Helvetica" pitchFamily="34" charset="0"/>
              </a:rPr>
              <a:t>progress</a:t>
            </a:r>
            <a:endParaRPr lang="en-AU" sz="2200" dirty="0">
              <a:latin typeface="Helvetica" pitchFamily="34" charset="0"/>
            </a:endParaRPr>
          </a:p>
          <a:p>
            <a:pPr>
              <a:spcBef>
                <a:spcPts val="600"/>
              </a:spcBef>
              <a:spcAft>
                <a:spcPts val="1200"/>
              </a:spcAft>
            </a:pPr>
            <a:r>
              <a:rPr lang="en-AU" sz="2200" dirty="0">
                <a:latin typeface="Helvetica" pitchFamily="34" charset="0"/>
              </a:rPr>
              <a:t>Provide up-to-date advice for other </a:t>
            </a:r>
            <a:r>
              <a:rPr lang="en-AU" sz="2200" dirty="0" smtClean="0">
                <a:latin typeface="Helvetica" pitchFamily="34" charset="0"/>
              </a:rPr>
              <a:t>drivers </a:t>
            </a:r>
            <a:endParaRPr lang="en-AU" sz="2200" dirty="0">
              <a:latin typeface="Helvetica" pitchFamily="34" charset="0"/>
            </a:endParaRPr>
          </a:p>
          <a:p>
            <a:pPr>
              <a:spcBef>
                <a:spcPts val="600"/>
              </a:spcBef>
              <a:spcAft>
                <a:spcPts val="1200"/>
              </a:spcAft>
            </a:pPr>
            <a:r>
              <a:rPr lang="en-AU" sz="2200" dirty="0">
                <a:latin typeface="Helvetica" pitchFamily="34" charset="0"/>
              </a:rPr>
              <a:t>Give road and weather reports </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49</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2924944"/>
            <a:ext cx="1543203" cy="2088232"/>
          </a:xfrm>
          <a:prstGeom prst="rect">
            <a:avLst/>
          </a:prstGeom>
        </p:spPr>
      </p:pic>
    </p:spTree>
    <p:extLst>
      <p:ext uri="{BB962C8B-B14F-4D97-AF65-F5344CB8AC3E}">
        <p14:creationId xmlns:p14="http://schemas.microsoft.com/office/powerpoint/2010/main" val="3806800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3.4	Identify factors that may cause delays or route deviations</a:t>
            </a:r>
          </a:p>
        </p:txBody>
      </p:sp>
      <p:sp>
        <p:nvSpPr>
          <p:cNvPr id="3" name="Content Placeholder 2"/>
          <p:cNvSpPr>
            <a:spLocks noGrp="1"/>
          </p:cNvSpPr>
          <p:nvPr>
            <p:ph idx="1"/>
          </p:nvPr>
        </p:nvSpPr>
        <p:spPr>
          <a:xfrm>
            <a:off x="611560" y="1916832"/>
            <a:ext cx="7467600" cy="4165923"/>
          </a:xfrm>
        </p:spPr>
        <p:txBody>
          <a:bodyPr>
            <a:normAutofit/>
          </a:bodyPr>
          <a:lstStyle/>
          <a:p>
            <a:pPr marL="36576" indent="0">
              <a:spcBef>
                <a:spcPts val="1200"/>
              </a:spcBef>
              <a:spcAft>
                <a:spcPts val="1200"/>
              </a:spcAft>
              <a:buNone/>
            </a:pPr>
            <a:r>
              <a:rPr lang="en-AU" sz="2200" dirty="0">
                <a:latin typeface="Helvetica" pitchFamily="34" charset="0"/>
              </a:rPr>
              <a:t>There is always the potential for </a:t>
            </a:r>
            <a:r>
              <a:rPr lang="en-AU" sz="2200" dirty="0" smtClean="0">
                <a:latin typeface="Helvetica" pitchFamily="34" charset="0"/>
              </a:rPr>
              <a:t>vehicles to </a:t>
            </a:r>
            <a:r>
              <a:rPr lang="en-AU" sz="2200" dirty="0">
                <a:latin typeface="Helvetica" pitchFamily="34" charset="0"/>
              </a:rPr>
              <a:t>be delayed for some reason or to have to take an alternate </a:t>
            </a:r>
            <a:r>
              <a:rPr lang="en-AU" sz="2200" dirty="0" smtClean="0">
                <a:latin typeface="Helvetica" pitchFamily="34" charset="0"/>
              </a:rPr>
              <a:t>route</a:t>
            </a:r>
            <a:r>
              <a:rPr lang="en-AU" sz="2200" dirty="0">
                <a:latin typeface="Helvetica" pitchFamily="34" charset="0"/>
              </a:rPr>
              <a:t>:</a:t>
            </a:r>
            <a:endParaRPr lang="en-AU" sz="2200" dirty="0" smtClean="0">
              <a:latin typeface="Helvetica" pitchFamily="34" charset="0"/>
            </a:endParaRPr>
          </a:p>
          <a:p>
            <a:pPr marL="360000" indent="-360000">
              <a:spcBef>
                <a:spcPts val="1200"/>
              </a:spcBef>
              <a:spcAft>
                <a:spcPts val="1200"/>
              </a:spcAft>
            </a:pPr>
            <a:r>
              <a:rPr lang="en-AU" sz="2200" dirty="0" smtClean="0">
                <a:latin typeface="Helvetica" pitchFamily="34" charset="0"/>
              </a:rPr>
              <a:t>Factors </a:t>
            </a:r>
            <a:r>
              <a:rPr lang="en-AU" sz="2200" dirty="0">
                <a:latin typeface="Helvetica" pitchFamily="34" charset="0"/>
              </a:rPr>
              <a:t>with the potential to cause delays</a:t>
            </a:r>
          </a:p>
          <a:p>
            <a:pPr marL="0" indent="0">
              <a:spcBef>
                <a:spcPts val="1200"/>
              </a:spcBef>
              <a:spcAft>
                <a:spcPts val="1200"/>
              </a:spcAft>
              <a:buNone/>
            </a:pP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50</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816" y="3645024"/>
            <a:ext cx="1862336" cy="1813002"/>
          </a:xfrm>
          <a:prstGeom prst="rect">
            <a:avLst/>
          </a:prstGeom>
        </p:spPr>
      </p:pic>
    </p:spTree>
    <p:extLst>
      <p:ext uri="{BB962C8B-B14F-4D97-AF65-F5344CB8AC3E}">
        <p14:creationId xmlns:p14="http://schemas.microsoft.com/office/powerpoint/2010/main" val="31275519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smtClean="0">
                <a:solidFill>
                  <a:srgbClr val="FF6600"/>
                </a:solidFill>
                <a:latin typeface="Helvetica" pitchFamily="34" charset="0"/>
              </a:rPr>
              <a:t>3.5	Factor </a:t>
            </a:r>
            <a:r>
              <a:rPr lang="en-AU" sz="3400" b="1" dirty="0">
                <a:solidFill>
                  <a:srgbClr val="FF6600"/>
                </a:solidFill>
                <a:latin typeface="Helvetica" pitchFamily="34" charset="0"/>
              </a:rPr>
              <a:t>conditions into choice of route to be taken</a:t>
            </a:r>
          </a:p>
        </p:txBody>
      </p:sp>
      <p:sp>
        <p:nvSpPr>
          <p:cNvPr id="3" name="Content Placeholder 2"/>
          <p:cNvSpPr>
            <a:spLocks noGrp="1"/>
          </p:cNvSpPr>
          <p:nvPr>
            <p:ph idx="1"/>
          </p:nvPr>
        </p:nvSpPr>
        <p:spPr>
          <a:xfrm>
            <a:off x="611560" y="1556792"/>
            <a:ext cx="7776864" cy="4525963"/>
          </a:xfrm>
        </p:spPr>
        <p:txBody>
          <a:bodyPr>
            <a:normAutofit/>
          </a:bodyPr>
          <a:lstStyle/>
          <a:p>
            <a:pPr>
              <a:spcBef>
                <a:spcPts val="600"/>
              </a:spcBef>
              <a:spcAft>
                <a:spcPts val="1200"/>
              </a:spcAft>
            </a:pPr>
            <a:r>
              <a:rPr lang="en-AU" sz="2200" b="1" dirty="0" smtClean="0">
                <a:latin typeface="Helvetica" pitchFamily="34" charset="0"/>
              </a:rPr>
              <a:t>Actions </a:t>
            </a:r>
            <a:r>
              <a:rPr lang="en-AU" sz="2200" b="1" dirty="0">
                <a:latin typeface="Helvetica" pitchFamily="34" charset="0"/>
              </a:rPr>
              <a:t>and considerations</a:t>
            </a:r>
          </a:p>
          <a:p>
            <a:pPr marL="720000" indent="-360000">
              <a:spcBef>
                <a:spcPts val="600"/>
              </a:spcBef>
              <a:spcAft>
                <a:spcPts val="1200"/>
              </a:spcAft>
              <a:buClr>
                <a:srgbClr val="7FD13B"/>
              </a:buClr>
              <a:buSzPct val="120000"/>
              <a:buFont typeface="Arial" pitchFamily="34" charset="0"/>
              <a:buChar char="•"/>
            </a:pPr>
            <a:r>
              <a:rPr lang="en-AU" sz="2200" dirty="0">
                <a:latin typeface="Helvetica" pitchFamily="34" charset="0"/>
              </a:rPr>
              <a:t>Safety of the passengers is always the primary </a:t>
            </a:r>
            <a:r>
              <a:rPr lang="en-AU" sz="2200" dirty="0" smtClean="0">
                <a:latin typeface="Helvetica" pitchFamily="34" charset="0"/>
              </a:rPr>
              <a:t>consideration</a:t>
            </a:r>
          </a:p>
          <a:p>
            <a:pPr marL="720000" indent="-360000">
              <a:spcBef>
                <a:spcPts val="600"/>
              </a:spcBef>
              <a:spcAft>
                <a:spcPts val="1200"/>
              </a:spcAft>
              <a:buClr>
                <a:srgbClr val="7FD13B"/>
              </a:buClr>
              <a:buSzPct val="120000"/>
              <a:buFont typeface="Arial" pitchFamily="34" charset="0"/>
              <a:buChar char="•"/>
            </a:pPr>
            <a:r>
              <a:rPr lang="en-AU" sz="2200" dirty="0" smtClean="0">
                <a:latin typeface="Helvetica" pitchFamily="34" charset="0"/>
              </a:rPr>
              <a:t>Taking </a:t>
            </a:r>
            <a:r>
              <a:rPr lang="en-AU" sz="2200" dirty="0">
                <a:latin typeface="Helvetica" pitchFamily="34" charset="0"/>
              </a:rPr>
              <a:t>a shorter way than the road identified on the itinerary </a:t>
            </a:r>
            <a:endParaRPr lang="en-AU" sz="2200" dirty="0" smtClean="0">
              <a:latin typeface="Helvetica" pitchFamily="34" charset="0"/>
            </a:endParaRPr>
          </a:p>
          <a:p>
            <a:pPr marL="720000" indent="-360000">
              <a:spcBef>
                <a:spcPts val="600"/>
              </a:spcBef>
              <a:spcAft>
                <a:spcPts val="1200"/>
              </a:spcAft>
              <a:buClr>
                <a:srgbClr val="7FD13B"/>
              </a:buClr>
              <a:buSzPct val="120000"/>
              <a:buFont typeface="Arial" pitchFamily="34" charset="0"/>
              <a:buChar char="•"/>
            </a:pPr>
            <a:r>
              <a:rPr lang="en-AU" sz="2200" dirty="0">
                <a:latin typeface="Helvetica" pitchFamily="34" charset="0"/>
              </a:rPr>
              <a:t>Safety of the vehicle </a:t>
            </a:r>
            <a:r>
              <a:rPr lang="en-AU" sz="2200" dirty="0" smtClean="0">
                <a:latin typeface="Helvetica" pitchFamily="34" charset="0"/>
              </a:rPr>
              <a:t>– night driving</a:t>
            </a:r>
          </a:p>
          <a:p>
            <a:pPr marL="720000" indent="-360000">
              <a:spcBef>
                <a:spcPts val="600"/>
              </a:spcBef>
              <a:spcAft>
                <a:spcPts val="1200"/>
              </a:spcAft>
              <a:buClr>
                <a:srgbClr val="7FD13B"/>
              </a:buClr>
              <a:buSzPct val="120000"/>
              <a:buFont typeface="Arial" pitchFamily="34" charset="0"/>
              <a:buChar char="•"/>
            </a:pPr>
            <a:r>
              <a:rPr lang="en-AU" sz="2200" dirty="0">
                <a:latin typeface="Helvetica" pitchFamily="34" charset="0"/>
              </a:rPr>
              <a:t>Keeping passengers informed about what is happening </a:t>
            </a:r>
            <a:endParaRPr lang="en-AU" sz="2200" dirty="0" smtClean="0">
              <a:latin typeface="Helvetica" pitchFamily="34" charset="0"/>
            </a:endParaRPr>
          </a:p>
          <a:p>
            <a:pPr marL="720000" indent="-360000">
              <a:spcBef>
                <a:spcPts val="600"/>
              </a:spcBef>
              <a:spcAft>
                <a:spcPts val="1200"/>
              </a:spcAft>
              <a:buClr>
                <a:srgbClr val="7FD13B"/>
              </a:buClr>
              <a:buSzPct val="120000"/>
              <a:buFont typeface="Arial" pitchFamily="34" charset="0"/>
              <a:buChar char="•"/>
            </a:pPr>
            <a:r>
              <a:rPr lang="en-AU" sz="2200" dirty="0">
                <a:latin typeface="Helvetica" pitchFamily="34" charset="0"/>
              </a:rPr>
              <a:t>Revising scheduled/advertised inclusions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0469897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smtClean="0">
                <a:solidFill>
                  <a:srgbClr val="FF6600"/>
                </a:solidFill>
                <a:latin typeface="Helvetica" pitchFamily="34" charset="0"/>
              </a:rPr>
              <a:t>3.6	Read </a:t>
            </a:r>
            <a:r>
              <a:rPr lang="en-US" sz="3400" b="1" dirty="0">
                <a:solidFill>
                  <a:srgbClr val="FF6600"/>
                </a:solidFill>
                <a:latin typeface="Helvetica" pitchFamily="34" charset="0"/>
              </a:rPr>
              <a:t>a map</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55600" indent="-355600">
              <a:spcBef>
                <a:spcPts val="600"/>
              </a:spcBef>
              <a:spcAft>
                <a:spcPts val="1200"/>
              </a:spcAft>
            </a:pPr>
            <a:r>
              <a:rPr lang="en-AU" sz="2200" dirty="0" smtClean="0">
                <a:latin typeface="Helvetica" pitchFamily="34" charset="0"/>
              </a:rPr>
              <a:t>Basic requirements</a:t>
            </a:r>
            <a:endParaRPr lang="en-AU" sz="2200" dirty="0">
              <a:latin typeface="Helvetica" pitchFamily="34" charset="0"/>
            </a:endParaRPr>
          </a:p>
          <a:p>
            <a:pPr marL="722313" lvl="1" indent="-366713">
              <a:lnSpc>
                <a:spcPct val="150000"/>
              </a:lnSpc>
              <a:spcBef>
                <a:spcPts val="600"/>
              </a:spcBef>
              <a:spcAft>
                <a:spcPts val="1200"/>
              </a:spcAft>
            </a:pPr>
            <a:r>
              <a:rPr lang="en-AU" sz="2200" dirty="0">
                <a:latin typeface="Helvetica" pitchFamily="34" charset="0"/>
              </a:rPr>
              <a:t>Use a dedicated road map </a:t>
            </a:r>
            <a:endParaRPr lang="en-AU" sz="2200" dirty="0" smtClean="0">
              <a:latin typeface="Helvetica" pitchFamily="34" charset="0"/>
            </a:endParaRPr>
          </a:p>
          <a:p>
            <a:pPr marL="722313" lvl="1" indent="-366713">
              <a:lnSpc>
                <a:spcPct val="150000"/>
              </a:lnSpc>
              <a:spcBef>
                <a:spcPts val="600"/>
              </a:spcBef>
              <a:spcAft>
                <a:spcPts val="1200"/>
              </a:spcAft>
            </a:pPr>
            <a:r>
              <a:rPr lang="en-AU" sz="2200" dirty="0" smtClean="0">
                <a:latin typeface="Helvetica" pitchFamily="34" charset="0"/>
              </a:rPr>
              <a:t>Obtain </a:t>
            </a:r>
            <a:r>
              <a:rPr lang="en-AU" sz="2200" dirty="0">
                <a:latin typeface="Helvetica" pitchFamily="34" charset="0"/>
              </a:rPr>
              <a:t>the latest version of the map for the </a:t>
            </a:r>
            <a:r>
              <a:rPr lang="en-AU" sz="2200" dirty="0" smtClean="0">
                <a:latin typeface="Helvetica" pitchFamily="34" charset="0"/>
              </a:rPr>
              <a:t>area</a:t>
            </a:r>
            <a:endParaRPr lang="en-AU" sz="2200" dirty="0">
              <a:latin typeface="Helvetica" pitchFamily="34" charset="0"/>
            </a:endParaRPr>
          </a:p>
          <a:p>
            <a:pPr marL="722313" lvl="1" indent="-366713">
              <a:lnSpc>
                <a:spcPct val="150000"/>
              </a:lnSpc>
              <a:spcBef>
                <a:spcPts val="600"/>
              </a:spcBef>
              <a:spcAft>
                <a:spcPts val="1200"/>
              </a:spcAft>
            </a:pPr>
            <a:r>
              <a:rPr lang="en-AU" sz="2200" dirty="0">
                <a:latin typeface="Helvetica" pitchFamily="34" charset="0"/>
              </a:rPr>
              <a:t>Never read the map when driving </a:t>
            </a:r>
            <a:endParaRPr lang="en-AU" sz="2200" dirty="0" smtClean="0">
              <a:latin typeface="Helvetica" pitchFamily="34" charset="0"/>
            </a:endParaRPr>
          </a:p>
          <a:p>
            <a:pPr marL="722313" lvl="1" indent="-366713">
              <a:lnSpc>
                <a:spcPct val="150000"/>
              </a:lnSpc>
              <a:spcBef>
                <a:spcPts val="600"/>
              </a:spcBef>
              <a:spcAft>
                <a:spcPts val="1200"/>
              </a:spcAft>
            </a:pPr>
            <a:r>
              <a:rPr lang="en-AU" sz="2200" dirty="0" smtClean="0">
                <a:latin typeface="Helvetica" pitchFamily="34" charset="0"/>
              </a:rPr>
              <a:t>Check </a:t>
            </a:r>
            <a:r>
              <a:rPr lang="en-AU" sz="2200" dirty="0">
                <a:latin typeface="Helvetica" pitchFamily="34" charset="0"/>
              </a:rPr>
              <a:t>out the map and learn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its </a:t>
            </a:r>
            <a:r>
              <a:rPr lang="en-AU" sz="2200" dirty="0">
                <a:latin typeface="Helvetica" pitchFamily="34" charset="0"/>
              </a:rPr>
              <a:t>features </a:t>
            </a:r>
            <a:r>
              <a:rPr lang="en-AU" sz="2200" dirty="0" smtClean="0">
                <a:latin typeface="Helvetica" pitchFamily="34" charset="0"/>
              </a:rPr>
              <a:t> </a:t>
            </a:r>
          </a:p>
          <a:p>
            <a:pPr marL="355600" indent="-355600">
              <a:spcBef>
                <a:spcPts val="600"/>
              </a:spcBef>
              <a:spcAft>
                <a:spcPts val="1200"/>
              </a:spcAft>
            </a:pPr>
            <a:r>
              <a:rPr lang="en-AU" sz="2200" dirty="0" smtClean="0">
                <a:latin typeface="Helvetica" pitchFamily="34" charset="0"/>
              </a:rPr>
              <a:t>Using the map to determine a route</a:t>
            </a:r>
          </a:p>
          <a:p>
            <a:pPr>
              <a:spcBef>
                <a:spcPts val="600"/>
              </a:spcBef>
              <a:spcAft>
                <a:spcPts val="1200"/>
              </a:spcAft>
            </a:pPr>
            <a:endParaRPr lang="en-AU" sz="2200"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52</a:t>
            </a:fld>
            <a:endParaRPr lang="en-US" dirty="0">
              <a:solidFill>
                <a:srgbClr val="4E5B6F">
                  <a:shade val="50000"/>
                </a:srgbClr>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4005064"/>
            <a:ext cx="2087724" cy="1391816"/>
          </a:xfrm>
          <a:prstGeom prst="rect">
            <a:avLst/>
          </a:prstGeom>
        </p:spPr>
      </p:pic>
    </p:spTree>
    <p:extLst>
      <p:ext uri="{BB962C8B-B14F-4D97-AF65-F5344CB8AC3E}">
        <p14:creationId xmlns:p14="http://schemas.microsoft.com/office/powerpoint/2010/main" val="40818294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rmAutofit/>
          </a:bodyPr>
          <a:lstStyle/>
          <a:p>
            <a:r>
              <a:rPr lang="en-AU" sz="3400" b="1" dirty="0">
                <a:solidFill>
                  <a:srgbClr val="FF6600"/>
                </a:solidFill>
                <a:latin typeface="Helvetica" pitchFamily="34" charset="0"/>
              </a:rPr>
              <a:t>Element </a:t>
            </a:r>
            <a:r>
              <a:rPr lang="en-AU" sz="3400" b="1" dirty="0" smtClean="0">
                <a:solidFill>
                  <a:srgbClr val="FF6600"/>
                </a:solidFill>
                <a:latin typeface="Helvetica" pitchFamily="34" charset="0"/>
              </a:rPr>
              <a:t>4</a:t>
            </a:r>
            <a:r>
              <a:rPr lang="en-AU" sz="3400" b="1" dirty="0">
                <a:solidFill>
                  <a:srgbClr val="FF6600"/>
                </a:solidFill>
                <a:latin typeface="Helvetica" pitchFamily="34" charset="0"/>
              </a:rPr>
              <a:t>: Drive vehicles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694240" cy="4988024"/>
          </a:xfrm>
        </p:spPr>
        <p:txBody>
          <a:bodyPr>
            <a:noAutofit/>
          </a:bodyPr>
          <a:lstStyle/>
          <a:p>
            <a:pPr marL="531813" indent="-531813">
              <a:lnSpc>
                <a:spcPct val="150000"/>
              </a:lnSpc>
              <a:spcBef>
                <a:spcPts val="600"/>
              </a:spcBef>
              <a:spcAft>
                <a:spcPts val="600"/>
              </a:spcAft>
              <a:buNone/>
            </a:pPr>
            <a:r>
              <a:rPr lang="en-AU" sz="2000" dirty="0" smtClean="0">
                <a:latin typeface="Helvetica" pitchFamily="34" charset="0"/>
              </a:rPr>
              <a:t>4.1</a:t>
            </a:r>
            <a:r>
              <a:rPr lang="en-AU" sz="2000" dirty="0">
                <a:latin typeface="Helvetica" pitchFamily="34" charset="0"/>
              </a:rPr>
              <a:t>	Demonstrate basic operational driving </a:t>
            </a:r>
            <a:r>
              <a:rPr lang="en-AU" sz="2000" dirty="0" smtClean="0">
                <a:latin typeface="Helvetica" pitchFamily="34" charset="0"/>
              </a:rPr>
              <a:t>practices</a:t>
            </a:r>
          </a:p>
          <a:p>
            <a:pPr marL="531813" indent="-531813">
              <a:lnSpc>
                <a:spcPct val="150000"/>
              </a:lnSpc>
              <a:spcBef>
                <a:spcPts val="600"/>
              </a:spcBef>
              <a:spcAft>
                <a:spcPts val="600"/>
              </a:spcAft>
              <a:buNone/>
            </a:pPr>
            <a:r>
              <a:rPr lang="en-AU" sz="2000" dirty="0" smtClean="0">
                <a:latin typeface="Helvetica" pitchFamily="34" charset="0"/>
              </a:rPr>
              <a:t>4.2</a:t>
            </a:r>
            <a:r>
              <a:rPr lang="en-AU" sz="2000" dirty="0">
                <a:latin typeface="Helvetica" pitchFamily="34" charset="0"/>
              </a:rPr>
              <a:t>	Demonstrate practices related to the towing of a </a:t>
            </a:r>
            <a:r>
              <a:rPr lang="en-AU" sz="2000" dirty="0" smtClean="0">
                <a:latin typeface="Helvetica" pitchFamily="34" charset="0"/>
              </a:rPr>
              <a:t>trailer</a:t>
            </a:r>
          </a:p>
          <a:p>
            <a:pPr marL="531813" indent="-531813">
              <a:lnSpc>
                <a:spcPct val="150000"/>
              </a:lnSpc>
              <a:spcBef>
                <a:spcPts val="600"/>
              </a:spcBef>
              <a:spcAft>
                <a:spcPts val="600"/>
              </a:spcAft>
              <a:buNone/>
            </a:pPr>
            <a:r>
              <a:rPr lang="en-AU" sz="2000" dirty="0" smtClean="0">
                <a:latin typeface="Helvetica" pitchFamily="34" charset="0"/>
              </a:rPr>
              <a:t>4.3</a:t>
            </a:r>
            <a:r>
              <a:rPr lang="en-AU" sz="2000" dirty="0">
                <a:latin typeface="Helvetica" pitchFamily="34" charset="0"/>
              </a:rPr>
              <a:t>	Demonstrate reversing </a:t>
            </a:r>
            <a:r>
              <a:rPr lang="en-AU" sz="2000" dirty="0" smtClean="0">
                <a:latin typeface="Helvetica" pitchFamily="34" charset="0"/>
              </a:rPr>
              <a:t>practices</a:t>
            </a:r>
          </a:p>
          <a:p>
            <a:pPr marL="531813" indent="-531813">
              <a:lnSpc>
                <a:spcPct val="150000"/>
              </a:lnSpc>
              <a:spcBef>
                <a:spcPts val="600"/>
              </a:spcBef>
              <a:spcAft>
                <a:spcPts val="600"/>
              </a:spcAft>
              <a:buNone/>
            </a:pPr>
            <a:r>
              <a:rPr lang="en-AU" sz="2000" dirty="0" smtClean="0">
                <a:latin typeface="Helvetica" pitchFamily="34" charset="0"/>
              </a:rPr>
              <a:t>4.4</a:t>
            </a:r>
            <a:r>
              <a:rPr lang="en-AU" sz="2000" dirty="0">
                <a:latin typeface="Helvetica" pitchFamily="34" charset="0"/>
              </a:rPr>
              <a:t>	Demonstrate parking and shutting down </a:t>
            </a:r>
            <a:r>
              <a:rPr lang="en-AU" sz="2000" dirty="0" smtClean="0">
                <a:latin typeface="Helvetica" pitchFamily="34" charset="0"/>
              </a:rPr>
              <a:t>procedures</a:t>
            </a:r>
          </a:p>
          <a:p>
            <a:pPr marL="531813" indent="-531813">
              <a:lnSpc>
                <a:spcPct val="150000"/>
              </a:lnSpc>
              <a:spcBef>
                <a:spcPts val="600"/>
              </a:spcBef>
              <a:spcAft>
                <a:spcPts val="600"/>
              </a:spcAft>
              <a:buNone/>
            </a:pPr>
            <a:r>
              <a:rPr lang="en-AU" sz="2000" dirty="0" smtClean="0">
                <a:latin typeface="Helvetica" pitchFamily="34" charset="0"/>
              </a:rPr>
              <a:t>4.5	Identify </a:t>
            </a:r>
            <a:r>
              <a:rPr lang="en-AU" sz="2000" dirty="0">
                <a:latin typeface="Helvetica" pitchFamily="34" charset="0"/>
              </a:rPr>
              <a:t>and modify driving techniques to accommodate driving </a:t>
            </a:r>
            <a:r>
              <a:rPr lang="en-AU" sz="2000" dirty="0" smtClean="0">
                <a:latin typeface="Helvetica" pitchFamily="34" charset="0"/>
              </a:rPr>
              <a:t>hazards</a:t>
            </a:r>
          </a:p>
          <a:p>
            <a:pPr marL="531813" indent="-531813">
              <a:lnSpc>
                <a:spcPct val="150000"/>
              </a:lnSpc>
              <a:spcBef>
                <a:spcPts val="600"/>
              </a:spcBef>
              <a:spcAft>
                <a:spcPts val="600"/>
              </a:spcAft>
              <a:buNone/>
            </a:pPr>
            <a:r>
              <a:rPr lang="en-AU" sz="2000" dirty="0" smtClean="0">
                <a:latin typeface="Helvetica" pitchFamily="34" charset="0"/>
              </a:rPr>
              <a:t>4.6	Modify </a:t>
            </a:r>
            <a:r>
              <a:rPr lang="en-AU" sz="2000" dirty="0">
                <a:latin typeface="Helvetica" pitchFamily="34" charset="0"/>
              </a:rPr>
              <a:t>driving style to accommodate identified vehicle problems and </a:t>
            </a:r>
            <a:r>
              <a:rPr lang="en-AU" sz="2000" dirty="0" smtClean="0">
                <a:latin typeface="Helvetica" pitchFamily="34" charset="0"/>
              </a:rPr>
              <a:t>faults</a:t>
            </a:r>
          </a:p>
          <a:p>
            <a:pPr marL="531813" indent="-531813">
              <a:lnSpc>
                <a:spcPct val="150000"/>
              </a:lnSpc>
              <a:spcBef>
                <a:spcPts val="600"/>
              </a:spcBef>
              <a:spcAft>
                <a:spcPts val="600"/>
              </a:spcAft>
              <a:buNone/>
            </a:pPr>
            <a:r>
              <a:rPr lang="en-AU" sz="2000" dirty="0" smtClean="0">
                <a:latin typeface="Helvetica" pitchFamily="34" charset="0"/>
              </a:rPr>
              <a:t>4.7	Follow </a:t>
            </a:r>
            <a:r>
              <a:rPr lang="en-AU" sz="2000" dirty="0">
                <a:latin typeface="Helvetica" pitchFamily="34" charset="0"/>
              </a:rPr>
              <a:t>emergency procedures</a:t>
            </a:r>
          </a:p>
          <a:p>
            <a:pPr marL="0">
              <a:lnSpc>
                <a:spcPct val="150000"/>
              </a:lnSpc>
              <a:spcBef>
                <a:spcPts val="600"/>
              </a:spcBef>
              <a:spcAft>
                <a:spcPts val="600"/>
              </a:spcAft>
            </a:pPr>
            <a:endParaRPr lang="en-AU"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5009048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AU" sz="3400" b="1" dirty="0">
                <a:solidFill>
                  <a:srgbClr val="FF6600"/>
                </a:solidFill>
                <a:latin typeface="Helvetica" pitchFamily="34" charset="0"/>
              </a:rPr>
              <a:t>4.1	Demonstrate basic operational driving practices</a:t>
            </a: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Standard </a:t>
            </a:r>
            <a:r>
              <a:rPr lang="en-AU" sz="2200" b="1" dirty="0" smtClean="0">
                <a:latin typeface="Helvetica" pitchFamily="34" charset="0"/>
                <a:ea typeface="Times New Roman"/>
                <a:cs typeface="Times New Roman"/>
              </a:rPr>
              <a:t>driving</a:t>
            </a:r>
          </a:p>
          <a:p>
            <a:pPr marL="355600" indent="-355600">
              <a:spcBef>
                <a:spcPts val="600"/>
              </a:spcBef>
              <a:spcAft>
                <a:spcPts val="1200"/>
              </a:spcAft>
            </a:pPr>
            <a:r>
              <a:rPr lang="en-AU" sz="2200" dirty="0" smtClean="0">
                <a:latin typeface="Helvetica" pitchFamily="34" charset="0"/>
                <a:ea typeface="Calibri"/>
                <a:cs typeface="Calibri"/>
              </a:rPr>
              <a:t>Basic </a:t>
            </a:r>
            <a:r>
              <a:rPr lang="en-AU" sz="2200" dirty="0">
                <a:latin typeface="Helvetica" pitchFamily="34" charset="0"/>
                <a:ea typeface="Calibri"/>
                <a:cs typeface="Calibri"/>
              </a:rPr>
              <a:t>operational driving practices must include:</a:t>
            </a:r>
          </a:p>
          <a:p>
            <a:pPr marL="725488" lvl="0" indent="-369888">
              <a:spcBef>
                <a:spcPts val="600"/>
              </a:spcBef>
              <a:spcAft>
                <a:spcPts val="1200"/>
              </a:spcAft>
              <a:buFont typeface="Symbol"/>
              <a:buChar char=""/>
            </a:pPr>
            <a:r>
              <a:rPr lang="en-AU" sz="2200" dirty="0">
                <a:latin typeface="Helvetica" pitchFamily="34" charset="0"/>
                <a:ea typeface="Calibri"/>
                <a:cs typeface="Times New Roman"/>
              </a:rPr>
              <a:t>Compliance with host country driving rules and regulations </a:t>
            </a:r>
          </a:p>
          <a:p>
            <a:pPr marL="725488" lvl="0" indent="-369888">
              <a:spcBef>
                <a:spcPts val="600"/>
              </a:spcBef>
              <a:spcAft>
                <a:spcPts val="1200"/>
              </a:spcAft>
              <a:buFont typeface="Symbol"/>
              <a:buChar char=""/>
            </a:pPr>
            <a:r>
              <a:rPr lang="en-AU" sz="2200" dirty="0">
                <a:latin typeface="Helvetica" pitchFamily="34" charset="0"/>
                <a:ea typeface="Calibri"/>
                <a:cs typeface="Times New Roman"/>
              </a:rPr>
              <a:t>Demonstrated competency under normal driving conditions and touring conditions</a:t>
            </a:r>
          </a:p>
          <a:p>
            <a:pPr marL="725488" lvl="0" indent="-369888">
              <a:spcBef>
                <a:spcPts val="600"/>
              </a:spcBef>
              <a:spcAft>
                <a:spcPts val="1200"/>
              </a:spcAft>
              <a:buFont typeface="Symbol"/>
              <a:buChar char=""/>
            </a:pPr>
            <a:r>
              <a:rPr lang="en-AU" sz="2200" dirty="0">
                <a:latin typeface="Helvetica" pitchFamily="34" charset="0"/>
                <a:ea typeface="Calibri"/>
                <a:cs typeface="Times New Roman"/>
              </a:rPr>
              <a:t>Realisation a licence to drive a car does not entitle the holder to drive a </a:t>
            </a:r>
            <a:r>
              <a:rPr lang="en-AU" sz="2200" dirty="0" smtClean="0">
                <a:latin typeface="Helvetica" pitchFamily="34" charset="0"/>
                <a:ea typeface="Calibri"/>
                <a:cs typeface="Times New Roman"/>
              </a:rPr>
              <a:t>bus/coach</a:t>
            </a:r>
          </a:p>
          <a:p>
            <a:pPr marL="725488" lvl="0" indent="-369888">
              <a:spcBef>
                <a:spcPts val="600"/>
              </a:spcBef>
              <a:spcAft>
                <a:spcPts val="1200"/>
              </a:spcAft>
              <a:buFont typeface="Symbol"/>
              <a:buChar char=""/>
            </a:pPr>
            <a:r>
              <a:rPr lang="en-AU" sz="2200" dirty="0" smtClean="0">
                <a:latin typeface="Helvetica" pitchFamily="34" charset="0"/>
                <a:ea typeface="Calibri"/>
                <a:cs typeface="Times New Roman"/>
              </a:rPr>
              <a:t>…See further points in TM </a:t>
            </a:r>
            <a:endParaRPr lang="en-AU" sz="2200" b="1" dirty="0">
              <a:latin typeface="Helvetica" pitchFamily="34" charset="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13526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715200" cy="5257800"/>
          </a:xfrm>
        </p:spPr>
        <p:txBody>
          <a:bodyPr>
            <a:noAutofit/>
          </a:bodyPr>
          <a:lstStyle/>
          <a:p>
            <a:pPr marL="36576" indent="0">
              <a:spcBef>
                <a:spcPts val="600"/>
              </a:spcBef>
              <a:spcAft>
                <a:spcPts val="600"/>
              </a:spcAft>
              <a:buNone/>
            </a:pPr>
            <a:r>
              <a:rPr lang="en-AU" sz="1500" b="1" dirty="0">
                <a:latin typeface="Helvetica" pitchFamily="34" charset="0"/>
                <a:ea typeface="Calibri"/>
                <a:cs typeface="Calibri"/>
              </a:rPr>
              <a:t>Websites</a:t>
            </a:r>
            <a:endParaRPr lang="en-AU" sz="1500" dirty="0">
              <a:latin typeface="Helvetica" pitchFamily="34" charset="0"/>
              <a:ea typeface="Calibri"/>
              <a:cs typeface="Calibri"/>
            </a:endParaRPr>
          </a:p>
          <a:p>
            <a:pPr marL="355600" indent="-355600">
              <a:spcBef>
                <a:spcPts val="600"/>
              </a:spcBef>
              <a:spcAft>
                <a:spcPts val="600"/>
              </a:spcAft>
            </a:pPr>
            <a:r>
              <a:rPr lang="en-AU" sz="1500" u="sng" dirty="0" smtClean="0">
                <a:solidFill>
                  <a:srgbClr val="0000FF"/>
                </a:solidFill>
                <a:latin typeface="Helvetica" pitchFamily="34" charset="0"/>
                <a:ea typeface="Calibri"/>
                <a:cs typeface="Calibri"/>
                <a:hlinkClick r:id="rId3"/>
              </a:rPr>
              <a:t>https</a:t>
            </a:r>
            <a:r>
              <a:rPr lang="en-AU" sz="1500" u="sng" dirty="0">
                <a:solidFill>
                  <a:srgbClr val="0000FF"/>
                </a:solidFill>
                <a:latin typeface="Helvetica" pitchFamily="34" charset="0"/>
                <a:ea typeface="Calibri"/>
                <a:cs typeface="Calibri"/>
                <a:hlinkClick r:id="rId3"/>
              </a:rPr>
              <a:t>://www.youtube.com/watch?v=K6fT1D2-YYI</a:t>
            </a:r>
            <a:r>
              <a:rPr lang="en-AU" sz="1500" dirty="0">
                <a:latin typeface="Helvetica" pitchFamily="34" charset="0"/>
                <a:ea typeface="Calibri"/>
                <a:cs typeface="Calibri"/>
              </a:rPr>
              <a:t> – Driving safely: defensive driving in a dangerous world</a:t>
            </a:r>
          </a:p>
          <a:p>
            <a:pPr marL="355600" indent="-355600">
              <a:spcBef>
                <a:spcPts val="600"/>
              </a:spcBef>
              <a:spcAft>
                <a:spcPts val="600"/>
              </a:spcAft>
            </a:pPr>
            <a:r>
              <a:rPr lang="en-AU" sz="1500" u="sng" dirty="0">
                <a:solidFill>
                  <a:srgbClr val="0000FF"/>
                </a:solidFill>
                <a:latin typeface="Helvetica" pitchFamily="34" charset="0"/>
                <a:ea typeface="Calibri"/>
                <a:cs typeface="Calibri"/>
                <a:hlinkClick r:id="rId4"/>
              </a:rPr>
              <a:t>https://www.youtube.com/watch?v=tBlm4AV4ovw</a:t>
            </a:r>
            <a:r>
              <a:rPr lang="en-AU" sz="1500" dirty="0">
                <a:latin typeface="Helvetica" pitchFamily="34" charset="0"/>
                <a:ea typeface="Calibri"/>
                <a:cs typeface="Calibri"/>
              </a:rPr>
              <a:t> – Car driving safety tips: Auto Care Series</a:t>
            </a:r>
          </a:p>
          <a:p>
            <a:pPr marL="355600" indent="-355600">
              <a:spcBef>
                <a:spcPts val="600"/>
              </a:spcBef>
              <a:spcAft>
                <a:spcPts val="600"/>
              </a:spcAft>
            </a:pPr>
            <a:r>
              <a:rPr lang="en-AU" sz="1500" u="sng" dirty="0">
                <a:solidFill>
                  <a:srgbClr val="0000FF"/>
                </a:solidFill>
                <a:latin typeface="Helvetica" pitchFamily="34" charset="0"/>
                <a:ea typeface="Calibri"/>
                <a:cs typeface="Calibri"/>
                <a:hlinkClick r:id="rId5"/>
              </a:rPr>
              <a:t>http://www.qld.gov.au/transport/licensing/getting/education/videos/</a:t>
            </a:r>
            <a:r>
              <a:rPr lang="en-AU" sz="1500" dirty="0">
                <a:latin typeface="Helvetica" pitchFamily="34" charset="0"/>
                <a:ea typeface="Calibri"/>
                <a:cs typeface="Calibri"/>
              </a:rPr>
              <a:t> – Safe driving videos, including:</a:t>
            </a:r>
          </a:p>
          <a:p>
            <a:pPr marL="723900" lvl="1" indent="-368300">
              <a:spcBef>
                <a:spcPts val="600"/>
              </a:spcBef>
              <a:spcAft>
                <a:spcPts val="600"/>
              </a:spcAft>
              <a:buFont typeface="Symbol"/>
              <a:buChar char=""/>
            </a:pPr>
            <a:r>
              <a:rPr lang="en-AU" sz="1500" dirty="0">
                <a:latin typeface="Helvetica" pitchFamily="34" charset="0"/>
                <a:ea typeface="Calibri"/>
                <a:cs typeface="Calibri"/>
              </a:rPr>
              <a:t>Pre-drive vehicle safety check</a:t>
            </a:r>
          </a:p>
          <a:p>
            <a:pPr marL="723900" lvl="1" indent="-368300">
              <a:spcBef>
                <a:spcPts val="600"/>
              </a:spcBef>
              <a:spcAft>
                <a:spcPts val="600"/>
              </a:spcAft>
              <a:buFont typeface="Symbol"/>
              <a:buChar char=""/>
            </a:pPr>
            <a:r>
              <a:rPr lang="en-AU" sz="1500" dirty="0">
                <a:latin typeface="Helvetica" pitchFamily="34" charset="0"/>
                <a:ea typeface="Calibri"/>
                <a:cs typeface="Calibri"/>
              </a:rPr>
              <a:t>Getting comfortable in the car</a:t>
            </a:r>
          </a:p>
          <a:p>
            <a:pPr marL="723900" lvl="1" indent="-368300">
              <a:spcBef>
                <a:spcPts val="600"/>
              </a:spcBef>
              <a:spcAft>
                <a:spcPts val="600"/>
              </a:spcAft>
              <a:buFont typeface="Symbol"/>
              <a:buChar char=""/>
            </a:pPr>
            <a:r>
              <a:rPr lang="en-AU" sz="1500" dirty="0">
                <a:latin typeface="Helvetica" pitchFamily="34" charset="0"/>
                <a:ea typeface="Calibri"/>
                <a:cs typeface="Calibri"/>
              </a:rPr>
              <a:t>Basic driving techniques</a:t>
            </a:r>
          </a:p>
          <a:p>
            <a:pPr marL="723900" lvl="1" indent="-368300">
              <a:spcBef>
                <a:spcPts val="600"/>
              </a:spcBef>
              <a:spcAft>
                <a:spcPts val="600"/>
              </a:spcAft>
              <a:buFont typeface="Symbol"/>
              <a:buChar char=""/>
            </a:pPr>
            <a:r>
              <a:rPr lang="en-AU" sz="1500" dirty="0">
                <a:latin typeface="Helvetica" pitchFamily="34" charset="0"/>
                <a:ea typeface="Calibri"/>
                <a:cs typeface="Calibri"/>
              </a:rPr>
              <a:t>Safe driving skills</a:t>
            </a:r>
          </a:p>
          <a:p>
            <a:pPr marL="723900" lvl="1" indent="-368300">
              <a:spcBef>
                <a:spcPts val="600"/>
              </a:spcBef>
              <a:spcAft>
                <a:spcPts val="600"/>
              </a:spcAft>
              <a:buFont typeface="Symbol"/>
              <a:buChar char=""/>
            </a:pPr>
            <a:r>
              <a:rPr lang="en-AU" sz="1500" dirty="0">
                <a:latin typeface="Helvetica" pitchFamily="34" charset="0"/>
                <a:ea typeface="Calibri"/>
                <a:cs typeface="Calibri"/>
              </a:rPr>
              <a:t>Looking out for hazards</a:t>
            </a:r>
          </a:p>
          <a:p>
            <a:pPr marL="723900" lvl="1" indent="-368300">
              <a:spcBef>
                <a:spcPts val="600"/>
              </a:spcBef>
              <a:spcAft>
                <a:spcPts val="600"/>
              </a:spcAft>
              <a:buFont typeface="Symbol"/>
              <a:buChar char=""/>
            </a:pPr>
            <a:r>
              <a:rPr lang="en-AU" sz="1500" dirty="0">
                <a:latin typeface="Helvetica" pitchFamily="34" charset="0"/>
                <a:ea typeface="Calibri"/>
                <a:cs typeface="Calibri"/>
              </a:rPr>
              <a:t>Getting though roundabouts</a:t>
            </a:r>
          </a:p>
          <a:p>
            <a:pPr marL="723900" lvl="1" indent="-368300">
              <a:spcBef>
                <a:spcPts val="600"/>
              </a:spcBef>
              <a:spcAft>
                <a:spcPts val="600"/>
              </a:spcAft>
              <a:buFont typeface="Symbol"/>
              <a:buChar char=""/>
            </a:pPr>
            <a:r>
              <a:rPr lang="en-AU" sz="1500" dirty="0">
                <a:latin typeface="Helvetica" pitchFamily="34" charset="0"/>
                <a:ea typeface="Calibri"/>
                <a:cs typeface="Calibri"/>
              </a:rPr>
              <a:t>Safe stopping </a:t>
            </a:r>
            <a:r>
              <a:rPr lang="en-AU" sz="1500" dirty="0" smtClean="0">
                <a:latin typeface="Helvetica" pitchFamily="34" charset="0"/>
                <a:ea typeface="Calibri"/>
                <a:cs typeface="Calibri"/>
              </a:rPr>
              <a:t>distances</a:t>
            </a:r>
            <a:endParaRPr lang="en-AU" sz="1500" dirty="0">
              <a:latin typeface="Helvetica" pitchFamily="34" charset="0"/>
              <a:ea typeface="Calibri"/>
              <a:cs typeface="Calibri"/>
            </a:endParaRPr>
          </a:p>
          <a:p>
            <a:pPr>
              <a:spcBef>
                <a:spcPts val="600"/>
              </a:spcBef>
              <a:spcAft>
                <a:spcPts val="600"/>
              </a:spcAft>
            </a:pPr>
            <a:endParaRPr lang="en-AU" sz="1500" dirty="0"/>
          </a:p>
        </p:txBody>
      </p:sp>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5976" y="4077072"/>
            <a:ext cx="2203239" cy="1461914"/>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1867185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715200" cy="4997152"/>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Off-road driving</a:t>
            </a:r>
          </a:p>
          <a:p>
            <a:pPr lvl="0">
              <a:lnSpc>
                <a:spcPct val="115000"/>
              </a:lnSpc>
              <a:spcBef>
                <a:spcPts val="600"/>
              </a:spcBef>
              <a:spcAft>
                <a:spcPts val="1200"/>
              </a:spcAft>
              <a:buClr>
                <a:srgbClr val="7FD13B"/>
              </a:buClr>
            </a:pPr>
            <a:r>
              <a:rPr lang="en-AU" sz="2200" dirty="0">
                <a:latin typeface="Helvetica" pitchFamily="34" charset="0"/>
                <a:ea typeface="Times New Roman"/>
                <a:cs typeface="Times New Roman"/>
              </a:rPr>
              <a:t>Ensure the vehicle has been properly prepared for the conditions </a:t>
            </a:r>
          </a:p>
          <a:p>
            <a:pPr>
              <a:lnSpc>
                <a:spcPct val="115000"/>
              </a:lnSpc>
              <a:spcBef>
                <a:spcPts val="600"/>
              </a:spcBef>
              <a:spcAft>
                <a:spcPts val="1200"/>
              </a:spcAft>
            </a:pPr>
            <a:r>
              <a:rPr lang="en-AU" sz="2200" dirty="0" smtClean="0">
                <a:latin typeface="Helvetica" pitchFamily="34" charset="0"/>
                <a:ea typeface="Times New Roman"/>
                <a:cs typeface="Times New Roman"/>
              </a:rPr>
              <a:t>Undertake </a:t>
            </a:r>
            <a:r>
              <a:rPr lang="en-AU" sz="2200" dirty="0">
                <a:latin typeface="Helvetica" pitchFamily="34" charset="0"/>
                <a:ea typeface="Times New Roman"/>
                <a:cs typeface="Times New Roman"/>
              </a:rPr>
              <a:t>basic checks </a:t>
            </a:r>
          </a:p>
          <a:p>
            <a:pPr>
              <a:lnSpc>
                <a:spcPct val="115000"/>
              </a:lnSpc>
              <a:spcBef>
                <a:spcPts val="600"/>
              </a:spcBef>
              <a:spcAft>
                <a:spcPts val="1200"/>
              </a:spcAft>
            </a:pPr>
            <a:r>
              <a:rPr lang="en-AU" sz="2200" dirty="0">
                <a:latin typeface="Helvetica" pitchFamily="34" charset="0"/>
                <a:ea typeface="Times New Roman"/>
                <a:cs typeface="Times New Roman"/>
              </a:rPr>
              <a:t>Inspect or consider the way ahead </a:t>
            </a:r>
          </a:p>
          <a:p>
            <a:pPr>
              <a:lnSpc>
                <a:spcPct val="115000"/>
              </a:lnSpc>
              <a:spcBef>
                <a:spcPts val="600"/>
              </a:spcBef>
              <a:spcAft>
                <a:spcPts val="1200"/>
              </a:spcAft>
            </a:pPr>
            <a:r>
              <a:rPr lang="en-AU" sz="2200" dirty="0">
                <a:latin typeface="Helvetica" pitchFamily="34" charset="0"/>
                <a:ea typeface="Times New Roman"/>
                <a:cs typeface="Times New Roman"/>
              </a:rPr>
              <a:t>Always be prepared </a:t>
            </a:r>
          </a:p>
          <a:p>
            <a:pPr>
              <a:lnSpc>
                <a:spcPct val="115000"/>
              </a:lnSpc>
              <a:spcBef>
                <a:spcPts val="600"/>
              </a:spcBef>
              <a:spcAft>
                <a:spcPts val="1200"/>
              </a:spcAft>
            </a:pPr>
            <a:r>
              <a:rPr lang="en-AU" sz="2200" dirty="0">
                <a:latin typeface="Helvetica" pitchFamily="34" charset="0"/>
                <a:ea typeface="Times New Roman"/>
                <a:cs typeface="Times New Roman"/>
              </a:rPr>
              <a:t>Consider passenger safety </a:t>
            </a:r>
            <a:endParaRPr lang="en-AU" sz="2200" dirty="0" smtClean="0">
              <a:latin typeface="Helvetica" pitchFamily="34" charset="0"/>
              <a:ea typeface="Times New Roman"/>
              <a:cs typeface="Times New Roman"/>
            </a:endParaRPr>
          </a:p>
          <a:p>
            <a:pPr lvl="0">
              <a:lnSpc>
                <a:spcPct val="115000"/>
              </a:lnSpc>
              <a:spcBef>
                <a:spcPts val="600"/>
              </a:spcBef>
              <a:spcAft>
                <a:spcPts val="1200"/>
              </a:spcAft>
              <a:buClr>
                <a:srgbClr val="7FD13B"/>
              </a:buClr>
            </a:pPr>
            <a:r>
              <a:rPr lang="en-AU" sz="2200" dirty="0">
                <a:latin typeface="Helvetica" pitchFamily="34" charset="0"/>
                <a:ea typeface="Times New Roman"/>
                <a:cs typeface="Times New Roman"/>
              </a:rPr>
              <a:t>Engage four-wheel drive </a:t>
            </a:r>
          </a:p>
          <a:p>
            <a:pPr>
              <a:spcBef>
                <a:spcPts val="600"/>
              </a:spcBef>
              <a:spcAft>
                <a:spcPts val="1200"/>
              </a:spcAft>
            </a:pPr>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068960"/>
            <a:ext cx="2149492" cy="1872208"/>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68572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844824"/>
            <a:ext cx="7467600" cy="4281339"/>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Driving on sand </a:t>
            </a:r>
          </a:p>
          <a:p>
            <a:pPr marL="355600" indent="-355600">
              <a:spcBef>
                <a:spcPts val="600"/>
              </a:spcBef>
              <a:spcAft>
                <a:spcPts val="1200"/>
              </a:spcAft>
            </a:pPr>
            <a:r>
              <a:rPr lang="en-AU" sz="2200" dirty="0">
                <a:latin typeface="Helvetica" pitchFamily="34" charset="0"/>
                <a:ea typeface="Calibri"/>
                <a:cs typeface="Calibri"/>
              </a:rPr>
              <a:t>Preparing for </a:t>
            </a:r>
            <a:r>
              <a:rPr lang="en-AU" sz="2200" dirty="0" smtClean="0">
                <a:latin typeface="Helvetica" pitchFamily="34" charset="0"/>
                <a:ea typeface="Calibri"/>
                <a:cs typeface="Calibri"/>
              </a:rPr>
              <a:t>sand</a:t>
            </a:r>
          </a:p>
          <a:p>
            <a:pPr marL="355600" indent="0">
              <a:spcBef>
                <a:spcPts val="600"/>
              </a:spcBef>
              <a:spcAft>
                <a:spcPts val="1200"/>
              </a:spcAft>
              <a:buNone/>
            </a:pPr>
            <a:r>
              <a:rPr lang="en-AU" sz="2200" dirty="0" smtClean="0">
                <a:latin typeface="Helvetica" pitchFamily="34" charset="0"/>
                <a:ea typeface="Calibri"/>
                <a:cs typeface="Calibri"/>
              </a:rPr>
              <a:t>When </a:t>
            </a:r>
            <a:r>
              <a:rPr lang="en-AU" sz="2200" dirty="0">
                <a:latin typeface="Helvetica" pitchFamily="34" charset="0"/>
                <a:ea typeface="Calibri"/>
                <a:cs typeface="Calibri"/>
              </a:rPr>
              <a:t>preparing for soft sand:</a:t>
            </a:r>
          </a:p>
          <a:p>
            <a:pPr marL="722313" lvl="1" indent="-366713">
              <a:spcBef>
                <a:spcPts val="600"/>
              </a:spcBef>
              <a:spcAft>
                <a:spcPts val="1200"/>
              </a:spcAft>
            </a:pPr>
            <a:r>
              <a:rPr lang="en-AU" sz="2200" dirty="0" smtClean="0">
                <a:latin typeface="Helvetica" pitchFamily="34" charset="0"/>
                <a:ea typeface="Times New Roman"/>
                <a:cs typeface="Times New Roman"/>
              </a:rPr>
              <a:t>Lower </a:t>
            </a:r>
            <a:r>
              <a:rPr lang="en-AU" sz="2200" dirty="0">
                <a:latin typeface="Helvetica" pitchFamily="34" charset="0"/>
                <a:ea typeface="Times New Roman"/>
                <a:cs typeface="Times New Roman"/>
              </a:rPr>
              <a:t>tyre pressure of 4WD vehicle </a:t>
            </a:r>
            <a:endParaRPr lang="en-AU" sz="2200" dirty="0" smtClean="0">
              <a:latin typeface="Helvetica" pitchFamily="34" charset="0"/>
              <a:ea typeface="Times New Roman"/>
              <a:cs typeface="Times New Roman"/>
            </a:endParaRPr>
          </a:p>
          <a:p>
            <a:pPr marL="722313" lvl="1" indent="-366713">
              <a:spcBef>
                <a:spcPts val="600"/>
              </a:spcBef>
              <a:spcAft>
                <a:spcPts val="1200"/>
              </a:spcAft>
            </a:pPr>
            <a:r>
              <a:rPr lang="en-AU" sz="2200" dirty="0">
                <a:latin typeface="Helvetica" pitchFamily="34" charset="0"/>
                <a:ea typeface="Times New Roman"/>
                <a:cs typeface="Times New Roman"/>
              </a:rPr>
              <a:t>Lower tyre pressure of </a:t>
            </a:r>
            <a:r>
              <a:rPr lang="en-AU" sz="2200" dirty="0" smtClean="0">
                <a:latin typeface="Helvetica" pitchFamily="34" charset="0"/>
                <a:ea typeface="Times New Roman"/>
                <a:cs typeface="Times New Roman"/>
              </a:rPr>
              <a:t>trailer </a:t>
            </a:r>
          </a:p>
          <a:p>
            <a:pPr marL="355600" indent="-355600">
              <a:spcBef>
                <a:spcPts val="600"/>
              </a:spcBef>
              <a:spcAft>
                <a:spcPts val="1200"/>
              </a:spcAft>
            </a:pPr>
            <a:r>
              <a:rPr lang="en-AU" sz="2200" u="sng" dirty="0" smtClean="0">
                <a:latin typeface="Helvetica" pitchFamily="34" charset="0"/>
                <a:ea typeface="Calibri"/>
                <a:cs typeface="Calibri"/>
                <a:hlinkClick r:id="rId3"/>
              </a:rPr>
              <a:t>http</a:t>
            </a:r>
            <a:r>
              <a:rPr lang="en-AU" sz="2200" u="sng" dirty="0">
                <a:latin typeface="Helvetica" pitchFamily="34" charset="0"/>
                <a:ea typeface="Calibri"/>
                <a:cs typeface="Calibri"/>
                <a:hlinkClick r:id="rId3"/>
              </a:rPr>
              <a:t>://www.offroadaussie.com/2013/02/4wd-tips-and-tricks-tyre-pressure/</a:t>
            </a:r>
            <a:r>
              <a:rPr lang="en-AU" sz="2200" dirty="0">
                <a:latin typeface="Helvetica" pitchFamily="34" charset="0"/>
                <a:ea typeface="Calibri"/>
                <a:cs typeface="Calibri"/>
              </a:rPr>
              <a:t> - </a:t>
            </a:r>
            <a:r>
              <a:rPr lang="en-AU" sz="2200" dirty="0" smtClean="0">
                <a:latin typeface="Helvetica" pitchFamily="34" charset="0"/>
                <a:ea typeface="Calibri"/>
                <a:cs typeface="Calibri"/>
              </a:rPr>
              <a:t>4WD </a:t>
            </a:r>
            <a:r>
              <a:rPr lang="en-AU" sz="2200" dirty="0">
                <a:latin typeface="Helvetica" pitchFamily="34" charset="0"/>
                <a:ea typeface="Calibri"/>
                <a:cs typeface="Calibri"/>
              </a:rPr>
              <a:t>tricks and tips: tyre </a:t>
            </a:r>
            <a:r>
              <a:rPr lang="en-AU" sz="2200" dirty="0" smtClean="0">
                <a:latin typeface="Helvetica" pitchFamily="34" charset="0"/>
                <a:ea typeface="Calibri"/>
                <a:cs typeface="Calibri"/>
              </a:rPr>
              <a:t>pressure</a:t>
            </a:r>
            <a:endParaRPr lang="en-AU" sz="2200" dirty="0">
              <a:latin typeface="Helvetica" pitchFamily="34" charset="0"/>
              <a:ea typeface="Calibri"/>
              <a:cs typeface="Calibri"/>
            </a:endParaRPr>
          </a:p>
          <a:p>
            <a:pPr lvl="1">
              <a:spcBef>
                <a:spcPts val="600"/>
              </a:spcBef>
              <a:spcAft>
                <a:spcPts val="1200"/>
              </a:spcAft>
            </a:pPr>
            <a:endParaRPr lang="en-AU" sz="2200" dirty="0"/>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92080" y="1772816"/>
            <a:ext cx="2483768" cy="1606997"/>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7064165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643192" cy="5141168"/>
          </a:xfrm>
        </p:spPr>
        <p:txBody>
          <a:bodyPr>
            <a:normAutofit/>
          </a:bodyPr>
          <a:lstStyle/>
          <a:p>
            <a:pPr marL="36576" indent="0">
              <a:spcBef>
                <a:spcPts val="600"/>
              </a:spcBef>
              <a:spcAft>
                <a:spcPts val="600"/>
              </a:spcAft>
              <a:buNone/>
            </a:pPr>
            <a:r>
              <a:rPr lang="en-AU" sz="2200" b="1" dirty="0">
                <a:latin typeface="Helvetica" pitchFamily="34" charset="0"/>
                <a:ea typeface="Calibri"/>
                <a:cs typeface="Calibri"/>
              </a:rPr>
              <a:t>Driving on hard sand</a:t>
            </a:r>
            <a:endParaRPr lang="en-AU" sz="2200" dirty="0">
              <a:latin typeface="Helvetica" pitchFamily="34" charset="0"/>
              <a:ea typeface="Calibri"/>
              <a:cs typeface="Calibri"/>
            </a:endParaRPr>
          </a:p>
          <a:p>
            <a:pPr marL="355600" indent="-355600">
              <a:spcBef>
                <a:spcPts val="600"/>
              </a:spcBef>
              <a:spcAft>
                <a:spcPts val="600"/>
              </a:spcAft>
            </a:pPr>
            <a:r>
              <a:rPr lang="en-AU" sz="2200" dirty="0" smtClean="0">
                <a:latin typeface="Helvetica" pitchFamily="34" charset="0"/>
                <a:ea typeface="Calibri"/>
                <a:cs typeface="Calibri"/>
              </a:rPr>
              <a:t>Techniques </a:t>
            </a:r>
            <a:r>
              <a:rPr lang="en-AU" sz="2200" dirty="0">
                <a:latin typeface="Helvetica" pitchFamily="34" charset="0"/>
                <a:ea typeface="Calibri"/>
                <a:cs typeface="Calibri"/>
              </a:rPr>
              <a:t>for driving a 4WD on hard sand include:</a:t>
            </a:r>
          </a:p>
          <a:p>
            <a:pPr marL="723900" lvl="1" indent="-368300">
              <a:spcBef>
                <a:spcPts val="600"/>
              </a:spcBef>
              <a:spcAft>
                <a:spcPts val="600"/>
              </a:spcAft>
              <a:buFont typeface="Symbol"/>
              <a:buChar char=""/>
            </a:pPr>
            <a:r>
              <a:rPr lang="en-AU" sz="2200" dirty="0">
                <a:latin typeface="Helvetica" pitchFamily="34" charset="0"/>
                <a:ea typeface="Calibri"/>
                <a:cs typeface="Times New Roman"/>
              </a:rPr>
              <a:t>Reduce tyre pressure slightly </a:t>
            </a:r>
          </a:p>
          <a:p>
            <a:pPr marL="723900" lvl="1" indent="-368300">
              <a:spcBef>
                <a:spcPts val="600"/>
              </a:spcBef>
              <a:spcAft>
                <a:spcPts val="600"/>
              </a:spcAft>
              <a:buFont typeface="Symbol"/>
              <a:buChar char=""/>
            </a:pPr>
            <a:r>
              <a:rPr lang="en-AU" sz="2200" dirty="0" smtClean="0">
                <a:latin typeface="Helvetica" pitchFamily="34" charset="0"/>
                <a:ea typeface="Calibri"/>
                <a:cs typeface="Times New Roman"/>
              </a:rPr>
              <a:t>Engage </a:t>
            </a:r>
            <a:r>
              <a:rPr lang="en-AU" sz="2200" dirty="0">
                <a:latin typeface="Helvetica" pitchFamily="34" charset="0"/>
                <a:ea typeface="Calibri"/>
                <a:cs typeface="Times New Roman"/>
              </a:rPr>
              <a:t>4WD – which may require locking in hubs</a:t>
            </a:r>
          </a:p>
          <a:p>
            <a:pPr marL="723900" lvl="1" indent="-368300">
              <a:spcBef>
                <a:spcPts val="600"/>
              </a:spcBef>
              <a:spcAft>
                <a:spcPts val="600"/>
              </a:spcAft>
              <a:buFont typeface="Symbol"/>
              <a:buChar char=""/>
            </a:pPr>
            <a:r>
              <a:rPr lang="en-AU" sz="2200" dirty="0">
                <a:latin typeface="Helvetica" pitchFamily="34" charset="0"/>
                <a:ea typeface="Calibri"/>
                <a:cs typeface="Times New Roman"/>
              </a:rPr>
              <a:t>Select High range</a:t>
            </a:r>
          </a:p>
          <a:p>
            <a:pPr marL="723900" lvl="1" indent="-368300">
              <a:spcBef>
                <a:spcPts val="600"/>
              </a:spcBef>
              <a:spcAft>
                <a:spcPts val="600"/>
              </a:spcAft>
              <a:buFont typeface="Symbol"/>
              <a:buChar char=""/>
            </a:pPr>
            <a:r>
              <a:rPr lang="en-AU" sz="2200" dirty="0">
                <a:latin typeface="Helvetica" pitchFamily="34" charset="0"/>
                <a:ea typeface="Calibri"/>
                <a:cs typeface="Times New Roman"/>
              </a:rPr>
              <a:t>Drive off choosing gear/s appropriate to </a:t>
            </a:r>
            <a:r>
              <a:rPr lang="en-AU" sz="2200" dirty="0" smtClean="0">
                <a:latin typeface="Helvetica" pitchFamily="34" charset="0"/>
                <a:ea typeface="Calibri"/>
                <a:cs typeface="Times New Roman"/>
              </a:rPr>
              <a:t>conditions,</a:t>
            </a:r>
          </a:p>
          <a:p>
            <a:pPr marL="723900" lvl="1" indent="-368300">
              <a:spcBef>
                <a:spcPts val="600"/>
              </a:spcBef>
              <a:spcAft>
                <a:spcPts val="600"/>
              </a:spcAft>
              <a:buFont typeface="Symbol"/>
              <a:buChar char=""/>
            </a:pPr>
            <a:r>
              <a:rPr lang="en-AU" sz="2200" dirty="0" smtClean="0">
                <a:latin typeface="Helvetica" pitchFamily="34" charset="0"/>
                <a:ea typeface="Calibri"/>
                <a:cs typeface="Times New Roman"/>
              </a:rPr>
              <a:t>Travel </a:t>
            </a:r>
            <a:r>
              <a:rPr lang="en-AU" sz="2200" dirty="0">
                <a:latin typeface="Helvetica" pitchFamily="34" charset="0"/>
                <a:ea typeface="Calibri"/>
                <a:cs typeface="Times New Roman"/>
              </a:rPr>
              <a:t>at a reduced speed </a:t>
            </a:r>
            <a:endParaRPr lang="en-AU" sz="2200" dirty="0" smtClean="0">
              <a:latin typeface="Helvetica" pitchFamily="34" charset="0"/>
              <a:ea typeface="Calibri"/>
              <a:cs typeface="Times New Roman"/>
            </a:endParaRPr>
          </a:p>
          <a:p>
            <a:pPr marL="723900" lvl="1" indent="-368300">
              <a:spcBef>
                <a:spcPts val="600"/>
              </a:spcBef>
              <a:spcAft>
                <a:spcPts val="600"/>
              </a:spcAft>
              <a:buFont typeface="Symbol"/>
              <a:buChar char=""/>
            </a:pPr>
            <a:r>
              <a:rPr lang="en-AU" sz="2200" dirty="0" smtClean="0">
                <a:latin typeface="Helvetica" pitchFamily="34" charset="0"/>
                <a:ea typeface="Calibri"/>
                <a:cs typeface="Times New Roman"/>
              </a:rPr>
              <a:t>Avoid </a:t>
            </a:r>
            <a:r>
              <a:rPr lang="en-AU" sz="2200" dirty="0">
                <a:latin typeface="Helvetica" pitchFamily="34" charset="0"/>
                <a:ea typeface="Calibri"/>
                <a:cs typeface="Times New Roman"/>
              </a:rPr>
              <a:t>contact with salt water wherever possible </a:t>
            </a:r>
          </a:p>
          <a:p>
            <a:pPr marL="723900" lvl="1" indent="-368300">
              <a:spcBef>
                <a:spcPts val="600"/>
              </a:spcBef>
              <a:spcAft>
                <a:spcPts val="600"/>
              </a:spcAft>
              <a:buFont typeface="Symbol"/>
              <a:buChar char=""/>
            </a:pPr>
            <a:r>
              <a:rPr lang="en-AU" sz="2200" dirty="0" smtClean="0">
                <a:latin typeface="Helvetica" pitchFamily="34" charset="0"/>
                <a:ea typeface="Calibri"/>
                <a:cs typeface="Times New Roman"/>
              </a:rPr>
              <a:t>Re-inflate </a:t>
            </a:r>
            <a:r>
              <a:rPr lang="en-AU" sz="2200" dirty="0">
                <a:latin typeface="Helvetica" pitchFamily="34" charset="0"/>
                <a:ea typeface="Calibri"/>
                <a:cs typeface="Times New Roman"/>
              </a:rPr>
              <a:t>tyres when sand driving is </a:t>
            </a:r>
            <a:r>
              <a:rPr lang="en-AU" sz="2200" dirty="0" smtClean="0">
                <a:latin typeface="Helvetica" pitchFamily="34" charset="0"/>
                <a:ea typeface="Calibri"/>
                <a:cs typeface="Times New Roman"/>
              </a:rPr>
              <a:t>completed</a:t>
            </a: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68572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28800"/>
            <a:ext cx="7715200" cy="4896544"/>
          </a:xfrm>
        </p:spPr>
        <p:txBody>
          <a:bodyPr>
            <a:normAutofit/>
          </a:bodyPr>
          <a:lstStyle/>
          <a:p>
            <a:pPr marL="36576" indent="0">
              <a:spcBef>
                <a:spcPts val="1200"/>
              </a:spcBef>
              <a:spcAft>
                <a:spcPts val="600"/>
              </a:spcAft>
              <a:buNone/>
            </a:pPr>
            <a:r>
              <a:rPr lang="en-AU" sz="2200" b="1" dirty="0">
                <a:latin typeface="Helvetica" pitchFamily="34" charset="0"/>
                <a:ea typeface="Calibri"/>
                <a:cs typeface="Calibri"/>
              </a:rPr>
              <a:t>Driving on soft sand </a:t>
            </a:r>
            <a:endParaRPr lang="en-AU" sz="2200" dirty="0">
              <a:latin typeface="Helvetica" pitchFamily="34" charset="0"/>
              <a:ea typeface="Calibri"/>
              <a:cs typeface="Calibri"/>
            </a:endParaRPr>
          </a:p>
          <a:p>
            <a:pPr marL="342900" lvl="0" indent="-342900">
              <a:spcBef>
                <a:spcPts val="1200"/>
              </a:spcBef>
              <a:spcAft>
                <a:spcPts val="600"/>
              </a:spcAft>
              <a:buFont typeface="Symbol"/>
              <a:buChar char=""/>
            </a:pPr>
            <a:r>
              <a:rPr lang="en-AU" sz="2200" dirty="0">
                <a:latin typeface="Helvetica" pitchFamily="34" charset="0"/>
                <a:ea typeface="Calibri"/>
                <a:cs typeface="Times New Roman"/>
              </a:rPr>
              <a:t>Deflate tyres – to around 16 psi/110kPa or lower depending on sand depth/condition</a:t>
            </a:r>
          </a:p>
          <a:p>
            <a:pPr marL="342900" lvl="0" indent="-342900">
              <a:spcBef>
                <a:spcPts val="1200"/>
              </a:spcBef>
              <a:spcAft>
                <a:spcPts val="600"/>
              </a:spcAft>
              <a:buFont typeface="Symbol"/>
              <a:buChar char=""/>
            </a:pPr>
            <a:r>
              <a:rPr lang="en-AU" sz="2200" dirty="0">
                <a:latin typeface="Helvetica" pitchFamily="34" charset="0"/>
                <a:ea typeface="Calibri"/>
                <a:cs typeface="Times New Roman"/>
              </a:rPr>
              <a:t>Attach sand/warning flags to the vehicle if driving in areas where there are hills/dunes – to hep indicate location of the vehicle to others in the area</a:t>
            </a:r>
          </a:p>
          <a:p>
            <a:pPr marL="342900" lvl="0" indent="-342900">
              <a:spcBef>
                <a:spcPts val="1200"/>
              </a:spcBef>
              <a:spcAft>
                <a:spcPts val="600"/>
              </a:spcAft>
              <a:buFont typeface="Symbol"/>
              <a:buChar char=""/>
            </a:pPr>
            <a:r>
              <a:rPr lang="en-AU" sz="2200" dirty="0">
                <a:latin typeface="Helvetica" pitchFamily="34" charset="0"/>
                <a:ea typeface="Calibri"/>
                <a:cs typeface="Times New Roman"/>
              </a:rPr>
              <a:t>Check recovery gear is available – to use should the vehicle become </a:t>
            </a:r>
            <a:r>
              <a:rPr lang="en-AU" sz="2200" dirty="0" smtClean="0">
                <a:latin typeface="Helvetica" pitchFamily="34" charset="0"/>
                <a:ea typeface="Calibri"/>
                <a:cs typeface="Times New Roman"/>
              </a:rPr>
              <a:t>stuck</a:t>
            </a:r>
          </a:p>
          <a:p>
            <a:pPr marL="342900" lvl="0" indent="-342900">
              <a:spcBef>
                <a:spcPts val="1200"/>
              </a:spcBef>
              <a:spcAft>
                <a:spcPts val="600"/>
              </a:spcAft>
              <a:buFont typeface="Symbol"/>
              <a:buChar char=""/>
            </a:pPr>
            <a:r>
              <a:rPr lang="en-AU" sz="2200" dirty="0" smtClean="0">
                <a:latin typeface="Helvetica" pitchFamily="34" charset="0"/>
                <a:ea typeface="Calibri"/>
                <a:cs typeface="Times New Roman"/>
              </a:rPr>
              <a:t>….additional points in TM</a:t>
            </a:r>
            <a:endParaRPr lang="en-AU" sz="2200" dirty="0">
              <a:latin typeface="Helvetica" pitchFamily="34" charset="0"/>
              <a:ea typeface="Calibri"/>
              <a:cs typeface="Times New Roman"/>
            </a:endParaRPr>
          </a:p>
          <a:p>
            <a:pPr>
              <a:spcBef>
                <a:spcPts val="1200"/>
              </a:spcBef>
              <a:spcAft>
                <a:spcPts val="600"/>
              </a:spcAft>
            </a:pP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685729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643192" cy="5069160"/>
          </a:xfrm>
        </p:spPr>
        <p:txBody>
          <a:bodyPr>
            <a:noAutofit/>
          </a:bodyPr>
          <a:lstStyle/>
          <a:p>
            <a:pPr marL="36576" indent="0">
              <a:spcBef>
                <a:spcPts val="600"/>
              </a:spcBef>
              <a:spcAft>
                <a:spcPts val="600"/>
              </a:spcAft>
              <a:buNone/>
            </a:pPr>
            <a:r>
              <a:rPr lang="en-AU" sz="1600" b="1" dirty="0">
                <a:latin typeface="Helvetica" pitchFamily="34" charset="0"/>
                <a:ea typeface="Calibri"/>
                <a:cs typeface="Calibri"/>
              </a:rPr>
              <a:t>Websites</a:t>
            </a:r>
            <a:endParaRPr lang="en-AU" sz="1600" dirty="0">
              <a:latin typeface="Helvetica" pitchFamily="34" charset="0"/>
              <a:ea typeface="Calibri"/>
              <a:cs typeface="Calibri"/>
            </a:endParaRPr>
          </a:p>
          <a:p>
            <a:pPr>
              <a:spcBef>
                <a:spcPts val="600"/>
              </a:spcBef>
              <a:spcAft>
                <a:spcPts val="600"/>
              </a:spcAft>
            </a:pPr>
            <a:r>
              <a:rPr lang="en-AU" sz="1600" u="sng" dirty="0" smtClean="0">
                <a:solidFill>
                  <a:srgbClr val="0000FF"/>
                </a:solidFill>
                <a:latin typeface="Helvetica" pitchFamily="34" charset="0"/>
                <a:ea typeface="Calibri"/>
                <a:cs typeface="Calibri"/>
                <a:hlinkClick r:id="rId3"/>
              </a:rPr>
              <a:t>http</a:t>
            </a:r>
            <a:r>
              <a:rPr lang="en-AU" sz="1600" u="sng" dirty="0">
                <a:solidFill>
                  <a:srgbClr val="0000FF"/>
                </a:solidFill>
                <a:latin typeface="Helvetica" pitchFamily="34" charset="0"/>
                <a:ea typeface="Calibri"/>
                <a:cs typeface="Calibri"/>
                <a:hlinkClick r:id="rId3"/>
              </a:rPr>
              <a:t>://4xoverland.com/how-do-4x4s-work/4x4-driving/</a:t>
            </a:r>
            <a:r>
              <a:rPr lang="en-AU" sz="1600" dirty="0">
                <a:latin typeface="Helvetica" pitchFamily="34" charset="0"/>
                <a:ea typeface="Calibri"/>
                <a:cs typeface="Calibri"/>
              </a:rPr>
              <a:t> – </a:t>
            </a:r>
            <a:r>
              <a:rPr lang="en-AU" sz="1600" dirty="0" smtClean="0">
                <a:latin typeface="Helvetica" pitchFamily="34" charset="0"/>
                <a:ea typeface="Calibri"/>
                <a:cs typeface="Calibri"/>
              </a:rPr>
              <a:t>How </a:t>
            </a:r>
            <a:r>
              <a:rPr lang="en-AU" sz="1600" dirty="0">
                <a:latin typeface="Helvetica" pitchFamily="34" charset="0"/>
                <a:ea typeface="Calibri"/>
                <a:cs typeface="Calibri"/>
              </a:rPr>
              <a:t>to drive a 4x4 off road [Sand driving]</a:t>
            </a:r>
          </a:p>
          <a:p>
            <a:pPr>
              <a:spcBef>
                <a:spcPts val="600"/>
              </a:spcBef>
              <a:spcAft>
                <a:spcPts val="600"/>
              </a:spcAft>
            </a:pPr>
            <a:r>
              <a:rPr lang="en-AU" sz="1600" u="sng" dirty="0">
                <a:solidFill>
                  <a:srgbClr val="0000FF"/>
                </a:solidFill>
                <a:latin typeface="Helvetica" pitchFamily="34" charset="0"/>
                <a:ea typeface="Calibri"/>
                <a:cs typeface="Calibri"/>
                <a:hlinkClick r:id="rId4"/>
              </a:rPr>
              <a:t>https://www.youtube.com/watch?v=iT0Zph4h-L4</a:t>
            </a:r>
            <a:r>
              <a:rPr lang="en-AU" sz="1600" dirty="0">
                <a:latin typeface="Helvetica" pitchFamily="34" charset="0"/>
                <a:ea typeface="Calibri"/>
                <a:cs typeface="Calibri"/>
              </a:rPr>
              <a:t> – ExpeditionOz 4WD Skills: Sand driving</a:t>
            </a:r>
          </a:p>
          <a:p>
            <a:pPr>
              <a:spcBef>
                <a:spcPts val="600"/>
              </a:spcBef>
              <a:spcAft>
                <a:spcPts val="600"/>
              </a:spcAft>
            </a:pPr>
            <a:r>
              <a:rPr lang="en-AU" sz="1600" u="sng" dirty="0">
                <a:solidFill>
                  <a:srgbClr val="0000FF"/>
                </a:solidFill>
                <a:latin typeface="Helvetica" pitchFamily="34" charset="0"/>
                <a:ea typeface="Calibri"/>
                <a:cs typeface="Calibri"/>
                <a:hlinkClick r:id="rId5"/>
              </a:rPr>
              <a:t>https://www.youtube.com/watch?v=I2bA6aC4g50</a:t>
            </a:r>
            <a:r>
              <a:rPr lang="en-AU" sz="1600" dirty="0">
                <a:latin typeface="Helvetica" pitchFamily="34" charset="0"/>
                <a:ea typeface="Calibri"/>
                <a:cs typeface="Calibri"/>
              </a:rPr>
              <a:t> </a:t>
            </a:r>
            <a:r>
              <a:rPr lang="en-AU" sz="1600" dirty="0" smtClean="0">
                <a:latin typeface="Helvetica" pitchFamily="34" charset="0"/>
                <a:ea typeface="Calibri"/>
                <a:cs typeface="Calibri"/>
              </a:rPr>
              <a:t>– Soft </a:t>
            </a:r>
            <a:r>
              <a:rPr lang="en-AU" sz="1600" dirty="0">
                <a:latin typeface="Helvetica" pitchFamily="34" charset="0"/>
                <a:ea typeface="Calibri"/>
                <a:cs typeface="Calibri"/>
              </a:rPr>
              <a:t>sand driving</a:t>
            </a:r>
          </a:p>
          <a:p>
            <a:pPr>
              <a:spcBef>
                <a:spcPts val="600"/>
              </a:spcBef>
              <a:spcAft>
                <a:spcPts val="600"/>
              </a:spcAft>
            </a:pPr>
            <a:r>
              <a:rPr lang="en-AU" sz="1600" u="sng" dirty="0">
                <a:solidFill>
                  <a:srgbClr val="0000FF"/>
                </a:solidFill>
                <a:latin typeface="Helvetica" pitchFamily="34" charset="0"/>
                <a:ea typeface="Calibri"/>
                <a:cs typeface="Calibri"/>
                <a:hlinkClick r:id="rId6"/>
              </a:rPr>
              <a:t>https://www.youtube.com/watch?v=KHI_cMrvsrM</a:t>
            </a:r>
            <a:r>
              <a:rPr lang="en-AU" sz="1600" dirty="0">
                <a:latin typeface="Helvetica" pitchFamily="34" charset="0"/>
                <a:ea typeface="Calibri"/>
                <a:cs typeface="Calibri"/>
              </a:rPr>
              <a:t> – 4x4: How to drive on sand tracks</a:t>
            </a:r>
          </a:p>
          <a:p>
            <a:pPr>
              <a:spcBef>
                <a:spcPts val="600"/>
              </a:spcBef>
              <a:spcAft>
                <a:spcPts val="600"/>
              </a:spcAft>
            </a:pPr>
            <a:r>
              <a:rPr lang="en-AU" sz="1600" u="sng" dirty="0">
                <a:solidFill>
                  <a:srgbClr val="0000FF"/>
                </a:solidFill>
                <a:latin typeface="Helvetica" pitchFamily="34" charset="0"/>
                <a:ea typeface="Calibri"/>
                <a:cs typeface="Calibri"/>
                <a:hlinkClick r:id="rId7"/>
              </a:rPr>
              <a:t>http://www.outbackcrossing.com.au/FourWheelDrive/How_To_Drive_0n_Sand.shtml</a:t>
            </a:r>
            <a:r>
              <a:rPr lang="en-AU" sz="1600" dirty="0">
                <a:latin typeface="Helvetica" pitchFamily="34" charset="0"/>
                <a:ea typeface="Calibri"/>
                <a:cs typeface="Calibri"/>
              </a:rPr>
              <a:t> – How to drive on sand</a:t>
            </a:r>
          </a:p>
          <a:p>
            <a:pPr>
              <a:spcBef>
                <a:spcPts val="600"/>
              </a:spcBef>
              <a:spcAft>
                <a:spcPts val="600"/>
              </a:spcAft>
            </a:pPr>
            <a:r>
              <a:rPr lang="en-AU" sz="1600" u="sng" dirty="0">
                <a:solidFill>
                  <a:srgbClr val="0000FF"/>
                </a:solidFill>
                <a:latin typeface="Helvetica" pitchFamily="34" charset="0"/>
                <a:ea typeface="Calibri"/>
                <a:cs typeface="Calibri"/>
                <a:hlinkClick r:id="rId8"/>
              </a:rPr>
              <a:t>https://www.youtube.com/watch?v=lnt_D9zKjiY</a:t>
            </a:r>
            <a:r>
              <a:rPr lang="en-AU" sz="1600" dirty="0">
                <a:latin typeface="Helvetica" pitchFamily="34" charset="0"/>
                <a:ea typeface="Calibri"/>
                <a:cs typeface="Calibri"/>
              </a:rPr>
              <a:t> – Tips for beginners: Driving on sand, dunes and beaches</a:t>
            </a:r>
          </a:p>
          <a:p>
            <a:pPr>
              <a:spcBef>
                <a:spcPts val="600"/>
              </a:spcBef>
              <a:spcAft>
                <a:spcPts val="600"/>
              </a:spcAft>
            </a:pPr>
            <a:r>
              <a:rPr lang="en-AU" sz="1600" u="sng" dirty="0">
                <a:solidFill>
                  <a:srgbClr val="0000FF"/>
                </a:solidFill>
                <a:latin typeface="Helvetica" pitchFamily="34" charset="0"/>
                <a:ea typeface="Calibri"/>
                <a:cs typeface="Calibri"/>
                <a:hlinkClick r:id="rId9"/>
              </a:rPr>
              <a:t>http://www.iventureclub.com.au/4x4-tips/article.html?k=YqKAOl33YuQ</a:t>
            </a:r>
            <a:r>
              <a:rPr lang="en-AU" sz="1600" dirty="0">
                <a:latin typeface="Helvetica" pitchFamily="34" charset="0"/>
                <a:ea typeface="Calibri"/>
                <a:cs typeface="Calibri"/>
              </a:rPr>
              <a:t> – 4x4 tip: Sand </a:t>
            </a:r>
            <a:r>
              <a:rPr lang="en-AU" sz="1600" dirty="0" smtClean="0">
                <a:latin typeface="Helvetica" pitchFamily="34" charset="0"/>
                <a:ea typeface="Calibri"/>
                <a:cs typeface="Calibri"/>
              </a:rPr>
              <a:t>driving</a:t>
            </a:r>
            <a:endParaRPr lang="en-AU" sz="1600" dirty="0">
              <a:latin typeface="Helvetica" pitchFamily="34" charset="0"/>
              <a:ea typeface="Calibri"/>
              <a:cs typeface="Calibri"/>
            </a:endParaRPr>
          </a:p>
          <a:p>
            <a:pPr>
              <a:spcBef>
                <a:spcPts val="600"/>
              </a:spcBef>
              <a:spcAft>
                <a:spcPts val="600"/>
              </a:spcAft>
            </a:pPr>
            <a:endParaRPr lang="en-AU" sz="16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685729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700808"/>
            <a:ext cx="7859216" cy="4824536"/>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Driving on very soft ground or through mud</a:t>
            </a:r>
          </a:p>
          <a:p>
            <a:pPr marL="419100" indent="-419100">
              <a:spcBef>
                <a:spcPts val="600"/>
              </a:spcBef>
              <a:spcAft>
                <a:spcPts val="1200"/>
              </a:spcAft>
            </a:pPr>
            <a:r>
              <a:rPr lang="en-AU" sz="2200" dirty="0">
                <a:latin typeface="Helvetica" pitchFamily="34" charset="0"/>
                <a:ea typeface="Calibri"/>
                <a:cs typeface="Calibri"/>
              </a:rPr>
              <a:t>Techniques/indicative action includes: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Inspecting the route </a:t>
            </a:r>
            <a:endParaRPr lang="en-AU" sz="2200" dirty="0" smtClean="0">
              <a:latin typeface="Helvetica" pitchFamily="34" charset="0"/>
              <a:ea typeface="Calibri"/>
              <a:cs typeface="Times New Roman"/>
            </a:endParaRP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Dropping </a:t>
            </a:r>
            <a:r>
              <a:rPr lang="en-AU" sz="2200" dirty="0">
                <a:latin typeface="Helvetica" pitchFamily="34" charset="0"/>
                <a:ea typeface="Calibri"/>
                <a:cs typeface="Times New Roman"/>
              </a:rPr>
              <a:t>tyre </a:t>
            </a:r>
            <a:r>
              <a:rPr lang="en-AU" sz="2200" dirty="0" smtClean="0">
                <a:latin typeface="Helvetica" pitchFamily="34" charset="0"/>
                <a:ea typeface="Calibri"/>
                <a:cs typeface="Times New Roman"/>
              </a:rPr>
              <a:t>pressure</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Engaging </a:t>
            </a:r>
            <a:r>
              <a:rPr lang="en-AU" sz="2200" dirty="0">
                <a:latin typeface="Helvetica" pitchFamily="34" charset="0"/>
                <a:ea typeface="Calibri"/>
                <a:cs typeface="Times New Roman"/>
              </a:rPr>
              <a:t>4WD</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Locking diffs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Selecting </a:t>
            </a:r>
            <a:r>
              <a:rPr lang="en-AU" sz="2200" dirty="0" smtClean="0">
                <a:latin typeface="Helvetica" pitchFamily="34" charset="0"/>
                <a:ea typeface="Calibri"/>
                <a:cs typeface="Times New Roman"/>
              </a:rPr>
              <a:t>low range</a:t>
            </a:r>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9992" y="2996952"/>
            <a:ext cx="2200494" cy="2588817"/>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685729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28800"/>
            <a:ext cx="7467600" cy="4968552"/>
          </a:xfrm>
        </p:spPr>
        <p:txBody>
          <a:bodyPr>
            <a:noAutofit/>
          </a:bodyPr>
          <a:lstStyle/>
          <a:p>
            <a:pPr marL="0" lvl="0" indent="0">
              <a:spcBef>
                <a:spcPts val="1200"/>
              </a:spcBef>
              <a:spcAft>
                <a:spcPts val="1200"/>
              </a:spcAft>
              <a:buClr>
                <a:srgbClr val="7FD13B"/>
              </a:buClr>
              <a:buNone/>
            </a:pPr>
            <a:r>
              <a:rPr lang="en-AU" sz="2200" b="1" dirty="0">
                <a:latin typeface="Helvetica" pitchFamily="34" charset="0"/>
                <a:ea typeface="Times New Roman"/>
                <a:cs typeface="Times New Roman"/>
              </a:rPr>
              <a:t>Driving on very soft ground or through </a:t>
            </a:r>
            <a:r>
              <a:rPr lang="en-AU" sz="2200" b="1" dirty="0" smtClean="0">
                <a:latin typeface="Helvetica" pitchFamily="34" charset="0"/>
                <a:ea typeface="Times New Roman"/>
                <a:cs typeface="Times New Roman"/>
              </a:rPr>
              <a:t>mud</a:t>
            </a:r>
          </a:p>
          <a:p>
            <a:pPr marL="419100" indent="-419100">
              <a:spcBef>
                <a:spcPts val="600"/>
              </a:spcBef>
              <a:spcAft>
                <a:spcPts val="1200"/>
              </a:spcAft>
            </a:pPr>
            <a:r>
              <a:rPr lang="en-AU" sz="2200" dirty="0" smtClean="0">
                <a:latin typeface="Helvetica" pitchFamily="34" charset="0"/>
                <a:ea typeface="Calibri"/>
                <a:cs typeface="Times New Roman"/>
              </a:rPr>
              <a:t>Entering the mud at a slow to moderate speed</a:t>
            </a:r>
          </a:p>
          <a:p>
            <a:pPr marL="419100" indent="-419100">
              <a:spcBef>
                <a:spcPts val="600"/>
              </a:spcBef>
              <a:spcAft>
                <a:spcPts val="1200"/>
              </a:spcAft>
            </a:pPr>
            <a:r>
              <a:rPr lang="en-AU" sz="2200" dirty="0" smtClean="0">
                <a:latin typeface="Helvetica" pitchFamily="34" charset="0"/>
                <a:ea typeface="Calibri"/>
                <a:cs typeface="Times New Roman"/>
              </a:rPr>
              <a:t>Using </a:t>
            </a:r>
            <a:r>
              <a:rPr lang="en-AU" sz="2200" dirty="0">
                <a:latin typeface="Helvetica" pitchFamily="34" charset="0"/>
                <a:ea typeface="Calibri"/>
                <a:cs typeface="Times New Roman"/>
              </a:rPr>
              <a:t>or not using ruts as </a:t>
            </a:r>
            <a:r>
              <a:rPr lang="en-AU" sz="2200" dirty="0" smtClean="0">
                <a:latin typeface="Helvetica" pitchFamily="34" charset="0"/>
                <a:ea typeface="Calibri"/>
                <a:cs typeface="Times New Roman"/>
              </a:rPr>
              <a:t>appropriate</a:t>
            </a:r>
          </a:p>
          <a:p>
            <a:pPr marL="419100" indent="-419100">
              <a:spcBef>
                <a:spcPts val="600"/>
              </a:spcBef>
              <a:spcAft>
                <a:spcPts val="1200"/>
              </a:spcAft>
            </a:pPr>
            <a:r>
              <a:rPr lang="en-AU" sz="2200" dirty="0" smtClean="0">
                <a:latin typeface="Helvetica" pitchFamily="34" charset="0"/>
                <a:ea typeface="Calibri"/>
                <a:cs typeface="Times New Roman"/>
              </a:rPr>
              <a:t>Maintaining </a:t>
            </a:r>
            <a:r>
              <a:rPr lang="en-AU" sz="2200" dirty="0">
                <a:latin typeface="Helvetica" pitchFamily="34" charset="0"/>
                <a:ea typeface="Calibri"/>
                <a:cs typeface="Times New Roman"/>
              </a:rPr>
              <a:t>momentum </a:t>
            </a:r>
            <a:endParaRPr lang="en-AU" sz="2200" dirty="0" smtClean="0">
              <a:latin typeface="Helvetica" pitchFamily="34" charset="0"/>
              <a:ea typeface="Calibri"/>
              <a:cs typeface="Times New Roman"/>
            </a:endParaRPr>
          </a:p>
          <a:p>
            <a:pPr marL="419100" indent="-419100">
              <a:spcBef>
                <a:spcPts val="600"/>
              </a:spcBef>
              <a:spcAft>
                <a:spcPts val="1200"/>
              </a:spcAft>
            </a:pPr>
            <a:r>
              <a:rPr lang="en-AU" sz="2200" dirty="0" smtClean="0">
                <a:latin typeface="Helvetica" pitchFamily="34" charset="0"/>
                <a:ea typeface="Calibri"/>
                <a:cs typeface="Times New Roman"/>
              </a:rPr>
              <a:t>Spinning </a:t>
            </a:r>
            <a:r>
              <a:rPr lang="en-AU" sz="2200" dirty="0">
                <a:latin typeface="Helvetica" pitchFamily="34" charset="0"/>
                <a:ea typeface="Calibri"/>
                <a:cs typeface="Times New Roman"/>
              </a:rPr>
              <a:t>tyres </a:t>
            </a:r>
            <a:endParaRPr lang="en-AU" sz="2200" dirty="0" smtClean="0">
              <a:latin typeface="Helvetica" pitchFamily="34" charset="0"/>
              <a:ea typeface="Calibri"/>
              <a:cs typeface="Times New Roman"/>
            </a:endParaRPr>
          </a:p>
          <a:p>
            <a:pPr marL="419100" indent="-419100">
              <a:spcBef>
                <a:spcPts val="600"/>
              </a:spcBef>
              <a:spcAft>
                <a:spcPts val="1200"/>
              </a:spcAft>
            </a:pPr>
            <a:r>
              <a:rPr lang="en-AU" sz="2200" dirty="0" smtClean="0">
                <a:latin typeface="Helvetica" pitchFamily="34" charset="0"/>
                <a:ea typeface="Calibri"/>
                <a:cs typeface="Times New Roman"/>
              </a:rPr>
              <a:t>Being </a:t>
            </a:r>
            <a:r>
              <a:rPr lang="en-AU" sz="2200" dirty="0">
                <a:latin typeface="Helvetica" pitchFamily="34" charset="0"/>
                <a:ea typeface="Calibri"/>
                <a:cs typeface="Times New Roman"/>
              </a:rPr>
              <a:t>prepare to stop, reverse and re-try a route if progress is halted </a:t>
            </a:r>
            <a:endParaRPr lang="en-AU" sz="2200" dirty="0" smtClean="0">
              <a:latin typeface="Helvetica" pitchFamily="34" charset="0"/>
              <a:ea typeface="Calibri"/>
              <a:cs typeface="Times New Roman"/>
            </a:endParaRPr>
          </a:p>
          <a:p>
            <a:pPr marL="419100" indent="-419100">
              <a:spcBef>
                <a:spcPts val="600"/>
              </a:spcBef>
              <a:spcAft>
                <a:spcPts val="1200"/>
              </a:spcAft>
            </a:pPr>
            <a:r>
              <a:rPr lang="en-AU" sz="2200" dirty="0" smtClean="0">
                <a:latin typeface="Helvetica" pitchFamily="34" charset="0"/>
                <a:ea typeface="Calibri"/>
                <a:cs typeface="Times New Roman"/>
              </a:rPr>
              <a:t>Moving </a:t>
            </a:r>
            <a:r>
              <a:rPr lang="en-AU" sz="2200" dirty="0">
                <a:latin typeface="Helvetica" pitchFamily="34" charset="0"/>
                <a:ea typeface="Calibri"/>
                <a:cs typeface="Times New Roman"/>
              </a:rPr>
              <a:t>the steering wheel left-to-right </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9481204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715200" cy="4525963"/>
          </a:xfrm>
        </p:spPr>
        <p:txBody>
          <a:bodyPr>
            <a:normAutofit/>
          </a:bodyPr>
          <a:lstStyle/>
          <a:p>
            <a:pPr marL="36576" indent="0">
              <a:spcBef>
                <a:spcPts val="600"/>
              </a:spcBef>
              <a:spcAft>
                <a:spcPts val="1200"/>
              </a:spcAft>
              <a:buNone/>
            </a:pPr>
            <a:r>
              <a:rPr lang="en-AU" sz="2200" b="1" dirty="0" smtClean="0">
                <a:latin typeface="Helvetica" pitchFamily="34" charset="0"/>
                <a:ea typeface="Calibri"/>
                <a:cs typeface="Calibri"/>
              </a:rPr>
              <a:t>Websites</a:t>
            </a:r>
            <a:endParaRPr lang="en-AU" sz="2200" dirty="0">
              <a:latin typeface="Helvetica" pitchFamily="34" charset="0"/>
              <a:ea typeface="Calibri"/>
              <a:cs typeface="Calibri"/>
            </a:endParaRPr>
          </a:p>
          <a:p>
            <a:pPr>
              <a:spcBef>
                <a:spcPts val="600"/>
              </a:spcBef>
              <a:spcAft>
                <a:spcPts val="1200"/>
              </a:spcAft>
            </a:pPr>
            <a:r>
              <a:rPr lang="en-AU" sz="2200" u="sng" dirty="0" smtClean="0">
                <a:solidFill>
                  <a:srgbClr val="0000FF"/>
                </a:solidFill>
                <a:latin typeface="Helvetica" pitchFamily="34" charset="0"/>
                <a:ea typeface="Calibri"/>
                <a:cs typeface="Calibri"/>
                <a:hlinkClick r:id="rId3"/>
              </a:rPr>
              <a:t>http</a:t>
            </a:r>
            <a:r>
              <a:rPr lang="en-AU" sz="2200" u="sng" dirty="0">
                <a:solidFill>
                  <a:srgbClr val="0000FF"/>
                </a:solidFill>
                <a:latin typeface="Helvetica" pitchFamily="34" charset="0"/>
                <a:ea typeface="Calibri"/>
                <a:cs typeface="Calibri"/>
                <a:hlinkClick r:id="rId3"/>
              </a:rPr>
              <a:t>://4xoverland.com/how-do-4x4s-work/4x4-driving</a:t>
            </a:r>
            <a:r>
              <a:rPr lang="en-AU" sz="2200" u="sng" dirty="0" smtClean="0">
                <a:solidFill>
                  <a:srgbClr val="0000FF"/>
                </a:solidFill>
                <a:latin typeface="Helvetica" pitchFamily="34" charset="0"/>
                <a:ea typeface="Calibri"/>
                <a:cs typeface="Calibri"/>
                <a:hlinkClick r:id="rId3"/>
              </a:rPr>
              <a:t>/</a:t>
            </a:r>
            <a:r>
              <a:rPr lang="en-AU" sz="2200" dirty="0">
                <a:latin typeface="Helvetica" pitchFamily="34" charset="0"/>
                <a:ea typeface="Calibri"/>
                <a:cs typeface="Calibri"/>
              </a:rPr>
              <a:t> </a:t>
            </a:r>
            <a:r>
              <a:rPr lang="en-AU" sz="2200" dirty="0" smtClean="0">
                <a:latin typeface="Helvetica" pitchFamily="34" charset="0"/>
                <a:ea typeface="Calibri"/>
                <a:cs typeface="Calibri"/>
              </a:rPr>
              <a:t>–                              How </a:t>
            </a:r>
            <a:r>
              <a:rPr lang="en-AU" sz="2200" dirty="0">
                <a:latin typeface="Helvetica" pitchFamily="34" charset="0"/>
                <a:ea typeface="Calibri"/>
                <a:cs typeface="Calibri"/>
              </a:rPr>
              <a:t>to drive a 4x4 off road [Mud driving]</a:t>
            </a:r>
          </a:p>
          <a:p>
            <a:pPr>
              <a:spcBef>
                <a:spcPts val="600"/>
              </a:spcBef>
              <a:spcAft>
                <a:spcPts val="1200"/>
              </a:spcAft>
            </a:pPr>
            <a:r>
              <a:rPr lang="en-AU" sz="2200" u="sng" dirty="0">
                <a:solidFill>
                  <a:srgbClr val="0000FF"/>
                </a:solidFill>
                <a:latin typeface="Helvetica" pitchFamily="34" charset="0"/>
                <a:ea typeface="Calibri"/>
                <a:cs typeface="Calibri"/>
                <a:hlinkClick r:id="rId4"/>
              </a:rPr>
              <a:t>https://www.youtube.com/watch?v=O7iqHO8__R8</a:t>
            </a:r>
            <a:r>
              <a:rPr lang="en-AU" sz="2200" dirty="0">
                <a:latin typeface="Helvetica" pitchFamily="34" charset="0"/>
                <a:ea typeface="Calibri"/>
                <a:cs typeface="Calibri"/>
              </a:rPr>
              <a:t> – Mud driving the right and wrong way</a:t>
            </a:r>
          </a:p>
          <a:p>
            <a:pPr>
              <a:spcBef>
                <a:spcPts val="600"/>
              </a:spcBef>
              <a:spcAft>
                <a:spcPts val="1200"/>
              </a:spcAft>
            </a:pPr>
            <a:r>
              <a:rPr lang="en-AU" sz="2200" u="sng" dirty="0">
                <a:solidFill>
                  <a:srgbClr val="0000FF"/>
                </a:solidFill>
                <a:latin typeface="Helvetica" pitchFamily="34" charset="0"/>
                <a:ea typeface="Calibri"/>
                <a:cs typeface="Calibri"/>
                <a:hlinkClick r:id="rId5"/>
              </a:rPr>
              <a:t>http://</a:t>
            </a:r>
            <a:r>
              <a:rPr lang="en-AU" sz="2200" u="sng" dirty="0" smtClean="0">
                <a:solidFill>
                  <a:srgbClr val="0000FF"/>
                </a:solidFill>
                <a:latin typeface="Helvetica" pitchFamily="34" charset="0"/>
                <a:ea typeface="Calibri"/>
                <a:cs typeface="Calibri"/>
                <a:hlinkClick r:id="rId5"/>
              </a:rPr>
              <a:t>www.iventureclub.com.au/4x4-tips/article.html?k=hmcpHxSX7pc</a:t>
            </a:r>
            <a:r>
              <a:rPr lang="en-AU" sz="2200" dirty="0">
                <a:latin typeface="Helvetica" pitchFamily="34" charset="0"/>
                <a:ea typeface="Calibri"/>
                <a:cs typeface="Calibri"/>
              </a:rPr>
              <a:t> – 4x4 Tip: mud driving</a:t>
            </a:r>
          </a:p>
          <a:p>
            <a:pPr>
              <a:spcBef>
                <a:spcPts val="600"/>
              </a:spcBef>
              <a:spcAft>
                <a:spcPts val="1200"/>
              </a:spcAft>
            </a:pPr>
            <a:r>
              <a:rPr lang="en-AU" sz="2200" u="sng" dirty="0">
                <a:solidFill>
                  <a:srgbClr val="0000FF"/>
                </a:solidFill>
                <a:latin typeface="Helvetica" pitchFamily="34" charset="0"/>
                <a:ea typeface="Calibri"/>
                <a:cs typeface="Calibri"/>
                <a:hlinkClick r:id="rId6"/>
              </a:rPr>
              <a:t>http://www.toughtoys.com.au/how-to-4x4/mud-driving-techniques</a:t>
            </a:r>
            <a:r>
              <a:rPr lang="en-AU" sz="2200" u="sng" dirty="0" smtClean="0">
                <a:solidFill>
                  <a:srgbClr val="0000FF"/>
                </a:solidFill>
                <a:latin typeface="Helvetica" pitchFamily="34" charset="0"/>
                <a:ea typeface="Calibri"/>
                <a:cs typeface="Calibri"/>
                <a:hlinkClick r:id="rId6"/>
              </a:rPr>
              <a:t>/</a:t>
            </a:r>
            <a:r>
              <a:rPr lang="en-AU" sz="2200" dirty="0">
                <a:latin typeface="Helvetica" pitchFamily="34" charset="0"/>
                <a:ea typeface="Calibri"/>
                <a:cs typeface="Calibri"/>
              </a:rPr>
              <a:t> – Mud driving techniques</a:t>
            </a:r>
          </a:p>
          <a:p>
            <a:pPr>
              <a:spcBef>
                <a:spcPts val="600"/>
              </a:spcBef>
              <a:spcAft>
                <a:spcPts val="1200"/>
              </a:spcAft>
            </a:pP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9998325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Driving across rocky terrain</a:t>
            </a:r>
          </a:p>
          <a:p>
            <a:pPr marL="419100" indent="-419100">
              <a:spcBef>
                <a:spcPts val="600"/>
              </a:spcBef>
              <a:spcAft>
                <a:spcPts val="1200"/>
              </a:spcAft>
            </a:pPr>
            <a:r>
              <a:rPr lang="en-AU" sz="2200" dirty="0">
                <a:latin typeface="Helvetica" pitchFamily="34" charset="0"/>
                <a:ea typeface="Calibri"/>
                <a:cs typeface="Calibri"/>
              </a:rPr>
              <a:t>In general, rocky terrain should be avoided wherever possible as it poses lots of risks in terms of:</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Uncomfortable ride for passengers</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Slow travel times </a:t>
            </a:r>
            <a:endParaRPr lang="en-AU" sz="2200" dirty="0" smtClean="0">
              <a:latin typeface="Helvetica" pitchFamily="34" charset="0"/>
              <a:ea typeface="Calibri"/>
              <a:cs typeface="Times New Roman"/>
            </a:endParaRP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Punctures</a:t>
            </a:r>
            <a:endParaRPr lang="en-AU" sz="2200" dirty="0">
              <a:latin typeface="Helvetica" pitchFamily="34" charset="0"/>
              <a:ea typeface="Calibri"/>
              <a:cs typeface="Times New Roman"/>
            </a:endParaRP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Damage to the </a:t>
            </a:r>
            <a:r>
              <a:rPr lang="en-AU" sz="2200" dirty="0" smtClean="0">
                <a:latin typeface="Helvetica" pitchFamily="34" charset="0"/>
                <a:ea typeface="Calibri"/>
                <a:cs typeface="Times New Roman"/>
              </a:rPr>
              <a:t>vehicle</a:t>
            </a:r>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3620" y="3745006"/>
            <a:ext cx="2471936" cy="162653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85048460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643192" cy="4709120"/>
          </a:xfrm>
        </p:spPr>
        <p:txBody>
          <a:bodyPr>
            <a:normAutofit/>
          </a:bodyPr>
          <a:lstStyle/>
          <a:p>
            <a:pPr marL="36576" indent="0">
              <a:spcBef>
                <a:spcPts val="400"/>
              </a:spcBef>
              <a:spcAft>
                <a:spcPts val="800"/>
              </a:spcAft>
              <a:buNone/>
            </a:pPr>
            <a:r>
              <a:rPr lang="en-AU" sz="2200" b="1" dirty="0" smtClean="0">
                <a:latin typeface="Helvetica" pitchFamily="34" charset="0"/>
                <a:ea typeface="Calibri"/>
                <a:cs typeface="Calibri"/>
              </a:rPr>
              <a:t>Websites</a:t>
            </a:r>
          </a:p>
          <a:p>
            <a:pPr marL="419100" indent="-419100">
              <a:spcBef>
                <a:spcPts val="600"/>
              </a:spcBef>
              <a:spcAft>
                <a:spcPts val="1200"/>
              </a:spcAft>
            </a:pPr>
            <a:r>
              <a:rPr lang="en-AU" sz="2200" u="sng" dirty="0" smtClean="0">
                <a:solidFill>
                  <a:srgbClr val="0000FF"/>
                </a:solidFill>
                <a:latin typeface="Helvetica" pitchFamily="34" charset="0"/>
                <a:ea typeface="Calibri"/>
                <a:cs typeface="Calibri"/>
                <a:hlinkClick r:id="rId3"/>
              </a:rPr>
              <a:t>http</a:t>
            </a:r>
            <a:r>
              <a:rPr lang="en-AU" sz="2200" u="sng" dirty="0">
                <a:solidFill>
                  <a:srgbClr val="0000FF"/>
                </a:solidFill>
                <a:latin typeface="Helvetica" pitchFamily="34" charset="0"/>
                <a:ea typeface="Calibri"/>
                <a:cs typeface="Calibri"/>
                <a:hlinkClick r:id="rId3"/>
              </a:rPr>
              <a:t>://</a:t>
            </a:r>
            <a:r>
              <a:rPr lang="en-AU" sz="2200" u="sng" dirty="0" smtClean="0">
                <a:solidFill>
                  <a:srgbClr val="0000FF"/>
                </a:solidFill>
                <a:latin typeface="Helvetica" pitchFamily="34" charset="0"/>
                <a:ea typeface="Calibri"/>
                <a:cs typeface="Calibri"/>
                <a:hlinkClick r:id="rId3"/>
              </a:rPr>
              <a:t>www.4-wheeling-in-western-australia.com/rock-crawling.html</a:t>
            </a:r>
            <a:r>
              <a:rPr lang="en-AU" sz="2200" dirty="0">
                <a:latin typeface="Helvetica" pitchFamily="34" charset="0"/>
                <a:ea typeface="Calibri"/>
                <a:cs typeface="Calibri"/>
              </a:rPr>
              <a:t> – Rock crawling and rocky obstacles (including viewing of all videos linked to this </a:t>
            </a:r>
            <a:r>
              <a:rPr lang="en-AU" sz="2200" dirty="0" smtClean="0">
                <a:latin typeface="Helvetica" pitchFamily="34" charset="0"/>
                <a:ea typeface="Calibri"/>
                <a:cs typeface="Calibri"/>
              </a:rPr>
              <a:t>site)</a:t>
            </a:r>
          </a:p>
          <a:p>
            <a:pPr marL="419100" indent="-419100">
              <a:spcBef>
                <a:spcPts val="600"/>
              </a:spcBef>
              <a:spcAft>
                <a:spcPts val="1200"/>
              </a:spcAft>
            </a:pPr>
            <a:r>
              <a:rPr lang="en-AU" sz="2200" u="sng" dirty="0" smtClean="0">
                <a:solidFill>
                  <a:srgbClr val="0000FF"/>
                </a:solidFill>
                <a:latin typeface="Helvetica" pitchFamily="34" charset="0"/>
                <a:ea typeface="Calibri"/>
                <a:cs typeface="Calibri"/>
                <a:hlinkClick r:id="rId4"/>
              </a:rPr>
              <a:t>http</a:t>
            </a:r>
            <a:r>
              <a:rPr lang="en-AU" sz="2200" u="sng" dirty="0">
                <a:solidFill>
                  <a:srgbClr val="0000FF"/>
                </a:solidFill>
                <a:latin typeface="Helvetica" pitchFamily="34" charset="0"/>
                <a:ea typeface="Calibri"/>
                <a:cs typeface="Calibri"/>
                <a:hlinkClick r:id="rId4"/>
              </a:rPr>
              <a:t>://www.iventureclub.com.au/4x4-tips/article.html?k=1ImWwpAqbd0</a:t>
            </a:r>
            <a:r>
              <a:rPr lang="en-AU" sz="2200" dirty="0">
                <a:latin typeface="Helvetica" pitchFamily="34" charset="0"/>
                <a:ea typeface="Calibri"/>
                <a:cs typeface="Calibri"/>
              </a:rPr>
              <a:t> – 4x4 tip: Rocks and </a:t>
            </a:r>
            <a:r>
              <a:rPr lang="en-AU" sz="2200" dirty="0" smtClean="0">
                <a:latin typeface="Helvetica" pitchFamily="34" charset="0"/>
                <a:ea typeface="Calibri"/>
                <a:cs typeface="Calibri"/>
              </a:rPr>
              <a:t>ruts</a:t>
            </a:r>
          </a:p>
          <a:p>
            <a:pPr marL="419100" indent="-419100">
              <a:spcBef>
                <a:spcPts val="600"/>
              </a:spcBef>
              <a:spcAft>
                <a:spcPts val="1200"/>
              </a:spcAft>
            </a:pPr>
            <a:r>
              <a:rPr lang="en-AU" sz="2200" u="sng" dirty="0" smtClean="0">
                <a:solidFill>
                  <a:srgbClr val="0000FF"/>
                </a:solidFill>
                <a:latin typeface="Helvetica" pitchFamily="34" charset="0"/>
                <a:ea typeface="Calibri"/>
                <a:cs typeface="Calibri"/>
                <a:hlinkClick r:id="rId5"/>
              </a:rPr>
              <a:t>http</a:t>
            </a:r>
            <a:r>
              <a:rPr lang="en-AU" sz="2200" u="sng" dirty="0">
                <a:solidFill>
                  <a:srgbClr val="0000FF"/>
                </a:solidFill>
                <a:latin typeface="Helvetica" pitchFamily="34" charset="0"/>
                <a:ea typeface="Calibri"/>
                <a:cs typeface="Calibri"/>
                <a:hlinkClick r:id="rId5"/>
              </a:rPr>
              <a:t>://www.toughtoys.com.au/how-to-4x4/driving-rocky-terrain</a:t>
            </a:r>
            <a:r>
              <a:rPr lang="en-AU" sz="2200" u="sng" dirty="0" smtClean="0">
                <a:solidFill>
                  <a:srgbClr val="0000FF"/>
                </a:solidFill>
                <a:latin typeface="Helvetica" pitchFamily="34" charset="0"/>
                <a:ea typeface="Calibri"/>
                <a:cs typeface="Calibri"/>
                <a:hlinkClick r:id="rId5"/>
              </a:rPr>
              <a:t>/</a:t>
            </a:r>
            <a:r>
              <a:rPr lang="en-AU" sz="2200" dirty="0">
                <a:latin typeface="Helvetica" pitchFamily="34" charset="0"/>
                <a:ea typeface="Calibri"/>
                <a:cs typeface="Calibri"/>
              </a:rPr>
              <a:t> – Driving rocky </a:t>
            </a:r>
            <a:r>
              <a:rPr lang="en-AU" sz="2200" dirty="0" smtClean="0">
                <a:latin typeface="Helvetica" pitchFamily="34" charset="0"/>
                <a:ea typeface="Calibri"/>
                <a:cs typeface="Calibri"/>
              </a:rPr>
              <a:t>terrain</a:t>
            </a:r>
            <a:endParaRPr lang="en-AU" sz="2200" dirty="0">
              <a:latin typeface="Helvetica" pitchFamily="34" charset="0"/>
              <a:ea typeface="Calibri"/>
              <a:cs typeface="Calibri"/>
            </a:endParaRPr>
          </a:p>
          <a:p>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784" y="274638"/>
            <a:ext cx="7467600" cy="1143000"/>
          </a:xfrm>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560784" y="1700808"/>
            <a:ext cx="7467600" cy="4425355"/>
          </a:xfrm>
        </p:spPr>
        <p:txBody>
          <a:bodyPr>
            <a:normAutofit lnSpcReduction="10000"/>
          </a:bodyPr>
          <a:lstStyle/>
          <a:p>
            <a:pPr marL="0" indent="0">
              <a:spcBef>
                <a:spcPts val="600"/>
              </a:spcBef>
              <a:spcAft>
                <a:spcPts val="1200"/>
              </a:spcAft>
              <a:buNone/>
            </a:pPr>
            <a:r>
              <a:rPr lang="en-AU" sz="2200" b="1" dirty="0">
                <a:latin typeface="Helvetica" pitchFamily="34" charset="0"/>
                <a:ea typeface="Times New Roman"/>
                <a:cs typeface="Times New Roman"/>
              </a:rPr>
              <a:t>Driving inclines</a:t>
            </a:r>
          </a:p>
          <a:p>
            <a:pPr marL="355600" indent="-355600">
              <a:spcBef>
                <a:spcPts val="600"/>
              </a:spcBef>
              <a:spcAft>
                <a:spcPts val="1200"/>
              </a:spcAft>
            </a:pPr>
            <a:r>
              <a:rPr lang="en-AU" sz="2200" dirty="0">
                <a:latin typeface="Helvetica" pitchFamily="34" charset="0"/>
                <a:ea typeface="Calibri"/>
                <a:cs typeface="Calibri"/>
              </a:rPr>
              <a:t>Ascending steep inclines</a:t>
            </a:r>
          </a:p>
          <a:p>
            <a:pPr marL="723900" lvl="1" indent="-368300">
              <a:spcBef>
                <a:spcPts val="600"/>
              </a:spcBef>
              <a:spcAft>
                <a:spcPts val="1200"/>
              </a:spcAft>
            </a:pPr>
            <a:r>
              <a:rPr lang="en-AU" sz="2200" dirty="0" smtClean="0">
                <a:latin typeface="Helvetica" pitchFamily="34" charset="0"/>
                <a:ea typeface="Calibri"/>
                <a:cs typeface="Times New Roman"/>
              </a:rPr>
              <a:t>Inspect </a:t>
            </a:r>
            <a:r>
              <a:rPr lang="en-AU" sz="2200" dirty="0">
                <a:latin typeface="Helvetica" pitchFamily="34" charset="0"/>
                <a:ea typeface="Calibri"/>
                <a:cs typeface="Times New Roman"/>
              </a:rPr>
              <a:t>the path </a:t>
            </a:r>
            <a:endParaRPr lang="en-AU" sz="2200" dirty="0" smtClean="0">
              <a:latin typeface="Helvetica" pitchFamily="34" charset="0"/>
              <a:ea typeface="Calibri"/>
              <a:cs typeface="Times New Roman"/>
            </a:endParaRPr>
          </a:p>
          <a:p>
            <a:pPr marL="723900" lvl="1" indent="-368300">
              <a:spcBef>
                <a:spcPts val="600"/>
              </a:spcBef>
              <a:spcAft>
                <a:spcPts val="1200"/>
              </a:spcAft>
            </a:pPr>
            <a:r>
              <a:rPr lang="en-AU" sz="2200" dirty="0" smtClean="0">
                <a:latin typeface="Helvetica" pitchFamily="34" charset="0"/>
                <a:ea typeface="Calibri"/>
                <a:cs typeface="Times New Roman"/>
              </a:rPr>
              <a:t>Engage </a:t>
            </a:r>
            <a:r>
              <a:rPr lang="en-AU" sz="2200" dirty="0">
                <a:latin typeface="Helvetica" pitchFamily="34" charset="0"/>
                <a:ea typeface="Calibri"/>
                <a:cs typeface="Times New Roman"/>
              </a:rPr>
              <a:t>4WD </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Engage </a:t>
            </a:r>
            <a:r>
              <a:rPr lang="en-AU" sz="2200" dirty="0">
                <a:latin typeface="Helvetica" pitchFamily="34" charset="0"/>
                <a:ea typeface="Calibri"/>
                <a:cs typeface="Times New Roman"/>
              </a:rPr>
              <a:t>diff locks </a:t>
            </a:r>
          </a:p>
          <a:p>
            <a:pPr marL="723900" lvl="1" indent="-368300">
              <a:spcBef>
                <a:spcPts val="600"/>
              </a:spcBef>
              <a:spcAft>
                <a:spcPts val="1200"/>
              </a:spcAft>
              <a:buFont typeface="Symbol"/>
              <a:buChar char=""/>
            </a:pPr>
            <a:r>
              <a:rPr lang="en-AU" sz="2200" dirty="0" smtClean="0">
                <a:latin typeface="Helvetica" pitchFamily="34" charset="0"/>
                <a:ea typeface="Calibri"/>
                <a:cs typeface="Times New Roman"/>
              </a:rPr>
              <a:t>Turn </a:t>
            </a:r>
            <a:r>
              <a:rPr lang="en-AU" sz="2200" dirty="0">
                <a:latin typeface="Helvetica" pitchFamily="34" charset="0"/>
                <a:ea typeface="Calibri"/>
                <a:cs typeface="Times New Roman"/>
              </a:rPr>
              <a:t>off air conditioner </a:t>
            </a:r>
          </a:p>
          <a:p>
            <a:pPr marL="723900" lvl="1" indent="-368300">
              <a:spcBef>
                <a:spcPts val="600"/>
              </a:spcBef>
              <a:spcAft>
                <a:spcPts val="1200"/>
              </a:spcAft>
              <a:buFont typeface="Symbol"/>
              <a:buChar char=""/>
            </a:pPr>
            <a:r>
              <a:rPr lang="en-AU" sz="2200" dirty="0" smtClean="0">
                <a:latin typeface="Helvetica" pitchFamily="34" charset="0"/>
                <a:ea typeface="Times New Roman"/>
                <a:cs typeface="Times New Roman"/>
              </a:rPr>
              <a:t>….continued in TM</a:t>
            </a:r>
          </a:p>
          <a:p>
            <a:pPr marL="355600" indent="-355600">
              <a:spcBef>
                <a:spcPts val="600"/>
              </a:spcBef>
              <a:spcAft>
                <a:spcPts val="1200"/>
              </a:spcAft>
            </a:pPr>
            <a:r>
              <a:rPr lang="en-AU" sz="2200" dirty="0">
                <a:latin typeface="Helvetica" pitchFamily="34" charset="0"/>
                <a:ea typeface="Calibri"/>
                <a:cs typeface="Calibri"/>
              </a:rPr>
              <a:t>Stall recovery</a:t>
            </a:r>
          </a:p>
          <a:p>
            <a:pPr marL="644652" lvl="1" indent="-342900">
              <a:spcBef>
                <a:spcPts val="600"/>
              </a:spcBef>
              <a:spcAft>
                <a:spcPts val="1200"/>
              </a:spcAft>
              <a:buFont typeface="Symbol"/>
              <a:buChar char=""/>
            </a:pPr>
            <a:endParaRPr lang="en-AU" sz="2200"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644304"/>
            <a:ext cx="2615952" cy="1739608"/>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784" y="274638"/>
            <a:ext cx="7467600" cy="1143000"/>
          </a:xfrm>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560784" y="1600200"/>
            <a:ext cx="7467600" cy="4853136"/>
          </a:xfrm>
        </p:spPr>
        <p:txBody>
          <a:bodyPr>
            <a:normAutofit/>
          </a:bodyPr>
          <a:lstStyle/>
          <a:p>
            <a:pPr marL="0" lvl="0" indent="0">
              <a:spcBef>
                <a:spcPts val="600"/>
              </a:spcBef>
              <a:spcAft>
                <a:spcPts val="1200"/>
              </a:spcAft>
              <a:buClr>
                <a:srgbClr val="7FD13B"/>
              </a:buClr>
              <a:buNone/>
            </a:pPr>
            <a:r>
              <a:rPr lang="en-AU" sz="2200" b="1" dirty="0">
                <a:latin typeface="Helvetica" pitchFamily="34" charset="0"/>
                <a:ea typeface="Times New Roman"/>
                <a:cs typeface="Times New Roman"/>
              </a:rPr>
              <a:t>Driving </a:t>
            </a:r>
            <a:r>
              <a:rPr lang="en-AU" sz="2200" b="1" dirty="0" smtClean="0">
                <a:latin typeface="Helvetica" pitchFamily="34" charset="0"/>
                <a:ea typeface="Times New Roman"/>
                <a:cs typeface="Times New Roman"/>
              </a:rPr>
              <a:t>inclines</a:t>
            </a:r>
            <a:endParaRPr lang="en-AU" sz="2200" b="1" dirty="0" smtClean="0">
              <a:latin typeface="Helvetica" pitchFamily="34" charset="0"/>
              <a:ea typeface="Calibri"/>
              <a:cs typeface="Calibri"/>
            </a:endParaRPr>
          </a:p>
          <a:p>
            <a:pPr>
              <a:spcBef>
                <a:spcPts val="600"/>
              </a:spcBef>
              <a:spcAft>
                <a:spcPts val="1200"/>
              </a:spcAft>
            </a:pPr>
            <a:r>
              <a:rPr lang="en-AU" sz="2200" dirty="0" smtClean="0">
                <a:latin typeface="Helvetica" pitchFamily="34" charset="0"/>
                <a:ea typeface="Calibri"/>
                <a:cs typeface="Calibri"/>
              </a:rPr>
              <a:t>Descending </a:t>
            </a:r>
            <a:r>
              <a:rPr lang="en-AU" sz="2200" dirty="0">
                <a:latin typeface="Helvetica" pitchFamily="34" charset="0"/>
                <a:ea typeface="Calibri"/>
                <a:cs typeface="Calibri"/>
              </a:rPr>
              <a:t>steep </a:t>
            </a:r>
            <a:r>
              <a:rPr lang="en-AU" sz="2200" dirty="0" smtClean="0">
                <a:latin typeface="Helvetica" pitchFamily="34" charset="0"/>
                <a:ea typeface="Calibri"/>
                <a:cs typeface="Calibri"/>
              </a:rPr>
              <a:t>inclines</a:t>
            </a:r>
          </a:p>
          <a:p>
            <a:pPr marL="644652" lvl="1" indent="-342900">
              <a:spcBef>
                <a:spcPts val="600"/>
              </a:spcBef>
              <a:spcAft>
                <a:spcPts val="1200"/>
              </a:spcAft>
              <a:buClr>
                <a:srgbClr val="7FD13B"/>
              </a:buClr>
            </a:pPr>
            <a:r>
              <a:rPr lang="en-AU" sz="2200" dirty="0" smtClean="0">
                <a:latin typeface="Helvetica" pitchFamily="34" charset="0"/>
                <a:ea typeface="Calibri"/>
                <a:cs typeface="Times New Roman"/>
              </a:rPr>
              <a:t>Inspect </a:t>
            </a:r>
            <a:r>
              <a:rPr lang="en-AU" sz="2200" dirty="0">
                <a:latin typeface="Helvetica" pitchFamily="34" charset="0"/>
                <a:ea typeface="Calibri"/>
                <a:cs typeface="Times New Roman"/>
              </a:rPr>
              <a:t>the path </a:t>
            </a:r>
          </a:p>
          <a:p>
            <a:pPr marL="644652" lvl="1" indent="-342900">
              <a:spcBef>
                <a:spcPts val="600"/>
              </a:spcBef>
              <a:spcAft>
                <a:spcPts val="1200"/>
              </a:spcAft>
              <a:buClr>
                <a:srgbClr val="7FD13B"/>
              </a:buClr>
            </a:pPr>
            <a:r>
              <a:rPr lang="en-AU" sz="2200" dirty="0">
                <a:latin typeface="Helvetica" pitchFamily="34" charset="0"/>
                <a:ea typeface="Calibri"/>
                <a:cs typeface="Times New Roman"/>
              </a:rPr>
              <a:t>Engage 4WD </a:t>
            </a:r>
          </a:p>
          <a:p>
            <a:pPr marL="644652" lvl="1" indent="-342900">
              <a:spcBef>
                <a:spcPts val="600"/>
              </a:spcBef>
              <a:spcAft>
                <a:spcPts val="1200"/>
              </a:spcAft>
              <a:buClr>
                <a:srgbClr val="7FD13B"/>
              </a:buClr>
              <a:buFont typeface="Symbol"/>
              <a:buChar char=""/>
            </a:pPr>
            <a:r>
              <a:rPr lang="en-AU" sz="2200" dirty="0">
                <a:latin typeface="Helvetica" pitchFamily="34" charset="0"/>
                <a:ea typeface="Calibri"/>
                <a:cs typeface="Times New Roman"/>
              </a:rPr>
              <a:t>Engage diff locks </a:t>
            </a:r>
          </a:p>
          <a:p>
            <a:pPr marL="644652" lvl="1" indent="-342900">
              <a:spcBef>
                <a:spcPts val="600"/>
              </a:spcBef>
              <a:spcAft>
                <a:spcPts val="1200"/>
              </a:spcAft>
              <a:buClr>
                <a:srgbClr val="7FD13B"/>
              </a:buClr>
              <a:buFont typeface="Symbol"/>
              <a:buChar char=""/>
            </a:pPr>
            <a:r>
              <a:rPr lang="en-AU" sz="2200" dirty="0">
                <a:latin typeface="Helvetica" pitchFamily="34" charset="0"/>
                <a:ea typeface="Calibri"/>
                <a:cs typeface="Times New Roman"/>
              </a:rPr>
              <a:t>Turn off air conditioner </a:t>
            </a:r>
          </a:p>
          <a:p>
            <a:pPr marL="644652" lvl="1" indent="-342900">
              <a:spcBef>
                <a:spcPts val="600"/>
              </a:spcBef>
              <a:spcAft>
                <a:spcPts val="1200"/>
              </a:spcAft>
              <a:buClr>
                <a:srgbClr val="7FD13B"/>
              </a:buClr>
              <a:buFont typeface="Symbol"/>
              <a:buChar char=""/>
            </a:pPr>
            <a:r>
              <a:rPr lang="en-AU" sz="2200" dirty="0">
                <a:latin typeface="Helvetica" pitchFamily="34" charset="0"/>
                <a:ea typeface="Times New Roman"/>
                <a:cs typeface="Times New Roman"/>
              </a:rPr>
              <a:t>….continued in TM</a:t>
            </a:r>
          </a:p>
          <a:p>
            <a:pPr lvl="0">
              <a:spcBef>
                <a:spcPts val="600"/>
              </a:spcBef>
              <a:spcAft>
                <a:spcPts val="1200"/>
              </a:spcAft>
              <a:buClr>
                <a:srgbClr val="7FD13B"/>
              </a:buClr>
            </a:pPr>
            <a:r>
              <a:rPr lang="en-AU" sz="2200" dirty="0">
                <a:latin typeface="Helvetica" pitchFamily="34" charset="0"/>
                <a:ea typeface="Calibri"/>
                <a:cs typeface="Calibri"/>
              </a:rPr>
              <a:t>Stall recovery</a:t>
            </a:r>
          </a:p>
          <a:p>
            <a:pPr>
              <a:spcBef>
                <a:spcPts val="600"/>
              </a:spcBef>
              <a:spcAft>
                <a:spcPts val="1200"/>
              </a:spcAft>
            </a:pPr>
            <a:endParaRPr lang="en-AU" sz="2200" dirty="0">
              <a:latin typeface="Helvetica" pitchFamily="34" charset="0"/>
              <a:ea typeface="Calibri"/>
              <a:cs typeface="Calibri"/>
            </a:endParaRPr>
          </a:p>
          <a:p>
            <a:pPr>
              <a:spcBef>
                <a:spcPts val="600"/>
              </a:spcBef>
              <a:spcAft>
                <a:spcPts val="1200"/>
              </a:spcAft>
            </a:pPr>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636910"/>
            <a:ext cx="2232248" cy="1846741"/>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67544" y="1628800"/>
            <a:ext cx="7632848" cy="4997152"/>
          </a:xfrm>
        </p:spPr>
        <p:txBody>
          <a:bodyPr>
            <a:normAutofit/>
          </a:bodyPr>
          <a:lstStyle/>
          <a:p>
            <a:pPr marL="36576" lvl="0" indent="0">
              <a:spcBef>
                <a:spcPts val="400"/>
              </a:spcBef>
              <a:spcAft>
                <a:spcPts val="800"/>
              </a:spcAft>
              <a:buClr>
                <a:srgbClr val="7FD13B"/>
              </a:buClr>
              <a:buNone/>
            </a:pPr>
            <a:r>
              <a:rPr lang="en-AU" sz="2200" b="1" dirty="0" smtClean="0">
                <a:solidFill>
                  <a:prstClr val="black"/>
                </a:solidFill>
                <a:latin typeface="Helvetica" pitchFamily="34" charset="0"/>
                <a:ea typeface="Calibri"/>
                <a:cs typeface="Calibri"/>
              </a:rPr>
              <a:t>Websites</a:t>
            </a:r>
            <a:endParaRPr lang="en-AU" sz="2200" u="sng" dirty="0" smtClean="0">
              <a:solidFill>
                <a:srgbClr val="0000FF"/>
              </a:solidFill>
              <a:latin typeface="Helvetica" pitchFamily="34" charset="0"/>
              <a:ea typeface="Calibri"/>
              <a:cs typeface="Calibri"/>
              <a:hlinkClick r:id="rId3"/>
            </a:endParaRPr>
          </a:p>
          <a:p>
            <a:pPr>
              <a:spcBef>
                <a:spcPts val="400"/>
              </a:spcBef>
              <a:spcAft>
                <a:spcPts val="800"/>
              </a:spcAft>
            </a:pPr>
            <a:r>
              <a:rPr lang="en-AU" sz="2200" u="sng" dirty="0" smtClean="0">
                <a:solidFill>
                  <a:srgbClr val="0000FF"/>
                </a:solidFill>
                <a:latin typeface="Helvetica" pitchFamily="34" charset="0"/>
                <a:ea typeface="Calibri"/>
                <a:cs typeface="Calibri"/>
                <a:hlinkClick r:id="rId3"/>
              </a:rPr>
              <a:t>http</a:t>
            </a:r>
            <a:r>
              <a:rPr lang="en-AU" sz="2200" u="sng" dirty="0">
                <a:solidFill>
                  <a:srgbClr val="0000FF"/>
                </a:solidFill>
                <a:latin typeface="Helvetica" pitchFamily="34" charset="0"/>
                <a:ea typeface="Calibri"/>
                <a:cs typeface="Calibri"/>
                <a:hlinkClick r:id="rId3"/>
              </a:rPr>
              <a:t>://www.4x4australia.com.au/gear/1004/4x4-steep-slopes-tips</a:t>
            </a:r>
            <a:r>
              <a:rPr lang="en-AU" sz="2200" u="sng" dirty="0" smtClean="0">
                <a:solidFill>
                  <a:srgbClr val="0000FF"/>
                </a:solidFill>
                <a:latin typeface="Helvetica" pitchFamily="34" charset="0"/>
                <a:ea typeface="Calibri"/>
                <a:cs typeface="Calibri"/>
                <a:hlinkClick r:id="rId3"/>
              </a:rPr>
              <a:t>/</a:t>
            </a:r>
            <a:r>
              <a:rPr lang="en-AU" sz="2200" dirty="0">
                <a:latin typeface="Helvetica" pitchFamily="34" charset="0"/>
                <a:ea typeface="Calibri"/>
                <a:cs typeface="Calibri"/>
              </a:rPr>
              <a:t> – 4x4 steep slope tips</a:t>
            </a:r>
          </a:p>
          <a:p>
            <a:pPr>
              <a:spcBef>
                <a:spcPts val="400"/>
              </a:spcBef>
              <a:spcAft>
                <a:spcPts val="800"/>
              </a:spcAft>
            </a:pPr>
            <a:r>
              <a:rPr lang="en-AU" sz="2200" u="sng" dirty="0">
                <a:solidFill>
                  <a:srgbClr val="0000FF"/>
                </a:solidFill>
                <a:latin typeface="Helvetica" pitchFamily="34" charset="0"/>
                <a:ea typeface="Calibri"/>
                <a:cs typeface="Calibri"/>
                <a:hlinkClick r:id="rId4"/>
              </a:rPr>
              <a:t>http://4xoverland.com/how-do-4x4s-work/4x4-driving</a:t>
            </a:r>
            <a:r>
              <a:rPr lang="en-AU" sz="2200" u="sng" dirty="0" smtClean="0">
                <a:solidFill>
                  <a:srgbClr val="0000FF"/>
                </a:solidFill>
                <a:latin typeface="Helvetica" pitchFamily="34" charset="0"/>
                <a:ea typeface="Calibri"/>
                <a:cs typeface="Calibri"/>
                <a:hlinkClick r:id="rId4"/>
              </a:rPr>
              <a:t>/</a:t>
            </a:r>
            <a:r>
              <a:rPr lang="en-AU" sz="2200" dirty="0">
                <a:latin typeface="Helvetica" pitchFamily="34" charset="0"/>
                <a:ea typeface="Calibri"/>
                <a:cs typeface="Calibri"/>
              </a:rPr>
              <a:t> – How to drive a 4x4 off road [Steep slopes]</a:t>
            </a:r>
          </a:p>
          <a:p>
            <a:pPr>
              <a:spcBef>
                <a:spcPts val="400"/>
              </a:spcBef>
              <a:spcAft>
                <a:spcPts val="800"/>
              </a:spcAft>
            </a:pPr>
            <a:r>
              <a:rPr lang="en-AU" sz="2200" u="sng" dirty="0">
                <a:solidFill>
                  <a:srgbClr val="0000FF"/>
                </a:solidFill>
                <a:latin typeface="Helvetica" pitchFamily="34" charset="0"/>
                <a:ea typeface="Calibri"/>
                <a:cs typeface="Calibri"/>
                <a:hlinkClick r:id="rId5"/>
              </a:rPr>
              <a:t>https://www.youtube.com/watch?v=uTW3H4WBxnY</a:t>
            </a:r>
            <a:r>
              <a:rPr lang="en-AU" sz="2200" dirty="0">
                <a:latin typeface="Helvetica" pitchFamily="34" charset="0"/>
                <a:ea typeface="Calibri"/>
                <a:cs typeface="Calibri"/>
              </a:rPr>
              <a:t> – 4WD Hill Climb Comparo</a:t>
            </a:r>
          </a:p>
          <a:p>
            <a:pPr>
              <a:spcBef>
                <a:spcPts val="400"/>
              </a:spcBef>
              <a:spcAft>
                <a:spcPts val="800"/>
              </a:spcAft>
            </a:pPr>
            <a:r>
              <a:rPr lang="en-AU" sz="2200" u="sng" dirty="0">
                <a:solidFill>
                  <a:srgbClr val="0000FF"/>
                </a:solidFill>
                <a:latin typeface="Helvetica" pitchFamily="34" charset="0"/>
                <a:ea typeface="Calibri"/>
                <a:cs typeface="Calibri"/>
                <a:hlinkClick r:id="rId6"/>
              </a:rPr>
              <a:t>http://</a:t>
            </a:r>
            <a:r>
              <a:rPr lang="en-AU" sz="2200" u="sng" dirty="0" smtClean="0">
                <a:solidFill>
                  <a:srgbClr val="0000FF"/>
                </a:solidFill>
                <a:latin typeface="Helvetica" pitchFamily="34" charset="0"/>
                <a:ea typeface="Calibri"/>
                <a:cs typeface="Calibri"/>
                <a:hlinkClick r:id="rId6"/>
              </a:rPr>
              <a:t>www.iventureclub.com.au/4x4-tips/article.html?k=Jem4UGra2DY</a:t>
            </a:r>
            <a:r>
              <a:rPr lang="en-AU" sz="2200" dirty="0">
                <a:latin typeface="Helvetica" pitchFamily="34" charset="0"/>
                <a:ea typeface="Calibri"/>
                <a:cs typeface="Calibri"/>
              </a:rPr>
              <a:t> – 4x4: Tip- Steep </a:t>
            </a:r>
            <a:r>
              <a:rPr lang="en-AU" sz="2200" dirty="0" smtClean="0">
                <a:latin typeface="Helvetica" pitchFamily="34" charset="0"/>
                <a:ea typeface="Calibri"/>
                <a:cs typeface="Calibri"/>
              </a:rPr>
              <a:t>terrain</a:t>
            </a: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208" y="274638"/>
            <a:ext cx="7467600" cy="1143000"/>
          </a:xfrm>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529208" y="1600200"/>
            <a:ext cx="7715200" cy="4925144"/>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Driving through water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Know </a:t>
            </a:r>
            <a:r>
              <a:rPr lang="en-AU" sz="2200" dirty="0">
                <a:latin typeface="Helvetica" pitchFamily="34" charset="0"/>
              </a:rPr>
              <a:t>the vehicle and how deep </a:t>
            </a:r>
            <a:r>
              <a:rPr lang="en-AU" sz="2200" dirty="0" smtClean="0">
                <a:latin typeface="Helvetica" pitchFamily="34" charset="0"/>
              </a:rPr>
              <a:t>the </a:t>
            </a:r>
            <a:r>
              <a:rPr lang="en-AU" sz="2200" dirty="0">
                <a:latin typeface="Helvetica" pitchFamily="34" charset="0"/>
              </a:rPr>
              <a:t>water can be before the vehicle begins to float</a:t>
            </a:r>
          </a:p>
          <a:p>
            <a:pPr>
              <a:spcBef>
                <a:spcPts val="600"/>
              </a:spcBef>
              <a:spcAft>
                <a:spcPts val="1200"/>
              </a:spcAft>
            </a:pPr>
            <a:r>
              <a:rPr lang="en-AU" sz="2200" dirty="0">
                <a:latin typeface="Helvetica" pitchFamily="34" charset="0"/>
              </a:rPr>
              <a:t>Know how fast the water is flowing </a:t>
            </a:r>
          </a:p>
          <a:p>
            <a:pPr>
              <a:spcBef>
                <a:spcPts val="600"/>
              </a:spcBef>
              <a:spcAft>
                <a:spcPts val="1200"/>
              </a:spcAft>
            </a:pPr>
            <a:r>
              <a:rPr lang="en-AU" sz="2200" dirty="0">
                <a:latin typeface="Helvetica" pitchFamily="34" charset="0"/>
              </a:rPr>
              <a:t>Know the surface to be travelled </a:t>
            </a:r>
          </a:p>
          <a:p>
            <a:pPr>
              <a:spcBef>
                <a:spcPts val="600"/>
              </a:spcBef>
              <a:spcAft>
                <a:spcPts val="1200"/>
              </a:spcAft>
            </a:pPr>
            <a:r>
              <a:rPr lang="en-AU" sz="2200" dirty="0">
                <a:latin typeface="Helvetica" pitchFamily="34" charset="0"/>
              </a:rPr>
              <a:t>Know where the air intake </a:t>
            </a:r>
            <a:r>
              <a:rPr lang="en-AU" sz="2200" dirty="0" smtClean="0">
                <a:latin typeface="Helvetica" pitchFamily="34" charset="0"/>
              </a:rPr>
              <a:t>is</a:t>
            </a:r>
          </a:p>
          <a:p>
            <a:pPr lvl="0">
              <a:spcBef>
                <a:spcPts val="600"/>
              </a:spcBef>
              <a:spcAft>
                <a:spcPts val="1200"/>
              </a:spcAft>
              <a:buClr>
                <a:srgbClr val="7FD13B"/>
              </a:buClr>
            </a:pPr>
            <a:r>
              <a:rPr lang="en-AU" sz="2200" dirty="0" smtClean="0">
                <a:latin typeface="Helvetica" pitchFamily="34" charset="0"/>
              </a:rPr>
              <a:t>Check-out </a:t>
            </a:r>
            <a:r>
              <a:rPr lang="en-AU" sz="2200" dirty="0">
                <a:latin typeface="Helvetica" pitchFamily="34" charset="0"/>
              </a:rPr>
              <a:t>the crossing </a:t>
            </a:r>
          </a:p>
          <a:p>
            <a:pPr>
              <a:spcBef>
                <a:spcPts val="600"/>
              </a:spcBef>
              <a:spcAft>
                <a:spcPts val="1200"/>
              </a:spcAft>
            </a:pPr>
            <a:r>
              <a:rPr lang="en-AU" sz="2200" dirty="0">
                <a:latin typeface="Helvetica" pitchFamily="34" charset="0"/>
              </a:rPr>
              <a:t>If in doubt, avoid the </a:t>
            </a:r>
            <a:r>
              <a:rPr lang="en-AU" sz="2200" dirty="0" smtClean="0">
                <a:latin typeface="Helvetica" pitchFamily="34" charset="0"/>
              </a:rPr>
              <a:t>crossing</a:t>
            </a:r>
            <a:endParaRPr lang="en-AU" sz="2200"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184" y="3933056"/>
            <a:ext cx="2191159" cy="1547639"/>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467600" cy="5141168"/>
          </a:xfrm>
        </p:spPr>
        <p:txBody>
          <a:bodyPr>
            <a:normAutofit/>
          </a:bodyPr>
          <a:lstStyle/>
          <a:p>
            <a:pPr marL="36576" indent="0">
              <a:spcBef>
                <a:spcPts val="600"/>
              </a:spcBef>
              <a:spcAft>
                <a:spcPts val="1200"/>
              </a:spcAft>
              <a:buNone/>
            </a:pPr>
            <a:r>
              <a:rPr lang="en-AU" sz="2200" b="1" dirty="0">
                <a:latin typeface="Helvetica" pitchFamily="34" charset="0"/>
                <a:ea typeface="Calibri"/>
                <a:cs typeface="Calibri"/>
              </a:rPr>
              <a:t>Standard cautions</a:t>
            </a:r>
            <a:endParaRPr lang="en-AU" sz="2200" dirty="0">
              <a:latin typeface="Helvetica" pitchFamily="34" charset="0"/>
              <a:ea typeface="Calibri"/>
              <a:cs typeface="Calibri"/>
            </a:endParaRPr>
          </a:p>
          <a:p>
            <a:pPr marL="355600" indent="-355600">
              <a:spcBef>
                <a:spcPts val="600"/>
              </a:spcBef>
              <a:spcAft>
                <a:spcPts val="1200"/>
              </a:spcAft>
            </a:pPr>
            <a:r>
              <a:rPr lang="en-AU" sz="2200" dirty="0">
                <a:latin typeface="Helvetica" pitchFamily="34" charset="0"/>
                <a:ea typeface="Calibri"/>
                <a:cs typeface="Calibri"/>
              </a:rPr>
              <a:t>Be prepared to avoid the crossing if:</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The current is too fast </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The water is too deep</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The approach or departure angles are too steep</a:t>
            </a:r>
          </a:p>
          <a:p>
            <a:pPr marL="723900" lvl="1" indent="-368300">
              <a:spcBef>
                <a:spcPts val="600"/>
              </a:spcBef>
              <a:spcAft>
                <a:spcPts val="1200"/>
              </a:spcAft>
              <a:buFont typeface="Symbol"/>
              <a:buChar char=""/>
            </a:pPr>
            <a:r>
              <a:rPr lang="en-AU" sz="2200" dirty="0">
                <a:latin typeface="Helvetica" pitchFamily="34" charset="0"/>
                <a:ea typeface="Calibri"/>
                <a:cs typeface="Times New Roman"/>
              </a:rPr>
              <a:t>The approach or departure </a:t>
            </a:r>
            <a:r>
              <a:rPr lang="en-AU" sz="2200" dirty="0" smtClean="0">
                <a:latin typeface="Helvetica" pitchFamily="34" charset="0"/>
                <a:ea typeface="Calibri"/>
                <a:cs typeface="Times New Roman"/>
              </a:rPr>
              <a:t>is </a:t>
            </a:r>
            <a:r>
              <a:rPr lang="en-AU" sz="2200" dirty="0">
                <a:latin typeface="Helvetica" pitchFamily="34" charset="0"/>
                <a:ea typeface="Calibri"/>
                <a:cs typeface="Times New Roman"/>
              </a:rPr>
              <a:t>too soft or otherwise too </a:t>
            </a:r>
            <a:r>
              <a:rPr lang="en-AU" sz="2200" dirty="0" smtClean="0">
                <a:latin typeface="Helvetica" pitchFamily="34" charset="0"/>
                <a:ea typeface="Calibri"/>
                <a:cs typeface="Times New Roman"/>
              </a:rPr>
              <a:t>difficult</a:t>
            </a:r>
          </a:p>
          <a:p>
            <a:pPr marL="723900" lvl="1" indent="-368300">
              <a:spcBef>
                <a:spcPts val="600"/>
              </a:spcBef>
              <a:spcAft>
                <a:spcPts val="1200"/>
              </a:spcAft>
              <a:buFont typeface="Symbol"/>
              <a:buChar char=""/>
            </a:pPr>
            <a:r>
              <a:rPr lang="en-AU" sz="2200" dirty="0" smtClean="0">
                <a:latin typeface="Helvetica" pitchFamily="34" charset="0"/>
                <a:ea typeface="Times New Roman"/>
                <a:cs typeface="Times New Roman"/>
              </a:rPr>
              <a:t>The </a:t>
            </a:r>
            <a:r>
              <a:rPr lang="en-AU" sz="2200" dirty="0">
                <a:latin typeface="Helvetica" pitchFamily="34" charset="0"/>
                <a:ea typeface="Times New Roman"/>
                <a:cs typeface="Times New Roman"/>
              </a:rPr>
              <a:t>vehicle is not/cannot be adequately prepared</a:t>
            </a:r>
            <a:endParaRPr lang="en-AU" sz="2200"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2204864"/>
            <a:ext cx="1881210" cy="1368152"/>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5076827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784" y="274638"/>
            <a:ext cx="7467600" cy="1143000"/>
          </a:xfrm>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560784" y="1844824"/>
            <a:ext cx="7467600" cy="4824536"/>
          </a:xfrm>
        </p:spPr>
        <p:txBody>
          <a:bodyPr>
            <a:normAutofit/>
          </a:bodyPr>
          <a:lstStyle/>
          <a:p>
            <a:pPr marL="36576" indent="0">
              <a:spcBef>
                <a:spcPts val="600"/>
              </a:spcBef>
              <a:spcAft>
                <a:spcPts val="1200"/>
              </a:spcAft>
              <a:buNone/>
            </a:pPr>
            <a:r>
              <a:rPr lang="en-AU" sz="2200" b="1" dirty="0">
                <a:latin typeface="Helvetica" pitchFamily="34" charset="0"/>
                <a:ea typeface="Calibri"/>
                <a:cs typeface="Calibri"/>
              </a:rPr>
              <a:t>Driving techniques</a:t>
            </a:r>
            <a:endParaRPr lang="en-AU" sz="2200" dirty="0">
              <a:latin typeface="Helvetica" pitchFamily="34" charset="0"/>
              <a:ea typeface="Calibri"/>
              <a:cs typeface="Calibri"/>
            </a:endParaRPr>
          </a:p>
          <a:p>
            <a:pPr>
              <a:spcBef>
                <a:spcPts val="600"/>
              </a:spcBef>
              <a:spcAft>
                <a:spcPts val="1200"/>
              </a:spcAft>
            </a:pPr>
            <a:r>
              <a:rPr lang="en-AU" sz="2200" dirty="0">
                <a:latin typeface="Helvetica" pitchFamily="34" charset="0"/>
                <a:ea typeface="Calibri"/>
                <a:cs typeface="Calibri"/>
              </a:rPr>
              <a:t>When driving through water there can be a need to:</a:t>
            </a:r>
          </a:p>
          <a:p>
            <a:pPr marL="644652" lvl="1" indent="-342900">
              <a:spcBef>
                <a:spcPts val="600"/>
              </a:spcBef>
              <a:spcAft>
                <a:spcPts val="1200"/>
              </a:spcAft>
              <a:buFont typeface="Symbol"/>
              <a:buChar char=""/>
            </a:pPr>
            <a:r>
              <a:rPr lang="en-AU" sz="2200" dirty="0">
                <a:latin typeface="Helvetica" pitchFamily="34" charset="0"/>
                <a:ea typeface="Calibri"/>
                <a:cs typeface="Times New Roman"/>
              </a:rPr>
              <a:t>Let the engine cool down first </a:t>
            </a:r>
            <a:endParaRPr lang="en-AU" sz="2200" dirty="0" smtClean="0">
              <a:latin typeface="Helvetica" pitchFamily="34" charset="0"/>
              <a:ea typeface="Calibri"/>
              <a:cs typeface="Times New Roman"/>
            </a:endParaRPr>
          </a:p>
          <a:p>
            <a:pPr marL="644652" lvl="1" indent="-342900">
              <a:spcBef>
                <a:spcPts val="600"/>
              </a:spcBef>
              <a:spcAft>
                <a:spcPts val="1200"/>
              </a:spcAft>
              <a:buFont typeface="Symbol"/>
              <a:buChar char=""/>
            </a:pPr>
            <a:r>
              <a:rPr lang="en-AU" sz="2200" dirty="0" smtClean="0">
                <a:latin typeface="Helvetica" pitchFamily="34" charset="0"/>
                <a:ea typeface="Calibri"/>
                <a:cs typeface="Times New Roman"/>
              </a:rPr>
              <a:t>Tie </a:t>
            </a:r>
            <a:r>
              <a:rPr lang="en-AU" sz="2200" dirty="0">
                <a:latin typeface="Helvetica" pitchFamily="34" charset="0"/>
                <a:ea typeface="Calibri"/>
                <a:cs typeface="Times New Roman"/>
              </a:rPr>
              <a:t>a tarpaulin across the front of the vehicle </a:t>
            </a:r>
            <a:endParaRPr lang="en-AU" sz="2200" dirty="0" smtClean="0">
              <a:latin typeface="Helvetica" pitchFamily="34" charset="0"/>
              <a:ea typeface="Calibri"/>
              <a:cs typeface="Times New Roman"/>
            </a:endParaRPr>
          </a:p>
          <a:p>
            <a:pPr marL="644652" lvl="1" indent="-342900">
              <a:spcBef>
                <a:spcPts val="600"/>
              </a:spcBef>
              <a:spcAft>
                <a:spcPts val="1200"/>
              </a:spcAft>
              <a:buFont typeface="Symbol"/>
              <a:buChar char=""/>
            </a:pPr>
            <a:r>
              <a:rPr lang="en-AU" sz="2200" dirty="0" smtClean="0">
                <a:latin typeface="Helvetica" pitchFamily="34" charset="0"/>
                <a:ea typeface="Calibri"/>
                <a:cs typeface="Times New Roman"/>
              </a:rPr>
              <a:t>Loosen </a:t>
            </a:r>
            <a:r>
              <a:rPr lang="en-AU" sz="2200" dirty="0">
                <a:latin typeface="Helvetica" pitchFamily="34" charset="0"/>
                <a:ea typeface="Calibri"/>
                <a:cs typeface="Times New Roman"/>
              </a:rPr>
              <a:t>the fan </a:t>
            </a:r>
            <a:r>
              <a:rPr lang="en-AU" sz="2200" dirty="0" smtClean="0">
                <a:latin typeface="Helvetica" pitchFamily="34" charset="0"/>
                <a:ea typeface="Calibri"/>
                <a:cs typeface="Times New Roman"/>
              </a:rPr>
              <a:t>belt</a:t>
            </a:r>
          </a:p>
          <a:p>
            <a:pPr marL="644652" lvl="1" indent="-342900">
              <a:spcBef>
                <a:spcPts val="600"/>
              </a:spcBef>
              <a:spcAft>
                <a:spcPts val="1200"/>
              </a:spcAft>
              <a:buFont typeface="Symbol"/>
              <a:buChar char=""/>
            </a:pPr>
            <a:r>
              <a:rPr lang="en-AU" sz="2200" dirty="0">
                <a:latin typeface="Helvetica" pitchFamily="34" charset="0"/>
                <a:ea typeface="Calibri"/>
                <a:cs typeface="Times New Roman"/>
              </a:rPr>
              <a:t>Spray the motor with water repellent (WD-40) to help preserve the </a:t>
            </a:r>
            <a:r>
              <a:rPr lang="en-AU" sz="2200" dirty="0" smtClean="0">
                <a:latin typeface="Helvetica" pitchFamily="34" charset="0"/>
                <a:ea typeface="Calibri"/>
                <a:cs typeface="Times New Roman"/>
              </a:rPr>
              <a:t>electrics</a:t>
            </a:r>
          </a:p>
          <a:p>
            <a:pPr marL="644652" lvl="1" indent="-342900">
              <a:spcBef>
                <a:spcPts val="600"/>
              </a:spcBef>
              <a:spcAft>
                <a:spcPts val="1200"/>
              </a:spcAft>
              <a:buFont typeface="Symbol"/>
              <a:buChar char=""/>
            </a:pPr>
            <a:r>
              <a:rPr lang="en-AU" sz="2200" dirty="0" smtClean="0">
                <a:latin typeface="Helvetica" pitchFamily="34" charset="0"/>
                <a:ea typeface="Calibri"/>
                <a:cs typeface="Times New Roman"/>
              </a:rPr>
              <a:t>…..continued in TM</a:t>
            </a:r>
          </a:p>
          <a:p>
            <a:pPr marL="0" lvl="0" indent="0">
              <a:spcBef>
                <a:spcPts val="600"/>
              </a:spcBef>
              <a:spcAft>
                <a:spcPts val="1200"/>
              </a:spcAft>
              <a:buNone/>
            </a:pPr>
            <a:endParaRPr lang="en-AU" sz="2200" dirty="0" smtClean="0">
              <a:latin typeface="Helvetica" pitchFamily="34" charset="0"/>
              <a:ea typeface="Calibri"/>
              <a:cs typeface="Times New Roman"/>
            </a:endParaRPr>
          </a:p>
          <a:p>
            <a:pPr marL="342900" lvl="0" indent="-342900">
              <a:spcBef>
                <a:spcPts val="600"/>
              </a:spcBef>
              <a:spcAft>
                <a:spcPts val="1200"/>
              </a:spcAft>
              <a:buFont typeface="Symbol"/>
              <a:buChar char=""/>
            </a:pPr>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2652110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200" b="1" dirty="0">
                <a:solidFill>
                  <a:srgbClr val="FF6600"/>
                </a:solidFill>
                <a:latin typeface="Helvetica" pitchFamily="34" charset="0"/>
              </a:rPr>
              <a:t>4.1	Demonstrate basic operational driving practices</a:t>
            </a:r>
            <a:endParaRPr lang="en-AU" dirty="0"/>
          </a:p>
        </p:txBody>
      </p:sp>
      <p:sp>
        <p:nvSpPr>
          <p:cNvPr id="3" name="Content Placeholder 2"/>
          <p:cNvSpPr>
            <a:spLocks noGrp="1"/>
          </p:cNvSpPr>
          <p:nvPr>
            <p:ph idx="1"/>
          </p:nvPr>
        </p:nvSpPr>
        <p:spPr>
          <a:xfrm>
            <a:off x="457200" y="1600200"/>
            <a:ext cx="7859216" cy="5257800"/>
          </a:xfrm>
        </p:spPr>
        <p:txBody>
          <a:bodyPr>
            <a:noAutofit/>
          </a:bodyPr>
          <a:lstStyle/>
          <a:p>
            <a:pPr marL="36576" indent="0">
              <a:spcBef>
                <a:spcPts val="600"/>
              </a:spcBef>
              <a:spcAft>
                <a:spcPts val="600"/>
              </a:spcAft>
              <a:buNone/>
            </a:pPr>
            <a:r>
              <a:rPr lang="en-AU" sz="1800" b="1" dirty="0" smtClean="0">
                <a:latin typeface="Helvetica" pitchFamily="34" charset="0"/>
                <a:ea typeface="Calibri"/>
                <a:cs typeface="Calibri"/>
              </a:rPr>
              <a:t>Websites</a:t>
            </a:r>
            <a:endParaRPr lang="en-AU" sz="1800" dirty="0">
              <a:latin typeface="Helvetica" pitchFamily="34" charset="0"/>
              <a:ea typeface="Calibri"/>
              <a:cs typeface="Calibri"/>
            </a:endParaRPr>
          </a:p>
          <a:p>
            <a:pPr>
              <a:spcBef>
                <a:spcPts val="600"/>
              </a:spcBef>
              <a:spcAft>
                <a:spcPts val="600"/>
              </a:spcAft>
            </a:pPr>
            <a:r>
              <a:rPr lang="en-AU" sz="1800" u="sng" dirty="0" smtClean="0">
                <a:solidFill>
                  <a:srgbClr val="0000FF"/>
                </a:solidFill>
                <a:latin typeface="Helvetica" pitchFamily="34" charset="0"/>
                <a:ea typeface="Calibri"/>
                <a:cs typeface="Calibri"/>
                <a:hlinkClick r:id="rId3"/>
              </a:rPr>
              <a:t>http</a:t>
            </a:r>
            <a:r>
              <a:rPr lang="en-AU" sz="1800" u="sng" dirty="0">
                <a:solidFill>
                  <a:srgbClr val="0000FF"/>
                </a:solidFill>
                <a:latin typeface="Helvetica" pitchFamily="34" charset="0"/>
                <a:ea typeface="Calibri"/>
                <a:cs typeface="Calibri"/>
                <a:hlinkClick r:id="rId3"/>
              </a:rPr>
              <a:t>://www.iventureclub.com.au/4x4-tips/article.html?k=zFA1eN-qEzg</a:t>
            </a:r>
            <a:r>
              <a:rPr lang="en-AU" sz="1800" dirty="0">
                <a:latin typeface="Helvetica" pitchFamily="34" charset="0"/>
                <a:ea typeface="Calibri"/>
                <a:cs typeface="Calibri"/>
              </a:rPr>
              <a:t> </a:t>
            </a:r>
            <a:r>
              <a:rPr lang="en-AU" sz="1800" dirty="0" smtClean="0">
                <a:latin typeface="Helvetica" pitchFamily="34" charset="0"/>
                <a:ea typeface="Calibri"/>
                <a:cs typeface="Calibri"/>
              </a:rPr>
              <a:t/>
            </a:r>
            <a:br>
              <a:rPr lang="en-AU" sz="1800" dirty="0" smtClean="0">
                <a:latin typeface="Helvetica" pitchFamily="34" charset="0"/>
                <a:ea typeface="Calibri"/>
                <a:cs typeface="Calibri"/>
              </a:rPr>
            </a:br>
            <a:r>
              <a:rPr lang="en-AU" sz="1800" dirty="0" smtClean="0">
                <a:latin typeface="Helvetica" pitchFamily="34" charset="0"/>
                <a:ea typeface="Calibri"/>
                <a:cs typeface="Calibri"/>
              </a:rPr>
              <a:t>– </a:t>
            </a:r>
            <a:r>
              <a:rPr lang="en-AU" sz="1800" dirty="0">
                <a:latin typeface="Helvetica" pitchFamily="34" charset="0"/>
                <a:ea typeface="Calibri"/>
                <a:cs typeface="Calibri"/>
              </a:rPr>
              <a:t>4x4 Tip: Water</a:t>
            </a:r>
            <a:r>
              <a:rPr lang="en-AU" sz="1800" u="sng" dirty="0">
                <a:solidFill>
                  <a:srgbClr val="0000FF"/>
                </a:solidFill>
                <a:latin typeface="Helvetica" pitchFamily="34" charset="0"/>
                <a:ea typeface="Calibri"/>
                <a:cs typeface="Calibri"/>
              </a:rPr>
              <a:t> </a:t>
            </a:r>
            <a:r>
              <a:rPr lang="en-AU" sz="1800" dirty="0">
                <a:latin typeface="Helvetica" pitchFamily="34" charset="0"/>
                <a:ea typeface="Calibri"/>
                <a:cs typeface="Calibri"/>
              </a:rPr>
              <a:t>crossing</a:t>
            </a:r>
          </a:p>
          <a:p>
            <a:pPr>
              <a:spcBef>
                <a:spcPts val="600"/>
              </a:spcBef>
              <a:spcAft>
                <a:spcPts val="600"/>
              </a:spcAft>
            </a:pPr>
            <a:r>
              <a:rPr lang="en-AU" sz="1800" u="sng" dirty="0">
                <a:solidFill>
                  <a:srgbClr val="0000FF"/>
                </a:solidFill>
                <a:latin typeface="Helvetica" pitchFamily="34" charset="0"/>
                <a:ea typeface="Calibri"/>
                <a:cs typeface="Calibri"/>
                <a:hlinkClick r:id="rId4"/>
              </a:rPr>
              <a:t>http://www.toughtoys.com.au/how-to-4x4/water-crossings</a:t>
            </a:r>
            <a:r>
              <a:rPr lang="en-AU" sz="1800" u="sng" dirty="0" smtClean="0">
                <a:solidFill>
                  <a:srgbClr val="0000FF"/>
                </a:solidFill>
                <a:latin typeface="Helvetica" pitchFamily="34" charset="0"/>
                <a:ea typeface="Calibri"/>
                <a:cs typeface="Calibri"/>
                <a:hlinkClick r:id="rId4"/>
              </a:rPr>
              <a:t>/</a:t>
            </a:r>
            <a:r>
              <a:rPr lang="en-AU" sz="1800" dirty="0">
                <a:latin typeface="Helvetica" pitchFamily="34" charset="0"/>
                <a:ea typeface="Calibri"/>
                <a:cs typeface="Calibri"/>
              </a:rPr>
              <a:t> </a:t>
            </a:r>
            <a:r>
              <a:rPr lang="en-AU" sz="1800" dirty="0" smtClean="0">
                <a:latin typeface="Helvetica" pitchFamily="34" charset="0"/>
                <a:ea typeface="Calibri"/>
                <a:cs typeface="Calibri"/>
              </a:rPr>
              <a:t/>
            </a:r>
            <a:br>
              <a:rPr lang="en-AU" sz="1800" dirty="0" smtClean="0">
                <a:latin typeface="Helvetica" pitchFamily="34" charset="0"/>
                <a:ea typeface="Calibri"/>
                <a:cs typeface="Calibri"/>
              </a:rPr>
            </a:br>
            <a:r>
              <a:rPr lang="en-AU" sz="1800" dirty="0" smtClean="0">
                <a:latin typeface="Helvetica" pitchFamily="34" charset="0"/>
                <a:ea typeface="Calibri"/>
                <a:cs typeface="Calibri"/>
              </a:rPr>
              <a:t>–  Water </a:t>
            </a:r>
            <a:r>
              <a:rPr lang="en-AU" sz="1800" dirty="0">
                <a:latin typeface="Helvetica" pitchFamily="34" charset="0"/>
                <a:ea typeface="Calibri"/>
                <a:cs typeface="Calibri"/>
              </a:rPr>
              <a:t>crossings</a:t>
            </a:r>
          </a:p>
          <a:p>
            <a:pPr>
              <a:spcBef>
                <a:spcPts val="600"/>
              </a:spcBef>
              <a:spcAft>
                <a:spcPts val="600"/>
              </a:spcAft>
            </a:pPr>
            <a:r>
              <a:rPr lang="en-AU" sz="1800" u="sng" dirty="0">
                <a:solidFill>
                  <a:srgbClr val="0000FF"/>
                </a:solidFill>
                <a:latin typeface="Helvetica" pitchFamily="34" charset="0"/>
                <a:ea typeface="Calibri"/>
                <a:cs typeface="Calibri"/>
                <a:hlinkClick r:id="rId5"/>
              </a:rPr>
              <a:t>https://</a:t>
            </a:r>
            <a:r>
              <a:rPr lang="en-AU" sz="1800" u="sng" dirty="0" smtClean="0">
                <a:solidFill>
                  <a:srgbClr val="0000FF"/>
                </a:solidFill>
                <a:latin typeface="Helvetica" pitchFamily="34" charset="0"/>
                <a:ea typeface="Calibri"/>
                <a:cs typeface="Calibri"/>
                <a:hlinkClick r:id="rId5"/>
              </a:rPr>
              <a:t>www.youtube.com/watch?v=wNtJNuhIf4I</a:t>
            </a:r>
            <a:r>
              <a:rPr lang="en-AU" sz="1800" dirty="0">
                <a:latin typeface="Helvetica" pitchFamily="34" charset="0"/>
                <a:ea typeface="Calibri"/>
                <a:cs typeface="Calibri"/>
              </a:rPr>
              <a:t> </a:t>
            </a:r>
            <a:r>
              <a:rPr lang="en-AU" sz="1800" dirty="0" smtClean="0">
                <a:latin typeface="Helvetica" pitchFamily="34" charset="0"/>
                <a:ea typeface="Calibri"/>
                <a:cs typeface="Calibri"/>
              </a:rPr>
              <a:t/>
            </a:r>
            <a:br>
              <a:rPr lang="en-AU" sz="1800" dirty="0" smtClean="0">
                <a:latin typeface="Helvetica" pitchFamily="34" charset="0"/>
                <a:ea typeface="Calibri"/>
                <a:cs typeface="Calibri"/>
              </a:rPr>
            </a:br>
            <a:r>
              <a:rPr lang="en-AU" sz="1800" dirty="0" smtClean="0">
                <a:latin typeface="Helvetica" pitchFamily="34" charset="0"/>
                <a:ea typeface="Calibri"/>
                <a:cs typeface="Calibri"/>
              </a:rPr>
              <a:t>– </a:t>
            </a:r>
            <a:r>
              <a:rPr lang="en-AU" sz="1800" dirty="0">
                <a:latin typeface="Helvetica" pitchFamily="34" charset="0"/>
                <a:ea typeface="Calibri"/>
                <a:cs typeface="Calibri"/>
              </a:rPr>
              <a:t>ARB Water crossing techniques</a:t>
            </a:r>
            <a:r>
              <a:rPr lang="en-AU" sz="1800" u="sng" dirty="0">
                <a:solidFill>
                  <a:srgbClr val="0000FF"/>
                </a:solidFill>
                <a:latin typeface="Helvetica" pitchFamily="34" charset="0"/>
                <a:ea typeface="Calibri"/>
                <a:cs typeface="Calibri"/>
              </a:rPr>
              <a:t> </a:t>
            </a:r>
            <a:endParaRPr lang="en-AU" sz="1800" dirty="0">
              <a:latin typeface="Helvetica" pitchFamily="34" charset="0"/>
              <a:ea typeface="Calibri"/>
              <a:cs typeface="Calibri"/>
            </a:endParaRPr>
          </a:p>
          <a:p>
            <a:pPr>
              <a:spcBef>
                <a:spcPts val="600"/>
              </a:spcBef>
              <a:spcAft>
                <a:spcPts val="600"/>
              </a:spcAft>
            </a:pPr>
            <a:r>
              <a:rPr lang="en-AU" sz="1800" u="sng" dirty="0">
                <a:solidFill>
                  <a:srgbClr val="0000FF"/>
                </a:solidFill>
                <a:latin typeface="Helvetica" pitchFamily="34" charset="0"/>
                <a:ea typeface="Calibri"/>
                <a:cs typeface="Calibri"/>
                <a:hlinkClick r:id="rId6"/>
              </a:rPr>
              <a:t>http://</a:t>
            </a:r>
            <a:r>
              <a:rPr lang="en-AU" sz="1800" u="sng" dirty="0" smtClean="0">
                <a:solidFill>
                  <a:srgbClr val="0000FF"/>
                </a:solidFill>
                <a:latin typeface="Helvetica" pitchFamily="34" charset="0"/>
                <a:ea typeface="Calibri"/>
                <a:cs typeface="Calibri"/>
                <a:hlinkClick r:id="rId6"/>
              </a:rPr>
              <a:t>www.outbacktravelaustralia.com.au/driving-towing-4wd-driving-skills/water-crossings</a:t>
            </a:r>
            <a:r>
              <a:rPr lang="en-AU" sz="1800" dirty="0">
                <a:latin typeface="Helvetica" pitchFamily="34" charset="0"/>
                <a:ea typeface="Calibri"/>
                <a:cs typeface="Calibri"/>
              </a:rPr>
              <a:t> – Water crossings</a:t>
            </a:r>
          </a:p>
          <a:p>
            <a:pPr>
              <a:spcBef>
                <a:spcPts val="600"/>
              </a:spcBef>
              <a:spcAft>
                <a:spcPts val="600"/>
              </a:spcAft>
            </a:pPr>
            <a:r>
              <a:rPr lang="en-AU" sz="1800" u="sng" dirty="0">
                <a:solidFill>
                  <a:srgbClr val="0000FF"/>
                </a:solidFill>
                <a:latin typeface="Helvetica" pitchFamily="34" charset="0"/>
                <a:ea typeface="Calibri"/>
                <a:cs typeface="Calibri"/>
                <a:hlinkClick r:id="rId7"/>
              </a:rPr>
              <a:t>http://www.4-wheeling-in-western-australia.com/river-crossings.html</a:t>
            </a:r>
            <a:r>
              <a:rPr lang="en-AU" sz="1800" dirty="0">
                <a:latin typeface="Helvetica" pitchFamily="34" charset="0"/>
                <a:ea typeface="Calibri"/>
                <a:cs typeface="Calibri"/>
              </a:rPr>
              <a:t>  </a:t>
            </a:r>
            <a:r>
              <a:rPr lang="en-AU" sz="1800" dirty="0" smtClean="0">
                <a:latin typeface="Helvetica" pitchFamily="34" charset="0"/>
                <a:ea typeface="Calibri"/>
                <a:cs typeface="Calibri"/>
              </a:rPr>
              <a:t/>
            </a:r>
            <a:br>
              <a:rPr lang="en-AU" sz="1800" dirty="0" smtClean="0">
                <a:latin typeface="Helvetica" pitchFamily="34" charset="0"/>
                <a:ea typeface="Calibri"/>
                <a:cs typeface="Calibri"/>
              </a:rPr>
            </a:br>
            <a:r>
              <a:rPr lang="en-AU" sz="1800" dirty="0" smtClean="0">
                <a:latin typeface="Helvetica" pitchFamily="34" charset="0"/>
                <a:ea typeface="Calibri"/>
                <a:cs typeface="Calibri"/>
              </a:rPr>
              <a:t>– </a:t>
            </a:r>
            <a:r>
              <a:rPr lang="en-AU" sz="1800" dirty="0">
                <a:latin typeface="Helvetica" pitchFamily="34" charset="0"/>
                <a:ea typeface="Calibri"/>
                <a:cs typeface="Calibri"/>
              </a:rPr>
              <a:t>River crossings [including videos on this page]</a:t>
            </a:r>
          </a:p>
          <a:p>
            <a:pPr>
              <a:spcBef>
                <a:spcPts val="600"/>
              </a:spcBef>
              <a:spcAft>
                <a:spcPts val="600"/>
              </a:spcAft>
            </a:pPr>
            <a:r>
              <a:rPr lang="en-AU" sz="1800" u="sng" dirty="0">
                <a:solidFill>
                  <a:srgbClr val="0000FF"/>
                </a:solidFill>
                <a:latin typeface="Helvetica" pitchFamily="34" charset="0"/>
                <a:ea typeface="Calibri"/>
                <a:cs typeface="Calibri"/>
                <a:hlinkClick r:id="rId8"/>
              </a:rPr>
              <a:t>http://</a:t>
            </a:r>
            <a:r>
              <a:rPr lang="en-AU" sz="1800" u="sng" dirty="0" smtClean="0">
                <a:solidFill>
                  <a:srgbClr val="0000FF"/>
                </a:solidFill>
                <a:latin typeface="Helvetica" pitchFamily="34" charset="0"/>
                <a:ea typeface="Calibri"/>
                <a:cs typeface="Calibri"/>
                <a:hlinkClick r:id="rId8"/>
              </a:rPr>
              <a:t>www.4wdonline.com/A/Water.html</a:t>
            </a:r>
            <a:r>
              <a:rPr lang="en-AU" sz="1800" dirty="0">
                <a:latin typeface="Helvetica" pitchFamily="34" charset="0"/>
                <a:ea typeface="Calibri"/>
                <a:cs typeface="Calibri"/>
              </a:rPr>
              <a:t> </a:t>
            </a:r>
            <a:r>
              <a:rPr lang="en-AU" sz="1800" dirty="0" smtClean="0">
                <a:latin typeface="Helvetica" pitchFamily="34" charset="0"/>
                <a:ea typeface="Calibri"/>
                <a:cs typeface="Calibri"/>
              </a:rPr>
              <a:t>– </a:t>
            </a:r>
            <a:r>
              <a:rPr lang="en-AU" sz="1800" dirty="0">
                <a:latin typeface="Helvetica" pitchFamily="34" charset="0"/>
                <a:ea typeface="Calibri"/>
                <a:cs typeface="Calibri"/>
              </a:rPr>
              <a:t>Water crossing</a:t>
            </a:r>
          </a:p>
          <a:p>
            <a:pPr>
              <a:spcBef>
                <a:spcPts val="600"/>
              </a:spcBef>
              <a:spcAft>
                <a:spcPts val="600"/>
              </a:spcAft>
            </a:pPr>
            <a:r>
              <a:rPr lang="en-AU" sz="1800" u="sng" dirty="0">
                <a:solidFill>
                  <a:srgbClr val="0000FF"/>
                </a:solidFill>
                <a:latin typeface="Helvetica" pitchFamily="34" charset="0"/>
                <a:ea typeface="Calibri"/>
                <a:cs typeface="Calibri"/>
                <a:hlinkClick r:id="rId9"/>
              </a:rPr>
              <a:t>http://www.pps.net.au/4wdencounter/4wdtech/water.html</a:t>
            </a:r>
            <a:r>
              <a:rPr lang="en-AU" sz="1800" dirty="0">
                <a:latin typeface="Helvetica" pitchFamily="34" charset="0"/>
                <a:ea typeface="Calibri"/>
                <a:cs typeface="Calibri"/>
              </a:rPr>
              <a:t>  </a:t>
            </a:r>
            <a:r>
              <a:rPr lang="en-AU" sz="1800" dirty="0" smtClean="0">
                <a:latin typeface="Helvetica" pitchFamily="34" charset="0"/>
                <a:ea typeface="Calibri"/>
                <a:cs typeface="Calibri"/>
              </a:rPr>
              <a:t/>
            </a:r>
            <a:br>
              <a:rPr lang="en-AU" sz="1800" dirty="0" smtClean="0">
                <a:latin typeface="Helvetica" pitchFamily="34" charset="0"/>
                <a:ea typeface="Calibri"/>
                <a:cs typeface="Calibri"/>
              </a:rPr>
            </a:br>
            <a:r>
              <a:rPr lang="en-AU" sz="1800" dirty="0" smtClean="0">
                <a:latin typeface="Helvetica" pitchFamily="34" charset="0"/>
                <a:ea typeface="Calibri"/>
                <a:cs typeface="Calibri"/>
              </a:rPr>
              <a:t>–  </a:t>
            </a:r>
            <a:r>
              <a:rPr lang="en-AU" sz="1800" dirty="0">
                <a:latin typeface="Helvetica" pitchFamily="34" charset="0"/>
                <a:ea typeface="Calibri"/>
                <a:cs typeface="Calibri"/>
              </a:rPr>
              <a:t>4WD Encounter Australia: River </a:t>
            </a:r>
            <a:r>
              <a:rPr lang="en-AU" sz="1800" dirty="0" smtClean="0">
                <a:latin typeface="Helvetica" pitchFamily="34" charset="0"/>
                <a:ea typeface="Calibri"/>
                <a:cs typeface="Calibri"/>
              </a:rPr>
              <a:t>crossings</a:t>
            </a:r>
            <a:endParaRPr lang="en-AU" sz="1800" dirty="0">
              <a:latin typeface="Helvetica" pitchFamily="34" charset="0"/>
              <a:ea typeface="Calibri"/>
              <a:cs typeface="Calibri"/>
            </a:endParaRPr>
          </a:p>
          <a:p>
            <a:pPr>
              <a:spcBef>
                <a:spcPts val="600"/>
              </a:spcBef>
              <a:spcAft>
                <a:spcPts val="600"/>
              </a:spcAft>
            </a:pPr>
            <a:endParaRPr lang="en-AU" sz="18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3717465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900113" indent="-900113"/>
            <a:r>
              <a:rPr lang="en-AU" sz="3200" b="1" dirty="0">
                <a:solidFill>
                  <a:srgbClr val="FF6600"/>
                </a:solidFill>
                <a:latin typeface="Helvetica" pitchFamily="34" charset="0"/>
              </a:rPr>
              <a:t>4.2	Demonstrate practices related to the towing of a trailer</a:t>
            </a:r>
            <a:endParaRPr lang="en-AU" sz="3200" dirty="0"/>
          </a:p>
        </p:txBody>
      </p:sp>
      <p:sp>
        <p:nvSpPr>
          <p:cNvPr id="3" name="Content Placeholder 2"/>
          <p:cNvSpPr>
            <a:spLocks noGrp="1"/>
          </p:cNvSpPr>
          <p:nvPr>
            <p:ph idx="1"/>
          </p:nvPr>
        </p:nvSpPr>
        <p:spPr>
          <a:xfrm>
            <a:off x="457200" y="1844824"/>
            <a:ext cx="7467600" cy="4752528"/>
          </a:xfrm>
        </p:spPr>
        <p:txBody>
          <a:bodyPr>
            <a:normAutofit/>
          </a:bodyPr>
          <a:lstStyle/>
          <a:p>
            <a:pPr marL="36576" indent="0">
              <a:spcBef>
                <a:spcPts val="600"/>
              </a:spcBef>
              <a:spcAft>
                <a:spcPts val="1200"/>
              </a:spcAft>
              <a:buNone/>
            </a:pPr>
            <a:r>
              <a:rPr lang="en-AU" sz="2200" dirty="0">
                <a:latin typeface="Helvetica" pitchFamily="34" charset="0"/>
                <a:ea typeface="Times New Roman"/>
                <a:cs typeface="Times New Roman"/>
              </a:rPr>
              <a:t>Drivers of service vehicles are often required to tow a trailer to carry camping </a:t>
            </a:r>
            <a:r>
              <a:rPr lang="en-AU" sz="2200" dirty="0" smtClean="0">
                <a:latin typeface="Helvetica" pitchFamily="34" charset="0"/>
                <a:ea typeface="Times New Roman"/>
                <a:cs typeface="Times New Roman"/>
              </a:rPr>
              <a:t>gear, luggage and so 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Loading </a:t>
            </a:r>
            <a:r>
              <a:rPr lang="en-AU" sz="2200" dirty="0">
                <a:latin typeface="Helvetica" pitchFamily="34" charset="0"/>
              </a:rPr>
              <a:t>of the trailer</a:t>
            </a:r>
          </a:p>
          <a:p>
            <a:pPr>
              <a:spcBef>
                <a:spcPts val="600"/>
              </a:spcBef>
              <a:spcAft>
                <a:spcPts val="1200"/>
              </a:spcAft>
            </a:pPr>
            <a:r>
              <a:rPr lang="en-AU" sz="2200" dirty="0">
                <a:latin typeface="Helvetica" pitchFamily="34" charset="0"/>
              </a:rPr>
              <a:t>Attaching the trailer </a:t>
            </a:r>
          </a:p>
          <a:p>
            <a:pPr>
              <a:spcBef>
                <a:spcPts val="600"/>
              </a:spcBef>
              <a:spcAft>
                <a:spcPts val="1200"/>
              </a:spcAft>
            </a:pPr>
            <a:r>
              <a:rPr lang="en-AU" sz="2200" dirty="0">
                <a:latin typeface="Helvetica" pitchFamily="34" charset="0"/>
              </a:rPr>
              <a:t>Towing a trailer</a:t>
            </a:r>
          </a:p>
          <a:p>
            <a:pPr>
              <a:spcBef>
                <a:spcPts val="600"/>
              </a:spcBef>
              <a:spcAft>
                <a:spcPts val="1200"/>
              </a:spcAft>
            </a:pPr>
            <a:r>
              <a:rPr lang="en-AU" sz="2200" dirty="0">
                <a:latin typeface="Helvetica" pitchFamily="34" charset="0"/>
              </a:rPr>
              <a:t>Detaching the trailer from the towing </a:t>
            </a:r>
            <a:r>
              <a:rPr lang="en-AU" sz="2200" dirty="0" smtClean="0">
                <a:latin typeface="Helvetica" pitchFamily="34" charset="0"/>
              </a:rPr>
              <a:t>vehicle</a:t>
            </a:r>
          </a:p>
          <a:p>
            <a:pPr>
              <a:spcBef>
                <a:spcPts val="600"/>
              </a:spcBef>
              <a:spcAft>
                <a:spcPts val="1200"/>
              </a:spcAft>
            </a:pPr>
            <a:r>
              <a:rPr lang="en-AU" sz="2200" dirty="0">
                <a:latin typeface="Helvetica" pitchFamily="34" charset="0"/>
              </a:rPr>
              <a:t>Practical driving</a:t>
            </a:r>
          </a:p>
          <a:p>
            <a:pPr>
              <a:spcBef>
                <a:spcPts val="600"/>
              </a:spcBef>
              <a:spcAft>
                <a:spcPts val="1200"/>
              </a:spcAft>
            </a:pPr>
            <a:endParaRPr lang="en-AU" sz="2200" dirty="0">
              <a:latin typeface="Helvetica" pitchFamily="34" charset="0"/>
            </a:endParaRPr>
          </a:p>
          <a:p>
            <a:pPr>
              <a:spcBef>
                <a:spcPts val="600"/>
              </a:spcBef>
              <a:spcAft>
                <a:spcPts val="1200"/>
              </a:spcAft>
            </a:pPr>
            <a:endParaRPr lang="en-AU" sz="2200"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758473"/>
            <a:ext cx="2287112" cy="160784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7193326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992888" cy="1143000"/>
          </a:xfrm>
        </p:spPr>
        <p:txBody>
          <a:bodyPr>
            <a:normAutofit/>
          </a:bodyPr>
          <a:lstStyle/>
          <a:p>
            <a:pPr marL="900113" indent="-900113"/>
            <a:r>
              <a:rPr lang="en-US" sz="3400" b="1" dirty="0">
                <a:solidFill>
                  <a:srgbClr val="FF6600"/>
                </a:solidFill>
                <a:latin typeface="Helvetica" pitchFamily="34" charset="0"/>
              </a:rPr>
              <a:t>4.3	Demonstrate reversing practices</a:t>
            </a:r>
          </a:p>
        </p:txBody>
      </p:sp>
      <p:sp>
        <p:nvSpPr>
          <p:cNvPr id="3" name="Content Placeholder 2"/>
          <p:cNvSpPr>
            <a:spLocks noGrp="1"/>
          </p:cNvSpPr>
          <p:nvPr>
            <p:ph idx="1"/>
          </p:nvPr>
        </p:nvSpPr>
        <p:spPr>
          <a:xfrm>
            <a:off x="611560" y="1556792"/>
            <a:ext cx="7488832" cy="5040560"/>
          </a:xfrm>
        </p:spPr>
        <p:txBody>
          <a:bodyPr>
            <a:normAutofit/>
          </a:bodyPr>
          <a:lstStyle/>
          <a:p>
            <a:pPr marL="36576" indent="0">
              <a:spcBef>
                <a:spcPts val="600"/>
              </a:spcBef>
              <a:spcAft>
                <a:spcPts val="1200"/>
              </a:spcAft>
              <a:buNone/>
            </a:pPr>
            <a:r>
              <a:rPr lang="en-AU" sz="2000" dirty="0">
                <a:latin typeface="Helvetica" pitchFamily="34" charset="0"/>
              </a:rPr>
              <a:t>Standard road and travel conditions will mean there can be a need to reverse the </a:t>
            </a:r>
            <a:r>
              <a:rPr lang="en-AU" sz="2000" dirty="0" smtClean="0">
                <a:latin typeface="Helvetica" pitchFamily="34" charset="0"/>
              </a:rPr>
              <a:t>vehicle:</a:t>
            </a:r>
            <a:endParaRPr lang="en-AU" sz="2000" dirty="0">
              <a:latin typeface="Helvetica" pitchFamily="34" charset="0"/>
            </a:endParaRPr>
          </a:p>
          <a:p>
            <a:pPr marL="355600" indent="-355600">
              <a:spcBef>
                <a:spcPts val="600"/>
              </a:spcBef>
              <a:spcAft>
                <a:spcPts val="1200"/>
              </a:spcAft>
            </a:pPr>
            <a:r>
              <a:rPr lang="en-AU" sz="2000" dirty="0" smtClean="0">
                <a:latin typeface="Helvetica" pitchFamily="34" charset="0"/>
              </a:rPr>
              <a:t>Key points </a:t>
            </a:r>
            <a:r>
              <a:rPr lang="en-AU" sz="2000" dirty="0">
                <a:latin typeface="Helvetica" pitchFamily="34" charset="0"/>
              </a:rPr>
              <a:t>when </a:t>
            </a:r>
            <a:r>
              <a:rPr lang="en-AU" sz="2000" dirty="0" smtClean="0">
                <a:latin typeface="Helvetica" pitchFamily="34" charset="0"/>
              </a:rPr>
              <a:t>reversing:</a:t>
            </a:r>
          </a:p>
          <a:p>
            <a:pPr marL="722313" lvl="1" indent="-366713">
              <a:spcBef>
                <a:spcPts val="600"/>
              </a:spcBef>
              <a:spcAft>
                <a:spcPts val="1200"/>
              </a:spcAft>
            </a:pPr>
            <a:r>
              <a:rPr lang="en-AU" sz="2000" u="sng" dirty="0" smtClean="0">
                <a:latin typeface="Helvetica" pitchFamily="34" charset="0"/>
                <a:hlinkClick r:id="rId3"/>
              </a:rPr>
              <a:t>http</a:t>
            </a:r>
            <a:r>
              <a:rPr lang="en-AU" sz="2000" u="sng" dirty="0">
                <a:latin typeface="Helvetica" pitchFamily="34" charset="0"/>
                <a:hlinkClick r:id="rId3"/>
              </a:rPr>
              <a:t>://www.qld.gov.au/transport/licensing/getting/education/videos/</a:t>
            </a:r>
            <a:r>
              <a:rPr lang="en-AU" sz="2000" dirty="0">
                <a:latin typeface="Helvetica" pitchFamily="34" charset="0"/>
              </a:rPr>
              <a:t> - Safe driving videos: ‘The reverse park’ </a:t>
            </a:r>
          </a:p>
          <a:p>
            <a:pPr marL="722313" lvl="1" indent="-366713">
              <a:spcBef>
                <a:spcPts val="600"/>
              </a:spcBef>
              <a:spcAft>
                <a:spcPts val="1200"/>
              </a:spcAft>
            </a:pPr>
            <a:r>
              <a:rPr lang="en-AU" sz="2000" u="sng" dirty="0">
                <a:latin typeface="Helvetica" pitchFamily="34" charset="0"/>
                <a:hlinkClick r:id="rId4"/>
              </a:rPr>
              <a:t>https://www.youtube.com/watch?v=_FzNRQFhSSk</a:t>
            </a:r>
            <a:r>
              <a:rPr lang="en-AU" sz="2000" dirty="0">
                <a:latin typeface="Helvetica" pitchFamily="34" charset="0"/>
              </a:rPr>
              <a:t> </a:t>
            </a:r>
            <a:r>
              <a:rPr lang="en-AU" sz="2000" dirty="0" smtClean="0">
                <a:latin typeface="Helvetica" pitchFamily="34" charset="0"/>
              </a:rPr>
              <a:t/>
            </a:r>
            <a:br>
              <a:rPr lang="en-AU" sz="2000" dirty="0" smtClean="0">
                <a:latin typeface="Helvetica" pitchFamily="34" charset="0"/>
              </a:rPr>
            </a:br>
            <a:r>
              <a:rPr lang="en-AU" sz="2000" dirty="0" smtClean="0">
                <a:latin typeface="Helvetica" pitchFamily="34" charset="0"/>
              </a:rPr>
              <a:t>– </a:t>
            </a:r>
            <a:r>
              <a:rPr lang="en-AU" sz="2000" dirty="0">
                <a:latin typeface="Helvetica" pitchFamily="34" charset="0"/>
              </a:rPr>
              <a:t>How to reverse your car correctly</a:t>
            </a:r>
          </a:p>
          <a:p>
            <a:pPr marL="722313" lvl="1" indent="-366713">
              <a:spcBef>
                <a:spcPts val="600"/>
              </a:spcBef>
              <a:spcAft>
                <a:spcPts val="1200"/>
              </a:spcAft>
            </a:pPr>
            <a:r>
              <a:rPr lang="en-AU" sz="2000" u="sng" dirty="0">
                <a:latin typeface="Helvetica" pitchFamily="34" charset="0"/>
                <a:hlinkClick r:id="rId5"/>
              </a:rPr>
              <a:t>https://www.youtube.com/watch?v=orDT9Sm_Y1I</a:t>
            </a:r>
            <a:r>
              <a:rPr lang="en-AU" sz="2000" dirty="0">
                <a:latin typeface="Helvetica" pitchFamily="34" charset="0"/>
              </a:rPr>
              <a:t> </a:t>
            </a:r>
            <a:r>
              <a:rPr lang="en-AU" sz="2000" dirty="0" smtClean="0">
                <a:latin typeface="Helvetica" pitchFamily="34" charset="0"/>
              </a:rPr>
              <a:t/>
            </a:r>
            <a:br>
              <a:rPr lang="en-AU" sz="2000" dirty="0" smtClean="0">
                <a:latin typeface="Helvetica" pitchFamily="34" charset="0"/>
              </a:rPr>
            </a:br>
            <a:r>
              <a:rPr lang="en-AU" sz="2000" dirty="0" smtClean="0">
                <a:latin typeface="Helvetica" pitchFamily="34" charset="0"/>
              </a:rPr>
              <a:t>– </a:t>
            </a:r>
            <a:r>
              <a:rPr lang="en-AU" sz="2000" dirty="0">
                <a:latin typeface="Helvetica" pitchFamily="34" charset="0"/>
              </a:rPr>
              <a:t>Driving 101: how to reverse into a parking space</a:t>
            </a:r>
          </a:p>
          <a:p>
            <a:pPr marL="722313" lvl="1" indent="-366713">
              <a:spcBef>
                <a:spcPts val="600"/>
              </a:spcBef>
              <a:spcAft>
                <a:spcPts val="1200"/>
              </a:spcAft>
            </a:pPr>
            <a:r>
              <a:rPr lang="en-AU" sz="2000" u="sng" dirty="0">
                <a:latin typeface="Helvetica" pitchFamily="34" charset="0"/>
                <a:hlinkClick r:id="rId6"/>
              </a:rPr>
              <a:t>https://www.youtube.com/watch?v=TOMUo7LXE68</a:t>
            </a:r>
            <a:r>
              <a:rPr lang="en-AU" sz="2000" dirty="0">
                <a:latin typeface="Helvetica" pitchFamily="34" charset="0"/>
              </a:rPr>
              <a:t> </a:t>
            </a:r>
            <a:r>
              <a:rPr lang="en-AU" sz="2000" dirty="0" smtClean="0">
                <a:latin typeface="Helvetica" pitchFamily="34" charset="0"/>
              </a:rPr>
              <a:t/>
            </a:r>
            <a:br>
              <a:rPr lang="en-AU" sz="2000" dirty="0" smtClean="0">
                <a:latin typeface="Helvetica" pitchFamily="34" charset="0"/>
              </a:rPr>
            </a:br>
            <a:r>
              <a:rPr lang="en-AU" sz="2000" dirty="0" smtClean="0">
                <a:latin typeface="Helvetica" pitchFamily="34" charset="0"/>
              </a:rPr>
              <a:t>– </a:t>
            </a:r>
            <a:r>
              <a:rPr lang="en-AU" sz="2000" dirty="0">
                <a:latin typeface="Helvetica" pitchFamily="34" charset="0"/>
              </a:rPr>
              <a:t>How to drive a car in reverse gear </a:t>
            </a:r>
            <a:r>
              <a:rPr lang="en-AU" sz="2000" dirty="0" smtClean="0">
                <a:latin typeface="Helvetica" pitchFamily="34" charset="0"/>
              </a:rPr>
              <a:t>easily</a:t>
            </a:r>
            <a:endParaRPr lang="en-AU" sz="2000" b="1"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43426927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a:solidFill>
                  <a:srgbClr val="FF6600"/>
                </a:solidFill>
                <a:latin typeface="Helvetica" pitchFamily="34" charset="0"/>
              </a:rPr>
              <a:t>4.3	Demonstrate reversing practices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824536"/>
          </a:xfrm>
        </p:spPr>
        <p:txBody>
          <a:bodyPr>
            <a:normAutofit/>
          </a:bodyPr>
          <a:lstStyle/>
          <a:p>
            <a:pPr lvl="0">
              <a:spcBef>
                <a:spcPts val="600"/>
              </a:spcBef>
              <a:spcAft>
                <a:spcPts val="1200"/>
              </a:spcAft>
              <a:buClr>
                <a:srgbClr val="7FD13B"/>
              </a:buClr>
            </a:pPr>
            <a:r>
              <a:rPr lang="en-AU" sz="2200" dirty="0">
                <a:solidFill>
                  <a:prstClr val="black"/>
                </a:solidFill>
                <a:latin typeface="Helvetica" pitchFamily="34" charset="0"/>
              </a:rPr>
              <a:t>Reversing a trailer</a:t>
            </a:r>
          </a:p>
          <a:p>
            <a:pPr lvl="0">
              <a:spcBef>
                <a:spcPts val="600"/>
              </a:spcBef>
              <a:spcAft>
                <a:spcPts val="1200"/>
              </a:spcAft>
              <a:buClr>
                <a:srgbClr val="7FD13B"/>
              </a:buClr>
            </a:pPr>
            <a:r>
              <a:rPr lang="en-AU" sz="2200" dirty="0">
                <a:solidFill>
                  <a:prstClr val="black"/>
                </a:solidFill>
                <a:latin typeface="Helvetica" pitchFamily="34" charset="0"/>
              </a:rPr>
              <a:t>Practical </a:t>
            </a:r>
            <a:r>
              <a:rPr lang="en-AU" sz="2200" dirty="0" smtClean="0">
                <a:solidFill>
                  <a:prstClr val="black"/>
                </a:solidFill>
                <a:latin typeface="Helvetica" pitchFamily="34" charset="0"/>
              </a:rPr>
              <a:t>driving</a:t>
            </a:r>
          </a:p>
          <a:p>
            <a:pPr lvl="0">
              <a:spcBef>
                <a:spcPts val="600"/>
              </a:spcBef>
              <a:spcAft>
                <a:spcPts val="1200"/>
              </a:spcAft>
              <a:buClr>
                <a:srgbClr val="7FD13B"/>
              </a:buClr>
            </a:pPr>
            <a:r>
              <a:rPr lang="en-AU" sz="2200" dirty="0" smtClean="0"/>
              <a:t>Websites:</a:t>
            </a:r>
            <a:endParaRPr lang="en-AU" sz="2200" dirty="0"/>
          </a:p>
          <a:p>
            <a:pPr lvl="1">
              <a:lnSpc>
                <a:spcPct val="115000"/>
              </a:lnSpc>
              <a:spcBef>
                <a:spcPts val="600"/>
              </a:spcBef>
              <a:spcAft>
                <a:spcPts val="1200"/>
              </a:spcAft>
            </a:pPr>
            <a:r>
              <a:rPr lang="en-AU" sz="2200" u="sng" dirty="0" smtClean="0">
                <a:solidFill>
                  <a:srgbClr val="0000FF"/>
                </a:solidFill>
                <a:latin typeface="Helvetica" pitchFamily="34" charset="0"/>
                <a:ea typeface="Calibri"/>
                <a:cs typeface="Calibri"/>
                <a:hlinkClick r:id="rId3"/>
              </a:rPr>
              <a:t>https</a:t>
            </a:r>
            <a:r>
              <a:rPr lang="en-AU" sz="2200" u="sng" dirty="0">
                <a:solidFill>
                  <a:srgbClr val="0000FF"/>
                </a:solidFill>
                <a:latin typeface="Helvetica" pitchFamily="34" charset="0"/>
                <a:ea typeface="Calibri"/>
                <a:cs typeface="Calibri"/>
                <a:hlinkClick r:id="rId3"/>
              </a:rPr>
              <a:t>://www.youtube.com/watch?v=cqW73F8CbXM</a:t>
            </a:r>
            <a:r>
              <a:rPr lang="en-AU" sz="2200" dirty="0">
                <a:latin typeface="Helvetica" pitchFamily="34" charset="0"/>
                <a:ea typeface="Calibri"/>
                <a:cs typeface="Calibri"/>
              </a:rPr>
              <a:t> – How to reverse a trailer</a:t>
            </a:r>
            <a:endParaRPr lang="en-AU" sz="2200" dirty="0">
              <a:latin typeface="Helvetica" pitchFamily="34" charset="0"/>
              <a:ea typeface="Times New Roman"/>
              <a:cs typeface="Times New Roman"/>
            </a:endParaRPr>
          </a:p>
          <a:p>
            <a:pPr lvl="1">
              <a:lnSpc>
                <a:spcPct val="115000"/>
              </a:lnSpc>
              <a:spcBef>
                <a:spcPts val="600"/>
              </a:spcBef>
              <a:spcAft>
                <a:spcPts val="1200"/>
              </a:spcAft>
            </a:pPr>
            <a:r>
              <a:rPr lang="en-AU" sz="2200" u="sng" dirty="0">
                <a:solidFill>
                  <a:srgbClr val="0000FF"/>
                </a:solidFill>
                <a:latin typeface="Helvetica" pitchFamily="34" charset="0"/>
                <a:ea typeface="Calibri"/>
                <a:cs typeface="Calibri"/>
                <a:hlinkClick r:id="rId4"/>
              </a:rPr>
              <a:t>https://www.youtube.com/watch?v=jo0MLjY8ppU</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Towing: how to back-up and park a </a:t>
            </a:r>
            <a:r>
              <a:rPr lang="en-AU" sz="2200" dirty="0" smtClean="0">
                <a:latin typeface="Helvetica" pitchFamily="34" charset="0"/>
                <a:ea typeface="Calibri"/>
                <a:cs typeface="Calibri"/>
              </a:rPr>
              <a:t>trailer</a:t>
            </a:r>
            <a:endParaRPr lang="en-AU" sz="2200" dirty="0">
              <a:latin typeface="Helvetica" pitchFamily="34" charset="0"/>
              <a:ea typeface="Times New Roman"/>
              <a:cs typeface="Times New Roman"/>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75</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6136" y="1916832"/>
            <a:ext cx="2004053" cy="1503040"/>
          </a:xfrm>
          <a:prstGeom prst="rect">
            <a:avLst/>
          </a:prstGeom>
        </p:spPr>
      </p:pic>
    </p:spTree>
    <p:extLst>
      <p:ext uri="{BB962C8B-B14F-4D97-AF65-F5344CB8AC3E}">
        <p14:creationId xmlns:p14="http://schemas.microsoft.com/office/powerpoint/2010/main" val="300226831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4.4	Demonstrate parking and shutting down procedures</a:t>
            </a:r>
            <a:endParaRPr lang="en-AU" dirty="0"/>
          </a:p>
        </p:txBody>
      </p:sp>
      <p:sp>
        <p:nvSpPr>
          <p:cNvPr id="3" name="Content Placeholder 2"/>
          <p:cNvSpPr>
            <a:spLocks noGrp="1"/>
          </p:cNvSpPr>
          <p:nvPr>
            <p:ph idx="1"/>
          </p:nvPr>
        </p:nvSpPr>
        <p:spPr>
          <a:xfrm>
            <a:off x="457200" y="1988840"/>
            <a:ext cx="7467600" cy="4137323"/>
          </a:xfrm>
        </p:spPr>
        <p:txBody>
          <a:bodyPr>
            <a:normAutofit/>
          </a:bodyPr>
          <a:lstStyle/>
          <a:p>
            <a:pPr marL="36576" indent="0">
              <a:spcBef>
                <a:spcPts val="400"/>
              </a:spcBef>
              <a:spcAft>
                <a:spcPts val="800"/>
              </a:spcAft>
              <a:buNone/>
            </a:pPr>
            <a:r>
              <a:rPr lang="en-AU" sz="2200" dirty="0">
                <a:latin typeface="Helvetica" pitchFamily="34" charset="0"/>
                <a:ea typeface="Calibri"/>
                <a:cs typeface="Calibri"/>
              </a:rPr>
              <a:t>All vehicles need to be shut down and parked when they arrive at destinations and/or return back to </a:t>
            </a:r>
            <a:r>
              <a:rPr lang="en-AU" sz="2200" dirty="0" smtClean="0">
                <a:latin typeface="Helvetica" pitchFamily="34" charset="0"/>
                <a:ea typeface="Calibri"/>
                <a:cs typeface="Calibri"/>
              </a:rPr>
              <a:t>base:</a:t>
            </a:r>
          </a:p>
          <a:p>
            <a:pPr>
              <a:spcBef>
                <a:spcPts val="400"/>
              </a:spcBef>
              <a:spcAft>
                <a:spcPts val="800"/>
              </a:spcAft>
            </a:pPr>
            <a:r>
              <a:rPr lang="en-AU" sz="2200" dirty="0" smtClean="0">
                <a:latin typeface="Helvetica" pitchFamily="34" charset="0"/>
                <a:ea typeface="Times New Roman"/>
                <a:cs typeface="Times New Roman"/>
              </a:rPr>
              <a:t>Parking </a:t>
            </a:r>
            <a:r>
              <a:rPr lang="en-AU" sz="2200" dirty="0">
                <a:latin typeface="Helvetica" pitchFamily="34" charset="0"/>
                <a:ea typeface="Times New Roman"/>
                <a:cs typeface="Times New Roman"/>
              </a:rPr>
              <a:t>and shutting down </a:t>
            </a:r>
          </a:p>
          <a:p>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8950" y="3604188"/>
            <a:ext cx="3048000" cy="2033016"/>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6225585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900113" indent="-900113"/>
            <a:r>
              <a:rPr lang="en-AU" sz="3400" b="1" dirty="0">
                <a:solidFill>
                  <a:srgbClr val="FF6600"/>
                </a:solidFill>
                <a:latin typeface="Helvetica" pitchFamily="34" charset="0"/>
              </a:rPr>
              <a:t>4.4	Demonstrate parking and shutting down procedures</a:t>
            </a:r>
            <a:endParaRPr lang="en-AU" dirty="0"/>
          </a:p>
        </p:txBody>
      </p:sp>
      <p:sp>
        <p:nvSpPr>
          <p:cNvPr id="3" name="Content Placeholder 2"/>
          <p:cNvSpPr>
            <a:spLocks noGrp="1"/>
          </p:cNvSpPr>
          <p:nvPr>
            <p:ph idx="1"/>
          </p:nvPr>
        </p:nvSpPr>
        <p:spPr>
          <a:xfrm>
            <a:off x="457200" y="1844824"/>
            <a:ext cx="7643192" cy="4752528"/>
          </a:xfrm>
        </p:spPr>
        <p:txBody>
          <a:bodyPr>
            <a:normAutofit/>
          </a:bodyPr>
          <a:lstStyle/>
          <a:p>
            <a:pPr marL="36576" indent="0">
              <a:spcBef>
                <a:spcPts val="400"/>
              </a:spcBef>
              <a:spcAft>
                <a:spcPts val="800"/>
              </a:spcAft>
              <a:buNone/>
            </a:pPr>
            <a:r>
              <a:rPr lang="en-AU" sz="2200" b="1" dirty="0">
                <a:latin typeface="Helvetica" pitchFamily="34" charset="0"/>
                <a:ea typeface="Calibri"/>
                <a:cs typeface="Calibri"/>
              </a:rPr>
              <a:t>Websites</a:t>
            </a:r>
            <a:endParaRPr lang="en-AU" sz="2200" dirty="0">
              <a:latin typeface="Helvetica" pitchFamily="34" charset="0"/>
              <a:ea typeface="Calibri"/>
              <a:cs typeface="Calibri"/>
            </a:endParaRPr>
          </a:p>
          <a:p>
            <a:pPr>
              <a:spcBef>
                <a:spcPts val="400"/>
              </a:spcBef>
              <a:spcAft>
                <a:spcPts val="800"/>
              </a:spcAft>
            </a:pPr>
            <a:r>
              <a:rPr lang="en-AU" sz="2200" u="sng" dirty="0">
                <a:solidFill>
                  <a:srgbClr val="0000FF"/>
                </a:solidFill>
                <a:latin typeface="Helvetica" pitchFamily="34" charset="0"/>
                <a:ea typeface="Calibri"/>
                <a:cs typeface="Calibri"/>
                <a:hlinkClick r:id="rId3"/>
              </a:rPr>
              <a:t>https://www.youtube.com/watch?v=PtygeD4t6ig</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How to park a car</a:t>
            </a:r>
          </a:p>
          <a:p>
            <a:pPr>
              <a:spcBef>
                <a:spcPts val="400"/>
              </a:spcBef>
              <a:spcAft>
                <a:spcPts val="800"/>
              </a:spcAft>
            </a:pPr>
            <a:r>
              <a:rPr lang="en-AU" sz="2200" u="sng" dirty="0">
                <a:solidFill>
                  <a:srgbClr val="0000FF"/>
                </a:solidFill>
                <a:latin typeface="Helvetica" pitchFamily="34" charset="0"/>
                <a:ea typeface="Calibri"/>
                <a:cs typeface="Calibri"/>
                <a:hlinkClick r:id="rId4"/>
              </a:rPr>
              <a:t>https://www.youtube.com/watch?v=199QsWyBhpo</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Parallel parking lesson</a:t>
            </a:r>
          </a:p>
          <a:p>
            <a:pPr>
              <a:spcBef>
                <a:spcPts val="400"/>
              </a:spcBef>
              <a:spcAft>
                <a:spcPts val="800"/>
              </a:spcAft>
            </a:pPr>
            <a:r>
              <a:rPr lang="en-AU" sz="2200" u="sng" dirty="0">
                <a:solidFill>
                  <a:srgbClr val="0000FF"/>
                </a:solidFill>
                <a:latin typeface="Helvetica" pitchFamily="34" charset="0"/>
                <a:ea typeface="Calibri"/>
                <a:cs typeface="Calibri"/>
                <a:hlinkClick r:id="rId5"/>
              </a:rPr>
              <a:t>https://www.youtube.com/watch?v=-8AAciq3wqo</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Bay parking lesson: full version</a:t>
            </a:r>
          </a:p>
          <a:p>
            <a:pPr>
              <a:spcBef>
                <a:spcPts val="400"/>
              </a:spcBef>
              <a:spcAft>
                <a:spcPts val="800"/>
              </a:spcAft>
            </a:pPr>
            <a:r>
              <a:rPr lang="en-AU" sz="2200" u="sng" dirty="0">
                <a:solidFill>
                  <a:srgbClr val="0000FF"/>
                </a:solidFill>
                <a:latin typeface="Helvetica" pitchFamily="34" charset="0"/>
                <a:ea typeface="Calibri"/>
                <a:cs typeface="Calibri"/>
                <a:hlinkClick r:id="rId6"/>
              </a:rPr>
              <a:t>https://www.youtube.com/watch?v=BF44oWTY47M</a:t>
            </a:r>
            <a:r>
              <a:rPr lang="en-AU" sz="2200" dirty="0">
                <a:latin typeface="Helvetica" pitchFamily="34" charset="0"/>
                <a:ea typeface="Calibri"/>
                <a:cs typeface="Calibri"/>
              </a:rPr>
              <a:t> </a:t>
            </a:r>
            <a:r>
              <a:rPr lang="en-AU" sz="2200" dirty="0" smtClean="0">
                <a:latin typeface="Helvetica" pitchFamily="34" charset="0"/>
                <a:ea typeface="Calibri"/>
                <a:cs typeface="Calibri"/>
              </a:rPr>
              <a:t/>
            </a:r>
            <a:br>
              <a:rPr lang="en-AU" sz="2200" dirty="0" smtClean="0">
                <a:latin typeface="Helvetica" pitchFamily="34" charset="0"/>
                <a:ea typeface="Calibri"/>
                <a:cs typeface="Calibri"/>
              </a:rPr>
            </a:br>
            <a:r>
              <a:rPr lang="en-AU" sz="2200" dirty="0" smtClean="0">
                <a:latin typeface="Helvetica" pitchFamily="34" charset="0"/>
                <a:ea typeface="Calibri"/>
                <a:cs typeface="Calibri"/>
              </a:rPr>
              <a:t>– </a:t>
            </a:r>
            <a:r>
              <a:rPr lang="en-AU" sz="2200" dirty="0">
                <a:latin typeface="Helvetica" pitchFamily="34" charset="0"/>
                <a:ea typeface="Calibri"/>
                <a:cs typeface="Calibri"/>
              </a:rPr>
              <a:t>Bay parking on driving </a:t>
            </a:r>
            <a:r>
              <a:rPr lang="en-AU" sz="2200" dirty="0" smtClean="0">
                <a:latin typeface="Helvetica" pitchFamily="34" charset="0"/>
                <a:ea typeface="Calibri"/>
                <a:cs typeface="Calibri"/>
              </a:rPr>
              <a:t>lessons</a:t>
            </a:r>
            <a:endParaRPr lang="en-AU" sz="2200" dirty="0">
              <a:latin typeface="Helvetica" pitchFamily="34" charset="0"/>
              <a:ea typeface="Calibri"/>
              <a:cs typeface="Calibri"/>
            </a:endParaRPr>
          </a:p>
          <a:p>
            <a:endParaRPr lang="en-AU" sz="2200" dirty="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81320625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994448" cy="1656184"/>
          </a:xfrm>
        </p:spPr>
        <p:txBody>
          <a:bodyPr>
            <a:normAutofit/>
          </a:bodyPr>
          <a:lstStyle/>
          <a:p>
            <a:pPr marL="723900" indent="-723900"/>
            <a:r>
              <a:rPr lang="en-AU" sz="3400" b="1" dirty="0" smtClean="0">
                <a:solidFill>
                  <a:srgbClr val="FF6600"/>
                </a:solidFill>
                <a:latin typeface="Helvetica" pitchFamily="34" charset="0"/>
              </a:rPr>
              <a:t>4.5	Identify </a:t>
            </a:r>
            <a:r>
              <a:rPr lang="en-AU" sz="3400" b="1" dirty="0">
                <a:solidFill>
                  <a:srgbClr val="FF6600"/>
                </a:solidFill>
                <a:latin typeface="Helvetica" pitchFamily="34" charset="0"/>
              </a:rPr>
              <a:t>and modify driving techniques to accommodate driving hazards</a:t>
            </a:r>
          </a:p>
        </p:txBody>
      </p:sp>
      <p:sp>
        <p:nvSpPr>
          <p:cNvPr id="3" name="Content Placeholder 2"/>
          <p:cNvSpPr>
            <a:spLocks noGrp="1"/>
          </p:cNvSpPr>
          <p:nvPr>
            <p:ph idx="1"/>
          </p:nvPr>
        </p:nvSpPr>
        <p:spPr>
          <a:xfrm>
            <a:off x="611560" y="2132856"/>
            <a:ext cx="7704856" cy="4464496"/>
          </a:xfrm>
        </p:spPr>
        <p:txBody>
          <a:bodyPr>
            <a:normAutofit fontScale="70000" lnSpcReduction="20000"/>
          </a:bodyPr>
          <a:lstStyle/>
          <a:p>
            <a:pPr marL="36576" indent="0">
              <a:lnSpc>
                <a:spcPct val="120000"/>
              </a:lnSpc>
              <a:spcBef>
                <a:spcPts val="600"/>
              </a:spcBef>
              <a:spcAft>
                <a:spcPts val="1200"/>
              </a:spcAft>
              <a:buNone/>
            </a:pPr>
            <a:r>
              <a:rPr lang="en-AU" sz="2400" b="1" dirty="0">
                <a:latin typeface="Helvetica" pitchFamily="34" charset="0"/>
              </a:rPr>
              <a:t>Identification of hazards</a:t>
            </a:r>
          </a:p>
          <a:p>
            <a:pPr lvl="0">
              <a:lnSpc>
                <a:spcPct val="120000"/>
              </a:lnSpc>
              <a:spcBef>
                <a:spcPts val="600"/>
              </a:spcBef>
              <a:spcAft>
                <a:spcPts val="1200"/>
              </a:spcAft>
            </a:pPr>
            <a:r>
              <a:rPr lang="en-AU" sz="2400" dirty="0" smtClean="0">
                <a:latin typeface="Helvetica" pitchFamily="34" charset="0"/>
              </a:rPr>
              <a:t>Wet </a:t>
            </a:r>
            <a:r>
              <a:rPr lang="en-AU" sz="2400" dirty="0">
                <a:latin typeface="Helvetica" pitchFamily="34" charset="0"/>
              </a:rPr>
              <a:t>and iced roads</a:t>
            </a:r>
          </a:p>
          <a:p>
            <a:pPr lvl="0">
              <a:lnSpc>
                <a:spcPct val="120000"/>
              </a:lnSpc>
              <a:spcBef>
                <a:spcPts val="600"/>
              </a:spcBef>
              <a:spcAft>
                <a:spcPts val="1200"/>
              </a:spcAft>
            </a:pPr>
            <a:r>
              <a:rPr lang="en-AU" sz="2400" dirty="0">
                <a:latin typeface="Helvetica" pitchFamily="34" charset="0"/>
              </a:rPr>
              <a:t>Oil on the road </a:t>
            </a:r>
          </a:p>
          <a:p>
            <a:pPr lvl="0">
              <a:lnSpc>
                <a:spcPct val="120000"/>
              </a:lnSpc>
              <a:spcBef>
                <a:spcPts val="600"/>
              </a:spcBef>
              <a:spcAft>
                <a:spcPts val="1200"/>
              </a:spcAft>
            </a:pPr>
            <a:r>
              <a:rPr lang="en-AU" sz="2400" dirty="0">
                <a:latin typeface="Helvetica" pitchFamily="34" charset="0"/>
              </a:rPr>
              <a:t>Animals and objects on the road</a:t>
            </a:r>
          </a:p>
          <a:p>
            <a:pPr lvl="0">
              <a:lnSpc>
                <a:spcPct val="120000"/>
              </a:lnSpc>
              <a:spcBef>
                <a:spcPts val="600"/>
              </a:spcBef>
              <a:spcAft>
                <a:spcPts val="1200"/>
              </a:spcAft>
            </a:pPr>
            <a:r>
              <a:rPr lang="en-AU" sz="2400" dirty="0">
                <a:latin typeface="Helvetica" pitchFamily="34" charset="0"/>
              </a:rPr>
              <a:t>Parked vehicles on the road</a:t>
            </a:r>
          </a:p>
          <a:p>
            <a:pPr lvl="0">
              <a:lnSpc>
                <a:spcPct val="120000"/>
              </a:lnSpc>
              <a:spcBef>
                <a:spcPts val="600"/>
              </a:spcBef>
              <a:spcAft>
                <a:spcPts val="1200"/>
              </a:spcAft>
            </a:pPr>
            <a:r>
              <a:rPr lang="en-AU" sz="2400" dirty="0">
                <a:latin typeface="Helvetica" pitchFamily="34" charset="0"/>
              </a:rPr>
              <a:t>Pedestrians on and crossing the road</a:t>
            </a:r>
          </a:p>
          <a:p>
            <a:pPr lvl="0">
              <a:lnSpc>
                <a:spcPct val="120000"/>
              </a:lnSpc>
              <a:spcBef>
                <a:spcPts val="600"/>
              </a:spcBef>
              <a:spcAft>
                <a:spcPts val="1200"/>
              </a:spcAft>
            </a:pPr>
            <a:r>
              <a:rPr lang="en-AU" sz="2400" dirty="0">
                <a:latin typeface="Helvetica" pitchFamily="34" charset="0"/>
              </a:rPr>
              <a:t>Flooded roads</a:t>
            </a:r>
          </a:p>
          <a:p>
            <a:pPr lvl="0">
              <a:lnSpc>
                <a:spcPct val="120000"/>
              </a:lnSpc>
              <a:spcBef>
                <a:spcPts val="600"/>
              </a:spcBef>
              <a:spcAft>
                <a:spcPts val="1200"/>
              </a:spcAft>
            </a:pPr>
            <a:r>
              <a:rPr lang="en-AU" sz="2400" dirty="0">
                <a:latin typeface="Helvetica" pitchFamily="34" charset="0"/>
              </a:rPr>
              <a:t>Windy sections of a road</a:t>
            </a:r>
          </a:p>
          <a:p>
            <a:pPr lvl="0">
              <a:lnSpc>
                <a:spcPct val="120000"/>
              </a:lnSpc>
              <a:spcBef>
                <a:spcPts val="600"/>
              </a:spcBef>
              <a:spcAft>
                <a:spcPts val="1200"/>
              </a:spcAft>
            </a:pPr>
            <a:r>
              <a:rPr lang="en-AU" sz="2400" dirty="0">
                <a:latin typeface="Helvetica" pitchFamily="34" charset="0"/>
              </a:rPr>
              <a:t>Reduced </a:t>
            </a:r>
            <a:r>
              <a:rPr lang="en-AU" sz="2400" dirty="0" smtClean="0">
                <a:latin typeface="Helvetica" pitchFamily="34" charset="0"/>
              </a:rPr>
              <a:t>visibility</a:t>
            </a:r>
            <a:endParaRPr lang="en-AU" sz="2400" dirty="0">
              <a:latin typeface="Helvetica" pitchFamily="34" charset="0"/>
            </a:endParaRPr>
          </a:p>
          <a:p>
            <a:pPr marL="360000" indent="-360000">
              <a:lnSpc>
                <a:spcPct val="120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78</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3984896"/>
            <a:ext cx="2184336" cy="1456952"/>
          </a:xfrm>
          <a:prstGeom prst="rect">
            <a:avLst/>
          </a:prstGeom>
        </p:spPr>
      </p:pic>
    </p:spTree>
    <p:extLst>
      <p:ext uri="{BB962C8B-B14F-4D97-AF65-F5344CB8AC3E}">
        <p14:creationId xmlns:p14="http://schemas.microsoft.com/office/powerpoint/2010/main" val="371036696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8064896" cy="1296144"/>
          </a:xfrm>
        </p:spPr>
        <p:txBody>
          <a:bodyPr>
            <a:normAutofit fontScale="90000"/>
          </a:bodyPr>
          <a:lstStyle/>
          <a:p>
            <a:pPr marL="723900" indent="-723900"/>
            <a:r>
              <a:rPr lang="en-AU" sz="3400" b="1" dirty="0" smtClean="0">
                <a:solidFill>
                  <a:srgbClr val="FF6600"/>
                </a:solidFill>
                <a:latin typeface="Helvetica" pitchFamily="34" charset="0"/>
              </a:rPr>
              <a:t>4.6	Modify </a:t>
            </a:r>
            <a:r>
              <a:rPr lang="en-AU" sz="3400" b="1" dirty="0">
                <a:solidFill>
                  <a:srgbClr val="FF6600"/>
                </a:solidFill>
                <a:latin typeface="Helvetica" pitchFamily="34" charset="0"/>
              </a:rPr>
              <a:t>driving style to accommodate identified vehicle problems and faults</a:t>
            </a:r>
          </a:p>
        </p:txBody>
      </p:sp>
      <p:sp>
        <p:nvSpPr>
          <p:cNvPr id="3" name="Content Placeholder 2"/>
          <p:cNvSpPr>
            <a:spLocks noGrp="1"/>
          </p:cNvSpPr>
          <p:nvPr>
            <p:ph idx="1"/>
          </p:nvPr>
        </p:nvSpPr>
        <p:spPr>
          <a:xfrm>
            <a:off x="611560" y="1700808"/>
            <a:ext cx="7704856" cy="4752528"/>
          </a:xfrm>
        </p:spPr>
        <p:txBody>
          <a:bodyPr>
            <a:normAutofit lnSpcReduction="10000"/>
          </a:bodyPr>
          <a:lstStyle/>
          <a:p>
            <a:pPr marL="36576" indent="0">
              <a:spcBef>
                <a:spcPts val="600"/>
              </a:spcBef>
              <a:spcAft>
                <a:spcPts val="1200"/>
              </a:spcAft>
              <a:buNone/>
            </a:pPr>
            <a:r>
              <a:rPr lang="en-AU" sz="2200" b="1" dirty="0" smtClean="0">
                <a:latin typeface="Helvetica" pitchFamily="34" charset="0"/>
              </a:rPr>
              <a:t>Standard </a:t>
            </a:r>
            <a:r>
              <a:rPr lang="en-AU" sz="2200" b="1" dirty="0">
                <a:latin typeface="Helvetica" pitchFamily="34" charset="0"/>
              </a:rPr>
              <a:t>responses</a:t>
            </a:r>
          </a:p>
          <a:p>
            <a:pPr marL="36576" indent="0">
              <a:spcBef>
                <a:spcPts val="600"/>
              </a:spcBef>
              <a:spcAft>
                <a:spcPts val="1200"/>
              </a:spcAft>
              <a:buNone/>
            </a:pPr>
            <a:r>
              <a:rPr lang="en-AU" sz="2200" dirty="0">
                <a:latin typeface="Helvetica" pitchFamily="34" charset="0"/>
              </a:rPr>
              <a:t>The basic responses to driving a vehicle with an identified fault include:</a:t>
            </a:r>
          </a:p>
          <a:p>
            <a:pPr lvl="0">
              <a:spcBef>
                <a:spcPts val="600"/>
              </a:spcBef>
              <a:spcAft>
                <a:spcPts val="1200"/>
              </a:spcAft>
            </a:pPr>
            <a:r>
              <a:rPr lang="en-AU" sz="2200" dirty="0">
                <a:latin typeface="Helvetica" pitchFamily="34" charset="0"/>
              </a:rPr>
              <a:t>Adherence to company policies as they apply to various situations </a:t>
            </a:r>
          </a:p>
          <a:p>
            <a:pPr lvl="0">
              <a:spcBef>
                <a:spcPts val="600"/>
              </a:spcBef>
              <a:spcAft>
                <a:spcPts val="1200"/>
              </a:spcAft>
            </a:pPr>
            <a:r>
              <a:rPr lang="en-AU" sz="2200" dirty="0">
                <a:latin typeface="Helvetica" pitchFamily="34" charset="0"/>
              </a:rPr>
              <a:t>Never put the safety of passengers or other road users at risk</a:t>
            </a:r>
          </a:p>
          <a:p>
            <a:pPr lvl="0">
              <a:spcBef>
                <a:spcPts val="600"/>
              </a:spcBef>
              <a:spcAft>
                <a:spcPts val="1200"/>
              </a:spcAft>
            </a:pPr>
            <a:r>
              <a:rPr lang="en-AU" sz="2200" dirty="0">
                <a:latin typeface="Helvetica" pitchFamily="34" charset="0"/>
              </a:rPr>
              <a:t>Use common sense</a:t>
            </a:r>
          </a:p>
          <a:p>
            <a:pPr lvl="0">
              <a:spcBef>
                <a:spcPts val="600"/>
              </a:spcBef>
              <a:spcAft>
                <a:spcPts val="1200"/>
              </a:spcAft>
            </a:pPr>
            <a:r>
              <a:rPr lang="en-AU" sz="2200" dirty="0">
                <a:latin typeface="Helvetica" pitchFamily="34" charset="0"/>
              </a:rPr>
              <a:t>Remember the Duty of Care owed by drivers to others</a:t>
            </a:r>
          </a:p>
          <a:p>
            <a:pPr lvl="0">
              <a:spcBef>
                <a:spcPts val="600"/>
              </a:spcBef>
              <a:spcAft>
                <a:spcPts val="1200"/>
              </a:spcAft>
            </a:pPr>
            <a:r>
              <a:rPr lang="en-AU" sz="2200" dirty="0">
                <a:latin typeface="Helvetica" pitchFamily="34" charset="0"/>
              </a:rPr>
              <a:t>Notify the Tour Operator and advise of the problem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79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4789724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282154"/>
          </a:xfrm>
        </p:spPr>
        <p:txBody>
          <a:bodyPr>
            <a:normAutofit fontScale="90000"/>
          </a:bodyPr>
          <a:lstStyle/>
          <a:p>
            <a:pPr marL="723900" indent="-723900"/>
            <a:r>
              <a:rPr lang="en-AU" sz="3100" b="1" dirty="0" smtClean="0">
                <a:solidFill>
                  <a:srgbClr val="FF6600"/>
                </a:solidFill>
                <a:latin typeface="Helvetica" pitchFamily="34" charset="0"/>
              </a:rPr>
              <a:t>4.6	Modify </a:t>
            </a:r>
            <a:r>
              <a:rPr lang="en-AU" sz="3100" b="1" dirty="0">
                <a:solidFill>
                  <a:srgbClr val="FF6600"/>
                </a:solidFill>
                <a:latin typeface="Helvetica" pitchFamily="34" charset="0"/>
              </a:rPr>
              <a:t>driving style to accommodate identified vehicle problems and faults</a:t>
            </a:r>
            <a:endParaRPr lang="en-AU" dirty="0"/>
          </a:p>
        </p:txBody>
      </p:sp>
      <p:sp>
        <p:nvSpPr>
          <p:cNvPr id="3" name="Content Placeholder 2"/>
          <p:cNvSpPr>
            <a:spLocks noGrp="1"/>
          </p:cNvSpPr>
          <p:nvPr>
            <p:ph idx="1"/>
          </p:nvPr>
        </p:nvSpPr>
        <p:spPr>
          <a:xfrm>
            <a:off x="457200" y="1916832"/>
            <a:ext cx="7467600" cy="4209331"/>
          </a:xfrm>
        </p:spPr>
        <p:txBody>
          <a:bodyPr>
            <a:normAutofit/>
          </a:bodyPr>
          <a:lstStyle/>
          <a:p>
            <a:pPr marL="355600" indent="-355600">
              <a:spcBef>
                <a:spcPts val="600"/>
              </a:spcBef>
              <a:spcAft>
                <a:spcPts val="1200"/>
              </a:spcAft>
            </a:pPr>
            <a:r>
              <a:rPr lang="en-AU" sz="2200" dirty="0">
                <a:latin typeface="Helvetica" pitchFamily="34" charset="0"/>
                <a:ea typeface="Times New Roman"/>
                <a:cs typeface="Times New Roman"/>
              </a:rPr>
              <a:t>Duty of </a:t>
            </a:r>
            <a:r>
              <a:rPr lang="en-AU" sz="2200" dirty="0" smtClean="0">
                <a:latin typeface="Helvetica" pitchFamily="34" charset="0"/>
                <a:ea typeface="Times New Roman"/>
                <a:cs typeface="Times New Roman"/>
              </a:rPr>
              <a:t>Care:</a:t>
            </a:r>
            <a:endParaRPr lang="en-AU" sz="2200" dirty="0">
              <a:latin typeface="Helvetica" pitchFamily="34" charset="0"/>
              <a:ea typeface="Times New Roman"/>
              <a:cs typeface="Times New Roman"/>
            </a:endParaRPr>
          </a:p>
          <a:p>
            <a:pPr marL="722313" lvl="1" indent="-366713">
              <a:spcBef>
                <a:spcPts val="600"/>
              </a:spcBef>
              <a:spcAft>
                <a:spcPts val="1200"/>
              </a:spcAft>
            </a:pPr>
            <a:r>
              <a:rPr lang="en-AU" sz="2200" dirty="0">
                <a:latin typeface="Helvetica" pitchFamily="34" charset="0"/>
                <a:ea typeface="Calibri"/>
                <a:cs typeface="Calibri"/>
              </a:rPr>
              <a:t>Consequences of failing to meet Duty of Care obligations</a:t>
            </a:r>
          </a:p>
          <a:p>
            <a:pPr marL="355600" indent="-355600">
              <a:spcBef>
                <a:spcPts val="600"/>
              </a:spcBef>
              <a:spcAft>
                <a:spcPts val="1200"/>
              </a:spcAft>
            </a:pPr>
            <a:r>
              <a:rPr lang="en-AU" sz="2200" dirty="0">
                <a:latin typeface="Helvetica" pitchFamily="34" charset="0"/>
                <a:ea typeface="Times New Roman"/>
                <a:cs typeface="Times New Roman"/>
              </a:rPr>
              <a:t>Important notes</a:t>
            </a:r>
          </a:p>
          <a:p>
            <a:pPr>
              <a:spcBef>
                <a:spcPts val="600"/>
              </a:spcBef>
              <a:spcAft>
                <a:spcPts val="1200"/>
              </a:spcAft>
            </a:pPr>
            <a:endParaRPr lang="en-AU" sz="22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3888" y="3140968"/>
            <a:ext cx="2433298" cy="1995304"/>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2632029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smtClean="0">
                <a:solidFill>
                  <a:srgbClr val="FF6600"/>
                </a:solidFill>
                <a:latin typeface="Helvetica" pitchFamily="34" charset="0"/>
              </a:rPr>
              <a:t>4.7	Follow </a:t>
            </a:r>
            <a:r>
              <a:rPr lang="en-US" sz="3400" b="1" dirty="0">
                <a:solidFill>
                  <a:srgbClr val="FF6600"/>
                </a:solidFill>
                <a:latin typeface="Helvetica" pitchFamily="34" charset="0"/>
              </a:rPr>
              <a:t>emergency procedures</a:t>
            </a:r>
          </a:p>
        </p:txBody>
      </p:sp>
      <p:sp>
        <p:nvSpPr>
          <p:cNvPr id="3" name="Content Placeholder 2"/>
          <p:cNvSpPr>
            <a:spLocks noGrp="1"/>
          </p:cNvSpPr>
          <p:nvPr>
            <p:ph idx="1"/>
          </p:nvPr>
        </p:nvSpPr>
        <p:spPr>
          <a:xfrm>
            <a:off x="611560" y="1556792"/>
            <a:ext cx="7416824" cy="5184576"/>
          </a:xfrm>
        </p:spPr>
        <p:txBody>
          <a:bodyPr>
            <a:normAutofit/>
          </a:bodyPr>
          <a:lstStyle/>
          <a:p>
            <a:pPr>
              <a:spcBef>
                <a:spcPts val="600"/>
              </a:spcBef>
              <a:spcAft>
                <a:spcPts val="1200"/>
              </a:spcAft>
            </a:pPr>
            <a:r>
              <a:rPr lang="en-AU" sz="2200" dirty="0" smtClean="0">
                <a:latin typeface="Helvetica" pitchFamily="34" charset="0"/>
              </a:rPr>
              <a:t>It </a:t>
            </a:r>
            <a:r>
              <a:rPr lang="en-AU" sz="2200" dirty="0">
                <a:latin typeface="Helvetica" pitchFamily="34" charset="0"/>
              </a:rPr>
              <a:t>is a non-negotiable requirement:</a:t>
            </a:r>
          </a:p>
          <a:p>
            <a:pPr lvl="1">
              <a:spcBef>
                <a:spcPts val="600"/>
              </a:spcBef>
              <a:spcAft>
                <a:spcPts val="1200"/>
              </a:spcAft>
            </a:pPr>
            <a:r>
              <a:rPr lang="en-AU" sz="2200" dirty="0">
                <a:latin typeface="Helvetica" pitchFamily="34" charset="0"/>
              </a:rPr>
              <a:t>All organisational protocols must be adhered to in these circumstances </a:t>
            </a:r>
          </a:p>
          <a:p>
            <a:pPr lvl="1">
              <a:spcBef>
                <a:spcPts val="600"/>
              </a:spcBef>
              <a:spcAft>
                <a:spcPts val="1200"/>
              </a:spcAft>
            </a:pPr>
            <a:r>
              <a:rPr lang="en-AU" sz="2200" dirty="0">
                <a:latin typeface="Helvetica" pitchFamily="34" charset="0"/>
              </a:rPr>
              <a:t>All legal obligations must be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discharged</a:t>
            </a:r>
          </a:p>
          <a:p>
            <a:pPr lvl="1">
              <a:spcBef>
                <a:spcPts val="600"/>
              </a:spcBef>
              <a:spcAft>
                <a:spcPts val="1200"/>
              </a:spcAft>
            </a:pPr>
            <a:r>
              <a:rPr lang="en-AU" sz="2200" dirty="0">
                <a:latin typeface="Helvetica" pitchFamily="34" charset="0"/>
              </a:rPr>
              <a:t>The safety of passengers is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paramount </a:t>
            </a:r>
            <a:r>
              <a:rPr lang="en-AU" sz="2200" dirty="0">
                <a:latin typeface="Helvetica" pitchFamily="34" charset="0"/>
              </a:rPr>
              <a:t>at all </a:t>
            </a:r>
            <a:r>
              <a:rPr lang="en-AU" sz="2200" dirty="0" smtClean="0">
                <a:latin typeface="Helvetica" pitchFamily="34" charset="0"/>
              </a:rPr>
              <a:t>times</a:t>
            </a:r>
            <a:endParaRPr lang="en-AU" sz="2200" dirty="0">
              <a:latin typeface="Helvetica" pitchFamily="34" charset="0"/>
            </a:endParaRPr>
          </a:p>
          <a:p>
            <a:pPr lvl="1">
              <a:spcBef>
                <a:spcPts val="600"/>
              </a:spcBef>
              <a:spcAft>
                <a:spcPts val="1200"/>
              </a:spcAft>
            </a:pPr>
            <a:r>
              <a:rPr lang="en-AU" sz="2200" dirty="0">
                <a:latin typeface="Helvetica" pitchFamily="34" charset="0"/>
              </a:rPr>
              <a:t>The safety of people (other road users and members of the public) must always take precedence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81</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2852936"/>
            <a:ext cx="2240237" cy="1542678"/>
          </a:xfrm>
          <a:prstGeom prst="rect">
            <a:avLst/>
          </a:prstGeom>
        </p:spPr>
      </p:pic>
    </p:spTree>
    <p:extLst>
      <p:ext uri="{BB962C8B-B14F-4D97-AF65-F5344CB8AC3E}">
        <p14:creationId xmlns:p14="http://schemas.microsoft.com/office/powerpoint/2010/main" val="336724600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smtClean="0">
                <a:solidFill>
                  <a:srgbClr val="FF6600"/>
                </a:solidFill>
                <a:latin typeface="Helvetica" pitchFamily="34" charset="0"/>
              </a:rPr>
              <a:t>4.7	Follow </a:t>
            </a:r>
            <a:r>
              <a:rPr lang="en-US" sz="3400" b="1" dirty="0">
                <a:solidFill>
                  <a:srgbClr val="FF6600"/>
                </a:solidFill>
                <a:latin typeface="Helvetica" pitchFamily="34" charset="0"/>
              </a:rPr>
              <a:t>emergency procedures</a:t>
            </a:r>
          </a:p>
        </p:txBody>
      </p:sp>
      <p:sp>
        <p:nvSpPr>
          <p:cNvPr id="3" name="Content Placeholder 2"/>
          <p:cNvSpPr>
            <a:spLocks noGrp="1"/>
          </p:cNvSpPr>
          <p:nvPr>
            <p:ph idx="1"/>
          </p:nvPr>
        </p:nvSpPr>
        <p:spPr>
          <a:xfrm>
            <a:off x="611560" y="1700808"/>
            <a:ext cx="7920880" cy="4381947"/>
          </a:xfrm>
        </p:spPr>
        <p:txBody>
          <a:bodyPr>
            <a:normAutofit/>
          </a:bodyPr>
          <a:lstStyle/>
          <a:p>
            <a:pPr marL="0" indent="0">
              <a:spcBef>
                <a:spcPts val="600"/>
              </a:spcBef>
              <a:spcAft>
                <a:spcPts val="1200"/>
              </a:spcAft>
              <a:buNone/>
            </a:pPr>
            <a:r>
              <a:rPr lang="en-AU" sz="2200" b="1" dirty="0">
                <a:latin typeface="Helvetica" pitchFamily="34" charset="0"/>
                <a:ea typeface="Times New Roman"/>
                <a:cs typeface="Times New Roman"/>
              </a:rPr>
              <a:t>Dangerous vehicle </a:t>
            </a:r>
            <a:r>
              <a:rPr lang="en-AU" sz="2200" b="1" dirty="0" smtClean="0">
                <a:latin typeface="Helvetica" pitchFamily="34" charset="0"/>
                <a:ea typeface="Times New Roman"/>
                <a:cs typeface="Times New Roman"/>
              </a:rPr>
              <a:t>emergencies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There </a:t>
            </a:r>
            <a:r>
              <a:rPr lang="en-AU" sz="2200" dirty="0">
                <a:latin typeface="Helvetica" pitchFamily="34" charset="0"/>
              </a:rPr>
              <a:t>are three vehicle emergencies that can be very dangerous</a:t>
            </a:r>
            <a:r>
              <a:rPr lang="en-AU" sz="2200" dirty="0" smtClean="0">
                <a:latin typeface="Helvetica" pitchFamily="34" charset="0"/>
              </a:rPr>
              <a:t>:</a:t>
            </a:r>
            <a:endParaRPr lang="en-AU" sz="2200" dirty="0">
              <a:latin typeface="Helvetica" pitchFamily="34" charset="0"/>
            </a:endParaRPr>
          </a:p>
          <a:p>
            <a:pPr lvl="1">
              <a:spcBef>
                <a:spcPts val="600"/>
              </a:spcBef>
              <a:spcAft>
                <a:spcPts val="1200"/>
              </a:spcAft>
            </a:pPr>
            <a:r>
              <a:rPr lang="en-AU" sz="2200" dirty="0" smtClean="0">
                <a:latin typeface="Helvetica" pitchFamily="34" charset="0"/>
              </a:rPr>
              <a:t>Brake </a:t>
            </a:r>
            <a:r>
              <a:rPr lang="en-AU" sz="2200" dirty="0">
                <a:latin typeface="Helvetica" pitchFamily="34" charset="0"/>
              </a:rPr>
              <a:t>failure</a:t>
            </a:r>
          </a:p>
          <a:p>
            <a:pPr lvl="1">
              <a:spcBef>
                <a:spcPts val="600"/>
              </a:spcBef>
              <a:spcAft>
                <a:spcPts val="1200"/>
              </a:spcAft>
            </a:pPr>
            <a:r>
              <a:rPr lang="en-AU" sz="2200" dirty="0" smtClean="0">
                <a:latin typeface="Helvetica" pitchFamily="34" charset="0"/>
              </a:rPr>
              <a:t>Tyre </a:t>
            </a:r>
            <a:r>
              <a:rPr lang="en-AU" sz="2200" dirty="0">
                <a:latin typeface="Helvetica" pitchFamily="34" charset="0"/>
              </a:rPr>
              <a:t>failure</a:t>
            </a:r>
          </a:p>
          <a:p>
            <a:pPr lvl="1">
              <a:spcBef>
                <a:spcPts val="600"/>
              </a:spcBef>
              <a:spcAft>
                <a:spcPts val="1200"/>
              </a:spcAft>
            </a:pPr>
            <a:r>
              <a:rPr lang="en-AU" sz="2200" dirty="0" smtClean="0">
                <a:latin typeface="Helvetica" pitchFamily="34" charset="0"/>
              </a:rPr>
              <a:t>Fires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82</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9952" y="3068960"/>
            <a:ext cx="2808968" cy="1873582"/>
          </a:xfrm>
          <a:prstGeom prst="rect">
            <a:avLst/>
          </a:prstGeom>
        </p:spPr>
      </p:pic>
    </p:spTree>
    <p:extLst>
      <p:ext uri="{BB962C8B-B14F-4D97-AF65-F5344CB8AC3E}">
        <p14:creationId xmlns:p14="http://schemas.microsoft.com/office/powerpoint/2010/main" val="40357669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400" b="1" dirty="0" smtClean="0">
                <a:solidFill>
                  <a:srgbClr val="FF6600"/>
                </a:solidFill>
                <a:latin typeface="Helvetica" pitchFamily="34" charset="0"/>
              </a:rPr>
              <a:t>4.7	Follow </a:t>
            </a:r>
            <a:r>
              <a:rPr lang="en-US" sz="3400" b="1" dirty="0">
                <a:solidFill>
                  <a:srgbClr val="FF6600"/>
                </a:solidFill>
                <a:latin typeface="Helvetica" pitchFamily="34" charset="0"/>
              </a:rPr>
              <a:t>emergency procedures</a:t>
            </a:r>
          </a:p>
        </p:txBody>
      </p:sp>
      <p:sp>
        <p:nvSpPr>
          <p:cNvPr id="3" name="Content Placeholder 2"/>
          <p:cNvSpPr>
            <a:spLocks noGrp="1"/>
          </p:cNvSpPr>
          <p:nvPr>
            <p:ph idx="1"/>
          </p:nvPr>
        </p:nvSpPr>
        <p:spPr>
          <a:xfrm>
            <a:off x="611560" y="1556792"/>
            <a:ext cx="6912768" cy="5112568"/>
          </a:xfrm>
        </p:spPr>
        <p:txBody>
          <a:bodyPr>
            <a:normAutofit/>
          </a:bodyPr>
          <a:lstStyle/>
          <a:p>
            <a:pPr>
              <a:spcBef>
                <a:spcPts val="600"/>
              </a:spcBef>
              <a:spcAft>
                <a:spcPts val="1200"/>
              </a:spcAft>
            </a:pPr>
            <a:r>
              <a:rPr lang="en-AU" sz="2200" dirty="0">
                <a:latin typeface="Helvetica" pitchFamily="34" charset="0"/>
              </a:rPr>
              <a:t>Vehicle </a:t>
            </a:r>
            <a:r>
              <a:rPr lang="en-AU" sz="2200" dirty="0" smtClean="0">
                <a:latin typeface="Helvetica" pitchFamily="34" charset="0"/>
              </a:rPr>
              <a:t>breakdown</a:t>
            </a:r>
          </a:p>
          <a:p>
            <a:pPr>
              <a:spcBef>
                <a:spcPts val="600"/>
              </a:spcBef>
              <a:spcAft>
                <a:spcPts val="1200"/>
              </a:spcAft>
            </a:pPr>
            <a:r>
              <a:rPr lang="en-AU" sz="2200" dirty="0">
                <a:latin typeface="Helvetica" pitchFamily="34" charset="0"/>
              </a:rPr>
              <a:t>In the event of a </a:t>
            </a:r>
            <a:r>
              <a:rPr lang="en-AU" sz="2200" dirty="0" smtClean="0">
                <a:latin typeface="Helvetica" pitchFamily="34" charset="0"/>
              </a:rPr>
              <a:t>collision:</a:t>
            </a:r>
            <a:endParaRPr lang="en-AU" sz="2200" dirty="0">
              <a:latin typeface="Helvetica" pitchFamily="34" charset="0"/>
            </a:endParaRPr>
          </a:p>
          <a:p>
            <a:pPr marL="355600" indent="0">
              <a:spcBef>
                <a:spcPts val="600"/>
              </a:spcBef>
              <a:spcAft>
                <a:spcPts val="1200"/>
              </a:spcAft>
              <a:buNone/>
            </a:pPr>
            <a:r>
              <a:rPr lang="en-AU" sz="2200" u="sng" dirty="0">
                <a:latin typeface="Helvetica" pitchFamily="34" charset="0"/>
                <a:hlinkClick r:id="rId3"/>
              </a:rPr>
              <a:t>https://www.vicroads.vic.gov.au/searchresultpage?q=bus%20inspection</a:t>
            </a:r>
            <a:endParaRPr lang="en-AU" sz="2200" dirty="0">
              <a:latin typeface="Helvetica" pitchFamily="34" charset="0"/>
            </a:endParaRPr>
          </a:p>
          <a:p>
            <a:pPr lvl="1">
              <a:spcBef>
                <a:spcPts val="600"/>
              </a:spcBef>
              <a:spcAft>
                <a:spcPts val="1200"/>
              </a:spcAft>
            </a:pPr>
            <a:r>
              <a:rPr lang="en-AU" sz="2200" dirty="0" smtClean="0">
                <a:latin typeface="Helvetica" pitchFamily="34" charset="0"/>
              </a:rPr>
              <a:t>What </a:t>
            </a:r>
            <a:r>
              <a:rPr lang="en-AU" sz="2200" dirty="0">
                <a:latin typeface="Helvetica" pitchFamily="34" charset="0"/>
              </a:rPr>
              <a:t>you must do at a crash</a:t>
            </a:r>
          </a:p>
          <a:p>
            <a:pPr lvl="1">
              <a:spcBef>
                <a:spcPts val="600"/>
              </a:spcBef>
              <a:spcAft>
                <a:spcPts val="1200"/>
              </a:spcAft>
            </a:pPr>
            <a:r>
              <a:rPr lang="en-AU" sz="2200" dirty="0">
                <a:latin typeface="Helvetica" pitchFamily="34" charset="0"/>
              </a:rPr>
              <a:t>Protect the area</a:t>
            </a:r>
          </a:p>
          <a:p>
            <a:pPr lvl="1">
              <a:spcBef>
                <a:spcPts val="600"/>
              </a:spcBef>
              <a:spcAft>
                <a:spcPts val="1200"/>
              </a:spcAft>
            </a:pPr>
            <a:r>
              <a:rPr lang="en-AU" sz="2200" dirty="0">
                <a:latin typeface="Helvetica" pitchFamily="34" charset="0"/>
              </a:rPr>
              <a:t>Notify authorities</a:t>
            </a:r>
          </a:p>
          <a:p>
            <a:pPr lvl="1">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83</a:t>
            </a:fld>
            <a:endParaRPr lang="en-US" dirty="0">
              <a:solidFill>
                <a:srgbClr val="4E5B6F">
                  <a:shade val="50000"/>
                </a:srgbClr>
              </a:solidFill>
              <a:latin typeface="Helvetica"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9794" y="3933056"/>
            <a:ext cx="2292294" cy="1528960"/>
          </a:xfrm>
          <a:prstGeom prst="rect">
            <a:avLst/>
          </a:prstGeom>
        </p:spPr>
      </p:pic>
    </p:spTree>
    <p:extLst>
      <p:ext uri="{BB962C8B-B14F-4D97-AF65-F5344CB8AC3E}">
        <p14:creationId xmlns:p14="http://schemas.microsoft.com/office/powerpoint/2010/main" val="170331464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734144"/>
          </a:xfrm>
        </p:spPr>
        <p:txBody>
          <a:bodyPr>
            <a:normAutofit/>
          </a:bodyPr>
          <a:lstStyle/>
          <a:p>
            <a:pPr algn="ctr"/>
            <a:r>
              <a:rPr lang="en-US" sz="3400" b="1" dirty="0" smtClean="0">
                <a:solidFill>
                  <a:srgbClr val="FF6600"/>
                </a:solidFill>
                <a:latin typeface="Helvetica" pitchFamily="34" charset="0"/>
              </a:rPr>
              <a:t>The End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8208912" cy="5040560"/>
          </a:xfrm>
        </p:spPr>
        <p:txBody>
          <a:bodyPr>
            <a:noAutofit/>
          </a:bodyPr>
          <a:lstStyle/>
          <a:p>
            <a:pPr marL="0" indent="0">
              <a:lnSpc>
                <a:spcPct val="150000"/>
              </a:lnSpc>
              <a:spcBef>
                <a:spcPts val="600"/>
              </a:spcBef>
              <a:spcAft>
                <a:spcPts val="1200"/>
              </a:spcAft>
              <a:buNone/>
            </a:pPr>
            <a:r>
              <a:rPr lang="en-AU" sz="2200" dirty="0" smtClean="0">
                <a:latin typeface="Helvetica" pitchFamily="34" charset="0"/>
              </a:rPr>
              <a:t>This unit comprised four Elements:</a:t>
            </a:r>
          </a:p>
          <a:p>
            <a:pPr marL="36576" lvl="0" indent="0">
              <a:lnSpc>
                <a:spcPct val="150000"/>
              </a:lnSpc>
              <a:buClr>
                <a:srgbClr val="7FD13B"/>
              </a:buClr>
              <a:buNone/>
            </a:pPr>
            <a:r>
              <a:rPr lang="en-AU" sz="2200" dirty="0">
                <a:solidFill>
                  <a:prstClr val="black"/>
                </a:solidFill>
                <a:latin typeface="Helvetica" pitchFamily="34" charset="0"/>
              </a:rPr>
              <a:t>Element 1: Obtain driver’s licence(s)</a:t>
            </a:r>
          </a:p>
          <a:p>
            <a:pPr marL="36576" lvl="0" indent="0">
              <a:lnSpc>
                <a:spcPct val="200000"/>
              </a:lnSpc>
              <a:buClr>
                <a:srgbClr val="7FD13B"/>
              </a:buClr>
              <a:buNone/>
            </a:pPr>
            <a:r>
              <a:rPr lang="en-AU" sz="2200" dirty="0">
                <a:solidFill>
                  <a:prstClr val="black"/>
                </a:solidFill>
                <a:latin typeface="Helvetica" pitchFamily="34" charset="0"/>
              </a:rPr>
              <a:t>Element 2: Monitor vehicle</a:t>
            </a:r>
          </a:p>
          <a:p>
            <a:pPr marL="36576" lvl="0" indent="0">
              <a:lnSpc>
                <a:spcPct val="200000"/>
              </a:lnSpc>
              <a:buClr>
                <a:srgbClr val="7FD13B"/>
              </a:buClr>
              <a:buNone/>
            </a:pPr>
            <a:r>
              <a:rPr lang="en-AU" sz="2200" dirty="0">
                <a:solidFill>
                  <a:prstClr val="black"/>
                </a:solidFill>
                <a:latin typeface="Helvetica" pitchFamily="34" charset="0"/>
              </a:rPr>
              <a:t>Element 3: Monitor road conditions</a:t>
            </a:r>
          </a:p>
          <a:p>
            <a:pPr marL="36576" lvl="0" indent="0">
              <a:lnSpc>
                <a:spcPct val="200000"/>
              </a:lnSpc>
              <a:buClr>
                <a:srgbClr val="7FD13B"/>
              </a:buClr>
              <a:buNone/>
            </a:pPr>
            <a:r>
              <a:rPr lang="en-AU" sz="2200" dirty="0">
                <a:solidFill>
                  <a:prstClr val="black"/>
                </a:solidFill>
                <a:latin typeface="Helvetica" pitchFamily="34" charset="0"/>
              </a:rPr>
              <a:t>Element 4: Drive </a:t>
            </a:r>
            <a:r>
              <a:rPr lang="en-AU" sz="2200" dirty="0" smtClean="0">
                <a:solidFill>
                  <a:prstClr val="black"/>
                </a:solidFill>
                <a:latin typeface="Helvetica" pitchFamily="34" charset="0"/>
              </a:rPr>
              <a:t>vehicles</a:t>
            </a:r>
            <a:br>
              <a:rPr lang="en-AU" sz="2200" dirty="0" smtClean="0">
                <a:solidFill>
                  <a:prstClr val="black"/>
                </a:solidFill>
                <a:latin typeface="Helvetica" pitchFamily="34" charset="0"/>
              </a:rPr>
            </a:br>
            <a:endParaRPr lang="en-AU" sz="1000" dirty="0" smtClean="0">
              <a:solidFill>
                <a:prstClr val="black"/>
              </a:solidFill>
              <a:latin typeface="Helvetica" pitchFamily="34" charset="0"/>
            </a:endParaRPr>
          </a:p>
          <a:p>
            <a:pPr marL="36576" indent="0">
              <a:spcBef>
                <a:spcPts val="600"/>
              </a:spcBef>
              <a:spcAft>
                <a:spcPts val="1200"/>
              </a:spcAft>
              <a:buNone/>
            </a:pPr>
            <a:r>
              <a:rPr lang="en-AU" sz="2200" dirty="0" smtClean="0">
                <a:latin typeface="Helvetica" pitchFamily="34" charset="0"/>
              </a:rPr>
              <a:t>You have now completed this unit and the trainer will provide details on assessment.		</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84</a:t>
            </a:fld>
            <a:endParaRPr lang="en-US" dirty="0">
              <a:solidFill>
                <a:srgbClr val="4E5B6F">
                  <a:shade val="50000"/>
                </a:srgbClr>
              </a:solidFill>
              <a:latin typeface="Helvetica" pitchFamily="34" charset="0"/>
            </a:endParaRPr>
          </a:p>
        </p:txBody>
      </p:sp>
      <p:pic>
        <p:nvPicPr>
          <p:cNvPr id="5" name="Picture 12" descr="MCj042982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1945996"/>
            <a:ext cx="18446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6084168" y="3646185"/>
            <a:ext cx="1691680" cy="430887"/>
          </a:xfrm>
          <a:prstGeom prst="rect">
            <a:avLst/>
          </a:prstGeom>
          <a:noFill/>
        </p:spPr>
        <p:txBody>
          <a:bodyPr wrap="square" rtlCol="0">
            <a:spAutoFit/>
          </a:bodyPr>
          <a:lstStyle/>
          <a:p>
            <a:pPr algn="ctr">
              <a:spcBef>
                <a:spcPct val="0"/>
              </a:spcBef>
            </a:pPr>
            <a:r>
              <a:rPr lang="en-AU" sz="2200" b="1" i="1" dirty="0">
                <a:solidFill>
                  <a:srgbClr val="FF6600"/>
                </a:solidFill>
                <a:latin typeface="Helvetica" pitchFamily="34" charset="0"/>
                <a:ea typeface="+mj-ea"/>
                <a:cs typeface="+mj-cs"/>
              </a:rPr>
              <a:t>Good Luck</a:t>
            </a:r>
          </a:p>
        </p:txBody>
      </p:sp>
    </p:spTree>
    <p:extLst>
      <p:ext uri="{BB962C8B-B14F-4D97-AF65-F5344CB8AC3E}">
        <p14:creationId xmlns:p14="http://schemas.microsoft.com/office/powerpoint/2010/main" val="715020242"/>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2190</TotalTime>
  <Words>7801</Words>
  <Application>Microsoft Office PowerPoint</Application>
  <PresentationFormat>On-screen Show (4:3)</PresentationFormat>
  <Paragraphs>1103</Paragraphs>
  <Slides>84</Slides>
  <Notes>84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84</vt:i4>
      </vt:variant>
    </vt:vector>
  </HeadingPairs>
  <TitlesOfParts>
    <vt:vector size="94" baseType="lpstr">
      <vt:lpstr>Arial</vt:lpstr>
      <vt:lpstr>Calibri</vt:lpstr>
      <vt:lpstr>Franklin Gothic Book</vt:lpstr>
      <vt:lpstr>Helvetica</vt:lpstr>
      <vt:lpstr>Symbol</vt:lpstr>
      <vt:lpstr>Times New Roman</vt:lpstr>
      <vt:lpstr>Wingdings</vt:lpstr>
      <vt:lpstr>Wingdings 2</vt:lpstr>
      <vt:lpstr>PPT_Tour_operation_&amp;_travel_agencies_template_130214</vt:lpstr>
      <vt:lpstr>PPT_Tour_operation_templates_130214</vt:lpstr>
      <vt:lpstr>DRIVE VARIOUS TYPES OF SERVICE VEHICLES</vt:lpstr>
      <vt:lpstr>Subject elements</vt:lpstr>
      <vt:lpstr>Assessment</vt:lpstr>
      <vt:lpstr>Element 1: Obtain driver’s licence(s)</vt:lpstr>
      <vt:lpstr>1.1 Identify the vehicles that have to be driven</vt:lpstr>
      <vt:lpstr>PowerPoint Presentation</vt:lpstr>
      <vt:lpstr>1.2 Identify the driver’s licence(s) that need to be obtained</vt:lpstr>
      <vt:lpstr>1.2 Identify the driver’s licence(s) that need to be obtained</vt:lpstr>
      <vt:lpstr>1.2 Identify the driver’s licence(s) that need to be obtained</vt:lpstr>
      <vt:lpstr>1.2 Identify the driver’s licence(s) that need to be obtained</vt:lpstr>
      <vt:lpstr>1.2 Identify the driver’s licence(s) that need to be obtained</vt:lpstr>
      <vt:lpstr>1.2 Identify the driver’s licence(s) that need to be obtained</vt:lpstr>
      <vt:lpstr>1.2 Identify the driver’s licence(s) that need to be obtained</vt:lpstr>
      <vt:lpstr>1.2 Identify the driver’s licence(s) that need to be obtained</vt:lpstr>
      <vt:lpstr>1.3 Undertake training to obtain the necessary licence(s)</vt:lpstr>
      <vt:lpstr>1.3 Undertake training to obtain the necessary licence(s)</vt:lpstr>
      <vt:lpstr>1.3 Undertake training to obtain the necessary licence(s)</vt:lpstr>
      <vt:lpstr>1.3 Undertake training to obtain the necessary licence(s)</vt:lpstr>
      <vt:lpstr>1.4 Undertake driver licence assessment successfully</vt:lpstr>
      <vt:lpstr>1.4 Undertake driver licence assessment successfully</vt:lpstr>
      <vt:lpstr>Element 2: Monitor service vehicles</vt:lpstr>
      <vt:lpstr>2.1 Perform regular preventative maintenance &amp; operational checks of designated vehicles</vt:lpstr>
      <vt:lpstr>2.1 Perform regular preventative maintenance &amp; operational checks of designated vehicles</vt:lpstr>
      <vt:lpstr>2.1 Perform regular preventative maintenance &amp; operational checks of designated vehicles</vt:lpstr>
      <vt:lpstr>2.2 Complete and retain service reports as required</vt:lpstr>
      <vt:lpstr>2.3 Adhere to scheduled maintenance and service requirements as set out by the vehicle manufacturer</vt:lpstr>
      <vt:lpstr>2.4 Conduct special checks and service after designated trips</vt:lpstr>
      <vt:lpstr>2.4 Conduct special checks and service after designated trips</vt:lpstr>
      <vt:lpstr>2.4 Conduct special checks and service after designated trips</vt:lpstr>
      <vt:lpstr>2.4 Conduct special checks and service after designated trips</vt:lpstr>
      <vt:lpstr>2.5 Check performance and efficiency of vehicle during operation</vt:lpstr>
      <vt:lpstr>2.5 Check performance and efficiency of vehicle during operation</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2.6 Undertake minor routine repairs</vt:lpstr>
      <vt:lpstr>Element 3: Monitor road conditions</vt:lpstr>
      <vt:lpstr>3.1 Assess road conditions</vt:lpstr>
      <vt:lpstr>3.2 Assess traffic conditions</vt:lpstr>
      <vt:lpstr>3.3 Feedback information about road and traffic conditions to head office</vt:lpstr>
      <vt:lpstr>3.3 Feedback information about road and traffic conditions to head office</vt:lpstr>
      <vt:lpstr>3.4 Identify factors that may cause delays or route deviations</vt:lpstr>
      <vt:lpstr>3.5 Factor conditions into choice of route to be taken</vt:lpstr>
      <vt:lpstr>3.6 Read a map</vt:lpstr>
      <vt:lpstr>Element 4: Drive vehicles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4.1 Demonstrate basic operational driving practices</vt:lpstr>
      <vt:lpstr>4.2 Demonstrate practices related to the towing of a trailer</vt:lpstr>
      <vt:lpstr>4.3 Demonstrate reversing practices</vt:lpstr>
      <vt:lpstr>4.3 Demonstrate reversing practices</vt:lpstr>
      <vt:lpstr>4.4 Demonstrate parking and shutting down procedures</vt:lpstr>
      <vt:lpstr>4.4 Demonstrate parking and shutting down procedures</vt:lpstr>
      <vt:lpstr>4.5 Identify and modify driving techniques to accommodate driving hazards</vt:lpstr>
      <vt:lpstr>4.6 Modify driving style to accommodate identified vehicle problems and faults</vt:lpstr>
      <vt:lpstr>4.6 Modify driving style to accommodate identified vehicle problems and faults</vt:lpstr>
      <vt:lpstr>4.7 Follow emergency procedures</vt:lpstr>
      <vt:lpstr>4.7 Follow emergency procedures</vt:lpstr>
      <vt:lpstr>4.7 Follow emergency procedures</vt:lpstr>
      <vt:lpstr>The End</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OPERATE AN AUTOMATED INFORMATION SYSTEM</dc:title>
  <dc:creator>Mai Vu</dc:creator>
  <cp:lastModifiedBy>Carla Angelica Co</cp:lastModifiedBy>
  <cp:revision>139</cp:revision>
  <dcterms:created xsi:type="dcterms:W3CDTF">2014-03-25T03:58:01Z</dcterms:created>
  <dcterms:modified xsi:type="dcterms:W3CDTF">2016-07-19T01:47:39Z</dcterms:modified>
</cp:coreProperties>
</file>