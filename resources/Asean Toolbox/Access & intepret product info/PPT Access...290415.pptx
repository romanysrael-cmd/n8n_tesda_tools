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79.xml" ContentType="application/vnd.openxmlformats-officedocument.presentationml.notesSlide+xml"/>
  <Override PartName="/ppt/slides/slide147.xml" ContentType="application/vnd.openxmlformats-officedocument.presentationml.slide+xml"/>
  <Override PartName="/ppt/slides/slide158.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notesSlides/notesSlide146.xml" ContentType="application/vnd.openxmlformats-officedocument.presentationml.notesSlide+xml"/>
  <Override PartName="/ppt/notesSlides/notesSlide15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notesSlides/notesSlide13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Override PartName="/ppt/notesSlides/notesSlide68.xml" ContentType="application/vnd.openxmlformats-officedocument.presentationml.notesSlide+xml"/>
  <Override PartName="/ppt/notesSlides/notesSlide79.xml" ContentType="application/vnd.openxmlformats-officedocument.presentationml.notesSlide+xml"/>
  <Override PartName="/ppt/notesSlides/notesSlide124.xml" ContentType="application/vnd.openxmlformats-officedocument.presentationml.notesSlide+xml"/>
  <Override PartName="/ppt/notesSlides/notesSlide171.xml" ContentType="application/vnd.openxmlformats-officedocument.presentationml.notesSlide+xml"/>
  <Override PartName="/ppt/slides/slide55.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notesSlides/notesSlide129.xml" ContentType="application/vnd.openxmlformats-officedocument.presentationml.notesSlide+xml"/>
  <Override PartName="/ppt/notesSlides/notesSlide176.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notesSlides/notesSlide143.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Override PartName="/ppt/notesSlides/notesSlide65.xml" ContentType="application/vnd.openxmlformats-officedocument.presentationml.notesSlide+xml"/>
  <Override PartName="/ppt/notesSlides/notesSlide110.xml" ContentType="application/vnd.openxmlformats-officedocument.presentationml.notesSlide+xml"/>
  <Override PartName="/ppt/slides/slide41.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notesSlides/notesSlide159.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notesSlides/notesSlide173.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notesSlides/notesSlide151.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notesSlides/notesSlide140.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168.xml" ContentType="application/vnd.openxmlformats-officedocument.presentationml.slide+xml"/>
  <Override PartName="/ppt/slides/slide179.xml" ContentType="application/vnd.openxmlformats-officedocument.presentationml.slide+xml"/>
  <Override PartName="/ppt/notesSlides/notesSlide51.xml" ContentType="application/vnd.openxmlformats-officedocument.presentationml.notesSlide+xml"/>
  <Override PartName="/ppt/notesSlides/notesSlide178.xml" ContentType="application/vnd.openxmlformats-officedocument.presentationml.notesSlide+xml"/>
  <Override PartName="/ppt/slides/slide157.xml" ContentType="application/vnd.openxmlformats-officedocument.presentationml.slide+xml"/>
  <Override PartName="/ppt/notesSlides/notesSlide40.xml" ContentType="application/vnd.openxmlformats-officedocument.presentationml.notesSlide+xml"/>
  <Override PartName="/ppt/notesSlides/notesSlide167.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5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notesSlides/notesSlide89.xml" ContentType="application/vnd.openxmlformats-officedocument.presentationml.notesSlide+xml"/>
  <Override PartName="/ppt/notesSlides/notesSlide145.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notesSlides/notesSlide170.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notesSlides/notesSlide128.xml" ContentType="application/vnd.openxmlformats-officedocument.presentationml.notesSlide+xml"/>
  <Override PartName="/ppt/notesSlides/notesSlide175.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notesSlides/notesSlide42.xml" ContentType="application/vnd.openxmlformats-officedocument.presentationml.notesSlide+xml"/>
  <Override PartName="/ppt/notesSlides/notesSlide169.xml" ContentType="application/vnd.openxmlformats-officedocument.presentationml.notesSlide+xml"/>
  <Override PartName="/ppt/slides/slide148.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158.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notesSlides/notesSlide147.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ppt/notesSlides/notesSlide172.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slides/slide167.xml" ContentType="application/vnd.openxmlformats-officedocument.presentationml.slide+xml"/>
  <Override PartName="/ppt/notesSlides/notesSlide50.xml" ContentType="application/vnd.openxmlformats-officedocument.presentationml.notesSlide+xml"/>
  <Override PartName="/ppt/notesSlides/notesSlide177.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slides/slide53.xml" ContentType="application/vnd.openxmlformats-officedocument.presentationml.slide+xml"/>
  <Default Extension="jpeg" ContentType="image/jpeg"/>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Override PartName="/ppt/slides/slide139.xml" ContentType="application/vnd.openxmlformats-officedocument.presentationml.slide+xml"/>
  <Override PartName="/ppt/notesSlides/notesSlide11.xml" ContentType="application/vnd.openxmlformats-officedocument.presentationml.notesSlide+xml"/>
  <Override PartName="/ppt/notesSlides/notesSlide149.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notesSlides/notesSlide174.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notesSlides/notesSlide116.xml" ContentType="application/vnd.openxmlformats-officedocument.presentationml.notesSlide+xml"/>
  <Override PartName="/ppt/notesSlides/notesSlide16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81"/>
  </p:notesMasterIdLst>
  <p:handoutMasterIdLst>
    <p:handoutMasterId r:id="rId182"/>
  </p:handoutMasterIdLst>
  <p:sldIdLst>
    <p:sldId id="256" r:id="rId2"/>
    <p:sldId id="257" r:id="rId3"/>
    <p:sldId id="258" r:id="rId4"/>
    <p:sldId id="259" r:id="rId5"/>
    <p:sldId id="260" r:id="rId6"/>
    <p:sldId id="288" r:id="rId7"/>
    <p:sldId id="289" r:id="rId8"/>
    <p:sldId id="305" r:id="rId9"/>
    <p:sldId id="391" r:id="rId10"/>
    <p:sldId id="497" r:id="rId11"/>
    <p:sldId id="392" r:id="rId12"/>
    <p:sldId id="393" r:id="rId13"/>
    <p:sldId id="394" r:id="rId14"/>
    <p:sldId id="395" r:id="rId15"/>
    <p:sldId id="396" r:id="rId16"/>
    <p:sldId id="397" r:id="rId17"/>
    <p:sldId id="398" r:id="rId18"/>
    <p:sldId id="399" r:id="rId19"/>
    <p:sldId id="400" r:id="rId20"/>
    <p:sldId id="401" r:id="rId21"/>
    <p:sldId id="402" r:id="rId22"/>
    <p:sldId id="403" r:id="rId23"/>
    <p:sldId id="404" r:id="rId24"/>
    <p:sldId id="405" r:id="rId25"/>
    <p:sldId id="406" r:id="rId26"/>
    <p:sldId id="407" r:id="rId27"/>
    <p:sldId id="408" r:id="rId28"/>
    <p:sldId id="409" r:id="rId29"/>
    <p:sldId id="410" r:id="rId30"/>
    <p:sldId id="411" r:id="rId31"/>
    <p:sldId id="412" r:id="rId32"/>
    <p:sldId id="413" r:id="rId33"/>
    <p:sldId id="414" r:id="rId34"/>
    <p:sldId id="415" r:id="rId35"/>
    <p:sldId id="416" r:id="rId36"/>
    <p:sldId id="417" r:id="rId37"/>
    <p:sldId id="418" r:id="rId38"/>
    <p:sldId id="419" r:id="rId39"/>
    <p:sldId id="420" r:id="rId40"/>
    <p:sldId id="421" r:id="rId41"/>
    <p:sldId id="422" r:id="rId42"/>
    <p:sldId id="423" r:id="rId43"/>
    <p:sldId id="424" r:id="rId44"/>
    <p:sldId id="425" r:id="rId45"/>
    <p:sldId id="426" r:id="rId46"/>
    <p:sldId id="427" r:id="rId47"/>
    <p:sldId id="428" r:id="rId48"/>
    <p:sldId id="384" r:id="rId49"/>
    <p:sldId id="385" r:id="rId50"/>
    <p:sldId id="386" r:id="rId51"/>
    <p:sldId id="387" r:id="rId52"/>
    <p:sldId id="498" r:id="rId53"/>
    <p:sldId id="499" r:id="rId54"/>
    <p:sldId id="390" r:id="rId55"/>
    <p:sldId id="295" r:id="rId56"/>
    <p:sldId id="296" r:id="rId57"/>
    <p:sldId id="297" r:id="rId58"/>
    <p:sldId id="298" r:id="rId59"/>
    <p:sldId id="299" r:id="rId60"/>
    <p:sldId id="485" r:id="rId61"/>
    <p:sldId id="486" r:id="rId62"/>
    <p:sldId id="300" r:id="rId63"/>
    <p:sldId id="301" r:id="rId64"/>
    <p:sldId id="302" r:id="rId65"/>
    <p:sldId id="303" r:id="rId66"/>
    <p:sldId id="304" r:id="rId67"/>
    <p:sldId id="268" r:id="rId68"/>
    <p:sldId id="269" r:id="rId69"/>
    <p:sldId id="371" r:id="rId70"/>
    <p:sldId id="500" r:id="rId71"/>
    <p:sldId id="501" r:id="rId72"/>
    <p:sldId id="502" r:id="rId73"/>
    <p:sldId id="372" r:id="rId74"/>
    <p:sldId id="350" r:id="rId75"/>
    <p:sldId id="487" r:id="rId76"/>
    <p:sldId id="488" r:id="rId77"/>
    <p:sldId id="503" r:id="rId78"/>
    <p:sldId id="504" r:id="rId79"/>
    <p:sldId id="345" r:id="rId80"/>
    <p:sldId id="505" r:id="rId81"/>
    <p:sldId id="347" r:id="rId82"/>
    <p:sldId id="437" r:id="rId83"/>
    <p:sldId id="438" r:id="rId84"/>
    <p:sldId id="439" r:id="rId85"/>
    <p:sldId id="440" r:id="rId86"/>
    <p:sldId id="441" r:id="rId87"/>
    <p:sldId id="442" r:id="rId88"/>
    <p:sldId id="506" r:id="rId89"/>
    <p:sldId id="507" r:id="rId90"/>
    <p:sldId id="508" r:id="rId91"/>
    <p:sldId id="351" r:id="rId92"/>
    <p:sldId id="509" r:id="rId93"/>
    <p:sldId id="356" r:id="rId94"/>
    <p:sldId id="357" r:id="rId95"/>
    <p:sldId id="358" r:id="rId96"/>
    <p:sldId id="359" r:id="rId97"/>
    <p:sldId id="360" r:id="rId98"/>
    <p:sldId id="348" r:id="rId99"/>
    <p:sldId id="462" r:id="rId100"/>
    <p:sldId id="464" r:id="rId101"/>
    <p:sldId id="465" r:id="rId102"/>
    <p:sldId id="466" r:id="rId103"/>
    <p:sldId id="467" r:id="rId104"/>
    <p:sldId id="510" r:id="rId105"/>
    <p:sldId id="277" r:id="rId106"/>
    <p:sldId id="278" r:id="rId107"/>
    <p:sldId id="511" r:id="rId108"/>
    <p:sldId id="512" r:id="rId109"/>
    <p:sldId id="470" r:id="rId110"/>
    <p:sldId id="361" r:id="rId111"/>
    <p:sldId id="362" r:id="rId112"/>
    <p:sldId id="363" r:id="rId113"/>
    <p:sldId id="364" r:id="rId114"/>
    <p:sldId id="365" r:id="rId115"/>
    <p:sldId id="489" r:id="rId116"/>
    <p:sldId id="368" r:id="rId117"/>
    <p:sldId id="369" r:id="rId118"/>
    <p:sldId id="370" r:id="rId119"/>
    <p:sldId id="513" r:id="rId120"/>
    <p:sldId id="514" r:id="rId121"/>
    <p:sldId id="515" r:id="rId122"/>
    <p:sldId id="516" r:id="rId123"/>
    <p:sldId id="517" r:id="rId124"/>
    <p:sldId id="518" r:id="rId125"/>
    <p:sldId id="519" r:id="rId126"/>
    <p:sldId id="520" r:id="rId127"/>
    <p:sldId id="283" r:id="rId128"/>
    <p:sldId id="284" r:id="rId129"/>
    <p:sldId id="443" r:id="rId130"/>
    <p:sldId id="445" r:id="rId131"/>
    <p:sldId id="446" r:id="rId132"/>
    <p:sldId id="447" r:id="rId133"/>
    <p:sldId id="432" r:id="rId134"/>
    <p:sldId id="521" r:id="rId135"/>
    <p:sldId id="477" r:id="rId136"/>
    <p:sldId id="479" r:id="rId137"/>
    <p:sldId id="480" r:id="rId138"/>
    <p:sldId id="482" r:id="rId139"/>
    <p:sldId id="481" r:id="rId140"/>
    <p:sldId id="522" r:id="rId141"/>
    <p:sldId id="483" r:id="rId142"/>
    <p:sldId id="523" r:id="rId143"/>
    <p:sldId id="457" r:id="rId144"/>
    <p:sldId id="524" r:id="rId145"/>
    <p:sldId id="458" r:id="rId146"/>
    <p:sldId id="459" r:id="rId147"/>
    <p:sldId id="526" r:id="rId148"/>
    <p:sldId id="525" r:id="rId149"/>
    <p:sldId id="527" r:id="rId150"/>
    <p:sldId id="528" r:id="rId151"/>
    <p:sldId id="530" r:id="rId152"/>
    <p:sldId id="529" r:id="rId153"/>
    <p:sldId id="531" r:id="rId154"/>
    <p:sldId id="532" r:id="rId155"/>
    <p:sldId id="533" r:id="rId156"/>
    <p:sldId id="534" r:id="rId157"/>
    <p:sldId id="535" r:id="rId158"/>
    <p:sldId id="490" r:id="rId159"/>
    <p:sldId id="537" r:id="rId160"/>
    <p:sldId id="538" r:id="rId161"/>
    <p:sldId id="539" r:id="rId162"/>
    <p:sldId id="540" r:id="rId163"/>
    <p:sldId id="541" r:id="rId164"/>
    <p:sldId id="542" r:id="rId165"/>
    <p:sldId id="543" r:id="rId166"/>
    <p:sldId id="544" r:id="rId167"/>
    <p:sldId id="545" r:id="rId168"/>
    <p:sldId id="493" r:id="rId169"/>
    <p:sldId id="494" r:id="rId170"/>
    <p:sldId id="495" r:id="rId171"/>
    <p:sldId id="496" r:id="rId172"/>
    <p:sldId id="471" r:id="rId173"/>
    <p:sldId id="472" r:id="rId174"/>
    <p:sldId id="473" r:id="rId175"/>
    <p:sldId id="474" r:id="rId176"/>
    <p:sldId id="475" r:id="rId177"/>
    <p:sldId id="476" r:id="rId178"/>
    <p:sldId id="546" r:id="rId179"/>
    <p:sldId id="547" r:id="rId18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66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08" autoAdjust="0"/>
    <p:restoredTop sz="75217" autoAdjust="0"/>
  </p:normalViewPr>
  <p:slideViewPr>
    <p:cSldViewPr>
      <p:cViewPr>
        <p:scale>
          <a:sx n="61" d="100"/>
          <a:sy n="61" d="100"/>
        </p:scale>
        <p:origin x="-1524" y="-438"/>
      </p:cViewPr>
      <p:guideLst>
        <p:guide orient="horz" pos="2160"/>
        <p:guide pos="2880"/>
      </p:guideLst>
    </p:cSldViewPr>
  </p:slideViewPr>
  <p:outlineViewPr>
    <p:cViewPr>
      <p:scale>
        <a:sx n="33" d="100"/>
        <a:sy n="33" d="100"/>
      </p:scale>
      <p:origin x="48" y="105972"/>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notesMaster" Target="notesMasters/notesMaster1.xml"/><Relationship Id="rId186"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slide" Target="slides/slide179.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4/27/2015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xmlns=""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4/27/2015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xmlns=""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welcomes</a:t>
            </a:r>
            <a:r>
              <a:rPr lang="en-AU" baseline="0" noProof="0" dirty="0" smtClean="0"/>
              <a:t> students to class.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four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examples of sources of information?</a:t>
            </a:r>
          </a:p>
          <a:p>
            <a:pPr>
              <a:buFont typeface="Arial" pitchFamily="34" charset="0"/>
              <a:buChar char="•"/>
            </a:pPr>
            <a:r>
              <a:rPr lang="en-AU" sz="1200" kern="1200" baseline="0" dirty="0" smtClean="0">
                <a:solidFill>
                  <a:schemeClr val="tx1"/>
                </a:solidFill>
                <a:ea typeface="+mn-ea"/>
                <a:cs typeface="+mn-cs"/>
              </a:rPr>
              <a:t>What is product knowledge?</a:t>
            </a:r>
          </a:p>
          <a:p>
            <a:pPr>
              <a:buFont typeface="Arial" pitchFamily="34" charset="0"/>
              <a:buChar char="•"/>
            </a:pPr>
            <a:r>
              <a:rPr lang="en-AU" sz="1200" kern="1200" baseline="0" dirty="0" smtClean="0">
                <a:solidFill>
                  <a:schemeClr val="tx1"/>
                </a:solidFill>
                <a:ea typeface="+mn-ea"/>
                <a:cs typeface="+mn-cs"/>
              </a:rPr>
              <a:t>Why is product knowledge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audience to answer following questions:</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do you need to know to effectively do your job?</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do you need to know that customers may enquire about?</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can you get this information?</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Identify the benefits for each </a:t>
            </a:r>
            <a:r>
              <a:rPr lang="en-AU" sz="1200" b="0" kern="1200" baseline="0" dirty="0" smtClean="0">
                <a:solidFill>
                  <a:schemeClr val="tx1"/>
                </a:solidFill>
                <a:ea typeface="+mn-ea"/>
                <a:cs typeface="+mn-cs"/>
              </a:rPr>
              <a:t>point.</a:t>
            </a: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What are examples for each of these points?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question in the slide.</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What businesses are contained within each of these sectors?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a:t>
            </a:r>
            <a:r>
              <a:rPr lang="en-AU" sz="1200" kern="1200" baseline="0" dirty="0" smtClean="0">
                <a:solidFill>
                  <a:schemeClr val="tx1"/>
                </a:solidFill>
                <a:ea typeface="+mn-ea"/>
                <a:cs typeface="+mn-cs"/>
              </a:rPr>
              <a:t>business.</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a:t>
            </a:r>
            <a:r>
              <a:rPr lang="en-AU" sz="1200" kern="1200" baseline="0" dirty="0" smtClean="0">
                <a:solidFill>
                  <a:schemeClr val="tx1"/>
                </a:solidFill>
                <a:ea typeface="+mn-ea"/>
                <a:cs typeface="+mn-cs"/>
              </a:rPr>
              <a:t>business.</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a:t>
            </a:r>
            <a:r>
              <a:rPr lang="en-AU" sz="1200" kern="1200" baseline="0" dirty="0" smtClean="0">
                <a:solidFill>
                  <a:schemeClr val="tx1"/>
                </a:solidFill>
                <a:ea typeface="+mn-ea"/>
                <a:cs typeface="+mn-cs"/>
              </a:rPr>
              <a:t>business.</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a:t>
            </a:r>
            <a:r>
              <a:rPr lang="en-AU" sz="1200" kern="1200" baseline="0" dirty="0" smtClean="0">
                <a:solidFill>
                  <a:schemeClr val="tx1"/>
                </a:solidFill>
                <a:ea typeface="+mn-ea"/>
                <a:cs typeface="+mn-cs"/>
              </a:rPr>
              <a:t>business.</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a:t>
            </a:r>
            <a:r>
              <a:rPr lang="en-AU" sz="1200" kern="1200" baseline="0" dirty="0" smtClean="0">
                <a:solidFill>
                  <a:schemeClr val="tx1"/>
                </a:solidFill>
                <a:ea typeface="+mn-ea"/>
                <a:cs typeface="+mn-cs"/>
              </a:rPr>
              <a:t>business.</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a:t>
            </a:r>
            <a:r>
              <a:rPr lang="en-AU" sz="1200" kern="1200" baseline="0" dirty="0" smtClean="0">
                <a:solidFill>
                  <a:schemeClr val="tx1"/>
                </a:solidFill>
                <a:ea typeface="+mn-ea"/>
                <a:cs typeface="+mn-cs"/>
              </a:rPr>
              <a:t>business.</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a:t>
            </a:r>
            <a:r>
              <a:rPr lang="en-AU" sz="1200" kern="1200" baseline="0" dirty="0" smtClean="0">
                <a:solidFill>
                  <a:schemeClr val="tx1"/>
                </a:solidFill>
                <a:ea typeface="+mn-ea"/>
                <a:cs typeface="+mn-cs"/>
              </a:rPr>
              <a:t>business.</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a:t>
            </a:r>
            <a:r>
              <a:rPr lang="en-AU" sz="1200" kern="1200" baseline="0" dirty="0" smtClean="0">
                <a:solidFill>
                  <a:schemeClr val="tx1"/>
                </a:solidFill>
                <a:ea typeface="+mn-ea"/>
                <a:cs typeface="+mn-cs"/>
              </a:rPr>
              <a:t>business.</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a:t>
            </a:r>
            <a:r>
              <a:rPr lang="en-AU" sz="1200" kern="1200" baseline="0" dirty="0" smtClean="0">
                <a:solidFill>
                  <a:schemeClr val="tx1"/>
                </a:solidFill>
                <a:ea typeface="+mn-ea"/>
                <a:cs typeface="+mn-cs"/>
              </a:rPr>
              <a:t>business.</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a:t>
            </a:r>
            <a:r>
              <a:rPr lang="en-AU" sz="1200" kern="1200" baseline="0" dirty="0" smtClean="0">
                <a:solidFill>
                  <a:schemeClr val="tx1"/>
                </a:solidFill>
                <a:ea typeface="+mn-ea"/>
                <a:cs typeface="+mn-cs"/>
              </a:rPr>
              <a:t>business.</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business.</a:t>
            </a: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businesses for each type of business &amp; Activity</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actual companies for each type of tourism business</a:t>
            </a:r>
          </a:p>
          <a:p>
            <a:pPr>
              <a:buFont typeface="Arial" pitchFamily="34" charset="0"/>
              <a:buChar char="•"/>
            </a:pPr>
            <a:r>
              <a:rPr lang="en-AU" sz="1200" kern="1200" baseline="0" dirty="0" smtClean="0">
                <a:solidFill>
                  <a:schemeClr val="tx1"/>
                </a:solidFill>
                <a:ea typeface="+mn-ea"/>
                <a:cs typeface="+mn-cs"/>
              </a:rPr>
              <a:t>Complete Activity </a:t>
            </a:r>
            <a:r>
              <a:rPr lang="en-AU" sz="1200" kern="1200" baseline="0" dirty="0" smtClean="0">
                <a:solidFill>
                  <a:schemeClr val="tx1"/>
                </a:solidFill>
                <a:ea typeface="+mn-ea"/>
                <a:cs typeface="+mn-cs"/>
              </a:rPr>
              <a:t>1.</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question in the slide.</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question in the slide.</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question in the slide.</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question in the slide.</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questions in the slide.</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questions in the slide.</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Tx/>
              <a:buNone/>
              <a:tabLst/>
              <a:defRPr/>
            </a:pPr>
            <a:r>
              <a:rPr lang="en-AU" sz="1200" b="1" kern="1200" baseline="0" dirty="0" smtClean="0">
                <a:solidFill>
                  <a:schemeClr val="tx1"/>
                </a:solidFill>
                <a:ea typeface="+mn-ea"/>
                <a:cs typeface="+mn-cs"/>
              </a:rPr>
              <a:t>Class Activity – Question</a:t>
            </a:r>
            <a:endParaRPr lang="en-US" sz="1200" dirty="0" smtClean="0">
              <a:latin typeface="Helvetica" pitchFamily="34" charset="0"/>
            </a:endParaRPr>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Discuss the types of information to be collected under each point?</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collect this information?</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format would you like it in?</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questions in the slide.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importance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importance for each of these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importance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importance for each of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importance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importance for each of these points.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importance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importance for each of these points.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importance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importance for each of these points.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question in the slide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Refer to TM for questions that you can ask to determine informational </a:t>
            </a:r>
            <a:r>
              <a:rPr lang="en-AU" sz="1200" b="0" kern="1200" baseline="0" dirty="0" smtClean="0">
                <a:solidFill>
                  <a:schemeClr val="tx1"/>
                </a:solidFill>
                <a:ea typeface="+mn-ea"/>
                <a:cs typeface="+mn-cs"/>
              </a:rPr>
              <a:t>needs.</a:t>
            </a: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Discuss the question in the slide.</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Review information</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What information is contained within these informational formats?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Trainer to show examples of each.</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Review information</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What information is contained within these informational formats?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Trainer to show examples of each.</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Review information</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What information is contained within these informational formats?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Trainer to show examples of each.</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importance of tourism statistics</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Why is it important to gather statistics?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How can it benefit customers?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What information do you seek under each category?</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How can you gather this information?</a:t>
            </a:r>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importance of tourism industry statistics</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Why is it important to gather industry statistics?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How can it benefit customers?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What information do you seek under each category?</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How can you gather this information?</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importance of tourism industry statistics</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Why is it important to gather industry statistics?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How can it benefit customers?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What information do you seek under each category?</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How can you gather this information?</a:t>
            </a:r>
          </a:p>
          <a:p>
            <a:pPr>
              <a:spcBef>
                <a:spcPts val="600"/>
              </a:spcBef>
              <a:spcAft>
                <a:spcPts val="1200"/>
              </a:spcAft>
              <a:buFont typeface="Arial" pitchFamily="34" charset="0"/>
              <a:buNone/>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Identify importance of </a:t>
            </a:r>
            <a:r>
              <a:rPr lang="en-AU" sz="1200" b="1" dirty="0" smtClean="0">
                <a:latin typeface="Helvetica" pitchFamily="34" charset="0"/>
              </a:rPr>
              <a:t>testimonials</a:t>
            </a:r>
            <a:endParaRPr lang="en-US" sz="1200" dirty="0" smtClean="0">
              <a:latin typeface="Helvetica" pitchFamily="34" charset="0"/>
            </a:endParaRPr>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Why is it important to gather testimonials?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How can they be beneficial?</a:t>
            </a:r>
          </a:p>
          <a:p>
            <a:pPr>
              <a:spcBef>
                <a:spcPts val="600"/>
              </a:spcBef>
              <a:spcAft>
                <a:spcPts val="1200"/>
              </a:spcAft>
              <a:buFont typeface="Arial" pitchFamily="34" charset="0"/>
              <a:buNone/>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provide example of a specification</a:t>
            </a:r>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the importance of these methods</a:t>
            </a:r>
          </a:p>
          <a:p>
            <a:pPr>
              <a:buFont typeface="Arial" pitchFamily="34" charset="0"/>
              <a:buChar char="•"/>
            </a:pPr>
            <a:r>
              <a:rPr lang="en-AU" sz="1200" b="0" kern="1200" baseline="0" dirty="0" smtClean="0">
                <a:solidFill>
                  <a:schemeClr val="tx1"/>
                </a:solidFill>
                <a:ea typeface="+mn-ea"/>
                <a:cs typeface="+mn-cs"/>
              </a:rPr>
              <a:t>Provide example of a </a:t>
            </a:r>
            <a:r>
              <a:rPr lang="en-AU" sz="1200" b="0" kern="1200" baseline="0" dirty="0" smtClean="0">
                <a:solidFill>
                  <a:schemeClr val="tx1"/>
                </a:solidFill>
                <a:ea typeface="+mn-ea"/>
                <a:cs typeface="+mn-cs"/>
              </a:rPr>
              <a:t>specification.</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provide example of a specification</a:t>
            </a:r>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Provide examples of each.</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provide example of a quotation</a:t>
            </a:r>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Provide examples of each.</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From a personal perspective, explain how personal observations have provided you with critical </a:t>
            </a:r>
            <a:r>
              <a:rPr lang="en-US" sz="1200" b="0" kern="1200" baseline="0" dirty="0" smtClean="0">
                <a:solidFill>
                  <a:schemeClr val="tx1"/>
                </a:solidFill>
                <a:ea typeface="+mn-ea"/>
                <a:cs typeface="+mn-cs"/>
              </a:rPr>
              <a:t>information</a:t>
            </a:r>
            <a:endParaRPr lang="en-US" sz="1200" b="0" kern="1200" baseline="0" dirty="0" smtClean="0">
              <a:solidFill>
                <a:schemeClr val="tx1"/>
              </a:solidFill>
              <a:ea typeface="+mn-ea"/>
              <a:cs typeface="+mn-cs"/>
            </a:endParaRPr>
          </a:p>
          <a:p>
            <a:pPr>
              <a:buFont typeface="Arial" pitchFamily="34" charset="0"/>
              <a:buChar char="•"/>
            </a:pPr>
            <a:r>
              <a:rPr lang="en-US" sz="1200" b="0" kern="1200" baseline="0" noProof="0" dirty="0" smtClean="0">
                <a:solidFill>
                  <a:schemeClr val="tx1"/>
                </a:solidFill>
                <a:ea typeface="+mn-ea"/>
                <a:cs typeface="+mn-cs"/>
              </a:rPr>
              <a:t>Complete Activity </a:t>
            </a:r>
            <a:r>
              <a:rPr lang="en-US" sz="1200" b="0" kern="1200" baseline="0" noProof="0" dirty="0" smtClean="0">
                <a:solidFill>
                  <a:schemeClr val="tx1"/>
                </a:solidFill>
                <a:ea typeface="+mn-ea"/>
                <a:cs typeface="+mn-cs"/>
              </a:rPr>
              <a:t>2.</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considerations would you have before accessing product information?</a:t>
            </a:r>
          </a:p>
          <a:p>
            <a:pPr>
              <a:buFont typeface="Arial" pitchFamily="34" charset="0"/>
              <a:buChar char="•"/>
            </a:pPr>
            <a:r>
              <a:rPr lang="en-AU" sz="1200" kern="1200" baseline="0" dirty="0" smtClean="0">
                <a:solidFill>
                  <a:schemeClr val="tx1"/>
                </a:solidFill>
                <a:ea typeface="+mn-ea"/>
                <a:cs typeface="+mn-cs"/>
              </a:rPr>
              <a:t>What are the steps associated with accessing product information?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Discuss</a:t>
            </a:r>
            <a:r>
              <a:rPr lang="en-US" sz="1200" b="0" kern="1200" baseline="0" dirty="0" smtClean="0">
                <a:solidFill>
                  <a:schemeClr val="tx1"/>
                </a:solidFill>
                <a:ea typeface="+mn-ea"/>
                <a:cs typeface="+mn-cs"/>
              </a:rPr>
              <a:t> the question in the slide.</a:t>
            </a:r>
            <a:endParaRPr lang="en-US" sz="1200" b="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Discuss the importance</a:t>
            </a:r>
            <a:r>
              <a:rPr lang="en-US" sz="1200" b="0" kern="1200" baseline="0" dirty="0" smtClean="0">
                <a:solidFill>
                  <a:schemeClr val="tx1"/>
                </a:solidFill>
                <a:ea typeface="+mn-ea"/>
                <a:cs typeface="+mn-cs"/>
              </a:rPr>
              <a:t> of each of these sales needs.</a:t>
            </a:r>
            <a:endParaRPr lang="en-US" sz="1200" b="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Discuss the importance</a:t>
            </a:r>
            <a:r>
              <a:rPr lang="en-US" sz="1200" b="0" kern="1200" baseline="0" dirty="0" smtClean="0">
                <a:solidFill>
                  <a:schemeClr val="tx1"/>
                </a:solidFill>
                <a:ea typeface="+mn-ea"/>
                <a:cs typeface="+mn-cs"/>
              </a:rPr>
              <a:t> of each of these sales needs.</a:t>
            </a:r>
            <a:endParaRPr lang="en-US" sz="1200" b="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Discuss the importance</a:t>
            </a:r>
            <a:r>
              <a:rPr lang="en-US" sz="1200" b="0" kern="1200" baseline="0" dirty="0" smtClean="0">
                <a:solidFill>
                  <a:schemeClr val="tx1"/>
                </a:solidFill>
                <a:ea typeface="+mn-ea"/>
                <a:cs typeface="+mn-cs"/>
              </a:rPr>
              <a:t> of each of these sales needs.</a:t>
            </a:r>
            <a:endParaRPr lang="en-US" sz="1200" b="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For</a:t>
            </a:r>
            <a:r>
              <a:rPr lang="en-US" sz="1200" b="0" kern="1200" baseline="0" dirty="0" smtClean="0">
                <a:solidFill>
                  <a:schemeClr val="tx1"/>
                </a:solidFill>
                <a:ea typeface="+mn-ea"/>
                <a:cs typeface="+mn-cs"/>
              </a:rPr>
              <a:t> a case study of your choice, identify:</a:t>
            </a:r>
          </a:p>
          <a:p>
            <a:pPr>
              <a:spcBef>
                <a:spcPts val="600"/>
              </a:spcBef>
              <a:spcAft>
                <a:spcPts val="1200"/>
              </a:spcAft>
              <a:buFont typeface="Arial" pitchFamily="34" charset="0"/>
              <a:buChar char="•"/>
            </a:pPr>
            <a:r>
              <a:rPr lang="en-AU" sz="1200" b="0" dirty="0" smtClean="0">
                <a:latin typeface="Helvetica" pitchFamily="34" charset="0"/>
              </a:rPr>
              <a:t>A research topic</a:t>
            </a:r>
            <a:endParaRPr lang="en-US" sz="1200" dirty="0" smtClean="0">
              <a:latin typeface="Helvetica" pitchFamily="34" charset="0"/>
            </a:endParaRPr>
          </a:p>
          <a:p>
            <a:pPr>
              <a:spcBef>
                <a:spcPts val="600"/>
              </a:spcBef>
              <a:spcAft>
                <a:spcPts val="1200"/>
              </a:spcAft>
              <a:buFont typeface="Arial" pitchFamily="34" charset="0"/>
              <a:buChar char="•"/>
            </a:pPr>
            <a:r>
              <a:rPr lang="en-AU" sz="1200" dirty="0" smtClean="0">
                <a:latin typeface="Helvetica" pitchFamily="34" charset="0"/>
              </a:rPr>
              <a:t>Research </a:t>
            </a:r>
            <a:r>
              <a:rPr lang="en-AU" sz="1200" dirty="0" smtClean="0">
                <a:latin typeface="Helvetica" pitchFamily="34" charset="0"/>
              </a:rPr>
              <a:t>objectives.</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these methods based on personal experience</a:t>
            </a:r>
          </a:p>
          <a:p>
            <a:pPr>
              <a:buFont typeface="Arial" pitchFamily="34" charset="0"/>
              <a:buChar char="•"/>
            </a:pPr>
            <a:r>
              <a:rPr lang="en-AU" sz="1200" kern="1200" baseline="0" dirty="0" smtClean="0">
                <a:solidFill>
                  <a:schemeClr val="tx1"/>
                </a:solidFill>
                <a:ea typeface="+mn-ea"/>
                <a:cs typeface="+mn-cs"/>
              </a:rPr>
              <a:t>What other methods can be used?</a:t>
            </a: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the questions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Identify some costs based on a particular case study of your choice.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the benefits of these methods?</a:t>
            </a:r>
          </a:p>
          <a:p>
            <a:pPr>
              <a:buFont typeface="Arial" pitchFamily="34" charset="0"/>
              <a:buChar char="•"/>
            </a:pPr>
            <a:r>
              <a:rPr lang="en-AU" sz="1200" kern="1200" baseline="0" dirty="0" smtClean="0">
                <a:solidFill>
                  <a:schemeClr val="tx1"/>
                </a:solidFill>
                <a:ea typeface="+mn-ea"/>
                <a:cs typeface="+mn-cs"/>
              </a:rPr>
              <a:t>What other methods can be used?</a:t>
            </a:r>
          </a:p>
          <a:p>
            <a:pPr>
              <a:buFont typeface="Arial" pitchFamily="34" charset="0"/>
              <a:buChar char="•"/>
            </a:pPr>
            <a:r>
              <a:rPr lang="en-AU" sz="1200" kern="1200" baseline="0" dirty="0" smtClean="0">
                <a:solidFill>
                  <a:schemeClr val="tx1"/>
                </a:solidFill>
                <a:ea typeface="+mn-ea"/>
                <a:cs typeface="+mn-cs"/>
              </a:rPr>
              <a:t>Complete Activity </a:t>
            </a:r>
            <a:r>
              <a:rPr lang="en-AU" sz="1200" kern="1200" baseline="0" dirty="0" smtClean="0">
                <a:solidFill>
                  <a:schemeClr val="tx1"/>
                </a:solidFill>
                <a:ea typeface="+mn-ea"/>
                <a:cs typeface="+mn-cs"/>
              </a:rPr>
              <a:t>3.</a:t>
            </a: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Discuss the questions in the slide.</a:t>
            </a: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Discuss these objectives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How can you meet these objectives?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other objectives may you have?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Discuss activities associated with these </a:t>
            </a:r>
            <a:r>
              <a:rPr lang="en-AU" sz="1200" kern="1200" baseline="0" dirty="0" smtClean="0">
                <a:solidFill>
                  <a:schemeClr val="tx1"/>
                </a:solidFill>
                <a:ea typeface="+mn-ea"/>
                <a:cs typeface="+mn-cs"/>
              </a:rPr>
              <a:t>points.</a:t>
            </a:r>
            <a:endParaRPr lang="en-AU" sz="1200" kern="1200" baseline="0" dirty="0" smtClean="0">
              <a:solidFill>
                <a:schemeClr val="tx1"/>
              </a:solidFill>
              <a:ea typeface="+mn-ea"/>
              <a:cs typeface="+mn-cs"/>
            </a:endParaRP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Why is it important to introduce your organisation?</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Why is it important to have a ‘fit’?</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What else can you do to gain a ‘better understanding’ of a tourism business?</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How can you gather information relating to ‘current’ </a:t>
            </a:r>
            <a:r>
              <a:rPr lang="en-AU" sz="1200" dirty="0" smtClean="0">
                <a:latin typeface="Helvetica" pitchFamily="34" charset="0"/>
              </a:rPr>
              <a:t>promotional activities</a:t>
            </a:r>
            <a:r>
              <a:rPr lang="en-US" sz="1200" baseline="0" dirty="0" smtClean="0">
                <a:latin typeface="Helvetica" pitchFamily="34" charset="0"/>
              </a:rPr>
              <a:t> and </a:t>
            </a:r>
            <a:r>
              <a:rPr lang="en-AU" sz="1200" dirty="0" smtClean="0">
                <a:latin typeface="Helvetica" pitchFamily="34" charset="0"/>
              </a:rPr>
              <a:t>special </a:t>
            </a:r>
            <a:r>
              <a:rPr lang="en-AU" sz="1200" dirty="0" smtClean="0">
                <a:latin typeface="Helvetica" pitchFamily="34" charset="0"/>
              </a:rPr>
              <a:t>offers?</a:t>
            </a:r>
            <a:endParaRPr lang="en-US" sz="120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other contractual agreement points may need to be negotiated?</a:t>
            </a:r>
            <a:endParaRPr lang="en-US" sz="120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is the best way to get product information from overseas tourism organisations?</a:t>
            </a: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Complete Activity </a:t>
            </a:r>
            <a:r>
              <a:rPr lang="en-US" sz="1200" b="0" kern="1200" baseline="0" dirty="0" smtClean="0">
                <a:solidFill>
                  <a:schemeClr val="tx1"/>
                </a:solidFill>
                <a:ea typeface="+mn-ea"/>
                <a:cs typeface="+mn-cs"/>
              </a:rPr>
              <a:t>4.</a:t>
            </a:r>
            <a:endParaRPr lang="en-US" sz="120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examples of publications you need to register for?</a:t>
            </a:r>
          </a:p>
          <a:p>
            <a:pPr>
              <a:buFont typeface="Arial" pitchFamily="34" charset="0"/>
              <a:buChar char="•"/>
            </a:pPr>
            <a:r>
              <a:rPr lang="en-AU" sz="1200" kern="1200" baseline="0" dirty="0" smtClean="0">
                <a:solidFill>
                  <a:schemeClr val="tx1"/>
                </a:solidFill>
                <a:ea typeface="+mn-ea"/>
                <a:cs typeface="+mn-cs"/>
              </a:rPr>
              <a:t>How can you register to access information?</a:t>
            </a: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these points</a:t>
            </a:r>
          </a:p>
          <a:p>
            <a:pPr>
              <a:buFont typeface="Arial" pitchFamily="34" charset="0"/>
              <a:buChar char="•"/>
            </a:pPr>
            <a:r>
              <a:rPr lang="en-AU" sz="1200" kern="1200" baseline="0" dirty="0" smtClean="0">
                <a:solidFill>
                  <a:schemeClr val="tx1"/>
                </a:solidFill>
                <a:ea typeface="+mn-ea"/>
                <a:cs typeface="+mn-cs"/>
              </a:rPr>
              <a:t>Provide an example of each.</a:t>
            </a: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these points</a:t>
            </a:r>
          </a:p>
          <a:p>
            <a:pPr>
              <a:buFont typeface="Arial" pitchFamily="34" charset="0"/>
              <a:buChar char="•"/>
            </a:pPr>
            <a:r>
              <a:rPr lang="en-AU" sz="1200" kern="1200" baseline="0" dirty="0" smtClean="0">
                <a:solidFill>
                  <a:schemeClr val="tx1"/>
                </a:solidFill>
                <a:ea typeface="+mn-ea"/>
                <a:cs typeface="+mn-cs"/>
              </a:rPr>
              <a:t>Provide an example of </a:t>
            </a:r>
            <a:r>
              <a:rPr lang="en-AU" sz="1200" kern="1200" baseline="0" dirty="0" smtClean="0">
                <a:solidFill>
                  <a:schemeClr val="tx1"/>
                </a:solidFill>
                <a:ea typeface="+mn-ea"/>
                <a:cs typeface="+mn-cs"/>
              </a:rPr>
              <a:t>each</a:t>
            </a:r>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Complete Activity </a:t>
            </a:r>
            <a:r>
              <a:rPr lang="en-AU" sz="1200" kern="1200" baseline="0" dirty="0" smtClean="0">
                <a:solidFill>
                  <a:schemeClr val="tx1"/>
                </a:solidFill>
                <a:ea typeface="+mn-ea"/>
                <a:cs typeface="+mn-cs"/>
              </a:rPr>
              <a:t>5.</a:t>
            </a:r>
            <a:endParaRPr lang="en-AU" sz="1200" kern="1200" baseline="0" dirty="0" smtClean="0">
              <a:solidFill>
                <a:schemeClr val="tx1"/>
              </a:solidFill>
              <a:ea typeface="+mn-ea"/>
              <a:cs typeface="+mn-cs"/>
            </a:endParaRP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reasons exist?</a:t>
            </a: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Complete Activity </a:t>
            </a:r>
            <a:r>
              <a:rPr lang="en-AU" sz="1200" kern="1200" baseline="0" dirty="0" smtClean="0">
                <a:solidFill>
                  <a:schemeClr val="tx1"/>
                </a:solidFill>
                <a:ea typeface="+mn-ea"/>
                <a:cs typeface="+mn-cs"/>
              </a:rPr>
              <a:t>6.</a:t>
            </a:r>
            <a:endParaRPr lang="en-AU" sz="1200" kern="1200" baseline="0" dirty="0" smtClean="0">
              <a:solidFill>
                <a:schemeClr val="tx1"/>
              </a:solidFill>
              <a:ea typeface="+mn-ea"/>
              <a:cs typeface="+mn-cs"/>
            </a:endParaRP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What are the benefits of visiting identified sources?</a:t>
            </a:r>
            <a:endParaRPr lang="en-US" sz="1200" b="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Discuss these benefits of visiting identified </a:t>
            </a:r>
            <a:r>
              <a:rPr lang="en-AU" sz="1200" b="0" kern="1200" dirty="0" smtClean="0">
                <a:solidFill>
                  <a:schemeClr val="tx1"/>
                </a:solidFill>
                <a:ea typeface="+mn-ea"/>
                <a:cs typeface="+mn-cs"/>
              </a:rPr>
              <a:t>sources.</a:t>
            </a:r>
            <a:endParaRPr lang="en-US" sz="1200" b="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&amp; Activity</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Discuss these benefits of visiting identified sources</a:t>
            </a:r>
          </a:p>
          <a:p>
            <a:pPr>
              <a:buFont typeface="Arial" pitchFamily="34" charset="0"/>
              <a:buChar char="•"/>
            </a:pPr>
            <a:r>
              <a:rPr lang="en-AU" sz="1200" b="0" kern="1200" dirty="0" smtClean="0">
                <a:solidFill>
                  <a:schemeClr val="tx1"/>
                </a:solidFill>
                <a:ea typeface="+mn-ea"/>
                <a:cs typeface="+mn-cs"/>
              </a:rPr>
              <a:t>Complete Activity </a:t>
            </a:r>
            <a:r>
              <a:rPr lang="en-AU" sz="1200" b="0" kern="1200" dirty="0" smtClean="0">
                <a:solidFill>
                  <a:schemeClr val="tx1"/>
                </a:solidFill>
                <a:ea typeface="+mn-ea"/>
                <a:cs typeface="+mn-cs"/>
              </a:rPr>
              <a:t>7.</a:t>
            </a:r>
            <a:endParaRPr lang="en-US" sz="1200" b="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Discuss</a:t>
            </a:r>
            <a:r>
              <a:rPr lang="en-US" sz="1200" b="0" kern="1200" baseline="0" dirty="0" smtClean="0">
                <a:solidFill>
                  <a:schemeClr val="tx1"/>
                </a:solidFill>
                <a:ea typeface="+mn-ea"/>
                <a:cs typeface="+mn-cs"/>
              </a:rPr>
              <a:t> question in the slide.</a:t>
            </a:r>
            <a:endParaRPr lang="en-US" sz="1200" b="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 information can come from each of these sources?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the questions in the slide.</a:t>
            </a: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Provide examples of each </a:t>
            </a:r>
            <a:r>
              <a:rPr lang="en-US" sz="1200" b="0" kern="1200" baseline="0" dirty="0" smtClean="0">
                <a:solidFill>
                  <a:schemeClr val="tx1"/>
                </a:solidFill>
                <a:ea typeface="+mn-ea"/>
                <a:cs typeface="+mn-cs"/>
              </a:rPr>
              <a:t>systems.</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Discussion &amp; Activity</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Discuss how these systems can be managed and maintained</a:t>
            </a: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Complete Activity </a:t>
            </a:r>
            <a:r>
              <a:rPr lang="en-US" sz="1200" b="0" kern="1200" baseline="0" dirty="0" smtClean="0">
                <a:solidFill>
                  <a:schemeClr val="tx1"/>
                </a:solidFill>
                <a:ea typeface="+mn-ea"/>
                <a:cs typeface="+mn-cs"/>
              </a:rPr>
              <a:t>8.</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Discuss question in the slide.</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a:t>
            </a:r>
            <a:r>
              <a:rPr lang="en-US" sz="1200" b="1" kern="1200" baseline="0" dirty="0" smtClean="0">
                <a:solidFill>
                  <a:schemeClr val="tx1"/>
                </a:solidFill>
                <a:ea typeface="+mn-ea"/>
                <a:cs typeface="+mn-cs"/>
              </a:rPr>
              <a:t>Activity</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Complete Activity </a:t>
            </a:r>
            <a:r>
              <a:rPr lang="en-US" sz="1200" b="0" kern="1200" baseline="0" dirty="0" smtClean="0">
                <a:solidFill>
                  <a:schemeClr val="tx1"/>
                </a:solidFill>
                <a:ea typeface="+mn-ea"/>
                <a:cs typeface="+mn-cs"/>
              </a:rPr>
              <a:t>9.</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a:t>
            </a:r>
            <a:r>
              <a:rPr lang="en-US" sz="1200" b="1" kern="1200" baseline="0" dirty="0" smtClean="0">
                <a:solidFill>
                  <a:schemeClr val="tx1"/>
                </a:solidFill>
                <a:ea typeface="+mn-ea"/>
                <a:cs typeface="+mn-cs"/>
              </a:rPr>
              <a:t>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are examples of policies and procedures that apply to the management of product information inventory?</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Provide examples of comment cards</a:t>
            </a:r>
          </a:p>
          <a:p>
            <a:pPr>
              <a:buFont typeface="Arial" pitchFamily="34" charset="0"/>
              <a:buChar char="•"/>
            </a:pPr>
            <a:r>
              <a:rPr lang="en-AU" sz="1200" kern="1200" baseline="0" dirty="0" smtClean="0">
                <a:solidFill>
                  <a:schemeClr val="tx1"/>
                </a:solidFill>
                <a:ea typeface="+mn-ea"/>
                <a:cs typeface="+mn-cs"/>
              </a:rPr>
              <a:t>How else can you get feedback from customers?</a:t>
            </a: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r>
              <a:rPr lang="en-AU" sz="1200" kern="1200" baseline="0" dirty="0" smtClean="0">
                <a:solidFill>
                  <a:schemeClr val="tx1"/>
                </a:solidFill>
                <a:ea typeface="+mn-ea"/>
                <a:cs typeface="+mn-cs"/>
              </a:rPr>
              <a:t>What </a:t>
            </a:r>
            <a:r>
              <a:rPr lang="en-AU" sz="1200" kern="1200" baseline="0" dirty="0" smtClean="0">
                <a:solidFill>
                  <a:schemeClr val="tx1"/>
                </a:solidFill>
                <a:ea typeface="+mn-ea"/>
                <a:cs typeface="+mn-cs"/>
              </a:rPr>
              <a:t>is the purpose of interpreting product information you have received?</a:t>
            </a:r>
          </a:p>
          <a:p>
            <a:r>
              <a:rPr lang="en-AU" sz="1200" kern="1200" baseline="0" dirty="0" smtClean="0">
                <a:solidFill>
                  <a:schemeClr val="tx1"/>
                </a:solidFill>
                <a:ea typeface="+mn-ea"/>
                <a:cs typeface="+mn-cs"/>
              </a:rPr>
              <a:t>What are the steps associated with interpreting product information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a:t>
            </a:r>
            <a:r>
              <a:rPr lang="en-US" sz="1200" b="1" kern="1200" baseline="0" dirty="0" smtClean="0">
                <a:solidFill>
                  <a:schemeClr val="tx1"/>
                </a:solidFill>
                <a:ea typeface="+mn-ea"/>
                <a:cs typeface="+mn-cs"/>
              </a:rPr>
              <a:t>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Why is this important?</a:t>
            </a: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are the objectives of reading product information collected?</a:t>
            </a:r>
          </a:p>
          <a:p>
            <a:pPr>
              <a:spcBef>
                <a:spcPts val="600"/>
              </a:spcBef>
              <a:spcAft>
                <a:spcPts val="1200"/>
              </a:spcAft>
              <a:buFont typeface="Arial" pitchFamily="34" charset="0"/>
              <a:buChar char="•"/>
            </a:pP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a:t>
            </a:r>
            <a:r>
              <a:rPr lang="en-US" sz="1200" b="1" kern="1200" baseline="0" dirty="0" smtClean="0">
                <a:solidFill>
                  <a:schemeClr val="tx1"/>
                </a:solidFill>
                <a:ea typeface="+mn-ea"/>
                <a:cs typeface="+mn-cs"/>
              </a:rPr>
              <a:t>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How can you achieve each of these points?</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a:t>
            </a:r>
            <a:r>
              <a:rPr lang="en-US" sz="1200" b="1" kern="1200" baseline="0" dirty="0" smtClean="0">
                <a:solidFill>
                  <a:schemeClr val="tx1"/>
                </a:solidFill>
                <a:ea typeface="+mn-ea"/>
                <a:cs typeface="+mn-cs"/>
              </a:rPr>
              <a:t>Discussion &amp; Activity</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else can you do?</a:t>
            </a: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Complete Activity </a:t>
            </a:r>
            <a:r>
              <a:rPr lang="en-US" sz="1200" b="0" kern="1200" baseline="0" dirty="0" smtClean="0">
                <a:solidFill>
                  <a:schemeClr val="tx1"/>
                </a:solidFill>
                <a:ea typeface="+mn-ea"/>
                <a:cs typeface="+mn-cs"/>
              </a:rPr>
              <a:t>10.</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How can you do</a:t>
            </a:r>
            <a:r>
              <a:rPr lang="en-US" sz="1200" b="0" kern="1200" baseline="0" dirty="0" smtClean="0">
                <a:solidFill>
                  <a:schemeClr val="tx1"/>
                </a:solidFill>
                <a:ea typeface="+mn-ea"/>
                <a:cs typeface="+mn-cs"/>
              </a:rPr>
              <a:t> this?</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Why are these objectives important?</a:t>
            </a:r>
          </a:p>
          <a:p>
            <a:pPr>
              <a:buFont typeface="Arial" pitchFamily="34" charset="0"/>
              <a:buChar char="•"/>
            </a:pPr>
            <a:r>
              <a:rPr lang="en-US" sz="1200" b="0" kern="1200" dirty="0" smtClean="0">
                <a:solidFill>
                  <a:schemeClr val="tx1"/>
                </a:solidFill>
                <a:ea typeface="+mn-ea"/>
                <a:cs typeface="+mn-cs"/>
              </a:rPr>
              <a:t>What other objectives would you have?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Why are these objectives important?</a:t>
            </a:r>
          </a:p>
          <a:p>
            <a:pPr>
              <a:buFont typeface="Arial" pitchFamily="34" charset="0"/>
              <a:buChar char="•"/>
            </a:pPr>
            <a:r>
              <a:rPr lang="en-US" sz="1200" b="0" kern="1200" dirty="0" smtClean="0">
                <a:solidFill>
                  <a:schemeClr val="tx1"/>
                </a:solidFill>
                <a:ea typeface="+mn-ea"/>
                <a:cs typeface="+mn-cs"/>
              </a:rPr>
              <a:t>What other objectives would you have?</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What</a:t>
            </a:r>
            <a:r>
              <a:rPr lang="en-US" sz="1200" b="0" kern="1200" baseline="0" dirty="0" smtClean="0">
                <a:solidFill>
                  <a:schemeClr val="tx1"/>
                </a:solidFill>
                <a:ea typeface="+mn-ea"/>
                <a:cs typeface="+mn-cs"/>
              </a:rPr>
              <a:t> activities are associated with interpreting information?</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Why is this important?</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Discuss the steps associated with each of these points.</a:t>
            </a: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ea typeface="+mn-ea"/>
                <a:cs typeface="+mn-cs"/>
              </a:rPr>
              <a:t>Why is it important to integrate</a:t>
            </a:r>
            <a:r>
              <a:rPr lang="en-US" sz="1200" b="0" kern="1200" baseline="0" dirty="0" smtClean="0">
                <a:solidFill>
                  <a:schemeClr val="tx1"/>
                </a:solidFill>
                <a:ea typeface="+mn-ea"/>
                <a:cs typeface="+mn-cs"/>
              </a:rPr>
              <a:t> information ?</a:t>
            </a:r>
            <a:endParaRPr lang="en-AU" sz="1200" kern="1200" baseline="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How can you integrate</a:t>
            </a:r>
            <a:r>
              <a:rPr lang="en-US" sz="1200" b="0" kern="1200" baseline="0" dirty="0" smtClean="0">
                <a:solidFill>
                  <a:schemeClr val="tx1"/>
                </a:solidFill>
                <a:ea typeface="+mn-ea"/>
                <a:cs typeface="+mn-cs"/>
              </a:rPr>
              <a:t> information to meet the needs of the organisation?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ea typeface="+mn-ea"/>
                <a:cs typeface="+mn-cs"/>
              </a:rPr>
              <a:t>How can you integrate</a:t>
            </a:r>
            <a:r>
              <a:rPr lang="en-US" sz="1200" b="0" kern="1200" baseline="0" dirty="0" smtClean="0">
                <a:solidFill>
                  <a:schemeClr val="tx1"/>
                </a:solidFill>
                <a:ea typeface="+mn-ea"/>
                <a:cs typeface="+mn-cs"/>
              </a:rPr>
              <a:t> information to meet the needs of the client?</a:t>
            </a:r>
          </a:p>
          <a:p>
            <a:pPr>
              <a:buFont typeface="Arial" pitchFamily="34" charset="0"/>
              <a:buNone/>
            </a:pP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importance of these </a:t>
            </a:r>
            <a:r>
              <a:rPr lang="en-US" sz="1200" b="0" kern="1200" baseline="0" dirty="0" smtClean="0">
                <a:solidFill>
                  <a:schemeClr val="tx1"/>
                </a:solidFill>
                <a:ea typeface="+mn-ea"/>
                <a:cs typeface="+mn-cs"/>
              </a:rPr>
              <a:t>points.</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importance of these points.</a:t>
            </a: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&amp; Review a quotation</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question in the slide.</a:t>
            </a:r>
          </a:p>
          <a:p>
            <a:pPr>
              <a:buFont typeface="Arial" pitchFamily="34" charset="0"/>
              <a:buNone/>
            </a:pP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&amp; Review a quotation</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importance of these </a:t>
            </a:r>
            <a:r>
              <a:rPr lang="en-US" sz="1200" b="0" kern="1200" baseline="0" dirty="0" smtClean="0">
                <a:solidFill>
                  <a:schemeClr val="tx1"/>
                </a:solidFill>
                <a:ea typeface="+mn-ea"/>
                <a:cs typeface="+mn-cs"/>
              </a:rPr>
              <a:t>points.</a:t>
            </a:r>
            <a:endParaRPr lang="en-US" sz="1200" b="0" kern="1200" baseline="0" dirty="0" smtClean="0">
              <a:solidFill>
                <a:schemeClr val="tx1"/>
              </a:solidFill>
              <a:ea typeface="+mn-ea"/>
              <a:cs typeface="+mn-cs"/>
            </a:endParaRPr>
          </a:p>
          <a:p>
            <a:pPr>
              <a:buFont typeface="Arial" pitchFamily="34" charset="0"/>
              <a:buNone/>
            </a:pP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&amp; Review a quotation</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importance of these points</a:t>
            </a:r>
          </a:p>
          <a:p>
            <a:pPr>
              <a:buFont typeface="Arial" pitchFamily="34" charset="0"/>
              <a:buChar char="•"/>
            </a:pPr>
            <a:r>
              <a:rPr lang="en-US" sz="1200" b="0" kern="1200" baseline="0" dirty="0" smtClean="0">
                <a:solidFill>
                  <a:schemeClr val="tx1"/>
                </a:solidFill>
                <a:ea typeface="+mn-ea"/>
                <a:cs typeface="+mn-cs"/>
              </a:rPr>
              <a:t>Refer to points on TM Pages </a:t>
            </a:r>
            <a:r>
              <a:rPr lang="en-US" sz="1200" b="0" kern="1200" baseline="0" dirty="0" smtClean="0">
                <a:solidFill>
                  <a:schemeClr val="tx1"/>
                </a:solidFill>
                <a:ea typeface="+mn-ea"/>
                <a:cs typeface="+mn-cs"/>
              </a:rPr>
              <a:t>77 &amp; 78.</a:t>
            </a:r>
            <a:endParaRPr lang="en-US" sz="1200" b="0" kern="1200" baseline="0" dirty="0" smtClean="0">
              <a:solidFill>
                <a:schemeClr val="tx1"/>
              </a:solidFill>
              <a:ea typeface="+mn-ea"/>
              <a:cs typeface="+mn-cs"/>
            </a:endParaRPr>
          </a:p>
          <a:p>
            <a:pPr>
              <a:buFont typeface="Arial" pitchFamily="34" charset="0"/>
              <a:buNone/>
            </a:pP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&amp; Review a quotation</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importance of these </a:t>
            </a:r>
            <a:r>
              <a:rPr lang="en-US" sz="1200" b="0" kern="1200" baseline="0" dirty="0" smtClean="0">
                <a:solidFill>
                  <a:schemeClr val="tx1"/>
                </a:solidFill>
                <a:ea typeface="+mn-ea"/>
                <a:cs typeface="+mn-cs"/>
              </a:rPr>
              <a:t>points.</a:t>
            </a:r>
            <a:endParaRPr lang="en-US" sz="1200" b="0" kern="1200" baseline="0" dirty="0" smtClean="0">
              <a:solidFill>
                <a:schemeClr val="tx1"/>
              </a:solidFill>
              <a:ea typeface="+mn-ea"/>
              <a:cs typeface="+mn-cs"/>
            </a:endParaRPr>
          </a:p>
          <a:p>
            <a:pPr>
              <a:buFont typeface="Arial" pitchFamily="34" charset="0"/>
              <a:buNone/>
            </a:pP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&amp; Review a quotation</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importance of these points.</a:t>
            </a:r>
          </a:p>
          <a:p>
            <a:pPr>
              <a:buFont typeface="Arial" pitchFamily="34" charset="0"/>
              <a:buNone/>
            </a:pP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&amp; Review a quotation</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importance of these points.</a:t>
            </a:r>
          </a:p>
          <a:p>
            <a:pPr>
              <a:buFont typeface="Arial" pitchFamily="34" charset="0"/>
              <a:buNone/>
            </a:pP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&amp; Review a quotation</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importance of these </a:t>
            </a:r>
            <a:r>
              <a:rPr lang="en-US" sz="1200" b="0" kern="1200" baseline="0" dirty="0" smtClean="0">
                <a:solidFill>
                  <a:schemeClr val="tx1"/>
                </a:solidFill>
                <a:ea typeface="+mn-ea"/>
                <a:cs typeface="+mn-cs"/>
              </a:rPr>
              <a:t>protocols.</a:t>
            </a:r>
            <a:endParaRPr lang="en-US" sz="1200" b="0" kern="1200" baseline="0" dirty="0" smtClean="0">
              <a:solidFill>
                <a:schemeClr val="tx1"/>
              </a:solidFill>
              <a:ea typeface="+mn-ea"/>
              <a:cs typeface="+mn-cs"/>
            </a:endParaRPr>
          </a:p>
          <a:p>
            <a:pPr>
              <a:buFont typeface="Arial" pitchFamily="34" charset="0"/>
              <a:buNone/>
            </a:pP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&amp; Review a quotation &amp; Activity</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importance of these protocols</a:t>
            </a:r>
          </a:p>
          <a:p>
            <a:pPr>
              <a:buFont typeface="Arial" pitchFamily="34" charset="0"/>
              <a:buChar char="•"/>
            </a:pPr>
            <a:r>
              <a:rPr lang="en-US" sz="1200" b="0" kern="1200" baseline="0" dirty="0" smtClean="0">
                <a:solidFill>
                  <a:schemeClr val="tx1"/>
                </a:solidFill>
                <a:ea typeface="+mn-ea"/>
                <a:cs typeface="+mn-cs"/>
              </a:rPr>
              <a:t>Complete Activity </a:t>
            </a:r>
            <a:r>
              <a:rPr lang="en-US" sz="1200" b="0" kern="1200" baseline="0" dirty="0" smtClean="0">
                <a:solidFill>
                  <a:schemeClr val="tx1"/>
                </a:solidFill>
                <a:ea typeface="+mn-ea"/>
                <a:cs typeface="+mn-cs"/>
              </a:rPr>
              <a:t>11.</a:t>
            </a:r>
            <a:endParaRPr lang="en-US" sz="1200" b="0" kern="1200" baseline="0" dirty="0" smtClean="0">
              <a:solidFill>
                <a:schemeClr val="tx1"/>
              </a:solidFill>
              <a:ea typeface="+mn-ea"/>
              <a:cs typeface="+mn-cs"/>
            </a:endParaRPr>
          </a:p>
          <a:p>
            <a:pPr>
              <a:buFont typeface="Arial" pitchFamily="34" charset="0"/>
              <a:buNone/>
            </a:pP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How can you provide information to clients?</a:t>
            </a:r>
          </a:p>
          <a:p>
            <a:pPr>
              <a:buFont typeface="Arial" pitchFamily="34" charset="0"/>
              <a:buChar char="•"/>
            </a:pPr>
            <a:r>
              <a:rPr lang="en-AU" sz="1200" kern="1200" baseline="0" dirty="0" smtClean="0">
                <a:solidFill>
                  <a:schemeClr val="tx1"/>
                </a:solidFill>
                <a:ea typeface="+mn-ea"/>
                <a:cs typeface="+mn-cs"/>
              </a:rPr>
              <a:t>What needs to be considered when providing information?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Discuss questions in the slide.</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other methods can be used?</a:t>
            </a: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Review </a:t>
            </a:r>
            <a:r>
              <a:rPr lang="en-AU" sz="1200" b="1" dirty="0" smtClean="0">
                <a:latin typeface="Helvetica" pitchFamily="34" charset="0"/>
              </a:rPr>
              <a:t>codes, abbreviations and terminology </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Review the </a:t>
            </a:r>
            <a:r>
              <a:rPr lang="en-AU" sz="1200" b="0" dirty="0" smtClean="0">
                <a:latin typeface="Helvetica" pitchFamily="34" charset="0"/>
              </a:rPr>
              <a:t>codes, abbreviations and terminology in the TM</a:t>
            </a:r>
          </a:p>
          <a:p>
            <a:pPr>
              <a:spcBef>
                <a:spcPts val="600"/>
              </a:spcBef>
              <a:spcAft>
                <a:spcPts val="1200"/>
              </a:spcAft>
              <a:buFont typeface="Arial" pitchFamily="34" charset="0"/>
              <a:buChar char="•"/>
            </a:pPr>
            <a:r>
              <a:rPr lang="en-AU" sz="1200" b="0" dirty="0" smtClean="0">
                <a:latin typeface="Helvetica" pitchFamily="34" charset="0"/>
              </a:rPr>
              <a:t>Complete Activities </a:t>
            </a:r>
            <a:r>
              <a:rPr lang="en-AU" sz="1200" b="0" dirty="0" smtClean="0">
                <a:latin typeface="Helvetica" pitchFamily="34" charset="0"/>
              </a:rPr>
              <a:t>12 &amp; 13.</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Review </a:t>
            </a:r>
            <a:r>
              <a:rPr lang="en-AU" sz="1200" b="1" dirty="0" smtClean="0">
                <a:latin typeface="Helvetica" pitchFamily="34" charset="0"/>
              </a:rPr>
              <a:t>codes, abbreviations and terminology &amp; Activity</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Review the </a:t>
            </a:r>
            <a:r>
              <a:rPr lang="en-AU" sz="1200" b="0" dirty="0" smtClean="0">
                <a:latin typeface="Helvetica" pitchFamily="34" charset="0"/>
              </a:rPr>
              <a:t>codes, abbreviations and terminology in the TM</a:t>
            </a:r>
          </a:p>
          <a:p>
            <a:pPr>
              <a:spcBef>
                <a:spcPts val="600"/>
              </a:spcBef>
              <a:spcAft>
                <a:spcPts val="1200"/>
              </a:spcAft>
              <a:buFont typeface="Arial" pitchFamily="34" charset="0"/>
              <a:buChar char="•"/>
            </a:pPr>
            <a:r>
              <a:rPr lang="en-AU" sz="1200" b="0" dirty="0" smtClean="0">
                <a:latin typeface="Helvetica" pitchFamily="34" charset="0"/>
              </a:rPr>
              <a:t>Complete Activity </a:t>
            </a:r>
            <a:r>
              <a:rPr lang="en-AU" sz="1200" b="0" dirty="0" smtClean="0">
                <a:latin typeface="Helvetica" pitchFamily="34" charset="0"/>
              </a:rPr>
              <a:t>14.</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b="1" kern="1200" baseline="0" dirty="0" smtClean="0">
                <a:solidFill>
                  <a:schemeClr val="tx1"/>
                </a:solidFill>
                <a:ea typeface="+mn-ea"/>
                <a:cs typeface="+mn-cs"/>
              </a:rPr>
              <a:t>Class Activity – List types of </a:t>
            </a:r>
            <a:r>
              <a:rPr lang="en-AU" sz="1200" b="1" dirty="0" smtClean="0"/>
              <a:t>Non-air &amp; Air documentation &amp; Activity</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What are examples of each?</a:t>
            </a:r>
          </a:p>
          <a:p>
            <a:pPr>
              <a:spcBef>
                <a:spcPts val="600"/>
              </a:spcBef>
              <a:spcAft>
                <a:spcPts val="1200"/>
              </a:spcAft>
              <a:buFont typeface="Arial" pitchFamily="34" charset="0"/>
              <a:buChar char="•"/>
            </a:pPr>
            <a:r>
              <a:rPr lang="en-AU" sz="1200" b="0" kern="1200" baseline="0" dirty="0" smtClean="0">
                <a:solidFill>
                  <a:schemeClr val="tx1"/>
                </a:solidFill>
                <a:ea typeface="+mn-ea"/>
                <a:cs typeface="+mn-cs"/>
              </a:rPr>
              <a:t>Complete Activity </a:t>
            </a:r>
            <a:r>
              <a:rPr lang="en-AU" sz="1200" b="0" kern="1200" baseline="0" dirty="0" smtClean="0">
                <a:solidFill>
                  <a:schemeClr val="tx1"/>
                </a:solidFill>
                <a:ea typeface="+mn-ea"/>
                <a:cs typeface="+mn-cs"/>
              </a:rPr>
              <a:t>15.</a:t>
            </a: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question in the </a:t>
            </a:r>
            <a:r>
              <a:rPr lang="en-AU" sz="1200" kern="1200" baseline="0" dirty="0" smtClean="0">
                <a:solidFill>
                  <a:schemeClr val="tx1"/>
                </a:solidFill>
                <a:ea typeface="+mn-ea"/>
                <a:cs typeface="+mn-cs"/>
              </a:rPr>
              <a:t>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submission considerations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How do they impact submission methods?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importance of </a:t>
            </a:r>
            <a:r>
              <a:rPr lang="en-AU" sz="1200" b="1" kern="1200" baseline="0" dirty="0" smtClean="0">
                <a:solidFill>
                  <a:schemeClr val="tx1"/>
                </a:solidFill>
                <a:latin typeface="Helvetica" pitchFamily="34" charset="0"/>
                <a:ea typeface="+mn-ea"/>
                <a:cs typeface="+mn-cs"/>
              </a:rPr>
              <a:t>c</a:t>
            </a:r>
            <a:r>
              <a:rPr lang="en-AU" sz="1200" b="1" dirty="0" smtClean="0">
                <a:latin typeface="Helvetica" pitchFamily="34" charset="0"/>
              </a:rPr>
              <a:t>ustomer service basics </a:t>
            </a:r>
            <a:endParaRPr lang="en-AU" sz="1200" b="1"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Trainer to discuss </a:t>
            </a:r>
            <a:r>
              <a:rPr lang="en-AU" sz="1200" b="0" kern="1200" baseline="0" dirty="0" smtClean="0">
                <a:solidFill>
                  <a:schemeClr val="tx1"/>
                </a:solidFill>
                <a:ea typeface="+mn-ea"/>
                <a:cs typeface="+mn-cs"/>
              </a:rPr>
              <a:t>importance of these </a:t>
            </a:r>
            <a:r>
              <a:rPr lang="en-AU" sz="1200" b="0" kern="1200" baseline="0" dirty="0" smtClean="0">
                <a:solidFill>
                  <a:schemeClr val="tx1"/>
                </a:solidFill>
                <a:latin typeface="Helvetica" pitchFamily="34" charset="0"/>
                <a:ea typeface="+mn-ea"/>
                <a:cs typeface="+mn-cs"/>
              </a:rPr>
              <a:t>c</a:t>
            </a:r>
            <a:r>
              <a:rPr lang="en-AU" sz="1200" b="0" dirty="0" smtClean="0">
                <a:latin typeface="Helvetica" pitchFamily="34" charset="0"/>
              </a:rPr>
              <a:t>ustomer service basics </a:t>
            </a:r>
            <a:r>
              <a:rPr lang="en-AU" sz="1200" b="0" dirty="0" smtClean="0">
                <a:latin typeface="Helvetica" pitchFamily="34" charset="0"/>
              </a:rPr>
              <a:t>points.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importance of </a:t>
            </a:r>
            <a:r>
              <a:rPr lang="en-AU" sz="1200" b="1" kern="1200" baseline="0" dirty="0" smtClean="0">
                <a:solidFill>
                  <a:schemeClr val="tx1"/>
                </a:solidFill>
                <a:latin typeface="Helvetica" pitchFamily="34" charset="0"/>
                <a:ea typeface="+mn-ea"/>
                <a:cs typeface="+mn-cs"/>
              </a:rPr>
              <a:t>c</a:t>
            </a:r>
            <a:r>
              <a:rPr lang="en-AU" sz="1200" b="1" dirty="0" smtClean="0">
                <a:latin typeface="Helvetica" pitchFamily="34" charset="0"/>
              </a:rPr>
              <a:t>ustomer service basics </a:t>
            </a:r>
            <a:endParaRPr lang="en-AU" sz="1200" b="1"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Trainer to discuss </a:t>
            </a:r>
            <a:r>
              <a:rPr lang="en-AU" sz="1200" b="0" kern="1200" baseline="0" dirty="0" smtClean="0">
                <a:solidFill>
                  <a:schemeClr val="tx1"/>
                </a:solidFill>
                <a:ea typeface="+mn-ea"/>
                <a:cs typeface="+mn-cs"/>
              </a:rPr>
              <a:t>importance of these </a:t>
            </a:r>
            <a:r>
              <a:rPr lang="en-AU" sz="1200" b="0" kern="1200" baseline="0" dirty="0" smtClean="0">
                <a:solidFill>
                  <a:schemeClr val="tx1"/>
                </a:solidFill>
                <a:latin typeface="Helvetica" pitchFamily="34" charset="0"/>
                <a:ea typeface="+mn-ea"/>
                <a:cs typeface="+mn-cs"/>
              </a:rPr>
              <a:t>c</a:t>
            </a:r>
            <a:r>
              <a:rPr lang="en-AU" sz="1200" b="0" dirty="0" smtClean="0">
                <a:latin typeface="Helvetica" pitchFamily="34" charset="0"/>
              </a:rPr>
              <a:t>ustomer service basics </a:t>
            </a:r>
            <a:r>
              <a:rPr lang="en-AU" sz="1200" b="0" dirty="0" smtClean="0">
                <a:latin typeface="Helvetica" pitchFamily="34" charset="0"/>
              </a:rPr>
              <a:t>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a:t>
            </a:r>
            <a:r>
              <a:rPr lang="en-AU" sz="1200" b="1" kern="1200" baseline="0" noProof="0" dirty="0" smtClean="0">
                <a:solidFill>
                  <a:schemeClr val="tx1"/>
                </a:solidFill>
                <a:ea typeface="+mn-ea"/>
                <a:cs typeface="+mn-cs"/>
              </a:rPr>
              <a:t>Role Play – Providing a quotation to a customer (Slides 149-152)</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Again, in groups and either based on Work Activities case study or Trainer’s scenarios, provide quotation to a </a:t>
            </a:r>
            <a:r>
              <a:rPr lang="en-AU" sz="1200" b="0" kern="1200" baseline="0" noProof="0" dirty="0" smtClean="0">
                <a:solidFill>
                  <a:schemeClr val="tx1"/>
                </a:solidFill>
                <a:ea typeface="+mn-ea"/>
                <a:cs typeface="+mn-cs"/>
              </a:rPr>
              <a:t>customer</a:t>
            </a:r>
            <a:endParaRPr lang="en-AU" sz="1200" b="0" kern="1200" baseline="0" noProof="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a:t>
            </a:r>
            <a:r>
              <a:rPr lang="en-AU" sz="1200" b="1" kern="1200" baseline="0" noProof="0" dirty="0" smtClean="0">
                <a:solidFill>
                  <a:schemeClr val="tx1"/>
                </a:solidFill>
                <a:ea typeface="+mn-ea"/>
                <a:cs typeface="+mn-cs"/>
              </a:rPr>
              <a:t>Role Play – Providing a quotation to a customer (Slides 149-152)</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Again, in groups and either based on Work Activities case study or Trainer’s scenarios, provide quotation to a </a:t>
            </a:r>
            <a:r>
              <a:rPr lang="en-AU" sz="1200" b="0" kern="1200" baseline="0" noProof="0" dirty="0" smtClean="0">
                <a:solidFill>
                  <a:schemeClr val="tx1"/>
                </a:solidFill>
                <a:ea typeface="+mn-ea"/>
                <a:cs typeface="+mn-cs"/>
              </a:rPr>
              <a:t>customer</a:t>
            </a:r>
            <a:endParaRPr lang="en-AU" sz="1200" b="0" kern="1200" baseline="0" noProof="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a:t>
            </a:r>
            <a:r>
              <a:rPr lang="en-AU" sz="1200" b="1" kern="1200" baseline="0" noProof="0" dirty="0" smtClean="0">
                <a:solidFill>
                  <a:schemeClr val="tx1"/>
                </a:solidFill>
                <a:ea typeface="+mn-ea"/>
                <a:cs typeface="+mn-cs"/>
              </a:rPr>
              <a:t>Role Play – Providing a quotation to a customer (Slides 149-152)</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Again, in groups and either based on Work Activities case study or Trainer’s scenarios, provide quotation to a customer</a:t>
            </a:r>
          </a:p>
          <a:p>
            <a:pPr>
              <a:buFont typeface="Arial" pitchFamily="34" charset="0"/>
              <a:buChar char="•"/>
            </a:pPr>
            <a:r>
              <a:rPr lang="en-AU" sz="1200" b="0" kern="1200" baseline="0" noProof="0" dirty="0" smtClean="0">
                <a:solidFill>
                  <a:schemeClr val="tx1"/>
                </a:solidFill>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a:t>
            </a:r>
            <a:r>
              <a:rPr lang="en-AU" sz="1200" b="1" kern="1200" baseline="0" noProof="0" dirty="0" smtClean="0">
                <a:solidFill>
                  <a:schemeClr val="tx1"/>
                </a:solidFill>
                <a:ea typeface="+mn-ea"/>
                <a:cs typeface="+mn-cs"/>
              </a:rPr>
              <a:t>Role Play – Providing a quotation to a customer (Slides 149-152)</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Again, in groups and either based on Work Activities case study or Trainer’s scenarios, provide quotation to a </a:t>
            </a:r>
            <a:r>
              <a:rPr lang="en-AU" sz="1200" b="0" kern="1200" baseline="0" noProof="0" dirty="0" smtClean="0">
                <a:solidFill>
                  <a:schemeClr val="tx1"/>
                </a:solidFill>
                <a:ea typeface="+mn-ea"/>
                <a:cs typeface="+mn-cs"/>
              </a:rPr>
              <a:t>customer</a:t>
            </a:r>
            <a:endParaRPr lang="en-AU" sz="1200" b="0" kern="1200" baseline="0" noProof="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submission methods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What are the advantages and disadvantages of using each method?</a:t>
            </a: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these </a:t>
            </a:r>
            <a:r>
              <a:rPr lang="en-US" sz="1200" b="0" kern="1200" baseline="0" dirty="0" smtClean="0">
                <a:solidFill>
                  <a:schemeClr val="tx1"/>
                </a:solidFill>
                <a:ea typeface="+mn-ea"/>
                <a:cs typeface="+mn-cs"/>
              </a:rPr>
              <a:t>benefits.</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these benefits.</a:t>
            </a: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Show examples of </a:t>
            </a:r>
            <a:r>
              <a:rPr lang="en-AU" sz="1200" b="1" dirty="0" smtClean="0">
                <a:latin typeface="Helvetica" pitchFamily="34" charset="0"/>
              </a:rPr>
              <a:t>hard copy materials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Show </a:t>
            </a:r>
            <a:r>
              <a:rPr lang="en-US" sz="1200" b="0" kern="1200" baseline="0" dirty="0" smtClean="0">
                <a:solidFill>
                  <a:schemeClr val="tx1"/>
                </a:solidFill>
                <a:ea typeface="+mn-ea"/>
                <a:cs typeface="+mn-cs"/>
              </a:rPr>
              <a:t>examples.</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Show examples of </a:t>
            </a:r>
            <a:r>
              <a:rPr lang="en-AU" sz="1200" b="1" dirty="0" smtClean="0">
                <a:latin typeface="Helvetica" pitchFamily="34" charset="0"/>
              </a:rPr>
              <a:t>hard copy materials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Show </a:t>
            </a:r>
            <a:r>
              <a:rPr lang="en-US" sz="1200" b="0" kern="1200" baseline="0" dirty="0" smtClean="0">
                <a:solidFill>
                  <a:schemeClr val="tx1"/>
                </a:solidFill>
                <a:ea typeface="+mn-ea"/>
                <a:cs typeface="+mn-cs"/>
              </a:rPr>
              <a:t>examples.</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Show examples of </a:t>
            </a:r>
            <a:r>
              <a:rPr lang="en-AU" sz="1200" b="1" dirty="0" smtClean="0">
                <a:latin typeface="Helvetica" pitchFamily="34" charset="0"/>
              </a:rPr>
              <a:t>hard copy materials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Show examples.</a:t>
            </a: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Show examples of </a:t>
            </a:r>
            <a:r>
              <a:rPr lang="en-AU" sz="1200" b="1" dirty="0" smtClean="0">
                <a:latin typeface="Helvetica" pitchFamily="34" charset="0"/>
              </a:rPr>
              <a:t>hard copy materials</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Show examples.</a:t>
            </a: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the information to be provided under each point</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possible content under each </a:t>
            </a:r>
            <a:r>
              <a:rPr lang="en-US" sz="1200" b="0" kern="1200" baseline="0" dirty="0" smtClean="0">
                <a:solidFill>
                  <a:schemeClr val="tx1"/>
                </a:solidFill>
                <a:ea typeface="+mn-ea"/>
                <a:cs typeface="+mn-cs"/>
              </a:rPr>
              <a:t>point.</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the information to be provided under each point</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possible content under each </a:t>
            </a:r>
            <a:r>
              <a:rPr lang="en-US" sz="1200" b="0" kern="1200" baseline="0" dirty="0" smtClean="0">
                <a:solidFill>
                  <a:schemeClr val="tx1"/>
                </a:solidFill>
                <a:ea typeface="+mn-ea"/>
                <a:cs typeface="+mn-cs"/>
              </a:rPr>
              <a:t>point.</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information content</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possible content under each </a:t>
            </a:r>
            <a:r>
              <a:rPr lang="en-US" sz="1200" b="0" kern="1200" baseline="0" dirty="0" smtClean="0">
                <a:solidFill>
                  <a:schemeClr val="tx1"/>
                </a:solidFill>
                <a:ea typeface="+mn-ea"/>
                <a:cs typeface="+mn-cs"/>
              </a:rPr>
              <a:t>point.</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information content</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possible content under each </a:t>
            </a:r>
            <a:r>
              <a:rPr lang="en-US" sz="1200" b="0" kern="1200" baseline="0" dirty="0" smtClean="0">
                <a:solidFill>
                  <a:schemeClr val="tx1"/>
                </a:solidFill>
                <a:ea typeface="+mn-ea"/>
                <a:cs typeface="+mn-cs"/>
              </a:rPr>
              <a:t>point.</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information content</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possible content under each </a:t>
            </a:r>
            <a:r>
              <a:rPr lang="en-US" sz="1200" b="0" kern="1200" baseline="0" dirty="0" smtClean="0">
                <a:solidFill>
                  <a:schemeClr val="tx1"/>
                </a:solidFill>
                <a:ea typeface="+mn-ea"/>
                <a:cs typeface="+mn-cs"/>
              </a:rPr>
              <a:t>point.</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information content</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possible content under each </a:t>
            </a:r>
            <a:r>
              <a:rPr lang="en-US" sz="1200" b="0" kern="1200" baseline="0" dirty="0" smtClean="0">
                <a:solidFill>
                  <a:schemeClr val="tx1"/>
                </a:solidFill>
                <a:ea typeface="+mn-ea"/>
                <a:cs typeface="+mn-cs"/>
              </a:rPr>
              <a:t>point.</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information content</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possible content under each </a:t>
            </a:r>
            <a:r>
              <a:rPr lang="en-US" sz="1200" b="0" kern="1200" baseline="0" dirty="0" smtClean="0">
                <a:solidFill>
                  <a:schemeClr val="tx1"/>
                </a:solidFill>
                <a:ea typeface="+mn-ea"/>
                <a:cs typeface="+mn-cs"/>
              </a:rPr>
              <a:t>point.</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information content</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possible content under each point</a:t>
            </a: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a:t>
            </a:r>
            <a:r>
              <a:rPr lang="en-US" sz="1200" b="1" kern="1200" baseline="0" dirty="0" smtClean="0">
                <a:solidFill>
                  <a:schemeClr val="tx1"/>
                </a:solidFill>
                <a:ea typeface="+mn-ea"/>
                <a:cs typeface="+mn-cs"/>
              </a:rPr>
              <a:t>Discuss information content</a:t>
            </a:r>
            <a:endParaRPr lang="en-US" sz="1200" b="1" dirty="0" smtClean="0"/>
          </a:p>
          <a:p>
            <a:endParaRPr lang="en-AU" sz="1200"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possible content under each </a:t>
            </a:r>
            <a:r>
              <a:rPr lang="en-US" sz="1200" b="0" kern="1200" baseline="0" dirty="0" smtClean="0">
                <a:solidFill>
                  <a:schemeClr val="tx1"/>
                </a:solidFill>
                <a:ea typeface="+mn-ea"/>
                <a:cs typeface="+mn-cs"/>
              </a:rPr>
              <a:t>point.</a:t>
            </a:r>
            <a:endParaRPr lang="en-US" sz="1200" b="0" kern="1200" baseline="0" dirty="0" smtClean="0">
              <a:solidFill>
                <a:schemeClr val="tx1"/>
              </a:solidFill>
              <a:ea typeface="+mn-ea"/>
              <a:cs typeface="+mn-cs"/>
            </a:endParaRPr>
          </a:p>
          <a:p>
            <a:pPr>
              <a:buFont typeface="Arial" pitchFamily="34" charset="0"/>
              <a:buChar char="•"/>
            </a:pPr>
            <a:endParaRPr lang="en-US" sz="120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Discuss question in the slide.</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Discuss the content for each specific </a:t>
            </a:r>
            <a:r>
              <a:rPr lang="en-US" sz="1200" b="0" kern="1200" baseline="0" dirty="0" smtClean="0">
                <a:solidFill>
                  <a:schemeClr val="tx1"/>
                </a:solidFill>
                <a:ea typeface="+mn-ea"/>
                <a:cs typeface="+mn-cs"/>
              </a:rPr>
              <a:t>detail.</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Discuss the content for each specific detail</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Discuss the content for each specific </a:t>
            </a:r>
            <a:r>
              <a:rPr lang="en-US" sz="1200" b="0" kern="1200" baseline="0" dirty="0" smtClean="0">
                <a:solidFill>
                  <a:schemeClr val="tx1"/>
                </a:solidFill>
                <a:ea typeface="+mn-ea"/>
                <a:cs typeface="+mn-cs"/>
              </a:rPr>
              <a:t>detail.</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organisations are influenced by seasonality?</a:t>
            </a: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Provide examples how tourism organisations change their offering due to </a:t>
            </a:r>
            <a:r>
              <a:rPr lang="en-US" sz="1200" b="0" kern="1200" baseline="0" dirty="0" smtClean="0">
                <a:solidFill>
                  <a:schemeClr val="tx1"/>
                </a:solidFill>
                <a:ea typeface="+mn-ea"/>
                <a:cs typeface="+mn-cs"/>
              </a:rPr>
              <a:t>seasonality.</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are common methods and conditions to confirm travel arrangements?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Discuss the impact on these costing </a:t>
            </a:r>
            <a:r>
              <a:rPr lang="en-US" sz="1200" b="0" kern="1200" baseline="0" dirty="0" smtClean="0">
                <a:solidFill>
                  <a:schemeClr val="tx1"/>
                </a:solidFill>
                <a:ea typeface="+mn-ea"/>
                <a:cs typeface="+mn-cs"/>
              </a:rPr>
              <a:t>considerations.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Discuss the impact on these costing </a:t>
            </a:r>
            <a:r>
              <a:rPr lang="en-US" sz="1200" b="0" kern="1200" baseline="0" dirty="0" smtClean="0">
                <a:solidFill>
                  <a:schemeClr val="tx1"/>
                </a:solidFill>
                <a:ea typeface="+mn-ea"/>
                <a:cs typeface="+mn-cs"/>
              </a:rPr>
              <a:t>considerations.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Provide examples of these </a:t>
            </a:r>
            <a:r>
              <a:rPr lang="en-AU" sz="1200" b="0" dirty="0" smtClean="0">
                <a:latin typeface="Helvetica" pitchFamily="34" charset="0"/>
              </a:rPr>
              <a:t>additional travel </a:t>
            </a:r>
            <a:r>
              <a:rPr lang="en-AU" sz="1200" b="0" dirty="0" smtClean="0">
                <a:latin typeface="Helvetica" pitchFamily="34" charset="0"/>
              </a:rPr>
              <a:t>costs.</a:t>
            </a:r>
            <a:endParaRPr lang="en-US" sz="1200" b="0" dirty="0" smtClean="0">
              <a:latin typeface="Helvetica" pitchFamily="34" charset="0"/>
            </a:endParaRPr>
          </a:p>
          <a:p>
            <a:pPr>
              <a:spcBef>
                <a:spcPts val="600"/>
              </a:spcBef>
              <a:spcAft>
                <a:spcPts val="1200"/>
              </a:spcAft>
              <a:buFont typeface="Arial" pitchFamily="34" charset="0"/>
              <a:buChar char="•"/>
            </a:pP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endParaRPr lang="en-US" sz="1200" b="1" dirty="0" smtClean="0"/>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b="0" kern="1200" baseline="0" dirty="0" smtClean="0">
                <a:solidFill>
                  <a:schemeClr val="tx1"/>
                </a:solidFill>
                <a:ea typeface="+mn-ea"/>
                <a:cs typeface="+mn-cs"/>
              </a:rPr>
              <a:t>Provide examples of these </a:t>
            </a:r>
            <a:r>
              <a:rPr lang="en-AU" sz="1200" b="0" dirty="0" smtClean="0"/>
              <a:t>product price increases</a:t>
            </a:r>
            <a:endParaRPr lang="en-US" sz="1200" b="0" dirty="0" smtClean="0"/>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endParaRPr lang="en-US" sz="1200" b="0" dirty="0" smtClean="0">
              <a:latin typeface="Helvetica" pitchFamily="34" charset="0"/>
            </a:endParaRPr>
          </a:p>
          <a:p>
            <a:pPr>
              <a:spcBef>
                <a:spcPts val="600"/>
              </a:spcBef>
              <a:spcAft>
                <a:spcPts val="1200"/>
              </a:spcAft>
              <a:buFont typeface="Arial" pitchFamily="34" charset="0"/>
              <a:buChar char="•"/>
            </a:pP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a:t>
            </a:r>
            <a:r>
              <a:rPr lang="en-AU" sz="1200" b="1" dirty="0" smtClean="0"/>
              <a:t>booking conditions</a:t>
            </a:r>
            <a:endParaRPr lang="en-US" sz="1200"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information would you need to discuss for each of these points?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a:t>
            </a:r>
            <a:r>
              <a:rPr lang="en-AU" sz="1200" b="1" dirty="0" smtClean="0"/>
              <a:t>booking conditions</a:t>
            </a:r>
            <a:endParaRPr lang="en-US" sz="1200"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information would you need to discuss for each of these points?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a:t>
            </a:r>
            <a:r>
              <a:rPr lang="en-AU" sz="1200" b="1" dirty="0" smtClean="0"/>
              <a:t>booking conditions</a:t>
            </a:r>
            <a:endParaRPr lang="en-US" sz="1200"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information would you need to discuss for each of these points?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a:t>
            </a:r>
            <a:r>
              <a:rPr lang="en-AU" sz="1200" b="1" dirty="0" smtClean="0"/>
              <a:t>booking conditions</a:t>
            </a:r>
            <a:endParaRPr lang="en-US" sz="1200" dirty="0" smtClean="0"/>
          </a:p>
          <a:p>
            <a:endParaRPr lang="en-AU" sz="1200" kern="1200" baseline="0" dirty="0" smtClean="0">
              <a:solidFill>
                <a:schemeClr val="tx1"/>
              </a:solidFill>
              <a:ea typeface="+mn-ea"/>
              <a:cs typeface="+mn-cs"/>
            </a:endParaRPr>
          </a:p>
          <a:p>
            <a:pPr>
              <a:spcBef>
                <a:spcPts val="600"/>
              </a:spcBef>
              <a:spcAft>
                <a:spcPts val="1200"/>
              </a:spcAft>
              <a:buFont typeface="Arial" pitchFamily="34" charset="0"/>
              <a:buChar char="•"/>
            </a:pPr>
            <a:r>
              <a:rPr lang="en-US" sz="1200" b="0" kern="1200" baseline="0" dirty="0" smtClean="0">
                <a:solidFill>
                  <a:schemeClr val="tx1"/>
                </a:solidFill>
                <a:ea typeface="+mn-ea"/>
                <a:cs typeface="+mn-cs"/>
              </a:rPr>
              <a:t>What information would you need to discuss for each of these points?</a:t>
            </a:r>
            <a:endParaRPr lang="en-AU" sz="1200" b="0" dirty="0" smtClean="0">
              <a:latin typeface="Helvetica" pitchFamily="34" charset="0"/>
            </a:endParaRPr>
          </a:p>
          <a:p>
            <a:pPr>
              <a:spcBef>
                <a:spcPts val="600"/>
              </a:spcBef>
              <a:spcAft>
                <a:spcPts val="1200"/>
              </a:spcAft>
              <a:buFont typeface="Arial" pitchFamily="34" charset="0"/>
              <a:buChar char="•"/>
            </a:pPr>
            <a:endParaRPr lang="en-US" sz="1200" b="0" dirty="0" smtClean="0"/>
          </a:p>
          <a:p>
            <a:pPr>
              <a:spcBef>
                <a:spcPts val="600"/>
              </a:spcBef>
              <a:spcAft>
                <a:spcPts val="1200"/>
              </a:spcAft>
              <a:buFont typeface="Arial" pitchFamily="34" charset="0"/>
              <a:buChar char="•"/>
            </a:pPr>
            <a:endParaRPr lang="en-AU" sz="1200" kern="1200" baseline="0" dirty="0" smtClean="0">
              <a:solidFill>
                <a:schemeClr val="tx1"/>
              </a:solidFill>
              <a:ea typeface="+mn-ea"/>
              <a:cs typeface="+mn-cs"/>
            </a:endParaRPr>
          </a:p>
          <a:p>
            <a:pPr>
              <a:buNone/>
            </a:pPr>
            <a:endParaRPr lang="en-AU" sz="1200" dirty="0" smtClean="0"/>
          </a:p>
          <a:p>
            <a:pPr>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List </a:t>
            </a:r>
            <a:r>
              <a:rPr lang="en-AU" sz="1200" b="1" dirty="0" smtClean="0">
                <a:latin typeface="Helvetica" pitchFamily="34" charset="0"/>
              </a:rPr>
              <a:t>terms and conditions</a:t>
            </a:r>
            <a:endParaRPr lang="en-AU" sz="1200" b="1"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Audience to prepare list of all possible terms and conditions affecting travel bookings and </a:t>
            </a:r>
            <a:r>
              <a:rPr lang="en-AU" sz="1200" b="0" kern="1200" baseline="0" noProof="0" dirty="0" smtClean="0">
                <a:solidFill>
                  <a:schemeClr val="tx1"/>
                </a:solidFill>
                <a:ea typeface="+mn-ea"/>
                <a:cs typeface="+mn-cs"/>
              </a:rPr>
              <a:t>arrangements.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questions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questions in the </a:t>
            </a:r>
            <a:r>
              <a:rPr lang="en-AU" sz="1200" kern="1200" baseline="0" dirty="0" smtClean="0">
                <a:solidFill>
                  <a:schemeClr val="tx1"/>
                </a:solidFill>
                <a:ea typeface="+mn-ea"/>
                <a:cs typeface="+mn-cs"/>
              </a:rPr>
              <a:t>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a:t>
            </a:r>
            <a:r>
              <a:rPr lang="en-AU" sz="1200" b="1" dirty="0" smtClean="0">
                <a:latin typeface="Helvetica" pitchFamily="34" charset="0"/>
              </a:rPr>
              <a:t>limitations</a:t>
            </a:r>
            <a:endParaRPr lang="en-AU" sz="1200" b="1"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Discuss question in the </a:t>
            </a:r>
            <a:r>
              <a:rPr lang="en-AU" sz="1200" b="0" kern="1200" baseline="0" noProof="0" dirty="0" smtClean="0">
                <a:solidFill>
                  <a:schemeClr val="tx1"/>
                </a:solidFill>
                <a:ea typeface="+mn-ea"/>
                <a:cs typeface="+mn-cs"/>
              </a:rPr>
              <a:t>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a:t>
            </a:r>
            <a:r>
              <a:rPr lang="en-AU" sz="1200" b="1" dirty="0" smtClean="0">
                <a:latin typeface="Helvetica" pitchFamily="34" charset="0"/>
              </a:rPr>
              <a:t>cancellation</a:t>
            </a:r>
            <a:r>
              <a:rPr lang="en-AU" sz="1200" b="1" baseline="0" dirty="0" smtClean="0">
                <a:latin typeface="Helvetica" pitchFamily="34" charset="0"/>
              </a:rPr>
              <a:t> of tours &amp; Activity</a:t>
            </a:r>
            <a:endParaRPr lang="en-AU" sz="1200" b="1"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pPr>
              <a:buFont typeface="Arial" pitchFamily="34" charset="0"/>
              <a:buChar char="•"/>
            </a:pPr>
            <a:r>
              <a:rPr lang="en-AU" sz="1200" b="0" kern="1200" baseline="0" noProof="0" dirty="0" smtClean="0">
                <a:solidFill>
                  <a:schemeClr val="tx1"/>
                </a:solidFill>
                <a:ea typeface="+mn-ea"/>
                <a:cs typeface="+mn-cs"/>
              </a:rPr>
              <a:t>Discuss question in the slide</a:t>
            </a:r>
          </a:p>
          <a:p>
            <a:pPr>
              <a:buFont typeface="Arial" pitchFamily="34" charset="0"/>
              <a:buChar char="•"/>
            </a:pPr>
            <a:r>
              <a:rPr lang="en-AU" sz="1200" b="0" kern="1200" baseline="0" noProof="0" dirty="0" smtClean="0">
                <a:solidFill>
                  <a:schemeClr val="tx1"/>
                </a:solidFill>
                <a:ea typeface="+mn-ea"/>
                <a:cs typeface="+mn-cs"/>
              </a:rPr>
              <a:t>Complete Activity </a:t>
            </a:r>
            <a:r>
              <a:rPr lang="en-AU" sz="1200" b="0" kern="1200" baseline="0" noProof="0" dirty="0" smtClean="0">
                <a:solidFill>
                  <a:schemeClr val="tx1"/>
                </a:solidFill>
                <a:ea typeface="+mn-ea"/>
                <a:cs typeface="+mn-cs"/>
              </a:rPr>
              <a:t>16.</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4/27/2015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4/27/2015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4/27/2015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4/27/2015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4/27/2015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81.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82.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AU" sz="4000" dirty="0">
                <a:ln w="5000" cmpd="sng">
                  <a:noFill/>
                  <a:prstDash val="solid"/>
                </a:ln>
                <a:solidFill>
                  <a:srgbClr val="FF6600"/>
                </a:solidFill>
                <a:latin typeface="Helvetica" pitchFamily="34" charset="0"/>
              </a:rPr>
              <a:t>Access and interpret product information</a:t>
            </a:r>
          </a:p>
        </p:txBody>
      </p:sp>
      <p:sp>
        <p:nvSpPr>
          <p:cNvPr id="3" name="Subtitle 2"/>
          <p:cNvSpPr>
            <a:spLocks noGrp="1"/>
          </p:cNvSpPr>
          <p:nvPr>
            <p:ph type="subTitle" idx="1"/>
          </p:nvPr>
        </p:nvSpPr>
        <p:spPr>
          <a:xfrm>
            <a:off x="5796136" y="1843114"/>
            <a:ext cx="2541268" cy="289742"/>
          </a:xfrm>
        </p:spPr>
        <p:txBody>
          <a:bodyPr>
            <a:normAutofit lnSpcReduction="10000"/>
          </a:bodyPr>
          <a:lstStyle/>
          <a:p>
            <a:r>
              <a:rPr lang="en-AU" b="1" smtClean="0">
                <a:latin typeface="Helvetica" pitchFamily="34" charset="0"/>
              </a:rPr>
              <a:t>D2.TTA.CL2.01</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0" name="Group 19"/>
          <p:cNvGrpSpPr/>
          <p:nvPr/>
        </p:nvGrpSpPr>
        <p:grpSpPr>
          <a:xfrm>
            <a:off x="712022" y="1956904"/>
            <a:ext cx="5565600" cy="4208400"/>
            <a:chOff x="0" y="0"/>
            <a:chExt cx="7560860" cy="5895832"/>
          </a:xfrm>
        </p:grpSpPr>
        <p:grpSp>
          <p:nvGrpSpPr>
            <p:cNvPr id="21" name="Group 20"/>
            <p:cNvGrpSpPr/>
            <p:nvPr/>
          </p:nvGrpSpPr>
          <p:grpSpPr>
            <a:xfrm>
              <a:off x="5022376" y="0"/>
              <a:ext cx="2538484" cy="5882185"/>
              <a:chOff x="0" y="0"/>
              <a:chExt cx="2538484" cy="5882185"/>
            </a:xfrm>
          </p:grpSpPr>
          <p:pic>
            <p:nvPicPr>
              <p:cNvPr id="28" name="Picture 27"/>
              <p:cNvPicPr>
                <a:picLocks noChangeAspect="1"/>
              </p:cNvPicPr>
              <p:nvPr/>
            </p:nvPicPr>
            <p:blipFill rotWithShape="1">
              <a:blip r:embed="rId3" cstate="print">
                <a:extLst>
                  <a:ext uri="{28A0092B-C50C-407E-A947-70E740481C1C}">
                    <a14:useLocalDpi xmlns:a14="http://schemas.microsoft.com/office/drawing/2010/main" xmlns="" val="0"/>
                  </a:ext>
                </a:extLst>
              </a:blip>
              <a:srcRect t="1805"/>
              <a:stretch/>
            </p:blipFill>
            <p:spPr bwMode="auto">
              <a:xfrm>
                <a:off x="0" y="2142698"/>
                <a:ext cx="2524836" cy="3739487"/>
              </a:xfrm>
              <a:prstGeom prst="rect">
                <a:avLst/>
              </a:prstGeom>
              <a:ln>
                <a:noFill/>
              </a:ln>
              <a:extLst>
                <a:ext uri="{53640926-AAD7-44D8-BBD7-CCE9431645EC}">
                  <a14:shadowObscured xmlns:a14="http://schemas.microsoft.com/office/drawing/2010/main" xmlns=""/>
                </a:ext>
              </a:extLst>
            </p:spPr>
          </p:pic>
          <p:pic>
            <p:nvPicPr>
              <p:cNvPr id="29" name="Picture 28"/>
              <p:cNvPicPr>
                <a:picLocks noChangeAspect="1"/>
              </p:cNvPicPr>
              <p:nvPr/>
            </p:nvPicPr>
            <p:blipFill rotWithShape="1">
              <a:blip r:embed="rId4" cstate="print">
                <a:extLst>
                  <a:ext uri="{28A0092B-C50C-407E-A947-70E740481C1C}">
                    <a14:useLocalDpi xmlns:a14="http://schemas.microsoft.com/office/drawing/2010/main" xmlns="" val="0"/>
                  </a:ext>
                </a:extLst>
              </a:blip>
              <a:srcRect l="26444"/>
              <a:stretch/>
            </p:blipFill>
            <p:spPr bwMode="auto">
              <a:xfrm>
                <a:off x="13648" y="0"/>
                <a:ext cx="2524836" cy="2224585"/>
              </a:xfrm>
              <a:prstGeom prst="rect">
                <a:avLst/>
              </a:prstGeom>
              <a:noFill/>
              <a:ln>
                <a:noFill/>
              </a:ln>
              <a:extLst>
                <a:ext uri="{53640926-AAD7-44D8-BBD7-CCE9431645EC}">
                  <a14:shadowObscured xmlns:a14="http://schemas.microsoft.com/office/drawing/2010/main" xmlns=""/>
                </a:ext>
              </a:extLst>
            </p:spPr>
          </p:pic>
        </p:grpSp>
        <p:grpSp>
          <p:nvGrpSpPr>
            <p:cNvPr id="22" name="Group 21"/>
            <p:cNvGrpSpPr/>
            <p:nvPr/>
          </p:nvGrpSpPr>
          <p:grpSpPr>
            <a:xfrm>
              <a:off x="0" y="0"/>
              <a:ext cx="2696210" cy="5882005"/>
              <a:chOff x="-1" y="-1"/>
              <a:chExt cx="2696712" cy="5882186"/>
            </a:xfrm>
          </p:grpSpPr>
          <p:pic>
            <p:nvPicPr>
              <p:cNvPr id="26" name="Picture 25"/>
              <p:cNvPicPr>
                <a:picLocks noChangeAspect="1"/>
              </p:cNvPicPr>
              <p:nvPr/>
            </p:nvPicPr>
            <p:blipFill rotWithShape="1">
              <a:blip r:embed="rId5" cstate="print">
                <a:extLst>
                  <a:ext uri="{28A0092B-C50C-407E-A947-70E740481C1C}">
                    <a14:useLocalDpi xmlns:a14="http://schemas.microsoft.com/office/drawing/2010/main" xmlns="" val="0"/>
                  </a:ext>
                </a:extLst>
              </a:blip>
              <a:stretch/>
            </p:blipFill>
            <p:spPr bwMode="auto">
              <a:xfrm>
                <a:off x="0" y="2210937"/>
                <a:ext cx="2688609" cy="3671248"/>
              </a:xfrm>
              <a:prstGeom prst="rect">
                <a:avLst/>
              </a:prstGeom>
              <a:noFill/>
              <a:ln>
                <a:noFill/>
              </a:ln>
              <a:extLst>
                <a:ext uri="{53640926-AAD7-44D8-BBD7-CCE9431645EC}">
                  <a14:shadowObscured xmlns:a14="http://schemas.microsoft.com/office/drawing/2010/main" xmlns=""/>
                </a:ext>
              </a:extLst>
            </p:spPr>
          </p:pic>
          <p:pic>
            <p:nvPicPr>
              <p:cNvPr id="27" name="Picture 26"/>
              <p:cNvPicPr>
                <a:picLocks noChangeAspect="1"/>
              </p:cNvPicPr>
              <p:nvPr/>
            </p:nvPicPr>
            <p:blipFill rotWithShape="1">
              <a:blip r:embed="rId6" cstate="print">
                <a:extLst>
                  <a:ext uri="{28A0092B-C50C-407E-A947-70E740481C1C}">
                    <a14:useLocalDpi xmlns:a14="http://schemas.microsoft.com/office/drawing/2010/main" xmlns="" val="0"/>
                  </a:ext>
                </a:extLst>
              </a:blip>
              <a:srcRect l="11848" r="8087"/>
              <a:stretch/>
            </p:blipFill>
            <p:spPr bwMode="auto">
              <a:xfrm>
                <a:off x="-1" y="-1"/>
                <a:ext cx="2696712" cy="2217600"/>
              </a:xfrm>
              <a:prstGeom prst="rect">
                <a:avLst/>
              </a:prstGeom>
              <a:ln>
                <a:noFill/>
              </a:ln>
              <a:extLst>
                <a:ext uri="{53640926-AAD7-44D8-BBD7-CCE9431645EC}">
                  <a14:shadowObscured xmlns:a14="http://schemas.microsoft.com/office/drawing/2010/main" xmlns=""/>
                </a:ext>
              </a:extLst>
            </p:spPr>
          </p:pic>
        </p:grpSp>
        <p:grpSp>
          <p:nvGrpSpPr>
            <p:cNvPr id="23" name="Group 22"/>
            <p:cNvGrpSpPr/>
            <p:nvPr/>
          </p:nvGrpSpPr>
          <p:grpSpPr>
            <a:xfrm>
              <a:off x="2688609" y="0"/>
              <a:ext cx="2456597" cy="5895832"/>
              <a:chOff x="0" y="0"/>
              <a:chExt cx="2456597" cy="5895832"/>
            </a:xfrm>
          </p:grpSpPr>
          <p:pic>
            <p:nvPicPr>
              <p:cNvPr id="24" name="Picture 23"/>
              <p:cNvPicPr>
                <a:picLocks noChangeAspect="1"/>
              </p:cNvPicPr>
              <p:nvPr/>
            </p:nvPicPr>
            <p:blipFill rotWithShape="1">
              <a:blip r:embed="rId7" cstate="print">
                <a:extLst>
                  <a:ext uri="{28A0092B-C50C-407E-A947-70E740481C1C}">
                    <a14:useLocalDpi xmlns:a14="http://schemas.microsoft.com/office/drawing/2010/main" xmlns="" val="0"/>
                  </a:ext>
                </a:extLst>
              </a:blip>
              <a:srcRect l="10270" b="9724"/>
              <a:stretch/>
            </p:blipFill>
            <p:spPr bwMode="auto">
              <a:xfrm>
                <a:off x="0" y="2224585"/>
                <a:ext cx="2456597" cy="3671247"/>
              </a:xfrm>
              <a:prstGeom prst="rect">
                <a:avLst/>
              </a:prstGeom>
              <a:noFill/>
              <a:ln>
                <a:noFill/>
              </a:ln>
              <a:extLst>
                <a:ext uri="{53640926-AAD7-44D8-BBD7-CCE9431645EC}">
                  <a14:shadowObscured xmlns:a14="http://schemas.microsoft.com/office/drawing/2010/main" xmlns=""/>
                </a:ext>
              </a:extLst>
            </p:spPr>
          </p:pic>
          <p:pic>
            <p:nvPicPr>
              <p:cNvPr id="25" name="Picture 24"/>
              <p:cNvPicPr>
                <a:picLocks noChangeAspect="1"/>
              </p:cNvPicPr>
              <p:nvPr/>
            </p:nvPicPr>
            <p:blipFill rotWithShape="1">
              <a:blip r:embed="rId8" cstate="print">
                <a:extLst>
                  <a:ext uri="{28A0092B-C50C-407E-A947-70E740481C1C}">
                    <a14:useLocalDpi xmlns:a14="http://schemas.microsoft.com/office/drawing/2010/main" xmlns="" val="0"/>
                  </a:ext>
                </a:extLst>
              </a:blip>
              <a:srcRect l="519" b="6332"/>
              <a:stretch/>
            </p:blipFill>
            <p:spPr bwMode="auto">
              <a:xfrm>
                <a:off x="0" y="0"/>
                <a:ext cx="2456597" cy="2224585"/>
              </a:xfrm>
              <a:prstGeom prst="rect">
                <a:avLst/>
              </a:prstGeom>
              <a:ln>
                <a:noFill/>
              </a:ln>
              <a:extLst>
                <a:ext uri="{53640926-AAD7-44D8-BBD7-CCE9431645EC}">
                  <a14:shadowObscured xmlns:a14="http://schemas.microsoft.com/office/drawing/2010/main" xmlns=""/>
                </a:ext>
              </a:extLst>
            </p:spPr>
          </p:pic>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1200"/>
              </a:spcAft>
              <a:buNone/>
            </a:pPr>
            <a:r>
              <a:rPr lang="en-AU" sz="2200" dirty="0" smtClean="0">
                <a:latin typeface="Helvetica" pitchFamily="34" charset="0"/>
              </a:rPr>
              <a:t>This unit comprises four Elements:</a:t>
            </a:r>
          </a:p>
          <a:p>
            <a:pPr>
              <a:spcBef>
                <a:spcPts val="600"/>
              </a:spcBef>
              <a:spcAft>
                <a:spcPts val="1200"/>
              </a:spcAft>
            </a:pPr>
            <a:r>
              <a:rPr lang="en-AU" sz="2200" dirty="0" smtClean="0">
                <a:latin typeface="Helvetica" pitchFamily="34" charset="0"/>
              </a:rPr>
              <a:t>Identify and evaluate sources of product information</a:t>
            </a:r>
          </a:p>
          <a:p>
            <a:pPr>
              <a:spcBef>
                <a:spcPts val="600"/>
              </a:spcBef>
              <a:spcAft>
                <a:spcPts val="1200"/>
              </a:spcAft>
            </a:pPr>
            <a:r>
              <a:rPr lang="en-AU" sz="2200" dirty="0" smtClean="0">
                <a:latin typeface="Helvetica" pitchFamily="34" charset="0"/>
              </a:rPr>
              <a:t>Access product information</a:t>
            </a:r>
          </a:p>
          <a:p>
            <a:pPr>
              <a:spcBef>
                <a:spcPts val="600"/>
              </a:spcBef>
              <a:spcAft>
                <a:spcPts val="1200"/>
              </a:spcAft>
            </a:pPr>
            <a:r>
              <a:rPr lang="en-AU" sz="2200" dirty="0" smtClean="0">
                <a:latin typeface="Helvetica" pitchFamily="34" charset="0"/>
              </a:rPr>
              <a:t>Interpret product information</a:t>
            </a:r>
          </a:p>
          <a:p>
            <a:pPr>
              <a:spcBef>
                <a:spcPts val="600"/>
              </a:spcBef>
              <a:spcAft>
                <a:spcPts val="1200"/>
              </a:spcAft>
            </a:pPr>
            <a:r>
              <a:rPr lang="en-AU" sz="2200" dirty="0" smtClean="0">
                <a:latin typeface="Helvetica" pitchFamily="34" charset="0"/>
              </a:rPr>
              <a:t>Provide product information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A5 shutterstock_131103662.jpg"/>
          <p:cNvPicPr>
            <a:picLocks noChangeAspect="1"/>
          </p:cNvPicPr>
          <p:nvPr/>
        </p:nvPicPr>
        <p:blipFill>
          <a:blip r:embed="rId3" cstate="print"/>
          <a:stretch>
            <a:fillRect/>
          </a:stretch>
        </p:blipFill>
        <p:spPr>
          <a:xfrm>
            <a:off x="5652120" y="2492896"/>
            <a:ext cx="2279706" cy="152056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shutterstock_80169094.jpg"/>
          <p:cNvPicPr>
            <a:picLocks noChangeAspect="1"/>
          </p:cNvPicPr>
          <p:nvPr/>
        </p:nvPicPr>
        <p:blipFill>
          <a:blip r:embed="rId3" cstate="print"/>
          <a:stretch>
            <a:fillRect/>
          </a:stretch>
        </p:blipFill>
        <p:spPr>
          <a:xfrm>
            <a:off x="5940152" y="1916832"/>
            <a:ext cx="2095504" cy="140189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1:</a:t>
            </a:r>
          </a:p>
          <a:p>
            <a:pPr marL="0" indent="0">
              <a:spcBef>
                <a:spcPts val="600"/>
              </a:spcBef>
              <a:spcAft>
                <a:spcPts val="1200"/>
              </a:spcAft>
              <a:buNone/>
            </a:pPr>
            <a:r>
              <a:rPr lang="en-AU" sz="4000" dirty="0" smtClean="0">
                <a:solidFill>
                  <a:srgbClr val="FF6600"/>
                </a:solidFill>
                <a:latin typeface="Helvetica" pitchFamily="34" charset="0"/>
              </a:rPr>
              <a:t>Identify and evaluate sources of product information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Asia globe_100704052.jpg"/>
          <p:cNvPicPr>
            <a:picLocks noChangeAspect="1"/>
          </p:cNvPicPr>
          <p:nvPr/>
        </p:nvPicPr>
        <p:blipFill>
          <a:blip r:embed="rId3" cstate="print"/>
          <a:stretch>
            <a:fillRect/>
          </a:stretch>
        </p:blipFill>
        <p:spPr>
          <a:xfrm>
            <a:off x="3347864" y="3933056"/>
            <a:ext cx="2497081" cy="1663056"/>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Identify and evaluate sources of product information</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List potential sources</a:t>
            </a:r>
            <a:r>
              <a:rPr lang="en-AU" sz="2200" b="1" dirty="0" smtClean="0">
                <a:latin typeface="Helvetica" pitchFamily="34" charset="0"/>
              </a:rPr>
              <a:t> </a:t>
            </a:r>
            <a:r>
              <a:rPr lang="en-AU" sz="2200" dirty="0" smtClean="0">
                <a:latin typeface="Helvetica" pitchFamily="34" charset="0"/>
              </a:rPr>
              <a:t>of product information</a:t>
            </a:r>
          </a:p>
          <a:p>
            <a:pPr>
              <a:spcBef>
                <a:spcPts val="600"/>
              </a:spcBef>
              <a:spcAft>
                <a:spcPts val="1200"/>
              </a:spcAft>
            </a:pPr>
            <a:r>
              <a:rPr lang="en-AU" sz="2200" dirty="0" smtClean="0">
                <a:latin typeface="Helvetica" pitchFamily="34" charset="0"/>
              </a:rPr>
              <a:t>Determine usefulness of product information sources</a:t>
            </a:r>
          </a:p>
          <a:p>
            <a:pPr>
              <a:spcBef>
                <a:spcPts val="600"/>
              </a:spcBef>
              <a:spcAft>
                <a:spcPts val="1200"/>
              </a:spcAft>
            </a:pPr>
            <a:r>
              <a:rPr lang="en-AU" sz="2200" dirty="0" smtClean="0">
                <a:latin typeface="Helvetica" pitchFamily="34" charset="0"/>
              </a:rPr>
              <a:t>Identify items that may contain product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Lady_plan_world_train_96530158.jpg"/>
          <p:cNvPicPr>
            <a:picLocks noChangeAspect="1"/>
          </p:cNvPicPr>
          <p:nvPr/>
        </p:nvPicPr>
        <p:blipFill>
          <a:blip r:embed="rId3" cstate="print"/>
          <a:stretch>
            <a:fillRect/>
          </a:stretch>
        </p:blipFill>
        <p:spPr>
          <a:xfrm>
            <a:off x="3059832" y="4149080"/>
            <a:ext cx="2279706" cy="1520564"/>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Role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tourism industry is one of the largest industries in the world and for many countries is its major economy and employer. </a:t>
            </a:r>
          </a:p>
          <a:p>
            <a:pPr marL="0">
              <a:spcBef>
                <a:spcPts val="600"/>
              </a:spcBef>
              <a:spcAft>
                <a:spcPts val="1200"/>
              </a:spcAft>
              <a:buNone/>
            </a:pPr>
            <a:r>
              <a:rPr lang="en-AU" sz="2200" dirty="0" smtClean="0">
                <a:latin typeface="Helvetica" pitchFamily="34" charset="0"/>
              </a:rPr>
              <a:t>Industry knowledge is a vital pre-requisite for effective performance within the industry.</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descr="Asian girl with world on hand_34766518.jpg"/>
          <p:cNvPicPr>
            <a:picLocks noChangeAspect="1"/>
          </p:cNvPicPr>
          <p:nvPr/>
        </p:nvPicPr>
        <p:blipFill>
          <a:blip r:embed="rId3" cstate="print"/>
          <a:stretch>
            <a:fillRect/>
          </a:stretch>
        </p:blipFill>
        <p:spPr>
          <a:xfrm>
            <a:off x="3707904" y="3933056"/>
            <a:ext cx="1304540" cy="195583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Role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idea of obtaining knowledge is so that you can use it for: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Your benefit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benefit of the venue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ultimate benefit of the customers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7" name="Picture 6" descr="shutterstock_181388396.jpg"/>
          <p:cNvPicPr>
            <a:picLocks noChangeAspect="1"/>
          </p:cNvPicPr>
          <p:nvPr/>
        </p:nvPicPr>
        <p:blipFill>
          <a:blip r:embed="rId3" cstate="print"/>
          <a:stretch>
            <a:fillRect/>
          </a:stretch>
        </p:blipFill>
        <p:spPr>
          <a:xfrm>
            <a:off x="6156176" y="2564904"/>
            <a:ext cx="1921122" cy="1283309"/>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776864" cy="5301208"/>
          </a:xfrm>
        </p:spPr>
        <p:txBody>
          <a:bodyPr>
            <a:normAutofit/>
          </a:bodyPr>
          <a:lstStyle/>
          <a:p>
            <a:pPr>
              <a:spcBef>
                <a:spcPts val="600"/>
              </a:spcBef>
              <a:spcAft>
                <a:spcPts val="900"/>
              </a:spcAft>
              <a:buNone/>
            </a:pPr>
            <a:r>
              <a:rPr lang="en-US" sz="2200" b="1" dirty="0" smtClean="0">
                <a:latin typeface="Helvetica" pitchFamily="34" charset="0"/>
              </a:rPr>
              <a:t>Identify </a:t>
            </a:r>
            <a:r>
              <a:rPr lang="en-AU" sz="2200" b="1" dirty="0" smtClean="0">
                <a:latin typeface="Helvetica" pitchFamily="34" charset="0"/>
              </a:rPr>
              <a:t>potential sources of information</a:t>
            </a:r>
          </a:p>
          <a:p>
            <a:pPr marL="0">
              <a:spcBef>
                <a:spcPts val="600"/>
              </a:spcBef>
              <a:spcAft>
                <a:spcPts val="900"/>
              </a:spcAft>
              <a:buNone/>
            </a:pPr>
            <a:r>
              <a:rPr lang="en-AU" sz="2200" dirty="0" smtClean="0">
                <a:latin typeface="Helvetica" pitchFamily="34" charset="0"/>
              </a:rPr>
              <a:t>There are endless sources of information that can be collected, analysed and used by a travel and tourism organisation for the benefit of the organisation itself or to assist customers with potential travel plans.</a:t>
            </a:r>
            <a:endParaRPr lang="en-US" sz="2200" dirty="0" smtClean="0">
              <a:latin typeface="Helvetica" pitchFamily="34" charset="0"/>
            </a:endParaRPr>
          </a:p>
          <a:p>
            <a:pPr>
              <a:spcBef>
                <a:spcPts val="600"/>
              </a:spcBef>
              <a:spcAft>
                <a:spcPts val="900"/>
              </a:spcAft>
              <a:buNone/>
            </a:pPr>
            <a:r>
              <a:rPr lang="en-AU" sz="2200" dirty="0" smtClean="0">
                <a:latin typeface="Helvetica" pitchFamily="34" charset="0"/>
              </a:rPr>
              <a:t>This section will explore:</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Common types of products and services                                   in the tourism industry</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Sources of product and services                                    information</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Identify types of product and services                             information</a:t>
            </a:r>
          </a:p>
          <a:p>
            <a:pPr>
              <a:spcBef>
                <a:spcPts val="600"/>
              </a:spcBef>
              <a:spcAft>
                <a:spcPts val="900"/>
              </a:spcAft>
              <a:buNone/>
            </a:pPr>
            <a:endParaRPr lang="en-AU" sz="2400" dirty="0" smtClean="0"/>
          </a:p>
          <a:p>
            <a:pPr>
              <a:spcBef>
                <a:spcPts val="600"/>
              </a:spcBef>
              <a:spcAft>
                <a:spcPts val="9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7" name="Picture 6" descr="A18 shutterstock_181389116.jpg"/>
          <p:cNvPicPr/>
          <p:nvPr/>
        </p:nvPicPr>
        <p:blipFill>
          <a:blip r:embed="rId3" cstate="print"/>
          <a:stretch>
            <a:fillRect/>
          </a:stretch>
        </p:blipFill>
        <p:spPr>
          <a:xfrm>
            <a:off x="6876256" y="3356992"/>
            <a:ext cx="1427981" cy="1813173"/>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Identify travel and tourism businesses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When compiling product information for your 'product knowledge' data bases, it is essential to identify the different types of businesses in which your potential customers may use.</a:t>
            </a:r>
          </a:p>
          <a:p>
            <a:pPr>
              <a:spcBef>
                <a:spcPts val="600"/>
              </a:spcBef>
              <a:spcAft>
                <a:spcPts val="1200"/>
              </a:spcAft>
            </a:pPr>
            <a:r>
              <a:rPr lang="en-AU" sz="2200" dirty="0" smtClean="0">
                <a:latin typeface="Helvetica" pitchFamily="34" charset="0"/>
              </a:rPr>
              <a:t>What types of businesses do you seek product information from?</a:t>
            </a:r>
            <a:endParaRPr lang="en-US" sz="2200" dirty="0" smtClean="0">
              <a:latin typeface="Helvetica" pitchFamily="34" charset="0"/>
            </a:endParaRPr>
          </a:p>
          <a:p>
            <a:pPr>
              <a:buNone/>
            </a:pPr>
            <a:r>
              <a:rPr lang="en-AU" sz="2400" dirty="0" smtClean="0"/>
              <a:t/>
            </a:r>
            <a:br>
              <a:rPr lang="en-AU" sz="2400" dirty="0" smtClean="0"/>
            </a:br>
            <a:r>
              <a:rPr lang="en-AU" sz="2400" b="1" dirty="0" smtClean="0"/>
              <a:t> </a:t>
            </a:r>
            <a:endParaRPr lang="en-AU" sz="2400" dirty="0" smtClean="0"/>
          </a:p>
          <a:p>
            <a:pPr>
              <a:spcBef>
                <a:spcPts val="600"/>
              </a:spcBef>
              <a:spcAft>
                <a:spcPts val="1200"/>
              </a:spcAft>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6" name="Picture 5" descr="Lady_plan_world_train_96530158.jpg"/>
          <p:cNvPicPr/>
          <p:nvPr/>
        </p:nvPicPr>
        <p:blipFill>
          <a:blip r:embed="rId3" cstate="print"/>
          <a:stretch>
            <a:fillRect/>
          </a:stretch>
        </p:blipFill>
        <p:spPr>
          <a:xfrm>
            <a:off x="3347864" y="4725144"/>
            <a:ext cx="2176507" cy="1618283"/>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Summary of travel and tourism businesses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Air – air travel and associated taxes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Land – anything that is not air travel or a cruise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Sea – cruises, ferries etc</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Auxiliary – any product or service that                                   supports the travel experience</a:t>
            </a:r>
            <a:endParaRPr lang="en-US" sz="2200" dirty="0" smtClean="0">
              <a:latin typeface="Helvetica" pitchFamily="34" charset="0"/>
            </a:endParaRPr>
          </a:p>
          <a:p>
            <a:pPr>
              <a:buNone/>
            </a:pPr>
            <a:r>
              <a:rPr lang="en-AU" sz="2400" dirty="0" smtClean="0"/>
              <a:t/>
            </a:r>
            <a:br>
              <a:rPr lang="en-AU" sz="2400" dirty="0" smtClean="0"/>
            </a:br>
            <a:r>
              <a:rPr lang="en-AU" sz="2400" b="1" dirty="0" smtClean="0"/>
              <a:t> </a:t>
            </a:r>
            <a:endParaRPr lang="en-AU" sz="2400" dirty="0" smtClean="0"/>
          </a:p>
          <a:p>
            <a:pPr>
              <a:spcBef>
                <a:spcPts val="600"/>
              </a:spcBef>
              <a:spcAft>
                <a:spcPts val="1200"/>
              </a:spcAft>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7" name="Picture 6" descr="Globe Lugg Plan Boat Bus in yellow colour_85552621.jpg"/>
          <p:cNvPicPr>
            <a:picLocks noChangeAspect="1"/>
          </p:cNvPicPr>
          <p:nvPr/>
        </p:nvPicPr>
        <p:blipFill>
          <a:blip r:embed="rId3" cstate="print"/>
          <a:stretch>
            <a:fillRect/>
          </a:stretch>
        </p:blipFill>
        <p:spPr>
          <a:xfrm>
            <a:off x="6372200" y="3429000"/>
            <a:ext cx="2004053" cy="150304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lnSpcReduction="10000"/>
          </a:bodyPr>
          <a:lstStyle/>
          <a:p>
            <a:pPr>
              <a:spcBef>
                <a:spcPts val="600"/>
              </a:spcBef>
              <a:spcAft>
                <a:spcPts val="1200"/>
              </a:spcAft>
              <a:buNone/>
            </a:pPr>
            <a:r>
              <a:rPr lang="en-US" sz="2200" b="1" dirty="0" smtClean="0">
                <a:latin typeface="Helvetica" pitchFamily="34" charset="0"/>
              </a:rPr>
              <a:t>Transportation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Airlines</a:t>
            </a:r>
          </a:p>
          <a:p>
            <a:pPr lvl="0">
              <a:spcBef>
                <a:spcPts val="600"/>
              </a:spcBef>
              <a:spcAft>
                <a:spcPts val="1200"/>
              </a:spcAft>
            </a:pPr>
            <a:r>
              <a:rPr lang="en-AU" sz="2200" dirty="0" smtClean="0">
                <a:latin typeface="Helvetica" pitchFamily="34" charset="0"/>
              </a:rPr>
              <a:t>Cruise operators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Railway operators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 lines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Car rental businesses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Limousine hire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Taxis</a:t>
            </a:r>
            <a:endParaRPr lang="en-US" sz="2200" dirty="0" smtClean="0">
              <a:latin typeface="Helvetica" pitchFamily="34" charset="0"/>
            </a:endParaRPr>
          </a:p>
          <a:p>
            <a:pPr>
              <a:buNone/>
            </a:pPr>
            <a:r>
              <a:rPr lang="en-AU" sz="2400" dirty="0" smtClean="0"/>
              <a:t/>
            </a:r>
            <a:br>
              <a:rPr lang="en-AU" sz="2400" dirty="0" smtClean="0"/>
            </a:br>
            <a:r>
              <a:rPr lang="en-AU" sz="2400" b="1" dirty="0" smtClean="0"/>
              <a:t> </a:t>
            </a:r>
            <a:endParaRPr lang="en-AU" sz="2400" dirty="0" smtClean="0"/>
          </a:p>
          <a:p>
            <a:pPr>
              <a:spcBef>
                <a:spcPts val="600"/>
              </a:spcBef>
              <a:spcAft>
                <a:spcPts val="1200"/>
              </a:spcAft>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7" name="Picture 6" descr="Globe Lugg Plan Boat Bus in red pink colour_85552621.jpg"/>
          <p:cNvPicPr/>
          <p:nvPr/>
        </p:nvPicPr>
        <p:blipFill>
          <a:blip r:embed="rId3" cstate="print"/>
          <a:stretch>
            <a:fillRect/>
          </a:stretch>
        </p:blipFill>
        <p:spPr>
          <a:xfrm>
            <a:off x="5724128" y="2924944"/>
            <a:ext cx="2253977" cy="136892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marL="0">
              <a:spcBef>
                <a:spcPts val="600"/>
              </a:spcBef>
              <a:spcAft>
                <a:spcPts val="1200"/>
              </a:spcAft>
              <a:buNone/>
            </a:pPr>
            <a:r>
              <a:rPr lang="en-AU" sz="2200" b="1" dirty="0" smtClean="0">
                <a:latin typeface="Helvetica" pitchFamily="34" charset="0"/>
              </a:rPr>
              <a:t>Suppliers and providers of support and ancillary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Travel insurance providers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Finance providers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Currency exchange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Conference and similar venues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Interpreters</a:t>
            </a:r>
            <a:endParaRPr lang="en-US" sz="2200" dirty="0" smtClean="0">
              <a:latin typeface="Helvetica" pitchFamily="34" charset="0"/>
            </a:endParaRPr>
          </a:p>
          <a:p>
            <a:pPr>
              <a:buNone/>
            </a:pPr>
            <a:r>
              <a:rPr lang="en-AU" sz="2400" dirty="0" smtClean="0"/>
              <a:t/>
            </a:r>
            <a:br>
              <a:rPr lang="en-AU" sz="2400" dirty="0" smtClean="0"/>
            </a:br>
            <a:r>
              <a:rPr lang="en-AU" sz="2400" b="1" dirty="0" smtClean="0"/>
              <a:t> </a:t>
            </a:r>
            <a:endParaRPr lang="en-AU" sz="2400" dirty="0" smtClean="0"/>
          </a:p>
          <a:p>
            <a:pPr>
              <a:spcBef>
                <a:spcPts val="600"/>
              </a:spcBef>
              <a:spcAft>
                <a:spcPts val="1200"/>
              </a:spcAft>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6" name="Picture 5" descr="shutterstock_156185711.jpg"/>
          <p:cNvPicPr/>
          <p:nvPr/>
        </p:nvPicPr>
        <p:blipFill>
          <a:blip r:embed="rId3" cstate="print"/>
          <a:stretch>
            <a:fillRect/>
          </a:stretch>
        </p:blipFill>
        <p:spPr>
          <a:xfrm>
            <a:off x="5940152" y="3140968"/>
            <a:ext cx="2089398" cy="124891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Accommodation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Hotels and motels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Guest houses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Bed and breakfasts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Caravan parks and camping grounds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Resorts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Time share properties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Apartments, villas and cottages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Conference and exhibition centres</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7" name="Picture 6" descr="shutterstock_41664772.jpg"/>
          <p:cNvPicPr/>
          <p:nvPr/>
        </p:nvPicPr>
        <p:blipFill>
          <a:blip r:embed="rId3" cstate="print"/>
          <a:stretch>
            <a:fillRect/>
          </a:stretch>
        </p:blipFill>
        <p:spPr>
          <a:xfrm>
            <a:off x="6156176" y="2420888"/>
            <a:ext cx="1959352" cy="1258441"/>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Attractions and Theme Parks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Museums and galleries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National parks, wildlife parks and gardens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Theme parks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Heritage sites and centres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Sport and activity centres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Aquarium and zoos</a:t>
            </a:r>
            <a:endParaRPr lang="en-US"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 name="Picture 5" descr="IMG_1808.jpg"/>
          <p:cNvPicPr/>
          <p:nvPr/>
        </p:nvPicPr>
        <p:blipFill>
          <a:blip r:embed="rId3" cstate="print"/>
          <a:stretch>
            <a:fillRect/>
          </a:stretch>
        </p:blipFill>
        <p:spPr>
          <a:xfrm>
            <a:off x="6804248" y="3212976"/>
            <a:ext cx="1333500" cy="178117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Tour Operators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tour operator typically organises sightseeing tours and accommodation in a particular destination or region</a:t>
            </a:r>
          </a:p>
          <a:p>
            <a:pPr>
              <a:spcBef>
                <a:spcPts val="600"/>
              </a:spcBef>
              <a:spcAft>
                <a:spcPts val="1200"/>
              </a:spcAft>
            </a:pPr>
            <a:r>
              <a:rPr lang="en-AU" sz="2200" dirty="0" smtClean="0">
                <a:latin typeface="Helvetica" pitchFamily="34" charset="0"/>
              </a:rPr>
              <a:t>They act as a middle person between the Wholesaler and the Principal or Supplier of the product</a:t>
            </a:r>
            <a:endParaRPr lang="en-US"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7" name="Picture 6" descr="IMG_2370.jpg"/>
          <p:cNvPicPr/>
          <p:nvPr/>
        </p:nvPicPr>
        <p:blipFill>
          <a:blip r:embed="rId3" cstate="print"/>
          <a:stretch>
            <a:fillRect/>
          </a:stretch>
        </p:blipFill>
        <p:spPr>
          <a:xfrm>
            <a:off x="3779912" y="4365104"/>
            <a:ext cx="1821175" cy="1239391"/>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Inbound Tour Wholesaler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An Inbound Tour Wholesaler packages products to form a trip for an overseas market travelling to a specific country</a:t>
            </a:r>
            <a:endParaRPr lang="en-US" sz="2200" dirty="0" smtClean="0">
              <a:latin typeface="Helvetica" pitchFamily="34" charset="0"/>
            </a:endParaRPr>
          </a:p>
          <a:p>
            <a:pPr>
              <a:spcBef>
                <a:spcPts val="600"/>
              </a:spcBef>
              <a:spcAft>
                <a:spcPts val="1200"/>
              </a:spcAft>
              <a:buNone/>
            </a:pPr>
            <a:r>
              <a:rPr lang="en-AU" sz="2200" b="1" dirty="0" smtClean="0">
                <a:latin typeface="Helvetica" pitchFamily="34" charset="0"/>
              </a:rPr>
              <a:t>Outbound Tour Wholesaler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An Outbound Tour Wholesaler negotiates product from International Suppliers for clients in a specific travelling to an international destination</a:t>
            </a:r>
            <a:endParaRPr lang="en-US"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6" name="Picture 5" descr="shutterstock_27777832.jpg"/>
          <p:cNvPicPr/>
          <p:nvPr/>
        </p:nvPicPr>
        <p:blipFill>
          <a:blip r:embed="rId3" cstate="print"/>
          <a:stretch>
            <a:fillRect/>
          </a:stretch>
        </p:blipFill>
        <p:spPr>
          <a:xfrm>
            <a:off x="3995936" y="4941168"/>
            <a:ext cx="1162050" cy="157162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Retail Travel Agents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Retail Travel agent is the go-between between the client and the Wholesaler</a:t>
            </a:r>
          </a:p>
          <a:p>
            <a:pPr>
              <a:spcBef>
                <a:spcPts val="600"/>
              </a:spcBef>
              <a:spcAft>
                <a:spcPts val="1200"/>
              </a:spcAft>
            </a:pPr>
            <a:r>
              <a:rPr lang="en-AU" sz="2200" dirty="0" smtClean="0">
                <a:latin typeface="Helvetica" pitchFamily="34" charset="0"/>
              </a:rPr>
              <a:t>It is the Retail agent who obtains all the relevant details from a client to enable them to make a booking through a Wholesaler</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7" name="Picture 6" descr="shutterstock_140073586.jpg"/>
          <p:cNvPicPr/>
          <p:nvPr/>
        </p:nvPicPr>
        <p:blipFill>
          <a:blip r:embed="rId3" cstate="print"/>
          <a:stretch>
            <a:fillRect/>
          </a:stretch>
        </p:blipFill>
        <p:spPr>
          <a:xfrm>
            <a:off x="3923928" y="4437112"/>
            <a:ext cx="1828800" cy="12192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Local, regional and national information services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These information services exist to assist the public and Travel agents in obtaining information on a particular region from the experts</a:t>
            </a:r>
          </a:p>
          <a:p>
            <a:pPr>
              <a:spcBef>
                <a:spcPts val="600"/>
              </a:spcBef>
              <a:spcAft>
                <a:spcPts val="1200"/>
              </a:spcAft>
            </a:pPr>
            <a:r>
              <a:rPr lang="en-AU" sz="2200" dirty="0" smtClean="0">
                <a:latin typeface="Helvetica" pitchFamily="34" charset="0"/>
              </a:rPr>
              <a:t>This can be at a local, regional or national level</a:t>
            </a: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6" name="Picture 5" descr="W258_info_shutterstock_156516218.jpg"/>
          <p:cNvPicPr/>
          <p:nvPr/>
        </p:nvPicPr>
        <p:blipFill>
          <a:blip r:embed="rId3" cstate="print"/>
          <a:stretch>
            <a:fillRect/>
          </a:stretch>
        </p:blipFill>
        <p:spPr>
          <a:xfrm>
            <a:off x="3851920" y="4365104"/>
            <a:ext cx="1438275" cy="143827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MICE</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Meetings</a:t>
            </a:r>
          </a:p>
          <a:p>
            <a:pPr>
              <a:spcBef>
                <a:spcPts val="600"/>
              </a:spcBef>
              <a:spcAft>
                <a:spcPts val="1200"/>
              </a:spcAft>
            </a:pPr>
            <a:r>
              <a:rPr lang="en-US" sz="2200" dirty="0" smtClean="0">
                <a:latin typeface="Helvetica" pitchFamily="34" charset="0"/>
              </a:rPr>
              <a:t>Incentives</a:t>
            </a:r>
          </a:p>
          <a:p>
            <a:pPr>
              <a:spcBef>
                <a:spcPts val="600"/>
              </a:spcBef>
              <a:spcAft>
                <a:spcPts val="1200"/>
              </a:spcAft>
            </a:pPr>
            <a:r>
              <a:rPr lang="en-US" sz="2200" dirty="0" smtClean="0">
                <a:latin typeface="Helvetica" pitchFamily="34" charset="0"/>
              </a:rPr>
              <a:t>Conventions</a:t>
            </a:r>
          </a:p>
          <a:p>
            <a:pPr>
              <a:spcBef>
                <a:spcPts val="600"/>
              </a:spcBef>
              <a:spcAft>
                <a:spcPts val="1200"/>
              </a:spcAft>
            </a:pPr>
            <a:r>
              <a:rPr lang="en-US" sz="2200" dirty="0" smtClean="0">
                <a:latin typeface="Helvetica" pitchFamily="34" charset="0"/>
              </a:rPr>
              <a:t>Exhibitions</a:t>
            </a:r>
          </a:p>
          <a:p>
            <a:pPr>
              <a:spcBef>
                <a:spcPts val="600"/>
              </a:spcBef>
              <a:spcAft>
                <a:spcPts val="1200"/>
              </a:spcAft>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7" name="Picture 6" descr="967.jpg"/>
          <p:cNvPicPr/>
          <p:nvPr/>
        </p:nvPicPr>
        <p:blipFill>
          <a:blip r:embed="rId3" cstate="print"/>
          <a:stretch>
            <a:fillRect/>
          </a:stretch>
        </p:blipFill>
        <p:spPr>
          <a:xfrm>
            <a:off x="5004048" y="2420888"/>
            <a:ext cx="2621652" cy="1519039"/>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Ministries of Tourism </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Each country within the ASEAN region will have dedicated government ministry specifically focused on the tourism industry</a:t>
            </a:r>
          </a:p>
          <a:p>
            <a:pPr>
              <a:spcBef>
                <a:spcPts val="600"/>
              </a:spcBef>
              <a:spcAft>
                <a:spcPts val="1200"/>
              </a:spcAft>
            </a:pPr>
            <a:r>
              <a:rPr lang="en-AU" sz="2200" dirty="0" smtClean="0">
                <a:latin typeface="Helvetica" pitchFamily="34" charset="0"/>
              </a:rPr>
              <a:t>Their role is to regulate and manage the industry</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6" name="Picture 5" descr="shutterstock_136286858.jpg"/>
          <p:cNvPicPr/>
          <p:nvPr/>
        </p:nvPicPr>
        <p:blipFill>
          <a:blip r:embed="rId3" cstate="print"/>
          <a:stretch>
            <a:fillRect/>
          </a:stretch>
        </p:blipFill>
        <p:spPr>
          <a:xfrm>
            <a:off x="3563888" y="4365104"/>
            <a:ext cx="2090797" cy="134416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Tourism Boards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Coordinate the efforts of hotels, airlines and travel agents to develop the tourism industry of the country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Initiate new marketing ideas to promote image aboard</a:t>
            </a:r>
          </a:p>
          <a:p>
            <a:pPr>
              <a:spcBef>
                <a:spcPts val="600"/>
              </a:spcBef>
              <a:spcAft>
                <a:spcPts val="1200"/>
              </a:spcAft>
            </a:pPr>
            <a:r>
              <a:rPr lang="en-AU" sz="2200" dirty="0" smtClean="0">
                <a:latin typeface="Helvetica" pitchFamily="34" charset="0"/>
              </a:rPr>
              <a:t>Provide travel agent licensing and tourist guide training</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Promote the development of infrastructure and tourist attractions </a:t>
            </a:r>
          </a:p>
          <a:p>
            <a:pPr>
              <a:spcBef>
                <a:spcPts val="600"/>
              </a:spcBef>
              <a:spcAft>
                <a:spcPts val="1200"/>
              </a:spcAft>
            </a:pPr>
            <a:r>
              <a:rPr lang="en-AU" sz="2200" dirty="0" smtClean="0">
                <a:latin typeface="Helvetica" pitchFamily="34" charset="0"/>
              </a:rPr>
              <a:t>Organise events to attract visitors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7" name="Picture 6" descr="shutterstock_117103420.jpg"/>
          <p:cNvPicPr/>
          <p:nvPr/>
        </p:nvPicPr>
        <p:blipFill>
          <a:blip r:embed="rId3" cstate="print"/>
          <a:stretch>
            <a:fillRect/>
          </a:stretch>
        </p:blipFill>
        <p:spPr>
          <a:xfrm>
            <a:off x="6516216" y="4869160"/>
            <a:ext cx="2000250" cy="13335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Industry Authorities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Authorities are established, either by a government or working closely with government to provide services relating to the tourism industry</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6" name="Picture 5" descr="shutterstock_174310112.jpg"/>
          <p:cNvPicPr>
            <a:picLocks noChangeAspect="1"/>
          </p:cNvPicPr>
          <p:nvPr/>
        </p:nvPicPr>
        <p:blipFill>
          <a:blip r:embed="rId3" cstate="print"/>
          <a:stretch>
            <a:fillRect/>
          </a:stretch>
        </p:blipFill>
        <p:spPr>
          <a:xfrm>
            <a:off x="3203848" y="3717032"/>
            <a:ext cx="2390262" cy="1589524"/>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Travel and tourism businesses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Industry Associations</a:t>
            </a:r>
            <a:endParaRPr lang="en-US" sz="2200" b="1" dirty="0" smtClean="0">
              <a:latin typeface="Helvetica" pitchFamily="34" charset="0"/>
            </a:endParaRPr>
          </a:p>
          <a:p>
            <a:pPr marL="0">
              <a:spcBef>
                <a:spcPts val="600"/>
              </a:spcBef>
              <a:spcAft>
                <a:spcPts val="1200"/>
              </a:spcAft>
              <a:buNone/>
            </a:pPr>
            <a:r>
              <a:rPr lang="en-US" sz="2200" dirty="0" smtClean="0">
                <a:latin typeface="Helvetica" pitchFamily="34" charset="0"/>
              </a:rPr>
              <a:t>Industry associations are bodies that all businesses can elect to join that serve specific and over-arching industry sectors. </a:t>
            </a:r>
          </a:p>
          <a:p>
            <a:pPr lvl="0">
              <a:spcBef>
                <a:spcPts val="600"/>
              </a:spcBef>
              <a:spcAft>
                <a:spcPts val="1200"/>
              </a:spcAft>
            </a:pPr>
            <a:r>
              <a:rPr lang="en-US" sz="2200" dirty="0" smtClean="0">
                <a:latin typeface="Helvetica" pitchFamily="34" charset="0"/>
              </a:rPr>
              <a:t>Representing the industry</a:t>
            </a:r>
          </a:p>
          <a:p>
            <a:pPr lvl="0">
              <a:spcBef>
                <a:spcPts val="600"/>
              </a:spcBef>
              <a:spcAft>
                <a:spcPts val="1200"/>
              </a:spcAft>
            </a:pPr>
            <a:r>
              <a:rPr lang="en-US" sz="2200" dirty="0" smtClean="0">
                <a:latin typeface="Helvetica" pitchFamily="34" charset="0"/>
              </a:rPr>
              <a:t>Offer legal advice</a:t>
            </a:r>
          </a:p>
          <a:p>
            <a:pPr lvl="0">
              <a:spcBef>
                <a:spcPts val="600"/>
              </a:spcBef>
              <a:spcAft>
                <a:spcPts val="1200"/>
              </a:spcAft>
            </a:pPr>
            <a:r>
              <a:rPr lang="en-US" sz="2200" dirty="0" smtClean="0">
                <a:latin typeface="Helvetica" pitchFamily="34" charset="0"/>
              </a:rPr>
              <a:t>Provide training </a:t>
            </a:r>
          </a:p>
          <a:p>
            <a:pPr lvl="0">
              <a:spcBef>
                <a:spcPts val="600"/>
              </a:spcBef>
              <a:spcAft>
                <a:spcPts val="1200"/>
              </a:spcAft>
            </a:pPr>
            <a:r>
              <a:rPr lang="en-US" sz="2200" dirty="0" smtClean="0">
                <a:latin typeface="Helvetica" pitchFamily="34" charset="0"/>
              </a:rPr>
              <a:t>Identify c</a:t>
            </a:r>
            <a:r>
              <a:rPr lang="en-AU" sz="2200" dirty="0" smtClean="0">
                <a:latin typeface="Helvetica" pitchFamily="34" charset="0"/>
              </a:rPr>
              <a:t>ost savings </a:t>
            </a:r>
          </a:p>
          <a:p>
            <a:pPr>
              <a:spcBef>
                <a:spcPts val="600"/>
              </a:spcBef>
              <a:spcAft>
                <a:spcPts val="1200"/>
              </a:spcAft>
              <a:buNone/>
            </a:pPr>
            <a:endParaRPr lang="en-AU" sz="2200" dirty="0" smtClean="0">
              <a:solidFill>
                <a:srgbClr val="FF6600"/>
              </a:solidFill>
            </a:endParaRPr>
          </a:p>
          <a:p>
            <a:pPr>
              <a:spcBef>
                <a:spcPts val="600"/>
              </a:spcBef>
              <a:spcAft>
                <a:spcPts val="1200"/>
              </a:spcAft>
              <a:buNone/>
            </a:pPr>
            <a:r>
              <a:rPr lang="en-AU" sz="2200" dirty="0" smtClean="0">
                <a:solidFill>
                  <a:srgbClr val="FF6600"/>
                </a:solidFill>
              </a:rPr>
              <a:t>COMPLETE ACTIVITY 1</a:t>
            </a: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7" name="Picture 6" descr="A5 shutterstock_131103662.jpg"/>
          <p:cNvPicPr/>
          <p:nvPr/>
        </p:nvPicPr>
        <p:blipFill>
          <a:blip r:embed="rId3" cstate="print"/>
          <a:stretch>
            <a:fillRect/>
          </a:stretch>
        </p:blipFill>
        <p:spPr>
          <a:xfrm>
            <a:off x="6228184" y="3501008"/>
            <a:ext cx="1828800" cy="121920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Identify product information to gather</a:t>
            </a:r>
          </a:p>
          <a:p>
            <a:pPr marL="0">
              <a:spcBef>
                <a:spcPts val="600"/>
              </a:spcBef>
              <a:spcAft>
                <a:spcPts val="1200"/>
              </a:spcAft>
              <a:buNone/>
            </a:pPr>
            <a:r>
              <a:rPr lang="en-AU" sz="2200" dirty="0" smtClean="0">
                <a:latin typeface="Helvetica" pitchFamily="34" charset="0"/>
              </a:rPr>
              <a:t>Before seeking information from each of these types of businesses it is important to identify the types of information that you require from each to help you advise your clients in their future travel needs.</a:t>
            </a:r>
          </a:p>
          <a:p>
            <a:pPr>
              <a:spcBef>
                <a:spcPts val="600"/>
              </a:spcBef>
              <a:spcAft>
                <a:spcPts val="1200"/>
              </a:spcAft>
            </a:pPr>
            <a:r>
              <a:rPr lang="en-AU" sz="2200" dirty="0" smtClean="0">
                <a:latin typeface="Helvetica" pitchFamily="34" charset="0"/>
              </a:rPr>
              <a:t>What types of product information do you want to gather?</a:t>
            </a: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8" name="Picture 7" descr="shutterstock_148377275.jpg"/>
          <p:cNvPicPr>
            <a:picLocks noChangeAspect="1"/>
          </p:cNvPicPr>
          <p:nvPr/>
        </p:nvPicPr>
        <p:blipFill>
          <a:blip r:embed="rId3" cstate="print"/>
          <a:stretch>
            <a:fillRect/>
          </a:stretch>
        </p:blipFill>
        <p:spPr>
          <a:xfrm>
            <a:off x="3347864" y="4653136"/>
            <a:ext cx="1955832" cy="130454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Destination information</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General destination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Statistical information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Currency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Maps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Travel guides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Events</a:t>
            </a:r>
            <a:endParaRPr lang="en-US" sz="2200" dirty="0" smtClean="0">
              <a:latin typeface="Helvetica" pitchFamily="34" charset="0"/>
            </a:endParaRPr>
          </a:p>
          <a:p>
            <a:pPr lvl="0">
              <a:spcBef>
                <a:spcPts val="600"/>
              </a:spcBef>
              <a:spcAft>
                <a:spcPts val="600"/>
              </a:spcAft>
              <a:buNone/>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6" name="Picture 5" descr="Asian girl with world on hand_34766518.jpg"/>
          <p:cNvPicPr/>
          <p:nvPr/>
        </p:nvPicPr>
        <p:blipFill>
          <a:blip r:embed="rId3" cstate="print"/>
          <a:stretch>
            <a:fillRect/>
          </a:stretch>
        </p:blipFill>
        <p:spPr>
          <a:xfrm>
            <a:off x="6012160" y="2780928"/>
            <a:ext cx="1517898" cy="1916807"/>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Destination information</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Languages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Safety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Government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Time zones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Communications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5" name="Picture 4" descr="Looking at map_124805341.jpg"/>
          <p:cNvPicPr>
            <a:picLocks noChangeAspect="1"/>
          </p:cNvPicPr>
          <p:nvPr/>
        </p:nvPicPr>
        <p:blipFill>
          <a:blip r:embed="rId3" cstate="print"/>
          <a:stretch>
            <a:fillRect/>
          </a:stretch>
        </p:blipFill>
        <p:spPr>
          <a:xfrm>
            <a:off x="5652120" y="2564904"/>
            <a:ext cx="2279706" cy="1520564"/>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Local community information</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Local attractions</a:t>
            </a:r>
          </a:p>
          <a:p>
            <a:pPr lvl="0">
              <a:spcBef>
                <a:spcPts val="600"/>
              </a:spcBef>
              <a:spcAft>
                <a:spcPts val="1200"/>
              </a:spcAft>
            </a:pPr>
            <a:r>
              <a:rPr lang="en-US" sz="2200" dirty="0" smtClean="0">
                <a:latin typeface="Helvetica" pitchFamily="34" charset="0"/>
              </a:rPr>
              <a:t>Shopping and retail areas</a:t>
            </a:r>
          </a:p>
          <a:p>
            <a:pPr lvl="0">
              <a:spcBef>
                <a:spcPts val="600"/>
              </a:spcBef>
              <a:spcAft>
                <a:spcPts val="1200"/>
              </a:spcAft>
            </a:pPr>
            <a:r>
              <a:rPr lang="en-US" sz="2200" dirty="0" smtClean="0">
                <a:latin typeface="Helvetica" pitchFamily="34" charset="0"/>
              </a:rPr>
              <a:t>Events and festivals</a:t>
            </a:r>
          </a:p>
          <a:p>
            <a:pPr lvl="0">
              <a:spcBef>
                <a:spcPts val="600"/>
              </a:spcBef>
              <a:spcAft>
                <a:spcPts val="1200"/>
              </a:spcAft>
            </a:pPr>
            <a:r>
              <a:rPr lang="en-US" sz="2200" dirty="0" smtClean="0">
                <a:latin typeface="Helvetica" pitchFamily="34" charset="0"/>
              </a:rPr>
              <a:t>Eateries</a:t>
            </a:r>
          </a:p>
          <a:p>
            <a:pPr lvl="0">
              <a:spcBef>
                <a:spcPts val="600"/>
              </a:spcBef>
              <a:spcAft>
                <a:spcPts val="1200"/>
              </a:spcAft>
            </a:pPr>
            <a:r>
              <a:rPr lang="en-US" sz="2200" dirty="0" smtClean="0">
                <a:latin typeface="Helvetica" pitchFamily="34" charset="0"/>
              </a:rPr>
              <a:t>Supermarkets</a:t>
            </a:r>
          </a:p>
          <a:p>
            <a:pPr lvl="0">
              <a:spcBef>
                <a:spcPts val="600"/>
              </a:spcBef>
              <a:spcAft>
                <a:spcPts val="1200"/>
              </a:spcAft>
            </a:pPr>
            <a:r>
              <a:rPr lang="en-US" sz="2200" dirty="0" smtClean="0">
                <a:latin typeface="Helvetica" pitchFamily="34" charset="0"/>
              </a:rPr>
              <a:t>Local transport</a:t>
            </a:r>
          </a:p>
          <a:p>
            <a:pPr lvl="0">
              <a:spcBef>
                <a:spcPts val="600"/>
              </a:spcBef>
              <a:spcAft>
                <a:spcPts val="1200"/>
              </a:spcAft>
            </a:pPr>
            <a:r>
              <a:rPr lang="en-US" sz="2200" dirty="0" smtClean="0">
                <a:latin typeface="Helvetica" pitchFamily="34" charset="0"/>
              </a:rPr>
              <a:t>Activities</a:t>
            </a:r>
          </a:p>
          <a:p>
            <a:pPr lvl="0">
              <a:spcBef>
                <a:spcPts val="600"/>
              </a:spcBef>
              <a:spcAft>
                <a:spcPts val="1200"/>
              </a:spcAft>
            </a:pPr>
            <a:r>
              <a:rPr lang="en-US" sz="2200" dirty="0" smtClean="0">
                <a:latin typeface="Helvetica" pitchFamily="34" charset="0"/>
              </a:rPr>
              <a:t>Places of worship </a:t>
            </a: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descr="shutterstock_158753825.jpg"/>
          <p:cNvPicPr/>
          <p:nvPr/>
        </p:nvPicPr>
        <p:blipFill>
          <a:blip r:embed="rId3" cstate="print"/>
          <a:stretch>
            <a:fillRect/>
          </a:stretch>
        </p:blipFill>
        <p:spPr>
          <a:xfrm>
            <a:off x="5652120" y="2852936"/>
            <a:ext cx="2382404" cy="1584176"/>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International destination information</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When providing information on international destinations to your customers, you will need to advise them of the government regulations that apply when people wish to leave the country.</a:t>
            </a:r>
          </a:p>
          <a:p>
            <a:pPr>
              <a:spcBef>
                <a:spcPts val="600"/>
              </a:spcBef>
              <a:spcAft>
                <a:spcPts val="1200"/>
              </a:spcAft>
            </a:pPr>
            <a:r>
              <a:rPr lang="en-AU" sz="2200" dirty="0" smtClean="0">
                <a:latin typeface="Helvetica" pitchFamily="34" charset="0"/>
              </a:rPr>
              <a:t>What information do you need to gather and explain to clients wishing to travel overseas?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7" name="Picture 6" descr="shutterstock_53668378.jpg"/>
          <p:cNvPicPr/>
          <p:nvPr/>
        </p:nvPicPr>
        <p:blipFill>
          <a:blip r:embed="rId3" cstate="print"/>
          <a:stretch>
            <a:fillRect/>
          </a:stretch>
        </p:blipFill>
        <p:spPr>
          <a:xfrm>
            <a:off x="3491880" y="4869160"/>
            <a:ext cx="2232248" cy="148327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12776"/>
            <a:ext cx="7776864" cy="5301208"/>
          </a:xfrm>
        </p:spPr>
        <p:txBody>
          <a:bodyPr>
            <a:normAutofit/>
          </a:bodyPr>
          <a:lstStyle/>
          <a:p>
            <a:pPr>
              <a:spcBef>
                <a:spcPts val="600"/>
              </a:spcBef>
              <a:spcAft>
                <a:spcPts val="1200"/>
              </a:spcAft>
              <a:buNone/>
            </a:pPr>
            <a:r>
              <a:rPr lang="en-AU" sz="2200" b="1" dirty="0" smtClean="0">
                <a:latin typeface="Helvetica" pitchFamily="34" charset="0"/>
              </a:rPr>
              <a:t>Tours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Company name, name of tour and duration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Departure date, time and location address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End date, time and location address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Type of accommodation e.g. single, twin-share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 company specific baggage labels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Hotel list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 information booklet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Included services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7" name="Picture 6" descr="shutterstock_98518646.jpg"/>
          <p:cNvPicPr/>
          <p:nvPr/>
        </p:nvPicPr>
        <p:blipFill>
          <a:blip r:embed="rId3" cstate="print"/>
          <a:stretch>
            <a:fillRect/>
          </a:stretch>
        </p:blipFill>
        <p:spPr>
          <a:xfrm>
            <a:off x="6732240" y="2780928"/>
            <a:ext cx="1619250" cy="100965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Attractions</a:t>
            </a:r>
            <a:endParaRPr lang="en-US" sz="2200" b="1" dirty="0" smtClean="0">
              <a:latin typeface="Helvetica" pitchFamily="34" charset="0"/>
            </a:endParaRPr>
          </a:p>
          <a:p>
            <a:pPr>
              <a:spcBef>
                <a:spcPts val="600"/>
              </a:spcBef>
              <a:spcAft>
                <a:spcPts val="1200"/>
              </a:spcAft>
              <a:buNone/>
            </a:pPr>
            <a:r>
              <a:rPr lang="en-AU" sz="2200" dirty="0" smtClean="0">
                <a:latin typeface="Helvetica" pitchFamily="34" charset="0"/>
              </a:rPr>
              <a:t>Attractions can include:</a:t>
            </a:r>
          </a:p>
          <a:p>
            <a:pPr>
              <a:spcBef>
                <a:spcPts val="600"/>
              </a:spcBef>
              <a:spcAft>
                <a:spcPts val="1200"/>
              </a:spcAft>
            </a:pPr>
            <a:r>
              <a:rPr lang="en-AU" sz="2200" dirty="0" smtClean="0">
                <a:latin typeface="Helvetica" pitchFamily="34" charset="0"/>
              </a:rPr>
              <a:t>Historic sites</a:t>
            </a:r>
          </a:p>
          <a:p>
            <a:pPr>
              <a:spcBef>
                <a:spcPts val="600"/>
              </a:spcBef>
              <a:spcAft>
                <a:spcPts val="1200"/>
              </a:spcAft>
            </a:pPr>
            <a:r>
              <a:rPr lang="en-AU" sz="2200" dirty="0" smtClean="0">
                <a:latin typeface="Helvetica" pitchFamily="34" charset="0"/>
              </a:rPr>
              <a:t>Scenic location</a:t>
            </a:r>
          </a:p>
          <a:p>
            <a:pPr>
              <a:spcBef>
                <a:spcPts val="600"/>
              </a:spcBef>
              <a:spcAft>
                <a:spcPts val="1200"/>
              </a:spcAft>
            </a:pPr>
            <a:r>
              <a:rPr lang="en-AU" sz="2200" dirty="0" smtClean="0">
                <a:latin typeface="Helvetica" pitchFamily="34" charset="0"/>
              </a:rPr>
              <a:t>Special event</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Tourist attractions can be: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Natural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Man-made</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6" name="Picture 5" descr="shutterstock_130548068.jpg"/>
          <p:cNvPicPr/>
          <p:nvPr/>
        </p:nvPicPr>
        <p:blipFill>
          <a:blip r:embed="rId3" cstate="print"/>
          <a:stretch>
            <a:fillRect/>
          </a:stretch>
        </p:blipFill>
        <p:spPr>
          <a:xfrm>
            <a:off x="5868144" y="2996952"/>
            <a:ext cx="2016760" cy="134302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Activities</a:t>
            </a:r>
          </a:p>
          <a:p>
            <a:pPr>
              <a:spcBef>
                <a:spcPts val="600"/>
              </a:spcBef>
              <a:spcAft>
                <a:spcPts val="1200"/>
              </a:spcAft>
            </a:pPr>
            <a:r>
              <a:rPr lang="en-US" sz="2200" dirty="0" smtClean="0">
                <a:latin typeface="Helvetica" pitchFamily="34" charset="0"/>
              </a:rPr>
              <a:t>What are examples of tourism related activities?</a:t>
            </a: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7" name="Picture 6" descr="Happy Smile_142334158.jpg"/>
          <p:cNvPicPr/>
          <p:nvPr/>
        </p:nvPicPr>
        <p:blipFill>
          <a:blip r:embed="rId3" cstate="print"/>
          <a:stretch>
            <a:fillRect/>
          </a:stretch>
        </p:blipFill>
        <p:spPr>
          <a:xfrm>
            <a:off x="3203848" y="3284984"/>
            <a:ext cx="1963291" cy="1425699"/>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History</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Many people are interested in history, and therefore information on the history of a destination can be important to customers</a:t>
            </a:r>
          </a:p>
          <a:p>
            <a:pPr>
              <a:spcBef>
                <a:spcPts val="600"/>
              </a:spcBef>
              <a:spcAft>
                <a:spcPts val="1200"/>
              </a:spcAft>
            </a:pPr>
            <a:r>
              <a:rPr lang="en-AU" sz="2200" dirty="0" smtClean="0">
                <a:latin typeface="Helvetica" pitchFamily="34" charset="0"/>
              </a:rPr>
              <a:t>What are examples of history that attracts tourism?</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8" name="Picture 7" descr="W125_holiday_icon_egypt_shutterstock_153699923.jpg"/>
          <p:cNvPicPr>
            <a:picLocks noChangeAspect="1"/>
          </p:cNvPicPr>
          <p:nvPr/>
        </p:nvPicPr>
        <p:blipFill>
          <a:blip r:embed="rId3" cstate="print"/>
          <a:stretch>
            <a:fillRect/>
          </a:stretch>
        </p:blipFill>
        <p:spPr>
          <a:xfrm>
            <a:off x="3275856" y="4221088"/>
            <a:ext cx="2316088" cy="1544831"/>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12776"/>
            <a:ext cx="7776864" cy="5301208"/>
          </a:xfrm>
        </p:spPr>
        <p:txBody>
          <a:bodyPr>
            <a:normAutofit/>
          </a:bodyPr>
          <a:lstStyle/>
          <a:p>
            <a:pPr>
              <a:spcBef>
                <a:spcPts val="600"/>
              </a:spcBef>
              <a:spcAft>
                <a:spcPts val="1200"/>
              </a:spcAft>
              <a:buNone/>
            </a:pPr>
            <a:r>
              <a:rPr lang="en-AU" sz="2200" b="1" dirty="0" smtClean="0">
                <a:latin typeface="Helvetica" pitchFamily="34" charset="0"/>
              </a:rPr>
              <a:t>Geographical features</a:t>
            </a:r>
            <a:endParaRPr lang="en-US" sz="2200" b="1" dirty="0" smtClean="0">
              <a:latin typeface="Helvetica" pitchFamily="34" charset="0"/>
            </a:endParaRPr>
          </a:p>
          <a:p>
            <a:pPr lvl="0">
              <a:spcBef>
                <a:spcPts val="600"/>
              </a:spcBef>
              <a:spcAft>
                <a:spcPts val="1200"/>
              </a:spcAft>
            </a:pPr>
            <a:r>
              <a:rPr lang="en-US" sz="2200" dirty="0" smtClean="0">
                <a:latin typeface="Helvetica" pitchFamily="34" charset="0"/>
              </a:rPr>
              <a:t>Mountain ranges</a:t>
            </a:r>
          </a:p>
          <a:p>
            <a:pPr lvl="0">
              <a:spcBef>
                <a:spcPts val="600"/>
              </a:spcBef>
              <a:spcAft>
                <a:spcPts val="1200"/>
              </a:spcAft>
            </a:pPr>
            <a:r>
              <a:rPr lang="en-US" sz="2200" dirty="0" smtClean="0">
                <a:latin typeface="Helvetica" pitchFamily="34" charset="0"/>
              </a:rPr>
              <a:t>Lakes</a:t>
            </a:r>
          </a:p>
          <a:p>
            <a:pPr lvl="0">
              <a:spcBef>
                <a:spcPts val="600"/>
              </a:spcBef>
              <a:spcAft>
                <a:spcPts val="1200"/>
              </a:spcAft>
            </a:pPr>
            <a:r>
              <a:rPr lang="en-US" sz="2200" dirty="0" smtClean="0">
                <a:latin typeface="Helvetica" pitchFamily="34" charset="0"/>
              </a:rPr>
              <a:t>Rivers</a:t>
            </a:r>
          </a:p>
          <a:p>
            <a:pPr lvl="0">
              <a:spcBef>
                <a:spcPts val="600"/>
              </a:spcBef>
              <a:spcAft>
                <a:spcPts val="1200"/>
              </a:spcAft>
            </a:pPr>
            <a:r>
              <a:rPr lang="en-US" sz="2200" dirty="0" smtClean="0">
                <a:latin typeface="Helvetica" pitchFamily="34" charset="0"/>
              </a:rPr>
              <a:t>Caves</a:t>
            </a:r>
          </a:p>
          <a:p>
            <a:pPr lvl="0">
              <a:spcBef>
                <a:spcPts val="600"/>
              </a:spcBef>
              <a:spcAft>
                <a:spcPts val="1200"/>
              </a:spcAft>
            </a:pPr>
            <a:r>
              <a:rPr lang="en-US" sz="2200" dirty="0" smtClean="0">
                <a:latin typeface="Helvetica" pitchFamily="34" charset="0"/>
              </a:rPr>
              <a:t>Waterfalls</a:t>
            </a:r>
          </a:p>
          <a:p>
            <a:pPr lvl="0">
              <a:spcBef>
                <a:spcPts val="600"/>
              </a:spcBef>
              <a:spcAft>
                <a:spcPts val="1200"/>
              </a:spcAft>
            </a:pPr>
            <a:r>
              <a:rPr lang="en-US" sz="2200" dirty="0" smtClean="0">
                <a:latin typeface="Helvetica" pitchFamily="34" charset="0"/>
              </a:rPr>
              <a:t>Rock formations</a:t>
            </a:r>
          </a:p>
          <a:p>
            <a:pPr lvl="0">
              <a:spcBef>
                <a:spcPts val="600"/>
              </a:spcBef>
              <a:spcAft>
                <a:spcPts val="1200"/>
              </a:spcAft>
            </a:pPr>
            <a:r>
              <a:rPr lang="en-US" sz="2200" dirty="0" smtClean="0">
                <a:latin typeface="Helvetica" pitchFamily="34" charset="0"/>
              </a:rPr>
              <a:t>Beaches	</a:t>
            </a:r>
          </a:p>
          <a:p>
            <a:pPr lvl="0">
              <a:spcBef>
                <a:spcPts val="600"/>
              </a:spcBef>
              <a:spcAft>
                <a:spcPts val="1200"/>
              </a:spcAft>
            </a:pPr>
            <a:r>
              <a:rPr lang="en-US" sz="2200" dirty="0" smtClean="0">
                <a:latin typeface="Helvetica" pitchFamily="34" charset="0"/>
              </a:rPr>
              <a:t>National parks</a:t>
            </a: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7" name="Picture 6" descr="shutterstock_176408066.jpg"/>
          <p:cNvPicPr/>
          <p:nvPr/>
        </p:nvPicPr>
        <p:blipFill>
          <a:blip r:embed="rId3" cstate="print"/>
          <a:stretch>
            <a:fillRect/>
          </a:stretch>
        </p:blipFill>
        <p:spPr>
          <a:xfrm>
            <a:off x="5220072" y="2780928"/>
            <a:ext cx="2379221" cy="1584176"/>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Local customs and culture</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Every destination will have customs that are specific to that place and that particular culture. </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What are examples of:</a:t>
            </a:r>
          </a:p>
          <a:p>
            <a:pPr>
              <a:spcBef>
                <a:spcPts val="600"/>
              </a:spcBef>
              <a:spcAft>
                <a:spcPts val="1200"/>
              </a:spcAft>
            </a:pPr>
            <a:r>
              <a:rPr lang="en-AU" sz="2200" dirty="0" smtClean="0">
                <a:latin typeface="Helvetica" pitchFamily="34" charset="0"/>
              </a:rPr>
              <a:t>Local customs</a:t>
            </a:r>
          </a:p>
          <a:p>
            <a:pPr>
              <a:spcBef>
                <a:spcPts val="600"/>
              </a:spcBef>
              <a:spcAft>
                <a:spcPts val="1200"/>
              </a:spcAft>
            </a:pPr>
            <a:r>
              <a:rPr lang="en-AU" sz="2200" dirty="0" smtClean="0">
                <a:latin typeface="Helvetica" pitchFamily="34" charset="0"/>
              </a:rPr>
              <a:t>Local culture</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6" name="Picture 5" descr="shutterstock_110078846.jpg"/>
          <p:cNvPicPr/>
          <p:nvPr/>
        </p:nvPicPr>
        <p:blipFill>
          <a:blip r:embed="rId3" cstate="print"/>
          <a:stretch>
            <a:fillRect/>
          </a:stretch>
        </p:blipFill>
        <p:spPr>
          <a:xfrm>
            <a:off x="6228184" y="3140968"/>
            <a:ext cx="1506017" cy="1818308"/>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Climate</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It is important that you understand the weather conditions and patterns of the destination.</a:t>
            </a:r>
          </a:p>
          <a:p>
            <a:pPr>
              <a:spcBef>
                <a:spcPts val="600"/>
              </a:spcBef>
              <a:spcAft>
                <a:spcPts val="1200"/>
              </a:spcAft>
            </a:pPr>
            <a:r>
              <a:rPr lang="en-AU" sz="2200" dirty="0" smtClean="0">
                <a:latin typeface="Helvetica" pitchFamily="34" charset="0"/>
              </a:rPr>
              <a:t>Why is this important?</a:t>
            </a:r>
          </a:p>
          <a:p>
            <a:pPr>
              <a:spcBef>
                <a:spcPts val="600"/>
              </a:spcBef>
              <a:spcAft>
                <a:spcPts val="1200"/>
              </a:spcAft>
            </a:pPr>
            <a:r>
              <a:rPr lang="en-AU" sz="2200" dirty="0" smtClean="0">
                <a:latin typeface="Helvetica" pitchFamily="34" charset="0"/>
              </a:rPr>
              <a:t>How can you identify climatic conditions?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7" name="Picture 6" descr="shutterstock_124217227.jpg"/>
          <p:cNvPicPr>
            <a:picLocks noChangeAspect="1"/>
          </p:cNvPicPr>
          <p:nvPr/>
        </p:nvPicPr>
        <p:blipFill>
          <a:blip r:embed="rId3" cstate="print"/>
          <a:stretch>
            <a:fillRect/>
          </a:stretch>
        </p:blipFill>
        <p:spPr>
          <a:xfrm>
            <a:off x="3275856" y="4365104"/>
            <a:ext cx="2063790" cy="1376548"/>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12776"/>
            <a:ext cx="7776864" cy="5301208"/>
          </a:xfrm>
        </p:spPr>
        <p:txBody>
          <a:bodyPr>
            <a:normAutofit/>
          </a:bodyPr>
          <a:lstStyle/>
          <a:p>
            <a:pPr>
              <a:spcBef>
                <a:spcPts val="600"/>
              </a:spcBef>
              <a:spcAft>
                <a:spcPts val="600"/>
              </a:spcAft>
              <a:buNone/>
            </a:pPr>
            <a:r>
              <a:rPr lang="en-AU" sz="2200" b="1" dirty="0" smtClean="0">
                <a:latin typeface="Helvetica" pitchFamily="34" charset="0"/>
              </a:rPr>
              <a:t>Accommodation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Room types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Tariffs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Products and services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Room facilities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Location and distance to attractions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Packages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Blocked dates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Seasons and times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Minimum purchase</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6" name="Picture 5" descr="shutterstock_114459544.jpg"/>
          <p:cNvPicPr/>
          <p:nvPr/>
        </p:nvPicPr>
        <p:blipFill>
          <a:blip r:embed="rId3" cstate="print"/>
          <a:stretch>
            <a:fillRect/>
          </a:stretch>
        </p:blipFill>
        <p:spPr>
          <a:xfrm>
            <a:off x="6084168" y="2996952"/>
            <a:ext cx="2126357" cy="1372741"/>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84784"/>
            <a:ext cx="7776864" cy="5301208"/>
          </a:xfrm>
        </p:spPr>
        <p:txBody>
          <a:bodyPr>
            <a:normAutofit/>
          </a:bodyPr>
          <a:lstStyle/>
          <a:p>
            <a:pPr>
              <a:spcBef>
                <a:spcPts val="600"/>
              </a:spcBef>
              <a:spcAft>
                <a:spcPts val="600"/>
              </a:spcAft>
              <a:buNone/>
            </a:pPr>
            <a:r>
              <a:rPr lang="en-AU" sz="2200" b="1" dirty="0" smtClean="0">
                <a:latin typeface="Helvetica" pitchFamily="34" charset="0"/>
              </a:rPr>
              <a:t>Accommodation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Booking and stay requirements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Property name and address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Room type and category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Number of nights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Check-in and check-out dates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Check-in and check-out times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7" name="Picture 6" descr="shutterstock_35558536.jpg"/>
          <p:cNvPicPr>
            <a:picLocks noChangeAspect="1"/>
          </p:cNvPicPr>
          <p:nvPr/>
        </p:nvPicPr>
        <p:blipFill>
          <a:blip r:embed="rId3" cstate="print"/>
          <a:stretch>
            <a:fillRect/>
          </a:stretch>
        </p:blipFill>
        <p:spPr>
          <a:xfrm>
            <a:off x="5724128" y="2708920"/>
            <a:ext cx="2283120" cy="1515992"/>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200" b="1" dirty="0" smtClean="0">
                <a:latin typeface="Helvetica" pitchFamily="34" charset="0"/>
              </a:rPr>
              <a:t>Accommodation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Day use or late check-out if applicable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Inclusions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Extra charges payable direct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Special requests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Special promotions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7" name="Picture 6" descr="shutterstock_110073662.jpg"/>
          <p:cNvPicPr>
            <a:picLocks noChangeAspect="1"/>
          </p:cNvPicPr>
          <p:nvPr/>
        </p:nvPicPr>
        <p:blipFill>
          <a:blip r:embed="rId3" cstate="print"/>
          <a:stretch>
            <a:fillRect/>
          </a:stretch>
        </p:blipFill>
        <p:spPr>
          <a:xfrm>
            <a:off x="5940152" y="2780928"/>
            <a:ext cx="2172072" cy="1448772"/>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Amenities and services</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Amenities and services refer to the provision of basic services for travellers including: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Toilet blocks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Water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Electricity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Food and beverage including restaurants,                              cafes, bistros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Medical services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6" name="Picture 5" descr="shutterstock_61204990.jpg"/>
          <p:cNvPicPr/>
          <p:nvPr/>
        </p:nvPicPr>
        <p:blipFill>
          <a:blip r:embed="rId3" cstate="print"/>
          <a:stretch>
            <a:fillRect/>
          </a:stretch>
        </p:blipFill>
        <p:spPr>
          <a:xfrm>
            <a:off x="5940152" y="3212976"/>
            <a:ext cx="1743075" cy="1152525"/>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Amenities and services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Banks and post offices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General safety facilities including fire, police emergency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Entertainment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Sporting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Shopping</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7" name="Picture 6" descr="shutterstock_163971791.jpg"/>
          <p:cNvPicPr>
            <a:picLocks noChangeAspect="1"/>
          </p:cNvPicPr>
          <p:nvPr/>
        </p:nvPicPr>
        <p:blipFill>
          <a:blip r:embed="rId3" cstate="print"/>
          <a:stretch>
            <a:fillRect/>
          </a:stretch>
        </p:blipFill>
        <p:spPr>
          <a:xfrm>
            <a:off x="6300192" y="3356992"/>
            <a:ext cx="1400743" cy="2100064"/>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200" b="1" dirty="0" smtClean="0">
                <a:latin typeface="Helvetica" pitchFamily="34" charset="0"/>
              </a:rPr>
              <a:t>Airlines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Airline or combination of airlines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Airport codes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Airline codes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City codes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Flight numbers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Schedules / timetables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Destinations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Routing </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6" name="Picture 5" descr="Generic_Plan and boarding.jpg"/>
          <p:cNvPicPr/>
          <p:nvPr/>
        </p:nvPicPr>
        <p:blipFill>
          <a:blip r:embed="rId3" cstate="print"/>
          <a:stretch>
            <a:fillRect/>
          </a:stretch>
        </p:blipFill>
        <p:spPr>
          <a:xfrm>
            <a:off x="5940152" y="2780928"/>
            <a:ext cx="1539235" cy="1707257"/>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200" b="1" dirty="0" smtClean="0">
                <a:latin typeface="Helvetica" pitchFamily="34" charset="0"/>
              </a:rPr>
              <a:t>Airlines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Origin and destination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Code share flights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Normal fares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Discounted fares, including infants, children, students, pensioners and groups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Fares for unaccompanied children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Promotional fares and packages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Taxes</a:t>
            </a: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7" name="Picture 6" descr="shutterstock_35770534.jpg"/>
          <p:cNvPicPr>
            <a:picLocks noChangeAspect="1"/>
          </p:cNvPicPr>
          <p:nvPr/>
        </p:nvPicPr>
        <p:blipFill>
          <a:blip r:embed="rId3" cstate="print"/>
          <a:stretch>
            <a:fillRect/>
          </a:stretch>
        </p:blipFill>
        <p:spPr>
          <a:xfrm>
            <a:off x="5580112" y="1700808"/>
            <a:ext cx="2171748" cy="1448556"/>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200" b="1" dirty="0" smtClean="0">
                <a:latin typeface="Helvetica" pitchFamily="34" charset="0"/>
              </a:rPr>
              <a:t>Airlines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General air travel rules and restrictions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Class of travel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Stopovers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Mileage restrictions allowed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Minimum and maximum stays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Ticketing time limit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Payment conditions </a:t>
            </a: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5" name="Picture 4" descr="Lady_man_at airport_174994439.jpg"/>
          <p:cNvPicPr>
            <a:picLocks noChangeAspect="1"/>
          </p:cNvPicPr>
          <p:nvPr/>
        </p:nvPicPr>
        <p:blipFill>
          <a:blip r:embed="rId3" cstate="print"/>
          <a:stretch>
            <a:fillRect/>
          </a:stretch>
        </p:blipFill>
        <p:spPr>
          <a:xfrm>
            <a:off x="6156176" y="3284984"/>
            <a:ext cx="1924044" cy="1385312"/>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200" b="1" dirty="0" smtClean="0">
                <a:latin typeface="Helvetica" pitchFamily="34" charset="0"/>
              </a:rPr>
              <a:t>Car hire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Company, category, type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Pick-up and drop-off depots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Pick-up and drop-off dates and times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Inclusions and exclusions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Special requests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Notes </a:t>
            </a: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6" name="Picture 5" descr="MP900427629.JPG"/>
          <p:cNvPicPr/>
          <p:nvPr/>
        </p:nvPicPr>
        <p:blipFill>
          <a:blip r:embed="rId3" cstate="print"/>
          <a:stretch>
            <a:fillRect/>
          </a:stretch>
        </p:blipFill>
        <p:spPr>
          <a:xfrm>
            <a:off x="6516216" y="2780928"/>
            <a:ext cx="1483990" cy="1402457"/>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12776"/>
            <a:ext cx="7776864" cy="5301208"/>
          </a:xfrm>
        </p:spPr>
        <p:txBody>
          <a:bodyPr>
            <a:normAutofit/>
          </a:bodyPr>
          <a:lstStyle/>
          <a:p>
            <a:pPr>
              <a:spcBef>
                <a:spcPts val="600"/>
              </a:spcBef>
              <a:spcAft>
                <a:spcPts val="600"/>
              </a:spcAft>
              <a:buNone/>
            </a:pPr>
            <a:r>
              <a:rPr lang="en-AU" sz="2200" b="1" dirty="0" smtClean="0">
                <a:latin typeface="Helvetica" pitchFamily="34" charset="0"/>
              </a:rPr>
              <a:t>Cruises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Name of the ship and voyage number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Embarkation date, time and port address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Disembarkation date, time and port address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Grade/category and cabin type and number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Passenger dining preference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Pre-booked special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7" name="Picture 6" descr="shutterstock_30589195.jpg"/>
          <p:cNvPicPr/>
          <p:nvPr/>
        </p:nvPicPr>
        <p:blipFill>
          <a:blip r:embed="rId3" cstate="print"/>
          <a:stretch>
            <a:fillRect/>
          </a:stretch>
        </p:blipFill>
        <p:spPr>
          <a:xfrm>
            <a:off x="6804248" y="2420888"/>
            <a:ext cx="2106290" cy="1286752"/>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Transfers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Name of company providing the transfer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Local address and local telephone contact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Type of transfer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Pick-up date, time and location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Drop-off date, location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Special instructions in relation to transfer</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6" name="Picture 5" descr="shutterstock_35970646.jpg"/>
          <p:cNvPicPr>
            <a:picLocks noChangeAspect="1"/>
          </p:cNvPicPr>
          <p:nvPr/>
        </p:nvPicPr>
        <p:blipFill>
          <a:blip r:embed="rId3" cstate="print"/>
          <a:stretch>
            <a:fillRect/>
          </a:stretch>
        </p:blipFill>
        <p:spPr>
          <a:xfrm>
            <a:off x="6444208" y="3356992"/>
            <a:ext cx="1957131" cy="1301492"/>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Rail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Name of Pass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Duration and type of pass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Validity dates</a:t>
            </a:r>
          </a:p>
          <a:p>
            <a:pPr lvl="0">
              <a:spcBef>
                <a:spcPts val="600"/>
              </a:spcBef>
              <a:spcAft>
                <a:spcPts val="1200"/>
              </a:spcAft>
              <a:buNone/>
            </a:pPr>
            <a:endParaRPr lang="en-AU"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5" name="Picture 4" descr="shutterstock_152766782.jpg"/>
          <p:cNvPicPr/>
          <p:nvPr/>
        </p:nvPicPr>
        <p:blipFill>
          <a:blip r:embed="rId3" cstate="print"/>
          <a:stretch>
            <a:fillRect/>
          </a:stretch>
        </p:blipFill>
        <p:spPr>
          <a:xfrm>
            <a:off x="5652120" y="2348880"/>
            <a:ext cx="2070348" cy="1359024"/>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Importance of accessing useful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a:spcBef>
                <a:spcPts val="600"/>
              </a:spcBef>
              <a:spcAft>
                <a:spcPts val="1200"/>
              </a:spcAft>
              <a:buNone/>
            </a:pPr>
            <a:r>
              <a:rPr lang="en-US" sz="2200" b="1" dirty="0" smtClean="0">
                <a:latin typeface="Helvetica" pitchFamily="34" charset="0"/>
              </a:rPr>
              <a:t>Determine usefulness of product information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there is endless pieces of tourism related information available, it is essential that you are focused on collecting information that will be useful in relation to providing relevant and tailored advice and services to your customers.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How can you determine with sources are useful?</a:t>
            </a:r>
          </a:p>
          <a:p>
            <a:pPr>
              <a:spcBef>
                <a:spcPts val="600"/>
              </a:spcBef>
              <a:spcAft>
                <a:spcPts val="1200"/>
              </a:spcAft>
            </a:pPr>
            <a:r>
              <a:rPr lang="en-AU" sz="2200" dirty="0" smtClean="0">
                <a:latin typeface="Helvetica" pitchFamily="34" charset="0"/>
              </a:rPr>
              <a:t>How can you determine the information from each source is useful?</a:t>
            </a: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6" name="Picture 5" descr="shutterstock_14099602.jpg"/>
          <p:cNvPicPr/>
          <p:nvPr/>
        </p:nvPicPr>
        <p:blipFill>
          <a:blip r:embed="rId3" cstate="print"/>
          <a:stretch>
            <a:fillRect/>
          </a:stretch>
        </p:blipFill>
        <p:spPr>
          <a:xfrm>
            <a:off x="7619490" y="3717032"/>
            <a:ext cx="1240620" cy="1872208"/>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Importance of accessing useful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600"/>
              </a:spcAft>
              <a:buNone/>
            </a:pPr>
            <a:r>
              <a:rPr lang="en-AU" sz="2200" b="1" dirty="0" smtClean="0">
                <a:latin typeface="Helvetica" pitchFamily="34" charset="0"/>
              </a:rPr>
              <a:t>Importance of having useful and appropriate product knowledge</a:t>
            </a:r>
            <a:endParaRPr lang="en-US" sz="2200" b="1" dirty="0" smtClean="0">
              <a:latin typeface="Helvetica" pitchFamily="34" charset="0"/>
            </a:endParaRPr>
          </a:p>
          <a:p>
            <a:pPr lvl="0">
              <a:spcBef>
                <a:spcPts val="600"/>
              </a:spcBef>
              <a:spcAft>
                <a:spcPts val="600"/>
              </a:spcAft>
            </a:pPr>
            <a:r>
              <a:rPr lang="en-AU" sz="2200" dirty="0" smtClean="0">
                <a:latin typeface="Helvetica" pitchFamily="34" charset="0"/>
              </a:rPr>
              <a:t>To demonstrate the professionalism</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answer routine questions</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Provide destination information and advice</a:t>
            </a:r>
          </a:p>
          <a:p>
            <a:pPr lvl="0">
              <a:spcBef>
                <a:spcPts val="600"/>
              </a:spcBef>
              <a:spcAft>
                <a:spcPts val="600"/>
              </a:spcAft>
            </a:pPr>
            <a:r>
              <a:rPr lang="en-US" sz="2200" dirty="0" smtClean="0">
                <a:latin typeface="Helvetica" pitchFamily="34" charset="0"/>
              </a:rPr>
              <a:t>Provide specific product advice</a:t>
            </a:r>
          </a:p>
          <a:p>
            <a:pPr lvl="0">
              <a:spcBef>
                <a:spcPts val="600"/>
              </a:spcBef>
              <a:spcAft>
                <a:spcPts val="600"/>
              </a:spcAft>
            </a:pPr>
            <a:r>
              <a:rPr lang="en-AU" sz="2200" dirty="0" smtClean="0">
                <a:latin typeface="Helvetica" pitchFamily="34" charset="0"/>
              </a:rPr>
              <a:t>To provide additional information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advise customers of up-coming events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make recommendations and suggestions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7" name="Picture 6" descr="shutterstock_141853249.jpg"/>
          <p:cNvPicPr/>
          <p:nvPr/>
        </p:nvPicPr>
        <p:blipFill>
          <a:blip r:embed="rId3" cstate="print"/>
          <a:stretch>
            <a:fillRect/>
          </a:stretch>
        </p:blipFill>
        <p:spPr>
          <a:xfrm>
            <a:off x="6876256" y="3356992"/>
            <a:ext cx="1714500" cy="114300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Importance of accessing useful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600"/>
              </a:spcAft>
              <a:buNone/>
            </a:pPr>
            <a:r>
              <a:rPr lang="en-AU" sz="2200" b="1" dirty="0" smtClean="0">
                <a:latin typeface="Helvetica" pitchFamily="34" charset="0"/>
              </a:rPr>
              <a:t>Importance of having useful and appropriate product knowledge</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Selling tourism products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Quote specific individual tourism product prices</a:t>
            </a:r>
          </a:p>
          <a:p>
            <a:pPr lvl="0">
              <a:spcBef>
                <a:spcPts val="600"/>
              </a:spcBef>
              <a:spcAft>
                <a:spcPts val="1200"/>
              </a:spcAft>
            </a:pPr>
            <a:r>
              <a:rPr lang="en-AU" sz="2200" dirty="0" smtClean="0">
                <a:latin typeface="Helvetica" pitchFamily="34" charset="0"/>
              </a:rPr>
              <a:t>Booking and coordinating 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Receiving and processing reservations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Processing financial transactions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Issuing customer travel documentation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5" name="Picture 4" descr="shutterstock_129565649.jpg"/>
          <p:cNvPicPr>
            <a:picLocks noChangeAspect="1"/>
          </p:cNvPicPr>
          <p:nvPr/>
        </p:nvPicPr>
        <p:blipFill>
          <a:blip r:embed="rId3" cstate="print"/>
          <a:stretch>
            <a:fillRect/>
          </a:stretch>
        </p:blipFill>
        <p:spPr>
          <a:xfrm>
            <a:off x="6588224" y="3789040"/>
            <a:ext cx="1884364" cy="1256871"/>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Importance of accessing useful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600"/>
              </a:spcAft>
              <a:buNone/>
            </a:pPr>
            <a:r>
              <a:rPr lang="en-AU" sz="2200" b="1" dirty="0" smtClean="0">
                <a:latin typeface="Helvetica" pitchFamily="34" charset="0"/>
              </a:rPr>
              <a:t>Importance of having useful and appropriate product knowledge</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Issuing itineraries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Explain the features of the products</a:t>
            </a:r>
          </a:p>
          <a:p>
            <a:pPr lvl="0">
              <a:spcBef>
                <a:spcPts val="600"/>
              </a:spcBef>
              <a:spcAft>
                <a:spcPts val="1200"/>
              </a:spcAft>
            </a:pPr>
            <a:r>
              <a:rPr lang="en-AU" sz="2200" dirty="0" smtClean="0">
                <a:latin typeface="Helvetica" pitchFamily="34" charset="0"/>
              </a:rPr>
              <a:t>To generate repeat business from </a:t>
            </a:r>
            <a:br>
              <a:rPr lang="en-AU" sz="2200" dirty="0" smtClean="0">
                <a:latin typeface="Helvetica" pitchFamily="34" charset="0"/>
              </a:rPr>
            </a:br>
            <a:r>
              <a:rPr lang="en-AU" sz="2200" dirty="0" smtClean="0">
                <a:latin typeface="Helvetica" pitchFamily="34" charset="0"/>
              </a:rPr>
              <a:t>customers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 generate referral business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To comply with general operational requirements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5" name="Picture 4" descr="shutterstock_114113611.jpg"/>
          <p:cNvPicPr>
            <a:picLocks noChangeAspect="1"/>
          </p:cNvPicPr>
          <p:nvPr/>
        </p:nvPicPr>
        <p:blipFill>
          <a:blip r:embed="rId3" cstate="print"/>
          <a:stretch>
            <a:fillRect/>
          </a:stretch>
        </p:blipFill>
        <p:spPr>
          <a:xfrm>
            <a:off x="6444208" y="2996952"/>
            <a:ext cx="1956048" cy="1304684"/>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Importance of accessing useful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Methods of determine usefulness of product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Defining enterprise needs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Assessing validity, reliability, accuracy, currency and sufficiency of information provided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Evaluating method and speed of  access to information provided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ease of access to information </a:t>
            </a:r>
            <a:br>
              <a:rPr lang="en-AU" sz="2200" dirty="0" smtClean="0">
                <a:latin typeface="Helvetica" pitchFamily="34" charset="0"/>
              </a:rPr>
            </a:br>
            <a:r>
              <a:rPr lang="en-AU" sz="2200" dirty="0" smtClean="0">
                <a:latin typeface="Helvetica" pitchFamily="34" charset="0"/>
              </a:rPr>
              <a:t>provided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6" name="Picture 5" descr="W208_travelagent_shutterstock.jpg"/>
          <p:cNvPicPr>
            <a:picLocks noChangeAspect="1"/>
          </p:cNvPicPr>
          <p:nvPr/>
        </p:nvPicPr>
        <p:blipFill>
          <a:blip r:embed="rId3" cstate="print"/>
          <a:stretch>
            <a:fillRect/>
          </a:stretch>
        </p:blipFill>
        <p:spPr>
          <a:xfrm>
            <a:off x="6588224" y="4653136"/>
            <a:ext cx="1895175" cy="1470656"/>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Importance of accessing useful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Methods of determine usefulness of product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Appraising cost of obtaining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Complying with enterprise policies and commercial agreements, including agency, sub-agency and franchise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Reviewing the utility of sources on a regular basis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5" name="Picture 4" descr="shutterstock_163282610.jpg"/>
          <p:cNvPicPr>
            <a:picLocks noChangeAspect="1"/>
          </p:cNvPicPr>
          <p:nvPr/>
        </p:nvPicPr>
        <p:blipFill>
          <a:blip r:embed="rId3" cstate="print"/>
          <a:stretch>
            <a:fillRect/>
          </a:stretch>
        </p:blipFill>
        <p:spPr>
          <a:xfrm>
            <a:off x="3563888" y="5157192"/>
            <a:ext cx="1955832" cy="130454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Importance of accessing useful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Assessing information needs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When assessing information needs, do not get overwhelmed with too much information. </a:t>
            </a:r>
          </a:p>
          <a:p>
            <a:pPr marL="0">
              <a:spcBef>
                <a:spcPts val="600"/>
              </a:spcBef>
              <a:spcAft>
                <a:spcPts val="1200"/>
              </a:spcAft>
              <a:buNone/>
            </a:pPr>
            <a:r>
              <a:rPr lang="en-AU" sz="2200" dirty="0" smtClean="0">
                <a:latin typeface="Helvetica" pitchFamily="34" charset="0"/>
              </a:rPr>
              <a:t>Only seek out the information that you need. </a:t>
            </a:r>
          </a:p>
          <a:p>
            <a:pPr>
              <a:spcBef>
                <a:spcPts val="600"/>
              </a:spcBef>
              <a:spcAft>
                <a:spcPts val="1200"/>
              </a:spcAft>
            </a:pPr>
            <a:r>
              <a:rPr lang="en-AU" sz="2200" dirty="0" smtClean="0">
                <a:latin typeface="Helvetica" pitchFamily="34" charset="0"/>
              </a:rPr>
              <a:t>How can you identify what information you need for an organisation?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6" name="Picture 5" descr="A6 shutterstock_131673425.jpg"/>
          <p:cNvPicPr/>
          <p:nvPr/>
        </p:nvPicPr>
        <p:blipFill>
          <a:blip r:embed="rId3" cstate="print"/>
          <a:stretch>
            <a:fillRect/>
          </a:stretch>
        </p:blipFill>
        <p:spPr>
          <a:xfrm>
            <a:off x="3419872" y="4509120"/>
            <a:ext cx="2268252" cy="1512168"/>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marL="0">
              <a:spcBef>
                <a:spcPts val="600"/>
              </a:spcBef>
              <a:spcAft>
                <a:spcPts val="1200"/>
              </a:spcAft>
              <a:buNone/>
            </a:pPr>
            <a:r>
              <a:rPr lang="en-AU" sz="2200" b="1" dirty="0" smtClean="0">
                <a:latin typeface="Helvetica" pitchFamily="34" charset="0"/>
              </a:rPr>
              <a:t>Determine the type of items that contain relevant information</a:t>
            </a:r>
          </a:p>
          <a:p>
            <a:pPr marL="0">
              <a:spcBef>
                <a:spcPts val="600"/>
              </a:spcBef>
              <a:spcAft>
                <a:spcPts val="1200"/>
              </a:spcAft>
              <a:buNone/>
            </a:pPr>
            <a:r>
              <a:rPr lang="en-AU" sz="2200" dirty="0" smtClean="0">
                <a:latin typeface="Helvetica" pitchFamily="34" charset="0"/>
              </a:rPr>
              <a:t>The need for information will often determine the type of information required to suit the desired audience.</a:t>
            </a:r>
          </a:p>
          <a:p>
            <a:pPr>
              <a:spcBef>
                <a:spcPts val="600"/>
              </a:spcBef>
              <a:spcAft>
                <a:spcPts val="1200"/>
              </a:spcAft>
            </a:pPr>
            <a:r>
              <a:rPr lang="en-AU" sz="2200" dirty="0" smtClean="0">
                <a:latin typeface="Helvetica" pitchFamily="34" charset="0"/>
              </a:rPr>
              <a:t>What are the different types of items that contain valuable product information?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7" name="Picture 6" descr="shutterstock_181039697.jpg"/>
          <p:cNvPicPr>
            <a:picLocks noChangeAspect="1"/>
          </p:cNvPicPr>
          <p:nvPr/>
        </p:nvPicPr>
        <p:blipFill>
          <a:blip r:embed="rId3" cstate="print"/>
          <a:stretch>
            <a:fillRect/>
          </a:stretch>
        </p:blipFill>
        <p:spPr>
          <a:xfrm>
            <a:off x="3563888" y="4725144"/>
            <a:ext cx="2063790" cy="1376548"/>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100" b="1" dirty="0" smtClean="0">
                <a:latin typeface="Helvetica" pitchFamily="34" charset="0"/>
              </a:rPr>
              <a:t>Text-based information</a:t>
            </a:r>
            <a:endParaRPr lang="en-US" sz="2100" dirty="0" smtClean="0">
              <a:latin typeface="Helvetica" pitchFamily="34" charset="0"/>
            </a:endParaRPr>
          </a:p>
          <a:p>
            <a:pPr lvl="0">
              <a:spcBef>
                <a:spcPts val="600"/>
              </a:spcBef>
              <a:spcAft>
                <a:spcPts val="1200"/>
              </a:spcAft>
            </a:pPr>
            <a:r>
              <a:rPr lang="en-US" sz="2100" dirty="0" smtClean="0">
                <a:latin typeface="Helvetica" pitchFamily="34" charset="0"/>
              </a:rPr>
              <a:t>Brochures, flyers and pamphlets</a:t>
            </a:r>
          </a:p>
          <a:p>
            <a:pPr lvl="0">
              <a:spcBef>
                <a:spcPts val="600"/>
              </a:spcBef>
              <a:spcAft>
                <a:spcPts val="1200"/>
              </a:spcAft>
            </a:pPr>
            <a:r>
              <a:rPr lang="en-AU" sz="2100" dirty="0" smtClean="0">
                <a:latin typeface="Helvetica" pitchFamily="34" charset="0"/>
              </a:rPr>
              <a:t>Product manuals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Supplier information and sales kits </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Confidential and general industry tariffs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Preferred contracts or agreements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Clue cards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Fare sheets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Industry publications, advices and notices</a:t>
            </a: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7" name="Picture 6" descr="shutterstock_163163246.jpg"/>
          <p:cNvPicPr/>
          <p:nvPr/>
        </p:nvPicPr>
        <p:blipFill>
          <a:blip r:embed="rId3" cstate="print"/>
          <a:stretch>
            <a:fillRect/>
          </a:stretch>
        </p:blipFill>
        <p:spPr>
          <a:xfrm>
            <a:off x="6444208" y="3284984"/>
            <a:ext cx="1847850" cy="110490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900"/>
              </a:spcAft>
              <a:buNone/>
            </a:pPr>
            <a:r>
              <a:rPr lang="en-AU" sz="2200" b="1" dirty="0" smtClean="0">
                <a:latin typeface="Helvetica" pitchFamily="34" charset="0"/>
              </a:rPr>
              <a:t>Text-based information</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Media articles</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Travel literature</a:t>
            </a:r>
            <a:endParaRPr lang="en-US" sz="2200" b="1" dirty="0" smtClean="0">
              <a:latin typeface="Helvetica" pitchFamily="34" charset="0"/>
            </a:endParaRPr>
          </a:p>
          <a:p>
            <a:pPr lvl="0">
              <a:spcBef>
                <a:spcPts val="600"/>
              </a:spcBef>
              <a:spcAft>
                <a:spcPts val="900"/>
              </a:spcAft>
            </a:pPr>
            <a:r>
              <a:rPr lang="en-AU" sz="2200" dirty="0" smtClean="0">
                <a:latin typeface="Helvetica" pitchFamily="34" charset="0"/>
              </a:rPr>
              <a:t>Travel guides</a:t>
            </a:r>
            <a:endParaRPr lang="en-US" sz="2200" b="1" dirty="0" smtClean="0">
              <a:latin typeface="Helvetica" pitchFamily="34" charset="0"/>
            </a:endParaRPr>
          </a:p>
          <a:p>
            <a:pPr lvl="0">
              <a:spcBef>
                <a:spcPts val="600"/>
              </a:spcBef>
              <a:spcAft>
                <a:spcPts val="900"/>
              </a:spcAft>
            </a:pPr>
            <a:r>
              <a:rPr lang="en-AU" sz="2200" dirty="0" smtClean="0">
                <a:latin typeface="Helvetica" pitchFamily="34" charset="0"/>
              </a:rPr>
              <a:t>Newspapers and magazines</a:t>
            </a:r>
            <a:endParaRPr lang="en-US" sz="2200" b="1" dirty="0" smtClean="0">
              <a:latin typeface="Helvetica" pitchFamily="34" charset="0"/>
            </a:endParaRPr>
          </a:p>
          <a:p>
            <a:pPr lvl="0">
              <a:spcBef>
                <a:spcPts val="600"/>
              </a:spcBef>
              <a:spcAft>
                <a:spcPts val="900"/>
              </a:spcAft>
            </a:pPr>
            <a:r>
              <a:rPr lang="en-AU" sz="2200" dirty="0" smtClean="0">
                <a:latin typeface="Helvetica" pitchFamily="34" charset="0"/>
              </a:rPr>
              <a:t>Timetables</a:t>
            </a:r>
            <a:endParaRPr lang="en-US" sz="2200" b="1" dirty="0" smtClean="0">
              <a:latin typeface="Helvetica" pitchFamily="34" charset="0"/>
            </a:endParaRPr>
          </a:p>
          <a:p>
            <a:pPr lvl="0">
              <a:spcBef>
                <a:spcPts val="600"/>
              </a:spcBef>
              <a:spcAft>
                <a:spcPts val="900"/>
              </a:spcAft>
            </a:pPr>
            <a:r>
              <a:rPr lang="en-AU" sz="2200" dirty="0" smtClean="0">
                <a:latin typeface="Helvetica" pitchFamily="34" charset="0"/>
              </a:rPr>
              <a:t>Reports</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Summaries</a:t>
            </a:r>
            <a:endParaRPr lang="en-US" sz="2200" dirty="0" smtClean="0">
              <a:latin typeface="Helvetica" pitchFamily="34" charset="0"/>
            </a:endParaRPr>
          </a:p>
          <a:p>
            <a:pPr lvl="0">
              <a:spcBef>
                <a:spcPts val="600"/>
              </a:spcBef>
              <a:spcAft>
                <a:spcPts val="900"/>
              </a:spcAft>
            </a:pPr>
            <a:r>
              <a:rPr lang="en-AU" sz="2200" dirty="0" smtClean="0">
                <a:latin typeface="Helvetica" pitchFamily="34" charset="0"/>
              </a:rPr>
              <a:t>Marketing materials and books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6" name="Picture 5" descr="shutterstock_129508757.jpg"/>
          <p:cNvPicPr>
            <a:picLocks noChangeAspect="1"/>
          </p:cNvPicPr>
          <p:nvPr/>
        </p:nvPicPr>
        <p:blipFill>
          <a:blip r:embed="rId3" cstate="print"/>
          <a:stretch>
            <a:fillRect/>
          </a:stretch>
        </p:blipFill>
        <p:spPr>
          <a:xfrm>
            <a:off x="5940152" y="3068960"/>
            <a:ext cx="2028056" cy="1342573"/>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Image-based material</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images are often included in text based information, specific image based material can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Photographs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Recordings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Videos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Posters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Atlases and maps</a:t>
            </a: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7" name="Picture 6" descr="shutterstock_53668378.jpg"/>
          <p:cNvPicPr/>
          <p:nvPr/>
        </p:nvPicPr>
        <p:blipFill>
          <a:blip r:embed="rId3" cstate="print"/>
          <a:stretch>
            <a:fillRect/>
          </a:stretch>
        </p:blipFill>
        <p:spPr>
          <a:xfrm>
            <a:off x="5724128" y="3573016"/>
            <a:ext cx="2071861" cy="1426071"/>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Statistics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Statistics is the study of the collection, analysis, interpretation, presentation, and organisation of data.</a:t>
            </a:r>
          </a:p>
          <a:p>
            <a:pPr>
              <a:spcBef>
                <a:spcPts val="600"/>
              </a:spcBef>
              <a:spcAft>
                <a:spcPts val="1200"/>
              </a:spcAft>
              <a:buNone/>
            </a:pPr>
            <a:r>
              <a:rPr lang="en-AU" sz="2200" dirty="0" smtClean="0">
                <a:latin typeface="Helvetica" pitchFamily="34" charset="0"/>
              </a:rPr>
              <a:t>Statistics can include information relating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Industry as a whole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Specific to your business</a:t>
            </a:r>
            <a:endParaRPr lang="en-US" sz="2200" dirty="0" smtClean="0">
              <a:latin typeface="Helvetica" pitchFamily="34" charset="0"/>
            </a:endParaRPr>
          </a:p>
          <a:p>
            <a:pPr>
              <a:buNone/>
            </a:pPr>
            <a:endParaRPr lang="en-US" sz="2400" dirty="0" smtClean="0"/>
          </a:p>
          <a:p>
            <a:pPr>
              <a:spcBef>
                <a:spcPts val="600"/>
              </a:spcBef>
              <a:spcAft>
                <a:spcPts val="600"/>
              </a:spcAft>
              <a:buNone/>
            </a:pPr>
            <a:endParaRPr lang="en-AU" sz="2200" dirty="0" smtClean="0">
              <a:solidFill>
                <a:srgbClr val="FF6600"/>
              </a:solidFill>
            </a:endParaRPr>
          </a:p>
          <a:p>
            <a:pPr lvl="0">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7" name="Picture 6" descr="shutterstock_31468954.jpg"/>
          <p:cNvPicPr/>
          <p:nvPr/>
        </p:nvPicPr>
        <p:blipFill>
          <a:blip r:embed="rId3" cstate="print"/>
          <a:stretch>
            <a:fillRect/>
          </a:stretch>
        </p:blipFill>
        <p:spPr>
          <a:xfrm>
            <a:off x="6516216" y="3861048"/>
            <a:ext cx="1733550" cy="1162050"/>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200" b="1" dirty="0" smtClean="0">
                <a:latin typeface="Helvetica" pitchFamily="34" charset="0"/>
              </a:rPr>
              <a:t>Industry statistics</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Types of tourism businesses</a:t>
            </a:r>
          </a:p>
          <a:p>
            <a:pPr lvl="0">
              <a:spcBef>
                <a:spcPts val="600"/>
              </a:spcBef>
              <a:spcAft>
                <a:spcPts val="600"/>
              </a:spcAft>
            </a:pPr>
            <a:r>
              <a:rPr lang="en-US" sz="2200" dirty="0" smtClean="0">
                <a:latin typeface="Helvetica" pitchFamily="34" charset="0"/>
              </a:rPr>
              <a:t>Types and demographics of customers</a:t>
            </a:r>
          </a:p>
          <a:p>
            <a:pPr lvl="0">
              <a:spcBef>
                <a:spcPts val="600"/>
              </a:spcBef>
              <a:spcAft>
                <a:spcPts val="600"/>
              </a:spcAft>
            </a:pPr>
            <a:r>
              <a:rPr lang="en-US" sz="2200" dirty="0" smtClean="0">
                <a:latin typeface="Helvetica" pitchFamily="34" charset="0"/>
              </a:rPr>
              <a:t>Top destinations</a:t>
            </a:r>
          </a:p>
          <a:p>
            <a:pPr lvl="0">
              <a:spcBef>
                <a:spcPts val="600"/>
              </a:spcBef>
              <a:spcAft>
                <a:spcPts val="600"/>
              </a:spcAft>
            </a:pPr>
            <a:r>
              <a:rPr lang="en-US" sz="2200" dirty="0" smtClean="0">
                <a:latin typeface="Helvetica" pitchFamily="34" charset="0"/>
              </a:rPr>
              <a:t>Hotel occupancy percentages</a:t>
            </a:r>
          </a:p>
          <a:p>
            <a:pPr lvl="0">
              <a:spcBef>
                <a:spcPts val="600"/>
              </a:spcBef>
              <a:spcAft>
                <a:spcPts val="600"/>
              </a:spcAft>
            </a:pPr>
            <a:r>
              <a:rPr lang="en-US" sz="2200" dirty="0" smtClean="0">
                <a:latin typeface="Helvetica" pitchFamily="34" charset="0"/>
              </a:rPr>
              <a:t>Reasons for stays</a:t>
            </a:r>
          </a:p>
          <a:p>
            <a:pPr lvl="0">
              <a:spcBef>
                <a:spcPts val="600"/>
              </a:spcBef>
              <a:spcAft>
                <a:spcPts val="600"/>
              </a:spcAft>
            </a:pPr>
            <a:r>
              <a:rPr lang="en-US" sz="2200" dirty="0" smtClean="0">
                <a:latin typeface="Helvetica" pitchFamily="34" charset="0"/>
              </a:rPr>
              <a:t>Current industry information</a:t>
            </a:r>
          </a:p>
          <a:p>
            <a:pPr>
              <a:spcBef>
                <a:spcPts val="600"/>
              </a:spcBef>
              <a:spcAft>
                <a:spcPts val="600"/>
              </a:spcAft>
            </a:pPr>
            <a:r>
              <a:rPr lang="en-AU" sz="2200" dirty="0" smtClean="0">
                <a:latin typeface="Helvetica" pitchFamily="34" charset="0"/>
              </a:rPr>
              <a:t>Destination countries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7" name="Picture 6" descr="A2 shutterstock_99180761.jpg"/>
          <p:cNvPicPr/>
          <p:nvPr/>
        </p:nvPicPr>
        <p:blipFill>
          <a:blip r:embed="rId3" cstate="print"/>
          <a:stretch>
            <a:fillRect/>
          </a:stretch>
        </p:blipFill>
        <p:spPr>
          <a:xfrm>
            <a:off x="6516216" y="3140968"/>
            <a:ext cx="1673860" cy="1114425"/>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200" b="1" dirty="0" smtClean="0">
                <a:latin typeface="Helvetica" pitchFamily="34" charset="0"/>
              </a:rPr>
              <a:t>Industry statistics</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Departure months</a:t>
            </a:r>
          </a:p>
          <a:p>
            <a:pPr lvl="0">
              <a:spcBef>
                <a:spcPts val="600"/>
              </a:spcBef>
              <a:spcAft>
                <a:spcPts val="600"/>
              </a:spcAft>
            </a:pPr>
            <a:r>
              <a:rPr lang="en-US" sz="2200" dirty="0" smtClean="0">
                <a:latin typeface="Helvetica" pitchFamily="34" charset="0"/>
              </a:rPr>
              <a:t>Length of stay</a:t>
            </a:r>
          </a:p>
          <a:p>
            <a:pPr lvl="0">
              <a:spcBef>
                <a:spcPts val="600"/>
              </a:spcBef>
              <a:spcAft>
                <a:spcPts val="600"/>
              </a:spcAft>
            </a:pPr>
            <a:r>
              <a:rPr lang="en-US" sz="2200" dirty="0" smtClean="0">
                <a:latin typeface="Helvetica" pitchFamily="34" charset="0"/>
              </a:rPr>
              <a:t>Type of organisation for the trip</a:t>
            </a:r>
          </a:p>
          <a:p>
            <a:pPr lvl="0">
              <a:spcBef>
                <a:spcPts val="600"/>
              </a:spcBef>
              <a:spcAft>
                <a:spcPts val="600"/>
              </a:spcAft>
            </a:pPr>
            <a:r>
              <a:rPr lang="en-US" sz="2200" dirty="0" smtClean="0">
                <a:latin typeface="Helvetica" pitchFamily="34" charset="0"/>
              </a:rPr>
              <a:t>Transport mode</a:t>
            </a:r>
          </a:p>
          <a:p>
            <a:pPr lvl="0">
              <a:spcBef>
                <a:spcPts val="600"/>
              </a:spcBef>
              <a:spcAft>
                <a:spcPts val="600"/>
              </a:spcAft>
            </a:pPr>
            <a:r>
              <a:rPr lang="en-US" sz="2200" dirty="0" smtClean="0">
                <a:latin typeface="Helvetica" pitchFamily="34" charset="0"/>
              </a:rPr>
              <a:t>Accommodation type</a:t>
            </a:r>
          </a:p>
          <a:p>
            <a:pPr lvl="0">
              <a:spcBef>
                <a:spcPts val="600"/>
              </a:spcBef>
              <a:spcAft>
                <a:spcPts val="600"/>
              </a:spcAft>
            </a:pPr>
            <a:r>
              <a:rPr lang="en-US" sz="2200" dirty="0" smtClean="0">
                <a:latin typeface="Helvetica" pitchFamily="34" charset="0"/>
              </a:rPr>
              <a:t>Expenditure</a:t>
            </a:r>
          </a:p>
          <a:p>
            <a:pPr lvl="0">
              <a:spcBef>
                <a:spcPts val="600"/>
              </a:spcBef>
              <a:spcAft>
                <a:spcPts val="600"/>
              </a:spcAft>
            </a:pPr>
            <a:r>
              <a:rPr lang="en-US" sz="2200" dirty="0" smtClean="0">
                <a:latin typeface="Helvetica" pitchFamily="34" charset="0"/>
              </a:rPr>
              <a:t>Popular tourist attractions</a:t>
            </a:r>
          </a:p>
          <a:p>
            <a:pPr>
              <a:spcBef>
                <a:spcPts val="600"/>
              </a:spcBef>
              <a:spcAft>
                <a:spcPts val="600"/>
              </a:spcAft>
              <a:buNone/>
            </a:pPr>
            <a:endParaRPr lang="en-AU" sz="2200" dirty="0" smtClean="0">
              <a:solidFill>
                <a:srgbClr val="FF6600"/>
              </a:solidFill>
            </a:endParaRPr>
          </a:p>
          <a:p>
            <a:pPr lvl="0">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shutterstock_155573669.jpg"/>
          <p:cNvPicPr>
            <a:picLocks noChangeAspect="1"/>
          </p:cNvPicPr>
          <p:nvPr/>
        </p:nvPicPr>
        <p:blipFill>
          <a:blip r:embed="rId3" cstate="print"/>
          <a:stretch>
            <a:fillRect/>
          </a:stretch>
        </p:blipFill>
        <p:spPr>
          <a:xfrm>
            <a:off x="6444208" y="2492896"/>
            <a:ext cx="1709540" cy="2161239"/>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840760" cy="5301208"/>
          </a:xfrm>
        </p:spPr>
        <p:txBody>
          <a:bodyPr>
            <a:normAutofit/>
          </a:bodyPr>
          <a:lstStyle/>
          <a:p>
            <a:pPr>
              <a:spcBef>
                <a:spcPts val="600"/>
              </a:spcBef>
              <a:spcAft>
                <a:spcPts val="1200"/>
              </a:spcAft>
              <a:buNone/>
            </a:pPr>
            <a:r>
              <a:rPr lang="en-AU" sz="2200" b="1" dirty="0" smtClean="0">
                <a:latin typeface="Helvetica" pitchFamily="34" charset="0"/>
              </a:rPr>
              <a:t>Testimonials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A testimonial can be a formal statement testifying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Someone's character, performance, professionalism, qualifications, skills or achievements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virtues of a company and the products and services it provides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How the experience benefited them on a personal basis</a:t>
            </a: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a:buNone/>
            </a:pPr>
            <a:endParaRPr lang="en-US" sz="2400" dirty="0" smtClean="0"/>
          </a:p>
          <a:p>
            <a:pPr>
              <a:spcBef>
                <a:spcPts val="600"/>
              </a:spcBef>
              <a:spcAft>
                <a:spcPts val="600"/>
              </a:spcAft>
              <a:buNone/>
            </a:pPr>
            <a:endParaRPr lang="en-AU" sz="2200" dirty="0" smtClean="0">
              <a:solidFill>
                <a:srgbClr val="FF6600"/>
              </a:solidFill>
            </a:endParaRPr>
          </a:p>
          <a:p>
            <a:pPr lvl="0">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6" name="Picture 5" descr="shutterstock_141396034.jpg"/>
          <p:cNvPicPr/>
          <p:nvPr/>
        </p:nvPicPr>
        <p:blipFill>
          <a:blip r:embed="rId3" cstate="print"/>
          <a:stretch>
            <a:fillRect/>
          </a:stretch>
        </p:blipFill>
        <p:spPr>
          <a:xfrm>
            <a:off x="6372200" y="2708920"/>
            <a:ext cx="1771650" cy="1181100"/>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72608"/>
          </a:xfrm>
        </p:spPr>
        <p:txBody>
          <a:bodyPr>
            <a:normAutofit/>
          </a:bodyPr>
          <a:lstStyle/>
          <a:p>
            <a:pPr marL="0">
              <a:spcBef>
                <a:spcPts val="600"/>
              </a:spcBef>
              <a:spcAft>
                <a:spcPts val="1200"/>
              </a:spcAft>
              <a:buNone/>
            </a:pPr>
            <a:r>
              <a:rPr lang="en-US" sz="2200" b="1" dirty="0" smtClean="0">
                <a:latin typeface="Helvetica" pitchFamily="34" charset="0"/>
              </a:rPr>
              <a:t>Specifications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specification refers to the manner in which a good or service is to be provided</a:t>
            </a:r>
          </a:p>
          <a:p>
            <a:pPr>
              <a:spcBef>
                <a:spcPts val="600"/>
              </a:spcBef>
              <a:spcAft>
                <a:spcPts val="1200"/>
              </a:spcAft>
            </a:pPr>
            <a:r>
              <a:rPr lang="en-AU" sz="2200" dirty="0" smtClean="0">
                <a:latin typeface="Helvetica" pitchFamily="34" charset="0"/>
              </a:rPr>
              <a:t>This includes constituents, construction, appearance, performance of a material or apparatus or the standard of workmanship required in its manufacturer</a:t>
            </a:r>
            <a:endParaRPr lang="en-US" sz="2200" dirty="0" smtClean="0">
              <a:latin typeface="Helvetica" pitchFamily="34" charset="0"/>
            </a:endParaRPr>
          </a:p>
          <a:p>
            <a:endParaRPr lang="en-US" sz="2400" dirty="0" smtClean="0"/>
          </a:p>
          <a:p>
            <a:pPr lvl="0">
              <a:spcBef>
                <a:spcPts val="600"/>
              </a:spcBef>
              <a:spcAft>
                <a:spcPts val="1200"/>
              </a:spcAft>
              <a:buNone/>
            </a:pPr>
            <a:endParaRPr lang="en-AU" sz="2200" dirty="0" smtClean="0">
              <a:solidFill>
                <a:srgbClr val="FF6600"/>
              </a:solidFill>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smtClean="0"/>
          </a:p>
          <a:p>
            <a:pPr>
              <a:buNone/>
            </a:pPr>
            <a:endParaRPr lang="en-US" sz="2400" dirty="0" smtClean="0"/>
          </a:p>
          <a:p>
            <a:pPr marL="0">
              <a:spcBef>
                <a:spcPts val="600"/>
              </a:spcBef>
              <a:spcAft>
                <a:spcPts val="6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7" name="Picture 6" descr="shutterstock_140073586.jpg"/>
          <p:cNvPicPr/>
          <p:nvPr/>
        </p:nvPicPr>
        <p:blipFill>
          <a:blip r:embed="rId3" cstate="print"/>
          <a:stretch>
            <a:fillRect/>
          </a:stretch>
        </p:blipFill>
        <p:spPr>
          <a:xfrm>
            <a:off x="3779912" y="4581128"/>
            <a:ext cx="2047875" cy="1338263"/>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480720" cy="5072608"/>
          </a:xfrm>
        </p:spPr>
        <p:txBody>
          <a:bodyPr>
            <a:normAutofit/>
          </a:bodyPr>
          <a:lstStyle/>
          <a:p>
            <a:pPr>
              <a:spcBef>
                <a:spcPts val="600"/>
              </a:spcBef>
              <a:spcAft>
                <a:spcPts val="1200"/>
              </a:spcAft>
              <a:buNone/>
            </a:pPr>
            <a:r>
              <a:rPr lang="en-AU" sz="2200" b="1" dirty="0" smtClean="0">
                <a:latin typeface="Helvetica" pitchFamily="34" charset="0"/>
              </a:rPr>
              <a:t>Work or equipment specifications</a:t>
            </a:r>
            <a:endParaRPr lang="en-US" sz="2200" b="1" dirty="0" smtClean="0">
              <a:latin typeface="Helvetica" pitchFamily="34" charset="0"/>
            </a:endParaRPr>
          </a:p>
          <a:p>
            <a:pPr>
              <a:spcBef>
                <a:spcPts val="600"/>
              </a:spcBef>
              <a:spcAft>
                <a:spcPts val="1200"/>
              </a:spcAft>
              <a:buNone/>
            </a:pPr>
            <a:r>
              <a:rPr lang="en-AU" sz="2200" dirty="0" smtClean="0">
                <a:latin typeface="Helvetica" pitchFamily="34" charset="0"/>
              </a:rPr>
              <a:t>Work or equipment specifications may relate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Description of equipment or work to be provided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Standard of equipment or work to be provided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Purpose of equipment or work to be provided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Design or capability requirements</a:t>
            </a:r>
            <a:endParaRPr lang="en-US" sz="2200" dirty="0" smtClean="0">
              <a:latin typeface="Helvetica" pitchFamily="34" charset="0"/>
            </a:endParaRPr>
          </a:p>
          <a:p>
            <a:endParaRPr lang="en-US" sz="2400" dirty="0" smtClean="0"/>
          </a:p>
          <a:p>
            <a:pPr lvl="0">
              <a:spcBef>
                <a:spcPts val="600"/>
              </a:spcBef>
              <a:spcAft>
                <a:spcPts val="1200"/>
              </a:spcAft>
              <a:buNone/>
            </a:pPr>
            <a:endParaRPr lang="en-AU" sz="2200" dirty="0" smtClean="0">
              <a:solidFill>
                <a:srgbClr val="FF6600"/>
              </a:solidFill>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smtClean="0"/>
          </a:p>
          <a:p>
            <a:pPr>
              <a:buNone/>
            </a:pPr>
            <a:endParaRPr lang="en-US" sz="2400" dirty="0" smtClean="0"/>
          </a:p>
          <a:p>
            <a:pPr marL="0">
              <a:spcBef>
                <a:spcPts val="600"/>
              </a:spcBef>
              <a:spcAft>
                <a:spcPts val="6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6" name="Picture 5" descr="A7 shutterstock_138419417.jpg"/>
          <p:cNvPicPr>
            <a:picLocks noChangeAspect="1"/>
          </p:cNvPicPr>
          <p:nvPr/>
        </p:nvPicPr>
        <p:blipFill>
          <a:blip r:embed="rId3" cstate="print"/>
          <a:stretch>
            <a:fillRect/>
          </a:stretch>
        </p:blipFill>
        <p:spPr>
          <a:xfrm>
            <a:off x="7092280" y="3140968"/>
            <a:ext cx="1982346" cy="131826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72608"/>
          </a:xfrm>
        </p:spPr>
        <p:txBody>
          <a:bodyPr>
            <a:normAutofit/>
          </a:bodyPr>
          <a:lstStyle/>
          <a:p>
            <a:pPr>
              <a:spcBef>
                <a:spcPts val="600"/>
              </a:spcBef>
              <a:spcAft>
                <a:spcPts val="1200"/>
              </a:spcAft>
              <a:buNone/>
            </a:pPr>
            <a:r>
              <a:rPr lang="en-AU" sz="2200" b="1" dirty="0" smtClean="0">
                <a:latin typeface="Helvetica" pitchFamily="34" charset="0"/>
              </a:rPr>
              <a:t>Quotations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Quotations are used by tourism and travel organisations to sell their products and services, through the use of suppliers, summarised in a way that adds value for the customer.</a:t>
            </a:r>
          </a:p>
          <a:p>
            <a:pPr>
              <a:spcBef>
                <a:spcPts val="600"/>
              </a:spcBef>
              <a:spcAft>
                <a:spcPts val="1200"/>
              </a:spcAft>
            </a:pPr>
            <a:r>
              <a:rPr lang="en-AU" sz="2200" dirty="0" smtClean="0">
                <a:latin typeface="Helvetica" pitchFamily="34" charset="0"/>
              </a:rPr>
              <a:t>What information is normally included in a quotation?</a:t>
            </a:r>
            <a:endParaRPr lang="en-US" sz="2200" dirty="0" smtClean="0">
              <a:latin typeface="Helvetica" pitchFamily="34" charset="0"/>
            </a:endParaRPr>
          </a:p>
          <a:p>
            <a:endParaRPr lang="en-US" sz="2400" dirty="0" smtClean="0"/>
          </a:p>
          <a:p>
            <a:pPr lvl="0">
              <a:spcBef>
                <a:spcPts val="600"/>
              </a:spcBef>
              <a:spcAft>
                <a:spcPts val="1200"/>
              </a:spcAft>
              <a:buNone/>
            </a:pPr>
            <a:endParaRPr lang="en-AU" sz="2200" dirty="0" smtClean="0">
              <a:solidFill>
                <a:srgbClr val="FF6600"/>
              </a:solidFill>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smtClean="0"/>
          </a:p>
          <a:p>
            <a:pPr>
              <a:buNone/>
            </a:pPr>
            <a:endParaRPr lang="en-US" sz="2400" dirty="0" smtClean="0"/>
          </a:p>
          <a:p>
            <a:pPr marL="0">
              <a:spcBef>
                <a:spcPts val="600"/>
              </a:spcBef>
              <a:spcAft>
                <a:spcPts val="6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7" name="Picture 6" descr="shutterstock_161774252.jpg"/>
          <p:cNvPicPr/>
          <p:nvPr/>
        </p:nvPicPr>
        <p:blipFill>
          <a:blip r:embed="rId3" cstate="print"/>
          <a:stretch>
            <a:fillRect/>
          </a:stretch>
        </p:blipFill>
        <p:spPr>
          <a:xfrm>
            <a:off x="3923928" y="4365104"/>
            <a:ext cx="1335782" cy="1967243"/>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items containing product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Personal observations</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Naturally one of the best types of information that can be used by an organisation is that which has been personally collected.</a:t>
            </a:r>
          </a:p>
          <a:p>
            <a:pPr lvl="0">
              <a:spcBef>
                <a:spcPts val="600"/>
              </a:spcBef>
              <a:spcAft>
                <a:spcPts val="1200"/>
              </a:spcAft>
            </a:pPr>
            <a:r>
              <a:rPr lang="en-US" sz="2200" dirty="0" smtClean="0">
                <a:latin typeface="Helvetica" pitchFamily="34" charset="0"/>
              </a:rPr>
              <a:t>Personal notes</a:t>
            </a:r>
          </a:p>
          <a:p>
            <a:pPr lvl="0">
              <a:spcBef>
                <a:spcPts val="600"/>
              </a:spcBef>
              <a:spcAft>
                <a:spcPts val="1200"/>
              </a:spcAft>
            </a:pPr>
            <a:r>
              <a:rPr lang="en-US" sz="2200" dirty="0" smtClean="0">
                <a:latin typeface="Helvetica" pitchFamily="34" charset="0"/>
              </a:rPr>
              <a:t>Report and findings</a:t>
            </a:r>
          </a:p>
          <a:p>
            <a:pPr lvl="0">
              <a:spcBef>
                <a:spcPts val="600"/>
              </a:spcBef>
              <a:spcAft>
                <a:spcPts val="1200"/>
              </a:spcAft>
            </a:pPr>
            <a:r>
              <a:rPr lang="en-US" sz="2200" dirty="0" smtClean="0">
                <a:latin typeface="Helvetica" pitchFamily="34" charset="0"/>
              </a:rPr>
              <a:t>Log books</a:t>
            </a:r>
          </a:p>
          <a:p>
            <a:pPr lvl="0">
              <a:spcBef>
                <a:spcPts val="600"/>
              </a:spcBef>
              <a:spcAft>
                <a:spcPts val="1200"/>
              </a:spcAft>
            </a:pPr>
            <a:r>
              <a:rPr lang="en-US" sz="2200" dirty="0" smtClean="0">
                <a:latin typeface="Helvetica" pitchFamily="34" charset="0"/>
              </a:rPr>
              <a:t>R</a:t>
            </a:r>
            <a:r>
              <a:rPr lang="en-AU" sz="2200" dirty="0" smtClean="0">
                <a:latin typeface="Helvetica" pitchFamily="34" charset="0"/>
              </a:rPr>
              <a:t>ecords of interviews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Notes of first-hand meetings</a:t>
            </a:r>
          </a:p>
          <a:p>
            <a:pPr>
              <a:spcBef>
                <a:spcPts val="600"/>
              </a:spcBef>
              <a:spcAft>
                <a:spcPts val="1200"/>
              </a:spcAft>
              <a:buNone/>
            </a:pPr>
            <a:r>
              <a:rPr lang="en-AU" sz="2200" dirty="0" smtClean="0">
                <a:solidFill>
                  <a:srgbClr val="FF6600"/>
                </a:solidFill>
              </a:rPr>
              <a:t>COMPLETE ACTIVITY 2</a:t>
            </a:r>
          </a:p>
          <a:p>
            <a:pPr lvl="0">
              <a:spcBef>
                <a:spcPts val="600"/>
              </a:spcBef>
              <a:spcAft>
                <a:spcPts val="1200"/>
              </a:spcAft>
              <a:buNone/>
            </a:pPr>
            <a:endParaRPr lang="en-US" sz="2200" dirty="0" smtClean="0">
              <a:latin typeface="Helvetica" pitchFamily="34" charset="0"/>
            </a:endParaRPr>
          </a:p>
          <a:p>
            <a:endParaRPr lang="en-US" sz="2400" dirty="0" smtClean="0"/>
          </a:p>
          <a:p>
            <a:pPr lvl="0">
              <a:spcBef>
                <a:spcPts val="600"/>
              </a:spcBef>
              <a:spcAft>
                <a:spcPts val="1200"/>
              </a:spcAft>
              <a:buNone/>
            </a:pPr>
            <a:endParaRPr lang="en-AU" sz="2200" dirty="0" smtClean="0">
              <a:solidFill>
                <a:srgbClr val="FF6600"/>
              </a:solidFill>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smtClean="0"/>
          </a:p>
          <a:p>
            <a:pPr>
              <a:buNone/>
            </a:pPr>
            <a:endParaRPr lang="en-US" sz="2400" dirty="0" smtClean="0"/>
          </a:p>
          <a:p>
            <a:pPr marL="0">
              <a:spcBef>
                <a:spcPts val="600"/>
              </a:spcBef>
              <a:spcAft>
                <a:spcPts val="6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6" name="Picture 5" descr="shutterstock_2953316.jpg"/>
          <p:cNvPicPr/>
          <p:nvPr/>
        </p:nvPicPr>
        <p:blipFill>
          <a:blip r:embed="rId3" cstate="print"/>
          <a:stretch>
            <a:fillRect/>
          </a:stretch>
        </p:blipFill>
        <p:spPr>
          <a:xfrm>
            <a:off x="6084168" y="3429000"/>
            <a:ext cx="1693034" cy="1425699"/>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2:</a:t>
            </a:r>
          </a:p>
          <a:p>
            <a:pPr marL="0" indent="0">
              <a:spcBef>
                <a:spcPts val="600"/>
              </a:spcBef>
              <a:spcAft>
                <a:spcPts val="1200"/>
              </a:spcAft>
              <a:buNone/>
            </a:pPr>
            <a:r>
              <a:rPr lang="en-AU" sz="4000" dirty="0" smtClean="0">
                <a:solidFill>
                  <a:srgbClr val="FF6600"/>
                </a:solidFill>
              </a:rPr>
              <a:t>Access product information</a:t>
            </a:r>
            <a:endParaRPr lang="en-AU" sz="40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descr="W641_shutterstock_142097794.jpg"/>
          <p:cNvPicPr>
            <a:picLocks noChangeAspect="1"/>
          </p:cNvPicPr>
          <p:nvPr/>
        </p:nvPicPr>
        <p:blipFill>
          <a:blip r:embed="rId3" cstate="print"/>
          <a:stretch>
            <a:fillRect/>
          </a:stretch>
        </p:blipFill>
        <p:spPr>
          <a:xfrm>
            <a:off x="3059832" y="3789040"/>
            <a:ext cx="2555776" cy="1692787"/>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Access product information</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Select appropriate sources of product information</a:t>
            </a:r>
          </a:p>
          <a:p>
            <a:pPr>
              <a:spcBef>
                <a:spcPts val="600"/>
              </a:spcBef>
              <a:spcAft>
                <a:spcPts val="1200"/>
              </a:spcAft>
            </a:pPr>
            <a:r>
              <a:rPr lang="en-AU" sz="2200" dirty="0" smtClean="0">
                <a:latin typeface="Helvetica" pitchFamily="34" charset="0"/>
              </a:rPr>
              <a:t>Register</a:t>
            </a:r>
            <a:r>
              <a:rPr lang="en-AU" sz="2200" b="1" dirty="0" smtClean="0">
                <a:latin typeface="Helvetica" pitchFamily="34" charset="0"/>
              </a:rPr>
              <a:t> </a:t>
            </a:r>
            <a:r>
              <a:rPr lang="en-AU" sz="2200" dirty="0" smtClean="0">
                <a:latin typeface="Helvetica" pitchFamily="34" charset="0"/>
              </a:rPr>
              <a:t>to receive and/or access product information</a:t>
            </a:r>
          </a:p>
          <a:p>
            <a:pPr>
              <a:spcBef>
                <a:spcPts val="600"/>
              </a:spcBef>
              <a:spcAft>
                <a:spcPts val="1200"/>
              </a:spcAft>
            </a:pPr>
            <a:r>
              <a:rPr lang="en-AU" sz="2200" dirty="0" smtClean="0">
                <a:latin typeface="Helvetica" pitchFamily="34" charset="0"/>
              </a:rPr>
              <a:t>Visit suppliers and other sources to talk with sales staff and obtain items that may contain product information</a:t>
            </a:r>
          </a:p>
          <a:p>
            <a:pPr>
              <a:spcBef>
                <a:spcPts val="600"/>
              </a:spcBef>
              <a:spcAft>
                <a:spcPts val="1200"/>
              </a:spcAft>
            </a:pPr>
            <a:r>
              <a:rPr lang="en-AU" sz="2200" dirty="0" smtClean="0">
                <a:latin typeface="Helvetica" pitchFamily="34" charset="0"/>
              </a:rPr>
              <a:t>Access selected internal databases                                 and internal business systems</a:t>
            </a:r>
          </a:p>
          <a:p>
            <a:pPr>
              <a:spcBef>
                <a:spcPts val="600"/>
              </a:spcBef>
              <a:spcAft>
                <a:spcPts val="1200"/>
              </a:spcAft>
            </a:pPr>
            <a:r>
              <a:rPr lang="en-AU" sz="2200" dirty="0" smtClean="0">
                <a:latin typeface="Helvetica" pitchFamily="34" charset="0"/>
              </a:rPr>
              <a:t>Access external sources of                                             product information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descr="shutterstock_155767691.jpg"/>
          <p:cNvPicPr>
            <a:picLocks noChangeAspect="1"/>
          </p:cNvPicPr>
          <p:nvPr/>
        </p:nvPicPr>
        <p:blipFill>
          <a:blip r:embed="rId3" cstate="print"/>
          <a:stretch>
            <a:fillRect/>
          </a:stretch>
        </p:blipFill>
        <p:spPr>
          <a:xfrm>
            <a:off x="6156176" y="4293096"/>
            <a:ext cx="2063790" cy="1376548"/>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Identify sales needs</a:t>
            </a:r>
          </a:p>
        </p:txBody>
      </p:sp>
      <p:sp>
        <p:nvSpPr>
          <p:cNvPr id="3" name="Content Placeholder 2"/>
          <p:cNvSpPr>
            <a:spLocks noGrp="1"/>
          </p:cNvSpPr>
          <p:nvPr>
            <p:ph idx="1"/>
          </p:nvPr>
        </p:nvSpPr>
        <p:spPr>
          <a:xfrm>
            <a:off x="539552" y="1412776"/>
            <a:ext cx="7467600" cy="5301208"/>
          </a:xfrm>
        </p:spPr>
        <p:txBody>
          <a:bodyPr>
            <a:normAutofit/>
          </a:bodyPr>
          <a:lstStyle/>
          <a:p>
            <a:pPr>
              <a:spcBef>
                <a:spcPts val="600"/>
              </a:spcBef>
              <a:spcAft>
                <a:spcPts val="1200"/>
              </a:spcAft>
              <a:buNone/>
            </a:pPr>
            <a:r>
              <a:rPr lang="en-AU" sz="2200" b="1" dirty="0" smtClean="0">
                <a:latin typeface="Helvetica" pitchFamily="34" charset="0"/>
              </a:rPr>
              <a:t>Identify specific sales needs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Ultimately the goal </a:t>
            </a:r>
            <a:r>
              <a:rPr lang="en-US" sz="2200" dirty="0" smtClean="0">
                <a:latin typeface="Helvetica" pitchFamily="34" charset="0"/>
              </a:rPr>
              <a:t>of collecting and accessing information </a:t>
            </a:r>
            <a:r>
              <a:rPr lang="en-AU" sz="2200" dirty="0" smtClean="0">
                <a:latin typeface="Helvetica" pitchFamily="34" charset="0"/>
              </a:rPr>
              <a:t>is to provide the best possible service and to meet the client’s needs thus enabling you to make the sale and process the booking. </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The first step in collecting information is to identify the needs or reasons why collecting information is essential.</a:t>
            </a:r>
          </a:p>
          <a:p>
            <a:pPr>
              <a:spcBef>
                <a:spcPts val="600"/>
              </a:spcBef>
              <a:spcAft>
                <a:spcPts val="1200"/>
              </a:spcAft>
            </a:pPr>
            <a:r>
              <a:rPr lang="en-AU" sz="2200" dirty="0" smtClean="0">
                <a:latin typeface="Helvetica" pitchFamily="34" charset="0"/>
              </a:rPr>
              <a:t>What are examples of sales needs?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descr="shutterstock_128200763.jpg"/>
          <p:cNvPicPr/>
          <p:nvPr/>
        </p:nvPicPr>
        <p:blipFill>
          <a:blip r:embed="rId3" cstate="print"/>
          <a:stretch>
            <a:fillRect/>
          </a:stretch>
        </p:blipFill>
        <p:spPr>
          <a:xfrm>
            <a:off x="3563888" y="5301208"/>
            <a:ext cx="1843405" cy="1228725"/>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Identify sales needs</a:t>
            </a:r>
          </a:p>
        </p:txBody>
      </p:sp>
      <p:sp>
        <p:nvSpPr>
          <p:cNvPr id="3" name="Content Placeholder 2"/>
          <p:cNvSpPr>
            <a:spLocks noGrp="1"/>
          </p:cNvSpPr>
          <p:nvPr>
            <p:ph idx="1"/>
          </p:nvPr>
        </p:nvSpPr>
        <p:spPr>
          <a:xfrm>
            <a:off x="560784" y="1412776"/>
            <a:ext cx="7467600" cy="5301208"/>
          </a:xfrm>
        </p:spPr>
        <p:txBody>
          <a:bodyPr>
            <a:normAutofit/>
          </a:bodyPr>
          <a:lstStyle/>
          <a:p>
            <a:pPr>
              <a:spcBef>
                <a:spcPts val="600"/>
              </a:spcBef>
              <a:spcAft>
                <a:spcPts val="1200"/>
              </a:spcAft>
              <a:buNone/>
            </a:pPr>
            <a:r>
              <a:rPr lang="en-AU" sz="2200" b="1" dirty="0" smtClean="0">
                <a:latin typeface="Helvetica" pitchFamily="34" charset="0"/>
              </a:rPr>
              <a:t>Identify specific sales needs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Consultation with client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Non-negotiable client needs, including budget, timing, duration of travel, required destination and activities, health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Requests from and preferences of client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Source and provide information and advice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Make recommendations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6" name="Picture 5" descr="shutterstock_127213061.jpg"/>
          <p:cNvPicPr/>
          <p:nvPr/>
        </p:nvPicPr>
        <p:blipFill>
          <a:blip r:embed="rId3" cstate="print"/>
          <a:stretch>
            <a:fillRect/>
          </a:stretch>
        </p:blipFill>
        <p:spPr>
          <a:xfrm>
            <a:off x="6948264" y="3645024"/>
            <a:ext cx="1790700" cy="1247775"/>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Identify sales needs</a:t>
            </a:r>
          </a:p>
        </p:txBody>
      </p:sp>
      <p:sp>
        <p:nvSpPr>
          <p:cNvPr id="3" name="Content Placeholder 2"/>
          <p:cNvSpPr>
            <a:spLocks noGrp="1"/>
          </p:cNvSpPr>
          <p:nvPr>
            <p:ph idx="1"/>
          </p:nvPr>
        </p:nvSpPr>
        <p:spPr>
          <a:xfrm>
            <a:off x="539552" y="1368152"/>
            <a:ext cx="6480720" cy="5301208"/>
          </a:xfrm>
        </p:spPr>
        <p:txBody>
          <a:bodyPr>
            <a:normAutofit fontScale="92500"/>
          </a:bodyPr>
          <a:lstStyle/>
          <a:p>
            <a:pPr>
              <a:spcBef>
                <a:spcPts val="600"/>
              </a:spcBef>
              <a:spcAft>
                <a:spcPts val="1200"/>
              </a:spcAft>
              <a:buNone/>
            </a:pPr>
            <a:r>
              <a:rPr lang="en-AU" sz="2200" b="1" dirty="0" smtClean="0">
                <a:latin typeface="Helvetica" pitchFamily="34" charset="0"/>
              </a:rPr>
              <a:t>Identify specific sales needs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Check availability and prices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Provide quotation including booking terms and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Processing a reservation, including booking and coordinating supplier services and products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Collect applicable deposits and provide to applicable parties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Provide written confirmation and due dates for final payment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Collect final payment and provide to applicable parties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6" name="Picture 5" descr="shutterstock_150882020.jpg"/>
          <p:cNvPicPr>
            <a:picLocks noChangeAspect="1"/>
          </p:cNvPicPr>
          <p:nvPr/>
        </p:nvPicPr>
        <p:blipFill>
          <a:blip r:embed="rId3" cstate="print"/>
          <a:stretch>
            <a:fillRect/>
          </a:stretch>
        </p:blipFill>
        <p:spPr>
          <a:xfrm>
            <a:off x="6948264" y="3284984"/>
            <a:ext cx="1451992" cy="1451992"/>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Identify sales needs</a:t>
            </a:r>
          </a:p>
        </p:txBody>
      </p:sp>
      <p:sp>
        <p:nvSpPr>
          <p:cNvPr id="3" name="Content Placeholder 2"/>
          <p:cNvSpPr>
            <a:spLocks noGrp="1"/>
          </p:cNvSpPr>
          <p:nvPr>
            <p:ph idx="1"/>
          </p:nvPr>
        </p:nvSpPr>
        <p:spPr>
          <a:xfrm>
            <a:off x="611560" y="1556792"/>
            <a:ext cx="6552728" cy="5301208"/>
          </a:xfrm>
        </p:spPr>
        <p:txBody>
          <a:bodyPr>
            <a:normAutofit/>
          </a:bodyPr>
          <a:lstStyle/>
          <a:p>
            <a:pPr>
              <a:spcBef>
                <a:spcPts val="600"/>
              </a:spcBef>
              <a:spcAft>
                <a:spcPts val="1200"/>
              </a:spcAft>
              <a:buNone/>
            </a:pPr>
            <a:r>
              <a:rPr lang="en-AU" sz="2200" b="1" dirty="0" smtClean="0">
                <a:latin typeface="Helvetica" pitchFamily="34" charset="0"/>
              </a:rPr>
              <a:t>Identify specific sales needs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Processing financial transactions, including payment of deposits and full-payment for bookings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Issue or secure non-air and air travel documentation and provide to customer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Need to amend an existing booking due to unforeseen circumstances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Cancellations or alterations made to bookings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descr="shutterstock_181388756.jpg"/>
          <p:cNvPicPr>
            <a:picLocks noChangeAspect="1"/>
          </p:cNvPicPr>
          <p:nvPr/>
        </p:nvPicPr>
        <p:blipFill>
          <a:blip r:embed="rId3" cstate="print"/>
          <a:stretch>
            <a:fillRect/>
          </a:stretch>
        </p:blipFill>
        <p:spPr>
          <a:xfrm>
            <a:off x="6516216" y="2924944"/>
            <a:ext cx="1884040" cy="1258539"/>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Define search topic and objectives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Defining the topics and objectives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first step is to try to identify exactly where the focus of research and information collection should be concentrated on</a:t>
            </a:r>
          </a:p>
          <a:p>
            <a:pPr>
              <a:spcBef>
                <a:spcPts val="600"/>
              </a:spcBef>
              <a:spcAft>
                <a:spcPts val="1200"/>
              </a:spcAft>
            </a:pPr>
            <a:r>
              <a:rPr lang="en-AU" sz="2200" dirty="0" smtClean="0">
                <a:latin typeface="Helvetica" pitchFamily="34" charset="0"/>
              </a:rPr>
              <a:t>Determining specific research topics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Define research objectives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6" name="Picture 5" descr="shutterstock_143143042.jpg"/>
          <p:cNvPicPr/>
          <p:nvPr/>
        </p:nvPicPr>
        <p:blipFill>
          <a:blip r:embed="rId3" cstate="print"/>
          <a:stretch>
            <a:fillRect/>
          </a:stretch>
        </p:blipFill>
        <p:spPr>
          <a:xfrm>
            <a:off x="6516216" y="3212976"/>
            <a:ext cx="1584176" cy="2016224"/>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 product information</a:t>
            </a:r>
          </a:p>
        </p:txBody>
      </p:sp>
      <p:sp>
        <p:nvSpPr>
          <p:cNvPr id="3" name="Content Placeholder 2"/>
          <p:cNvSpPr>
            <a:spLocks noGrp="1"/>
          </p:cNvSpPr>
          <p:nvPr>
            <p:ph idx="1"/>
          </p:nvPr>
        </p:nvSpPr>
        <p:spPr>
          <a:xfrm>
            <a:off x="539552" y="1484784"/>
            <a:ext cx="7467600" cy="5040560"/>
          </a:xfrm>
        </p:spPr>
        <p:txBody>
          <a:bodyPr>
            <a:normAutofit lnSpcReduction="10000"/>
          </a:bodyPr>
          <a:lstStyle/>
          <a:p>
            <a:pPr>
              <a:spcBef>
                <a:spcPts val="600"/>
              </a:spcBef>
              <a:spcAft>
                <a:spcPts val="600"/>
              </a:spcAft>
              <a:buNone/>
            </a:pPr>
            <a:r>
              <a:rPr lang="en-AU" sz="2200" b="1" dirty="0" smtClean="0">
                <a:latin typeface="Helvetica" pitchFamily="34" charset="0"/>
              </a:rPr>
              <a:t>M</a:t>
            </a:r>
            <a:r>
              <a:rPr lang="en-US" sz="2200" b="1" dirty="0" smtClean="0">
                <a:latin typeface="Helvetica" pitchFamily="34" charset="0"/>
              </a:rPr>
              <a:t>ethods used to </a:t>
            </a:r>
            <a:r>
              <a:rPr lang="en-AU" sz="2200" b="1" dirty="0" smtClean="0">
                <a:latin typeface="Helvetica" pitchFamily="34" charset="0"/>
              </a:rPr>
              <a:t>search identified sources</a:t>
            </a:r>
          </a:p>
          <a:p>
            <a:pPr lvl="0">
              <a:spcBef>
                <a:spcPts val="600"/>
              </a:spcBef>
              <a:spcAft>
                <a:spcPts val="600"/>
              </a:spcAft>
            </a:pPr>
            <a:r>
              <a:rPr lang="en-AU" sz="2200" dirty="0" smtClean="0">
                <a:latin typeface="Helvetica" pitchFamily="34" charset="0"/>
              </a:rPr>
              <a:t>Subscribing to publications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Reading newspapers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Getting on Internet e-mail lists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Joining your local union or industry association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Reading articles on the industry sector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Getting out and having a look around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Interrogating databases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Asking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Conducting web based searches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Exploring options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7" name="Picture 6" descr="shutterstock_2064163.jpg"/>
          <p:cNvPicPr/>
          <p:nvPr/>
        </p:nvPicPr>
        <p:blipFill>
          <a:blip r:embed="rId3" cstate="print"/>
          <a:stretch>
            <a:fillRect/>
          </a:stretch>
        </p:blipFill>
        <p:spPr>
          <a:xfrm>
            <a:off x="6444208" y="3861048"/>
            <a:ext cx="1750690" cy="1139949"/>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Identify information timelines</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Identify the timelines for accessing information</a:t>
            </a:r>
          </a:p>
          <a:p>
            <a:pPr marL="0">
              <a:spcBef>
                <a:spcPts val="600"/>
              </a:spcBef>
              <a:spcAft>
                <a:spcPts val="1200"/>
              </a:spcAft>
              <a:buNone/>
            </a:pPr>
            <a:r>
              <a:rPr lang="en-AU" sz="2200" dirty="0" smtClean="0">
                <a:latin typeface="Helvetica" pitchFamily="34" charset="0"/>
              </a:rPr>
              <a:t>Not only is it important to identify the types of information needed, but also when it needs to be collected and available for use.</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are c</a:t>
            </a:r>
            <a:r>
              <a:rPr lang="en-AU" sz="2200" dirty="0" smtClean="0">
                <a:latin typeface="Helvetica" pitchFamily="34" charset="0"/>
              </a:rPr>
              <a:t>onsiderations when identifying timelines for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are examples of timelines for accessing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7" name="Picture 6" descr="shutterstock_156687269.jpg"/>
          <p:cNvPicPr/>
          <p:nvPr/>
        </p:nvPicPr>
        <p:blipFill>
          <a:blip r:embed="rId3" cstate="print"/>
          <a:stretch>
            <a:fillRect/>
          </a:stretch>
        </p:blipFill>
        <p:spPr>
          <a:xfrm>
            <a:off x="3563888" y="5229200"/>
            <a:ext cx="1756534" cy="1172716"/>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Identify information budgets</a:t>
            </a:r>
          </a:p>
        </p:txBody>
      </p:sp>
      <p:sp>
        <p:nvSpPr>
          <p:cNvPr id="3" name="Content Placeholder 2"/>
          <p:cNvSpPr>
            <a:spLocks noGrp="1"/>
          </p:cNvSpPr>
          <p:nvPr>
            <p:ph idx="1"/>
          </p:nvPr>
        </p:nvSpPr>
        <p:spPr>
          <a:xfrm>
            <a:off x="611560" y="1484784"/>
            <a:ext cx="7467600" cy="5040560"/>
          </a:xfrm>
        </p:spPr>
        <p:txBody>
          <a:bodyPr>
            <a:normAutofit/>
          </a:bodyPr>
          <a:lstStyle/>
          <a:p>
            <a:pPr marL="0">
              <a:spcBef>
                <a:spcPts val="600"/>
              </a:spcBef>
              <a:spcAft>
                <a:spcPts val="600"/>
              </a:spcAft>
              <a:buNone/>
            </a:pPr>
            <a:r>
              <a:rPr lang="en-AU" sz="2200" b="1" dirty="0" smtClean="0">
                <a:latin typeface="Helvetica" pitchFamily="34" charset="0"/>
              </a:rPr>
              <a:t>Identify budget for accessing and interpreting information</a:t>
            </a:r>
            <a:endParaRPr lang="en-US" sz="2200" b="1" dirty="0" smtClean="0">
              <a:latin typeface="Helvetica" pitchFamily="34" charset="0"/>
            </a:endParaRPr>
          </a:p>
          <a:p>
            <a:pPr lvl="0">
              <a:spcBef>
                <a:spcPts val="600"/>
              </a:spcBef>
              <a:spcAft>
                <a:spcPts val="600"/>
              </a:spcAft>
            </a:pPr>
            <a:r>
              <a:rPr lang="en-AU" sz="2200" dirty="0" smtClean="0">
                <a:latin typeface="Helvetica" pitchFamily="34" charset="0"/>
              </a:rPr>
              <a:t>Time allocation to undertake research</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Staff to undertake research or assist in the analysis, preparation and presentation of the material captured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Funds to obtain secondary research data</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Funds to enable the undertaking of primary market research</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Materials, registrations, subscriptions and other activities necessary to register to receive or to purchase identified information</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6" name="Picture 5" descr="shutterstock_181388417.jpg"/>
          <p:cNvPicPr/>
          <p:nvPr/>
        </p:nvPicPr>
        <p:blipFill>
          <a:blip r:embed="rId3" cstate="print"/>
          <a:stretch>
            <a:fillRect/>
          </a:stretch>
        </p:blipFill>
        <p:spPr>
          <a:xfrm>
            <a:off x="7236296" y="4581128"/>
            <a:ext cx="1651635" cy="1104900"/>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Identify information found</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Identify information found</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Once you have searched and found relevant information, it is important to 'identify' relevant information so that it can be used again for the purpose or filing, further review or use in operational activities.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important to 'mark' the information so that is can be easily found for future use.</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How can you ‘identify or mark’ information                            found for later use?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7" name="Picture 6" descr="shutterstock_104278490.jpg"/>
          <p:cNvPicPr/>
          <p:nvPr/>
        </p:nvPicPr>
        <p:blipFill>
          <a:blip r:embed="rId3" cstate="print"/>
          <a:stretch>
            <a:fillRect/>
          </a:stretch>
        </p:blipFill>
        <p:spPr>
          <a:xfrm>
            <a:off x="6804248" y="4509120"/>
            <a:ext cx="1762125" cy="1171575"/>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Identify information found</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Identify information found</a:t>
            </a:r>
            <a:endParaRPr lang="en-US" sz="2200" b="1" dirty="0" smtClean="0">
              <a:latin typeface="Helvetica" pitchFamily="34" charset="0"/>
            </a:endParaRPr>
          </a:p>
          <a:p>
            <a:pPr>
              <a:spcBef>
                <a:spcPts val="600"/>
              </a:spcBef>
              <a:spcAft>
                <a:spcPts val="1200"/>
              </a:spcAft>
              <a:buNone/>
            </a:pPr>
            <a:r>
              <a:rPr lang="en-AU" sz="2200" dirty="0" smtClean="0">
                <a:latin typeface="Helvetica" pitchFamily="34" charset="0"/>
              </a:rPr>
              <a:t>Methods to identify relevant information includes: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Book marking websites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Recording sources in a project-specific index</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Copy and pasting key points into separate files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Highlighting key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Filing documents in a logical order</a:t>
            </a:r>
          </a:p>
          <a:p>
            <a:pPr>
              <a:spcBef>
                <a:spcPts val="600"/>
              </a:spcBef>
              <a:spcAft>
                <a:spcPts val="1200"/>
              </a:spcAft>
              <a:buNone/>
            </a:pPr>
            <a:r>
              <a:rPr lang="en-AU" sz="2200" dirty="0" smtClean="0">
                <a:solidFill>
                  <a:srgbClr val="FF6600"/>
                </a:solidFill>
              </a:rPr>
              <a:t>COMPLETE ACTIVITY 3</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descr="shutterstock_94053853.jpg"/>
          <p:cNvPicPr>
            <a:picLocks noChangeAspect="1"/>
          </p:cNvPicPr>
          <p:nvPr/>
        </p:nvPicPr>
        <p:blipFill>
          <a:blip r:embed="rId3" cstate="print"/>
          <a:stretch>
            <a:fillRect/>
          </a:stretch>
        </p:blipFill>
        <p:spPr>
          <a:xfrm>
            <a:off x="7164288" y="2708920"/>
            <a:ext cx="1215984" cy="1668016"/>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 external information</a:t>
            </a: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dirty="0" smtClean="0">
                <a:latin typeface="Helvetica" pitchFamily="34" charset="0"/>
              </a:rPr>
              <a:t>Once you have identified types of information you wish to gather from different sources, it is now time to contact them and request information to be sent to your organisation.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How can you receive information?</a:t>
            </a:r>
          </a:p>
          <a:p>
            <a:pPr>
              <a:spcBef>
                <a:spcPts val="600"/>
              </a:spcBef>
              <a:spcAft>
                <a:spcPts val="1200"/>
              </a:spcAft>
            </a:pPr>
            <a:r>
              <a:rPr lang="en-AU" sz="2200" dirty="0" smtClean="0">
                <a:latin typeface="Helvetica" pitchFamily="34" charset="0"/>
              </a:rPr>
              <a:t>What are the activities associated with receiving information from sources?</a:t>
            </a:r>
          </a:p>
          <a:p>
            <a:pPr>
              <a:spcBef>
                <a:spcPts val="600"/>
              </a:spcBef>
              <a:spcAft>
                <a:spcPts val="1200"/>
              </a:spcAft>
            </a:pPr>
            <a:r>
              <a:rPr lang="en-AU" sz="2200" dirty="0" smtClean="0">
                <a:latin typeface="Helvetica" pitchFamily="34" charset="0"/>
              </a:rPr>
              <a:t>What are examples of external sources                            of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6" name="Picture 5" descr="shutterstock_102592442.jpg"/>
          <p:cNvPicPr/>
          <p:nvPr/>
        </p:nvPicPr>
        <p:blipFill>
          <a:blip r:embed="rId3" cstate="print"/>
          <a:stretch>
            <a:fillRect/>
          </a:stretch>
        </p:blipFill>
        <p:spPr>
          <a:xfrm>
            <a:off x="7380312" y="3068960"/>
            <a:ext cx="1598290" cy="1454274"/>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 external information</a:t>
            </a:r>
          </a:p>
        </p:txBody>
      </p:sp>
      <p:sp>
        <p:nvSpPr>
          <p:cNvPr id="3" name="Content Placeholder 2"/>
          <p:cNvSpPr>
            <a:spLocks noGrp="1"/>
          </p:cNvSpPr>
          <p:nvPr>
            <p:ph idx="1"/>
          </p:nvPr>
        </p:nvSpPr>
        <p:spPr>
          <a:xfrm>
            <a:off x="611560" y="1556792"/>
            <a:ext cx="7467600" cy="5040560"/>
          </a:xfrm>
        </p:spPr>
        <p:txBody>
          <a:bodyPr>
            <a:normAutofit lnSpcReduction="10000"/>
          </a:bodyPr>
          <a:lstStyle/>
          <a:p>
            <a:pPr>
              <a:spcBef>
                <a:spcPts val="600"/>
              </a:spcBef>
              <a:spcAft>
                <a:spcPts val="600"/>
              </a:spcAft>
              <a:buNone/>
            </a:pPr>
            <a:r>
              <a:rPr lang="en-AU" sz="2200" b="1" dirty="0" smtClean="0">
                <a:latin typeface="Helvetica" pitchFamily="34" charset="0"/>
              </a:rPr>
              <a:t>Objectives when contacting external sources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Making contact with tourism businesses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Introducing your business to the organisation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Identify if the tourism business 'fits' your company profile or image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Gain an understanding of the tourism products </a:t>
            </a:r>
            <a:br>
              <a:rPr lang="en-AU" sz="2200" dirty="0" smtClean="0">
                <a:latin typeface="Helvetica" pitchFamily="34" charset="0"/>
              </a:rPr>
            </a:br>
            <a:r>
              <a:rPr lang="en-AU" sz="2200" dirty="0" smtClean="0">
                <a:latin typeface="Helvetica" pitchFamily="34" charset="0"/>
              </a:rPr>
              <a:t>and services they provide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Understand their 'promotional message' and                  how to promote their products and services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Discuss contractual agreements and terms                          and conditions for working together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Requesting product information</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7" name="Picture 6" descr="shutterstock_146630210.jpg"/>
          <p:cNvPicPr/>
          <p:nvPr/>
        </p:nvPicPr>
        <p:blipFill>
          <a:blip r:embed="rId3" cstate="print"/>
          <a:stretch>
            <a:fillRect/>
          </a:stretch>
        </p:blipFill>
        <p:spPr>
          <a:xfrm>
            <a:off x="7161931" y="3573016"/>
            <a:ext cx="1946573" cy="1296144"/>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 external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Making contact with tourism businesses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Telephoning targeted businesses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Making face-to-face requests of sales staff that visit the office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Making e-mail requests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Registering to receive information, newsletters and up-dates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6" name="Picture 5" descr="shutterstock_122825338.jpg"/>
          <p:cNvPicPr/>
          <p:nvPr/>
        </p:nvPicPr>
        <p:blipFill>
          <a:blip r:embed="rId3" cstate="print"/>
          <a:stretch>
            <a:fillRect/>
          </a:stretch>
        </p:blipFill>
        <p:spPr>
          <a:xfrm>
            <a:off x="3275856" y="4869160"/>
            <a:ext cx="1842146" cy="1224136"/>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Access external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Introducing your business to the organisation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Name of company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Location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Licence Number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Key contacts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Products and services provided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Identification of clients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Competitive advantages of your organisation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you are seeking in a partnership</a:t>
            </a:r>
            <a:endParaRPr lang="en-AU" sz="2200" dirty="0" smtClean="0">
              <a:solidFill>
                <a:srgbClr val="FF6600"/>
              </a:solidFill>
              <a:latin typeface="Helvetica" pitchFamily="34" charset="0"/>
            </a:endParaRPr>
          </a:p>
          <a:p>
            <a:pPr lvl="0">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7" name="Picture 6" descr="shutterstock_134583104.jpg"/>
          <p:cNvPicPr/>
          <p:nvPr/>
        </p:nvPicPr>
        <p:blipFill>
          <a:blip r:embed="rId3" cstate="print"/>
          <a:stretch>
            <a:fillRect/>
          </a:stretch>
        </p:blipFill>
        <p:spPr>
          <a:xfrm>
            <a:off x="6012160" y="2924944"/>
            <a:ext cx="2271095" cy="1512168"/>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Access external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344816" cy="5301208"/>
          </a:xfrm>
        </p:spPr>
        <p:txBody>
          <a:bodyPr>
            <a:normAutofit/>
          </a:bodyPr>
          <a:lstStyle/>
          <a:p>
            <a:pPr marL="0">
              <a:spcBef>
                <a:spcPts val="600"/>
              </a:spcBef>
              <a:spcAft>
                <a:spcPts val="1200"/>
              </a:spcAft>
              <a:buNone/>
            </a:pPr>
            <a:r>
              <a:rPr lang="en-AU" sz="2200" b="1" dirty="0" smtClean="0">
                <a:latin typeface="Helvetica" pitchFamily="34" charset="0"/>
              </a:rPr>
              <a:t>Identify if the tourism business 'fits' your company profile or image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For any successful partnership to take place, both companies must work with companies that match or reflect their own image and vision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When companies work together, the practices of one of the businesses will impact on the brand of the other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key is to provide mutual benefit</a:t>
            </a:r>
            <a:endParaRPr lang="en-US" sz="2200" dirty="0" smtClean="0">
              <a:latin typeface="Helvetica" pitchFamily="34" charset="0"/>
            </a:endParaRPr>
          </a:p>
          <a:p>
            <a:pPr lvl="0">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6" name="Picture 5" descr="shutterstock_136968575.jpg"/>
          <p:cNvPicPr/>
          <p:nvPr/>
        </p:nvPicPr>
        <p:blipFill>
          <a:blip r:embed="rId3" cstate="print"/>
          <a:stretch>
            <a:fillRect/>
          </a:stretch>
        </p:blipFill>
        <p:spPr>
          <a:xfrm>
            <a:off x="7884368" y="2276872"/>
            <a:ext cx="1259632" cy="1720974"/>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Access external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marL="0">
              <a:spcBef>
                <a:spcPts val="600"/>
              </a:spcBef>
              <a:spcAft>
                <a:spcPts val="1200"/>
              </a:spcAft>
              <a:buNone/>
            </a:pPr>
            <a:r>
              <a:rPr lang="en-AU" sz="2200" b="1" dirty="0" smtClean="0">
                <a:latin typeface="Helvetica" pitchFamily="34" charset="0"/>
              </a:rPr>
              <a:t>Gain an understanding of the tourism products and services they provide</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One of the most important aspects of contacting a tour company is to gain an understanding of what they can offer to your client.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key features and benefits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Ask questions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Arrange familiarisations</a:t>
            </a:r>
            <a:endParaRPr lang="en-US" sz="2200" dirty="0" smtClean="0">
              <a:latin typeface="Helvetica" pitchFamily="34" charset="0"/>
            </a:endParaRPr>
          </a:p>
          <a:p>
            <a:pPr lvl="0">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7" name="Picture 6" descr="shutterstock_47996410.jpg"/>
          <p:cNvPicPr/>
          <p:nvPr/>
        </p:nvPicPr>
        <p:blipFill>
          <a:blip r:embed="rId3" cstate="print"/>
          <a:stretch>
            <a:fillRect/>
          </a:stretch>
        </p:blipFill>
        <p:spPr>
          <a:xfrm>
            <a:off x="6300192" y="3717032"/>
            <a:ext cx="1828800" cy="1228725"/>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Access external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marL="0">
              <a:spcBef>
                <a:spcPts val="600"/>
              </a:spcBef>
              <a:spcAft>
                <a:spcPts val="1200"/>
              </a:spcAft>
              <a:buNone/>
            </a:pPr>
            <a:r>
              <a:rPr lang="en-AU" sz="2200" b="1" dirty="0" smtClean="0">
                <a:latin typeface="Helvetica" pitchFamily="34" charset="0"/>
              </a:rPr>
              <a:t>Understand their 'promotional message' and how to promote their products and services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their promotional activities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their special offers</a:t>
            </a:r>
            <a:endParaRPr lang="en-US" sz="2200" dirty="0" smtClean="0">
              <a:latin typeface="Helvetica" pitchFamily="34" charset="0"/>
            </a:endParaRPr>
          </a:p>
          <a:p>
            <a:pPr lvl="0">
              <a:spcBef>
                <a:spcPts val="600"/>
              </a:spcBef>
              <a:spcAft>
                <a:spcPts val="6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6" name="Picture 5" descr="shutterstock_181389131.jpg"/>
          <p:cNvPicPr/>
          <p:nvPr/>
        </p:nvPicPr>
        <p:blipFill>
          <a:blip r:embed="rId3" cstate="print"/>
          <a:stretch>
            <a:fillRect/>
          </a:stretch>
        </p:blipFill>
        <p:spPr>
          <a:xfrm>
            <a:off x="6444208" y="2708920"/>
            <a:ext cx="1514475" cy="1009650"/>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Access external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marL="0">
              <a:spcBef>
                <a:spcPts val="600"/>
              </a:spcBef>
              <a:spcAft>
                <a:spcPts val="1200"/>
              </a:spcAft>
              <a:buNone/>
            </a:pPr>
            <a:r>
              <a:rPr lang="en-AU" sz="2200" b="1" dirty="0" smtClean="0">
                <a:latin typeface="Helvetica" pitchFamily="34" charset="0"/>
              </a:rPr>
              <a:t>Discuss contractual agreements and terms and conditions for working together</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Commercial agreements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Contract of sale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Contract rates</a:t>
            </a:r>
          </a:p>
          <a:p>
            <a:pPr>
              <a:spcBef>
                <a:spcPts val="600"/>
              </a:spcBef>
              <a:spcAft>
                <a:spcPts val="1200"/>
              </a:spcAft>
            </a:pPr>
            <a:r>
              <a:rPr lang="en-AU" sz="2200" dirty="0" smtClean="0">
                <a:latin typeface="Helvetica" pitchFamily="34" charset="0"/>
              </a:rPr>
              <a:t>Incentives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Bookings, confirmation and conditions</a:t>
            </a: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7" name="Picture 6" descr="shutterstock_163282610.jpg"/>
          <p:cNvPicPr/>
          <p:nvPr/>
        </p:nvPicPr>
        <p:blipFill>
          <a:blip r:embed="rId3" cstate="print"/>
          <a:stretch>
            <a:fillRect/>
          </a:stretch>
        </p:blipFill>
        <p:spPr>
          <a:xfrm>
            <a:off x="6012160" y="2924944"/>
            <a:ext cx="2047875" cy="1362075"/>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Access external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264696" cy="5301208"/>
          </a:xfrm>
        </p:spPr>
        <p:txBody>
          <a:bodyPr>
            <a:normAutofit/>
          </a:bodyPr>
          <a:lstStyle/>
          <a:p>
            <a:pPr>
              <a:spcBef>
                <a:spcPts val="600"/>
              </a:spcBef>
              <a:spcAft>
                <a:spcPts val="1200"/>
              </a:spcAft>
              <a:buNone/>
            </a:pPr>
            <a:r>
              <a:rPr lang="en-AU" sz="2200" b="1" dirty="0" smtClean="0">
                <a:latin typeface="Helvetica" pitchFamily="34" charset="0"/>
              </a:rPr>
              <a:t>Requesting product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Once all necessary arrangements have been made it is now time to request product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Try to make the formats selected the most 'user friendly' and  cost effective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Brochures are one of the most commonly requested formats of product information</a:t>
            </a: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dirty="0" smtClean="0">
                <a:solidFill>
                  <a:srgbClr val="FF6600"/>
                </a:solidFill>
              </a:rPr>
              <a:t>COMPLETE ACTIVITY 4</a:t>
            </a:r>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6" name="Picture 5" descr="shutterstock_163163246.jpg"/>
          <p:cNvPicPr/>
          <p:nvPr/>
        </p:nvPicPr>
        <p:blipFill>
          <a:blip r:embed="rId3" cstate="print"/>
          <a:stretch>
            <a:fillRect/>
          </a:stretch>
        </p:blipFill>
        <p:spPr>
          <a:xfrm>
            <a:off x="7020272" y="3212976"/>
            <a:ext cx="1863849" cy="1197099"/>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 external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Registering for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Quite often you may need to gather more generic information relating to the industry as a whole, including any new laws, regulations, businesses or trends</a:t>
            </a:r>
          </a:p>
          <a:p>
            <a:pPr>
              <a:spcBef>
                <a:spcPts val="600"/>
              </a:spcBef>
              <a:spcAft>
                <a:spcPts val="1200"/>
              </a:spcAft>
            </a:pPr>
            <a:r>
              <a:rPr lang="en-AU" sz="2200" dirty="0" smtClean="0">
                <a:latin typeface="Helvetica" pitchFamily="34" charset="0"/>
              </a:rPr>
              <a:t>In order to access this information you will need to register to receive it</a:t>
            </a: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6" name="Picture 5" descr="A8 shutterstock_149513465.jpg"/>
          <p:cNvPicPr/>
          <p:nvPr/>
        </p:nvPicPr>
        <p:blipFill>
          <a:blip r:embed="rId3" cstate="print"/>
          <a:stretch>
            <a:fillRect/>
          </a:stretch>
        </p:blipFill>
        <p:spPr>
          <a:xfrm>
            <a:off x="3851920" y="4725144"/>
            <a:ext cx="1882517" cy="1364357"/>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 external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Registering for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Registering for industry information may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Registering online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Paying a fee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Establishing required password and username, </a:t>
            </a:r>
            <a:br>
              <a:rPr lang="en-AU" sz="2200" dirty="0" smtClean="0">
                <a:latin typeface="Helvetica" pitchFamily="34" charset="0"/>
              </a:rPr>
            </a:br>
            <a:r>
              <a:rPr lang="en-AU" sz="2200" dirty="0" smtClean="0">
                <a:latin typeface="Helvetica" pitchFamily="34" charset="0"/>
              </a:rPr>
              <a:t>if required</a:t>
            </a:r>
            <a:endParaRPr lang="en-US"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7" name="Picture 6" descr="shutterstock_197170562.jpg"/>
          <p:cNvPicPr>
            <a:picLocks noChangeAspect="1"/>
          </p:cNvPicPr>
          <p:nvPr/>
        </p:nvPicPr>
        <p:blipFill>
          <a:blip r:embed="rId3" cstate="print"/>
          <a:stretch>
            <a:fillRect/>
          </a:stretch>
        </p:blipFill>
        <p:spPr>
          <a:xfrm>
            <a:off x="3419872" y="4725144"/>
            <a:ext cx="1706885" cy="1479870"/>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 external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AU" sz="2200" b="1" dirty="0" smtClean="0">
                <a:latin typeface="Helvetica" pitchFamily="34" charset="0"/>
              </a:rPr>
              <a:t>Registering for information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Lodging host enterprise details with product information source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Establishing the bona fides of the host enterprise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Joining an association or body in order to enable access</a:t>
            </a:r>
          </a:p>
          <a:p>
            <a:pPr lvl="0">
              <a:spcBef>
                <a:spcPts val="600"/>
              </a:spcBef>
              <a:spcAft>
                <a:spcPts val="600"/>
              </a:spcAft>
            </a:pPr>
            <a:endParaRPr lang="en-AU" sz="2200" dirty="0" smtClean="0">
              <a:latin typeface="Helvetica" pitchFamily="34" charset="0"/>
            </a:endParaRPr>
          </a:p>
          <a:p>
            <a:pPr>
              <a:spcBef>
                <a:spcPts val="600"/>
              </a:spcBef>
              <a:spcAft>
                <a:spcPts val="600"/>
              </a:spcAft>
              <a:buNone/>
            </a:pPr>
            <a:r>
              <a:rPr lang="en-AU" sz="2200" dirty="0" smtClean="0">
                <a:solidFill>
                  <a:srgbClr val="FF6600"/>
                </a:solidFill>
              </a:rPr>
              <a:t>COMPLETE ACTIVITY 5</a:t>
            </a:r>
          </a:p>
          <a:p>
            <a:pPr lvl="0">
              <a:spcBef>
                <a:spcPts val="600"/>
              </a:spcBef>
              <a:spcAft>
                <a:spcPts val="600"/>
              </a:spcAft>
            </a:pPr>
            <a:endParaRPr lang="en-AU"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6" name="Picture 5" descr="A22 shutterstock_182450381.jpg"/>
          <p:cNvPicPr>
            <a:picLocks noChangeAspect="1"/>
          </p:cNvPicPr>
          <p:nvPr/>
        </p:nvPicPr>
        <p:blipFill>
          <a:blip r:embed="rId3" cstate="print"/>
          <a:stretch>
            <a:fillRect/>
          </a:stretch>
        </p:blipFill>
        <p:spPr>
          <a:xfrm>
            <a:off x="5004048" y="4149080"/>
            <a:ext cx="2028056" cy="1354741"/>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 external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Seeking external assistance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 gather further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For acquisition of specialised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 interpret existing information gathered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Provide findings and recommendations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 clarify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 answer any questions</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7" name="Picture 6" descr="shutterstock_95857066.jpg"/>
          <p:cNvPicPr/>
          <p:nvPr/>
        </p:nvPicPr>
        <p:blipFill>
          <a:blip r:embed="rId3" cstate="print"/>
          <a:stretch>
            <a:fillRect/>
          </a:stretch>
        </p:blipFill>
        <p:spPr>
          <a:xfrm>
            <a:off x="6732240" y="2780928"/>
            <a:ext cx="1668780" cy="1371600"/>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 external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Establishing industry networks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Developing your own industry network</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Networking with industry colleagues</a:t>
            </a: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dirty="0" smtClean="0">
                <a:solidFill>
                  <a:srgbClr val="FF6600"/>
                </a:solidFill>
              </a:rPr>
              <a:t>COMPLETE ACTIVITY 6</a:t>
            </a: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6" name="Picture 5" descr="A17 shutterstock_179513282[1].JPG"/>
          <p:cNvPicPr/>
          <p:nvPr/>
        </p:nvPicPr>
        <p:blipFill>
          <a:blip r:embed="rId3" cstate="print"/>
          <a:stretch>
            <a:fillRect/>
          </a:stretch>
        </p:blipFill>
        <p:spPr>
          <a:xfrm>
            <a:off x="6300192" y="1988840"/>
            <a:ext cx="1919461" cy="1398067"/>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Visit identified sources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At times you may be required to visit identified sources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This opportunity to gather a first-hand understanding of the source, including key personnel who will be instrumental in sharing information is very beneficial</a:t>
            </a:r>
            <a:endParaRPr lang="en-US" sz="2200" dirty="0" smtClean="0">
              <a:latin typeface="Helvetica" pitchFamily="34" charset="0"/>
            </a:endParaRPr>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7" name="Picture 6" descr="shutterstock_152360924.jpg"/>
          <p:cNvPicPr/>
          <p:nvPr/>
        </p:nvPicPr>
        <p:blipFill>
          <a:blip r:embed="rId3" cstate="print"/>
          <a:stretch>
            <a:fillRect/>
          </a:stretch>
        </p:blipFill>
        <p:spPr>
          <a:xfrm>
            <a:off x="3419872" y="3789040"/>
            <a:ext cx="1910318" cy="1373684"/>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Visit identified sources</a:t>
            </a:r>
          </a:p>
        </p:txBody>
      </p:sp>
      <p:sp>
        <p:nvSpPr>
          <p:cNvPr id="3" name="Content Placeholder 2"/>
          <p:cNvSpPr>
            <a:spLocks noGrp="1"/>
          </p:cNvSpPr>
          <p:nvPr>
            <p:ph idx="1"/>
          </p:nvPr>
        </p:nvSpPr>
        <p:spPr>
          <a:xfrm>
            <a:off x="611560" y="1556792"/>
            <a:ext cx="6408712" cy="5301208"/>
          </a:xfrm>
        </p:spPr>
        <p:txBody>
          <a:bodyPr>
            <a:normAutofit lnSpcReduction="10000"/>
          </a:bodyPr>
          <a:lstStyle/>
          <a:p>
            <a:pPr>
              <a:spcBef>
                <a:spcPts val="600"/>
              </a:spcBef>
              <a:spcAft>
                <a:spcPts val="1200"/>
              </a:spcAft>
              <a:buNone/>
            </a:pPr>
            <a:r>
              <a:rPr lang="en-AU" sz="2200" b="1" dirty="0" smtClean="0">
                <a:latin typeface="Helvetica" pitchFamily="34" charset="0"/>
              </a:rPr>
              <a:t>Benefits of visiting identified sources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Meet key personnel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Talking with personnel to obtain, clarify, update and identify supplementary relevant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Gain an understanding of the operation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Viewing operations and making personal observations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Clarify and explain your request for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Receive electronic and hard copy files                                        in a user friendly manner</a:t>
            </a:r>
            <a:endParaRPr lang="en-US" sz="2200" dirty="0" smtClean="0">
              <a:latin typeface="Helvetica" pitchFamily="34" charset="0"/>
            </a:endParaRPr>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6" name="Picture 5" descr="shutterstock_128200775.jpg"/>
          <p:cNvPicPr>
            <a:picLocks noChangeAspect="1"/>
          </p:cNvPicPr>
          <p:nvPr/>
        </p:nvPicPr>
        <p:blipFill>
          <a:blip r:embed="rId3" cstate="print"/>
          <a:stretch>
            <a:fillRect/>
          </a:stretch>
        </p:blipFill>
        <p:spPr>
          <a:xfrm>
            <a:off x="6516216" y="3501008"/>
            <a:ext cx="1691680" cy="1127787"/>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Visit identified sources</a:t>
            </a:r>
          </a:p>
        </p:txBody>
      </p:sp>
      <p:sp>
        <p:nvSpPr>
          <p:cNvPr id="3" name="Content Placeholder 2"/>
          <p:cNvSpPr>
            <a:spLocks noGrp="1"/>
          </p:cNvSpPr>
          <p:nvPr>
            <p:ph idx="1"/>
          </p:nvPr>
        </p:nvSpPr>
        <p:spPr>
          <a:xfrm>
            <a:off x="611560" y="1556792"/>
            <a:ext cx="6624736" cy="5301208"/>
          </a:xfrm>
        </p:spPr>
        <p:txBody>
          <a:bodyPr>
            <a:normAutofit/>
          </a:bodyPr>
          <a:lstStyle/>
          <a:p>
            <a:pPr>
              <a:spcBef>
                <a:spcPts val="600"/>
              </a:spcBef>
              <a:spcAft>
                <a:spcPts val="1200"/>
              </a:spcAft>
              <a:buNone/>
            </a:pPr>
            <a:r>
              <a:rPr lang="en-AU" sz="2200" b="1" dirty="0" smtClean="0">
                <a:latin typeface="Helvetica" pitchFamily="34" charset="0"/>
              </a:rPr>
              <a:t>Benefits of visiting identified sources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Reviewing additional information available at the source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Get any questions answered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the potential of informational sources that can be utilised at a later date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Recording interviews and taking photographs                        or other recorded images</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dirty="0" smtClean="0">
                <a:solidFill>
                  <a:srgbClr val="FF6600"/>
                </a:solidFill>
              </a:rPr>
              <a:t>COMPLETE ACTIVITY 7</a:t>
            </a:r>
          </a:p>
          <a:p>
            <a:pPr lvl="0">
              <a:spcBef>
                <a:spcPts val="600"/>
              </a:spcBef>
              <a:spcAft>
                <a:spcPts val="1200"/>
              </a:spcAft>
              <a:buNone/>
            </a:pPr>
            <a:endParaRPr lang="en-AU"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descr="shutterstock_154527362.jpg"/>
          <p:cNvPicPr>
            <a:picLocks noChangeAspect="1"/>
          </p:cNvPicPr>
          <p:nvPr/>
        </p:nvPicPr>
        <p:blipFill>
          <a:blip r:embed="rId3" cstate="print"/>
          <a:stretch>
            <a:fillRect/>
          </a:stretch>
        </p:blipFill>
        <p:spPr>
          <a:xfrm>
            <a:off x="7164288" y="3140968"/>
            <a:ext cx="1739808" cy="1160452"/>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Access internal information</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Extract information from internal information sources</a:t>
            </a:r>
          </a:p>
          <a:p>
            <a:pPr marL="0">
              <a:spcBef>
                <a:spcPts val="600"/>
              </a:spcBef>
              <a:spcAft>
                <a:spcPts val="1200"/>
              </a:spcAft>
              <a:buNone/>
            </a:pPr>
            <a:r>
              <a:rPr lang="en-US" sz="2200" dirty="0" smtClean="0">
                <a:latin typeface="Helvetica" pitchFamily="34" charset="0"/>
              </a:rPr>
              <a:t>Besides meeting with external sources, the greatest source of information that relates to a tourism organisation, is from the organisation itself.</a:t>
            </a:r>
          </a:p>
          <a:p>
            <a:pPr>
              <a:spcBef>
                <a:spcPts val="600"/>
              </a:spcBef>
              <a:spcAft>
                <a:spcPts val="1200"/>
              </a:spcAft>
            </a:pPr>
            <a:r>
              <a:rPr lang="en-AU" sz="2200" dirty="0" smtClean="0">
                <a:latin typeface="Helvetica" pitchFamily="34" charset="0"/>
              </a:rPr>
              <a:t>What are examples of internal information sources?</a:t>
            </a: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6" name="Picture 5" descr="A15 shutterstock_173608850[1].JPG"/>
          <p:cNvPicPr/>
          <p:nvPr/>
        </p:nvPicPr>
        <p:blipFill>
          <a:blip r:embed="rId3" cstate="print"/>
          <a:stretch>
            <a:fillRect/>
          </a:stretch>
        </p:blipFill>
        <p:spPr>
          <a:xfrm>
            <a:off x="3347864" y="4437112"/>
            <a:ext cx="1809750" cy="1200150"/>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Access internal information</a:t>
            </a:r>
          </a:p>
        </p:txBody>
      </p:sp>
      <p:sp>
        <p:nvSpPr>
          <p:cNvPr id="3" name="Content Placeholder 2"/>
          <p:cNvSpPr>
            <a:spLocks noGrp="1"/>
          </p:cNvSpPr>
          <p:nvPr>
            <p:ph idx="1"/>
          </p:nvPr>
        </p:nvSpPr>
        <p:spPr>
          <a:xfrm>
            <a:off x="539552" y="1440160"/>
            <a:ext cx="7467600" cy="5301208"/>
          </a:xfrm>
        </p:spPr>
        <p:txBody>
          <a:bodyPr>
            <a:normAutofit/>
          </a:bodyPr>
          <a:lstStyle/>
          <a:p>
            <a:pPr>
              <a:spcBef>
                <a:spcPts val="600"/>
              </a:spcBef>
              <a:spcAft>
                <a:spcPts val="600"/>
              </a:spcAft>
              <a:buNone/>
            </a:pPr>
            <a:r>
              <a:rPr lang="en-AU" sz="2200" b="1" dirty="0" smtClean="0">
                <a:latin typeface="Helvetica" pitchFamily="34" charset="0"/>
              </a:rPr>
              <a:t>Types of internal information sources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Customer databases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Sales figures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Internal reports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Accounting and operational statistics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Data from sub-agencies and head office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Customer feedback information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Automated information systems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Computerised reservation systems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Products and services inventories</a:t>
            </a: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7" name="Picture 6" descr="shutterstock_127785503.jpg"/>
          <p:cNvPicPr>
            <a:picLocks noChangeAspect="1"/>
          </p:cNvPicPr>
          <p:nvPr/>
        </p:nvPicPr>
        <p:blipFill>
          <a:blip r:embed="rId3" cstate="print"/>
          <a:stretch>
            <a:fillRect/>
          </a:stretch>
        </p:blipFill>
        <p:spPr>
          <a:xfrm>
            <a:off x="6156176" y="2492896"/>
            <a:ext cx="1979971" cy="1320113"/>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 internal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Arrange to receive internal information </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Who can you receive information from?</a:t>
            </a:r>
          </a:p>
          <a:p>
            <a:pPr>
              <a:spcBef>
                <a:spcPts val="600"/>
              </a:spcBef>
              <a:spcAft>
                <a:spcPts val="1200"/>
              </a:spcAft>
            </a:pPr>
            <a:r>
              <a:rPr lang="en-US" sz="2200" dirty="0" smtClean="0">
                <a:latin typeface="Helvetica" pitchFamily="34" charset="0"/>
              </a:rPr>
              <a:t>What types of information can you receive?</a:t>
            </a:r>
          </a:p>
          <a:p>
            <a:pPr>
              <a:spcBef>
                <a:spcPts val="600"/>
              </a:spcBef>
              <a:spcAft>
                <a:spcPts val="1200"/>
              </a:spcAft>
            </a:pPr>
            <a:r>
              <a:rPr lang="en-US" sz="2200" dirty="0" smtClean="0">
                <a:latin typeface="Helvetica" pitchFamily="34" charset="0"/>
              </a:rPr>
              <a:t>How can you receive the information?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7" name="Picture 6" descr="shutterstock_177291365.jpg"/>
          <p:cNvPicPr/>
          <p:nvPr/>
        </p:nvPicPr>
        <p:blipFill>
          <a:blip r:embed="rId3" cstate="print"/>
          <a:stretch>
            <a:fillRect/>
          </a:stretch>
        </p:blipFill>
        <p:spPr>
          <a:xfrm>
            <a:off x="3347864" y="4077072"/>
            <a:ext cx="1919461" cy="1254051"/>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Access internal databases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Options for storing product information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Product information inventory systems may be:</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Manual filing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Computerised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Combination of the above</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7" name="Picture 6" descr="A4 shutterstock_129113624.jpg"/>
          <p:cNvPicPr/>
          <p:nvPr/>
        </p:nvPicPr>
        <p:blipFill>
          <a:blip r:embed="rId3" cstate="print"/>
          <a:stretch>
            <a:fillRect/>
          </a:stretch>
        </p:blipFill>
        <p:spPr>
          <a:xfrm>
            <a:off x="6012160" y="2924944"/>
            <a:ext cx="1574800" cy="1181100"/>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Access internal databases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Manual filing systems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Public area displays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Back of house storage areas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Filing cabinets</a:t>
            </a:r>
          </a:p>
          <a:p>
            <a:pPr>
              <a:spcBef>
                <a:spcPts val="600"/>
              </a:spcBef>
              <a:spcAft>
                <a:spcPts val="1200"/>
              </a:spcAft>
            </a:pPr>
            <a:r>
              <a:rPr lang="en-AU" sz="2200" dirty="0" smtClean="0">
                <a:latin typeface="Helvetica" pitchFamily="34" charset="0"/>
              </a:rPr>
              <a:t>Suspension files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Personal information manual</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Contact details of tourism businesses</a:t>
            </a:r>
          </a:p>
          <a:p>
            <a:pPr>
              <a:spcBef>
                <a:spcPts val="600"/>
              </a:spcBef>
              <a:spcAft>
                <a:spcPts val="1200"/>
              </a:spcAft>
              <a:buNone/>
            </a:pPr>
            <a:endParaRPr lang="en-AU" sz="2200" dirty="0" smtClean="0">
              <a:solidFill>
                <a:srgbClr val="FF6600"/>
              </a:solidFill>
            </a:endParaRPr>
          </a:p>
          <a:p>
            <a:pPr>
              <a:spcBef>
                <a:spcPts val="600"/>
              </a:spcBef>
              <a:spcAft>
                <a:spcPts val="1200"/>
              </a:spcAft>
              <a:buNone/>
            </a:pPr>
            <a:r>
              <a:rPr lang="en-AU" sz="2200" dirty="0" smtClean="0">
                <a:solidFill>
                  <a:srgbClr val="FF6600"/>
                </a:solidFill>
              </a:rPr>
              <a:t>COMPLETE ACTIVITY 8</a:t>
            </a: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7" name="Picture 6" descr="shutterstock_100804075.jpg"/>
          <p:cNvPicPr/>
          <p:nvPr/>
        </p:nvPicPr>
        <p:blipFill>
          <a:blip r:embed="rId3" cstate="print"/>
          <a:stretch>
            <a:fillRect/>
          </a:stretch>
        </p:blipFill>
        <p:spPr>
          <a:xfrm>
            <a:off x="6156176" y="3212976"/>
            <a:ext cx="1922780" cy="1285875"/>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Access internal databases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Computerised systems</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A Global Distribution System (GDS) is a network operated by a company that enables automated transactions between third parties and booking agents in order to provide travel-related services to the end consumers</a:t>
            </a:r>
          </a:p>
          <a:p>
            <a:pPr>
              <a:spcBef>
                <a:spcPts val="600"/>
              </a:spcBef>
              <a:spcAft>
                <a:spcPts val="1200"/>
              </a:spcAft>
            </a:pPr>
            <a:r>
              <a:rPr lang="en-US" sz="2200" dirty="0" smtClean="0">
                <a:latin typeface="Helvetica" pitchFamily="34" charset="0"/>
              </a:rPr>
              <a:t>What are examples of GDS systems?</a:t>
            </a:r>
            <a:endParaRPr lang="en-AU"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6" name="Picture 5" descr="shutterstock_58679659.jpg"/>
          <p:cNvPicPr/>
          <p:nvPr/>
        </p:nvPicPr>
        <p:blipFill>
          <a:blip r:embed="rId3" cstate="print"/>
          <a:stretch>
            <a:fillRect/>
          </a:stretch>
        </p:blipFill>
        <p:spPr>
          <a:xfrm>
            <a:off x="3635896" y="4653136"/>
            <a:ext cx="1845945" cy="1228725"/>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Access internal databases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Global Distribution Systems</a:t>
            </a:r>
          </a:p>
          <a:p>
            <a:pPr>
              <a:spcBef>
                <a:spcPts val="600"/>
              </a:spcBef>
              <a:spcAft>
                <a:spcPts val="1200"/>
              </a:spcAft>
              <a:buNone/>
            </a:pPr>
            <a:r>
              <a:rPr lang="en-AU" sz="2200" dirty="0" smtClean="0">
                <a:latin typeface="Helvetica" pitchFamily="34" charset="0"/>
              </a:rPr>
              <a:t>The major GDS systems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Travelport (Galileo, &amp; Apollo)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Travelport (Worldspan)</a:t>
            </a:r>
          </a:p>
          <a:p>
            <a:pPr lvl="0">
              <a:spcBef>
                <a:spcPts val="600"/>
              </a:spcBef>
              <a:spcAft>
                <a:spcPts val="1200"/>
              </a:spcAft>
            </a:pPr>
            <a:r>
              <a:rPr lang="en-AU" sz="2200" dirty="0" smtClean="0">
                <a:latin typeface="Helvetica" pitchFamily="34" charset="0"/>
              </a:rPr>
              <a:t>Amadeus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Sabre</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dirty="0" smtClean="0">
                <a:solidFill>
                  <a:srgbClr val="FF6600"/>
                </a:solidFill>
              </a:rPr>
              <a:t>COMPLETE ACTIVITY 9</a:t>
            </a:r>
          </a:p>
          <a:p>
            <a:pPr lvl="0">
              <a:spcBef>
                <a:spcPts val="600"/>
              </a:spcBef>
              <a:spcAft>
                <a:spcPts val="1200"/>
              </a:spcAft>
            </a:pP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7" name="Picture 6" descr="shutterstock_148857527.jpg"/>
          <p:cNvPicPr>
            <a:picLocks noChangeAspect="1"/>
          </p:cNvPicPr>
          <p:nvPr/>
        </p:nvPicPr>
        <p:blipFill>
          <a:blip r:embed="rId3" cstate="print"/>
          <a:stretch>
            <a:fillRect/>
          </a:stretch>
        </p:blipFill>
        <p:spPr>
          <a:xfrm>
            <a:off x="5868144" y="2636912"/>
            <a:ext cx="2279706" cy="1520564"/>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Access internal databases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Policies and procedures </a:t>
            </a:r>
            <a:endParaRPr lang="en-US" sz="2200" b="1" dirty="0" smtClean="0">
              <a:latin typeface="Helvetica" pitchFamily="34" charset="0"/>
            </a:endParaRPr>
          </a:p>
          <a:p>
            <a:pPr marL="0">
              <a:spcBef>
                <a:spcPts val="600"/>
              </a:spcBef>
              <a:spcAft>
                <a:spcPts val="1200"/>
              </a:spcAft>
              <a:buNone/>
            </a:pPr>
            <a:r>
              <a:rPr lang="en-US" sz="2200" dirty="0" smtClean="0">
                <a:latin typeface="Helvetica" pitchFamily="34" charset="0"/>
              </a:rPr>
              <a:t>All tourism organisations will have a range of policies and procedures relating to the way in which product information will be managed.</a:t>
            </a:r>
          </a:p>
          <a:p>
            <a:pPr>
              <a:spcBef>
                <a:spcPts val="600"/>
              </a:spcBef>
              <a:spcAft>
                <a:spcPts val="1200"/>
              </a:spcAft>
              <a:buNone/>
            </a:pPr>
            <a:r>
              <a:rPr lang="en-US" sz="2200" dirty="0" smtClean="0">
                <a:latin typeface="Helvetica" pitchFamily="34" charset="0"/>
              </a:rPr>
              <a:t>In summary:</a:t>
            </a:r>
          </a:p>
          <a:p>
            <a:pPr lvl="0">
              <a:spcBef>
                <a:spcPts val="600"/>
              </a:spcBef>
              <a:spcAft>
                <a:spcPts val="1200"/>
              </a:spcAft>
            </a:pPr>
            <a:r>
              <a:rPr lang="en-US" sz="2200" dirty="0" smtClean="0">
                <a:latin typeface="Helvetica" pitchFamily="34" charset="0"/>
              </a:rPr>
              <a:t>A </a:t>
            </a:r>
            <a:r>
              <a:rPr lang="en-US" sz="2200" u="sng" dirty="0" smtClean="0">
                <a:latin typeface="Helvetica" pitchFamily="34" charset="0"/>
              </a:rPr>
              <a:t>policy</a:t>
            </a:r>
            <a:r>
              <a:rPr lang="en-US" sz="2200" dirty="0" smtClean="0">
                <a:latin typeface="Helvetica" pitchFamily="34" charset="0"/>
              </a:rPr>
              <a:t> is a rule or statement</a:t>
            </a:r>
          </a:p>
          <a:p>
            <a:pPr lvl="0">
              <a:spcBef>
                <a:spcPts val="600"/>
              </a:spcBef>
              <a:spcAft>
                <a:spcPts val="1200"/>
              </a:spcAft>
            </a:pPr>
            <a:r>
              <a:rPr lang="en-US" sz="2200" dirty="0" smtClean="0">
                <a:latin typeface="Helvetica" pitchFamily="34" charset="0"/>
              </a:rPr>
              <a:t>A </a:t>
            </a:r>
            <a:r>
              <a:rPr lang="en-US" sz="2200" u="sng" dirty="0" smtClean="0">
                <a:latin typeface="Helvetica" pitchFamily="34" charset="0"/>
              </a:rPr>
              <a:t>procedure</a:t>
            </a:r>
            <a:r>
              <a:rPr lang="en-US" sz="2200" dirty="0" smtClean="0">
                <a:latin typeface="Helvetica" pitchFamily="34" charset="0"/>
              </a:rPr>
              <a:t> is a step by step instruction on how a specific incident or activity should be conducted</a:t>
            </a: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6" name="Picture 5" descr="A24 shutterstock_186950579.jpg"/>
          <p:cNvPicPr/>
          <p:nvPr/>
        </p:nvPicPr>
        <p:blipFill>
          <a:blip r:embed="rId3" cstate="print"/>
          <a:stretch>
            <a:fillRect/>
          </a:stretch>
        </p:blipFill>
        <p:spPr>
          <a:xfrm>
            <a:off x="6732240" y="3212976"/>
            <a:ext cx="1574676" cy="1009805"/>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US" sz="3400" b="1" dirty="0" smtClean="0">
                <a:solidFill>
                  <a:srgbClr val="FF6600"/>
                </a:solidFill>
                <a:latin typeface="Helvetica" pitchFamily="34" charset="0"/>
              </a:rPr>
              <a:t>Access internal databases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Gathering information from customers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Customer comment cards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Interviews and follow up calls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General discussion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Observations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6" name="Picture 5" descr="A22 shutterstock_182450381.jpg"/>
          <p:cNvPicPr/>
          <p:nvPr/>
        </p:nvPicPr>
        <p:blipFill>
          <a:blip r:embed="rId3" cstate="print"/>
          <a:stretch>
            <a:fillRect/>
          </a:stretch>
        </p:blipFill>
        <p:spPr>
          <a:xfrm>
            <a:off x="6084168" y="2636912"/>
            <a:ext cx="1954907" cy="1258441"/>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3:</a:t>
            </a:r>
          </a:p>
          <a:p>
            <a:pPr marL="0" indent="0">
              <a:spcBef>
                <a:spcPts val="600"/>
              </a:spcBef>
              <a:spcAft>
                <a:spcPts val="1200"/>
              </a:spcAft>
              <a:buNone/>
            </a:pPr>
            <a:r>
              <a:rPr lang="en-AU" sz="4000" dirty="0" smtClean="0">
                <a:solidFill>
                  <a:srgbClr val="FF6600"/>
                </a:solidFill>
              </a:rPr>
              <a:t>Interpret product information</a:t>
            </a:r>
            <a:endParaRPr lang="en-AU" sz="40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shutterstock_129565649.jpg"/>
          <p:cNvPicPr>
            <a:picLocks noChangeAspect="1"/>
          </p:cNvPicPr>
          <p:nvPr/>
        </p:nvPicPr>
        <p:blipFill>
          <a:blip r:embed="rId3" cstate="print"/>
          <a:stretch>
            <a:fillRect/>
          </a:stretch>
        </p:blipFill>
        <p:spPr>
          <a:xfrm>
            <a:off x="3275856" y="3645024"/>
            <a:ext cx="2698950" cy="1800200"/>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Interpret product information</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specific sales needs</a:t>
            </a:r>
            <a:r>
              <a:rPr lang="en-AU" sz="2200" b="1" dirty="0" smtClean="0">
                <a:latin typeface="Helvetica" pitchFamily="34" charset="0"/>
              </a:rPr>
              <a:t> </a:t>
            </a:r>
            <a:r>
              <a:rPr lang="en-AU" sz="2200" dirty="0" smtClean="0">
                <a:latin typeface="Helvetica" pitchFamily="34" charset="0"/>
              </a:rPr>
              <a:t>that form the basis for the search for product information</a:t>
            </a:r>
          </a:p>
          <a:p>
            <a:pPr>
              <a:spcBef>
                <a:spcPts val="600"/>
              </a:spcBef>
              <a:spcAft>
                <a:spcPts val="1200"/>
              </a:spcAft>
            </a:pPr>
            <a:r>
              <a:rPr lang="en-AU" sz="2200" dirty="0" smtClean="0">
                <a:latin typeface="Helvetica" pitchFamily="34" charset="0"/>
              </a:rPr>
              <a:t>Read items that may contain product information</a:t>
            </a:r>
          </a:p>
          <a:p>
            <a:pPr>
              <a:spcBef>
                <a:spcPts val="600"/>
              </a:spcBef>
              <a:spcAft>
                <a:spcPts val="1200"/>
              </a:spcAft>
            </a:pPr>
            <a:r>
              <a:rPr lang="en-AU" sz="2200" dirty="0" smtClean="0">
                <a:latin typeface="Helvetica" pitchFamily="34" charset="0"/>
              </a:rPr>
              <a:t>Integrate sourced product information with identified client needs and/or preferences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descr="shutterstock_81150025.jpg"/>
          <p:cNvPicPr>
            <a:picLocks noChangeAspect="1"/>
          </p:cNvPicPr>
          <p:nvPr/>
        </p:nvPicPr>
        <p:blipFill>
          <a:blip r:embed="rId3" cstate="print"/>
          <a:stretch>
            <a:fillRect/>
          </a:stretch>
        </p:blipFill>
        <p:spPr>
          <a:xfrm>
            <a:off x="3707904" y="4725144"/>
            <a:ext cx="2032531" cy="1439032"/>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Read items containing product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Importance of reading information </a:t>
            </a:r>
          </a:p>
          <a:p>
            <a:pPr>
              <a:spcBef>
                <a:spcPts val="600"/>
              </a:spcBef>
              <a:spcAft>
                <a:spcPts val="1200"/>
              </a:spcAft>
            </a:pPr>
            <a:r>
              <a:rPr lang="en-AU" sz="2200" dirty="0" smtClean="0">
                <a:latin typeface="Helvetica" pitchFamily="34" charset="0"/>
              </a:rPr>
              <a:t>Once information has been accessed, it is important that it is read and understood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It is essential that not only do you understand the information you have accessed, but that it is accurate and relevant for the customers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6" name="Picture 5" descr="shutterstock_155573669.jpg"/>
          <p:cNvPicPr>
            <a:picLocks noChangeAspect="1"/>
          </p:cNvPicPr>
          <p:nvPr/>
        </p:nvPicPr>
        <p:blipFill>
          <a:blip r:embed="rId3" cstate="print"/>
          <a:stretch>
            <a:fillRect/>
          </a:stretch>
        </p:blipFill>
        <p:spPr>
          <a:xfrm>
            <a:off x="3707904" y="4509120"/>
            <a:ext cx="1262442" cy="1596008"/>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Read items containing product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Verify completeness, accuracy and currency of information</a:t>
            </a:r>
          </a:p>
          <a:p>
            <a:pPr marL="0">
              <a:spcBef>
                <a:spcPts val="600"/>
              </a:spcBef>
              <a:spcAft>
                <a:spcPts val="900"/>
              </a:spcAft>
              <a:buNone/>
            </a:pPr>
            <a:r>
              <a:rPr lang="en-AU" sz="2200" dirty="0" smtClean="0">
                <a:latin typeface="Helvetica" pitchFamily="34" charset="0"/>
              </a:rPr>
              <a:t>It is of vital importance that the information you provide to your customer is:</a:t>
            </a:r>
            <a:endParaRPr lang="en-US" sz="2200" dirty="0" smtClean="0">
              <a:latin typeface="Helvetica" pitchFamily="34" charset="0"/>
            </a:endParaRPr>
          </a:p>
          <a:p>
            <a:pPr lvl="0">
              <a:spcBef>
                <a:spcPts val="600"/>
              </a:spcBef>
              <a:spcAft>
                <a:spcPts val="900"/>
              </a:spcAft>
            </a:pPr>
            <a:r>
              <a:rPr lang="en-US" sz="2200" dirty="0" smtClean="0">
                <a:latin typeface="Helvetica" pitchFamily="34" charset="0"/>
              </a:rPr>
              <a:t>Accurate</a:t>
            </a:r>
          </a:p>
          <a:p>
            <a:pPr lvl="0">
              <a:spcBef>
                <a:spcPts val="600"/>
              </a:spcBef>
              <a:spcAft>
                <a:spcPts val="900"/>
              </a:spcAft>
            </a:pPr>
            <a:r>
              <a:rPr lang="en-US" sz="2200" dirty="0" smtClean="0">
                <a:latin typeface="Helvetica" pitchFamily="34" charset="0"/>
              </a:rPr>
              <a:t>Readily understood by the customer</a:t>
            </a:r>
          </a:p>
          <a:p>
            <a:pPr lvl="0">
              <a:spcBef>
                <a:spcPts val="600"/>
              </a:spcBef>
              <a:spcAft>
                <a:spcPts val="900"/>
              </a:spcAft>
            </a:pPr>
            <a:r>
              <a:rPr lang="en-US" sz="2200" dirty="0" smtClean="0">
                <a:latin typeface="Helvetica" pitchFamily="34" charset="0"/>
              </a:rPr>
              <a:t>Provided in a timely manner</a:t>
            </a:r>
          </a:p>
          <a:p>
            <a:pPr lvl="0">
              <a:spcBef>
                <a:spcPts val="600"/>
              </a:spcBef>
              <a:spcAft>
                <a:spcPts val="900"/>
              </a:spcAft>
            </a:pPr>
            <a:r>
              <a:rPr lang="en-US" sz="2200" dirty="0" smtClean="0">
                <a:latin typeface="Helvetica" pitchFamily="34" charset="0"/>
              </a:rPr>
              <a:t>Provided in an appropriate format and style</a:t>
            </a:r>
          </a:p>
          <a:p>
            <a:pPr lvl="0">
              <a:spcBef>
                <a:spcPts val="600"/>
              </a:spcBef>
              <a:spcAft>
                <a:spcPts val="900"/>
              </a:spcAft>
            </a:pPr>
            <a:r>
              <a:rPr lang="en-US" sz="2200" dirty="0" smtClean="0">
                <a:latin typeface="Helvetica" pitchFamily="34" charset="0"/>
              </a:rPr>
              <a:t>Provided in an appropriate depth and scope</a:t>
            </a: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7" name="Picture 6" descr="shutterstock_136866284.jpg"/>
          <p:cNvPicPr/>
          <p:nvPr/>
        </p:nvPicPr>
        <p:blipFill>
          <a:blip r:embed="rId3" cstate="print"/>
          <a:stretch>
            <a:fillRect/>
          </a:stretch>
        </p:blipFill>
        <p:spPr>
          <a:xfrm>
            <a:off x="6660232" y="3573016"/>
            <a:ext cx="1438275" cy="1590675"/>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Read items containing product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6264696" cy="5301208"/>
          </a:xfrm>
        </p:spPr>
        <p:txBody>
          <a:bodyPr>
            <a:normAutofit/>
          </a:bodyPr>
          <a:lstStyle/>
          <a:p>
            <a:pPr>
              <a:spcBef>
                <a:spcPts val="600"/>
              </a:spcBef>
              <a:spcAft>
                <a:spcPts val="1200"/>
              </a:spcAft>
              <a:buNone/>
            </a:pPr>
            <a:r>
              <a:rPr lang="en-AU" sz="2200" b="1" dirty="0" smtClean="0">
                <a:latin typeface="Helvetica" pitchFamily="34" charset="0"/>
              </a:rPr>
              <a:t>Methods to ensure accuracy of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date in which current information was compiled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Checking version of the brochure or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Checking on the website for accurate 'real time'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Contacting the supplier to verify information</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r>
              <a:rPr lang="en-AU" sz="2200" dirty="0" smtClean="0">
                <a:solidFill>
                  <a:srgbClr val="FF6600"/>
                </a:solidFill>
              </a:rPr>
              <a:t>COMPLETE ACTIVITY 10</a:t>
            </a:r>
          </a:p>
          <a:p>
            <a:pPr>
              <a:spcBef>
                <a:spcPts val="600"/>
              </a:spcBef>
              <a:spcAft>
                <a:spcPts val="1200"/>
              </a:spcAft>
              <a:buNone/>
            </a:pPr>
            <a:endParaRPr lang="en-US" sz="2400"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6" name="Picture 5" descr="W508_telemarketer_186746858.jpg"/>
          <p:cNvPicPr/>
          <p:nvPr/>
        </p:nvPicPr>
        <p:blipFill>
          <a:blip r:embed="rId3" cstate="print"/>
          <a:stretch>
            <a:fillRect/>
          </a:stretch>
        </p:blipFill>
        <p:spPr>
          <a:xfrm>
            <a:off x="6660232" y="3140968"/>
            <a:ext cx="1695450" cy="1133475"/>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Read and review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Importance of reviewing information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Once you have captured information that has been collect or given to you by various sources and organisations it is now time to review the information and determine its importance, accuracy and relevancy for your organisation</a:t>
            </a: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6" name="Picture 5" descr="W380_reports_shutterstock_117432517.jpg"/>
          <p:cNvPicPr>
            <a:picLocks noChangeAspect="1"/>
          </p:cNvPicPr>
          <p:nvPr/>
        </p:nvPicPr>
        <p:blipFill>
          <a:blip r:embed="rId3" cstate="print"/>
          <a:stretch>
            <a:fillRect/>
          </a:stretch>
        </p:blipFill>
        <p:spPr>
          <a:xfrm>
            <a:off x="3635896" y="4293096"/>
            <a:ext cx="2111896" cy="1408635"/>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Read and review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539552" y="1484784"/>
            <a:ext cx="7467600" cy="5301208"/>
          </a:xfrm>
        </p:spPr>
        <p:txBody>
          <a:bodyPr>
            <a:normAutofit/>
          </a:bodyPr>
          <a:lstStyle/>
          <a:p>
            <a:pPr>
              <a:spcBef>
                <a:spcPts val="600"/>
              </a:spcBef>
              <a:spcAft>
                <a:spcPts val="1200"/>
              </a:spcAft>
              <a:buNone/>
            </a:pPr>
            <a:r>
              <a:rPr lang="en-AU" sz="2200" b="1" dirty="0" smtClean="0">
                <a:latin typeface="Helvetica" pitchFamily="34" charset="0"/>
              </a:rPr>
              <a:t>Objectives of reviewing captured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Confirming the applicability and utility of material researched and provided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Determining degree of usefulness of the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Determining if additional information, material or data is required to meet identified needs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Verifying the accuracy, relevance and sources of the data</a:t>
            </a: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7" name="Picture 6" descr="A5 shutterstock_131103662.jpg"/>
          <p:cNvPicPr/>
          <p:nvPr/>
        </p:nvPicPr>
        <p:blipFill>
          <a:blip r:embed="rId3" cstate="print"/>
          <a:stretch>
            <a:fillRect/>
          </a:stretch>
        </p:blipFill>
        <p:spPr>
          <a:xfrm>
            <a:off x="3563888" y="5301208"/>
            <a:ext cx="1847850" cy="1228725"/>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Read and review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Objectives of reviewing captured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Ensuring that no obvious sources of information have been overlooked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Meeting with the information user to check that the material gathered is appropriate for their needs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Meeting with researchers to clarify points of ambiguity, as appropriate</a:t>
            </a: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descr="shutterstock_122825407.jpg"/>
          <p:cNvPicPr/>
          <p:nvPr/>
        </p:nvPicPr>
        <p:blipFill>
          <a:blip r:embed="rId3" cstate="print"/>
          <a:stretch>
            <a:fillRect/>
          </a:stretch>
        </p:blipFill>
        <p:spPr>
          <a:xfrm>
            <a:off x="4067944" y="4725144"/>
            <a:ext cx="1790700" cy="1190625"/>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Interpreting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Interpreting information</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The aim of interpreting information is to analyse all the information collected with the hope of providing a summary of key pieces of evidence in which assumptions, conclusions and recommendations be based</a:t>
            </a: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6" name="Picture 5" descr="shutterstock_148857527.jpg"/>
          <p:cNvPicPr/>
          <p:nvPr/>
        </p:nvPicPr>
        <p:blipFill>
          <a:blip r:embed="rId3" cstate="print"/>
          <a:stretch>
            <a:fillRect/>
          </a:stretch>
        </p:blipFill>
        <p:spPr>
          <a:xfrm>
            <a:off x="3347864" y="4077072"/>
            <a:ext cx="2573047" cy="1656184"/>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Interpreting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16824" cy="5301208"/>
          </a:xfrm>
        </p:spPr>
        <p:txBody>
          <a:bodyPr>
            <a:normAutofit/>
          </a:bodyPr>
          <a:lstStyle/>
          <a:p>
            <a:pPr>
              <a:spcBef>
                <a:spcPts val="600"/>
              </a:spcBef>
              <a:spcAft>
                <a:spcPts val="1200"/>
              </a:spcAft>
              <a:buNone/>
            </a:pPr>
            <a:r>
              <a:rPr lang="en-AU" sz="2200" b="1" dirty="0" smtClean="0">
                <a:latin typeface="Helvetica" pitchFamily="34" charset="0"/>
              </a:rPr>
              <a:t>Purpose of interpreting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Gaining further understanding of the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any questions you may have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the key points in which you may convey to stakeholders, colleagues or clients</a:t>
            </a: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7" name="Picture 6" descr="shutterstock_91170884.jpg"/>
          <p:cNvPicPr>
            <a:picLocks noChangeAspect="1"/>
          </p:cNvPicPr>
          <p:nvPr/>
        </p:nvPicPr>
        <p:blipFill>
          <a:blip r:embed="rId3" cstate="print"/>
          <a:stretch>
            <a:fillRect/>
          </a:stretch>
        </p:blipFill>
        <p:spPr>
          <a:xfrm>
            <a:off x="3563888" y="4653136"/>
            <a:ext cx="1668016" cy="1406138"/>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Interpreting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Interpreting information</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Analysis and interpreting the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Classifying the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Preparing summaries with supporting evidence                           of the results of the data analysis</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7" name="Picture 6" descr="A2 shutterstock_99180761.jpg"/>
          <p:cNvPicPr/>
          <p:nvPr/>
        </p:nvPicPr>
        <p:blipFill>
          <a:blip r:embed="rId3" cstate="print"/>
          <a:stretch>
            <a:fillRect/>
          </a:stretch>
        </p:blipFill>
        <p:spPr>
          <a:xfrm>
            <a:off x="3419872" y="4437112"/>
            <a:ext cx="2160240" cy="1472250"/>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Integrate information to meet client needs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Integrating information</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Once you have reviewed and interpreted the information, it is now time to integrate the information to meet the needs of the organisation and the client</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6" name="Picture 5" descr="shutterstock_150075068.jpg"/>
          <p:cNvPicPr/>
          <p:nvPr/>
        </p:nvPicPr>
        <p:blipFill>
          <a:blip r:embed="rId3" cstate="print"/>
          <a:stretch>
            <a:fillRect/>
          </a:stretch>
        </p:blipFill>
        <p:spPr>
          <a:xfrm>
            <a:off x="3203848" y="3717032"/>
            <a:ext cx="2484276" cy="1656184"/>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Integrate information to meet client needs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Integrating information</a:t>
            </a:r>
            <a:endParaRPr lang="en-US" sz="2200" b="1" dirty="0" smtClean="0">
              <a:latin typeface="Helvetica" pitchFamily="34" charset="0"/>
            </a:endParaRPr>
          </a:p>
          <a:p>
            <a:pPr marL="0">
              <a:spcBef>
                <a:spcPts val="600"/>
              </a:spcBef>
              <a:spcAft>
                <a:spcPts val="600"/>
              </a:spcAft>
              <a:buNone/>
            </a:pPr>
            <a:r>
              <a:rPr lang="en-AU" sz="2200" dirty="0" smtClean="0">
                <a:latin typeface="Helvetica" pitchFamily="34" charset="0"/>
              </a:rPr>
              <a:t>Whilst there may be vast amounts of information that may be of benefit, it is time to identify: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Which pieces of information do not need to be communicated or not relevant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Which pieces or information are essential</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Key points that need to be communicated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The order of priority for communicating information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How to structure the information</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7" name="Picture 6" descr="shutterstock_170984318.jpg"/>
          <p:cNvPicPr/>
          <p:nvPr/>
        </p:nvPicPr>
        <p:blipFill>
          <a:blip r:embed="rId3" cstate="print"/>
          <a:stretch>
            <a:fillRect/>
          </a:stretch>
        </p:blipFill>
        <p:spPr>
          <a:xfrm>
            <a:off x="7236296" y="3068960"/>
            <a:ext cx="1123950" cy="1457325"/>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Manipulate captured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560784" y="1412776"/>
            <a:ext cx="6675512" cy="5301208"/>
          </a:xfrm>
        </p:spPr>
        <p:txBody>
          <a:bodyPr>
            <a:normAutofit/>
          </a:bodyPr>
          <a:lstStyle/>
          <a:p>
            <a:pPr marL="0">
              <a:spcBef>
                <a:spcPts val="600"/>
              </a:spcBef>
              <a:spcAft>
                <a:spcPts val="600"/>
              </a:spcAft>
              <a:buNone/>
            </a:pPr>
            <a:r>
              <a:rPr lang="en-AU" sz="2200" b="1" dirty="0" smtClean="0">
                <a:latin typeface="Helvetica" pitchFamily="34" charset="0"/>
              </a:rPr>
              <a:t>Activities associated with manipulating captured information</a:t>
            </a:r>
            <a:endParaRPr lang="en-US" sz="2200" dirty="0" smtClean="0">
              <a:latin typeface="Helvetica" pitchFamily="34" charset="0"/>
            </a:endParaRPr>
          </a:p>
          <a:p>
            <a:pPr marL="0">
              <a:spcBef>
                <a:spcPts val="600"/>
              </a:spcBef>
              <a:spcAft>
                <a:spcPts val="600"/>
              </a:spcAft>
              <a:buNone/>
            </a:pPr>
            <a:r>
              <a:rPr lang="en-AU" sz="2200" dirty="0" smtClean="0">
                <a:latin typeface="Helvetica" pitchFamily="34" charset="0"/>
              </a:rPr>
              <a:t>Integrate sourced product information may include preparing a quotation that results from:</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Matching availability and data to identified client needs and preferences to the best extent possible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Searching for possible alternatives and options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Converting supplier codes and abbreviations into usable data to adequately interpret the information provided </a:t>
            </a:r>
            <a:endParaRPr lang="en-US" sz="2200" b="1"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6" name="Picture 5" descr="shutterstock_122942875.jpg"/>
          <p:cNvPicPr/>
          <p:nvPr/>
        </p:nvPicPr>
        <p:blipFill>
          <a:blip r:embed="rId3" cstate="print"/>
          <a:stretch>
            <a:fillRect/>
          </a:stretch>
        </p:blipFill>
        <p:spPr>
          <a:xfrm>
            <a:off x="7308304" y="3284984"/>
            <a:ext cx="1673607" cy="1142685"/>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Manipulate captured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marL="0">
              <a:spcBef>
                <a:spcPts val="600"/>
              </a:spcBef>
              <a:spcAft>
                <a:spcPts val="1200"/>
              </a:spcAft>
              <a:buNone/>
            </a:pPr>
            <a:r>
              <a:rPr lang="en-AU" sz="2200" b="1" dirty="0" smtClean="0">
                <a:latin typeface="Helvetica" pitchFamily="34" charset="0"/>
              </a:rPr>
              <a:t>Prepare the quotation to reflect all inclusions required by the customer</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Quotations provide a summary of different options to address the needs of the customer.</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 essence, the end result of accessing and interpreting product information is through the provision of a quotation.</a:t>
            </a:r>
          </a:p>
          <a:p>
            <a:pPr>
              <a:spcBef>
                <a:spcPts val="600"/>
              </a:spcBef>
              <a:spcAft>
                <a:spcPts val="1200"/>
              </a:spcAft>
            </a:pPr>
            <a:r>
              <a:rPr lang="en-AU" sz="2200" dirty="0" smtClean="0">
                <a:latin typeface="Helvetica" pitchFamily="34" charset="0"/>
              </a:rPr>
              <a:t>What information is contained within a quotation?</a:t>
            </a: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7" name="Picture 6" descr="Air plan flight itinerary map_148488614.jpg"/>
          <p:cNvPicPr/>
          <p:nvPr/>
        </p:nvPicPr>
        <p:blipFill>
          <a:blip r:embed="rId3" cstate="print"/>
          <a:stretch>
            <a:fillRect/>
          </a:stretch>
        </p:blipFill>
        <p:spPr>
          <a:xfrm>
            <a:off x="3419872" y="5013176"/>
            <a:ext cx="2088232" cy="1392155"/>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Information contained in a quotation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General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Date of quotation and reference number (if applicable)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Clients name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Phone contacts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Email address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Address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Dates of travel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Length of travel and class of travel</a:t>
            </a: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6" name="Picture 5" descr="W574_shutterstock_181388474.jpg"/>
          <p:cNvPicPr>
            <a:picLocks noChangeAspect="1"/>
          </p:cNvPicPr>
          <p:nvPr/>
        </p:nvPicPr>
        <p:blipFill>
          <a:blip r:embed="rId3" cstate="print"/>
          <a:stretch>
            <a:fillRect/>
          </a:stretch>
        </p:blipFill>
        <p:spPr>
          <a:xfrm>
            <a:off x="6516216" y="2924944"/>
            <a:ext cx="1394006" cy="2088232"/>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Information contained in a quotation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Travel products and services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Flights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Accommodation</a:t>
            </a:r>
          </a:p>
          <a:p>
            <a:pPr>
              <a:spcBef>
                <a:spcPts val="600"/>
              </a:spcBef>
              <a:spcAft>
                <a:spcPts val="1200"/>
              </a:spcAft>
            </a:pPr>
            <a:r>
              <a:rPr lang="en-AU" sz="2200" dirty="0" smtClean="0">
                <a:latin typeface="Helvetica" pitchFamily="34" charset="0"/>
              </a:rPr>
              <a:t>Cruises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Tours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Other travel products and services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Transfers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Car hire/Rentals</a:t>
            </a: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7" name="Picture 6" descr="shutterstock_33145759.jpg"/>
          <p:cNvPicPr/>
          <p:nvPr/>
        </p:nvPicPr>
        <p:blipFill>
          <a:blip r:embed="rId3" cstate="print"/>
          <a:stretch>
            <a:fillRect/>
          </a:stretch>
        </p:blipFill>
        <p:spPr>
          <a:xfrm>
            <a:off x="6156176" y="2780928"/>
            <a:ext cx="2163017" cy="1440160"/>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Information contained in a quotation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539552" y="1412776"/>
            <a:ext cx="7467600" cy="5301208"/>
          </a:xfrm>
        </p:spPr>
        <p:txBody>
          <a:bodyPr>
            <a:normAutofit/>
          </a:bodyPr>
          <a:lstStyle/>
          <a:p>
            <a:pPr>
              <a:spcBef>
                <a:spcPts val="600"/>
              </a:spcBef>
              <a:spcAft>
                <a:spcPts val="1200"/>
              </a:spcAft>
              <a:buNone/>
            </a:pPr>
            <a:r>
              <a:rPr lang="en-AU" sz="2200" b="1" dirty="0" smtClean="0">
                <a:latin typeface="Helvetica" pitchFamily="34" charset="0"/>
              </a:rPr>
              <a:t>Specific details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Seasonality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Availability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Costing considerations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Additional travel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 price increases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Fluctuations in exchange rates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Terms and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Scheduling information</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6" name="Picture 5" descr="shutterstock_117103420.jpg"/>
          <p:cNvPicPr>
            <a:picLocks noChangeAspect="1"/>
          </p:cNvPicPr>
          <p:nvPr/>
        </p:nvPicPr>
        <p:blipFill>
          <a:blip r:embed="rId3" cstate="print"/>
          <a:stretch>
            <a:fillRect/>
          </a:stretch>
        </p:blipFill>
        <p:spPr>
          <a:xfrm>
            <a:off x="6228184" y="2924944"/>
            <a:ext cx="1884040" cy="1256655"/>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Information contained in a quotation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Specific details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 codes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Booking procedures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Points of departure and arrival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Touring inclusions and exclusions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Technical specifications for audio-visual and other meetings and events equipment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Travel insurance</a:t>
            </a: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5" name="Picture 4" descr="shutterstock_184389518.jpg"/>
          <p:cNvPicPr/>
          <p:nvPr/>
        </p:nvPicPr>
        <p:blipFill>
          <a:blip r:embed="rId3" cstate="print"/>
          <a:stretch>
            <a:fillRect/>
          </a:stretch>
        </p:blipFill>
        <p:spPr>
          <a:xfrm>
            <a:off x="6228184" y="2780928"/>
            <a:ext cx="1944216" cy="1296144"/>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Information contained in a quotation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Specific details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Visa / permits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Health permits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Limitations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Safety and risk – adventure products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Non operation of the product – tour cancellation</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descr="Best Tour_129392636.jpg"/>
          <p:cNvPicPr>
            <a:picLocks noChangeAspect="1"/>
          </p:cNvPicPr>
          <p:nvPr/>
        </p:nvPicPr>
        <p:blipFill>
          <a:blip r:embed="rId3" cstate="print"/>
          <a:stretch>
            <a:fillRect/>
          </a:stretch>
        </p:blipFill>
        <p:spPr>
          <a:xfrm>
            <a:off x="6084168" y="2204864"/>
            <a:ext cx="1601014" cy="1496948"/>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Quotation Protocols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Key quotation protocols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Use official company stationery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Date the quote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Avoid the use of jargon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Ensure correct spelling and grammar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Include Customer/Passenger names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6" name="Picture 5" descr="shutterstock_118921213.jpg"/>
          <p:cNvPicPr/>
          <p:nvPr/>
        </p:nvPicPr>
        <p:blipFill>
          <a:blip r:embed="rId3" cstate="print"/>
          <a:stretch>
            <a:fillRect/>
          </a:stretch>
        </p:blipFill>
        <p:spPr>
          <a:xfrm>
            <a:off x="6300192" y="2708920"/>
            <a:ext cx="1828800" cy="1219200"/>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Quotation Protocols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Key quotation protocols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Specify currency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Provide both a per person and total price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State validity of the quote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Detail all the arrangements included in the quote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Follow a logical and sequential order for arrangements</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dirty="0" smtClean="0">
                <a:solidFill>
                  <a:srgbClr val="FF6600"/>
                </a:solidFill>
              </a:rPr>
              <a:t>COMPLETE ACTIVITY 11</a:t>
            </a:r>
          </a:p>
          <a:p>
            <a:pPr lvl="0">
              <a:spcBef>
                <a:spcPts val="600"/>
              </a:spcBef>
              <a:spcAft>
                <a:spcPts val="1200"/>
              </a:spcAft>
              <a:buNone/>
            </a:pP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400"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5" name="Picture 4" descr="shutterstock_154986185.jpg"/>
          <p:cNvPicPr>
            <a:picLocks noChangeAspect="1"/>
          </p:cNvPicPr>
          <p:nvPr/>
        </p:nvPicPr>
        <p:blipFill>
          <a:blip r:embed="rId3" cstate="print"/>
          <a:stretch>
            <a:fillRect/>
          </a:stretch>
        </p:blipFill>
        <p:spPr>
          <a:xfrm>
            <a:off x="6732240" y="2564904"/>
            <a:ext cx="1631958" cy="1088516"/>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4:</a:t>
            </a:r>
          </a:p>
          <a:p>
            <a:pPr marL="0" indent="0">
              <a:spcBef>
                <a:spcPts val="600"/>
              </a:spcBef>
              <a:spcAft>
                <a:spcPts val="1200"/>
              </a:spcAft>
              <a:buNone/>
            </a:pPr>
            <a:r>
              <a:rPr lang="en-AU" sz="4000" dirty="0" smtClean="0">
                <a:solidFill>
                  <a:srgbClr val="FF6600"/>
                </a:solidFill>
              </a:rPr>
              <a:t>Provide product information</a:t>
            </a:r>
            <a:endParaRPr lang="en-AU" sz="40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descr="shutterstock_181389116.jpg"/>
          <p:cNvPicPr>
            <a:picLocks noChangeAspect="1"/>
          </p:cNvPicPr>
          <p:nvPr/>
        </p:nvPicPr>
        <p:blipFill>
          <a:blip r:embed="rId3" cstate="print"/>
          <a:stretch>
            <a:fillRect/>
          </a:stretch>
        </p:blipFill>
        <p:spPr>
          <a:xfrm>
            <a:off x="3779912" y="3284984"/>
            <a:ext cx="1656184" cy="2479318"/>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Provide product information</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Interpret industry terminology</a:t>
            </a:r>
          </a:p>
          <a:p>
            <a:pPr>
              <a:spcBef>
                <a:spcPts val="600"/>
              </a:spcBef>
              <a:spcAft>
                <a:spcPts val="1200"/>
              </a:spcAft>
            </a:pPr>
            <a:r>
              <a:rPr lang="en-AU" sz="2200" dirty="0" smtClean="0">
                <a:latin typeface="Helvetica" pitchFamily="34" charset="0"/>
              </a:rPr>
              <a:t>Pass on general information relating to products and services</a:t>
            </a:r>
          </a:p>
          <a:p>
            <a:pPr>
              <a:spcBef>
                <a:spcPts val="600"/>
              </a:spcBef>
              <a:spcAft>
                <a:spcPts val="1200"/>
              </a:spcAft>
            </a:pPr>
            <a:r>
              <a:rPr lang="en-AU" sz="2200" dirty="0" smtClean="0">
                <a:latin typeface="Helvetica" pitchFamily="34" charset="0"/>
              </a:rPr>
              <a:t>Explain specific details</a:t>
            </a:r>
            <a:r>
              <a:rPr lang="en-AU" sz="2200" b="1" dirty="0" smtClean="0">
                <a:latin typeface="Helvetica" pitchFamily="34" charset="0"/>
              </a:rPr>
              <a:t> </a:t>
            </a:r>
            <a:r>
              <a:rPr lang="en-AU" sz="2200" dirty="0" smtClean="0">
                <a:latin typeface="Helvetica" pitchFamily="34" charset="0"/>
              </a:rPr>
              <a:t>about product and services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5" name="Picture 4" descr="shutterstock_188933945.jpg"/>
          <p:cNvPicPr>
            <a:picLocks noChangeAspect="1"/>
          </p:cNvPicPr>
          <p:nvPr/>
        </p:nvPicPr>
        <p:blipFill>
          <a:blip r:embed="rId3" cstate="print"/>
          <a:stretch>
            <a:fillRect/>
          </a:stretch>
        </p:blipFill>
        <p:spPr>
          <a:xfrm>
            <a:off x="3347864" y="4581128"/>
            <a:ext cx="2065414" cy="1373500"/>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Interpret </a:t>
            </a:r>
            <a:r>
              <a:rPr lang="en-AU" sz="3400" b="1" dirty="0" smtClean="0">
                <a:solidFill>
                  <a:srgbClr val="FF6600"/>
                </a:solidFill>
                <a:latin typeface="Helvetica" pitchFamily="34" charset="0"/>
              </a:rPr>
              <a:t>industry terminology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Need to interpret </a:t>
            </a:r>
            <a:r>
              <a:rPr lang="en-AU" sz="2200" b="1" dirty="0" smtClean="0">
                <a:latin typeface="Helvetica" pitchFamily="34" charset="0"/>
              </a:rPr>
              <a:t>industry terminology</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One of the key components of receiving product information is to interpret and translate industry terminology in a manner that will be understood by customers.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Why is this important?</a:t>
            </a:r>
          </a:p>
          <a:p>
            <a:pPr>
              <a:spcBef>
                <a:spcPts val="600"/>
              </a:spcBef>
              <a:spcAft>
                <a:spcPts val="1200"/>
              </a:spcAft>
            </a:pPr>
            <a:r>
              <a:rPr lang="en-US" sz="2200" dirty="0" smtClean="0">
                <a:latin typeface="Helvetica" pitchFamily="34" charset="0"/>
              </a:rPr>
              <a:t>What should be interpreted?</a:t>
            </a:r>
          </a:p>
          <a:p>
            <a:pPr>
              <a:spcBef>
                <a:spcPts val="600"/>
              </a:spcBef>
              <a:spcAft>
                <a:spcPts val="1200"/>
              </a:spcAft>
            </a:pPr>
            <a:r>
              <a:rPr lang="en-US" sz="2200" dirty="0" smtClean="0">
                <a:latin typeface="Helvetica" pitchFamily="34" charset="0"/>
              </a:rPr>
              <a:t>How can you interpret information?</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7" name="Picture 6" descr="shutterstock_148857527.jpg"/>
          <p:cNvPicPr/>
          <p:nvPr/>
        </p:nvPicPr>
        <p:blipFill>
          <a:blip r:embed="rId3" cstate="print"/>
          <a:stretch>
            <a:fillRect/>
          </a:stretch>
        </p:blipFill>
        <p:spPr>
          <a:xfrm>
            <a:off x="6372200" y="3429000"/>
            <a:ext cx="1862450" cy="1360165"/>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Interpret </a:t>
            </a:r>
            <a:r>
              <a:rPr lang="en-AU" sz="3400" b="1" dirty="0" smtClean="0">
                <a:solidFill>
                  <a:srgbClr val="FF6600"/>
                </a:solidFill>
                <a:latin typeface="Helvetica" pitchFamily="34" charset="0"/>
              </a:rPr>
              <a:t>industry terminology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560840" cy="5301208"/>
          </a:xfrm>
        </p:spPr>
        <p:txBody>
          <a:bodyPr>
            <a:normAutofit/>
          </a:bodyPr>
          <a:lstStyle/>
          <a:p>
            <a:pPr>
              <a:spcBef>
                <a:spcPts val="600"/>
              </a:spcBef>
              <a:spcAft>
                <a:spcPts val="1200"/>
              </a:spcAft>
              <a:buNone/>
            </a:pPr>
            <a:r>
              <a:rPr lang="en-AU" sz="2200" b="1" dirty="0" smtClean="0">
                <a:latin typeface="Helvetica" pitchFamily="34" charset="0"/>
              </a:rPr>
              <a:t>Methods to interpret industry terminology</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Understanding resources, including interpreting codes, abbreviations, acronyms and individual supplier terminology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Converting currencies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Interpreting terms and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Understanding limitations and elements of products and services, especially packages and deals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Identifying fees and charges</a:t>
            </a:r>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7" name="Picture 6" descr="shutterstock_155573669.jpg"/>
          <p:cNvPicPr/>
          <p:nvPr/>
        </p:nvPicPr>
        <p:blipFill>
          <a:blip r:embed="rId3" cstate="print"/>
          <a:stretch>
            <a:fillRect/>
          </a:stretch>
        </p:blipFill>
        <p:spPr>
          <a:xfrm>
            <a:off x="7164288" y="2780928"/>
            <a:ext cx="1219200" cy="1543050"/>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Interpret </a:t>
            </a:r>
            <a:r>
              <a:rPr lang="en-AU" sz="3400" b="1" dirty="0" smtClean="0">
                <a:solidFill>
                  <a:srgbClr val="FF6600"/>
                </a:solidFill>
                <a:latin typeface="Helvetica" pitchFamily="34" charset="0"/>
              </a:rPr>
              <a:t>industry terminology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Interpreting codes, abbreviations and terminology </a:t>
            </a:r>
            <a:endParaRPr lang="en-US" sz="2200" dirty="0" smtClean="0">
              <a:latin typeface="Helvetica" pitchFamily="34" charset="0"/>
            </a:endParaRPr>
          </a:p>
          <a:p>
            <a:pPr>
              <a:spcBef>
                <a:spcPts val="600"/>
              </a:spcBef>
              <a:spcAft>
                <a:spcPts val="1200"/>
              </a:spcAft>
            </a:pPr>
            <a:r>
              <a:rPr lang="x-none" sz="2200" smtClean="0">
                <a:latin typeface="Helvetica" pitchFamily="34" charset="0"/>
              </a:rPr>
              <a:t>Phonetic alphabet</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T</a:t>
            </a:r>
            <a:r>
              <a:rPr lang="x-none" sz="2200" smtClean="0">
                <a:latin typeface="Helvetica" pitchFamily="34" charset="0"/>
              </a:rPr>
              <a:t>he 24-hour clock</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Airport</a:t>
            </a:r>
            <a:r>
              <a:rPr lang="x-none" sz="2200" smtClean="0">
                <a:latin typeface="Helvetica" pitchFamily="34" charset="0"/>
              </a:rPr>
              <a:t> city codes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Airline codes</a:t>
            </a:r>
          </a:p>
          <a:p>
            <a:endParaRPr lang="en-US" sz="2400" dirty="0" smtClean="0"/>
          </a:p>
          <a:p>
            <a:pPr>
              <a:buNone/>
            </a:pPr>
            <a:r>
              <a:rPr lang="en-AU" sz="2200" dirty="0" smtClean="0">
                <a:solidFill>
                  <a:srgbClr val="FF6600"/>
                </a:solidFill>
              </a:rPr>
              <a:t>COMPLETE ACTIVITIES 12 &amp; 13</a:t>
            </a: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6" name="Picture 5" descr="Generic_Plan and boarding.jpg"/>
          <p:cNvPicPr/>
          <p:nvPr/>
        </p:nvPicPr>
        <p:blipFill>
          <a:blip r:embed="rId3" cstate="print"/>
          <a:stretch>
            <a:fillRect/>
          </a:stretch>
        </p:blipFill>
        <p:spPr>
          <a:xfrm>
            <a:off x="6156176" y="2708920"/>
            <a:ext cx="1299706" cy="1589137"/>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Interpret </a:t>
            </a:r>
            <a:r>
              <a:rPr lang="en-AU" sz="3400" b="1" dirty="0" smtClean="0">
                <a:solidFill>
                  <a:srgbClr val="FF6600"/>
                </a:solidFill>
                <a:latin typeface="Helvetica" pitchFamily="34" charset="0"/>
              </a:rPr>
              <a:t>industry terminology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Interpreting codes, abbreviations and terminology </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Cruise ship terminology</a:t>
            </a:r>
          </a:p>
          <a:p>
            <a:pPr>
              <a:spcBef>
                <a:spcPts val="600"/>
              </a:spcBef>
              <a:spcAft>
                <a:spcPts val="1200"/>
              </a:spcAft>
            </a:pPr>
            <a:r>
              <a:rPr lang="en-US" sz="2200" dirty="0" smtClean="0">
                <a:latin typeface="Helvetica" pitchFamily="34" charset="0"/>
              </a:rPr>
              <a:t>Tours terminology</a:t>
            </a:r>
          </a:p>
          <a:p>
            <a:pPr>
              <a:spcBef>
                <a:spcPts val="600"/>
              </a:spcBef>
              <a:spcAft>
                <a:spcPts val="1200"/>
              </a:spcAft>
            </a:pPr>
            <a:r>
              <a:rPr lang="en-US" sz="2200" dirty="0" smtClean="0">
                <a:latin typeface="Helvetica" pitchFamily="34" charset="0"/>
              </a:rPr>
              <a:t>Car hire terminology</a:t>
            </a:r>
          </a:p>
          <a:p>
            <a:pPr>
              <a:spcBef>
                <a:spcPts val="600"/>
              </a:spcBef>
              <a:spcAft>
                <a:spcPts val="1200"/>
              </a:spcAft>
            </a:pPr>
            <a:r>
              <a:rPr lang="en-US" sz="2200" dirty="0" smtClean="0">
                <a:latin typeface="Helvetica" pitchFamily="34" charset="0"/>
              </a:rPr>
              <a:t>Rail travel terminology</a:t>
            </a:r>
          </a:p>
          <a:p>
            <a:pPr>
              <a:spcBef>
                <a:spcPts val="600"/>
              </a:spcBef>
              <a:spcAft>
                <a:spcPts val="1200"/>
              </a:spcAft>
            </a:pPr>
            <a:r>
              <a:rPr lang="en-US" sz="2200" dirty="0" smtClean="0">
                <a:latin typeface="Helvetica" pitchFamily="34" charset="0"/>
              </a:rPr>
              <a:t>Accommodation terminology</a:t>
            </a:r>
          </a:p>
          <a:p>
            <a:pPr>
              <a:spcBef>
                <a:spcPts val="600"/>
              </a:spcBef>
              <a:spcAft>
                <a:spcPts val="1200"/>
              </a:spcAft>
            </a:pPr>
            <a:r>
              <a:rPr lang="en-US" sz="2200" dirty="0" smtClean="0">
                <a:latin typeface="Helvetica" pitchFamily="34" charset="0"/>
              </a:rPr>
              <a:t>Insurance terminology</a:t>
            </a:r>
          </a:p>
          <a:p>
            <a:pPr>
              <a:spcBef>
                <a:spcPts val="600"/>
              </a:spcBef>
              <a:spcAft>
                <a:spcPts val="1200"/>
              </a:spcAft>
              <a:buNone/>
            </a:pPr>
            <a:endParaRPr lang="en-AU" sz="2200" dirty="0" smtClean="0">
              <a:solidFill>
                <a:srgbClr val="FF6600"/>
              </a:solidFill>
            </a:endParaRPr>
          </a:p>
          <a:p>
            <a:pPr>
              <a:spcBef>
                <a:spcPts val="600"/>
              </a:spcBef>
              <a:spcAft>
                <a:spcPts val="1200"/>
              </a:spcAft>
              <a:buNone/>
            </a:pPr>
            <a:r>
              <a:rPr lang="en-AU" sz="2200" dirty="0" smtClean="0">
                <a:solidFill>
                  <a:srgbClr val="FF6600"/>
                </a:solidFill>
              </a:rPr>
              <a:t>COMPLETE ACTIVITY 14</a:t>
            </a:r>
          </a:p>
          <a:p>
            <a:pPr>
              <a:spcBef>
                <a:spcPts val="600"/>
              </a:spcBef>
              <a:spcAft>
                <a:spcPts val="12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9" name="Picture 8" descr="shutterstock_129029618.jpg"/>
          <p:cNvPicPr/>
          <p:nvPr/>
        </p:nvPicPr>
        <p:blipFill>
          <a:blip r:embed="rId3" cstate="print"/>
          <a:stretch>
            <a:fillRect/>
          </a:stretch>
        </p:blipFill>
        <p:spPr>
          <a:xfrm>
            <a:off x="5868144" y="2780928"/>
            <a:ext cx="1799456" cy="1403598"/>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travel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Travel Documentation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Besides having to interpret industry terminology, it is essential that you also understand the different types of travel documentation that will be used, either by the organisation or given to customers, as part of the travel experience. </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Travel documentation will related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Non-air documentation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Air documentation</a:t>
            </a:r>
          </a:p>
          <a:p>
            <a:pPr>
              <a:spcBef>
                <a:spcPts val="600"/>
              </a:spcBef>
              <a:spcAft>
                <a:spcPts val="1200"/>
              </a:spcAft>
              <a:buNone/>
            </a:pPr>
            <a:endParaRPr lang="en-AU" sz="2200" dirty="0" smtClean="0">
              <a:solidFill>
                <a:srgbClr val="FF6600"/>
              </a:solidFill>
            </a:endParaRPr>
          </a:p>
          <a:p>
            <a:pPr>
              <a:spcBef>
                <a:spcPts val="600"/>
              </a:spcBef>
              <a:spcAft>
                <a:spcPts val="1200"/>
              </a:spcAft>
              <a:buNone/>
            </a:pPr>
            <a:r>
              <a:rPr lang="en-AU" sz="2200" dirty="0" smtClean="0">
                <a:solidFill>
                  <a:srgbClr val="FF6600"/>
                </a:solidFill>
              </a:rPr>
              <a:t>COMPLETE ACTIVITY 15</a:t>
            </a: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7" name="Picture 6" descr="Best Tour_129392636.jpg"/>
          <p:cNvPicPr>
            <a:picLocks noChangeAspect="1"/>
          </p:cNvPicPr>
          <p:nvPr/>
        </p:nvPicPr>
        <p:blipFill>
          <a:blip r:embed="rId3" cstate="print"/>
          <a:stretch>
            <a:fillRect/>
          </a:stretch>
        </p:blipFill>
        <p:spPr>
          <a:xfrm>
            <a:off x="6300192" y="3717032"/>
            <a:ext cx="1617292" cy="1512168"/>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Pass on information to clients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Presenting information to the customer</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Once the final quotation has been confirmed, with staff understanding all necessary  terminology and documentation that makes up the travel quotation of booking, it is now time to present the information and relevant documentation to the customer. </a:t>
            </a:r>
          </a:p>
          <a:p>
            <a:pPr>
              <a:spcBef>
                <a:spcPts val="600"/>
              </a:spcBef>
              <a:spcAft>
                <a:spcPts val="1200"/>
              </a:spcAft>
            </a:pPr>
            <a:r>
              <a:rPr lang="en-AU" sz="2200" dirty="0" smtClean="0">
                <a:latin typeface="Helvetica" pitchFamily="34" charset="0"/>
              </a:rPr>
              <a:t>What are submissions considerations when passing on information?</a:t>
            </a:r>
            <a:endParaRPr lang="en-US" sz="2200" dirty="0" smtClean="0">
              <a:latin typeface="Helvetica" pitchFamily="34" charset="0"/>
            </a:endParaRP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6" name="Picture 5" descr="shutterstock_141288652.jpg"/>
          <p:cNvPicPr/>
          <p:nvPr/>
        </p:nvPicPr>
        <p:blipFill>
          <a:blip r:embed="rId3" cstate="print"/>
          <a:stretch>
            <a:fillRect/>
          </a:stretch>
        </p:blipFill>
        <p:spPr>
          <a:xfrm>
            <a:off x="3563888" y="4725144"/>
            <a:ext cx="1872208" cy="1248376"/>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Pass on information to clients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Submission considerations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Location of the customer </a:t>
            </a:r>
          </a:p>
          <a:p>
            <a:pPr lvl="0">
              <a:spcBef>
                <a:spcPts val="600"/>
              </a:spcBef>
              <a:spcAft>
                <a:spcPts val="1200"/>
              </a:spcAft>
            </a:pPr>
            <a:r>
              <a:rPr lang="en-AU" sz="2200" dirty="0" smtClean="0">
                <a:latin typeface="Helvetica" pitchFamily="34" charset="0"/>
              </a:rPr>
              <a:t>Number of persons to receive quotation</a:t>
            </a:r>
          </a:p>
          <a:p>
            <a:pPr lvl="0">
              <a:spcBef>
                <a:spcPts val="600"/>
              </a:spcBef>
              <a:spcAft>
                <a:spcPts val="1200"/>
              </a:spcAft>
            </a:pPr>
            <a:r>
              <a:rPr lang="en-AU" sz="2200" dirty="0" smtClean="0">
                <a:latin typeface="Helvetica" pitchFamily="34" charset="0"/>
              </a:rPr>
              <a:t>Reliability of submission methods </a:t>
            </a:r>
          </a:p>
          <a:p>
            <a:pPr lvl="0">
              <a:spcBef>
                <a:spcPts val="600"/>
              </a:spcBef>
              <a:spcAft>
                <a:spcPts val="1200"/>
              </a:spcAft>
            </a:pPr>
            <a:r>
              <a:rPr lang="en-AU" sz="2200" dirty="0" smtClean="0">
                <a:latin typeface="Helvetica" pitchFamily="34" charset="0"/>
              </a:rPr>
              <a:t>Types of documentation required </a:t>
            </a:r>
          </a:p>
          <a:p>
            <a:pPr lvl="0">
              <a:spcBef>
                <a:spcPts val="600"/>
              </a:spcBef>
              <a:spcAft>
                <a:spcPts val="1200"/>
              </a:spcAft>
            </a:pPr>
            <a:r>
              <a:rPr lang="en-AU" sz="2200" dirty="0" smtClean="0">
                <a:latin typeface="Helvetica" pitchFamily="34" charset="0"/>
              </a:rPr>
              <a:t>Time frames required </a:t>
            </a:r>
          </a:p>
          <a:p>
            <a:pPr>
              <a:spcBef>
                <a:spcPts val="600"/>
              </a:spcBef>
              <a:spcAft>
                <a:spcPts val="1200"/>
              </a:spcAft>
            </a:pPr>
            <a:r>
              <a:rPr lang="en-AU" sz="2200" dirty="0" smtClean="0">
                <a:latin typeface="Helvetica" pitchFamily="34" charset="0"/>
              </a:rPr>
              <a:t>Costs </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5" name="Picture 4" descr="shutterstock_122942875.jpg"/>
          <p:cNvPicPr/>
          <p:nvPr/>
        </p:nvPicPr>
        <p:blipFill>
          <a:blip r:embed="rId3" cstate="print"/>
          <a:stretch>
            <a:fillRect/>
          </a:stretch>
        </p:blipFill>
        <p:spPr>
          <a:xfrm>
            <a:off x="6372200" y="2924944"/>
            <a:ext cx="1895476" cy="1314451"/>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Pass on information to clients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Customer service basics when presenting information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Have comprehensive product knowledge </a:t>
            </a:r>
          </a:p>
          <a:p>
            <a:pPr lvl="0">
              <a:spcBef>
                <a:spcPts val="600"/>
              </a:spcBef>
              <a:spcAft>
                <a:spcPts val="1200"/>
              </a:spcAft>
            </a:pPr>
            <a:r>
              <a:rPr lang="en-AU" sz="2200" dirty="0" smtClean="0">
                <a:latin typeface="Helvetica" pitchFamily="34" charset="0"/>
              </a:rPr>
              <a:t>Remember to consider customer needs, wants and preferences </a:t>
            </a:r>
          </a:p>
          <a:p>
            <a:pPr lvl="0">
              <a:spcBef>
                <a:spcPts val="600"/>
              </a:spcBef>
              <a:spcAft>
                <a:spcPts val="1200"/>
              </a:spcAft>
            </a:pPr>
            <a:r>
              <a:rPr lang="en-AU" sz="2200" dirty="0" smtClean="0">
                <a:latin typeface="Helvetica" pitchFamily="34" charset="0"/>
              </a:rPr>
              <a:t>Ask questions </a:t>
            </a:r>
          </a:p>
          <a:p>
            <a:pPr lvl="0">
              <a:spcBef>
                <a:spcPts val="600"/>
              </a:spcBef>
              <a:spcAft>
                <a:spcPts val="1200"/>
              </a:spcAft>
            </a:pPr>
            <a:r>
              <a:rPr lang="en-AU" sz="2200" dirty="0" smtClean="0">
                <a:latin typeface="Helvetica" pitchFamily="34" charset="0"/>
              </a:rPr>
              <a:t>Be proactive </a:t>
            </a:r>
          </a:p>
          <a:p>
            <a:pPr lvl="0">
              <a:spcBef>
                <a:spcPts val="600"/>
              </a:spcBef>
              <a:spcAft>
                <a:spcPts val="1200"/>
              </a:spcAft>
            </a:pPr>
            <a:r>
              <a:rPr lang="en-AU" sz="2200" dirty="0" smtClean="0">
                <a:latin typeface="Helvetica" pitchFamily="34" charset="0"/>
              </a:rPr>
              <a:t>Provide information, recommendations, advice and suggestions that aligns with                                  identified customer need </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4" descr="shutterstock_128200763.jpg"/>
          <p:cNvPicPr/>
          <p:nvPr/>
        </p:nvPicPr>
        <p:blipFill>
          <a:blip r:embed="rId3" cstate="print"/>
          <a:stretch>
            <a:fillRect/>
          </a:stretch>
        </p:blipFill>
        <p:spPr>
          <a:xfrm>
            <a:off x="6660232" y="3356992"/>
            <a:ext cx="1631568" cy="1086162"/>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Pass on information to clients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Customer service basics when presenting quotations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Sell the benefits of products and services </a:t>
            </a:r>
          </a:p>
          <a:p>
            <a:pPr lvl="0">
              <a:spcBef>
                <a:spcPts val="600"/>
              </a:spcBef>
              <a:spcAft>
                <a:spcPts val="1200"/>
              </a:spcAft>
            </a:pPr>
            <a:r>
              <a:rPr lang="en-AU" sz="2200" dirty="0" smtClean="0">
                <a:latin typeface="Helvetica" pitchFamily="34" charset="0"/>
              </a:rPr>
              <a:t>Overcome objections by customers to making a purchase </a:t>
            </a:r>
          </a:p>
          <a:p>
            <a:pPr>
              <a:spcBef>
                <a:spcPts val="600"/>
              </a:spcBef>
              <a:spcAft>
                <a:spcPts val="1200"/>
              </a:spcAft>
            </a:pPr>
            <a:r>
              <a:rPr lang="en-AU" sz="2200" dirty="0" smtClean="0">
                <a:latin typeface="Helvetica" pitchFamily="34" charset="0"/>
              </a:rPr>
              <a:t>Allow customers time and opportunity to consider their purchase</a:t>
            </a:r>
          </a:p>
          <a:p>
            <a:pPr lvl="0">
              <a:spcBef>
                <a:spcPts val="600"/>
              </a:spcBef>
              <a:spcAft>
                <a:spcPts val="1200"/>
              </a:spcAft>
            </a:pPr>
            <a:r>
              <a:rPr lang="en-AU" sz="2200" dirty="0" smtClean="0">
                <a:latin typeface="Helvetica" pitchFamily="34" charset="0"/>
              </a:rPr>
              <a:t>Make legitimate all add-on/complementary sales </a:t>
            </a:r>
          </a:p>
          <a:p>
            <a:pPr>
              <a:spcBef>
                <a:spcPts val="600"/>
              </a:spcBef>
              <a:spcAft>
                <a:spcPts val="1200"/>
              </a:spcAft>
            </a:pPr>
            <a:r>
              <a:rPr lang="en-AU" sz="2200" dirty="0" smtClean="0">
                <a:latin typeface="Helvetica" pitchFamily="34" charset="0"/>
              </a:rPr>
              <a:t>Close the sale</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6" name="Picture 5" descr="shutterstock_134583104.jpg"/>
          <p:cNvPicPr/>
          <p:nvPr/>
        </p:nvPicPr>
        <p:blipFill>
          <a:blip r:embed="rId3" cstate="print"/>
          <a:stretch>
            <a:fillRect/>
          </a:stretch>
        </p:blipFill>
        <p:spPr>
          <a:xfrm>
            <a:off x="3923928" y="5229200"/>
            <a:ext cx="1952634" cy="1347794"/>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Expand and explain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12776"/>
            <a:ext cx="7467600" cy="5301208"/>
          </a:xfrm>
        </p:spPr>
        <p:txBody>
          <a:bodyPr>
            <a:normAutofit lnSpcReduction="10000"/>
          </a:bodyPr>
          <a:lstStyle/>
          <a:p>
            <a:pPr>
              <a:spcBef>
                <a:spcPts val="600"/>
              </a:spcBef>
              <a:spcAft>
                <a:spcPts val="1200"/>
              </a:spcAft>
              <a:buNone/>
            </a:pPr>
            <a:r>
              <a:rPr lang="en-AU" sz="2200" b="1" dirty="0" smtClean="0">
                <a:latin typeface="Helvetica" pitchFamily="34" charset="0"/>
              </a:rPr>
              <a:t>Providing quotation information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When you provide information to customers it is absolutely essential that is it: </a:t>
            </a:r>
          </a:p>
          <a:p>
            <a:pPr lvl="0">
              <a:spcBef>
                <a:spcPts val="600"/>
              </a:spcBef>
              <a:spcAft>
                <a:spcPts val="1200"/>
              </a:spcAft>
            </a:pPr>
            <a:r>
              <a:rPr lang="en-AU" sz="2200" dirty="0" smtClean="0">
                <a:latin typeface="Helvetica" pitchFamily="34" charset="0"/>
              </a:rPr>
              <a:t>Up-to-date </a:t>
            </a:r>
          </a:p>
          <a:p>
            <a:pPr lvl="0">
              <a:spcBef>
                <a:spcPts val="600"/>
              </a:spcBef>
              <a:spcAft>
                <a:spcPts val="1200"/>
              </a:spcAft>
            </a:pPr>
            <a:r>
              <a:rPr lang="en-AU" sz="2200" dirty="0" smtClean="0">
                <a:latin typeface="Helvetica" pitchFamily="34" charset="0"/>
              </a:rPr>
              <a:t>Accurate </a:t>
            </a:r>
          </a:p>
          <a:p>
            <a:pPr lvl="0">
              <a:spcBef>
                <a:spcPts val="600"/>
              </a:spcBef>
              <a:spcAft>
                <a:spcPts val="1200"/>
              </a:spcAft>
            </a:pPr>
            <a:r>
              <a:rPr lang="en-AU" sz="2200" dirty="0" smtClean="0">
                <a:latin typeface="Helvetica" pitchFamily="34" charset="0"/>
              </a:rPr>
              <a:t>Comprehensive </a:t>
            </a:r>
          </a:p>
          <a:p>
            <a:pPr lvl="0">
              <a:spcBef>
                <a:spcPts val="600"/>
              </a:spcBef>
              <a:spcAft>
                <a:spcPts val="1200"/>
              </a:spcAft>
            </a:pPr>
            <a:r>
              <a:rPr lang="en-AU" sz="2200" dirty="0" smtClean="0">
                <a:latin typeface="Helvetica" pitchFamily="34" charset="0"/>
              </a:rPr>
              <a:t>Honest </a:t>
            </a:r>
          </a:p>
          <a:p>
            <a:pPr lvl="0">
              <a:spcBef>
                <a:spcPts val="600"/>
              </a:spcBef>
              <a:spcAft>
                <a:spcPts val="1200"/>
              </a:spcAft>
            </a:pPr>
            <a:r>
              <a:rPr lang="en-AU" sz="2200" dirty="0" smtClean="0">
                <a:latin typeface="Helvetica" pitchFamily="34" charset="0"/>
              </a:rPr>
              <a:t>Straight-forward</a:t>
            </a:r>
          </a:p>
          <a:p>
            <a:pPr lvl="0">
              <a:spcBef>
                <a:spcPts val="600"/>
              </a:spcBef>
              <a:spcAft>
                <a:spcPts val="1200"/>
              </a:spcAft>
            </a:pPr>
            <a:r>
              <a:rPr lang="en-AU" sz="2200" dirty="0" smtClean="0">
                <a:latin typeface="Helvetica" pitchFamily="34" charset="0"/>
              </a:rPr>
              <a:t>Easily interpreted and understood </a:t>
            </a:r>
          </a:p>
          <a:p>
            <a:pPr>
              <a:spcBef>
                <a:spcPts val="600"/>
              </a:spcBef>
              <a:spcAft>
                <a:spcPts val="1200"/>
              </a:spcAft>
            </a:pPr>
            <a:r>
              <a:rPr lang="en-AU" sz="2200" dirty="0" smtClean="0">
                <a:latin typeface="Helvetica" pitchFamily="34" charset="0"/>
              </a:rPr>
              <a:t>Concise</a:t>
            </a:r>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5" name="Picture 4" descr="W510_man and lady_holding file_185092082.jpg"/>
          <p:cNvPicPr/>
          <p:nvPr/>
        </p:nvPicPr>
        <p:blipFill>
          <a:blip r:embed="rId3" cstate="print"/>
          <a:stretch>
            <a:fillRect/>
          </a:stretch>
        </p:blipFill>
        <p:spPr>
          <a:xfrm>
            <a:off x="6156176" y="3284984"/>
            <a:ext cx="1878020" cy="1500194"/>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Expand and explain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616624" cy="5040560"/>
          </a:xfrm>
        </p:spPr>
        <p:txBody>
          <a:bodyPr>
            <a:normAutofit/>
          </a:bodyPr>
          <a:lstStyle/>
          <a:p>
            <a:pPr>
              <a:spcBef>
                <a:spcPts val="600"/>
              </a:spcBef>
              <a:spcAft>
                <a:spcPts val="1200"/>
              </a:spcAft>
              <a:buNone/>
            </a:pPr>
            <a:r>
              <a:rPr lang="en-AU" sz="2200" b="1" dirty="0" smtClean="0">
                <a:latin typeface="Helvetica" pitchFamily="34" charset="0"/>
              </a:rPr>
              <a:t>Key aspects of providing a quotation </a:t>
            </a:r>
          </a:p>
          <a:p>
            <a:pPr lvl="0">
              <a:spcBef>
                <a:spcPts val="600"/>
              </a:spcBef>
              <a:spcAft>
                <a:spcPts val="1200"/>
              </a:spcAft>
            </a:pPr>
            <a:r>
              <a:rPr lang="en-AU" sz="2200" dirty="0" smtClean="0">
                <a:latin typeface="Helvetica" pitchFamily="34" charset="0"/>
              </a:rPr>
              <a:t>Details about physical products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Information about the services that are available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Information on prices, Specials, deals and packages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Providing personal interpretation and explanation of the quotation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Providing supplementary information as required</a:t>
            </a:r>
            <a:endParaRPr lang="en-US" sz="2200" dirty="0" smtClean="0">
              <a:latin typeface="Helvetica" pitchFamily="34" charset="0"/>
            </a:endParaRP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5" name="Picture 4" descr="shutterstock_141288652.jpg"/>
          <p:cNvPicPr/>
          <p:nvPr/>
        </p:nvPicPr>
        <p:blipFill>
          <a:blip r:embed="rId3" cstate="print"/>
          <a:stretch>
            <a:fillRect/>
          </a:stretch>
        </p:blipFill>
        <p:spPr>
          <a:xfrm>
            <a:off x="6300192" y="3645024"/>
            <a:ext cx="1968234" cy="1224136"/>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Expand and explain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Key aspects of providing a quotation </a:t>
            </a:r>
          </a:p>
          <a:p>
            <a:pPr lvl="0">
              <a:spcBef>
                <a:spcPts val="600"/>
              </a:spcBef>
              <a:spcAft>
                <a:spcPts val="1200"/>
              </a:spcAft>
            </a:pPr>
            <a:r>
              <a:rPr lang="en-AU" sz="2200" dirty="0" smtClean="0">
                <a:latin typeface="Helvetica" pitchFamily="34" charset="0"/>
              </a:rPr>
              <a:t>Explaining the reasons for charges and fees included in the quotation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Assisting the client to understand the reputation and expertise of nominated suppliers, providers and carriers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Providing supporting brochures and marketing materials to assist with understanding of the quotation</a:t>
            </a:r>
            <a:endParaRPr lang="en-US" sz="2200" dirty="0" smtClean="0">
              <a:latin typeface="Helvetica" pitchFamily="34" charset="0"/>
            </a:endParaRP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6" name="Picture 5" descr="W248_customer_service_1_shutterstock_136084034.jpg"/>
          <p:cNvPicPr>
            <a:picLocks noChangeAspect="1"/>
          </p:cNvPicPr>
          <p:nvPr/>
        </p:nvPicPr>
        <p:blipFill>
          <a:blip r:embed="rId3" cstate="print"/>
          <a:stretch>
            <a:fillRect/>
          </a:stretch>
        </p:blipFill>
        <p:spPr>
          <a:xfrm>
            <a:off x="3779912" y="5373216"/>
            <a:ext cx="1919990" cy="1280633"/>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Expand and explain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Interpersonal skills when providing quotation information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Engaged with the process of providing information </a:t>
            </a:r>
          </a:p>
          <a:p>
            <a:pPr lvl="0">
              <a:spcBef>
                <a:spcPts val="600"/>
              </a:spcBef>
              <a:spcAft>
                <a:spcPts val="1200"/>
              </a:spcAft>
            </a:pPr>
            <a:r>
              <a:rPr lang="en-AU" sz="2200" dirty="0" smtClean="0">
                <a:latin typeface="Helvetica" pitchFamily="34" charset="0"/>
              </a:rPr>
              <a:t>Courteous and polite </a:t>
            </a:r>
          </a:p>
          <a:p>
            <a:pPr lvl="0">
              <a:spcBef>
                <a:spcPts val="600"/>
              </a:spcBef>
              <a:spcAft>
                <a:spcPts val="1200"/>
              </a:spcAft>
            </a:pPr>
            <a:r>
              <a:rPr lang="en-AU" sz="2200" dirty="0" smtClean="0">
                <a:latin typeface="Helvetica" pitchFamily="34" charset="0"/>
              </a:rPr>
              <a:t>Sensitive and understanding </a:t>
            </a:r>
          </a:p>
          <a:p>
            <a:pPr lvl="0">
              <a:spcBef>
                <a:spcPts val="600"/>
              </a:spcBef>
              <a:spcAft>
                <a:spcPts val="1200"/>
              </a:spcAft>
            </a:pPr>
            <a:r>
              <a:rPr lang="en-AU" sz="2200" dirty="0" smtClean="0">
                <a:latin typeface="Helvetica" pitchFamily="34" charset="0"/>
              </a:rPr>
              <a:t>Committed to the exchange </a:t>
            </a:r>
          </a:p>
          <a:p>
            <a:pPr>
              <a:spcBef>
                <a:spcPts val="600"/>
              </a:spcBef>
              <a:spcAft>
                <a:spcPts val="1200"/>
              </a:spcAft>
            </a:pPr>
            <a:r>
              <a:rPr lang="en-AU" sz="2200" dirty="0" smtClean="0">
                <a:latin typeface="Helvetica" pitchFamily="34" charset="0"/>
              </a:rPr>
              <a:t>Culturally sensitive and appropriate</a:t>
            </a:r>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5" name="Picture 4" descr="W248_customer_service_1_shutterstock_136084034.jpg"/>
          <p:cNvPicPr/>
          <p:nvPr/>
        </p:nvPicPr>
        <p:blipFill>
          <a:blip r:embed="rId3" cstate="print"/>
          <a:stretch>
            <a:fillRect/>
          </a:stretch>
        </p:blipFill>
        <p:spPr>
          <a:xfrm>
            <a:off x="6012160" y="3284984"/>
            <a:ext cx="2086936" cy="1366843"/>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Pass on information to clients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Information submission methods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Information are provided to customers in one of the following ways: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Verbal explanation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Provide hard copy materials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Provide electronic materials</a:t>
            </a:r>
            <a:endParaRPr lang="en-US" sz="2200" dirty="0" smtClean="0">
              <a:latin typeface="Helvetica" pitchFamily="34" charset="0"/>
            </a:endParaRPr>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6" name="Picture 5" descr="W514_lady_sitting_smiling_185647358.jpg"/>
          <p:cNvPicPr>
            <a:picLocks noChangeAspect="1"/>
          </p:cNvPicPr>
          <p:nvPr/>
        </p:nvPicPr>
        <p:blipFill>
          <a:blip r:embed="rId3" cstate="print"/>
          <a:stretch>
            <a:fillRect/>
          </a:stretch>
        </p:blipFill>
        <p:spPr>
          <a:xfrm>
            <a:off x="6012160" y="2996952"/>
            <a:ext cx="2159732" cy="1439821"/>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Verbal explanation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6840760" cy="5301208"/>
          </a:xfrm>
        </p:spPr>
        <p:txBody>
          <a:bodyPr>
            <a:normAutofit/>
          </a:bodyPr>
          <a:lstStyle/>
          <a:p>
            <a:pPr>
              <a:spcBef>
                <a:spcPts val="600"/>
              </a:spcBef>
              <a:spcAft>
                <a:spcPts val="1200"/>
              </a:spcAft>
              <a:buNone/>
            </a:pPr>
            <a:r>
              <a:rPr lang="en-AU" sz="2200" b="1" dirty="0" smtClean="0">
                <a:latin typeface="Helvetica" pitchFamily="34" charset="0"/>
              </a:rPr>
              <a:t>Benefits of providing a verbal explanation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Explain in more detail the key pieces of information in them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Answer any questions customers may have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Provide suggestions and recommendations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Outline the processes associated with confirming and organising travel arrangements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Guide them through the sales process</a:t>
            </a:r>
            <a:endParaRPr lang="en-US" sz="2200" dirty="0" smtClean="0">
              <a:latin typeface="Helvetica" pitchFamily="34" charset="0"/>
            </a:endParaRPr>
          </a:p>
          <a:p>
            <a:pPr>
              <a:buNone/>
            </a:pPr>
            <a:endParaRPr lang="en-US" sz="2400" dirty="0" smtClean="0"/>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7" name="Picture 6" descr="shutterstock_141288652.jpg"/>
          <p:cNvPicPr/>
          <p:nvPr/>
        </p:nvPicPr>
        <p:blipFill>
          <a:blip r:embed="rId3" cstate="print"/>
          <a:stretch>
            <a:fillRect/>
          </a:stretch>
        </p:blipFill>
        <p:spPr>
          <a:xfrm>
            <a:off x="6876255" y="2780928"/>
            <a:ext cx="1813341" cy="1210816"/>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hard copy materials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100" b="1" dirty="0" smtClean="0">
                <a:latin typeface="Helvetica" pitchFamily="34" charset="0"/>
              </a:rPr>
              <a:t>Benefits of providing hard copy materials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Utilises an additional learning method</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Provides comprehensive information</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Provides appealing images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Provides information in its intended message</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Enables the audience to review information at their own time and at their own pace</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Enables information to be reviewed on multiple purposes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Enables the audience to show other people              information as well</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Enables audience to become familiar with content</a:t>
            </a:r>
            <a:endParaRPr lang="en-US" sz="2100" dirty="0" smtClean="0">
              <a:latin typeface="Helvetica" pitchFamily="34" charset="0"/>
            </a:endParaRPr>
          </a:p>
          <a:p>
            <a:pPr>
              <a:buNone/>
            </a:pPr>
            <a:endParaRPr lang="en-US" sz="2100" dirty="0" smtClean="0"/>
          </a:p>
          <a:p>
            <a:endParaRPr lang="en-US" sz="2100" b="1" dirty="0" smtClean="0"/>
          </a:p>
          <a:p>
            <a:pPr>
              <a:spcBef>
                <a:spcPts val="600"/>
              </a:spcBef>
              <a:spcAft>
                <a:spcPts val="1200"/>
              </a:spcAft>
              <a:buNone/>
            </a:pPr>
            <a:endParaRPr lang="en-US" sz="2100" dirty="0" smtClean="0"/>
          </a:p>
          <a:p>
            <a:endParaRPr lang="en-AU" sz="2100" b="1" dirty="0" smtClean="0"/>
          </a:p>
          <a:p>
            <a:endParaRPr lang="en-US" sz="2100" dirty="0" smtClean="0"/>
          </a:p>
          <a:p>
            <a:pPr>
              <a:spcBef>
                <a:spcPts val="600"/>
              </a:spcBef>
              <a:spcAft>
                <a:spcPts val="600"/>
              </a:spcAft>
            </a:pPr>
            <a:endParaRPr lang="en-US" sz="2100" b="1" dirty="0" smtClean="0">
              <a:latin typeface="Helvetica" pitchFamily="34" charset="0"/>
            </a:endParaRPr>
          </a:p>
          <a:p>
            <a:endParaRPr lang="en-US" sz="2100" b="1" dirty="0" smtClean="0"/>
          </a:p>
          <a:p>
            <a:pPr>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6" name="Picture 5" descr="shutterstock_57319615.jpg"/>
          <p:cNvPicPr/>
          <p:nvPr/>
        </p:nvPicPr>
        <p:blipFill>
          <a:blip r:embed="rId3" cstate="print"/>
          <a:stretch>
            <a:fillRect/>
          </a:stretch>
        </p:blipFill>
        <p:spPr>
          <a:xfrm>
            <a:off x="6510858" y="2194942"/>
            <a:ext cx="1733550" cy="1162050"/>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hard copy materials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539552" y="1412776"/>
            <a:ext cx="7467600" cy="5301208"/>
          </a:xfrm>
        </p:spPr>
        <p:txBody>
          <a:bodyPr>
            <a:normAutofit/>
          </a:bodyPr>
          <a:lstStyle/>
          <a:p>
            <a:pPr>
              <a:spcBef>
                <a:spcPts val="600"/>
              </a:spcBef>
              <a:spcAft>
                <a:spcPts val="1200"/>
              </a:spcAft>
              <a:buNone/>
            </a:pPr>
            <a:r>
              <a:rPr lang="en-AU" sz="2200" b="1" dirty="0" smtClean="0">
                <a:latin typeface="Helvetica" pitchFamily="34" charset="0"/>
              </a:rPr>
              <a:t>Types of hard copy materials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Reports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t>
            </a:r>
            <a:r>
              <a:rPr lang="en-US" sz="2200" dirty="0" smtClean="0">
                <a:latin typeface="Helvetica" pitchFamily="34" charset="0"/>
              </a:rPr>
              <a:t>rochures</a:t>
            </a:r>
          </a:p>
          <a:p>
            <a:pPr lvl="0">
              <a:spcBef>
                <a:spcPts val="600"/>
              </a:spcBef>
              <a:spcAft>
                <a:spcPts val="1200"/>
              </a:spcAft>
            </a:pPr>
            <a:r>
              <a:rPr lang="en-US" sz="2200" dirty="0" smtClean="0">
                <a:latin typeface="Helvetica" pitchFamily="34" charset="0"/>
              </a:rPr>
              <a:t>Quotations</a:t>
            </a:r>
          </a:p>
          <a:p>
            <a:pPr lvl="0">
              <a:spcBef>
                <a:spcPts val="600"/>
              </a:spcBef>
              <a:spcAft>
                <a:spcPts val="1200"/>
              </a:spcAft>
            </a:pPr>
            <a:r>
              <a:rPr lang="en-US" sz="2200" dirty="0" smtClean="0">
                <a:latin typeface="Helvetica" pitchFamily="34" charset="0"/>
              </a:rPr>
              <a:t>Invitations</a:t>
            </a:r>
          </a:p>
          <a:p>
            <a:pPr lvl="0">
              <a:spcBef>
                <a:spcPts val="600"/>
              </a:spcBef>
              <a:spcAft>
                <a:spcPts val="1200"/>
              </a:spcAft>
            </a:pPr>
            <a:r>
              <a:rPr lang="en-US" sz="2200" dirty="0" smtClean="0">
                <a:latin typeface="Helvetica" pitchFamily="34" charset="0"/>
              </a:rPr>
              <a:t>Travel itineraries</a:t>
            </a:r>
          </a:p>
          <a:p>
            <a:pPr lvl="0">
              <a:spcBef>
                <a:spcPts val="600"/>
              </a:spcBef>
              <a:spcAft>
                <a:spcPts val="1200"/>
              </a:spcAft>
            </a:pPr>
            <a:r>
              <a:rPr lang="en-US" sz="2200" dirty="0" smtClean="0">
                <a:latin typeface="Helvetica" pitchFamily="34" charset="0"/>
              </a:rPr>
              <a:t>H</a:t>
            </a:r>
            <a:r>
              <a:rPr lang="en-AU" sz="2200" dirty="0" smtClean="0">
                <a:latin typeface="Helvetica" pitchFamily="34" charset="0"/>
              </a:rPr>
              <a:t>andouts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Fact sheets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Notes</a:t>
            </a:r>
            <a:endParaRPr lang="en-US" sz="2200" dirty="0" smtClean="0">
              <a:latin typeface="Helvetica" pitchFamily="34" charset="0"/>
            </a:endParaRPr>
          </a:p>
          <a:p>
            <a:pPr>
              <a:buNone/>
            </a:pPr>
            <a:endParaRPr lang="en-US" sz="2400" dirty="0" smtClean="0"/>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7" name="Picture 6" descr="shutterstock_114659890.jpg"/>
          <p:cNvPicPr/>
          <p:nvPr/>
        </p:nvPicPr>
        <p:blipFill>
          <a:blip r:embed="rId3" cstate="print"/>
          <a:stretch>
            <a:fillRect/>
          </a:stretch>
        </p:blipFill>
        <p:spPr>
          <a:xfrm>
            <a:off x="5724128" y="2924944"/>
            <a:ext cx="2004616" cy="1430834"/>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hard copy materials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539552" y="1412776"/>
            <a:ext cx="7467600" cy="5301208"/>
          </a:xfrm>
        </p:spPr>
        <p:txBody>
          <a:bodyPr>
            <a:normAutofit/>
          </a:bodyPr>
          <a:lstStyle/>
          <a:p>
            <a:pPr>
              <a:spcBef>
                <a:spcPts val="600"/>
              </a:spcBef>
              <a:spcAft>
                <a:spcPts val="1200"/>
              </a:spcAft>
              <a:buNone/>
            </a:pPr>
            <a:r>
              <a:rPr lang="en-AU" sz="2200" b="1" dirty="0" smtClean="0">
                <a:latin typeface="Helvetica" pitchFamily="34" charset="0"/>
              </a:rPr>
              <a:t>Types of hard copy materials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Photocopies from policy manuals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Texts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Media articles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Photographs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Posters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Flyers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Marketing materials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Financial statements</a:t>
            </a:r>
            <a:endParaRPr lang="en-US" sz="2200" dirty="0" smtClean="0">
              <a:latin typeface="Helvetica" pitchFamily="34" charset="0"/>
            </a:endParaRPr>
          </a:p>
          <a:p>
            <a:pPr>
              <a:buNone/>
            </a:pPr>
            <a:endParaRPr lang="en-US" sz="2400" dirty="0" smtClean="0"/>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6" name="Picture 5" descr="shutterstock_147664379.jpg"/>
          <p:cNvPicPr/>
          <p:nvPr/>
        </p:nvPicPr>
        <p:blipFill>
          <a:blip r:embed="rId3" cstate="print"/>
          <a:stretch>
            <a:fillRect/>
          </a:stretch>
        </p:blipFill>
        <p:spPr>
          <a:xfrm>
            <a:off x="5706509" y="3068960"/>
            <a:ext cx="2179025" cy="1440160"/>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electronic materials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539552" y="1412776"/>
            <a:ext cx="7776864" cy="5301208"/>
          </a:xfrm>
        </p:spPr>
        <p:txBody>
          <a:bodyPr>
            <a:normAutofit/>
          </a:bodyPr>
          <a:lstStyle/>
          <a:p>
            <a:pPr>
              <a:spcBef>
                <a:spcPts val="600"/>
              </a:spcBef>
              <a:spcAft>
                <a:spcPts val="1200"/>
              </a:spcAft>
              <a:buNone/>
            </a:pPr>
            <a:r>
              <a:rPr lang="en-AU" sz="2200" b="1" dirty="0" smtClean="0">
                <a:latin typeface="Helvetica" pitchFamily="34" charset="0"/>
              </a:rPr>
              <a:t>Benefits of distributing electronic materials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Information can be shared instantaneously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It guarantees the intended audience receives the information, unlike mail which may go missing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It enables the sender to see who has received and read the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Information can be sent to numerous people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Information can be sent securely enabling                information to remain confidential</a:t>
            </a:r>
            <a:endParaRPr lang="en-US" sz="2200" dirty="0" smtClean="0">
              <a:latin typeface="Helvetica" pitchFamily="34" charset="0"/>
            </a:endParaRPr>
          </a:p>
          <a:p>
            <a:pPr>
              <a:buNone/>
            </a:pPr>
            <a:endParaRPr lang="en-US" sz="2400" dirty="0" smtClean="0"/>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5" name="Picture 4" descr="shutterstock_141853249.jpg"/>
          <p:cNvPicPr>
            <a:picLocks noChangeAspect="1"/>
          </p:cNvPicPr>
          <p:nvPr/>
        </p:nvPicPr>
        <p:blipFill>
          <a:blip r:embed="rId3" cstate="print"/>
          <a:stretch>
            <a:fillRect/>
          </a:stretch>
        </p:blipFill>
        <p:spPr>
          <a:xfrm>
            <a:off x="6948264" y="4293096"/>
            <a:ext cx="1955832" cy="1304540"/>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electronic materials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6984776" cy="5301208"/>
          </a:xfrm>
        </p:spPr>
        <p:txBody>
          <a:bodyPr>
            <a:normAutofit/>
          </a:bodyPr>
          <a:lstStyle/>
          <a:p>
            <a:pPr>
              <a:spcBef>
                <a:spcPts val="600"/>
              </a:spcBef>
              <a:spcAft>
                <a:spcPts val="1200"/>
              </a:spcAft>
              <a:buNone/>
            </a:pPr>
            <a:r>
              <a:rPr lang="en-AU" sz="2200" b="1" dirty="0" smtClean="0">
                <a:latin typeface="Helvetica" pitchFamily="34" charset="0"/>
              </a:rPr>
              <a:t>Benefits of distributing electronic materials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It can be distributed to people around the world, regardless of location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It is a cost effective method of distributing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It reduces storage space required for hard copy documents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it can be stored in shared 'cloud' systems for access by many people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Information stored in electronic systems                            can be updated easily</a:t>
            </a:r>
            <a:endParaRPr lang="en-US" sz="2200" dirty="0" smtClean="0">
              <a:latin typeface="Helvetica" pitchFamily="34" charset="0"/>
            </a:endParaRPr>
          </a:p>
          <a:p>
            <a:pPr>
              <a:buNone/>
            </a:pPr>
            <a:endParaRPr lang="en-US" sz="2400" dirty="0" smtClean="0"/>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7" name="Picture 6" descr="W298_globe_shutterstock_130580267.jpg"/>
          <p:cNvPicPr/>
          <p:nvPr/>
        </p:nvPicPr>
        <p:blipFill>
          <a:blip r:embed="rId3" cstate="print"/>
          <a:stretch>
            <a:fillRect/>
          </a:stretch>
        </p:blipFill>
        <p:spPr>
          <a:xfrm>
            <a:off x="7308304" y="3068960"/>
            <a:ext cx="1704975" cy="1276350"/>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Pass on information to clients</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Types of products and services information to communicate</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In summary product and services information to explain to customers may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Transportation and transfers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Accommodation, meals, functions and entertainment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Tours, cruises and entry to attractions</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6" name="Picture 5" descr="shutterstock_61369948.jpg"/>
          <p:cNvPicPr/>
          <p:nvPr/>
        </p:nvPicPr>
        <p:blipFill>
          <a:blip r:embed="rId3" cstate="print"/>
          <a:stretch>
            <a:fillRect/>
          </a:stretch>
        </p:blipFill>
        <p:spPr>
          <a:xfrm>
            <a:off x="3635896" y="5229200"/>
            <a:ext cx="2016224" cy="1340516"/>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Pass on information to clients</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Types of products and services information to communicate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 guide services and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Special events, including special event consumable items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Venue and convention facilities, including equipment to support same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Speaker, audio-visual, catering, health                                 and financial services</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5" name="Picture 4" descr="shutterstock_185902403.jpg"/>
          <p:cNvPicPr>
            <a:picLocks noChangeAspect="1"/>
          </p:cNvPicPr>
          <p:nvPr/>
        </p:nvPicPr>
        <p:blipFill>
          <a:blip r:embed="rId3" cstate="print"/>
          <a:stretch>
            <a:fillRect/>
          </a:stretch>
        </p:blipFill>
        <p:spPr>
          <a:xfrm>
            <a:off x="6516216" y="4797152"/>
            <a:ext cx="2171748" cy="1448556"/>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Pass on information to clients</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US" sz="2200" b="1" dirty="0" smtClean="0">
                <a:latin typeface="Helvetica" pitchFamily="34" charset="0"/>
              </a:rPr>
              <a:t>Flight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Airline details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Destinations and routings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Class of travel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Departure and return dates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Fare validity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Air fare per person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Taxes per person</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6" name="Picture 5" descr="shutterstock_35770534.jpg"/>
          <p:cNvPicPr/>
          <p:nvPr/>
        </p:nvPicPr>
        <p:blipFill>
          <a:blip r:embed="rId3" cstate="print"/>
          <a:stretch>
            <a:fillRect/>
          </a:stretch>
        </p:blipFill>
        <p:spPr>
          <a:xfrm>
            <a:off x="6084168" y="2780928"/>
            <a:ext cx="2062907" cy="1445692"/>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Pass on information to clients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Accommodation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Name of accommodation and location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Room type and bedding configurations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Check-in and check-out dates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Total number of nights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Any extras or inclusions such as meals, transfers etc</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 per person per night and                                            total amount for the stay</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7" name="Picture 6" descr="shutterstock_35558536.jpg"/>
          <p:cNvPicPr/>
          <p:nvPr/>
        </p:nvPicPr>
        <p:blipFill>
          <a:blip r:embed="rId3" cstate="print"/>
          <a:stretch>
            <a:fillRect/>
          </a:stretch>
        </p:blipFill>
        <p:spPr>
          <a:xfrm>
            <a:off x="6444208" y="2852936"/>
            <a:ext cx="1950388" cy="1296144"/>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Pass on information to clients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Car hire/Rentals information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Name of company they are using – Avis, Budget, Hertz etc</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Vehicle group or type – compact, midsize, group C etc</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Transmission – manual or automatic</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Pick up and drop off dates, times and location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Rate – if paying direct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Rental Inclusions – mileage, additional drivers, insurances, taxes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Any additional local payments for                                 additional services e.g. GPS</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153</a:t>
            </a:fld>
            <a:endParaRPr lang="en-US" dirty="0">
              <a:latin typeface="Helvetica" pitchFamily="34" charset="0"/>
            </a:endParaRPr>
          </a:p>
        </p:txBody>
      </p:sp>
      <p:pic>
        <p:nvPicPr>
          <p:cNvPr id="6" name="Picture 5" descr="shutterstock_197227109.jpg"/>
          <p:cNvPicPr/>
          <p:nvPr/>
        </p:nvPicPr>
        <p:blipFill>
          <a:blip r:embed="rId3" cstate="print"/>
          <a:stretch>
            <a:fillRect/>
          </a:stretch>
        </p:blipFill>
        <p:spPr>
          <a:xfrm>
            <a:off x="7524328" y="3645024"/>
            <a:ext cx="1359793" cy="1359793"/>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Pass on information to clients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Cruises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Name of the cruise line or company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Name of the ship</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Name of cruise, including code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Number of days or nights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Departure date, time and location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Return date, arrival time and location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Cabin type and deck location</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154</a:t>
            </a:fld>
            <a:endParaRPr lang="en-US" dirty="0">
              <a:latin typeface="Helvetica" pitchFamily="34" charset="0"/>
            </a:endParaRPr>
          </a:p>
        </p:txBody>
      </p:sp>
      <p:pic>
        <p:nvPicPr>
          <p:cNvPr id="7" name="Picture 6" descr="shutterstock_30589195.jpg"/>
          <p:cNvPicPr/>
          <p:nvPr/>
        </p:nvPicPr>
        <p:blipFill>
          <a:blip r:embed="rId3" cstate="print"/>
          <a:stretch>
            <a:fillRect/>
          </a:stretch>
        </p:blipFill>
        <p:spPr>
          <a:xfrm>
            <a:off x="6372200" y="3501008"/>
            <a:ext cx="1935475" cy="1235199"/>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Pass on information to clients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Tours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 company name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 name, code and duration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Departure date, time and location/city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Arrival date, time and location/city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Rooming details – single, twin, triple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Inclusions</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155</a:t>
            </a:fld>
            <a:endParaRPr lang="en-US" dirty="0">
              <a:latin typeface="Helvetica" pitchFamily="34" charset="0"/>
            </a:endParaRPr>
          </a:p>
        </p:txBody>
      </p:sp>
      <p:pic>
        <p:nvPicPr>
          <p:cNvPr id="6" name="Picture 5" descr="shutterstock_66962083.jpg"/>
          <p:cNvPicPr/>
          <p:nvPr/>
        </p:nvPicPr>
        <p:blipFill>
          <a:blip r:embed="rId3" cstate="print"/>
          <a:stretch>
            <a:fillRect/>
          </a:stretch>
        </p:blipFill>
        <p:spPr>
          <a:xfrm>
            <a:off x="6084168" y="3140968"/>
            <a:ext cx="2325236" cy="1221482"/>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Pass on information to clients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Transfers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Date, time and location of transfers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Type of transfer – seat in coach, private transfers, limousine etc</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156</a:t>
            </a:fld>
            <a:endParaRPr lang="en-US" dirty="0">
              <a:latin typeface="Helvetica" pitchFamily="34" charset="0"/>
            </a:endParaRPr>
          </a:p>
        </p:txBody>
      </p:sp>
      <p:pic>
        <p:nvPicPr>
          <p:cNvPr id="7" name="Picture 6" descr="shutterstock_32168734.jpg"/>
          <p:cNvPicPr>
            <a:picLocks noChangeAspect="1"/>
          </p:cNvPicPr>
          <p:nvPr/>
        </p:nvPicPr>
        <p:blipFill>
          <a:blip r:embed="rId3" cstate="print"/>
          <a:stretch>
            <a:fillRect/>
          </a:stretch>
        </p:blipFill>
        <p:spPr>
          <a:xfrm>
            <a:off x="3491880" y="3789040"/>
            <a:ext cx="2316088" cy="1537882"/>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Pass on information to clients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Insurance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Company used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Policy type and length of policy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Type of cover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Reference to PDS (Product Disclosure Statement)</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157</a:t>
            </a:fld>
            <a:endParaRPr lang="en-US" dirty="0">
              <a:latin typeface="Helvetica" pitchFamily="34" charset="0"/>
            </a:endParaRPr>
          </a:p>
        </p:txBody>
      </p:sp>
      <p:pic>
        <p:nvPicPr>
          <p:cNvPr id="6" name="Picture 5" descr="shutterstock_122825407.jpg"/>
          <p:cNvPicPr>
            <a:picLocks noChangeAspect="1"/>
          </p:cNvPicPr>
          <p:nvPr/>
        </p:nvPicPr>
        <p:blipFill>
          <a:blip r:embed="rId3" cstate="print"/>
          <a:stretch>
            <a:fillRect/>
          </a:stretch>
        </p:blipFill>
        <p:spPr>
          <a:xfrm>
            <a:off x="3419872" y="4725144"/>
            <a:ext cx="2171748" cy="1448556"/>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12776"/>
            <a:ext cx="7776864" cy="5301208"/>
          </a:xfrm>
        </p:spPr>
        <p:txBody>
          <a:bodyPr>
            <a:normAutofit/>
          </a:bodyPr>
          <a:lstStyle/>
          <a:p>
            <a:pPr>
              <a:spcBef>
                <a:spcPts val="600"/>
              </a:spcBef>
              <a:spcAft>
                <a:spcPts val="1200"/>
              </a:spcAft>
              <a:buNone/>
            </a:pPr>
            <a:r>
              <a:rPr lang="en-AU" sz="2200" b="1" dirty="0" smtClean="0">
                <a:latin typeface="Helvetica" pitchFamily="34" charset="0"/>
              </a:rPr>
              <a:t>Explain specific details about product and services</a:t>
            </a:r>
          </a:p>
          <a:p>
            <a:pPr marL="0">
              <a:spcBef>
                <a:spcPts val="600"/>
              </a:spcBef>
              <a:spcAft>
                <a:spcPts val="1200"/>
              </a:spcAft>
              <a:buNone/>
            </a:pPr>
            <a:r>
              <a:rPr lang="en-AU" sz="2200" dirty="0" smtClean="0">
                <a:latin typeface="Helvetica" pitchFamily="34" charset="0"/>
              </a:rPr>
              <a:t>In the previous section, general information relating to products and services required by customers have been identified.</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the information provided will be related to the type of travel experience sought by customers, there is other specific information that needs to be communicated with customers.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What are examples of other specific information to be communicated?</a:t>
            </a: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7" name="Picture 6" descr="shutterstock_176225597.jpg"/>
          <p:cNvPicPr/>
          <p:nvPr/>
        </p:nvPicPr>
        <p:blipFill>
          <a:blip r:embed="rId3" cstate="print"/>
          <a:stretch>
            <a:fillRect/>
          </a:stretch>
        </p:blipFill>
        <p:spPr>
          <a:xfrm>
            <a:off x="3491880" y="5301208"/>
            <a:ext cx="1767840" cy="1171575"/>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776864" cy="5301208"/>
          </a:xfrm>
        </p:spPr>
        <p:txBody>
          <a:bodyPr>
            <a:normAutofit/>
          </a:bodyPr>
          <a:lstStyle/>
          <a:p>
            <a:pPr>
              <a:spcBef>
                <a:spcPts val="600"/>
              </a:spcBef>
              <a:spcAft>
                <a:spcPts val="1200"/>
              </a:spcAft>
              <a:buNone/>
            </a:pPr>
            <a:r>
              <a:rPr lang="en-AU" sz="2200" b="1" dirty="0" smtClean="0">
                <a:latin typeface="Helvetica" pitchFamily="34" charset="0"/>
              </a:rPr>
              <a:t>Types of specific details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Regardless of the tourism products and services requested by customers the range of specific details that must also be explained to the customer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Seasonality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Availability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Costing considerations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Additional travel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 price increases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Fluctuations in exchange rates</a:t>
            </a:r>
            <a:endParaRPr lang="en-US"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6" name="Picture 5" descr="shutterstock_17643613.jpg"/>
          <p:cNvPicPr/>
          <p:nvPr/>
        </p:nvPicPr>
        <p:blipFill>
          <a:blip r:embed="rId3" cstate="print"/>
          <a:stretch>
            <a:fillRect/>
          </a:stretch>
        </p:blipFill>
        <p:spPr>
          <a:xfrm>
            <a:off x="6156176" y="3645024"/>
            <a:ext cx="1840230" cy="1190625"/>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Types of specific details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Booking conditions</a:t>
            </a:r>
          </a:p>
          <a:p>
            <a:pPr lvl="0">
              <a:spcBef>
                <a:spcPts val="600"/>
              </a:spcBef>
              <a:spcAft>
                <a:spcPts val="1200"/>
              </a:spcAft>
            </a:pPr>
            <a:r>
              <a:rPr lang="en-AU" sz="2200" dirty="0" smtClean="0">
                <a:latin typeface="Helvetica" pitchFamily="34" charset="0"/>
              </a:rPr>
              <a:t>Terms and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Scheduling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 codes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Booking procedures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Points of departure and arrival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Touring inclusions and exclusions</a:t>
            </a:r>
            <a:endParaRPr lang="en-US"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5" name="Picture 4" descr="shutterstock_87497566.jpg"/>
          <p:cNvPicPr>
            <a:picLocks noChangeAspect="1"/>
          </p:cNvPicPr>
          <p:nvPr/>
        </p:nvPicPr>
        <p:blipFill>
          <a:blip r:embed="rId3" cstate="print"/>
          <a:stretch>
            <a:fillRect/>
          </a:stretch>
        </p:blipFill>
        <p:spPr>
          <a:xfrm>
            <a:off x="6012160" y="3284984"/>
            <a:ext cx="2171748" cy="1448556"/>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Types of specific details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Technical specifications for audio-visual and other meetings and events equipment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Travel insurance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Limitations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Safety and risk – adventure products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Non operation of the product – tour cancellation</a:t>
            </a:r>
            <a:endParaRPr lang="en-US"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pic>
        <p:nvPicPr>
          <p:cNvPr id="5" name="Picture 4" descr="W61_Asian_Man_Professional_shutterstock_153733442.jpg"/>
          <p:cNvPicPr>
            <a:picLocks noChangeAspect="1"/>
          </p:cNvPicPr>
          <p:nvPr/>
        </p:nvPicPr>
        <p:blipFill>
          <a:blip r:embed="rId3" cstate="print"/>
          <a:stretch>
            <a:fillRect/>
          </a:stretch>
        </p:blipFill>
        <p:spPr>
          <a:xfrm>
            <a:off x="6300192" y="3068960"/>
            <a:ext cx="1739916" cy="1160524"/>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Seasonality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High season – most expensive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Should season – in between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Low season – least expensive</a:t>
            </a:r>
            <a:endParaRPr lang="en-US"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6" name="Picture 5" descr="shutterstock_82771591.jpg"/>
          <p:cNvPicPr/>
          <p:nvPr/>
        </p:nvPicPr>
        <p:blipFill>
          <a:blip r:embed="rId3" cstate="print"/>
          <a:stretch>
            <a:fillRect/>
          </a:stretch>
        </p:blipFill>
        <p:spPr>
          <a:xfrm>
            <a:off x="5940152" y="2204864"/>
            <a:ext cx="2203698" cy="1397124"/>
          </a:xfrm>
          <a:prstGeom prst="rect">
            <a:avLst/>
          </a:prstGeom>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lvl="0">
              <a:spcBef>
                <a:spcPts val="600"/>
              </a:spcBef>
              <a:spcAft>
                <a:spcPts val="1200"/>
              </a:spcAft>
              <a:buNone/>
            </a:pPr>
            <a:r>
              <a:rPr lang="en-AU" sz="2200" b="1" dirty="0" smtClean="0">
                <a:latin typeface="Helvetica" pitchFamily="34" charset="0"/>
              </a:rPr>
              <a:t>Availability &amp; confirmation details required</a:t>
            </a:r>
          </a:p>
          <a:p>
            <a:pPr lvl="0">
              <a:spcBef>
                <a:spcPts val="600"/>
              </a:spcBef>
              <a:spcAft>
                <a:spcPts val="1200"/>
              </a:spcAft>
            </a:pPr>
            <a:r>
              <a:rPr lang="en-AU" sz="2200" dirty="0" smtClean="0">
                <a:latin typeface="Helvetica" pitchFamily="34" charset="0"/>
              </a:rPr>
              <a:t>What has been booked and confirmed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Who it has been booked for (the full name)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terms and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Deposit and payment amounts (dates due)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Acceptable forms of payment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Credit card merchant fees</a:t>
            </a:r>
            <a:endParaRPr lang="en-US"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7" name="Picture 6" descr="shutterstock_7096195.jpg"/>
          <p:cNvPicPr/>
          <p:nvPr/>
        </p:nvPicPr>
        <p:blipFill>
          <a:blip r:embed="rId3" cstate="print"/>
          <a:stretch>
            <a:fillRect/>
          </a:stretch>
        </p:blipFill>
        <p:spPr>
          <a:xfrm>
            <a:off x="6732240" y="2996952"/>
            <a:ext cx="1673860" cy="1114425"/>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dirty="0"/>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Costing considerations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Seasonality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Validity dates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Date of booking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Date of travel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Surcharges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Restrictions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Standard</a:t>
            </a:r>
          </a:p>
          <a:p>
            <a:pPr lvl="0">
              <a:spcBef>
                <a:spcPts val="600"/>
              </a:spcBef>
              <a:spcAft>
                <a:spcPts val="1200"/>
              </a:spcAft>
            </a:pPr>
            <a:r>
              <a:rPr lang="en-AU" sz="2200" dirty="0" smtClean="0">
                <a:latin typeface="Helvetica" pitchFamily="34" charset="0"/>
              </a:rPr>
              <a:t>Inclusions/exclusions</a:t>
            </a:r>
            <a:endParaRPr lang="en-US"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6" name="Picture 5" descr="A21 shutterstock_182028425.jpg"/>
          <p:cNvPicPr/>
          <p:nvPr/>
        </p:nvPicPr>
        <p:blipFill>
          <a:blip r:embed="rId3" cstate="print"/>
          <a:stretch>
            <a:fillRect/>
          </a:stretch>
        </p:blipFill>
        <p:spPr>
          <a:xfrm>
            <a:off x="5652120" y="3068960"/>
            <a:ext cx="2423122" cy="1584176"/>
          </a:xfrm>
          <a:prstGeom prst="rect">
            <a:avLst/>
          </a:prstGeom>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dirty="0"/>
          </a:p>
        </p:txBody>
      </p:sp>
      <p:sp>
        <p:nvSpPr>
          <p:cNvPr id="3" name="Content Placeholder 2"/>
          <p:cNvSpPr>
            <a:spLocks noGrp="1"/>
          </p:cNvSpPr>
          <p:nvPr>
            <p:ph idx="1"/>
          </p:nvPr>
        </p:nvSpPr>
        <p:spPr>
          <a:xfrm>
            <a:off x="539552" y="1412776"/>
            <a:ext cx="7776864" cy="5301208"/>
          </a:xfrm>
        </p:spPr>
        <p:txBody>
          <a:bodyPr>
            <a:normAutofit/>
          </a:bodyPr>
          <a:lstStyle/>
          <a:p>
            <a:pPr>
              <a:spcBef>
                <a:spcPts val="600"/>
              </a:spcBef>
              <a:spcAft>
                <a:spcPts val="1200"/>
              </a:spcAft>
              <a:buNone/>
            </a:pPr>
            <a:r>
              <a:rPr lang="en-US" sz="2200" b="1" dirty="0" smtClean="0">
                <a:latin typeface="Helvetica" pitchFamily="34" charset="0"/>
              </a:rPr>
              <a:t>Costing considerations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Bedding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Child and infant costs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Currency used and conversion rates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Payments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Conditions of sale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Packages versus single items sold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Stay Pay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Last minute deals and spot specials</a:t>
            </a:r>
            <a:endParaRPr lang="en-US"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pic>
        <p:nvPicPr>
          <p:cNvPr id="5" name="Picture 4" descr="shutterstock_96331862.jpg"/>
          <p:cNvPicPr>
            <a:picLocks noChangeAspect="1"/>
          </p:cNvPicPr>
          <p:nvPr/>
        </p:nvPicPr>
        <p:blipFill>
          <a:blip r:embed="rId3" cstate="print"/>
          <a:stretch>
            <a:fillRect/>
          </a:stretch>
        </p:blipFill>
        <p:spPr>
          <a:xfrm>
            <a:off x="6444208" y="3284984"/>
            <a:ext cx="1887677" cy="1495040"/>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dirty="0"/>
          </a:p>
        </p:txBody>
      </p:sp>
      <p:sp>
        <p:nvSpPr>
          <p:cNvPr id="3" name="Content Placeholder 2"/>
          <p:cNvSpPr>
            <a:spLocks noGrp="1"/>
          </p:cNvSpPr>
          <p:nvPr>
            <p:ph idx="1"/>
          </p:nvPr>
        </p:nvSpPr>
        <p:spPr>
          <a:xfrm>
            <a:off x="611560" y="1556792"/>
            <a:ext cx="7776864" cy="5301208"/>
          </a:xfrm>
        </p:spPr>
        <p:txBody>
          <a:bodyPr>
            <a:normAutofit fontScale="92500" lnSpcReduction="20000"/>
          </a:bodyPr>
          <a:lstStyle/>
          <a:p>
            <a:pPr>
              <a:spcBef>
                <a:spcPts val="600"/>
              </a:spcBef>
              <a:spcAft>
                <a:spcPts val="1200"/>
              </a:spcAft>
              <a:buNone/>
            </a:pPr>
            <a:r>
              <a:rPr lang="en-AU" sz="2400" b="1" dirty="0" smtClean="0">
                <a:latin typeface="Helvetica" pitchFamily="34" charset="0"/>
              </a:rPr>
              <a:t>Additional travel costs</a:t>
            </a:r>
            <a:endParaRPr lang="en-US" sz="2400" dirty="0" smtClean="0">
              <a:latin typeface="Helvetica" pitchFamily="34" charset="0"/>
            </a:endParaRPr>
          </a:p>
          <a:p>
            <a:pPr lvl="0">
              <a:spcBef>
                <a:spcPts val="600"/>
              </a:spcBef>
              <a:spcAft>
                <a:spcPts val="1200"/>
              </a:spcAft>
            </a:pPr>
            <a:r>
              <a:rPr lang="en-AU" sz="2400" dirty="0" smtClean="0">
                <a:latin typeface="Helvetica" pitchFamily="34" charset="0"/>
              </a:rPr>
              <a:t>Mandatory organisation service, transaction or planning fee etc</a:t>
            </a:r>
            <a:endParaRPr lang="en-US" sz="2400" dirty="0" smtClean="0">
              <a:latin typeface="Helvetica" pitchFamily="34" charset="0"/>
            </a:endParaRPr>
          </a:p>
          <a:p>
            <a:pPr lvl="0">
              <a:spcBef>
                <a:spcPts val="600"/>
              </a:spcBef>
              <a:spcAft>
                <a:spcPts val="1200"/>
              </a:spcAft>
            </a:pPr>
            <a:r>
              <a:rPr lang="en-AU" sz="2400" dirty="0" smtClean="0">
                <a:latin typeface="Helvetica" pitchFamily="34" charset="0"/>
              </a:rPr>
              <a:t>Insurance</a:t>
            </a:r>
            <a:endParaRPr lang="en-US" sz="2400" dirty="0" smtClean="0">
              <a:latin typeface="Helvetica" pitchFamily="34" charset="0"/>
            </a:endParaRPr>
          </a:p>
          <a:p>
            <a:pPr lvl="0">
              <a:spcBef>
                <a:spcPts val="600"/>
              </a:spcBef>
              <a:spcAft>
                <a:spcPts val="1200"/>
              </a:spcAft>
            </a:pPr>
            <a:r>
              <a:rPr lang="en-AU" sz="2400" dirty="0" smtClean="0">
                <a:latin typeface="Helvetica" pitchFamily="34" charset="0"/>
              </a:rPr>
              <a:t>Visa</a:t>
            </a:r>
            <a:endParaRPr lang="en-US" sz="2400" dirty="0" smtClean="0">
              <a:latin typeface="Helvetica" pitchFamily="34" charset="0"/>
            </a:endParaRPr>
          </a:p>
          <a:p>
            <a:pPr lvl="0">
              <a:spcBef>
                <a:spcPts val="600"/>
              </a:spcBef>
              <a:spcAft>
                <a:spcPts val="1200"/>
              </a:spcAft>
            </a:pPr>
            <a:r>
              <a:rPr lang="en-AU" sz="2400" dirty="0" smtClean="0">
                <a:latin typeface="Helvetica" pitchFamily="34" charset="0"/>
              </a:rPr>
              <a:t>Airport taxes</a:t>
            </a:r>
            <a:endParaRPr lang="en-US" sz="2400" dirty="0" smtClean="0">
              <a:latin typeface="Helvetica" pitchFamily="34" charset="0"/>
            </a:endParaRPr>
          </a:p>
          <a:p>
            <a:pPr lvl="0">
              <a:spcBef>
                <a:spcPts val="600"/>
              </a:spcBef>
              <a:spcAft>
                <a:spcPts val="1200"/>
              </a:spcAft>
            </a:pPr>
            <a:r>
              <a:rPr lang="en-AU" sz="2400" dirty="0" smtClean="0">
                <a:latin typeface="Helvetica" pitchFamily="34" charset="0"/>
              </a:rPr>
              <a:t>Merchant fees</a:t>
            </a:r>
            <a:endParaRPr lang="en-US" sz="2400" dirty="0" smtClean="0">
              <a:latin typeface="Helvetica" pitchFamily="34" charset="0"/>
            </a:endParaRPr>
          </a:p>
          <a:p>
            <a:pPr lvl="0">
              <a:spcBef>
                <a:spcPts val="600"/>
              </a:spcBef>
              <a:spcAft>
                <a:spcPts val="1200"/>
              </a:spcAft>
            </a:pPr>
            <a:r>
              <a:rPr lang="en-AU" sz="2400" dirty="0" smtClean="0">
                <a:latin typeface="Helvetica" pitchFamily="34" charset="0"/>
              </a:rPr>
              <a:t>Any taxes and levies which are payable direct and which are not included in the quotation</a:t>
            </a:r>
            <a:endParaRPr lang="en-US" sz="2400" dirty="0" smtClean="0">
              <a:latin typeface="Helvetica" pitchFamily="34" charset="0"/>
            </a:endParaRPr>
          </a:p>
          <a:p>
            <a:pPr lvl="0">
              <a:spcBef>
                <a:spcPts val="600"/>
              </a:spcBef>
              <a:spcAft>
                <a:spcPts val="1200"/>
              </a:spcAft>
            </a:pPr>
            <a:r>
              <a:rPr lang="en-AU" sz="2400" dirty="0" smtClean="0">
                <a:latin typeface="Helvetica" pitchFamily="34" charset="0"/>
              </a:rPr>
              <a:t>Extra charges</a:t>
            </a:r>
            <a:endParaRPr lang="en-US" sz="2400" dirty="0" smtClean="0">
              <a:latin typeface="Helvetica" pitchFamily="34" charset="0"/>
            </a:endParaRPr>
          </a:p>
          <a:p>
            <a:pPr>
              <a:spcBef>
                <a:spcPts val="600"/>
              </a:spcBef>
              <a:spcAft>
                <a:spcPts val="1200"/>
              </a:spcAft>
            </a:pPr>
            <a:r>
              <a:rPr lang="en-AU" sz="2400" dirty="0" smtClean="0">
                <a:latin typeface="Helvetica" pitchFamily="34" charset="0"/>
              </a:rPr>
              <a:t>Exchange rate fluctuation</a:t>
            </a:r>
            <a:endParaRPr lang="en-US" sz="24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pic>
        <p:nvPicPr>
          <p:cNvPr id="6" name="Picture 5" descr="shutterstock_174863018.jpg"/>
          <p:cNvPicPr>
            <a:picLocks noChangeAspect="1"/>
          </p:cNvPicPr>
          <p:nvPr/>
        </p:nvPicPr>
        <p:blipFill>
          <a:blip r:embed="rId3" cstate="print"/>
          <a:stretch>
            <a:fillRect/>
          </a:stretch>
        </p:blipFill>
        <p:spPr>
          <a:xfrm>
            <a:off x="6588224" y="3356992"/>
            <a:ext cx="1727328" cy="1152128"/>
          </a:xfrm>
          <a:prstGeom prst="rect">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dirty="0"/>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Product price increases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Expiration of the airfare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Interpretation of airfare rules by the consultant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Missed ticket deadline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Change in taxes and levies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Fuel surcharges</a:t>
            </a:r>
            <a:endParaRPr lang="en-US"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pic>
        <p:nvPicPr>
          <p:cNvPr id="7" name="Picture 6" descr="shutterstock_150882020.jpg"/>
          <p:cNvPicPr>
            <a:picLocks noChangeAspect="1"/>
          </p:cNvPicPr>
          <p:nvPr/>
        </p:nvPicPr>
        <p:blipFill>
          <a:blip r:embed="rId3" cstate="print"/>
          <a:stretch>
            <a:fillRect/>
          </a:stretch>
        </p:blipFill>
        <p:spPr>
          <a:xfrm>
            <a:off x="6300192" y="3356992"/>
            <a:ext cx="1668016" cy="1668016"/>
          </a:xfrm>
          <a:prstGeom prst="rect">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Booking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How to book – who to contact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Amount of deposit required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Prices and validity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Assumption of risk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Exclusion of liability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Payment deadline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Ticketing deadline</a:t>
            </a:r>
            <a:endParaRPr lang="en-US" sz="2200" dirty="0" smtClean="0">
              <a:latin typeface="Helvetica" pitchFamily="34" charset="0"/>
            </a:endParaRPr>
          </a:p>
          <a:p>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7" name="Picture 6" descr="shutterstock_149574587.jpg"/>
          <p:cNvPicPr/>
          <p:nvPr/>
        </p:nvPicPr>
        <p:blipFill>
          <a:blip r:embed="rId3" cstate="print"/>
          <a:stretch>
            <a:fillRect/>
          </a:stretch>
        </p:blipFill>
        <p:spPr>
          <a:xfrm>
            <a:off x="5940152" y="3140968"/>
            <a:ext cx="2173181" cy="1440160"/>
          </a:xfrm>
          <a:prstGeom prst="rect">
            <a:avLst/>
          </a:prstGeom>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Booking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Extension ticketing deadline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Cancellation by the supplier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Force Majeure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Cancellation by the travel agent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Cancellation charges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Availability of any type of change to booking</a:t>
            </a:r>
            <a:endParaRPr lang="en-US" sz="2200" dirty="0" smtClean="0">
              <a:latin typeface="Helvetica" pitchFamily="34" charset="0"/>
            </a:endParaRPr>
          </a:p>
          <a:p>
            <a:pPr>
              <a:buNone/>
            </a:pPr>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6" name="Picture 5" descr="shutterstock_176225597.jpg"/>
          <p:cNvPicPr>
            <a:picLocks noChangeAspect="1"/>
          </p:cNvPicPr>
          <p:nvPr/>
        </p:nvPicPr>
        <p:blipFill>
          <a:blip r:embed="rId3" cstate="print"/>
          <a:stretch>
            <a:fillRect/>
          </a:stretch>
        </p:blipFill>
        <p:spPr>
          <a:xfrm>
            <a:off x="6156176" y="2780928"/>
            <a:ext cx="2176640" cy="1440936"/>
          </a:xfrm>
          <a:prstGeom prst="rect">
            <a:avLst/>
          </a:prstGeom>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Booking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Availability of changes to class of booking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Types of booking amendments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Amendment fees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Complaints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Authority of suppliers and tour leaders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Baggage allowance</a:t>
            </a:r>
            <a:endParaRPr lang="en-US" sz="2200" dirty="0" smtClean="0">
              <a:latin typeface="Helvetica" pitchFamily="34" charset="0"/>
            </a:endParaRPr>
          </a:p>
          <a:p>
            <a:pPr>
              <a:buNone/>
            </a:pPr>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170</a:t>
            </a:fld>
            <a:endParaRPr lang="en-US" dirty="0"/>
          </a:p>
        </p:txBody>
      </p:sp>
      <p:pic>
        <p:nvPicPr>
          <p:cNvPr id="6" name="Picture 5" descr="shutterstock_101549416.jpg"/>
          <p:cNvPicPr/>
          <p:nvPr/>
        </p:nvPicPr>
        <p:blipFill>
          <a:blip r:embed="rId3" cstate="print"/>
          <a:stretch>
            <a:fillRect/>
          </a:stretch>
        </p:blipFill>
        <p:spPr>
          <a:xfrm>
            <a:off x="6444208" y="2924944"/>
            <a:ext cx="1930387" cy="1656184"/>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Booking conditions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Excess baggage charges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Health, fitness and age limits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Publicity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Privacy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Governing law</a:t>
            </a: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US" sz="2400" dirty="0" smtClean="0"/>
          </a:p>
          <a:p>
            <a:pPr>
              <a:spcBef>
                <a:spcPts val="600"/>
              </a:spcBef>
              <a:spcAft>
                <a:spcPts val="1200"/>
              </a:spcAft>
              <a:buNone/>
            </a:pPr>
            <a:endParaRPr lang="en-US" sz="2200" dirty="0" smtClean="0">
              <a:latin typeface="Helvetica" pitchFamily="34" charset="0"/>
            </a:endParaRPr>
          </a:p>
          <a:p>
            <a:pPr>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171</a:t>
            </a:fld>
            <a:endParaRPr lang="en-US" dirty="0"/>
          </a:p>
        </p:txBody>
      </p:sp>
      <p:pic>
        <p:nvPicPr>
          <p:cNvPr id="8" name="Picture 7" descr="W252_compliance_shutterstock_156183356.jpg"/>
          <p:cNvPicPr>
            <a:picLocks noChangeAspect="1"/>
          </p:cNvPicPr>
          <p:nvPr/>
        </p:nvPicPr>
        <p:blipFill>
          <a:blip r:embed="rId3" cstate="print"/>
          <a:stretch>
            <a:fillRect/>
          </a:stretch>
        </p:blipFill>
        <p:spPr>
          <a:xfrm>
            <a:off x="5796136" y="3068960"/>
            <a:ext cx="2316088" cy="1442923"/>
          </a:xfrm>
          <a:prstGeom prst="rect">
            <a:avLst/>
          </a:prstGeom>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Identify terms and conditions</a:t>
            </a:r>
          </a:p>
          <a:p>
            <a:pPr marL="0">
              <a:spcBef>
                <a:spcPts val="600"/>
              </a:spcBef>
              <a:spcAft>
                <a:spcPts val="1200"/>
              </a:spcAft>
              <a:buNone/>
            </a:pPr>
            <a:r>
              <a:rPr lang="en-AU" sz="2200" dirty="0" smtClean="0">
                <a:latin typeface="Helvetica" pitchFamily="34" charset="0"/>
              </a:rPr>
              <a:t>All quotations will come with terms and conditions that will apply to various aspects of travel arrangements.</a:t>
            </a:r>
          </a:p>
          <a:p>
            <a:pPr>
              <a:spcBef>
                <a:spcPts val="600"/>
              </a:spcBef>
              <a:spcAft>
                <a:spcPts val="1200"/>
              </a:spcAft>
              <a:buNone/>
            </a:pPr>
            <a:r>
              <a:rPr lang="en-AU" sz="2200" dirty="0" smtClean="0">
                <a:latin typeface="Helvetica" pitchFamily="34" charset="0"/>
              </a:rPr>
              <a:t>Terms and conditions may be provided by:</a:t>
            </a:r>
          </a:p>
          <a:p>
            <a:pPr lvl="0">
              <a:spcBef>
                <a:spcPts val="600"/>
              </a:spcBef>
              <a:spcAft>
                <a:spcPts val="1200"/>
              </a:spcAft>
            </a:pPr>
            <a:r>
              <a:rPr lang="en-AU" sz="2200" dirty="0" smtClean="0">
                <a:latin typeface="Helvetica" pitchFamily="34" charset="0"/>
              </a:rPr>
              <a:t>The travel agent themselves</a:t>
            </a:r>
          </a:p>
          <a:p>
            <a:pPr lvl="0">
              <a:spcBef>
                <a:spcPts val="600"/>
              </a:spcBef>
              <a:spcAft>
                <a:spcPts val="1200"/>
              </a:spcAft>
            </a:pPr>
            <a:r>
              <a:rPr lang="en-AU" sz="2200" dirty="0" smtClean="0">
                <a:latin typeface="Helvetica" pitchFamily="34" charset="0"/>
              </a:rPr>
              <a:t>Suppliers</a:t>
            </a:r>
          </a:p>
          <a:p>
            <a:pPr lvl="0">
              <a:spcBef>
                <a:spcPts val="600"/>
              </a:spcBef>
              <a:spcAft>
                <a:spcPts val="1200"/>
              </a:spcAft>
            </a:pPr>
            <a:r>
              <a:rPr lang="en-AU" sz="2200" dirty="0" smtClean="0">
                <a:latin typeface="Helvetica" pitchFamily="34" charset="0"/>
              </a:rPr>
              <a:t>The  individual product or service provider </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172</a:t>
            </a:fld>
            <a:endParaRPr lang="en-US" dirty="0">
              <a:latin typeface="Helvetica" pitchFamily="34" charset="0"/>
            </a:endParaRPr>
          </a:p>
        </p:txBody>
      </p:sp>
      <p:pic>
        <p:nvPicPr>
          <p:cNvPr id="5" name="Picture 4" descr="shutterstock_143143042.jpg"/>
          <p:cNvPicPr/>
          <p:nvPr/>
        </p:nvPicPr>
        <p:blipFill>
          <a:blip r:embed="rId3" cstate="print"/>
          <a:stretch>
            <a:fillRect/>
          </a:stretch>
        </p:blipFill>
        <p:spPr>
          <a:xfrm>
            <a:off x="7020272" y="3284984"/>
            <a:ext cx="1178560" cy="1714500"/>
          </a:xfrm>
          <a:prstGeom prst="rect">
            <a:avLst/>
          </a:prstGeom>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12776"/>
            <a:ext cx="6552728" cy="4824536"/>
          </a:xfrm>
        </p:spPr>
        <p:txBody>
          <a:bodyPr>
            <a:normAutofit lnSpcReduction="10000"/>
          </a:bodyPr>
          <a:lstStyle/>
          <a:p>
            <a:pPr>
              <a:spcBef>
                <a:spcPts val="600"/>
              </a:spcBef>
              <a:spcAft>
                <a:spcPts val="1200"/>
              </a:spcAft>
              <a:buNone/>
            </a:pPr>
            <a:r>
              <a:rPr lang="en-AU" sz="2100" b="1" dirty="0" smtClean="0">
                <a:latin typeface="Helvetica" pitchFamily="34" charset="0"/>
              </a:rPr>
              <a:t>Types of terms and conditions</a:t>
            </a:r>
            <a:endParaRPr lang="en-AU" sz="2100" dirty="0" smtClean="0">
              <a:latin typeface="Helvetica" pitchFamily="34" charset="0"/>
            </a:endParaRPr>
          </a:p>
          <a:p>
            <a:pPr lvl="0">
              <a:spcBef>
                <a:spcPts val="600"/>
              </a:spcBef>
              <a:spcAft>
                <a:spcPts val="1200"/>
              </a:spcAft>
            </a:pPr>
            <a:r>
              <a:rPr lang="en-AU" sz="2100" dirty="0" smtClean="0">
                <a:latin typeface="Helvetica" pitchFamily="34" charset="0"/>
              </a:rPr>
              <a:t>Terms and methods of payment</a:t>
            </a:r>
          </a:p>
          <a:p>
            <a:pPr lvl="0">
              <a:spcBef>
                <a:spcPts val="600"/>
              </a:spcBef>
              <a:spcAft>
                <a:spcPts val="1200"/>
              </a:spcAft>
            </a:pPr>
            <a:r>
              <a:rPr lang="en-AU" sz="2100" dirty="0" smtClean="0">
                <a:latin typeface="Helvetica" pitchFamily="34" charset="0"/>
              </a:rPr>
              <a:t>Dates for payment of deposits and final payment</a:t>
            </a:r>
          </a:p>
          <a:p>
            <a:pPr lvl="0">
              <a:spcBef>
                <a:spcPts val="600"/>
              </a:spcBef>
              <a:spcAft>
                <a:spcPts val="1200"/>
              </a:spcAft>
            </a:pPr>
            <a:r>
              <a:rPr lang="en-AU" sz="2100" dirty="0" smtClean="0">
                <a:latin typeface="Helvetica" pitchFamily="34" charset="0"/>
              </a:rPr>
              <a:t>Notifications regarding final confirmation of the booking </a:t>
            </a:r>
          </a:p>
          <a:p>
            <a:pPr lvl="0">
              <a:spcBef>
                <a:spcPts val="600"/>
              </a:spcBef>
              <a:spcAft>
                <a:spcPts val="1200"/>
              </a:spcAft>
            </a:pPr>
            <a:r>
              <a:rPr lang="en-AU" sz="2100" dirty="0" smtClean="0">
                <a:latin typeface="Helvetica" pitchFamily="34" charset="0"/>
              </a:rPr>
              <a:t>Cancellations and penalties and charges that apply</a:t>
            </a:r>
          </a:p>
          <a:p>
            <a:pPr lvl="0">
              <a:spcBef>
                <a:spcPts val="600"/>
              </a:spcBef>
              <a:spcAft>
                <a:spcPts val="1200"/>
              </a:spcAft>
            </a:pPr>
            <a:r>
              <a:rPr lang="en-AU" sz="2100" dirty="0" smtClean="0">
                <a:latin typeface="Helvetica" pitchFamily="34" charset="0"/>
              </a:rPr>
              <a:t>Procedures and charges that apply to name and date changes for the booking</a:t>
            </a:r>
          </a:p>
          <a:p>
            <a:pPr lvl="0">
              <a:spcBef>
                <a:spcPts val="600"/>
              </a:spcBef>
              <a:spcAft>
                <a:spcPts val="1200"/>
              </a:spcAft>
            </a:pPr>
            <a:r>
              <a:rPr lang="en-AU" sz="2100" dirty="0" smtClean="0">
                <a:latin typeface="Helvetica" pitchFamily="34" charset="0"/>
              </a:rPr>
              <a:t>Guarantees and warranties that apply to the                           products and services covered by the quotation</a:t>
            </a:r>
          </a:p>
          <a:p>
            <a:pPr>
              <a:spcBef>
                <a:spcPts val="600"/>
              </a:spcBef>
              <a:spcAft>
                <a:spcPts val="1200"/>
              </a:spcAft>
            </a:pPr>
            <a:endParaRPr lang="en-AU" sz="2100" dirty="0" smtClean="0">
              <a:latin typeface="Helvetica" pitchFamily="34" charset="0"/>
            </a:endParaRPr>
          </a:p>
          <a:p>
            <a:pPr marL="0">
              <a:spcBef>
                <a:spcPts val="600"/>
              </a:spcBef>
              <a:spcAft>
                <a:spcPts val="600"/>
              </a:spcAft>
              <a:buNone/>
            </a:pPr>
            <a:endParaRPr lang="en-AU" sz="2100" dirty="0" smtClean="0"/>
          </a:p>
          <a:p>
            <a:pPr marL="0">
              <a:spcBef>
                <a:spcPts val="600"/>
              </a:spcBef>
              <a:spcAft>
                <a:spcPts val="1200"/>
              </a:spcAft>
            </a:pPr>
            <a:endParaRPr lang="en-AU" sz="2100" dirty="0" smtClean="0"/>
          </a:p>
          <a:p>
            <a:pPr marL="0">
              <a:spcBef>
                <a:spcPts val="600"/>
              </a:spcBef>
              <a:spcAft>
                <a:spcPts val="1200"/>
              </a:spcAft>
            </a:pPr>
            <a:endParaRPr lang="en-AU" sz="2100" dirty="0" smtClean="0"/>
          </a:p>
          <a:p>
            <a:pPr marL="0">
              <a:spcBef>
                <a:spcPts val="600"/>
              </a:spcBef>
              <a:spcAft>
                <a:spcPts val="1200"/>
              </a:spcAft>
            </a:pPr>
            <a:endParaRPr lang="en-AU" sz="2100" dirty="0" smtClean="0"/>
          </a:p>
          <a:p>
            <a:pPr marL="0">
              <a:spcBef>
                <a:spcPts val="600"/>
              </a:spcBef>
              <a:spcAft>
                <a:spcPts val="1200"/>
              </a:spcAft>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173</a:t>
            </a:fld>
            <a:endParaRPr lang="en-US" dirty="0">
              <a:latin typeface="Helvetica" pitchFamily="34" charset="0"/>
            </a:endParaRPr>
          </a:p>
        </p:txBody>
      </p:sp>
      <p:pic>
        <p:nvPicPr>
          <p:cNvPr id="5" name="Picture 4" descr="shutterstock_165735539.jpg"/>
          <p:cNvPicPr/>
          <p:nvPr/>
        </p:nvPicPr>
        <p:blipFill>
          <a:blip r:embed="rId3" cstate="print"/>
          <a:stretch>
            <a:fillRect/>
          </a:stretch>
        </p:blipFill>
        <p:spPr>
          <a:xfrm>
            <a:off x="7309857" y="3212976"/>
            <a:ext cx="1661699" cy="1224136"/>
          </a:xfrm>
          <a:prstGeom prst="rect">
            <a:avLst/>
          </a:prstGeom>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840760" cy="4824536"/>
          </a:xfrm>
        </p:spPr>
        <p:txBody>
          <a:bodyPr>
            <a:normAutofit/>
          </a:bodyPr>
          <a:lstStyle/>
          <a:p>
            <a:pPr>
              <a:spcBef>
                <a:spcPts val="600"/>
              </a:spcBef>
              <a:spcAft>
                <a:spcPts val="1200"/>
              </a:spcAft>
              <a:buNone/>
            </a:pPr>
            <a:r>
              <a:rPr lang="en-AU" sz="2200" b="1" dirty="0" smtClean="0">
                <a:latin typeface="Helvetica" pitchFamily="34" charset="0"/>
              </a:rPr>
              <a:t>Types of terms and conditions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Exclusion and limitation of liability clauses</a:t>
            </a:r>
          </a:p>
          <a:p>
            <a:pPr lvl="0">
              <a:spcBef>
                <a:spcPts val="600"/>
              </a:spcBef>
              <a:spcAft>
                <a:spcPts val="1200"/>
              </a:spcAft>
            </a:pPr>
            <a:r>
              <a:rPr lang="en-AU" sz="2200" dirty="0" smtClean="0">
                <a:latin typeface="Helvetica" pitchFamily="34" charset="0"/>
              </a:rPr>
              <a:t>Identification of the period for which the quotation is valid</a:t>
            </a:r>
          </a:p>
          <a:p>
            <a:pPr lvl="0">
              <a:spcBef>
                <a:spcPts val="600"/>
              </a:spcBef>
              <a:spcAft>
                <a:spcPts val="1200"/>
              </a:spcAft>
            </a:pPr>
            <a:r>
              <a:rPr lang="en-AU" sz="2200" dirty="0" smtClean="0">
                <a:latin typeface="Helvetica" pitchFamily="34" charset="0"/>
              </a:rPr>
              <a:t>Whether or not the quotation is subject to change with or without notice</a:t>
            </a:r>
          </a:p>
          <a:p>
            <a:pPr lvl="0">
              <a:spcBef>
                <a:spcPts val="600"/>
              </a:spcBef>
              <a:spcAft>
                <a:spcPts val="1200"/>
              </a:spcAft>
            </a:pPr>
            <a:r>
              <a:rPr lang="en-AU" sz="2200" dirty="0" smtClean="0">
                <a:latin typeface="Helvetica" pitchFamily="34" charset="0"/>
              </a:rPr>
              <a:t>Reference to associated terms and conditions as imposed by third party providers</a:t>
            </a:r>
          </a:p>
          <a:p>
            <a:pPr lvl="0">
              <a:spcBef>
                <a:spcPts val="600"/>
              </a:spcBef>
              <a:spcAft>
                <a:spcPts val="1200"/>
              </a:spcAft>
            </a:pPr>
            <a:r>
              <a:rPr lang="en-AU" sz="2200" dirty="0" smtClean="0">
                <a:latin typeface="Helvetica" pitchFamily="34" charset="0"/>
              </a:rPr>
              <a:t>General industry rules, regulations and codes</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174</a:t>
            </a:fld>
            <a:endParaRPr lang="en-US" dirty="0">
              <a:latin typeface="Helvetica" pitchFamily="34" charset="0"/>
            </a:endParaRPr>
          </a:p>
        </p:txBody>
      </p:sp>
      <p:pic>
        <p:nvPicPr>
          <p:cNvPr id="5" name="Picture 4" descr="shutterstock_156185711.jpg"/>
          <p:cNvPicPr/>
          <p:nvPr/>
        </p:nvPicPr>
        <p:blipFill>
          <a:blip r:embed="rId3" cstate="print"/>
          <a:stretch>
            <a:fillRect/>
          </a:stretch>
        </p:blipFill>
        <p:spPr>
          <a:xfrm>
            <a:off x="7452320" y="3356992"/>
            <a:ext cx="1466848" cy="957261"/>
          </a:xfrm>
          <a:prstGeom prst="rect">
            <a:avLst/>
          </a:prstGeom>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Travel Agent Terms and Conditions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They will commonly include terms and conditions relating to:</a:t>
            </a:r>
          </a:p>
          <a:p>
            <a:pPr lvl="0">
              <a:spcBef>
                <a:spcPts val="600"/>
              </a:spcBef>
              <a:spcAft>
                <a:spcPts val="1200"/>
              </a:spcAft>
            </a:pPr>
            <a:r>
              <a:rPr lang="en-AU" sz="2200" dirty="0" smtClean="0">
                <a:latin typeface="Helvetica" pitchFamily="34" charset="0"/>
              </a:rPr>
              <a:t>Deposit and how to book</a:t>
            </a:r>
          </a:p>
          <a:p>
            <a:pPr lvl="0">
              <a:spcBef>
                <a:spcPts val="600"/>
              </a:spcBef>
              <a:spcAft>
                <a:spcPts val="1200"/>
              </a:spcAft>
            </a:pPr>
            <a:r>
              <a:rPr lang="en-AU" sz="2200" dirty="0" smtClean="0">
                <a:latin typeface="Helvetica" pitchFamily="34" charset="0"/>
              </a:rPr>
              <a:t>Payment Options</a:t>
            </a:r>
          </a:p>
          <a:p>
            <a:pPr lvl="0">
              <a:spcBef>
                <a:spcPts val="600"/>
              </a:spcBef>
              <a:spcAft>
                <a:spcPts val="1200"/>
              </a:spcAft>
            </a:pPr>
            <a:r>
              <a:rPr lang="en-AU" sz="2200" dirty="0" smtClean="0">
                <a:latin typeface="Helvetica" pitchFamily="34" charset="0"/>
              </a:rPr>
              <a:t>Amendments</a:t>
            </a:r>
          </a:p>
          <a:p>
            <a:pPr lvl="0">
              <a:spcBef>
                <a:spcPts val="600"/>
              </a:spcBef>
              <a:spcAft>
                <a:spcPts val="1200"/>
              </a:spcAft>
            </a:pPr>
            <a:r>
              <a:rPr lang="en-AU" sz="2200" dirty="0" smtClean="0">
                <a:latin typeface="Helvetica" pitchFamily="34" charset="0"/>
              </a:rPr>
              <a:t>Final Payment</a:t>
            </a:r>
          </a:p>
          <a:p>
            <a:pPr lvl="0">
              <a:spcBef>
                <a:spcPts val="600"/>
              </a:spcBef>
              <a:spcAft>
                <a:spcPts val="1200"/>
              </a:spcAft>
            </a:pPr>
            <a:r>
              <a:rPr lang="en-AU" sz="2200" dirty="0" smtClean="0">
                <a:latin typeface="Helvetica" pitchFamily="34" charset="0"/>
              </a:rPr>
              <a:t>Cancellations and refunds</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175</a:t>
            </a:fld>
            <a:endParaRPr lang="en-US" dirty="0">
              <a:latin typeface="Helvetica" pitchFamily="34" charset="0"/>
            </a:endParaRPr>
          </a:p>
        </p:txBody>
      </p:sp>
      <p:pic>
        <p:nvPicPr>
          <p:cNvPr id="5" name="Picture 4" descr="shutterstock_105537884.jpg"/>
          <p:cNvPicPr/>
          <p:nvPr/>
        </p:nvPicPr>
        <p:blipFill>
          <a:blip r:embed="rId3" cstate="print"/>
          <a:stretch>
            <a:fillRect/>
          </a:stretch>
        </p:blipFill>
        <p:spPr>
          <a:xfrm>
            <a:off x="6300192" y="3501008"/>
            <a:ext cx="1614495" cy="1614495"/>
          </a:xfrm>
          <a:prstGeom prst="rect">
            <a:avLst/>
          </a:prstGeom>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Supplier Terms and Conditions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important that all supplier, wholesaler, operator conditions are highlighted to the customer together with your own travel agent terms and conditions.</a:t>
            </a:r>
          </a:p>
          <a:p>
            <a:pPr>
              <a:spcBef>
                <a:spcPts val="600"/>
              </a:spcBef>
              <a:spcAft>
                <a:spcPts val="1200"/>
              </a:spcAft>
            </a:pPr>
            <a:r>
              <a:rPr lang="en-AU" sz="2200" dirty="0" smtClean="0">
                <a:latin typeface="Helvetica" pitchFamily="34" charset="0"/>
              </a:rPr>
              <a:t>What are examples of supplier terms and conditions?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176</a:t>
            </a:fld>
            <a:endParaRPr lang="en-US" dirty="0">
              <a:latin typeface="Helvetica" pitchFamily="34" charset="0"/>
            </a:endParaRPr>
          </a:p>
        </p:txBody>
      </p:sp>
      <p:pic>
        <p:nvPicPr>
          <p:cNvPr id="5" name="Picture 4" descr="shutterstock_188933945.jpg"/>
          <p:cNvPicPr/>
          <p:nvPr/>
        </p:nvPicPr>
        <p:blipFill>
          <a:blip r:embed="rId3" cstate="print"/>
          <a:stretch>
            <a:fillRect/>
          </a:stretch>
        </p:blipFill>
        <p:spPr>
          <a:xfrm>
            <a:off x="3419872" y="4221088"/>
            <a:ext cx="2022801" cy="1466857"/>
          </a:xfrm>
          <a:prstGeom prst="rect">
            <a:avLst/>
          </a:prstGeom>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lnSpcReduction="10000"/>
          </a:bodyPr>
          <a:lstStyle/>
          <a:p>
            <a:pPr>
              <a:spcBef>
                <a:spcPts val="600"/>
              </a:spcBef>
              <a:spcAft>
                <a:spcPts val="1200"/>
              </a:spcAft>
              <a:buNone/>
            </a:pPr>
            <a:r>
              <a:rPr lang="en-AU" sz="2200" b="1" dirty="0" smtClean="0">
                <a:latin typeface="Helvetica" pitchFamily="34" charset="0"/>
              </a:rPr>
              <a:t>Product or service provider terms and conditions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Individual product or service providers will often have a set of terms and conditions relating to their particular product or service. </a:t>
            </a:r>
          </a:p>
          <a:p>
            <a:pPr>
              <a:spcBef>
                <a:spcPts val="600"/>
              </a:spcBef>
              <a:spcAft>
                <a:spcPts val="1200"/>
              </a:spcAft>
              <a:buNone/>
            </a:pPr>
            <a:r>
              <a:rPr lang="en-AU" sz="2200" dirty="0" smtClean="0">
                <a:latin typeface="Helvetica" pitchFamily="34" charset="0"/>
              </a:rPr>
              <a:t>These will cover, among other items:</a:t>
            </a:r>
          </a:p>
          <a:p>
            <a:pPr lvl="0">
              <a:spcBef>
                <a:spcPts val="600"/>
              </a:spcBef>
              <a:spcAft>
                <a:spcPts val="1200"/>
              </a:spcAft>
            </a:pPr>
            <a:r>
              <a:rPr lang="en-AU" sz="2200" dirty="0" smtClean="0">
                <a:latin typeface="Helvetica" pitchFamily="34" charset="0"/>
              </a:rPr>
              <a:t>Pricing policy</a:t>
            </a:r>
          </a:p>
          <a:p>
            <a:pPr lvl="0">
              <a:spcBef>
                <a:spcPts val="600"/>
              </a:spcBef>
              <a:spcAft>
                <a:spcPts val="1200"/>
              </a:spcAft>
            </a:pPr>
            <a:r>
              <a:rPr lang="en-AU" sz="2200" dirty="0" smtClean="0">
                <a:latin typeface="Helvetica" pitchFamily="34" charset="0"/>
              </a:rPr>
              <a:t>Payment conditions</a:t>
            </a:r>
          </a:p>
          <a:p>
            <a:pPr lvl="0">
              <a:spcBef>
                <a:spcPts val="600"/>
              </a:spcBef>
              <a:spcAft>
                <a:spcPts val="1200"/>
              </a:spcAft>
            </a:pPr>
            <a:r>
              <a:rPr lang="en-AU" sz="2200" dirty="0" smtClean="0">
                <a:latin typeface="Helvetica" pitchFamily="34" charset="0"/>
              </a:rPr>
              <a:t>Inclusions</a:t>
            </a:r>
          </a:p>
          <a:p>
            <a:pPr lvl="0">
              <a:spcBef>
                <a:spcPts val="600"/>
              </a:spcBef>
              <a:spcAft>
                <a:spcPts val="1200"/>
              </a:spcAft>
            </a:pPr>
            <a:r>
              <a:rPr lang="en-AU" sz="2200" dirty="0" smtClean="0">
                <a:latin typeface="Helvetica" pitchFamily="34" charset="0"/>
              </a:rPr>
              <a:t>Exclusions</a:t>
            </a:r>
          </a:p>
          <a:p>
            <a:pPr lvl="0">
              <a:spcBef>
                <a:spcPts val="600"/>
              </a:spcBef>
              <a:spcAft>
                <a:spcPts val="1200"/>
              </a:spcAft>
            </a:pPr>
            <a:r>
              <a:rPr lang="en-AU" sz="2200" dirty="0" smtClean="0">
                <a:latin typeface="Helvetica" pitchFamily="34" charset="0"/>
              </a:rPr>
              <a:t>Any restrictions or limitations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177</a:t>
            </a:fld>
            <a:endParaRPr lang="en-US" dirty="0">
              <a:latin typeface="Helvetica" pitchFamily="34" charset="0"/>
            </a:endParaRPr>
          </a:p>
        </p:txBody>
      </p:sp>
      <p:pic>
        <p:nvPicPr>
          <p:cNvPr id="5" name="Picture 4" descr="shutterstock_114113611.jpg"/>
          <p:cNvPicPr/>
          <p:nvPr/>
        </p:nvPicPr>
        <p:blipFill>
          <a:blip r:embed="rId3" cstate="print"/>
          <a:stretch>
            <a:fillRect/>
          </a:stretch>
        </p:blipFill>
        <p:spPr>
          <a:xfrm>
            <a:off x="6228184" y="3789040"/>
            <a:ext cx="1947229" cy="1295401"/>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Limitations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Particular products may have stated or self evident limitations. </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are examples of limitations that are imposed by travel and tourism companies?</a:t>
            </a:r>
            <a:endParaRPr lang="en-AU" sz="2200" dirty="0" smtClean="0">
              <a:latin typeface="Helvetica" pitchFamily="34" charset="0"/>
            </a:endParaRP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178</a:t>
            </a:fld>
            <a:endParaRPr lang="en-US" dirty="0">
              <a:latin typeface="Helvetica" pitchFamily="34" charset="0"/>
            </a:endParaRPr>
          </a:p>
        </p:txBody>
      </p:sp>
      <p:pic>
        <p:nvPicPr>
          <p:cNvPr id="6" name="Picture 5" descr="Happy Smile_142334158.jpg"/>
          <p:cNvPicPr/>
          <p:nvPr/>
        </p:nvPicPr>
        <p:blipFill>
          <a:blip r:embed="rId3" cstate="print"/>
          <a:stretch>
            <a:fillRect/>
          </a:stretch>
        </p:blipFill>
        <p:spPr>
          <a:xfrm>
            <a:off x="3779912" y="4221088"/>
            <a:ext cx="1802765" cy="1200150"/>
          </a:xfrm>
          <a:prstGeom prst="rect">
            <a:avLst/>
          </a:prstGeom>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Explain specific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Non operation of the product – tour cancellation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Whenever you book a scheduled departure of a tour there is always the risk that if the minimum numbers for that particular tour departure is not achieved, that the </a:t>
            </a:r>
            <a:r>
              <a:rPr lang="en-US" sz="2200" dirty="0" smtClean="0">
                <a:latin typeface="Helvetica" pitchFamily="34" charset="0"/>
              </a:rPr>
              <a:t>t</a:t>
            </a:r>
            <a:r>
              <a:rPr lang="en-AU" sz="2200" dirty="0" smtClean="0">
                <a:latin typeface="Helvetica" pitchFamily="34" charset="0"/>
              </a:rPr>
              <a:t>our </a:t>
            </a:r>
            <a:r>
              <a:rPr lang="en-US" sz="2200" dirty="0" smtClean="0">
                <a:latin typeface="Helvetica" pitchFamily="34" charset="0"/>
              </a:rPr>
              <a:t>o</a:t>
            </a:r>
            <a:r>
              <a:rPr lang="en-AU" sz="2200" dirty="0" smtClean="0">
                <a:latin typeface="Helvetica" pitchFamily="34" charset="0"/>
              </a:rPr>
              <a:t>operator may elect to cancel the tour. </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options are available to you?</a:t>
            </a:r>
          </a:p>
          <a:p>
            <a:pPr>
              <a:spcBef>
                <a:spcPts val="600"/>
              </a:spcBef>
              <a:spcAft>
                <a:spcPts val="1200"/>
              </a:spcAft>
            </a:pPr>
            <a:r>
              <a:rPr lang="en-US" sz="2200" dirty="0" smtClean="0">
                <a:latin typeface="Helvetica" pitchFamily="34" charset="0"/>
              </a:rPr>
              <a:t>What compensation can you seek?</a:t>
            </a:r>
          </a:p>
          <a:p>
            <a:pPr>
              <a:spcBef>
                <a:spcPts val="600"/>
              </a:spcBef>
              <a:spcAft>
                <a:spcPts val="1200"/>
              </a:spcAft>
            </a:pPr>
            <a:r>
              <a:rPr lang="en-US" sz="2200" dirty="0" smtClean="0">
                <a:latin typeface="Helvetica" pitchFamily="34" charset="0"/>
              </a:rPr>
              <a:t>When is compensation not provided?</a:t>
            </a:r>
          </a:p>
          <a:p>
            <a:pPr>
              <a:spcBef>
                <a:spcPts val="600"/>
              </a:spcBef>
              <a:spcAft>
                <a:spcPts val="1200"/>
              </a:spcAft>
              <a:buNone/>
            </a:pPr>
            <a:endParaRPr lang="en-AU" sz="2200" dirty="0" smtClean="0">
              <a:solidFill>
                <a:srgbClr val="FF6600"/>
              </a:solidFill>
            </a:endParaRPr>
          </a:p>
          <a:p>
            <a:pPr>
              <a:spcBef>
                <a:spcPts val="600"/>
              </a:spcBef>
              <a:spcAft>
                <a:spcPts val="1200"/>
              </a:spcAft>
              <a:buNone/>
            </a:pPr>
            <a:r>
              <a:rPr lang="en-AU" sz="2200" dirty="0" smtClean="0">
                <a:solidFill>
                  <a:srgbClr val="FF6600"/>
                </a:solidFill>
              </a:rPr>
              <a:t>COMPLETE ACTIVITY 16</a:t>
            </a: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179</a:t>
            </a:fld>
            <a:endParaRPr lang="en-US" dirty="0">
              <a:latin typeface="Helvetica" pitchFamily="34" charset="0"/>
            </a:endParaRPr>
          </a:p>
        </p:txBody>
      </p:sp>
      <p:pic>
        <p:nvPicPr>
          <p:cNvPr id="7" name="Picture 6" descr="shutterstock_14099602.jpg"/>
          <p:cNvPicPr/>
          <p:nvPr/>
        </p:nvPicPr>
        <p:blipFill>
          <a:blip r:embed="rId3" cstate="print"/>
          <a:stretch>
            <a:fillRect/>
          </a:stretch>
        </p:blipFill>
        <p:spPr>
          <a:xfrm>
            <a:off x="7164288" y="3717032"/>
            <a:ext cx="923925" cy="139065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PPT_Travel_agencies_template_130214</Template>
  <TotalTime>653</TotalTime>
  <Words>11015</Words>
  <Application>Microsoft Office PowerPoint</Application>
  <PresentationFormat>On-screen Show (4:3)</PresentationFormat>
  <Paragraphs>2636</Paragraphs>
  <Slides>179</Slides>
  <Notes>179</Notes>
  <HiddenSlides>0</HiddenSlides>
  <MMClips>0</MMClips>
  <ScaleCrop>false</ScaleCrop>
  <HeadingPairs>
    <vt:vector size="4" baseType="variant">
      <vt:variant>
        <vt:lpstr>Theme</vt:lpstr>
      </vt:variant>
      <vt:variant>
        <vt:i4>1</vt:i4>
      </vt:variant>
      <vt:variant>
        <vt:lpstr>Slide Titles</vt:lpstr>
      </vt:variant>
      <vt:variant>
        <vt:i4>179</vt:i4>
      </vt:variant>
    </vt:vector>
  </HeadingPairs>
  <TitlesOfParts>
    <vt:vector size="180" baseType="lpstr">
      <vt:lpstr>PPT_Travel_agencies_template_130214</vt:lpstr>
      <vt:lpstr>Access and interpret product information</vt:lpstr>
      <vt:lpstr>Subject elements</vt:lpstr>
      <vt:lpstr>Assessment</vt:lpstr>
      <vt:lpstr>Slide 4</vt:lpstr>
      <vt:lpstr>Identify and evaluate sources of product information</vt:lpstr>
      <vt:lpstr>Role of information</vt:lpstr>
      <vt:lpstr>Role of information</vt:lpstr>
      <vt:lpstr>Sources of information</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Travel and tourism businesses</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Identify product information</vt:lpstr>
      <vt:lpstr>Importance of accessing useful product information</vt:lpstr>
      <vt:lpstr>Importance of accessing useful product information</vt:lpstr>
      <vt:lpstr>Importance of accessing useful product information</vt:lpstr>
      <vt:lpstr>Importance of accessing useful product information</vt:lpstr>
      <vt:lpstr>Importance of accessing useful product information</vt:lpstr>
      <vt:lpstr>Importance of accessing useful product information</vt:lpstr>
      <vt:lpstr>Importance of accessing useful product information</vt:lpstr>
      <vt:lpstr>Identify items containing product information</vt:lpstr>
      <vt:lpstr>Identify items containing product information</vt:lpstr>
      <vt:lpstr>Identify items containing product information</vt:lpstr>
      <vt:lpstr>Identify items containing product information</vt:lpstr>
      <vt:lpstr>Identify items containing product information</vt:lpstr>
      <vt:lpstr>Identify items containing product information</vt:lpstr>
      <vt:lpstr>Identify items containing product information</vt:lpstr>
      <vt:lpstr>Identify items containing product information</vt:lpstr>
      <vt:lpstr>Identify items containing product information</vt:lpstr>
      <vt:lpstr>Identify items containing product information</vt:lpstr>
      <vt:lpstr>Identify items containing product information</vt:lpstr>
      <vt:lpstr>Identify items containing product information</vt:lpstr>
      <vt:lpstr>Slide 67</vt:lpstr>
      <vt:lpstr>Access product information</vt:lpstr>
      <vt:lpstr>Identify sales needs</vt:lpstr>
      <vt:lpstr>Identify sales needs</vt:lpstr>
      <vt:lpstr>Identify sales needs</vt:lpstr>
      <vt:lpstr>Identify sales needs</vt:lpstr>
      <vt:lpstr>Define search topic and objectives </vt:lpstr>
      <vt:lpstr>Access product information</vt:lpstr>
      <vt:lpstr>Identify information timelines</vt:lpstr>
      <vt:lpstr>Identify information budgets</vt:lpstr>
      <vt:lpstr>Identify information found</vt:lpstr>
      <vt:lpstr>Identify information found</vt:lpstr>
      <vt:lpstr>Access external information</vt:lpstr>
      <vt:lpstr>Access external information</vt:lpstr>
      <vt:lpstr>Access external information</vt:lpstr>
      <vt:lpstr>Access external information</vt:lpstr>
      <vt:lpstr>Access external information</vt:lpstr>
      <vt:lpstr>Access external information</vt:lpstr>
      <vt:lpstr>Access external information</vt:lpstr>
      <vt:lpstr>Access external information</vt:lpstr>
      <vt:lpstr>Access external information</vt:lpstr>
      <vt:lpstr>Access external information</vt:lpstr>
      <vt:lpstr>Access external information</vt:lpstr>
      <vt:lpstr>Access external information</vt:lpstr>
      <vt:lpstr>Access external information</vt:lpstr>
      <vt:lpstr>Access external information</vt:lpstr>
      <vt:lpstr>Visit identified sources</vt:lpstr>
      <vt:lpstr>Visit identified sources</vt:lpstr>
      <vt:lpstr>Visit identified sources</vt:lpstr>
      <vt:lpstr>Access internal information</vt:lpstr>
      <vt:lpstr>Access internal information</vt:lpstr>
      <vt:lpstr>Access internal information</vt:lpstr>
      <vt:lpstr>Access internal databases</vt:lpstr>
      <vt:lpstr>Access internal databases</vt:lpstr>
      <vt:lpstr>Access internal databases</vt:lpstr>
      <vt:lpstr>Access internal databases</vt:lpstr>
      <vt:lpstr>Access internal databases</vt:lpstr>
      <vt:lpstr>Access internal databases</vt:lpstr>
      <vt:lpstr>Slide 105</vt:lpstr>
      <vt:lpstr>Interpret product information</vt:lpstr>
      <vt:lpstr>Read items containing product information</vt:lpstr>
      <vt:lpstr>Read items containing product information</vt:lpstr>
      <vt:lpstr>Read items containing product information</vt:lpstr>
      <vt:lpstr>Read and review information</vt:lpstr>
      <vt:lpstr>Read and review information</vt:lpstr>
      <vt:lpstr>Read and review information</vt:lpstr>
      <vt:lpstr>Interpreting information</vt:lpstr>
      <vt:lpstr>Interpreting information</vt:lpstr>
      <vt:lpstr>Interpreting information</vt:lpstr>
      <vt:lpstr>Integrate information to meet client needs</vt:lpstr>
      <vt:lpstr>Integrate information to meet client needs</vt:lpstr>
      <vt:lpstr>Manipulate captured information</vt:lpstr>
      <vt:lpstr>Manipulate captured information</vt:lpstr>
      <vt:lpstr>Information contained in a quotation</vt:lpstr>
      <vt:lpstr>Information contained in a quotation</vt:lpstr>
      <vt:lpstr>Information contained in a quotation</vt:lpstr>
      <vt:lpstr>Information contained in a quotation</vt:lpstr>
      <vt:lpstr>Information contained in a quotation</vt:lpstr>
      <vt:lpstr>Quotation Protocols</vt:lpstr>
      <vt:lpstr>Quotation Protocols</vt:lpstr>
      <vt:lpstr>Slide 127</vt:lpstr>
      <vt:lpstr>Provide product information</vt:lpstr>
      <vt:lpstr>Interpret industry terminology</vt:lpstr>
      <vt:lpstr>Interpret industry terminology</vt:lpstr>
      <vt:lpstr>Interpret industry terminology</vt:lpstr>
      <vt:lpstr>Interpret industry terminology</vt:lpstr>
      <vt:lpstr>Identify travel documentation</vt:lpstr>
      <vt:lpstr>Pass on information to clients</vt:lpstr>
      <vt:lpstr>Pass on information to clients</vt:lpstr>
      <vt:lpstr>Pass on information to clients</vt:lpstr>
      <vt:lpstr>Pass on information to clients</vt:lpstr>
      <vt:lpstr>Expand and explain quotation</vt:lpstr>
      <vt:lpstr>Expand and explain quotation</vt:lpstr>
      <vt:lpstr>Expand and explain quotation</vt:lpstr>
      <vt:lpstr>Expand and explain quotation</vt:lpstr>
      <vt:lpstr>Pass on information to clients</vt:lpstr>
      <vt:lpstr>Verbal explanation</vt:lpstr>
      <vt:lpstr>Providing hard copy materials</vt:lpstr>
      <vt:lpstr>Providing hard copy materials</vt:lpstr>
      <vt:lpstr>Providing hard copy materials</vt:lpstr>
      <vt:lpstr>Providing electronic materials</vt:lpstr>
      <vt:lpstr>Providing electronic materials</vt:lpstr>
      <vt:lpstr>Pass on information to clients</vt:lpstr>
      <vt:lpstr>Pass on information to clients</vt:lpstr>
      <vt:lpstr>Pass on information to clients</vt:lpstr>
      <vt:lpstr>Pass on information to clients</vt:lpstr>
      <vt:lpstr>Pass on information to clients</vt:lpstr>
      <vt:lpstr>Pass on information to clients</vt:lpstr>
      <vt:lpstr>Pass on information to clients</vt:lpstr>
      <vt:lpstr>Pass on information to clients</vt:lpstr>
      <vt:lpstr>Pass on information to clients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lpstr>Explain specific details</vt:lpstr>
    </vt:vector>
  </TitlesOfParts>
  <Company>William Angliss TAFE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Daniel James Chee</dc:creator>
  <cp:lastModifiedBy>Daniel James Chee</cp:lastModifiedBy>
  <cp:revision>141</cp:revision>
  <dcterms:created xsi:type="dcterms:W3CDTF">2014-04-07T01:44:07Z</dcterms:created>
  <dcterms:modified xsi:type="dcterms:W3CDTF">2015-04-27T11:51:47Z</dcterms:modified>
</cp:coreProperties>
</file>