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9"/>
  </p:notesMasterIdLst>
  <p:handoutMasterIdLst>
    <p:handoutMasterId r:id="rId160"/>
  </p:handoutMasterIdLst>
  <p:sldIdLst>
    <p:sldId id="256" r:id="rId2"/>
    <p:sldId id="257" r:id="rId3"/>
    <p:sldId id="258" r:id="rId4"/>
    <p:sldId id="259" r:id="rId5"/>
    <p:sldId id="260" r:id="rId6"/>
    <p:sldId id="261" r:id="rId7"/>
    <p:sldId id="262" r:id="rId8"/>
    <p:sldId id="263" r:id="rId9"/>
    <p:sldId id="264" r:id="rId10"/>
    <p:sldId id="265" r:id="rId11"/>
    <p:sldId id="412" r:id="rId12"/>
    <p:sldId id="413" r:id="rId13"/>
    <p:sldId id="520" r:id="rId14"/>
    <p:sldId id="420" r:id="rId15"/>
    <p:sldId id="421" r:id="rId16"/>
    <p:sldId id="422" r:id="rId17"/>
    <p:sldId id="423" r:id="rId18"/>
    <p:sldId id="427" r:id="rId19"/>
    <p:sldId id="429" r:id="rId20"/>
    <p:sldId id="292" r:id="rId21"/>
    <p:sldId id="321" r:id="rId22"/>
    <p:sldId id="322" r:id="rId23"/>
    <p:sldId id="323" r:id="rId24"/>
    <p:sldId id="324" r:id="rId25"/>
    <p:sldId id="430" r:id="rId26"/>
    <p:sldId id="431" r:id="rId27"/>
    <p:sldId id="432" r:id="rId28"/>
    <p:sldId id="433" r:id="rId29"/>
    <p:sldId id="351" r:id="rId30"/>
    <p:sldId id="438" r:id="rId31"/>
    <p:sldId id="352" r:id="rId32"/>
    <p:sldId id="353" r:id="rId33"/>
    <p:sldId id="356" r:id="rId34"/>
    <p:sldId id="357" r:id="rId35"/>
    <p:sldId id="358" r:id="rId36"/>
    <p:sldId id="359" r:id="rId37"/>
    <p:sldId id="360" r:id="rId38"/>
    <p:sldId id="365" r:id="rId39"/>
    <p:sldId id="366" r:id="rId40"/>
    <p:sldId id="367" r:id="rId41"/>
    <p:sldId id="370" r:id="rId42"/>
    <p:sldId id="371" r:id="rId43"/>
    <p:sldId id="372" r:id="rId44"/>
    <p:sldId id="327" r:id="rId45"/>
    <p:sldId id="439" r:id="rId46"/>
    <p:sldId id="441" r:id="rId47"/>
    <p:sldId id="306" r:id="rId48"/>
    <p:sldId id="443" r:id="rId49"/>
    <p:sldId id="340" r:id="rId50"/>
    <p:sldId id="341" r:id="rId51"/>
    <p:sldId id="342" r:id="rId52"/>
    <p:sldId id="319" r:id="rId53"/>
    <p:sldId id="314" r:id="rId54"/>
    <p:sldId id="316" r:id="rId55"/>
    <p:sldId id="318" r:id="rId56"/>
    <p:sldId id="344" r:id="rId57"/>
    <p:sldId id="345" r:id="rId58"/>
    <p:sldId id="346" r:id="rId59"/>
    <p:sldId id="347" r:id="rId60"/>
    <p:sldId id="348" r:id="rId61"/>
    <p:sldId id="349" r:id="rId62"/>
    <p:sldId id="444" r:id="rId63"/>
    <p:sldId id="445" r:id="rId64"/>
    <p:sldId id="446" r:id="rId65"/>
    <p:sldId id="447" r:id="rId66"/>
    <p:sldId id="449" r:id="rId67"/>
    <p:sldId id="450" r:id="rId68"/>
    <p:sldId id="451" r:id="rId69"/>
    <p:sldId id="452" r:id="rId70"/>
    <p:sldId id="456" r:id="rId71"/>
    <p:sldId id="463" r:id="rId72"/>
    <p:sldId id="465" r:id="rId73"/>
    <p:sldId id="466" r:id="rId74"/>
    <p:sldId id="410" r:id="rId75"/>
    <p:sldId id="411" r:id="rId76"/>
    <p:sldId id="467" r:id="rId77"/>
    <p:sldId id="458" r:id="rId78"/>
    <p:sldId id="459" r:id="rId79"/>
    <p:sldId id="461" r:id="rId80"/>
    <p:sldId id="462" r:id="rId81"/>
    <p:sldId id="468" r:id="rId82"/>
    <p:sldId id="471" r:id="rId83"/>
    <p:sldId id="472" r:id="rId84"/>
    <p:sldId id="473" r:id="rId85"/>
    <p:sldId id="474" r:id="rId86"/>
    <p:sldId id="476" r:id="rId87"/>
    <p:sldId id="479" r:id="rId88"/>
    <p:sldId id="480" r:id="rId89"/>
    <p:sldId id="481" r:id="rId90"/>
    <p:sldId id="266" r:id="rId91"/>
    <p:sldId id="287" r:id="rId92"/>
    <p:sldId id="269" r:id="rId93"/>
    <p:sldId id="267" r:id="rId94"/>
    <p:sldId id="482" r:id="rId95"/>
    <p:sldId id="270" r:id="rId96"/>
    <p:sldId id="273" r:id="rId97"/>
    <p:sldId id="275" r:id="rId98"/>
    <p:sldId id="276" r:id="rId99"/>
    <p:sldId id="283" r:id="rId100"/>
    <p:sldId id="284" r:id="rId101"/>
    <p:sldId id="397" r:id="rId102"/>
    <p:sldId id="483" r:id="rId103"/>
    <p:sldId id="400" r:id="rId104"/>
    <p:sldId id="484" r:id="rId105"/>
    <p:sldId id="485" r:id="rId106"/>
    <p:sldId id="487" r:id="rId107"/>
    <p:sldId id="488" r:id="rId108"/>
    <p:sldId id="374" r:id="rId109"/>
    <p:sldId id="375" r:id="rId110"/>
    <p:sldId id="376" r:id="rId111"/>
    <p:sldId id="489" r:id="rId112"/>
    <p:sldId id="377" r:id="rId113"/>
    <p:sldId id="378" r:id="rId114"/>
    <p:sldId id="379" r:id="rId115"/>
    <p:sldId id="380" r:id="rId116"/>
    <p:sldId id="381" r:id="rId117"/>
    <p:sldId id="382" r:id="rId118"/>
    <p:sldId id="383" r:id="rId119"/>
    <p:sldId id="384" r:id="rId120"/>
    <p:sldId id="386" r:id="rId121"/>
    <p:sldId id="492" r:id="rId122"/>
    <p:sldId id="493" r:id="rId123"/>
    <p:sldId id="494" r:id="rId124"/>
    <p:sldId id="495" r:id="rId125"/>
    <p:sldId id="496" r:id="rId126"/>
    <p:sldId id="497" r:id="rId127"/>
    <p:sldId id="499" r:id="rId128"/>
    <p:sldId id="500" r:id="rId129"/>
    <p:sldId id="501" r:id="rId130"/>
    <p:sldId id="502" r:id="rId131"/>
    <p:sldId id="505" r:id="rId132"/>
    <p:sldId id="506" r:id="rId133"/>
    <p:sldId id="507" r:id="rId134"/>
    <p:sldId id="508" r:id="rId135"/>
    <p:sldId id="509" r:id="rId136"/>
    <p:sldId id="510" r:id="rId137"/>
    <p:sldId id="511" r:id="rId138"/>
    <p:sldId id="403" r:id="rId139"/>
    <p:sldId id="404" r:id="rId140"/>
    <p:sldId id="405" r:id="rId141"/>
    <p:sldId id="406" r:id="rId142"/>
    <p:sldId id="407" r:id="rId143"/>
    <p:sldId id="408" r:id="rId144"/>
    <p:sldId id="512" r:id="rId145"/>
    <p:sldId id="513" r:id="rId146"/>
    <p:sldId id="514" r:id="rId147"/>
    <p:sldId id="515" r:id="rId148"/>
    <p:sldId id="517" r:id="rId149"/>
    <p:sldId id="518" r:id="rId150"/>
    <p:sldId id="389" r:id="rId151"/>
    <p:sldId id="390" r:id="rId152"/>
    <p:sldId id="391" r:id="rId153"/>
    <p:sldId id="392" r:id="rId154"/>
    <p:sldId id="393" r:id="rId155"/>
    <p:sldId id="394" r:id="rId156"/>
    <p:sldId id="395" r:id="rId157"/>
    <p:sldId id="519" r:id="rId15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94" autoAdjust="0"/>
    <p:restoredTop sz="61294" autoAdjust="0"/>
  </p:normalViewPr>
  <p:slideViewPr>
    <p:cSldViewPr>
      <p:cViewPr varScale="1">
        <p:scale>
          <a:sx n="63" d="100"/>
          <a:sy n="63" d="100"/>
        </p:scale>
        <p:origin x="-22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1/22/2014</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538251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1/22/2014</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936236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welcomes trainees and informs them that they will be learning how to work cooperatively in a general administration environment.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 team?</a:t>
            </a:r>
          </a:p>
          <a:p>
            <a:pPr>
              <a:buFont typeface="Arial" pitchFamily="34" charset="0"/>
              <a:buChar char="•"/>
            </a:pPr>
            <a:r>
              <a:rPr lang="en-AU" sz="1200" kern="1200" baseline="0" dirty="0" smtClean="0">
                <a:solidFill>
                  <a:schemeClr val="tx1"/>
                </a:solidFill>
                <a:ea typeface="+mn-ea"/>
                <a:cs typeface="+mn-cs"/>
              </a:rPr>
              <a:t>What is the purpose of a team?</a:t>
            </a:r>
          </a:p>
          <a:p>
            <a:pPr>
              <a:buFont typeface="Arial" pitchFamily="34" charset="0"/>
              <a:buChar char="•"/>
            </a:pPr>
            <a:r>
              <a:rPr lang="en-AU" sz="1200" kern="1200" baseline="0" dirty="0" smtClean="0">
                <a:solidFill>
                  <a:schemeClr val="tx1"/>
                </a:solidFill>
                <a:ea typeface="+mn-ea"/>
                <a:cs typeface="+mn-cs"/>
              </a:rPr>
              <a:t>What types of teams exist?</a:t>
            </a:r>
          </a:p>
          <a:p>
            <a:pPr>
              <a:buFont typeface="Arial" pitchFamily="34" charset="0"/>
              <a:buChar char="•"/>
            </a:pPr>
            <a:r>
              <a:rPr lang="en-AU" sz="1200" kern="1200" baseline="0" dirty="0" smtClean="0">
                <a:solidFill>
                  <a:schemeClr val="tx1"/>
                </a:solidFill>
                <a:ea typeface="+mn-ea"/>
                <a:cs typeface="+mn-cs"/>
              </a:rPr>
              <a:t>What are characteristics of teams?</a:t>
            </a: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Discuss the concept of a team.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teamwork and how is it developed?</a:t>
            </a: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Discuss the above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A team is often characterised through:</a:t>
            </a:r>
          </a:p>
          <a:p>
            <a:pPr lvl="0">
              <a:buFont typeface="Arial" pitchFamily="34" charset="0"/>
              <a:buChar char="•"/>
            </a:pPr>
            <a:r>
              <a:rPr lang="en-AU" sz="1200" kern="1200" dirty="0" smtClean="0">
                <a:solidFill>
                  <a:schemeClr val="tx1"/>
                </a:solidFill>
                <a:ea typeface="+mn-ea"/>
                <a:cs typeface="+mn-cs"/>
              </a:rPr>
              <a:t>Having a common goal – it is important all staff not only identify the goal, but why it is important</a:t>
            </a:r>
          </a:p>
          <a:p>
            <a:pPr lvl="0">
              <a:buFont typeface="Arial" pitchFamily="34" charset="0"/>
              <a:buChar char="•"/>
            </a:pPr>
            <a:r>
              <a:rPr lang="en-AU" sz="1200" kern="1200" dirty="0" smtClean="0">
                <a:solidFill>
                  <a:schemeClr val="tx1"/>
                </a:solidFill>
                <a:ea typeface="+mn-ea"/>
                <a:cs typeface="+mn-cs"/>
              </a:rPr>
              <a:t>Work interdependently with each other – the actions of one person impacts other staff</a:t>
            </a:r>
          </a:p>
          <a:p>
            <a:pPr lvl="0">
              <a:buFont typeface="Arial" pitchFamily="34" charset="0"/>
              <a:buChar char="•"/>
            </a:pPr>
            <a:r>
              <a:rPr lang="en-AU" sz="1200" kern="1200" dirty="0" smtClean="0">
                <a:solidFill>
                  <a:schemeClr val="tx1"/>
                </a:solidFill>
                <a:ea typeface="+mn-ea"/>
                <a:cs typeface="+mn-cs"/>
              </a:rPr>
              <a:t>Independent job functions – whilst staff are working together, they perform different roles and have different activities. Staff must understand how their actions contribute to the greater good of the team</a:t>
            </a:r>
          </a:p>
          <a:p>
            <a:pPr lvl="0">
              <a:buFont typeface="Arial" pitchFamily="34" charset="0"/>
              <a:buChar char="•"/>
            </a:pPr>
            <a:r>
              <a:rPr lang="en-AU" sz="1200" kern="1200" dirty="0" smtClean="0">
                <a:solidFill>
                  <a:schemeClr val="tx1"/>
                </a:solidFill>
                <a:ea typeface="+mn-ea"/>
                <a:cs typeface="+mn-cs"/>
              </a:rPr>
              <a:t>Enjoy working together – this may be hard with different personalities, however in most cases people enjoy working together. Get staff involved in activities where they can find out more about each other</a:t>
            </a:r>
          </a:p>
          <a:p>
            <a:pPr lvl="0">
              <a:buFont typeface="Arial" pitchFamily="34" charset="0"/>
              <a:buChar char="•"/>
            </a:pPr>
            <a:r>
              <a:rPr lang="en-AU" sz="1200" kern="1200" dirty="0" smtClean="0">
                <a:solidFill>
                  <a:schemeClr val="tx1"/>
                </a:solidFill>
                <a:ea typeface="+mn-ea"/>
                <a:cs typeface="+mn-cs"/>
              </a:rPr>
              <a:t>Accountability -  staff will not only have their own responsibilities, but will also have collective responsibilities</a:t>
            </a:r>
          </a:p>
          <a:p>
            <a:pPr lvl="0">
              <a:buFont typeface="Arial" pitchFamily="34" charset="0"/>
              <a:buChar char="•"/>
            </a:pPr>
            <a:r>
              <a:rPr lang="en-AU" sz="1200" kern="1200" dirty="0" smtClean="0">
                <a:solidFill>
                  <a:schemeClr val="tx1"/>
                </a:solidFill>
                <a:ea typeface="+mn-ea"/>
                <a:cs typeface="+mn-cs"/>
              </a:rPr>
              <a:t>Empowerment – staff have their own power to act and make decisions</a:t>
            </a:r>
          </a:p>
          <a:p>
            <a:pPr lvl="0">
              <a:buFont typeface="Arial" pitchFamily="34" charset="0"/>
              <a:buChar char="•"/>
            </a:pPr>
            <a:r>
              <a:rPr lang="en-AU" sz="1200" kern="1200" dirty="0" smtClean="0">
                <a:solidFill>
                  <a:schemeClr val="tx1"/>
                </a:solidFill>
                <a:ea typeface="+mn-ea"/>
                <a:cs typeface="+mn-cs"/>
              </a:rPr>
              <a:t>Understand the importance of teams.</a:t>
            </a: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 impacts of team structure</a:t>
            </a:r>
          </a:p>
          <a:p>
            <a:endParaRPr lang="en-AU" sz="1200" b="1"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b="0" dirty="0" smtClean="0"/>
              <a:t>Trainer</a:t>
            </a:r>
            <a:r>
              <a:rPr lang="en-AU" sz="1200" b="0" baseline="0" dirty="0" smtClean="0"/>
              <a:t> to show or explain </a:t>
            </a:r>
            <a:r>
              <a:rPr lang="en-AU" sz="1200" b="0" baseline="0" dirty="0" smtClean="0">
                <a:latin typeface="Helvetica" pitchFamily="34" charset="0"/>
              </a:rPr>
              <a:t>o</a:t>
            </a:r>
            <a:r>
              <a:rPr lang="en-AU" sz="1200" b="0" dirty="0" smtClean="0">
                <a:latin typeface="Helvetica" pitchFamily="34" charset="0"/>
              </a:rPr>
              <a:t>rganisational structures for different styles</a:t>
            </a:r>
            <a:r>
              <a:rPr lang="en-AU" sz="1200" b="0" baseline="0" dirty="0" smtClean="0">
                <a:latin typeface="Helvetica" pitchFamily="34" charset="0"/>
              </a:rPr>
              <a:t> of hospitality businesses.</a:t>
            </a:r>
            <a:endParaRPr lang="en-AU" sz="1200" b="0" dirty="0" smtClean="0">
              <a:latin typeface="Helvetica" pitchFamily="34" charset="0"/>
            </a:endParaRPr>
          </a:p>
          <a:p>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Discussion</a:t>
            </a:r>
          </a:p>
          <a:p>
            <a:endParaRPr lang="en-AU" sz="1200" b="1"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t>Discuss the different types of teams and how they are formed.</a:t>
            </a:r>
            <a:endParaRPr lang="en-AU" sz="1200" b="0" dirty="0" smtClean="0">
              <a:latin typeface="Helvetica" pitchFamily="34" charset="0"/>
            </a:endParaRPr>
          </a:p>
          <a:p>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dirty="0" smtClean="0">
                <a:solidFill>
                  <a:schemeClr val="bg2">
                    <a:lumMod val="50000"/>
                  </a:schemeClr>
                </a:solidFill>
              </a:rPr>
              <a:t>Discussion</a:t>
            </a:r>
          </a:p>
          <a:p>
            <a:endParaRPr lang="en-AU" sz="1200" b="1" dirty="0" smtClean="0">
              <a:solidFill>
                <a:schemeClr val="bg2">
                  <a:lumMod val="50000"/>
                </a:schemeClr>
              </a:solidFill>
            </a:endParaRP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solidFill>
                  <a:schemeClr val="bg2">
                    <a:lumMod val="50000"/>
                  </a:schemeClr>
                </a:solidFill>
              </a:rPr>
              <a:t>Discuss role of Front Office as a ‘clearing house’ for information.</a:t>
            </a:r>
            <a:endParaRPr lang="en-AU" sz="1200" b="0" dirty="0" smtClean="0">
              <a:solidFill>
                <a:schemeClr val="bg2">
                  <a:lumMod val="50000"/>
                </a:schemeClr>
              </a:solidFill>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7501633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Discussion</a:t>
            </a:r>
          </a:p>
          <a:p>
            <a:endParaRPr lang="en-AU" sz="1200" b="1" dirty="0" smtClean="0"/>
          </a:p>
          <a:p>
            <a:pPr lvl="0">
              <a:buFont typeface="Arial" pitchFamily="34" charset="0"/>
              <a:buChar char="•"/>
            </a:pPr>
            <a:r>
              <a:rPr lang="en-AU" sz="1200" dirty="0" smtClean="0"/>
              <a:t>What</a:t>
            </a:r>
            <a:r>
              <a:rPr lang="en-AU" sz="1200" baseline="0" dirty="0" smtClean="0"/>
              <a:t> are possible purposes and responsibilities each team will have?</a:t>
            </a:r>
            <a:endParaRPr lang="en-AU" sz="1200" dirty="0" smtClean="0"/>
          </a:p>
          <a:p>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Discussion</a:t>
            </a:r>
          </a:p>
          <a:p>
            <a:endParaRPr lang="en-AU" sz="1200" b="1" dirty="0" smtClean="0"/>
          </a:p>
          <a:p>
            <a:pPr lvl="0">
              <a:buFont typeface="Arial" pitchFamily="34" charset="0"/>
              <a:buChar char="•"/>
            </a:pPr>
            <a:r>
              <a:rPr lang="en-AU" sz="1200" dirty="0" smtClean="0"/>
              <a:t>Discuss the importance of these responsibilities?</a:t>
            </a:r>
          </a:p>
          <a:p>
            <a:pPr lvl="0">
              <a:buFont typeface="Arial" pitchFamily="34" charset="0"/>
              <a:buChar char="•"/>
            </a:pPr>
            <a:r>
              <a:rPr lang="en-AU" sz="1200" dirty="0" smtClean="0"/>
              <a:t>What</a:t>
            </a:r>
            <a:r>
              <a:rPr lang="en-AU" sz="1200" baseline="0" dirty="0" smtClean="0"/>
              <a:t> other ones may exist?</a:t>
            </a:r>
            <a:endParaRPr lang="en-AU" sz="1200" dirty="0" smtClean="0"/>
          </a:p>
          <a:p>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Discussion</a:t>
            </a:r>
          </a:p>
          <a:p>
            <a:endParaRPr lang="en-AU" sz="1200" b="1" dirty="0" smtClean="0"/>
          </a:p>
          <a:p>
            <a:pPr lvl="0">
              <a:buFont typeface="Arial" pitchFamily="34" charset="0"/>
              <a:buChar char="•"/>
            </a:pPr>
            <a:r>
              <a:rPr lang="en-AU" sz="1200" dirty="0" smtClean="0"/>
              <a:t>What roles and responsibilities does</a:t>
            </a:r>
            <a:r>
              <a:rPr lang="en-AU" sz="1200" baseline="0" dirty="0" smtClean="0"/>
              <a:t> each team member have towards meeting overall team goals?</a:t>
            </a:r>
          </a:p>
          <a:p>
            <a:pPr lvl="0">
              <a:buFont typeface="Arial" pitchFamily="34" charset="0"/>
              <a:buChar char="•"/>
            </a:pPr>
            <a:r>
              <a:rPr lang="en-AU" sz="1200" baseline="0" dirty="0" smtClean="0"/>
              <a:t>How are these defined?</a:t>
            </a:r>
          </a:p>
          <a:p>
            <a:pPr lvl="0">
              <a:buFont typeface="Arial" pitchFamily="34" charset="0"/>
              <a:buChar char="•"/>
            </a:pPr>
            <a:r>
              <a:rPr lang="en-AU" sz="1200" baseline="0" dirty="0" smtClean="0"/>
              <a:t>What are the advantages and disadvantages of having work groups?</a:t>
            </a:r>
          </a:p>
          <a:p>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Discussion</a:t>
            </a:r>
          </a:p>
          <a:p>
            <a:endParaRPr lang="en-AU" sz="1200" b="1" dirty="0" smtClean="0"/>
          </a:p>
          <a:p>
            <a:pPr lvl="0">
              <a:buFont typeface="Arial" pitchFamily="34" charset="0"/>
              <a:buChar char="•"/>
            </a:pPr>
            <a:r>
              <a:rPr lang="en-AU" sz="1200" baseline="0" dirty="0" smtClean="0"/>
              <a:t>How are group members made aware of the responsibilities and assignments?</a:t>
            </a:r>
            <a:endParaRPr lang="en-AU" sz="1200" dirty="0" smtClean="0"/>
          </a:p>
          <a:p>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Discussion</a:t>
            </a:r>
          </a:p>
          <a:p>
            <a:endParaRPr lang="en-AU" sz="1200" b="1" dirty="0" smtClean="0"/>
          </a:p>
          <a:p>
            <a:pPr lvl="0">
              <a:buFont typeface="Arial" pitchFamily="34" charset="0"/>
              <a:buChar char="•"/>
            </a:pPr>
            <a:r>
              <a:rPr lang="en-AU" sz="1200" baseline="0" dirty="0" smtClean="0"/>
              <a:t>What are these responsibilities?</a:t>
            </a:r>
            <a:endParaRPr lang="en-AU" sz="1200" dirty="0" smtClean="0"/>
          </a:p>
          <a:p>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Discussion &amp; Review of documents</a:t>
            </a:r>
          </a:p>
          <a:p>
            <a:endParaRPr lang="en-AU" sz="1200" b="1" dirty="0" smtClean="0"/>
          </a:p>
          <a:p>
            <a:pPr lvl="0">
              <a:buFont typeface="Arial" pitchFamily="34" charset="0"/>
              <a:buChar char="•"/>
            </a:pPr>
            <a:r>
              <a:rPr lang="en-AU" sz="1200" baseline="0" dirty="0" smtClean="0"/>
              <a:t>Discuss these tools</a:t>
            </a:r>
          </a:p>
          <a:p>
            <a:pPr lvl="0">
              <a:buFont typeface="Arial" pitchFamily="34" charset="0"/>
              <a:buChar char="•"/>
            </a:pPr>
            <a:r>
              <a:rPr lang="en-AU" sz="1200" baseline="0" dirty="0" smtClean="0"/>
              <a:t>Trainer to provide examples of each for the audience to review.</a:t>
            </a:r>
            <a:endParaRPr lang="en-AU" sz="1200" dirty="0" smtClean="0"/>
          </a:p>
          <a:p>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Char char="•"/>
            </a:pPr>
            <a:r>
              <a:rPr lang="en-AU" sz="1200" kern="1200" baseline="0" dirty="0" smtClean="0">
                <a:solidFill>
                  <a:schemeClr val="tx1"/>
                </a:solidFill>
                <a:ea typeface="+mn-ea"/>
                <a:cs typeface="+mn-cs"/>
              </a:rPr>
              <a:t>How can you provide</a:t>
            </a:r>
            <a:r>
              <a:rPr lang="en-AU" sz="1200" dirty="0" smtClean="0"/>
              <a:t> polite, professional, clear and concise information?</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a:t>
            </a:r>
          </a:p>
          <a:p>
            <a:endParaRPr lang="en-AU" sz="1200" b="1" kern="1200" baseline="0" dirty="0" smtClean="0">
              <a:solidFill>
                <a:schemeClr val="tx1"/>
              </a:solidFill>
              <a:ea typeface="+mn-ea"/>
              <a:cs typeface="+mn-cs"/>
            </a:endParaRPr>
          </a:p>
          <a:p>
            <a:r>
              <a:rPr lang="en-AU" sz="1200" kern="1200" baseline="0" dirty="0" smtClean="0">
                <a:solidFill>
                  <a:schemeClr val="tx1"/>
                </a:solidFill>
                <a:ea typeface="+mn-ea"/>
                <a:cs typeface="+mn-cs"/>
              </a:rPr>
              <a:t>Trainer leads a general class discussion how diverse a hospitality environment is</a:t>
            </a:r>
          </a:p>
          <a:p>
            <a:pPr>
              <a:buFont typeface="Arial" pitchFamily="34" charset="0"/>
              <a:buChar char="•"/>
            </a:pPr>
            <a:r>
              <a:rPr lang="en-AU" sz="1200" kern="1200" baseline="0" dirty="0" smtClean="0">
                <a:solidFill>
                  <a:schemeClr val="tx1"/>
                </a:solidFill>
                <a:ea typeface="+mn-ea"/>
                <a:cs typeface="+mn-cs"/>
              </a:rPr>
              <a:t>Staff - What diversity exists in your business in regards to staff? What countries do they come from? What different cultures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Customers - What diversity exists in your business in regards to customers? What countries do they come from? What different cultures exist? What languages do they speak?</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Exercise (incorporates this and next slide)</a:t>
            </a:r>
          </a:p>
          <a:p>
            <a:endParaRPr lang="en-AU" sz="1200" b="1" kern="1200" baseline="0" dirty="0" smtClean="0">
              <a:solidFill>
                <a:schemeClr val="tx1"/>
              </a:solidFill>
              <a:ea typeface="+mn-ea"/>
              <a:cs typeface="+mn-cs"/>
            </a:endParaRPr>
          </a:p>
          <a:p>
            <a:r>
              <a:rPr lang="en-AU" sz="1200" kern="1200" baseline="0" dirty="0" smtClean="0">
                <a:solidFill>
                  <a:schemeClr val="tx1"/>
                </a:solidFill>
                <a:ea typeface="+mn-ea"/>
                <a:cs typeface="+mn-cs"/>
              </a:rPr>
              <a:t>Discuss the diversity of the audience in relation to these points. Write the answers down on the board.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You will find a great amount of diversity just amongst this group. Imagine the expanse of diversity given all the staff and customers in a typical hospitality business.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Given the list you have developed, what can a hospitality business do to help cater to these cultural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General Discussion &amp; Exercise (incorporates this and past slide)</a:t>
            </a:r>
          </a:p>
          <a:p>
            <a:endParaRPr lang="en-AU" sz="1200" b="1" kern="1200" baseline="0" dirty="0" smtClean="0">
              <a:solidFill>
                <a:schemeClr val="tx1"/>
              </a:solidFill>
              <a:ea typeface="+mn-ea"/>
              <a:cs typeface="+mn-cs"/>
            </a:endParaRPr>
          </a:p>
          <a:p>
            <a:r>
              <a:rPr lang="en-AU" sz="1200" kern="1200" baseline="0" dirty="0" smtClean="0">
                <a:solidFill>
                  <a:schemeClr val="tx1"/>
                </a:solidFill>
                <a:ea typeface="+mn-ea"/>
                <a:cs typeface="+mn-cs"/>
              </a:rPr>
              <a:t>Discuss the diversity of the audience in relation to these points. Write the answers down on the board.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You will find a great amount of diversity just amongst this group. Imagine the expanse of diversity given all the staff and customers in a typical hospitality business.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Given the list you have developed, what can a hospitality business do to help cater to these cultural differences?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List and discuss</a:t>
            </a:r>
          </a:p>
          <a:p>
            <a:endParaRPr lang="en-AU" sz="1200" b="1"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Identify different countries located within the geographical areas listed in this slide</a:t>
            </a:r>
          </a:p>
          <a:p>
            <a:pPr>
              <a:buFont typeface="Arial" pitchFamily="34" charset="0"/>
              <a:buChar char="•"/>
            </a:pPr>
            <a:r>
              <a:rPr lang="en-AU" sz="1200" kern="1200" baseline="0" dirty="0" smtClean="0">
                <a:solidFill>
                  <a:schemeClr val="tx1"/>
                </a:solidFill>
                <a:ea typeface="+mn-ea"/>
                <a:cs typeface="+mn-cs"/>
              </a:rPr>
              <a:t>For each country identify some cultural characteristics and needs</a:t>
            </a:r>
          </a:p>
          <a:p>
            <a:pPr>
              <a:buFont typeface="Arial" pitchFamily="34" charset="0"/>
              <a:buChar char="•"/>
            </a:pPr>
            <a:r>
              <a:rPr lang="en-AU" sz="1200" kern="1200" baseline="0" dirty="0" smtClean="0">
                <a:solidFill>
                  <a:schemeClr val="tx1"/>
                </a:solidFill>
                <a:ea typeface="+mn-ea"/>
                <a:cs typeface="+mn-cs"/>
              </a:rPr>
              <a:t>Identify how a hospitality business can cater to these needs.</a:t>
            </a:r>
          </a:p>
          <a:p>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How do you use verbal language to communicate?</a:t>
            </a:r>
          </a:p>
          <a:p>
            <a:pPr>
              <a:buFont typeface="Arial" pitchFamily="34" charset="0"/>
              <a:buChar char="•"/>
            </a:pPr>
            <a:r>
              <a:rPr lang="en-AU" sz="1200" kern="1200" baseline="0" dirty="0" smtClean="0">
                <a:solidFill>
                  <a:schemeClr val="tx1"/>
                </a:solidFill>
                <a:ea typeface="+mn-ea"/>
                <a:cs typeface="+mn-cs"/>
              </a:rPr>
              <a:t>How do you use body language to communicate?</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point in this slide and how they can easily cause communication problems</a:t>
            </a:r>
          </a:p>
          <a:p>
            <a:pPr>
              <a:buFont typeface="Arial" pitchFamily="34" charset="0"/>
              <a:buChar char="•"/>
            </a:pPr>
            <a:r>
              <a:rPr lang="en-AU" sz="1200" b="0" kern="1200" baseline="0" dirty="0" smtClean="0">
                <a:solidFill>
                  <a:schemeClr val="tx1"/>
                </a:solidFill>
                <a:ea typeface="+mn-ea"/>
                <a:cs typeface="+mn-cs"/>
              </a:rPr>
              <a:t>Provide examples of how these can be applied correctly for effective communication.</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Provide examples for each point in this slide and how they can easily cause communication problems</a:t>
            </a:r>
          </a:p>
          <a:p>
            <a:pPr>
              <a:buFont typeface="Arial" pitchFamily="34" charset="0"/>
              <a:buChar char="•"/>
            </a:pPr>
            <a:r>
              <a:rPr lang="en-AU" sz="1200" b="0" kern="1200" baseline="0" dirty="0" smtClean="0">
                <a:solidFill>
                  <a:schemeClr val="tx1"/>
                </a:solidFill>
                <a:ea typeface="+mn-ea"/>
                <a:cs typeface="+mn-cs"/>
              </a:rPr>
              <a:t>Provide examples of how these can be applied correctly for effective communication.</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questions in the slide.</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do we communicate?</a:t>
            </a:r>
          </a:p>
          <a:p>
            <a:pPr>
              <a:buFont typeface="Arial" pitchFamily="34" charset="0"/>
              <a:buChar char="•"/>
            </a:pPr>
            <a:r>
              <a:rPr lang="en-AU" sz="1200" b="0" kern="1200" baseline="0" dirty="0" smtClean="0">
                <a:solidFill>
                  <a:schemeClr val="tx1"/>
                </a:solidFill>
                <a:ea typeface="+mn-ea"/>
                <a:cs typeface="+mn-cs"/>
              </a:rPr>
              <a:t>What are the different types of communication?</a:t>
            </a:r>
          </a:p>
          <a:p>
            <a:pPr>
              <a:buFont typeface="Arial" pitchFamily="34" charset="0"/>
              <a:buChar char="•"/>
            </a:pPr>
            <a:r>
              <a:rPr lang="en-AU" sz="1200" b="0" kern="1200" baseline="0" dirty="0" smtClean="0">
                <a:solidFill>
                  <a:schemeClr val="tx1"/>
                </a:solidFill>
                <a:ea typeface="+mn-ea"/>
                <a:cs typeface="+mn-cs"/>
              </a:rPr>
              <a:t>What are some tips to remember to make communication clear and concise?</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There are a variety of communications mediums used in the industry. Some may be specific to a particular establishment or industry sector, and others are quite general across all industry types and venues.</a:t>
            </a:r>
          </a:p>
          <a:p>
            <a:r>
              <a:rPr lang="en-AU" sz="1200" kern="1200" dirty="0" smtClean="0">
                <a:solidFill>
                  <a:schemeClr val="tx1"/>
                </a:solidFill>
                <a:ea typeface="+mn-ea"/>
                <a:cs typeface="+mn-cs"/>
              </a:rPr>
              <a:t>The basic communication options include:</a:t>
            </a:r>
          </a:p>
          <a:p>
            <a:pPr lvl="0"/>
            <a:r>
              <a:rPr lang="en-AU" sz="1200" kern="1200" dirty="0" smtClean="0">
                <a:solidFill>
                  <a:schemeClr val="tx1"/>
                </a:solidFill>
                <a:ea typeface="+mn-ea"/>
                <a:cs typeface="+mn-cs"/>
              </a:rPr>
              <a:t>Verbal –including face-to-face communication and talking on the phone. This also embraces the use of languages other than English and the use of Indigenous languages</a:t>
            </a:r>
          </a:p>
          <a:p>
            <a:pPr lvl="0"/>
            <a:r>
              <a:rPr lang="en-AU" sz="1200" kern="1200" dirty="0" smtClean="0">
                <a:solidFill>
                  <a:schemeClr val="tx1"/>
                </a:solidFill>
                <a:ea typeface="+mn-ea"/>
                <a:cs typeface="+mn-cs"/>
              </a:rPr>
              <a:t>Written format – which includes electronic mail and hard copy communications such as letters, signs, labels, posters and advertising and warning material</a:t>
            </a:r>
          </a:p>
          <a:p>
            <a:pPr lvl="0"/>
            <a:r>
              <a:rPr lang="en-AU" sz="1200" kern="1200" dirty="0" smtClean="0">
                <a:solidFill>
                  <a:schemeClr val="tx1"/>
                </a:solidFill>
                <a:ea typeface="+mn-ea"/>
                <a:cs typeface="+mn-cs"/>
              </a:rPr>
              <a:t>Non-verbal – facial expressions, gestures, sign language</a:t>
            </a:r>
          </a:p>
          <a:p>
            <a:pPr lvl="0"/>
            <a:r>
              <a:rPr lang="en-AU" sz="1200" kern="1200" dirty="0" smtClean="0">
                <a:solidFill>
                  <a:schemeClr val="tx1"/>
                </a:solidFill>
                <a:ea typeface="+mn-ea"/>
                <a:cs typeface="+mn-cs"/>
              </a:rPr>
              <a:t>Use of an interpreter to interpret verbal and printed language.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None/>
            </a:pPr>
            <a:r>
              <a:rPr lang="en-AU" sz="1050" dirty="0" smtClean="0"/>
              <a:t>To help ensure your communication is polite, professional and friendly, the following tips will assist:</a:t>
            </a:r>
          </a:p>
          <a:p>
            <a:pPr lvl="0">
              <a:buFont typeface="Arial" pitchFamily="34" charset="0"/>
              <a:buChar char="•"/>
            </a:pPr>
            <a:r>
              <a:rPr lang="en-AU" sz="1200" dirty="0" smtClean="0"/>
              <a:t>Follow all establishment policies regarding communication with customers and colleagues. These may exist for greeting customers, interacting with staff and  answering the phone</a:t>
            </a:r>
          </a:p>
          <a:p>
            <a:pPr lvl="0">
              <a:buFont typeface="Arial" pitchFamily="34" charset="0"/>
              <a:buChar char="•"/>
            </a:pPr>
            <a:r>
              <a:rPr lang="en-AU" sz="1200" dirty="0" smtClean="0"/>
              <a:t>Use a person’s name where it is known</a:t>
            </a:r>
          </a:p>
          <a:p>
            <a:pPr lvl="0">
              <a:buFont typeface="Arial" pitchFamily="34" charset="0"/>
              <a:buChar char="•"/>
            </a:pPr>
            <a:r>
              <a:rPr lang="en-AU" sz="1200" dirty="0" smtClean="0"/>
              <a:t>Be honest – but be sensitive, tactful, caring and respectful</a:t>
            </a:r>
          </a:p>
          <a:p>
            <a:pPr lvl="0">
              <a:buFont typeface="Arial" pitchFamily="34" charset="0"/>
              <a:buChar char="•"/>
            </a:pPr>
            <a:r>
              <a:rPr lang="en-AU" sz="1200" dirty="0" smtClean="0"/>
              <a:t>Use ‘please’ and ‘thank you’ a lot.</a:t>
            </a:r>
          </a:p>
          <a:p>
            <a:pPr lvl="0"/>
            <a:endParaRPr lang="en-AU" sz="1200" dirty="0" smtClean="0"/>
          </a:p>
          <a:p>
            <a:pPr lvl="0"/>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AU" sz="1200" dirty="0" smtClean="0"/>
              <a:t>Don’t interrupt</a:t>
            </a:r>
          </a:p>
          <a:p>
            <a:pPr lvl="0">
              <a:buFont typeface="Arial" pitchFamily="34" charset="0"/>
              <a:buChar char="•"/>
            </a:pPr>
            <a:r>
              <a:rPr lang="en-AU" sz="1200" dirty="0" smtClean="0"/>
              <a:t>Speak at an appropriate pace and volume – don’t’ yell, don’t whisper </a:t>
            </a:r>
          </a:p>
          <a:p>
            <a:pPr lvl="0">
              <a:buFont typeface="Arial" pitchFamily="34" charset="0"/>
              <a:buChar char="•"/>
            </a:pPr>
            <a:r>
              <a:rPr lang="en-AU" sz="1200" dirty="0" smtClean="0"/>
              <a:t>Make sure your non-verbal language matches the verbal communication you are sending. This commonly means smiling when it is appropriate to do so, and displaying a serious demeanour when something serious is being discussed.</a:t>
            </a:r>
            <a:endParaRPr lang="en-AU" sz="120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 means that in some instances, written communication may need to:</a:t>
            </a:r>
          </a:p>
          <a:p>
            <a:pPr lvl="0">
              <a:buFont typeface="Arial" pitchFamily="34" charset="0"/>
              <a:buChar char="•"/>
            </a:pPr>
            <a:r>
              <a:rPr lang="en-AU" sz="1200" kern="1200" dirty="0" smtClean="0">
                <a:solidFill>
                  <a:schemeClr val="tx1"/>
                </a:solidFill>
                <a:ea typeface="+mn-ea"/>
                <a:cs typeface="+mn-cs"/>
              </a:rPr>
              <a:t>Use graphics or pictures to help clarify meaning</a:t>
            </a:r>
          </a:p>
          <a:p>
            <a:pPr lvl="0">
              <a:buFont typeface="Arial" pitchFamily="34" charset="0"/>
              <a:buChar char="•"/>
            </a:pPr>
            <a:r>
              <a:rPr lang="en-AU" sz="1200" kern="1200" dirty="0" smtClean="0">
                <a:solidFill>
                  <a:schemeClr val="tx1"/>
                </a:solidFill>
                <a:ea typeface="+mn-ea"/>
                <a:cs typeface="+mn-cs"/>
              </a:rPr>
              <a:t>Be produced in a language other than English</a:t>
            </a:r>
          </a:p>
          <a:p>
            <a:pPr lvl="0">
              <a:buFont typeface="Arial" pitchFamily="34" charset="0"/>
              <a:buChar char="•"/>
            </a:pPr>
            <a:r>
              <a:rPr lang="en-AU" sz="1200" kern="1200" dirty="0" smtClean="0">
                <a:solidFill>
                  <a:schemeClr val="tx1"/>
                </a:solidFill>
                <a:ea typeface="+mn-ea"/>
                <a:cs typeface="+mn-cs"/>
              </a:rPr>
              <a:t>Be printed in a font that is easy to read and in a print size that encourages people to read it</a:t>
            </a:r>
          </a:p>
          <a:p>
            <a:pPr lvl="0">
              <a:buFont typeface="Arial" pitchFamily="34" charset="0"/>
              <a:buChar char="•"/>
            </a:pPr>
            <a:r>
              <a:rPr lang="en-AU" sz="1200" kern="1200" dirty="0" smtClean="0">
                <a:solidFill>
                  <a:schemeClr val="tx1"/>
                </a:solidFill>
                <a:ea typeface="+mn-ea"/>
                <a:cs typeface="+mn-cs"/>
              </a:rPr>
              <a:t>Be available in ‘take away’ form so that people can take a copy with them to read later and or in more detail.</a:t>
            </a:r>
          </a:p>
          <a:p>
            <a:pPr lvl="0"/>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 &amp; Review</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ways written communication can be improved in a hotel.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Audience to collect and discuss examples different businesses do to enhance their message through written documentation </a:t>
            </a:r>
          </a:p>
          <a:p>
            <a:pPr lvl="0"/>
            <a:endParaRPr lang="en-AU" sz="1200" kern="1200" dirty="0" smtClean="0">
              <a:solidFill>
                <a:schemeClr val="tx1"/>
              </a:solidFill>
              <a:ea typeface="+mn-ea"/>
              <a:cs typeface="+mn-cs"/>
            </a:endParaRPr>
          </a:p>
          <a:p>
            <a:pPr lvl="0"/>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verbal and non-verbal communication?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Which one is more effective and why?</a:t>
            </a:r>
          </a:p>
          <a:p>
            <a:pPr lvl="0"/>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kern="1200" dirty="0" smtClean="0">
                <a:solidFill>
                  <a:schemeClr val="tx1"/>
                </a:solidFill>
                <a:ea typeface="+mn-ea"/>
                <a:cs typeface="+mn-cs"/>
              </a:rPr>
              <a:t>Discuss the above points.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Discuss points.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If</a:t>
            </a:r>
            <a:r>
              <a:rPr lang="en-AU" sz="1200" kern="1200" baseline="0" dirty="0" smtClean="0">
                <a:solidFill>
                  <a:schemeClr val="tx1"/>
                </a:solidFill>
                <a:ea typeface="+mn-ea"/>
                <a:cs typeface="+mn-cs"/>
              </a:rPr>
              <a:t> someone is a good listener, what makes them a good listener?</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Discuss points.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Discuss</a:t>
            </a:r>
            <a:r>
              <a:rPr lang="en-AU" sz="1200" kern="1200" baseline="0" dirty="0" smtClean="0">
                <a:solidFill>
                  <a:schemeClr val="tx1"/>
                </a:solidFill>
                <a:ea typeface="+mn-ea"/>
                <a:cs typeface="+mn-cs"/>
              </a:rPr>
              <a:t> the questions on this slide.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the audience to identify times and to develop a list of suitable closed questions they could ask to a variety of scenarios.</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the audience to develop a list of suitable open questions they could ask to a variety of scenarios.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In teams get audience to continue a conversation just using open questions, with the aim of not actually answering a question. This will make audience members to think about possible questions they could ask.</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kern="1200" dirty="0" smtClean="0">
                <a:solidFill>
                  <a:schemeClr val="tx1"/>
                </a:solidFill>
                <a:ea typeface="+mn-ea"/>
                <a:cs typeface="+mn-cs"/>
              </a:rPr>
              <a:t>Discuss</a:t>
            </a:r>
            <a:r>
              <a:rPr lang="en-AU" sz="1200" kern="1200" baseline="0" dirty="0" smtClean="0">
                <a:solidFill>
                  <a:schemeClr val="tx1"/>
                </a:solidFill>
                <a:ea typeface="+mn-ea"/>
                <a:cs typeface="+mn-cs"/>
              </a:rPr>
              <a:t> each point identifying how these can be used to relay a message.</a:t>
            </a:r>
          </a:p>
          <a:p>
            <a:pPr lvl="0"/>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r>
              <a:rPr lang="en-AU" sz="1200" kern="1200" baseline="0" dirty="0" smtClean="0">
                <a:solidFill>
                  <a:schemeClr val="tx1"/>
                </a:solidFill>
                <a:ea typeface="+mn-ea"/>
                <a:cs typeface="+mn-cs"/>
              </a:rPr>
              <a:t>Get the audience to demonstrate a range of different communications using each of the points mentioned in this slide to depict a range of emotions.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sz="1200" kern="1200" dirty="0" smtClean="0">
                <a:solidFill>
                  <a:schemeClr val="tx1"/>
                </a:solidFill>
                <a:ea typeface="+mn-ea"/>
                <a:cs typeface="+mn-cs"/>
              </a:rPr>
              <a:t>Discuss point. </a:t>
            </a:r>
            <a:endParaRPr lang="en-AU" sz="1200" kern="1200" baseline="0" dirty="0" smtClean="0">
              <a:solidFill>
                <a:schemeClr val="tx1"/>
              </a:solidFill>
              <a:ea typeface="+mn-ea"/>
              <a:cs typeface="+mn-cs"/>
            </a:endParaRPr>
          </a:p>
          <a:p>
            <a:pPr lvl="0"/>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For each of the points identify different ways you can use this non-verbal communication to give different messages.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AU" sz="1200" b="1" kern="1200" dirty="0" smtClean="0">
                <a:solidFill>
                  <a:schemeClr val="tx1"/>
                </a:solidFill>
                <a:ea typeface="+mn-ea"/>
                <a:cs typeface="+mn-cs"/>
              </a:rPr>
              <a:t>Major aspects of non-verbal communication</a:t>
            </a:r>
          </a:p>
          <a:p>
            <a:r>
              <a:rPr lang="en-AU" sz="1200" kern="1200" dirty="0" smtClean="0">
                <a:solidFill>
                  <a:schemeClr val="tx1"/>
                </a:solidFill>
                <a:ea typeface="+mn-ea"/>
                <a:cs typeface="+mn-cs"/>
              </a:rPr>
              <a:t>Five distinct aspects of non-verbal communication have been identified.</a:t>
            </a:r>
          </a:p>
          <a:p>
            <a:endParaRPr lang="en-AU" sz="1200" kern="1200" dirty="0" smtClean="0">
              <a:solidFill>
                <a:schemeClr val="tx1"/>
              </a:solidFill>
              <a:ea typeface="+mn-ea"/>
              <a:cs typeface="+mn-cs"/>
            </a:endParaRPr>
          </a:p>
          <a:p>
            <a:pPr lvl="0"/>
            <a:r>
              <a:rPr lang="en-AU" sz="1200" b="1" i="1" kern="1200" dirty="0" smtClean="0">
                <a:solidFill>
                  <a:schemeClr val="tx1"/>
                </a:solidFill>
                <a:ea typeface="+mn-ea"/>
                <a:cs typeface="+mn-cs"/>
              </a:rPr>
              <a:t>Emblems</a:t>
            </a:r>
            <a:endParaRPr lang="en-AU" sz="1200" b="1" kern="1200" dirty="0" smtClean="0">
              <a:solidFill>
                <a:schemeClr val="tx1"/>
              </a:solidFill>
              <a:ea typeface="+mn-ea"/>
              <a:cs typeface="+mn-cs"/>
            </a:endParaRPr>
          </a:p>
          <a:p>
            <a:r>
              <a:rPr lang="en-AU" sz="1200" kern="1200" dirty="0" smtClean="0">
                <a:solidFill>
                  <a:schemeClr val="tx1"/>
                </a:solidFill>
                <a:ea typeface="+mn-ea"/>
                <a:cs typeface="+mn-cs"/>
              </a:rPr>
              <a:t>These are the explicit type of gestures/body language that are used with complete intention, and whose meanings are generally accepted and understood.</a:t>
            </a:r>
          </a:p>
          <a:p>
            <a:r>
              <a:rPr lang="en-AU" sz="1200" kern="1200" dirty="0" smtClean="0">
                <a:solidFill>
                  <a:schemeClr val="tx1"/>
                </a:solidFill>
                <a:ea typeface="+mn-ea"/>
                <a:cs typeface="+mn-cs"/>
              </a:rPr>
              <a:t>Examples are:</a:t>
            </a:r>
          </a:p>
          <a:p>
            <a:pPr lvl="0">
              <a:buFont typeface="Arial" pitchFamily="34" charset="0"/>
              <a:buChar char="•"/>
            </a:pPr>
            <a:r>
              <a:rPr lang="en-US" sz="1200" kern="1200" dirty="0" smtClean="0">
                <a:solidFill>
                  <a:schemeClr val="tx1"/>
                </a:solidFill>
                <a:ea typeface="+mn-ea"/>
                <a:cs typeface="+mn-cs"/>
              </a:rPr>
              <a:t>Cupping the hand to the ear to indicate ‘I can’t hear you’</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Holding the forefinger vertically in front of the lips to indicate ‘Shhh, be quiet’.</a:t>
            </a:r>
            <a:endParaRPr lang="en-AU" sz="1200" kern="1200" dirty="0" smtClean="0">
              <a:solidFill>
                <a:schemeClr val="tx1"/>
              </a:solidFill>
              <a:ea typeface="+mn-ea"/>
              <a:cs typeface="+mn-cs"/>
            </a:endParaRPr>
          </a:p>
          <a:p>
            <a:pPr lvl="0"/>
            <a:endParaRPr lang="en-AU" sz="1200" b="1" i="1" kern="1200" dirty="0" smtClean="0">
              <a:solidFill>
                <a:schemeClr val="tx1"/>
              </a:solidFill>
              <a:ea typeface="+mn-ea"/>
              <a:cs typeface="+mn-cs"/>
            </a:endParaRPr>
          </a:p>
          <a:p>
            <a:pPr lvl="0"/>
            <a:r>
              <a:rPr lang="en-AU" sz="1200" b="1" i="1" kern="1200" dirty="0" smtClean="0">
                <a:solidFill>
                  <a:schemeClr val="tx1"/>
                </a:solidFill>
                <a:ea typeface="+mn-ea"/>
                <a:cs typeface="+mn-cs"/>
              </a:rPr>
              <a:t>Illustrators</a:t>
            </a:r>
            <a:endParaRPr lang="en-AU" sz="1200" b="1" kern="1200" dirty="0" smtClean="0">
              <a:solidFill>
                <a:schemeClr val="tx1"/>
              </a:solidFill>
              <a:ea typeface="+mn-ea"/>
              <a:cs typeface="+mn-cs"/>
            </a:endParaRPr>
          </a:p>
          <a:p>
            <a:r>
              <a:rPr lang="en-AU" sz="1200" kern="1200" dirty="0" smtClean="0">
                <a:solidFill>
                  <a:schemeClr val="tx1"/>
                </a:solidFill>
                <a:ea typeface="+mn-ea"/>
                <a:cs typeface="+mn-cs"/>
              </a:rPr>
              <a:t>These are mannerisms that are unique to individuals.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They are what people do when talking. They are used to reinforce the verbal message they are sending.</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They are usually related to the use of the hands, but they also include things that mark a person’s speech, such as the way one person may end a sentence, pauses in their speech, and emphasises words.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While these mannerisms are individualistic, the people are usually not aware that they do them until they see themselves on video-tape or hear themselves on audio-tape.</a:t>
            </a:r>
          </a:p>
          <a:p>
            <a:r>
              <a:rPr lang="en-AU" sz="1200" kern="1200" dirty="0" smtClean="0">
                <a:solidFill>
                  <a:schemeClr val="tx1"/>
                </a:solidFill>
                <a:ea typeface="+mn-ea"/>
                <a:cs typeface="+mn-cs"/>
              </a:rPr>
              <a:t/>
            </a:r>
            <a:br>
              <a:rPr lang="en-AU" sz="1200" kern="1200" dirty="0" smtClean="0">
                <a:solidFill>
                  <a:schemeClr val="tx1"/>
                </a:solidFill>
                <a:ea typeface="+mn-ea"/>
                <a:cs typeface="+mn-cs"/>
              </a:rPr>
            </a:br>
            <a:r>
              <a:rPr lang="en-AU" sz="1200" kern="1200" dirty="0" smtClean="0">
                <a:solidFill>
                  <a:schemeClr val="tx1"/>
                </a:solidFill>
                <a:ea typeface="+mn-ea"/>
                <a:cs typeface="+mn-cs"/>
              </a:rPr>
              <a:t> </a:t>
            </a:r>
          </a:p>
          <a:p>
            <a:pPr lvl="0"/>
            <a:r>
              <a:rPr lang="en-AU" sz="1200" b="1" i="1" kern="1200" dirty="0" smtClean="0">
                <a:solidFill>
                  <a:schemeClr val="tx1"/>
                </a:solidFill>
                <a:ea typeface="+mn-ea"/>
                <a:cs typeface="+mn-cs"/>
              </a:rPr>
              <a:t>Affect displays</a:t>
            </a:r>
            <a:endParaRPr lang="en-AU" sz="1200" b="1" kern="1200" dirty="0" smtClean="0">
              <a:solidFill>
                <a:schemeClr val="tx1"/>
              </a:solidFill>
              <a:ea typeface="+mn-ea"/>
              <a:cs typeface="+mn-cs"/>
            </a:endParaRPr>
          </a:p>
          <a:p>
            <a:r>
              <a:rPr lang="en-AU" sz="1200" kern="1200" dirty="0" smtClean="0">
                <a:solidFill>
                  <a:schemeClr val="tx1"/>
                </a:solidFill>
                <a:ea typeface="+mn-ea"/>
                <a:cs typeface="+mn-cs"/>
              </a:rPr>
              <a:t>These are the ways in which our facial expressions or our body movements reveal </a:t>
            </a:r>
            <a:br>
              <a:rPr lang="en-AU" sz="1200" kern="1200" dirty="0" smtClean="0">
                <a:solidFill>
                  <a:schemeClr val="tx1"/>
                </a:solidFill>
                <a:ea typeface="+mn-ea"/>
                <a:cs typeface="+mn-cs"/>
              </a:rPr>
            </a:br>
            <a:r>
              <a:rPr lang="en-AU" sz="1200" kern="1200" dirty="0" smtClean="0">
                <a:solidFill>
                  <a:schemeClr val="tx1"/>
                </a:solidFill>
                <a:ea typeface="+mn-ea"/>
                <a:cs typeface="+mn-cs"/>
              </a:rPr>
              <a:t>our emotions.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In everyday life, people tend not to monitor or intentionally control their affect displays. Their true emotions are allowed to show.</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In certain workplace situations however, staff may be required to display emotions that are contrary to their real feelings.  </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is the case where staff are primarily and have customer-contact that requires them to smile all the time and present themselves as happy and nice when they may even feel the opposite.</a:t>
            </a:r>
          </a:p>
          <a:p>
            <a:pPr lvl="0"/>
            <a:endParaRPr lang="en-AU" sz="1200" b="1" i="1" kern="1200" dirty="0" smtClean="0">
              <a:solidFill>
                <a:schemeClr val="tx1"/>
              </a:solidFill>
              <a:ea typeface="+mn-ea"/>
              <a:cs typeface="+mn-cs"/>
            </a:endParaRPr>
          </a:p>
          <a:p>
            <a:pPr lvl="0"/>
            <a:r>
              <a:rPr lang="en-AU" sz="1200" b="1" i="1" kern="1200" dirty="0" smtClean="0">
                <a:solidFill>
                  <a:schemeClr val="tx1"/>
                </a:solidFill>
                <a:ea typeface="+mn-ea"/>
                <a:cs typeface="+mn-cs"/>
              </a:rPr>
              <a:t>Regulators</a:t>
            </a:r>
            <a:endParaRPr lang="en-AU" sz="1200" b="1" kern="1200" dirty="0" smtClean="0">
              <a:solidFill>
                <a:schemeClr val="tx1"/>
              </a:solidFill>
              <a:ea typeface="+mn-ea"/>
              <a:cs typeface="+mn-cs"/>
            </a:endParaRPr>
          </a:p>
          <a:p>
            <a:r>
              <a:rPr lang="en-AU" sz="1200" kern="1200" dirty="0" smtClean="0">
                <a:solidFill>
                  <a:schemeClr val="tx1"/>
                </a:solidFill>
                <a:ea typeface="+mn-ea"/>
                <a:cs typeface="+mn-cs"/>
              </a:rPr>
              <a:t>Everyone expresses themselves using regulators.</a:t>
            </a:r>
          </a:p>
          <a:p>
            <a:r>
              <a:rPr lang="en-AU" sz="1200" kern="1200" dirty="0" smtClean="0">
                <a:solidFill>
                  <a:schemeClr val="tx1"/>
                </a:solidFill>
                <a:ea typeface="+mn-ea"/>
                <a:cs typeface="+mn-cs"/>
              </a:rPr>
              <a:t>They are behaviours such as:</a:t>
            </a:r>
          </a:p>
          <a:p>
            <a:pPr lvl="0">
              <a:buFont typeface="Arial" pitchFamily="34" charset="0"/>
              <a:buChar char="•"/>
            </a:pPr>
            <a:r>
              <a:rPr lang="en-US" sz="1200" kern="1200" dirty="0" smtClean="0">
                <a:solidFill>
                  <a:schemeClr val="tx1"/>
                </a:solidFill>
                <a:ea typeface="+mn-ea"/>
                <a:cs typeface="+mn-cs"/>
              </a:rPr>
              <a:t>Nods </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Stance</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The direction and the duration of someone’s gaze </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Vocal pitch </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Raised eyebrows </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The position/inclination of the head.</a:t>
            </a:r>
          </a:p>
          <a:p>
            <a:pPr lvl="0">
              <a:buFont typeface="Arial" pitchFamily="34" charset="0"/>
              <a:buNone/>
            </a:pP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behaviours regulate the verbal message, for instance, making it stronger or gentler, more authoritative or friendlier, casual or more formal. Just like illustrators, regulators are hardly noticed by the person speaking, but they are certainly noticed by others.</a:t>
            </a:r>
          </a:p>
          <a:p>
            <a:endParaRPr lang="en-AU" sz="1200" kern="1200" dirty="0" smtClean="0">
              <a:solidFill>
                <a:schemeClr val="tx1"/>
              </a:solidFill>
              <a:ea typeface="+mn-ea"/>
              <a:cs typeface="+mn-cs"/>
            </a:endParaRPr>
          </a:p>
          <a:p>
            <a:pPr lvl="0"/>
            <a:r>
              <a:rPr lang="en-AU" sz="1200" b="1" i="1" kern="1200" dirty="0" smtClean="0">
                <a:solidFill>
                  <a:schemeClr val="tx1"/>
                </a:solidFill>
                <a:ea typeface="+mn-ea"/>
                <a:cs typeface="+mn-cs"/>
              </a:rPr>
              <a:t>Adaptors</a:t>
            </a:r>
            <a:endParaRPr lang="en-AU" sz="1200" b="1" kern="1200" dirty="0" smtClean="0">
              <a:solidFill>
                <a:schemeClr val="tx1"/>
              </a:solidFill>
              <a:ea typeface="+mn-ea"/>
              <a:cs typeface="+mn-cs"/>
            </a:endParaRPr>
          </a:p>
          <a:p>
            <a:r>
              <a:rPr lang="en-AU" sz="1200" kern="1200" dirty="0" smtClean="0">
                <a:solidFill>
                  <a:schemeClr val="tx1"/>
                </a:solidFill>
                <a:ea typeface="+mn-ea"/>
                <a:cs typeface="+mn-cs"/>
              </a:rPr>
              <a:t>These are unconscious behaviours that are mainly nervous in nature. </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People are generally unaware of making them.</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Examples are:</a:t>
            </a:r>
          </a:p>
          <a:p>
            <a:pPr lvl="0">
              <a:buFont typeface="Arial" pitchFamily="34" charset="0"/>
              <a:buChar char="•"/>
            </a:pPr>
            <a:r>
              <a:rPr lang="en-US" sz="1200" kern="1200" dirty="0" smtClean="0">
                <a:solidFill>
                  <a:schemeClr val="tx1"/>
                </a:solidFill>
                <a:ea typeface="+mn-ea"/>
                <a:cs typeface="+mn-cs"/>
              </a:rPr>
              <a:t>Doodling during meetings </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Itching your nose in a meeting</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Picking your nails in a meeting</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Scratching.</a:t>
            </a:r>
            <a:endParaRPr lang="en-AU" sz="1200" kern="1200" dirty="0" smtClean="0">
              <a:solidFill>
                <a:schemeClr val="tx1"/>
              </a:solidFill>
              <a:ea typeface="+mn-ea"/>
              <a:cs typeface="+mn-cs"/>
            </a:endParaRPr>
          </a:p>
          <a:p>
            <a:pPr lvl="0"/>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 highlights that many communications need to be undertaken taking into account the context in which each communication occurs.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means there is a need to modify most communications to suit the individual set of circumstances that apply, and to take into account the individual with whom the communication is taking place.</a:t>
            </a:r>
          </a:p>
          <a:p>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lvl="0"/>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Discuss the question in the slide.</a:t>
            </a:r>
          </a:p>
          <a:p>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lvl="0"/>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How</a:t>
            </a:r>
            <a:r>
              <a:rPr lang="en-AU" sz="1200" kern="1200" baseline="0" dirty="0" smtClean="0">
                <a:solidFill>
                  <a:schemeClr val="tx1"/>
                </a:solidFill>
                <a:ea typeface="+mn-ea"/>
                <a:cs typeface="+mn-cs"/>
              </a:rPr>
              <a:t> can you change tone?</a:t>
            </a: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lvl="0"/>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common conflicts you have in your private life?</a:t>
            </a:r>
          </a:p>
          <a:p>
            <a:pPr>
              <a:buFont typeface="Arial" pitchFamily="34" charset="0"/>
              <a:buChar char="•"/>
            </a:pPr>
            <a:r>
              <a:rPr lang="en-AU" sz="1200" b="0" kern="1200" baseline="0" dirty="0" smtClean="0">
                <a:solidFill>
                  <a:schemeClr val="tx1"/>
                </a:solidFill>
                <a:ea typeface="+mn-ea"/>
                <a:cs typeface="+mn-cs"/>
              </a:rPr>
              <a:t>What causes them?</a:t>
            </a:r>
          </a:p>
          <a:p>
            <a:pPr>
              <a:buFont typeface="Arial" pitchFamily="34" charset="0"/>
              <a:buChar char="•"/>
            </a:pPr>
            <a:r>
              <a:rPr lang="en-AU" sz="1200" b="0" kern="1200" baseline="0" dirty="0" smtClean="0">
                <a:solidFill>
                  <a:schemeClr val="tx1"/>
                </a:solidFill>
                <a:ea typeface="+mn-ea"/>
                <a:cs typeface="+mn-cs"/>
              </a:rPr>
              <a:t>How can they be solved?</a:t>
            </a:r>
          </a:p>
          <a:p>
            <a:endParaRPr lang="en-AU" sz="1200" kern="1200" dirty="0" smtClean="0">
              <a:solidFill>
                <a:schemeClr val="tx1"/>
              </a:solidFill>
              <a:ea typeface="+mn-ea"/>
              <a:cs typeface="+mn-cs"/>
            </a:endParaRP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common conflicts that affect these different people?</a:t>
            </a:r>
          </a:p>
          <a:p>
            <a:endParaRPr lang="en-AU" sz="1200" kern="1200" dirty="0" smtClean="0">
              <a:solidFill>
                <a:schemeClr val="tx1"/>
              </a:solidFill>
              <a:ea typeface="+mn-ea"/>
              <a:cs typeface="+mn-cs"/>
            </a:endParaRP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Provide some examples for each point in this slide including suggestions for reducing the conflict.</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slide.</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AU" sz="1200" kern="1200" dirty="0" smtClean="0">
                <a:solidFill>
                  <a:schemeClr val="tx1"/>
                </a:solidFill>
                <a:ea typeface="+mn-ea"/>
                <a:cs typeface="+mn-cs"/>
              </a:rPr>
              <a:t>Avoid verbal and visual contact – taking breaks in physically different areas, avoiding walking down the same corridor, asking for shifts that help avoid the chance of contact, sitting so that the other person is not in the direct line of sight</a:t>
            </a:r>
          </a:p>
          <a:p>
            <a:pPr lvl="0">
              <a:buFont typeface="Arial" pitchFamily="34" charset="0"/>
              <a:buChar char="•"/>
            </a:pPr>
            <a:r>
              <a:rPr lang="en-AU" sz="1200" kern="1200" dirty="0" smtClean="0">
                <a:solidFill>
                  <a:schemeClr val="tx1"/>
                </a:solidFill>
                <a:ea typeface="+mn-ea"/>
                <a:cs typeface="+mn-cs"/>
              </a:rPr>
              <a:t>Indulge in negative facial expressions – the person may sneer your way, roll their eyes and shake their head slowly from side-to-side, or purse their lips</a:t>
            </a:r>
          </a:p>
          <a:p>
            <a:pPr lvl="0">
              <a:buFont typeface="Arial" pitchFamily="34" charset="0"/>
              <a:buChar char="•"/>
            </a:pPr>
            <a:r>
              <a:rPr lang="en-US" sz="1200" kern="1200" dirty="0" smtClean="0">
                <a:solidFill>
                  <a:schemeClr val="tx1"/>
                </a:solidFill>
                <a:ea typeface="+mn-ea"/>
                <a:cs typeface="+mn-cs"/>
              </a:rPr>
              <a:t>Make negative remarks – this can spill over into areas that are outside the initial cause of the conflict. For example, a staff member may be annoyed that you didn’t help doing the cleaning up after a function. Their perception was that you are a slacker, you are lazy and not a team player.  </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The truth is that the boss told you to go home because you had been at work for twelve hours that day, and were required back early the following day. The negative remarks will not stop at your perceived laziness, but will usually involve unrelated areas such as your attitude, your relationships with others, your personal habits, and so on</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Make rude gestures or remarks – these can be offensive remarks (perhaps of a sexual nature), or finger and forearm gestures designed to convey a specific message.  </a:t>
            </a:r>
            <a:endParaRPr lang="en-AU" sz="1200" kern="1200" dirty="0" smtClean="0">
              <a:solidFill>
                <a:schemeClr val="tx1"/>
              </a:solidFill>
              <a:ea typeface="+mn-ea"/>
              <a:cs typeface="+mn-cs"/>
            </a:endParaRP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pPr>
              <a:buFont typeface="Arial" pitchFamily="34" charset="0"/>
              <a:buNone/>
            </a:pPr>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points.</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pPr>
              <a:buFont typeface="Arial" pitchFamily="34" charset="0"/>
              <a:buNone/>
            </a:pPr>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questions in the slide.</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pPr>
              <a:buFont typeface="Arial" pitchFamily="34" charset="0"/>
              <a:buNone/>
            </a:pPr>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‘your line’ when it is time to stop handling a situation and to refer it to someone else?</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ea typeface="+mn-ea"/>
                <a:cs typeface="+mn-cs"/>
              </a:rPr>
              <a:t>Class Activity – Discussion</a:t>
            </a:r>
          </a:p>
          <a:p>
            <a:pPr>
              <a:buFont typeface="Arial" pitchFamily="34" charset="0"/>
              <a:buNone/>
            </a:pPr>
            <a:endParaRPr lang="en-AU" sz="1200" b="1"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protocol of referring issues?</a:t>
            </a:r>
          </a:p>
          <a:p>
            <a:pPr>
              <a:buFont typeface="Arial" pitchFamily="34" charset="0"/>
              <a:buChar char="•"/>
            </a:pPr>
            <a:r>
              <a:rPr lang="en-AU" sz="1200" b="0" kern="1200" baseline="0" dirty="0" smtClean="0">
                <a:solidFill>
                  <a:schemeClr val="tx1"/>
                </a:solidFill>
                <a:ea typeface="+mn-ea"/>
                <a:cs typeface="+mn-cs"/>
              </a:rPr>
              <a:t>Is the team leader or supervisor the first contact point or can you go higher?</a:t>
            </a:r>
          </a:p>
          <a:p>
            <a:pPr>
              <a:buFont typeface="Arial" pitchFamily="34" charset="0"/>
              <a:buChar char="•"/>
            </a:pPr>
            <a:r>
              <a:rPr lang="en-AU" sz="1200" b="0" kern="1200" baseline="0" dirty="0" smtClean="0">
                <a:solidFill>
                  <a:schemeClr val="tx1"/>
                </a:solidFill>
                <a:ea typeface="+mn-ea"/>
                <a:cs typeface="+mn-cs"/>
              </a:rPr>
              <a:t>When do you do higher?</a:t>
            </a:r>
          </a:p>
          <a:p>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Discuss and answe</a:t>
            </a:r>
            <a:r>
              <a:rPr lang="en-AU" sz="1200" kern="1200" baseline="0" dirty="0" smtClean="0">
                <a:solidFill>
                  <a:schemeClr val="tx1"/>
                </a:solidFill>
                <a:ea typeface="+mn-ea"/>
                <a:cs typeface="+mn-cs"/>
              </a:rPr>
              <a:t>r the questions.</a:t>
            </a:r>
          </a:p>
          <a:p>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the audience to list and where possible collect and discuss different types of documentation used in different departments of a hospitality business.</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Discuss points.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you do use each type of written documentation?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Which is more popular and why?</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Answer questions in the slide.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200" kern="1200" dirty="0" smtClean="0">
                <a:solidFill>
                  <a:schemeClr val="tx1"/>
                </a:solidFill>
                <a:ea typeface="+mn-ea"/>
                <a:cs typeface="+mn-cs"/>
              </a:rPr>
              <a:t>Reservations – including booking information, special requests, receipts and confirmation to customers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Menus – including specials of the day, menus for specific groups, drink lists and menus in different languages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Banquets – menus, schedule of events, invitations, enquiry letters, invoices, name cards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Conferences – schedule of events, enquiry letters, confirmation letters, secretarial services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Financial documents – daily checklists, sales sheets, register dockets, reconciliation sheets, breakage sheets, ‘comp’ (complimentary) sheets, forecasts and budgets.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Review documentation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distribute different types of written documentation used in the F&amp;B Department.</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Front Office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Activity Sheets – arrivals and departure sheets and VIP Lists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Registration Cards – for completion and signature by customers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Guest Accounts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Customer Surveys and complaint forms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Currency exchange documents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Payment forms, vouchers, letters and receipts.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Review documentation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distribute different types of written documentation used in the Front Office department.</a:t>
            </a:r>
          </a:p>
          <a:p>
            <a:pPr>
              <a:buFont typeface="Arial" pitchFamily="34" charset="0"/>
              <a:buChar char="•"/>
            </a:pPr>
            <a:endParaRPr lang="en-US" sz="1200" kern="1200" dirty="0" smtClean="0">
              <a:solidFill>
                <a:schemeClr val="tx1"/>
              </a:solidFill>
              <a:ea typeface="+mn-ea"/>
              <a:cs typeface="+mn-cs"/>
            </a:endParaRPr>
          </a:p>
          <a:p>
            <a:pPr>
              <a:buFont typeface="Arial" pitchFamily="34" charset="0"/>
              <a:buChar char="•"/>
            </a:pPr>
            <a:endParaRPr lang="en-AU" sz="1200" kern="1200" dirty="0" smtClean="0">
              <a:solidFill>
                <a:schemeClr val="tx1"/>
              </a:solidFill>
              <a:ea typeface="+mn-ea"/>
              <a:cs typeface="+mn-cs"/>
            </a:endParaRP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How are team roles decided?</a:t>
            </a:r>
          </a:p>
          <a:p>
            <a:pPr>
              <a:buFont typeface="Arial" pitchFamily="34" charset="0"/>
              <a:buChar char="•"/>
            </a:pPr>
            <a:r>
              <a:rPr lang="en-AU" sz="1200" kern="1200" baseline="0" dirty="0" smtClean="0">
                <a:solidFill>
                  <a:schemeClr val="tx1"/>
                </a:solidFill>
                <a:ea typeface="+mn-ea"/>
                <a:cs typeface="+mn-cs"/>
              </a:rPr>
              <a:t>How are individual roles and responsibilities decided?</a:t>
            </a:r>
          </a:p>
          <a:p>
            <a:pPr>
              <a:buFont typeface="Arial" pitchFamily="34" charset="0"/>
              <a:buChar char="•"/>
            </a:pPr>
            <a:r>
              <a:rPr lang="en-AU" sz="1200" kern="1200" baseline="0" dirty="0" smtClean="0">
                <a:solidFill>
                  <a:schemeClr val="tx1"/>
                </a:solidFill>
                <a:ea typeface="+mn-ea"/>
                <a:cs typeface="+mn-cs"/>
              </a:rPr>
              <a:t>How can a team work effectively and efficiently together?</a:t>
            </a: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 &amp; Group Activity</a:t>
            </a:r>
          </a:p>
          <a:p>
            <a:pPr>
              <a:buFont typeface="Arial" pitchFamily="34" charset="0"/>
              <a:buNone/>
            </a:pPr>
            <a:endParaRPr lang="en-US"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How are team members normally</a:t>
            </a:r>
            <a:r>
              <a:rPr lang="en-US" sz="1200" kern="1200" baseline="0" dirty="0" smtClean="0">
                <a:solidFill>
                  <a:schemeClr val="tx1"/>
                </a:solidFill>
                <a:ea typeface="+mn-ea"/>
                <a:cs typeface="+mn-cs"/>
              </a:rPr>
              <a:t> selected?</a:t>
            </a:r>
          </a:p>
          <a:p>
            <a:pPr>
              <a:buFont typeface="Arial" pitchFamily="34" charset="0"/>
              <a:buChar char="•"/>
            </a:pPr>
            <a:r>
              <a:rPr lang="en-US" sz="1200" kern="1200" baseline="0" dirty="0" smtClean="0">
                <a:solidFill>
                  <a:schemeClr val="tx1"/>
                </a:solidFill>
                <a:ea typeface="+mn-ea"/>
                <a:cs typeface="+mn-cs"/>
              </a:rPr>
              <a:t>What is the benefit of having people with different strengths and weaknesses?</a:t>
            </a:r>
          </a:p>
          <a:p>
            <a:pPr>
              <a:buFont typeface="Arial" pitchFamily="34" charset="0"/>
              <a:buChar char="•"/>
            </a:pPr>
            <a:endParaRPr lang="en-US" sz="1200" kern="1200" baseline="0" dirty="0" smtClean="0">
              <a:solidFill>
                <a:schemeClr val="tx1"/>
              </a:solidFill>
              <a:ea typeface="+mn-ea"/>
              <a:cs typeface="+mn-cs"/>
            </a:endParaRPr>
          </a:p>
          <a:p>
            <a:pPr>
              <a:buFont typeface="Arial" pitchFamily="34" charset="0"/>
              <a:buChar char="•"/>
            </a:pPr>
            <a:r>
              <a:rPr lang="en-US" sz="1200" kern="1200" baseline="0" dirty="0" smtClean="0">
                <a:solidFill>
                  <a:schemeClr val="tx1"/>
                </a:solidFill>
                <a:ea typeface="+mn-ea"/>
                <a:cs typeface="+mn-cs"/>
              </a:rPr>
              <a:t>Group to undertake a ‘get to know each other’ game. This is designed to identify strengths of people in a group, which they may not have previously known.</a:t>
            </a:r>
          </a:p>
          <a:p>
            <a:pPr>
              <a:buFont typeface="Arial" pitchFamily="34" charset="0"/>
              <a:buChar char="•"/>
            </a:pPr>
            <a:r>
              <a:rPr lang="en-US" sz="1200" kern="1200" baseline="0" dirty="0" smtClean="0">
                <a:solidFill>
                  <a:schemeClr val="tx1"/>
                </a:solidFill>
                <a:ea typeface="+mn-ea"/>
                <a:cs typeface="+mn-cs"/>
              </a:rPr>
              <a:t>Get each member to right three things about themselves they are good </a:t>
            </a:r>
            <a:r>
              <a:rPr lang="en-US" sz="1200" kern="1200" baseline="0" dirty="0" err="1" smtClean="0">
                <a:solidFill>
                  <a:schemeClr val="tx1"/>
                </a:solidFill>
                <a:ea typeface="+mn-ea"/>
                <a:cs typeface="+mn-cs"/>
              </a:rPr>
              <a:t>atr</a:t>
            </a:r>
            <a:r>
              <a:rPr lang="en-US" sz="1200" kern="1200" baseline="0" dirty="0" smtClean="0">
                <a:solidFill>
                  <a:schemeClr val="tx1"/>
                </a:solidFill>
                <a:ea typeface="+mn-ea"/>
                <a:cs typeface="+mn-cs"/>
              </a:rPr>
              <a:t> and place in a hat.</a:t>
            </a:r>
          </a:p>
          <a:p>
            <a:pPr>
              <a:buFont typeface="Arial" pitchFamily="34" charset="0"/>
              <a:buChar char="•"/>
            </a:pPr>
            <a:r>
              <a:rPr lang="en-US" sz="1200" kern="1200" baseline="0" dirty="0" smtClean="0">
                <a:solidFill>
                  <a:schemeClr val="tx1"/>
                </a:solidFill>
                <a:ea typeface="+mn-ea"/>
                <a:cs typeface="+mn-cs"/>
              </a:rPr>
              <a:t>Trainer to pull out and read.</a:t>
            </a:r>
          </a:p>
          <a:p>
            <a:pPr>
              <a:buFont typeface="Arial" pitchFamily="34" charset="0"/>
              <a:buChar char="•"/>
            </a:pPr>
            <a:r>
              <a:rPr lang="en-US" sz="1200" kern="1200" baseline="0" dirty="0" smtClean="0">
                <a:solidFill>
                  <a:schemeClr val="tx1"/>
                </a:solidFill>
                <a:ea typeface="+mn-ea"/>
                <a:cs typeface="+mn-cs"/>
              </a:rPr>
              <a:t>Group must try to identify the person.</a:t>
            </a:r>
            <a:endParaRPr lang="en-US" sz="1200" kern="1200" dirty="0" smtClean="0">
              <a:solidFill>
                <a:schemeClr val="tx1"/>
              </a:solidFill>
              <a:ea typeface="+mn-ea"/>
              <a:cs typeface="+mn-cs"/>
            </a:endParaRPr>
          </a:p>
          <a:p>
            <a:pPr>
              <a:buFont typeface="Arial" pitchFamily="34" charset="0"/>
              <a:buChar char="•"/>
            </a:pPr>
            <a:endParaRPr lang="en-AU" sz="1200" kern="1200" dirty="0" smtClean="0">
              <a:solidFill>
                <a:schemeClr val="tx1"/>
              </a:solidFill>
              <a:ea typeface="+mn-ea"/>
              <a:cs typeface="+mn-cs"/>
            </a:endParaRP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 about the benefits</a:t>
            </a:r>
            <a:r>
              <a:rPr lang="en-US" sz="1200" b="1" kern="1200" baseline="0" dirty="0" smtClean="0">
                <a:solidFill>
                  <a:schemeClr val="tx1"/>
                </a:solidFill>
                <a:ea typeface="+mn-ea"/>
                <a:cs typeface="+mn-cs"/>
              </a:rPr>
              <a:t> of group decision making</a:t>
            </a:r>
            <a:endParaRPr lang="en-US" sz="1200" b="1" kern="1200" dirty="0" smtClean="0">
              <a:solidFill>
                <a:schemeClr val="tx1"/>
              </a:solidFill>
              <a:ea typeface="+mn-ea"/>
              <a:cs typeface="+mn-cs"/>
            </a:endParaRPr>
          </a:p>
          <a:p>
            <a:pPr>
              <a:buFont typeface="Arial" pitchFamily="34" charset="0"/>
              <a:buNone/>
            </a:pPr>
            <a:endParaRPr lang="en-US" sz="1200" kern="1200" dirty="0" smtClean="0">
              <a:solidFill>
                <a:schemeClr val="tx1"/>
              </a:solidFill>
              <a:ea typeface="+mn-ea"/>
              <a:cs typeface="+mn-cs"/>
            </a:endParaRPr>
          </a:p>
          <a:p>
            <a:pPr>
              <a:buFont typeface="Arial" pitchFamily="34" charset="0"/>
              <a:buChar char="•"/>
            </a:pPr>
            <a:r>
              <a:rPr lang="en-AU" sz="1200" dirty="0" smtClean="0"/>
              <a:t>A more effective, operational team</a:t>
            </a:r>
          </a:p>
          <a:p>
            <a:pPr>
              <a:buFont typeface="Arial" pitchFamily="34" charset="0"/>
              <a:buChar char="•"/>
            </a:pPr>
            <a:r>
              <a:rPr lang="en-AU" sz="1200" dirty="0" smtClean="0"/>
              <a:t>A department where nothing is too much trouble – whether or not it is a customer or management who makes the request</a:t>
            </a:r>
          </a:p>
          <a:p>
            <a:pPr>
              <a:buFont typeface="Arial" pitchFamily="34" charset="0"/>
              <a:buChar char="•"/>
            </a:pPr>
            <a:r>
              <a:rPr lang="en-AU" sz="1200" dirty="0" smtClean="0"/>
              <a:t>More harmony and fewer disputes amongst staff</a:t>
            </a:r>
          </a:p>
          <a:p>
            <a:pPr>
              <a:buFont typeface="Arial" pitchFamily="34" charset="0"/>
              <a:buChar char="•"/>
            </a:pPr>
            <a:r>
              <a:rPr lang="en-AU" sz="1200" dirty="0" smtClean="0"/>
              <a:t>A far better working environment where you will be inclined to take less time off, and where you will actually look forward to going to work</a:t>
            </a:r>
          </a:p>
          <a:p>
            <a:pPr>
              <a:buFont typeface="Arial" pitchFamily="34" charset="0"/>
              <a:buChar char="•"/>
            </a:pPr>
            <a:r>
              <a:rPr lang="en-AU" sz="1200" dirty="0" smtClean="0"/>
              <a:t>Less clock watching, and more pats on the back – from management and patrons</a:t>
            </a:r>
          </a:p>
          <a:p>
            <a:pPr>
              <a:buFont typeface="Arial" pitchFamily="34" charset="0"/>
              <a:buChar char="•"/>
            </a:pPr>
            <a:r>
              <a:rPr lang="en-AU" sz="1200" dirty="0" smtClean="0"/>
              <a:t> More innovative and creative ideas – a situation will emerge where you are encouraged to try out new(but nonetheless intelligent ideas and concepts </a:t>
            </a:r>
          </a:p>
          <a:p>
            <a:pPr>
              <a:buFont typeface="Arial" pitchFamily="34" charset="0"/>
              <a:buChar char="•"/>
            </a:pPr>
            <a:r>
              <a:rPr lang="en-AU" sz="1200" dirty="0" smtClean="0"/>
              <a:t>More learning – not just about the establishment and the industry, but also about co-workers, group dynamics and interpersonal relationships</a:t>
            </a:r>
          </a:p>
          <a:p>
            <a:pPr>
              <a:buFont typeface="Arial" pitchFamily="34" charset="0"/>
              <a:buChar char="•"/>
            </a:pPr>
            <a:r>
              <a:rPr lang="en-AU" sz="1200" dirty="0" smtClean="0"/>
              <a:t>Higher levels of achievement than anyone thought possible – the power of ten people is far greater than 10 individuals, and there is also the momentum and power that a group decision brings with it.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a:t>
            </a:r>
          </a:p>
          <a:p>
            <a:pPr>
              <a:buFont typeface="Arial" pitchFamily="34" charset="0"/>
              <a:buNone/>
            </a:pPr>
            <a:endParaRPr lang="en-US" sz="1200" kern="1200" dirty="0" smtClean="0">
              <a:solidFill>
                <a:schemeClr val="tx1"/>
              </a:solidFill>
              <a:ea typeface="+mn-ea"/>
              <a:cs typeface="+mn-cs"/>
            </a:endParaRPr>
          </a:p>
          <a:p>
            <a:pPr>
              <a:buFont typeface="Arial" pitchFamily="34" charset="0"/>
              <a:buChar char="•"/>
            </a:pPr>
            <a:r>
              <a:rPr lang="en-AU" sz="1200" dirty="0" smtClean="0"/>
              <a:t>How can you make individuals more accepting</a:t>
            </a:r>
            <a:r>
              <a:rPr lang="en-AU" sz="1200" baseline="0" dirty="0" smtClean="0"/>
              <a:t> and excited about their job and the roles and responsibilities they have?</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 about how</a:t>
            </a:r>
            <a:r>
              <a:rPr lang="en-US" sz="1200" b="1" kern="1200" baseline="0" dirty="0" smtClean="0">
                <a:solidFill>
                  <a:schemeClr val="tx1"/>
                </a:solidFill>
                <a:ea typeface="+mn-ea"/>
                <a:cs typeface="+mn-cs"/>
              </a:rPr>
              <a:t> to identify individual job roles and responsibilities</a:t>
            </a:r>
          </a:p>
          <a:p>
            <a:pPr>
              <a:buFont typeface="Arial" pitchFamily="34" charset="0"/>
              <a:buNone/>
            </a:pPr>
            <a:endParaRPr lang="en-US" sz="1200" b="1" kern="1200" baseline="0" dirty="0" smtClean="0">
              <a:solidFill>
                <a:schemeClr val="tx1"/>
              </a:solidFill>
              <a:ea typeface="+mn-ea"/>
              <a:cs typeface="+mn-cs"/>
            </a:endParaRPr>
          </a:p>
          <a:p>
            <a:pPr>
              <a:buFont typeface="Arial" pitchFamily="34" charset="0"/>
              <a:buNone/>
            </a:pPr>
            <a:r>
              <a:rPr lang="en-US" sz="1200" b="1" kern="1200" baseline="0" dirty="0" smtClean="0">
                <a:solidFill>
                  <a:schemeClr val="tx1"/>
                </a:solidFill>
                <a:ea typeface="+mn-ea"/>
                <a:cs typeface="+mn-cs"/>
              </a:rPr>
              <a:t>Trainer to provide examples of these documents for audience to review</a:t>
            </a:r>
            <a:endParaRPr lang="en-US" sz="1200" b="1" kern="1200" dirty="0" smtClean="0">
              <a:solidFill>
                <a:schemeClr val="tx1"/>
              </a:solidFill>
              <a:ea typeface="+mn-ea"/>
              <a:cs typeface="+mn-cs"/>
            </a:endParaRPr>
          </a:p>
          <a:p>
            <a:pPr>
              <a:buFont typeface="Arial" pitchFamily="34" charset="0"/>
              <a:buNone/>
            </a:pPr>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Organisational hierarchies – each organisation will have established work groups, each with their own positions</a:t>
            </a:r>
          </a:p>
          <a:p>
            <a:pPr lvl="0">
              <a:buFont typeface="Arial" pitchFamily="34" charset="0"/>
              <a:buChar char="•"/>
            </a:pPr>
            <a:r>
              <a:rPr lang="en-AU" sz="1200" kern="1200" dirty="0" smtClean="0">
                <a:solidFill>
                  <a:schemeClr val="tx1"/>
                </a:solidFill>
                <a:ea typeface="+mn-ea"/>
                <a:cs typeface="+mn-cs"/>
              </a:rPr>
              <a:t>Contract – outlines your job including any responsibilities and conditions of employment</a:t>
            </a:r>
          </a:p>
          <a:p>
            <a:pPr lvl="0">
              <a:buFont typeface="Arial" pitchFamily="34" charset="0"/>
              <a:buChar char="•"/>
            </a:pPr>
            <a:r>
              <a:rPr lang="en-AU" sz="1200" kern="1200" dirty="0" smtClean="0">
                <a:solidFill>
                  <a:schemeClr val="tx1"/>
                </a:solidFill>
                <a:ea typeface="+mn-ea"/>
                <a:cs typeface="+mn-cs"/>
              </a:rPr>
              <a:t>Job Description –most jobs will have a separate job description that will identify the activities that you need to perform as part of your role</a:t>
            </a:r>
          </a:p>
          <a:p>
            <a:pPr lvl="0">
              <a:buFont typeface="Arial" pitchFamily="34" charset="0"/>
              <a:buChar char="•"/>
            </a:pPr>
            <a:r>
              <a:rPr lang="en-AU" sz="1200" kern="1200" dirty="0" smtClean="0">
                <a:solidFill>
                  <a:schemeClr val="tx1"/>
                </a:solidFill>
                <a:ea typeface="+mn-ea"/>
                <a:cs typeface="+mn-cs"/>
              </a:rPr>
              <a:t>Standard Operating Procedures (SOP) – standard instructions indicating how to perform specific tasks and the order of sequence</a:t>
            </a:r>
          </a:p>
          <a:p>
            <a:pPr lvl="0">
              <a:buFont typeface="Arial" pitchFamily="34" charset="0"/>
              <a:buChar char="•"/>
            </a:pPr>
            <a:r>
              <a:rPr lang="en-AU" sz="1200" kern="1200" dirty="0" smtClean="0">
                <a:solidFill>
                  <a:schemeClr val="tx1"/>
                </a:solidFill>
                <a:ea typeface="+mn-ea"/>
                <a:cs typeface="+mn-cs"/>
              </a:rPr>
              <a:t>Policies – rules to follow in an organisation relating to difference circumstances.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 about how</a:t>
            </a:r>
            <a:r>
              <a:rPr lang="en-US" sz="1200" b="1" kern="1200" baseline="0" dirty="0" smtClean="0">
                <a:solidFill>
                  <a:schemeClr val="tx1"/>
                </a:solidFill>
                <a:ea typeface="+mn-ea"/>
                <a:cs typeface="+mn-cs"/>
              </a:rPr>
              <a:t> to identify individual job roles and responsibilities</a:t>
            </a:r>
          </a:p>
          <a:p>
            <a:pPr>
              <a:buFont typeface="Arial" pitchFamily="34" charset="0"/>
              <a:buNone/>
            </a:pPr>
            <a:endParaRPr lang="en-US" sz="1200" b="1" kern="1200" baseline="0" dirty="0" smtClean="0">
              <a:solidFill>
                <a:schemeClr val="tx1"/>
              </a:solidFill>
              <a:ea typeface="+mn-ea"/>
              <a:cs typeface="+mn-cs"/>
            </a:endParaRPr>
          </a:p>
          <a:p>
            <a:pPr>
              <a:buFont typeface="Arial" pitchFamily="34" charset="0"/>
              <a:buNone/>
            </a:pPr>
            <a:r>
              <a:rPr lang="en-US" sz="1200" b="1" kern="1200" baseline="0" dirty="0" smtClean="0">
                <a:solidFill>
                  <a:schemeClr val="tx1"/>
                </a:solidFill>
                <a:ea typeface="+mn-ea"/>
                <a:cs typeface="+mn-cs"/>
              </a:rPr>
              <a:t>Trainer to provide examples of these documents for audience to review</a:t>
            </a:r>
            <a:endParaRPr lang="en-US" sz="1200" b="1" kern="1200" dirty="0" smtClean="0">
              <a:solidFill>
                <a:schemeClr val="tx1"/>
              </a:solidFill>
              <a:ea typeface="+mn-ea"/>
              <a:cs typeface="+mn-cs"/>
            </a:endParaRPr>
          </a:p>
          <a:p>
            <a:pPr>
              <a:buFont typeface="Arial" pitchFamily="34" charset="0"/>
              <a:buNone/>
            </a:pPr>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Procedures – step by step instruction detailing how to complete an activity</a:t>
            </a:r>
          </a:p>
          <a:p>
            <a:pPr lvl="0">
              <a:buFont typeface="Arial" pitchFamily="34" charset="0"/>
              <a:buChar char="•"/>
            </a:pPr>
            <a:r>
              <a:rPr lang="en-AU" sz="1200" kern="1200" dirty="0" smtClean="0">
                <a:solidFill>
                  <a:schemeClr val="tx1"/>
                </a:solidFill>
                <a:ea typeface="+mn-ea"/>
                <a:cs typeface="+mn-cs"/>
              </a:rPr>
              <a:t>Daily Task Sheets – these may allocate specific tasks to perform that may relate to a specific activity or event</a:t>
            </a:r>
          </a:p>
          <a:p>
            <a:pPr lvl="0">
              <a:buFont typeface="Arial" pitchFamily="34" charset="0"/>
              <a:buChar char="•"/>
            </a:pPr>
            <a:r>
              <a:rPr lang="en-AU" sz="1200" kern="1200" dirty="0" smtClean="0">
                <a:solidFill>
                  <a:schemeClr val="tx1"/>
                </a:solidFill>
                <a:ea typeface="+mn-ea"/>
                <a:cs typeface="+mn-cs"/>
              </a:rPr>
              <a:t>Direct requests – by management, colleagues or customers</a:t>
            </a:r>
          </a:p>
          <a:p>
            <a:pPr lvl="0">
              <a:buFont typeface="Arial" pitchFamily="34" charset="0"/>
              <a:buChar char="•"/>
            </a:pPr>
            <a:r>
              <a:rPr lang="en-AU" sz="1200" kern="1200" dirty="0" smtClean="0">
                <a:solidFill>
                  <a:schemeClr val="tx1"/>
                </a:solidFill>
                <a:ea typeface="+mn-ea"/>
                <a:cs typeface="+mn-cs"/>
              </a:rPr>
              <a:t>Observation – quite often you will have feeling when a certain task will need to take precedence over others. This is intuition.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 </a:t>
            </a:r>
            <a:r>
              <a:rPr lang="en-AU" sz="1200" b="1" kern="1200" dirty="0" smtClean="0">
                <a:solidFill>
                  <a:schemeClr val="tx1"/>
                </a:solidFill>
                <a:ea typeface="+mn-ea"/>
                <a:cs typeface="+mn-cs"/>
              </a:rPr>
              <a:t>the benefits</a:t>
            </a:r>
            <a:r>
              <a:rPr lang="en-AU" sz="1200" b="1" kern="1200" baseline="0" dirty="0" smtClean="0">
                <a:solidFill>
                  <a:schemeClr val="tx1"/>
                </a:solidFill>
                <a:ea typeface="+mn-ea"/>
                <a:cs typeface="+mn-cs"/>
              </a:rPr>
              <a:t> and input others can provide when identifying roles and responsibilities</a:t>
            </a:r>
            <a:endParaRPr lang="en-AU" sz="1200" b="1" kern="1200" dirty="0" smtClean="0">
              <a:solidFill>
                <a:schemeClr val="tx1"/>
              </a:solidFill>
              <a:ea typeface="+mn-ea"/>
              <a:cs typeface="+mn-cs"/>
            </a:endParaRPr>
          </a:p>
          <a:p>
            <a:pPr>
              <a:buFont typeface="Arial" pitchFamily="34" charset="0"/>
              <a:buNone/>
            </a:pPr>
            <a:endParaRPr lang="en-AU" sz="1200" b="1" kern="1200" dirty="0" smtClean="0">
              <a:solidFill>
                <a:schemeClr val="tx1"/>
              </a:solidFill>
              <a:ea typeface="+mn-ea"/>
              <a:cs typeface="+mn-cs"/>
            </a:endParaRPr>
          </a:p>
          <a:p>
            <a:pPr>
              <a:buFont typeface="Arial" pitchFamily="34" charset="0"/>
              <a:buChar char="•"/>
            </a:pPr>
            <a:r>
              <a:rPr lang="en-AU" sz="1200" dirty="0" smtClean="0"/>
              <a:t>Management, supervisors or business owners – who can supply input regarding staffing levels, priorities, immediate workplace need etc </a:t>
            </a:r>
          </a:p>
          <a:p>
            <a:pPr>
              <a:buFont typeface="Arial" pitchFamily="34" charset="0"/>
              <a:buChar char="•"/>
            </a:pPr>
            <a:r>
              <a:rPr lang="en-AU" sz="1200" dirty="0" smtClean="0"/>
              <a:t>People from other departments with which you have contact – these people may be management level or they may be operational staff/workers</a:t>
            </a:r>
          </a:p>
          <a:p>
            <a:pPr>
              <a:buFont typeface="Arial" pitchFamily="34" charset="0"/>
              <a:buChar char="•"/>
            </a:pPr>
            <a:r>
              <a:rPr lang="en-AU" sz="1200" dirty="0" smtClean="0"/>
              <a:t>Customers – who may be in the workplace and who have made special requests etc for the upcoming work period</a:t>
            </a:r>
          </a:p>
          <a:p>
            <a:pPr>
              <a:buFont typeface="Arial" pitchFamily="34" charset="0"/>
              <a:buChar char="•"/>
            </a:pPr>
            <a:r>
              <a:rPr lang="en-AU" sz="1200" dirty="0" smtClean="0"/>
              <a:t>Administration staff – who may provide details regarding bookings/reservations or details of other work tasks from other areas that need to be integrated into the work of your team. Administration staff may also provide necessary resources or authorisations to enable the work to be done.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a:t>
            </a:r>
          </a:p>
          <a:p>
            <a:pPr>
              <a:buFont typeface="Arial" pitchFamily="34" charset="0"/>
              <a:buNone/>
            </a:pPr>
            <a:endParaRPr lang="en-US"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Why is it important to complete tasks?</a:t>
            </a:r>
          </a:p>
          <a:p>
            <a:pPr>
              <a:buFont typeface="Arial" pitchFamily="34" charset="0"/>
              <a:buChar char="•"/>
            </a:pPr>
            <a:r>
              <a:rPr lang="en-US" sz="1200" b="0" kern="1200" dirty="0" smtClean="0">
                <a:solidFill>
                  <a:schemeClr val="tx1"/>
                </a:solidFill>
                <a:ea typeface="+mn-ea"/>
                <a:cs typeface="+mn-cs"/>
              </a:rPr>
              <a:t>How does it affect others if they are not done?</a:t>
            </a:r>
          </a:p>
          <a:p>
            <a:pPr>
              <a:buFont typeface="Arial" pitchFamily="34" charset="0"/>
              <a:buChar char="•"/>
            </a:pPr>
            <a:r>
              <a:rPr lang="en-US" sz="1200" b="0" kern="1200" dirty="0" smtClean="0">
                <a:solidFill>
                  <a:schemeClr val="tx1"/>
                </a:solidFill>
                <a:ea typeface="+mn-ea"/>
                <a:cs typeface="+mn-cs"/>
              </a:rPr>
              <a:t>How can you ensure they are completed</a:t>
            </a:r>
            <a:r>
              <a:rPr lang="en-US" sz="1200" b="0" kern="1200" baseline="0" dirty="0" smtClean="0">
                <a:solidFill>
                  <a:schemeClr val="tx1"/>
                </a:solidFill>
                <a:ea typeface="+mn-ea"/>
                <a:cs typeface="+mn-cs"/>
              </a:rPr>
              <a:t> in a timely manner?</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a:t>
            </a:r>
          </a:p>
          <a:p>
            <a:pPr>
              <a:buFont typeface="Arial" pitchFamily="34" charset="0"/>
              <a:buNone/>
            </a:pPr>
            <a:endParaRPr lang="en-US" sz="1200" b="1" kern="1200" dirty="0" smtClean="0">
              <a:solidFill>
                <a:schemeClr val="tx1"/>
              </a:solidFill>
              <a:ea typeface="+mn-ea"/>
              <a:cs typeface="+mn-cs"/>
            </a:endParaRPr>
          </a:p>
          <a:p>
            <a:pPr>
              <a:buFont typeface="Arial" pitchFamily="34" charset="0"/>
              <a:buChar char="•"/>
            </a:pPr>
            <a:r>
              <a:rPr lang="en-US" sz="1200" b="0" kern="1200" dirty="0" smtClean="0">
                <a:solidFill>
                  <a:schemeClr val="tx1"/>
                </a:solidFill>
                <a:ea typeface="+mn-ea"/>
                <a:cs typeface="+mn-cs"/>
              </a:rPr>
              <a:t>Discuss these assignment instructions?</a:t>
            </a:r>
          </a:p>
          <a:p>
            <a:pPr>
              <a:buFont typeface="Arial" pitchFamily="34" charset="0"/>
              <a:buChar char="•"/>
            </a:pPr>
            <a:r>
              <a:rPr lang="en-US" sz="1200" b="0" kern="1200" dirty="0" smtClean="0">
                <a:solidFill>
                  <a:schemeClr val="tx1"/>
                </a:solidFill>
                <a:ea typeface="+mn-ea"/>
                <a:cs typeface="+mn-cs"/>
              </a:rPr>
              <a:t>What other ones are common?</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ea typeface="+mn-ea"/>
                <a:cs typeface="+mn-cs"/>
              </a:rPr>
              <a:t>Discussion about complying with legal</a:t>
            </a:r>
            <a:r>
              <a:rPr lang="en-US" sz="1200" b="1" kern="1200" baseline="0" dirty="0" smtClean="0">
                <a:solidFill>
                  <a:schemeClr val="tx1"/>
                </a:solidFill>
                <a:ea typeface="+mn-ea"/>
                <a:cs typeface="+mn-cs"/>
              </a:rPr>
              <a:t> requirements</a:t>
            </a:r>
          </a:p>
          <a:p>
            <a:pPr>
              <a:buFont typeface="Arial" pitchFamily="34" charset="0"/>
              <a:buNone/>
            </a:pPr>
            <a:endParaRPr lang="en-US" sz="1200" b="1" kern="1200" baseline="0" dirty="0" smtClean="0">
              <a:solidFill>
                <a:schemeClr val="tx1"/>
              </a:solidFill>
              <a:ea typeface="+mn-ea"/>
              <a:cs typeface="+mn-cs"/>
            </a:endParaRPr>
          </a:p>
          <a:p>
            <a:pPr>
              <a:buFont typeface="Arial" pitchFamily="34" charset="0"/>
              <a:buChar char="•"/>
            </a:pPr>
            <a:r>
              <a:rPr lang="en-US" sz="1200" b="0" kern="1200" baseline="0" dirty="0" smtClean="0">
                <a:solidFill>
                  <a:schemeClr val="tx1"/>
                </a:solidFill>
                <a:ea typeface="+mn-ea"/>
                <a:cs typeface="+mn-cs"/>
              </a:rPr>
              <a:t>Discuss the importance of these legal requirements?</a:t>
            </a:r>
          </a:p>
          <a:p>
            <a:pPr>
              <a:buFont typeface="Arial" pitchFamily="34" charset="0"/>
              <a:buChar char="•"/>
            </a:pPr>
            <a:r>
              <a:rPr lang="en-US" sz="1200" b="0" kern="1200" baseline="0" dirty="0" smtClean="0">
                <a:solidFill>
                  <a:schemeClr val="tx1"/>
                </a:solidFill>
                <a:ea typeface="+mn-ea"/>
                <a:cs typeface="+mn-cs"/>
              </a:rPr>
              <a:t>Why is it important that these are followed?</a:t>
            </a:r>
          </a:p>
          <a:p>
            <a:pPr>
              <a:buFont typeface="Arial" pitchFamily="34" charset="0"/>
              <a:buChar char="•"/>
            </a:pPr>
            <a:r>
              <a:rPr lang="en-US" sz="1200" b="0" kern="1200" baseline="0" dirty="0" smtClean="0">
                <a:solidFill>
                  <a:schemeClr val="tx1"/>
                </a:solidFill>
                <a:ea typeface="+mn-ea"/>
                <a:cs typeface="+mn-cs"/>
              </a:rPr>
              <a:t>What are the consequences if they are not followed?</a:t>
            </a:r>
            <a:endParaRPr lang="en-US" sz="1200" b="0" kern="1200" dirty="0" smtClean="0">
              <a:solidFill>
                <a:schemeClr val="tx1"/>
              </a:solidFill>
              <a:ea typeface="+mn-ea"/>
              <a:cs typeface="+mn-cs"/>
            </a:endParaRPr>
          </a:p>
          <a:p>
            <a:pPr>
              <a:buFont typeface="Arial" pitchFamily="34" charset="0"/>
              <a:buNone/>
            </a:pPr>
            <a:endParaRPr lang="en-US" sz="1200" b="1" kern="1200" dirty="0" smtClean="0">
              <a:solidFill>
                <a:schemeClr val="tx1"/>
              </a:solidFill>
              <a:ea typeface="+mn-ea"/>
              <a:cs typeface="+mn-cs"/>
            </a:endParaRPr>
          </a:p>
          <a:p>
            <a:pPr lvl="0"/>
            <a:r>
              <a:rPr lang="en-AU" sz="1200" kern="1200" dirty="0" smtClean="0">
                <a:solidFill>
                  <a:schemeClr val="tx1"/>
                </a:solidFill>
                <a:ea typeface="+mn-ea"/>
                <a:cs typeface="+mn-cs"/>
              </a:rPr>
              <a:t>Occupational Safety and Health</a:t>
            </a:r>
          </a:p>
          <a:p>
            <a:pPr lvl="1">
              <a:buFont typeface="Arial" pitchFamily="34" charset="0"/>
              <a:buChar char="•"/>
            </a:pPr>
            <a:r>
              <a:rPr lang="en-AU" sz="1200" kern="1200" dirty="0" smtClean="0">
                <a:solidFill>
                  <a:schemeClr val="tx1"/>
                </a:solidFill>
                <a:ea typeface="+mn-ea"/>
                <a:cs typeface="+mn-cs"/>
              </a:rPr>
              <a:t>equal employment opportunity</a:t>
            </a:r>
          </a:p>
          <a:p>
            <a:pPr lvl="1">
              <a:buFont typeface="Arial" pitchFamily="34" charset="0"/>
              <a:buChar char="•"/>
            </a:pPr>
            <a:r>
              <a:rPr lang="en-AU" sz="1200" kern="1200" dirty="0" smtClean="0">
                <a:solidFill>
                  <a:schemeClr val="tx1"/>
                </a:solidFill>
                <a:ea typeface="+mn-ea"/>
                <a:cs typeface="+mn-cs"/>
              </a:rPr>
              <a:t>industrial relations</a:t>
            </a:r>
          </a:p>
          <a:p>
            <a:pPr lvl="1">
              <a:buFont typeface="Arial" pitchFamily="34" charset="0"/>
              <a:buChar char="•"/>
            </a:pPr>
            <a:r>
              <a:rPr lang="en-AU" sz="1200" kern="1200" dirty="0" smtClean="0">
                <a:solidFill>
                  <a:schemeClr val="tx1"/>
                </a:solidFill>
                <a:ea typeface="+mn-ea"/>
                <a:cs typeface="+mn-cs"/>
              </a:rPr>
              <a:t>anti-discrimination and diversity</a:t>
            </a:r>
          </a:p>
          <a:p>
            <a:pPr lvl="1">
              <a:buFont typeface="Arial" pitchFamily="34" charset="0"/>
              <a:buChar char="•"/>
            </a:pPr>
            <a:r>
              <a:rPr lang="en-AU" sz="1200" kern="1200" dirty="0" smtClean="0">
                <a:solidFill>
                  <a:schemeClr val="tx1"/>
                </a:solidFill>
                <a:ea typeface="+mn-ea"/>
                <a:cs typeface="+mn-cs"/>
              </a:rPr>
              <a:t>licensing arrangements</a:t>
            </a:r>
          </a:p>
          <a:p>
            <a:pPr lvl="1">
              <a:buFont typeface="Arial" pitchFamily="34" charset="0"/>
              <a:buChar char="•"/>
            </a:pPr>
            <a:r>
              <a:rPr lang="en-AU" sz="1200" kern="1200" dirty="0" smtClean="0">
                <a:solidFill>
                  <a:schemeClr val="tx1"/>
                </a:solidFill>
                <a:ea typeface="+mn-ea"/>
                <a:cs typeface="+mn-cs"/>
              </a:rPr>
              <a:t>trade practices</a:t>
            </a:r>
          </a:p>
          <a:p>
            <a:pPr lvl="1">
              <a:buFont typeface="Arial" pitchFamily="34" charset="0"/>
              <a:buChar char="•"/>
            </a:pPr>
            <a:r>
              <a:rPr lang="en-AU" sz="1200" kern="1200" dirty="0" smtClean="0">
                <a:solidFill>
                  <a:schemeClr val="tx1"/>
                </a:solidFill>
                <a:ea typeface="+mn-ea"/>
                <a:cs typeface="+mn-cs"/>
              </a:rPr>
              <a:t>privacy requirements</a:t>
            </a:r>
          </a:p>
          <a:p>
            <a:pPr lvl="1">
              <a:buFont typeface="Arial" pitchFamily="34" charset="0"/>
              <a:buChar char="•"/>
            </a:pPr>
            <a:r>
              <a:rPr lang="en-AU" sz="1200" kern="1200" dirty="0" smtClean="0">
                <a:solidFill>
                  <a:schemeClr val="tx1"/>
                </a:solidFill>
                <a:ea typeface="+mn-ea"/>
                <a:cs typeface="+mn-cs"/>
              </a:rPr>
              <a:t>confidentiality</a:t>
            </a:r>
          </a:p>
          <a:p>
            <a:pPr lvl="0"/>
            <a:r>
              <a:rPr lang="en-AU" sz="1200" kern="1200" dirty="0" smtClean="0">
                <a:solidFill>
                  <a:schemeClr val="tx1"/>
                </a:solidFill>
                <a:ea typeface="+mn-ea"/>
                <a:cs typeface="+mn-cs"/>
              </a:rPr>
              <a:t>Environmental issues</a:t>
            </a:r>
          </a:p>
          <a:p>
            <a:pPr lvl="0"/>
            <a:r>
              <a:rPr lang="en-AU" sz="1200" kern="1200" dirty="0" smtClean="0">
                <a:solidFill>
                  <a:schemeClr val="tx1"/>
                </a:solidFill>
                <a:ea typeface="+mn-ea"/>
                <a:cs typeface="+mn-cs"/>
              </a:rPr>
              <a:t>Quality assurance and certification requirements</a:t>
            </a:r>
          </a:p>
          <a:p>
            <a:pPr lvl="0"/>
            <a:r>
              <a:rPr lang="en-AU" sz="1200" kern="1200" dirty="0" smtClean="0">
                <a:solidFill>
                  <a:schemeClr val="tx1"/>
                </a:solidFill>
                <a:ea typeface="+mn-ea"/>
                <a:cs typeface="+mn-cs"/>
              </a:rPr>
              <a:t>Relevant industry Codes of Practice </a:t>
            </a:r>
          </a:p>
          <a:p>
            <a:r>
              <a:rPr lang="en-AU" sz="1200" kern="1200" dirty="0" smtClean="0">
                <a:solidFill>
                  <a:schemeClr val="tx1"/>
                </a:solidFill>
                <a:ea typeface="+mn-ea"/>
                <a:cs typeface="+mn-cs"/>
              </a:rPr>
              <a:t>Award and enterprise agreements</a:t>
            </a:r>
            <a:endParaRPr lang="en-AU" sz="14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In</a:t>
            </a:r>
            <a:r>
              <a:rPr lang="en-AU" sz="1200" baseline="0" dirty="0" smtClean="0"/>
              <a:t> your past experience:</a:t>
            </a:r>
          </a:p>
          <a:p>
            <a:pPr>
              <a:buFont typeface="Arial" pitchFamily="34" charset="0"/>
              <a:buChar char="•"/>
            </a:pPr>
            <a:r>
              <a:rPr lang="en-AU" sz="1200" baseline="0" dirty="0" smtClean="0"/>
              <a:t>What work activities to you need to do on a daily basis?</a:t>
            </a:r>
          </a:p>
          <a:p>
            <a:pPr>
              <a:buFont typeface="Arial" pitchFamily="34" charset="0"/>
              <a:buChar char="•"/>
            </a:pPr>
            <a:r>
              <a:rPr lang="en-AU" sz="1200" baseline="0" dirty="0" smtClean="0"/>
              <a:t>How do you prioritise your work activities?</a:t>
            </a:r>
          </a:p>
          <a:p>
            <a:pPr>
              <a:buFont typeface="Arial" pitchFamily="34" charset="0"/>
              <a:buChar char="•"/>
            </a:pPr>
            <a:r>
              <a:rPr lang="en-AU" sz="1200" baseline="0" dirty="0" smtClean="0"/>
              <a:t>Are you good at managing your time?</a:t>
            </a:r>
          </a:p>
          <a:p>
            <a:pPr>
              <a:buFont typeface="Arial" pitchFamily="34" charset="0"/>
              <a:buChar char="•"/>
            </a:pPr>
            <a:r>
              <a:rPr lang="en-AU" sz="1200" baseline="0" dirty="0" smtClean="0"/>
              <a:t>If so, how do you do it?</a:t>
            </a:r>
          </a:p>
          <a:p>
            <a:pPr>
              <a:buFont typeface="Arial" pitchFamily="34" charset="0"/>
              <a:buChar char="•"/>
            </a:pPr>
            <a:r>
              <a:rPr lang="en-AU" sz="1200" baseline="0" dirty="0" smtClean="0"/>
              <a:t>If not, why not and how could you be better are it?</a:t>
            </a:r>
          </a:p>
          <a:p>
            <a:pPr>
              <a:buFont typeface="Arial" pitchFamily="34" charset="0"/>
              <a:buChar char="•"/>
            </a:pPr>
            <a:r>
              <a:rPr lang="en-AU" sz="1200" baseline="0" dirty="0" smtClean="0"/>
              <a:t>Do you procrastinate? Why?</a:t>
            </a:r>
            <a:endParaRPr lang="en-AU" sz="1200" dirty="0" smtClean="0"/>
          </a:p>
          <a:p>
            <a:pPr lvl="0"/>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kern="1200" dirty="0" smtClean="0">
                <a:solidFill>
                  <a:schemeClr val="tx1"/>
                </a:solidFill>
                <a:ea typeface="+mn-ea"/>
                <a:cs typeface="+mn-cs"/>
              </a:rPr>
              <a:t>Tips to make this happen are:</a:t>
            </a:r>
          </a:p>
          <a:p>
            <a:pPr lvl="0"/>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Work quickly – get as much done as fast as possible in keeping with quality, safety, house standards or noise. The point being that you can’t afford to dawdle or waste time</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Practice being interrupted – accept that many of the things you start will not be able to be completed without interruption, so work with that understanding. The fact that you get interrupted demonstrates that there are people there for you to serve. The real worry would be if you had no-one to interrupt you!</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Practice tact and diplomacy – there will be instances where you simply can’t stop what you are doing to do something else, so you must develop a set of responses that lets the customer know you are busy but you will be with them very shortly</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Take a minute to plan and prioritise – too many people just jump in and start their work without planning and without giving their tasks a priority order. A minute spent working out what to do first, second or third, is time well spent as it forces you to identify why tasks have the urgency you allocate to them. It makes you justify to yourself why things should be done in a certain order</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Ask for help where required.</a:t>
            </a: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Char char="•"/>
            </a:pPr>
            <a:r>
              <a:rPr lang="en-AU" sz="1200" dirty="0" smtClean="0"/>
              <a:t>What is the difference</a:t>
            </a:r>
            <a:r>
              <a:rPr lang="en-AU" sz="1200" baseline="0" dirty="0" smtClean="0"/>
              <a:t> between encouragement and motivation?</a:t>
            </a:r>
          </a:p>
          <a:p>
            <a:pPr>
              <a:buFont typeface="Arial" pitchFamily="34" charset="0"/>
              <a:buChar char="•"/>
            </a:pPr>
            <a:r>
              <a:rPr lang="en-AU" sz="1200" baseline="0" dirty="0" smtClean="0"/>
              <a:t>How can you encourage someone? Who normally does this?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aseline="0" dirty="0" smtClean="0"/>
              <a:t>How can you motivate someone? Who normally does this?</a:t>
            </a:r>
          </a:p>
          <a:p>
            <a:pPr>
              <a:buFont typeface="Arial" pitchFamily="34" charset="0"/>
              <a:buChar char="•"/>
            </a:pPr>
            <a:endParaRPr lang="en-AU" sz="1200" baseline="0" dirty="0" smtClean="0"/>
          </a:p>
          <a:p>
            <a:pPr>
              <a:buFont typeface="Arial" pitchFamily="34" charset="0"/>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None/>
            </a:pPr>
            <a:r>
              <a:rPr lang="en-AU" sz="1200" dirty="0" smtClean="0"/>
              <a:t>How else can you encourage someone?</a:t>
            </a:r>
            <a:endParaRPr lang="en-AU" sz="1200" baseline="0" dirty="0" smtClean="0"/>
          </a:p>
          <a:p>
            <a:pPr lvl="0">
              <a:buFont typeface="Arial" pitchFamily="34" charset="0"/>
              <a:buChar char="•"/>
            </a:pPr>
            <a:r>
              <a:rPr lang="en-AU" sz="1200" dirty="0" smtClean="0"/>
              <a:t>Show genuine interest – take the time to understand what others are doing. By understanding what they do, you can appreciate the effort they have put in</a:t>
            </a:r>
          </a:p>
          <a:p>
            <a:pPr lvl="0">
              <a:buFont typeface="Arial" pitchFamily="34" charset="0"/>
              <a:buChar char="•"/>
            </a:pPr>
            <a:r>
              <a:rPr lang="en-AU" sz="1200" dirty="0" smtClean="0"/>
              <a:t>Appreciate their efforts – by knowing what people are actually doing, you can provide specific examples of great effort. This is more powerful than general appreciation</a:t>
            </a:r>
          </a:p>
          <a:p>
            <a:pPr lvl="0">
              <a:buFont typeface="Arial" pitchFamily="34" charset="0"/>
              <a:buChar char="•"/>
            </a:pPr>
            <a:r>
              <a:rPr lang="en-AU" sz="1200" dirty="0" smtClean="0"/>
              <a:t>Know the power of encouragement – remember how you felt when someone encouraged you. Reciprocate this action</a:t>
            </a:r>
          </a:p>
          <a:p>
            <a:pPr lvl="0">
              <a:buFont typeface="Arial" pitchFamily="34" charset="0"/>
              <a:buChar char="•"/>
            </a:pPr>
            <a:r>
              <a:rPr lang="en-AU" sz="1200" dirty="0" smtClean="0"/>
              <a:t>Understand what encourages you and others – by understanding what encourages you to perform, it can help gain an insight what might also encourage others</a:t>
            </a:r>
          </a:p>
          <a:p>
            <a:pPr lvl="0">
              <a:buFont typeface="Arial" pitchFamily="34" charset="0"/>
              <a:buChar char="•"/>
            </a:pPr>
            <a:r>
              <a:rPr lang="en-AU" sz="1200" dirty="0" smtClean="0"/>
              <a:t>Appreciate the value in others – everyone has unique qualities. Remind them of their unique characteristics.</a:t>
            </a:r>
          </a:p>
          <a:p>
            <a:pPr>
              <a:buFont typeface="Arial" pitchFamily="34" charset="0"/>
              <a:buChar char="•"/>
            </a:pPr>
            <a:endParaRPr lang="en-AU" sz="1200" baseline="0" dirty="0" smtClean="0"/>
          </a:p>
          <a:p>
            <a:pPr>
              <a:buFont typeface="Arial" pitchFamily="34" charset="0"/>
              <a:buChar cha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None/>
            </a:pPr>
            <a:r>
              <a:rPr lang="en-AU" sz="1200" dirty="0" smtClean="0"/>
              <a:t>How else can you encourage someone?</a:t>
            </a:r>
            <a:endParaRPr lang="en-AU" sz="1200" baseline="0" dirty="0" smtClean="0"/>
          </a:p>
          <a:p>
            <a:pPr lvl="0"/>
            <a:endParaRPr lang="en-AU" sz="1200" dirty="0" smtClean="0"/>
          </a:p>
          <a:p>
            <a:pPr lvl="0">
              <a:buFont typeface="Arial" pitchFamily="34" charset="0"/>
              <a:buChar char="•"/>
            </a:pPr>
            <a:r>
              <a:rPr lang="en-AU" sz="1200" dirty="0" smtClean="0"/>
              <a:t>Share encouraging and positive thoughts – when you feel encouraged or have something positive to contribute, share it. Positivity is just as infectious and powerful as negativity</a:t>
            </a:r>
          </a:p>
          <a:p>
            <a:pPr lvl="0">
              <a:buFont typeface="Arial" pitchFamily="34" charset="0"/>
              <a:buChar char="•"/>
            </a:pPr>
            <a:r>
              <a:rPr lang="en-AU" sz="1200" dirty="0" smtClean="0"/>
              <a:t>Think of the end in mind – keep reminding yourself and others, that ‘every cloud has a silver lining’. If things are tough, whether professionally or personally, keep the end in mind and keep reminding yourself and others the hard times will pass</a:t>
            </a:r>
          </a:p>
          <a:p>
            <a:pPr lvl="0">
              <a:buFont typeface="Arial" pitchFamily="34" charset="0"/>
              <a:buChar char="•"/>
            </a:pPr>
            <a:r>
              <a:rPr lang="en-AU" sz="1200" dirty="0" smtClean="0"/>
              <a:t>‘No pain, no gain’ – like with all great rewards, you first have to go through an element of hardship</a:t>
            </a:r>
          </a:p>
          <a:p>
            <a:pPr lvl="0">
              <a:buFont typeface="Arial" pitchFamily="34" charset="0"/>
              <a:buChar char="•"/>
            </a:pPr>
            <a:r>
              <a:rPr lang="en-AU" sz="1200" dirty="0" smtClean="0"/>
              <a:t>You are in this together – remember you are a team. What one person feels, others feel. What one person is doing, others are also doing. Help each other. No-one is alone</a:t>
            </a:r>
          </a:p>
          <a:p>
            <a:pPr lvl="0">
              <a:buFont typeface="Arial" pitchFamily="34" charset="0"/>
              <a:buChar char="•"/>
            </a:pPr>
            <a:r>
              <a:rPr lang="en-AU" sz="1200" dirty="0" smtClean="0"/>
              <a:t>Tell them how they have encouraged you – if someone needs encouragement, you may like to remind them of a time when they encouraged you. </a:t>
            </a:r>
          </a:p>
          <a:p>
            <a:pPr>
              <a:buFont typeface="Arial" pitchFamily="34" charset="0"/>
              <a:buChar char="•"/>
            </a:pPr>
            <a:endParaRPr lang="en-AU" sz="1200" baseline="0" dirty="0" smtClean="0"/>
          </a:p>
          <a:p>
            <a:pPr>
              <a:buFont typeface="Arial" pitchFamily="34" charset="0"/>
              <a:buNone/>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None/>
            </a:pPr>
            <a:r>
              <a:rPr lang="en-AU" sz="1200" dirty="0" smtClean="0"/>
              <a:t>How else can you motivate someone?</a:t>
            </a:r>
          </a:p>
          <a:p>
            <a:pPr>
              <a:buFont typeface="Arial" pitchFamily="34" charset="0"/>
              <a:buChar char="•"/>
            </a:pPr>
            <a:endParaRPr lang="en-AU" sz="1200" baseline="0" dirty="0" smtClean="0"/>
          </a:p>
          <a:p>
            <a:pPr lvl="0">
              <a:buFont typeface="Arial" pitchFamily="34" charset="0"/>
              <a:buChar char="•"/>
            </a:pPr>
            <a:r>
              <a:rPr lang="en-AU" sz="1200" dirty="0" smtClean="0"/>
              <a:t>Start by self motivation – in order to motivate others, you firstly must be motivated yourself. Identify what motivates you and then start to consider what will motivate others</a:t>
            </a:r>
          </a:p>
          <a:p>
            <a:pPr lvl="0">
              <a:buFont typeface="Arial" pitchFamily="34" charset="0"/>
              <a:buChar char="•"/>
            </a:pPr>
            <a:r>
              <a:rPr lang="en-AU" sz="1200" dirty="0" smtClean="0"/>
              <a:t>Share information  - get people involved and give them all the facts</a:t>
            </a:r>
          </a:p>
          <a:p>
            <a:pPr lvl="0">
              <a:buFont typeface="Arial" pitchFamily="34" charset="0"/>
              <a:buChar char="•"/>
            </a:pPr>
            <a:r>
              <a:rPr lang="en-AU" sz="1200" dirty="0" smtClean="0"/>
              <a:t>Listen and incorporate ideas – listen to what people have to say. The more ideas the better the chance to find the right one</a:t>
            </a:r>
          </a:p>
          <a:p>
            <a:pPr lvl="0">
              <a:buFont typeface="Arial" pitchFamily="34" charset="0"/>
              <a:buChar char="•"/>
            </a:pPr>
            <a:r>
              <a:rPr lang="en-AU" sz="1200" dirty="0" smtClean="0"/>
              <a:t>Ownership – if people feel like they have some element of control and ownership over a situation, they are more likely to strive to complete a task</a:t>
            </a:r>
          </a:p>
          <a:p>
            <a:pPr lvl="0">
              <a:buFont typeface="Arial" pitchFamily="34" charset="0"/>
              <a:buChar char="•"/>
            </a:pPr>
            <a:r>
              <a:rPr lang="en-AU" sz="1200" dirty="0" smtClean="0"/>
              <a:t>Set mutually agreeable goals – if everyone has a say in what is to be achieved they are more likely to strive towards the accomplishment of it.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None/>
            </a:pPr>
            <a:r>
              <a:rPr lang="en-AU" sz="1200" dirty="0" smtClean="0"/>
              <a:t>How else can you motivate someone?</a:t>
            </a:r>
          </a:p>
          <a:p>
            <a:pPr>
              <a:buFont typeface="Arial" pitchFamily="34" charset="0"/>
              <a:buChar char="•"/>
            </a:pPr>
            <a:endParaRPr lang="en-AU" sz="1200" dirty="0" smtClean="0"/>
          </a:p>
          <a:p>
            <a:pPr lvl="0">
              <a:buFont typeface="Arial" pitchFamily="34" charset="0"/>
              <a:buChar char="•"/>
            </a:pPr>
            <a:r>
              <a:rPr lang="en-AU" sz="1200" dirty="0" smtClean="0"/>
              <a:t>Keep things informal – whilst it is important to retain structure and formality, the more you can give the appearance of informality, the more comfortable people will feel</a:t>
            </a:r>
          </a:p>
          <a:p>
            <a:pPr lvl="0">
              <a:buFont typeface="Arial" pitchFamily="34" charset="0"/>
              <a:buChar char="•"/>
            </a:pPr>
            <a:r>
              <a:rPr lang="en-AU" sz="1200" dirty="0" smtClean="0"/>
              <a:t>Identify achievements – whenever achievements or milestones have been reached, let people know and celebrate success</a:t>
            </a:r>
          </a:p>
          <a:p>
            <a:pPr lvl="0">
              <a:buFont typeface="Arial" pitchFamily="34" charset="0"/>
              <a:buChar char="•"/>
            </a:pPr>
            <a:r>
              <a:rPr lang="en-AU" sz="1200" dirty="0" smtClean="0"/>
              <a:t>Encourage people to try – mistakes will happen. Don’t blame people for mistakes or failures that take place if they have truly tried. You must give people the ability to try new things without fear of punishment if it doesn’t work out</a:t>
            </a:r>
          </a:p>
          <a:p>
            <a:pPr lvl="0">
              <a:buFont typeface="Arial" pitchFamily="34" charset="0"/>
              <a:buChar char="•"/>
            </a:pPr>
            <a:r>
              <a:rPr lang="en-AU" sz="1200" dirty="0" smtClean="0"/>
              <a:t>Be positive – as mentioned before, the more positive you can be, with a focus on successes of individuals or groups, the more positive others will be</a:t>
            </a:r>
          </a:p>
          <a:p>
            <a:pPr>
              <a:buFont typeface="Arial" pitchFamily="34" charset="0"/>
              <a:buChar char="•"/>
            </a:pPr>
            <a:r>
              <a:rPr lang="en-AU" sz="1200" dirty="0" smtClean="0"/>
              <a:t>Listen, respect and support people – this manual is focused on the concept and importance of support. It is a truly powerful tool. If people can work together, great things are possible</a:t>
            </a:r>
          </a:p>
          <a:p>
            <a:pPr>
              <a:buFont typeface="Arial" pitchFamily="34" charset="0"/>
              <a:buChar char="•"/>
            </a:pPr>
            <a:r>
              <a:rPr lang="en-AU" sz="1200" dirty="0" smtClean="0"/>
              <a:t>Have meaningful rewards – it is important that people have something to strive for, some carrot at the end of the stick. Remember people are motivated by different things so it is important to recognise individual and groups needs.</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kern="1200" baseline="0" dirty="0" smtClean="0">
                <a:solidFill>
                  <a:schemeClr val="tx1"/>
                </a:solidFill>
                <a:ea typeface="+mn-ea"/>
                <a:cs typeface="+mn-cs"/>
              </a:rPr>
              <a:t>Discuss the questions in the slide to generate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dirty="0" smtClean="0">
                <a:solidFill>
                  <a:schemeClr val="tx1"/>
                </a:solidFill>
                <a:ea typeface="+mn-ea"/>
                <a:cs typeface="+mn-cs"/>
              </a:rPr>
              <a:t>In Section 2.4 of this manual, different ways assistance and support can be offered or received will be discussed in detail.</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kern="1200" baseline="0" dirty="0" smtClean="0">
                <a:solidFill>
                  <a:schemeClr val="tx1"/>
                </a:solidFill>
                <a:ea typeface="+mn-ea"/>
                <a:cs typeface="+mn-cs"/>
              </a:rPr>
              <a:t>Discuss the questions in the slide.</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 b</a:t>
            </a:r>
            <a:r>
              <a:rPr lang="en-AU" sz="1200" b="1" dirty="0" smtClean="0"/>
              <a:t>asic techniques to monitor performance </a:t>
            </a:r>
            <a:endParaRPr lang="en-AU"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b="0" kern="1200" dirty="0" smtClean="0">
                <a:solidFill>
                  <a:schemeClr val="tx1"/>
                </a:solidFill>
                <a:ea typeface="+mn-ea"/>
                <a:cs typeface="+mn-cs"/>
              </a:rPr>
              <a:t>Visual observation of staff practice – to see if their performance matches the required standards and, if not, to what degree there is a variance </a:t>
            </a:r>
          </a:p>
          <a:p>
            <a:pPr lvl="0">
              <a:buFont typeface="Arial" pitchFamily="34" charset="0"/>
              <a:buChar char="•"/>
            </a:pPr>
            <a:r>
              <a:rPr lang="en-AU" sz="1200" b="0" kern="1200" dirty="0" smtClean="0">
                <a:solidFill>
                  <a:schemeClr val="tx1"/>
                </a:solidFill>
                <a:ea typeface="+mn-ea"/>
                <a:cs typeface="+mn-cs"/>
              </a:rPr>
              <a:t>Analysis of documentation – such as calculating the extent to which targets (materials cost, waste, profit, rooms serviced, labour cost etc.) have been achieved for the period in question </a:t>
            </a:r>
          </a:p>
          <a:p>
            <a:pPr>
              <a:buFont typeface="Arial" pitchFamily="34" charset="0"/>
              <a:buChar char="•"/>
            </a:pPr>
            <a:r>
              <a:rPr lang="en-AU" sz="1200" b="0" kern="1200" dirty="0" smtClean="0">
                <a:solidFill>
                  <a:schemeClr val="tx1"/>
                </a:solidFill>
                <a:ea typeface="+mn-ea"/>
                <a:cs typeface="+mn-cs"/>
              </a:rPr>
              <a:t>Discussions with relevant people – these could be other staff members, other supervisors, customers, trainers, and suppliers. Anyone impacted by the employee whose performance is being monitored are possible ‘relevant people’. </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kern="1200" baseline="0" dirty="0" smtClean="0">
                <a:solidFill>
                  <a:schemeClr val="tx1"/>
                </a:solidFill>
                <a:ea typeface="+mn-ea"/>
                <a:cs typeface="+mn-cs"/>
              </a:rPr>
              <a:t>Discuss the questions in the slide.</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kern="1200" baseline="0" dirty="0" smtClean="0">
                <a:solidFill>
                  <a:schemeClr val="tx1"/>
                </a:solidFill>
                <a:ea typeface="+mn-ea"/>
                <a:cs typeface="+mn-cs"/>
              </a:rPr>
              <a:t>Discuss the questions in the slide.</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activities that are undertaken during a staff briefing / debriefing?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is discussed, shared or issued?</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importance of these meeting topics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often should meetings take place?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are they normally held?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importance of these meeting topics.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importance of small discussions.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When was a time when you provided and received support?</a:t>
            </a: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None/>
            </a:pPr>
            <a:r>
              <a:rPr lang="en-AU" sz="1200" baseline="0" dirty="0" smtClean="0"/>
              <a:t>Which type of support is most common and why?</a:t>
            </a:r>
          </a:p>
          <a:p>
            <a:pPr>
              <a:buFont typeface="Arial" pitchFamily="34" charset="0"/>
              <a:buNone/>
            </a:pPr>
            <a:endParaRPr lang="en-AU" sz="1200" baseline="0" dirty="0" smtClean="0"/>
          </a:p>
          <a:p>
            <a:pPr lvl="0">
              <a:buFont typeface="Arial" pitchFamily="34" charset="0"/>
              <a:buChar char="•"/>
            </a:pPr>
            <a:r>
              <a:rPr lang="en-AU" sz="1200" dirty="0" smtClean="0"/>
              <a:t>Physical support – skill sets and actual physical help whether it be lifting, carrying, pushing or pulling</a:t>
            </a:r>
          </a:p>
          <a:p>
            <a:pPr lvl="0">
              <a:buFont typeface="Arial" pitchFamily="34" charset="0"/>
              <a:buChar char="•"/>
            </a:pPr>
            <a:r>
              <a:rPr lang="en-AU" sz="1200" dirty="0" smtClean="0"/>
              <a:t>Intellectual support – frameworks, documents, files, knowledge and advice </a:t>
            </a:r>
          </a:p>
          <a:p>
            <a:pPr lvl="0">
              <a:buFont typeface="Arial" pitchFamily="34" charset="0"/>
              <a:buChar char="•"/>
            </a:pPr>
            <a:r>
              <a:rPr lang="en-AU" sz="1200" dirty="0" smtClean="0"/>
              <a:t>Financial support – money needed to be able to undertake an activity</a:t>
            </a:r>
          </a:p>
          <a:p>
            <a:pPr lvl="0">
              <a:buFont typeface="Arial" pitchFamily="34" charset="0"/>
              <a:buChar char="•"/>
            </a:pPr>
            <a:r>
              <a:rPr lang="en-AU" sz="1200" dirty="0" smtClean="0"/>
              <a:t>Infrastructural support – physical items including buildings, equipment, furnishing, fittings and fixtures</a:t>
            </a:r>
          </a:p>
          <a:p>
            <a:pPr lvl="0">
              <a:buFont typeface="Arial" pitchFamily="34" charset="0"/>
              <a:buChar char="•"/>
            </a:pPr>
            <a:r>
              <a:rPr lang="en-AU" sz="1200" dirty="0" smtClean="0"/>
              <a:t>Resources support – food, beverages, uniforms, stationary and other supplies</a:t>
            </a:r>
          </a:p>
          <a:p>
            <a:pPr lvl="0">
              <a:buFont typeface="Arial" pitchFamily="34" charset="0"/>
              <a:buChar char="•"/>
            </a:pPr>
            <a:r>
              <a:rPr lang="en-AU" sz="1200" dirty="0" smtClean="0"/>
              <a:t>Mentoring – advice and guidance</a:t>
            </a:r>
          </a:p>
          <a:p>
            <a:pPr>
              <a:buFont typeface="Arial" pitchFamily="34" charset="0"/>
              <a:buChar char="•"/>
            </a:pPr>
            <a:endParaRPr lang="en-AU" sz="1200" baseline="0" dirty="0" smtClean="0"/>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There is no set answer</a:t>
            </a:r>
            <a:r>
              <a:rPr lang="en-AU" sz="1200" baseline="0" dirty="0" smtClean="0"/>
              <a:t> here but is a great discussion point to get the audience thinking about the concept.</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In</a:t>
            </a:r>
            <a:r>
              <a:rPr lang="en-AU" sz="1200" baseline="0" dirty="0" smtClean="0"/>
              <a:t> your past experience:</a:t>
            </a:r>
          </a:p>
          <a:p>
            <a:pPr>
              <a:buFont typeface="Arial" pitchFamily="34" charset="0"/>
              <a:buChar char="•"/>
            </a:pPr>
            <a:r>
              <a:rPr lang="en-AU" sz="1200" baseline="0" dirty="0" smtClean="0"/>
              <a:t>When have you given assistance to someone else before?</a:t>
            </a:r>
          </a:p>
          <a:p>
            <a:pPr>
              <a:buFont typeface="Arial" pitchFamily="34" charset="0"/>
              <a:buChar char="•"/>
            </a:pPr>
            <a:r>
              <a:rPr lang="en-AU" sz="1200" baseline="0" dirty="0" smtClean="0"/>
              <a:t>Why did they need it?</a:t>
            </a:r>
          </a:p>
          <a:p>
            <a:pPr>
              <a:buFont typeface="Arial" pitchFamily="34" charset="0"/>
              <a:buChar char="•"/>
            </a:pPr>
            <a:r>
              <a:rPr lang="en-AU" sz="1200" baseline="0" dirty="0" smtClean="0"/>
              <a:t>How did you feel when you were asked?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support and assistance?</a:t>
            </a: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Provide</a:t>
            </a:r>
            <a:r>
              <a:rPr lang="en-AU" sz="1200" baseline="0" dirty="0" smtClean="0"/>
              <a:t> examples for each of the points.</a:t>
            </a:r>
          </a:p>
          <a:p>
            <a:endParaRPr lang="en-AU" sz="1200" baseline="0" dirty="0" smtClean="0"/>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None/>
            </a:pPr>
            <a:r>
              <a:rPr lang="en-AU" sz="1200" baseline="0" dirty="0" smtClean="0"/>
              <a:t>How else can you identify when someone needs support?</a:t>
            </a:r>
          </a:p>
          <a:p>
            <a:pPr>
              <a:buFont typeface="Arial" pitchFamily="34" charset="0"/>
              <a:buChar char="•"/>
            </a:pPr>
            <a:endParaRPr lang="en-AU" sz="1200" baseline="0" dirty="0" smtClean="0"/>
          </a:p>
          <a:p>
            <a:pPr lvl="0">
              <a:buFont typeface="Arial" pitchFamily="34" charset="0"/>
              <a:buChar char="•"/>
            </a:pPr>
            <a:r>
              <a:rPr lang="en-AU" sz="1200" dirty="0" smtClean="0"/>
              <a:t>Observation – viewing an inability of a person to undertake job tasks or constantly making mistakes </a:t>
            </a:r>
          </a:p>
          <a:p>
            <a:pPr lvl="0">
              <a:buFont typeface="Arial" pitchFamily="34" charset="0"/>
              <a:buChar char="•"/>
            </a:pPr>
            <a:r>
              <a:rPr lang="en-AU" sz="1200" dirty="0" smtClean="0"/>
              <a:t>Staff behaviour – they may be reluctant, frustrated, stressed or not motivated in starting or completing a task</a:t>
            </a:r>
          </a:p>
          <a:p>
            <a:pPr lvl="0">
              <a:buFont typeface="Arial" pitchFamily="34" charset="0"/>
              <a:buChar char="•"/>
            </a:pPr>
            <a:r>
              <a:rPr lang="en-AU" sz="1200" dirty="0" smtClean="0"/>
              <a:t>Direct request from a person – whether a direct request or repeating asking for help</a:t>
            </a:r>
          </a:p>
          <a:p>
            <a:pPr lvl="0">
              <a:buFont typeface="Arial" pitchFamily="34" charset="0"/>
              <a:buChar char="•"/>
            </a:pPr>
            <a:r>
              <a:rPr lang="en-AU" sz="1200" dirty="0" smtClean="0"/>
              <a:t>Customer complaints – customers may have complained about a person’s behaviour or performance</a:t>
            </a:r>
          </a:p>
          <a:p>
            <a:pPr lvl="0">
              <a:buFont typeface="Arial" pitchFamily="34" charset="0"/>
              <a:buChar char="•"/>
            </a:pPr>
            <a:r>
              <a:rPr lang="en-AU" sz="1200" dirty="0" smtClean="0"/>
              <a:t>Productivity reports – reports may show that a person is unable to perform tasks to a set quality or quantity standard</a:t>
            </a:r>
          </a:p>
          <a:p>
            <a:pPr lvl="0">
              <a:buFont typeface="Arial" pitchFamily="34" charset="0"/>
              <a:buChar char="•"/>
            </a:pPr>
            <a:r>
              <a:rPr lang="en-AU" sz="1200" dirty="0" smtClean="0"/>
              <a:t>New tasks or job role – new tasks and responsibilities may require staff to receive additional resources or training.</a:t>
            </a:r>
          </a:p>
          <a:p>
            <a:pPr>
              <a:buFont typeface="Arial" pitchFamily="34" charset="0"/>
              <a:buChar char="•"/>
            </a:pPr>
            <a:endParaRPr lang="en-AU" sz="120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Char char="•"/>
            </a:pPr>
            <a:r>
              <a:rPr lang="en-AU" sz="1200" baseline="0" dirty="0" smtClean="0"/>
              <a:t>Who provides support?</a:t>
            </a:r>
          </a:p>
          <a:p>
            <a:pPr>
              <a:buFont typeface="Arial" pitchFamily="34" charset="0"/>
              <a:buChar char="•"/>
            </a:pPr>
            <a:r>
              <a:rPr lang="en-AU" sz="1200" baseline="0" dirty="0" smtClean="0"/>
              <a:t>What types of support can they provide?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Char char="•"/>
            </a:pPr>
            <a:r>
              <a:rPr lang="en-AU" sz="1200" baseline="0" dirty="0" smtClean="0"/>
              <a:t>What are different types of support provided in each of these scenarios?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Char char="•"/>
            </a:pPr>
            <a:r>
              <a:rPr lang="en-AU" sz="1200" dirty="0" smtClean="0"/>
              <a:t>What</a:t>
            </a:r>
            <a:r>
              <a:rPr lang="en-AU" sz="1200" baseline="0" dirty="0" smtClean="0"/>
              <a:t> ‘rushes’ occur in different departments?</a:t>
            </a:r>
          </a:p>
          <a:p>
            <a:pPr>
              <a:buFont typeface="Arial" pitchFamily="34" charset="0"/>
              <a:buChar char="•"/>
            </a:pPr>
            <a:r>
              <a:rPr lang="en-AU" sz="1200" baseline="0" dirty="0" smtClean="0"/>
              <a:t>What times do they normally occur?</a:t>
            </a:r>
          </a:p>
          <a:p>
            <a:pPr>
              <a:buFont typeface="Arial" pitchFamily="34" charset="0"/>
              <a:buChar char="•"/>
            </a:pPr>
            <a:r>
              <a:rPr lang="en-AU" sz="1200" baseline="0" dirty="0" smtClean="0"/>
              <a:t>Why do they normally occur?</a:t>
            </a:r>
          </a:p>
          <a:p>
            <a:pPr>
              <a:buFont typeface="Arial" pitchFamily="34" charset="0"/>
              <a:buChar char="•"/>
            </a:pPr>
            <a:r>
              <a:rPr lang="en-AU" sz="1200" baseline="0" dirty="0" smtClean="0"/>
              <a:t>What support it required?</a:t>
            </a:r>
          </a:p>
          <a:p>
            <a:pPr>
              <a:buFont typeface="Arial" pitchFamily="34" charset="0"/>
              <a:buChar char="•"/>
            </a:pPr>
            <a:r>
              <a:rPr lang="en-AU" sz="1200" baseline="0" dirty="0" smtClean="0"/>
              <a:t>Where can it come from?</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dirty="0" smtClean="0"/>
          </a:p>
          <a:p>
            <a:pPr>
              <a:buFont typeface="Arial" pitchFamily="34" charset="0"/>
              <a:buNone/>
            </a:pPr>
            <a:r>
              <a:rPr lang="en-AU" sz="1200" baseline="0" dirty="0" smtClean="0"/>
              <a:t>For each of the examples in this slide:</a:t>
            </a:r>
          </a:p>
          <a:p>
            <a:pPr>
              <a:buFont typeface="Arial" pitchFamily="34" charset="0"/>
              <a:buChar char="•"/>
            </a:pPr>
            <a:r>
              <a:rPr lang="en-AU" sz="1200" baseline="0" dirty="0" smtClean="0"/>
              <a:t>What times do they normally occur?</a:t>
            </a:r>
          </a:p>
          <a:p>
            <a:pPr>
              <a:buFont typeface="Arial" pitchFamily="34" charset="0"/>
              <a:buChar char="•"/>
            </a:pPr>
            <a:r>
              <a:rPr lang="en-AU" sz="1200" baseline="0" dirty="0" smtClean="0"/>
              <a:t>Why do they normally occur?</a:t>
            </a:r>
          </a:p>
          <a:p>
            <a:pPr>
              <a:buFont typeface="Arial" pitchFamily="34" charset="0"/>
              <a:buChar char="•"/>
            </a:pPr>
            <a:r>
              <a:rPr lang="en-AU" sz="1200" baseline="0" dirty="0" smtClean="0"/>
              <a:t>What support it required?</a:t>
            </a:r>
          </a:p>
          <a:p>
            <a:pPr>
              <a:buFont typeface="Arial" pitchFamily="34" charset="0"/>
              <a:buChar char="•"/>
            </a:pPr>
            <a:r>
              <a:rPr lang="en-AU" sz="1200" baseline="0" dirty="0" smtClean="0"/>
              <a:t>Where can it come from?</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pPr>
              <a:buFont typeface="Arial" pitchFamily="34" charset="0"/>
              <a:buChar char="•"/>
            </a:pPr>
            <a:r>
              <a:rPr lang="en-AU" sz="1200" dirty="0" smtClean="0"/>
              <a:t>What is a</a:t>
            </a:r>
            <a:r>
              <a:rPr lang="en-AU" sz="1200" baseline="0" dirty="0" smtClean="0"/>
              <a:t> ‘cultural difference’?</a:t>
            </a:r>
            <a:endParaRPr lang="en-AU" sz="1200" dirty="0" smtClean="0"/>
          </a:p>
          <a:p>
            <a:pPr>
              <a:buFont typeface="Arial" pitchFamily="34" charset="0"/>
              <a:buChar char="•"/>
            </a:pPr>
            <a:r>
              <a:rPr lang="en-AU" sz="1200" dirty="0" smtClean="0"/>
              <a:t>What cultural differences exist in your team (or a team in which</a:t>
            </a:r>
            <a:r>
              <a:rPr lang="en-AU" sz="1200" baseline="0" dirty="0" smtClean="0"/>
              <a:t> you have been a part of)?</a:t>
            </a:r>
          </a:p>
          <a:p>
            <a:pPr>
              <a:buFont typeface="Arial" pitchFamily="34" charset="0"/>
              <a:buChar char="•"/>
            </a:pPr>
            <a:r>
              <a:rPr lang="en-AU" sz="1200" baseline="0" dirty="0" smtClean="0"/>
              <a:t>What problems or differences did they cause?</a:t>
            </a:r>
          </a:p>
          <a:p>
            <a:pPr>
              <a:buFont typeface="Arial" pitchFamily="34" charset="0"/>
              <a:buChar char="•"/>
            </a:pPr>
            <a:r>
              <a:rPr lang="en-AU" sz="1200" dirty="0" smtClean="0"/>
              <a:t>How</a:t>
            </a:r>
            <a:r>
              <a:rPr lang="en-AU" sz="1200" baseline="0" dirty="0" smtClean="0"/>
              <a:t> were they overcome?</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pPr>
              <a:buFont typeface="Arial" pitchFamily="34" charset="0"/>
              <a:buChar char="•"/>
            </a:pPr>
            <a:r>
              <a:rPr lang="en-AU" sz="1200" dirty="0" smtClean="0"/>
              <a:t>What</a:t>
            </a:r>
            <a:r>
              <a:rPr lang="en-AU" sz="1200" baseline="0" dirty="0" smtClean="0"/>
              <a:t> considerations need to be recognised in relation to these cultural differences?</a:t>
            </a:r>
          </a:p>
          <a:p>
            <a:pPr>
              <a:buFont typeface="Arial" pitchFamily="34" charset="0"/>
              <a:buChar char="•"/>
            </a:pPr>
            <a:r>
              <a:rPr lang="en-AU" sz="1200" baseline="0" dirty="0" smtClean="0"/>
              <a:t>Provide examples of each of these cultural differences and how they can impact on a team?</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US" sz="1200" kern="1200" dirty="0" smtClean="0">
                <a:solidFill>
                  <a:schemeClr val="tx1"/>
                </a:solidFill>
                <a:ea typeface="+mn-ea"/>
                <a:cs typeface="+mn-cs"/>
              </a:rPr>
              <a:t>Creating a climate of tolerance within the department – that will help cushion any misunderstandings that may actually occur</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Implementing team building exercises – to foster and extend trust and understanding</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Providing training and education – to help make all staff more culturally aware. Cultural awareness training is a common topic in many businesses that employ people from a diversity of cultures, or where the enterprise deals with customers from a variety of cultures</a:t>
            </a:r>
            <a:endParaRPr lang="en-AU"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Providing mediation and counseling – to assist in retrieving situations where misunderstanding occurs or conflict already exists.</a:t>
            </a:r>
            <a:endParaRPr lang="en-AU" sz="1200" kern="1200" dirty="0" smtClean="0">
              <a:solidFill>
                <a:schemeClr val="tx1"/>
              </a:solidFill>
              <a:ea typeface="+mn-ea"/>
              <a:cs typeface="+mn-cs"/>
            </a:endParaRPr>
          </a:p>
          <a:p>
            <a:pPr lvl="0"/>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How can you contribute to the success of a team?</a:t>
            </a:r>
          </a:p>
          <a:p>
            <a:pPr>
              <a:buFont typeface="Arial" pitchFamily="34" charset="0"/>
              <a:buChar char="•"/>
            </a:pPr>
            <a:r>
              <a:rPr lang="en-AU" sz="1200" kern="1200" baseline="0" dirty="0" smtClean="0">
                <a:solidFill>
                  <a:schemeClr val="tx1"/>
                </a:solidFill>
                <a:ea typeface="+mn-ea"/>
                <a:cs typeface="+mn-cs"/>
              </a:rPr>
              <a:t>What makes some teams successful and more productive than others?</a:t>
            </a: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Picture yourself as a customer. If you were to visit a restaurant or hotel:</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would you have?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a business satisfy your needs?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Use examples from personal experience where businesses have successfully met your needs in the past. Get the audience to share their stories with each other.</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For each of the points in this slide, identify needs each may have and how you, as a hospitality business, can meet these needs.</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For each of the points in this slide, identify needs each may have and how you, as a hospitality business, can meet these needs.</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slide.</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These needs include:</a:t>
            </a:r>
          </a:p>
          <a:p>
            <a:pPr>
              <a:buFont typeface="Arial" pitchFamily="34" charset="0"/>
              <a:buChar char="•"/>
            </a:pPr>
            <a:r>
              <a:rPr lang="en-US" sz="1200" kern="1200" dirty="0" smtClean="0">
                <a:solidFill>
                  <a:schemeClr val="tx1"/>
                </a:solidFill>
                <a:ea typeface="+mn-ea"/>
                <a:cs typeface="+mn-cs"/>
              </a:rPr>
              <a:t>Knowledge –understand and perform their job role, product knowledge, menu knowledge, external customer preferences, upcoming events, policies and procedures and schedule of events for particular shifts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Skills – the ability to practically perform selected tasks including making beds, cooking meals and checking in guests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Training – both practical and theoretical training to ensure staff skills sets are appropriate to provide quality customer service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Equipment – this can include mechanical equipment (computers, ovens, blenders) and associated tools of the trade (plates, glassware, pens, cleaning cloths)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Time – staff need adequate time to perform their tasks in the correct manner</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Appropriate allocation of work – appropriate allocation of customers per staff member to be able to deliver quality service. Management must ensure adequate levels of staff are on duty to perform the necessary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Support – staff must receive support and guidance from management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Fairness – equality in areas of pay, work rate, scheduling of activities.</a:t>
            </a:r>
            <a:endParaRPr lang="en-AU" sz="1200" kern="1200" dirty="0" smtClean="0">
              <a:solidFill>
                <a:schemeClr val="tx1"/>
              </a:solidFill>
              <a:ea typeface="+mn-ea"/>
              <a:cs typeface="+mn-cs"/>
            </a:endParaRP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Discuss points.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200" kern="1200" dirty="0" smtClean="0">
                <a:solidFill>
                  <a:schemeClr val="tx1"/>
                </a:solidFill>
                <a:ea typeface="+mn-ea"/>
                <a:cs typeface="+mn-cs"/>
              </a:rPr>
              <a:t>Value for money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‘Offering’ reflecting what was advertised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Expectations met / exceeded</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To feel respected – which is why we use “Sir” and “Madam”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To feel welcomed – which is why we give all our customers a warm, genuine and sincere smile and welcome. We really are pleased to see them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To be served by friendly staff – which is again why we smile and why we spend that extra few seconds with them, talking about how their day went and </a:t>
            </a:r>
            <a:r>
              <a:rPr lang="en-US" sz="1200" kern="1200" smtClean="0">
                <a:solidFill>
                  <a:schemeClr val="tx1"/>
                </a:solidFill>
                <a:ea typeface="+mn-ea"/>
                <a:cs typeface="+mn-cs"/>
              </a:rPr>
              <a:t>so on</a:t>
            </a:r>
            <a:endParaRPr lang="en-AU" sz="1200" kern="1200" dirty="0" smtClean="0">
              <a:solidFill>
                <a:schemeClr val="tx1"/>
              </a:solidFill>
              <a:ea typeface="+mn-ea"/>
              <a:cs typeface="+mn-cs"/>
            </a:endParaRP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200" kern="1200" dirty="0" smtClean="0">
                <a:solidFill>
                  <a:schemeClr val="tx1"/>
                </a:solidFill>
                <a:ea typeface="+mn-ea"/>
                <a:cs typeface="+mn-cs"/>
              </a:rPr>
              <a:t>To be dealt with in a prompt and courteous manner – which is why we don’t keep them waiting at reception, the bar, for room service, meals etc</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To receive assistance when necessary – which is why we have excellent product and local knowledge and why we look for opportunities to pass this on to them whenever we can, even without their having to ask</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To be in comfortable, clean surroundings – which is why we make sure the facilities, rooms, grounds and equipment are spotless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To feel remembered and recognised – which is why we use the customer’s name as often as we can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To be heard and understood – which is why we listen to complaints and adopt the role of their advocate whenever there is a complaint, problem or dispute. We want to fix their problems, not create new ones.</a:t>
            </a:r>
            <a:endParaRPr lang="en-AU" sz="1200" kern="1200" dirty="0" smtClean="0">
              <a:solidFill>
                <a:schemeClr val="tx1"/>
              </a:solidFill>
              <a:ea typeface="+mn-ea"/>
              <a:cs typeface="+mn-cs"/>
            </a:endParaRP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Discuss points.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200" kern="1200" dirty="0" smtClean="0">
                <a:solidFill>
                  <a:schemeClr val="tx1"/>
                </a:solidFill>
                <a:ea typeface="+mn-ea"/>
                <a:cs typeface="+mn-cs"/>
              </a:rPr>
              <a:t>Business – computer and internet access, newspapers, executive lounges, laundry services, business or executive centre, business and news channels. Business men are more likely to frequent a hotel bar and eat in the restaurant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Women – hairdryers, larger mirrors, healthier food options, specific bathroom amenities, fashion magazines, bath. Business women are more likely to use the gym and eat room service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Family – interconnecting rooms, costs, entertainment options, child care facilities, children’s television programs, package deals and safety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Leisure – cheaper rates, local attractions, concierge services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Elderly – single beds, medical facilities, suitable food options and cheaper rates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Groups – need for large allocation of rooms, cheap rates, meeting rooms, specialised menus, bus access and parking.</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Are there any other major market segments that exist?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do they have?</a:t>
            </a:r>
          </a:p>
          <a:p>
            <a:pPr>
              <a:buFont typeface="Arial" pitchFamily="34" charset="0"/>
              <a:buChar char="•"/>
            </a:pP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For each of the points in this slide, identify using examples how needs can be identified.</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common ways a hotel can meet the needs of ‘special needs customers’?</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Attempts at gestures may include:</a:t>
            </a:r>
          </a:p>
          <a:p>
            <a:pPr>
              <a:buFont typeface="Arial" pitchFamily="34" charset="0"/>
              <a:buChar char="•"/>
            </a:pPr>
            <a:r>
              <a:rPr lang="en-US" sz="1200" kern="1200" dirty="0" smtClean="0">
                <a:solidFill>
                  <a:schemeClr val="tx1"/>
                </a:solidFill>
                <a:ea typeface="+mn-ea"/>
                <a:cs typeface="+mn-cs"/>
              </a:rPr>
              <a:t>Pointing to indicate a location</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Holding fingers up to establish quantities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Rubbing your hands to indicate temperature</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Nodding your head in agreement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Shaking your head in disagreement</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Using facial expressions to relay your feelings</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Removing adjectives (descriptive words) from your speech</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Slowing your speech down and speaking clearly and concisely</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Avoiding using local idiom or slang.</a:t>
            </a:r>
            <a:endParaRPr lang="en-AU" sz="1200" kern="1200" dirty="0" smtClean="0">
              <a:solidFill>
                <a:schemeClr val="tx1"/>
              </a:solidFill>
              <a:ea typeface="+mn-ea"/>
              <a:cs typeface="+mn-cs"/>
            </a:endParaRPr>
          </a:p>
          <a:p>
            <a:pPr>
              <a:buFont typeface="Arial" pitchFamily="34" charset="0"/>
              <a:buNone/>
            </a:pPr>
            <a:endParaRPr lang="en-US" sz="1200" kern="1200" dirty="0" smtClean="0">
              <a:solidFill>
                <a:schemeClr val="tx1"/>
              </a:solidFill>
              <a:ea typeface="+mn-ea"/>
              <a:cs typeface="+mn-cs"/>
            </a:endParaRPr>
          </a:p>
          <a:p>
            <a:pPr>
              <a:buFont typeface="Arial" pitchFamily="34" charset="0"/>
              <a:buNone/>
            </a:pPr>
            <a:r>
              <a:rPr lang="en-US" sz="1200" kern="1200" dirty="0" smtClean="0">
                <a:solidFill>
                  <a:schemeClr val="tx1"/>
                </a:solidFill>
                <a:ea typeface="+mn-ea"/>
                <a:cs typeface="+mn-cs"/>
              </a:rPr>
              <a:t>Where possible documents should be printed in a variety of languages to enable customers to understand information relating to the property and the surrounding region. The printing of a selection of documentation in various languages should include, but not be limited to:</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Information compendium</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Emergency procedures </a:t>
            </a:r>
            <a:endParaRPr lang="en-AU" sz="1200" kern="1200" dirty="0" smtClean="0">
              <a:solidFill>
                <a:schemeClr val="tx1"/>
              </a:solidFill>
              <a:ea typeface="+mn-ea"/>
              <a:cs typeface="+mn-cs"/>
            </a:endParaRPr>
          </a:p>
          <a:p>
            <a:pPr>
              <a:buFont typeface="Arial" pitchFamily="34" charset="0"/>
              <a:buChar char="•"/>
            </a:pPr>
            <a:r>
              <a:rPr lang="en-US" sz="1200" kern="1200" dirty="0" smtClean="0">
                <a:solidFill>
                  <a:schemeClr val="tx1"/>
                </a:solidFill>
                <a:ea typeface="+mn-ea"/>
                <a:cs typeface="+mn-cs"/>
              </a:rPr>
              <a:t>Menus.</a:t>
            </a:r>
            <a:endParaRPr lang="en-AU" sz="1200" kern="1200" dirty="0" smtClean="0">
              <a:solidFill>
                <a:schemeClr val="tx1"/>
              </a:solidFill>
              <a:ea typeface="+mn-ea"/>
              <a:cs typeface="+mn-cs"/>
            </a:endParaRP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1" kern="1200" dirty="0" smtClean="0">
              <a:solidFill>
                <a:schemeClr val="tx1"/>
              </a:solidFill>
              <a:ea typeface="+mn-ea"/>
              <a:cs typeface="+mn-cs"/>
            </a:endParaRPr>
          </a:p>
          <a:p>
            <a:pPr>
              <a:buFont typeface="Arial" pitchFamily="34" charset="0"/>
              <a:buNone/>
            </a:pPr>
            <a:r>
              <a:rPr lang="en-AU" sz="1200" b="0" kern="1200" baseline="0" dirty="0" smtClean="0">
                <a:solidFill>
                  <a:schemeClr val="tx1"/>
                </a:solidFill>
                <a:ea typeface="+mn-ea"/>
                <a:cs typeface="+mn-cs"/>
              </a:rPr>
              <a:t>What are the benefits of providing these for:</a:t>
            </a:r>
          </a:p>
          <a:p>
            <a:pPr marL="228600" indent="-228600">
              <a:buAutoNum type="alphaLcParenR"/>
            </a:pPr>
            <a:r>
              <a:rPr lang="en-AU" sz="1200" b="0" kern="1200" baseline="0" dirty="0" smtClean="0">
                <a:solidFill>
                  <a:schemeClr val="tx1"/>
                </a:solidFill>
                <a:ea typeface="+mn-ea"/>
                <a:cs typeface="+mn-cs"/>
              </a:rPr>
              <a:t>Owners</a:t>
            </a:r>
          </a:p>
          <a:p>
            <a:pPr marL="228600" indent="-228600">
              <a:buAutoNum type="alphaLcParenR"/>
            </a:pPr>
            <a:r>
              <a:rPr lang="en-AU" sz="1200" b="0" kern="1200" baseline="0" dirty="0" smtClean="0">
                <a:solidFill>
                  <a:schemeClr val="tx1"/>
                </a:solidFill>
                <a:ea typeface="+mn-ea"/>
                <a:cs typeface="+mn-cs"/>
              </a:rPr>
              <a:t>Managers</a:t>
            </a:r>
          </a:p>
          <a:p>
            <a:pPr marL="228600" indent="-228600">
              <a:buAutoNum type="alphaLcParenR"/>
            </a:pPr>
            <a:r>
              <a:rPr lang="en-AU" sz="1200" b="0" kern="1200" baseline="0" dirty="0" smtClean="0">
                <a:solidFill>
                  <a:schemeClr val="tx1"/>
                </a:solidFill>
                <a:ea typeface="+mn-ea"/>
                <a:cs typeface="+mn-cs"/>
              </a:rPr>
              <a:t>Staff members themselves</a:t>
            </a:r>
          </a:p>
          <a:p>
            <a:pPr marL="228600" indent="-228600">
              <a:buAutoNum type="alphaLcParenR"/>
            </a:pPr>
            <a:r>
              <a:rPr lang="en-AU" sz="1200" b="0" kern="1200" baseline="0" dirty="0" smtClean="0">
                <a:solidFill>
                  <a:schemeClr val="tx1"/>
                </a:solidFill>
                <a:ea typeface="+mn-ea"/>
                <a:cs typeface="+mn-cs"/>
              </a:rPr>
              <a:t>Customers.</a:t>
            </a:r>
            <a:endParaRPr lang="en-AU" sz="1200" b="0" kern="1200" dirty="0" smtClean="0">
              <a:solidFill>
                <a:schemeClr val="tx1"/>
              </a:solidFill>
              <a:ea typeface="+mn-ea"/>
              <a:cs typeface="+mn-cs"/>
            </a:endParaRPr>
          </a:p>
          <a:p>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1" kern="120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Trainer to discuss the difference between these</a:t>
            </a:r>
          </a:p>
          <a:p>
            <a:pPr>
              <a:buFont typeface="Arial" pitchFamily="34" charset="0"/>
              <a:buChar char="•"/>
            </a:pPr>
            <a:r>
              <a:rPr lang="en-AU" sz="1200" b="0" kern="1200" baseline="0" dirty="0" smtClean="0">
                <a:solidFill>
                  <a:schemeClr val="tx1"/>
                </a:solidFill>
                <a:ea typeface="+mn-ea"/>
                <a:cs typeface="+mn-cs"/>
              </a:rPr>
              <a:t>Identify examples of different training sessions and how each of these points are developed</a:t>
            </a:r>
          </a:p>
          <a:p>
            <a:pPr>
              <a:buFont typeface="Arial" pitchFamily="34" charset="0"/>
              <a:buChar char="•"/>
            </a:pPr>
            <a:r>
              <a:rPr lang="en-AU" sz="1200" b="0" kern="1200" baseline="0" dirty="0" smtClean="0">
                <a:solidFill>
                  <a:schemeClr val="tx1"/>
                </a:solidFill>
                <a:ea typeface="+mn-ea"/>
                <a:cs typeface="+mn-cs"/>
              </a:rPr>
              <a:t>What is the best way to ‘develop’ each of these points?</a:t>
            </a:r>
            <a:endParaRPr lang="en-AU" sz="1200" b="0" kern="1200" dirty="0" smtClean="0">
              <a:solidFill>
                <a:schemeClr val="tx1"/>
              </a:solidFill>
              <a:ea typeface="+mn-ea"/>
              <a:cs typeface="+mn-cs"/>
            </a:endParaRPr>
          </a:p>
          <a:p>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1" kern="120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the benefits of each of these approaches?</a:t>
            </a:r>
          </a:p>
          <a:p>
            <a:pPr>
              <a:buFont typeface="Arial" pitchFamily="34" charset="0"/>
              <a:buChar char="•"/>
            </a:pPr>
            <a:r>
              <a:rPr lang="en-AU" sz="1200" b="0" kern="1200" baseline="0" dirty="0" smtClean="0">
                <a:solidFill>
                  <a:schemeClr val="tx1"/>
                </a:solidFill>
                <a:ea typeface="+mn-ea"/>
                <a:cs typeface="+mn-cs"/>
              </a:rPr>
              <a:t>What are examples of development programs for each of these?</a:t>
            </a:r>
            <a:endParaRPr lang="en-AU" sz="1200" b="0" kern="1200" dirty="0" smtClean="0">
              <a:solidFill>
                <a:schemeClr val="tx1"/>
              </a:solidFill>
              <a:ea typeface="+mn-ea"/>
              <a:cs typeface="+mn-cs"/>
            </a:endParaRPr>
          </a:p>
          <a:p>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1" kern="120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questions in the slide.</a:t>
            </a:r>
            <a:endParaRPr lang="en-AU" sz="1200" b="0" kern="1200" dirty="0" smtClean="0">
              <a:solidFill>
                <a:schemeClr val="tx1"/>
              </a:solidFill>
              <a:ea typeface="+mn-ea"/>
              <a:cs typeface="+mn-cs"/>
            </a:endParaRPr>
          </a:p>
          <a:p>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r>
              <a:rPr lang="en-AU" sz="1200" b="0" kern="1200" dirty="0" smtClean="0">
                <a:solidFill>
                  <a:schemeClr val="tx1"/>
                </a:solidFill>
                <a:ea typeface="+mn-ea"/>
                <a:cs typeface="+mn-cs"/>
              </a:rPr>
              <a:t>What are examples of</a:t>
            </a:r>
            <a:r>
              <a:rPr lang="en-AU" sz="1200" b="0" kern="1200" baseline="0" dirty="0" smtClean="0">
                <a:solidFill>
                  <a:schemeClr val="tx1"/>
                </a:solidFill>
                <a:ea typeface="+mn-ea"/>
                <a:cs typeface="+mn-cs"/>
              </a:rPr>
              <a:t> programs suited to:</a:t>
            </a:r>
          </a:p>
          <a:p>
            <a:pPr marL="228600" indent="-228600">
              <a:buAutoNum type="alphaLcParenR"/>
            </a:pPr>
            <a:r>
              <a:rPr lang="en-AU" sz="1200" b="0" kern="1200" baseline="0" dirty="0" smtClean="0">
                <a:solidFill>
                  <a:schemeClr val="tx1"/>
                </a:solidFill>
                <a:ea typeface="+mn-ea"/>
                <a:cs typeface="+mn-cs"/>
              </a:rPr>
              <a:t>Whole organisation or department?</a:t>
            </a:r>
          </a:p>
          <a:p>
            <a:pPr marL="228600" indent="-228600">
              <a:buAutoNum type="alphaLcParenR"/>
            </a:pPr>
            <a:r>
              <a:rPr lang="en-AU" sz="1200" b="0" kern="1200" baseline="0" dirty="0" smtClean="0">
                <a:solidFill>
                  <a:schemeClr val="tx1"/>
                </a:solidFill>
                <a:ea typeface="+mn-ea"/>
                <a:cs typeface="+mn-cs"/>
              </a:rPr>
              <a:t>Individuals or small groups?</a:t>
            </a:r>
            <a:endParaRPr lang="en-AU" sz="1200" b="0" kern="1200" dirty="0" smtClean="0">
              <a:solidFill>
                <a:schemeClr val="tx1"/>
              </a:solidFill>
              <a:ea typeface="+mn-ea"/>
              <a:cs typeface="+mn-cs"/>
            </a:endParaRPr>
          </a:p>
          <a:p>
            <a:pPr>
              <a:buFont typeface="Arial" pitchFamily="34" charset="0"/>
              <a:buChar char="•"/>
            </a:pPr>
            <a:endParaRPr lang="en-AU" sz="1200" b="1" kern="1200" dirty="0" smtClean="0">
              <a:solidFill>
                <a:schemeClr val="tx1"/>
              </a:solidFill>
              <a:ea typeface="+mn-ea"/>
              <a:cs typeface="+mn-cs"/>
            </a:endParaRPr>
          </a:p>
          <a:p>
            <a:pPr lvl="0">
              <a:buFont typeface="Arial" pitchFamily="34" charset="0"/>
              <a:buChar char="•"/>
            </a:pPr>
            <a:r>
              <a:rPr lang="en-AU" sz="1200" dirty="0" smtClean="0"/>
              <a:t>Are provided for staff as a department-wide or organisation-wide activity – for example, all staff may be required to participate in a professional development activity on ‘time management’</a:t>
            </a:r>
          </a:p>
          <a:p>
            <a:pPr lvl="0">
              <a:buFont typeface="Arial" pitchFamily="34" charset="0"/>
              <a:buChar char="•"/>
            </a:pPr>
            <a:r>
              <a:rPr lang="en-AU" sz="1200" dirty="0" smtClean="0"/>
              <a:t>Are targeted at one (or more) individual staff to prepare them for a future role – such as promotion, to replace another staff member who is taking leave, to learn how to undertake new tasks associated with the introduction of a new product/service to the venue.</a:t>
            </a:r>
          </a:p>
          <a:p>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What</a:t>
            </a:r>
            <a:r>
              <a:rPr lang="en-AU" sz="1200" b="0" kern="1200" baseline="0" dirty="0" smtClean="0">
                <a:solidFill>
                  <a:schemeClr val="tx1"/>
                </a:solidFill>
                <a:ea typeface="+mn-ea"/>
                <a:cs typeface="+mn-cs"/>
              </a:rPr>
              <a:t> are the benefits of each?</a:t>
            </a:r>
          </a:p>
          <a:p>
            <a:pPr>
              <a:buFont typeface="Arial" pitchFamily="34" charset="0"/>
              <a:buChar char="•"/>
            </a:pPr>
            <a:r>
              <a:rPr lang="en-AU" sz="1200" b="0" kern="1200" baseline="0" dirty="0" smtClean="0">
                <a:solidFill>
                  <a:schemeClr val="tx1"/>
                </a:solidFill>
                <a:ea typeface="+mn-ea"/>
                <a:cs typeface="+mn-cs"/>
              </a:rPr>
              <a:t>What are examples of each?</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Identify</a:t>
            </a:r>
            <a:r>
              <a:rPr lang="en-AU" sz="1200" b="0" kern="1200" baseline="0" dirty="0" smtClean="0">
                <a:solidFill>
                  <a:schemeClr val="tx1"/>
                </a:solidFill>
                <a:ea typeface="+mn-ea"/>
                <a:cs typeface="+mn-cs"/>
              </a:rPr>
              <a:t> each type of </a:t>
            </a:r>
            <a:r>
              <a:rPr lang="en-AU" sz="1200" b="0" dirty="0" smtClean="0"/>
              <a:t>professional development opportunity</a:t>
            </a:r>
          </a:p>
          <a:p>
            <a:pPr>
              <a:buFont typeface="Arial" pitchFamily="34" charset="0"/>
              <a:buChar char="•"/>
            </a:pPr>
            <a:r>
              <a:rPr lang="en-AU" sz="1200" b="0" kern="1200" dirty="0" smtClean="0">
                <a:solidFill>
                  <a:schemeClr val="tx1"/>
                </a:solidFill>
                <a:ea typeface="+mn-ea"/>
                <a:cs typeface="+mn-cs"/>
              </a:rPr>
              <a:t>When</a:t>
            </a:r>
            <a:r>
              <a:rPr lang="en-AU" sz="1200" b="0" kern="1200" baseline="0" dirty="0" smtClean="0">
                <a:solidFill>
                  <a:schemeClr val="tx1"/>
                </a:solidFill>
                <a:ea typeface="+mn-ea"/>
                <a:cs typeface="+mn-cs"/>
              </a:rPr>
              <a:t> would it be beneficial?</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Identify</a:t>
            </a:r>
            <a:r>
              <a:rPr lang="en-AU" sz="1200" b="0" kern="1200" baseline="0" dirty="0" smtClean="0">
                <a:solidFill>
                  <a:schemeClr val="tx1"/>
                </a:solidFill>
                <a:ea typeface="+mn-ea"/>
                <a:cs typeface="+mn-cs"/>
              </a:rPr>
              <a:t> each type of </a:t>
            </a:r>
            <a:r>
              <a:rPr lang="en-AU" sz="1200" b="0" dirty="0" smtClean="0"/>
              <a:t>professional development opportunity</a:t>
            </a:r>
          </a:p>
          <a:p>
            <a:pPr>
              <a:buFont typeface="Arial" pitchFamily="34" charset="0"/>
              <a:buChar char="•"/>
            </a:pPr>
            <a:r>
              <a:rPr lang="en-AU" sz="1200" b="0" kern="1200" dirty="0" smtClean="0">
                <a:solidFill>
                  <a:schemeClr val="tx1"/>
                </a:solidFill>
                <a:ea typeface="+mn-ea"/>
                <a:cs typeface="+mn-cs"/>
              </a:rPr>
              <a:t>When</a:t>
            </a:r>
            <a:r>
              <a:rPr lang="en-AU" sz="1200" b="0" kern="1200" baseline="0" dirty="0" smtClean="0">
                <a:solidFill>
                  <a:schemeClr val="tx1"/>
                </a:solidFill>
                <a:ea typeface="+mn-ea"/>
                <a:cs typeface="+mn-cs"/>
              </a:rPr>
              <a:t> would it be beneficial?</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Identify</a:t>
            </a:r>
            <a:r>
              <a:rPr lang="en-AU" sz="1200" b="0" kern="1200" baseline="0" dirty="0" smtClean="0">
                <a:solidFill>
                  <a:schemeClr val="tx1"/>
                </a:solidFill>
                <a:ea typeface="+mn-ea"/>
                <a:cs typeface="+mn-cs"/>
              </a:rPr>
              <a:t> each type of </a:t>
            </a:r>
            <a:r>
              <a:rPr lang="en-AU" sz="1200" b="0" dirty="0" smtClean="0"/>
              <a:t>professional development opportunity</a:t>
            </a:r>
          </a:p>
          <a:p>
            <a:pPr>
              <a:buFont typeface="Arial" pitchFamily="34" charset="0"/>
              <a:buChar char="•"/>
            </a:pPr>
            <a:r>
              <a:rPr lang="en-AU" sz="1200" b="0" kern="1200" dirty="0" smtClean="0">
                <a:solidFill>
                  <a:schemeClr val="tx1"/>
                </a:solidFill>
                <a:ea typeface="+mn-ea"/>
                <a:cs typeface="+mn-cs"/>
              </a:rPr>
              <a:t>When</a:t>
            </a:r>
            <a:r>
              <a:rPr lang="en-AU" sz="1200" b="0" kern="1200" baseline="0" dirty="0" smtClean="0">
                <a:solidFill>
                  <a:schemeClr val="tx1"/>
                </a:solidFill>
                <a:ea typeface="+mn-ea"/>
                <a:cs typeface="+mn-cs"/>
              </a:rPr>
              <a:t> would it be beneficial?</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Why</a:t>
            </a:r>
            <a:r>
              <a:rPr lang="en-AU" sz="1200" b="0" kern="1200" baseline="0" dirty="0" smtClean="0">
                <a:solidFill>
                  <a:schemeClr val="tx1"/>
                </a:solidFill>
                <a:ea typeface="+mn-ea"/>
                <a:cs typeface="+mn-cs"/>
              </a:rPr>
              <a:t> is mentoring such a popular professional development activity?</a:t>
            </a:r>
          </a:p>
          <a:p>
            <a:pPr>
              <a:buFont typeface="Arial" pitchFamily="34" charset="0"/>
              <a:buChar char="•"/>
            </a:pPr>
            <a:r>
              <a:rPr lang="en-AU" sz="1200" b="0" kern="1200" baseline="0" dirty="0" smtClean="0">
                <a:solidFill>
                  <a:schemeClr val="tx1"/>
                </a:solidFill>
                <a:ea typeface="+mn-ea"/>
                <a:cs typeface="+mn-cs"/>
              </a:rPr>
              <a:t>What is the purpose of mentoring?</a:t>
            </a:r>
          </a:p>
          <a:p>
            <a:pPr>
              <a:buFont typeface="Arial" pitchFamily="34" charset="0"/>
              <a:buChar char="•"/>
            </a:pPr>
            <a:r>
              <a:rPr lang="en-AU" sz="1200" b="0" kern="1200" baseline="0" dirty="0" smtClean="0">
                <a:solidFill>
                  <a:schemeClr val="tx1"/>
                </a:solidFill>
                <a:ea typeface="+mn-ea"/>
                <a:cs typeface="+mn-cs"/>
              </a:rPr>
              <a:t>What are the benefits?</a:t>
            </a:r>
          </a:p>
          <a:p>
            <a:pPr>
              <a:buFont typeface="Arial" pitchFamily="34" charset="0"/>
              <a:buChar char="•"/>
            </a:pPr>
            <a:r>
              <a:rPr lang="en-AU" sz="1200" b="0" kern="1200" baseline="0" dirty="0" smtClean="0">
                <a:solidFill>
                  <a:schemeClr val="tx1"/>
                </a:solidFill>
                <a:ea typeface="+mn-ea"/>
                <a:cs typeface="+mn-cs"/>
              </a:rPr>
              <a:t>How long should the mentoring process last?</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Discuss the question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Discuss the different coaching options</a:t>
            </a:r>
            <a:r>
              <a:rPr lang="en-AU" sz="1200" b="0" kern="1200" baseline="0" dirty="0" smtClean="0">
                <a:solidFill>
                  <a:schemeClr val="tx1"/>
                </a:solidFill>
                <a:ea typeface="+mn-ea"/>
                <a:cs typeface="+mn-cs"/>
              </a:rPr>
              <a:t> as identified in this slide.</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Discuss the different coaching options</a:t>
            </a:r>
            <a:r>
              <a:rPr lang="en-AU" sz="1200" b="0" kern="1200" baseline="0" dirty="0" smtClean="0">
                <a:solidFill>
                  <a:schemeClr val="tx1"/>
                </a:solidFill>
                <a:ea typeface="+mn-ea"/>
                <a:cs typeface="+mn-cs"/>
              </a:rPr>
              <a:t> as identified in this slide.</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What is the different between these two approaches?</a:t>
            </a:r>
          </a:p>
          <a:p>
            <a:pPr>
              <a:buFont typeface="Arial" pitchFamily="34" charset="0"/>
              <a:buChar char="•"/>
            </a:pPr>
            <a:r>
              <a:rPr lang="en-AU" sz="1200" b="0" kern="1200" dirty="0" smtClean="0">
                <a:solidFill>
                  <a:schemeClr val="tx1"/>
                </a:solidFill>
                <a:ea typeface="+mn-ea"/>
                <a:cs typeface="+mn-cs"/>
              </a:rPr>
              <a:t>What are the benefits of each?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What are examples of formal and informal learning programs?</a:t>
            </a:r>
          </a:p>
          <a:p>
            <a:pPr>
              <a:buFont typeface="Arial" pitchFamily="34" charset="0"/>
              <a:buChar char="•"/>
            </a:pP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What are these</a:t>
            </a:r>
            <a:r>
              <a:rPr lang="en-AU" sz="1200" b="0" kern="1200" baseline="0" dirty="0" smtClean="0">
                <a:solidFill>
                  <a:schemeClr val="tx1"/>
                </a:solidFill>
                <a:ea typeface="+mn-ea"/>
                <a:cs typeface="+mn-cs"/>
              </a:rPr>
              <a:t> approaches?</a:t>
            </a:r>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What are the benefits of each?</a:t>
            </a:r>
          </a:p>
          <a:p>
            <a:pPr>
              <a:buFont typeface="Arial" pitchFamily="34" charset="0"/>
              <a:buChar char="•"/>
            </a:pP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When are these support materials best utilised?</a:t>
            </a:r>
          </a:p>
          <a:p>
            <a:pPr>
              <a:buFont typeface="Arial" pitchFamily="34" charset="0"/>
              <a:buChar char="•"/>
            </a:pP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b="0" kern="120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When are these support materials best utilised?</a:t>
            </a:r>
          </a:p>
          <a:p>
            <a:pPr>
              <a:buFont typeface="Arial" pitchFamily="34" charset="0"/>
              <a:buChar char="•"/>
            </a:pP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In</a:t>
            </a:r>
            <a:r>
              <a:rPr lang="en-AU" sz="1200" baseline="0" dirty="0" smtClean="0"/>
              <a:t> your past experience:</a:t>
            </a:r>
          </a:p>
          <a:p>
            <a:pPr>
              <a:buFont typeface="Arial" pitchFamily="34" charset="0"/>
              <a:buChar char="•"/>
            </a:pPr>
            <a:r>
              <a:rPr lang="en-AU" sz="1200" baseline="0" dirty="0" smtClean="0"/>
              <a:t>What type of feedback is the most common? Why?</a:t>
            </a:r>
          </a:p>
          <a:p>
            <a:pPr>
              <a:buFont typeface="Arial" pitchFamily="34" charset="0"/>
              <a:buChar char="•"/>
            </a:pPr>
            <a:r>
              <a:rPr lang="en-AU" sz="1200" baseline="0" dirty="0" smtClean="0"/>
              <a:t>What are some examples of each type of feedback you have received?</a:t>
            </a:r>
            <a:endParaRPr lang="en-AU" sz="1200" dirty="0" smtClean="0"/>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In the past, describe</a:t>
            </a:r>
            <a:r>
              <a:rPr lang="en-AU" sz="1200" baseline="0" dirty="0" smtClean="0"/>
              <a:t> times when you have received positive feedback.</a:t>
            </a:r>
          </a:p>
          <a:p>
            <a:pPr>
              <a:buFont typeface="Arial" pitchFamily="34" charset="0"/>
              <a:buChar char="•"/>
            </a:pPr>
            <a:r>
              <a:rPr lang="en-AU" sz="1200" baseline="0" dirty="0" smtClean="0"/>
              <a:t>How did it feel to receive it?</a:t>
            </a:r>
            <a:endParaRPr lang="en-AU" sz="1200" dirty="0" smtClean="0"/>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In the past, describe</a:t>
            </a:r>
            <a:r>
              <a:rPr lang="en-AU" sz="1200" baseline="0" dirty="0" smtClean="0"/>
              <a:t> times when you have received negative feedback.</a:t>
            </a:r>
          </a:p>
          <a:p>
            <a:pPr>
              <a:buFont typeface="Arial" pitchFamily="34" charset="0"/>
              <a:buChar char="•"/>
            </a:pPr>
            <a:r>
              <a:rPr lang="en-AU" sz="1200" baseline="0" dirty="0" smtClean="0"/>
              <a:t>How did it feel to receive it?</a:t>
            </a:r>
          </a:p>
          <a:p>
            <a:pPr>
              <a:buFont typeface="Arial" pitchFamily="34" charset="0"/>
              <a:buNone/>
            </a:pPr>
            <a:endParaRPr lang="en-AU" sz="1200" dirty="0" smtClean="0"/>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In the past, describe</a:t>
            </a:r>
            <a:r>
              <a:rPr lang="en-AU" sz="1200" baseline="0" dirty="0" smtClean="0"/>
              <a:t> times when you have received neutral feedback.</a:t>
            </a:r>
          </a:p>
          <a:p>
            <a:pPr>
              <a:buFont typeface="Arial" pitchFamily="34" charset="0"/>
              <a:buChar char="•"/>
            </a:pPr>
            <a:r>
              <a:rPr lang="en-AU" sz="1200" baseline="0" dirty="0" smtClean="0"/>
              <a:t>How did it feel to receive it?</a:t>
            </a: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buFont typeface="Arial" pitchFamily="34" charset="0"/>
              <a:buChar char="•"/>
            </a:pPr>
            <a:r>
              <a:rPr lang="en-AU" sz="1200" kern="1200" dirty="0" smtClean="0">
                <a:solidFill>
                  <a:schemeClr val="tx1"/>
                </a:solidFill>
                <a:ea typeface="+mn-ea"/>
                <a:cs typeface="+mn-cs"/>
              </a:rPr>
              <a:t>Customer comment cards – these are established documents aimed at getting responses to a wide range of questions covering all facets of an operation</a:t>
            </a:r>
          </a:p>
          <a:p>
            <a:pPr lvl="0">
              <a:buFont typeface="Arial" pitchFamily="34" charset="0"/>
              <a:buChar char="•"/>
            </a:pPr>
            <a:r>
              <a:rPr lang="en-AU" sz="1200" kern="1200" dirty="0" smtClean="0">
                <a:solidFill>
                  <a:schemeClr val="tx1"/>
                </a:solidFill>
                <a:ea typeface="+mn-ea"/>
                <a:cs typeface="+mn-cs"/>
              </a:rPr>
              <a:t>General Manager cocktail parties – this approach involves selected guests enjoying refreshments with senior management. It is common for management to ask questions about their stay and suggestions for improvement. This approach is also beneficial in finding out more about the customer, which can be used to provide more personalised service</a:t>
            </a:r>
          </a:p>
          <a:p>
            <a:pPr lvl="0">
              <a:buFont typeface="Arial" pitchFamily="34" charset="0"/>
              <a:buChar char="•"/>
            </a:pPr>
            <a:r>
              <a:rPr lang="en-AU" sz="1200" kern="1200" dirty="0" smtClean="0">
                <a:solidFill>
                  <a:schemeClr val="tx1"/>
                </a:solidFill>
                <a:ea typeface="+mn-ea"/>
                <a:cs typeface="+mn-cs"/>
              </a:rPr>
              <a:t>Interviews and follow up calls – at times management may contact customers to find out about their experiences or visits</a:t>
            </a:r>
          </a:p>
          <a:p>
            <a:pPr lvl="0">
              <a:buFont typeface="Arial" pitchFamily="34" charset="0"/>
              <a:buChar char="•"/>
            </a:pPr>
            <a:r>
              <a:rPr lang="en-AU" sz="1200" kern="1200" dirty="0" smtClean="0">
                <a:solidFill>
                  <a:schemeClr val="tx1"/>
                </a:solidFill>
                <a:ea typeface="+mn-ea"/>
                <a:cs typeface="+mn-cs"/>
              </a:rPr>
              <a:t>Meetings – staff meetings are held on a regular basis and normally will explore the performance of operations. At these meeting, comment cards from customers are discussed with strategies for improvement implemented</a:t>
            </a:r>
          </a:p>
          <a:p>
            <a:pPr lvl="0">
              <a:buFont typeface="Arial" pitchFamily="34" charset="0"/>
              <a:buChar char="•"/>
            </a:pPr>
            <a:r>
              <a:rPr lang="en-AU" sz="1200" kern="1200" dirty="0" smtClean="0">
                <a:solidFill>
                  <a:schemeClr val="tx1"/>
                </a:solidFill>
                <a:ea typeface="+mn-ea"/>
                <a:cs typeface="+mn-cs"/>
              </a:rPr>
              <a:t>Performance reviews – this approach is used by management when providing feedback to staff regarding their performance. During these reviews, management will also ask staff for their suggestions or recommendations for improvement. At times, causes of poor staff performance will identify faults in the operation (lack of training, understaffing, limited or faulty equipment) which can be improved.</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 approach is a very effective way to get feedback. This information may come in the form of ‘gossip’ or ‘through the grapevine’, however is the provider of the largest amount of feedback.</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Informal feedback involves collecting information and feedback outside the above mentioned formal avenues. This includes:</a:t>
            </a:r>
          </a:p>
          <a:p>
            <a:pPr lvl="0">
              <a:buFont typeface="Arial" pitchFamily="34" charset="0"/>
              <a:buChar char="•"/>
            </a:pPr>
            <a:r>
              <a:rPr lang="en-AU" sz="1200" kern="1200" dirty="0" smtClean="0">
                <a:solidFill>
                  <a:schemeClr val="tx1"/>
                </a:solidFill>
                <a:ea typeface="+mn-ea"/>
                <a:cs typeface="+mn-cs"/>
              </a:rPr>
              <a:t>General discussion – whether with fellow staff or with customers, by interacting with people, you can get a good feel of what people are thinking</a:t>
            </a:r>
          </a:p>
          <a:p>
            <a:pPr lvl="0">
              <a:buFont typeface="Arial" pitchFamily="34" charset="0"/>
              <a:buChar char="•"/>
            </a:pPr>
            <a:r>
              <a:rPr lang="en-AU" sz="1200" kern="1200" dirty="0" smtClean="0">
                <a:solidFill>
                  <a:schemeClr val="tx1"/>
                </a:solidFill>
                <a:ea typeface="+mn-ea"/>
                <a:cs typeface="+mn-cs"/>
              </a:rPr>
              <a:t>Observations – this is a great form of feedback. It is encouraged that staff observe the actions and reactions of customers and fellow staff. Most people are often uneasy about truthfully giving negative feedback, so this approach is useful in getting an accurate reading of what people are thinking in different situations.</a:t>
            </a:r>
          </a:p>
          <a:p>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Questions</a:t>
            </a:r>
          </a:p>
          <a:p>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Why</a:t>
            </a:r>
            <a:r>
              <a:rPr lang="en-AU" sz="1200" kern="1200" baseline="0" dirty="0" smtClean="0">
                <a:solidFill>
                  <a:schemeClr val="tx1"/>
                </a:solidFill>
                <a:ea typeface="+mn-ea"/>
                <a:cs typeface="+mn-cs"/>
              </a:rPr>
              <a:t> is it important to have personal work standards?</a:t>
            </a:r>
          </a:p>
          <a:p>
            <a:pPr>
              <a:buFont typeface="Arial" pitchFamily="34" charset="0"/>
              <a:buChar char="•"/>
            </a:pPr>
            <a:r>
              <a:rPr lang="en-AU" sz="1200" kern="1200" baseline="0" dirty="0" smtClean="0">
                <a:solidFill>
                  <a:schemeClr val="tx1"/>
                </a:solidFill>
                <a:ea typeface="+mn-ea"/>
                <a:cs typeface="+mn-cs"/>
              </a:rPr>
              <a:t>What are examples of work standards you would have?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Discuss these personal work standards.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Discuss these personal work standards.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Why is it important</a:t>
            </a:r>
            <a:r>
              <a:rPr lang="en-AU" sz="1200" kern="1200" baseline="0" dirty="0" smtClean="0">
                <a:solidFill>
                  <a:schemeClr val="tx1"/>
                </a:solidFill>
                <a:ea typeface="+mn-ea"/>
                <a:cs typeface="+mn-cs"/>
              </a:rPr>
              <a:t> to involve staff in the planning process?</a:t>
            </a:r>
          </a:p>
          <a:p>
            <a:pPr>
              <a:buFont typeface="Arial" pitchFamily="34" charset="0"/>
              <a:buChar char="•"/>
            </a:pPr>
            <a:r>
              <a:rPr lang="en-AU" sz="1200" kern="1200" baseline="0" dirty="0" smtClean="0">
                <a:solidFill>
                  <a:schemeClr val="tx1"/>
                </a:solidFill>
                <a:ea typeface="+mn-ea"/>
                <a:cs typeface="+mn-cs"/>
              </a:rPr>
              <a:t>How can you involve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Discuss the points in the slide.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sz="1200" kern="120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input would you want staff to contribute?</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Things that one person may regard as ‘normal’, ‘acceptable’, ‘likeable’ or even ‘preferable’ can be, and frequently are, very different to what customers from different countries expect.</a:t>
            </a:r>
            <a:endParaRPr lang="en-AU" sz="1200" kern="1200" dirty="0">
              <a:solidFill>
                <a:schemeClr val="tx1"/>
              </a:solidFill>
              <a:ea typeface="+mn-ea"/>
              <a:cs typeface="+mn-cs"/>
            </a:endParaRPr>
          </a:p>
          <a:p>
            <a:endParaRPr lang="en-AU" sz="1200" kern="1200" dirty="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Get audience</a:t>
            </a:r>
            <a:r>
              <a:rPr lang="en-AU" sz="1200" baseline="0" dirty="0" smtClean="0"/>
              <a:t> members to discuss differences that exist when dealing with people from different countries, using the points in this slide as a guide.</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Discuss points based on self experience.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Discuss</a:t>
            </a:r>
            <a:r>
              <a:rPr lang="en-AU" sz="1200" baseline="0" dirty="0" smtClean="0"/>
              <a:t> points.</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What can a hotel do to cater</a:t>
            </a:r>
            <a:r>
              <a:rPr lang="en-AU" sz="1200" baseline="0" dirty="0" smtClean="0"/>
              <a:t> for it’s international market? Use this question as the basis of a group activity.</a:t>
            </a:r>
          </a:p>
          <a:p>
            <a:endParaRPr lang="en-AU" sz="1200" baseline="0" dirty="0" smtClean="0"/>
          </a:p>
          <a:p>
            <a:r>
              <a:rPr lang="en-AU" sz="1200" baseline="0" dirty="0" smtClean="0"/>
              <a:t>Break the group into pairs and get each pair to identify 5-10 things they can do to cater to an international market.</a:t>
            </a:r>
          </a:p>
          <a:p>
            <a:endParaRPr lang="en-AU" sz="1200" baseline="0" dirty="0" smtClean="0"/>
          </a:p>
          <a:p>
            <a:r>
              <a:rPr lang="en-AU" sz="1200" baseline="0" dirty="0" smtClean="0"/>
              <a:t>As a trainer, to make the activity more challenging, you may allocate each group a country or market segment.</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pPr>
              <a:buFont typeface="Arial" pitchFamily="34" charset="0"/>
              <a:buChar char="•"/>
            </a:pPr>
            <a:r>
              <a:rPr lang="en-AU" sz="1200" dirty="0" smtClean="0"/>
              <a:t>How do you communicate with someone</a:t>
            </a:r>
            <a:r>
              <a:rPr lang="en-AU" sz="1200" baseline="0" dirty="0" smtClean="0"/>
              <a:t> who doesn’t speak the same language as you?</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dirty="0" smtClean="0"/>
          </a:p>
          <a:p>
            <a:r>
              <a:rPr lang="en-AU" sz="1200" dirty="0" smtClean="0"/>
              <a:t>What</a:t>
            </a:r>
            <a:r>
              <a:rPr lang="en-AU" sz="1200" baseline="0" dirty="0" smtClean="0"/>
              <a:t> are points to consider when using each of the points mentioned in this slide when working in an ‘international’ environment?</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dirty="0" smtClean="0"/>
              <a:t>Visitors are often under a great deal of stress. They are in a foreign land, confronted with an alien language and not having even the basic day-to-day working knowledge that everyone simply takes for granted. </a:t>
            </a:r>
          </a:p>
          <a:p>
            <a:endParaRPr lang="en-AU" sz="1200" dirty="0" smtClean="0"/>
          </a:p>
          <a:p>
            <a:r>
              <a:rPr lang="en-AU" sz="1200" dirty="0" smtClean="0"/>
              <a:t>And the staff who deal with them are also usually a bit stressed by the normal work routine, plus the challenge of having to cope with a difficult situation.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give audience time to undertake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spcBef>
                <a:spcPts val="600"/>
              </a:spcBef>
              <a:spcAft>
                <a:spcPts val="1200"/>
              </a:spcAft>
            </a:pP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u="none"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1/22/2014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1/22/2014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1/22/2014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1/22/2014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1/22/2014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1/22/2014</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1/22/2014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1/22/2014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1/22/2014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1/22/2014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1/22/2014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1/22/2014</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3.tif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5.tif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4.tiff"/><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86.wmf"/></Relationships>
</file>

<file path=ppt/slides/_rels/slide94.x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03.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1.tiff"/><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87896"/>
            <a:ext cx="7930552" cy="936104"/>
          </a:xfrm>
        </p:spPr>
        <p:txBody>
          <a:bodyPr>
            <a:normAutofit fontScale="90000"/>
          </a:bodyPr>
          <a:lstStyle/>
          <a:p>
            <a:r>
              <a:rPr sz="4000" smtClean="0">
                <a:ln w="5000" cmpd="sng">
                  <a:noFill/>
                  <a:prstDash val="solid"/>
                </a:ln>
                <a:solidFill>
                  <a:srgbClr val="FF6600"/>
                </a:solidFill>
                <a:latin typeface="Helvetica" pitchFamily="34" charset="0"/>
              </a:rPr>
              <a:t>WORK COOPERATIVELY IN A GENERAL ADMINISTRATION ENVIRONMENT</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410200" y="2233242"/>
            <a:ext cx="2895600" cy="738558"/>
          </a:xfrm>
        </p:spPr>
        <p:txBody>
          <a:bodyPr>
            <a:normAutofit fontScale="92500"/>
          </a:bodyPr>
          <a:lstStyle/>
          <a:p>
            <a:r>
              <a:rPr lang="en-AU" b="1" dirty="0" smtClean="0">
                <a:latin typeface="Helvetica" pitchFamily="34" charset="0"/>
              </a:rPr>
              <a:t>D1.HGE.CL7.13	D1.HGA.CL6.02</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1219200" y="2362200"/>
            <a:ext cx="4636368" cy="3807927"/>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marL="493776" indent="-457200">
              <a:spcBef>
                <a:spcPts val="600"/>
              </a:spcBef>
              <a:spcAft>
                <a:spcPts val="1200"/>
              </a:spcAft>
              <a:buSzPct val="100000"/>
              <a:buFont typeface="+mj-lt"/>
              <a:buAutoNum type="arabicPeriod"/>
            </a:pPr>
            <a:r>
              <a:rPr lang="en-AU" sz="2200" dirty="0" smtClean="0">
                <a:latin typeface="Helvetica" pitchFamily="34" charset="0"/>
              </a:rPr>
              <a:t>Develop effective team relationships</a:t>
            </a:r>
          </a:p>
          <a:p>
            <a:pPr marL="493776" indent="-457200">
              <a:spcBef>
                <a:spcPts val="600"/>
              </a:spcBef>
              <a:spcAft>
                <a:spcPts val="1200"/>
              </a:spcAft>
              <a:buSzPct val="100000"/>
              <a:buFont typeface="+mj-lt"/>
              <a:buAutoNum type="arabicPeriod"/>
            </a:pPr>
            <a:r>
              <a:rPr lang="en-AU" sz="2200" dirty="0" smtClean="0">
                <a:latin typeface="Helvetica" pitchFamily="34" charset="0"/>
              </a:rPr>
              <a:t>Participate in team assignments</a:t>
            </a:r>
          </a:p>
          <a:p>
            <a:pPr marL="493776" indent="-457200">
              <a:spcBef>
                <a:spcPts val="600"/>
              </a:spcBef>
              <a:spcAft>
                <a:spcPts val="1200"/>
              </a:spcAft>
              <a:buSzPct val="100000"/>
              <a:buFont typeface="+mj-lt"/>
              <a:buAutoNum type="arabicPeriod"/>
            </a:pPr>
            <a:r>
              <a:rPr lang="en-AU" sz="2200" dirty="0" smtClean="0">
                <a:latin typeface="Helvetica" pitchFamily="34" charset="0"/>
              </a:rPr>
              <a:t>Contribute to team development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7" name="Picture 2" descr="C:\Documents and Settings\Godaishu\Desktop\PHOTOS\2012\review.jpg"/>
          <p:cNvPicPr>
            <a:picLocks noChangeAspect="1" noChangeArrowheads="1"/>
          </p:cNvPicPr>
          <p:nvPr/>
        </p:nvPicPr>
        <p:blipFill>
          <a:blip r:embed="rId3" cstate="print"/>
          <a:srcRect/>
          <a:stretch>
            <a:fillRect/>
          </a:stretch>
        </p:blipFill>
        <p:spPr bwMode="auto">
          <a:xfrm>
            <a:off x="6172199" y="2133600"/>
            <a:ext cx="1757665" cy="175260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7" name="Picture 2" descr="C:\Documents and Settings\PhongLan\Local Settings\Temporary Internet Files\Content.IE5\D4C0BBXF\MP900431095[1].jpg"/>
          <p:cNvPicPr>
            <a:picLocks noChangeAspect="1" noChangeArrowheads="1"/>
          </p:cNvPicPr>
          <p:nvPr/>
        </p:nvPicPr>
        <p:blipFill>
          <a:blip r:embed="rId3" cstate="print"/>
          <a:srcRect/>
          <a:stretch>
            <a:fillRect/>
          </a:stretch>
        </p:blipFill>
        <p:spPr bwMode="auto">
          <a:xfrm>
            <a:off x="6429388" y="1857364"/>
            <a:ext cx="1615308" cy="24288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1:</a:t>
            </a:r>
          </a:p>
          <a:p>
            <a:pPr marL="0">
              <a:spcBef>
                <a:spcPts val="600"/>
              </a:spcBef>
              <a:spcAft>
                <a:spcPts val="1200"/>
              </a:spcAft>
              <a:buNone/>
            </a:pPr>
            <a:r>
              <a:rPr lang="en-AU" sz="4000" dirty="0" smtClean="0">
                <a:solidFill>
                  <a:srgbClr val="FF6600"/>
                </a:solidFill>
                <a:latin typeface="Helvetica" pitchFamily="34" charset="0"/>
              </a:rPr>
              <a:t>Develop effective team relationships</a:t>
            </a:r>
          </a:p>
          <a:p>
            <a:pPr marL="0" lvl="0">
              <a:spcBef>
                <a:spcPts val="600"/>
              </a:spcBef>
              <a:spcAft>
                <a:spcPts val="1200"/>
              </a:spcAft>
              <a:buNone/>
            </a:pPr>
            <a:endParaRPr lang="en-AU" sz="4000" dirty="0" smtClean="0">
              <a:solidFill>
                <a:srgbClr val="FF6600"/>
              </a:solidFill>
              <a:latin typeface="Helvetica" pitchFamily="34" charset="0"/>
            </a:endParaRP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6" name="Picture 5" descr="shutterstock_70153306.jpg"/>
          <p:cNvPicPr/>
          <p:nvPr/>
        </p:nvPicPr>
        <p:blipFill>
          <a:blip r:embed="rId3" cstate="print"/>
          <a:stretch>
            <a:fillRect/>
          </a:stretch>
        </p:blipFill>
        <p:spPr>
          <a:xfrm>
            <a:off x="4944030" y="3352800"/>
            <a:ext cx="2785508" cy="19812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Develop effective team relationships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Develop and maintain relationships with team members and promote benefits of cooperative work consistent with organisational goals and objectives</a:t>
            </a:r>
          </a:p>
          <a:p>
            <a:pPr>
              <a:spcBef>
                <a:spcPts val="600"/>
              </a:spcBef>
              <a:spcAft>
                <a:spcPts val="1200"/>
              </a:spcAft>
            </a:pPr>
            <a:r>
              <a:rPr lang="en-AU" sz="2200" dirty="0" smtClean="0">
                <a:latin typeface="Helvetica" pitchFamily="34" charset="0"/>
              </a:rPr>
              <a:t>Undertake responsibilities and assignments in a positive manner to promote effective relationships within the work group</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096000" y="2819400"/>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962400" y="4114800"/>
            <a:ext cx="399154" cy="527046"/>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Develop effective team relationships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Conduct courteous and appropriate communication with others in a manner which reflects sensitivity to individual social and cultural differences in accordance with organisational requirements</a:t>
            </a:r>
          </a:p>
          <a:p>
            <a:pPr>
              <a:spcBef>
                <a:spcPts val="600"/>
              </a:spcBef>
              <a:spcAft>
                <a:spcPts val="1200"/>
              </a:spcAft>
            </a:pPr>
            <a:r>
              <a:rPr lang="en-AU" sz="2200" dirty="0" smtClean="0">
                <a:latin typeface="Helvetica" pitchFamily="34" charset="0"/>
              </a:rPr>
              <a:t>Use appropriate communication techniques to relay information in a clear and concise manner</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181600" y="3124200"/>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324600" y="4044954"/>
            <a:ext cx="399154" cy="527046"/>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Develop effective team relationships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Use language and tone appropriate to a particular audience, purpose and situation, taking into account the relevant factors involved</a:t>
            </a:r>
          </a:p>
          <a:p>
            <a:pPr>
              <a:spcBef>
                <a:spcPts val="600"/>
              </a:spcBef>
              <a:spcAft>
                <a:spcPts val="1200"/>
              </a:spcAft>
            </a:pPr>
            <a:r>
              <a:rPr lang="en-AU" sz="2200" dirty="0" smtClean="0">
                <a:latin typeface="Helvetica" pitchFamily="34" charset="0"/>
              </a:rPr>
              <a:t>Recognise and discuss issues that may lead to, or involve conflict with team members, or refer to appropriate persons</a:t>
            </a:r>
          </a:p>
          <a:p>
            <a:pPr>
              <a:spcBef>
                <a:spcPts val="600"/>
              </a:spcBef>
              <a:spcAft>
                <a:spcPts val="1200"/>
              </a:spcAft>
            </a:pPr>
            <a:r>
              <a:rPr lang="en-AU" sz="2200" dirty="0" smtClean="0">
                <a:latin typeface="Helvetica" pitchFamily="34" charset="0"/>
              </a:rPr>
              <a:t>Complete routine workplace documentation                  accurately in a timely manner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572000" y="281940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657600" y="4038600"/>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800600" y="4953000"/>
            <a:ext cx="399154" cy="527046"/>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Teamwork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Teamwork is classified as the collective actions towards a number of people towards a collective goal. </a:t>
            </a:r>
          </a:p>
          <a:p>
            <a:pPr marL="0">
              <a:spcBef>
                <a:spcPts val="600"/>
              </a:spcBef>
              <a:spcAft>
                <a:spcPts val="1200"/>
              </a:spcAft>
              <a:buNone/>
            </a:pPr>
            <a:r>
              <a:rPr lang="en-AU" sz="2200" dirty="0" smtClean="0">
                <a:latin typeface="Helvetica" pitchFamily="34" charset="0"/>
              </a:rPr>
              <a:t>In a hospitality or tourism organisation, no one person can meet the needs of all customers. </a:t>
            </a:r>
          </a:p>
          <a:p>
            <a:pPr marL="0">
              <a:spcBef>
                <a:spcPts val="600"/>
              </a:spcBef>
              <a:spcAft>
                <a:spcPts val="1200"/>
              </a:spcAft>
              <a:buNone/>
            </a:pPr>
            <a:r>
              <a:rPr lang="en-AU" sz="2200" dirty="0" smtClean="0">
                <a:latin typeface="Helvetica" pitchFamily="34" charset="0"/>
              </a:rPr>
              <a:t>It requires the collective efforts of many                                       people to achieve success.</a:t>
            </a:r>
          </a:p>
          <a:p>
            <a:pPr marL="0">
              <a:buNone/>
            </a:pP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7" name="Picture 6" descr="11111.jpg"/>
          <p:cNvPicPr>
            <a:picLocks noChangeAspect="1"/>
          </p:cNvPicPr>
          <p:nvPr/>
        </p:nvPicPr>
        <p:blipFill>
          <a:blip r:embed="rId3" cstate="print"/>
          <a:stretch>
            <a:fillRect/>
          </a:stretch>
        </p:blipFill>
        <p:spPr>
          <a:xfrm>
            <a:off x="6324600" y="3048000"/>
            <a:ext cx="1524000" cy="228171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Teamwork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Whilst each business will have a range of goals, in essence the primary goal is to:</a:t>
            </a:r>
          </a:p>
          <a:p>
            <a:pPr marL="0">
              <a:spcBef>
                <a:spcPts val="600"/>
              </a:spcBef>
              <a:spcAft>
                <a:spcPts val="1200"/>
              </a:spcAft>
            </a:pPr>
            <a:r>
              <a:rPr lang="en-AU" sz="2200" dirty="0" smtClean="0">
                <a:latin typeface="Helvetica" pitchFamily="34" charset="0"/>
              </a:rPr>
              <a:t>Provide an enjoyable experience for customers</a:t>
            </a:r>
          </a:p>
          <a:p>
            <a:pPr marL="0">
              <a:spcBef>
                <a:spcPts val="600"/>
              </a:spcBef>
              <a:spcAft>
                <a:spcPts val="1200"/>
              </a:spcAft>
            </a:pPr>
            <a:r>
              <a:rPr lang="en-AU" sz="2200" dirty="0" smtClean="0">
                <a:latin typeface="Helvetica" pitchFamily="34" charset="0"/>
              </a:rPr>
              <a:t>For a reasonable return on investment</a:t>
            </a:r>
          </a:p>
          <a:p>
            <a:pPr marL="0">
              <a:spcBef>
                <a:spcPts val="600"/>
              </a:spcBef>
              <a:spcAft>
                <a:spcPts val="1200"/>
              </a:spcAft>
            </a:pPr>
            <a:r>
              <a:rPr lang="en-AU" sz="2200" dirty="0" smtClean="0">
                <a:latin typeface="Helvetica" pitchFamily="34" charset="0"/>
              </a:rPr>
              <a:t>In a safe and lawful manner</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descr="Culinaryacademy142.TIF"/>
          <p:cNvPicPr>
            <a:picLocks noChangeAspect="1"/>
          </p:cNvPicPr>
          <p:nvPr/>
        </p:nvPicPr>
        <p:blipFill>
          <a:blip r:embed="rId3" cstate="print"/>
          <a:stretch>
            <a:fillRect/>
          </a:stretch>
        </p:blipFill>
        <p:spPr>
          <a:xfrm>
            <a:off x="5364088" y="3789040"/>
            <a:ext cx="3167844" cy="211189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dirty="0" smtClean="0">
                <a:latin typeface="Helvetica" pitchFamily="34" charset="0"/>
              </a:rPr>
              <a:t>A team is often characterised through:</a:t>
            </a:r>
          </a:p>
          <a:p>
            <a:pPr lvl="0">
              <a:spcBef>
                <a:spcPts val="600"/>
              </a:spcBef>
              <a:spcAft>
                <a:spcPts val="1200"/>
              </a:spcAft>
            </a:pPr>
            <a:r>
              <a:rPr lang="en-AU" sz="2200" dirty="0" smtClean="0">
                <a:latin typeface="Helvetica" pitchFamily="34" charset="0"/>
              </a:rPr>
              <a:t>Having a common goal</a:t>
            </a:r>
          </a:p>
          <a:p>
            <a:pPr lvl="0">
              <a:spcBef>
                <a:spcPts val="600"/>
              </a:spcBef>
              <a:spcAft>
                <a:spcPts val="1200"/>
              </a:spcAft>
            </a:pPr>
            <a:r>
              <a:rPr lang="en-AU" sz="2200" dirty="0" smtClean="0">
                <a:latin typeface="Helvetica" pitchFamily="34" charset="0"/>
              </a:rPr>
              <a:t>Work interdependently</a:t>
            </a:r>
          </a:p>
          <a:p>
            <a:pPr lvl="0">
              <a:spcBef>
                <a:spcPts val="600"/>
              </a:spcBef>
              <a:spcAft>
                <a:spcPts val="1200"/>
              </a:spcAft>
            </a:pPr>
            <a:r>
              <a:rPr lang="en-AU" sz="2200" dirty="0" smtClean="0">
                <a:latin typeface="Helvetica" pitchFamily="34" charset="0"/>
              </a:rPr>
              <a:t>Independent job functions</a:t>
            </a:r>
          </a:p>
          <a:p>
            <a:pPr lvl="0">
              <a:spcBef>
                <a:spcPts val="600"/>
              </a:spcBef>
              <a:spcAft>
                <a:spcPts val="1200"/>
              </a:spcAft>
            </a:pPr>
            <a:r>
              <a:rPr lang="en-AU" sz="2200" dirty="0" smtClean="0">
                <a:latin typeface="Helvetica" pitchFamily="34" charset="0"/>
              </a:rPr>
              <a:t>Enjoy working</a:t>
            </a:r>
          </a:p>
          <a:p>
            <a:pPr lvl="0">
              <a:spcBef>
                <a:spcPts val="600"/>
              </a:spcBef>
              <a:spcAft>
                <a:spcPts val="1200"/>
              </a:spcAft>
            </a:pPr>
            <a:r>
              <a:rPr lang="en-AU" sz="2200" dirty="0" smtClean="0">
                <a:latin typeface="Helvetica" pitchFamily="34" charset="0"/>
              </a:rPr>
              <a:t>Accountability</a:t>
            </a:r>
          </a:p>
          <a:p>
            <a:pPr lvl="0">
              <a:spcBef>
                <a:spcPts val="600"/>
              </a:spcBef>
              <a:spcAft>
                <a:spcPts val="1200"/>
              </a:spcAft>
            </a:pPr>
            <a:r>
              <a:rPr lang="en-AU" sz="2200" dirty="0" smtClean="0">
                <a:latin typeface="Helvetica" pitchFamily="34" charset="0"/>
              </a:rPr>
              <a:t>Empowerment</a:t>
            </a:r>
          </a:p>
          <a:p>
            <a:pPr lvl="0">
              <a:spcBef>
                <a:spcPts val="600"/>
              </a:spcBef>
              <a:spcAft>
                <a:spcPts val="1200"/>
              </a:spcAft>
            </a:pPr>
            <a:r>
              <a:rPr lang="en-AU" sz="2200" dirty="0" smtClean="0">
                <a:latin typeface="Helvetica" pitchFamily="34" charset="0"/>
              </a:rPr>
              <a:t>Understand the importance of teams</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descr="Events.JPG"/>
          <p:cNvPicPr/>
          <p:nvPr/>
        </p:nvPicPr>
        <p:blipFill>
          <a:blip r:embed="rId3" cstate="print"/>
          <a:stretch>
            <a:fillRect/>
          </a:stretch>
        </p:blipFill>
        <p:spPr>
          <a:xfrm>
            <a:off x="5638800" y="2667000"/>
            <a:ext cx="2373359" cy="175981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Factors influencing team structure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Teams </a:t>
            </a:r>
            <a:r>
              <a:rPr lang="en-AU" sz="2200" dirty="0" smtClean="0">
                <a:latin typeface="Helvetica" pitchFamily="34" charset="0"/>
              </a:rPr>
              <a:t>are commonly created based on a number of factors including, but not limited to:</a:t>
            </a:r>
          </a:p>
          <a:p>
            <a:pPr lvl="0">
              <a:spcBef>
                <a:spcPts val="600"/>
              </a:spcBef>
              <a:spcAft>
                <a:spcPts val="1200"/>
              </a:spcAft>
            </a:pPr>
            <a:r>
              <a:rPr lang="en-AU" sz="2200" dirty="0" smtClean="0">
                <a:latin typeface="Helvetica" pitchFamily="34" charset="0"/>
              </a:rPr>
              <a:t>Organisational structure</a:t>
            </a:r>
          </a:p>
          <a:p>
            <a:pPr lvl="0">
              <a:spcBef>
                <a:spcPts val="600"/>
              </a:spcBef>
              <a:spcAft>
                <a:spcPts val="1200"/>
              </a:spcAft>
            </a:pPr>
            <a:r>
              <a:rPr lang="en-AU" sz="2200" dirty="0" smtClean="0">
                <a:latin typeface="Helvetica" pitchFamily="34" charset="0"/>
              </a:rPr>
              <a:t>Purpose of the business</a:t>
            </a:r>
          </a:p>
          <a:p>
            <a:pPr lvl="0">
              <a:spcBef>
                <a:spcPts val="600"/>
              </a:spcBef>
              <a:spcAft>
                <a:spcPts val="1200"/>
              </a:spcAft>
            </a:pPr>
            <a:r>
              <a:rPr lang="en-AU" sz="2200" dirty="0" smtClean="0">
                <a:latin typeface="Helvetica" pitchFamily="34" charset="0"/>
              </a:rPr>
              <a:t>Company culture</a:t>
            </a:r>
          </a:p>
          <a:p>
            <a:pPr lvl="0">
              <a:spcBef>
                <a:spcPts val="600"/>
              </a:spcBef>
              <a:spcAft>
                <a:spcPts val="1200"/>
              </a:spcAft>
            </a:pPr>
            <a:r>
              <a:rPr lang="en-AU" sz="2200" dirty="0" smtClean="0">
                <a:latin typeface="Helvetica" pitchFamily="34" charset="0"/>
              </a:rPr>
              <a:t>Types of departments</a:t>
            </a:r>
          </a:p>
          <a:p>
            <a:pPr lvl="0">
              <a:spcBef>
                <a:spcPts val="600"/>
              </a:spcBef>
              <a:spcAft>
                <a:spcPts val="1200"/>
              </a:spcAft>
            </a:pPr>
            <a:r>
              <a:rPr lang="en-AU" sz="2200" dirty="0" smtClean="0">
                <a:latin typeface="Helvetica" pitchFamily="34" charset="0"/>
              </a:rPr>
              <a:t>Degree of service provided</a:t>
            </a:r>
          </a:p>
          <a:p>
            <a:pPr lvl="0">
              <a:spcBef>
                <a:spcPts val="600"/>
              </a:spcBef>
              <a:spcAft>
                <a:spcPts val="1200"/>
              </a:spcAft>
            </a:pPr>
            <a:r>
              <a:rPr lang="en-AU" sz="2200" dirty="0" smtClean="0">
                <a:latin typeface="Helvetica" pitchFamily="34" charset="0"/>
              </a:rPr>
              <a:t>Service style</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descr="5.jpg"/>
          <p:cNvPicPr/>
          <p:nvPr/>
        </p:nvPicPr>
        <p:blipFill>
          <a:blip r:embed="rId3" cstate="print"/>
          <a:stretch>
            <a:fillRect/>
          </a:stretch>
        </p:blipFill>
        <p:spPr>
          <a:xfrm>
            <a:off x="5943600" y="3581400"/>
            <a:ext cx="2143125" cy="153352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Types of teams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pPr>
            <a:r>
              <a:rPr lang="en-AU" sz="2200" dirty="0" smtClean="0">
                <a:latin typeface="Helvetica" pitchFamily="34" charset="0"/>
              </a:rPr>
              <a:t>The organisation as a whole</a:t>
            </a:r>
          </a:p>
          <a:p>
            <a:pPr>
              <a:spcBef>
                <a:spcPts val="600"/>
              </a:spcBef>
              <a:spcAft>
                <a:spcPts val="1200"/>
              </a:spcAft>
            </a:pPr>
            <a:r>
              <a:rPr lang="en-AU" sz="2200" dirty="0" smtClean="0">
                <a:latin typeface="Helvetica" pitchFamily="34" charset="0"/>
              </a:rPr>
              <a:t>Individual branches</a:t>
            </a:r>
          </a:p>
          <a:p>
            <a:pPr>
              <a:spcBef>
                <a:spcPts val="600"/>
              </a:spcBef>
              <a:spcAft>
                <a:spcPts val="1200"/>
              </a:spcAft>
            </a:pPr>
            <a:r>
              <a:rPr lang="en-AU" sz="2200" dirty="0" smtClean="0">
                <a:latin typeface="Helvetica" pitchFamily="34" charset="0"/>
              </a:rPr>
              <a:t>Individual work sections</a:t>
            </a:r>
          </a:p>
          <a:p>
            <a:pPr>
              <a:spcBef>
                <a:spcPts val="600"/>
              </a:spcBef>
              <a:spcAft>
                <a:spcPts val="1200"/>
              </a:spcAft>
            </a:pPr>
            <a:r>
              <a:rPr lang="en-AU" sz="2200" dirty="0" smtClean="0">
                <a:latin typeface="Helvetica" pitchFamily="34" charset="0"/>
              </a:rPr>
              <a:t>Specific groups of employees assigned to complete designated tasks, or to work together</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endParaRPr lang="en-AU" sz="2400" dirty="0" smtClean="0"/>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7" name="Picture 6" descr="conference centre ad.jpg"/>
          <p:cNvPicPr/>
          <p:nvPr/>
        </p:nvPicPr>
        <p:blipFill>
          <a:blip r:embed="rId3" cstate="print"/>
          <a:stretch>
            <a:fillRect/>
          </a:stretch>
        </p:blipFill>
        <p:spPr>
          <a:xfrm>
            <a:off x="3200400" y="4267200"/>
            <a:ext cx="2619375" cy="183832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b="1" dirty="0">
                <a:solidFill>
                  <a:srgbClr val="FF6600"/>
                </a:solidFill>
              </a:rPr>
              <a:t>Context for Front Office</a:t>
            </a:r>
            <a:endParaRPr lang="en-AU" sz="3400" b="1" dirty="0">
              <a:solidFill>
                <a:srgbClr val="FF6600"/>
              </a:solidFill>
            </a:endParaRPr>
          </a:p>
        </p:txBody>
      </p:sp>
      <p:sp>
        <p:nvSpPr>
          <p:cNvPr id="3" name="Content Placeholder 2"/>
          <p:cNvSpPr>
            <a:spLocks noGrp="1"/>
          </p:cNvSpPr>
          <p:nvPr>
            <p:ph idx="1"/>
          </p:nvPr>
        </p:nvSpPr>
        <p:spPr/>
        <p:txBody>
          <a:bodyPr>
            <a:normAutofit/>
          </a:bodyPr>
          <a:lstStyle/>
          <a:p>
            <a:pPr>
              <a:spcBef>
                <a:spcPts val="600"/>
              </a:spcBef>
              <a:spcAft>
                <a:spcPts val="1200"/>
              </a:spcAft>
              <a:buNone/>
            </a:pPr>
            <a:r>
              <a:rPr lang="en-AU" sz="2400" b="1" dirty="0"/>
              <a:t>Workers in the Front Office need to be aware:</a:t>
            </a:r>
          </a:p>
          <a:p>
            <a:pPr>
              <a:spcBef>
                <a:spcPts val="600"/>
              </a:spcBef>
              <a:spcAft>
                <a:spcPts val="1200"/>
              </a:spcAft>
            </a:pPr>
            <a:r>
              <a:rPr lang="en-AU" sz="2400" dirty="0"/>
              <a:t>People see Front Office as the nerve centre of the business</a:t>
            </a:r>
          </a:p>
          <a:p>
            <a:pPr>
              <a:spcBef>
                <a:spcPts val="600"/>
              </a:spcBef>
              <a:spcAft>
                <a:spcPts val="1200"/>
              </a:spcAft>
            </a:pPr>
            <a:r>
              <a:rPr lang="en-AU" sz="2400" dirty="0"/>
              <a:t>They are expected to be efficient and effective in gathering and disseminating information</a:t>
            </a:r>
          </a:p>
          <a:p>
            <a:pPr>
              <a:spcBef>
                <a:spcPts val="600"/>
              </a:spcBef>
              <a:spcAft>
                <a:spcPts val="1200"/>
              </a:spcAft>
            </a:pPr>
            <a:r>
              <a:rPr lang="en-AU" sz="2400" dirty="0"/>
              <a:t>It is critical to develop a good working relationship with all other venue departments</a:t>
            </a:r>
          </a:p>
          <a:p>
            <a:pPr>
              <a:spcBef>
                <a:spcPts val="600"/>
              </a:spcBef>
              <a:spcAft>
                <a:spcPts val="1200"/>
              </a:spcAft>
            </a:pPr>
            <a:r>
              <a:rPr lang="en-AU" sz="2400" dirty="0"/>
              <a:t>Front Office plays an important role as a central ‘clearing house’ for establishment </a:t>
            </a:r>
            <a:r>
              <a:rPr lang="en-AU" sz="2400" dirty="0"/>
              <a:t>information</a:t>
            </a:r>
            <a:endParaRPr lang="en-AU" sz="2400"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13</a:t>
            </a:fld>
            <a:endParaRPr lang="en-US" dirty="0"/>
          </a:p>
        </p:txBody>
      </p:sp>
    </p:spTree>
    <p:extLst>
      <p:ext uri="{BB962C8B-B14F-4D97-AF65-F5344CB8AC3E}">
        <p14:creationId xmlns:p14="http://schemas.microsoft.com/office/powerpoint/2010/main" val="540982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Team purpose and responsibilities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buNone/>
            </a:pPr>
            <a:r>
              <a:rPr lang="en-AU" sz="2200" dirty="0" smtClean="0">
                <a:latin typeface="Helvetica" pitchFamily="34" charset="0"/>
              </a:rPr>
              <a:t>Regardless of the size, structure or dynamic of each group, they will always have a purpose and responsibilities in which they strive to achieve.</a:t>
            </a: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7" name="Picture 6" descr="4705896572_e4cda07663.jpg"/>
          <p:cNvPicPr>
            <a:picLocks noChangeAspect="1"/>
          </p:cNvPicPr>
          <p:nvPr/>
        </p:nvPicPr>
        <p:blipFill>
          <a:blip r:embed="rId3" cstate="print"/>
          <a:stretch>
            <a:fillRect/>
          </a:stretch>
        </p:blipFill>
        <p:spPr>
          <a:xfrm>
            <a:off x="5410200" y="2590800"/>
            <a:ext cx="2555488" cy="188595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Team purpose and responsibilities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Types of responsibilities</a:t>
            </a:r>
          </a:p>
          <a:p>
            <a:pPr>
              <a:spcBef>
                <a:spcPts val="600"/>
              </a:spcBef>
              <a:spcAft>
                <a:spcPts val="1200"/>
              </a:spcAft>
            </a:pPr>
            <a:r>
              <a:rPr lang="en-AU" sz="2200" dirty="0" smtClean="0">
                <a:latin typeface="Helvetica" pitchFamily="34" charset="0"/>
              </a:rPr>
              <a:t>Targets, goals and objectives</a:t>
            </a:r>
          </a:p>
          <a:p>
            <a:pPr>
              <a:spcBef>
                <a:spcPts val="600"/>
              </a:spcBef>
              <a:spcAft>
                <a:spcPts val="1200"/>
              </a:spcAft>
            </a:pPr>
            <a:r>
              <a:rPr lang="en-AU" sz="2200" dirty="0" smtClean="0">
                <a:latin typeface="Helvetica" pitchFamily="34" charset="0"/>
              </a:rPr>
              <a:t>Reporting deadlines</a:t>
            </a:r>
          </a:p>
          <a:p>
            <a:pPr>
              <a:spcBef>
                <a:spcPts val="600"/>
              </a:spcBef>
              <a:spcAft>
                <a:spcPts val="1200"/>
              </a:spcAft>
            </a:pPr>
            <a:r>
              <a:rPr lang="en-AU" sz="2200" dirty="0" smtClean="0">
                <a:latin typeface="Helvetica" pitchFamily="34" charset="0"/>
              </a:rPr>
              <a:t>Meeting budgetary targets</a:t>
            </a:r>
          </a:p>
          <a:p>
            <a:pPr>
              <a:spcBef>
                <a:spcPts val="600"/>
              </a:spcBef>
              <a:spcAft>
                <a:spcPts val="1200"/>
              </a:spcAft>
            </a:pPr>
            <a:r>
              <a:rPr lang="en-AU" sz="2200" dirty="0" smtClean="0">
                <a:latin typeface="Helvetica" pitchFamily="34" charset="0"/>
              </a:rPr>
              <a:t>Team participation</a:t>
            </a:r>
          </a:p>
          <a:p>
            <a:pPr>
              <a:spcBef>
                <a:spcPts val="600"/>
              </a:spcBef>
              <a:spcAft>
                <a:spcPts val="1200"/>
              </a:spcAft>
            </a:pPr>
            <a:r>
              <a:rPr lang="en-AU" sz="2200" dirty="0" smtClean="0">
                <a:latin typeface="Helvetica" pitchFamily="34" charset="0"/>
              </a:rPr>
              <a:t>Team and individual learning goals</a:t>
            </a:r>
          </a:p>
          <a:p>
            <a:pPr>
              <a:spcBef>
                <a:spcPts val="600"/>
              </a:spcBef>
              <a:spcAft>
                <a:spcPts val="1200"/>
              </a:spcAft>
            </a:pPr>
            <a:r>
              <a:rPr lang="en-AU" sz="2200" dirty="0" smtClean="0">
                <a:latin typeface="Helvetica" pitchFamily="34" charset="0"/>
              </a:rPr>
              <a:t>Professional development</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7" name="Picture 6" descr="MP910220674.JPG"/>
          <p:cNvPicPr>
            <a:picLocks noChangeAspect="1"/>
          </p:cNvPicPr>
          <p:nvPr/>
        </p:nvPicPr>
        <p:blipFill>
          <a:blip r:embed="rId3" cstate="print"/>
          <a:stretch>
            <a:fillRect/>
          </a:stretch>
        </p:blipFill>
        <p:spPr>
          <a:xfrm>
            <a:off x="5867400" y="2438400"/>
            <a:ext cx="2064839" cy="20574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Purpose of work groups</a:t>
            </a: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pPr>
            <a:r>
              <a:rPr lang="en-AU" sz="2200" dirty="0" smtClean="0">
                <a:latin typeface="Helvetica" pitchFamily="34" charset="0"/>
              </a:rPr>
              <a:t>A team is brought together to serve a purpose. This purpose normally has defined objectives or goals in which it is aiming to achieve</a:t>
            </a:r>
          </a:p>
          <a:p>
            <a:pPr>
              <a:spcBef>
                <a:spcPts val="600"/>
              </a:spcBef>
              <a:spcAft>
                <a:spcPts val="1200"/>
              </a:spcAft>
            </a:pPr>
            <a:r>
              <a:rPr lang="en-AU" sz="2200" dirty="0" smtClean="0">
                <a:latin typeface="Helvetica" pitchFamily="34" charset="0"/>
              </a:rPr>
              <a:t>In order to achieve these goals, each person within the team will have set roles and responsibilities in which they are expected to understand and undertake</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descr="group.JPG"/>
          <p:cNvPicPr>
            <a:picLocks noChangeAspect="1"/>
          </p:cNvPicPr>
          <p:nvPr/>
        </p:nvPicPr>
        <p:blipFill>
          <a:blip r:embed="rId3" cstate="print"/>
          <a:stretch>
            <a:fillRect/>
          </a:stretch>
        </p:blipFill>
        <p:spPr>
          <a:xfrm>
            <a:off x="3505200" y="4267200"/>
            <a:ext cx="2518046" cy="1670304"/>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Workgroups</a:t>
            </a: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Workgroups</a:t>
            </a:r>
            <a:endParaRPr lang="en-AU" sz="2200" dirty="0" smtClean="0">
              <a:latin typeface="Helvetica" pitchFamily="34" charset="0"/>
            </a:endParaRPr>
          </a:p>
          <a:p>
            <a:pPr>
              <a:spcBef>
                <a:spcPts val="600"/>
              </a:spcBef>
              <a:spcAft>
                <a:spcPts val="1000"/>
              </a:spcAft>
            </a:pPr>
            <a:r>
              <a:rPr lang="en-AU" sz="2200" dirty="0" smtClean="0">
                <a:latin typeface="Helvetica" pitchFamily="34" charset="0"/>
              </a:rPr>
              <a:t>A workgroup is the most common structure for people to work together</a:t>
            </a:r>
          </a:p>
          <a:p>
            <a:pPr>
              <a:spcBef>
                <a:spcPts val="600"/>
              </a:spcBef>
              <a:spcAft>
                <a:spcPts val="1000"/>
              </a:spcAft>
            </a:pPr>
            <a:r>
              <a:rPr lang="en-AU" sz="2200" dirty="0" smtClean="0">
                <a:latin typeface="Helvetica" pitchFamily="34" charset="0"/>
              </a:rPr>
              <a:t>A workgroup is one where people have a common ground for working</a:t>
            </a:r>
          </a:p>
          <a:p>
            <a:pPr>
              <a:spcBef>
                <a:spcPts val="600"/>
              </a:spcBef>
              <a:spcAft>
                <a:spcPts val="1000"/>
              </a:spcAft>
            </a:pPr>
            <a:r>
              <a:rPr lang="en-AU" sz="2200" dirty="0" smtClean="0">
                <a:latin typeface="Helvetica" pitchFamily="34" charset="0"/>
              </a:rPr>
              <a:t> Individuals are given a specific set of responsibilities and roles or tasks that when the individual efforts are put together, creates a total output</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7" name="Picture 6" descr="MP900443249.JPG"/>
          <p:cNvPicPr>
            <a:picLocks noChangeAspect="1"/>
          </p:cNvPicPr>
          <p:nvPr/>
        </p:nvPicPr>
        <p:blipFill>
          <a:blip r:embed="rId3" cstate="print"/>
          <a:stretch>
            <a:fillRect/>
          </a:stretch>
        </p:blipFill>
        <p:spPr>
          <a:xfrm>
            <a:off x="3810000" y="5181600"/>
            <a:ext cx="1948833" cy="12954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Responsibilities</a:t>
            </a: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Team and individual responsibilities</a:t>
            </a:r>
          </a:p>
          <a:p>
            <a:pPr marL="0">
              <a:spcBef>
                <a:spcPts val="600"/>
              </a:spcBef>
              <a:spcAft>
                <a:spcPts val="1200"/>
              </a:spcAft>
              <a:buNone/>
            </a:pPr>
            <a:r>
              <a:rPr lang="en-AU" sz="2200" dirty="0" smtClean="0">
                <a:latin typeface="Helvetica" pitchFamily="34" charset="0"/>
              </a:rPr>
              <a:t>Each work team, whether as a whole or as individual members, have responsibilities that must be adhered to. </a:t>
            </a:r>
          </a:p>
          <a:p>
            <a:pPr lvl="0">
              <a:spcBef>
                <a:spcPts val="600"/>
              </a:spcBef>
              <a:spcAft>
                <a:spcPts val="1200"/>
              </a:spcAft>
            </a:pPr>
            <a:r>
              <a:rPr lang="en-AU" sz="2200" dirty="0" smtClean="0">
                <a:latin typeface="Helvetica" pitchFamily="34" charset="0"/>
              </a:rPr>
              <a:t>What are these responsibilities?</a:t>
            </a:r>
          </a:p>
          <a:p>
            <a:endParaRPr lang="en-AU" sz="2400" dirty="0" smtClean="0"/>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7" name="Picture 6" descr="1.jpg"/>
          <p:cNvPicPr/>
          <p:nvPr/>
        </p:nvPicPr>
        <p:blipFill>
          <a:blip r:embed="rId3" cstate="print"/>
          <a:stretch>
            <a:fillRect/>
          </a:stretch>
        </p:blipFill>
        <p:spPr>
          <a:xfrm>
            <a:off x="3657600" y="3886200"/>
            <a:ext cx="2247900" cy="1547813"/>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Responsibilities</a:t>
            </a: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Work team tools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Work teams use a variety of tools to create the best harmony and work output including:</a:t>
            </a:r>
          </a:p>
          <a:p>
            <a:pPr lvl="0">
              <a:spcBef>
                <a:spcPts val="600"/>
              </a:spcBef>
              <a:spcAft>
                <a:spcPts val="1200"/>
              </a:spcAft>
            </a:pPr>
            <a:r>
              <a:rPr lang="en-AU" sz="2200" dirty="0" smtClean="0">
                <a:latin typeface="Helvetica" pitchFamily="34" charset="0"/>
              </a:rPr>
              <a:t>Checklists</a:t>
            </a:r>
          </a:p>
          <a:p>
            <a:pPr lvl="0">
              <a:spcBef>
                <a:spcPts val="600"/>
              </a:spcBef>
              <a:spcAft>
                <a:spcPts val="1200"/>
              </a:spcAft>
            </a:pPr>
            <a:r>
              <a:rPr lang="en-AU" sz="2200" dirty="0" smtClean="0">
                <a:latin typeface="Helvetica" pitchFamily="34" charset="0"/>
              </a:rPr>
              <a:t>Position descriptions</a:t>
            </a:r>
          </a:p>
          <a:p>
            <a:pPr lvl="0">
              <a:spcBef>
                <a:spcPts val="600"/>
              </a:spcBef>
              <a:spcAft>
                <a:spcPts val="1200"/>
              </a:spcAft>
            </a:pPr>
            <a:r>
              <a:rPr lang="en-AU" sz="2200" dirty="0" smtClean="0">
                <a:latin typeface="Helvetica" pitchFamily="34" charset="0"/>
              </a:rPr>
              <a:t>Team leader roles</a:t>
            </a:r>
          </a:p>
          <a:p>
            <a:pPr lvl="0">
              <a:spcBef>
                <a:spcPts val="600"/>
              </a:spcBef>
              <a:spcAft>
                <a:spcPts val="1200"/>
              </a:spcAft>
            </a:pPr>
            <a:r>
              <a:rPr lang="en-AU" sz="2200" dirty="0" smtClean="0">
                <a:latin typeface="Helvetica" pitchFamily="34" charset="0"/>
              </a:rPr>
              <a:t>Authority rules and procedures</a:t>
            </a:r>
          </a:p>
          <a:p>
            <a:pPr lvl="0">
              <a:spcBef>
                <a:spcPts val="600"/>
              </a:spcBef>
              <a:spcAft>
                <a:spcPts val="1200"/>
              </a:spcAft>
            </a:pPr>
            <a:r>
              <a:rPr lang="en-AU" sz="2200" dirty="0" smtClean="0">
                <a:latin typeface="Helvetica" pitchFamily="34" charset="0"/>
              </a:rPr>
              <a:t>Focus on heightening socialisation</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7" name="Picture 6" descr="1204276_glasses_on___.jpg"/>
          <p:cNvPicPr>
            <a:picLocks noChangeAspect="1"/>
          </p:cNvPicPr>
          <p:nvPr/>
        </p:nvPicPr>
        <p:blipFill>
          <a:blip r:embed="rId3" cstate="print"/>
          <a:stretch>
            <a:fillRect/>
          </a:stretch>
        </p:blipFill>
        <p:spPr>
          <a:xfrm>
            <a:off x="5638800" y="3276600"/>
            <a:ext cx="2241549" cy="168116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Importance of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pPr>
            <a:r>
              <a:rPr lang="en-AU" sz="2200" dirty="0" smtClean="0">
                <a:latin typeface="Helvetica" pitchFamily="34" charset="0"/>
              </a:rPr>
              <a:t>When providing support to others, especially when sharing knowledge it is vital that you have good communication skills</a:t>
            </a:r>
          </a:p>
          <a:p>
            <a:pPr>
              <a:spcBef>
                <a:spcPts val="600"/>
              </a:spcBef>
              <a:spcAft>
                <a:spcPts val="1200"/>
              </a:spcAft>
            </a:pPr>
            <a:r>
              <a:rPr lang="en-AU" sz="2200" dirty="0" smtClean="0">
                <a:latin typeface="Helvetica" pitchFamily="34" charset="0"/>
              </a:rPr>
              <a:t>It is no point providing verbal support, it the </a:t>
            </a:r>
            <a:br>
              <a:rPr lang="en-AU" sz="2200" dirty="0" smtClean="0">
                <a:latin typeface="Helvetica" pitchFamily="34" charset="0"/>
              </a:rPr>
            </a:br>
            <a:r>
              <a:rPr lang="en-AU" sz="2200" dirty="0" smtClean="0">
                <a:latin typeface="Helvetica" pitchFamily="34" charset="0"/>
              </a:rPr>
              <a:t>recipient does not understand what you are </a:t>
            </a:r>
            <a:br>
              <a:rPr lang="en-AU" sz="2200" dirty="0" smtClean="0">
                <a:latin typeface="Helvetica" pitchFamily="34" charset="0"/>
              </a:rPr>
            </a:br>
            <a:r>
              <a:rPr lang="en-AU" sz="2200" dirty="0" smtClean="0">
                <a:latin typeface="Helvetica" pitchFamily="34" charset="0"/>
              </a:rPr>
              <a:t>trying to say, or if the message is </a:t>
            </a:r>
            <a:br>
              <a:rPr lang="en-AU" sz="2200" dirty="0" smtClean="0">
                <a:latin typeface="Helvetica" pitchFamily="34" charset="0"/>
              </a:rPr>
            </a:br>
            <a:r>
              <a:rPr lang="en-AU" sz="2200" dirty="0" smtClean="0">
                <a:latin typeface="Helvetica" pitchFamily="34" charset="0"/>
              </a:rPr>
              <a:t>communicated incorrectly</a:t>
            </a:r>
          </a:p>
          <a:p>
            <a:pPr>
              <a:spcBef>
                <a:spcPts val="600"/>
              </a:spcBef>
              <a:spcAft>
                <a:spcPts val="1200"/>
              </a:spcAft>
            </a:pPr>
            <a:r>
              <a:rPr lang="en-AU" sz="2200" dirty="0" smtClean="0">
                <a:latin typeface="Helvetica" pitchFamily="34" charset="0"/>
              </a:rPr>
              <a:t>It is important that all of these communications are conducted in a polite, professional, clear and concise manner</a:t>
            </a: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descr="Angliss RestaurantV2Low Res[1].1.JPG"/>
          <p:cNvPicPr>
            <a:picLocks noChangeAspect="1"/>
          </p:cNvPicPr>
          <p:nvPr/>
        </p:nvPicPr>
        <p:blipFill>
          <a:blip r:embed="rId3" cstate="print"/>
          <a:stretch>
            <a:fillRect/>
          </a:stretch>
        </p:blipFill>
        <p:spPr>
          <a:xfrm>
            <a:off x="7085808" y="2362200"/>
            <a:ext cx="1268760" cy="19050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Valuing customers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The hospitality and tourism industries are leading examples of multicultural industries </a:t>
            </a:r>
          </a:p>
          <a:p>
            <a:pPr>
              <a:spcBef>
                <a:spcPts val="600"/>
              </a:spcBef>
              <a:spcAft>
                <a:spcPts val="1200"/>
              </a:spcAft>
            </a:pPr>
            <a:r>
              <a:rPr lang="en-AU" sz="2200" dirty="0" smtClean="0">
                <a:latin typeface="Helvetica" pitchFamily="34" charset="0"/>
              </a:rPr>
              <a:t>Many workplaces are staffed with people from various cultures</a:t>
            </a:r>
          </a:p>
          <a:p>
            <a:pPr>
              <a:spcBef>
                <a:spcPts val="600"/>
              </a:spcBef>
              <a:spcAft>
                <a:spcPts val="1200"/>
              </a:spcAft>
            </a:pPr>
            <a:r>
              <a:rPr lang="en-AU" sz="2200" dirty="0" smtClean="0">
                <a:latin typeface="Helvetica" pitchFamily="34" charset="0"/>
              </a:rPr>
              <a:t>Staff interact with and serve people from different nations and cultural backgrounds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7" name="Picture 6" descr="Angliss RestaurantV2[1].1.JPG"/>
          <p:cNvPicPr>
            <a:picLocks noChangeAspect="1"/>
          </p:cNvPicPr>
          <p:nvPr/>
        </p:nvPicPr>
        <p:blipFill>
          <a:blip r:embed="rId3" cstate="print"/>
          <a:stretch>
            <a:fillRect/>
          </a:stretch>
        </p:blipFill>
        <p:spPr>
          <a:xfrm>
            <a:off x="3505200" y="4419600"/>
            <a:ext cx="2361458" cy="1572768"/>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Social and cultural differences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There are a number of things that make us all different including: </a:t>
            </a:r>
          </a:p>
          <a:p>
            <a:pPr lvl="0">
              <a:spcBef>
                <a:spcPts val="600"/>
              </a:spcBef>
              <a:spcAft>
                <a:spcPts val="1200"/>
              </a:spcAft>
            </a:pPr>
            <a:r>
              <a:rPr lang="en-AU" sz="2200" dirty="0" smtClean="0">
                <a:latin typeface="Helvetica" pitchFamily="34" charset="0"/>
              </a:rPr>
              <a:t>The way they live</a:t>
            </a:r>
          </a:p>
          <a:p>
            <a:pPr lvl="0">
              <a:spcBef>
                <a:spcPts val="600"/>
              </a:spcBef>
              <a:spcAft>
                <a:spcPts val="1200"/>
              </a:spcAft>
            </a:pPr>
            <a:r>
              <a:rPr lang="en-AU" sz="2200" dirty="0" smtClean="0">
                <a:latin typeface="Helvetica" pitchFamily="34" charset="0"/>
              </a:rPr>
              <a:t>Language</a:t>
            </a:r>
          </a:p>
          <a:p>
            <a:pPr lvl="0">
              <a:spcBef>
                <a:spcPts val="600"/>
              </a:spcBef>
              <a:spcAft>
                <a:spcPts val="1200"/>
              </a:spcAft>
            </a:pPr>
            <a:r>
              <a:rPr lang="en-AU" sz="2200" dirty="0" smtClean="0">
                <a:latin typeface="Helvetica" pitchFamily="34" charset="0"/>
              </a:rPr>
              <a:t>Traditional practices and observations</a:t>
            </a:r>
          </a:p>
          <a:p>
            <a:pPr lvl="0">
              <a:spcBef>
                <a:spcPts val="600"/>
              </a:spcBef>
              <a:spcAft>
                <a:spcPts val="1200"/>
              </a:spcAft>
            </a:pPr>
            <a:r>
              <a:rPr lang="en-AU" sz="2200" dirty="0" smtClean="0">
                <a:latin typeface="Helvetica" pitchFamily="34" charset="0"/>
              </a:rPr>
              <a:t>Values and principles</a:t>
            </a:r>
          </a:p>
          <a:p>
            <a:pPr lvl="0">
              <a:spcBef>
                <a:spcPts val="600"/>
              </a:spcBef>
              <a:spcAft>
                <a:spcPts val="1200"/>
              </a:spcAft>
            </a:pPr>
            <a:r>
              <a:rPr lang="en-AU" sz="2200" dirty="0" smtClean="0">
                <a:latin typeface="Helvetica" pitchFamily="34" charset="0"/>
              </a:rPr>
              <a:t>Educational background</a:t>
            </a:r>
          </a:p>
          <a:p>
            <a:pPr lvl="0">
              <a:spcBef>
                <a:spcPts val="600"/>
              </a:spcBef>
              <a:spcAft>
                <a:spcPts val="1200"/>
              </a:spcAft>
            </a:pPr>
            <a:r>
              <a:rPr lang="en-AU" sz="2200" dirty="0" smtClean="0">
                <a:latin typeface="Helvetica" pitchFamily="34" charset="0"/>
              </a:rPr>
              <a:t>Sporting interests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7" name="Picture 6" descr="MP900433109[1].JPG"/>
          <p:cNvPicPr/>
          <p:nvPr/>
        </p:nvPicPr>
        <p:blipFill>
          <a:blip r:embed="rId3" cstate="print"/>
          <a:stretch>
            <a:fillRect/>
          </a:stretch>
        </p:blipFill>
        <p:spPr>
          <a:xfrm>
            <a:off x="6172200" y="2590800"/>
            <a:ext cx="2092623" cy="2164631"/>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Social and cultural differences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Food and beverage tastes</a:t>
            </a:r>
          </a:p>
          <a:p>
            <a:pPr lvl="0">
              <a:spcBef>
                <a:spcPts val="600"/>
              </a:spcBef>
              <a:spcAft>
                <a:spcPts val="1200"/>
              </a:spcAft>
            </a:pPr>
            <a:r>
              <a:rPr lang="en-AU" sz="2200" dirty="0" smtClean="0">
                <a:latin typeface="Helvetica" pitchFamily="34" charset="0"/>
              </a:rPr>
              <a:t>Lifestyle background</a:t>
            </a:r>
          </a:p>
          <a:p>
            <a:pPr lvl="0">
              <a:spcBef>
                <a:spcPts val="600"/>
              </a:spcBef>
              <a:spcAft>
                <a:spcPts val="1200"/>
              </a:spcAft>
            </a:pPr>
            <a:r>
              <a:rPr lang="en-AU" sz="2200" dirty="0" smtClean="0">
                <a:latin typeface="Helvetica" pitchFamily="34" charset="0"/>
              </a:rPr>
              <a:t>Place of birth</a:t>
            </a:r>
          </a:p>
          <a:p>
            <a:pPr lvl="0">
              <a:spcBef>
                <a:spcPts val="600"/>
              </a:spcBef>
              <a:spcAft>
                <a:spcPts val="1200"/>
              </a:spcAft>
            </a:pPr>
            <a:r>
              <a:rPr lang="en-AU" sz="2200" dirty="0" smtClean="0">
                <a:latin typeface="Helvetica" pitchFamily="34" charset="0"/>
              </a:rPr>
              <a:t>Styles of communication</a:t>
            </a:r>
          </a:p>
          <a:p>
            <a:pPr lvl="0">
              <a:spcBef>
                <a:spcPts val="600"/>
              </a:spcBef>
              <a:spcAft>
                <a:spcPts val="1200"/>
              </a:spcAft>
            </a:pPr>
            <a:r>
              <a:rPr lang="en-AU" sz="2200" dirty="0" smtClean="0">
                <a:latin typeface="Helvetica" pitchFamily="34" charset="0"/>
              </a:rPr>
              <a:t>Dress code</a:t>
            </a:r>
          </a:p>
          <a:p>
            <a:pPr lvl="0">
              <a:spcBef>
                <a:spcPts val="600"/>
              </a:spcBef>
              <a:spcAft>
                <a:spcPts val="1200"/>
              </a:spcAft>
            </a:pPr>
            <a:r>
              <a:rPr lang="en-AU" sz="2200" dirty="0" smtClean="0">
                <a:latin typeface="Helvetica" pitchFamily="34" charset="0"/>
              </a:rPr>
              <a:t>Religious or spiritual beliefs</a:t>
            </a:r>
          </a:p>
          <a:p>
            <a:pPr lvl="0">
              <a:spcBef>
                <a:spcPts val="600"/>
              </a:spcBef>
              <a:spcAft>
                <a:spcPts val="1200"/>
              </a:spcAft>
            </a:pPr>
            <a:r>
              <a:rPr lang="en-AU" sz="2200" dirty="0" smtClean="0">
                <a:latin typeface="Helvetica" pitchFamily="34" charset="0"/>
              </a:rPr>
              <a:t>Cultural stereotypes</a:t>
            </a:r>
          </a:p>
          <a:p>
            <a:pPr lvl="0">
              <a:spcBef>
                <a:spcPts val="600"/>
              </a:spcBef>
              <a:spcAft>
                <a:spcPts val="1200"/>
              </a:spcAft>
            </a:pPr>
            <a:r>
              <a:rPr lang="en-AU" sz="2200" dirty="0" smtClean="0">
                <a:latin typeface="Helvetica" pitchFamily="34" charset="0"/>
              </a:rPr>
              <a:t>Conventions of gender, sexuality and marriage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7" name="Picture 6" descr="MP910220897.JPG"/>
          <p:cNvPicPr/>
          <p:nvPr/>
        </p:nvPicPr>
        <p:blipFill>
          <a:blip r:embed="rId3" cstate="print"/>
          <a:stretch>
            <a:fillRect/>
          </a:stretch>
        </p:blipFill>
        <p:spPr>
          <a:xfrm>
            <a:off x="5562600" y="2590800"/>
            <a:ext cx="2093595" cy="1457470"/>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Different cultural groups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a:spcBef>
                <a:spcPts val="600"/>
              </a:spcBef>
              <a:spcAft>
                <a:spcPts val="600"/>
              </a:spcAft>
              <a:buNone/>
            </a:pPr>
            <a:r>
              <a:rPr lang="en-AU" sz="2200" dirty="0" smtClean="0">
                <a:latin typeface="Helvetica" pitchFamily="34" charset="0"/>
              </a:rPr>
              <a:t>Colleagues and customers come from all corners of the globe including:</a:t>
            </a:r>
          </a:p>
          <a:p>
            <a:pPr lvl="0">
              <a:spcBef>
                <a:spcPts val="600"/>
              </a:spcBef>
              <a:spcAft>
                <a:spcPts val="600"/>
              </a:spcAft>
            </a:pPr>
            <a:r>
              <a:rPr lang="en-AU" sz="2200" dirty="0" smtClean="0">
                <a:latin typeface="Helvetica" pitchFamily="34" charset="0"/>
              </a:rPr>
              <a:t>ASEAN countries</a:t>
            </a:r>
          </a:p>
          <a:p>
            <a:pPr lvl="0">
              <a:spcBef>
                <a:spcPts val="600"/>
              </a:spcBef>
              <a:spcAft>
                <a:spcPts val="600"/>
              </a:spcAft>
            </a:pPr>
            <a:r>
              <a:rPr lang="en-AU" sz="2200" dirty="0" smtClean="0">
                <a:latin typeface="Helvetica" pitchFamily="34" charset="0"/>
              </a:rPr>
              <a:t>Other Asian countries</a:t>
            </a:r>
          </a:p>
          <a:p>
            <a:pPr lvl="0">
              <a:spcBef>
                <a:spcPts val="600"/>
              </a:spcBef>
              <a:spcAft>
                <a:spcPts val="600"/>
              </a:spcAft>
            </a:pPr>
            <a:r>
              <a:rPr lang="en-AU" sz="2200" dirty="0" smtClean="0">
                <a:latin typeface="Helvetica" pitchFamily="34" charset="0"/>
              </a:rPr>
              <a:t>European Community countries </a:t>
            </a:r>
          </a:p>
          <a:p>
            <a:pPr lvl="0">
              <a:spcBef>
                <a:spcPts val="600"/>
              </a:spcBef>
              <a:spcAft>
                <a:spcPts val="600"/>
              </a:spcAft>
            </a:pPr>
            <a:r>
              <a:rPr lang="en-AU" sz="2200" dirty="0" smtClean="0">
                <a:latin typeface="Helvetica" pitchFamily="34" charset="0"/>
              </a:rPr>
              <a:t>Middle Eastern countries </a:t>
            </a:r>
          </a:p>
          <a:p>
            <a:pPr lvl="0">
              <a:spcBef>
                <a:spcPts val="600"/>
              </a:spcBef>
              <a:spcAft>
                <a:spcPts val="600"/>
              </a:spcAft>
            </a:pPr>
            <a:r>
              <a:rPr lang="en-AU" sz="2200" dirty="0" smtClean="0">
                <a:latin typeface="Helvetica" pitchFamily="34" charset="0"/>
              </a:rPr>
              <a:t>Subcontinent Countries</a:t>
            </a:r>
          </a:p>
          <a:p>
            <a:pPr lvl="0">
              <a:spcBef>
                <a:spcPts val="600"/>
              </a:spcBef>
              <a:spcAft>
                <a:spcPts val="600"/>
              </a:spcAft>
            </a:pPr>
            <a:r>
              <a:rPr lang="en-AU" sz="2200" dirty="0" smtClean="0">
                <a:latin typeface="Helvetica" pitchFamily="34" charset="0"/>
              </a:rPr>
              <a:t>North and South American countries</a:t>
            </a:r>
          </a:p>
          <a:p>
            <a:pPr lvl="0">
              <a:spcBef>
                <a:spcPts val="600"/>
              </a:spcBef>
              <a:spcAft>
                <a:spcPts val="600"/>
              </a:spcAft>
            </a:pPr>
            <a:r>
              <a:rPr lang="en-AU" sz="2200" dirty="0" smtClean="0">
                <a:latin typeface="Helvetica" pitchFamily="34" charset="0"/>
              </a:rPr>
              <a:t>African Countries</a:t>
            </a:r>
          </a:p>
          <a:p>
            <a:pPr lvl="0">
              <a:spcBef>
                <a:spcPts val="600"/>
              </a:spcBef>
              <a:spcAft>
                <a:spcPts val="600"/>
              </a:spcAft>
            </a:pPr>
            <a:r>
              <a:rPr lang="en-AU" sz="2200" dirty="0" smtClean="0">
                <a:latin typeface="Helvetica" pitchFamily="34" charset="0"/>
              </a:rPr>
              <a:t>Oceania Countries</a:t>
            </a:r>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7" name="Picture 6" descr="MP900400689[1].JPG"/>
          <p:cNvPicPr>
            <a:picLocks noChangeAspect="1"/>
          </p:cNvPicPr>
          <p:nvPr/>
        </p:nvPicPr>
        <p:blipFill>
          <a:blip r:embed="rId3" cstate="print"/>
          <a:stretch>
            <a:fillRect/>
          </a:stretch>
        </p:blipFill>
        <p:spPr>
          <a:xfrm>
            <a:off x="6248400" y="2438400"/>
            <a:ext cx="1697554" cy="2545088"/>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Communicating in a diverse environment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Working in a socially diverse environment necessitates communicating with people from different cultural and social backgrounds.</a:t>
            </a:r>
          </a:p>
          <a:p>
            <a:pPr marL="0">
              <a:spcBef>
                <a:spcPts val="600"/>
              </a:spcBef>
              <a:spcAft>
                <a:spcPts val="1200"/>
              </a:spcAft>
              <a:buNone/>
            </a:pPr>
            <a:r>
              <a:rPr lang="en-AU" sz="2200" dirty="0" smtClean="0">
                <a:latin typeface="Helvetica" pitchFamily="34" charset="0"/>
              </a:rPr>
              <a:t>Ensure that the two components of communication are appropriate to the person and culture being communicated with:</a:t>
            </a:r>
          </a:p>
          <a:p>
            <a:pPr marL="0">
              <a:spcBef>
                <a:spcPts val="600"/>
              </a:spcBef>
              <a:spcAft>
                <a:spcPts val="1200"/>
              </a:spcAft>
            </a:pPr>
            <a:r>
              <a:rPr lang="en-AU" sz="2200" dirty="0" smtClean="0">
                <a:latin typeface="Helvetica" pitchFamily="34" charset="0"/>
              </a:rPr>
              <a:t>Verbal language</a:t>
            </a:r>
          </a:p>
          <a:p>
            <a:pPr marL="0">
              <a:spcBef>
                <a:spcPts val="600"/>
              </a:spcBef>
              <a:spcAft>
                <a:spcPts val="1200"/>
              </a:spcAft>
            </a:pPr>
            <a:r>
              <a:rPr lang="en-AU" sz="2200" dirty="0" smtClean="0">
                <a:latin typeface="Helvetica" pitchFamily="34" charset="0"/>
              </a:rPr>
              <a:t>Body language</a:t>
            </a: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7" name="Picture 6" descr="MP900422122.JPG"/>
          <p:cNvPicPr>
            <a:picLocks noChangeAspect="1"/>
          </p:cNvPicPr>
          <p:nvPr/>
        </p:nvPicPr>
        <p:blipFill>
          <a:blip r:embed="rId3" cstate="print"/>
          <a:stretch>
            <a:fillRect/>
          </a:stretch>
        </p:blipFill>
        <p:spPr>
          <a:xfrm>
            <a:off x="5029200" y="3810000"/>
            <a:ext cx="2836483" cy="186809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Communicating in a diverse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80520"/>
          </a:xfrm>
        </p:spPr>
        <p:txBody>
          <a:bodyPr>
            <a:normAutofit/>
          </a:bodyPr>
          <a:lstStyle/>
          <a:p>
            <a:pPr marL="0">
              <a:spcBef>
                <a:spcPts val="600"/>
              </a:spcBef>
              <a:spcAft>
                <a:spcPts val="1200"/>
              </a:spcAft>
              <a:buNone/>
            </a:pPr>
            <a:r>
              <a:rPr lang="en-US" sz="2200" b="1" dirty="0" smtClean="0">
                <a:latin typeface="Helvetica" pitchFamily="34" charset="0"/>
              </a:rPr>
              <a:t>Verbal and non verbal communication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Keys in factoring in appropriate verbal and non-verbal communication when dealing with people from another culture include:</a:t>
            </a:r>
          </a:p>
          <a:p>
            <a:pPr lvl="0">
              <a:spcBef>
                <a:spcPts val="600"/>
              </a:spcBef>
              <a:spcAft>
                <a:spcPts val="1200"/>
              </a:spcAft>
            </a:pPr>
            <a:r>
              <a:rPr lang="en-US" sz="2200" dirty="0" smtClean="0">
                <a:latin typeface="Helvetica" pitchFamily="34" charset="0"/>
              </a:rPr>
              <a:t>Identify the country and culture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Take time to plan what to say and how to </a:t>
            </a:r>
            <a:br>
              <a:rPr lang="en-US" sz="2200" dirty="0" smtClean="0">
                <a:latin typeface="Helvetica" pitchFamily="34" charset="0"/>
              </a:rPr>
            </a:br>
            <a:r>
              <a:rPr lang="en-US" sz="2200" dirty="0" smtClean="0">
                <a:latin typeface="Helvetica" pitchFamily="34" charset="0"/>
              </a:rPr>
              <a:t>say it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 mindful of your body language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Avoid industry and establishment jargon </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7" name="Picture 6" descr="j0409289.jpg"/>
          <p:cNvPicPr/>
          <p:nvPr/>
        </p:nvPicPr>
        <p:blipFill>
          <a:blip r:embed="rId3" cstate="print"/>
          <a:stretch>
            <a:fillRect/>
          </a:stretch>
        </p:blipFill>
        <p:spPr>
          <a:xfrm>
            <a:off x="6553200" y="3048000"/>
            <a:ext cx="1828403" cy="175639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Communicating in a diverse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80520"/>
          </a:xfrm>
        </p:spPr>
        <p:txBody>
          <a:bodyPr>
            <a:normAutofit/>
          </a:bodyPr>
          <a:lstStyle/>
          <a:p>
            <a:pPr lvl="0">
              <a:spcBef>
                <a:spcPts val="600"/>
              </a:spcBef>
              <a:spcAft>
                <a:spcPts val="1200"/>
              </a:spcAft>
              <a:buNone/>
            </a:pPr>
            <a:r>
              <a:rPr lang="en-US" sz="2400" b="1" dirty="0" smtClean="0">
                <a:latin typeface="Helvetica" pitchFamily="34" charset="0"/>
              </a:rPr>
              <a:t>Verbal and non verbal communication</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Avoid local expressions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Avoid complex statements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Give the person your full attention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Use alternative communication strategies to support the verbal communication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Be alert to feedback from the other person </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iStock_000002750643Large.jpg"/>
          <p:cNvPicPr>
            <a:picLocks noChangeAspect="1"/>
          </p:cNvPicPr>
          <p:nvPr/>
        </p:nvPicPr>
        <p:blipFill>
          <a:blip r:embed="rId3" cstate="print"/>
          <a:stretch>
            <a:fillRect/>
          </a:stretch>
        </p:blipFill>
        <p:spPr>
          <a:xfrm>
            <a:off x="6096000" y="2057400"/>
            <a:ext cx="1893607" cy="1666823"/>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Organisational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80520"/>
          </a:xfrm>
        </p:spPr>
        <p:txBody>
          <a:bodyPr>
            <a:normAutofit/>
          </a:bodyPr>
          <a:lstStyle/>
          <a:p>
            <a:pPr marL="0">
              <a:spcBef>
                <a:spcPts val="600"/>
              </a:spcBef>
              <a:spcAft>
                <a:spcPts val="1200"/>
              </a:spcAft>
              <a:buNone/>
            </a:pPr>
            <a:r>
              <a:rPr lang="en-AU" sz="2200" dirty="0" smtClean="0">
                <a:latin typeface="Helvetica" pitchFamily="34" charset="0"/>
              </a:rPr>
              <a:t>Each organisation will also have a range of requirements that must be followed when undertaking general communication with both colleagues and customers.</a:t>
            </a:r>
          </a:p>
          <a:p>
            <a:pPr>
              <a:spcBef>
                <a:spcPts val="600"/>
              </a:spcBef>
              <a:spcAft>
                <a:spcPts val="1200"/>
              </a:spcAft>
            </a:pPr>
            <a:r>
              <a:rPr lang="en-AU" sz="2200" dirty="0" smtClean="0">
                <a:latin typeface="Helvetica" pitchFamily="34" charset="0"/>
              </a:rPr>
              <a:t>What is purpose of having requirements?</a:t>
            </a:r>
          </a:p>
          <a:p>
            <a:pPr>
              <a:spcBef>
                <a:spcPts val="600"/>
              </a:spcBef>
              <a:spcAft>
                <a:spcPts val="1200"/>
              </a:spcAft>
            </a:pPr>
            <a:r>
              <a:rPr lang="en-AU" sz="2200" dirty="0" smtClean="0">
                <a:latin typeface="Helvetica" pitchFamily="34" charset="0"/>
              </a:rPr>
              <a:t>What requirements must be followed?</a:t>
            </a:r>
          </a:p>
          <a:p>
            <a:pPr marL="0">
              <a:spcBef>
                <a:spcPts val="600"/>
              </a:spcBef>
              <a:spcAft>
                <a:spcPts val="1200"/>
              </a:spcAft>
              <a:buNone/>
            </a:pPr>
            <a:endParaRPr lang="en-AU" sz="2200" dirty="0" smtClean="0">
              <a:latin typeface="Helvetica" pitchFamily="34" charset="0"/>
            </a:endParaRPr>
          </a:p>
          <a:p>
            <a:endParaRPr lang="en-AU" sz="2400" b="1" dirty="0" smtClean="0"/>
          </a:p>
          <a:p>
            <a:pPr>
              <a:buNone/>
            </a:pPr>
            <a:endParaRPr lang="en-AU" sz="2400" b="1" dirty="0" smtClean="0"/>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descr="MB900422497.JPG"/>
          <p:cNvPicPr>
            <a:picLocks noChangeAspect="1"/>
          </p:cNvPicPr>
          <p:nvPr/>
        </p:nvPicPr>
        <p:blipFill>
          <a:blip r:embed="rId3" cstate="print"/>
          <a:stretch>
            <a:fillRect/>
          </a:stretch>
        </p:blipFill>
        <p:spPr>
          <a:xfrm>
            <a:off x="6400800" y="2895600"/>
            <a:ext cx="1828800" cy="182880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Use appropriate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In the previous section, we have explored the role of communication in a diverse environment made up of people, whether customers or colleagues, from different social and cultural backgrounds</a:t>
            </a:r>
          </a:p>
          <a:p>
            <a:pPr>
              <a:spcBef>
                <a:spcPts val="600"/>
              </a:spcBef>
              <a:spcAft>
                <a:spcPts val="1200"/>
              </a:spcAft>
            </a:pPr>
            <a:r>
              <a:rPr lang="en-AU" sz="2200" dirty="0" smtClean="0">
                <a:latin typeface="Helvetica" pitchFamily="34" charset="0"/>
              </a:rPr>
              <a:t>This section will explore the different types of communication that can be used in a general administration environment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7" name="Picture 6" descr="20.jpg"/>
          <p:cNvPicPr>
            <a:picLocks noChangeAspect="1"/>
          </p:cNvPicPr>
          <p:nvPr/>
        </p:nvPicPr>
        <p:blipFill>
          <a:blip r:embed="rId3" cstate="print"/>
          <a:stretch>
            <a:fillRect/>
          </a:stretch>
        </p:blipFill>
        <p:spPr>
          <a:xfrm>
            <a:off x="7162800" y="2895600"/>
            <a:ext cx="1395412" cy="2095164"/>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Basic communication options include:</a:t>
            </a:r>
          </a:p>
          <a:p>
            <a:pPr lvl="0">
              <a:spcBef>
                <a:spcPts val="600"/>
              </a:spcBef>
              <a:spcAft>
                <a:spcPts val="1200"/>
              </a:spcAft>
            </a:pPr>
            <a:r>
              <a:rPr lang="en-AU" sz="2200" dirty="0" smtClean="0">
                <a:latin typeface="Helvetica" pitchFamily="34" charset="0"/>
              </a:rPr>
              <a:t>Verbal</a:t>
            </a:r>
          </a:p>
          <a:p>
            <a:pPr lvl="0">
              <a:spcBef>
                <a:spcPts val="600"/>
              </a:spcBef>
              <a:spcAft>
                <a:spcPts val="1200"/>
              </a:spcAft>
            </a:pPr>
            <a:r>
              <a:rPr lang="en-AU" sz="2200" dirty="0" smtClean="0">
                <a:latin typeface="Helvetica" pitchFamily="34" charset="0"/>
              </a:rPr>
              <a:t>Written format</a:t>
            </a:r>
          </a:p>
          <a:p>
            <a:pPr lvl="0">
              <a:spcBef>
                <a:spcPts val="600"/>
              </a:spcBef>
              <a:spcAft>
                <a:spcPts val="1200"/>
              </a:spcAft>
            </a:pPr>
            <a:r>
              <a:rPr lang="en-AU" sz="2200" dirty="0" smtClean="0">
                <a:latin typeface="Helvetica" pitchFamily="34" charset="0"/>
              </a:rPr>
              <a:t>Non-verbal</a:t>
            </a:r>
          </a:p>
          <a:p>
            <a:pPr lvl="0">
              <a:spcBef>
                <a:spcPts val="600"/>
              </a:spcBef>
              <a:spcAft>
                <a:spcPts val="1200"/>
              </a:spcAft>
            </a:pPr>
            <a:r>
              <a:rPr lang="en-AU" sz="2200" dirty="0" smtClean="0">
                <a:latin typeface="Helvetica" pitchFamily="34" charset="0"/>
              </a:rPr>
              <a:t>Use of an interpreter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7" name="Picture 6" descr="511610_working[2].jpg"/>
          <p:cNvPicPr>
            <a:picLocks noChangeAspect="1"/>
          </p:cNvPicPr>
          <p:nvPr/>
        </p:nvPicPr>
        <p:blipFill>
          <a:blip r:embed="rId3" cstate="print"/>
          <a:stretch>
            <a:fillRect/>
          </a:stretch>
        </p:blipFill>
        <p:spPr>
          <a:xfrm>
            <a:off x="5562600" y="2286000"/>
            <a:ext cx="2349500" cy="176212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Effective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To help ensure your communication is polite, professional and friendly, the following tips will assist:</a:t>
            </a:r>
          </a:p>
          <a:p>
            <a:pPr lvl="0">
              <a:spcBef>
                <a:spcPts val="600"/>
              </a:spcBef>
              <a:spcAft>
                <a:spcPts val="1200"/>
              </a:spcAft>
            </a:pPr>
            <a:r>
              <a:rPr lang="en-AU" sz="2200" dirty="0" smtClean="0">
                <a:latin typeface="Helvetica" pitchFamily="34" charset="0"/>
              </a:rPr>
              <a:t>Follow all establishment policies</a:t>
            </a:r>
          </a:p>
          <a:p>
            <a:pPr lvl="0">
              <a:spcBef>
                <a:spcPts val="600"/>
              </a:spcBef>
              <a:spcAft>
                <a:spcPts val="1200"/>
              </a:spcAft>
            </a:pPr>
            <a:r>
              <a:rPr lang="en-AU" sz="2200" dirty="0" smtClean="0">
                <a:latin typeface="Helvetica" pitchFamily="34" charset="0"/>
              </a:rPr>
              <a:t>Use a person’s name where it is known</a:t>
            </a:r>
          </a:p>
          <a:p>
            <a:pPr lvl="0">
              <a:spcBef>
                <a:spcPts val="600"/>
              </a:spcBef>
              <a:spcAft>
                <a:spcPts val="1200"/>
              </a:spcAft>
            </a:pPr>
            <a:r>
              <a:rPr lang="en-AU" sz="2200" dirty="0" smtClean="0">
                <a:latin typeface="Helvetica" pitchFamily="34" charset="0"/>
              </a:rPr>
              <a:t>Be honest</a:t>
            </a:r>
          </a:p>
          <a:p>
            <a:pPr lvl="0">
              <a:spcBef>
                <a:spcPts val="600"/>
              </a:spcBef>
              <a:spcAft>
                <a:spcPts val="1200"/>
              </a:spcAft>
            </a:pPr>
            <a:r>
              <a:rPr lang="en-AU" sz="2200" dirty="0" smtClean="0">
                <a:latin typeface="Helvetica" pitchFamily="34" charset="0"/>
              </a:rPr>
              <a:t>Use ‘please’ and ‘thank you’ a lot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8" name="Picture 7" descr="j0422562.jpg"/>
          <p:cNvPicPr/>
          <p:nvPr/>
        </p:nvPicPr>
        <p:blipFill>
          <a:blip r:embed="rId3" cstate="print"/>
          <a:stretch>
            <a:fillRect/>
          </a:stretch>
        </p:blipFill>
        <p:spPr>
          <a:xfrm>
            <a:off x="6324600" y="2514600"/>
            <a:ext cx="1845265" cy="2078137"/>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Effective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Don’t interrupt</a:t>
            </a:r>
          </a:p>
          <a:p>
            <a:pPr lvl="0">
              <a:spcBef>
                <a:spcPts val="600"/>
              </a:spcBef>
              <a:spcAft>
                <a:spcPts val="1200"/>
              </a:spcAft>
            </a:pPr>
            <a:r>
              <a:rPr lang="en-AU" sz="2200" dirty="0" smtClean="0">
                <a:latin typeface="Helvetica" pitchFamily="34" charset="0"/>
              </a:rPr>
              <a:t>Speak at an appropriate pace and volume</a:t>
            </a:r>
          </a:p>
          <a:p>
            <a:pPr lvl="0">
              <a:spcBef>
                <a:spcPts val="600"/>
              </a:spcBef>
              <a:spcAft>
                <a:spcPts val="1200"/>
              </a:spcAft>
            </a:pPr>
            <a:r>
              <a:rPr lang="en-AU" sz="2200" dirty="0" smtClean="0">
                <a:latin typeface="Helvetica" pitchFamily="34" charset="0"/>
              </a:rPr>
              <a:t>Make sure your non-verbal language matches the verbal communication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descr="00438693.jpg"/>
          <p:cNvPicPr/>
          <p:nvPr/>
        </p:nvPicPr>
        <p:blipFill>
          <a:blip r:embed="rId3" cstate="print"/>
          <a:stretch>
            <a:fillRect/>
          </a:stretch>
        </p:blipFill>
        <p:spPr>
          <a:xfrm>
            <a:off x="5791200" y="3429000"/>
            <a:ext cx="2444596" cy="1701527"/>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Written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Use graphics or pictures</a:t>
            </a:r>
          </a:p>
          <a:p>
            <a:pPr lvl="0">
              <a:spcBef>
                <a:spcPts val="600"/>
              </a:spcBef>
              <a:spcAft>
                <a:spcPts val="1200"/>
              </a:spcAft>
            </a:pPr>
            <a:r>
              <a:rPr lang="en-AU" sz="2200" dirty="0" smtClean="0">
                <a:latin typeface="Helvetica" pitchFamily="34" charset="0"/>
              </a:rPr>
              <a:t>Use different languages</a:t>
            </a:r>
          </a:p>
          <a:p>
            <a:pPr lvl="0">
              <a:spcBef>
                <a:spcPts val="600"/>
              </a:spcBef>
              <a:spcAft>
                <a:spcPts val="1200"/>
              </a:spcAft>
            </a:pPr>
            <a:r>
              <a:rPr lang="en-AU" sz="2200" dirty="0" smtClean="0">
                <a:latin typeface="Helvetica" pitchFamily="34" charset="0"/>
              </a:rPr>
              <a:t>Easy to read</a:t>
            </a:r>
          </a:p>
          <a:p>
            <a:pPr lvl="0">
              <a:spcBef>
                <a:spcPts val="600"/>
              </a:spcBef>
              <a:spcAft>
                <a:spcPts val="1200"/>
              </a:spcAft>
            </a:pPr>
            <a:r>
              <a:rPr lang="en-AU" sz="2200" dirty="0" smtClean="0">
                <a:latin typeface="Helvetica" pitchFamily="34" charset="0"/>
              </a:rPr>
              <a:t>Encourages people to read it</a:t>
            </a:r>
          </a:p>
          <a:p>
            <a:pPr lvl="0">
              <a:spcBef>
                <a:spcPts val="600"/>
              </a:spcBef>
              <a:spcAft>
                <a:spcPts val="1200"/>
              </a:spcAft>
            </a:pPr>
            <a:r>
              <a:rPr lang="en-AU" sz="2200" dirty="0" smtClean="0">
                <a:latin typeface="Helvetica" pitchFamily="34" charset="0"/>
              </a:rPr>
              <a:t>Be available in ‘take away’ form</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7" name="Picture 6" descr="00430758.jpg"/>
          <p:cNvPicPr/>
          <p:nvPr/>
        </p:nvPicPr>
        <p:blipFill>
          <a:blip r:embed="rId3" cstate="print"/>
          <a:stretch>
            <a:fillRect/>
          </a:stretch>
        </p:blipFill>
        <p:spPr>
          <a:xfrm>
            <a:off x="5486400" y="1905000"/>
            <a:ext cx="2484924" cy="1819449"/>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Communication involves </a:t>
            </a:r>
            <a:r>
              <a:rPr lang="en-AU" sz="2200" u="sng" dirty="0" smtClean="0">
                <a:latin typeface="Helvetica" pitchFamily="34" charset="0"/>
              </a:rPr>
              <a:t>sending</a:t>
            </a:r>
            <a:r>
              <a:rPr lang="en-AU" sz="2200" dirty="0" smtClean="0">
                <a:latin typeface="Helvetica" pitchFamily="34" charset="0"/>
              </a:rPr>
              <a:t> and </a:t>
            </a:r>
            <a:r>
              <a:rPr lang="en-AU" sz="2200" u="sng" dirty="0" smtClean="0">
                <a:latin typeface="Helvetica" pitchFamily="34" charset="0"/>
              </a:rPr>
              <a:t>receiving </a:t>
            </a:r>
            <a:r>
              <a:rPr lang="en-AU" sz="2200" dirty="0" smtClean="0">
                <a:latin typeface="Helvetica" pitchFamily="34" charset="0"/>
              </a:rPr>
              <a:t>messages via:</a:t>
            </a:r>
          </a:p>
          <a:p>
            <a:pPr>
              <a:spcBef>
                <a:spcPts val="600"/>
              </a:spcBef>
              <a:spcAft>
                <a:spcPts val="1200"/>
              </a:spcAft>
            </a:pPr>
            <a:r>
              <a:rPr lang="en-AU" sz="2200" dirty="0" smtClean="0">
                <a:latin typeface="Helvetica" pitchFamily="34" charset="0"/>
              </a:rPr>
              <a:t>Verbal communication </a:t>
            </a:r>
          </a:p>
          <a:p>
            <a:pPr>
              <a:spcBef>
                <a:spcPts val="600"/>
              </a:spcBef>
              <a:spcAft>
                <a:spcPts val="1200"/>
              </a:spcAft>
            </a:pPr>
            <a:r>
              <a:rPr lang="en-AU" sz="2200" dirty="0" smtClean="0">
                <a:latin typeface="Helvetica" pitchFamily="34" charset="0"/>
              </a:rPr>
              <a:t>Non-verbal communication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7" name="Picture 6" descr="MP900443186[1].JPG"/>
          <p:cNvPicPr/>
          <p:nvPr/>
        </p:nvPicPr>
        <p:blipFill>
          <a:blip r:embed="rId3" cstate="print"/>
          <a:stretch>
            <a:fillRect/>
          </a:stretch>
        </p:blipFill>
        <p:spPr>
          <a:xfrm>
            <a:off x="5562600" y="2438400"/>
            <a:ext cx="2518906" cy="1752972"/>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Verbal communication includes:</a:t>
            </a:r>
          </a:p>
          <a:p>
            <a:pPr>
              <a:spcBef>
                <a:spcPts val="600"/>
              </a:spcBef>
              <a:spcAft>
                <a:spcPts val="1200"/>
              </a:spcAft>
            </a:pPr>
            <a:r>
              <a:rPr lang="en-AU" sz="2200" dirty="0" smtClean="0">
                <a:latin typeface="Helvetica" pitchFamily="34" charset="0"/>
              </a:rPr>
              <a:t>Language or speech </a:t>
            </a:r>
          </a:p>
          <a:p>
            <a:pPr>
              <a:spcBef>
                <a:spcPts val="600"/>
              </a:spcBef>
              <a:spcAft>
                <a:spcPts val="1200"/>
              </a:spcAft>
            </a:pPr>
            <a:r>
              <a:rPr lang="en-AU" sz="2200" dirty="0" smtClean="0">
                <a:latin typeface="Helvetica" pitchFamily="34" charset="0"/>
              </a:rPr>
              <a:t>Questioning, listening and answering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6" name="Picture 5" descr="explain.jpg"/>
          <p:cNvPicPr>
            <a:picLocks noChangeAspect="1"/>
          </p:cNvPicPr>
          <p:nvPr/>
        </p:nvPicPr>
        <p:blipFill>
          <a:blip r:embed="rId3" cstate="print"/>
          <a:stretch>
            <a:fillRect/>
          </a:stretch>
        </p:blipFill>
        <p:spPr>
          <a:xfrm>
            <a:off x="3276600" y="3505200"/>
            <a:ext cx="2654300" cy="1990725"/>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Listening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use of questions and effective listening are keys in nearly all effective two-way communication.</a:t>
            </a:r>
          </a:p>
          <a:p>
            <a:pPr>
              <a:spcBef>
                <a:spcPts val="600"/>
              </a:spcBef>
              <a:spcAft>
                <a:spcPts val="1200"/>
              </a:spcAft>
            </a:pPr>
            <a:r>
              <a:rPr lang="en-AU" sz="2200" dirty="0" smtClean="0">
                <a:latin typeface="Helvetica" pitchFamily="34" charset="0"/>
              </a:rPr>
              <a:t>What is the difference between ‘hearing’ and ‘listening’?</a:t>
            </a:r>
          </a:p>
          <a:p>
            <a:pPr>
              <a:spcBef>
                <a:spcPts val="600"/>
              </a:spcBef>
              <a:spcAft>
                <a:spcPts val="1200"/>
              </a:spcAft>
            </a:pPr>
            <a:r>
              <a:rPr lang="en-AU" sz="2200" dirty="0" smtClean="0">
                <a:latin typeface="Helvetica" pitchFamily="34" charset="0"/>
              </a:rPr>
              <a:t>Are you are good listener?</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7" name="Picture 6" descr="MP900399215[1].JPG"/>
          <p:cNvPicPr>
            <a:picLocks noChangeAspect="1"/>
          </p:cNvPicPr>
          <p:nvPr/>
        </p:nvPicPr>
        <p:blipFill>
          <a:blip r:embed="rId3" cstate="print"/>
          <a:stretch>
            <a:fillRect/>
          </a:stretch>
        </p:blipFill>
        <p:spPr>
          <a:xfrm>
            <a:off x="6019800" y="2971800"/>
            <a:ext cx="2209800" cy="220980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Effective listening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lnSpcReduction="10000"/>
          </a:bodyPr>
          <a:lstStyle/>
          <a:p>
            <a:pPr lvl="0">
              <a:spcBef>
                <a:spcPts val="600"/>
              </a:spcBef>
              <a:spcAft>
                <a:spcPts val="1200"/>
              </a:spcAft>
            </a:pPr>
            <a:r>
              <a:rPr lang="en-US" sz="2200" dirty="0" smtClean="0">
                <a:latin typeface="Helvetica" pitchFamily="34" charset="0"/>
              </a:rPr>
              <a:t>Encourages others to fully transmit their message by indicating our interest and concern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Ensured receiver has all the relevant facts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Improves relationships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Assists in problem resolution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Proper understanding between people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Reduces many conflicts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Improves staff morale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Raises workplace productivity</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6" name="Picture 5" descr="MP900443455[1].JPG"/>
          <p:cNvPicPr>
            <a:picLocks noChangeAspect="1"/>
          </p:cNvPicPr>
          <p:nvPr/>
        </p:nvPicPr>
        <p:blipFill>
          <a:blip r:embed="rId3" cstate="print"/>
          <a:stretch>
            <a:fillRect/>
          </a:stretch>
        </p:blipFill>
        <p:spPr>
          <a:xfrm>
            <a:off x="6019800" y="3048000"/>
            <a:ext cx="2225490" cy="1481039"/>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Questioning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lvl="0">
              <a:spcBef>
                <a:spcPts val="600"/>
              </a:spcBef>
              <a:spcAft>
                <a:spcPts val="1200"/>
              </a:spcAft>
            </a:pPr>
            <a:r>
              <a:rPr lang="en-AU" sz="2200" dirty="0" smtClean="0">
                <a:latin typeface="Helvetica" pitchFamily="34" charset="0"/>
              </a:rPr>
              <a:t>What is the importance of questions?</a:t>
            </a:r>
          </a:p>
          <a:p>
            <a:pPr lvl="0">
              <a:spcBef>
                <a:spcPts val="600"/>
              </a:spcBef>
              <a:spcAft>
                <a:spcPts val="1200"/>
              </a:spcAft>
            </a:pPr>
            <a:r>
              <a:rPr lang="en-AU" sz="2200" dirty="0" smtClean="0">
                <a:latin typeface="Helvetica" pitchFamily="34" charset="0"/>
              </a:rPr>
              <a:t>When should you use them?</a:t>
            </a:r>
          </a:p>
          <a:p>
            <a:pPr lvl="0">
              <a:spcBef>
                <a:spcPts val="600"/>
              </a:spcBef>
              <a:spcAft>
                <a:spcPts val="1200"/>
              </a:spcAft>
            </a:pPr>
            <a:r>
              <a:rPr lang="en-AU" sz="2200" dirty="0" smtClean="0">
                <a:latin typeface="Helvetica" pitchFamily="34" charset="0"/>
              </a:rPr>
              <a:t>What types of questions can you ask?</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7" name="Picture 6" descr="00302919.jpg"/>
          <p:cNvPicPr/>
          <p:nvPr/>
        </p:nvPicPr>
        <p:blipFill>
          <a:blip r:embed="rId3" cstate="print"/>
          <a:stretch>
            <a:fillRect/>
          </a:stretch>
        </p:blipFill>
        <p:spPr>
          <a:xfrm>
            <a:off x="6705600" y="1066800"/>
            <a:ext cx="1134963" cy="2239888"/>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Closed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lvl="0">
              <a:spcBef>
                <a:spcPts val="600"/>
              </a:spcBef>
              <a:spcAft>
                <a:spcPts val="1200"/>
              </a:spcAft>
              <a:buNone/>
            </a:pPr>
            <a:r>
              <a:rPr lang="en-AU" sz="2200" dirty="0" smtClean="0">
                <a:latin typeface="Helvetica" pitchFamily="34" charset="0"/>
              </a:rPr>
              <a:t>Closed questions are asked in such a way as to elicit only a ‘Yes’ or ‘No’ answer. </a:t>
            </a:r>
          </a:p>
          <a:p>
            <a:pPr lvl="0">
              <a:spcBef>
                <a:spcPts val="600"/>
              </a:spcBef>
              <a:spcAft>
                <a:spcPts val="1200"/>
              </a:spcAft>
            </a:pPr>
            <a:r>
              <a:rPr lang="en-AU" sz="2200" dirty="0" smtClean="0">
                <a:latin typeface="Helvetica" pitchFamily="34" charset="0"/>
              </a:rPr>
              <a:t>When is a good time to use closed questions?</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8" name="Picture 7" descr="MP900431118[1].JPG"/>
          <p:cNvPicPr>
            <a:picLocks noChangeAspect="1"/>
          </p:cNvPicPr>
          <p:nvPr/>
        </p:nvPicPr>
        <p:blipFill>
          <a:blip r:embed="rId3" cstate="print"/>
          <a:stretch>
            <a:fillRect/>
          </a:stretch>
        </p:blipFill>
        <p:spPr>
          <a:xfrm>
            <a:off x="2895600" y="3200400"/>
            <a:ext cx="2780928" cy="2780928"/>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Open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dirty="0" smtClean="0">
                <a:latin typeface="Helvetica" pitchFamily="34" charset="0"/>
              </a:rPr>
              <a:t>These are questions that probe the talker for more information and encourage them to supply further detail.  </a:t>
            </a:r>
          </a:p>
          <a:p>
            <a:pPr>
              <a:spcBef>
                <a:spcPts val="600"/>
              </a:spcBef>
              <a:spcAft>
                <a:spcPts val="1200"/>
              </a:spcAft>
              <a:buNone/>
            </a:pPr>
            <a:r>
              <a:rPr lang="en-AU" sz="2200" dirty="0" smtClean="0">
                <a:latin typeface="Helvetica" pitchFamily="34" charset="0"/>
              </a:rPr>
              <a:t>They are questions that begin with:</a:t>
            </a:r>
          </a:p>
          <a:p>
            <a:pPr lvl="0">
              <a:spcBef>
                <a:spcPts val="600"/>
              </a:spcBef>
              <a:spcAft>
                <a:spcPts val="1200"/>
              </a:spcAft>
            </a:pPr>
            <a:r>
              <a:rPr lang="en-US" sz="2200" dirty="0" smtClean="0">
                <a:latin typeface="Helvetica" pitchFamily="34" charset="0"/>
              </a:rPr>
              <a:t>What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Why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How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Where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When</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 name="Picture 4" descr="MP900382673[1].JPG"/>
          <p:cNvPicPr/>
          <p:nvPr/>
        </p:nvPicPr>
        <p:blipFill>
          <a:blip r:embed="rId3" cstate="print"/>
          <a:stretch>
            <a:fillRect/>
          </a:stretch>
        </p:blipFill>
        <p:spPr>
          <a:xfrm>
            <a:off x="5943600" y="2667000"/>
            <a:ext cx="1836187" cy="2589634"/>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Non-verbal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Non-verbal communication includes:</a:t>
            </a:r>
          </a:p>
          <a:p>
            <a:pPr>
              <a:spcBef>
                <a:spcPts val="600"/>
              </a:spcBef>
              <a:spcAft>
                <a:spcPts val="1200"/>
              </a:spcAft>
            </a:pPr>
            <a:r>
              <a:rPr lang="en-AU" sz="2200" dirty="0" smtClean="0">
                <a:latin typeface="Helvetica" pitchFamily="34" charset="0"/>
              </a:rPr>
              <a:t>Body Language</a:t>
            </a:r>
          </a:p>
          <a:p>
            <a:pPr>
              <a:spcBef>
                <a:spcPts val="600"/>
              </a:spcBef>
              <a:spcAft>
                <a:spcPts val="1200"/>
              </a:spcAft>
            </a:pPr>
            <a:r>
              <a:rPr lang="en-AU" sz="2200" dirty="0" smtClean="0">
                <a:latin typeface="Helvetica" pitchFamily="34" charset="0"/>
              </a:rPr>
              <a:t>Facial expressions</a:t>
            </a:r>
          </a:p>
          <a:p>
            <a:pPr>
              <a:spcBef>
                <a:spcPts val="600"/>
              </a:spcBef>
              <a:spcAft>
                <a:spcPts val="1200"/>
              </a:spcAft>
            </a:pPr>
            <a:r>
              <a:rPr lang="en-AU" sz="2200" dirty="0" smtClean="0">
                <a:latin typeface="Helvetica" pitchFamily="34" charset="0"/>
              </a:rPr>
              <a:t>Eye contact</a:t>
            </a:r>
          </a:p>
          <a:p>
            <a:pPr>
              <a:spcBef>
                <a:spcPts val="600"/>
              </a:spcBef>
              <a:spcAft>
                <a:spcPts val="1200"/>
              </a:spcAft>
            </a:pPr>
            <a:r>
              <a:rPr lang="en-AU" sz="2200" dirty="0" smtClean="0">
                <a:latin typeface="Helvetica" pitchFamily="34" charset="0"/>
              </a:rPr>
              <a:t>Gestures</a:t>
            </a:r>
          </a:p>
          <a:p>
            <a:pPr>
              <a:spcBef>
                <a:spcPts val="600"/>
              </a:spcBef>
              <a:spcAft>
                <a:spcPts val="1200"/>
              </a:spcAft>
            </a:pPr>
            <a:r>
              <a:rPr lang="en-AU" sz="2200" dirty="0" smtClean="0">
                <a:latin typeface="Helvetica" pitchFamily="34" charset="0"/>
              </a:rPr>
              <a:t>Posture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5" name="Picture 4" descr="MP900409654[1].JPG"/>
          <p:cNvPicPr>
            <a:picLocks noChangeAspect="1"/>
          </p:cNvPicPr>
          <p:nvPr/>
        </p:nvPicPr>
        <p:blipFill>
          <a:blip r:embed="rId3" cstate="print"/>
          <a:stretch>
            <a:fillRect/>
          </a:stretch>
        </p:blipFill>
        <p:spPr>
          <a:xfrm>
            <a:off x="4800600" y="2590800"/>
            <a:ext cx="3276867" cy="218628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Non 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Non-verbal communication is anything other than words that communicates a message. </a:t>
            </a:r>
          </a:p>
          <a:p>
            <a:pPr lvl="0">
              <a:spcBef>
                <a:spcPts val="600"/>
              </a:spcBef>
              <a:spcAft>
                <a:spcPts val="1200"/>
              </a:spcAft>
            </a:pPr>
            <a:r>
              <a:rPr lang="en-US" sz="2200" dirty="0" smtClean="0">
                <a:latin typeface="Helvetica" pitchFamily="34" charset="0"/>
              </a:rPr>
              <a:t>The way we stand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 way we talk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 clothes we wear and the </a:t>
            </a:r>
            <a:br>
              <a:rPr lang="en-US" sz="2200" dirty="0" smtClean="0">
                <a:latin typeface="Helvetica" pitchFamily="34" charset="0"/>
              </a:rPr>
            </a:br>
            <a:r>
              <a:rPr lang="en-US" sz="2200" dirty="0" smtClean="0">
                <a:latin typeface="Helvetica" pitchFamily="34" charset="0"/>
              </a:rPr>
              <a:t>accessories we use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Our facial expressions</a:t>
            </a: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7" name="Picture 6" descr="MP900430926[1].JPG"/>
          <p:cNvPicPr/>
          <p:nvPr/>
        </p:nvPicPr>
        <p:blipFill>
          <a:blip r:embed="rId3" cstate="print"/>
          <a:stretch>
            <a:fillRect/>
          </a:stretch>
        </p:blipFill>
        <p:spPr>
          <a:xfrm>
            <a:off x="5867400" y="2667000"/>
            <a:ext cx="2295133" cy="1724397"/>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Non verbal communication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Five aspects of non-verbal communication:</a:t>
            </a:r>
          </a:p>
          <a:p>
            <a:pPr lvl="0">
              <a:spcBef>
                <a:spcPts val="600"/>
              </a:spcBef>
              <a:spcAft>
                <a:spcPts val="1200"/>
              </a:spcAft>
            </a:pPr>
            <a:r>
              <a:rPr lang="en-AU" sz="2200" dirty="0" smtClean="0">
                <a:latin typeface="Helvetica" pitchFamily="34" charset="0"/>
              </a:rPr>
              <a:t>Emblems</a:t>
            </a:r>
          </a:p>
          <a:p>
            <a:pPr lvl="0">
              <a:spcBef>
                <a:spcPts val="600"/>
              </a:spcBef>
              <a:spcAft>
                <a:spcPts val="1200"/>
              </a:spcAft>
            </a:pPr>
            <a:r>
              <a:rPr lang="en-AU" sz="2200" dirty="0" smtClean="0">
                <a:latin typeface="Helvetica" pitchFamily="34" charset="0"/>
              </a:rPr>
              <a:t>Illustrators</a:t>
            </a:r>
          </a:p>
          <a:p>
            <a:pPr lvl="0">
              <a:spcBef>
                <a:spcPts val="600"/>
              </a:spcBef>
              <a:spcAft>
                <a:spcPts val="1200"/>
              </a:spcAft>
            </a:pPr>
            <a:r>
              <a:rPr lang="en-AU" sz="2200" dirty="0" smtClean="0">
                <a:latin typeface="Helvetica" pitchFamily="34" charset="0"/>
              </a:rPr>
              <a:t>Affect displays</a:t>
            </a:r>
          </a:p>
          <a:p>
            <a:pPr lvl="0">
              <a:spcBef>
                <a:spcPts val="600"/>
              </a:spcBef>
              <a:spcAft>
                <a:spcPts val="1200"/>
              </a:spcAft>
            </a:pPr>
            <a:r>
              <a:rPr lang="en-AU" sz="2200" dirty="0" smtClean="0">
                <a:latin typeface="Helvetica" pitchFamily="34" charset="0"/>
              </a:rPr>
              <a:t>Regulators</a:t>
            </a:r>
          </a:p>
          <a:p>
            <a:pPr lvl="0">
              <a:spcBef>
                <a:spcPts val="600"/>
              </a:spcBef>
              <a:spcAft>
                <a:spcPts val="1200"/>
              </a:spcAft>
            </a:pPr>
            <a:r>
              <a:rPr lang="en-AU" sz="2200" dirty="0" smtClean="0">
                <a:latin typeface="Helvetica" pitchFamily="34" charset="0"/>
              </a:rPr>
              <a:t>Adaptors</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6" name="Picture 5" descr="00385537.jpg"/>
          <p:cNvPicPr/>
          <p:nvPr/>
        </p:nvPicPr>
        <p:blipFill>
          <a:blip r:embed="rId3" cstate="print"/>
          <a:stretch>
            <a:fillRect/>
          </a:stretch>
        </p:blipFill>
        <p:spPr>
          <a:xfrm>
            <a:off x="6019800" y="2362200"/>
            <a:ext cx="1597893" cy="2539529"/>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Language and tone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buNone/>
            </a:pPr>
            <a:r>
              <a:rPr lang="en-AU" sz="2200" dirty="0" smtClean="0">
                <a:latin typeface="Helvetica" pitchFamily="34" charset="0"/>
              </a:rPr>
              <a:t>When communicating with others it is vital to make sure that the language and tone is appropriate to the nature of each individual communication.</a:t>
            </a:r>
          </a:p>
          <a:p>
            <a:pPr marL="0">
              <a:buNone/>
            </a:pPr>
            <a:endParaRPr lang="en-AU" sz="2200" dirty="0" smtClean="0">
              <a:latin typeface="Helvetica" pitchFamily="34" charset="0"/>
            </a:endParaRPr>
          </a:p>
          <a:p>
            <a:pPr marL="0">
              <a:spcBef>
                <a:spcPts val="600"/>
              </a:spcBef>
              <a:spcAft>
                <a:spcPts val="1200"/>
              </a:spcAft>
            </a:pPr>
            <a:r>
              <a:rPr lang="en-AU" sz="2200" dirty="0" smtClean="0">
                <a:latin typeface="Helvetica" pitchFamily="34" charset="0"/>
              </a:rPr>
              <a:t>What is appropriate language?</a:t>
            </a:r>
          </a:p>
          <a:p>
            <a:pPr marL="0">
              <a:spcBef>
                <a:spcPts val="600"/>
              </a:spcBef>
              <a:spcAft>
                <a:spcPts val="1200"/>
              </a:spcAft>
            </a:pPr>
            <a:r>
              <a:rPr lang="en-AU" sz="2200" dirty="0" smtClean="0">
                <a:latin typeface="Helvetica" pitchFamily="34" charset="0"/>
              </a:rPr>
              <a:t>What is appropriate tone?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7" name="Picture 6" descr="00409605.jpg"/>
          <p:cNvPicPr>
            <a:picLocks noChangeAspect="1"/>
          </p:cNvPicPr>
          <p:nvPr/>
        </p:nvPicPr>
        <p:blipFill>
          <a:blip r:embed="rId3" cstate="print"/>
          <a:stretch>
            <a:fillRect/>
          </a:stretch>
        </p:blipFill>
        <p:spPr>
          <a:xfrm>
            <a:off x="6324600" y="2667000"/>
            <a:ext cx="1569368" cy="2352903"/>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Language and tone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Language </a:t>
            </a:r>
          </a:p>
          <a:p>
            <a:pPr marL="0">
              <a:spcBef>
                <a:spcPts val="600"/>
              </a:spcBef>
              <a:spcAft>
                <a:spcPts val="1200"/>
              </a:spcAft>
              <a:buNone/>
            </a:pPr>
            <a:r>
              <a:rPr lang="en-AU" sz="2200" dirty="0" smtClean="0">
                <a:latin typeface="Helvetica" pitchFamily="34" charset="0"/>
              </a:rPr>
              <a:t>Language refers to the choice of words that are communicated with another. </a:t>
            </a:r>
          </a:p>
          <a:p>
            <a:pPr>
              <a:spcBef>
                <a:spcPts val="600"/>
              </a:spcBef>
              <a:spcAft>
                <a:spcPts val="1200"/>
              </a:spcAft>
            </a:pPr>
            <a:r>
              <a:rPr lang="en-AU" sz="2200" dirty="0" smtClean="0">
                <a:latin typeface="Helvetica" pitchFamily="34" charset="0"/>
              </a:rPr>
              <a:t>How can we ensure language is appropriate in a conversation?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descr="19.jpg"/>
          <p:cNvPicPr>
            <a:picLocks noChangeAspect="1"/>
          </p:cNvPicPr>
          <p:nvPr/>
        </p:nvPicPr>
        <p:blipFill>
          <a:blip r:embed="rId3" cstate="print"/>
          <a:stretch>
            <a:fillRect/>
          </a:stretch>
        </p:blipFill>
        <p:spPr>
          <a:xfrm>
            <a:off x="3581400" y="4191000"/>
            <a:ext cx="2057400" cy="137160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Language and tone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400"/>
              </a:spcBef>
              <a:spcAft>
                <a:spcPts val="600"/>
              </a:spcAft>
              <a:buNone/>
            </a:pPr>
            <a:r>
              <a:rPr lang="en-AU" sz="2200" b="1" dirty="0" smtClean="0">
                <a:latin typeface="Helvetica" pitchFamily="34" charset="0"/>
              </a:rPr>
              <a:t>Tone</a:t>
            </a:r>
            <a:endParaRPr lang="en-AU" sz="2200" dirty="0" smtClean="0">
              <a:latin typeface="Helvetica" pitchFamily="34" charset="0"/>
            </a:endParaRPr>
          </a:p>
          <a:p>
            <a:pPr>
              <a:spcBef>
                <a:spcPts val="400"/>
              </a:spcBef>
              <a:spcAft>
                <a:spcPts val="600"/>
              </a:spcAft>
            </a:pPr>
            <a:r>
              <a:rPr lang="en-AU" sz="2200" dirty="0" smtClean="0">
                <a:latin typeface="Helvetica" pitchFamily="34" charset="0"/>
              </a:rPr>
              <a:t>Not only is the choice of words appropriate, but also how it is said. This is tone</a:t>
            </a:r>
          </a:p>
          <a:p>
            <a:pPr>
              <a:spcBef>
                <a:spcPts val="400"/>
              </a:spcBef>
              <a:spcAft>
                <a:spcPts val="600"/>
              </a:spcAft>
            </a:pPr>
            <a:r>
              <a:rPr lang="en-AU" sz="2200" dirty="0" smtClean="0">
                <a:latin typeface="Helvetica" pitchFamily="34" charset="0"/>
              </a:rPr>
              <a:t>The correct use of tone of voice has a greater impact in communication than we realise</a:t>
            </a:r>
          </a:p>
          <a:p>
            <a:pPr>
              <a:spcBef>
                <a:spcPts val="400"/>
              </a:spcBef>
              <a:spcAft>
                <a:spcPts val="600"/>
              </a:spcAft>
            </a:pPr>
            <a:r>
              <a:rPr lang="en-AU" sz="2200" dirty="0" smtClean="0">
                <a:latin typeface="Helvetica" pitchFamily="34" charset="0"/>
              </a:rPr>
              <a:t>The way a message is sent is often just                              as important as the content and language                               of the message itself</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Culinaryacademy093.TIF"/>
          <p:cNvPicPr>
            <a:picLocks noChangeAspect="1"/>
          </p:cNvPicPr>
          <p:nvPr/>
        </p:nvPicPr>
        <p:blipFill>
          <a:blip r:embed="rId3" cstate="print"/>
          <a:stretch>
            <a:fillRect/>
          </a:stretch>
        </p:blipFill>
        <p:spPr>
          <a:xfrm>
            <a:off x="6781800" y="3429000"/>
            <a:ext cx="1371600" cy="205740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Conflict and misunderstanding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What is conflict and misunderstanding?</a:t>
            </a:r>
          </a:p>
          <a:p>
            <a:pPr marL="0">
              <a:spcBef>
                <a:spcPts val="600"/>
              </a:spcBef>
              <a:spcAft>
                <a:spcPts val="1200"/>
              </a:spcAft>
              <a:buNone/>
            </a:pPr>
            <a:r>
              <a:rPr lang="en-AU" sz="2200" dirty="0" smtClean="0">
                <a:latin typeface="Helvetica" pitchFamily="34" charset="0"/>
              </a:rPr>
              <a:t>Anything that upsets another person can be regarded as a conflict or a misunderstanding.</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7" name="Picture 6" descr="00302917.jpg"/>
          <p:cNvPicPr/>
          <p:nvPr/>
        </p:nvPicPr>
        <p:blipFill>
          <a:blip r:embed="rId3" cstate="print"/>
          <a:stretch>
            <a:fillRect/>
          </a:stretch>
        </p:blipFill>
        <p:spPr>
          <a:xfrm>
            <a:off x="5791200" y="2590800"/>
            <a:ext cx="1762299" cy="2408659"/>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Conflict and misunderstanding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People involved in conflict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Conflict can involve:</a:t>
            </a:r>
          </a:p>
          <a:p>
            <a:pPr lvl="0">
              <a:spcBef>
                <a:spcPts val="600"/>
              </a:spcBef>
              <a:spcAft>
                <a:spcPts val="1200"/>
              </a:spcAft>
            </a:pPr>
            <a:r>
              <a:rPr lang="en-AU" sz="2200" dirty="0" smtClean="0">
                <a:latin typeface="Helvetica" pitchFamily="34" charset="0"/>
              </a:rPr>
              <a:t>Groups</a:t>
            </a:r>
          </a:p>
          <a:p>
            <a:pPr lvl="0">
              <a:spcBef>
                <a:spcPts val="600"/>
              </a:spcBef>
              <a:spcAft>
                <a:spcPts val="1200"/>
              </a:spcAft>
            </a:pPr>
            <a:r>
              <a:rPr lang="en-AU" sz="2200" dirty="0" smtClean="0">
                <a:latin typeface="Helvetica" pitchFamily="34" charset="0"/>
              </a:rPr>
              <a:t>Individuals</a:t>
            </a:r>
          </a:p>
          <a:p>
            <a:pPr lvl="0">
              <a:spcBef>
                <a:spcPts val="600"/>
              </a:spcBef>
              <a:spcAft>
                <a:spcPts val="1200"/>
              </a:spcAft>
            </a:pPr>
            <a:r>
              <a:rPr lang="en-AU" sz="2200" dirty="0" smtClean="0">
                <a:latin typeface="Helvetica" pitchFamily="34" charset="0"/>
              </a:rPr>
              <a:t>Co-workers</a:t>
            </a:r>
          </a:p>
          <a:p>
            <a:pPr lvl="0">
              <a:spcBef>
                <a:spcPts val="600"/>
              </a:spcBef>
              <a:spcAft>
                <a:spcPts val="1200"/>
              </a:spcAft>
            </a:pPr>
            <a:r>
              <a:rPr lang="en-AU" sz="2200" dirty="0" smtClean="0">
                <a:latin typeface="Helvetica" pitchFamily="34" charset="0"/>
              </a:rPr>
              <a:t>Customers</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7" name="Picture 6" descr="1327383_shout_let_it_all_out[1].jpg"/>
          <p:cNvPicPr>
            <a:picLocks noChangeAspect="1"/>
          </p:cNvPicPr>
          <p:nvPr/>
        </p:nvPicPr>
        <p:blipFill>
          <a:blip r:embed="rId3" cstate="print"/>
          <a:stretch>
            <a:fillRect/>
          </a:stretch>
        </p:blipFill>
        <p:spPr>
          <a:xfrm>
            <a:off x="5867400" y="2057400"/>
            <a:ext cx="1905000" cy="285750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Conflict with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600"/>
              </a:spcAft>
              <a:buNone/>
            </a:pPr>
            <a:r>
              <a:rPr lang="en-AU" sz="2200" dirty="0" smtClean="0">
                <a:latin typeface="Helvetica" pitchFamily="34" charset="0"/>
              </a:rPr>
              <a:t>Some reasons include: </a:t>
            </a:r>
          </a:p>
          <a:p>
            <a:pPr lvl="0">
              <a:spcBef>
                <a:spcPts val="600"/>
              </a:spcBef>
              <a:spcAft>
                <a:spcPts val="600"/>
              </a:spcAft>
            </a:pPr>
            <a:r>
              <a:rPr lang="en-US" sz="2200" dirty="0" smtClean="0">
                <a:latin typeface="Helvetica" pitchFamily="34" charset="0"/>
              </a:rPr>
              <a:t>Pressure of work</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Lack of, or bad communication</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Prejudices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Ineffective working systems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Difference in opinions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Difference in beliefs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Misunderstanding</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Team member not pulling their weight</a:t>
            </a: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7" name="Picture 6" descr="MP900438653[1].JPG"/>
          <p:cNvPicPr/>
          <p:nvPr/>
        </p:nvPicPr>
        <p:blipFill>
          <a:blip r:embed="rId3" cstate="print"/>
          <a:stretch>
            <a:fillRect/>
          </a:stretch>
        </p:blipFill>
        <p:spPr>
          <a:xfrm>
            <a:off x="6096000" y="2667000"/>
            <a:ext cx="1784201" cy="2414563"/>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Conflict warning signs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dirty="0" smtClean="0">
                <a:latin typeface="Helvetica" pitchFamily="34" charset="0"/>
              </a:rPr>
              <a:t>Various ‘warning signs’ which may be displayed that can indicate that a problem exists or is imminent.</a:t>
            </a:r>
          </a:p>
          <a:p>
            <a:pPr lvl="0">
              <a:spcBef>
                <a:spcPts val="600"/>
              </a:spcBef>
              <a:spcAft>
                <a:spcPts val="1200"/>
              </a:spcAft>
            </a:pPr>
            <a:r>
              <a:rPr lang="en-AU" sz="2200" dirty="0" smtClean="0">
                <a:latin typeface="Helvetica" pitchFamily="34" charset="0"/>
              </a:rPr>
              <a:t>What are common warning signs?</a:t>
            </a:r>
          </a:p>
          <a:p>
            <a:pPr lvl="0">
              <a:spcBef>
                <a:spcPts val="600"/>
              </a:spcBef>
              <a:spcAft>
                <a:spcPts val="1200"/>
              </a:spcAft>
            </a:pPr>
            <a:r>
              <a:rPr lang="en-AU" sz="2200" dirty="0" smtClean="0">
                <a:latin typeface="Helvetica" pitchFamily="34" charset="0"/>
              </a:rPr>
              <a:t>What warning signs do you personally have if you have conflict with someone else?</a:t>
            </a: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7" name="Picture 6" descr="MP900422965[1].JPG"/>
          <p:cNvPicPr>
            <a:picLocks noChangeAspect="1"/>
          </p:cNvPicPr>
          <p:nvPr/>
        </p:nvPicPr>
        <p:blipFill>
          <a:blip r:embed="rId3" cstate="print"/>
          <a:stretch>
            <a:fillRect/>
          </a:stretch>
        </p:blipFill>
        <p:spPr>
          <a:xfrm>
            <a:off x="3657600" y="4114800"/>
            <a:ext cx="2018928" cy="2018928"/>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Colleague warning signs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lvl="0">
              <a:spcBef>
                <a:spcPts val="600"/>
              </a:spcBef>
              <a:spcAft>
                <a:spcPts val="1200"/>
              </a:spcAft>
            </a:pPr>
            <a:r>
              <a:rPr lang="en-AU" sz="2200" dirty="0" smtClean="0">
                <a:latin typeface="Helvetica" pitchFamily="34" charset="0"/>
              </a:rPr>
              <a:t>Avoid verbal and visual contact</a:t>
            </a:r>
          </a:p>
          <a:p>
            <a:pPr lvl="0">
              <a:spcBef>
                <a:spcPts val="600"/>
              </a:spcBef>
              <a:spcAft>
                <a:spcPts val="1200"/>
              </a:spcAft>
            </a:pPr>
            <a:r>
              <a:rPr lang="en-AU" sz="2200" dirty="0" smtClean="0">
                <a:latin typeface="Helvetica" pitchFamily="34" charset="0"/>
              </a:rPr>
              <a:t>Indulge in negative facial expressions</a:t>
            </a:r>
          </a:p>
          <a:p>
            <a:pPr lvl="0">
              <a:spcBef>
                <a:spcPts val="600"/>
              </a:spcBef>
              <a:spcAft>
                <a:spcPts val="1200"/>
              </a:spcAft>
            </a:pPr>
            <a:r>
              <a:rPr lang="en-US" sz="2200" dirty="0" smtClean="0">
                <a:latin typeface="Helvetica" pitchFamily="34" charset="0"/>
              </a:rPr>
              <a:t>Make negative remarks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Make rude gestures or remarks</a:t>
            </a: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MP900400332[1].JPG"/>
          <p:cNvPicPr/>
          <p:nvPr/>
        </p:nvPicPr>
        <p:blipFill>
          <a:blip r:embed="rId3" cstate="print"/>
          <a:stretch>
            <a:fillRect/>
          </a:stretch>
        </p:blipFill>
        <p:spPr>
          <a:xfrm>
            <a:off x="3352800" y="4191000"/>
            <a:ext cx="2361778" cy="168590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Resolving misunderstandings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Actions that can help resolve the situation</a:t>
            </a:r>
          </a:p>
          <a:p>
            <a:pPr>
              <a:spcBef>
                <a:spcPts val="600"/>
              </a:spcBef>
              <a:spcAft>
                <a:spcPts val="1200"/>
              </a:spcAft>
              <a:buNone/>
            </a:pPr>
            <a:r>
              <a:rPr lang="en-AU" sz="2200" dirty="0" smtClean="0">
                <a:latin typeface="Helvetica" pitchFamily="34" charset="0"/>
              </a:rPr>
              <a:t>This may involve you in:</a:t>
            </a:r>
          </a:p>
          <a:p>
            <a:pPr lvl="0">
              <a:spcBef>
                <a:spcPts val="600"/>
              </a:spcBef>
              <a:spcAft>
                <a:spcPts val="1200"/>
              </a:spcAft>
            </a:pPr>
            <a:r>
              <a:rPr lang="en-US" sz="2200" dirty="0" smtClean="0">
                <a:latin typeface="Helvetica" pitchFamily="34" charset="0"/>
              </a:rPr>
              <a:t>Discussing the issue in a courteous manner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Speaking directly with the person concerned                                  in a respectful way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Apologising for offence or misunderstanding                                that may have been caused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Taking time to talk with the person concerned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Asking for advice from the other party</a:t>
            </a:r>
            <a:endParaRPr lang="en-AU" sz="2200" dirty="0" smtClean="0">
              <a:latin typeface="Helvetica" pitchFamily="34" charset="0"/>
            </a:endParaRPr>
          </a:p>
          <a:p>
            <a:pPr>
              <a:buNone/>
            </a:pPr>
            <a:endParaRPr lang="en-AU" sz="2400" b="1" dirty="0" smtClean="0"/>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7" name="Picture 6" descr="00385537.jpg"/>
          <p:cNvPicPr/>
          <p:nvPr/>
        </p:nvPicPr>
        <p:blipFill>
          <a:blip r:embed="rId3" cstate="print"/>
          <a:stretch>
            <a:fillRect/>
          </a:stretch>
        </p:blipFill>
        <p:spPr>
          <a:xfrm>
            <a:off x="7010400" y="2743200"/>
            <a:ext cx="1295400" cy="2156073"/>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Refer issues and problems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dirty="0" smtClean="0">
                <a:latin typeface="Helvetica" pitchFamily="34" charset="0"/>
              </a:rPr>
              <a:t>There may be a need in your workplace to refer:</a:t>
            </a:r>
          </a:p>
          <a:p>
            <a:pPr>
              <a:spcBef>
                <a:spcPts val="600"/>
              </a:spcBef>
              <a:spcAft>
                <a:spcPts val="1200"/>
              </a:spcAft>
            </a:pPr>
            <a:r>
              <a:rPr lang="en-AU" sz="2200" dirty="0" smtClean="0">
                <a:latin typeface="Helvetica" pitchFamily="34" charset="0"/>
              </a:rPr>
              <a:t> Any issues relating to cross-cultural issues</a:t>
            </a:r>
          </a:p>
          <a:p>
            <a:pPr>
              <a:spcBef>
                <a:spcPts val="600"/>
              </a:spcBef>
              <a:spcAft>
                <a:spcPts val="1200"/>
              </a:spcAft>
            </a:pPr>
            <a:r>
              <a:rPr lang="en-AU" sz="2200" dirty="0" smtClean="0">
                <a:latin typeface="Helvetica" pitchFamily="34" charset="0"/>
              </a:rPr>
              <a:t>Unresolved issues</a:t>
            </a:r>
          </a:p>
          <a:p>
            <a:pPr>
              <a:spcBef>
                <a:spcPts val="600"/>
              </a:spcBef>
              <a:spcAft>
                <a:spcPts val="1200"/>
              </a:spcAft>
            </a:pPr>
            <a:r>
              <a:rPr lang="en-AU" sz="2200" dirty="0" smtClean="0">
                <a:latin typeface="Helvetica" pitchFamily="34" charset="0"/>
              </a:rPr>
              <a:t>Who do you refer issues to?</a:t>
            </a:r>
          </a:p>
          <a:p>
            <a:pPr>
              <a:spcBef>
                <a:spcPts val="600"/>
              </a:spcBef>
              <a:spcAft>
                <a:spcPts val="1200"/>
              </a:spcAft>
            </a:pPr>
            <a:r>
              <a:rPr lang="en-AU" sz="2200" dirty="0" smtClean="0">
                <a:latin typeface="Helvetica" pitchFamily="34" charset="0"/>
              </a:rPr>
              <a:t>When should they be referred?</a:t>
            </a: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6" name="Picture 5" descr="00302919.jpg"/>
          <p:cNvPicPr/>
          <p:nvPr/>
        </p:nvPicPr>
        <p:blipFill>
          <a:blip r:embed="rId3" cstate="print"/>
          <a:stretch>
            <a:fillRect/>
          </a:stretch>
        </p:blipFill>
        <p:spPr>
          <a:xfrm>
            <a:off x="6400800" y="2743200"/>
            <a:ext cx="1633394" cy="2178918"/>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Refer issues and problems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301208"/>
          </a:xfrm>
        </p:spPr>
        <p:txBody>
          <a:bodyPr>
            <a:normAutofit/>
          </a:bodyPr>
          <a:lstStyle/>
          <a:p>
            <a:pPr>
              <a:spcBef>
                <a:spcPts val="600"/>
              </a:spcBef>
              <a:spcAft>
                <a:spcPts val="1200"/>
              </a:spcAft>
              <a:buNone/>
            </a:pPr>
            <a:r>
              <a:rPr lang="en-AU" sz="2200" b="1" dirty="0" smtClean="0">
                <a:latin typeface="Helvetica" pitchFamily="34" charset="0"/>
              </a:rPr>
              <a:t>Know when to refer issues to management</a:t>
            </a:r>
          </a:p>
          <a:p>
            <a:pPr marL="0">
              <a:spcBef>
                <a:spcPts val="600"/>
              </a:spcBef>
              <a:spcAft>
                <a:spcPts val="1200"/>
              </a:spcAft>
              <a:buNone/>
            </a:pPr>
            <a:r>
              <a:rPr lang="en-AU" sz="2200" dirty="0" smtClean="0">
                <a:latin typeface="Helvetica" pitchFamily="34" charset="0"/>
              </a:rPr>
              <a:t>It is always important to know when and where to draw the line in relation to any cross-cultural misunderstanding.</a:t>
            </a:r>
          </a:p>
          <a:p>
            <a:pPr>
              <a:spcBef>
                <a:spcPts val="600"/>
              </a:spcBef>
              <a:spcAft>
                <a:spcPts val="1200"/>
              </a:spcAft>
            </a:pPr>
            <a:r>
              <a:rPr lang="en-AU" sz="2200" dirty="0" smtClean="0">
                <a:latin typeface="Helvetica" pitchFamily="34" charset="0"/>
              </a:rPr>
              <a:t>When is it time to refer the issue?</a:t>
            </a: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MP900443085[1].JPG"/>
          <p:cNvPicPr/>
          <p:nvPr/>
        </p:nvPicPr>
        <p:blipFill>
          <a:blip r:embed="rId3" cstate="print"/>
          <a:stretch>
            <a:fillRect/>
          </a:stretch>
        </p:blipFill>
        <p:spPr>
          <a:xfrm>
            <a:off x="3276600" y="4191000"/>
            <a:ext cx="2294756" cy="1613148"/>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600" b="1" dirty="0" smtClean="0">
                <a:solidFill>
                  <a:srgbClr val="FF6600"/>
                </a:solidFill>
                <a:latin typeface="Helvetica" pitchFamily="34" charset="0"/>
              </a:rPr>
              <a:t>Refer issues and problems</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533400" y="1371600"/>
            <a:ext cx="8136904" cy="5301208"/>
          </a:xfrm>
        </p:spPr>
        <p:txBody>
          <a:bodyPr>
            <a:normAutofit/>
          </a:bodyPr>
          <a:lstStyle/>
          <a:p>
            <a:pPr>
              <a:spcBef>
                <a:spcPts val="600"/>
              </a:spcBef>
              <a:spcAft>
                <a:spcPts val="600"/>
              </a:spcAft>
              <a:buNone/>
            </a:pPr>
            <a:r>
              <a:rPr lang="en-AU" sz="2200" b="1" dirty="0" smtClean="0">
                <a:latin typeface="Helvetica" pitchFamily="34" charset="0"/>
              </a:rPr>
              <a:t>Who should problems be referred to?</a:t>
            </a:r>
          </a:p>
          <a:p>
            <a:pPr marL="0">
              <a:spcBef>
                <a:spcPts val="600"/>
              </a:spcBef>
              <a:spcAft>
                <a:spcPts val="600"/>
              </a:spcAft>
              <a:buNone/>
            </a:pPr>
            <a:r>
              <a:rPr lang="en-AU" sz="2200" dirty="0" smtClean="0">
                <a:latin typeface="Helvetica" pitchFamily="34" charset="0"/>
              </a:rPr>
              <a:t>Depending on the establishment, and its organisational structure, the appropriate person could be:</a:t>
            </a:r>
          </a:p>
          <a:p>
            <a:pPr lvl="0">
              <a:spcBef>
                <a:spcPts val="600"/>
              </a:spcBef>
              <a:spcAft>
                <a:spcPts val="600"/>
              </a:spcAft>
            </a:pPr>
            <a:r>
              <a:rPr lang="en-US" sz="2200" dirty="0" smtClean="0">
                <a:latin typeface="Helvetica" pitchFamily="34" charset="0"/>
              </a:rPr>
              <a:t>Colleagues</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Your team leader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Your supervisor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The manager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Human Resources personnel</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The owner</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Members of the public</a:t>
            </a:r>
            <a:endParaRPr lang="en-AU" sz="2200" dirty="0" smtClean="0">
              <a:latin typeface="Helvetica" pitchFamily="34" charset="0"/>
            </a:endParaRPr>
          </a:p>
          <a:p>
            <a:pPr lvl="0">
              <a:spcBef>
                <a:spcPts val="600"/>
              </a:spcBef>
              <a:spcAft>
                <a:spcPts val="600"/>
              </a:spcAft>
            </a:pPr>
            <a:r>
              <a:rPr lang="en-US" sz="2200" dirty="0" smtClean="0">
                <a:latin typeface="Helvetica" pitchFamily="34" charset="0"/>
              </a:rPr>
              <a:t>Clients</a:t>
            </a:r>
            <a:endParaRPr lang="en-AU" sz="2200" dirty="0" smtClean="0">
              <a:latin typeface="Helvetica" pitchFamily="34" charset="0"/>
            </a:endParaRPr>
          </a:p>
          <a:p>
            <a:pPr>
              <a:buNone/>
            </a:pPr>
            <a:endParaRPr lang="en-AU" sz="2400" b="1" dirty="0" smtClean="0"/>
          </a:p>
          <a:p>
            <a:pPr>
              <a:buNone/>
            </a:pPr>
            <a:endParaRPr lang="en-AU" sz="2400" b="1"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7" name="Picture 6" descr="Handshake.jpg"/>
          <p:cNvPicPr/>
          <p:nvPr/>
        </p:nvPicPr>
        <p:blipFill>
          <a:blip r:embed="rId3" cstate="print">
            <a:lum contrast="20000"/>
          </a:blip>
          <a:stretch>
            <a:fillRect/>
          </a:stretch>
        </p:blipFill>
        <p:spPr>
          <a:xfrm>
            <a:off x="6477000" y="2971800"/>
            <a:ext cx="1600200" cy="2128838"/>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Workplace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pPr>
            <a:r>
              <a:rPr lang="en-AU" sz="2200" dirty="0" smtClean="0">
                <a:latin typeface="Helvetica" pitchFamily="34" charset="0"/>
              </a:rPr>
              <a:t>What is ‘workplace documentation?</a:t>
            </a:r>
          </a:p>
          <a:p>
            <a:pPr>
              <a:spcBef>
                <a:spcPts val="600"/>
              </a:spcBef>
              <a:spcAft>
                <a:spcPts val="1200"/>
              </a:spcAft>
            </a:pPr>
            <a:r>
              <a:rPr lang="en-AU" sz="2200" dirty="0" smtClean="0">
                <a:latin typeface="Helvetica" pitchFamily="34" charset="0"/>
              </a:rPr>
              <a:t>What workplace documentation do you complete?</a:t>
            </a:r>
          </a:p>
          <a:p>
            <a:pPr>
              <a:spcBef>
                <a:spcPts val="600"/>
              </a:spcBef>
              <a:spcAft>
                <a:spcPts val="1200"/>
              </a:spcAft>
            </a:pPr>
            <a:r>
              <a:rPr lang="en-AU" sz="2200" dirty="0" smtClean="0">
                <a:latin typeface="Helvetica" pitchFamily="34" charset="0"/>
              </a:rPr>
              <a:t>What is the purpose of workplace documentation?</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6" name="Picture 5" descr="shutterstock_14099602.jpg"/>
          <p:cNvPicPr/>
          <p:nvPr/>
        </p:nvPicPr>
        <p:blipFill>
          <a:blip r:embed="rId3" cstate="print"/>
          <a:stretch>
            <a:fillRect/>
          </a:stretch>
        </p:blipFill>
        <p:spPr>
          <a:xfrm>
            <a:off x="3733800" y="3657600"/>
            <a:ext cx="1838325" cy="226695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Purpose of written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dirty="0" smtClean="0">
                <a:latin typeface="Helvetica" pitchFamily="34" charset="0"/>
              </a:rPr>
              <a:t>When identifying your purpose, determine first:</a:t>
            </a:r>
          </a:p>
          <a:p>
            <a:pPr lvl="0">
              <a:spcBef>
                <a:spcPts val="600"/>
              </a:spcBef>
              <a:spcAft>
                <a:spcPts val="1200"/>
              </a:spcAft>
            </a:pPr>
            <a:r>
              <a:rPr lang="en-US" sz="2200" dirty="0" smtClean="0">
                <a:latin typeface="Helvetica" pitchFamily="34" charset="0"/>
              </a:rPr>
              <a:t>Key message you want to give your reader</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a:t>
            </a:r>
            <a:r>
              <a:rPr lang="en-AU" sz="2200" dirty="0" smtClean="0">
                <a:latin typeface="Helvetica" pitchFamily="34" charset="0"/>
              </a:rPr>
              <a:t>ction you want your reader to make in response to your written communication</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descr="1331188_businesswoman_in_the_office[1].jpg"/>
          <p:cNvPicPr/>
          <p:nvPr/>
        </p:nvPicPr>
        <p:blipFill>
          <a:blip r:embed="rId3" cstate="print"/>
          <a:stretch>
            <a:fillRect/>
          </a:stretch>
        </p:blipFill>
        <p:spPr>
          <a:xfrm>
            <a:off x="3276600" y="3733800"/>
            <a:ext cx="2740660" cy="1852613"/>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Written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lvl="0">
              <a:spcBef>
                <a:spcPts val="600"/>
              </a:spcBef>
              <a:spcAft>
                <a:spcPts val="1200"/>
              </a:spcAft>
              <a:buNone/>
            </a:pPr>
            <a:r>
              <a:rPr lang="en-US" sz="2200" dirty="0" smtClean="0">
                <a:latin typeface="Helvetica" pitchFamily="34" charset="0"/>
              </a:rPr>
              <a:t>Types of common workplace written documentation includes:</a:t>
            </a:r>
          </a:p>
          <a:p>
            <a:pPr>
              <a:spcBef>
                <a:spcPts val="600"/>
              </a:spcBef>
              <a:spcAft>
                <a:spcPts val="1200"/>
              </a:spcAft>
            </a:pPr>
            <a:r>
              <a:rPr lang="en-US" sz="2200" dirty="0" smtClean="0">
                <a:latin typeface="Helvetica" pitchFamily="34" charset="0"/>
              </a:rPr>
              <a:t>Letters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Memos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Faxes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Emails</a:t>
            </a:r>
          </a:p>
          <a:p>
            <a:pPr lvl="0">
              <a:spcBef>
                <a:spcPts val="600"/>
              </a:spcBef>
              <a:spcAft>
                <a:spcPts val="1200"/>
              </a:spcAft>
            </a:pPr>
            <a:r>
              <a:rPr lang="en-AU" sz="2200" dirty="0" smtClean="0">
                <a:latin typeface="Helvetica" pitchFamily="34" charset="0"/>
              </a:rPr>
              <a:t>Invoices and purchase orders</a:t>
            </a:r>
          </a:p>
          <a:p>
            <a:pPr lvl="0">
              <a:spcBef>
                <a:spcPts val="600"/>
              </a:spcBef>
              <a:spcAft>
                <a:spcPts val="1200"/>
              </a:spcAft>
            </a:pPr>
            <a:r>
              <a:rPr lang="en-AU" sz="2200" dirty="0" smtClean="0">
                <a:latin typeface="Helvetica" pitchFamily="34" charset="0"/>
              </a:rPr>
              <a:t>Policies and procedures</a:t>
            </a:r>
          </a:p>
          <a:p>
            <a:pPr lvl="0">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1026" name="Picture 2" descr="C:\Documents and Settings\Godaishu\Desktop\PHOTOS\Front office 2012\Filing cabinet.jpg"/>
          <p:cNvPicPr>
            <a:picLocks noChangeAspect="1" noChangeArrowheads="1"/>
          </p:cNvPicPr>
          <p:nvPr/>
        </p:nvPicPr>
        <p:blipFill>
          <a:blip r:embed="rId3" cstate="print"/>
          <a:srcRect/>
          <a:stretch>
            <a:fillRect/>
          </a:stretch>
        </p:blipFill>
        <p:spPr bwMode="auto">
          <a:xfrm>
            <a:off x="5486400" y="2286000"/>
            <a:ext cx="1905000" cy="3048000"/>
          </a:xfrm>
          <a:prstGeom prst="rect">
            <a:avLst/>
          </a:prstGeom>
          <a:noFill/>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Written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lvl="0">
              <a:spcBef>
                <a:spcPts val="600"/>
              </a:spcBef>
              <a:spcAft>
                <a:spcPts val="1200"/>
              </a:spcAft>
              <a:buNone/>
            </a:pPr>
            <a:r>
              <a:rPr lang="en-US" sz="2200" dirty="0" smtClean="0">
                <a:latin typeface="Helvetica" pitchFamily="34" charset="0"/>
              </a:rPr>
              <a:t>Each department will have their own specific documentation.</a:t>
            </a:r>
          </a:p>
          <a:p>
            <a:pPr marL="0" lvl="0">
              <a:spcBef>
                <a:spcPts val="600"/>
              </a:spcBef>
              <a:spcAft>
                <a:spcPts val="1200"/>
              </a:spcAft>
              <a:buNone/>
            </a:pPr>
            <a:r>
              <a:rPr lang="en-US" sz="2200" dirty="0" smtClean="0">
                <a:latin typeface="Helvetica" pitchFamily="34" charset="0"/>
              </a:rPr>
              <a:t>What documentation is prepared for the following departments:</a:t>
            </a:r>
          </a:p>
          <a:p>
            <a:pPr>
              <a:spcBef>
                <a:spcPts val="600"/>
              </a:spcBef>
              <a:spcAft>
                <a:spcPts val="1200"/>
              </a:spcAft>
            </a:pPr>
            <a:r>
              <a:rPr lang="en-AU" sz="2200" dirty="0" smtClean="0">
                <a:latin typeface="Helvetica" pitchFamily="34" charset="0"/>
              </a:rPr>
              <a:t>Food and Beverage</a:t>
            </a:r>
          </a:p>
          <a:p>
            <a:pPr lvl="0">
              <a:spcBef>
                <a:spcPts val="600"/>
              </a:spcBef>
              <a:spcAft>
                <a:spcPts val="1200"/>
              </a:spcAft>
            </a:pPr>
            <a:r>
              <a:rPr lang="en-AU" sz="2200" dirty="0" smtClean="0">
                <a:latin typeface="Helvetica" pitchFamily="34" charset="0"/>
              </a:rPr>
              <a:t>Front Office</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6" name="Picture 5" descr="35013.JPG"/>
          <p:cNvPicPr/>
          <p:nvPr/>
        </p:nvPicPr>
        <p:blipFill>
          <a:blip r:embed="rId3" cstate="print"/>
          <a:stretch>
            <a:fillRect/>
          </a:stretch>
        </p:blipFill>
        <p:spPr>
          <a:xfrm>
            <a:off x="5943600" y="3276600"/>
            <a:ext cx="1752600" cy="1971675"/>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Written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lvl="0">
              <a:spcBef>
                <a:spcPts val="1200"/>
              </a:spcBef>
              <a:spcAft>
                <a:spcPts val="600"/>
              </a:spcAft>
              <a:buNone/>
            </a:pPr>
            <a:r>
              <a:rPr lang="en-US" sz="2200" b="1" dirty="0" smtClean="0">
                <a:latin typeface="Helvetica" pitchFamily="34" charset="0"/>
              </a:rPr>
              <a:t>Food and Beverage documentation</a:t>
            </a:r>
          </a:p>
          <a:p>
            <a:pPr>
              <a:spcBef>
                <a:spcPts val="1200"/>
              </a:spcBef>
              <a:spcAft>
                <a:spcPts val="600"/>
              </a:spcAft>
            </a:pPr>
            <a:r>
              <a:rPr lang="en-US" sz="2200" dirty="0" smtClean="0">
                <a:latin typeface="Helvetica" pitchFamily="34" charset="0"/>
              </a:rPr>
              <a:t>Reservations</a:t>
            </a:r>
            <a:endParaRPr lang="en-AU" sz="2200" dirty="0" smtClean="0">
              <a:latin typeface="Helvetica" pitchFamily="34" charset="0"/>
            </a:endParaRPr>
          </a:p>
          <a:p>
            <a:pPr>
              <a:spcBef>
                <a:spcPts val="1200"/>
              </a:spcBef>
              <a:spcAft>
                <a:spcPts val="600"/>
              </a:spcAft>
            </a:pPr>
            <a:r>
              <a:rPr lang="en-US" sz="2200" dirty="0" smtClean="0">
                <a:latin typeface="Helvetica" pitchFamily="34" charset="0"/>
              </a:rPr>
              <a:t>Menus</a:t>
            </a:r>
            <a:endParaRPr lang="en-AU" sz="2200" dirty="0" smtClean="0">
              <a:latin typeface="Helvetica" pitchFamily="34" charset="0"/>
            </a:endParaRPr>
          </a:p>
          <a:p>
            <a:pPr>
              <a:spcBef>
                <a:spcPts val="1200"/>
              </a:spcBef>
              <a:spcAft>
                <a:spcPts val="600"/>
              </a:spcAft>
            </a:pPr>
            <a:r>
              <a:rPr lang="en-US" sz="2200" dirty="0" smtClean="0">
                <a:latin typeface="Helvetica" pitchFamily="34" charset="0"/>
              </a:rPr>
              <a:t>Banquets</a:t>
            </a:r>
            <a:endParaRPr lang="en-AU" sz="2200" dirty="0" smtClean="0">
              <a:latin typeface="Helvetica" pitchFamily="34" charset="0"/>
            </a:endParaRPr>
          </a:p>
          <a:p>
            <a:pPr>
              <a:spcBef>
                <a:spcPts val="1200"/>
              </a:spcBef>
              <a:spcAft>
                <a:spcPts val="600"/>
              </a:spcAft>
            </a:pPr>
            <a:r>
              <a:rPr lang="en-US" sz="2200" dirty="0" smtClean="0">
                <a:latin typeface="Helvetica" pitchFamily="34" charset="0"/>
              </a:rPr>
              <a:t>Conferences</a:t>
            </a:r>
            <a:endParaRPr lang="en-AU" sz="2200" dirty="0" smtClean="0">
              <a:latin typeface="Helvetica" pitchFamily="34" charset="0"/>
            </a:endParaRPr>
          </a:p>
          <a:p>
            <a:pPr>
              <a:spcBef>
                <a:spcPts val="1200"/>
              </a:spcBef>
              <a:spcAft>
                <a:spcPts val="600"/>
              </a:spcAft>
            </a:pPr>
            <a:r>
              <a:rPr lang="en-US" sz="2200" dirty="0" smtClean="0">
                <a:latin typeface="Helvetica" pitchFamily="34" charset="0"/>
              </a:rPr>
              <a:t>Financial documents</a:t>
            </a: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7" name="Picture 6" descr="MP900401023.JPG"/>
          <p:cNvPicPr/>
          <p:nvPr/>
        </p:nvPicPr>
        <p:blipFill>
          <a:blip r:embed="rId3" cstate="print"/>
          <a:stretch>
            <a:fillRect/>
          </a:stretch>
        </p:blipFill>
        <p:spPr>
          <a:xfrm>
            <a:off x="4953000" y="2590800"/>
            <a:ext cx="2628900" cy="1752600"/>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Written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lvl="0">
              <a:spcBef>
                <a:spcPts val="1200"/>
              </a:spcBef>
              <a:spcAft>
                <a:spcPts val="600"/>
              </a:spcAft>
              <a:buNone/>
            </a:pPr>
            <a:r>
              <a:rPr lang="en-US" sz="2200" b="1" dirty="0" smtClean="0">
                <a:latin typeface="Helvetica" pitchFamily="34" charset="0"/>
              </a:rPr>
              <a:t>Front Office documentation</a:t>
            </a:r>
          </a:p>
          <a:p>
            <a:pPr>
              <a:spcBef>
                <a:spcPts val="600"/>
              </a:spcBef>
              <a:spcAft>
                <a:spcPts val="1200"/>
              </a:spcAft>
            </a:pPr>
            <a:r>
              <a:rPr lang="en-US" sz="2200" dirty="0" smtClean="0">
                <a:latin typeface="Helvetica" pitchFamily="34" charset="0"/>
              </a:rPr>
              <a:t>Activity Sheets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Registration Cards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Guest Accounts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Customer Surveys and complaint forms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Currency exchange documents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Payment forms, vouchers, letters and receipts</a:t>
            </a: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7" name="Picture 6" descr="MP900431745[1].JPG"/>
          <p:cNvPicPr/>
          <p:nvPr/>
        </p:nvPicPr>
        <p:blipFill>
          <a:blip r:embed="rId3" cstate="print"/>
          <a:stretch>
            <a:fillRect/>
          </a:stretch>
        </p:blipFill>
        <p:spPr>
          <a:xfrm>
            <a:off x="5486400" y="1752600"/>
            <a:ext cx="2390006" cy="1841748"/>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2:</a:t>
            </a:r>
          </a:p>
          <a:p>
            <a:pPr marL="0">
              <a:spcBef>
                <a:spcPts val="600"/>
              </a:spcBef>
              <a:spcAft>
                <a:spcPts val="1200"/>
              </a:spcAft>
              <a:buNone/>
            </a:pPr>
            <a:r>
              <a:rPr lang="en-AU" sz="4000" dirty="0" smtClean="0">
                <a:solidFill>
                  <a:srgbClr val="FF6600"/>
                </a:solidFill>
                <a:latin typeface="Helvetica" pitchFamily="34" charset="0"/>
              </a:rPr>
              <a:t>Participate in team assignments</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descr="MP900216070.JPG"/>
          <p:cNvPicPr>
            <a:picLocks noChangeAspect="1"/>
          </p:cNvPicPr>
          <p:nvPr/>
        </p:nvPicPr>
        <p:blipFill>
          <a:blip r:embed="rId3" cstate="print"/>
          <a:stretch>
            <a:fillRect/>
          </a:stretch>
        </p:blipFill>
        <p:spPr>
          <a:xfrm>
            <a:off x="5181600" y="3352800"/>
            <a:ext cx="2626905" cy="1755648"/>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Participate in team assignments</a:t>
            </a: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and meet individual responsibilities within the workgroup in accordance with organisational requirements</a:t>
            </a:r>
          </a:p>
          <a:p>
            <a:pPr>
              <a:spcBef>
                <a:spcPts val="600"/>
              </a:spcBef>
              <a:spcAft>
                <a:spcPts val="1200"/>
              </a:spcAft>
            </a:pPr>
            <a:r>
              <a:rPr lang="en-AU" sz="2200" dirty="0" smtClean="0">
                <a:latin typeface="Helvetica" pitchFamily="34" charset="0"/>
              </a:rPr>
              <a:t>Assist team members to ensure efficient and safe completion of assignment instructions and work tasks in accordance with legislative and organisational requirements</a:t>
            </a:r>
          </a:p>
          <a:p>
            <a:pPr>
              <a:spcBef>
                <a:spcPts val="600"/>
              </a:spcBef>
              <a:spcAft>
                <a:spcPts val="1200"/>
              </a:spcAft>
            </a:pPr>
            <a:r>
              <a:rPr lang="en-AU" sz="2200" dirty="0" smtClean="0">
                <a:latin typeface="Helvetica" pitchFamily="34" charset="0"/>
              </a:rPr>
              <a:t>Communicate relevant information to team members to efficiently complete tasks in accordance with assignment goals and objectives</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819400" y="266700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819400" y="4114800"/>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181600" y="5257800"/>
            <a:ext cx="399154" cy="527046"/>
          </a:xfrm>
          <a:prstGeom prst="rect">
            <a:avLst/>
          </a:prstGeom>
          <a:noFill/>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Participate in team assignments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Provide appropriate assistance to colleagues or seek as required to achieve work tasks within designated time frames</a:t>
            </a:r>
          </a:p>
          <a:p>
            <a:pPr>
              <a:spcBef>
                <a:spcPts val="600"/>
              </a:spcBef>
              <a:spcAft>
                <a:spcPts val="1200"/>
              </a:spcAft>
            </a:pPr>
            <a:r>
              <a:rPr lang="en-AU" sz="2200" dirty="0" smtClean="0">
                <a:latin typeface="Helvetica" pitchFamily="34" charset="0"/>
              </a:rPr>
              <a:t>Recognise and accommodate cultural differences within the team</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648846" y="2825754"/>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048000" y="3733800"/>
            <a:ext cx="399154" cy="527046"/>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individual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Role of teams and individuals</a:t>
            </a:r>
          </a:p>
          <a:p>
            <a:pPr>
              <a:spcBef>
                <a:spcPts val="600"/>
              </a:spcBef>
              <a:spcAft>
                <a:spcPts val="1200"/>
              </a:spcAft>
            </a:pPr>
            <a:r>
              <a:rPr lang="en-AU" sz="2200" dirty="0" smtClean="0">
                <a:latin typeface="Helvetica" pitchFamily="34" charset="0"/>
              </a:rPr>
              <a:t>Each team or group will have a purpose for its existence, with a set of objectives it is trying to achieve</a:t>
            </a:r>
          </a:p>
          <a:p>
            <a:pPr>
              <a:spcBef>
                <a:spcPts val="600"/>
              </a:spcBef>
              <a:spcAft>
                <a:spcPts val="1200"/>
              </a:spcAft>
            </a:pPr>
            <a:r>
              <a:rPr lang="en-AU" sz="2200" dirty="0" smtClean="0">
                <a:latin typeface="Helvetica" pitchFamily="34" charset="0"/>
              </a:rPr>
              <a:t>Naturally each group will have people who have been chosen for a reason</a:t>
            </a:r>
          </a:p>
          <a:p>
            <a:pPr>
              <a:spcBef>
                <a:spcPts val="600"/>
              </a:spcBef>
              <a:spcAft>
                <a:spcPts val="1200"/>
              </a:spcAft>
            </a:pPr>
            <a:r>
              <a:rPr lang="en-AU" sz="2200" dirty="0" smtClean="0">
                <a:latin typeface="Helvetica" pitchFamily="34" charset="0"/>
              </a:rPr>
              <a:t>Each of these people will have their own strengths and weaknesses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2050" name="Picture 2" descr="C:\Documents and Settings\Godaishu\Local Settings\Temporary Internet Files\Content.IE5\YISE4YB4\MP900411785[1].jpg"/>
          <p:cNvPicPr>
            <a:picLocks noChangeAspect="1" noChangeArrowheads="1"/>
          </p:cNvPicPr>
          <p:nvPr/>
        </p:nvPicPr>
        <p:blipFill>
          <a:blip r:embed="rId3" cstate="print"/>
          <a:srcRect/>
          <a:stretch>
            <a:fillRect/>
          </a:stretch>
        </p:blipFill>
        <p:spPr bwMode="auto">
          <a:xfrm>
            <a:off x="4038600" y="4495800"/>
            <a:ext cx="1168970" cy="1752600"/>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individual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fontScale="92500" lnSpcReduction="10000"/>
          </a:bodyPr>
          <a:lstStyle/>
          <a:p>
            <a:pPr>
              <a:lnSpc>
                <a:spcPct val="110000"/>
              </a:lnSpc>
              <a:spcBef>
                <a:spcPts val="600"/>
              </a:spcBef>
              <a:spcAft>
                <a:spcPts val="600"/>
              </a:spcAft>
              <a:buNone/>
            </a:pPr>
            <a:r>
              <a:rPr lang="en-AU" sz="2400" b="1" dirty="0" smtClean="0">
                <a:latin typeface="Helvetica" pitchFamily="34" charset="0"/>
              </a:rPr>
              <a:t>Benefits of using a team decision making approach</a:t>
            </a:r>
            <a:endParaRPr lang="en-AU" sz="2400" dirty="0" smtClean="0">
              <a:latin typeface="Helvetica" pitchFamily="34" charset="0"/>
            </a:endParaRPr>
          </a:p>
          <a:p>
            <a:pPr>
              <a:lnSpc>
                <a:spcPct val="110000"/>
              </a:lnSpc>
              <a:spcBef>
                <a:spcPts val="600"/>
              </a:spcBef>
              <a:spcAft>
                <a:spcPts val="600"/>
              </a:spcAft>
            </a:pPr>
            <a:r>
              <a:rPr lang="en-AU" sz="2400" dirty="0" smtClean="0">
                <a:latin typeface="Helvetica" pitchFamily="34" charset="0"/>
              </a:rPr>
              <a:t>A more effective, operational team</a:t>
            </a:r>
          </a:p>
          <a:p>
            <a:pPr>
              <a:lnSpc>
                <a:spcPct val="110000"/>
              </a:lnSpc>
              <a:spcBef>
                <a:spcPts val="600"/>
              </a:spcBef>
              <a:spcAft>
                <a:spcPts val="600"/>
              </a:spcAft>
            </a:pPr>
            <a:r>
              <a:rPr lang="en-AU" sz="2400" dirty="0" smtClean="0">
                <a:latin typeface="Helvetica" pitchFamily="34" charset="0"/>
              </a:rPr>
              <a:t>A department where nothing is too much trouble</a:t>
            </a:r>
          </a:p>
          <a:p>
            <a:pPr>
              <a:lnSpc>
                <a:spcPct val="110000"/>
              </a:lnSpc>
              <a:spcBef>
                <a:spcPts val="600"/>
              </a:spcBef>
              <a:spcAft>
                <a:spcPts val="600"/>
              </a:spcAft>
            </a:pPr>
            <a:r>
              <a:rPr lang="en-AU" sz="2400" dirty="0" smtClean="0">
                <a:latin typeface="Helvetica" pitchFamily="34" charset="0"/>
              </a:rPr>
              <a:t>More harmony and fewer disputes amongst staff</a:t>
            </a:r>
          </a:p>
          <a:p>
            <a:pPr>
              <a:lnSpc>
                <a:spcPct val="110000"/>
              </a:lnSpc>
              <a:spcBef>
                <a:spcPts val="600"/>
              </a:spcBef>
              <a:spcAft>
                <a:spcPts val="600"/>
              </a:spcAft>
            </a:pPr>
            <a:r>
              <a:rPr lang="en-AU" sz="2400" dirty="0" smtClean="0">
                <a:latin typeface="Helvetica" pitchFamily="34" charset="0"/>
              </a:rPr>
              <a:t>A far better working environment</a:t>
            </a:r>
          </a:p>
          <a:p>
            <a:pPr>
              <a:lnSpc>
                <a:spcPct val="110000"/>
              </a:lnSpc>
              <a:spcBef>
                <a:spcPts val="600"/>
              </a:spcBef>
              <a:spcAft>
                <a:spcPts val="600"/>
              </a:spcAft>
            </a:pPr>
            <a:r>
              <a:rPr lang="en-AU" sz="2400" dirty="0" smtClean="0">
                <a:latin typeface="Helvetica" pitchFamily="34" charset="0"/>
              </a:rPr>
              <a:t>Less clock watching, and more pats on the back</a:t>
            </a:r>
          </a:p>
          <a:p>
            <a:pPr>
              <a:lnSpc>
                <a:spcPct val="110000"/>
              </a:lnSpc>
              <a:spcBef>
                <a:spcPts val="600"/>
              </a:spcBef>
              <a:spcAft>
                <a:spcPts val="600"/>
              </a:spcAft>
            </a:pPr>
            <a:r>
              <a:rPr lang="en-AU" sz="2400" dirty="0" smtClean="0">
                <a:latin typeface="Helvetica" pitchFamily="34" charset="0"/>
              </a:rPr>
              <a:t> More innovative and creative ideas</a:t>
            </a:r>
          </a:p>
          <a:p>
            <a:pPr>
              <a:lnSpc>
                <a:spcPct val="110000"/>
              </a:lnSpc>
              <a:spcBef>
                <a:spcPts val="600"/>
              </a:spcBef>
              <a:spcAft>
                <a:spcPts val="600"/>
              </a:spcAft>
            </a:pPr>
            <a:r>
              <a:rPr lang="en-AU" sz="2400" dirty="0" smtClean="0">
                <a:latin typeface="Helvetica" pitchFamily="34" charset="0"/>
              </a:rPr>
              <a:t>More learning</a:t>
            </a:r>
          </a:p>
          <a:p>
            <a:pPr>
              <a:lnSpc>
                <a:spcPct val="110000"/>
              </a:lnSpc>
              <a:spcBef>
                <a:spcPts val="600"/>
              </a:spcBef>
              <a:spcAft>
                <a:spcPts val="600"/>
              </a:spcAft>
            </a:pPr>
            <a:r>
              <a:rPr lang="en-AU" sz="2400" dirty="0" smtClean="0">
                <a:latin typeface="Helvetica" pitchFamily="34" charset="0"/>
              </a:rPr>
              <a:t>Higher levels of achievement</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6" name="Picture 5" descr="MP910220740.JPG"/>
          <p:cNvPicPr/>
          <p:nvPr/>
        </p:nvPicPr>
        <p:blipFill>
          <a:blip r:embed="rId3" cstate="print"/>
          <a:stretch>
            <a:fillRect/>
          </a:stretch>
        </p:blipFill>
        <p:spPr>
          <a:xfrm>
            <a:off x="6019800" y="4648200"/>
            <a:ext cx="2200275" cy="1343025"/>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individual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Need for inclusion and cooperation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identifying the individual roles and responsibilities, it is essential that not only do team members:</a:t>
            </a:r>
          </a:p>
          <a:p>
            <a:pPr>
              <a:spcBef>
                <a:spcPts val="600"/>
              </a:spcBef>
              <a:spcAft>
                <a:spcPts val="1200"/>
              </a:spcAft>
            </a:pPr>
            <a:r>
              <a:rPr lang="en-AU" sz="2200" dirty="0" smtClean="0">
                <a:latin typeface="Helvetica" pitchFamily="34" charset="0"/>
              </a:rPr>
              <a:t>Understand what they are required to do</a:t>
            </a:r>
          </a:p>
          <a:p>
            <a:pPr>
              <a:spcBef>
                <a:spcPts val="600"/>
              </a:spcBef>
              <a:spcAft>
                <a:spcPts val="1200"/>
              </a:spcAft>
            </a:pPr>
            <a:r>
              <a:rPr lang="en-AU" sz="2200" dirty="0" smtClean="0">
                <a:latin typeface="Helvetica" pitchFamily="34" charset="0"/>
              </a:rPr>
              <a:t>Accept it </a:t>
            </a:r>
          </a:p>
          <a:p>
            <a:pPr>
              <a:spcBef>
                <a:spcPts val="600"/>
              </a:spcBef>
              <a:spcAft>
                <a:spcPts val="1200"/>
              </a:spcAft>
            </a:pPr>
            <a:r>
              <a:rPr lang="en-AU" sz="2200" dirty="0" smtClean="0">
                <a:latin typeface="Helvetica" pitchFamily="34" charset="0"/>
              </a:rPr>
              <a:t>Willing to take ownership</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7" name="Picture 6" descr="events2.jpg"/>
          <p:cNvPicPr>
            <a:picLocks noChangeAspect="1"/>
          </p:cNvPicPr>
          <p:nvPr/>
        </p:nvPicPr>
        <p:blipFill>
          <a:blip r:embed="rId3" cstate="print"/>
          <a:stretch>
            <a:fillRect/>
          </a:stretch>
        </p:blipFill>
        <p:spPr>
          <a:xfrm>
            <a:off x="5867400" y="3733800"/>
            <a:ext cx="2362200" cy="1575587"/>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individual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b="1" dirty="0" smtClean="0">
                <a:latin typeface="Helvetica" pitchFamily="34" charset="0"/>
              </a:rPr>
              <a:t>Identifying individual responsibilities within a group</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Organisational hierarchies</a:t>
            </a:r>
          </a:p>
          <a:p>
            <a:pPr lvl="0">
              <a:spcBef>
                <a:spcPts val="600"/>
              </a:spcBef>
              <a:spcAft>
                <a:spcPts val="1200"/>
              </a:spcAft>
            </a:pPr>
            <a:r>
              <a:rPr lang="en-AU" sz="2200" dirty="0" smtClean="0">
                <a:latin typeface="Helvetica" pitchFamily="34" charset="0"/>
              </a:rPr>
              <a:t>Contract</a:t>
            </a:r>
          </a:p>
          <a:p>
            <a:pPr lvl="0">
              <a:spcBef>
                <a:spcPts val="600"/>
              </a:spcBef>
              <a:spcAft>
                <a:spcPts val="1200"/>
              </a:spcAft>
            </a:pPr>
            <a:r>
              <a:rPr lang="en-AU" sz="2200" dirty="0" smtClean="0">
                <a:latin typeface="Helvetica" pitchFamily="34" charset="0"/>
              </a:rPr>
              <a:t>Job Description</a:t>
            </a:r>
          </a:p>
          <a:p>
            <a:pPr lvl="0">
              <a:spcBef>
                <a:spcPts val="600"/>
              </a:spcBef>
              <a:spcAft>
                <a:spcPts val="1200"/>
              </a:spcAft>
            </a:pPr>
            <a:r>
              <a:rPr lang="en-AU" sz="2200" dirty="0" smtClean="0">
                <a:latin typeface="Helvetica" pitchFamily="34" charset="0"/>
              </a:rPr>
              <a:t>Standard Operating Procedures (SOP)</a:t>
            </a:r>
          </a:p>
          <a:p>
            <a:pPr lvl="0">
              <a:spcBef>
                <a:spcPts val="600"/>
              </a:spcBef>
              <a:spcAft>
                <a:spcPts val="1200"/>
              </a:spcAft>
            </a:pPr>
            <a:r>
              <a:rPr lang="en-AU" sz="2200" dirty="0" smtClean="0">
                <a:latin typeface="Helvetica" pitchFamily="34" charset="0"/>
              </a:rPr>
              <a:t>Policies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6" name="Picture 5" descr="MP900422539.JPG"/>
          <p:cNvPicPr/>
          <p:nvPr/>
        </p:nvPicPr>
        <p:blipFill>
          <a:blip r:embed="rId3" cstate="print"/>
          <a:stretch>
            <a:fillRect/>
          </a:stretch>
        </p:blipFill>
        <p:spPr>
          <a:xfrm>
            <a:off x="6553200" y="2438400"/>
            <a:ext cx="1539240" cy="1885950"/>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individual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b="1" dirty="0" smtClean="0">
                <a:latin typeface="Helvetica" pitchFamily="34" charset="0"/>
              </a:rPr>
              <a:t>Identifying individual responsibilities within a group</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Procedures</a:t>
            </a:r>
          </a:p>
          <a:p>
            <a:pPr lvl="0">
              <a:spcBef>
                <a:spcPts val="600"/>
              </a:spcBef>
              <a:spcAft>
                <a:spcPts val="1200"/>
              </a:spcAft>
            </a:pPr>
            <a:r>
              <a:rPr lang="en-AU" sz="2200" dirty="0" smtClean="0">
                <a:latin typeface="Helvetica" pitchFamily="34" charset="0"/>
              </a:rPr>
              <a:t>Daily Task Sheets</a:t>
            </a:r>
          </a:p>
          <a:p>
            <a:pPr lvl="0">
              <a:spcBef>
                <a:spcPts val="600"/>
              </a:spcBef>
              <a:spcAft>
                <a:spcPts val="1200"/>
              </a:spcAft>
            </a:pPr>
            <a:r>
              <a:rPr lang="en-AU" sz="2200" dirty="0" smtClean="0">
                <a:latin typeface="Helvetica" pitchFamily="34" charset="0"/>
              </a:rPr>
              <a:t>Direct requests</a:t>
            </a:r>
          </a:p>
          <a:p>
            <a:pPr lvl="0">
              <a:spcBef>
                <a:spcPts val="600"/>
              </a:spcBef>
              <a:spcAft>
                <a:spcPts val="1200"/>
              </a:spcAft>
            </a:pPr>
            <a:r>
              <a:rPr lang="en-AU" sz="2200" dirty="0" smtClean="0">
                <a:latin typeface="Helvetica" pitchFamily="34" charset="0"/>
              </a:rPr>
              <a:t>Observation</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3074" name="Picture 2" descr="C:\Documents and Settings\Godaishu\Local Settings\Temporary Internet Files\Content.IE5\QE61NRUL\MP900414087[1].jpg"/>
          <p:cNvPicPr>
            <a:picLocks noChangeAspect="1" noChangeArrowheads="1"/>
          </p:cNvPicPr>
          <p:nvPr/>
        </p:nvPicPr>
        <p:blipFill>
          <a:blip r:embed="rId3" cstate="print"/>
          <a:srcRect/>
          <a:stretch>
            <a:fillRect/>
          </a:stretch>
        </p:blipFill>
        <p:spPr bwMode="auto">
          <a:xfrm>
            <a:off x="5029200" y="2438400"/>
            <a:ext cx="2571750" cy="2057400"/>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individual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Consulting with relevant others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Business owners</a:t>
            </a:r>
          </a:p>
          <a:p>
            <a:pPr>
              <a:spcBef>
                <a:spcPts val="600"/>
              </a:spcBef>
              <a:spcAft>
                <a:spcPts val="1200"/>
              </a:spcAft>
            </a:pPr>
            <a:r>
              <a:rPr lang="en-AU" sz="2200" dirty="0" smtClean="0">
                <a:latin typeface="Helvetica" pitchFamily="34" charset="0"/>
              </a:rPr>
              <a:t>Management, supervisors</a:t>
            </a:r>
          </a:p>
          <a:p>
            <a:pPr>
              <a:spcBef>
                <a:spcPts val="600"/>
              </a:spcBef>
              <a:spcAft>
                <a:spcPts val="1200"/>
              </a:spcAft>
            </a:pPr>
            <a:r>
              <a:rPr lang="en-AU" sz="2200" dirty="0" smtClean="0">
                <a:latin typeface="Helvetica" pitchFamily="34" charset="0"/>
              </a:rPr>
              <a:t>People from other departments</a:t>
            </a:r>
          </a:p>
          <a:p>
            <a:pPr>
              <a:spcBef>
                <a:spcPts val="600"/>
              </a:spcBef>
              <a:spcAft>
                <a:spcPts val="1200"/>
              </a:spcAft>
            </a:pPr>
            <a:r>
              <a:rPr lang="en-AU" sz="2200" dirty="0" smtClean="0">
                <a:latin typeface="Helvetica" pitchFamily="34" charset="0"/>
              </a:rPr>
              <a:t>Customers</a:t>
            </a:r>
          </a:p>
          <a:p>
            <a:pPr>
              <a:spcBef>
                <a:spcPts val="600"/>
              </a:spcBef>
              <a:spcAft>
                <a:spcPts val="1200"/>
              </a:spcAft>
            </a:pPr>
            <a:r>
              <a:rPr lang="en-AU" sz="2200" dirty="0" smtClean="0">
                <a:latin typeface="Helvetica" pitchFamily="34" charset="0"/>
              </a:rPr>
              <a:t>Administration staff</a:t>
            </a:r>
          </a:p>
          <a:p>
            <a:pPr>
              <a:spcBef>
                <a:spcPts val="600"/>
              </a:spcBef>
              <a:spcAft>
                <a:spcPts val="1200"/>
              </a:spcAft>
            </a:pPr>
            <a:r>
              <a:rPr lang="en-AU" sz="2200" dirty="0" smtClean="0">
                <a:latin typeface="Helvetica" pitchFamily="34" charset="0"/>
              </a:rPr>
              <a:t>External suppliers</a:t>
            </a:r>
          </a:p>
          <a:p>
            <a:pPr>
              <a:spcBef>
                <a:spcPts val="600"/>
              </a:spcBef>
              <a:spcAft>
                <a:spcPts val="1200"/>
              </a:spcAft>
            </a:pPr>
            <a:r>
              <a:rPr lang="en-AU" sz="2200" dirty="0" smtClean="0">
                <a:latin typeface="Helvetica" pitchFamily="34" charset="0"/>
              </a:rPr>
              <a:t>Industry bodies</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4098" name="Picture 2" descr="C:\Documents and Settings\Godaishu\Local Settings\Temporary Internet Files\Content.IE5\YISE4YB4\MP900409601[1].jpg"/>
          <p:cNvPicPr>
            <a:picLocks noChangeAspect="1" noChangeArrowheads="1"/>
          </p:cNvPicPr>
          <p:nvPr/>
        </p:nvPicPr>
        <p:blipFill>
          <a:blip r:embed="rId3" cstate="print"/>
          <a:srcRect/>
          <a:stretch>
            <a:fillRect/>
          </a:stretch>
        </p:blipFill>
        <p:spPr bwMode="auto">
          <a:xfrm>
            <a:off x="5486400" y="2819400"/>
            <a:ext cx="2820113" cy="1881544"/>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completion of tasks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Importance of completing tasks</a:t>
            </a:r>
          </a:p>
          <a:p>
            <a:pPr>
              <a:spcBef>
                <a:spcPts val="600"/>
              </a:spcBef>
              <a:spcAft>
                <a:spcPts val="1200"/>
              </a:spcAft>
            </a:pPr>
            <a:r>
              <a:rPr lang="en-AU" sz="2200" dirty="0" smtClean="0">
                <a:latin typeface="Helvetica" pitchFamily="34" charset="0"/>
              </a:rPr>
              <a:t>Within the overall context of team goals, you will have individual tasks that you will be required to complete</a:t>
            </a:r>
          </a:p>
          <a:p>
            <a:pPr>
              <a:spcBef>
                <a:spcPts val="600"/>
              </a:spcBef>
              <a:spcAft>
                <a:spcPts val="1200"/>
              </a:spcAft>
            </a:pPr>
            <a:r>
              <a:rPr lang="en-AU" sz="2200" dirty="0" smtClean="0">
                <a:latin typeface="Helvetica" pitchFamily="34" charset="0"/>
              </a:rPr>
              <a:t>If you fail to complete your individual tasks then the possibility is that the team will fail to achieve its overall objectives</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5122" name="Picture 2" descr="C:\Documents and Settings\Godaishu\Local Settings\Temporary Internet Files\Content.IE5\VL0QK7PC\MP900409747[1].jpg"/>
          <p:cNvPicPr>
            <a:picLocks noChangeAspect="1" noChangeArrowheads="1"/>
          </p:cNvPicPr>
          <p:nvPr/>
        </p:nvPicPr>
        <p:blipFill>
          <a:blip r:embed="rId3" cstate="print"/>
          <a:srcRect/>
          <a:stretch>
            <a:fillRect/>
          </a:stretch>
        </p:blipFill>
        <p:spPr bwMode="auto">
          <a:xfrm>
            <a:off x="3124200" y="3962400"/>
            <a:ext cx="2514600" cy="2046860"/>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completion of tasks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Assignment instructions</a:t>
            </a:r>
          </a:p>
          <a:p>
            <a:pPr lvl="0">
              <a:spcBef>
                <a:spcPts val="600"/>
              </a:spcBef>
              <a:spcAft>
                <a:spcPts val="1200"/>
              </a:spcAft>
            </a:pPr>
            <a:r>
              <a:rPr lang="en-AU" sz="2200" dirty="0" smtClean="0">
                <a:latin typeface="Helvetica" pitchFamily="34" charset="0"/>
              </a:rPr>
              <a:t>Instructions from client, or supervisor, or management</a:t>
            </a:r>
          </a:p>
          <a:p>
            <a:pPr lvl="0">
              <a:spcBef>
                <a:spcPts val="600"/>
              </a:spcBef>
              <a:spcAft>
                <a:spcPts val="1200"/>
              </a:spcAft>
            </a:pPr>
            <a:r>
              <a:rPr lang="en-AU" sz="2200" dirty="0" smtClean="0">
                <a:latin typeface="Helvetica" pitchFamily="34" charset="0"/>
              </a:rPr>
              <a:t>Assignment objectives and timeframes</a:t>
            </a:r>
          </a:p>
          <a:p>
            <a:pPr lvl="0">
              <a:spcBef>
                <a:spcPts val="600"/>
              </a:spcBef>
              <a:spcAft>
                <a:spcPts val="1200"/>
              </a:spcAft>
            </a:pPr>
            <a:r>
              <a:rPr lang="en-AU" sz="2200" dirty="0" smtClean="0">
                <a:latin typeface="Helvetica" pitchFamily="34" charset="0"/>
              </a:rPr>
              <a:t>Work tasks and procedures</a:t>
            </a:r>
          </a:p>
          <a:p>
            <a:pPr lvl="0">
              <a:spcBef>
                <a:spcPts val="600"/>
              </a:spcBef>
              <a:spcAft>
                <a:spcPts val="1200"/>
              </a:spcAft>
            </a:pPr>
            <a:r>
              <a:rPr lang="en-AU" sz="2200" dirty="0" smtClean="0">
                <a:latin typeface="Helvetica" pitchFamily="34" charset="0"/>
              </a:rPr>
              <a:t>Resource and equipment requirements</a:t>
            </a:r>
          </a:p>
          <a:p>
            <a:pPr lvl="0">
              <a:spcBef>
                <a:spcPts val="600"/>
              </a:spcBef>
              <a:spcAft>
                <a:spcPts val="1200"/>
              </a:spcAft>
            </a:pPr>
            <a:r>
              <a:rPr lang="en-AU" sz="2200" dirty="0" smtClean="0">
                <a:latin typeface="Helvetica" pitchFamily="34" charset="0"/>
              </a:rPr>
              <a:t>Reporting and documentation requirements</a:t>
            </a:r>
          </a:p>
          <a:p>
            <a:pPr>
              <a:spcBef>
                <a:spcPts val="600"/>
              </a:spcBef>
              <a:spcAft>
                <a:spcPts val="1200"/>
              </a:spcAft>
            </a:pPr>
            <a:r>
              <a:rPr lang="en-AU" sz="2200" dirty="0" smtClean="0">
                <a:latin typeface="Helvetica" pitchFamily="34" charset="0"/>
              </a:rPr>
              <a:t>Personal protective clothing and equipment requirements</a:t>
            </a: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146" name="Picture 2" descr="C:\Documents and Settings\Godaishu\Local Settings\Temporary Internet Files\Content.IE5\7GWYLB5B\MP900409672[1].jpg"/>
          <p:cNvPicPr>
            <a:picLocks noChangeAspect="1" noChangeArrowheads="1"/>
          </p:cNvPicPr>
          <p:nvPr/>
        </p:nvPicPr>
        <p:blipFill>
          <a:blip r:embed="rId3" cstate="print"/>
          <a:srcRect/>
          <a:stretch>
            <a:fillRect/>
          </a:stretch>
        </p:blipFill>
        <p:spPr bwMode="auto">
          <a:xfrm>
            <a:off x="6705600" y="2895600"/>
            <a:ext cx="1600200" cy="1600200"/>
          </a:xfrm>
          <a:prstGeom prst="rect">
            <a:avLst/>
          </a:prstGeom>
          <a:noFill/>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completion of tasks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b="1" dirty="0" smtClean="0">
                <a:latin typeface="Helvetica" pitchFamily="34" charset="0"/>
              </a:rPr>
              <a:t>Comply with legislative and organisational requirements</a:t>
            </a:r>
          </a:p>
          <a:p>
            <a:pPr>
              <a:spcBef>
                <a:spcPts val="600"/>
              </a:spcBef>
              <a:spcAft>
                <a:spcPts val="1200"/>
              </a:spcAft>
            </a:pPr>
            <a:r>
              <a:rPr lang="en-AU" sz="2200" dirty="0" smtClean="0">
                <a:latin typeface="Helvetica" pitchFamily="34" charset="0"/>
              </a:rPr>
              <a:t>Occupational </a:t>
            </a:r>
            <a:r>
              <a:rPr lang="en-AU" sz="2200" dirty="0" smtClean="0"/>
              <a:t>Safety and Health</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Environmental issues</a:t>
            </a:r>
          </a:p>
          <a:p>
            <a:pPr lvl="0">
              <a:spcBef>
                <a:spcPts val="600"/>
              </a:spcBef>
              <a:spcAft>
                <a:spcPts val="1200"/>
              </a:spcAft>
            </a:pPr>
            <a:r>
              <a:rPr lang="en-AU" sz="2200" dirty="0" smtClean="0">
                <a:latin typeface="Helvetica" pitchFamily="34" charset="0"/>
              </a:rPr>
              <a:t>Quality assurance and certification requirements</a:t>
            </a:r>
          </a:p>
          <a:p>
            <a:pPr lvl="0">
              <a:spcBef>
                <a:spcPts val="600"/>
              </a:spcBef>
              <a:spcAft>
                <a:spcPts val="1200"/>
              </a:spcAft>
            </a:pPr>
            <a:r>
              <a:rPr lang="en-AU" sz="2200" dirty="0" smtClean="0">
                <a:latin typeface="Helvetica" pitchFamily="34" charset="0"/>
              </a:rPr>
              <a:t>Relevant industry Codes of Practice </a:t>
            </a:r>
          </a:p>
          <a:p>
            <a:pPr lvl="0">
              <a:buNone/>
            </a:pPr>
            <a:endParaRPr lang="en-AU" sz="2400" dirty="0" smtClean="0"/>
          </a:p>
          <a:p>
            <a:pPr>
              <a:buNone/>
            </a:pPr>
            <a:endParaRPr lang="en-AU" sz="2400" dirty="0" smtClean="0"/>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7" name="Picture 6" descr="MP900438585[1].JPG"/>
          <p:cNvPicPr>
            <a:picLocks noChangeAspect="1"/>
          </p:cNvPicPr>
          <p:nvPr/>
        </p:nvPicPr>
        <p:blipFill>
          <a:blip r:embed="rId3" cstate="print"/>
          <a:stretch>
            <a:fillRect/>
          </a:stretch>
        </p:blipFill>
        <p:spPr>
          <a:xfrm>
            <a:off x="6019800" y="2133600"/>
            <a:ext cx="2127696" cy="1412385"/>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Priortise work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Prioritising your tasks means that you will have to determine which tasks are the:</a:t>
            </a:r>
          </a:p>
          <a:p>
            <a:pPr marL="0">
              <a:spcBef>
                <a:spcPts val="600"/>
              </a:spcBef>
              <a:spcAft>
                <a:spcPts val="1200"/>
              </a:spcAft>
            </a:pPr>
            <a:r>
              <a:rPr lang="en-AU" sz="2200" dirty="0" smtClean="0">
                <a:latin typeface="Helvetica" pitchFamily="34" charset="0"/>
              </a:rPr>
              <a:t> Most important and should be done first</a:t>
            </a:r>
          </a:p>
          <a:p>
            <a:pPr marL="0">
              <a:spcBef>
                <a:spcPts val="600"/>
              </a:spcBef>
              <a:spcAft>
                <a:spcPts val="1200"/>
              </a:spcAft>
            </a:pPr>
            <a:r>
              <a:rPr lang="en-AU" sz="2200" dirty="0" smtClean="0">
                <a:latin typeface="Helvetica" pitchFamily="34" charset="0"/>
              </a:rPr>
              <a:t>Which ones can be left until later</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6" name="Picture 5" descr="MP900438870[1].JPG"/>
          <p:cNvPicPr>
            <a:picLocks noChangeAspect="1"/>
          </p:cNvPicPr>
          <p:nvPr/>
        </p:nvPicPr>
        <p:blipFill>
          <a:blip r:embed="rId3" cstate="print"/>
          <a:stretch>
            <a:fillRect/>
          </a:stretch>
        </p:blipFill>
        <p:spPr>
          <a:xfrm>
            <a:off x="3048000" y="3733800"/>
            <a:ext cx="3093458" cy="2082928"/>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Completing work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lvl="0">
              <a:spcBef>
                <a:spcPts val="600"/>
              </a:spcBef>
              <a:spcAft>
                <a:spcPts val="1200"/>
              </a:spcAft>
            </a:pPr>
            <a:r>
              <a:rPr lang="en-US" sz="2200" dirty="0" smtClean="0">
                <a:latin typeface="Helvetica" pitchFamily="34" charset="0"/>
              </a:rPr>
              <a:t>Work quickly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Practice being interrupted</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Practice tact and diplomacy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Take a minute to plan and prioritise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Ask for help where required</a:t>
            </a: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7" name="Picture 6" descr="Business Man.JPG"/>
          <p:cNvPicPr/>
          <p:nvPr/>
        </p:nvPicPr>
        <p:blipFill>
          <a:blip r:embed="rId3" cstate="print"/>
          <a:stretch>
            <a:fillRect/>
          </a:stretch>
        </p:blipFill>
        <p:spPr>
          <a:xfrm>
            <a:off x="5791200" y="1828800"/>
            <a:ext cx="2199506" cy="25527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200" b="1" dirty="0" smtClean="0">
                <a:solidFill>
                  <a:srgbClr val="FF6600"/>
                </a:solidFill>
                <a:latin typeface="Helvetica" pitchFamily="34" charset="0"/>
              </a:rPr>
              <a:t>Encouragement and motivation</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pPr>
            <a:r>
              <a:rPr lang="en-AU" sz="2200" dirty="0" smtClean="0">
                <a:latin typeface="Helvetica" pitchFamily="34" charset="0"/>
              </a:rPr>
              <a:t>In essence motivation can be defined as ‘getting people to do something, because they want to do it’</a:t>
            </a:r>
          </a:p>
          <a:p>
            <a:pPr>
              <a:spcBef>
                <a:spcPts val="600"/>
              </a:spcBef>
              <a:spcAft>
                <a:spcPts val="1200"/>
              </a:spcAft>
            </a:pPr>
            <a:r>
              <a:rPr lang="en-AU" sz="2200" dirty="0" smtClean="0">
                <a:latin typeface="Helvetica" pitchFamily="34" charset="0"/>
              </a:rPr>
              <a:t>Motivation only works when the actual people involved want to succeed</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6" name="Picture 5" descr="MP900422222[1].JPG"/>
          <p:cNvPicPr>
            <a:picLocks noChangeAspect="1"/>
          </p:cNvPicPr>
          <p:nvPr/>
        </p:nvPicPr>
        <p:blipFill>
          <a:blip r:embed="rId3" cstate="print"/>
          <a:stretch>
            <a:fillRect/>
          </a:stretch>
        </p:blipFill>
        <p:spPr>
          <a:xfrm>
            <a:off x="3505200" y="3581400"/>
            <a:ext cx="2633522" cy="1966912"/>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200" b="1" dirty="0" smtClean="0">
                <a:solidFill>
                  <a:srgbClr val="FF6600"/>
                </a:solidFill>
                <a:latin typeface="Helvetica" pitchFamily="34" charset="0"/>
              </a:rPr>
              <a:t>Encouragement and motivation</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Methods of encouragement</a:t>
            </a:r>
          </a:p>
          <a:p>
            <a:pPr lvl="0">
              <a:spcBef>
                <a:spcPts val="600"/>
              </a:spcBef>
              <a:spcAft>
                <a:spcPts val="1200"/>
              </a:spcAft>
            </a:pPr>
            <a:r>
              <a:rPr lang="en-AU" sz="2200" dirty="0" smtClean="0">
                <a:latin typeface="Helvetica" pitchFamily="34" charset="0"/>
              </a:rPr>
              <a:t>Show genuine interest</a:t>
            </a:r>
          </a:p>
          <a:p>
            <a:pPr lvl="0">
              <a:spcBef>
                <a:spcPts val="600"/>
              </a:spcBef>
              <a:spcAft>
                <a:spcPts val="1200"/>
              </a:spcAft>
            </a:pPr>
            <a:r>
              <a:rPr lang="en-AU" sz="2200" dirty="0" smtClean="0">
                <a:latin typeface="Helvetica" pitchFamily="34" charset="0"/>
              </a:rPr>
              <a:t>Appreciate their efforts</a:t>
            </a:r>
          </a:p>
          <a:p>
            <a:pPr lvl="0">
              <a:spcBef>
                <a:spcPts val="600"/>
              </a:spcBef>
              <a:spcAft>
                <a:spcPts val="1200"/>
              </a:spcAft>
            </a:pPr>
            <a:r>
              <a:rPr lang="en-AU" sz="2200" dirty="0" smtClean="0">
                <a:latin typeface="Helvetica" pitchFamily="34" charset="0"/>
              </a:rPr>
              <a:t>Know the power of encouragement</a:t>
            </a:r>
          </a:p>
          <a:p>
            <a:pPr lvl="0">
              <a:spcBef>
                <a:spcPts val="600"/>
              </a:spcBef>
              <a:spcAft>
                <a:spcPts val="1200"/>
              </a:spcAft>
            </a:pPr>
            <a:r>
              <a:rPr lang="en-AU" sz="2200" dirty="0" smtClean="0">
                <a:latin typeface="Helvetica" pitchFamily="34" charset="0"/>
              </a:rPr>
              <a:t>Understand what encourages you and others</a:t>
            </a:r>
          </a:p>
          <a:p>
            <a:pPr lvl="0">
              <a:spcBef>
                <a:spcPts val="600"/>
              </a:spcBef>
              <a:spcAft>
                <a:spcPts val="1200"/>
              </a:spcAft>
            </a:pPr>
            <a:r>
              <a:rPr lang="en-AU" sz="2200" dirty="0" smtClean="0">
                <a:latin typeface="Helvetica" pitchFamily="34" charset="0"/>
              </a:rPr>
              <a:t>Appreciate the value in others</a:t>
            </a:r>
          </a:p>
          <a:p>
            <a:pPr marL="0">
              <a:buNone/>
            </a:pP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7170" name="Picture 2" descr="C:\Documents and Settings\Godaishu\Local Settings\Temporary Internet Files\Content.IE5\QYNVKJ9D\MP900399517[1].jpg"/>
          <p:cNvPicPr>
            <a:picLocks noChangeAspect="1" noChangeArrowheads="1"/>
          </p:cNvPicPr>
          <p:nvPr/>
        </p:nvPicPr>
        <p:blipFill>
          <a:blip r:embed="rId3" cstate="print"/>
          <a:srcRect/>
          <a:stretch>
            <a:fillRect/>
          </a:stretch>
        </p:blipFill>
        <p:spPr bwMode="auto">
          <a:xfrm>
            <a:off x="5943600" y="2286000"/>
            <a:ext cx="2179588" cy="1452491"/>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200" b="1" dirty="0" smtClean="0">
                <a:solidFill>
                  <a:srgbClr val="FF6600"/>
                </a:solidFill>
                <a:latin typeface="Helvetica" pitchFamily="34" charset="0"/>
              </a:rPr>
              <a:t>Encouragement and motivation</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Methods of encouragement</a:t>
            </a:r>
          </a:p>
          <a:p>
            <a:pPr lvl="0">
              <a:spcBef>
                <a:spcPts val="600"/>
              </a:spcBef>
              <a:spcAft>
                <a:spcPts val="1200"/>
              </a:spcAft>
            </a:pPr>
            <a:r>
              <a:rPr lang="en-AU" sz="2200" dirty="0" smtClean="0">
                <a:latin typeface="Helvetica" pitchFamily="34" charset="0"/>
              </a:rPr>
              <a:t>Share encouraging and positive thoughts</a:t>
            </a:r>
          </a:p>
          <a:p>
            <a:pPr lvl="0">
              <a:spcBef>
                <a:spcPts val="600"/>
              </a:spcBef>
              <a:spcAft>
                <a:spcPts val="1200"/>
              </a:spcAft>
            </a:pPr>
            <a:r>
              <a:rPr lang="en-AU" sz="2200" dirty="0" smtClean="0">
                <a:latin typeface="Helvetica" pitchFamily="34" charset="0"/>
              </a:rPr>
              <a:t>Think of the end in mind</a:t>
            </a:r>
          </a:p>
          <a:p>
            <a:pPr lvl="0">
              <a:spcBef>
                <a:spcPts val="600"/>
              </a:spcBef>
              <a:spcAft>
                <a:spcPts val="1200"/>
              </a:spcAft>
            </a:pPr>
            <a:r>
              <a:rPr lang="en-AU" sz="2200" dirty="0" smtClean="0">
                <a:latin typeface="Helvetica" pitchFamily="34" charset="0"/>
              </a:rPr>
              <a:t>‘No pain, no gain’</a:t>
            </a:r>
          </a:p>
          <a:p>
            <a:pPr lvl="0">
              <a:spcBef>
                <a:spcPts val="600"/>
              </a:spcBef>
              <a:spcAft>
                <a:spcPts val="1200"/>
              </a:spcAft>
            </a:pPr>
            <a:r>
              <a:rPr lang="en-AU" sz="2200" dirty="0" smtClean="0">
                <a:latin typeface="Helvetica" pitchFamily="34" charset="0"/>
              </a:rPr>
              <a:t>You are in this together</a:t>
            </a:r>
          </a:p>
          <a:p>
            <a:pPr lvl="0">
              <a:spcBef>
                <a:spcPts val="600"/>
              </a:spcBef>
              <a:spcAft>
                <a:spcPts val="1200"/>
              </a:spcAft>
            </a:pPr>
            <a:r>
              <a:rPr lang="en-AU" sz="2200" dirty="0" smtClean="0">
                <a:latin typeface="Helvetica" pitchFamily="34" charset="0"/>
              </a:rPr>
              <a:t>Tell them how they have encouraged you</a:t>
            </a:r>
          </a:p>
          <a:p>
            <a:pPr marL="0">
              <a:buNone/>
            </a:pP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00289897.jpg"/>
          <p:cNvPicPr>
            <a:picLocks noChangeAspect="1"/>
          </p:cNvPicPr>
          <p:nvPr/>
        </p:nvPicPr>
        <p:blipFill>
          <a:blip r:embed="rId3" cstate="print"/>
          <a:stretch>
            <a:fillRect/>
          </a:stretch>
        </p:blipFill>
        <p:spPr>
          <a:xfrm>
            <a:off x="5638800" y="2667000"/>
            <a:ext cx="2475256" cy="1654296"/>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200" b="1" dirty="0" smtClean="0">
                <a:solidFill>
                  <a:srgbClr val="FF6600"/>
                </a:solidFill>
                <a:latin typeface="Helvetica" pitchFamily="34" charset="0"/>
              </a:rPr>
              <a:t>Encouragement and motivation</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Methods of motivation:</a:t>
            </a:r>
          </a:p>
          <a:p>
            <a:pPr lvl="0">
              <a:spcBef>
                <a:spcPts val="600"/>
              </a:spcBef>
              <a:spcAft>
                <a:spcPts val="1200"/>
              </a:spcAft>
            </a:pPr>
            <a:r>
              <a:rPr lang="en-AU" sz="2200" dirty="0" smtClean="0">
                <a:latin typeface="Helvetica" pitchFamily="34" charset="0"/>
              </a:rPr>
              <a:t>Start by self motivation</a:t>
            </a:r>
          </a:p>
          <a:p>
            <a:pPr lvl="0">
              <a:spcBef>
                <a:spcPts val="600"/>
              </a:spcBef>
              <a:spcAft>
                <a:spcPts val="1200"/>
              </a:spcAft>
            </a:pPr>
            <a:r>
              <a:rPr lang="en-AU" sz="2200" dirty="0" smtClean="0">
                <a:latin typeface="Helvetica" pitchFamily="34" charset="0"/>
              </a:rPr>
              <a:t>Share information</a:t>
            </a:r>
          </a:p>
          <a:p>
            <a:pPr lvl="0">
              <a:spcBef>
                <a:spcPts val="600"/>
              </a:spcBef>
              <a:spcAft>
                <a:spcPts val="1200"/>
              </a:spcAft>
            </a:pPr>
            <a:r>
              <a:rPr lang="en-AU" sz="2200" dirty="0" smtClean="0">
                <a:latin typeface="Helvetica" pitchFamily="34" charset="0"/>
              </a:rPr>
              <a:t>Listen and incorporate ideas </a:t>
            </a:r>
          </a:p>
          <a:p>
            <a:pPr lvl="0">
              <a:spcBef>
                <a:spcPts val="600"/>
              </a:spcBef>
              <a:spcAft>
                <a:spcPts val="1200"/>
              </a:spcAft>
            </a:pPr>
            <a:r>
              <a:rPr lang="en-AU" sz="2200" dirty="0" smtClean="0">
                <a:latin typeface="Helvetica" pitchFamily="34" charset="0"/>
              </a:rPr>
              <a:t>Ownership</a:t>
            </a:r>
          </a:p>
          <a:p>
            <a:pPr lvl="0">
              <a:spcBef>
                <a:spcPts val="600"/>
              </a:spcBef>
              <a:spcAft>
                <a:spcPts val="1200"/>
              </a:spcAft>
            </a:pPr>
            <a:r>
              <a:rPr lang="en-AU" sz="2200" dirty="0" smtClean="0">
                <a:latin typeface="Helvetica" pitchFamily="34" charset="0"/>
              </a:rPr>
              <a:t>Set mutually agreeable goals</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5" name="Picture 4" descr="MP900431224.JPG"/>
          <p:cNvPicPr/>
          <p:nvPr/>
        </p:nvPicPr>
        <p:blipFill>
          <a:blip r:embed="rId3" cstate="print"/>
          <a:stretch>
            <a:fillRect/>
          </a:stretch>
        </p:blipFill>
        <p:spPr>
          <a:xfrm>
            <a:off x="5562600" y="2514600"/>
            <a:ext cx="2382763" cy="1705347"/>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200" b="1" dirty="0" smtClean="0">
                <a:solidFill>
                  <a:srgbClr val="FF6600"/>
                </a:solidFill>
                <a:latin typeface="Helvetica" pitchFamily="34" charset="0"/>
              </a:rPr>
              <a:t>Encouragement and motivation</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Methods of motivation:</a:t>
            </a:r>
          </a:p>
          <a:p>
            <a:pPr lvl="0">
              <a:spcBef>
                <a:spcPts val="600"/>
              </a:spcBef>
              <a:spcAft>
                <a:spcPts val="1200"/>
              </a:spcAft>
            </a:pPr>
            <a:r>
              <a:rPr lang="en-AU" sz="2200" dirty="0" smtClean="0">
                <a:latin typeface="Helvetica" pitchFamily="34" charset="0"/>
              </a:rPr>
              <a:t>Keep things informal</a:t>
            </a:r>
          </a:p>
          <a:p>
            <a:pPr lvl="0">
              <a:spcBef>
                <a:spcPts val="600"/>
              </a:spcBef>
              <a:spcAft>
                <a:spcPts val="1200"/>
              </a:spcAft>
            </a:pPr>
            <a:r>
              <a:rPr lang="en-AU" sz="2200" dirty="0" smtClean="0">
                <a:latin typeface="Helvetica" pitchFamily="34" charset="0"/>
              </a:rPr>
              <a:t>Identify achievements</a:t>
            </a:r>
          </a:p>
          <a:p>
            <a:pPr lvl="0">
              <a:spcBef>
                <a:spcPts val="600"/>
              </a:spcBef>
              <a:spcAft>
                <a:spcPts val="1200"/>
              </a:spcAft>
            </a:pPr>
            <a:r>
              <a:rPr lang="en-AU" sz="2200" dirty="0" smtClean="0">
                <a:latin typeface="Helvetica" pitchFamily="34" charset="0"/>
              </a:rPr>
              <a:t>Encourage people to try</a:t>
            </a:r>
          </a:p>
          <a:p>
            <a:pPr lvl="0">
              <a:spcBef>
                <a:spcPts val="600"/>
              </a:spcBef>
              <a:spcAft>
                <a:spcPts val="1200"/>
              </a:spcAft>
            </a:pPr>
            <a:r>
              <a:rPr lang="en-AU" sz="2200" dirty="0" smtClean="0">
                <a:latin typeface="Helvetica" pitchFamily="34" charset="0"/>
              </a:rPr>
              <a:t>Be positive </a:t>
            </a:r>
          </a:p>
          <a:p>
            <a:pPr lvl="0">
              <a:spcBef>
                <a:spcPts val="600"/>
              </a:spcBef>
              <a:spcAft>
                <a:spcPts val="1200"/>
              </a:spcAft>
            </a:pPr>
            <a:r>
              <a:rPr lang="en-AU" sz="2200" dirty="0" smtClean="0">
                <a:latin typeface="Helvetica" pitchFamily="34" charset="0"/>
              </a:rPr>
              <a:t>Listen, respect and support people</a:t>
            </a:r>
          </a:p>
          <a:p>
            <a:pPr>
              <a:spcBef>
                <a:spcPts val="600"/>
              </a:spcBef>
              <a:spcAft>
                <a:spcPts val="1200"/>
              </a:spcAft>
            </a:pPr>
            <a:r>
              <a:rPr lang="en-AU" sz="2200" dirty="0" smtClean="0">
                <a:latin typeface="Helvetica" pitchFamily="34" charset="0"/>
              </a:rPr>
              <a:t>Have meaningful rewards</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6" name="Picture 5" descr="Culinaryacademy093.TIF"/>
          <p:cNvPicPr>
            <a:picLocks noChangeAspect="1"/>
          </p:cNvPicPr>
          <p:nvPr/>
        </p:nvPicPr>
        <p:blipFill>
          <a:blip r:embed="rId3" cstate="print"/>
          <a:stretch>
            <a:fillRect/>
          </a:stretch>
        </p:blipFill>
        <p:spPr>
          <a:xfrm>
            <a:off x="6400800" y="2438400"/>
            <a:ext cx="1421904" cy="2132856"/>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200" b="1" dirty="0" smtClean="0">
                <a:solidFill>
                  <a:srgbClr val="FF6600"/>
                </a:solidFill>
                <a:latin typeface="Helvetica" pitchFamily="34" charset="0"/>
              </a:rPr>
              <a:t>Supporting team members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Importance of support in a team environment</a:t>
            </a:r>
          </a:p>
          <a:p>
            <a:pPr>
              <a:spcBef>
                <a:spcPts val="600"/>
              </a:spcBef>
              <a:spcAft>
                <a:spcPts val="1200"/>
              </a:spcAft>
            </a:pPr>
            <a:r>
              <a:rPr lang="en-AU" sz="2200" dirty="0" smtClean="0">
                <a:latin typeface="Helvetica" pitchFamily="34" charset="0"/>
              </a:rPr>
              <a:t>How can managers assist team members in the completion of their work activities?</a:t>
            </a:r>
          </a:p>
          <a:p>
            <a:pPr>
              <a:spcBef>
                <a:spcPts val="600"/>
              </a:spcBef>
              <a:spcAft>
                <a:spcPts val="1200"/>
              </a:spcAft>
            </a:pPr>
            <a:r>
              <a:rPr lang="en-AU" sz="2200" dirty="0" smtClean="0">
                <a:latin typeface="Helvetica" pitchFamily="34" charset="0"/>
              </a:rPr>
              <a:t>How can managers assist team members in the completion of their work activities?</a:t>
            </a:r>
            <a:endParaRPr lang="en-AU" sz="2200" b="1" dirty="0" smtClean="0">
              <a:latin typeface="Helvetica" pitchFamily="34" charset="0"/>
            </a:endParaRPr>
          </a:p>
          <a:p>
            <a:pPr>
              <a:spcBef>
                <a:spcPts val="600"/>
              </a:spcBef>
              <a:spcAft>
                <a:spcPts val="1200"/>
              </a:spcAft>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7" name="Picture 6" descr="MP900443014.JPG"/>
          <p:cNvPicPr>
            <a:picLocks noChangeAspect="1"/>
          </p:cNvPicPr>
          <p:nvPr/>
        </p:nvPicPr>
        <p:blipFill>
          <a:blip r:embed="rId3" cstate="print"/>
          <a:stretch>
            <a:fillRect/>
          </a:stretch>
        </p:blipFill>
        <p:spPr>
          <a:xfrm>
            <a:off x="3429000" y="4191000"/>
            <a:ext cx="2554832" cy="1700212"/>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Monitoring completion of work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It is essential some mechanisms are put into place to monitor the progress of staff performance towards individual and team objectives</a:t>
            </a:r>
          </a:p>
          <a:p>
            <a:pPr>
              <a:spcBef>
                <a:spcPts val="600"/>
              </a:spcBef>
              <a:spcAft>
                <a:spcPts val="1200"/>
              </a:spcAft>
            </a:pPr>
            <a:r>
              <a:rPr lang="en-AU" sz="2200" dirty="0" smtClean="0">
                <a:latin typeface="Helvetica" pitchFamily="34" charset="0"/>
              </a:rPr>
              <a:t>How can both management and staff monitor progress?</a:t>
            </a: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6" name="Picture 5" descr="March 2005  503_RT8.TIF"/>
          <p:cNvPicPr/>
          <p:nvPr/>
        </p:nvPicPr>
        <p:blipFill>
          <a:blip r:embed="rId3" cstate="print"/>
          <a:stretch>
            <a:fillRect/>
          </a:stretch>
        </p:blipFill>
        <p:spPr>
          <a:xfrm>
            <a:off x="3429000" y="3733800"/>
            <a:ext cx="2495834" cy="160020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Monitoring completion of work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Basic techniques to monitor performance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Visual observation of staff practice </a:t>
            </a:r>
          </a:p>
          <a:p>
            <a:pPr lvl="0">
              <a:spcBef>
                <a:spcPts val="600"/>
              </a:spcBef>
              <a:spcAft>
                <a:spcPts val="1200"/>
              </a:spcAft>
            </a:pPr>
            <a:r>
              <a:rPr lang="en-AU" sz="2200" dirty="0" smtClean="0">
                <a:latin typeface="Helvetica" pitchFamily="34" charset="0"/>
              </a:rPr>
              <a:t>Analysis of documentation </a:t>
            </a:r>
          </a:p>
          <a:p>
            <a:pPr lvl="0">
              <a:spcBef>
                <a:spcPts val="600"/>
              </a:spcBef>
              <a:spcAft>
                <a:spcPts val="1200"/>
              </a:spcAft>
            </a:pPr>
            <a:r>
              <a:rPr lang="en-AU" sz="2200" dirty="0" smtClean="0">
                <a:latin typeface="Helvetica" pitchFamily="34" charset="0"/>
              </a:rPr>
              <a:t>Discussions with relevant people</a:t>
            </a:r>
          </a:p>
          <a:p>
            <a:pPr lvl="0">
              <a:spcBef>
                <a:spcPts val="600"/>
              </a:spcBef>
              <a:spcAft>
                <a:spcPts val="1200"/>
              </a:spcAft>
            </a:pPr>
            <a:r>
              <a:rPr lang="en-AU" sz="2200" dirty="0" smtClean="0">
                <a:latin typeface="Helvetica" pitchFamily="34" charset="0"/>
              </a:rPr>
              <a:t>Use of checklists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7" name="Picture 6" descr="11111.jpg"/>
          <p:cNvPicPr/>
          <p:nvPr/>
        </p:nvPicPr>
        <p:blipFill>
          <a:blip r:embed="rId3" cstate="print"/>
          <a:stretch>
            <a:fillRect/>
          </a:stretch>
        </p:blipFill>
        <p:spPr>
          <a:xfrm>
            <a:off x="6324600" y="2286000"/>
            <a:ext cx="1585913" cy="2109788"/>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Monitoring completion of work activities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lvl="0">
              <a:spcBef>
                <a:spcPts val="600"/>
              </a:spcBef>
              <a:spcAft>
                <a:spcPts val="1200"/>
              </a:spcAft>
              <a:buNone/>
            </a:pPr>
            <a:r>
              <a:rPr lang="en-AU" sz="2200" b="1" dirty="0" smtClean="0">
                <a:latin typeface="Helvetica" pitchFamily="34" charset="0"/>
              </a:rPr>
              <a:t>Use of checklists</a:t>
            </a:r>
          </a:p>
          <a:p>
            <a:pPr>
              <a:spcBef>
                <a:spcPts val="600"/>
              </a:spcBef>
              <a:spcAft>
                <a:spcPts val="1200"/>
              </a:spcAft>
            </a:pPr>
            <a:r>
              <a:rPr lang="en-AU" sz="2200" dirty="0" smtClean="0">
                <a:latin typeface="Helvetica" pitchFamily="34" charset="0"/>
              </a:rPr>
              <a:t>What is the importance of checklists?</a:t>
            </a:r>
          </a:p>
          <a:p>
            <a:pPr>
              <a:spcBef>
                <a:spcPts val="600"/>
              </a:spcBef>
              <a:spcAft>
                <a:spcPts val="1200"/>
              </a:spcAft>
            </a:pPr>
            <a:r>
              <a:rPr lang="en-AU" sz="2200" dirty="0" smtClean="0">
                <a:latin typeface="Helvetica" pitchFamily="34" charset="0"/>
              </a:rPr>
              <a:t>What should be included in checklists?</a:t>
            </a:r>
          </a:p>
          <a:p>
            <a:pPr>
              <a:spcBef>
                <a:spcPts val="600"/>
              </a:spcBef>
              <a:spcAft>
                <a:spcPts val="1200"/>
              </a:spcAft>
            </a:pPr>
            <a:r>
              <a:rPr lang="en-AU" sz="2200" dirty="0" smtClean="0">
                <a:latin typeface="Helvetica" pitchFamily="34" charset="0"/>
              </a:rPr>
              <a:t>Who should create checklists?</a:t>
            </a:r>
          </a:p>
          <a:p>
            <a:pPr>
              <a:spcBef>
                <a:spcPts val="600"/>
              </a:spcBef>
              <a:spcAft>
                <a:spcPts val="1200"/>
              </a:spcAft>
            </a:pPr>
            <a:r>
              <a:rPr lang="en-AU" sz="2200" dirty="0" smtClean="0">
                <a:latin typeface="Helvetica" pitchFamily="34" charset="0"/>
              </a:rPr>
              <a:t>How can staff use checklists?</a:t>
            </a:r>
          </a:p>
          <a:p>
            <a:pPr>
              <a:spcBef>
                <a:spcPts val="600"/>
              </a:spcBef>
              <a:spcAft>
                <a:spcPts val="1200"/>
              </a:spcAft>
            </a:pPr>
            <a:r>
              <a:rPr lang="en-AU" sz="2200" dirty="0" smtClean="0">
                <a:latin typeface="Helvetica" pitchFamily="34" charset="0"/>
              </a:rPr>
              <a:t>How can management use checklists?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8194" name="Picture 2" descr="C:\Documents and Settings\Godaishu\Local Settings\Temporary Internet Files\Content.IE5\YISE4YB4\MC900104872[1].wmf"/>
          <p:cNvPicPr>
            <a:picLocks noChangeAspect="1" noChangeArrowheads="1"/>
          </p:cNvPicPr>
          <p:nvPr/>
        </p:nvPicPr>
        <p:blipFill>
          <a:blip r:embed="rId3" cstate="print"/>
          <a:srcRect/>
          <a:stretch>
            <a:fillRect/>
          </a:stretch>
        </p:blipFill>
        <p:spPr bwMode="auto">
          <a:xfrm>
            <a:off x="6172200" y="2514600"/>
            <a:ext cx="1955902" cy="1506931"/>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Communicate information to team members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Whilst communication and information may primarily come from managers, it is important to remember that all colleagues within a team will communicate and share information on a daily basis.</a:t>
            </a:r>
          </a:p>
          <a:p>
            <a:pPr>
              <a:spcBef>
                <a:spcPts val="600"/>
              </a:spcBef>
              <a:spcAft>
                <a:spcPts val="1200"/>
              </a:spcAft>
            </a:pPr>
            <a:r>
              <a:rPr lang="en-AU" sz="2200" dirty="0" smtClean="0">
                <a:latin typeface="Helvetica" pitchFamily="34" charset="0"/>
              </a:rPr>
              <a:t>What information do team members need?</a:t>
            </a:r>
          </a:p>
          <a:p>
            <a:pPr>
              <a:spcBef>
                <a:spcPts val="600"/>
              </a:spcBef>
              <a:spcAft>
                <a:spcPts val="1200"/>
              </a:spcAft>
            </a:pPr>
            <a:r>
              <a:rPr lang="en-AU" sz="2200" dirty="0" smtClean="0">
                <a:latin typeface="Helvetica" pitchFamily="34" charset="0"/>
              </a:rPr>
              <a:t>What is the best way to communicate this information?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7" name="Picture 6" descr="MP900443024.JPG"/>
          <p:cNvPicPr/>
          <p:nvPr/>
        </p:nvPicPr>
        <p:blipFill>
          <a:blip r:embed="rId3" cstate="print"/>
          <a:stretch>
            <a:fillRect/>
          </a:stretch>
        </p:blipFill>
        <p:spPr>
          <a:xfrm>
            <a:off x="3581400" y="4495800"/>
            <a:ext cx="2181225" cy="1400175"/>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Communication avenues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Conduct briefing sessions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What is communicated in a staff briefing?</a:t>
            </a:r>
          </a:p>
          <a:p>
            <a:pPr>
              <a:spcBef>
                <a:spcPts val="600"/>
              </a:spcBef>
              <a:spcAft>
                <a:spcPts val="1200"/>
              </a:spcAft>
            </a:pPr>
            <a:r>
              <a:rPr lang="en-GB" sz="2200" dirty="0" smtClean="0">
                <a:latin typeface="Helvetica" pitchFamily="34" charset="0"/>
              </a:rPr>
              <a:t>What is communicated in a staff de-briefing?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9219" name="Picture 3" descr="C:\Documents and Settings\Godaishu\Desktop\PHOTOS\2012\Office\MP900422638.JPG"/>
          <p:cNvPicPr>
            <a:picLocks noChangeAspect="1" noChangeArrowheads="1"/>
          </p:cNvPicPr>
          <p:nvPr/>
        </p:nvPicPr>
        <p:blipFill>
          <a:blip r:embed="rId3" cstate="print"/>
          <a:srcRect/>
          <a:stretch>
            <a:fillRect/>
          </a:stretch>
        </p:blipFill>
        <p:spPr bwMode="auto">
          <a:xfrm>
            <a:off x="2362200" y="3429000"/>
            <a:ext cx="4064000" cy="2740025"/>
          </a:xfrm>
          <a:prstGeom prst="rect">
            <a:avLst/>
          </a:prstGeom>
          <a:noFill/>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Communication avenues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Holding regular team meetings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Get people together</a:t>
            </a:r>
          </a:p>
          <a:p>
            <a:pPr lvl="0">
              <a:spcBef>
                <a:spcPts val="600"/>
              </a:spcBef>
              <a:spcAft>
                <a:spcPts val="1200"/>
              </a:spcAft>
            </a:pPr>
            <a:r>
              <a:rPr lang="en-AU" sz="2200" dirty="0" smtClean="0">
                <a:latin typeface="Helvetica" pitchFamily="34" charset="0"/>
              </a:rPr>
              <a:t>Get alignment towards a specific range of topics</a:t>
            </a:r>
          </a:p>
          <a:p>
            <a:pPr lvl="0">
              <a:spcBef>
                <a:spcPts val="600"/>
              </a:spcBef>
              <a:spcAft>
                <a:spcPts val="1200"/>
              </a:spcAft>
            </a:pPr>
            <a:r>
              <a:rPr lang="en-AU" sz="2200" dirty="0" smtClean="0">
                <a:latin typeface="Helvetica" pitchFamily="34" charset="0"/>
              </a:rPr>
              <a:t>Provide information</a:t>
            </a:r>
          </a:p>
          <a:p>
            <a:pPr lvl="0">
              <a:spcBef>
                <a:spcPts val="600"/>
              </a:spcBef>
              <a:spcAft>
                <a:spcPts val="1200"/>
              </a:spcAft>
            </a:pPr>
            <a:r>
              <a:rPr lang="en-AU" sz="2200" dirty="0" smtClean="0">
                <a:latin typeface="Helvetica" pitchFamily="34" charset="0"/>
              </a:rPr>
              <a:t>Brainstorm ideas</a:t>
            </a:r>
          </a:p>
          <a:p>
            <a:pPr lvl="0">
              <a:spcBef>
                <a:spcPts val="600"/>
              </a:spcBef>
              <a:spcAft>
                <a:spcPts val="1200"/>
              </a:spcAft>
            </a:pPr>
            <a:r>
              <a:rPr lang="en-AU" sz="2200" dirty="0" smtClean="0">
                <a:latin typeface="Helvetica" pitchFamily="34" charset="0"/>
              </a:rPr>
              <a:t>Exchange ideas and thoughts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8" name="Picture 7" descr="iStock_000003667195Medium.jpg"/>
          <p:cNvPicPr/>
          <p:nvPr/>
        </p:nvPicPr>
        <p:blipFill>
          <a:blip r:embed="rId3" cstate="print"/>
          <a:stretch>
            <a:fillRect/>
          </a:stretch>
        </p:blipFill>
        <p:spPr>
          <a:xfrm>
            <a:off x="5791200" y="3429000"/>
            <a:ext cx="2263140" cy="1533525"/>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Communication avenues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Holding regular team meetings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Understand the topics discussed</a:t>
            </a:r>
          </a:p>
          <a:p>
            <a:pPr lvl="0">
              <a:spcBef>
                <a:spcPts val="600"/>
              </a:spcBef>
              <a:spcAft>
                <a:spcPts val="1200"/>
              </a:spcAft>
            </a:pPr>
            <a:r>
              <a:rPr lang="en-AU" sz="2200" dirty="0" smtClean="0">
                <a:latin typeface="Helvetica" pitchFamily="34" charset="0"/>
              </a:rPr>
              <a:t>Reach confirmation and agreement </a:t>
            </a:r>
          </a:p>
          <a:p>
            <a:pPr lvl="0">
              <a:spcBef>
                <a:spcPts val="600"/>
              </a:spcBef>
              <a:spcAft>
                <a:spcPts val="1200"/>
              </a:spcAft>
            </a:pPr>
            <a:r>
              <a:rPr lang="en-AU" sz="2200" dirty="0" smtClean="0">
                <a:latin typeface="Helvetica" pitchFamily="34" charset="0"/>
              </a:rPr>
              <a:t>Assign accountability and actions</a:t>
            </a:r>
          </a:p>
          <a:p>
            <a:pPr lvl="0">
              <a:spcBef>
                <a:spcPts val="600"/>
              </a:spcBef>
              <a:spcAft>
                <a:spcPts val="1200"/>
              </a:spcAft>
            </a:pPr>
            <a:r>
              <a:rPr lang="en-AU" sz="2200" dirty="0" smtClean="0">
                <a:latin typeface="Helvetica" pitchFamily="34" charset="0"/>
              </a:rPr>
              <a:t>Decide on further action or strategy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5" name="Picture 4" descr="MP900423065.JPG"/>
          <p:cNvPicPr>
            <a:picLocks noChangeAspect="1"/>
          </p:cNvPicPr>
          <p:nvPr/>
        </p:nvPicPr>
        <p:blipFill>
          <a:blip r:embed="rId3" cstate="print"/>
          <a:stretch>
            <a:fillRect/>
          </a:stretch>
        </p:blipFill>
        <p:spPr>
          <a:xfrm>
            <a:off x="6096000" y="2286000"/>
            <a:ext cx="1918097" cy="1903228"/>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Communication avenues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Discussions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Most communication of information is often done through informal discussions between management and staff members or between team members themselves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7" name="Picture 6" descr="iStock_000002437760Small.jpg"/>
          <p:cNvPicPr/>
          <p:nvPr/>
        </p:nvPicPr>
        <p:blipFill>
          <a:blip r:embed="rId3" cstate="print"/>
          <a:stretch>
            <a:fillRect/>
          </a:stretch>
        </p:blipFill>
        <p:spPr>
          <a:xfrm>
            <a:off x="3200400" y="3581400"/>
            <a:ext cx="2602865" cy="1733550"/>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Role of support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pPr>
            <a:r>
              <a:rPr lang="en-AU" sz="2200" dirty="0" smtClean="0">
                <a:latin typeface="Helvetica" pitchFamily="34" charset="0"/>
              </a:rPr>
              <a:t>Support is a two way street and who provides or receives support will change depending on what is required to effectively handle each situation</a:t>
            </a:r>
          </a:p>
          <a:p>
            <a:pPr>
              <a:spcBef>
                <a:spcPts val="600"/>
              </a:spcBef>
              <a:spcAft>
                <a:spcPts val="1200"/>
              </a:spcAft>
            </a:pPr>
            <a:r>
              <a:rPr lang="en-AU" sz="2200" dirty="0" smtClean="0">
                <a:latin typeface="Helvetica" pitchFamily="34" charset="0"/>
              </a:rPr>
              <a:t>It is not uncommon for one specific person </a:t>
            </a:r>
            <a:br>
              <a:rPr lang="en-AU" sz="2200" dirty="0" smtClean="0">
                <a:latin typeface="Helvetica" pitchFamily="34" charset="0"/>
              </a:rPr>
            </a:br>
            <a:r>
              <a:rPr lang="en-AU" sz="2200" dirty="0" smtClean="0">
                <a:latin typeface="Helvetica" pitchFamily="34" charset="0"/>
              </a:rPr>
              <a:t>to be both the provider and the recipient of </a:t>
            </a:r>
            <a:br>
              <a:rPr lang="en-AU" sz="2200" dirty="0" smtClean="0">
                <a:latin typeface="Helvetica" pitchFamily="34" charset="0"/>
              </a:rPr>
            </a:br>
            <a:r>
              <a:rPr lang="en-AU" sz="2200" dirty="0" smtClean="0">
                <a:latin typeface="Helvetica" pitchFamily="34" charset="0"/>
              </a:rPr>
              <a:t>support, in different situations</a:t>
            </a:r>
          </a:p>
          <a:p>
            <a:pPr>
              <a:spcBef>
                <a:spcPts val="600"/>
              </a:spcBef>
              <a:spcAft>
                <a:spcPts val="1200"/>
              </a:spcAft>
            </a:pPr>
            <a:r>
              <a:rPr lang="en-AU" sz="2200" dirty="0" smtClean="0">
                <a:latin typeface="Helvetica" pitchFamily="34" charset="0"/>
              </a:rPr>
              <a:t>As mentioned, everyone has different skill sets, knowledge and experiences, and these will be called upon at different times</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10242" name="Picture 2" descr="C:\Documents and Settings\Godaishu\Local Settings\Temporary Internet Files\Content.IE5\KLU3SPUN\MC900250632[1].wmf"/>
          <p:cNvPicPr>
            <a:picLocks noChangeAspect="1" noChangeArrowheads="1"/>
          </p:cNvPicPr>
          <p:nvPr/>
        </p:nvPicPr>
        <p:blipFill>
          <a:blip r:embed="rId3" cstate="print"/>
          <a:srcRect/>
          <a:stretch>
            <a:fillRect/>
          </a:stretch>
        </p:blipFill>
        <p:spPr bwMode="auto">
          <a:xfrm>
            <a:off x="6705600" y="2514600"/>
            <a:ext cx="1829626" cy="1474206"/>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support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dirty="0" smtClean="0">
                <a:latin typeface="Helvetica" pitchFamily="34" charset="0"/>
              </a:rPr>
              <a:t>There are a number of resources that can be used to help support a colleague including:</a:t>
            </a:r>
          </a:p>
          <a:p>
            <a:pPr lvl="0">
              <a:spcBef>
                <a:spcPts val="600"/>
              </a:spcBef>
              <a:spcAft>
                <a:spcPts val="1200"/>
              </a:spcAft>
            </a:pPr>
            <a:r>
              <a:rPr lang="en-AU" sz="2200" dirty="0" smtClean="0">
                <a:latin typeface="Helvetica" pitchFamily="34" charset="0"/>
              </a:rPr>
              <a:t>Physical support</a:t>
            </a:r>
          </a:p>
          <a:p>
            <a:pPr lvl="0">
              <a:spcBef>
                <a:spcPts val="600"/>
              </a:spcBef>
              <a:spcAft>
                <a:spcPts val="1200"/>
              </a:spcAft>
            </a:pPr>
            <a:r>
              <a:rPr lang="en-AU" sz="2200" dirty="0" smtClean="0">
                <a:latin typeface="Helvetica" pitchFamily="34" charset="0"/>
              </a:rPr>
              <a:t>Intellectual support</a:t>
            </a:r>
          </a:p>
          <a:p>
            <a:pPr lvl="0">
              <a:spcBef>
                <a:spcPts val="600"/>
              </a:spcBef>
              <a:spcAft>
                <a:spcPts val="1200"/>
              </a:spcAft>
            </a:pPr>
            <a:r>
              <a:rPr lang="en-AU" sz="2200" dirty="0" smtClean="0">
                <a:latin typeface="Helvetica" pitchFamily="34" charset="0"/>
              </a:rPr>
              <a:t>Financial support</a:t>
            </a:r>
          </a:p>
          <a:p>
            <a:pPr lvl="0">
              <a:spcBef>
                <a:spcPts val="600"/>
              </a:spcBef>
              <a:spcAft>
                <a:spcPts val="1200"/>
              </a:spcAft>
            </a:pPr>
            <a:r>
              <a:rPr lang="en-AU" sz="2200" dirty="0" smtClean="0">
                <a:latin typeface="Helvetica" pitchFamily="34" charset="0"/>
              </a:rPr>
              <a:t>Infrastructural support</a:t>
            </a:r>
          </a:p>
          <a:p>
            <a:pPr lvl="0">
              <a:spcBef>
                <a:spcPts val="600"/>
              </a:spcBef>
              <a:spcAft>
                <a:spcPts val="1200"/>
              </a:spcAft>
            </a:pPr>
            <a:r>
              <a:rPr lang="en-AU" sz="2200" dirty="0" smtClean="0">
                <a:latin typeface="Helvetica" pitchFamily="34" charset="0"/>
              </a:rPr>
              <a:t>Resources support</a:t>
            </a:r>
          </a:p>
          <a:p>
            <a:pPr lvl="0">
              <a:spcBef>
                <a:spcPts val="600"/>
              </a:spcBef>
              <a:spcAft>
                <a:spcPts val="1200"/>
              </a:spcAft>
            </a:pPr>
            <a:r>
              <a:rPr lang="en-AU" sz="2200" dirty="0" smtClean="0">
                <a:latin typeface="Helvetica" pitchFamily="34" charset="0"/>
              </a:rPr>
              <a:t>Mentoring</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7" name="Picture 6" descr="MP900422529[1].JPG"/>
          <p:cNvPicPr/>
          <p:nvPr/>
        </p:nvPicPr>
        <p:blipFill>
          <a:blip r:embed="rId3" cstate="print"/>
          <a:stretch>
            <a:fillRect/>
          </a:stretch>
        </p:blipFill>
        <p:spPr>
          <a:xfrm>
            <a:off x="6477000" y="2438400"/>
            <a:ext cx="1384300" cy="2076450"/>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Providing support &amp;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b="1" dirty="0" smtClean="0">
                <a:latin typeface="Helvetica" pitchFamily="34" charset="0"/>
              </a:rPr>
              <a:t>What is the difference between providing ‘assistance’ and ‘support’?</a:t>
            </a:r>
            <a:endParaRPr lang="en-AU" sz="2200" dirty="0" smtClean="0">
              <a:latin typeface="Helvetica" pitchFamily="34" charset="0"/>
            </a:endParaRPr>
          </a:p>
          <a:p>
            <a:pPr marL="0">
              <a:buNone/>
            </a:pP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7" name="Picture 6" descr="March 2005  561_RT8.TIF"/>
          <p:cNvPicPr>
            <a:picLocks noChangeAspect="1"/>
          </p:cNvPicPr>
          <p:nvPr/>
        </p:nvPicPr>
        <p:blipFill>
          <a:blip r:embed="rId3" cstate="print"/>
          <a:stretch>
            <a:fillRect/>
          </a:stretch>
        </p:blipFill>
        <p:spPr>
          <a:xfrm>
            <a:off x="3962400" y="2514600"/>
            <a:ext cx="3707904" cy="2471936"/>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Providing assistance to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buNone/>
            </a:pPr>
            <a:r>
              <a:rPr lang="en-AU" sz="2200" dirty="0" smtClean="0">
                <a:latin typeface="Helvetica" pitchFamily="34" charset="0"/>
              </a:rPr>
              <a:t>In the same way that you may need help from others, you must be similarly prepared to render assistance to others when it is called for.</a:t>
            </a:r>
          </a:p>
          <a:p>
            <a:pPr marL="0">
              <a:buNone/>
            </a:pPr>
            <a:endParaRPr lang="en-AU" sz="2200" dirty="0" smtClean="0">
              <a:latin typeface="Helvetica" pitchFamily="34" charset="0"/>
            </a:endParaRPr>
          </a:p>
          <a:p>
            <a:pPr marL="0"/>
            <a:r>
              <a:rPr lang="en-AU" sz="2200" dirty="0" smtClean="0">
                <a:latin typeface="Helvetica" pitchFamily="34" charset="0"/>
              </a:rPr>
              <a:t>What assistance can you provide?</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11266" name="Picture 2" descr="C:\Documents and Settings\Godaishu\Local Settings\Temporary Internet Files\Content.IE5\KPAZS1QF\MC900436996[1].wmf"/>
          <p:cNvPicPr>
            <a:picLocks noChangeAspect="1" noChangeArrowheads="1"/>
          </p:cNvPicPr>
          <p:nvPr/>
        </p:nvPicPr>
        <p:blipFill>
          <a:blip r:embed="rId3" cstate="print"/>
          <a:srcRect/>
          <a:stretch>
            <a:fillRect/>
          </a:stretch>
        </p:blipFill>
        <p:spPr bwMode="auto">
          <a:xfrm>
            <a:off x="5943600" y="2667000"/>
            <a:ext cx="1816100" cy="1819275"/>
          </a:xfrm>
          <a:prstGeom prst="rect">
            <a:avLst/>
          </a:prstGeom>
          <a:noFill/>
        </p:spPr>
      </p:pic>
      <p:pic>
        <p:nvPicPr>
          <p:cNvPr id="11267" name="Picture 3" descr="C:\Documents and Settings\Godaishu\Local Settings\Temporary Internet Files\Content.IE5\VL0QK7PC\MC900070991[1].wmf"/>
          <p:cNvPicPr>
            <a:picLocks noChangeAspect="1" noChangeArrowheads="1"/>
          </p:cNvPicPr>
          <p:nvPr/>
        </p:nvPicPr>
        <p:blipFill>
          <a:blip r:embed="rId4" cstate="print"/>
          <a:srcRect/>
          <a:stretch>
            <a:fillRect/>
          </a:stretch>
        </p:blipFill>
        <p:spPr bwMode="auto">
          <a:xfrm>
            <a:off x="4267200" y="4267200"/>
            <a:ext cx="2081924" cy="1676400"/>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Types of assistance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Assistance is a form of support which a person can give to another and include, but is certainly not limited to:</a:t>
            </a:r>
          </a:p>
          <a:p>
            <a:pPr lvl="0">
              <a:spcBef>
                <a:spcPts val="600"/>
              </a:spcBef>
              <a:spcAft>
                <a:spcPts val="1200"/>
              </a:spcAft>
            </a:pPr>
            <a:r>
              <a:rPr lang="en-AU" sz="2200" dirty="0" smtClean="0">
                <a:latin typeface="Helvetica" pitchFamily="34" charset="0"/>
              </a:rPr>
              <a:t>Providing back-up support</a:t>
            </a:r>
          </a:p>
          <a:p>
            <a:pPr lvl="0">
              <a:spcBef>
                <a:spcPts val="600"/>
              </a:spcBef>
              <a:spcAft>
                <a:spcPts val="1200"/>
              </a:spcAft>
            </a:pPr>
            <a:r>
              <a:rPr lang="en-AU" sz="2200" dirty="0" smtClean="0">
                <a:latin typeface="Helvetica" pitchFamily="34" charset="0"/>
              </a:rPr>
              <a:t>Explaining, clarifying</a:t>
            </a:r>
          </a:p>
          <a:p>
            <a:pPr lvl="0">
              <a:spcBef>
                <a:spcPts val="600"/>
              </a:spcBef>
              <a:spcAft>
                <a:spcPts val="1200"/>
              </a:spcAft>
            </a:pPr>
            <a:r>
              <a:rPr lang="en-AU" sz="2200" dirty="0" smtClean="0">
                <a:latin typeface="Helvetica" pitchFamily="34" charset="0"/>
              </a:rPr>
              <a:t>Problem solving</a:t>
            </a:r>
          </a:p>
          <a:p>
            <a:pPr lvl="0">
              <a:spcBef>
                <a:spcPts val="600"/>
              </a:spcBef>
              <a:spcAft>
                <a:spcPts val="1200"/>
              </a:spcAft>
            </a:pPr>
            <a:r>
              <a:rPr lang="en-AU" sz="2200" dirty="0" smtClean="0">
                <a:latin typeface="Helvetica" pitchFamily="34" charset="0"/>
              </a:rPr>
              <a:t>Providing encouragement</a:t>
            </a:r>
          </a:p>
          <a:p>
            <a:pPr lvl="0">
              <a:spcBef>
                <a:spcPts val="600"/>
              </a:spcBef>
              <a:spcAft>
                <a:spcPts val="1200"/>
              </a:spcAft>
            </a:pPr>
            <a:r>
              <a:rPr lang="en-AU" sz="2200" dirty="0" smtClean="0">
                <a:latin typeface="Helvetica" pitchFamily="34" charset="0"/>
              </a:rPr>
              <a:t>Providing feedback to another team member</a:t>
            </a:r>
          </a:p>
          <a:p>
            <a:pPr lvl="0">
              <a:spcBef>
                <a:spcPts val="600"/>
              </a:spcBef>
              <a:spcAft>
                <a:spcPts val="1200"/>
              </a:spcAft>
            </a:pPr>
            <a:r>
              <a:rPr lang="en-AU" sz="2200" dirty="0" smtClean="0">
                <a:latin typeface="Helvetica" pitchFamily="34" charset="0"/>
              </a:rPr>
              <a:t>Undertaking extra tasks, if necessary </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12290" name="Picture 2" descr="C:\Documents and Settings\Godaishu\Local Settings\Temporary Internet Files\Content.IE5\7GWYLB5B\MC900436998[1].wmf"/>
          <p:cNvPicPr>
            <a:picLocks noChangeAspect="1" noChangeArrowheads="1"/>
          </p:cNvPicPr>
          <p:nvPr/>
        </p:nvPicPr>
        <p:blipFill>
          <a:blip r:embed="rId3" cstate="print"/>
          <a:srcRect/>
          <a:stretch>
            <a:fillRect/>
          </a:stretch>
        </p:blipFill>
        <p:spPr bwMode="auto">
          <a:xfrm>
            <a:off x="6172200" y="2971800"/>
            <a:ext cx="1822450" cy="1174750"/>
          </a:xfrm>
          <a:prstGeom prst="rect">
            <a:avLst/>
          </a:prstGeom>
          <a:noFill/>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Providing support to others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Support and assistance is quite similar and often the two are interlinked.</a:t>
            </a:r>
          </a:p>
          <a:p>
            <a:pPr marL="0">
              <a:spcBef>
                <a:spcPts val="600"/>
              </a:spcBef>
              <a:spcAft>
                <a:spcPts val="1200"/>
              </a:spcAft>
              <a:buNone/>
            </a:pPr>
            <a:r>
              <a:rPr lang="en-AU" sz="2200" dirty="0" smtClean="0">
                <a:latin typeface="Helvetica" pitchFamily="34" charset="0"/>
              </a:rPr>
              <a:t> Simply, where assistance may require you to undertake some activities on their behalf, support may involve:</a:t>
            </a:r>
          </a:p>
          <a:p>
            <a:pPr lvl="0">
              <a:spcBef>
                <a:spcPts val="600"/>
              </a:spcBef>
              <a:spcAft>
                <a:spcPts val="1200"/>
              </a:spcAft>
            </a:pPr>
            <a:r>
              <a:rPr lang="en-AU" sz="2200" dirty="0" smtClean="0">
                <a:latin typeface="Helvetica" pitchFamily="34" charset="0"/>
              </a:rPr>
              <a:t>Providing guidance</a:t>
            </a:r>
          </a:p>
          <a:p>
            <a:pPr lvl="0">
              <a:spcBef>
                <a:spcPts val="600"/>
              </a:spcBef>
              <a:spcAft>
                <a:spcPts val="1200"/>
              </a:spcAft>
            </a:pPr>
            <a:r>
              <a:rPr lang="en-AU" sz="2200" dirty="0" smtClean="0">
                <a:latin typeface="Helvetica" pitchFamily="34" charset="0"/>
              </a:rPr>
              <a:t>Offering encouragement</a:t>
            </a:r>
          </a:p>
          <a:p>
            <a:pPr lvl="0">
              <a:spcBef>
                <a:spcPts val="600"/>
              </a:spcBef>
              <a:spcAft>
                <a:spcPts val="1200"/>
              </a:spcAft>
            </a:pPr>
            <a:r>
              <a:rPr lang="en-AU" sz="2200" dirty="0" smtClean="0">
                <a:latin typeface="Helvetica" pitchFamily="34" charset="0"/>
              </a:rPr>
              <a:t>Making recommendations or suggestions </a:t>
            </a:r>
            <a:br>
              <a:rPr lang="en-AU" sz="2200" dirty="0" smtClean="0">
                <a:latin typeface="Helvetica" pitchFamily="34" charset="0"/>
              </a:rPr>
            </a:br>
            <a:r>
              <a:rPr lang="en-AU" sz="2200" dirty="0" smtClean="0">
                <a:latin typeface="Helvetica" pitchFamily="34" charset="0"/>
              </a:rPr>
              <a:t>for improvement</a:t>
            </a:r>
          </a:p>
          <a:p>
            <a:pPr marL="0">
              <a:buNone/>
            </a:pP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13315" name="Picture 3" descr="C:\Documents and Settings\Godaishu\Local Settings\Temporary Internet Files\Content.IE5\YISE4YB4\MP900401007[1].jpg"/>
          <p:cNvPicPr>
            <a:picLocks noChangeAspect="1" noChangeArrowheads="1"/>
          </p:cNvPicPr>
          <p:nvPr/>
        </p:nvPicPr>
        <p:blipFill>
          <a:blip r:embed="rId3" cstate="print"/>
          <a:srcRect/>
          <a:stretch>
            <a:fillRect/>
          </a:stretch>
        </p:blipFill>
        <p:spPr bwMode="auto">
          <a:xfrm>
            <a:off x="6703493" y="3352800"/>
            <a:ext cx="1473919" cy="2209800"/>
          </a:xfrm>
          <a:prstGeom prst="rect">
            <a:avLst/>
          </a:prstGeom>
          <a:noFill/>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Identifying need for support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Signs of identifying the need for support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Observation</a:t>
            </a:r>
          </a:p>
          <a:p>
            <a:pPr lvl="0">
              <a:spcBef>
                <a:spcPts val="600"/>
              </a:spcBef>
              <a:spcAft>
                <a:spcPts val="1200"/>
              </a:spcAft>
            </a:pPr>
            <a:r>
              <a:rPr lang="en-AU" sz="2200" dirty="0" smtClean="0">
                <a:latin typeface="Helvetica" pitchFamily="34" charset="0"/>
              </a:rPr>
              <a:t>Staff behaviour</a:t>
            </a:r>
          </a:p>
          <a:p>
            <a:pPr lvl="0">
              <a:spcBef>
                <a:spcPts val="600"/>
              </a:spcBef>
              <a:spcAft>
                <a:spcPts val="1200"/>
              </a:spcAft>
            </a:pPr>
            <a:r>
              <a:rPr lang="en-AU" sz="2200" dirty="0" smtClean="0">
                <a:latin typeface="Helvetica" pitchFamily="34" charset="0"/>
              </a:rPr>
              <a:t>Direct request from a person</a:t>
            </a:r>
          </a:p>
          <a:p>
            <a:pPr lvl="0">
              <a:spcBef>
                <a:spcPts val="600"/>
              </a:spcBef>
              <a:spcAft>
                <a:spcPts val="1200"/>
              </a:spcAft>
            </a:pPr>
            <a:r>
              <a:rPr lang="en-AU" sz="2200" dirty="0" smtClean="0">
                <a:latin typeface="Helvetica" pitchFamily="34" charset="0"/>
              </a:rPr>
              <a:t>Customer complaints</a:t>
            </a:r>
          </a:p>
          <a:p>
            <a:pPr lvl="0">
              <a:spcBef>
                <a:spcPts val="600"/>
              </a:spcBef>
              <a:spcAft>
                <a:spcPts val="1200"/>
              </a:spcAft>
            </a:pPr>
            <a:r>
              <a:rPr lang="en-AU" sz="2200" dirty="0" smtClean="0">
                <a:latin typeface="Helvetica" pitchFamily="34" charset="0"/>
              </a:rPr>
              <a:t>Productivity reports</a:t>
            </a:r>
          </a:p>
          <a:p>
            <a:pPr lvl="0">
              <a:spcBef>
                <a:spcPts val="600"/>
              </a:spcBef>
              <a:spcAft>
                <a:spcPts val="1200"/>
              </a:spcAft>
            </a:pPr>
            <a:r>
              <a:rPr lang="en-AU" sz="2200" dirty="0" smtClean="0">
                <a:latin typeface="Helvetica" pitchFamily="34" charset="0"/>
              </a:rPr>
              <a:t>New tasks or job role</a:t>
            </a:r>
          </a:p>
          <a:p>
            <a:pPr marL="0">
              <a:buNone/>
            </a:pP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6" name="Picture 5" descr="MP900422224[1].JPG"/>
          <p:cNvPicPr>
            <a:picLocks noChangeAspect="1"/>
          </p:cNvPicPr>
          <p:nvPr/>
        </p:nvPicPr>
        <p:blipFill>
          <a:blip r:embed="rId3" cstate="print"/>
          <a:stretch>
            <a:fillRect/>
          </a:stretch>
        </p:blipFill>
        <p:spPr>
          <a:xfrm>
            <a:off x="6019800" y="2362200"/>
            <a:ext cx="1783060" cy="2673285"/>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People who provide support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pPr>
            <a:r>
              <a:rPr lang="en-AU" sz="2200" dirty="0" smtClean="0">
                <a:latin typeface="Helvetica" pitchFamily="34" charset="0"/>
              </a:rPr>
              <a:t>There are a number of people who will provide support to others</a:t>
            </a:r>
          </a:p>
          <a:p>
            <a:pPr>
              <a:spcBef>
                <a:spcPts val="600"/>
              </a:spcBef>
              <a:spcAft>
                <a:spcPts val="1200"/>
              </a:spcAft>
            </a:pPr>
            <a:r>
              <a:rPr lang="en-AU" sz="2200" dirty="0" smtClean="0">
                <a:latin typeface="Helvetica" pitchFamily="34" charset="0"/>
              </a:rPr>
              <a:t>Support is the provision of some area of assistance or expertise one person may have which can help others complete their tasks</a:t>
            </a:r>
          </a:p>
          <a:p>
            <a:pPr marL="0">
              <a:buNone/>
            </a:pP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14338" name="Picture 2" descr="C:\Documents and Settings\Godaishu\Local Settings\Temporary Internet Files\Content.IE5\QYNVKJ9D\MP900398749[1].jpg"/>
          <p:cNvPicPr>
            <a:picLocks noChangeAspect="1" noChangeArrowheads="1"/>
          </p:cNvPicPr>
          <p:nvPr/>
        </p:nvPicPr>
        <p:blipFill>
          <a:blip r:embed="rId3" cstate="print"/>
          <a:srcRect/>
          <a:stretch>
            <a:fillRect/>
          </a:stretch>
        </p:blipFill>
        <p:spPr bwMode="auto">
          <a:xfrm>
            <a:off x="3429000" y="3733800"/>
            <a:ext cx="2895600" cy="2068286"/>
          </a:xfrm>
          <a:prstGeom prst="rect">
            <a:avLst/>
          </a:prstGeo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People who provide support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pPr>
            <a:r>
              <a:rPr lang="en-AU" sz="2200" dirty="0" smtClean="0">
                <a:latin typeface="Helvetica" pitchFamily="34" charset="0"/>
              </a:rPr>
              <a:t>Owners to managers</a:t>
            </a:r>
          </a:p>
          <a:p>
            <a:pPr>
              <a:spcBef>
                <a:spcPts val="600"/>
              </a:spcBef>
              <a:spcAft>
                <a:spcPts val="1200"/>
              </a:spcAft>
            </a:pPr>
            <a:r>
              <a:rPr lang="en-AU" sz="2200" dirty="0" smtClean="0">
                <a:latin typeface="Helvetica" pitchFamily="34" charset="0"/>
              </a:rPr>
              <a:t>Support departments to outlets</a:t>
            </a:r>
          </a:p>
          <a:p>
            <a:pPr>
              <a:spcBef>
                <a:spcPts val="600"/>
              </a:spcBef>
              <a:spcAft>
                <a:spcPts val="1200"/>
              </a:spcAft>
            </a:pPr>
            <a:r>
              <a:rPr lang="en-AU" sz="2200" dirty="0" smtClean="0">
                <a:latin typeface="Helvetica" pitchFamily="34" charset="0"/>
              </a:rPr>
              <a:t>Managers to supervisors</a:t>
            </a:r>
          </a:p>
          <a:p>
            <a:pPr>
              <a:spcBef>
                <a:spcPts val="600"/>
              </a:spcBef>
              <a:spcAft>
                <a:spcPts val="1200"/>
              </a:spcAft>
            </a:pPr>
            <a:r>
              <a:rPr lang="en-AU" sz="2200" dirty="0" smtClean="0">
                <a:latin typeface="Helvetica" pitchFamily="34" charset="0"/>
              </a:rPr>
              <a:t>Managers and supervisors to staff</a:t>
            </a:r>
          </a:p>
          <a:p>
            <a:pPr>
              <a:spcBef>
                <a:spcPts val="600"/>
              </a:spcBef>
              <a:spcAft>
                <a:spcPts val="1200"/>
              </a:spcAft>
            </a:pPr>
            <a:r>
              <a:rPr lang="en-AU" sz="2200" dirty="0" smtClean="0">
                <a:latin typeface="Helvetica" pitchFamily="34" charset="0"/>
              </a:rPr>
              <a:t>Staff to staff</a:t>
            </a:r>
          </a:p>
          <a:p>
            <a:pPr>
              <a:spcBef>
                <a:spcPts val="600"/>
              </a:spcBef>
              <a:spcAft>
                <a:spcPts val="1200"/>
              </a:spcAft>
            </a:pPr>
            <a:r>
              <a:rPr lang="en-AU" sz="2200" dirty="0" smtClean="0">
                <a:latin typeface="Helvetica" pitchFamily="34" charset="0"/>
              </a:rPr>
              <a:t>Staff to managers and supervisors</a:t>
            </a:r>
          </a:p>
          <a:p>
            <a:pPr>
              <a:spcBef>
                <a:spcPts val="600"/>
              </a:spcBef>
              <a:spcAft>
                <a:spcPts val="1200"/>
              </a:spcAft>
            </a:pPr>
            <a:r>
              <a:rPr lang="en-AU" sz="2200" dirty="0" smtClean="0">
                <a:latin typeface="Helvetica" pitchFamily="34" charset="0"/>
              </a:rPr>
              <a:t>Customers to managers, supervisors and staff</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buNone/>
            </a:pP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15362" name="Picture 2" descr="C:\Documents and Settings\Godaishu\Local Settings\Temporary Internet Files\Content.IE5\AIDHLZ6J\MC900237113[1].wmf"/>
          <p:cNvPicPr>
            <a:picLocks noChangeAspect="1" noChangeArrowheads="1"/>
          </p:cNvPicPr>
          <p:nvPr/>
        </p:nvPicPr>
        <p:blipFill>
          <a:blip r:embed="rId3" cstate="print"/>
          <a:srcRect/>
          <a:stretch>
            <a:fillRect/>
          </a:stretch>
        </p:blipFill>
        <p:spPr bwMode="auto">
          <a:xfrm>
            <a:off x="6019800" y="1905000"/>
            <a:ext cx="2127564" cy="2824681"/>
          </a:xfrm>
          <a:prstGeom prst="rect">
            <a:avLst/>
          </a:prstGeom>
          <a:noFill/>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Timing and support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pPr>
            <a:r>
              <a:rPr lang="en-AU" sz="2200" dirty="0" smtClean="0">
                <a:latin typeface="Helvetica" pitchFamily="34" charset="0"/>
              </a:rPr>
              <a:t>Our industry is one that is very much time oriented. Customers and other staff will rely on individuals to get nominated work finished by a set time</a:t>
            </a:r>
          </a:p>
          <a:p>
            <a:pPr>
              <a:spcBef>
                <a:spcPts val="600"/>
              </a:spcBef>
              <a:spcAft>
                <a:spcPts val="1200"/>
              </a:spcAft>
            </a:pPr>
            <a:r>
              <a:rPr lang="en-AU" sz="2200" dirty="0" smtClean="0">
                <a:latin typeface="Helvetica" pitchFamily="34" charset="0"/>
              </a:rPr>
              <a:t>Customers expect service, food, drinks or rooms cleaned by a set time and when this doesn’t happen their satisfaction levels drop</a:t>
            </a:r>
          </a:p>
          <a:p>
            <a:pPr>
              <a:spcBef>
                <a:spcPts val="600"/>
              </a:spcBef>
              <a:spcAft>
                <a:spcPts val="1200"/>
              </a:spcAft>
            </a:pPr>
            <a:r>
              <a:rPr lang="en-AU" sz="2200" dirty="0" smtClean="0">
                <a:latin typeface="Helvetica" pitchFamily="34" charset="0"/>
              </a:rPr>
              <a:t>At times, outlets have ‘rushes’ where support is needed</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6" name="Picture 5" descr="MP900442379[1].JPG"/>
          <p:cNvPicPr>
            <a:picLocks noChangeAspect="1"/>
          </p:cNvPicPr>
          <p:nvPr/>
        </p:nvPicPr>
        <p:blipFill>
          <a:blip r:embed="rId3" cstate="print"/>
          <a:stretch>
            <a:fillRect/>
          </a:stretch>
        </p:blipFill>
        <p:spPr>
          <a:xfrm>
            <a:off x="3352800" y="4724400"/>
            <a:ext cx="2519772" cy="1679848"/>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Timing and support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96752" y="1371600"/>
            <a:ext cx="7632848" cy="4680520"/>
          </a:xfrm>
        </p:spPr>
        <p:txBody>
          <a:bodyPr>
            <a:noAutofit/>
          </a:bodyPr>
          <a:lstStyle/>
          <a:p>
            <a:pPr>
              <a:spcBef>
                <a:spcPts val="600"/>
              </a:spcBef>
              <a:spcAft>
                <a:spcPts val="1200"/>
              </a:spcAft>
              <a:buNone/>
            </a:pPr>
            <a:r>
              <a:rPr lang="en-AU" sz="2200" b="1" dirty="0" smtClean="0">
                <a:latin typeface="Helvetica" pitchFamily="34" charset="0"/>
              </a:rPr>
              <a:t>Examples of ‘rushes’</a:t>
            </a:r>
          </a:p>
          <a:p>
            <a:pPr lvl="0">
              <a:spcBef>
                <a:spcPts val="600"/>
              </a:spcBef>
              <a:spcAft>
                <a:spcPts val="1200"/>
              </a:spcAft>
            </a:pPr>
            <a:r>
              <a:rPr lang="en-US" sz="2200" dirty="0" smtClean="0">
                <a:latin typeface="Helvetica" pitchFamily="34" charset="0"/>
              </a:rPr>
              <a:t>The arrival of a coach of tourists who all require a quick check-in and their luggage portered to rooms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 group arrival in the restaurant – all needing to be seated, supplied with their first drink, and have their order taken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 sudden rush in the retail shop</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The first half hour of trade when the                               nightclub opens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That one day when every room service breakfast has been requested at 8.30am</a:t>
            </a: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7" name="Picture 6" descr="MP900386054[1].JPG"/>
          <p:cNvPicPr/>
          <p:nvPr/>
        </p:nvPicPr>
        <p:blipFill>
          <a:blip r:embed="rId3" cstate="print"/>
          <a:stretch>
            <a:fillRect/>
          </a:stretch>
        </p:blipFill>
        <p:spPr>
          <a:xfrm>
            <a:off x="6248400" y="3733800"/>
            <a:ext cx="2066925" cy="1476375"/>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Cultural differences in teams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47800"/>
            <a:ext cx="7632848" cy="4680520"/>
          </a:xfrm>
        </p:spPr>
        <p:txBody>
          <a:bodyPr>
            <a:noAutofit/>
          </a:bodyPr>
          <a:lstStyle/>
          <a:p>
            <a:pPr marL="0">
              <a:spcBef>
                <a:spcPts val="600"/>
              </a:spcBef>
              <a:spcAft>
                <a:spcPts val="1200"/>
              </a:spcAft>
              <a:buNone/>
            </a:pPr>
            <a:r>
              <a:rPr lang="en-AU" sz="2200" dirty="0" smtClean="0">
                <a:latin typeface="Helvetica" pitchFamily="34" charset="0"/>
              </a:rPr>
              <a:t>The hospitality and tourism industries boast staff from a variety of backgrounds.</a:t>
            </a:r>
          </a:p>
          <a:p>
            <a:pPr marL="0">
              <a:spcBef>
                <a:spcPts val="600"/>
              </a:spcBef>
              <a:spcAft>
                <a:spcPts val="1200"/>
              </a:spcAft>
              <a:buNone/>
            </a:pPr>
            <a:r>
              <a:rPr lang="en-AU" sz="2200" dirty="0" smtClean="0">
                <a:latin typeface="Helvetica" pitchFamily="34" charset="0"/>
              </a:rPr>
              <a:t>This often means you will be working with people from different cultures.</a:t>
            </a:r>
          </a:p>
          <a:p>
            <a:pPr marL="0">
              <a:spcBef>
                <a:spcPts val="600"/>
              </a:spcBef>
              <a:spcAft>
                <a:spcPts val="1200"/>
              </a:spcAft>
              <a:buNone/>
            </a:pPr>
            <a:r>
              <a:rPr lang="en-AU" sz="2200" dirty="0" smtClean="0">
                <a:latin typeface="Helvetica" pitchFamily="34" charset="0"/>
              </a:rPr>
              <a:t>This means to recognise and accommodate relevant cultural differences.</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16386" name="Picture 2" descr="C:\Documents and Settings\Godaishu\Desktop\PHOTOS\2012\iStock_000003174092Medium.jpg"/>
          <p:cNvPicPr>
            <a:picLocks noChangeAspect="1" noChangeArrowheads="1"/>
          </p:cNvPicPr>
          <p:nvPr/>
        </p:nvPicPr>
        <p:blipFill>
          <a:blip r:embed="rId3" cstate="print"/>
          <a:srcRect/>
          <a:stretch>
            <a:fillRect/>
          </a:stretch>
        </p:blipFill>
        <p:spPr bwMode="auto">
          <a:xfrm>
            <a:off x="3352800" y="4114801"/>
            <a:ext cx="2819400" cy="1996406"/>
          </a:xfrm>
          <a:prstGeom prst="rect">
            <a:avLst/>
          </a:prstGeom>
          <a:noFill/>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Types of cultural differences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600"/>
              </a:spcAft>
              <a:buNone/>
            </a:pPr>
            <a:r>
              <a:rPr lang="en-AU" sz="2200" dirty="0" smtClean="0">
                <a:latin typeface="Helvetica" pitchFamily="34" charset="0"/>
              </a:rPr>
              <a:t>Cultural differences may include:</a:t>
            </a:r>
          </a:p>
          <a:p>
            <a:pPr lvl="0">
              <a:spcBef>
                <a:spcPts val="600"/>
              </a:spcBef>
              <a:spcAft>
                <a:spcPts val="600"/>
              </a:spcAft>
            </a:pPr>
            <a:r>
              <a:rPr lang="en-AU" sz="2200" dirty="0" smtClean="0">
                <a:latin typeface="Helvetica" pitchFamily="34" charset="0"/>
              </a:rPr>
              <a:t>Forms of address</a:t>
            </a:r>
          </a:p>
          <a:p>
            <a:pPr lvl="0">
              <a:spcBef>
                <a:spcPts val="600"/>
              </a:spcBef>
              <a:spcAft>
                <a:spcPts val="600"/>
              </a:spcAft>
            </a:pPr>
            <a:r>
              <a:rPr lang="en-AU" sz="2200" dirty="0" smtClean="0">
                <a:latin typeface="Helvetica" pitchFamily="34" charset="0"/>
              </a:rPr>
              <a:t>Levels of formality, or informality</a:t>
            </a:r>
          </a:p>
          <a:p>
            <a:pPr lvl="0">
              <a:spcBef>
                <a:spcPts val="600"/>
              </a:spcBef>
              <a:spcAft>
                <a:spcPts val="600"/>
              </a:spcAft>
            </a:pPr>
            <a:r>
              <a:rPr lang="en-AU" sz="2200" dirty="0" smtClean="0">
                <a:latin typeface="Helvetica" pitchFamily="34" charset="0"/>
              </a:rPr>
              <a:t>Non-verbal behaviour</a:t>
            </a:r>
          </a:p>
          <a:p>
            <a:pPr lvl="0">
              <a:spcBef>
                <a:spcPts val="600"/>
              </a:spcBef>
              <a:spcAft>
                <a:spcPts val="600"/>
              </a:spcAft>
            </a:pPr>
            <a:r>
              <a:rPr lang="en-AU" sz="2200" dirty="0" smtClean="0">
                <a:latin typeface="Helvetica" pitchFamily="34" charset="0"/>
              </a:rPr>
              <a:t>Work ethics</a:t>
            </a:r>
          </a:p>
          <a:p>
            <a:pPr lvl="0">
              <a:spcBef>
                <a:spcPts val="600"/>
              </a:spcBef>
              <a:spcAft>
                <a:spcPts val="600"/>
              </a:spcAft>
            </a:pPr>
            <a:r>
              <a:rPr lang="en-AU" sz="2200" dirty="0" smtClean="0">
                <a:latin typeface="Helvetica" pitchFamily="34" charset="0"/>
              </a:rPr>
              <a:t>Personal grooming</a:t>
            </a:r>
          </a:p>
          <a:p>
            <a:pPr lvl="0">
              <a:spcBef>
                <a:spcPts val="600"/>
              </a:spcBef>
              <a:spcAft>
                <a:spcPts val="600"/>
              </a:spcAft>
            </a:pPr>
            <a:r>
              <a:rPr lang="en-AU" sz="2200" dirty="0" smtClean="0">
                <a:latin typeface="Helvetica" pitchFamily="34" charset="0"/>
              </a:rPr>
              <a:t>Family obligations</a:t>
            </a:r>
          </a:p>
          <a:p>
            <a:pPr lvl="0">
              <a:spcBef>
                <a:spcPts val="600"/>
              </a:spcBef>
              <a:spcAft>
                <a:spcPts val="600"/>
              </a:spcAft>
            </a:pPr>
            <a:r>
              <a:rPr lang="en-AU" sz="2200" dirty="0" smtClean="0">
                <a:latin typeface="Helvetica" pitchFamily="34" charset="0"/>
              </a:rPr>
              <a:t>Recognised holidays</a:t>
            </a:r>
          </a:p>
          <a:p>
            <a:pPr>
              <a:spcBef>
                <a:spcPts val="600"/>
              </a:spcBef>
              <a:spcAft>
                <a:spcPts val="600"/>
              </a:spcAft>
            </a:pPr>
            <a:r>
              <a:rPr lang="en-AU" sz="2200" dirty="0" smtClean="0">
                <a:latin typeface="Helvetica" pitchFamily="34" charset="0"/>
              </a:rPr>
              <a:t>Special needs preferences for personal interactions</a:t>
            </a: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7" name="Picture 6" descr="MP900430755[1].JPG"/>
          <p:cNvPicPr/>
          <p:nvPr/>
        </p:nvPicPr>
        <p:blipFill>
          <a:blip r:embed="rId3" cstate="print"/>
          <a:stretch>
            <a:fillRect/>
          </a:stretch>
        </p:blipFill>
        <p:spPr>
          <a:xfrm>
            <a:off x="6096000" y="1828800"/>
            <a:ext cx="1981200" cy="1847850"/>
          </a:xfrm>
          <a:prstGeom prst="rect">
            <a:avLst/>
          </a:prstGeom>
        </p:spPr>
      </p:pic>
      <p:pic>
        <p:nvPicPr>
          <p:cNvPr id="17410" name="Picture 2" descr="C:\Documents and Settings\Godaishu\Desktop\PHOTOS\2012\group.JPG"/>
          <p:cNvPicPr>
            <a:picLocks noChangeAspect="1" noChangeArrowheads="1"/>
          </p:cNvPicPr>
          <p:nvPr/>
        </p:nvPicPr>
        <p:blipFill>
          <a:blip r:embed="rId4" cstate="print"/>
          <a:srcRect/>
          <a:stretch>
            <a:fillRect/>
          </a:stretch>
        </p:blipFill>
        <p:spPr bwMode="auto">
          <a:xfrm>
            <a:off x="4800600" y="3429000"/>
            <a:ext cx="2527765" cy="1676400"/>
          </a:xfrm>
          <a:prstGeom prst="rect">
            <a:avLst/>
          </a:prstGeom>
          <a:noFill/>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Accommodating cultural differences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lvl="0">
              <a:spcBef>
                <a:spcPts val="600"/>
              </a:spcBef>
              <a:spcAft>
                <a:spcPts val="1200"/>
              </a:spcAft>
            </a:pPr>
            <a:r>
              <a:rPr lang="en-US" sz="2200" dirty="0" smtClean="0">
                <a:latin typeface="Helvetica" pitchFamily="34" charset="0"/>
              </a:rPr>
              <a:t>Creating a climate of tolerance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Implementing team building exercises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Providing training and education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Providing mediation and counseling</a:t>
            </a:r>
            <a:endParaRPr lang="en-AU"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5" name="Picture 4" descr="1.jpg"/>
          <p:cNvPicPr>
            <a:picLocks noChangeAspect="1"/>
          </p:cNvPicPr>
          <p:nvPr/>
        </p:nvPicPr>
        <p:blipFill>
          <a:blip r:embed="rId3" cstate="print"/>
          <a:stretch>
            <a:fillRect/>
          </a:stretch>
        </p:blipFill>
        <p:spPr>
          <a:xfrm>
            <a:off x="3200400" y="4038600"/>
            <a:ext cx="2876364" cy="1917576"/>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3:</a:t>
            </a:r>
          </a:p>
          <a:p>
            <a:pPr marL="0">
              <a:spcBef>
                <a:spcPts val="600"/>
              </a:spcBef>
              <a:spcAft>
                <a:spcPts val="1200"/>
              </a:spcAft>
              <a:buNone/>
            </a:pPr>
            <a:r>
              <a:rPr lang="en-AU" sz="4000" dirty="0" smtClean="0">
                <a:solidFill>
                  <a:srgbClr val="FF6600"/>
                </a:solidFill>
              </a:rPr>
              <a:t>Contribute to team development</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1026" name="Picture 2" descr="C:\Documents and Settings\Godaishu\Local Settings\Temporary Internet Files\Content.IE5\YISE4YB4\MC900197860[1].wmf"/>
          <p:cNvPicPr>
            <a:picLocks noChangeAspect="1" noChangeArrowheads="1"/>
          </p:cNvPicPr>
          <p:nvPr/>
        </p:nvPicPr>
        <p:blipFill>
          <a:blip r:embed="rId3" cstate="print"/>
          <a:srcRect/>
          <a:stretch>
            <a:fillRect/>
          </a:stretch>
        </p:blipFill>
        <p:spPr bwMode="auto">
          <a:xfrm>
            <a:off x="2133600" y="3352800"/>
            <a:ext cx="4817465" cy="1676400"/>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Contribute to team development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Meet both internal customer and external customer needs and expectations in accordance with organisation standards, policies and procedures and within acceptable time frames</a:t>
            </a:r>
          </a:p>
          <a:p>
            <a:pPr>
              <a:spcBef>
                <a:spcPts val="600"/>
              </a:spcBef>
              <a:spcAft>
                <a:spcPts val="1200"/>
              </a:spcAft>
            </a:pPr>
            <a:r>
              <a:rPr lang="en-AU" sz="2200" dirty="0" smtClean="0">
                <a:latin typeface="Helvetica" pitchFamily="34" charset="0"/>
              </a:rPr>
              <a:t>Give encouragement and support to other team members to identify and organise professional development opportunities</a:t>
            </a:r>
          </a:p>
          <a:p>
            <a:pPr marL="0" indent="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2050" name="Picture 2" descr="C:\Documents and Settings\Godaishu\Local Settings\Temporary Internet Files\Content.IE5\YISE4YB4\MC900434663[1].wmf"/>
          <p:cNvPicPr>
            <a:picLocks noChangeAspect="1" noChangeArrowheads="1"/>
          </p:cNvPicPr>
          <p:nvPr/>
        </p:nvPicPr>
        <p:blipFill>
          <a:blip r:embed="rId3" cstate="print"/>
          <a:srcRect/>
          <a:stretch>
            <a:fillRect/>
          </a:stretch>
        </p:blipFill>
        <p:spPr bwMode="auto">
          <a:xfrm>
            <a:off x="4823944" y="3200400"/>
            <a:ext cx="357656" cy="472252"/>
          </a:xfrm>
          <a:prstGeom prst="rect">
            <a:avLst/>
          </a:prstGeom>
          <a:noFill/>
        </p:spPr>
      </p:pic>
      <p:pic>
        <p:nvPicPr>
          <p:cNvPr id="7" name="Picture 2" descr="C:\Documents and Settings\Godaishu\Local Settings\Temporary Internet Files\Content.IE5\YISE4YB4\MC900434663[1].wmf"/>
          <p:cNvPicPr>
            <a:picLocks noChangeAspect="1" noChangeArrowheads="1"/>
          </p:cNvPicPr>
          <p:nvPr/>
        </p:nvPicPr>
        <p:blipFill>
          <a:blip r:embed="rId3" cstate="print"/>
          <a:srcRect/>
          <a:stretch>
            <a:fillRect/>
          </a:stretch>
        </p:blipFill>
        <p:spPr bwMode="auto">
          <a:xfrm>
            <a:off x="4442944" y="4404548"/>
            <a:ext cx="357656" cy="472252"/>
          </a:xfrm>
          <a:prstGeom prst="rect">
            <a:avLst/>
          </a:prstGeo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Contribute to team development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Seek formal feedback and informal feedback on individual and team performance regularly from colleagues and supervisors to identify and implement improvements to products, services, processes or outcomes</a:t>
            </a:r>
          </a:p>
          <a:p>
            <a:pPr>
              <a:spcBef>
                <a:spcPts val="600"/>
              </a:spcBef>
              <a:spcAft>
                <a:spcPts val="1200"/>
              </a:spcAft>
            </a:pPr>
            <a:r>
              <a:rPr lang="en-AU" sz="2200" dirty="0" smtClean="0">
                <a:latin typeface="Helvetica" pitchFamily="34" charset="0"/>
              </a:rPr>
              <a:t>Maintain personal work standards in a manner that supports the workgroup and organisational requirements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7" name="Picture 2" descr="C:\Documents and Settings\Godaishu\Local Settings\Temporary Internet Files\Content.IE5\YISE4YB4\MC900434663[1].wmf"/>
          <p:cNvPicPr>
            <a:picLocks noChangeAspect="1" noChangeArrowheads="1"/>
          </p:cNvPicPr>
          <p:nvPr/>
        </p:nvPicPr>
        <p:blipFill>
          <a:blip r:embed="rId3" cstate="print"/>
          <a:srcRect/>
          <a:stretch>
            <a:fillRect/>
          </a:stretch>
        </p:blipFill>
        <p:spPr bwMode="auto">
          <a:xfrm>
            <a:off x="2362200" y="3490148"/>
            <a:ext cx="357656" cy="472252"/>
          </a:xfrm>
          <a:prstGeom prst="rect">
            <a:avLst/>
          </a:prstGeom>
          <a:noFill/>
        </p:spPr>
      </p:pic>
      <p:pic>
        <p:nvPicPr>
          <p:cNvPr id="8" name="Picture 2" descr="C:\Documents and Settings\Godaishu\Local Settings\Temporary Internet Files\Content.IE5\YISE4YB4\MC900434663[1].wmf"/>
          <p:cNvPicPr>
            <a:picLocks noChangeAspect="1" noChangeArrowheads="1"/>
          </p:cNvPicPr>
          <p:nvPr/>
        </p:nvPicPr>
        <p:blipFill>
          <a:blip r:embed="rId3" cstate="print"/>
          <a:srcRect/>
          <a:stretch>
            <a:fillRect/>
          </a:stretch>
        </p:blipFill>
        <p:spPr bwMode="auto">
          <a:xfrm>
            <a:off x="2766544" y="4724400"/>
            <a:ext cx="357656" cy="472252"/>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Contribute to team development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Make positive contributions to the planning process to improve work practices</a:t>
            </a:r>
          </a:p>
          <a:p>
            <a:pPr>
              <a:spcBef>
                <a:spcPts val="600"/>
              </a:spcBef>
              <a:spcAft>
                <a:spcPts val="1200"/>
              </a:spcAft>
            </a:pPr>
            <a:r>
              <a:rPr lang="en-AU" sz="2200" dirty="0" smtClean="0">
                <a:latin typeface="Helvetica" pitchFamily="34" charset="0"/>
              </a:rPr>
              <a:t>Use non-discriminatory attitudes and language when interacting with customers, staff and management, consistently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6" name="Picture 2" descr="C:\Documents and Settings\Godaishu\Local Settings\Temporary Internet Files\Content.IE5\YISE4YB4\MC900434663[1].wmf"/>
          <p:cNvPicPr>
            <a:picLocks noChangeAspect="1" noChangeArrowheads="1"/>
          </p:cNvPicPr>
          <p:nvPr/>
        </p:nvPicPr>
        <p:blipFill>
          <a:blip r:embed="rId3" cstate="print"/>
          <a:srcRect/>
          <a:stretch>
            <a:fillRect/>
          </a:stretch>
        </p:blipFill>
        <p:spPr bwMode="auto">
          <a:xfrm>
            <a:off x="3962400" y="2514600"/>
            <a:ext cx="357656" cy="472252"/>
          </a:xfrm>
          <a:prstGeom prst="rect">
            <a:avLst/>
          </a:prstGeom>
          <a:noFill/>
        </p:spPr>
      </p:pic>
      <p:pic>
        <p:nvPicPr>
          <p:cNvPr id="7" name="Picture 2" descr="C:\Documents and Settings\Godaishu\Local Settings\Temporary Internet Files\Content.IE5\YISE4YB4\MC900434663[1].wmf"/>
          <p:cNvPicPr>
            <a:picLocks noChangeAspect="1" noChangeArrowheads="1"/>
          </p:cNvPicPr>
          <p:nvPr/>
        </p:nvPicPr>
        <p:blipFill>
          <a:blip r:embed="rId3" cstate="print"/>
          <a:srcRect/>
          <a:stretch>
            <a:fillRect/>
          </a:stretch>
        </p:blipFill>
        <p:spPr bwMode="auto">
          <a:xfrm>
            <a:off x="2590800" y="3733800"/>
            <a:ext cx="357656" cy="472252"/>
          </a:xfrm>
          <a:prstGeom prst="rect">
            <a:avLst/>
          </a:prstGeom>
          <a:noFill/>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Meeting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buNone/>
            </a:pPr>
            <a:r>
              <a:rPr lang="en-AU" sz="2200" dirty="0" smtClean="0">
                <a:latin typeface="Helvetica" pitchFamily="34" charset="0"/>
              </a:rPr>
              <a:t>As a staff member, it is your role to fulfil the needs of all stakeholders of the business. </a:t>
            </a:r>
          </a:p>
          <a:p>
            <a:pPr>
              <a:buNone/>
            </a:pPr>
            <a:endParaRPr lang="en-AU" sz="2200" dirty="0" smtClean="0">
              <a:latin typeface="Helvetica" pitchFamily="34" charset="0"/>
            </a:endParaRPr>
          </a:p>
          <a:p>
            <a:pPr>
              <a:buNone/>
            </a:pPr>
            <a:r>
              <a:rPr lang="en-AU" sz="2200" dirty="0" smtClean="0">
                <a:latin typeface="Helvetica" pitchFamily="34" charset="0"/>
              </a:rPr>
              <a:t>This includes both the ‘internal’ and ‘external’ customer.</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3074" name="Picture 2" descr="C:\Documents and Settings\Godaishu\Local Settings\Temporary Internet Files\Content.IE5\KPAZS1QF\MC900149669[1].wmf"/>
          <p:cNvPicPr>
            <a:picLocks noChangeAspect="1" noChangeArrowheads="1"/>
          </p:cNvPicPr>
          <p:nvPr/>
        </p:nvPicPr>
        <p:blipFill>
          <a:blip r:embed="rId3" cstate="print"/>
          <a:srcRect/>
          <a:stretch>
            <a:fillRect/>
          </a:stretch>
        </p:blipFill>
        <p:spPr bwMode="auto">
          <a:xfrm>
            <a:off x="3124200" y="3429000"/>
            <a:ext cx="2587782" cy="1916317"/>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Internal customer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dirty="0" smtClean="0">
                <a:latin typeface="Helvetica" pitchFamily="34" charset="0"/>
              </a:rPr>
              <a:t>An ‘internal’ customer is anyone who is associated with the provision of services to customers.</a:t>
            </a:r>
          </a:p>
          <a:p>
            <a:pPr>
              <a:spcBef>
                <a:spcPts val="600"/>
              </a:spcBef>
              <a:spcAft>
                <a:spcPts val="1200"/>
              </a:spcAft>
              <a:buNone/>
            </a:pPr>
            <a:r>
              <a:rPr lang="en-AU" sz="2200" dirty="0" smtClean="0">
                <a:latin typeface="Helvetica" pitchFamily="34" charset="0"/>
              </a:rPr>
              <a:t> In summary this includes:</a:t>
            </a:r>
          </a:p>
          <a:p>
            <a:pPr>
              <a:spcBef>
                <a:spcPts val="600"/>
              </a:spcBef>
              <a:spcAft>
                <a:spcPts val="1200"/>
              </a:spcAft>
            </a:pPr>
            <a:r>
              <a:rPr lang="en-US" sz="2200" dirty="0" smtClean="0">
                <a:latin typeface="Helvetica" pitchFamily="34" charset="0"/>
              </a:rPr>
              <a:t>Management and staff of the organisation</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Suppliers and contractors who provide </a:t>
            </a:r>
            <a:br>
              <a:rPr lang="en-US" sz="2200" dirty="0" smtClean="0">
                <a:latin typeface="Helvetica" pitchFamily="34" charset="0"/>
              </a:rPr>
            </a:br>
            <a:r>
              <a:rPr lang="en-US" sz="2200" dirty="0" smtClean="0">
                <a:latin typeface="Helvetica" pitchFamily="34" charset="0"/>
              </a:rPr>
              <a:t>services to your organisation</a:t>
            </a: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7" name="Picture 6" descr="MP900184902[1].JPG"/>
          <p:cNvPicPr>
            <a:picLocks noChangeAspect="1"/>
          </p:cNvPicPr>
          <p:nvPr/>
        </p:nvPicPr>
        <p:blipFill>
          <a:blip r:embed="rId3" cstate="print"/>
          <a:stretch>
            <a:fillRect/>
          </a:stretch>
        </p:blipFill>
        <p:spPr>
          <a:xfrm>
            <a:off x="6781800" y="2362200"/>
            <a:ext cx="1592252" cy="2412504"/>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External customer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US" sz="2200" dirty="0" smtClean="0">
                <a:latin typeface="Helvetica" pitchFamily="34" charset="0"/>
              </a:rPr>
              <a:t>An ‘external’ customer is anyone who receives the products and services provided by the organisation. </a:t>
            </a:r>
          </a:p>
          <a:p>
            <a:pPr>
              <a:spcBef>
                <a:spcPts val="600"/>
              </a:spcBef>
              <a:spcAft>
                <a:spcPts val="1200"/>
              </a:spcAft>
              <a:buNone/>
            </a:pPr>
            <a:r>
              <a:rPr lang="en-US" sz="2200" dirty="0" smtClean="0">
                <a:latin typeface="Helvetica" pitchFamily="34" charset="0"/>
              </a:rPr>
              <a:t>In summary this includes: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Customers who enjoy the ‘offerings’ at the venue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Customers who enjoy the ‘offerings’ that are supplied to them, at a location not at the venue</a:t>
            </a:r>
            <a:endParaRPr lang="en-AU" sz="2400" dirty="0" smtClean="0"/>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4098" name="Picture 2" descr="C:\Documents and Settings\Godaishu\Local Settings\Temporary Internet Files\Content.IE5\VL0QK7PC\MC900047864[1].wmf"/>
          <p:cNvPicPr>
            <a:picLocks noChangeAspect="1" noChangeArrowheads="1"/>
          </p:cNvPicPr>
          <p:nvPr/>
        </p:nvPicPr>
        <p:blipFill>
          <a:blip r:embed="rId3" cstate="print"/>
          <a:srcRect/>
          <a:stretch>
            <a:fillRect/>
          </a:stretch>
        </p:blipFill>
        <p:spPr bwMode="auto">
          <a:xfrm>
            <a:off x="3581400" y="4572000"/>
            <a:ext cx="1785823" cy="1770278"/>
          </a:xfrm>
          <a:prstGeom prst="rect">
            <a:avLst/>
          </a:prstGeom>
          <a:noFill/>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Limitations when meeting requests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b="1" dirty="0" smtClean="0">
                <a:latin typeface="Helvetica" pitchFamily="34" charset="0"/>
              </a:rPr>
              <a:t>Meeting needs according to legal, safety and organisational requirements</a:t>
            </a:r>
          </a:p>
          <a:p>
            <a:pPr>
              <a:spcBef>
                <a:spcPts val="600"/>
              </a:spcBef>
              <a:spcAft>
                <a:spcPts val="1200"/>
              </a:spcAft>
            </a:pPr>
            <a:r>
              <a:rPr lang="en-AU" sz="2200" dirty="0" smtClean="0">
                <a:latin typeface="Helvetica" pitchFamily="34" charset="0"/>
              </a:rPr>
              <a:t>What are legal requirements that must be considered?</a:t>
            </a:r>
          </a:p>
          <a:p>
            <a:pPr>
              <a:spcBef>
                <a:spcPts val="600"/>
              </a:spcBef>
              <a:spcAft>
                <a:spcPts val="1200"/>
              </a:spcAft>
            </a:pPr>
            <a:r>
              <a:rPr lang="en-AU" sz="2200" dirty="0" smtClean="0">
                <a:latin typeface="Helvetica" pitchFamily="34" charset="0"/>
              </a:rPr>
              <a:t>What are safety requirements that must be considered?</a:t>
            </a:r>
          </a:p>
          <a:p>
            <a:pPr>
              <a:spcBef>
                <a:spcPts val="600"/>
              </a:spcBef>
              <a:spcAft>
                <a:spcPts val="1200"/>
              </a:spcAft>
            </a:pPr>
            <a:r>
              <a:rPr lang="en-AU" sz="2200" dirty="0" smtClean="0">
                <a:latin typeface="Helvetica" pitchFamily="34" charset="0"/>
              </a:rPr>
              <a:t>What are organisational requirements that must be considered?</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5122" name="Picture 2" descr="C:\Documents and Settings\Godaishu\Desktop\PHOTOS\images\iStock_000002829159Medium.jpg"/>
          <p:cNvPicPr>
            <a:picLocks noChangeAspect="1" noChangeArrowheads="1"/>
          </p:cNvPicPr>
          <p:nvPr/>
        </p:nvPicPr>
        <p:blipFill>
          <a:blip r:embed="rId3" cstate="print"/>
          <a:srcRect t="10387" b="3050"/>
          <a:stretch>
            <a:fillRect/>
          </a:stretch>
        </p:blipFill>
        <p:spPr bwMode="auto">
          <a:xfrm>
            <a:off x="3352800" y="4191000"/>
            <a:ext cx="2189163" cy="1905000"/>
          </a:xfrm>
          <a:prstGeom prst="rect">
            <a:avLst/>
          </a:prstGeom>
          <a:noFill/>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Internal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pPr>
            <a:r>
              <a:rPr lang="en-US" sz="2200" dirty="0" smtClean="0">
                <a:latin typeface="Helvetica" pitchFamily="34" charset="0"/>
              </a:rPr>
              <a:t>Knowledge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Skills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Training</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Equipment</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Time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Appropriate allocation of work</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Support</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Fairness</a:t>
            </a: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6" name="Picture 5" descr="24.jpg"/>
          <p:cNvPicPr/>
          <p:nvPr/>
        </p:nvPicPr>
        <p:blipFill>
          <a:blip r:embed="rId3" cstate="print"/>
          <a:stretch>
            <a:fillRect/>
          </a:stretch>
        </p:blipFill>
        <p:spPr>
          <a:xfrm>
            <a:off x="5562600" y="2286000"/>
            <a:ext cx="1971849" cy="2554585"/>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Identifying internal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pPr>
            <a:r>
              <a:rPr lang="en-US" sz="2200" dirty="0" smtClean="0">
                <a:latin typeface="Helvetica" pitchFamily="34" charset="0"/>
              </a:rPr>
              <a:t>In meetings, whether at a departmental or senior management level</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In staff briefings at the start of a shift</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During a shift as needs arise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In staff de-briefings at the end of a shift</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Through comments in handover documents between shifts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Through emails, memos and telephone calls</a:t>
            </a: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6146" name="Picture 2" descr="C:\Documents and Settings\Godaishu\Desktop\PHOTOS\images\panel_discussion.jpg"/>
          <p:cNvPicPr>
            <a:picLocks noChangeAspect="1" noChangeArrowheads="1"/>
          </p:cNvPicPr>
          <p:nvPr/>
        </p:nvPicPr>
        <p:blipFill>
          <a:blip r:embed="rId3" cstate="print"/>
          <a:srcRect/>
          <a:stretch>
            <a:fillRect/>
          </a:stretch>
        </p:blipFill>
        <p:spPr bwMode="auto">
          <a:xfrm>
            <a:off x="6519862" y="2529744"/>
            <a:ext cx="2014538" cy="1356456"/>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External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Generic customer needs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Value for money</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‘Offering’ reflecting what was advertised</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Expectations met / exceeded</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feel respected</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feel welcomed</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be served by friendly staff</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7170" name="Picture 2" descr="C:\Documents and Settings\Godaishu\Local Settings\Temporary Internet Files\Content.IE5\VL0QK7PC\MC900059167[1].wmf"/>
          <p:cNvPicPr>
            <a:picLocks noChangeAspect="1" noChangeArrowheads="1"/>
          </p:cNvPicPr>
          <p:nvPr/>
        </p:nvPicPr>
        <p:blipFill>
          <a:blip r:embed="rId3" cstate="print"/>
          <a:srcRect/>
          <a:stretch>
            <a:fillRect/>
          </a:stretch>
        </p:blipFill>
        <p:spPr bwMode="auto">
          <a:xfrm>
            <a:off x="6172200" y="3124200"/>
            <a:ext cx="1827886" cy="1451153"/>
          </a:xfrm>
          <a:prstGeom prst="rect">
            <a:avLst/>
          </a:prstGeom>
          <a:noFill/>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External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400" b="1" dirty="0" smtClean="0">
                <a:latin typeface="Helvetica" pitchFamily="34" charset="0"/>
              </a:rPr>
              <a:t>Generic customer needs</a:t>
            </a:r>
            <a:endParaRPr lang="en-AU" sz="2400" dirty="0" smtClean="0">
              <a:latin typeface="Helvetica" pitchFamily="34" charset="0"/>
            </a:endParaRPr>
          </a:p>
          <a:p>
            <a:pPr>
              <a:spcBef>
                <a:spcPts val="600"/>
              </a:spcBef>
              <a:spcAft>
                <a:spcPts val="1200"/>
              </a:spcAft>
            </a:pPr>
            <a:r>
              <a:rPr lang="en-US" sz="2200" dirty="0" smtClean="0">
                <a:latin typeface="Helvetica" pitchFamily="34" charset="0"/>
              </a:rPr>
              <a:t>To be dealt with in a prompt and courteous manner</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receive assistance when necessary</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be in comfortable, clean surroundings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feel remembered and recognised</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To be heard and understood</a:t>
            </a: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5" name="Picture 4" descr="MP900423126[1].JPG"/>
          <p:cNvPicPr>
            <a:picLocks noChangeAspect="1"/>
          </p:cNvPicPr>
          <p:nvPr/>
        </p:nvPicPr>
        <p:blipFill>
          <a:blip r:embed="rId3" cstate="print"/>
          <a:stretch>
            <a:fillRect/>
          </a:stretch>
        </p:blipFill>
        <p:spPr>
          <a:xfrm>
            <a:off x="6443464" y="2819400"/>
            <a:ext cx="1981200" cy="198120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External customer expectations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dirty="0" smtClean="0">
                <a:latin typeface="Helvetica" pitchFamily="34" charset="0"/>
              </a:rPr>
              <a:t>Customers have perceived expectations of what level of service they expect when visiting a venue arising from:</a:t>
            </a:r>
          </a:p>
          <a:p>
            <a:pPr>
              <a:spcBef>
                <a:spcPts val="600"/>
              </a:spcBef>
              <a:spcAft>
                <a:spcPts val="1200"/>
              </a:spcAft>
            </a:pPr>
            <a:r>
              <a:rPr lang="en-US" sz="2200" dirty="0" smtClean="0">
                <a:latin typeface="Helvetica" pitchFamily="34" charset="0"/>
              </a:rPr>
              <a:t>Past visits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Advertisements and promotional messages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Competing hotels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Industry standards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Comments from family, friends                                               and colleagues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Price charged for the offering</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6" name="Picture 5" descr="MP900443395[1].JPG"/>
          <p:cNvPicPr/>
          <p:nvPr/>
        </p:nvPicPr>
        <p:blipFill>
          <a:blip r:embed="rId3" cstate="print"/>
          <a:stretch>
            <a:fillRect/>
          </a:stretch>
        </p:blipFill>
        <p:spPr>
          <a:xfrm>
            <a:off x="6096000" y="3733800"/>
            <a:ext cx="2238807" cy="1714128"/>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Specific target market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600"/>
              </a:spcAft>
              <a:buNone/>
            </a:pPr>
            <a:r>
              <a:rPr lang="en-AU" sz="2200" dirty="0" smtClean="0">
                <a:latin typeface="Helvetica" pitchFamily="34" charset="0"/>
              </a:rPr>
              <a:t>Each target market in your business has their own unique needs. </a:t>
            </a:r>
          </a:p>
          <a:p>
            <a:pPr>
              <a:spcBef>
                <a:spcPts val="600"/>
              </a:spcBef>
              <a:spcAft>
                <a:spcPts val="600"/>
              </a:spcAft>
              <a:buNone/>
            </a:pPr>
            <a:r>
              <a:rPr lang="en-AU" sz="2200" dirty="0" smtClean="0">
                <a:latin typeface="Helvetica" pitchFamily="34" charset="0"/>
              </a:rPr>
              <a:t>What are the needs for the following market segments:</a:t>
            </a:r>
          </a:p>
          <a:p>
            <a:pPr>
              <a:spcBef>
                <a:spcPts val="600"/>
              </a:spcBef>
              <a:spcAft>
                <a:spcPts val="600"/>
              </a:spcAft>
            </a:pPr>
            <a:r>
              <a:rPr lang="en-US" sz="2200" dirty="0" smtClean="0">
                <a:latin typeface="Helvetica" pitchFamily="34" charset="0"/>
              </a:rPr>
              <a:t>Business</a:t>
            </a:r>
            <a:endParaRPr lang="en-AU" sz="2200" dirty="0" smtClean="0">
              <a:latin typeface="Helvetica" pitchFamily="34" charset="0"/>
            </a:endParaRPr>
          </a:p>
          <a:p>
            <a:pPr>
              <a:spcBef>
                <a:spcPts val="600"/>
              </a:spcBef>
              <a:spcAft>
                <a:spcPts val="600"/>
              </a:spcAft>
            </a:pPr>
            <a:r>
              <a:rPr lang="en-US" sz="2200" dirty="0" smtClean="0">
                <a:latin typeface="Helvetica" pitchFamily="34" charset="0"/>
              </a:rPr>
              <a:t>Women</a:t>
            </a:r>
            <a:endParaRPr lang="en-AU" sz="2200" dirty="0" smtClean="0">
              <a:latin typeface="Helvetica" pitchFamily="34" charset="0"/>
            </a:endParaRPr>
          </a:p>
          <a:p>
            <a:pPr>
              <a:spcBef>
                <a:spcPts val="600"/>
              </a:spcBef>
              <a:spcAft>
                <a:spcPts val="600"/>
              </a:spcAft>
            </a:pPr>
            <a:r>
              <a:rPr lang="en-US" sz="2200" dirty="0" smtClean="0">
                <a:latin typeface="Helvetica" pitchFamily="34" charset="0"/>
              </a:rPr>
              <a:t>Family</a:t>
            </a:r>
            <a:endParaRPr lang="en-AU" sz="2200" dirty="0" smtClean="0">
              <a:latin typeface="Helvetica" pitchFamily="34" charset="0"/>
            </a:endParaRPr>
          </a:p>
          <a:p>
            <a:pPr>
              <a:spcBef>
                <a:spcPts val="600"/>
              </a:spcBef>
              <a:spcAft>
                <a:spcPts val="600"/>
              </a:spcAft>
            </a:pPr>
            <a:r>
              <a:rPr lang="en-US" sz="2200" dirty="0" smtClean="0">
                <a:latin typeface="Helvetica" pitchFamily="34" charset="0"/>
              </a:rPr>
              <a:t>Leisure</a:t>
            </a:r>
            <a:endParaRPr lang="en-AU" sz="2200" dirty="0" smtClean="0">
              <a:latin typeface="Helvetica" pitchFamily="34" charset="0"/>
            </a:endParaRPr>
          </a:p>
          <a:p>
            <a:pPr>
              <a:spcBef>
                <a:spcPts val="600"/>
              </a:spcBef>
              <a:spcAft>
                <a:spcPts val="600"/>
              </a:spcAft>
            </a:pPr>
            <a:r>
              <a:rPr lang="en-US" sz="2200" dirty="0" smtClean="0">
                <a:latin typeface="Helvetica" pitchFamily="34" charset="0"/>
              </a:rPr>
              <a:t>Elderly</a:t>
            </a:r>
            <a:endParaRPr lang="en-AU" sz="2200" dirty="0" smtClean="0">
              <a:latin typeface="Helvetica" pitchFamily="34" charset="0"/>
            </a:endParaRPr>
          </a:p>
          <a:p>
            <a:pPr>
              <a:spcBef>
                <a:spcPts val="600"/>
              </a:spcBef>
              <a:spcAft>
                <a:spcPts val="600"/>
              </a:spcAft>
            </a:pPr>
            <a:r>
              <a:rPr lang="en-US" sz="2200" dirty="0" smtClean="0">
                <a:latin typeface="Helvetica" pitchFamily="34" charset="0"/>
              </a:rPr>
              <a:t>Groups</a:t>
            </a: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7" name="Picture 6" descr="MP900442374[1].JPG"/>
          <p:cNvPicPr/>
          <p:nvPr/>
        </p:nvPicPr>
        <p:blipFill>
          <a:blip r:embed="rId3" cstate="print"/>
          <a:stretch>
            <a:fillRect/>
          </a:stretch>
        </p:blipFill>
        <p:spPr>
          <a:xfrm>
            <a:off x="5715000" y="3200401"/>
            <a:ext cx="2520479" cy="1994410"/>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Identifying external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dirty="0" smtClean="0">
                <a:latin typeface="Helvetica" pitchFamily="34" charset="0"/>
              </a:rPr>
              <a:t>Staff must be pro-active and try to anticipate the needs of customers where possible. </a:t>
            </a:r>
          </a:p>
          <a:p>
            <a:pPr>
              <a:spcBef>
                <a:spcPts val="600"/>
              </a:spcBef>
              <a:spcAft>
                <a:spcPts val="1200"/>
              </a:spcAft>
              <a:buNone/>
            </a:pPr>
            <a:r>
              <a:rPr lang="en-AU" sz="2200" dirty="0" smtClean="0">
                <a:latin typeface="Helvetica" pitchFamily="34" charset="0"/>
              </a:rPr>
              <a:t>This can be achieved through:</a:t>
            </a:r>
          </a:p>
          <a:p>
            <a:pPr>
              <a:spcBef>
                <a:spcPts val="600"/>
              </a:spcBef>
              <a:spcAft>
                <a:spcPts val="1200"/>
              </a:spcAft>
            </a:pPr>
            <a:r>
              <a:rPr lang="en-US" sz="2200" dirty="0" smtClean="0">
                <a:latin typeface="Helvetica" pitchFamily="34" charset="0"/>
              </a:rPr>
              <a:t>Observation</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Asking questions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Putting yourself in the shoes of the customer</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6" name="Picture 5" descr="MP900431665[1].JPG"/>
          <p:cNvPicPr>
            <a:picLocks noChangeAspect="1"/>
          </p:cNvPicPr>
          <p:nvPr/>
        </p:nvPicPr>
        <p:blipFill>
          <a:blip r:embed="rId3" cstate="print"/>
          <a:stretch>
            <a:fillRect/>
          </a:stretch>
        </p:blipFill>
        <p:spPr>
          <a:xfrm>
            <a:off x="6172200" y="2209800"/>
            <a:ext cx="1631156" cy="1640770"/>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Special needs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dirty="0" smtClean="0">
                <a:latin typeface="Helvetica" pitchFamily="34" charset="0"/>
              </a:rPr>
              <a:t>Customers who come to us with special needs may be categorised as:</a:t>
            </a:r>
          </a:p>
          <a:p>
            <a:pPr>
              <a:spcBef>
                <a:spcPts val="600"/>
              </a:spcBef>
              <a:spcAft>
                <a:spcPts val="1200"/>
              </a:spcAft>
            </a:pPr>
            <a:r>
              <a:rPr lang="en-US" sz="2200" dirty="0" smtClean="0">
                <a:latin typeface="Helvetica" pitchFamily="34" charset="0"/>
              </a:rPr>
              <a:t>Disabled</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Unable to speak local language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Having other special needs</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7" name="Picture 6" descr="MP900422767[1].JPG"/>
          <p:cNvPicPr/>
          <p:nvPr/>
        </p:nvPicPr>
        <p:blipFill>
          <a:blip r:embed="rId3" cstate="print"/>
          <a:stretch>
            <a:fillRect/>
          </a:stretch>
        </p:blipFill>
        <p:spPr>
          <a:xfrm>
            <a:off x="5562600" y="2438400"/>
            <a:ext cx="2517056" cy="2589064"/>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Special needs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Customers who are unable to speak local language</a:t>
            </a:r>
          </a:p>
          <a:p>
            <a:pPr>
              <a:spcBef>
                <a:spcPts val="600"/>
              </a:spcBef>
              <a:spcAft>
                <a:spcPts val="1200"/>
              </a:spcAft>
            </a:pPr>
            <a:r>
              <a:rPr lang="en-AU" sz="2200" dirty="0" smtClean="0">
                <a:latin typeface="Helvetica" pitchFamily="34" charset="0"/>
              </a:rPr>
              <a:t>Use gestures</a:t>
            </a:r>
          </a:p>
          <a:p>
            <a:pPr>
              <a:spcBef>
                <a:spcPts val="600"/>
              </a:spcBef>
              <a:spcAft>
                <a:spcPts val="1200"/>
              </a:spcAft>
            </a:pPr>
            <a:r>
              <a:rPr lang="en-AU" sz="2200" dirty="0" smtClean="0">
                <a:latin typeface="Helvetica" pitchFamily="34" charset="0"/>
              </a:rPr>
              <a:t>Prepare multi-lingual documents and signs</a:t>
            </a:r>
          </a:p>
          <a:p>
            <a:pPr>
              <a:spcBef>
                <a:spcPts val="600"/>
              </a:spcBef>
              <a:spcAft>
                <a:spcPts val="1200"/>
              </a:spcAft>
            </a:pPr>
            <a:r>
              <a:rPr lang="en-AU" sz="2200" dirty="0" smtClean="0">
                <a:latin typeface="Helvetica" pitchFamily="34" charset="0"/>
              </a:rPr>
              <a:t>Employ bi-lingual staff</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7" name="Picture 6" descr="MP900442941[1].JPG"/>
          <p:cNvPicPr/>
          <p:nvPr/>
        </p:nvPicPr>
        <p:blipFill>
          <a:blip r:embed="rId3" cstate="print"/>
          <a:stretch>
            <a:fillRect/>
          </a:stretch>
        </p:blipFill>
        <p:spPr>
          <a:xfrm>
            <a:off x="5486400" y="3505200"/>
            <a:ext cx="2807196" cy="201548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marL="0">
              <a:buNone/>
            </a:pPr>
            <a:r>
              <a:rPr lang="en-AU" sz="2200" dirty="0" smtClean="0">
                <a:latin typeface="Helvetica" pitchFamily="34" charset="0"/>
              </a:rPr>
              <a:t>One of the key characteristics of successful teams is the ability to recognise and provide training and development opportunities to staff.</a:t>
            </a:r>
          </a:p>
          <a:p>
            <a:pPr>
              <a:buNone/>
            </a:pPr>
            <a:endParaRPr lang="en-AU" sz="2200" dirty="0" smtClean="0">
              <a:latin typeface="Helvetica" pitchFamily="34" charset="0"/>
            </a:endParaRPr>
          </a:p>
          <a:p>
            <a:r>
              <a:rPr lang="en-AU" sz="2200" dirty="0" smtClean="0">
                <a:latin typeface="Helvetica" pitchFamily="34" charset="0"/>
              </a:rPr>
              <a:t>What training and development opportunities exist?</a:t>
            </a:r>
          </a:p>
          <a:p>
            <a:pPr>
              <a:buNone/>
            </a:pPr>
            <a:endParaRPr lang="en-AU" sz="2400" dirty="0" smtClean="0"/>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6" name="Picture 5" descr="MP900431224.JPG"/>
          <p:cNvPicPr>
            <a:picLocks noChangeAspect="1"/>
          </p:cNvPicPr>
          <p:nvPr/>
        </p:nvPicPr>
        <p:blipFill>
          <a:blip r:embed="rId3" cstate="print"/>
          <a:stretch>
            <a:fillRect/>
          </a:stretch>
        </p:blipFill>
        <p:spPr>
          <a:xfrm>
            <a:off x="3581400" y="4038600"/>
            <a:ext cx="2438400" cy="1624965"/>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Developing the ‘skill set’</a:t>
            </a:r>
          </a:p>
          <a:p>
            <a:pPr marL="0">
              <a:spcBef>
                <a:spcPts val="600"/>
              </a:spcBef>
              <a:spcAft>
                <a:spcPts val="1200"/>
              </a:spcAft>
              <a:buNone/>
            </a:pPr>
            <a:r>
              <a:rPr lang="en-AU" sz="2200" dirty="0" smtClean="0">
                <a:latin typeface="Helvetica" pitchFamily="34" charset="0"/>
              </a:rPr>
              <a:t>All team members must have the opportunity to improve their </a:t>
            </a:r>
            <a:br>
              <a:rPr lang="en-AU" sz="2200" dirty="0" smtClean="0">
                <a:latin typeface="Helvetica" pitchFamily="34" charset="0"/>
              </a:rPr>
            </a:br>
            <a:r>
              <a:rPr lang="en-AU" sz="2200" dirty="0" smtClean="0">
                <a:latin typeface="Helvetica" pitchFamily="34" charset="0"/>
              </a:rPr>
              <a:t>‘skill set’ which aims at the development of:</a:t>
            </a:r>
          </a:p>
          <a:p>
            <a:pPr lvl="0">
              <a:spcBef>
                <a:spcPts val="600"/>
              </a:spcBef>
              <a:spcAft>
                <a:spcPts val="1200"/>
              </a:spcAft>
            </a:pPr>
            <a:r>
              <a:rPr lang="en-AU" sz="2200" dirty="0" smtClean="0">
                <a:latin typeface="Helvetica" pitchFamily="34" charset="0"/>
              </a:rPr>
              <a:t>Knowledge</a:t>
            </a:r>
          </a:p>
          <a:p>
            <a:pPr lvl="0">
              <a:spcBef>
                <a:spcPts val="600"/>
              </a:spcBef>
              <a:spcAft>
                <a:spcPts val="1200"/>
              </a:spcAft>
            </a:pPr>
            <a:r>
              <a:rPr lang="en-AU" sz="2200" dirty="0" smtClean="0">
                <a:latin typeface="Helvetica" pitchFamily="34" charset="0"/>
              </a:rPr>
              <a:t>Skills</a:t>
            </a:r>
          </a:p>
          <a:p>
            <a:pPr lvl="0">
              <a:spcBef>
                <a:spcPts val="600"/>
              </a:spcBef>
              <a:spcAft>
                <a:spcPts val="1200"/>
              </a:spcAft>
            </a:pPr>
            <a:r>
              <a:rPr lang="en-AU" sz="2200" dirty="0" smtClean="0">
                <a:latin typeface="Helvetica" pitchFamily="34" charset="0"/>
              </a:rPr>
              <a:t>Attitudes</a:t>
            </a:r>
          </a:p>
          <a:p>
            <a:pPr>
              <a:buNone/>
            </a:pPr>
            <a:endParaRPr lang="en-AU" sz="2400" dirty="0" smtClean="0"/>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8" name="Picture 7" descr="Consulting Banner Pic.jpg"/>
          <p:cNvPicPr>
            <a:picLocks noChangeAspect="1"/>
          </p:cNvPicPr>
          <p:nvPr/>
        </p:nvPicPr>
        <p:blipFill>
          <a:blip r:embed="rId3" cstate="print"/>
          <a:stretch>
            <a:fillRect/>
          </a:stretch>
        </p:blipFill>
        <p:spPr>
          <a:xfrm>
            <a:off x="5181600" y="3276600"/>
            <a:ext cx="3200400" cy="1530337"/>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33400" y="1556792"/>
            <a:ext cx="8352928" cy="4680520"/>
          </a:xfrm>
        </p:spPr>
        <p:txBody>
          <a:bodyPr>
            <a:normAutofit/>
          </a:bodyPr>
          <a:lstStyle/>
          <a:p>
            <a:pPr marL="421200">
              <a:spcBef>
                <a:spcPts val="600"/>
              </a:spcBef>
              <a:spcAft>
                <a:spcPts val="1200"/>
              </a:spcAft>
              <a:buNone/>
            </a:pPr>
            <a:r>
              <a:rPr lang="en-AU" sz="2200" b="1" dirty="0" smtClean="0">
                <a:latin typeface="Helvetica" pitchFamily="34" charset="0"/>
              </a:rPr>
              <a:t>Staff training and staff development</a:t>
            </a:r>
            <a:endParaRPr lang="en-AU" sz="2200" dirty="0" smtClean="0">
              <a:latin typeface="Helvetica" pitchFamily="34" charset="0"/>
            </a:endParaRPr>
          </a:p>
          <a:p>
            <a:pPr marL="421200">
              <a:spcBef>
                <a:spcPts val="600"/>
              </a:spcBef>
              <a:spcAft>
                <a:spcPts val="1200"/>
              </a:spcAft>
            </a:pPr>
            <a:r>
              <a:rPr lang="en-AU" sz="2200" u="sng" dirty="0" smtClean="0">
                <a:latin typeface="Helvetica" pitchFamily="34" charset="0"/>
              </a:rPr>
              <a:t>Staff training</a:t>
            </a:r>
            <a:r>
              <a:rPr lang="en-AU" sz="2200" dirty="0" smtClean="0">
                <a:latin typeface="Helvetica" pitchFamily="34" charset="0"/>
              </a:rPr>
              <a:t> will be applied to address a need that has some </a:t>
            </a:r>
            <a:r>
              <a:rPr lang="en-AU" sz="2200" i="1" dirty="0" smtClean="0">
                <a:latin typeface="Helvetica" pitchFamily="34" charset="0"/>
              </a:rPr>
              <a:t>immediacy</a:t>
            </a:r>
            <a:r>
              <a:rPr lang="en-AU" sz="2200" dirty="0" smtClean="0">
                <a:latin typeface="Helvetica" pitchFamily="34" charset="0"/>
              </a:rPr>
              <a:t> to it</a:t>
            </a:r>
          </a:p>
          <a:p>
            <a:pPr marL="421200">
              <a:spcBef>
                <a:spcPts val="600"/>
              </a:spcBef>
              <a:spcAft>
                <a:spcPts val="1200"/>
              </a:spcAft>
            </a:pPr>
            <a:r>
              <a:rPr lang="en-AU" sz="2200" u="sng" dirty="0" smtClean="0">
                <a:latin typeface="Helvetica" pitchFamily="34" charset="0"/>
              </a:rPr>
              <a:t>Staff developmen</a:t>
            </a:r>
            <a:r>
              <a:rPr lang="en-AU" sz="2200" dirty="0" smtClean="0">
                <a:latin typeface="Helvetica" pitchFamily="34" charset="0"/>
              </a:rPr>
              <a:t>t has more of a </a:t>
            </a:r>
            <a:r>
              <a:rPr lang="en-AU" sz="2200" i="1" dirty="0" smtClean="0">
                <a:latin typeface="Helvetica" pitchFamily="34" charset="0"/>
              </a:rPr>
              <a:t>future orientation </a:t>
            </a:r>
            <a:r>
              <a:rPr lang="en-AU" sz="2200" dirty="0" smtClean="0">
                <a:latin typeface="Helvetica" pitchFamily="34" charset="0"/>
              </a:rPr>
              <a:t>and relates to skills and knowledge the staff member may need at some future date</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Vibe Hotel_019.jpg"/>
          <p:cNvPicPr>
            <a:picLocks noChangeAspect="1"/>
          </p:cNvPicPr>
          <p:nvPr/>
        </p:nvPicPr>
        <p:blipFill>
          <a:blip r:embed="rId3" cstate="print"/>
          <a:stretch>
            <a:fillRect/>
          </a:stretch>
        </p:blipFill>
        <p:spPr>
          <a:xfrm>
            <a:off x="3810000" y="4267200"/>
            <a:ext cx="2344203" cy="1557528"/>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Professional development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Staff development is often referred to in another name: ‘Professional development’</a:t>
            </a:r>
          </a:p>
          <a:p>
            <a:pPr>
              <a:spcBef>
                <a:spcPts val="600"/>
              </a:spcBef>
              <a:spcAft>
                <a:spcPts val="1200"/>
              </a:spcAft>
            </a:pPr>
            <a:r>
              <a:rPr lang="en-AU" sz="2200" dirty="0" smtClean="0">
                <a:latin typeface="Helvetica" pitchFamily="34" charset="0"/>
              </a:rPr>
              <a:t>What are examples of ‘professional development’  activities?</a:t>
            </a:r>
          </a:p>
          <a:p>
            <a:pPr>
              <a:spcBef>
                <a:spcPts val="600"/>
              </a:spcBef>
              <a:spcAft>
                <a:spcPts val="1200"/>
              </a:spcAft>
            </a:pPr>
            <a:r>
              <a:rPr lang="en-AU" sz="2200" dirty="0" smtClean="0">
                <a:latin typeface="Helvetica" pitchFamily="34" charset="0"/>
              </a:rPr>
              <a:t>How do you select people?</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7" name="Picture 6" descr="MP900448464.JPG"/>
          <p:cNvPicPr>
            <a:picLocks noChangeAspect="1"/>
          </p:cNvPicPr>
          <p:nvPr/>
        </p:nvPicPr>
        <p:blipFill>
          <a:blip r:embed="rId3" cstate="print"/>
          <a:stretch>
            <a:fillRect/>
          </a:stretch>
        </p:blipFill>
        <p:spPr>
          <a:xfrm>
            <a:off x="4572000" y="3581400"/>
            <a:ext cx="1473200" cy="2209800"/>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Access to professional development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‘Professional development’ activities tend to have some ‘future focus’</a:t>
            </a:r>
            <a:endParaRPr lang="en-AU" sz="2200" b="1" dirty="0" smtClean="0">
              <a:latin typeface="Helvetica" pitchFamily="34" charset="0"/>
            </a:endParaRPr>
          </a:p>
          <a:p>
            <a:pPr>
              <a:spcBef>
                <a:spcPts val="600"/>
              </a:spcBef>
              <a:spcAft>
                <a:spcPts val="1200"/>
              </a:spcAft>
              <a:buNone/>
            </a:pPr>
            <a:r>
              <a:rPr lang="en-AU" sz="2200" dirty="0" smtClean="0">
                <a:latin typeface="Helvetica" pitchFamily="34" charset="0"/>
              </a:rPr>
              <a:t>In many cases, professional development activities:</a:t>
            </a:r>
          </a:p>
          <a:p>
            <a:pPr lvl="0">
              <a:spcBef>
                <a:spcPts val="600"/>
              </a:spcBef>
              <a:spcAft>
                <a:spcPts val="1200"/>
              </a:spcAft>
            </a:pPr>
            <a:r>
              <a:rPr lang="en-AU" sz="2200" dirty="0" smtClean="0">
                <a:latin typeface="Helvetica" pitchFamily="34" charset="0"/>
              </a:rPr>
              <a:t>Are provided for staff as a department-wide or </a:t>
            </a:r>
            <a:br>
              <a:rPr lang="en-AU" sz="2200" dirty="0" smtClean="0">
                <a:latin typeface="Helvetica" pitchFamily="34" charset="0"/>
              </a:rPr>
            </a:br>
            <a:r>
              <a:rPr lang="en-AU" sz="2200" dirty="0" smtClean="0">
                <a:latin typeface="Helvetica" pitchFamily="34" charset="0"/>
              </a:rPr>
              <a:t>organisation-wide activity</a:t>
            </a:r>
          </a:p>
          <a:p>
            <a:pPr lvl="0">
              <a:spcBef>
                <a:spcPts val="600"/>
              </a:spcBef>
              <a:spcAft>
                <a:spcPts val="1200"/>
              </a:spcAft>
            </a:pPr>
            <a:r>
              <a:rPr lang="en-AU" sz="2200" dirty="0" smtClean="0">
                <a:latin typeface="Helvetica" pitchFamily="34" charset="0"/>
              </a:rPr>
              <a:t>Are targeted for individual staff to prepare them for a future role</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6" name="Picture 5" descr="MP900431736.JPG"/>
          <p:cNvPicPr/>
          <p:nvPr/>
        </p:nvPicPr>
        <p:blipFill>
          <a:blip r:embed="rId3" cstate="print"/>
          <a:stretch>
            <a:fillRect/>
          </a:stretch>
        </p:blipFill>
        <p:spPr>
          <a:xfrm>
            <a:off x="7239000" y="2895600"/>
            <a:ext cx="1485900" cy="148590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Internal or external professional development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Professional development activities can be:</a:t>
            </a:r>
          </a:p>
          <a:p>
            <a:pPr lvl="0">
              <a:spcBef>
                <a:spcPts val="600"/>
              </a:spcBef>
              <a:spcAft>
                <a:spcPts val="1200"/>
              </a:spcAft>
            </a:pPr>
            <a:r>
              <a:rPr lang="en-AU" sz="2200" dirty="0" smtClean="0">
                <a:latin typeface="Helvetica" pitchFamily="34" charset="0"/>
              </a:rPr>
              <a:t>Conducted on the premises:</a:t>
            </a:r>
          </a:p>
          <a:p>
            <a:pPr lvl="1">
              <a:spcBef>
                <a:spcPts val="600"/>
              </a:spcBef>
              <a:spcAft>
                <a:spcPts val="1200"/>
              </a:spcAft>
            </a:pPr>
            <a:r>
              <a:rPr lang="en-AU" sz="2200" dirty="0" smtClean="0">
                <a:latin typeface="Helvetica" pitchFamily="34" charset="0"/>
              </a:rPr>
              <a:t>by management/the supervisor</a:t>
            </a:r>
          </a:p>
          <a:p>
            <a:pPr lvl="1">
              <a:spcBef>
                <a:spcPts val="600"/>
              </a:spcBef>
              <a:spcAft>
                <a:spcPts val="1200"/>
              </a:spcAft>
            </a:pPr>
            <a:r>
              <a:rPr lang="en-AU" sz="2200" dirty="0" smtClean="0">
                <a:latin typeface="Helvetica" pitchFamily="34" charset="0"/>
              </a:rPr>
              <a:t>by an external third party provider</a:t>
            </a:r>
          </a:p>
          <a:p>
            <a:pPr lvl="0">
              <a:spcBef>
                <a:spcPts val="600"/>
              </a:spcBef>
              <a:spcAft>
                <a:spcPts val="1200"/>
              </a:spcAft>
            </a:pPr>
            <a:r>
              <a:rPr lang="en-AU" sz="2200" dirty="0" smtClean="0">
                <a:latin typeface="Helvetica" pitchFamily="34" charset="0"/>
              </a:rPr>
              <a:t>Conducted off the premises</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7" name="Picture 6" descr="MP900400285.JPG"/>
          <p:cNvPicPr>
            <a:picLocks noChangeAspect="1"/>
          </p:cNvPicPr>
          <p:nvPr/>
        </p:nvPicPr>
        <p:blipFill>
          <a:blip r:embed="rId3" cstate="print"/>
          <a:stretch>
            <a:fillRect/>
          </a:stretch>
        </p:blipFill>
        <p:spPr>
          <a:xfrm>
            <a:off x="6096000" y="2895600"/>
            <a:ext cx="2209800" cy="1474351"/>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Types of professional development opportunities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Internal training and professional development</a:t>
            </a:r>
          </a:p>
          <a:p>
            <a:pPr lvl="0">
              <a:spcBef>
                <a:spcPts val="600"/>
              </a:spcBef>
              <a:spcAft>
                <a:spcPts val="1200"/>
              </a:spcAft>
            </a:pPr>
            <a:r>
              <a:rPr lang="en-AU" sz="2200" dirty="0" smtClean="0">
                <a:latin typeface="Helvetica" pitchFamily="34" charset="0"/>
              </a:rPr>
              <a:t>External training and professional development</a:t>
            </a:r>
          </a:p>
          <a:p>
            <a:pPr lvl="0">
              <a:spcBef>
                <a:spcPts val="600"/>
              </a:spcBef>
              <a:spcAft>
                <a:spcPts val="1200"/>
              </a:spcAft>
            </a:pPr>
            <a:r>
              <a:rPr lang="en-AU" sz="2200" dirty="0" smtClean="0">
                <a:latin typeface="Helvetica" pitchFamily="34" charset="0"/>
              </a:rPr>
              <a:t>Coaching</a:t>
            </a:r>
          </a:p>
          <a:p>
            <a:pPr lvl="0">
              <a:spcBef>
                <a:spcPts val="600"/>
              </a:spcBef>
              <a:spcAft>
                <a:spcPts val="1200"/>
              </a:spcAft>
            </a:pPr>
            <a:r>
              <a:rPr lang="en-AU" sz="2200" dirty="0" smtClean="0">
                <a:latin typeface="Helvetica" pitchFamily="34" charset="0"/>
              </a:rPr>
              <a:t>Mentoring </a:t>
            </a:r>
          </a:p>
          <a:p>
            <a:pPr lvl="0">
              <a:spcBef>
                <a:spcPts val="600"/>
              </a:spcBef>
              <a:spcAft>
                <a:spcPts val="1200"/>
              </a:spcAft>
            </a:pPr>
            <a:r>
              <a:rPr lang="en-AU" sz="2200" dirty="0" smtClean="0">
                <a:latin typeface="Helvetica" pitchFamily="34" charset="0"/>
              </a:rPr>
              <a:t>Supervision</a:t>
            </a:r>
          </a:p>
          <a:p>
            <a:pPr lvl="0">
              <a:spcBef>
                <a:spcPts val="600"/>
              </a:spcBef>
              <a:spcAft>
                <a:spcPts val="1200"/>
              </a:spcAft>
            </a:pPr>
            <a:r>
              <a:rPr lang="en-AU" sz="2200" dirty="0" smtClean="0">
                <a:latin typeface="Helvetica" pitchFamily="34" charset="0"/>
              </a:rPr>
              <a:t>Formal and/or informal learning programs</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7" name="Picture 6" descr="00409605.jpg"/>
          <p:cNvPicPr/>
          <p:nvPr/>
        </p:nvPicPr>
        <p:blipFill>
          <a:blip r:embed="rId3" cstate="print"/>
          <a:stretch>
            <a:fillRect/>
          </a:stretch>
        </p:blipFill>
        <p:spPr>
          <a:xfrm>
            <a:off x="7162800" y="3124200"/>
            <a:ext cx="1250950" cy="1914525"/>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Types of professional development opportunities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Work experience and exchange opportunities</a:t>
            </a:r>
          </a:p>
          <a:p>
            <a:pPr lvl="0">
              <a:spcBef>
                <a:spcPts val="600"/>
              </a:spcBef>
              <a:spcAft>
                <a:spcPts val="1200"/>
              </a:spcAft>
            </a:pPr>
            <a:r>
              <a:rPr lang="en-AU" sz="2200" dirty="0" smtClean="0">
                <a:latin typeface="Helvetica" pitchFamily="34" charset="0"/>
              </a:rPr>
              <a:t>Personal study</a:t>
            </a:r>
          </a:p>
          <a:p>
            <a:pPr lvl="0">
              <a:spcBef>
                <a:spcPts val="600"/>
              </a:spcBef>
              <a:spcAft>
                <a:spcPts val="1200"/>
              </a:spcAft>
            </a:pPr>
            <a:r>
              <a:rPr lang="en-AU" sz="2200" dirty="0" smtClean="0">
                <a:latin typeface="Helvetica" pitchFamily="34" charset="0"/>
              </a:rPr>
              <a:t>Career planning and development</a:t>
            </a:r>
          </a:p>
          <a:p>
            <a:pPr lvl="0">
              <a:spcBef>
                <a:spcPts val="600"/>
              </a:spcBef>
              <a:spcAft>
                <a:spcPts val="1200"/>
              </a:spcAft>
            </a:pPr>
            <a:r>
              <a:rPr lang="en-AU" sz="2200" dirty="0" smtClean="0">
                <a:latin typeface="Helvetica" pitchFamily="34" charset="0"/>
              </a:rPr>
              <a:t>Performance appraisals</a:t>
            </a:r>
          </a:p>
          <a:p>
            <a:pPr lvl="0">
              <a:spcBef>
                <a:spcPts val="600"/>
              </a:spcBef>
              <a:spcAft>
                <a:spcPts val="1200"/>
              </a:spcAft>
            </a:pPr>
            <a:r>
              <a:rPr lang="en-AU" sz="2200" dirty="0" smtClean="0">
                <a:latin typeface="Helvetica" pitchFamily="34" charset="0"/>
              </a:rPr>
              <a:t>Workplace skills assessment </a:t>
            </a:r>
          </a:p>
          <a:p>
            <a:pPr lvl="0">
              <a:spcBef>
                <a:spcPts val="600"/>
              </a:spcBef>
              <a:spcAft>
                <a:spcPts val="1200"/>
              </a:spcAft>
            </a:pPr>
            <a:r>
              <a:rPr lang="en-AU" sz="2200" dirty="0" smtClean="0">
                <a:latin typeface="Helvetica" pitchFamily="34" charset="0"/>
              </a:rPr>
              <a:t>Quality assurance assessments and recommendations</a:t>
            </a:r>
          </a:p>
          <a:p>
            <a:pPr lvl="0">
              <a:spcBef>
                <a:spcPts val="600"/>
              </a:spcBef>
              <a:spcAft>
                <a:spcPts val="1200"/>
              </a:spcAft>
            </a:pPr>
            <a:r>
              <a:rPr lang="en-AU" sz="2200" dirty="0" smtClean="0">
                <a:latin typeface="Helvetica" pitchFamily="34" charset="0"/>
              </a:rPr>
              <a:t>Change in job responsibilities</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8" name="Picture 7" descr="MP900178924.JPG"/>
          <p:cNvPicPr>
            <a:picLocks noChangeAspect="1"/>
          </p:cNvPicPr>
          <p:nvPr/>
        </p:nvPicPr>
        <p:blipFill>
          <a:blip r:embed="rId3" cstate="print"/>
          <a:stretch>
            <a:fillRect/>
          </a:stretch>
        </p:blipFill>
        <p:spPr>
          <a:xfrm>
            <a:off x="5943600" y="2743200"/>
            <a:ext cx="2406073" cy="1588008"/>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Professional development opportunities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Types of professional development opportunities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Opportunity for greater autonomy or responsibility</a:t>
            </a:r>
          </a:p>
          <a:p>
            <a:pPr lvl="0">
              <a:spcBef>
                <a:spcPts val="600"/>
              </a:spcBef>
              <a:spcAft>
                <a:spcPts val="1200"/>
              </a:spcAft>
            </a:pPr>
            <a:r>
              <a:rPr lang="en-AU" sz="2200" dirty="0" smtClean="0">
                <a:latin typeface="Helvetica" pitchFamily="34" charset="0"/>
              </a:rPr>
              <a:t>Formal promotion</a:t>
            </a:r>
          </a:p>
          <a:p>
            <a:pPr lvl="0">
              <a:spcBef>
                <a:spcPts val="600"/>
              </a:spcBef>
              <a:spcAft>
                <a:spcPts val="1200"/>
              </a:spcAft>
            </a:pPr>
            <a:r>
              <a:rPr lang="en-AU" sz="2200" dirty="0" smtClean="0">
                <a:latin typeface="Helvetica" pitchFamily="34" charset="0"/>
              </a:rPr>
              <a:t>Chance to perform in a higher position in a caretaker mode  </a:t>
            </a:r>
          </a:p>
          <a:p>
            <a:pPr lvl="0">
              <a:spcBef>
                <a:spcPts val="600"/>
              </a:spcBef>
              <a:spcAft>
                <a:spcPts val="1200"/>
              </a:spcAft>
            </a:pPr>
            <a:r>
              <a:rPr lang="en-AU" sz="2200" dirty="0" smtClean="0">
                <a:latin typeface="Helvetica" pitchFamily="34" charset="0"/>
              </a:rPr>
              <a:t>Becoming a mentor for someone</a:t>
            </a:r>
          </a:p>
          <a:p>
            <a:pPr lvl="0">
              <a:spcBef>
                <a:spcPts val="600"/>
              </a:spcBef>
              <a:spcAft>
                <a:spcPts val="1200"/>
              </a:spcAft>
            </a:pPr>
            <a:r>
              <a:rPr lang="en-AU" sz="2200" dirty="0" smtClean="0">
                <a:latin typeface="Helvetica" pitchFamily="34" charset="0"/>
              </a:rPr>
              <a:t>Leading a training session </a:t>
            </a:r>
          </a:p>
          <a:p>
            <a:pPr lvl="0">
              <a:spcBef>
                <a:spcPts val="600"/>
              </a:spcBef>
              <a:spcAft>
                <a:spcPts val="1200"/>
              </a:spcAft>
            </a:pPr>
            <a:r>
              <a:rPr lang="en-AU" sz="2200" dirty="0" smtClean="0">
                <a:latin typeface="Helvetica" pitchFamily="34" charset="0"/>
              </a:rPr>
              <a:t>Being sent to a conference  </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6" name="Picture 5" descr="00289897.jpg"/>
          <p:cNvPicPr/>
          <p:nvPr/>
        </p:nvPicPr>
        <p:blipFill>
          <a:blip r:embed="rId3" cstate="print"/>
          <a:stretch>
            <a:fillRect/>
          </a:stretch>
        </p:blipFill>
        <p:spPr>
          <a:xfrm>
            <a:off x="6172200" y="3962400"/>
            <a:ext cx="2176463" cy="1681163"/>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Mentoring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562472" y="1371600"/>
            <a:ext cx="8352928" cy="4680520"/>
          </a:xfrm>
        </p:spPr>
        <p:txBody>
          <a:bodyPr>
            <a:normAutofit lnSpcReduction="10000"/>
          </a:bodyPr>
          <a:lstStyle/>
          <a:p>
            <a:pPr marL="0">
              <a:spcBef>
                <a:spcPts val="600"/>
              </a:spcBef>
              <a:spcAft>
                <a:spcPts val="1200"/>
              </a:spcAft>
              <a:buNone/>
            </a:pPr>
            <a:r>
              <a:rPr lang="en-AU" sz="2200" dirty="0" smtClean="0">
                <a:latin typeface="Helvetica" pitchFamily="34" charset="0"/>
              </a:rPr>
              <a:t>It is a relationship between two people where a more </a:t>
            </a:r>
            <a:br>
              <a:rPr lang="en-AU" sz="2200" dirty="0" smtClean="0">
                <a:latin typeface="Helvetica" pitchFamily="34" charset="0"/>
              </a:rPr>
            </a:br>
            <a:r>
              <a:rPr lang="en-AU" sz="2200" dirty="0" smtClean="0">
                <a:latin typeface="Helvetica" pitchFamily="34" charset="0"/>
              </a:rPr>
              <a:t>experienced person works in collaboration with a less experienced person to give the less experienced person </a:t>
            </a:r>
            <a:br>
              <a:rPr lang="en-AU" sz="2200" dirty="0" smtClean="0">
                <a:latin typeface="Helvetica" pitchFamily="34" charset="0"/>
              </a:rPr>
            </a:br>
            <a:r>
              <a:rPr lang="en-AU" sz="2200" dirty="0" smtClean="0">
                <a:latin typeface="Helvetica" pitchFamily="34" charset="0"/>
              </a:rPr>
              <a:t>the benefit of their:</a:t>
            </a:r>
          </a:p>
          <a:p>
            <a:pPr>
              <a:spcBef>
                <a:spcPts val="600"/>
              </a:spcBef>
              <a:spcAft>
                <a:spcPts val="1200"/>
              </a:spcAft>
            </a:pPr>
            <a:r>
              <a:rPr lang="en-AU" sz="2200" dirty="0" smtClean="0">
                <a:latin typeface="Helvetica" pitchFamily="34" charset="0"/>
              </a:rPr>
              <a:t>Knowledge</a:t>
            </a:r>
          </a:p>
          <a:p>
            <a:pPr>
              <a:spcBef>
                <a:spcPts val="600"/>
              </a:spcBef>
              <a:spcAft>
                <a:spcPts val="1200"/>
              </a:spcAft>
            </a:pPr>
            <a:r>
              <a:rPr lang="en-AU" sz="2200" dirty="0" smtClean="0">
                <a:latin typeface="Helvetica" pitchFamily="34" charset="0"/>
              </a:rPr>
              <a:t>Experience</a:t>
            </a:r>
          </a:p>
          <a:p>
            <a:pPr>
              <a:spcBef>
                <a:spcPts val="600"/>
              </a:spcBef>
              <a:spcAft>
                <a:spcPts val="1200"/>
              </a:spcAft>
            </a:pPr>
            <a:r>
              <a:rPr lang="en-AU" sz="2200" dirty="0" smtClean="0">
                <a:latin typeface="Helvetica" pitchFamily="34" charset="0"/>
              </a:rPr>
              <a:t>Perspective</a:t>
            </a:r>
          </a:p>
          <a:p>
            <a:pPr>
              <a:spcBef>
                <a:spcPts val="600"/>
              </a:spcBef>
              <a:spcAft>
                <a:spcPts val="1200"/>
              </a:spcAft>
            </a:pPr>
            <a:r>
              <a:rPr lang="en-AU" sz="2200" dirty="0" smtClean="0">
                <a:latin typeface="Helvetica" pitchFamily="34" charset="0"/>
              </a:rPr>
              <a:t>Contacts</a:t>
            </a:r>
          </a:p>
          <a:p>
            <a:pPr>
              <a:spcBef>
                <a:spcPts val="600"/>
              </a:spcBef>
              <a:spcAft>
                <a:spcPts val="1200"/>
              </a:spcAft>
            </a:pPr>
            <a:r>
              <a:rPr lang="en-AU" sz="2200" dirty="0" smtClean="0">
                <a:latin typeface="Helvetica" pitchFamily="34" charset="0"/>
              </a:rPr>
              <a:t>Insight  </a:t>
            </a:r>
          </a:p>
          <a:p>
            <a:pPr>
              <a:spcBef>
                <a:spcPts val="600"/>
              </a:spcBef>
              <a:spcAft>
                <a:spcPts val="1200"/>
              </a:spcAft>
            </a:pPr>
            <a:r>
              <a:rPr lang="en-AU" sz="2200" dirty="0" smtClean="0">
                <a:latin typeface="Helvetica" pitchFamily="34" charset="0"/>
              </a:rPr>
              <a:t>Wisdom</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7" name="Picture 6" descr="MP900422116.JPG"/>
          <p:cNvPicPr>
            <a:picLocks noChangeAspect="1"/>
          </p:cNvPicPr>
          <p:nvPr/>
        </p:nvPicPr>
        <p:blipFill>
          <a:blip r:embed="rId3" cstate="print"/>
          <a:stretch>
            <a:fillRect/>
          </a:stretch>
        </p:blipFill>
        <p:spPr>
          <a:xfrm>
            <a:off x="5334000" y="3048000"/>
            <a:ext cx="2369202" cy="1712118"/>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Coaching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marL="0">
              <a:buNone/>
            </a:pPr>
            <a:r>
              <a:rPr lang="en-AU" sz="2200" dirty="0" smtClean="0">
                <a:latin typeface="Helvetica" pitchFamily="34" charset="0"/>
              </a:rPr>
              <a:t>This is where you deliver on-the-job training to individuals </a:t>
            </a:r>
            <a:br>
              <a:rPr lang="en-AU" sz="2200" dirty="0" smtClean="0">
                <a:latin typeface="Helvetica" pitchFamily="34" charset="0"/>
              </a:rPr>
            </a:br>
            <a:r>
              <a:rPr lang="en-AU" sz="2200" dirty="0" smtClean="0">
                <a:latin typeface="Helvetica" pitchFamily="34" charset="0"/>
              </a:rPr>
              <a:t>and groups using a wide range of training options.</a:t>
            </a:r>
          </a:p>
          <a:p>
            <a:endParaRPr lang="en-AU" sz="2200" dirty="0" smtClean="0">
              <a:latin typeface="Helvetica" pitchFamily="34" charset="0"/>
            </a:endParaRPr>
          </a:p>
          <a:p>
            <a:r>
              <a:rPr lang="en-AU" sz="2200" dirty="0" smtClean="0">
                <a:latin typeface="Helvetica" pitchFamily="34" charset="0"/>
              </a:rPr>
              <a:t>What training options exist?</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6" name="Picture 5" descr="_94_08_38%.jpg"/>
          <p:cNvPicPr>
            <a:picLocks noChangeAspect="1"/>
          </p:cNvPicPr>
          <p:nvPr/>
        </p:nvPicPr>
        <p:blipFill>
          <a:blip r:embed="rId3" cstate="print"/>
          <a:stretch>
            <a:fillRect/>
          </a:stretch>
        </p:blipFill>
        <p:spPr>
          <a:xfrm>
            <a:off x="6477000" y="2895600"/>
            <a:ext cx="1347216" cy="2038008"/>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Coaching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marL="0">
              <a:spcBef>
                <a:spcPts val="600"/>
              </a:spcBef>
              <a:spcAft>
                <a:spcPts val="1200"/>
              </a:spcAft>
              <a:buNone/>
            </a:pPr>
            <a:r>
              <a:rPr lang="en-AU" sz="2200" b="1" dirty="0" smtClean="0">
                <a:latin typeface="Helvetica" pitchFamily="34" charset="0"/>
              </a:rPr>
              <a:t>Coaching options</a:t>
            </a:r>
          </a:p>
          <a:p>
            <a:pPr>
              <a:spcBef>
                <a:spcPts val="600"/>
              </a:spcBef>
              <a:spcAft>
                <a:spcPts val="1200"/>
              </a:spcAft>
            </a:pPr>
            <a:r>
              <a:rPr lang="en-AU" sz="2200" dirty="0" smtClean="0">
                <a:latin typeface="Helvetica" pitchFamily="34" charset="0"/>
              </a:rPr>
              <a:t>Demonstrations</a:t>
            </a:r>
          </a:p>
          <a:p>
            <a:pPr>
              <a:spcBef>
                <a:spcPts val="600"/>
              </a:spcBef>
              <a:spcAft>
                <a:spcPts val="1200"/>
              </a:spcAft>
            </a:pPr>
            <a:r>
              <a:rPr lang="en-AU" sz="2200" dirty="0" smtClean="0">
                <a:latin typeface="Helvetica" pitchFamily="34" charset="0"/>
              </a:rPr>
              <a:t>Discussion</a:t>
            </a:r>
          </a:p>
          <a:p>
            <a:pPr>
              <a:spcBef>
                <a:spcPts val="600"/>
              </a:spcBef>
              <a:spcAft>
                <a:spcPts val="1200"/>
              </a:spcAft>
            </a:pPr>
            <a:r>
              <a:rPr lang="en-AU" sz="2200" dirty="0" smtClean="0">
                <a:latin typeface="Helvetica" pitchFamily="34" charset="0"/>
              </a:rPr>
              <a:t>Lectures</a:t>
            </a:r>
          </a:p>
          <a:p>
            <a:pPr>
              <a:spcBef>
                <a:spcPts val="600"/>
              </a:spcBef>
              <a:spcAft>
                <a:spcPts val="1200"/>
              </a:spcAft>
            </a:pPr>
            <a:r>
              <a:rPr lang="en-AU" sz="2200" dirty="0" smtClean="0">
                <a:latin typeface="Helvetica" pitchFamily="34" charset="0"/>
              </a:rPr>
              <a:t>Case studies</a:t>
            </a:r>
          </a:p>
          <a:p>
            <a:pPr>
              <a:spcBef>
                <a:spcPts val="600"/>
              </a:spcBef>
              <a:spcAft>
                <a:spcPts val="1200"/>
              </a:spcAft>
            </a:pPr>
            <a:r>
              <a:rPr lang="en-AU" sz="2200" dirty="0" smtClean="0">
                <a:latin typeface="Helvetica" pitchFamily="34" charset="0"/>
              </a:rPr>
              <a:t>Role-plays</a:t>
            </a:r>
          </a:p>
          <a:p>
            <a:pPr>
              <a:spcBef>
                <a:spcPts val="600"/>
              </a:spcBef>
              <a:spcAft>
                <a:spcPts val="1200"/>
              </a:spcAft>
            </a:pPr>
            <a:r>
              <a:rPr lang="en-AU" sz="2200" dirty="0" smtClean="0">
                <a:latin typeface="Helvetica" pitchFamily="34" charset="0"/>
              </a:rPr>
              <a:t>Games</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8" name="Picture 7" descr="Culinaryacademy099.TIF"/>
          <p:cNvPicPr/>
          <p:nvPr/>
        </p:nvPicPr>
        <p:blipFill>
          <a:blip r:embed="rId3" cstate="print"/>
          <a:stretch>
            <a:fillRect/>
          </a:stretch>
        </p:blipFill>
        <p:spPr>
          <a:xfrm>
            <a:off x="5715000" y="2819400"/>
            <a:ext cx="2162175" cy="1543050"/>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200" b="1" dirty="0" smtClean="0">
                <a:solidFill>
                  <a:srgbClr val="FF6600"/>
                </a:solidFill>
                <a:latin typeface="Helvetica" pitchFamily="34" charset="0"/>
              </a:rPr>
              <a:t>Coaching</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marL="0">
              <a:spcBef>
                <a:spcPts val="600"/>
              </a:spcBef>
              <a:spcAft>
                <a:spcPts val="1200"/>
              </a:spcAft>
              <a:buNone/>
            </a:pPr>
            <a:r>
              <a:rPr lang="en-AU" sz="2200" b="1" dirty="0" smtClean="0">
                <a:latin typeface="Helvetica" pitchFamily="34" charset="0"/>
              </a:rPr>
              <a:t>Coaching options</a:t>
            </a:r>
          </a:p>
          <a:p>
            <a:pPr>
              <a:spcBef>
                <a:spcPts val="600"/>
              </a:spcBef>
              <a:spcAft>
                <a:spcPts val="1200"/>
              </a:spcAft>
            </a:pPr>
            <a:r>
              <a:rPr lang="en-AU" sz="2200" dirty="0" smtClean="0">
                <a:latin typeface="Helvetica" pitchFamily="34" charset="0"/>
              </a:rPr>
              <a:t>Exercises</a:t>
            </a:r>
          </a:p>
          <a:p>
            <a:pPr>
              <a:spcBef>
                <a:spcPts val="600"/>
              </a:spcBef>
              <a:spcAft>
                <a:spcPts val="1200"/>
              </a:spcAft>
            </a:pPr>
            <a:r>
              <a:rPr lang="en-AU" sz="2200" dirty="0" smtClean="0">
                <a:latin typeface="Helvetica" pitchFamily="34" charset="0"/>
              </a:rPr>
              <a:t>Excursions</a:t>
            </a:r>
          </a:p>
          <a:p>
            <a:pPr>
              <a:spcBef>
                <a:spcPts val="600"/>
              </a:spcBef>
              <a:spcAft>
                <a:spcPts val="1200"/>
              </a:spcAft>
            </a:pPr>
            <a:r>
              <a:rPr lang="en-AU" sz="2200" dirty="0" smtClean="0">
                <a:latin typeface="Helvetica" pitchFamily="34" charset="0"/>
              </a:rPr>
              <a:t>Guest speakers</a:t>
            </a:r>
          </a:p>
          <a:p>
            <a:pPr>
              <a:spcBef>
                <a:spcPts val="600"/>
              </a:spcBef>
              <a:spcAft>
                <a:spcPts val="1200"/>
              </a:spcAft>
            </a:pPr>
            <a:r>
              <a:rPr lang="en-AU" sz="2200" dirty="0" smtClean="0">
                <a:latin typeface="Helvetica" pitchFamily="34" charset="0"/>
              </a:rPr>
              <a:t>Presentations</a:t>
            </a:r>
          </a:p>
          <a:p>
            <a:pPr>
              <a:spcBef>
                <a:spcPts val="600"/>
              </a:spcBef>
              <a:spcAft>
                <a:spcPts val="1200"/>
              </a:spcAft>
            </a:pPr>
            <a:r>
              <a:rPr lang="en-AU" sz="2200" dirty="0" smtClean="0">
                <a:latin typeface="Helvetica" pitchFamily="34" charset="0"/>
              </a:rPr>
              <a:t>Providing explanations</a:t>
            </a:r>
          </a:p>
          <a:p>
            <a:pPr>
              <a:spcBef>
                <a:spcPts val="600"/>
              </a:spcBef>
              <a:spcAft>
                <a:spcPts val="1200"/>
              </a:spcAft>
            </a:pPr>
            <a:r>
              <a:rPr lang="en-AU" sz="2200" dirty="0" smtClean="0">
                <a:latin typeface="Helvetica" pitchFamily="34" charset="0"/>
              </a:rPr>
              <a:t>Problem-solving</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6" name="Picture 5" descr="MP900423066.JPG"/>
          <p:cNvPicPr/>
          <p:nvPr/>
        </p:nvPicPr>
        <p:blipFill>
          <a:blip r:embed="rId3" cstate="print"/>
          <a:stretch>
            <a:fillRect/>
          </a:stretch>
        </p:blipFill>
        <p:spPr>
          <a:xfrm>
            <a:off x="5715000" y="2209800"/>
            <a:ext cx="1979613" cy="2214563"/>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Formal and informal learning programs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Formal learning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An externally provided course</a:t>
            </a:r>
          </a:p>
          <a:p>
            <a:pPr lvl="0">
              <a:spcBef>
                <a:spcPts val="600"/>
              </a:spcBef>
              <a:spcAft>
                <a:spcPts val="1200"/>
              </a:spcAft>
            </a:pPr>
            <a:r>
              <a:rPr lang="en-AU" sz="2200" dirty="0" smtClean="0">
                <a:latin typeface="Helvetica" pitchFamily="34" charset="0"/>
              </a:rPr>
              <a:t>An internal non-accredited training course  </a:t>
            </a:r>
          </a:p>
          <a:p>
            <a:pPr>
              <a:spcBef>
                <a:spcPts val="600"/>
              </a:spcBef>
              <a:spcAft>
                <a:spcPts val="1200"/>
              </a:spcAft>
              <a:buNone/>
            </a:pPr>
            <a:r>
              <a:rPr lang="en-AU" sz="2200" b="1" dirty="0" smtClean="0">
                <a:latin typeface="Helvetica" pitchFamily="34" charset="0"/>
              </a:rPr>
              <a:t>Informal learning</a:t>
            </a:r>
          </a:p>
          <a:p>
            <a:pPr>
              <a:spcBef>
                <a:spcPts val="600"/>
              </a:spcBef>
              <a:spcAft>
                <a:spcPts val="1200"/>
              </a:spcAft>
            </a:pPr>
            <a:r>
              <a:rPr lang="en-AU" sz="2200" dirty="0" smtClean="0">
                <a:latin typeface="Helvetica" pitchFamily="34" charset="0"/>
              </a:rPr>
              <a:t>Less structured programs</a:t>
            </a:r>
          </a:p>
          <a:p>
            <a:pPr>
              <a:spcBef>
                <a:spcPts val="600"/>
              </a:spcBef>
              <a:spcAft>
                <a:spcPts val="1200"/>
              </a:spcAft>
            </a:pPr>
            <a:r>
              <a:rPr lang="en-AU" sz="2200" dirty="0" smtClean="0">
                <a:latin typeface="Helvetica" pitchFamily="34" charset="0"/>
              </a:rPr>
              <a:t>Greater flexibility</a:t>
            </a:r>
          </a:p>
          <a:p>
            <a:pPr>
              <a:spcBef>
                <a:spcPts val="600"/>
              </a:spcBef>
              <a:spcAft>
                <a:spcPts val="1200"/>
              </a:spcAft>
            </a:pPr>
            <a:r>
              <a:rPr lang="en-AU" sz="2200" dirty="0" smtClean="0">
                <a:latin typeface="Helvetica" pitchFamily="34" charset="0"/>
              </a:rPr>
              <a:t>As required</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7" name="Picture 6" descr="Wine Tasting.jpg"/>
          <p:cNvPicPr/>
          <p:nvPr/>
        </p:nvPicPr>
        <p:blipFill>
          <a:blip r:embed="rId3" cstate="print"/>
          <a:stretch>
            <a:fillRect/>
          </a:stretch>
        </p:blipFill>
        <p:spPr>
          <a:xfrm>
            <a:off x="6172200" y="3581400"/>
            <a:ext cx="2162175" cy="1543050"/>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Other development programs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Other professional development programs</a:t>
            </a:r>
          </a:p>
          <a:p>
            <a:pPr>
              <a:spcBef>
                <a:spcPts val="600"/>
              </a:spcBef>
              <a:spcAft>
                <a:spcPts val="1200"/>
              </a:spcAft>
            </a:pPr>
            <a:r>
              <a:rPr lang="en-AU" sz="2200" dirty="0" smtClean="0">
                <a:latin typeface="Helvetica" pitchFamily="34" charset="0"/>
              </a:rPr>
              <a:t>Personal study </a:t>
            </a:r>
          </a:p>
          <a:p>
            <a:pPr>
              <a:spcBef>
                <a:spcPts val="600"/>
              </a:spcBef>
              <a:spcAft>
                <a:spcPts val="1200"/>
              </a:spcAft>
            </a:pPr>
            <a:r>
              <a:rPr lang="en-AU" sz="2200" dirty="0" smtClean="0">
                <a:latin typeface="Helvetica" pitchFamily="34" charset="0"/>
              </a:rPr>
              <a:t>Work experience</a:t>
            </a:r>
          </a:p>
          <a:p>
            <a:pPr>
              <a:spcBef>
                <a:spcPts val="600"/>
              </a:spcBef>
              <a:spcAft>
                <a:spcPts val="1200"/>
              </a:spcAft>
            </a:pPr>
            <a:r>
              <a:rPr lang="en-AU" sz="2200" dirty="0" smtClean="0">
                <a:latin typeface="Helvetica" pitchFamily="34" charset="0"/>
              </a:rPr>
              <a:t>Job rotation</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6" name="Picture 5" descr="MP900443024.JPG"/>
          <p:cNvPicPr/>
          <p:nvPr/>
        </p:nvPicPr>
        <p:blipFill>
          <a:blip r:embed="rId3" cstate="print"/>
          <a:stretch>
            <a:fillRect/>
          </a:stretch>
        </p:blipFill>
        <p:spPr>
          <a:xfrm>
            <a:off x="5410200" y="2209800"/>
            <a:ext cx="2552700" cy="1752600"/>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Support materials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a:spcBef>
                <a:spcPts val="600"/>
              </a:spcBef>
              <a:spcAft>
                <a:spcPts val="1200"/>
              </a:spcAft>
              <a:buNone/>
            </a:pPr>
            <a:r>
              <a:rPr lang="en-AU" sz="2200" b="1" dirty="0" smtClean="0">
                <a:latin typeface="Helvetica" pitchFamily="34" charset="0"/>
              </a:rPr>
              <a:t>Support materials for professional development programs</a:t>
            </a:r>
          </a:p>
          <a:p>
            <a:pPr lvl="0">
              <a:spcBef>
                <a:spcPts val="600"/>
              </a:spcBef>
              <a:spcAft>
                <a:spcPts val="1200"/>
              </a:spcAft>
            </a:pPr>
            <a:r>
              <a:rPr lang="en-AU" sz="2200" dirty="0" smtClean="0">
                <a:latin typeface="Helvetica" pitchFamily="34" charset="0"/>
              </a:rPr>
              <a:t>Manuals</a:t>
            </a:r>
          </a:p>
          <a:p>
            <a:pPr lvl="0">
              <a:spcBef>
                <a:spcPts val="600"/>
              </a:spcBef>
              <a:spcAft>
                <a:spcPts val="1200"/>
              </a:spcAft>
            </a:pPr>
            <a:r>
              <a:rPr lang="en-AU" sz="2200" dirty="0" smtClean="0">
                <a:latin typeface="Helvetica" pitchFamily="34" charset="0"/>
              </a:rPr>
              <a:t>Exercises</a:t>
            </a:r>
          </a:p>
          <a:p>
            <a:pPr lvl="0">
              <a:spcBef>
                <a:spcPts val="600"/>
              </a:spcBef>
              <a:spcAft>
                <a:spcPts val="1200"/>
              </a:spcAft>
            </a:pPr>
            <a:r>
              <a:rPr lang="en-AU" sz="2200" dirty="0" smtClean="0">
                <a:latin typeface="Helvetica" pitchFamily="34" charset="0"/>
              </a:rPr>
              <a:t>Take away notes</a:t>
            </a:r>
          </a:p>
          <a:p>
            <a:pPr lvl="0">
              <a:spcBef>
                <a:spcPts val="600"/>
              </a:spcBef>
              <a:spcAft>
                <a:spcPts val="1200"/>
              </a:spcAft>
            </a:pPr>
            <a:r>
              <a:rPr lang="en-AU" sz="2200" dirty="0" smtClean="0">
                <a:latin typeface="Helvetica" pitchFamily="34" charset="0"/>
              </a:rPr>
              <a:t>Role plays</a:t>
            </a:r>
          </a:p>
          <a:p>
            <a:pPr lvl="0">
              <a:spcBef>
                <a:spcPts val="600"/>
              </a:spcBef>
              <a:spcAft>
                <a:spcPts val="1200"/>
              </a:spcAft>
            </a:pPr>
            <a:r>
              <a:rPr lang="en-AU" sz="2200" dirty="0" smtClean="0">
                <a:latin typeface="Helvetica" pitchFamily="34" charset="0"/>
              </a:rPr>
              <a:t>Catering</a:t>
            </a:r>
          </a:p>
          <a:p>
            <a:pPr>
              <a:spcBef>
                <a:spcPts val="600"/>
              </a:spcBef>
              <a:spcAft>
                <a:spcPts val="1200"/>
              </a:spcAft>
            </a:pPr>
            <a:r>
              <a:rPr lang="en-AU" sz="2200" dirty="0" smtClean="0">
                <a:latin typeface="Helvetica" pitchFamily="34" charset="0"/>
              </a:rPr>
              <a:t>Management representatives</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7" name="Picture 6" descr="936394705_3de472288a_m.jpg"/>
          <p:cNvPicPr/>
          <p:nvPr/>
        </p:nvPicPr>
        <p:blipFill>
          <a:blip r:embed="rId3" cstate="print"/>
          <a:stretch>
            <a:fillRect/>
          </a:stretch>
        </p:blipFill>
        <p:spPr>
          <a:xfrm>
            <a:off x="5791200" y="2667000"/>
            <a:ext cx="2414588" cy="1676400"/>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Support materials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8352928" cy="4680520"/>
          </a:xfrm>
        </p:spPr>
        <p:txBody>
          <a:bodyPr>
            <a:normAutofit/>
          </a:bodyPr>
          <a:lstStyle/>
          <a:p>
            <a:pPr marL="0">
              <a:spcBef>
                <a:spcPts val="600"/>
              </a:spcBef>
              <a:spcAft>
                <a:spcPts val="1200"/>
              </a:spcAft>
              <a:buNone/>
            </a:pPr>
            <a:r>
              <a:rPr lang="en-AU" sz="2200" b="1" dirty="0" smtClean="0">
                <a:latin typeface="Helvetica" pitchFamily="34" charset="0"/>
              </a:rPr>
              <a:t>Support materials for professional development </a:t>
            </a:r>
            <a:br>
              <a:rPr lang="en-AU" sz="2200" b="1" dirty="0" smtClean="0">
                <a:latin typeface="Helvetica" pitchFamily="34" charset="0"/>
              </a:rPr>
            </a:br>
            <a:r>
              <a:rPr lang="en-AU" sz="2200" b="1" dirty="0" smtClean="0">
                <a:latin typeface="Helvetica" pitchFamily="34" charset="0"/>
              </a:rPr>
              <a:t>programs</a:t>
            </a:r>
          </a:p>
          <a:p>
            <a:pPr lvl="0">
              <a:spcBef>
                <a:spcPts val="600"/>
              </a:spcBef>
              <a:spcAft>
                <a:spcPts val="1200"/>
              </a:spcAft>
            </a:pPr>
            <a:r>
              <a:rPr lang="en-AU" sz="2200" dirty="0" smtClean="0">
                <a:latin typeface="Helvetica" pitchFamily="34" charset="0"/>
              </a:rPr>
              <a:t>Case studies</a:t>
            </a:r>
          </a:p>
          <a:p>
            <a:pPr lvl="0">
              <a:spcBef>
                <a:spcPts val="600"/>
              </a:spcBef>
              <a:spcAft>
                <a:spcPts val="1200"/>
              </a:spcAft>
            </a:pPr>
            <a:r>
              <a:rPr lang="en-AU" sz="2200" dirty="0" smtClean="0">
                <a:latin typeface="Helvetica" pitchFamily="34" charset="0"/>
              </a:rPr>
              <a:t>Self evaluation tools and questionnaires</a:t>
            </a:r>
          </a:p>
          <a:p>
            <a:pPr lvl="0">
              <a:spcBef>
                <a:spcPts val="600"/>
              </a:spcBef>
              <a:spcAft>
                <a:spcPts val="1200"/>
              </a:spcAft>
            </a:pPr>
            <a:r>
              <a:rPr lang="en-AU" sz="2200" dirty="0" smtClean="0">
                <a:latin typeface="Helvetica" pitchFamily="34" charset="0"/>
              </a:rPr>
              <a:t>Exercises relevant to the topic</a:t>
            </a:r>
          </a:p>
          <a:p>
            <a:pPr lvl="0">
              <a:spcBef>
                <a:spcPts val="600"/>
              </a:spcBef>
              <a:spcAft>
                <a:spcPts val="1200"/>
              </a:spcAft>
            </a:pPr>
            <a:r>
              <a:rPr lang="en-AU" sz="2200" dirty="0" smtClean="0">
                <a:latin typeface="Helvetica" pitchFamily="34" charset="0"/>
              </a:rPr>
              <a:t>Enterprise policies and procedures</a:t>
            </a:r>
          </a:p>
          <a:p>
            <a:pPr>
              <a:spcBef>
                <a:spcPts val="600"/>
              </a:spcBef>
              <a:spcAft>
                <a:spcPts val="1200"/>
              </a:spcAft>
            </a:pPr>
            <a:r>
              <a:rPr lang="en-AU" sz="2200" dirty="0" smtClean="0">
                <a:latin typeface="Helvetica" pitchFamily="34" charset="0"/>
              </a:rPr>
              <a:t>References </a:t>
            </a:r>
          </a:p>
          <a:p>
            <a:pPr>
              <a:spcBef>
                <a:spcPts val="600"/>
              </a:spcBef>
              <a:spcAft>
                <a:spcPts val="1200"/>
              </a:spcAft>
            </a:pPr>
            <a:r>
              <a:rPr lang="en-AU" sz="2200" dirty="0" smtClean="0">
                <a:latin typeface="Helvetica" pitchFamily="34" charset="0"/>
              </a:rPr>
              <a:t>Books, magazines, web sites</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5" name="Picture 4" descr="learning resource centre.jpg"/>
          <p:cNvPicPr>
            <a:picLocks noChangeAspect="1"/>
          </p:cNvPicPr>
          <p:nvPr/>
        </p:nvPicPr>
        <p:blipFill>
          <a:blip r:embed="rId3" cstate="print"/>
          <a:stretch>
            <a:fillRect/>
          </a:stretch>
        </p:blipFill>
        <p:spPr>
          <a:xfrm>
            <a:off x="7010400" y="2743200"/>
            <a:ext cx="1377268" cy="2057400"/>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Feedback from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From time to time your colleagues will provide you with feedback and information. For them not to do this would mean they are not doing their job.</a:t>
            </a:r>
          </a:p>
          <a:p>
            <a:pPr>
              <a:spcBef>
                <a:spcPts val="600"/>
              </a:spcBef>
              <a:spcAft>
                <a:spcPts val="1200"/>
              </a:spcAft>
              <a:buNone/>
            </a:pPr>
            <a:r>
              <a:rPr lang="en-AU" sz="2200" dirty="0" smtClean="0">
                <a:latin typeface="Helvetica" pitchFamily="34" charset="0"/>
              </a:rPr>
              <a:t>This feedback and information can be:</a:t>
            </a:r>
          </a:p>
          <a:p>
            <a:pPr>
              <a:spcBef>
                <a:spcPts val="600"/>
              </a:spcBef>
              <a:spcAft>
                <a:spcPts val="1200"/>
              </a:spcAft>
            </a:pPr>
            <a:r>
              <a:rPr lang="en-AU" sz="2200" dirty="0" smtClean="0">
                <a:latin typeface="Helvetica" pitchFamily="34" charset="0"/>
              </a:rPr>
              <a:t>Positive</a:t>
            </a:r>
          </a:p>
          <a:p>
            <a:pPr>
              <a:spcBef>
                <a:spcPts val="600"/>
              </a:spcBef>
              <a:spcAft>
                <a:spcPts val="1200"/>
              </a:spcAft>
            </a:pPr>
            <a:r>
              <a:rPr lang="en-AU" sz="2200" dirty="0" smtClean="0">
                <a:latin typeface="Helvetica" pitchFamily="34" charset="0"/>
              </a:rPr>
              <a:t>Negative</a:t>
            </a:r>
          </a:p>
          <a:p>
            <a:pPr>
              <a:spcBef>
                <a:spcPts val="600"/>
              </a:spcBef>
              <a:spcAft>
                <a:spcPts val="1200"/>
              </a:spcAft>
            </a:pPr>
            <a:r>
              <a:rPr lang="en-AU" sz="2200" dirty="0" smtClean="0">
                <a:latin typeface="Helvetica" pitchFamily="34" charset="0"/>
              </a:rPr>
              <a:t>Neutral</a:t>
            </a:r>
          </a:p>
          <a:p>
            <a:pPr>
              <a:buNone/>
            </a:pPr>
            <a:endParaRPr lang="en-AU" sz="2400" dirty="0" smtClean="0"/>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8194" name="Picture 2" descr="C:\Documents and Settings\Godaishu\Desktop\PHOTOS\2012\Office\866529_feedback_form_excellent.jpg"/>
          <p:cNvPicPr>
            <a:picLocks noChangeAspect="1" noChangeArrowheads="1"/>
          </p:cNvPicPr>
          <p:nvPr/>
        </p:nvPicPr>
        <p:blipFill>
          <a:blip r:embed="rId3" cstate="print"/>
          <a:srcRect/>
          <a:stretch>
            <a:fillRect/>
          </a:stretch>
        </p:blipFill>
        <p:spPr bwMode="auto">
          <a:xfrm>
            <a:off x="6096000" y="2590800"/>
            <a:ext cx="2214219" cy="2506663"/>
          </a:xfrm>
          <a:prstGeom prst="rect">
            <a:avLst/>
          </a:prstGeom>
          <a:noFill/>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Positive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Positive feedback can involve team members passing on a comment they have heard about your excellent service. </a:t>
            </a:r>
          </a:p>
          <a:p>
            <a:pPr>
              <a:spcBef>
                <a:spcPts val="600"/>
              </a:spcBef>
              <a:spcAft>
                <a:spcPts val="1200"/>
              </a:spcAft>
            </a:pPr>
            <a:r>
              <a:rPr lang="en-AU" sz="2200" dirty="0" smtClean="0">
                <a:latin typeface="Helvetica" pitchFamily="34" charset="0"/>
              </a:rPr>
              <a:t>You should take a second or so to rejoice in such feedback</a:t>
            </a:r>
          </a:p>
          <a:p>
            <a:pPr>
              <a:spcBef>
                <a:spcPts val="600"/>
              </a:spcBef>
              <a:spcAft>
                <a:spcPts val="1200"/>
              </a:spcAft>
            </a:pPr>
            <a:r>
              <a:rPr lang="en-AU" sz="2200" dirty="0" smtClean="0">
                <a:latin typeface="Helvetica" pitchFamily="34" charset="0"/>
              </a:rPr>
              <a:t>Accept it and enjoy it because you’ve earned it</a:t>
            </a:r>
          </a:p>
          <a:p>
            <a:pPr>
              <a:spcBef>
                <a:spcPts val="600"/>
              </a:spcBef>
              <a:spcAft>
                <a:spcPts val="1200"/>
              </a:spcAft>
            </a:pPr>
            <a:r>
              <a:rPr lang="en-AU" sz="2200" dirty="0" smtClean="0">
                <a:latin typeface="Helvetica" pitchFamily="34" charset="0"/>
              </a:rPr>
              <a:t>Never simply dismiss it or brush it off</a:t>
            </a:r>
          </a:p>
          <a:p>
            <a:pPr>
              <a:spcBef>
                <a:spcPts val="600"/>
              </a:spcBef>
              <a:spcAft>
                <a:spcPts val="1200"/>
              </a:spcAft>
            </a:pPr>
            <a:r>
              <a:rPr lang="en-AU" sz="2200" dirty="0" smtClean="0">
                <a:latin typeface="Helvetica" pitchFamily="34" charset="0"/>
              </a:rPr>
              <a:t>Never say something like “Oh, it was nothing”,                              or ‘Just doing my job’</a:t>
            </a:r>
          </a:p>
          <a:p>
            <a:pPr>
              <a:spcBef>
                <a:spcPts val="600"/>
              </a:spcBef>
              <a:spcAft>
                <a:spcPts val="1200"/>
              </a:spcAft>
            </a:pPr>
            <a:r>
              <a:rPr lang="en-AU" sz="2200" dirty="0" smtClean="0">
                <a:latin typeface="Helvetica" pitchFamily="34" charset="0"/>
              </a:rPr>
              <a:t>Thank the person</a:t>
            </a:r>
          </a:p>
          <a:p>
            <a:pPr>
              <a:buNone/>
            </a:pPr>
            <a:endParaRPr lang="en-AU" sz="2400" dirty="0" smtClean="0"/>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7" name="Picture 6" descr="MP900182605[1].JPG"/>
          <p:cNvPicPr>
            <a:picLocks noChangeAspect="1"/>
          </p:cNvPicPr>
          <p:nvPr/>
        </p:nvPicPr>
        <p:blipFill>
          <a:blip r:embed="rId3" cstate="print"/>
          <a:stretch>
            <a:fillRect/>
          </a:stretch>
        </p:blipFill>
        <p:spPr>
          <a:xfrm>
            <a:off x="7239000" y="3200400"/>
            <a:ext cx="1485685" cy="2217440"/>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Negative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600"/>
              </a:spcAft>
              <a:buNone/>
            </a:pPr>
            <a:r>
              <a:rPr lang="en-AU" sz="2200" dirty="0" smtClean="0">
                <a:latin typeface="Helvetica" pitchFamily="34" charset="0"/>
              </a:rPr>
              <a:t>Take the negative feedback in the right way:</a:t>
            </a:r>
          </a:p>
          <a:p>
            <a:pPr>
              <a:spcBef>
                <a:spcPts val="600"/>
              </a:spcBef>
              <a:spcAft>
                <a:spcPts val="600"/>
              </a:spcAft>
            </a:pPr>
            <a:r>
              <a:rPr lang="en-AU" sz="2200" dirty="0" smtClean="0">
                <a:latin typeface="Helvetica" pitchFamily="34" charset="0"/>
              </a:rPr>
              <a:t>See it as an opportunity to improve</a:t>
            </a:r>
          </a:p>
          <a:p>
            <a:pPr>
              <a:spcBef>
                <a:spcPts val="600"/>
              </a:spcBef>
              <a:spcAft>
                <a:spcPts val="600"/>
              </a:spcAft>
            </a:pPr>
            <a:r>
              <a:rPr lang="en-AU" sz="2200" dirty="0" smtClean="0">
                <a:latin typeface="Helvetica" pitchFamily="34" charset="0"/>
              </a:rPr>
              <a:t>Don’t dwell on the negative message</a:t>
            </a:r>
          </a:p>
          <a:p>
            <a:pPr>
              <a:spcBef>
                <a:spcPts val="600"/>
              </a:spcBef>
              <a:spcAft>
                <a:spcPts val="600"/>
              </a:spcAft>
            </a:pPr>
            <a:r>
              <a:rPr lang="en-AU" sz="2200" dirty="0" smtClean="0">
                <a:latin typeface="Helvetica" pitchFamily="34" charset="0"/>
              </a:rPr>
              <a:t>Don’t shoot the messenger! </a:t>
            </a:r>
          </a:p>
          <a:p>
            <a:pPr>
              <a:buNone/>
            </a:pPr>
            <a:endParaRPr lang="en-AU" sz="2200" dirty="0" smtClean="0">
              <a:latin typeface="Helvetica" pitchFamily="34" charset="0"/>
            </a:endParaRPr>
          </a:p>
          <a:p>
            <a:pPr>
              <a:spcBef>
                <a:spcPts val="600"/>
              </a:spcBef>
              <a:spcAft>
                <a:spcPts val="600"/>
              </a:spcAft>
              <a:buNone/>
            </a:pPr>
            <a:r>
              <a:rPr lang="en-AU" sz="2200" dirty="0" smtClean="0">
                <a:latin typeface="Helvetica" pitchFamily="34" charset="0"/>
              </a:rPr>
              <a:t>The keys are to:</a:t>
            </a:r>
          </a:p>
          <a:p>
            <a:pPr>
              <a:spcBef>
                <a:spcPts val="600"/>
              </a:spcBef>
              <a:spcAft>
                <a:spcPts val="600"/>
              </a:spcAft>
            </a:pPr>
            <a:r>
              <a:rPr lang="en-AU" sz="2200" dirty="0" smtClean="0">
                <a:latin typeface="Helvetica" pitchFamily="34" charset="0"/>
              </a:rPr>
              <a:t>Listen to the criticism</a:t>
            </a:r>
          </a:p>
          <a:p>
            <a:pPr>
              <a:spcBef>
                <a:spcPts val="600"/>
              </a:spcBef>
              <a:spcAft>
                <a:spcPts val="600"/>
              </a:spcAft>
            </a:pPr>
            <a:r>
              <a:rPr lang="en-AU" sz="2200" dirty="0" smtClean="0">
                <a:latin typeface="Helvetica" pitchFamily="34" charset="0"/>
              </a:rPr>
              <a:t>Determine objectively if there is truth in it</a:t>
            </a:r>
          </a:p>
          <a:p>
            <a:pPr>
              <a:spcBef>
                <a:spcPts val="600"/>
              </a:spcBef>
              <a:spcAft>
                <a:spcPts val="600"/>
              </a:spcAft>
            </a:pPr>
            <a:r>
              <a:rPr lang="en-AU" sz="2200" dirty="0" smtClean="0">
                <a:latin typeface="Helvetica" pitchFamily="34" charset="0"/>
              </a:rPr>
              <a:t>Work out how to rectify things</a:t>
            </a:r>
          </a:p>
          <a:p>
            <a:pPr>
              <a:buNone/>
            </a:pPr>
            <a:endParaRPr lang="en-AU" sz="2400" dirty="0" smtClean="0"/>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5" name="Picture 4" descr="MP900422324[1].JPG"/>
          <p:cNvPicPr/>
          <p:nvPr/>
        </p:nvPicPr>
        <p:blipFill>
          <a:blip r:embed="rId3" cstate="print"/>
          <a:stretch>
            <a:fillRect/>
          </a:stretch>
        </p:blipFill>
        <p:spPr>
          <a:xfrm>
            <a:off x="6781800" y="2209800"/>
            <a:ext cx="1527582" cy="2201416"/>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Neutral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pPr>
            <a:r>
              <a:rPr lang="en-AU" sz="2200" dirty="0" smtClean="0">
                <a:latin typeface="Helvetica" pitchFamily="34" charset="0"/>
              </a:rPr>
              <a:t>Neutral information can occur when staff members deliver up-dates or new information about what’s happening</a:t>
            </a:r>
          </a:p>
          <a:p>
            <a:pPr>
              <a:spcBef>
                <a:spcPts val="600"/>
              </a:spcBef>
              <a:spcAft>
                <a:spcPts val="1200"/>
              </a:spcAft>
            </a:pPr>
            <a:r>
              <a:rPr lang="en-AU" sz="2200" dirty="0" smtClean="0">
                <a:latin typeface="Helvetica" pitchFamily="34" charset="0"/>
              </a:rPr>
              <a:t>The result of this information is usually that you will need to factor it into your work and the priorities you have already set</a:t>
            </a:r>
          </a:p>
          <a:p>
            <a:pPr>
              <a:buNone/>
            </a:pPr>
            <a:endParaRPr lang="en-AU" sz="2400" dirty="0" smtClean="0"/>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9219" name="Picture 3" descr="C:\Documents and Settings\Godaishu\Desktop\PHOTOS\2011\Culinary\bw_pm24_046.jpg"/>
          <p:cNvPicPr>
            <a:picLocks noChangeAspect="1" noChangeArrowheads="1"/>
          </p:cNvPicPr>
          <p:nvPr/>
        </p:nvPicPr>
        <p:blipFill>
          <a:blip r:embed="rId3" cstate="print"/>
          <a:srcRect/>
          <a:stretch>
            <a:fillRect/>
          </a:stretch>
        </p:blipFill>
        <p:spPr bwMode="auto">
          <a:xfrm>
            <a:off x="3429000" y="4038600"/>
            <a:ext cx="2606383" cy="1744662"/>
          </a:xfrm>
          <a:prstGeom prst="rect">
            <a:avLst/>
          </a:prstGeom>
          <a:noFill/>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Collecting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7632848" cy="4680520"/>
          </a:xfrm>
        </p:spPr>
        <p:txBody>
          <a:bodyPr>
            <a:noAutofit/>
          </a:bodyPr>
          <a:lstStyle/>
          <a:p>
            <a:pPr marL="0">
              <a:spcBef>
                <a:spcPts val="600"/>
              </a:spcBef>
              <a:spcAft>
                <a:spcPts val="1200"/>
              </a:spcAft>
              <a:buNone/>
            </a:pPr>
            <a:r>
              <a:rPr lang="en-AU" sz="2200" b="1" dirty="0" smtClean="0">
                <a:latin typeface="Helvetica" pitchFamily="34" charset="0"/>
              </a:rPr>
              <a:t>Formal Feedback:</a:t>
            </a:r>
          </a:p>
          <a:p>
            <a:pPr lvl="0">
              <a:spcBef>
                <a:spcPts val="600"/>
              </a:spcBef>
              <a:spcAft>
                <a:spcPts val="1200"/>
              </a:spcAft>
            </a:pPr>
            <a:r>
              <a:rPr lang="en-AU" sz="2200" dirty="0" smtClean="0">
                <a:latin typeface="Helvetica" pitchFamily="34" charset="0"/>
              </a:rPr>
              <a:t>Customer comment cards</a:t>
            </a:r>
          </a:p>
          <a:p>
            <a:pPr lvl="0">
              <a:spcBef>
                <a:spcPts val="600"/>
              </a:spcBef>
              <a:spcAft>
                <a:spcPts val="1200"/>
              </a:spcAft>
            </a:pPr>
            <a:r>
              <a:rPr lang="en-AU" sz="2200" dirty="0" smtClean="0">
                <a:latin typeface="Helvetica" pitchFamily="34" charset="0"/>
              </a:rPr>
              <a:t>General Manager cocktail parties</a:t>
            </a:r>
          </a:p>
          <a:p>
            <a:pPr lvl="0">
              <a:spcBef>
                <a:spcPts val="600"/>
              </a:spcBef>
              <a:spcAft>
                <a:spcPts val="1200"/>
              </a:spcAft>
            </a:pPr>
            <a:r>
              <a:rPr lang="en-AU" sz="2200" dirty="0" smtClean="0">
                <a:latin typeface="Helvetica" pitchFamily="34" charset="0"/>
              </a:rPr>
              <a:t>Interviews and follow up calls</a:t>
            </a:r>
          </a:p>
          <a:p>
            <a:pPr lvl="0">
              <a:spcBef>
                <a:spcPts val="600"/>
              </a:spcBef>
              <a:spcAft>
                <a:spcPts val="1200"/>
              </a:spcAft>
            </a:pPr>
            <a:r>
              <a:rPr lang="en-AU" sz="2200" dirty="0" smtClean="0">
                <a:latin typeface="Helvetica" pitchFamily="34" charset="0"/>
              </a:rPr>
              <a:t>Meetings</a:t>
            </a:r>
          </a:p>
          <a:p>
            <a:pPr lvl="0">
              <a:spcBef>
                <a:spcPts val="600"/>
              </a:spcBef>
              <a:spcAft>
                <a:spcPts val="1200"/>
              </a:spcAft>
            </a:pPr>
            <a:r>
              <a:rPr lang="en-AU" sz="2200" dirty="0" smtClean="0">
                <a:latin typeface="Helvetica" pitchFamily="34" charset="0"/>
              </a:rPr>
              <a:t>Performance reviews</a:t>
            </a:r>
          </a:p>
          <a:p>
            <a:pPr lvl="0">
              <a:spcBef>
                <a:spcPts val="600"/>
              </a:spcBef>
              <a:spcAft>
                <a:spcPts val="1200"/>
              </a:spcAft>
            </a:pPr>
            <a:r>
              <a:rPr lang="en-AU" sz="2200" dirty="0" smtClean="0">
                <a:latin typeface="Helvetica" pitchFamily="34" charset="0"/>
              </a:rPr>
              <a:t>360-degree assessment </a:t>
            </a:r>
          </a:p>
          <a:p>
            <a:pPr lvl="0">
              <a:spcBef>
                <a:spcPts val="600"/>
              </a:spcBef>
              <a:spcAft>
                <a:spcPts val="1200"/>
              </a:spcAft>
            </a:pPr>
            <a:r>
              <a:rPr lang="en-AU" sz="2200" dirty="0" smtClean="0">
                <a:latin typeface="Helvetica" pitchFamily="34" charset="0"/>
              </a:rPr>
              <a:t>Team evaluations </a:t>
            </a:r>
          </a:p>
          <a:p>
            <a:pPr lvl="0">
              <a:spcBef>
                <a:spcPts val="600"/>
              </a:spcBef>
              <a:spcAft>
                <a:spcPts val="1200"/>
              </a:spcAft>
            </a:pPr>
            <a:r>
              <a:rPr lang="en-AU" sz="2200" dirty="0" smtClean="0">
                <a:latin typeface="Helvetica" pitchFamily="34" charset="0"/>
              </a:rPr>
              <a:t>Workplace assessment </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10242" name="Picture 2" descr="C:\Documents and Settings\Godaishu\Desktop\PHOTOS\2011\Culinary\bw_pm24_036.jpg"/>
          <p:cNvPicPr>
            <a:picLocks noChangeAspect="1" noChangeArrowheads="1"/>
          </p:cNvPicPr>
          <p:nvPr/>
        </p:nvPicPr>
        <p:blipFill>
          <a:blip r:embed="rId3" cstate="print"/>
          <a:srcRect/>
          <a:stretch>
            <a:fillRect/>
          </a:stretch>
        </p:blipFill>
        <p:spPr bwMode="auto">
          <a:xfrm>
            <a:off x="6096000" y="2971800"/>
            <a:ext cx="2298075" cy="1538287"/>
          </a:xfrm>
          <a:prstGeom prst="rect">
            <a:avLst/>
          </a:prstGeom>
          <a:noFill/>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Collecting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a:spcBef>
                <a:spcPts val="600"/>
              </a:spcBef>
              <a:spcAft>
                <a:spcPts val="1200"/>
              </a:spcAft>
              <a:buNone/>
            </a:pPr>
            <a:r>
              <a:rPr lang="en-AU" sz="2200" b="1" dirty="0" smtClean="0">
                <a:latin typeface="Helvetica" pitchFamily="34" charset="0"/>
              </a:rPr>
              <a:t>Informal Feedback:</a:t>
            </a:r>
          </a:p>
          <a:p>
            <a:pPr>
              <a:spcBef>
                <a:spcPts val="600"/>
              </a:spcBef>
              <a:spcAft>
                <a:spcPts val="1200"/>
              </a:spcAft>
            </a:pPr>
            <a:r>
              <a:rPr lang="en-AU" sz="2200" dirty="0" smtClean="0">
                <a:latin typeface="Helvetica" pitchFamily="34" charset="0"/>
              </a:rPr>
              <a:t>General discussion</a:t>
            </a:r>
          </a:p>
          <a:p>
            <a:pPr lvl="0">
              <a:spcBef>
                <a:spcPts val="600"/>
              </a:spcBef>
              <a:spcAft>
                <a:spcPts val="1200"/>
              </a:spcAft>
            </a:pPr>
            <a:r>
              <a:rPr lang="en-AU" sz="2200" dirty="0" smtClean="0">
                <a:latin typeface="Helvetica" pitchFamily="34" charset="0"/>
              </a:rPr>
              <a:t>Observations</a:t>
            </a:r>
          </a:p>
          <a:p>
            <a:pPr lvl="0">
              <a:spcBef>
                <a:spcPts val="600"/>
              </a:spcBef>
              <a:spcAft>
                <a:spcPts val="1200"/>
              </a:spcAft>
            </a:pPr>
            <a:r>
              <a:rPr lang="en-AU" sz="2200" dirty="0" smtClean="0">
                <a:latin typeface="Helvetica" pitchFamily="34" charset="0"/>
              </a:rPr>
              <a:t>Critical incident reviews</a:t>
            </a:r>
          </a:p>
          <a:p>
            <a:pPr lvl="0">
              <a:spcBef>
                <a:spcPts val="600"/>
              </a:spcBef>
              <a:spcAft>
                <a:spcPts val="1200"/>
              </a:spcAft>
            </a:pPr>
            <a:r>
              <a:rPr lang="en-AU" sz="2200" dirty="0" smtClean="0">
                <a:latin typeface="Helvetica" pitchFamily="34" charset="0"/>
              </a:rPr>
              <a:t>Impromptu questioning of customers</a:t>
            </a:r>
          </a:p>
          <a:p>
            <a:pPr lvl="0">
              <a:spcBef>
                <a:spcPts val="600"/>
              </a:spcBef>
              <a:spcAft>
                <a:spcPts val="1200"/>
              </a:spcAft>
            </a:pPr>
            <a:r>
              <a:rPr lang="en-AU" sz="2200" dirty="0" smtClean="0">
                <a:latin typeface="Helvetica" pitchFamily="34" charset="0"/>
              </a:rPr>
              <a:t>Coaching and mentoring</a:t>
            </a:r>
          </a:p>
          <a:p>
            <a:pPr>
              <a:spcBef>
                <a:spcPts val="600"/>
              </a:spcBef>
              <a:spcAft>
                <a:spcPts val="1200"/>
              </a:spcAft>
            </a:pPr>
            <a:r>
              <a:rPr lang="en-AU" sz="2200" dirty="0" smtClean="0">
                <a:latin typeface="Helvetica" pitchFamily="34" charset="0"/>
              </a:rPr>
              <a:t>Personal, reflective behaviour strategies </a:t>
            </a:r>
          </a:p>
          <a:p>
            <a:pPr marL="0">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6" name="Picture 5" descr="00341396.jpg"/>
          <p:cNvPicPr/>
          <p:nvPr/>
        </p:nvPicPr>
        <p:blipFill>
          <a:blip r:embed="rId3" cstate="print"/>
          <a:stretch>
            <a:fillRect/>
          </a:stretch>
        </p:blipFill>
        <p:spPr>
          <a:xfrm>
            <a:off x="6477000" y="1981200"/>
            <a:ext cx="1656715" cy="2000250"/>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Maintain personal work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Individual team members:</a:t>
            </a:r>
          </a:p>
          <a:p>
            <a:pPr>
              <a:spcBef>
                <a:spcPts val="600"/>
              </a:spcBef>
              <a:spcAft>
                <a:spcPts val="1200"/>
              </a:spcAft>
            </a:pPr>
            <a:r>
              <a:rPr lang="en-AU" sz="2200" dirty="0" smtClean="0">
                <a:latin typeface="Helvetica" pitchFamily="34" charset="0"/>
              </a:rPr>
              <a:t>Should have personal pride in their work </a:t>
            </a:r>
          </a:p>
          <a:p>
            <a:pPr>
              <a:spcBef>
                <a:spcPts val="600"/>
              </a:spcBef>
              <a:spcAft>
                <a:spcPts val="1200"/>
              </a:spcAft>
            </a:pPr>
            <a:r>
              <a:rPr lang="en-AU" sz="2200" dirty="0" smtClean="0">
                <a:latin typeface="Helvetica" pitchFamily="34" charset="0"/>
              </a:rPr>
              <a:t>Produce an outcome that they feel is of value and worth  </a:t>
            </a:r>
          </a:p>
          <a:p>
            <a:pPr>
              <a:spcBef>
                <a:spcPts val="600"/>
              </a:spcBef>
              <a:spcAft>
                <a:spcPts val="1200"/>
              </a:spcAft>
            </a:pPr>
            <a:r>
              <a:rPr lang="en-AU" sz="2200" dirty="0" smtClean="0">
                <a:latin typeface="Helvetica" pitchFamily="34" charset="0"/>
              </a:rPr>
              <a:t>Have a personal set of standards in which they strive to obtain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7" name="Picture 6" descr="j0422562.jpg"/>
          <p:cNvPicPr/>
          <p:nvPr/>
        </p:nvPicPr>
        <p:blipFill>
          <a:blip r:embed="rId3" cstate="print"/>
          <a:stretch>
            <a:fillRect/>
          </a:stretch>
        </p:blipFill>
        <p:spPr>
          <a:xfrm>
            <a:off x="3657600" y="4191000"/>
            <a:ext cx="1666875" cy="1676400"/>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Maintain personal work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Common personal work standards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Have a strong work ethic</a:t>
            </a:r>
          </a:p>
          <a:p>
            <a:pPr lvl="0">
              <a:spcBef>
                <a:spcPts val="600"/>
              </a:spcBef>
              <a:spcAft>
                <a:spcPts val="1200"/>
              </a:spcAft>
            </a:pPr>
            <a:r>
              <a:rPr lang="en-AU" sz="2200" dirty="0" smtClean="0">
                <a:latin typeface="Helvetica" pitchFamily="34" charset="0"/>
              </a:rPr>
              <a:t>Undertake all their responsibilities, roles </a:t>
            </a:r>
            <a:br>
              <a:rPr lang="en-AU" sz="2200" dirty="0" smtClean="0">
                <a:latin typeface="Helvetica" pitchFamily="34" charset="0"/>
              </a:rPr>
            </a:br>
            <a:r>
              <a:rPr lang="en-AU" sz="2200" dirty="0" smtClean="0">
                <a:latin typeface="Helvetica" pitchFamily="34" charset="0"/>
              </a:rPr>
              <a:t>and tasks</a:t>
            </a:r>
          </a:p>
          <a:p>
            <a:pPr lvl="0">
              <a:spcBef>
                <a:spcPts val="600"/>
              </a:spcBef>
              <a:spcAft>
                <a:spcPts val="1200"/>
              </a:spcAft>
            </a:pPr>
            <a:r>
              <a:rPr lang="en-AU" sz="2200" dirty="0" smtClean="0">
                <a:latin typeface="Helvetica" pitchFamily="34" charset="0"/>
              </a:rPr>
              <a:t>Work to the best of their ability</a:t>
            </a:r>
          </a:p>
          <a:p>
            <a:pPr lvl="0">
              <a:spcBef>
                <a:spcPts val="600"/>
              </a:spcBef>
              <a:spcAft>
                <a:spcPts val="1200"/>
              </a:spcAft>
            </a:pPr>
            <a:r>
              <a:rPr lang="en-AU" sz="2200" dirty="0" smtClean="0">
                <a:latin typeface="Helvetica" pitchFamily="34" charset="0"/>
              </a:rPr>
              <a:t>Work in a professional manner</a:t>
            </a:r>
          </a:p>
          <a:p>
            <a:pPr lvl="0">
              <a:spcBef>
                <a:spcPts val="600"/>
              </a:spcBef>
              <a:spcAft>
                <a:spcPts val="1200"/>
              </a:spcAft>
            </a:pPr>
            <a:r>
              <a:rPr lang="en-AU" sz="2200" dirty="0" smtClean="0">
                <a:latin typeface="Helvetica" pitchFamily="34" charset="0"/>
              </a:rPr>
              <a:t>Maintain professional and hygienic grooming and deportment standards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6" name="Picture 5" descr="4.jpg"/>
          <p:cNvPicPr>
            <a:picLocks noChangeAspect="1"/>
          </p:cNvPicPr>
          <p:nvPr/>
        </p:nvPicPr>
        <p:blipFill>
          <a:blip r:embed="rId3" cstate="print"/>
          <a:stretch>
            <a:fillRect/>
          </a:stretch>
        </p:blipFill>
        <p:spPr>
          <a:xfrm>
            <a:off x="6781800" y="2438400"/>
            <a:ext cx="1429345" cy="2133600"/>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Maintain personal work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Common personal work standards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Work in compliance with all organisational, legal and safety obligations</a:t>
            </a:r>
          </a:p>
          <a:p>
            <a:pPr lvl="0">
              <a:spcBef>
                <a:spcPts val="600"/>
              </a:spcBef>
              <a:spcAft>
                <a:spcPts val="1200"/>
              </a:spcAft>
            </a:pPr>
            <a:r>
              <a:rPr lang="en-AU" sz="2200" dirty="0" smtClean="0">
                <a:latin typeface="Helvetica" pitchFamily="34" charset="0"/>
              </a:rPr>
              <a:t>Strive to learn and improve</a:t>
            </a:r>
          </a:p>
          <a:p>
            <a:pPr lvl="0">
              <a:spcBef>
                <a:spcPts val="600"/>
              </a:spcBef>
              <a:spcAft>
                <a:spcPts val="1200"/>
              </a:spcAft>
            </a:pPr>
            <a:r>
              <a:rPr lang="en-AU" sz="2200" dirty="0" smtClean="0">
                <a:latin typeface="Helvetica" pitchFamily="34" charset="0"/>
              </a:rPr>
              <a:t>Be helpful, sensitive and supportive</a:t>
            </a:r>
          </a:p>
          <a:p>
            <a:pPr lvl="0">
              <a:spcBef>
                <a:spcPts val="600"/>
              </a:spcBef>
              <a:spcAft>
                <a:spcPts val="1200"/>
              </a:spcAft>
            </a:pPr>
            <a:r>
              <a:rPr lang="en-AU" sz="2200" dirty="0" smtClean="0">
                <a:latin typeface="Helvetica" pitchFamily="34" charset="0"/>
              </a:rPr>
              <a:t>Be flexible in their approach</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6" name="Picture 5" descr="2.jpg"/>
          <p:cNvPicPr>
            <a:picLocks noChangeAspect="1"/>
          </p:cNvPicPr>
          <p:nvPr/>
        </p:nvPicPr>
        <p:blipFill>
          <a:blip r:embed="rId3" cstate="print"/>
          <a:stretch>
            <a:fillRect/>
          </a:stretch>
        </p:blipFill>
        <p:spPr>
          <a:xfrm>
            <a:off x="6324600" y="2895600"/>
            <a:ext cx="1522660" cy="2286223"/>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Make positive contributions in planning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Involve staff in planning activities</a:t>
            </a:r>
          </a:p>
          <a:p>
            <a:pPr>
              <a:spcBef>
                <a:spcPts val="600"/>
              </a:spcBef>
              <a:spcAft>
                <a:spcPts val="1200"/>
              </a:spcAft>
            </a:pPr>
            <a:r>
              <a:rPr lang="en-AU" sz="2200" dirty="0" smtClean="0">
                <a:latin typeface="Helvetica" pitchFamily="34" charset="0"/>
              </a:rPr>
              <a:t>Central to the operation of any successful business is the need to prepare for what lies ahead and to plan what is going to happen</a:t>
            </a:r>
          </a:p>
          <a:p>
            <a:pPr>
              <a:spcBef>
                <a:spcPts val="600"/>
              </a:spcBef>
              <a:spcAft>
                <a:spcPts val="1200"/>
              </a:spcAft>
            </a:pPr>
            <a:r>
              <a:rPr lang="en-AU" sz="2200" dirty="0" smtClean="0">
                <a:latin typeface="Helvetica" pitchFamily="34" charset="0"/>
              </a:rPr>
              <a:t>As staff members are actively involved in the operations, it is essential that they are encouraged to provide ideas and suggestions aimed at improving work practices</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7" name="Picture 6" descr="MP900439502[1].JPG"/>
          <p:cNvPicPr/>
          <p:nvPr/>
        </p:nvPicPr>
        <p:blipFill>
          <a:blip r:embed="rId3" cstate="print"/>
          <a:stretch>
            <a:fillRect/>
          </a:stretch>
        </p:blipFill>
        <p:spPr>
          <a:xfrm>
            <a:off x="3810000" y="4800600"/>
            <a:ext cx="2009775" cy="1238250"/>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Make positive contributions in planning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920208"/>
          </a:xfrm>
        </p:spPr>
        <p:txBody>
          <a:bodyPr>
            <a:normAutofit lnSpcReduction="10000"/>
          </a:bodyPr>
          <a:lstStyle/>
          <a:p>
            <a:pPr>
              <a:spcBef>
                <a:spcPts val="600"/>
              </a:spcBef>
              <a:spcAft>
                <a:spcPts val="1200"/>
              </a:spcAft>
              <a:buNone/>
            </a:pPr>
            <a:r>
              <a:rPr lang="en-AU" sz="2200" b="1" dirty="0" smtClean="0">
                <a:latin typeface="Helvetica" pitchFamily="34" charset="0"/>
              </a:rPr>
              <a:t>Areas for planning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Sales targets </a:t>
            </a:r>
          </a:p>
          <a:p>
            <a:pPr lvl="0">
              <a:spcBef>
                <a:spcPts val="600"/>
              </a:spcBef>
              <a:spcAft>
                <a:spcPts val="1200"/>
              </a:spcAft>
            </a:pPr>
            <a:r>
              <a:rPr lang="en-AU" sz="2200" dirty="0" smtClean="0">
                <a:latin typeface="Helvetica" pitchFamily="34" charset="0"/>
              </a:rPr>
              <a:t>Performance targets for a particular project </a:t>
            </a:r>
          </a:p>
          <a:p>
            <a:pPr lvl="0">
              <a:spcBef>
                <a:spcPts val="600"/>
              </a:spcBef>
              <a:spcAft>
                <a:spcPts val="1200"/>
              </a:spcAft>
            </a:pPr>
            <a:r>
              <a:rPr lang="en-AU" sz="2200" dirty="0" smtClean="0">
                <a:latin typeface="Helvetica" pitchFamily="34" charset="0"/>
              </a:rPr>
              <a:t>Increased productivity </a:t>
            </a:r>
          </a:p>
          <a:p>
            <a:pPr lvl="0">
              <a:spcBef>
                <a:spcPts val="600"/>
              </a:spcBef>
              <a:spcAft>
                <a:spcPts val="1200"/>
              </a:spcAft>
            </a:pPr>
            <a:r>
              <a:rPr lang="en-AU" sz="2200" dirty="0" smtClean="0">
                <a:latin typeface="Helvetica" pitchFamily="34" charset="0"/>
              </a:rPr>
              <a:t>Achieving KPIs</a:t>
            </a:r>
          </a:p>
          <a:p>
            <a:pPr lvl="0">
              <a:spcBef>
                <a:spcPts val="600"/>
              </a:spcBef>
              <a:spcAft>
                <a:spcPts val="1200"/>
              </a:spcAft>
            </a:pPr>
            <a:r>
              <a:rPr lang="en-AU" sz="2200" dirty="0" smtClean="0">
                <a:latin typeface="Helvetica" pitchFamily="34" charset="0"/>
              </a:rPr>
              <a:t>Organisational strategies</a:t>
            </a:r>
          </a:p>
          <a:p>
            <a:pPr lvl="0">
              <a:spcBef>
                <a:spcPts val="600"/>
              </a:spcBef>
              <a:spcAft>
                <a:spcPts val="1200"/>
              </a:spcAft>
            </a:pPr>
            <a:r>
              <a:rPr lang="en-AU" sz="2200" dirty="0" smtClean="0">
                <a:latin typeface="Helvetica" pitchFamily="34" charset="0"/>
              </a:rPr>
              <a:t>Operational activities</a:t>
            </a:r>
          </a:p>
          <a:p>
            <a:pPr lvl="0">
              <a:spcBef>
                <a:spcPts val="600"/>
              </a:spcBef>
              <a:spcAft>
                <a:spcPts val="1200"/>
              </a:spcAft>
            </a:pPr>
            <a:r>
              <a:rPr lang="en-AU" sz="2200" dirty="0" smtClean="0">
                <a:latin typeface="Helvetica" pitchFamily="34" charset="0"/>
              </a:rPr>
              <a:t>Task management</a:t>
            </a:r>
          </a:p>
          <a:p>
            <a:pPr lvl="0">
              <a:spcBef>
                <a:spcPts val="600"/>
              </a:spcBef>
              <a:spcAft>
                <a:spcPts val="1200"/>
              </a:spcAft>
            </a:pPr>
            <a:r>
              <a:rPr lang="en-AU" sz="2200" dirty="0" smtClean="0">
                <a:latin typeface="Helvetica" pitchFamily="34" charset="0"/>
              </a:rPr>
              <a:t>Contingency management</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7" name="Picture 6" descr="MP900402336[1].JPG"/>
          <p:cNvPicPr>
            <a:picLocks noChangeAspect="1"/>
          </p:cNvPicPr>
          <p:nvPr/>
        </p:nvPicPr>
        <p:blipFill>
          <a:blip r:embed="rId3" cstate="print"/>
          <a:stretch>
            <a:fillRect/>
          </a:stretch>
        </p:blipFill>
        <p:spPr>
          <a:xfrm>
            <a:off x="6858000" y="2743200"/>
            <a:ext cx="1498315" cy="2246376"/>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Make positive contributions in planning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920208"/>
          </a:xfrm>
        </p:spPr>
        <p:txBody>
          <a:bodyPr>
            <a:normAutofit/>
          </a:bodyPr>
          <a:lstStyle/>
          <a:p>
            <a:pPr marL="0">
              <a:spcBef>
                <a:spcPts val="600"/>
              </a:spcBef>
              <a:spcAft>
                <a:spcPts val="1200"/>
              </a:spcAft>
              <a:buNone/>
            </a:pPr>
            <a:r>
              <a:rPr lang="en-AU" sz="2200" b="1" dirty="0" smtClean="0">
                <a:latin typeface="Helvetica" pitchFamily="34" charset="0"/>
              </a:rPr>
              <a:t>Encourage positive staff contributions in the planning process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Positive contributions when planning should address all aspects of work including:</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Policies </a:t>
            </a:r>
          </a:p>
          <a:p>
            <a:pPr>
              <a:spcBef>
                <a:spcPts val="600"/>
              </a:spcBef>
              <a:spcAft>
                <a:spcPts val="1200"/>
              </a:spcAft>
            </a:pPr>
            <a:r>
              <a:rPr lang="en-AU" sz="2200" dirty="0" smtClean="0">
                <a:latin typeface="Helvetica" pitchFamily="34" charset="0"/>
              </a:rPr>
              <a:t>Procedures </a:t>
            </a:r>
          </a:p>
          <a:p>
            <a:pPr>
              <a:spcBef>
                <a:spcPts val="600"/>
              </a:spcBef>
              <a:spcAft>
                <a:spcPts val="1200"/>
              </a:spcAft>
            </a:pPr>
            <a:r>
              <a:rPr lang="en-AU" sz="2200" dirty="0" smtClean="0">
                <a:latin typeface="Helvetica" pitchFamily="34" charset="0"/>
              </a:rPr>
              <a:t>Practices</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11266" name="Picture 2" descr="C:\Documents and Settings\Godaishu\Desktop\PHOTOS\2012\iStock_000003644313Medium.jpg"/>
          <p:cNvPicPr>
            <a:picLocks noChangeAspect="1" noChangeArrowheads="1"/>
          </p:cNvPicPr>
          <p:nvPr/>
        </p:nvPicPr>
        <p:blipFill>
          <a:blip r:embed="rId3" cstate="print"/>
          <a:srcRect/>
          <a:stretch>
            <a:fillRect/>
          </a:stretch>
        </p:blipFill>
        <p:spPr bwMode="auto">
          <a:xfrm>
            <a:off x="5867400" y="3276600"/>
            <a:ext cx="2030730" cy="2029265"/>
          </a:xfrm>
          <a:prstGeom prst="rect">
            <a:avLst/>
          </a:prstGeom>
          <a:noFill/>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Non-discriminatory attitudes and language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1200"/>
              </a:spcBef>
              <a:spcAft>
                <a:spcPts val="600"/>
              </a:spcAft>
              <a:buNone/>
            </a:pPr>
            <a:r>
              <a:rPr lang="en-AU" sz="2200" dirty="0" smtClean="0">
                <a:latin typeface="Helvetica" pitchFamily="34" charset="0"/>
              </a:rPr>
              <a:t>All staff must be aware of the differences that exist between all stakeholders of the organisation. </a:t>
            </a:r>
          </a:p>
          <a:p>
            <a:pPr marL="0">
              <a:spcBef>
                <a:spcPts val="1200"/>
              </a:spcBef>
              <a:spcAft>
                <a:spcPts val="600"/>
              </a:spcAft>
              <a:buNone/>
            </a:pPr>
            <a:r>
              <a:rPr lang="en-AU" sz="2200" dirty="0" smtClean="0">
                <a:latin typeface="Helvetica" pitchFamily="34" charset="0"/>
              </a:rPr>
              <a:t>A hospitality business is truly ‘international’ and has many ‘differences’:</a:t>
            </a:r>
          </a:p>
          <a:p>
            <a:pPr>
              <a:spcBef>
                <a:spcPts val="1200"/>
              </a:spcBef>
              <a:spcAft>
                <a:spcPts val="600"/>
              </a:spcAft>
            </a:pPr>
            <a:r>
              <a:rPr lang="en-AU" sz="2200" dirty="0" smtClean="0">
                <a:latin typeface="Helvetica" pitchFamily="34" charset="0"/>
              </a:rPr>
              <a:t>Backgrounds</a:t>
            </a:r>
          </a:p>
          <a:p>
            <a:pPr>
              <a:spcBef>
                <a:spcPts val="1200"/>
              </a:spcBef>
              <a:spcAft>
                <a:spcPts val="600"/>
              </a:spcAft>
            </a:pPr>
            <a:r>
              <a:rPr lang="en-AU" sz="2200" dirty="0" smtClean="0">
                <a:latin typeface="Helvetica" pitchFamily="34" charset="0"/>
              </a:rPr>
              <a:t>Beliefs</a:t>
            </a:r>
          </a:p>
          <a:p>
            <a:pPr>
              <a:spcBef>
                <a:spcPts val="1200"/>
              </a:spcBef>
              <a:spcAft>
                <a:spcPts val="600"/>
              </a:spcAft>
            </a:pPr>
            <a:r>
              <a:rPr lang="en-AU" sz="2200" dirty="0" smtClean="0">
                <a:latin typeface="Helvetica" pitchFamily="34" charset="0"/>
              </a:rPr>
              <a:t>Religions</a:t>
            </a:r>
          </a:p>
          <a:p>
            <a:pPr>
              <a:spcBef>
                <a:spcPts val="1200"/>
              </a:spcBef>
              <a:spcAft>
                <a:spcPts val="600"/>
              </a:spcAft>
            </a:pPr>
            <a:r>
              <a:rPr lang="en-AU" sz="2200" dirty="0" smtClean="0">
                <a:latin typeface="Helvetica" pitchFamily="34" charset="0"/>
              </a:rPr>
              <a:t>Cultures </a:t>
            </a:r>
          </a:p>
          <a:p>
            <a:pPr>
              <a:spcBef>
                <a:spcPts val="1200"/>
              </a:spcBef>
              <a:spcAft>
                <a:spcPts val="600"/>
              </a:spcAft>
            </a:pPr>
            <a:r>
              <a:rPr lang="en-AU" sz="2200" dirty="0" smtClean="0">
                <a:latin typeface="Helvetica" pitchFamily="34" charset="0"/>
              </a:rPr>
              <a:t>Countries</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6" name="Picture 5" descr="MP900424427[1].JPG"/>
          <p:cNvPicPr>
            <a:picLocks noChangeAspect="1"/>
          </p:cNvPicPr>
          <p:nvPr/>
        </p:nvPicPr>
        <p:blipFill>
          <a:blip r:embed="rId3" cstate="print"/>
          <a:stretch>
            <a:fillRect/>
          </a:stretch>
        </p:blipFill>
        <p:spPr>
          <a:xfrm>
            <a:off x="5334000" y="3200400"/>
            <a:ext cx="2707000" cy="1985838"/>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Expectations of overseas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marL="0">
              <a:spcBef>
                <a:spcPts val="600"/>
              </a:spcBef>
              <a:spcAft>
                <a:spcPts val="1200"/>
              </a:spcAft>
              <a:buNone/>
            </a:pPr>
            <a:r>
              <a:rPr lang="en-AU" sz="2200" dirty="0" smtClean="0">
                <a:latin typeface="Helvetica" pitchFamily="34" charset="0"/>
              </a:rPr>
              <a:t>Customers from other countries and cultures could have differing views in terms of:</a:t>
            </a:r>
          </a:p>
          <a:p>
            <a:pPr>
              <a:spcBef>
                <a:spcPts val="600"/>
              </a:spcBef>
              <a:spcAft>
                <a:spcPts val="1200"/>
              </a:spcAft>
            </a:pPr>
            <a:r>
              <a:rPr lang="en-AU" sz="2200" dirty="0" smtClean="0">
                <a:latin typeface="Helvetica" pitchFamily="34" charset="0"/>
              </a:rPr>
              <a:t>Customer expectations </a:t>
            </a:r>
          </a:p>
          <a:p>
            <a:pPr>
              <a:spcBef>
                <a:spcPts val="600"/>
              </a:spcBef>
              <a:spcAft>
                <a:spcPts val="1200"/>
              </a:spcAft>
            </a:pPr>
            <a:r>
              <a:rPr lang="en-AU" sz="2200" dirty="0" smtClean="0">
                <a:latin typeface="Helvetica" pitchFamily="34" charset="0"/>
              </a:rPr>
              <a:t>Levels of formality and informality</a:t>
            </a:r>
          </a:p>
          <a:p>
            <a:pPr>
              <a:spcBef>
                <a:spcPts val="600"/>
              </a:spcBef>
              <a:spcAft>
                <a:spcPts val="1200"/>
              </a:spcAft>
            </a:pPr>
            <a:r>
              <a:rPr lang="en-AU" sz="2200" dirty="0" smtClean="0">
                <a:latin typeface="Helvetica" pitchFamily="34" charset="0"/>
              </a:rPr>
              <a:t>Appropriate non-verbal behaviour </a:t>
            </a:r>
          </a:p>
          <a:p>
            <a:pPr>
              <a:spcBef>
                <a:spcPts val="600"/>
              </a:spcBef>
              <a:spcAft>
                <a:spcPts val="1200"/>
              </a:spcAft>
            </a:pPr>
            <a:r>
              <a:rPr lang="en-AU" sz="2200" dirty="0" smtClean="0">
                <a:latin typeface="Helvetica" pitchFamily="34" charset="0"/>
              </a:rPr>
              <a:t>Communicating sincerity </a:t>
            </a:r>
          </a:p>
          <a:p>
            <a:pPr>
              <a:spcBef>
                <a:spcPts val="600"/>
              </a:spcBef>
              <a:spcAft>
                <a:spcPts val="1200"/>
              </a:spcAft>
            </a:pPr>
            <a:r>
              <a:rPr lang="en-AU" sz="2200" dirty="0" smtClean="0">
                <a:latin typeface="Helvetica" pitchFamily="34" charset="0"/>
              </a:rPr>
              <a:t>Dress and appearance </a:t>
            </a:r>
          </a:p>
          <a:p>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7" name="Picture 6" descr="MP900400689[1].JPG"/>
          <p:cNvPicPr/>
          <p:nvPr/>
        </p:nvPicPr>
        <p:blipFill>
          <a:blip r:embed="rId3" cstate="print"/>
          <a:stretch>
            <a:fillRect/>
          </a:stretch>
        </p:blipFill>
        <p:spPr>
          <a:xfrm>
            <a:off x="6324600" y="2438400"/>
            <a:ext cx="1804789" cy="2486397"/>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Non-discriminatory attitudes and language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lvl="0">
              <a:spcBef>
                <a:spcPts val="600"/>
              </a:spcBef>
              <a:spcAft>
                <a:spcPts val="1200"/>
              </a:spcAft>
              <a:buNone/>
            </a:pPr>
            <a:r>
              <a:rPr lang="en-AU" sz="2200" b="1" dirty="0" smtClean="0">
                <a:latin typeface="Helvetica" pitchFamily="34" charset="0"/>
              </a:rPr>
              <a:t>Culturally-based communication differences</a:t>
            </a:r>
          </a:p>
          <a:p>
            <a:pPr>
              <a:spcBef>
                <a:spcPts val="600"/>
              </a:spcBef>
              <a:spcAft>
                <a:spcPts val="1200"/>
              </a:spcAft>
            </a:pPr>
            <a:r>
              <a:rPr lang="en-AU" sz="2200" dirty="0" smtClean="0">
                <a:latin typeface="Helvetica" pitchFamily="34" charset="0"/>
              </a:rPr>
              <a:t>Politeness and respect</a:t>
            </a:r>
          </a:p>
          <a:p>
            <a:pPr>
              <a:spcBef>
                <a:spcPts val="600"/>
              </a:spcBef>
              <a:spcAft>
                <a:spcPts val="1200"/>
              </a:spcAft>
            </a:pPr>
            <a:r>
              <a:rPr lang="en-AU" sz="2200" dirty="0" smtClean="0">
                <a:latin typeface="Helvetica" pitchFamily="34" charset="0"/>
              </a:rPr>
              <a:t>Be formal and direct</a:t>
            </a:r>
          </a:p>
          <a:p>
            <a:pPr>
              <a:spcBef>
                <a:spcPts val="600"/>
              </a:spcBef>
              <a:spcAft>
                <a:spcPts val="1200"/>
              </a:spcAft>
            </a:pPr>
            <a:r>
              <a:rPr lang="en-AU" sz="2200" dirty="0" smtClean="0">
                <a:latin typeface="Helvetica" pitchFamily="34" charset="0"/>
              </a:rPr>
              <a:t>Using the guests’ correct names                                              and titles, pronounced correctly</a:t>
            </a:r>
          </a:p>
          <a:p>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6" name="Picture 5" descr="MP900424431[1].JPG"/>
          <p:cNvPicPr>
            <a:picLocks noChangeAspect="1"/>
          </p:cNvPicPr>
          <p:nvPr/>
        </p:nvPicPr>
        <p:blipFill>
          <a:blip r:embed="rId3" cstate="print"/>
          <a:stretch>
            <a:fillRect/>
          </a:stretch>
        </p:blipFill>
        <p:spPr>
          <a:xfrm>
            <a:off x="6172200" y="2286000"/>
            <a:ext cx="1977962" cy="2961159"/>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Non-discriminatory attitudes and language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lvl="0">
              <a:spcBef>
                <a:spcPts val="600"/>
              </a:spcBef>
              <a:spcAft>
                <a:spcPts val="1200"/>
              </a:spcAft>
              <a:buNone/>
            </a:pPr>
            <a:r>
              <a:rPr lang="en-AU" sz="2200" b="1" dirty="0" smtClean="0">
                <a:latin typeface="Helvetica" pitchFamily="34" charset="0"/>
              </a:rPr>
              <a:t>Establishment organisation</a:t>
            </a:r>
          </a:p>
          <a:p>
            <a:pPr>
              <a:spcBef>
                <a:spcPts val="600"/>
              </a:spcBef>
              <a:spcAft>
                <a:spcPts val="1200"/>
              </a:spcAft>
            </a:pPr>
            <a:r>
              <a:rPr lang="en-AU" sz="2200" dirty="0" smtClean="0">
                <a:latin typeface="Helvetica" pitchFamily="34" charset="0"/>
              </a:rPr>
              <a:t>Bilingual staff </a:t>
            </a:r>
          </a:p>
          <a:p>
            <a:pPr>
              <a:spcBef>
                <a:spcPts val="600"/>
              </a:spcBef>
              <a:spcAft>
                <a:spcPts val="1200"/>
              </a:spcAft>
            </a:pPr>
            <a:r>
              <a:rPr lang="en-AU" sz="2200" dirty="0" smtClean="0">
                <a:latin typeface="Helvetica" pitchFamily="34" charset="0"/>
              </a:rPr>
              <a:t>Documents in different languages </a:t>
            </a:r>
          </a:p>
          <a:p>
            <a:pPr lvl="0">
              <a:spcBef>
                <a:spcPts val="600"/>
              </a:spcBef>
              <a:spcAft>
                <a:spcPts val="1200"/>
              </a:spcAft>
            </a:pPr>
            <a:r>
              <a:rPr lang="en-AU" sz="2200" dirty="0" smtClean="0">
                <a:latin typeface="Helvetica" pitchFamily="34" charset="0"/>
              </a:rPr>
              <a:t>Supplying food and beverages found in </a:t>
            </a:r>
            <a:br>
              <a:rPr lang="en-AU" sz="2200" dirty="0" smtClean="0">
                <a:latin typeface="Helvetica" pitchFamily="34" charset="0"/>
              </a:rPr>
            </a:br>
            <a:r>
              <a:rPr lang="en-AU" sz="2200" dirty="0" smtClean="0">
                <a:latin typeface="Helvetica" pitchFamily="34" charset="0"/>
              </a:rPr>
              <a:t>their home countries</a:t>
            </a:r>
          </a:p>
          <a:p>
            <a:pPr lvl="0">
              <a:spcBef>
                <a:spcPts val="600"/>
              </a:spcBef>
              <a:spcAft>
                <a:spcPts val="1200"/>
              </a:spcAft>
            </a:pPr>
            <a:r>
              <a:rPr lang="en-AU" sz="2200" dirty="0" smtClean="0">
                <a:latin typeface="Helvetica" pitchFamily="34" charset="0"/>
              </a:rPr>
              <a:t>Providing news, newspapers and magazines</a:t>
            </a:r>
          </a:p>
          <a:p>
            <a:pPr lvl="0">
              <a:spcBef>
                <a:spcPts val="600"/>
              </a:spcBef>
              <a:spcAft>
                <a:spcPts val="1200"/>
              </a:spcAft>
            </a:pPr>
            <a:r>
              <a:rPr lang="en-AU" sz="2200" dirty="0" smtClean="0">
                <a:latin typeface="Helvetica" pitchFamily="34" charset="0"/>
              </a:rPr>
              <a:t>Having homeland music available </a:t>
            </a:r>
          </a:p>
          <a:p>
            <a:pPr lvl="0">
              <a:spcBef>
                <a:spcPts val="600"/>
              </a:spcBef>
              <a:spcAft>
                <a:spcPts val="1200"/>
              </a:spcAft>
            </a:pPr>
            <a:r>
              <a:rPr lang="en-AU" sz="2200" dirty="0" smtClean="0">
                <a:latin typeface="Helvetica" pitchFamily="34" charset="0"/>
              </a:rPr>
              <a:t>Selection of staff from different cultural backgrounds</a:t>
            </a:r>
          </a:p>
          <a:p>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12290" name="Picture 2" descr="C:\Documents and Settings\Godaishu\Desktop\PHOTOS\2012\Hotel maid.jpg"/>
          <p:cNvPicPr>
            <a:picLocks noChangeAspect="1" noChangeArrowheads="1"/>
          </p:cNvPicPr>
          <p:nvPr/>
        </p:nvPicPr>
        <p:blipFill>
          <a:blip r:embed="rId3" cstate="print"/>
          <a:srcRect/>
          <a:stretch>
            <a:fillRect/>
          </a:stretch>
        </p:blipFill>
        <p:spPr bwMode="auto">
          <a:xfrm>
            <a:off x="6324600" y="2667000"/>
            <a:ext cx="2073275" cy="1380801"/>
          </a:xfrm>
          <a:prstGeom prst="rect">
            <a:avLst/>
          </a:prstGeom>
          <a:noFill/>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Non-discriminatory attitudes and language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lvl="0">
              <a:spcBef>
                <a:spcPts val="600"/>
              </a:spcBef>
              <a:spcAft>
                <a:spcPts val="1200"/>
              </a:spcAft>
              <a:buNone/>
            </a:pPr>
            <a:r>
              <a:rPr lang="en-AU" sz="2200" b="1" dirty="0" smtClean="0">
                <a:latin typeface="Helvetica" pitchFamily="34" charset="0"/>
              </a:rPr>
              <a:t>Language difficulties</a:t>
            </a:r>
          </a:p>
          <a:p>
            <a:pPr lvl="0">
              <a:spcBef>
                <a:spcPts val="600"/>
              </a:spcBef>
              <a:spcAft>
                <a:spcPts val="1200"/>
              </a:spcAft>
            </a:pPr>
            <a:r>
              <a:rPr lang="en-US" sz="2200" dirty="0" smtClean="0">
                <a:latin typeface="Helvetica" pitchFamily="34" charset="0"/>
              </a:rPr>
              <a:t>Speak clearly</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Speak at normal volume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Avoid idiomatic language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Give the guest your full attention</a:t>
            </a:r>
            <a:endParaRPr lang="en-AU" sz="2200" dirty="0" smtClean="0">
              <a:latin typeface="Helvetica" pitchFamily="34" charset="0"/>
            </a:endParaRPr>
          </a:p>
          <a:p>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6" name="Picture 5" descr="MP900399215[1].JPG"/>
          <p:cNvPicPr/>
          <p:nvPr/>
        </p:nvPicPr>
        <p:blipFill>
          <a:blip r:embed="rId3" cstate="print"/>
          <a:stretch>
            <a:fillRect/>
          </a:stretch>
        </p:blipFill>
        <p:spPr>
          <a:xfrm>
            <a:off x="5715000" y="1905000"/>
            <a:ext cx="2251194" cy="2180456"/>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Non-discriminatory attitudes and language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lvl="0">
              <a:spcBef>
                <a:spcPts val="0"/>
              </a:spcBef>
              <a:spcAft>
                <a:spcPts val="1200"/>
              </a:spcAft>
              <a:buNone/>
            </a:pPr>
            <a:r>
              <a:rPr lang="en-AU" sz="2400" b="1" dirty="0" smtClean="0"/>
              <a:t>Non-verbal communication and messages</a:t>
            </a:r>
          </a:p>
          <a:p>
            <a:pPr lvl="0">
              <a:spcBef>
                <a:spcPts val="0"/>
              </a:spcBef>
              <a:spcAft>
                <a:spcPts val="1200"/>
              </a:spcAft>
            </a:pPr>
            <a:r>
              <a:rPr lang="en-AU" sz="2200" dirty="0" smtClean="0">
                <a:latin typeface="Helvetica" pitchFamily="34" charset="0"/>
              </a:rPr>
              <a:t>Body language</a:t>
            </a:r>
          </a:p>
          <a:p>
            <a:pPr lvl="0">
              <a:spcBef>
                <a:spcPts val="0"/>
              </a:spcBef>
              <a:spcAft>
                <a:spcPts val="1200"/>
              </a:spcAft>
            </a:pPr>
            <a:r>
              <a:rPr lang="en-AU" sz="2200" dirty="0" smtClean="0">
                <a:latin typeface="Helvetica" pitchFamily="34" charset="0"/>
              </a:rPr>
              <a:t>Gestures</a:t>
            </a:r>
          </a:p>
          <a:p>
            <a:pPr lvl="0">
              <a:spcBef>
                <a:spcPts val="0"/>
              </a:spcBef>
              <a:spcAft>
                <a:spcPts val="1200"/>
              </a:spcAft>
            </a:pPr>
            <a:r>
              <a:rPr lang="en-AU" sz="2200" dirty="0" smtClean="0">
                <a:latin typeface="Helvetica" pitchFamily="34" charset="0"/>
              </a:rPr>
              <a:t>Eye contact</a:t>
            </a:r>
          </a:p>
          <a:p>
            <a:pPr lvl="0">
              <a:spcBef>
                <a:spcPts val="0"/>
              </a:spcBef>
              <a:spcAft>
                <a:spcPts val="1200"/>
              </a:spcAft>
            </a:pPr>
            <a:r>
              <a:rPr lang="en-AU" sz="2200" dirty="0" smtClean="0">
                <a:latin typeface="Helvetica" pitchFamily="34" charset="0"/>
              </a:rPr>
              <a:t>Smiling</a:t>
            </a:r>
          </a:p>
          <a:p>
            <a:pPr marL="0" lvl="0">
              <a:spcBef>
                <a:spcPts val="0"/>
              </a:spcBef>
              <a:spcAft>
                <a:spcPts val="1200"/>
              </a:spcAft>
              <a:buNone/>
            </a:pPr>
            <a:r>
              <a:rPr lang="en-AU" sz="2200" i="1" dirty="0" smtClean="0">
                <a:latin typeface="Helvetica" pitchFamily="34" charset="0"/>
              </a:rPr>
              <a:t>Non-verbal communication means different things in different cultures.</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7" name="Picture 6" descr="MP900409654[1].JPG"/>
          <p:cNvPicPr/>
          <p:nvPr/>
        </p:nvPicPr>
        <p:blipFill>
          <a:blip r:embed="rId3" cstate="print"/>
          <a:stretch>
            <a:fillRect/>
          </a:stretch>
        </p:blipFill>
        <p:spPr>
          <a:xfrm>
            <a:off x="5486400" y="2438400"/>
            <a:ext cx="2253779" cy="1348532"/>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US" sz="3400" b="1" dirty="0" smtClean="0">
                <a:solidFill>
                  <a:srgbClr val="FF6600"/>
                </a:solidFill>
                <a:latin typeface="Helvetica" pitchFamily="34" charset="0"/>
              </a:rPr>
              <a:t>Non-discriminatory attitudes and language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lvl="0">
              <a:spcBef>
                <a:spcPts val="1200"/>
              </a:spcBef>
              <a:spcAft>
                <a:spcPts val="600"/>
              </a:spcAft>
              <a:buNone/>
            </a:pPr>
            <a:r>
              <a:rPr lang="en-AU" sz="2200" b="1" dirty="0" smtClean="0">
                <a:latin typeface="Helvetica" pitchFamily="34" charset="0"/>
              </a:rPr>
              <a:t>Stress</a:t>
            </a:r>
          </a:p>
          <a:p>
            <a:pPr marL="0">
              <a:spcBef>
                <a:spcPts val="1200"/>
              </a:spcBef>
              <a:spcAft>
                <a:spcPts val="600"/>
              </a:spcAft>
              <a:buNone/>
            </a:pPr>
            <a:r>
              <a:rPr lang="en-AU" sz="2200" dirty="0" smtClean="0">
                <a:latin typeface="Helvetica" pitchFamily="34" charset="0"/>
              </a:rPr>
              <a:t>Stress occurs in both customers and in staff who are serving them. </a:t>
            </a:r>
          </a:p>
          <a:p>
            <a:pPr>
              <a:spcBef>
                <a:spcPts val="1200"/>
              </a:spcBef>
              <a:spcAft>
                <a:spcPts val="600"/>
              </a:spcAft>
            </a:pPr>
            <a:r>
              <a:rPr lang="en-AU" sz="2200" dirty="0" smtClean="0">
                <a:latin typeface="Helvetica" pitchFamily="34" charset="0"/>
              </a:rPr>
              <a:t>What stresses do visitor’s have?</a:t>
            </a:r>
          </a:p>
          <a:p>
            <a:pPr>
              <a:spcBef>
                <a:spcPts val="1200"/>
              </a:spcBef>
              <a:spcAft>
                <a:spcPts val="600"/>
              </a:spcAft>
            </a:pPr>
            <a:r>
              <a:rPr lang="en-AU" sz="2200" dirty="0" smtClean="0">
                <a:latin typeface="Helvetica" pitchFamily="34" charset="0"/>
              </a:rPr>
              <a:t>What stress does staff have?</a:t>
            </a:r>
          </a:p>
          <a:p>
            <a:pPr>
              <a:spcBef>
                <a:spcPts val="1200"/>
              </a:spcBef>
              <a:spcAft>
                <a:spcPts val="600"/>
              </a:spcAft>
            </a:pPr>
            <a:r>
              <a:rPr lang="en-AU" sz="2200" dirty="0" smtClean="0">
                <a:latin typeface="Helvetica" pitchFamily="34" charset="0"/>
              </a:rPr>
              <a:t>How can you reduce these stresses?</a:t>
            </a: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13315" name="Picture 3" descr="C:\Documents and Settings\Godaishu\Local Settings\Temporary Internet Files\Content.IE5\KLU3SPUN\MP900422326[1].jpg"/>
          <p:cNvPicPr>
            <a:picLocks noChangeAspect="1" noChangeArrowheads="1"/>
          </p:cNvPicPr>
          <p:nvPr/>
        </p:nvPicPr>
        <p:blipFill>
          <a:blip r:embed="rId3" cstate="print"/>
          <a:srcRect/>
          <a:stretch>
            <a:fillRect/>
          </a:stretch>
        </p:blipFill>
        <p:spPr bwMode="auto">
          <a:xfrm>
            <a:off x="6858000" y="2743200"/>
            <a:ext cx="1474068" cy="2210023"/>
          </a:xfrm>
          <a:prstGeom prst="rect">
            <a:avLst/>
          </a:prstGeom>
          <a:noFill/>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spcBef>
                <a:spcPts val="600"/>
              </a:spcBef>
              <a:spcAft>
                <a:spcPts val="1200"/>
              </a:spcAft>
            </a:pPr>
            <a:r>
              <a:rPr lang="en-AU" sz="3400" b="1" dirty="0" smtClean="0">
                <a:solidFill>
                  <a:srgbClr val="FF6600"/>
                </a:solidFill>
                <a:latin typeface="Helvetica" pitchFamily="34" charset="0"/>
              </a:rPr>
              <a:t>Revision and Assessments</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AU" sz="2200" b="1" dirty="0" smtClean="0">
                <a:latin typeface="Helvetica" pitchFamily="34" charset="0"/>
              </a:rPr>
              <a:t>It is now time to complete any:</a:t>
            </a:r>
          </a:p>
          <a:p>
            <a:pPr>
              <a:spcBef>
                <a:spcPts val="600"/>
              </a:spcBef>
              <a:spcAft>
                <a:spcPts val="600"/>
              </a:spcAft>
            </a:pPr>
            <a:r>
              <a:rPr lang="en-AU" sz="2200" dirty="0" smtClean="0">
                <a:latin typeface="Helvetica" pitchFamily="34" charset="0"/>
              </a:rPr>
              <a:t>Revision</a:t>
            </a:r>
          </a:p>
          <a:p>
            <a:pPr>
              <a:spcBef>
                <a:spcPts val="600"/>
              </a:spcBef>
              <a:spcAft>
                <a:spcPts val="600"/>
              </a:spcAft>
            </a:pPr>
            <a:r>
              <a:rPr lang="en-AU" sz="2200" dirty="0" smtClean="0">
                <a:latin typeface="Helvetica" pitchFamily="34" charset="0"/>
              </a:rPr>
              <a:t>Activities</a:t>
            </a:r>
          </a:p>
          <a:p>
            <a:pPr>
              <a:spcBef>
                <a:spcPts val="600"/>
              </a:spcBef>
              <a:spcAft>
                <a:spcPts val="600"/>
              </a:spcAft>
            </a:pPr>
            <a:r>
              <a:rPr lang="en-AU" sz="2200" dirty="0" smtClean="0">
                <a:latin typeface="Helvetica" pitchFamily="34" charset="0"/>
              </a:rPr>
              <a:t>Assessments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6" name="Picture 5" descr="63118519_bbcf63d198_m.jpg"/>
          <p:cNvPicPr>
            <a:picLocks noChangeAspect="1"/>
          </p:cNvPicPr>
          <p:nvPr/>
        </p:nvPicPr>
        <p:blipFill>
          <a:blip r:embed="rId3" cstate="print"/>
          <a:stretch>
            <a:fillRect/>
          </a:stretch>
        </p:blipFill>
        <p:spPr>
          <a:xfrm>
            <a:off x="5562600" y="1981200"/>
            <a:ext cx="2279915" cy="170993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PPT_FO_template_250612</Template>
  <TotalTime>5334</TotalTime>
  <Words>12855</Words>
  <Application>Microsoft Office PowerPoint</Application>
  <PresentationFormat>On-screen Show (4:3)</PresentationFormat>
  <Paragraphs>2222</Paragraphs>
  <Slides>157</Slides>
  <Notes>157</Notes>
  <HiddenSlides>0</HiddenSlides>
  <MMClips>0</MMClips>
  <ScaleCrop>false</ScaleCrop>
  <HeadingPairs>
    <vt:vector size="4" baseType="variant">
      <vt:variant>
        <vt:lpstr>Theme</vt:lpstr>
      </vt:variant>
      <vt:variant>
        <vt:i4>1</vt:i4>
      </vt:variant>
      <vt:variant>
        <vt:lpstr>Slide Titles</vt:lpstr>
      </vt:variant>
      <vt:variant>
        <vt:i4>157</vt:i4>
      </vt:variant>
    </vt:vector>
  </HeadingPairs>
  <TitlesOfParts>
    <vt:vector size="158" baseType="lpstr">
      <vt:lpstr>PPT_FO_template_250612</vt:lpstr>
      <vt:lpstr>WORK COOPERATIVELY IN A GENERAL ADMINISTRATION ENVIRONMENT</vt:lpstr>
      <vt:lpstr>Subject Elements</vt:lpstr>
      <vt:lpstr>Assessment</vt:lpstr>
      <vt:lpstr>PowerPoint Presentation</vt:lpstr>
      <vt:lpstr>Develop effective team relationships</vt:lpstr>
      <vt:lpstr>Develop effective team relationships</vt:lpstr>
      <vt:lpstr>Develop effective team relationships</vt:lpstr>
      <vt:lpstr>Teamwork</vt:lpstr>
      <vt:lpstr>Teamwork</vt:lpstr>
      <vt:lpstr>Team</vt:lpstr>
      <vt:lpstr>Team</vt:lpstr>
      <vt:lpstr>Types of teams</vt:lpstr>
      <vt:lpstr>Context for Front Office</vt:lpstr>
      <vt:lpstr>Team purpose and responsibilities</vt:lpstr>
      <vt:lpstr>Team purpose and responsibilities</vt:lpstr>
      <vt:lpstr>Purpose of work groups</vt:lpstr>
      <vt:lpstr>Workgroups</vt:lpstr>
      <vt:lpstr>Responsibilities</vt:lpstr>
      <vt:lpstr>Responsibilities</vt:lpstr>
      <vt:lpstr>Importance of communication</vt:lpstr>
      <vt:lpstr>Valuing customers and colleagues</vt:lpstr>
      <vt:lpstr>Social and cultural differences</vt:lpstr>
      <vt:lpstr>Social and cultural differences</vt:lpstr>
      <vt:lpstr>Different cultural groups</vt:lpstr>
      <vt:lpstr>Communicating in a diverse environment</vt:lpstr>
      <vt:lpstr>Communicating in a diverse environment</vt:lpstr>
      <vt:lpstr>Communicating in a diverse environment</vt:lpstr>
      <vt:lpstr>Organisational requirements</vt:lpstr>
      <vt:lpstr>Use appropriate communication</vt:lpstr>
      <vt:lpstr>Types of communication</vt:lpstr>
      <vt:lpstr>Effective communication</vt:lpstr>
      <vt:lpstr>Effective communication</vt:lpstr>
      <vt:lpstr>Written communication</vt:lpstr>
      <vt:lpstr>Communication</vt:lpstr>
      <vt:lpstr>Verbal communication</vt:lpstr>
      <vt:lpstr>Listening</vt:lpstr>
      <vt:lpstr>Effective listening</vt:lpstr>
      <vt:lpstr>Questioning</vt:lpstr>
      <vt:lpstr>Closed questions</vt:lpstr>
      <vt:lpstr>Open questions</vt:lpstr>
      <vt:lpstr>Non-verbal communication</vt:lpstr>
      <vt:lpstr>Non verbal communication</vt:lpstr>
      <vt:lpstr>Non verbal communication</vt:lpstr>
      <vt:lpstr>Language and tone</vt:lpstr>
      <vt:lpstr>Language and tone</vt:lpstr>
      <vt:lpstr>Language and tone</vt:lpstr>
      <vt:lpstr>Conflict and misunderstanding</vt:lpstr>
      <vt:lpstr>Conflict and misunderstanding</vt:lpstr>
      <vt:lpstr>Conflict with colleagues</vt:lpstr>
      <vt:lpstr>Conflict warning signs</vt:lpstr>
      <vt:lpstr>Colleague warning signs</vt:lpstr>
      <vt:lpstr>Resolving misunderstandings</vt:lpstr>
      <vt:lpstr>Refer issues and problems</vt:lpstr>
      <vt:lpstr>Refer issues and problems</vt:lpstr>
      <vt:lpstr>Refer issues and problems</vt:lpstr>
      <vt:lpstr>Workplace documentation</vt:lpstr>
      <vt:lpstr>Purpose of written documentation</vt:lpstr>
      <vt:lpstr>Written documentation</vt:lpstr>
      <vt:lpstr>Written documentation</vt:lpstr>
      <vt:lpstr>Written documentation</vt:lpstr>
      <vt:lpstr>Written documentation</vt:lpstr>
      <vt:lpstr>PowerPoint Presentation</vt:lpstr>
      <vt:lpstr>Participate in team assignments</vt:lpstr>
      <vt:lpstr>Participate in team assignments</vt:lpstr>
      <vt:lpstr>Identify individual responsibilities</vt:lpstr>
      <vt:lpstr>Identify individual responsibilities</vt:lpstr>
      <vt:lpstr>Identify individual responsibilities</vt:lpstr>
      <vt:lpstr>Identify individual responsibilities</vt:lpstr>
      <vt:lpstr>Identify individual responsibilities</vt:lpstr>
      <vt:lpstr>Identify individual responsibilities</vt:lpstr>
      <vt:lpstr>Ensure completion of tasks</vt:lpstr>
      <vt:lpstr>Ensure completion of tasks</vt:lpstr>
      <vt:lpstr>Ensure completion of tasks</vt:lpstr>
      <vt:lpstr>Priortise work activities</vt:lpstr>
      <vt:lpstr>Completing work activities</vt:lpstr>
      <vt:lpstr>Encouragement and motivation</vt:lpstr>
      <vt:lpstr>Encouragement and motivation</vt:lpstr>
      <vt:lpstr>Encouragement and motivation</vt:lpstr>
      <vt:lpstr>Encouragement and motivation</vt:lpstr>
      <vt:lpstr>Encouragement and motivation</vt:lpstr>
      <vt:lpstr>Supporting team members</vt:lpstr>
      <vt:lpstr>Monitoring completion of work activities</vt:lpstr>
      <vt:lpstr>Monitoring completion of work activities</vt:lpstr>
      <vt:lpstr>Monitoring completion of work activities</vt:lpstr>
      <vt:lpstr>Communicate information to team members</vt:lpstr>
      <vt:lpstr>Communication avenues</vt:lpstr>
      <vt:lpstr>Communication avenues</vt:lpstr>
      <vt:lpstr>Communication avenues</vt:lpstr>
      <vt:lpstr>Communication avenues</vt:lpstr>
      <vt:lpstr>Role of support</vt:lpstr>
      <vt:lpstr>Types of support</vt:lpstr>
      <vt:lpstr>Providing support &amp; assistance</vt:lpstr>
      <vt:lpstr>Providing assistance to others</vt:lpstr>
      <vt:lpstr>Types of assistance</vt:lpstr>
      <vt:lpstr>Providing support to others</vt:lpstr>
      <vt:lpstr>Identifying need for support</vt:lpstr>
      <vt:lpstr>People who provide support</vt:lpstr>
      <vt:lpstr>People who provide support</vt:lpstr>
      <vt:lpstr>Timing and support</vt:lpstr>
      <vt:lpstr>Timing and support</vt:lpstr>
      <vt:lpstr>Cultural differences in teams</vt:lpstr>
      <vt:lpstr>Types of cultural differences</vt:lpstr>
      <vt:lpstr>Accommodating cultural differences</vt:lpstr>
      <vt:lpstr>PowerPoint Presentation</vt:lpstr>
      <vt:lpstr>Contribute to team development</vt:lpstr>
      <vt:lpstr>Contribute to team development</vt:lpstr>
      <vt:lpstr>Contribute to team development</vt:lpstr>
      <vt:lpstr>Meeting customer needs</vt:lpstr>
      <vt:lpstr>Internal customer</vt:lpstr>
      <vt:lpstr>External customer</vt:lpstr>
      <vt:lpstr>Limitations when meeting requests</vt:lpstr>
      <vt:lpstr>Internal customer needs</vt:lpstr>
      <vt:lpstr>Identifying internal customer needs</vt:lpstr>
      <vt:lpstr>External customer needs</vt:lpstr>
      <vt:lpstr>External customer needs</vt:lpstr>
      <vt:lpstr>External customer expectations</vt:lpstr>
      <vt:lpstr>Specific target market needs</vt:lpstr>
      <vt:lpstr>Identifying external customer needs</vt:lpstr>
      <vt:lpstr>Special needs customers</vt:lpstr>
      <vt:lpstr>Special needs customers</vt:lpstr>
      <vt:lpstr>Professional development opportunities</vt:lpstr>
      <vt:lpstr>Professional development opportunities</vt:lpstr>
      <vt:lpstr>Professional development opportunities</vt:lpstr>
      <vt:lpstr>Professional development opportunities</vt:lpstr>
      <vt:lpstr>Professional development opportunities</vt:lpstr>
      <vt:lpstr>Professional development opportunities</vt:lpstr>
      <vt:lpstr>Professional development opportunities</vt:lpstr>
      <vt:lpstr>Professional development opportunities</vt:lpstr>
      <vt:lpstr>Professional development opportunities</vt:lpstr>
      <vt:lpstr>Mentoring</vt:lpstr>
      <vt:lpstr>Coaching</vt:lpstr>
      <vt:lpstr>Coaching</vt:lpstr>
      <vt:lpstr>Coaching</vt:lpstr>
      <vt:lpstr>Formal and informal learning programs</vt:lpstr>
      <vt:lpstr>Other development programs</vt:lpstr>
      <vt:lpstr>Support materials</vt:lpstr>
      <vt:lpstr>Support materials</vt:lpstr>
      <vt:lpstr>Feedback from team</vt:lpstr>
      <vt:lpstr>Positive feedback</vt:lpstr>
      <vt:lpstr>Negative feedback</vt:lpstr>
      <vt:lpstr>Neutral feedback</vt:lpstr>
      <vt:lpstr>Collecting feedback</vt:lpstr>
      <vt:lpstr>Collecting feedback</vt:lpstr>
      <vt:lpstr>Maintain personal work standards</vt:lpstr>
      <vt:lpstr>Maintain personal work standards</vt:lpstr>
      <vt:lpstr>Maintain personal work standards</vt:lpstr>
      <vt:lpstr>Make positive contributions in planning</vt:lpstr>
      <vt:lpstr>Make positive contributions in planning</vt:lpstr>
      <vt:lpstr>Make positive contributions in planning</vt:lpstr>
      <vt:lpstr>Non-discriminatory attitudes and language</vt:lpstr>
      <vt:lpstr>Expectations of overseas customers</vt:lpstr>
      <vt:lpstr>Non-discriminatory attitudes and language</vt:lpstr>
      <vt:lpstr>Non-discriminatory attitudes and language</vt:lpstr>
      <vt:lpstr>Non-discriminatory attitudes and language</vt:lpstr>
      <vt:lpstr>Non-discriminatory attitudes and language</vt:lpstr>
      <vt:lpstr>Non-discriminatory attitudes and language</vt:lpstr>
      <vt:lpstr>Revision and Assessments</vt:lpstr>
    </vt:vector>
  </TitlesOfParts>
  <Company>SINGOV</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COOPERATIVELY IN A GENERAL ADMINISTRATION ENVIRONMENT</dc:title>
  <dc:creator>Daniel James Chee</dc:creator>
  <cp:lastModifiedBy>Kaly Quach</cp:lastModifiedBy>
  <cp:revision>138</cp:revision>
  <dcterms:created xsi:type="dcterms:W3CDTF">2012-10-13T05:39:02Z</dcterms:created>
  <dcterms:modified xsi:type="dcterms:W3CDTF">2014-01-22T06:29:19Z</dcterms:modified>
</cp:coreProperties>
</file>