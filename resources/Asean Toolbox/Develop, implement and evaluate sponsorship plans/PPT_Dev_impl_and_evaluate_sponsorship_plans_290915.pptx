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49"/>
  </p:notesMasterIdLst>
  <p:handoutMasterIdLst>
    <p:handoutMasterId r:id="rId5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302" r:id="rId40"/>
    <p:sldId id="301" r:id="rId41"/>
    <p:sldId id="300" r:id="rId42"/>
    <p:sldId id="299" r:id="rId43"/>
    <p:sldId id="298" r:id="rId44"/>
    <p:sldId id="297" r:id="rId45"/>
    <p:sldId id="296" r:id="rId46"/>
    <p:sldId id="305" r:id="rId47"/>
    <p:sldId id="304" r:id="rId48"/>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35" autoAdjust="0"/>
    <p:restoredTop sz="76614" autoAdjust="0"/>
  </p:normalViewPr>
  <p:slideViewPr>
    <p:cSldViewPr>
      <p:cViewPr varScale="1">
        <p:scale>
          <a:sx n="70" d="100"/>
          <a:sy n="70" d="100"/>
        </p:scale>
        <p:origin x="1800"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7/18/2016</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7/18/2016</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introduces the unit</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21321525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a:t>
            </a:r>
            <a:r>
              <a:rPr lang="en-AU" baseline="0" noProof="0" dirty="0" smtClean="0"/>
              <a:t>rainer goes through assessment details and any housekeeping that is needed (Toilets, breaks, coffee/tea/water, emergency evacuation procedures etc). Trainer explains the performance criteria for and due dates for work projects.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33612512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noProof="0" dirty="0" smtClean="0"/>
              <a:t>Introduce the Toolbox</a:t>
            </a:r>
            <a:r>
              <a:rPr lang="en-AU" baseline="0" noProof="0" dirty="0" smtClean="0"/>
              <a:t> and trainer goes through assessment details and any housekeeping that is needed (Toilets, breaks, coffee/tea/water, emergency evacuation procedures etc). Trainer explains the performance criteria for and due dates for work projects.</a:t>
            </a: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9142507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AU" noProof="0" dirty="0" smtClean="0"/>
              <a:t>Trainer introduces the idea of sponsorship. Trainees</a:t>
            </a:r>
            <a:r>
              <a:rPr lang="en-AU" baseline="0" noProof="0" dirty="0" smtClean="0"/>
              <a:t> share any experience they have of sponsorship activity work.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258617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According to </a:t>
            </a:r>
            <a:r>
              <a:rPr lang="en-US" sz="1200" kern="1200" dirty="0" smtClean="0">
                <a:solidFill>
                  <a:schemeClr val="tx1"/>
                </a:solidFill>
                <a:latin typeface="+mn-lt"/>
                <a:ea typeface="+mn-ea"/>
                <a:cs typeface="+mn-cs"/>
              </a:rPr>
              <a:t>Jobber (2007) there are five major principals of sponsorship objective. These objectives include creating promotional opportunities, improving community relations, fostering favourable brand and company associations, creating entertainment opportunities and gaining publicity. Trainer explains each of these objectives and</a:t>
            </a:r>
            <a:r>
              <a:rPr lang="en-US" sz="1200" kern="1200" baseline="0" dirty="0" smtClean="0">
                <a:solidFill>
                  <a:schemeClr val="tx1"/>
                </a:solidFill>
                <a:latin typeface="+mn-lt"/>
                <a:ea typeface="+mn-ea"/>
                <a:cs typeface="+mn-cs"/>
              </a:rPr>
              <a:t> provides examples.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latin typeface="+mn-lt"/>
                <a:ea typeface="+mn-ea"/>
                <a:cs typeface="+mn-cs"/>
              </a:rPr>
              <a:t> Trainer asks trainees for examples of each</a:t>
            </a:r>
            <a:endParaRPr lang="en-US" sz="1200"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754258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dirty="0" smtClean="0">
                <a:solidFill>
                  <a:schemeClr val="tx1"/>
                </a:solidFill>
                <a:latin typeface="+mn-lt"/>
                <a:ea typeface="+mn-ea"/>
                <a:cs typeface="+mn-cs"/>
              </a:rPr>
              <a:t>As new ideas emerge in relation to marketing and advertising,  it has become common to link sponsorship with other promotional tools as can be seen in the diagram below. (Buhler &amp; Nufer 2010, p. 99). Trainer explains how sponsorship</a:t>
            </a:r>
            <a:r>
              <a:rPr lang="en-AU" sz="1200" kern="1200" baseline="0" dirty="0" smtClean="0">
                <a:solidFill>
                  <a:schemeClr val="tx1"/>
                </a:solidFill>
                <a:latin typeface="+mn-lt"/>
                <a:ea typeface="+mn-ea"/>
                <a:cs typeface="+mn-cs"/>
              </a:rPr>
              <a:t> can link in with promotional activities.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latin typeface="+mn-lt"/>
                <a:ea typeface="+mn-ea"/>
                <a:cs typeface="+mn-cs"/>
              </a:rPr>
              <a:t> Trainer could bring examples from major brands linking with events (Coca-cola, Pepsi, Nike) like major sporting events.</a:t>
            </a:r>
            <a:endParaRPr lang="en-US" sz="1200" kern="1200" dirty="0" smtClean="0">
              <a:solidFill>
                <a:schemeClr val="tx1"/>
              </a:solidFill>
              <a:latin typeface="+mn-lt"/>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34722810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slide and explains the need for sponsorship objectives. </a:t>
            </a:r>
          </a:p>
          <a:p>
            <a:pPr>
              <a:buFont typeface="Arial" pitchFamily="34" charset="0"/>
              <a:buChar char="•"/>
            </a:pPr>
            <a:r>
              <a:rPr lang="en-US" baseline="0" dirty="0" smtClean="0"/>
              <a:t> Trainer elicits indirect and direct sponsorship objectives from Trainee manual (TM)</a:t>
            </a:r>
          </a:p>
          <a:p>
            <a:pPr>
              <a:buFont typeface="Arial" pitchFamily="34" charset="0"/>
              <a:buChar char="•"/>
            </a:pPr>
            <a:r>
              <a:rPr lang="en-US" baseline="0" dirty="0" smtClean="0"/>
              <a:t> Trainer asks trainees to read through the aspects of sponsorship initiatives and discuss each part</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19763765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a:t>
            </a:r>
            <a:r>
              <a:rPr lang="en-US" baseline="0" dirty="0" smtClean="0"/>
              <a:t> criteria. </a:t>
            </a:r>
          </a:p>
          <a:p>
            <a:pPr>
              <a:buFont typeface="Arial" pitchFamily="34" charset="0"/>
              <a:buChar char="•"/>
            </a:pPr>
            <a:r>
              <a:rPr lang="en-US" baseline="0" dirty="0" smtClean="0"/>
              <a:t> Trainees discuss their experience of budgets and share with the group. Trainer presents what a budget is using information from below.</a:t>
            </a:r>
          </a:p>
          <a:p>
            <a:r>
              <a:rPr lang="en-AU" sz="1200" kern="1200" dirty="0" smtClean="0">
                <a:solidFill>
                  <a:schemeClr val="tx1"/>
                </a:solidFill>
                <a:latin typeface="+mn-lt"/>
                <a:ea typeface="+mn-ea"/>
                <a:cs typeface="+mn-cs"/>
              </a:rPr>
              <a:t>A budget: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Is a quantified statement of plan where the plan is expressed in numerical terms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Process includes costing and estimating income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Includes the allocation of financial resources to be used to compare costs and revenues with projected costs and revenues and to calculate maximum possible expenditure for each area of an event or activity</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Can take many forms</a:t>
            </a:r>
            <a:endParaRPr lang="en-US"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41785378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presents the budget process</a:t>
            </a:r>
          </a:p>
          <a:p>
            <a:pPr>
              <a:buFont typeface="Arial" pitchFamily="34" charset="0"/>
              <a:buChar char="•"/>
            </a:pPr>
            <a:r>
              <a:rPr lang="en-US" dirty="0" smtClean="0"/>
              <a:t> Trainer goes through the budget notes, budget</a:t>
            </a:r>
            <a:r>
              <a:rPr lang="en-US" baseline="0" dirty="0" smtClean="0"/>
              <a:t> line items, examples of budgets to consider, need for budgets from the TM with trainees</a:t>
            </a:r>
          </a:p>
          <a:p>
            <a:pPr>
              <a:buFont typeface="Arial" pitchFamily="34" charset="0"/>
              <a:buChar char="•"/>
            </a:pPr>
            <a:r>
              <a:rPr lang="en-US" baseline="0" dirty="0" smtClean="0"/>
              <a:t>Trainer explains the aspects of budget considerations for sponsorship activities</a:t>
            </a:r>
          </a:p>
          <a:p>
            <a:pPr>
              <a:buFont typeface="Arial" pitchFamily="34" charset="0"/>
              <a:buChar char="•"/>
            </a:pPr>
            <a:r>
              <a:rPr lang="en-US" sz="1200" kern="1200" baseline="0" dirty="0" smtClean="0">
                <a:solidFill>
                  <a:schemeClr val="tx1"/>
                </a:solidFill>
                <a:latin typeface="+mn-lt"/>
                <a:ea typeface="+mn-ea"/>
                <a:cs typeface="+mn-cs"/>
              </a:rPr>
              <a:t> </a:t>
            </a:r>
            <a:r>
              <a:rPr lang="en-AU" sz="1200" kern="1200" dirty="0" smtClean="0">
                <a:solidFill>
                  <a:schemeClr val="tx1"/>
                </a:solidFill>
                <a:latin typeface="+mn-lt"/>
                <a:ea typeface="+mn-ea"/>
                <a:cs typeface="+mn-cs"/>
              </a:rPr>
              <a:t>Determine and set financial parameters for engagement with sponsorship activities. This may include reviewing previous sponsorship activities and identifying costs versus benefits.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Determine non-financial support that may be made available to partners, including use of enterprise staff, use of facilities, information and knowledge sharing, joint advertising and promotion, provision of free and/or discounted products and services. It is important to evaluate the costs associated with providing access to the enterprise operation as this sponsorship activity may require a lot of support which may negatively impact on regular operations.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Schedule engagement with sponsorship opportunities to align with relevant cash flow restrictions. Identifying appropriate times to engage in sponsorship activities is critical for the success of the event. It is not effective to schedule a sponsorship activity when cash flow is limited or when normal operations are at a peak.</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Establish internal budgets and resource allocation protocols so as to not negatively impact on regular operations.</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Notify internal personnel regarding limitations placed on sponsorships. There may be limits on budget set by management or scheduling guidelines that may influence when sponsorship events can take place.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39301258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a:t>
            </a:r>
          </a:p>
          <a:p>
            <a:pPr>
              <a:buFont typeface="Arial" pitchFamily="34" charset="0"/>
              <a:buChar char="•"/>
            </a:pPr>
            <a:r>
              <a:rPr lang="en-US" dirty="0" smtClean="0"/>
              <a:t> Trainer presents</a:t>
            </a:r>
            <a:r>
              <a:rPr lang="en-US" baseline="0" dirty="0" smtClean="0"/>
              <a:t> the slide and explains each point. Trainees identify why these points are important for the organisation.</a:t>
            </a:r>
          </a:p>
          <a:p>
            <a:pPr>
              <a:buFont typeface="Arial" pitchFamily="34" charset="0"/>
              <a:buChar char="•"/>
            </a:pPr>
            <a:r>
              <a:rPr lang="en-US" baseline="0" dirty="0" smtClean="0"/>
              <a:t> Trainer instructs trainees to read through the parameters for selecting sponsorship activities. Trainees discuss each point in groups.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1706665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presents the slide and elicits why alternatives to sponsorship may be more effective for an organisation using information from the TM.</a:t>
            </a:r>
          </a:p>
          <a:p>
            <a:pPr>
              <a:buFont typeface="Arial" pitchFamily="34" charset="0"/>
              <a:buChar char="•"/>
            </a:pPr>
            <a:r>
              <a:rPr lang="en-US" baseline="0" dirty="0" smtClean="0"/>
              <a:t> Trainees complete the activity from TM</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1" kern="1200" dirty="0" smtClean="0">
                <a:solidFill>
                  <a:schemeClr val="tx1"/>
                </a:solidFill>
                <a:latin typeface="+mn-lt"/>
                <a:ea typeface="+mn-ea"/>
                <a:cs typeface="+mn-cs"/>
              </a:rPr>
              <a:t>Activity: In small groups, discuss the alternatives listed and any others you can think of. Which alternative is the best option in your opinion?</a:t>
            </a:r>
            <a:endParaRPr lang="en-US" sz="1200" b="1"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2150268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introduces the performance criteria. Trainer asks trainees to identify different organisations or people that could participate in the activity. Trainer asks students How could each of these groups or people support the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27455010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Trainer presents</a:t>
            </a:r>
            <a:r>
              <a:rPr lang="en-US" baseline="0" dirty="0" smtClean="0"/>
              <a:t> the slide and explains the process:</a:t>
            </a:r>
          </a:p>
          <a:p>
            <a:pPr>
              <a:buFont typeface="Arial" pitchFamily="34" charset="0"/>
              <a:buChar char="•"/>
            </a:pPr>
            <a:r>
              <a:rPr lang="en-AU" sz="1200" kern="1200" dirty="0" smtClean="0">
                <a:solidFill>
                  <a:schemeClr val="tx1"/>
                </a:solidFill>
                <a:latin typeface="+mn-lt"/>
                <a:ea typeface="+mn-ea"/>
                <a:cs typeface="+mn-cs"/>
              </a:rPr>
              <a:t>It may be effective to follow a step by step process in order to gather support from different stakeholders. It is important to know what is required for the sponsorship activity before approaching suppliers and service providers in order to be clear about what they could do to assist the activity. It may be useful to prioritise the support needed as well. </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Trainees complete the activity: </a:t>
            </a:r>
            <a:r>
              <a:rPr lang="en-AU" sz="1200" b="1" kern="1200" dirty="0" smtClean="0">
                <a:solidFill>
                  <a:schemeClr val="tx1"/>
                </a:solidFill>
                <a:latin typeface="+mn-lt"/>
                <a:ea typeface="+mn-ea"/>
                <a:cs typeface="+mn-cs"/>
              </a:rPr>
              <a:t>Activity: List all of the stakeholders connected to your organisation. What kind of support could they provide for sponsorship activities?</a:t>
            </a:r>
            <a:endParaRPr lang="en-US" sz="1200" b="1"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11276125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t>
            </a:r>
          </a:p>
          <a:p>
            <a:pPr>
              <a:buFont typeface="Arial" pitchFamily="34" charset="0"/>
              <a:buChar char="•"/>
            </a:pPr>
            <a:r>
              <a:rPr lang="en-US" dirty="0" smtClean="0"/>
              <a:t> Trainer explains the necessity</a:t>
            </a:r>
            <a:r>
              <a:rPr lang="en-US" baseline="0" dirty="0" smtClean="0"/>
              <a:t> of developing systems and protocols for engagement in sponsorship events. It is important to identify what is happening during the event, who is doing what, any issues or highlights, and to keep records of this information.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1608129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a:t>
            </a:r>
            <a:r>
              <a:rPr lang="en-US" baseline="0" dirty="0" smtClean="0"/>
              <a:t> performance criteria and presents the two approaches in the slide. Trainer uses information in the TM to explain the meaning of each approach.</a:t>
            </a:r>
          </a:p>
          <a:p>
            <a:pPr>
              <a:buFont typeface="Arial" pitchFamily="34" charset="0"/>
              <a:buChar char="•"/>
            </a:pPr>
            <a:r>
              <a:rPr lang="en-US" baseline="0" dirty="0" smtClean="0"/>
              <a:t> Trainer introduces the information from the TM about considering the management process in evaluation (See below)</a:t>
            </a:r>
          </a:p>
          <a:p>
            <a:r>
              <a:rPr lang="en-AU" sz="1200" kern="1200" dirty="0" smtClean="0">
                <a:solidFill>
                  <a:schemeClr val="tx1"/>
                </a:solidFill>
                <a:latin typeface="+mn-lt"/>
                <a:ea typeface="+mn-ea"/>
                <a:cs typeface="+mn-cs"/>
              </a:rPr>
              <a:t>Vanity - the selection of measures that make management look good.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Provincialism - keeping within organizational or industry boundaries when new measures are needed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Narcissism - measuring from one's own point of view, not that of the customer</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Laziness - assuming one knows what to measure without giving it thought</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Pettiness - measuring a small subset of what should be measured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Inanity - measuring without thought of how measurement or actions based on it will influence the organization</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Frivolity - not being serious about measuring</a:t>
            </a:r>
            <a:endParaRPr lang="en-US"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1226452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goes</a:t>
            </a:r>
            <a:r>
              <a:rPr lang="en-US" baseline="0" dirty="0" smtClean="0"/>
              <a:t> through the information from the TM and explains each measurement parameter.</a:t>
            </a:r>
          </a:p>
          <a:p>
            <a:r>
              <a:rPr lang="en-AU" sz="1200" kern="1200" dirty="0" smtClean="0">
                <a:solidFill>
                  <a:schemeClr val="tx1"/>
                </a:solidFill>
                <a:latin typeface="+mn-lt"/>
                <a:ea typeface="+mn-ea"/>
                <a:cs typeface="+mn-cs"/>
              </a:rPr>
              <a:t>Brand awareness - the extent and ease to which customers recall and recognise the brand and can identify the products and services with which it is associated.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Brand associations - the strength, favourability, and uniqueness of perceived attributes and benefits for the brand and firm.</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Brand attitudes - overall evaluations of the brand in terms of its quality and the satisfaction it generates.</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Brand attachment - how loyal the customer feels toward the brand.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Brand experience - the extent to which customers use the brand; talk to others about the brand; seek out brand information, promotions, and events.</a:t>
            </a:r>
            <a:endParaRPr lang="en-US" sz="1200" kern="1200" dirty="0" smtClean="0">
              <a:solidFill>
                <a:schemeClr val="tx1"/>
              </a:solidFill>
              <a:latin typeface="+mn-lt"/>
              <a:ea typeface="+mn-ea"/>
              <a:cs typeface="+mn-cs"/>
            </a:endParaRPr>
          </a:p>
          <a:p>
            <a:pPr>
              <a:buFont typeface="Arial" pitchFamily="34" charset="0"/>
              <a:buChar char="•"/>
            </a:pPr>
            <a:r>
              <a:rPr lang="en-US" dirty="0" smtClean="0"/>
              <a:t> Trainer asks trainees to read through the information in their TMs about</a:t>
            </a:r>
            <a:r>
              <a:rPr lang="en-US" baseline="0" dirty="0" smtClean="0"/>
              <a:t> performance measurements and trainer elicits each aspect including KPI’s.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8558796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a:t>
            </a:r>
            <a:r>
              <a:rPr lang="en-US" baseline="0" dirty="0" smtClean="0"/>
              <a:t> the performance criteria and elicits the way that products and services could be incorporated into a sponsorship activity.</a:t>
            </a:r>
          </a:p>
          <a:p>
            <a:pPr>
              <a:buFont typeface="Arial" pitchFamily="34" charset="0"/>
              <a:buChar char="•"/>
            </a:pPr>
            <a:r>
              <a:rPr lang="en-US" baseline="0" dirty="0" smtClean="0"/>
              <a:t> Trainees consider their organisation’s products and services and how they could align with sponsorship events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20170007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explains the need for organisation’s to prepare</a:t>
            </a:r>
            <a:r>
              <a:rPr lang="en-US" baseline="0" dirty="0" smtClean="0"/>
              <a:t> polite ways to refuse sponsorship applications.</a:t>
            </a:r>
          </a:p>
          <a:p>
            <a:pPr>
              <a:buFont typeface="Arial" pitchFamily="34" charset="0"/>
              <a:buChar char="•"/>
            </a:pPr>
            <a:r>
              <a:rPr lang="en-US" baseline="0" dirty="0" smtClean="0"/>
              <a:t> Trainer asks trainees to read through information in TMs.</a:t>
            </a:r>
          </a:p>
          <a:p>
            <a:r>
              <a:rPr lang="en-US" sz="1200" kern="1200" dirty="0" smtClean="0">
                <a:solidFill>
                  <a:schemeClr val="tx1"/>
                </a:solidFill>
                <a:latin typeface="+mn-lt"/>
                <a:ea typeface="+mn-ea"/>
                <a:cs typeface="+mn-cs"/>
              </a:rPr>
              <a:t>State your reason for declining. If you give the </a:t>
            </a:r>
            <a:r>
              <a:rPr lang="en-AU" sz="1200" kern="1200" dirty="0" smtClean="0">
                <a:solidFill>
                  <a:schemeClr val="tx1"/>
                </a:solidFill>
                <a:latin typeface="+mn-lt"/>
                <a:ea typeface="+mn-ea"/>
                <a:cs typeface="+mn-cs"/>
              </a:rPr>
              <a:t>sponsorship partner</a:t>
            </a:r>
            <a:r>
              <a:rPr lang="en-US" sz="1200" kern="1200" dirty="0" smtClean="0">
                <a:solidFill>
                  <a:schemeClr val="tx1"/>
                </a:solidFill>
                <a:latin typeface="+mn-lt"/>
                <a:ea typeface="+mn-ea"/>
                <a:cs typeface="+mn-cs"/>
              </a:rPr>
              <a:t> a valid reason for declining — i.e. budget reasons, schedule conflict, etc. — it will be easier for them to empathi</a:t>
            </a:r>
            <a:r>
              <a:rPr lang="en-AU" sz="1200" kern="1200" dirty="0" smtClean="0">
                <a:solidFill>
                  <a:schemeClr val="tx1"/>
                </a:solidFill>
                <a:latin typeface="+mn-lt"/>
                <a:ea typeface="+mn-ea"/>
                <a:cs typeface="+mn-cs"/>
              </a:rPr>
              <a:t>s</a:t>
            </a:r>
            <a:r>
              <a:rPr lang="en-US" sz="1200" kern="1200" dirty="0" smtClean="0">
                <a:solidFill>
                  <a:schemeClr val="tx1"/>
                </a:solidFill>
                <a:latin typeface="+mn-lt"/>
                <a:ea typeface="+mn-ea"/>
                <a:cs typeface="+mn-cs"/>
              </a:rPr>
              <a:t>e and to take “no” for an answer without putting you on their blacklist. </a:t>
            </a:r>
            <a:r>
              <a:rPr lang="en-AU" sz="1200" kern="1200" dirty="0" smtClean="0">
                <a:solidFill>
                  <a:schemeClr val="tx1"/>
                </a:solidFill>
                <a:latin typeface="+mn-lt"/>
                <a:ea typeface="+mn-ea"/>
                <a:cs typeface="+mn-cs"/>
              </a:rPr>
              <a:t>It may be appropriate to</a:t>
            </a:r>
            <a:r>
              <a:rPr lang="en-US" sz="1200" kern="1200" dirty="0" smtClean="0">
                <a:solidFill>
                  <a:schemeClr val="tx1"/>
                </a:solidFill>
                <a:latin typeface="+mn-lt"/>
                <a:ea typeface="+mn-ea"/>
                <a:cs typeface="+mn-cs"/>
              </a:rPr>
              <a:t> start by thanking them for considering </a:t>
            </a:r>
            <a:r>
              <a:rPr lang="en-AU" sz="1200" kern="1200" dirty="0" smtClean="0">
                <a:solidFill>
                  <a:schemeClr val="tx1"/>
                </a:solidFill>
                <a:latin typeface="+mn-lt"/>
                <a:ea typeface="+mn-ea"/>
                <a:cs typeface="+mn-cs"/>
              </a:rPr>
              <a:t>the organisation</a:t>
            </a:r>
            <a:r>
              <a:rPr lang="en-US" sz="1200" kern="1200" dirty="0" smtClean="0">
                <a:solidFill>
                  <a:schemeClr val="tx1"/>
                </a:solidFill>
                <a:latin typeface="+mn-lt"/>
                <a:ea typeface="+mn-ea"/>
                <a:cs typeface="+mn-cs"/>
              </a:rPr>
              <a:t>, then follow that up with an apologetic reason why </a:t>
            </a:r>
            <a:r>
              <a:rPr lang="en-AU" sz="1200" kern="1200" dirty="0" smtClean="0">
                <a:solidFill>
                  <a:schemeClr val="tx1"/>
                </a:solidFill>
                <a:latin typeface="+mn-lt"/>
                <a:ea typeface="+mn-ea"/>
                <a:cs typeface="+mn-cs"/>
              </a:rPr>
              <a:t>the enterprise is</a:t>
            </a:r>
            <a:r>
              <a:rPr lang="en-US" sz="1200" kern="1200" dirty="0" smtClean="0">
                <a:solidFill>
                  <a:schemeClr val="tx1"/>
                </a:solidFill>
                <a:latin typeface="+mn-lt"/>
                <a:ea typeface="+mn-ea"/>
                <a:cs typeface="+mn-cs"/>
              </a:rPr>
              <a:t> unable to take part. An example form of this would be along the lines of: “Regrettably, we are unable to participate in your event at this time due to [insert your reason here].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1416179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goes through the information from the slide and trainees</a:t>
            </a:r>
            <a:r>
              <a:rPr lang="en-US" baseline="0" dirty="0" smtClean="0"/>
              <a:t> read more details in their TMs.</a:t>
            </a:r>
          </a:p>
          <a:p>
            <a:pPr>
              <a:buFont typeface="Arial" pitchFamily="34" charset="0"/>
              <a:buChar char="•"/>
            </a:pPr>
            <a:r>
              <a:rPr lang="en-US" baseline="0" dirty="0" smtClean="0"/>
              <a:t> Trainer answers any questions from trainees and checks understanding</a:t>
            </a:r>
          </a:p>
          <a:p>
            <a:pPr>
              <a:buFont typeface="Arial" pitchFamily="34" charset="0"/>
              <a:buChar char="•"/>
            </a:pPr>
            <a:r>
              <a:rPr lang="en-US" baseline="0" dirty="0" smtClean="0"/>
              <a:t> Trainer goes through work projects and due dates of assessment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4962683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element</a:t>
            </a:r>
            <a:r>
              <a:rPr lang="en-US" baseline="0" dirty="0" smtClean="0"/>
              <a:t> and performance criteria and explains assessment processes and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30776886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introduces the performance criteria and trainees read through the introduction in their TMs. </a:t>
            </a:r>
          </a:p>
          <a:p>
            <a:pPr>
              <a:buFont typeface="Arial" pitchFamily="34" charset="0"/>
              <a:buChar char="•"/>
            </a:pPr>
            <a:r>
              <a:rPr lang="en-US" baseline="0" dirty="0" smtClean="0"/>
              <a:t> Trainer goes through the information in the slide and explains each type of package</a:t>
            </a:r>
          </a:p>
          <a:p>
            <a:pPr>
              <a:buFont typeface="Arial" pitchFamily="34" charset="0"/>
              <a:buChar char="•"/>
            </a:pPr>
            <a:r>
              <a:rPr lang="en-US" baseline="0" dirty="0" smtClean="0"/>
              <a:t> Trainees read through the next section about choosing parts of sponsorship packages. Trainer facilitates and elicits each aspect.</a:t>
            </a:r>
          </a:p>
          <a:p>
            <a:pPr>
              <a:buFont typeface="Arial" pitchFamily="34" charset="0"/>
              <a:buChar char="•"/>
            </a:pPr>
            <a:r>
              <a:rPr lang="en-US" baseline="0" dirty="0" smtClean="0"/>
              <a:t> Trainees provide examples of their own organisation’s sponsorship packages if available</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20342333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introduces the performance criteria and trainees read through the introduction in their TMs</a:t>
            </a:r>
          </a:p>
          <a:p>
            <a:pPr>
              <a:buFont typeface="Arial" pitchFamily="34" charset="0"/>
              <a:buChar char="•"/>
            </a:pPr>
            <a:r>
              <a:rPr lang="en-US" baseline="0" dirty="0" smtClean="0"/>
              <a:t> Trainer goes through the slide with trainees and asks students to list the main products and services that their organisation offers. Trainees discuss how these products and services could be used in sponsorship activities.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4060946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students read through the introduction in their TMs</a:t>
            </a:r>
          </a:p>
          <a:p>
            <a:pPr>
              <a:buFont typeface="Arial" pitchFamily="34" charset="0"/>
              <a:buChar char="•"/>
            </a:pPr>
            <a:r>
              <a:rPr lang="en-US" baseline="0" dirty="0" smtClean="0"/>
              <a:t> Trainer asks students in small groups to identify what organisation’s may expect from engaging in sponsorship activities. Trainees read through the information in their TMs and trainer answers any questions as required.</a:t>
            </a:r>
            <a:endParaRPr lang="en-US" dirty="0" smtClean="0"/>
          </a:p>
          <a:p>
            <a:pPr>
              <a:buFont typeface="Arial" pitchFamily="34" charset="0"/>
              <a:buChar char="•"/>
            </a:pPr>
            <a:r>
              <a:rPr lang="en-AU" sz="1200" kern="1200" dirty="0" smtClean="0">
                <a:solidFill>
                  <a:schemeClr val="tx1"/>
                </a:solidFill>
                <a:latin typeface="+mn-lt"/>
                <a:ea typeface="+mn-ea"/>
                <a:cs typeface="+mn-cs"/>
              </a:rPr>
              <a:t> Nominating the types of packages available, such as Gold, Silver or Bronze.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Prescribing the total value of each package.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Nominating the products and services that are included in each package</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Describing and quantifying organisational expectations in relation to the provision of each package, in relation to sales, contacts made, general public exposure, media exposure, naming rights, product placement, size, type and placement of host enterprise promotional material, and absence of industry competitors, or requirements regarding proximity of competitors to host enterprise materials.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Explaining to organisers exactly what the sponsorship covers and exactly what it is expected to achieve for the business. </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Identifying the provision of complementary invitations to the event or activity, including seats, meals and tickets for use by the host enterprise and seats for distribution to other clients. </a:t>
            </a:r>
            <a:endParaRPr lang="en-US"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326908816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asks trainees to read through the introduction </a:t>
            </a:r>
          </a:p>
          <a:p>
            <a:pPr>
              <a:buFont typeface="Arial" pitchFamily="34" charset="0"/>
              <a:buChar char="•"/>
            </a:pPr>
            <a:r>
              <a:rPr lang="en-US" baseline="0" dirty="0" smtClean="0"/>
              <a:t> Trainer elicits the varying amounts of input that may be required from an organisation.</a:t>
            </a:r>
          </a:p>
          <a:p>
            <a:pPr>
              <a:buFont typeface="Arial" pitchFamily="34" charset="0"/>
              <a:buChar char="•"/>
            </a:pPr>
            <a:r>
              <a:rPr lang="en-US" baseline="0" dirty="0" smtClean="0"/>
              <a:t> Trainer asks “What factors would impact on the amount of input provided by the organisation?” Possible answers: cost, availability of staff and resources, size of the event, expected returns from participation in the event (big returns may require more input). Trainees provide their own ideas and trainer elicits information from the TM.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4890356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aseline="0" dirty="0" smtClean="0"/>
              <a:t> Trainer introduces the performance criteria and goes through the information with students.</a:t>
            </a:r>
          </a:p>
          <a:p>
            <a:pPr>
              <a:buFont typeface="Arial" pitchFamily="34" charset="0"/>
              <a:buChar char="•"/>
            </a:pPr>
            <a:r>
              <a:rPr lang="en-US" baseline="0" dirty="0" smtClean="0"/>
              <a:t> Trainer explains the importance of communicating with potential partners and that this networking can help the organisation gain more benefits from the activity by increasing exposure and market reach.</a:t>
            </a:r>
          </a:p>
          <a:p>
            <a:pPr>
              <a:buFont typeface="Arial" pitchFamily="34" charset="0"/>
              <a:buChar char="•"/>
            </a:pPr>
            <a:r>
              <a:rPr lang="en-US" baseline="0" dirty="0" smtClean="0"/>
              <a:t> Trainer reminds students about work project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3005772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introduces the Element and confirms</a:t>
            </a:r>
            <a:r>
              <a:rPr lang="en-US" baseline="0" dirty="0" smtClean="0"/>
              <a:t> assessment and work project due dates and details.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7158943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554776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students read through the introduction</a:t>
            </a:r>
          </a:p>
          <a:p>
            <a:r>
              <a:rPr lang="en-US" dirty="0" smtClean="0"/>
              <a:t> Trainer explains different packages </a:t>
            </a:r>
            <a:br>
              <a:rPr lang="en-US" dirty="0" smtClean="0"/>
            </a:br>
            <a:r>
              <a:rPr lang="en-AU" sz="1200" kern="1200" dirty="0" smtClean="0">
                <a:solidFill>
                  <a:schemeClr val="tx1"/>
                </a:solidFill>
                <a:latin typeface="+mn-lt"/>
                <a:ea typeface="+mn-ea"/>
                <a:cs typeface="+mn-cs"/>
              </a:rPr>
              <a:t>Most sponsorship events seem to offer three levels (high, medium and low) each with names indicating their relative position in the overall scheme – for example: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Gold, silver and bronze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Platinum, gold and silver</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Blue, red and white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Mega, major and minor.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 Trainer</a:t>
            </a:r>
            <a:r>
              <a:rPr lang="en-AU" sz="1200" kern="1200" baseline="0" dirty="0" smtClean="0">
                <a:solidFill>
                  <a:schemeClr val="tx1"/>
                </a:solidFill>
                <a:latin typeface="+mn-lt"/>
                <a:ea typeface="+mn-ea"/>
                <a:cs typeface="+mn-cs"/>
              </a:rPr>
              <a:t> elicits </a:t>
            </a:r>
            <a:r>
              <a:rPr lang="en-AU" sz="1200" b="1" kern="1200" dirty="0" smtClean="0">
                <a:solidFill>
                  <a:schemeClr val="tx1"/>
                </a:solidFill>
                <a:latin typeface="+mn-lt"/>
                <a:ea typeface="+mn-ea"/>
                <a:cs typeface="+mn-cs"/>
              </a:rPr>
              <a:t>Period of sponsorship – aligning each level with a time period,</a:t>
            </a:r>
            <a:r>
              <a:rPr lang="en-AU" sz="1200" b="1" kern="1200" baseline="0" dirty="0" smtClean="0">
                <a:solidFill>
                  <a:schemeClr val="tx1"/>
                </a:solidFill>
                <a:latin typeface="+mn-lt"/>
                <a:ea typeface="+mn-ea"/>
                <a:cs typeface="+mn-cs"/>
              </a:rPr>
              <a:t> </a:t>
            </a:r>
            <a:r>
              <a:rPr lang="en-AU" sz="1200" b="1" kern="1200" dirty="0" smtClean="0">
                <a:solidFill>
                  <a:schemeClr val="tx1"/>
                </a:solidFill>
                <a:latin typeface="+mn-lt"/>
                <a:ea typeface="+mn-ea"/>
                <a:cs typeface="+mn-cs"/>
              </a:rPr>
              <a:t>Identifying costs of providing benefits in benefit packages</a:t>
            </a:r>
            <a:endParaRPr lang="en-US" sz="1200" b="1"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b="0" kern="1200" baseline="0" dirty="0" smtClean="0">
                <a:solidFill>
                  <a:schemeClr val="tx1"/>
                </a:solidFill>
                <a:latin typeface="+mn-lt"/>
                <a:ea typeface="+mn-ea"/>
                <a:cs typeface="+mn-cs"/>
              </a:rPr>
              <a:t> Trainees read through the costs and discuss the details with the trainer</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sz="1200" b="0" kern="1200" dirty="0" smtClean="0">
              <a:solidFill>
                <a:schemeClr val="tx1"/>
              </a:solidFill>
              <a:latin typeface="+mn-lt"/>
              <a:ea typeface="+mn-ea"/>
              <a:cs typeface="+mn-cs"/>
            </a:endParaRPr>
          </a:p>
          <a:p>
            <a:pPr>
              <a:buFont typeface="Arial" pitchFamily="34" charset="0"/>
              <a:buChar char="•"/>
            </a:pPr>
            <a:endParaRPr lang="en-US"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2532488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elicits</a:t>
            </a:r>
            <a:r>
              <a:rPr lang="en-US" baseline="0" dirty="0" smtClean="0"/>
              <a:t> information in the slide highlighting the need to be clear with details so that no disagreements occur later</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69506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a:t>
            </a:r>
            <a:r>
              <a:rPr lang="en-US" baseline="0" dirty="0" smtClean="0"/>
              <a:t> the performance criteria and elicits the Sponsorship Unit Relationship Model. You could mix up the definitions and ask students to match the stage with the correct definition without students looking at their TMs.</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36821554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baseline="0" dirty="0" smtClean="0"/>
              <a:t> Trainer goes through the information in the slide and elicits meaning for each benefit.</a:t>
            </a:r>
          </a:p>
          <a:p>
            <a:pPr>
              <a:buFont typeface="Arial" pitchFamily="34" charset="0"/>
              <a:buChar char="•"/>
            </a:pPr>
            <a:r>
              <a:rPr lang="en-US" baseline="0" dirty="0" smtClean="0"/>
              <a:t> Trainer asks students to read through the confirmation section in their TMs and Trainer elicits the need to confirm details with sponsorship organisers to be clear.</a:t>
            </a:r>
          </a:p>
          <a:p>
            <a:pPr>
              <a:buFont typeface="Arial" pitchFamily="34" charset="0"/>
              <a:buChar char="•"/>
            </a:pPr>
            <a:r>
              <a:rPr lang="en-US" baseline="0" dirty="0" smtClean="0"/>
              <a:t> Trainer goes through each detail with students using the TM to explain: </a:t>
            </a:r>
            <a:br>
              <a:rPr lang="en-US" baseline="0" dirty="0" smtClean="0"/>
            </a:br>
            <a:r>
              <a:rPr lang="en-AU" sz="1200" kern="1200" dirty="0" smtClean="0">
                <a:solidFill>
                  <a:schemeClr val="tx1"/>
                </a:solidFill>
                <a:latin typeface="+mn-lt"/>
                <a:ea typeface="+mn-ea"/>
                <a:cs typeface="+mn-cs"/>
              </a:rPr>
              <a:t>Obtaining verification that the expected outcomes for the host enterprise will be forthcoming. </a:t>
            </a:r>
            <a:br>
              <a:rPr lang="en-AU" sz="1200" kern="1200" dirty="0" smtClean="0">
                <a:solidFill>
                  <a:schemeClr val="tx1"/>
                </a:solidFill>
                <a:latin typeface="+mn-lt"/>
                <a:ea typeface="+mn-ea"/>
                <a:cs typeface="+mn-cs"/>
              </a:rPr>
            </a:br>
            <a:r>
              <a:rPr lang="en-AU" sz="1200" kern="1200" dirty="0" smtClean="0">
                <a:solidFill>
                  <a:schemeClr val="tx1"/>
                </a:solidFill>
                <a:latin typeface="+mn-lt"/>
                <a:ea typeface="+mn-ea"/>
                <a:cs typeface="+mn-cs"/>
              </a:rPr>
              <a:t>Quantifying and fully describing expectations of the host enterprise. </a:t>
            </a:r>
          </a:p>
          <a:p>
            <a:pPr>
              <a:buFont typeface="Arial" pitchFamily="34" charset="0"/>
              <a:buNone/>
            </a:pPr>
            <a:r>
              <a:rPr lang="en-AU" sz="1200" kern="1200" dirty="0" smtClean="0">
                <a:solidFill>
                  <a:schemeClr val="tx1"/>
                </a:solidFill>
                <a:latin typeface="+mn-lt"/>
                <a:ea typeface="+mn-ea"/>
                <a:cs typeface="+mn-cs"/>
              </a:rPr>
              <a:t>Adjusting expectations in accordance with feedback and/or information received from the organiser, including increasing, decreasing or substituting expectations. </a:t>
            </a:r>
          </a:p>
          <a:p>
            <a:pPr>
              <a:buFont typeface="Arial" pitchFamily="34" charset="0"/>
              <a:buNone/>
            </a:pPr>
            <a:r>
              <a:rPr lang="en-AU" sz="1200" kern="1200" dirty="0" smtClean="0">
                <a:solidFill>
                  <a:schemeClr val="tx1"/>
                </a:solidFill>
                <a:latin typeface="+mn-lt"/>
                <a:ea typeface="+mn-ea"/>
                <a:cs typeface="+mn-cs"/>
              </a:rPr>
              <a:t>Explaining the host enterprise objectives in relation to the sponsorship being considered. </a:t>
            </a:r>
          </a:p>
          <a:p>
            <a:pPr>
              <a:buFont typeface="Arial" pitchFamily="34" charset="0"/>
              <a:buNone/>
            </a:pPr>
            <a:r>
              <a:rPr lang="en-AU" sz="1200" kern="1200" dirty="0" smtClean="0">
                <a:solidFill>
                  <a:schemeClr val="tx1"/>
                </a:solidFill>
                <a:latin typeface="+mn-lt"/>
                <a:ea typeface="+mn-ea"/>
                <a:cs typeface="+mn-cs"/>
              </a:rPr>
              <a:t>Advising organisers that the identified returns to the host enterprise are expected to form part of a legally binding agreement that will be entered into between the two parties. </a:t>
            </a:r>
            <a:endParaRPr lang="en-US" baseline="0" dirty="0" smtClean="0"/>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575296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explains the importance of maintaining good relationships with sponsorship organisers as per information on the slide.</a:t>
            </a:r>
          </a:p>
          <a:p>
            <a:r>
              <a:rPr lang="en-AU" sz="1200" kern="1200" dirty="0" smtClean="0">
                <a:solidFill>
                  <a:schemeClr val="tx1"/>
                </a:solidFill>
                <a:latin typeface="+mn-lt"/>
                <a:ea typeface="+mn-ea"/>
                <a:cs typeface="+mn-cs"/>
              </a:rPr>
              <a:t>Trainer elicits examples</a:t>
            </a:r>
            <a:r>
              <a:rPr lang="en-AU" sz="1200" kern="1200" baseline="0" dirty="0" smtClean="0">
                <a:solidFill>
                  <a:schemeClr val="tx1"/>
                </a:solidFill>
                <a:latin typeface="+mn-lt"/>
                <a:ea typeface="+mn-ea"/>
                <a:cs typeface="+mn-cs"/>
              </a:rPr>
              <a:t> of additional opportunities that could be negotiated as information below from TM.</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Some of the opportunities that could be negotiated could include: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Exclusivity for future events</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Increased signage, advertising and media exposure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Reduced cash contributions</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Part-payment for facility and equipment use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Major sponsor package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Increased benefits and access for staff and customers</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Discounts and promotional rates for other products and services</a:t>
            </a:r>
            <a:endParaRPr lang="en-US" sz="1200" kern="1200" dirty="0" smtClean="0">
              <a:solidFill>
                <a:schemeClr val="tx1"/>
              </a:solidFill>
              <a:latin typeface="+mn-lt"/>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387088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a:t>
            </a:r>
            <a:r>
              <a:rPr lang="en-US" baseline="0" dirty="0" smtClean="0"/>
              <a:t> the performance criteria and asks students to define what a contract is. (</a:t>
            </a:r>
            <a:r>
              <a:rPr lang="en-AU" sz="1200" kern="1200" dirty="0" smtClean="0">
                <a:solidFill>
                  <a:schemeClr val="tx1"/>
                </a:solidFill>
                <a:latin typeface="+mn-lt"/>
                <a:ea typeface="+mn-ea"/>
                <a:cs typeface="+mn-cs"/>
              </a:rPr>
              <a:t>A formal agreement which is legally binding.)</a:t>
            </a:r>
          </a:p>
          <a:p>
            <a:pPr>
              <a:buFont typeface="Arial" pitchFamily="34" charset="0"/>
              <a:buChar char="•"/>
            </a:pPr>
            <a:r>
              <a:rPr lang="en-AU" sz="1200" kern="1200" dirty="0" smtClean="0">
                <a:solidFill>
                  <a:schemeClr val="tx1"/>
                </a:solidFill>
                <a:latin typeface="+mn-lt"/>
                <a:ea typeface="+mn-ea"/>
                <a:cs typeface="+mn-cs"/>
              </a:rPr>
              <a:t> Trainer elicits why contracts are important using the information from the TM.</a:t>
            </a:r>
          </a:p>
          <a:p>
            <a:r>
              <a:rPr lang="en-AU" sz="1200" kern="1200" dirty="0" smtClean="0">
                <a:solidFill>
                  <a:schemeClr val="tx1"/>
                </a:solidFill>
                <a:latin typeface="+mn-lt"/>
                <a:ea typeface="+mn-ea"/>
                <a:cs typeface="+mn-cs"/>
              </a:rPr>
              <a:t>Your need to use a formal written contract:</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So everyone knows exactly what the other party is thinking, what they want and what they have agreed to provide – something in writing is just a lot more convenient and provides a lot more surety about what was intended when the deal was made/negotiations occurred</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order for management and legal advisors to have something to scrutinise and approve or make suggestions about in relation to amendments which may need to be considered/made</a:t>
            </a:r>
            <a:endParaRPr lang="en-US"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To have a permanent copy of the arrangements which were made – so it can be referred to throughout the life of the contract to:</a:t>
            </a:r>
            <a:endParaRPr lang="en-US" sz="1200" kern="1200" dirty="0" smtClean="0">
              <a:solidFill>
                <a:schemeClr val="tx1"/>
              </a:solidFill>
              <a:latin typeface="+mn-lt"/>
              <a:ea typeface="+mn-ea"/>
              <a:cs typeface="+mn-cs"/>
            </a:endParaRPr>
          </a:p>
          <a:p>
            <a:r>
              <a:rPr lang="en-US" sz="1200" kern="1200" dirty="0" smtClean="0">
                <a:solidFill>
                  <a:schemeClr val="tx1"/>
                </a:solidFill>
                <a:latin typeface="+mn-lt"/>
                <a:ea typeface="+mn-ea"/>
                <a:cs typeface="+mn-cs"/>
              </a:rPr>
              <a:t>Guide action</a:t>
            </a:r>
          </a:p>
          <a:p>
            <a:r>
              <a:rPr lang="en-US" sz="1200" kern="1200" dirty="0" smtClean="0">
                <a:solidFill>
                  <a:schemeClr val="tx1"/>
                </a:solidFill>
                <a:latin typeface="+mn-lt"/>
                <a:ea typeface="+mn-ea"/>
                <a:cs typeface="+mn-cs"/>
              </a:rPr>
              <a:t>Enable monitoring of performance</a:t>
            </a:r>
          </a:p>
          <a:p>
            <a:r>
              <a:rPr lang="en-US" sz="1200" kern="1200" dirty="0" smtClean="0">
                <a:solidFill>
                  <a:schemeClr val="tx1"/>
                </a:solidFill>
                <a:latin typeface="+mn-lt"/>
                <a:ea typeface="+mn-ea"/>
                <a:cs typeface="+mn-cs"/>
              </a:rPr>
              <a:t>Clarify issues arising</a:t>
            </a:r>
          </a:p>
          <a:p>
            <a:pPr>
              <a:buFont typeface="Arial" pitchFamily="34" charset="0"/>
              <a:buChar char="•"/>
            </a:pPr>
            <a:r>
              <a:rPr lang="en-US" dirty="0" smtClean="0"/>
              <a:t> Trainer presents</a:t>
            </a:r>
            <a:r>
              <a:rPr lang="en-US" baseline="0" dirty="0" smtClean="0"/>
              <a:t> information about effects of entering into contracts and verbal contracts from the TM.</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30991176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presents the</a:t>
            </a:r>
            <a:r>
              <a:rPr lang="en-US" baseline="0" dirty="0" smtClean="0"/>
              <a:t> slide and elicits information.</a:t>
            </a:r>
          </a:p>
          <a:p>
            <a:pPr>
              <a:buFont typeface="Arial" pitchFamily="34" charset="0"/>
              <a:buChar char="•"/>
            </a:pPr>
            <a:r>
              <a:rPr lang="en-US" baseline="0" dirty="0" smtClean="0"/>
              <a:t> Trainer explains that i</a:t>
            </a:r>
            <a:r>
              <a:rPr lang="en-AU" sz="1200" kern="1200" dirty="0" smtClean="0">
                <a:solidFill>
                  <a:schemeClr val="tx1"/>
                </a:solidFill>
                <a:latin typeface="+mn-lt"/>
                <a:ea typeface="+mn-ea"/>
                <a:cs typeface="+mn-cs"/>
              </a:rPr>
              <a:t>t is common for sponsorship contracts to set out clearly all the following details as a basic minimum:</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An outline of what the sponsorship relates to – this may be the name of the organisation, the fact the sponsorship is for a certain project,/purpose or event</a:t>
            </a:r>
            <a:endParaRPr lang="en-US" sz="1200" kern="1200" dirty="0" smtClean="0">
              <a:solidFill>
                <a:schemeClr val="tx1"/>
              </a:solidFill>
              <a:latin typeface="+mn-lt"/>
              <a:ea typeface="+mn-ea"/>
              <a:cs typeface="+mn-cs"/>
            </a:endParaRPr>
          </a:p>
          <a:p>
            <a:pPr>
              <a:buFont typeface="Arial" pitchFamily="34" charset="0"/>
              <a:buChar char="•"/>
            </a:pPr>
            <a:r>
              <a:rPr lang="en-AU" sz="1200" kern="1200" dirty="0" smtClean="0">
                <a:solidFill>
                  <a:schemeClr val="tx1"/>
                </a:solidFill>
                <a:latin typeface="+mn-lt"/>
                <a:ea typeface="+mn-ea"/>
                <a:cs typeface="+mn-cs"/>
              </a:rPr>
              <a:t> The explicit responsibilities of both parties – there is no comprehensive list of what this may encompass because responsibilities will have been the subject of negotiation and always relate directly to the nature, term and value of the relationship/contract/package.</a:t>
            </a:r>
          </a:p>
          <a:p>
            <a:pPr>
              <a:buFont typeface="Arial" pitchFamily="34" charset="0"/>
              <a:buChar char="•"/>
            </a:pPr>
            <a:r>
              <a:rPr lang="en-AU" sz="1200" kern="1200" dirty="0" smtClean="0">
                <a:solidFill>
                  <a:schemeClr val="tx1"/>
                </a:solidFill>
                <a:latin typeface="+mn-lt"/>
                <a:ea typeface="+mn-ea"/>
                <a:cs typeface="+mn-cs"/>
              </a:rPr>
              <a:t> Trainees</a:t>
            </a:r>
            <a:r>
              <a:rPr lang="en-AU" sz="1200" kern="1200" baseline="0" dirty="0" smtClean="0">
                <a:solidFill>
                  <a:schemeClr val="tx1"/>
                </a:solidFill>
                <a:latin typeface="+mn-lt"/>
                <a:ea typeface="+mn-ea"/>
                <a:cs typeface="+mn-cs"/>
              </a:rPr>
              <a:t> read through the common inclusions section of their TMs and trainer supports students as required.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307552788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goes through</a:t>
            </a:r>
            <a:r>
              <a:rPr lang="en-US" baseline="0" dirty="0" smtClean="0"/>
              <a:t> the slide with students and trainees provide any other ideas that could relate to the expected benefits from engaging in the event.</a:t>
            </a:r>
          </a:p>
          <a:p>
            <a:pPr>
              <a:buFont typeface="Arial" pitchFamily="34" charset="0"/>
              <a:buChar char="•"/>
            </a:pPr>
            <a:r>
              <a:rPr lang="en-US" baseline="0" dirty="0" smtClean="0"/>
              <a:t> Financial obligations should also be included and detailed</a:t>
            </a:r>
          </a:p>
          <a:p>
            <a:pPr>
              <a:buFont typeface="Arial" pitchFamily="34" charset="0"/>
              <a:buChar char="•"/>
            </a:pPr>
            <a:r>
              <a:rPr lang="en-US" baseline="0" dirty="0" smtClean="0"/>
              <a:t> A glossary of terms might be included as well to ensure that all parties understand contract details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122851162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explains the importance of informing relevant staff about sponsorship</a:t>
            </a:r>
            <a:r>
              <a:rPr lang="en-US" baseline="0" dirty="0" smtClean="0"/>
              <a:t> activity details. Trainees read through information in their TMs and discuss any situations in which communication in the workplace was not effective. What was the result of the poor communication? </a:t>
            </a:r>
          </a:p>
          <a:p>
            <a:pPr>
              <a:buFont typeface="Arial" pitchFamily="34" charset="0"/>
              <a:buChar char="•"/>
            </a:pPr>
            <a:r>
              <a:rPr lang="en-US" baseline="0" dirty="0" smtClean="0"/>
              <a:t> What information may be needed to be shared with staff involved in the sponsorship activity? Various answers will be appropriate and trainer facilitates discussion.</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6821787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a:t>
            </a:r>
            <a:r>
              <a:rPr lang="en-US" baseline="0" dirty="0" smtClean="0"/>
              <a:t> and explains the need for activity participants to be enthusiastic and supportive of the event. </a:t>
            </a:r>
          </a:p>
          <a:p>
            <a:pPr>
              <a:buFont typeface="Arial" pitchFamily="34" charset="0"/>
              <a:buChar char="•"/>
            </a:pPr>
            <a:r>
              <a:rPr lang="en-US" baseline="0" dirty="0" smtClean="0"/>
              <a:t> Trainer elicits that the event is a marketing activity for the organisation so it is important to present a good image in order to achieve the expected outcomes from participating in the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37473669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a:t>
            </a:r>
            <a:r>
              <a:rPr lang="en-US" baseline="0" dirty="0" smtClean="0"/>
              <a:t> the performance criteria and elicits the importance of making sure contract terms and conditions are met. Failure to do so could lead to penalties for the organisation or organisers and this may negatively impact on the outcomes. </a:t>
            </a:r>
          </a:p>
          <a:p>
            <a:pPr>
              <a:buFont typeface="Arial" pitchFamily="34" charset="0"/>
              <a:buChar char="•"/>
            </a:pPr>
            <a:r>
              <a:rPr lang="en-US" baseline="0" dirty="0" smtClean="0"/>
              <a:t> Trainer also explains the need to be familiar with contract terms and conditions.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1408068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explains the importance of monitoring the activity or event and that observing the event progress and gathering evidence or examples of action is critical for the success of the activity and future events.</a:t>
            </a:r>
          </a:p>
          <a:p>
            <a:pPr>
              <a:buFont typeface="Arial" pitchFamily="34" charset="0"/>
              <a:buChar char="•"/>
            </a:pPr>
            <a:r>
              <a:rPr lang="en-US" baseline="0" dirty="0" smtClean="0"/>
              <a:t> Trainer asks students to identify examples of what could be monitored during a sponsorship activity.</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331882626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asks</a:t>
            </a:r>
            <a:r>
              <a:rPr lang="en-US" baseline="0" dirty="0" smtClean="0"/>
              <a:t> students to read through the introduction in their TMs. Trainer asks students to brainstorm what data and evidence needs to be gathered and how it could be recorded.</a:t>
            </a:r>
          </a:p>
          <a:p>
            <a:pPr>
              <a:buFont typeface="Arial" pitchFamily="34" charset="0"/>
              <a:buChar char="•"/>
            </a:pPr>
            <a:r>
              <a:rPr lang="en-US" baseline="0" dirty="0" smtClean="0"/>
              <a:t> Trainer goes through information from TM:</a:t>
            </a:r>
          </a:p>
          <a:p>
            <a:pPr>
              <a:buFont typeface="Arial" pitchFamily="34" charset="0"/>
              <a:buChar char="•"/>
            </a:pPr>
            <a:r>
              <a:rPr lang="en-AU" sz="1200" kern="1200" dirty="0" smtClean="0">
                <a:solidFill>
                  <a:schemeClr val="tx1"/>
                </a:solidFill>
                <a:latin typeface="+mn-lt"/>
                <a:ea typeface="+mn-ea"/>
                <a:cs typeface="+mn-cs"/>
              </a:rPr>
              <a:t>Taking still and moving photographic images/records of the event and ancillary activities. </a:t>
            </a:r>
          </a:p>
          <a:p>
            <a:pPr>
              <a:buFont typeface="Arial" pitchFamily="34" charset="0"/>
              <a:buChar char="•"/>
            </a:pPr>
            <a:r>
              <a:rPr lang="en-AU" sz="1200" kern="1200" dirty="0" smtClean="0">
                <a:solidFill>
                  <a:schemeClr val="tx1"/>
                </a:solidFill>
                <a:latin typeface="+mn-lt"/>
                <a:ea typeface="+mn-ea"/>
                <a:cs typeface="+mn-cs"/>
              </a:rPr>
              <a:t>Filing hard copy documentation relating to the sponsored event, including media articles, media advertising, periodic reports, feedback sheets, market research data</a:t>
            </a:r>
          </a:p>
          <a:p>
            <a:pPr>
              <a:buFont typeface="Arial" pitchFamily="34" charset="0"/>
              <a:buChar char="•"/>
            </a:pPr>
            <a:r>
              <a:rPr lang="en-AU" sz="1200" kern="1200" dirty="0" smtClean="0">
                <a:solidFill>
                  <a:schemeClr val="tx1"/>
                </a:solidFill>
                <a:latin typeface="+mn-lt"/>
                <a:ea typeface="+mn-ea"/>
                <a:cs typeface="+mn-cs"/>
              </a:rPr>
              <a:t>Recording statistical results in accordance with identified key performance indicators. </a:t>
            </a:r>
          </a:p>
          <a:p>
            <a:pPr>
              <a:buFont typeface="Arial" pitchFamily="34" charset="0"/>
              <a:buChar char="•"/>
            </a:pPr>
            <a:r>
              <a:rPr lang="en-US" sz="1200" kern="1200" baseline="0" dirty="0" smtClean="0">
                <a:solidFill>
                  <a:schemeClr val="tx1"/>
                </a:solidFill>
                <a:latin typeface="+mn-lt"/>
                <a:ea typeface="+mn-ea"/>
                <a:cs typeface="+mn-cs"/>
              </a:rPr>
              <a:t> Trainer might bring in some examples of KPIs, targets and expected outcomes from other organisations. There are many examples on the internet of enterprise expectations from sponsorship activities. </a:t>
            </a:r>
          </a:p>
          <a:p>
            <a:pPr>
              <a:buFont typeface="Arial" pitchFamily="34" charset="0"/>
              <a:buChar char="•"/>
            </a:pPr>
            <a:r>
              <a:rPr lang="en-US" sz="1200" kern="1200" baseline="0" dirty="0" smtClean="0">
                <a:solidFill>
                  <a:schemeClr val="tx1"/>
                </a:solidFill>
                <a:latin typeface="+mn-lt"/>
                <a:ea typeface="+mn-ea"/>
                <a:cs typeface="+mn-cs"/>
              </a:rPr>
              <a:t>Trainer reminds students of work project and assessment due dates.</a:t>
            </a: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86582166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Element</a:t>
            </a:r>
            <a:r>
              <a:rPr lang="en-US" baseline="0" dirty="0" smtClean="0"/>
              <a:t> and performance criteria and outlines assessment and work project details and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2177448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a:t>
            </a:r>
            <a:r>
              <a:rPr lang="en-US" baseline="0" dirty="0" smtClean="0"/>
              <a:t> the performance criteria and explains the need to be careful about how we measure outcomes as there is often a subconscious need to want the KPIs to have been met irrespective of the evidence. </a:t>
            </a:r>
          </a:p>
          <a:p>
            <a:pPr>
              <a:buFont typeface="Arial" pitchFamily="34" charset="0"/>
              <a:buChar char="•"/>
            </a:pPr>
            <a:r>
              <a:rPr lang="en-US" baseline="0" dirty="0" smtClean="0"/>
              <a:t> Trainer explains the points in the slide. Trainer answers any questions related to these points from Hammer 2007</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82483021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elicits the points from the slide</a:t>
            </a:r>
            <a:r>
              <a:rPr lang="en-US" baseline="0" dirty="0" smtClean="0"/>
              <a:t> and explains how evaluation of results may be conducted.</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32100023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explains the need for gathering feedback. Feedback needs to be collected from various sources and as was shown in the previous unit, it needs to analysed and evaluated unemotionally.</a:t>
            </a:r>
          </a:p>
          <a:p>
            <a:pPr>
              <a:buFont typeface="Arial" pitchFamily="34" charset="0"/>
              <a:buChar char="•"/>
            </a:pPr>
            <a:r>
              <a:rPr lang="en-US" baseline="0" dirty="0" smtClean="0"/>
              <a:t> There may be a lot of people to speak to when collecting feedback but it must be planned for and gathered in order to support future activities.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4450047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explains</a:t>
            </a:r>
            <a:r>
              <a:rPr lang="en-US" baseline="0" dirty="0" smtClean="0"/>
              <a:t> the importance of supplying feedback to organisers so they can improve their sponsorship activities. This helps to show that your organisation is professional and supportive.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21692132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 introduces the performance criteria and explores the ideas in the slide. If the relationship works then it may be worth</a:t>
            </a:r>
            <a:r>
              <a:rPr lang="en-US" baseline="0" dirty="0" smtClean="0"/>
              <a:t> considering future collaboration or if the outcomes of the event were achieved, then participating in future events may be a good marketing opportunity. It is important to examine the partnership and see if it is effective in promoting the organisation’s products and services.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108415605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Char char="•"/>
            </a:pPr>
            <a:r>
              <a:rPr lang="en-US" dirty="0" smtClean="0"/>
              <a:t> Trainer</a:t>
            </a:r>
            <a:r>
              <a:rPr lang="en-US" baseline="0" dirty="0" smtClean="0"/>
              <a:t> explains the need to keep records and to store them so they are accessible for future reference. Trainer goes through information in TMs and explains any questions from students.</a:t>
            </a:r>
          </a:p>
          <a:p>
            <a:pPr>
              <a:buFont typeface="Arial" pitchFamily="34" charset="0"/>
              <a:buChar char="•"/>
            </a:pPr>
            <a:r>
              <a:rPr lang="en-US" baseline="0" dirty="0" smtClean="0"/>
              <a:t> Trainer reminds students of work projects and any assessment due dates</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822277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7/18/2016</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7/18/2016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7/18/2016</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7/18/2016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7/18/2016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7/18/2016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7/18/2016</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99592" y="332656"/>
            <a:ext cx="7488160" cy="936104"/>
          </a:xfrm>
        </p:spPr>
        <p:txBody>
          <a:bodyPr>
            <a:normAutofit fontScale="90000"/>
          </a:bodyPr>
          <a:lstStyle/>
          <a:p>
            <a:r>
              <a:rPr lang="en-AU" sz="4000" dirty="0" smtClean="0">
                <a:ln w="5000" cmpd="sng">
                  <a:noFill/>
                  <a:prstDash val="solid"/>
                </a:ln>
                <a:solidFill>
                  <a:srgbClr val="FF6600"/>
                </a:solidFill>
                <a:latin typeface="Helvetica" pitchFamily="34" charset="0"/>
              </a:rPr>
              <a:t>Develop, implement and evaluate sponsorship plans</a:t>
            </a:r>
            <a:endParaRPr lang="en-AU" sz="4000" dirty="0">
              <a:ln w="5000" cmpd="sng">
                <a:noFill/>
                <a:prstDash val="solid"/>
              </a:ln>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467544" y="1988840"/>
            <a:ext cx="5349576" cy="3672408"/>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
        <p:nvSpPr>
          <p:cNvPr id="3" name="Subtitle 2"/>
          <p:cNvSpPr>
            <a:spLocks noGrp="1"/>
          </p:cNvSpPr>
          <p:nvPr>
            <p:ph type="subTitle" idx="1"/>
          </p:nvPr>
        </p:nvSpPr>
        <p:spPr>
          <a:xfrm>
            <a:off x="5868144" y="2132856"/>
            <a:ext cx="2541268" cy="289742"/>
          </a:xfrm>
        </p:spPr>
        <p:txBody>
          <a:bodyPr>
            <a:normAutofit lnSpcReduction="10000"/>
          </a:bodyPr>
          <a:lstStyle/>
          <a:p>
            <a:r>
              <a:rPr lang="en-AU" b="1" dirty="0" smtClean="0">
                <a:latin typeface="Helvetica" pitchFamily="34" charset="0"/>
              </a:rPr>
              <a:t>D2.TCS.CL5.12</a:t>
            </a:r>
            <a:endParaRPr lang="en-AU" b="1" dirty="0">
              <a:latin typeface="Helvetica"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1: Identify the context for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grpSp>
        <p:nvGrpSpPr>
          <p:cNvPr id="53" name="Group 52"/>
          <p:cNvGrpSpPr/>
          <p:nvPr/>
        </p:nvGrpSpPr>
        <p:grpSpPr>
          <a:xfrm>
            <a:off x="-3910767" y="1268552"/>
            <a:ext cx="10568212" cy="5472816"/>
            <a:chOff x="-3910767" y="1268552"/>
            <a:chExt cx="10568212" cy="5472816"/>
          </a:xfrm>
        </p:grpSpPr>
        <p:sp>
          <p:nvSpPr>
            <p:cNvPr id="52" name="Block Arc 51"/>
            <p:cNvSpPr/>
            <p:nvPr/>
          </p:nvSpPr>
          <p:spPr>
            <a:xfrm>
              <a:off x="-3910767" y="1268552"/>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17" name="Group 16"/>
            <p:cNvGrpSpPr/>
            <p:nvPr/>
          </p:nvGrpSpPr>
          <p:grpSpPr>
            <a:xfrm>
              <a:off x="683568" y="2132856"/>
              <a:ext cx="5973877" cy="3683203"/>
              <a:chOff x="750504" y="2323254"/>
              <a:chExt cx="5973877" cy="3683203"/>
            </a:xfrm>
          </p:grpSpPr>
          <p:grpSp>
            <p:nvGrpSpPr>
              <p:cNvPr id="18" name="Group 17"/>
              <p:cNvGrpSpPr/>
              <p:nvPr/>
            </p:nvGrpSpPr>
            <p:grpSpPr>
              <a:xfrm>
                <a:off x="750504" y="2323254"/>
                <a:ext cx="5973877" cy="3683203"/>
                <a:chOff x="750504" y="2323254"/>
                <a:chExt cx="5973877" cy="3683203"/>
              </a:xfrm>
            </p:grpSpPr>
            <p:sp>
              <p:nvSpPr>
                <p:cNvPr id="24" name="Freeform 23"/>
                <p:cNvSpPr/>
                <p:nvPr/>
              </p:nvSpPr>
              <p:spPr>
                <a:xfrm>
                  <a:off x="1068106" y="2386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rPr>
                    <a:t>Identify and assess opportunities for engagement with sponsorship </a:t>
                  </a:r>
                  <a:r>
                    <a:rPr lang="en-AU" sz="1500" dirty="0" smtClean="0">
                      <a:latin typeface="Helvetica" pitchFamily="34" charset="0"/>
                    </a:rPr>
                    <a:t>activities</a:t>
                  </a:r>
                  <a:endParaRPr lang="en-AU" sz="1500" i="0" kern="1200" dirty="0"/>
                </a:p>
              </p:txBody>
            </p:sp>
            <p:sp>
              <p:nvSpPr>
                <p:cNvPr id="25" name="Oval 24"/>
                <p:cNvSpPr/>
                <p:nvPr/>
              </p:nvSpPr>
              <p:spPr>
                <a:xfrm>
                  <a:off x="750504" y="2323254"/>
                  <a:ext cx="635203" cy="635203"/>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6" name="Freeform 25"/>
                <p:cNvSpPr/>
                <p:nvPr/>
              </p:nvSpPr>
              <p:spPr>
                <a:xfrm>
                  <a:off x="1432240" y="3148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rPr>
                    <a:t>Develop a budget for sponsorship </a:t>
                  </a:r>
                  <a:r>
                    <a:rPr lang="en-AU" sz="1500" dirty="0" smtClean="0">
                      <a:latin typeface="Helvetica" pitchFamily="34" charset="0"/>
                    </a:rPr>
                    <a:t>activities</a:t>
                  </a:r>
                  <a:endParaRPr lang="en-AU" sz="1500" dirty="0">
                    <a:latin typeface="Helvetica" pitchFamily="34" charset="0"/>
                  </a:endParaRPr>
                </a:p>
              </p:txBody>
            </p:sp>
            <p:sp>
              <p:nvSpPr>
                <p:cNvPr id="27" name="Oval 26"/>
                <p:cNvSpPr/>
                <p:nvPr/>
              </p:nvSpPr>
              <p:spPr>
                <a:xfrm>
                  <a:off x="1114639" y="3085254"/>
                  <a:ext cx="635203" cy="635203"/>
                </a:xfrm>
                <a:prstGeom prst="ellipse">
                  <a:avLst/>
                </a:prstGeom>
              </p:spPr>
              <p:style>
                <a:lnRef idx="2">
                  <a:schemeClr val="accent5">
                    <a:hueOff val="-774129"/>
                    <a:satOff val="7761"/>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8" name="Freeform 27"/>
                <p:cNvSpPr/>
                <p:nvPr/>
              </p:nvSpPr>
              <p:spPr>
                <a:xfrm>
                  <a:off x="1544000" y="3910774"/>
                  <a:ext cx="5180380" cy="508162"/>
                </a:xfrm>
                <a:custGeom>
                  <a:avLst/>
                  <a:gdLst>
                    <a:gd name="connsiteX0" fmla="*/ 0 w 5180380"/>
                    <a:gd name="connsiteY0" fmla="*/ 0 h 508162"/>
                    <a:gd name="connsiteX1" fmla="*/ 5180380 w 5180380"/>
                    <a:gd name="connsiteY1" fmla="*/ 0 h 508162"/>
                    <a:gd name="connsiteX2" fmla="*/ 5180380 w 5180380"/>
                    <a:gd name="connsiteY2" fmla="*/ 508162 h 508162"/>
                    <a:gd name="connsiteX3" fmla="*/ 0 w 5180380"/>
                    <a:gd name="connsiteY3" fmla="*/ 508162 h 508162"/>
                    <a:gd name="connsiteX4" fmla="*/ 0 w 518038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508162">
                      <a:moveTo>
                        <a:pt x="0" y="0"/>
                      </a:moveTo>
                      <a:lnTo>
                        <a:pt x="5180380" y="0"/>
                      </a:lnTo>
                      <a:lnTo>
                        <a:pt x="5180380" y="508162"/>
                      </a:lnTo>
                      <a:lnTo>
                        <a:pt x="0" y="508162"/>
                      </a:lnTo>
                      <a:lnTo>
                        <a:pt x="0" y="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rPr>
                    <a:t>Determine the criteria for participating in sponsorship </a:t>
                  </a:r>
                  <a:r>
                    <a:rPr lang="en-AU" sz="1500" dirty="0" smtClean="0">
                      <a:latin typeface="Helvetica" pitchFamily="34" charset="0"/>
                    </a:rPr>
                    <a:t>activities</a:t>
                  </a:r>
                  <a:endParaRPr lang="en-AU" sz="1500" dirty="0">
                    <a:latin typeface="Helvetica" pitchFamily="34" charset="0"/>
                  </a:endParaRPr>
                </a:p>
              </p:txBody>
            </p:sp>
            <p:sp>
              <p:nvSpPr>
                <p:cNvPr id="29" name="Oval 28"/>
                <p:cNvSpPr/>
                <p:nvPr/>
              </p:nvSpPr>
              <p:spPr>
                <a:xfrm>
                  <a:off x="1226399" y="3847254"/>
                  <a:ext cx="635203" cy="635203"/>
                </a:xfrm>
                <a:prstGeom prst="ellipse">
                  <a:avLst/>
                </a:prstGeom>
              </p:spPr>
              <p:style>
                <a:lnRef idx="2">
                  <a:schemeClr val="accent5">
                    <a:hueOff val="-1548258"/>
                    <a:satOff val="15522"/>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0" name="Freeform 29"/>
                <p:cNvSpPr/>
                <p:nvPr/>
              </p:nvSpPr>
              <p:spPr>
                <a:xfrm>
                  <a:off x="1432240" y="4672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rPr>
                    <a:t>Consider alternatives to participation in </a:t>
                  </a:r>
                  <a:r>
                    <a:rPr lang="en-AU" sz="1500" dirty="0" smtClean="0">
                      <a:latin typeface="Helvetica" pitchFamily="34" charset="0"/>
                    </a:rPr>
                    <a:t>sponsorship</a:t>
                  </a:r>
                  <a:endParaRPr lang="en-AU" sz="1500" dirty="0">
                    <a:latin typeface="Helvetica" pitchFamily="34" charset="0"/>
                  </a:endParaRPr>
                </a:p>
              </p:txBody>
            </p:sp>
            <p:sp>
              <p:nvSpPr>
                <p:cNvPr id="31" name="Oval 30"/>
                <p:cNvSpPr/>
                <p:nvPr/>
              </p:nvSpPr>
              <p:spPr>
                <a:xfrm>
                  <a:off x="1114639" y="4609254"/>
                  <a:ext cx="635203" cy="635203"/>
                </a:xfrm>
                <a:prstGeom prst="ellipse">
                  <a:avLst/>
                </a:prstGeom>
              </p:spPr>
              <p:style>
                <a:lnRef idx="2">
                  <a:schemeClr val="accent5">
                    <a:hueOff val="-2322388"/>
                    <a:satOff val="23283"/>
                    <a:lumOff val="-16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32" name="Freeform 31"/>
                <p:cNvSpPr/>
                <p:nvPr/>
              </p:nvSpPr>
              <p:spPr>
                <a:xfrm>
                  <a:off x="1068106" y="5434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rPr>
                    <a:t>Seek support from suppliers and service providers for sponsorship </a:t>
                  </a:r>
                  <a:r>
                    <a:rPr lang="en-AU" sz="1500" dirty="0" smtClean="0">
                      <a:latin typeface="Helvetica" pitchFamily="34" charset="0"/>
                    </a:rPr>
                    <a:t>activities</a:t>
                  </a:r>
                  <a:endParaRPr lang="en-AU" sz="1500" dirty="0">
                    <a:latin typeface="Helvetica" pitchFamily="34" charset="0"/>
                  </a:endParaRPr>
                </a:p>
              </p:txBody>
            </p:sp>
            <p:sp>
              <p:nvSpPr>
                <p:cNvPr id="33" name="Oval 32"/>
                <p:cNvSpPr/>
                <p:nvPr/>
              </p:nvSpPr>
              <p:spPr>
                <a:xfrm>
                  <a:off x="750504" y="5371254"/>
                  <a:ext cx="635203" cy="635203"/>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19" name="TextBox 18"/>
              <p:cNvSpPr txBox="1"/>
              <p:nvPr/>
            </p:nvSpPr>
            <p:spPr>
              <a:xfrm>
                <a:off x="780074" y="2457763"/>
                <a:ext cx="576064" cy="323165"/>
              </a:xfrm>
              <a:prstGeom prst="rect">
                <a:avLst/>
              </a:prstGeom>
              <a:noFill/>
            </p:spPr>
            <p:txBody>
              <a:bodyPr wrap="square" rtlCol="0">
                <a:spAutoFit/>
              </a:bodyPr>
              <a:lstStyle/>
              <a:p>
                <a:pPr algn="ctr"/>
                <a:r>
                  <a:rPr lang="en-AU" sz="1500" b="1" dirty="0">
                    <a:latin typeface="Helvetica" pitchFamily="34" charset="0"/>
                  </a:rPr>
                  <a:t>1</a:t>
                </a:r>
                <a:r>
                  <a:rPr lang="en-AU" sz="1500" b="1" dirty="0" smtClean="0">
                    <a:latin typeface="Helvetica" pitchFamily="34" charset="0"/>
                  </a:rPr>
                  <a:t>.1</a:t>
                </a:r>
                <a:endParaRPr lang="en-AU" sz="1500" b="1" dirty="0">
                  <a:latin typeface="Helvetica" pitchFamily="34" charset="0"/>
                </a:endParaRPr>
              </a:p>
            </p:txBody>
          </p:sp>
          <p:sp>
            <p:nvSpPr>
              <p:cNvPr id="20" name="TextBox 19"/>
              <p:cNvSpPr txBox="1"/>
              <p:nvPr/>
            </p:nvSpPr>
            <p:spPr>
              <a:xfrm>
                <a:off x="1144208" y="3241272"/>
                <a:ext cx="576064" cy="323165"/>
              </a:xfrm>
              <a:prstGeom prst="rect">
                <a:avLst/>
              </a:prstGeom>
              <a:noFill/>
            </p:spPr>
            <p:txBody>
              <a:bodyPr wrap="square" rtlCol="0">
                <a:spAutoFit/>
              </a:bodyPr>
              <a:lstStyle/>
              <a:p>
                <a:pPr algn="ctr"/>
                <a:r>
                  <a:rPr lang="en-AU" sz="1500" b="1" dirty="0" smtClean="0">
                    <a:latin typeface="Helvetica" pitchFamily="34" charset="0"/>
                  </a:rPr>
                  <a:t>1.2</a:t>
                </a:r>
                <a:endParaRPr lang="en-AU" sz="1500" b="1" dirty="0">
                  <a:latin typeface="Helvetica" pitchFamily="34" charset="0"/>
                </a:endParaRPr>
              </a:p>
            </p:txBody>
          </p:sp>
          <p:sp>
            <p:nvSpPr>
              <p:cNvPr id="21" name="TextBox 20"/>
              <p:cNvSpPr txBox="1"/>
              <p:nvPr/>
            </p:nvSpPr>
            <p:spPr>
              <a:xfrm>
                <a:off x="1259632" y="4003274"/>
                <a:ext cx="576064" cy="323165"/>
              </a:xfrm>
              <a:prstGeom prst="rect">
                <a:avLst/>
              </a:prstGeom>
              <a:noFill/>
            </p:spPr>
            <p:txBody>
              <a:bodyPr wrap="square" rtlCol="0">
                <a:spAutoFit/>
              </a:bodyPr>
              <a:lstStyle/>
              <a:p>
                <a:pPr algn="ctr"/>
                <a:r>
                  <a:rPr lang="en-AU" sz="1500" b="1" dirty="0">
                    <a:latin typeface="Helvetica" pitchFamily="34" charset="0"/>
                  </a:rPr>
                  <a:t>1</a:t>
                </a:r>
                <a:r>
                  <a:rPr lang="en-AU" sz="1500" b="1" dirty="0" smtClean="0">
                    <a:latin typeface="Helvetica" pitchFamily="34" charset="0"/>
                  </a:rPr>
                  <a:t>.3</a:t>
                </a:r>
                <a:endParaRPr lang="en-AU" sz="1500" b="1" dirty="0">
                  <a:latin typeface="Helvetica" pitchFamily="34" charset="0"/>
                </a:endParaRPr>
              </a:p>
            </p:txBody>
          </p:sp>
          <p:sp>
            <p:nvSpPr>
              <p:cNvPr id="22" name="TextBox 21"/>
              <p:cNvSpPr txBox="1"/>
              <p:nvPr/>
            </p:nvSpPr>
            <p:spPr>
              <a:xfrm>
                <a:off x="1144208" y="4765272"/>
                <a:ext cx="576064" cy="323165"/>
              </a:xfrm>
              <a:prstGeom prst="rect">
                <a:avLst/>
              </a:prstGeom>
              <a:noFill/>
            </p:spPr>
            <p:txBody>
              <a:bodyPr wrap="square" rtlCol="0">
                <a:spAutoFit/>
              </a:bodyPr>
              <a:lstStyle/>
              <a:p>
                <a:pPr algn="ctr"/>
                <a:r>
                  <a:rPr lang="en-AU" sz="1500" b="1" dirty="0">
                    <a:latin typeface="Helvetica" pitchFamily="34" charset="0"/>
                  </a:rPr>
                  <a:t>1</a:t>
                </a:r>
                <a:r>
                  <a:rPr lang="en-AU" sz="1500" b="1" dirty="0" smtClean="0">
                    <a:latin typeface="Helvetica" pitchFamily="34" charset="0"/>
                  </a:rPr>
                  <a:t>.4</a:t>
                </a:r>
                <a:endParaRPr lang="en-AU" sz="1500" b="1" dirty="0">
                  <a:latin typeface="Helvetica" pitchFamily="34" charset="0"/>
                </a:endParaRPr>
              </a:p>
            </p:txBody>
          </p:sp>
          <p:sp>
            <p:nvSpPr>
              <p:cNvPr id="23" name="TextBox 22"/>
              <p:cNvSpPr txBox="1"/>
              <p:nvPr/>
            </p:nvSpPr>
            <p:spPr>
              <a:xfrm>
                <a:off x="793089" y="5527272"/>
                <a:ext cx="576064" cy="323165"/>
              </a:xfrm>
              <a:prstGeom prst="rect">
                <a:avLst/>
              </a:prstGeom>
              <a:noFill/>
            </p:spPr>
            <p:txBody>
              <a:bodyPr wrap="square" rtlCol="0">
                <a:spAutoFit/>
              </a:bodyPr>
              <a:lstStyle/>
              <a:p>
                <a:pPr algn="ctr"/>
                <a:r>
                  <a:rPr lang="en-AU" sz="1500" b="1" dirty="0" smtClean="0">
                    <a:latin typeface="Helvetica" pitchFamily="34" charset="0"/>
                  </a:rPr>
                  <a:t>1.5</a:t>
                </a:r>
                <a:endParaRPr lang="en-AU" sz="1500" b="1" dirty="0">
                  <a:latin typeface="Helvetica" pitchFamily="34" charset="0"/>
                </a:endParaRPr>
              </a:p>
            </p:txBody>
          </p:sp>
        </p:gr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1: Identify the context for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t>Performance criteria:</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grpSp>
        <p:nvGrpSpPr>
          <p:cNvPr id="21" name="Group 20"/>
          <p:cNvGrpSpPr/>
          <p:nvPr/>
        </p:nvGrpSpPr>
        <p:grpSpPr>
          <a:xfrm>
            <a:off x="-3910767" y="1356441"/>
            <a:ext cx="10635148" cy="5472816"/>
            <a:chOff x="-3910767" y="1356441"/>
            <a:chExt cx="10635148" cy="5472816"/>
          </a:xfrm>
        </p:grpSpPr>
        <p:grpSp>
          <p:nvGrpSpPr>
            <p:cNvPr id="11" name="Group 10"/>
            <p:cNvGrpSpPr/>
            <p:nvPr/>
          </p:nvGrpSpPr>
          <p:grpSpPr>
            <a:xfrm>
              <a:off x="-3910767" y="1356441"/>
              <a:ext cx="10635148" cy="5472816"/>
              <a:chOff x="-3910767" y="1356441"/>
              <a:chExt cx="10635148" cy="5472816"/>
            </a:xfrm>
          </p:grpSpPr>
          <p:sp>
            <p:nvSpPr>
              <p:cNvPr id="12" name="Block Arc 11"/>
              <p:cNvSpPr/>
              <p:nvPr/>
            </p:nvSpPr>
            <p:spPr>
              <a:xfrm>
                <a:off x="-3910767" y="1356441"/>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3" name="Freeform 12"/>
              <p:cNvSpPr/>
              <p:nvPr/>
            </p:nvSpPr>
            <p:spPr>
              <a:xfrm>
                <a:off x="1143696" y="2373288"/>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96257" tIns="38100" rIns="38100" bIns="38100" numCol="1" spcCol="1270" anchor="ctr" anchorCtr="0">
                <a:noAutofit/>
              </a:bodyPr>
              <a:lstStyle/>
              <a:p>
                <a:pPr lvl="0" algn="l" defTabSz="666750">
                  <a:lnSpc>
                    <a:spcPct val="90000"/>
                  </a:lnSpc>
                  <a:spcBef>
                    <a:spcPct val="0"/>
                  </a:spcBef>
                  <a:spcAft>
                    <a:spcPct val="35000"/>
                  </a:spcAft>
                </a:pPr>
                <a:r>
                  <a:rPr lang="en-AU" sz="1500" kern="1200" dirty="0" smtClean="0">
                    <a:latin typeface="Helvetica" pitchFamily="34" charset="0"/>
                  </a:rPr>
                  <a:t>Establish protocols for monitoring participation in sponsorship activities</a:t>
                </a:r>
                <a:endParaRPr lang="en-AU" sz="1500" kern="1200" dirty="0"/>
              </a:p>
            </p:txBody>
          </p:sp>
          <p:sp>
            <p:nvSpPr>
              <p:cNvPr id="14" name="Oval 13"/>
              <p:cNvSpPr/>
              <p:nvPr/>
            </p:nvSpPr>
            <p:spPr>
              <a:xfrm>
                <a:off x="752943" y="2295137"/>
                <a:ext cx="781507" cy="781507"/>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Freeform 14"/>
              <p:cNvSpPr/>
              <p:nvPr/>
            </p:nvSpPr>
            <p:spPr>
              <a:xfrm>
                <a:off x="1502141" y="3311259"/>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txBody>
              <a:bodyPr spcFirstLastPara="0" vert="horz" wrap="square" lIns="496257" tIns="38100" rIns="38100" bIns="38100" numCol="1" spcCol="1270" anchor="ctr" anchorCtr="0">
                <a:noAutofit/>
              </a:bodyPr>
              <a:lstStyle/>
              <a:p>
                <a:pPr lvl="0" algn="l" defTabSz="666750">
                  <a:lnSpc>
                    <a:spcPct val="90000"/>
                  </a:lnSpc>
                  <a:spcBef>
                    <a:spcPct val="0"/>
                  </a:spcBef>
                  <a:spcAft>
                    <a:spcPct val="35000"/>
                  </a:spcAft>
                </a:pPr>
                <a:r>
                  <a:rPr lang="en-AU" sz="1500" kern="1200" dirty="0" smtClean="0">
                    <a:latin typeface="Helvetica" pitchFamily="34" charset="0"/>
                  </a:rPr>
                  <a:t>Set criteria against which to evaluate effectiveness of, and return from, sponsorship activities</a:t>
                </a:r>
                <a:endParaRPr lang="en-AU" sz="1500" kern="1200" dirty="0"/>
              </a:p>
            </p:txBody>
          </p:sp>
          <p:sp>
            <p:nvSpPr>
              <p:cNvPr id="16" name="Oval 15"/>
              <p:cNvSpPr/>
              <p:nvPr/>
            </p:nvSpPr>
            <p:spPr>
              <a:xfrm>
                <a:off x="1111387" y="3233108"/>
                <a:ext cx="781507" cy="781507"/>
              </a:xfrm>
              <a:prstGeom prst="ellipse">
                <a:avLst/>
              </a:prstGeom>
            </p:spPr>
            <p:style>
              <a:lnRef idx="2">
                <a:schemeClr val="accent5">
                  <a:hueOff val="-1032172"/>
                  <a:satOff val="10348"/>
                  <a:lumOff val="-719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Freeform 16"/>
              <p:cNvSpPr/>
              <p:nvPr/>
            </p:nvSpPr>
            <p:spPr>
              <a:xfrm>
                <a:off x="1502141" y="4249230"/>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txBody>
              <a:bodyPr spcFirstLastPara="0" vert="horz" wrap="square" lIns="496257" tIns="38100" rIns="38100" bIns="38100" numCol="1" spcCol="1270" anchor="ctr" anchorCtr="0">
                <a:noAutofit/>
              </a:bodyPr>
              <a:lstStyle/>
              <a:p>
                <a:pPr lvl="0" algn="l" defTabSz="666750">
                  <a:lnSpc>
                    <a:spcPct val="90000"/>
                  </a:lnSpc>
                  <a:spcBef>
                    <a:spcPct val="0"/>
                  </a:spcBef>
                  <a:spcAft>
                    <a:spcPct val="35000"/>
                  </a:spcAft>
                </a:pPr>
                <a:r>
                  <a:rPr lang="en-AU" sz="1500" kern="1200" dirty="0" smtClean="0">
                    <a:latin typeface="Helvetica" pitchFamily="34" charset="0"/>
                  </a:rPr>
                  <a:t>Identify products and services that may be developed to align with sponsorship activities</a:t>
                </a:r>
                <a:endParaRPr lang="en-AU" sz="1500" kern="1200" dirty="0"/>
              </a:p>
            </p:txBody>
          </p:sp>
          <p:sp>
            <p:nvSpPr>
              <p:cNvPr id="18" name="Oval 17"/>
              <p:cNvSpPr/>
              <p:nvPr/>
            </p:nvSpPr>
            <p:spPr>
              <a:xfrm>
                <a:off x="1111387" y="4171080"/>
                <a:ext cx="781507" cy="781507"/>
              </a:xfrm>
              <a:prstGeom prst="ellipse">
                <a:avLst/>
              </a:prstGeom>
            </p:spPr>
            <p:style>
              <a:lnRef idx="2">
                <a:schemeClr val="accent5">
                  <a:hueOff val="-2064345"/>
                  <a:satOff val="20696"/>
                  <a:lumOff val="-1437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9" name="Freeform 18"/>
              <p:cNvSpPr/>
              <p:nvPr/>
            </p:nvSpPr>
            <p:spPr>
              <a:xfrm>
                <a:off x="1143696" y="5187201"/>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96257" tIns="38100" rIns="38100" bIns="38100" numCol="1" spcCol="1270" anchor="ctr" anchorCtr="0">
                <a:noAutofit/>
              </a:bodyPr>
              <a:lstStyle/>
              <a:p>
                <a:pPr lvl="0" algn="l" defTabSz="666750">
                  <a:lnSpc>
                    <a:spcPct val="90000"/>
                  </a:lnSpc>
                  <a:spcBef>
                    <a:spcPct val="0"/>
                  </a:spcBef>
                  <a:spcAft>
                    <a:spcPct val="35000"/>
                  </a:spcAft>
                </a:pPr>
                <a:r>
                  <a:rPr lang="en-AU" sz="1500" kern="1200" dirty="0" smtClean="0">
                    <a:latin typeface="Helvetica" pitchFamily="34" charset="0"/>
                  </a:rPr>
                  <a:t>Determine how requests for sponsorship that cannot be accommodated will be refused</a:t>
                </a:r>
                <a:endParaRPr lang="en-AU" sz="1500" kern="1200" dirty="0"/>
              </a:p>
            </p:txBody>
          </p:sp>
          <p:sp>
            <p:nvSpPr>
              <p:cNvPr id="20" name="Oval 19"/>
              <p:cNvSpPr/>
              <p:nvPr/>
            </p:nvSpPr>
            <p:spPr>
              <a:xfrm>
                <a:off x="752943" y="5109051"/>
                <a:ext cx="781507" cy="781507"/>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7" name="TextBox 6"/>
            <p:cNvSpPr txBox="1"/>
            <p:nvPr/>
          </p:nvSpPr>
          <p:spPr>
            <a:xfrm>
              <a:off x="791580" y="2529771"/>
              <a:ext cx="684076" cy="323165"/>
            </a:xfrm>
            <a:prstGeom prst="rect">
              <a:avLst/>
            </a:prstGeom>
            <a:noFill/>
          </p:spPr>
          <p:txBody>
            <a:bodyPr wrap="square" rtlCol="0">
              <a:spAutoFit/>
            </a:bodyPr>
            <a:lstStyle/>
            <a:p>
              <a:pPr algn="ctr"/>
              <a:r>
                <a:rPr lang="en-AU" sz="1500" b="1" dirty="0" smtClean="0">
                  <a:latin typeface="Helvetica" pitchFamily="34" charset="0"/>
                </a:rPr>
                <a:t>1.6</a:t>
              </a:r>
              <a:endParaRPr lang="en-AU" sz="1500" b="1" dirty="0">
                <a:latin typeface="Helvetica" pitchFamily="34" charset="0"/>
              </a:endParaRPr>
            </a:p>
          </p:txBody>
        </p:sp>
        <p:sp>
          <p:nvSpPr>
            <p:cNvPr id="8" name="TextBox 7"/>
            <p:cNvSpPr txBox="1"/>
            <p:nvPr/>
          </p:nvSpPr>
          <p:spPr>
            <a:xfrm>
              <a:off x="1187624" y="3465875"/>
              <a:ext cx="648072" cy="323165"/>
            </a:xfrm>
            <a:prstGeom prst="rect">
              <a:avLst/>
            </a:prstGeom>
            <a:noFill/>
          </p:spPr>
          <p:txBody>
            <a:bodyPr wrap="square" rtlCol="0">
              <a:spAutoFit/>
            </a:bodyPr>
            <a:lstStyle/>
            <a:p>
              <a:pPr algn="ctr"/>
              <a:r>
                <a:rPr lang="en-AU" sz="1500" b="1" dirty="0" smtClean="0">
                  <a:latin typeface="Helvetica" pitchFamily="34" charset="0"/>
                </a:rPr>
                <a:t>1.7</a:t>
              </a:r>
              <a:endParaRPr lang="en-AU" sz="1500" b="1" dirty="0">
                <a:latin typeface="Helvetica" pitchFamily="34" charset="0"/>
              </a:endParaRPr>
            </a:p>
          </p:txBody>
        </p:sp>
        <p:sp>
          <p:nvSpPr>
            <p:cNvPr id="9" name="TextBox 8"/>
            <p:cNvSpPr txBox="1"/>
            <p:nvPr/>
          </p:nvSpPr>
          <p:spPr>
            <a:xfrm>
              <a:off x="1159564" y="4422973"/>
              <a:ext cx="648072" cy="323165"/>
            </a:xfrm>
            <a:prstGeom prst="rect">
              <a:avLst/>
            </a:prstGeom>
            <a:noFill/>
          </p:spPr>
          <p:txBody>
            <a:bodyPr wrap="square" rtlCol="0">
              <a:spAutoFit/>
            </a:bodyPr>
            <a:lstStyle/>
            <a:p>
              <a:pPr algn="ctr"/>
              <a:r>
                <a:rPr lang="en-AU" sz="1500" b="1" dirty="0" smtClean="0">
                  <a:latin typeface="Helvetica" pitchFamily="34" charset="0"/>
                </a:rPr>
                <a:t>1.8</a:t>
              </a:r>
              <a:endParaRPr lang="en-AU" sz="1500" b="1" dirty="0">
                <a:latin typeface="Helvetica" pitchFamily="34" charset="0"/>
              </a:endParaRPr>
            </a:p>
          </p:txBody>
        </p:sp>
        <p:sp>
          <p:nvSpPr>
            <p:cNvPr id="10" name="TextBox 9"/>
            <p:cNvSpPr txBox="1"/>
            <p:nvPr/>
          </p:nvSpPr>
          <p:spPr>
            <a:xfrm>
              <a:off x="809582" y="5373216"/>
              <a:ext cx="648072" cy="323165"/>
            </a:xfrm>
            <a:prstGeom prst="rect">
              <a:avLst/>
            </a:prstGeom>
            <a:noFill/>
          </p:spPr>
          <p:txBody>
            <a:bodyPr wrap="square" rtlCol="0">
              <a:spAutoFit/>
            </a:bodyPr>
            <a:lstStyle/>
            <a:p>
              <a:pPr algn="ctr"/>
              <a:r>
                <a:rPr lang="en-AU" sz="1500" b="1" dirty="0" smtClean="0">
                  <a:latin typeface="Helvetica" pitchFamily="34" charset="0"/>
                </a:rPr>
                <a:t>1.9</a:t>
              </a:r>
              <a:endParaRPr lang="en-AU" sz="1500" b="1" dirty="0">
                <a:latin typeface="Helvetica" pitchFamily="34" charset="0"/>
              </a:endParaRPr>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560840" cy="1440160"/>
          </a:xfrm>
        </p:spPr>
        <p:txBody>
          <a:bodyPr>
            <a:noAutofit/>
          </a:bodyPr>
          <a:lstStyle/>
          <a:p>
            <a:pPr marL="895350" indent="-895350"/>
            <a:r>
              <a:rPr lang="en-US" sz="3000" b="1" dirty="0" smtClean="0">
                <a:solidFill>
                  <a:srgbClr val="FF6600"/>
                </a:solidFill>
                <a:latin typeface="Helvetica" pitchFamily="34" charset="0"/>
              </a:rPr>
              <a:t>1.1	Identify and assess opportunities for engagement with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2071389"/>
            <a:ext cx="4824536" cy="4309939"/>
          </a:xfrm>
        </p:spPr>
        <p:txBody>
          <a:bodyPr>
            <a:normAutofit/>
          </a:bodyPr>
          <a:lstStyle/>
          <a:p>
            <a:pPr marL="0" indent="0">
              <a:lnSpc>
                <a:spcPts val="3000"/>
              </a:lnSpc>
              <a:spcBef>
                <a:spcPts val="600"/>
              </a:spcBef>
              <a:spcAft>
                <a:spcPts val="1200"/>
              </a:spcAft>
              <a:buNone/>
            </a:pPr>
            <a:r>
              <a:rPr lang="en-AU" sz="2200" dirty="0" smtClean="0"/>
              <a:t>Lagae defines sponsorship as ‘a business agreement between two parties. The sponsor provides money, goods, services or know-how. In exchange, the sponsored party (individual, event or organisation) offers rights and associations that the sponsor utilizes commercially’’ (Lagae 2005, p. 35). </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6" name="Picture 5" descr="C:\Users\Quentin\AppData\Local\Microsoft\Windows\Temporary Internet Files\Content.IE5\X0AY02HY\6.-Sponsor[1].png"/>
          <p:cNvPicPr/>
          <p:nvPr/>
        </p:nvPicPr>
        <p:blipFill>
          <a:blip r:embed="rId3" cstate="print"/>
          <a:srcRect/>
          <a:stretch>
            <a:fillRect/>
          </a:stretch>
        </p:blipFill>
        <p:spPr bwMode="auto">
          <a:xfrm>
            <a:off x="5436096" y="2287413"/>
            <a:ext cx="2664296" cy="244827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936104"/>
          </a:xfrm>
        </p:spPr>
        <p:txBody>
          <a:bodyPr>
            <a:normAutofit/>
          </a:bodyPr>
          <a:lstStyle/>
          <a:p>
            <a:r>
              <a:rPr lang="en-US" sz="3000" b="1" dirty="0" smtClean="0">
                <a:solidFill>
                  <a:srgbClr val="FF6600"/>
                </a:solidFill>
                <a:latin typeface="Helvetica" pitchFamily="34" charset="0"/>
              </a:rPr>
              <a:t>Sponsorship objectives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5328592" cy="4525963"/>
          </a:xfrm>
        </p:spPr>
        <p:txBody>
          <a:bodyPr>
            <a:normAutofit/>
          </a:bodyPr>
          <a:lstStyle/>
          <a:p>
            <a:pPr marL="0" indent="0">
              <a:spcBef>
                <a:spcPts val="600"/>
              </a:spcBef>
              <a:spcAft>
                <a:spcPts val="1200"/>
              </a:spcAft>
            </a:pPr>
            <a:r>
              <a:rPr lang="en-AU" sz="2200" dirty="0" smtClean="0"/>
              <a:t>  Creating promotional opportunities </a:t>
            </a:r>
          </a:p>
          <a:p>
            <a:pPr marL="360000" indent="-360000">
              <a:spcBef>
                <a:spcPts val="600"/>
              </a:spcBef>
              <a:spcAft>
                <a:spcPts val="1200"/>
              </a:spcAft>
            </a:pPr>
            <a:r>
              <a:rPr lang="en-AU" sz="2200" dirty="0" smtClean="0"/>
              <a:t>Improving community relations</a:t>
            </a:r>
          </a:p>
          <a:p>
            <a:pPr marL="360000" indent="-360000">
              <a:spcBef>
                <a:spcPts val="600"/>
              </a:spcBef>
              <a:spcAft>
                <a:spcPts val="1200"/>
              </a:spcAft>
            </a:pPr>
            <a:r>
              <a:rPr lang="en-AU" sz="2200" dirty="0" smtClean="0"/>
              <a:t>Fostering favourable brand and company associations </a:t>
            </a:r>
          </a:p>
          <a:p>
            <a:pPr marL="360000" indent="-360000">
              <a:spcBef>
                <a:spcPts val="600"/>
              </a:spcBef>
              <a:spcAft>
                <a:spcPts val="1200"/>
              </a:spcAft>
            </a:pPr>
            <a:r>
              <a:rPr lang="en-AU" sz="2200" dirty="0" smtClean="0"/>
              <a:t>Creating entertainment opportunities</a:t>
            </a:r>
          </a:p>
          <a:p>
            <a:pPr marL="360000" indent="-360000">
              <a:spcBef>
                <a:spcPts val="600"/>
              </a:spcBef>
              <a:spcAft>
                <a:spcPts val="1200"/>
              </a:spcAft>
            </a:pPr>
            <a:r>
              <a:rPr lang="en-AU" sz="2200" dirty="0" smtClean="0"/>
              <a:t> Gaining publicity </a:t>
            </a:r>
          </a:p>
          <a:p>
            <a:pPr marL="360000" indent="-360000">
              <a:spcBef>
                <a:spcPts val="600"/>
              </a:spcBef>
              <a:spcAft>
                <a:spcPts val="1200"/>
              </a:spcAft>
              <a:buNone/>
            </a:pPr>
            <a:endParaRPr lang="en-AU" sz="2200" dirty="0" smtClean="0"/>
          </a:p>
          <a:p>
            <a:pPr marL="360000" indent="-360000">
              <a:spcBef>
                <a:spcPts val="600"/>
              </a:spcBef>
              <a:spcAft>
                <a:spcPts val="1200"/>
              </a:spcAft>
            </a:pPr>
            <a:endParaRPr lang="en-AU" sz="2200" dirty="0" smtClean="0"/>
          </a:p>
          <a:p>
            <a:pPr marL="360000" indent="-360000">
              <a:spcBef>
                <a:spcPts val="600"/>
              </a:spcBef>
              <a:spcAft>
                <a:spcPts val="1200"/>
              </a:spcAft>
            </a:pPr>
            <a:endParaRPr lang="en-AU" sz="2200" dirty="0" smtClean="0"/>
          </a:p>
          <a:p>
            <a:pPr marL="360000" indent="-360000">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2" descr="C:\Users\Quentin\AppData\Local\Microsoft\Windows\Temporary Internet Files\Content.IE5\X0AY02HY\url-1[1].jpeg"/>
          <p:cNvPicPr>
            <a:picLocks noChangeAspect="1" noChangeArrowheads="1"/>
          </p:cNvPicPr>
          <p:nvPr/>
        </p:nvPicPr>
        <p:blipFill>
          <a:blip r:embed="rId3" cstate="print"/>
          <a:srcRect/>
          <a:stretch>
            <a:fillRect/>
          </a:stretch>
        </p:blipFill>
        <p:spPr bwMode="auto">
          <a:xfrm>
            <a:off x="5796136" y="1700808"/>
            <a:ext cx="2304256" cy="2304256"/>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864096"/>
          </a:xfrm>
        </p:spPr>
        <p:txBody>
          <a:bodyPr>
            <a:normAutofit/>
          </a:bodyPr>
          <a:lstStyle/>
          <a:p>
            <a:r>
              <a:rPr lang="en-US" sz="3000" b="1" dirty="0" smtClean="0">
                <a:solidFill>
                  <a:srgbClr val="FF6600"/>
                </a:solidFill>
                <a:latin typeface="Helvetica" pitchFamily="34" charset="0"/>
              </a:rPr>
              <a:t>Linking sponsorship with promotional tools</a:t>
            </a:r>
            <a:endParaRPr lang="en-US" sz="30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grpSp>
        <p:nvGrpSpPr>
          <p:cNvPr id="3" name="Group 2"/>
          <p:cNvGrpSpPr/>
          <p:nvPr/>
        </p:nvGrpSpPr>
        <p:grpSpPr>
          <a:xfrm>
            <a:off x="2237283" y="1344360"/>
            <a:ext cx="4122788" cy="4574340"/>
            <a:chOff x="2237283" y="1344360"/>
            <a:chExt cx="4122788" cy="4574340"/>
          </a:xfrm>
        </p:grpSpPr>
        <p:sp>
          <p:nvSpPr>
            <p:cNvPr id="5" name="Freeform 4"/>
            <p:cNvSpPr/>
            <p:nvPr/>
          </p:nvSpPr>
          <p:spPr>
            <a:xfrm>
              <a:off x="3593306" y="2969963"/>
              <a:ext cx="1410742" cy="1323133"/>
            </a:xfrm>
            <a:custGeom>
              <a:avLst/>
              <a:gdLst>
                <a:gd name="connsiteX0" fmla="*/ 0 w 1410742"/>
                <a:gd name="connsiteY0" fmla="*/ 661567 h 1323133"/>
                <a:gd name="connsiteX1" fmla="*/ 705371 w 1410742"/>
                <a:gd name="connsiteY1" fmla="*/ 0 h 1323133"/>
                <a:gd name="connsiteX2" fmla="*/ 1410742 w 1410742"/>
                <a:gd name="connsiteY2" fmla="*/ 661567 h 1323133"/>
                <a:gd name="connsiteX3" fmla="*/ 705371 w 1410742"/>
                <a:gd name="connsiteY3" fmla="*/ 1323134 h 1323133"/>
                <a:gd name="connsiteX4" fmla="*/ 0 w 1410742"/>
                <a:gd name="connsiteY4" fmla="*/ 661567 h 13231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0742" h="1323133">
                  <a:moveTo>
                    <a:pt x="0" y="661567"/>
                  </a:moveTo>
                  <a:cubicBezTo>
                    <a:pt x="0" y="296194"/>
                    <a:pt x="315805" y="0"/>
                    <a:pt x="705371" y="0"/>
                  </a:cubicBezTo>
                  <a:cubicBezTo>
                    <a:pt x="1094937" y="0"/>
                    <a:pt x="1410742" y="296194"/>
                    <a:pt x="1410742" y="661567"/>
                  </a:cubicBezTo>
                  <a:cubicBezTo>
                    <a:pt x="1410742" y="1026940"/>
                    <a:pt x="1094937" y="1323134"/>
                    <a:pt x="705371" y="1323134"/>
                  </a:cubicBezTo>
                  <a:cubicBezTo>
                    <a:pt x="315805" y="1323134"/>
                    <a:pt x="0" y="1026940"/>
                    <a:pt x="0" y="661567"/>
                  </a:cubicBez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21838" tIns="209008" rIns="221838" bIns="209008"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Sponsorship</a:t>
              </a:r>
            </a:p>
          </p:txBody>
        </p:sp>
        <p:sp>
          <p:nvSpPr>
            <p:cNvPr id="6" name="Freeform 5"/>
            <p:cNvSpPr/>
            <p:nvPr/>
          </p:nvSpPr>
          <p:spPr>
            <a:xfrm rot="16200000">
              <a:off x="4186928" y="2560777"/>
              <a:ext cx="223497" cy="409329"/>
            </a:xfrm>
            <a:custGeom>
              <a:avLst/>
              <a:gdLst>
                <a:gd name="connsiteX0" fmla="*/ 0 w 223497"/>
                <a:gd name="connsiteY0" fmla="*/ 81866 h 409329"/>
                <a:gd name="connsiteX1" fmla="*/ 111749 w 223497"/>
                <a:gd name="connsiteY1" fmla="*/ 81866 h 409329"/>
                <a:gd name="connsiteX2" fmla="*/ 111749 w 223497"/>
                <a:gd name="connsiteY2" fmla="*/ 0 h 409329"/>
                <a:gd name="connsiteX3" fmla="*/ 223497 w 223497"/>
                <a:gd name="connsiteY3" fmla="*/ 204665 h 409329"/>
                <a:gd name="connsiteX4" fmla="*/ 111749 w 223497"/>
                <a:gd name="connsiteY4" fmla="*/ 409329 h 409329"/>
                <a:gd name="connsiteX5" fmla="*/ 111749 w 223497"/>
                <a:gd name="connsiteY5" fmla="*/ 327463 h 409329"/>
                <a:gd name="connsiteX6" fmla="*/ 0 w 223497"/>
                <a:gd name="connsiteY6" fmla="*/ 327463 h 409329"/>
                <a:gd name="connsiteX7" fmla="*/ 0 w 223497"/>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497" h="409329">
                  <a:moveTo>
                    <a:pt x="0" y="81866"/>
                  </a:moveTo>
                  <a:lnTo>
                    <a:pt x="111749" y="81866"/>
                  </a:lnTo>
                  <a:lnTo>
                    <a:pt x="111749" y="0"/>
                  </a:lnTo>
                  <a:lnTo>
                    <a:pt x="223497" y="204665"/>
                  </a:lnTo>
                  <a:lnTo>
                    <a:pt x="111749" y="409329"/>
                  </a:lnTo>
                  <a:lnTo>
                    <a:pt x="111749" y="327463"/>
                  </a:lnTo>
                  <a:lnTo>
                    <a:pt x="0" y="327463"/>
                  </a:lnTo>
                  <a:lnTo>
                    <a:pt x="0" y="81866"/>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 tIns="81866" rIns="67050" bIns="81865"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8" name="Freeform 7"/>
            <p:cNvSpPr/>
            <p:nvPr/>
          </p:nvSpPr>
          <p:spPr>
            <a:xfrm>
              <a:off x="3696722" y="1344360"/>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Internet</a:t>
              </a:r>
            </a:p>
          </p:txBody>
        </p:sp>
        <p:sp>
          <p:nvSpPr>
            <p:cNvPr id="9" name="Freeform 8"/>
            <p:cNvSpPr/>
            <p:nvPr/>
          </p:nvSpPr>
          <p:spPr>
            <a:xfrm rot="19800000">
              <a:off x="4959765" y="2985570"/>
              <a:ext cx="206514" cy="409329"/>
            </a:xfrm>
            <a:custGeom>
              <a:avLst/>
              <a:gdLst>
                <a:gd name="connsiteX0" fmla="*/ 0 w 206514"/>
                <a:gd name="connsiteY0" fmla="*/ 81866 h 409329"/>
                <a:gd name="connsiteX1" fmla="*/ 103257 w 206514"/>
                <a:gd name="connsiteY1" fmla="*/ 81866 h 409329"/>
                <a:gd name="connsiteX2" fmla="*/ 103257 w 206514"/>
                <a:gd name="connsiteY2" fmla="*/ 0 h 409329"/>
                <a:gd name="connsiteX3" fmla="*/ 206514 w 206514"/>
                <a:gd name="connsiteY3" fmla="*/ 204665 h 409329"/>
                <a:gd name="connsiteX4" fmla="*/ 103257 w 206514"/>
                <a:gd name="connsiteY4" fmla="*/ 409329 h 409329"/>
                <a:gd name="connsiteX5" fmla="*/ 103257 w 206514"/>
                <a:gd name="connsiteY5" fmla="*/ 327463 h 409329"/>
                <a:gd name="connsiteX6" fmla="*/ 0 w 206514"/>
                <a:gd name="connsiteY6" fmla="*/ 327463 h 409329"/>
                <a:gd name="connsiteX7" fmla="*/ 0 w 206514"/>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14" h="409329">
                  <a:moveTo>
                    <a:pt x="0" y="81866"/>
                  </a:moveTo>
                  <a:lnTo>
                    <a:pt x="103257" y="81866"/>
                  </a:lnTo>
                  <a:lnTo>
                    <a:pt x="103257" y="0"/>
                  </a:lnTo>
                  <a:lnTo>
                    <a:pt x="206514" y="204665"/>
                  </a:lnTo>
                  <a:lnTo>
                    <a:pt x="103257" y="409329"/>
                  </a:lnTo>
                  <a:lnTo>
                    <a:pt x="103257" y="327463"/>
                  </a:lnTo>
                  <a:lnTo>
                    <a:pt x="0" y="327463"/>
                  </a:lnTo>
                  <a:lnTo>
                    <a:pt x="0" y="81866"/>
                  </a:lnTo>
                  <a:close/>
                </a:path>
              </a:pathLst>
            </a:custGeom>
          </p:spPr>
          <p:style>
            <a:lnRef idx="0">
              <a:schemeClr val="lt1">
                <a:hueOff val="0"/>
                <a:satOff val="0"/>
                <a:lumOff val="0"/>
                <a:alphaOff val="0"/>
              </a:schemeClr>
            </a:lnRef>
            <a:fillRef idx="1">
              <a:schemeClr val="accent4">
                <a:hueOff val="371365"/>
                <a:satOff val="-11282"/>
                <a:lumOff val="3726"/>
                <a:alphaOff val="0"/>
              </a:schemeClr>
            </a:fillRef>
            <a:effectRef idx="0">
              <a:schemeClr val="accent4">
                <a:hueOff val="371365"/>
                <a:satOff val="-11282"/>
                <a:lumOff val="3726"/>
                <a:alphaOff val="0"/>
              </a:schemeClr>
            </a:effectRef>
            <a:fontRef idx="minor">
              <a:schemeClr val="lt1"/>
            </a:fontRef>
          </p:style>
          <p:txBody>
            <a:bodyPr spcFirstLastPara="0" vert="horz" wrap="square" lIns="-1" tIns="81866" rIns="61954" bIns="81865"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10" name="Freeform 9"/>
            <p:cNvSpPr/>
            <p:nvPr/>
          </p:nvSpPr>
          <p:spPr>
            <a:xfrm>
              <a:off x="5156161" y="2186967"/>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371365"/>
                <a:satOff val="-11282"/>
                <a:lumOff val="3726"/>
                <a:alphaOff val="0"/>
              </a:schemeClr>
            </a:fillRef>
            <a:effectRef idx="0">
              <a:schemeClr val="accent4">
                <a:hueOff val="371365"/>
                <a:satOff val="-11282"/>
                <a:lumOff val="3726"/>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Product Placement</a:t>
              </a:r>
            </a:p>
          </p:txBody>
        </p:sp>
        <p:sp>
          <p:nvSpPr>
            <p:cNvPr id="11" name="Freeform 10"/>
            <p:cNvSpPr/>
            <p:nvPr/>
          </p:nvSpPr>
          <p:spPr>
            <a:xfrm rot="1800000">
              <a:off x="4959765" y="3868160"/>
              <a:ext cx="206514" cy="409329"/>
            </a:xfrm>
            <a:custGeom>
              <a:avLst/>
              <a:gdLst>
                <a:gd name="connsiteX0" fmla="*/ 0 w 206514"/>
                <a:gd name="connsiteY0" fmla="*/ 81866 h 409329"/>
                <a:gd name="connsiteX1" fmla="*/ 103257 w 206514"/>
                <a:gd name="connsiteY1" fmla="*/ 81866 h 409329"/>
                <a:gd name="connsiteX2" fmla="*/ 103257 w 206514"/>
                <a:gd name="connsiteY2" fmla="*/ 0 h 409329"/>
                <a:gd name="connsiteX3" fmla="*/ 206514 w 206514"/>
                <a:gd name="connsiteY3" fmla="*/ 204665 h 409329"/>
                <a:gd name="connsiteX4" fmla="*/ 103257 w 206514"/>
                <a:gd name="connsiteY4" fmla="*/ 409329 h 409329"/>
                <a:gd name="connsiteX5" fmla="*/ 103257 w 206514"/>
                <a:gd name="connsiteY5" fmla="*/ 327463 h 409329"/>
                <a:gd name="connsiteX6" fmla="*/ 0 w 206514"/>
                <a:gd name="connsiteY6" fmla="*/ 327463 h 409329"/>
                <a:gd name="connsiteX7" fmla="*/ 0 w 206514"/>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14" h="409329">
                  <a:moveTo>
                    <a:pt x="0" y="81866"/>
                  </a:moveTo>
                  <a:lnTo>
                    <a:pt x="103257" y="81866"/>
                  </a:lnTo>
                  <a:lnTo>
                    <a:pt x="103257" y="0"/>
                  </a:lnTo>
                  <a:lnTo>
                    <a:pt x="206514" y="204665"/>
                  </a:lnTo>
                  <a:lnTo>
                    <a:pt x="103257" y="409329"/>
                  </a:lnTo>
                  <a:lnTo>
                    <a:pt x="103257" y="327463"/>
                  </a:lnTo>
                  <a:lnTo>
                    <a:pt x="0" y="327463"/>
                  </a:lnTo>
                  <a:lnTo>
                    <a:pt x="0" y="81866"/>
                  </a:lnTo>
                  <a:close/>
                </a:path>
              </a:pathLst>
            </a:custGeom>
          </p:spPr>
          <p:style>
            <a:lnRef idx="0">
              <a:schemeClr val="lt1">
                <a:hueOff val="0"/>
                <a:satOff val="0"/>
                <a:lumOff val="0"/>
                <a:alphaOff val="0"/>
              </a:schemeClr>
            </a:lnRef>
            <a:fillRef idx="1">
              <a:schemeClr val="accent4">
                <a:hueOff val="742729"/>
                <a:satOff val="-22564"/>
                <a:lumOff val="7451"/>
                <a:alphaOff val="0"/>
              </a:schemeClr>
            </a:fillRef>
            <a:effectRef idx="0">
              <a:schemeClr val="accent4">
                <a:hueOff val="742729"/>
                <a:satOff val="-22564"/>
                <a:lumOff val="7451"/>
                <a:alphaOff val="0"/>
              </a:schemeClr>
            </a:effectRef>
            <a:fontRef idx="minor">
              <a:schemeClr val="lt1"/>
            </a:fontRef>
          </p:style>
          <p:txBody>
            <a:bodyPr spcFirstLastPara="0" vert="horz" wrap="square" lIns="0" tIns="81866" rIns="61953" bIns="81865"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12" name="Freeform 11"/>
            <p:cNvSpPr/>
            <p:nvPr/>
          </p:nvSpPr>
          <p:spPr>
            <a:xfrm>
              <a:off x="5156161" y="3872182"/>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742729"/>
                <a:satOff val="-22564"/>
                <a:lumOff val="7451"/>
                <a:alphaOff val="0"/>
              </a:schemeClr>
            </a:fillRef>
            <a:effectRef idx="0">
              <a:schemeClr val="accent4">
                <a:hueOff val="742729"/>
                <a:satOff val="-22564"/>
                <a:lumOff val="7451"/>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Direct Marketing</a:t>
              </a:r>
            </a:p>
          </p:txBody>
        </p:sp>
        <p:sp>
          <p:nvSpPr>
            <p:cNvPr id="13" name="Freeform 12"/>
            <p:cNvSpPr/>
            <p:nvPr/>
          </p:nvSpPr>
          <p:spPr>
            <a:xfrm rot="5400000">
              <a:off x="4186928" y="4292953"/>
              <a:ext cx="223497" cy="409329"/>
            </a:xfrm>
            <a:custGeom>
              <a:avLst/>
              <a:gdLst>
                <a:gd name="connsiteX0" fmla="*/ 0 w 223497"/>
                <a:gd name="connsiteY0" fmla="*/ 81866 h 409329"/>
                <a:gd name="connsiteX1" fmla="*/ 111749 w 223497"/>
                <a:gd name="connsiteY1" fmla="*/ 81866 h 409329"/>
                <a:gd name="connsiteX2" fmla="*/ 111749 w 223497"/>
                <a:gd name="connsiteY2" fmla="*/ 0 h 409329"/>
                <a:gd name="connsiteX3" fmla="*/ 223497 w 223497"/>
                <a:gd name="connsiteY3" fmla="*/ 204665 h 409329"/>
                <a:gd name="connsiteX4" fmla="*/ 111749 w 223497"/>
                <a:gd name="connsiteY4" fmla="*/ 409329 h 409329"/>
                <a:gd name="connsiteX5" fmla="*/ 111749 w 223497"/>
                <a:gd name="connsiteY5" fmla="*/ 327463 h 409329"/>
                <a:gd name="connsiteX6" fmla="*/ 0 w 223497"/>
                <a:gd name="connsiteY6" fmla="*/ 327463 h 409329"/>
                <a:gd name="connsiteX7" fmla="*/ 0 w 223497"/>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3497" h="409329">
                  <a:moveTo>
                    <a:pt x="0" y="81866"/>
                  </a:moveTo>
                  <a:lnTo>
                    <a:pt x="111749" y="81866"/>
                  </a:lnTo>
                  <a:lnTo>
                    <a:pt x="111749" y="0"/>
                  </a:lnTo>
                  <a:lnTo>
                    <a:pt x="223497" y="204665"/>
                  </a:lnTo>
                  <a:lnTo>
                    <a:pt x="111749" y="409329"/>
                  </a:lnTo>
                  <a:lnTo>
                    <a:pt x="111749" y="327463"/>
                  </a:lnTo>
                  <a:lnTo>
                    <a:pt x="0" y="327463"/>
                  </a:lnTo>
                  <a:lnTo>
                    <a:pt x="0" y="81866"/>
                  </a:lnTo>
                  <a:close/>
                </a:path>
              </a:pathLst>
            </a:custGeom>
          </p:spPr>
          <p:style>
            <a:lnRef idx="0">
              <a:schemeClr val="lt1">
                <a:hueOff val="0"/>
                <a:satOff val="0"/>
                <a:lumOff val="0"/>
                <a:alphaOff val="0"/>
              </a:schemeClr>
            </a:lnRef>
            <a:fillRef idx="1">
              <a:schemeClr val="accent4">
                <a:hueOff val="1114094"/>
                <a:satOff val="-33846"/>
                <a:lumOff val="11177"/>
                <a:alphaOff val="0"/>
              </a:schemeClr>
            </a:fillRef>
            <a:effectRef idx="0">
              <a:schemeClr val="accent4">
                <a:hueOff val="1114094"/>
                <a:satOff val="-33846"/>
                <a:lumOff val="11177"/>
                <a:alphaOff val="0"/>
              </a:schemeClr>
            </a:effectRef>
            <a:fontRef idx="minor">
              <a:schemeClr val="lt1"/>
            </a:fontRef>
          </p:style>
          <p:txBody>
            <a:bodyPr spcFirstLastPara="0" vert="horz" wrap="square" lIns="0" tIns="81864" rIns="67048" bIns="81867"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14" name="Freeform 13"/>
            <p:cNvSpPr/>
            <p:nvPr/>
          </p:nvSpPr>
          <p:spPr>
            <a:xfrm>
              <a:off x="3696722" y="4714790"/>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1114094"/>
                <a:satOff val="-33846"/>
                <a:lumOff val="11177"/>
                <a:alphaOff val="0"/>
              </a:schemeClr>
            </a:fillRef>
            <a:effectRef idx="0">
              <a:schemeClr val="accent4">
                <a:hueOff val="1114094"/>
                <a:satOff val="-33846"/>
                <a:lumOff val="11177"/>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Sales Promotion</a:t>
              </a:r>
            </a:p>
          </p:txBody>
        </p:sp>
        <p:sp>
          <p:nvSpPr>
            <p:cNvPr id="15" name="Freeform 14"/>
            <p:cNvSpPr/>
            <p:nvPr/>
          </p:nvSpPr>
          <p:spPr>
            <a:xfrm rot="19800000">
              <a:off x="3431074" y="3868159"/>
              <a:ext cx="206515" cy="409330"/>
            </a:xfrm>
            <a:custGeom>
              <a:avLst/>
              <a:gdLst>
                <a:gd name="connsiteX0" fmla="*/ 0 w 206514"/>
                <a:gd name="connsiteY0" fmla="*/ 81866 h 409329"/>
                <a:gd name="connsiteX1" fmla="*/ 103257 w 206514"/>
                <a:gd name="connsiteY1" fmla="*/ 81866 h 409329"/>
                <a:gd name="connsiteX2" fmla="*/ 103257 w 206514"/>
                <a:gd name="connsiteY2" fmla="*/ 0 h 409329"/>
                <a:gd name="connsiteX3" fmla="*/ 206514 w 206514"/>
                <a:gd name="connsiteY3" fmla="*/ 204665 h 409329"/>
                <a:gd name="connsiteX4" fmla="*/ 103257 w 206514"/>
                <a:gd name="connsiteY4" fmla="*/ 409329 h 409329"/>
                <a:gd name="connsiteX5" fmla="*/ 103257 w 206514"/>
                <a:gd name="connsiteY5" fmla="*/ 327463 h 409329"/>
                <a:gd name="connsiteX6" fmla="*/ 0 w 206514"/>
                <a:gd name="connsiteY6" fmla="*/ 327463 h 409329"/>
                <a:gd name="connsiteX7" fmla="*/ 0 w 206514"/>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14" h="409329">
                  <a:moveTo>
                    <a:pt x="206513" y="327463"/>
                  </a:moveTo>
                  <a:lnTo>
                    <a:pt x="103257" y="327463"/>
                  </a:lnTo>
                  <a:lnTo>
                    <a:pt x="103257" y="409329"/>
                  </a:lnTo>
                  <a:lnTo>
                    <a:pt x="1" y="204664"/>
                  </a:lnTo>
                  <a:lnTo>
                    <a:pt x="103257" y="0"/>
                  </a:lnTo>
                  <a:lnTo>
                    <a:pt x="103257" y="81866"/>
                  </a:lnTo>
                  <a:lnTo>
                    <a:pt x="206513" y="81866"/>
                  </a:lnTo>
                  <a:lnTo>
                    <a:pt x="206513" y="327463"/>
                  </a:lnTo>
                  <a:close/>
                </a:path>
              </a:pathLst>
            </a:custGeom>
          </p:spPr>
          <p:style>
            <a:lnRef idx="0">
              <a:schemeClr val="lt1">
                <a:hueOff val="0"/>
                <a:satOff val="0"/>
                <a:lumOff val="0"/>
                <a:alphaOff val="0"/>
              </a:schemeClr>
            </a:lnRef>
            <a:fillRef idx="1">
              <a:schemeClr val="accent4">
                <a:hueOff val="1485459"/>
                <a:satOff val="-45128"/>
                <a:lumOff val="14902"/>
                <a:alphaOff val="0"/>
              </a:schemeClr>
            </a:fillRef>
            <a:effectRef idx="0">
              <a:schemeClr val="accent4">
                <a:hueOff val="1485459"/>
                <a:satOff val="-45128"/>
                <a:lumOff val="14902"/>
                <a:alphaOff val="0"/>
              </a:schemeClr>
            </a:effectRef>
            <a:fontRef idx="minor">
              <a:schemeClr val="lt1"/>
            </a:fontRef>
          </p:style>
          <p:txBody>
            <a:bodyPr spcFirstLastPara="0" vert="horz" wrap="square" lIns="61953" tIns="81867" rIns="1" bIns="81865"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16" name="Freeform 15"/>
            <p:cNvSpPr/>
            <p:nvPr/>
          </p:nvSpPr>
          <p:spPr>
            <a:xfrm>
              <a:off x="2237283" y="3872182"/>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1485459"/>
                <a:satOff val="-45128"/>
                <a:lumOff val="14902"/>
                <a:alphaOff val="0"/>
              </a:schemeClr>
            </a:fillRef>
            <a:effectRef idx="0">
              <a:schemeClr val="accent4">
                <a:hueOff val="1485459"/>
                <a:satOff val="-45128"/>
                <a:lumOff val="14902"/>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Public Relations</a:t>
              </a:r>
            </a:p>
          </p:txBody>
        </p:sp>
        <p:sp>
          <p:nvSpPr>
            <p:cNvPr id="17" name="Freeform 16"/>
            <p:cNvSpPr/>
            <p:nvPr/>
          </p:nvSpPr>
          <p:spPr>
            <a:xfrm rot="23400000">
              <a:off x="3431074" y="2985569"/>
              <a:ext cx="206515" cy="409330"/>
            </a:xfrm>
            <a:custGeom>
              <a:avLst/>
              <a:gdLst>
                <a:gd name="connsiteX0" fmla="*/ 0 w 206514"/>
                <a:gd name="connsiteY0" fmla="*/ 81866 h 409329"/>
                <a:gd name="connsiteX1" fmla="*/ 103257 w 206514"/>
                <a:gd name="connsiteY1" fmla="*/ 81866 h 409329"/>
                <a:gd name="connsiteX2" fmla="*/ 103257 w 206514"/>
                <a:gd name="connsiteY2" fmla="*/ 0 h 409329"/>
                <a:gd name="connsiteX3" fmla="*/ 206514 w 206514"/>
                <a:gd name="connsiteY3" fmla="*/ 204665 h 409329"/>
                <a:gd name="connsiteX4" fmla="*/ 103257 w 206514"/>
                <a:gd name="connsiteY4" fmla="*/ 409329 h 409329"/>
                <a:gd name="connsiteX5" fmla="*/ 103257 w 206514"/>
                <a:gd name="connsiteY5" fmla="*/ 327463 h 409329"/>
                <a:gd name="connsiteX6" fmla="*/ 0 w 206514"/>
                <a:gd name="connsiteY6" fmla="*/ 327463 h 409329"/>
                <a:gd name="connsiteX7" fmla="*/ 0 w 206514"/>
                <a:gd name="connsiteY7" fmla="*/ 81866 h 409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6514" h="409329">
                  <a:moveTo>
                    <a:pt x="206513" y="327463"/>
                  </a:moveTo>
                  <a:lnTo>
                    <a:pt x="103257" y="327463"/>
                  </a:lnTo>
                  <a:lnTo>
                    <a:pt x="103257" y="409329"/>
                  </a:lnTo>
                  <a:lnTo>
                    <a:pt x="1" y="204664"/>
                  </a:lnTo>
                  <a:lnTo>
                    <a:pt x="103257" y="0"/>
                  </a:lnTo>
                  <a:lnTo>
                    <a:pt x="103257" y="81866"/>
                  </a:lnTo>
                  <a:lnTo>
                    <a:pt x="206513" y="81866"/>
                  </a:lnTo>
                  <a:lnTo>
                    <a:pt x="206513" y="327463"/>
                  </a:lnTo>
                  <a:close/>
                </a:path>
              </a:pathLst>
            </a:custGeom>
          </p:spPr>
          <p:style>
            <a:lnRef idx="0">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61954" tIns="81867" rIns="0" bIns="81865" numCol="1" spcCol="1270" anchor="ctr" anchorCtr="0">
              <a:noAutofit/>
            </a:bodyPr>
            <a:lstStyle/>
            <a:p>
              <a:pPr lvl="0" algn="ctr" defTabSz="533400">
                <a:lnSpc>
                  <a:spcPct val="90000"/>
                </a:lnSpc>
                <a:spcBef>
                  <a:spcPct val="0"/>
                </a:spcBef>
                <a:spcAft>
                  <a:spcPct val="35000"/>
                </a:spcAft>
              </a:pPr>
              <a:endParaRPr lang="en-US" sz="1200" kern="1200" dirty="0">
                <a:latin typeface="Helvetica" pitchFamily="34" charset="0"/>
              </a:endParaRPr>
            </a:p>
          </p:txBody>
        </p:sp>
        <p:sp>
          <p:nvSpPr>
            <p:cNvPr id="18" name="Freeform 17"/>
            <p:cNvSpPr/>
            <p:nvPr/>
          </p:nvSpPr>
          <p:spPr>
            <a:xfrm>
              <a:off x="2237283" y="2186967"/>
              <a:ext cx="1203910" cy="1203910"/>
            </a:xfrm>
            <a:custGeom>
              <a:avLst/>
              <a:gdLst>
                <a:gd name="connsiteX0" fmla="*/ 0 w 1203910"/>
                <a:gd name="connsiteY0" fmla="*/ 601955 h 1203910"/>
                <a:gd name="connsiteX1" fmla="*/ 601955 w 1203910"/>
                <a:gd name="connsiteY1" fmla="*/ 0 h 1203910"/>
                <a:gd name="connsiteX2" fmla="*/ 1203910 w 1203910"/>
                <a:gd name="connsiteY2" fmla="*/ 601955 h 1203910"/>
                <a:gd name="connsiteX3" fmla="*/ 601955 w 1203910"/>
                <a:gd name="connsiteY3" fmla="*/ 1203910 h 1203910"/>
                <a:gd name="connsiteX4" fmla="*/ 0 w 1203910"/>
                <a:gd name="connsiteY4" fmla="*/ 601955 h 12039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10" h="1203910">
                  <a:moveTo>
                    <a:pt x="0" y="601955"/>
                  </a:moveTo>
                  <a:cubicBezTo>
                    <a:pt x="0" y="269504"/>
                    <a:pt x="269504" y="0"/>
                    <a:pt x="601955" y="0"/>
                  </a:cubicBezTo>
                  <a:cubicBezTo>
                    <a:pt x="934406" y="0"/>
                    <a:pt x="1203910" y="269504"/>
                    <a:pt x="1203910" y="601955"/>
                  </a:cubicBezTo>
                  <a:cubicBezTo>
                    <a:pt x="1203910" y="934406"/>
                    <a:pt x="934406" y="1203910"/>
                    <a:pt x="601955" y="1203910"/>
                  </a:cubicBezTo>
                  <a:cubicBezTo>
                    <a:pt x="269504" y="1203910"/>
                    <a:pt x="0" y="934406"/>
                    <a:pt x="0" y="601955"/>
                  </a:cubicBezTo>
                  <a:close/>
                </a:path>
              </a:pathLst>
            </a:custGeom>
          </p:spPr>
          <p:style>
            <a:lnRef idx="2">
              <a:schemeClr val="lt1">
                <a:hueOff val="0"/>
                <a:satOff val="0"/>
                <a:lumOff val="0"/>
                <a:alphaOff val="0"/>
              </a:schemeClr>
            </a:lnRef>
            <a:fillRef idx="1">
              <a:schemeClr val="accent4">
                <a:hueOff val="1856823"/>
                <a:satOff val="-56410"/>
                <a:lumOff val="18628"/>
                <a:alphaOff val="0"/>
              </a:schemeClr>
            </a:fillRef>
            <a:effectRef idx="0">
              <a:schemeClr val="accent4">
                <a:hueOff val="1856823"/>
                <a:satOff val="-56410"/>
                <a:lumOff val="18628"/>
                <a:alphaOff val="0"/>
              </a:schemeClr>
            </a:effectRef>
            <a:fontRef idx="minor">
              <a:schemeClr val="lt1"/>
            </a:fontRef>
          </p:style>
          <p:txBody>
            <a:bodyPr spcFirstLastPara="0" vert="horz" wrap="square" lIns="191549" tIns="191549" rIns="191549" bIns="191549" numCol="1" spcCol="1270" anchor="ctr" anchorCtr="0">
              <a:noAutofit/>
            </a:bodyPr>
            <a:lstStyle/>
            <a:p>
              <a:pPr lvl="0" algn="ctr" defTabSz="533400">
                <a:lnSpc>
                  <a:spcPct val="90000"/>
                </a:lnSpc>
                <a:spcBef>
                  <a:spcPct val="0"/>
                </a:spcBef>
                <a:spcAft>
                  <a:spcPct val="35000"/>
                </a:spcAft>
              </a:pPr>
              <a:r>
                <a:rPr lang="en-US" sz="1200" kern="1200" dirty="0">
                  <a:latin typeface="Helvetica" pitchFamily="34" charset="0"/>
                </a:rPr>
                <a:t>Advertising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080120"/>
          </a:xfrm>
        </p:spPr>
        <p:txBody>
          <a:bodyPr>
            <a:normAutofit/>
          </a:bodyPr>
          <a:lstStyle/>
          <a:p>
            <a:r>
              <a:rPr lang="en-US" sz="3000" b="1" dirty="0">
                <a:solidFill>
                  <a:srgbClr val="FF6600"/>
                </a:solidFill>
                <a:latin typeface="Helvetica" pitchFamily="34" charset="0"/>
              </a:rPr>
              <a:t>Sponsorship objectives</a:t>
            </a:r>
          </a:p>
        </p:txBody>
      </p:sp>
      <p:sp>
        <p:nvSpPr>
          <p:cNvPr id="3" name="Content Placeholder 2"/>
          <p:cNvSpPr>
            <a:spLocks noGrp="1"/>
          </p:cNvSpPr>
          <p:nvPr>
            <p:ph idx="1"/>
          </p:nvPr>
        </p:nvSpPr>
        <p:spPr>
          <a:xfrm>
            <a:off x="611560" y="1556792"/>
            <a:ext cx="7467600" cy="4525963"/>
          </a:xfrm>
        </p:spPr>
        <p:txBody>
          <a:bodyPr>
            <a:normAutofit/>
          </a:bodyPr>
          <a:lstStyle/>
          <a:p>
            <a:pPr marL="0" indent="0">
              <a:lnSpc>
                <a:spcPts val="3200"/>
              </a:lnSpc>
              <a:spcBef>
                <a:spcPts val="1200"/>
              </a:spcBef>
              <a:spcAft>
                <a:spcPts val="1200"/>
              </a:spcAft>
              <a:buNone/>
            </a:pPr>
            <a:r>
              <a:rPr lang="en-US" sz="2200" dirty="0" smtClean="0"/>
              <a:t>When companies commit themselves </a:t>
            </a:r>
            <a:br>
              <a:rPr lang="en-US" sz="2200" dirty="0" smtClean="0"/>
            </a:br>
            <a:r>
              <a:rPr lang="en-US" sz="2200" dirty="0" smtClean="0"/>
              <a:t>to sponsoring certain activity, they </a:t>
            </a:r>
            <a:br>
              <a:rPr lang="en-US" sz="2200" dirty="0" smtClean="0"/>
            </a:br>
            <a:r>
              <a:rPr lang="en-US" sz="2200" dirty="0" smtClean="0"/>
              <a:t>should always have clear reasons </a:t>
            </a:r>
            <a:br>
              <a:rPr lang="en-US" sz="2200" dirty="0" smtClean="0"/>
            </a:br>
            <a:r>
              <a:rPr lang="en-US" sz="2200" dirty="0" smtClean="0"/>
              <a:t>and objectives for their actions. </a:t>
            </a:r>
            <a:br>
              <a:rPr lang="en-US" sz="2200" dirty="0" smtClean="0"/>
            </a:br>
            <a:r>
              <a:rPr lang="en-US" sz="2200" dirty="0" smtClean="0"/>
              <a:t>Sponsorship goals should always be </a:t>
            </a:r>
            <a:br>
              <a:rPr lang="en-US" sz="2200" dirty="0" smtClean="0"/>
            </a:br>
            <a:r>
              <a:rPr lang="en-US" sz="2200" dirty="0" smtClean="0"/>
              <a:t>linked to promotional objectives and </a:t>
            </a:r>
            <a:br>
              <a:rPr lang="en-US" sz="2200" dirty="0" smtClean="0"/>
            </a:br>
            <a:r>
              <a:rPr lang="en-US" sz="2200" dirty="0" smtClean="0"/>
              <a:t>in a wider sense to the marketing </a:t>
            </a:r>
            <a:br>
              <a:rPr lang="en-US" sz="2200" dirty="0" smtClean="0"/>
            </a:br>
            <a:r>
              <a:rPr lang="en-US" sz="2200" dirty="0" smtClean="0"/>
              <a:t>objectives of the organization (Shank 2009, p. 333). </a:t>
            </a:r>
          </a:p>
          <a:p>
            <a:pPr marL="0" indent="0">
              <a:lnSpc>
                <a:spcPts val="3200"/>
              </a:lnSpc>
              <a:spcBef>
                <a:spcPts val="1200"/>
              </a:spcBef>
              <a:spcAft>
                <a:spcPts val="1200"/>
              </a:spcAft>
              <a:buNone/>
            </a:pPr>
            <a:r>
              <a:rPr lang="en-US" sz="2200" dirty="0" smtClean="0"/>
              <a:t>Indirect and direct sponsorship objectives.</a:t>
            </a:r>
          </a:p>
          <a:p>
            <a:pPr marL="0" indent="0">
              <a:lnSpc>
                <a:spcPts val="3200"/>
              </a:lnSpc>
              <a:spcBef>
                <a:spcPts val="12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6" name="Picture 5" descr="C:\Users\Quentin\AppData\Local\Microsoft\Windows\Temporary Internet Files\Content.IE5\XCZRY9RX\HiRes[1].jp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96136" y="1893590"/>
            <a:ext cx="2295525" cy="2295525"/>
          </a:xfrm>
          <a:prstGeom prst="ellipse">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496944" cy="1143000"/>
          </a:xfrm>
        </p:spPr>
        <p:txBody>
          <a:bodyPr>
            <a:normAutofit/>
          </a:bodyPr>
          <a:lstStyle/>
          <a:p>
            <a:pPr marL="990600" indent="-990600"/>
            <a:r>
              <a:rPr lang="en-US" sz="3000" b="1" dirty="0" smtClean="0">
                <a:solidFill>
                  <a:srgbClr val="FF6600"/>
                </a:solidFill>
                <a:latin typeface="Helvetica" pitchFamily="34" charset="0"/>
              </a:rPr>
              <a:t>1.2	Develop a budget for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The sponsorship activity budget is a projection (forecast) of the income and expenditure that the event will incur based on plans made and information gathered.</a:t>
            </a:r>
          </a:p>
          <a:p>
            <a:pPr marL="0" indent="0">
              <a:spcBef>
                <a:spcPts val="600"/>
              </a:spcBef>
              <a:spcAft>
                <a:spcPts val="1200"/>
              </a:spcAft>
              <a:buNone/>
            </a:pPr>
            <a:r>
              <a:rPr lang="en-AU" sz="2200" dirty="0" smtClean="0"/>
              <a:t>The preparation of a budget is an essential part of sponsorship initiative management. It is fundamentally important to be able  to predict with reasonable accuracy whether the activity will result in a profit, a loss or will break-even. </a:t>
            </a:r>
            <a:endParaRPr lang="en-US" sz="2200" dirty="0" smtClean="0"/>
          </a:p>
          <a:p>
            <a:pPr marL="0" indent="0">
              <a:spcBef>
                <a:spcPts val="600"/>
              </a:spcBef>
              <a:spcAft>
                <a:spcPts val="1200"/>
              </a:spcAft>
              <a:buNone/>
            </a:pPr>
            <a:endParaRPr lang="en-US" sz="2200" dirty="0" smtClean="0"/>
          </a:p>
          <a:p>
            <a:pPr marL="0" indent="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71800" y="4365104"/>
            <a:ext cx="2792199" cy="15720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656184"/>
          </a:xfrm>
        </p:spPr>
        <p:txBody>
          <a:bodyPr>
            <a:normAutofit/>
          </a:bodyPr>
          <a:lstStyle/>
          <a:p>
            <a:pPr algn="ctr"/>
            <a:r>
              <a:rPr lang="en-US" sz="3000" b="1" dirty="0" smtClean="0">
                <a:solidFill>
                  <a:srgbClr val="FF6600"/>
                </a:solidFill>
                <a:latin typeface="Helvetica" pitchFamily="34" charset="0"/>
              </a:rPr>
              <a:t>Budget process</a:t>
            </a:r>
            <a:endParaRPr lang="en-US" sz="30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grpSp>
        <p:nvGrpSpPr>
          <p:cNvPr id="3" name="Group 2"/>
          <p:cNvGrpSpPr/>
          <p:nvPr/>
        </p:nvGrpSpPr>
        <p:grpSpPr>
          <a:xfrm>
            <a:off x="615286" y="2132856"/>
            <a:ext cx="7625394" cy="1321848"/>
            <a:chOff x="615286" y="2372031"/>
            <a:chExt cx="7625394" cy="1321848"/>
          </a:xfrm>
        </p:grpSpPr>
        <p:sp>
          <p:nvSpPr>
            <p:cNvPr id="5" name="Freeform 4"/>
            <p:cNvSpPr/>
            <p:nvPr/>
          </p:nvSpPr>
          <p:spPr>
            <a:xfrm>
              <a:off x="615286" y="2372031"/>
              <a:ext cx="1155362" cy="1321848"/>
            </a:xfrm>
            <a:custGeom>
              <a:avLst/>
              <a:gdLst>
                <a:gd name="connsiteX0" fmla="*/ 0 w 1155362"/>
                <a:gd name="connsiteY0" fmla="*/ 115536 h 1321848"/>
                <a:gd name="connsiteX1" fmla="*/ 115536 w 1155362"/>
                <a:gd name="connsiteY1" fmla="*/ 0 h 1321848"/>
                <a:gd name="connsiteX2" fmla="*/ 1039826 w 1155362"/>
                <a:gd name="connsiteY2" fmla="*/ 0 h 1321848"/>
                <a:gd name="connsiteX3" fmla="*/ 1155362 w 1155362"/>
                <a:gd name="connsiteY3" fmla="*/ 115536 h 1321848"/>
                <a:gd name="connsiteX4" fmla="*/ 1155362 w 1155362"/>
                <a:gd name="connsiteY4" fmla="*/ 1206312 h 1321848"/>
                <a:gd name="connsiteX5" fmla="*/ 1039826 w 1155362"/>
                <a:gd name="connsiteY5" fmla="*/ 1321848 h 1321848"/>
                <a:gd name="connsiteX6" fmla="*/ 115536 w 1155362"/>
                <a:gd name="connsiteY6" fmla="*/ 1321848 h 1321848"/>
                <a:gd name="connsiteX7" fmla="*/ 0 w 1155362"/>
                <a:gd name="connsiteY7" fmla="*/ 1206312 h 1321848"/>
                <a:gd name="connsiteX8" fmla="*/ 0 w 1155362"/>
                <a:gd name="connsiteY8" fmla="*/ 115536 h 132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362" h="1321848">
                  <a:moveTo>
                    <a:pt x="0" y="115536"/>
                  </a:moveTo>
                  <a:cubicBezTo>
                    <a:pt x="0" y="51727"/>
                    <a:pt x="51727" y="0"/>
                    <a:pt x="115536" y="0"/>
                  </a:cubicBezTo>
                  <a:lnTo>
                    <a:pt x="1039826" y="0"/>
                  </a:lnTo>
                  <a:cubicBezTo>
                    <a:pt x="1103635" y="0"/>
                    <a:pt x="1155362" y="51727"/>
                    <a:pt x="1155362" y="115536"/>
                  </a:cubicBezTo>
                  <a:lnTo>
                    <a:pt x="1155362" y="1206312"/>
                  </a:lnTo>
                  <a:cubicBezTo>
                    <a:pt x="1155362" y="1270121"/>
                    <a:pt x="1103635" y="1321848"/>
                    <a:pt x="1039826" y="1321848"/>
                  </a:cubicBezTo>
                  <a:lnTo>
                    <a:pt x="115536" y="1321848"/>
                  </a:lnTo>
                  <a:cubicBezTo>
                    <a:pt x="51727" y="1321848"/>
                    <a:pt x="0" y="1270121"/>
                    <a:pt x="0" y="1206312"/>
                  </a:cubicBezTo>
                  <a:lnTo>
                    <a:pt x="0" y="115536"/>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7179" tIns="87179" rIns="87179" bIns="87179" numCol="1" spcCol="1270" anchor="ctr" anchorCtr="0">
              <a:noAutofit/>
            </a:bodyPr>
            <a:lstStyle/>
            <a:p>
              <a:pPr lvl="0" algn="ctr" defTabSz="622300">
                <a:lnSpc>
                  <a:spcPct val="90000"/>
                </a:lnSpc>
                <a:spcBef>
                  <a:spcPct val="0"/>
                </a:spcBef>
                <a:spcAft>
                  <a:spcPct val="35000"/>
                </a:spcAft>
              </a:pPr>
              <a:r>
                <a:rPr lang="en-US" sz="1400" b="1" kern="1200" dirty="0">
                  <a:latin typeface="Helvetica" pitchFamily="34" charset="0"/>
                </a:rPr>
                <a:t>Identify the business context</a:t>
              </a:r>
            </a:p>
          </p:txBody>
        </p:sp>
        <p:sp>
          <p:nvSpPr>
            <p:cNvPr id="6" name="Freeform 5"/>
            <p:cNvSpPr/>
            <p:nvPr/>
          </p:nvSpPr>
          <p:spPr>
            <a:xfrm>
              <a:off x="1886185" y="2889691"/>
              <a:ext cx="244936" cy="286529"/>
            </a:xfrm>
            <a:custGeom>
              <a:avLst/>
              <a:gdLst>
                <a:gd name="connsiteX0" fmla="*/ 0 w 244936"/>
                <a:gd name="connsiteY0" fmla="*/ 57306 h 286529"/>
                <a:gd name="connsiteX1" fmla="*/ 122468 w 244936"/>
                <a:gd name="connsiteY1" fmla="*/ 57306 h 286529"/>
                <a:gd name="connsiteX2" fmla="*/ 122468 w 244936"/>
                <a:gd name="connsiteY2" fmla="*/ 0 h 286529"/>
                <a:gd name="connsiteX3" fmla="*/ 244936 w 244936"/>
                <a:gd name="connsiteY3" fmla="*/ 143265 h 286529"/>
                <a:gd name="connsiteX4" fmla="*/ 122468 w 244936"/>
                <a:gd name="connsiteY4" fmla="*/ 286529 h 286529"/>
                <a:gd name="connsiteX5" fmla="*/ 122468 w 244936"/>
                <a:gd name="connsiteY5" fmla="*/ 229223 h 286529"/>
                <a:gd name="connsiteX6" fmla="*/ 0 w 244936"/>
                <a:gd name="connsiteY6" fmla="*/ 229223 h 286529"/>
                <a:gd name="connsiteX7" fmla="*/ 0 w 244936"/>
                <a:gd name="connsiteY7" fmla="*/ 57306 h 28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936" h="286529">
                  <a:moveTo>
                    <a:pt x="0" y="57306"/>
                  </a:moveTo>
                  <a:lnTo>
                    <a:pt x="122468" y="57306"/>
                  </a:lnTo>
                  <a:lnTo>
                    <a:pt x="122468" y="0"/>
                  </a:lnTo>
                  <a:lnTo>
                    <a:pt x="244936" y="143265"/>
                  </a:lnTo>
                  <a:lnTo>
                    <a:pt x="122468" y="286529"/>
                  </a:lnTo>
                  <a:lnTo>
                    <a:pt x="122468" y="229223"/>
                  </a:lnTo>
                  <a:lnTo>
                    <a:pt x="0" y="229223"/>
                  </a:lnTo>
                  <a:lnTo>
                    <a:pt x="0" y="57306"/>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0" tIns="57306" rIns="73481" bIns="57306" numCol="1" spcCol="1270" anchor="ctr" anchorCtr="0">
              <a:noAutofit/>
            </a:bodyPr>
            <a:lstStyle/>
            <a:p>
              <a:pPr lvl="0" algn="ctr" defTabSz="622300">
                <a:lnSpc>
                  <a:spcPct val="90000"/>
                </a:lnSpc>
                <a:spcBef>
                  <a:spcPct val="0"/>
                </a:spcBef>
                <a:spcAft>
                  <a:spcPct val="35000"/>
                </a:spcAft>
              </a:pPr>
              <a:endParaRPr lang="en-US" sz="1400" b="1" kern="1200" dirty="0">
                <a:latin typeface="Helvetica" pitchFamily="34" charset="0"/>
              </a:endParaRPr>
            </a:p>
          </p:txBody>
        </p:sp>
        <p:sp>
          <p:nvSpPr>
            <p:cNvPr id="8" name="Freeform 7"/>
            <p:cNvSpPr/>
            <p:nvPr/>
          </p:nvSpPr>
          <p:spPr>
            <a:xfrm>
              <a:off x="2232794" y="2372031"/>
              <a:ext cx="1155362" cy="1321848"/>
            </a:xfrm>
            <a:custGeom>
              <a:avLst/>
              <a:gdLst>
                <a:gd name="connsiteX0" fmla="*/ 0 w 1155362"/>
                <a:gd name="connsiteY0" fmla="*/ 115536 h 1321848"/>
                <a:gd name="connsiteX1" fmla="*/ 115536 w 1155362"/>
                <a:gd name="connsiteY1" fmla="*/ 0 h 1321848"/>
                <a:gd name="connsiteX2" fmla="*/ 1039826 w 1155362"/>
                <a:gd name="connsiteY2" fmla="*/ 0 h 1321848"/>
                <a:gd name="connsiteX3" fmla="*/ 1155362 w 1155362"/>
                <a:gd name="connsiteY3" fmla="*/ 115536 h 1321848"/>
                <a:gd name="connsiteX4" fmla="*/ 1155362 w 1155362"/>
                <a:gd name="connsiteY4" fmla="*/ 1206312 h 1321848"/>
                <a:gd name="connsiteX5" fmla="*/ 1039826 w 1155362"/>
                <a:gd name="connsiteY5" fmla="*/ 1321848 h 1321848"/>
                <a:gd name="connsiteX6" fmla="*/ 115536 w 1155362"/>
                <a:gd name="connsiteY6" fmla="*/ 1321848 h 1321848"/>
                <a:gd name="connsiteX7" fmla="*/ 0 w 1155362"/>
                <a:gd name="connsiteY7" fmla="*/ 1206312 h 1321848"/>
                <a:gd name="connsiteX8" fmla="*/ 0 w 1155362"/>
                <a:gd name="connsiteY8" fmla="*/ 115536 h 132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362" h="1321848">
                  <a:moveTo>
                    <a:pt x="0" y="115536"/>
                  </a:moveTo>
                  <a:cubicBezTo>
                    <a:pt x="0" y="51727"/>
                    <a:pt x="51727" y="0"/>
                    <a:pt x="115536" y="0"/>
                  </a:cubicBezTo>
                  <a:lnTo>
                    <a:pt x="1039826" y="0"/>
                  </a:lnTo>
                  <a:cubicBezTo>
                    <a:pt x="1103635" y="0"/>
                    <a:pt x="1155362" y="51727"/>
                    <a:pt x="1155362" y="115536"/>
                  </a:cubicBezTo>
                  <a:lnTo>
                    <a:pt x="1155362" y="1206312"/>
                  </a:lnTo>
                  <a:cubicBezTo>
                    <a:pt x="1155362" y="1270121"/>
                    <a:pt x="1103635" y="1321848"/>
                    <a:pt x="1039826" y="1321848"/>
                  </a:cubicBezTo>
                  <a:lnTo>
                    <a:pt x="115536" y="1321848"/>
                  </a:lnTo>
                  <a:cubicBezTo>
                    <a:pt x="51727" y="1321848"/>
                    <a:pt x="0" y="1270121"/>
                    <a:pt x="0" y="1206312"/>
                  </a:cubicBezTo>
                  <a:lnTo>
                    <a:pt x="0" y="115536"/>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7179" tIns="87179" rIns="87179" bIns="87179" numCol="1" spcCol="1270" anchor="ctr" anchorCtr="0">
              <a:noAutofit/>
            </a:bodyPr>
            <a:lstStyle/>
            <a:p>
              <a:pPr lvl="0" algn="ctr" defTabSz="622300">
                <a:lnSpc>
                  <a:spcPct val="90000"/>
                </a:lnSpc>
                <a:spcBef>
                  <a:spcPct val="0"/>
                </a:spcBef>
                <a:spcAft>
                  <a:spcPct val="35000"/>
                </a:spcAft>
              </a:pPr>
              <a:r>
                <a:rPr lang="en-US" sz="1400" b="1" kern="1200" dirty="0">
                  <a:latin typeface="Helvetica" pitchFamily="34" charset="0"/>
                </a:rPr>
                <a:t>Establish budget guidelines to fit objectives</a:t>
              </a:r>
            </a:p>
          </p:txBody>
        </p:sp>
        <p:sp>
          <p:nvSpPr>
            <p:cNvPr id="9" name="Freeform 8"/>
            <p:cNvSpPr/>
            <p:nvPr/>
          </p:nvSpPr>
          <p:spPr>
            <a:xfrm>
              <a:off x="3503693" y="2889691"/>
              <a:ext cx="244936" cy="286529"/>
            </a:xfrm>
            <a:custGeom>
              <a:avLst/>
              <a:gdLst>
                <a:gd name="connsiteX0" fmla="*/ 0 w 244936"/>
                <a:gd name="connsiteY0" fmla="*/ 57306 h 286529"/>
                <a:gd name="connsiteX1" fmla="*/ 122468 w 244936"/>
                <a:gd name="connsiteY1" fmla="*/ 57306 h 286529"/>
                <a:gd name="connsiteX2" fmla="*/ 122468 w 244936"/>
                <a:gd name="connsiteY2" fmla="*/ 0 h 286529"/>
                <a:gd name="connsiteX3" fmla="*/ 244936 w 244936"/>
                <a:gd name="connsiteY3" fmla="*/ 143265 h 286529"/>
                <a:gd name="connsiteX4" fmla="*/ 122468 w 244936"/>
                <a:gd name="connsiteY4" fmla="*/ 286529 h 286529"/>
                <a:gd name="connsiteX5" fmla="*/ 122468 w 244936"/>
                <a:gd name="connsiteY5" fmla="*/ 229223 h 286529"/>
                <a:gd name="connsiteX6" fmla="*/ 0 w 244936"/>
                <a:gd name="connsiteY6" fmla="*/ 229223 h 286529"/>
                <a:gd name="connsiteX7" fmla="*/ 0 w 244936"/>
                <a:gd name="connsiteY7" fmla="*/ 57306 h 28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936" h="286529">
                  <a:moveTo>
                    <a:pt x="0" y="57306"/>
                  </a:moveTo>
                  <a:lnTo>
                    <a:pt x="122468" y="57306"/>
                  </a:lnTo>
                  <a:lnTo>
                    <a:pt x="122468" y="0"/>
                  </a:lnTo>
                  <a:lnTo>
                    <a:pt x="244936" y="143265"/>
                  </a:lnTo>
                  <a:lnTo>
                    <a:pt x="122468" y="286529"/>
                  </a:lnTo>
                  <a:lnTo>
                    <a:pt x="122468" y="229223"/>
                  </a:lnTo>
                  <a:lnTo>
                    <a:pt x="0" y="229223"/>
                  </a:lnTo>
                  <a:lnTo>
                    <a:pt x="0" y="57306"/>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0" tIns="57306" rIns="73481" bIns="57306" numCol="1" spcCol="1270" anchor="ctr" anchorCtr="0">
              <a:noAutofit/>
            </a:bodyPr>
            <a:lstStyle/>
            <a:p>
              <a:pPr lvl="0" algn="ctr" defTabSz="622300">
                <a:lnSpc>
                  <a:spcPct val="90000"/>
                </a:lnSpc>
                <a:spcBef>
                  <a:spcPct val="0"/>
                </a:spcBef>
                <a:spcAft>
                  <a:spcPct val="35000"/>
                </a:spcAft>
              </a:pPr>
              <a:endParaRPr lang="en-US" sz="1400" b="1" kern="1200" dirty="0">
                <a:latin typeface="Helvetica" pitchFamily="34" charset="0"/>
              </a:endParaRPr>
            </a:p>
          </p:txBody>
        </p:sp>
        <p:sp>
          <p:nvSpPr>
            <p:cNvPr id="10" name="Freeform 9"/>
            <p:cNvSpPr/>
            <p:nvPr/>
          </p:nvSpPr>
          <p:spPr>
            <a:xfrm>
              <a:off x="3850302" y="2372031"/>
              <a:ext cx="1155362" cy="1321848"/>
            </a:xfrm>
            <a:custGeom>
              <a:avLst/>
              <a:gdLst>
                <a:gd name="connsiteX0" fmla="*/ 0 w 1155362"/>
                <a:gd name="connsiteY0" fmla="*/ 115536 h 1321848"/>
                <a:gd name="connsiteX1" fmla="*/ 115536 w 1155362"/>
                <a:gd name="connsiteY1" fmla="*/ 0 h 1321848"/>
                <a:gd name="connsiteX2" fmla="*/ 1039826 w 1155362"/>
                <a:gd name="connsiteY2" fmla="*/ 0 h 1321848"/>
                <a:gd name="connsiteX3" fmla="*/ 1155362 w 1155362"/>
                <a:gd name="connsiteY3" fmla="*/ 115536 h 1321848"/>
                <a:gd name="connsiteX4" fmla="*/ 1155362 w 1155362"/>
                <a:gd name="connsiteY4" fmla="*/ 1206312 h 1321848"/>
                <a:gd name="connsiteX5" fmla="*/ 1039826 w 1155362"/>
                <a:gd name="connsiteY5" fmla="*/ 1321848 h 1321848"/>
                <a:gd name="connsiteX6" fmla="*/ 115536 w 1155362"/>
                <a:gd name="connsiteY6" fmla="*/ 1321848 h 1321848"/>
                <a:gd name="connsiteX7" fmla="*/ 0 w 1155362"/>
                <a:gd name="connsiteY7" fmla="*/ 1206312 h 1321848"/>
                <a:gd name="connsiteX8" fmla="*/ 0 w 1155362"/>
                <a:gd name="connsiteY8" fmla="*/ 115536 h 132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362" h="1321848">
                  <a:moveTo>
                    <a:pt x="0" y="115536"/>
                  </a:moveTo>
                  <a:cubicBezTo>
                    <a:pt x="0" y="51727"/>
                    <a:pt x="51727" y="0"/>
                    <a:pt x="115536" y="0"/>
                  </a:cubicBezTo>
                  <a:lnTo>
                    <a:pt x="1039826" y="0"/>
                  </a:lnTo>
                  <a:cubicBezTo>
                    <a:pt x="1103635" y="0"/>
                    <a:pt x="1155362" y="51727"/>
                    <a:pt x="1155362" y="115536"/>
                  </a:cubicBezTo>
                  <a:lnTo>
                    <a:pt x="1155362" y="1206312"/>
                  </a:lnTo>
                  <a:cubicBezTo>
                    <a:pt x="1155362" y="1270121"/>
                    <a:pt x="1103635" y="1321848"/>
                    <a:pt x="1039826" y="1321848"/>
                  </a:cubicBezTo>
                  <a:lnTo>
                    <a:pt x="115536" y="1321848"/>
                  </a:lnTo>
                  <a:cubicBezTo>
                    <a:pt x="51727" y="1321848"/>
                    <a:pt x="0" y="1270121"/>
                    <a:pt x="0" y="1206312"/>
                  </a:cubicBezTo>
                  <a:lnTo>
                    <a:pt x="0" y="115536"/>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7179" tIns="87179" rIns="87179" bIns="87179" numCol="1" spcCol="1270" anchor="ctr" anchorCtr="0">
              <a:noAutofit/>
            </a:bodyPr>
            <a:lstStyle/>
            <a:p>
              <a:pPr lvl="0" algn="ctr" defTabSz="622300">
                <a:lnSpc>
                  <a:spcPct val="90000"/>
                </a:lnSpc>
                <a:spcBef>
                  <a:spcPct val="0"/>
                </a:spcBef>
                <a:spcAft>
                  <a:spcPct val="35000"/>
                </a:spcAft>
              </a:pPr>
              <a:r>
                <a:rPr lang="en-US" sz="1400" b="1" kern="1200" dirty="0">
                  <a:latin typeface="Helvetica" pitchFamily="34" charset="0"/>
                </a:rPr>
                <a:t>Identify and determine costs and revenue</a:t>
              </a:r>
            </a:p>
          </p:txBody>
        </p:sp>
        <p:sp>
          <p:nvSpPr>
            <p:cNvPr id="11" name="Freeform 10"/>
            <p:cNvSpPr/>
            <p:nvPr/>
          </p:nvSpPr>
          <p:spPr>
            <a:xfrm>
              <a:off x="5121201" y="2889691"/>
              <a:ext cx="244936" cy="286529"/>
            </a:xfrm>
            <a:custGeom>
              <a:avLst/>
              <a:gdLst>
                <a:gd name="connsiteX0" fmla="*/ 0 w 244936"/>
                <a:gd name="connsiteY0" fmla="*/ 57306 h 286529"/>
                <a:gd name="connsiteX1" fmla="*/ 122468 w 244936"/>
                <a:gd name="connsiteY1" fmla="*/ 57306 h 286529"/>
                <a:gd name="connsiteX2" fmla="*/ 122468 w 244936"/>
                <a:gd name="connsiteY2" fmla="*/ 0 h 286529"/>
                <a:gd name="connsiteX3" fmla="*/ 244936 w 244936"/>
                <a:gd name="connsiteY3" fmla="*/ 143265 h 286529"/>
                <a:gd name="connsiteX4" fmla="*/ 122468 w 244936"/>
                <a:gd name="connsiteY4" fmla="*/ 286529 h 286529"/>
                <a:gd name="connsiteX5" fmla="*/ 122468 w 244936"/>
                <a:gd name="connsiteY5" fmla="*/ 229223 h 286529"/>
                <a:gd name="connsiteX6" fmla="*/ 0 w 244936"/>
                <a:gd name="connsiteY6" fmla="*/ 229223 h 286529"/>
                <a:gd name="connsiteX7" fmla="*/ 0 w 244936"/>
                <a:gd name="connsiteY7" fmla="*/ 57306 h 28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936" h="286529">
                  <a:moveTo>
                    <a:pt x="0" y="57306"/>
                  </a:moveTo>
                  <a:lnTo>
                    <a:pt x="122468" y="57306"/>
                  </a:lnTo>
                  <a:lnTo>
                    <a:pt x="122468" y="0"/>
                  </a:lnTo>
                  <a:lnTo>
                    <a:pt x="244936" y="143265"/>
                  </a:lnTo>
                  <a:lnTo>
                    <a:pt x="122468" y="286529"/>
                  </a:lnTo>
                  <a:lnTo>
                    <a:pt x="122468" y="229223"/>
                  </a:lnTo>
                  <a:lnTo>
                    <a:pt x="0" y="229223"/>
                  </a:lnTo>
                  <a:lnTo>
                    <a:pt x="0" y="57306"/>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0" tIns="57306" rIns="73481" bIns="57306" numCol="1" spcCol="1270" anchor="ctr" anchorCtr="0">
              <a:noAutofit/>
            </a:bodyPr>
            <a:lstStyle/>
            <a:p>
              <a:pPr lvl="0" algn="ctr" defTabSz="622300">
                <a:lnSpc>
                  <a:spcPct val="90000"/>
                </a:lnSpc>
                <a:spcBef>
                  <a:spcPct val="0"/>
                </a:spcBef>
                <a:spcAft>
                  <a:spcPct val="35000"/>
                </a:spcAft>
              </a:pPr>
              <a:endParaRPr lang="en-US" sz="1400" b="1" kern="1200" dirty="0">
                <a:latin typeface="Helvetica" pitchFamily="34" charset="0"/>
              </a:endParaRPr>
            </a:p>
          </p:txBody>
        </p:sp>
        <p:sp>
          <p:nvSpPr>
            <p:cNvPr id="12" name="Freeform 11"/>
            <p:cNvSpPr/>
            <p:nvPr/>
          </p:nvSpPr>
          <p:spPr>
            <a:xfrm>
              <a:off x="5467810" y="2372031"/>
              <a:ext cx="1155362" cy="1321848"/>
            </a:xfrm>
            <a:custGeom>
              <a:avLst/>
              <a:gdLst>
                <a:gd name="connsiteX0" fmla="*/ 0 w 1155362"/>
                <a:gd name="connsiteY0" fmla="*/ 115536 h 1321848"/>
                <a:gd name="connsiteX1" fmla="*/ 115536 w 1155362"/>
                <a:gd name="connsiteY1" fmla="*/ 0 h 1321848"/>
                <a:gd name="connsiteX2" fmla="*/ 1039826 w 1155362"/>
                <a:gd name="connsiteY2" fmla="*/ 0 h 1321848"/>
                <a:gd name="connsiteX3" fmla="*/ 1155362 w 1155362"/>
                <a:gd name="connsiteY3" fmla="*/ 115536 h 1321848"/>
                <a:gd name="connsiteX4" fmla="*/ 1155362 w 1155362"/>
                <a:gd name="connsiteY4" fmla="*/ 1206312 h 1321848"/>
                <a:gd name="connsiteX5" fmla="*/ 1039826 w 1155362"/>
                <a:gd name="connsiteY5" fmla="*/ 1321848 h 1321848"/>
                <a:gd name="connsiteX6" fmla="*/ 115536 w 1155362"/>
                <a:gd name="connsiteY6" fmla="*/ 1321848 h 1321848"/>
                <a:gd name="connsiteX7" fmla="*/ 0 w 1155362"/>
                <a:gd name="connsiteY7" fmla="*/ 1206312 h 1321848"/>
                <a:gd name="connsiteX8" fmla="*/ 0 w 1155362"/>
                <a:gd name="connsiteY8" fmla="*/ 115536 h 132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362" h="1321848">
                  <a:moveTo>
                    <a:pt x="0" y="115536"/>
                  </a:moveTo>
                  <a:cubicBezTo>
                    <a:pt x="0" y="51727"/>
                    <a:pt x="51727" y="0"/>
                    <a:pt x="115536" y="0"/>
                  </a:cubicBezTo>
                  <a:lnTo>
                    <a:pt x="1039826" y="0"/>
                  </a:lnTo>
                  <a:cubicBezTo>
                    <a:pt x="1103635" y="0"/>
                    <a:pt x="1155362" y="51727"/>
                    <a:pt x="1155362" y="115536"/>
                  </a:cubicBezTo>
                  <a:lnTo>
                    <a:pt x="1155362" y="1206312"/>
                  </a:lnTo>
                  <a:cubicBezTo>
                    <a:pt x="1155362" y="1270121"/>
                    <a:pt x="1103635" y="1321848"/>
                    <a:pt x="1039826" y="1321848"/>
                  </a:cubicBezTo>
                  <a:lnTo>
                    <a:pt x="115536" y="1321848"/>
                  </a:lnTo>
                  <a:cubicBezTo>
                    <a:pt x="51727" y="1321848"/>
                    <a:pt x="0" y="1270121"/>
                    <a:pt x="0" y="1206312"/>
                  </a:cubicBezTo>
                  <a:lnTo>
                    <a:pt x="0" y="115536"/>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7179" tIns="87179" rIns="87179" bIns="87179" numCol="1" spcCol="1270" anchor="ctr" anchorCtr="0">
              <a:noAutofit/>
            </a:bodyPr>
            <a:lstStyle/>
            <a:p>
              <a:pPr lvl="0" algn="ctr" defTabSz="622300">
                <a:lnSpc>
                  <a:spcPct val="90000"/>
                </a:lnSpc>
                <a:spcBef>
                  <a:spcPct val="0"/>
                </a:spcBef>
                <a:spcAft>
                  <a:spcPct val="35000"/>
                </a:spcAft>
              </a:pPr>
              <a:r>
                <a:rPr lang="en-US" sz="1400" b="1" kern="1200" dirty="0">
                  <a:latin typeface="Helvetica" pitchFamily="34" charset="0"/>
                </a:rPr>
                <a:t>Prepare draft budget</a:t>
              </a:r>
            </a:p>
          </p:txBody>
        </p:sp>
        <p:sp>
          <p:nvSpPr>
            <p:cNvPr id="13" name="Freeform 12"/>
            <p:cNvSpPr/>
            <p:nvPr/>
          </p:nvSpPr>
          <p:spPr>
            <a:xfrm>
              <a:off x="6738709" y="2889691"/>
              <a:ext cx="244936" cy="286529"/>
            </a:xfrm>
            <a:custGeom>
              <a:avLst/>
              <a:gdLst>
                <a:gd name="connsiteX0" fmla="*/ 0 w 244936"/>
                <a:gd name="connsiteY0" fmla="*/ 57306 h 286529"/>
                <a:gd name="connsiteX1" fmla="*/ 122468 w 244936"/>
                <a:gd name="connsiteY1" fmla="*/ 57306 h 286529"/>
                <a:gd name="connsiteX2" fmla="*/ 122468 w 244936"/>
                <a:gd name="connsiteY2" fmla="*/ 0 h 286529"/>
                <a:gd name="connsiteX3" fmla="*/ 244936 w 244936"/>
                <a:gd name="connsiteY3" fmla="*/ 143265 h 286529"/>
                <a:gd name="connsiteX4" fmla="*/ 122468 w 244936"/>
                <a:gd name="connsiteY4" fmla="*/ 286529 h 286529"/>
                <a:gd name="connsiteX5" fmla="*/ 122468 w 244936"/>
                <a:gd name="connsiteY5" fmla="*/ 229223 h 286529"/>
                <a:gd name="connsiteX6" fmla="*/ 0 w 244936"/>
                <a:gd name="connsiteY6" fmla="*/ 229223 h 286529"/>
                <a:gd name="connsiteX7" fmla="*/ 0 w 244936"/>
                <a:gd name="connsiteY7" fmla="*/ 57306 h 286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4936" h="286529">
                  <a:moveTo>
                    <a:pt x="0" y="57306"/>
                  </a:moveTo>
                  <a:lnTo>
                    <a:pt x="122468" y="57306"/>
                  </a:lnTo>
                  <a:lnTo>
                    <a:pt x="122468" y="0"/>
                  </a:lnTo>
                  <a:lnTo>
                    <a:pt x="244936" y="143265"/>
                  </a:lnTo>
                  <a:lnTo>
                    <a:pt x="122468" y="286529"/>
                  </a:lnTo>
                  <a:lnTo>
                    <a:pt x="122468" y="229223"/>
                  </a:lnTo>
                  <a:lnTo>
                    <a:pt x="0" y="229223"/>
                  </a:lnTo>
                  <a:lnTo>
                    <a:pt x="0" y="57306"/>
                  </a:lnTo>
                  <a:close/>
                </a:path>
              </a:pathLst>
            </a:custGeom>
          </p:spPr>
          <p:style>
            <a:lnRef idx="0">
              <a:schemeClr val="dk2">
                <a:tint val="60000"/>
                <a:hueOff val="0"/>
                <a:satOff val="0"/>
                <a:lumOff val="0"/>
                <a:alphaOff val="0"/>
              </a:schemeClr>
            </a:lnRef>
            <a:fillRef idx="1">
              <a:schemeClr val="dk2">
                <a:tint val="60000"/>
                <a:hueOff val="0"/>
                <a:satOff val="0"/>
                <a:lumOff val="0"/>
                <a:alphaOff val="0"/>
              </a:schemeClr>
            </a:fillRef>
            <a:effectRef idx="0">
              <a:schemeClr val="dk2">
                <a:tint val="60000"/>
                <a:hueOff val="0"/>
                <a:satOff val="0"/>
                <a:lumOff val="0"/>
                <a:alphaOff val="0"/>
              </a:schemeClr>
            </a:effectRef>
            <a:fontRef idx="minor">
              <a:schemeClr val="lt1"/>
            </a:fontRef>
          </p:style>
          <p:txBody>
            <a:bodyPr spcFirstLastPara="0" vert="horz" wrap="square" lIns="0" tIns="57306" rIns="73481" bIns="57306" numCol="1" spcCol="1270" anchor="ctr" anchorCtr="0">
              <a:noAutofit/>
            </a:bodyPr>
            <a:lstStyle/>
            <a:p>
              <a:pPr lvl="0" algn="ctr" defTabSz="622300">
                <a:lnSpc>
                  <a:spcPct val="90000"/>
                </a:lnSpc>
                <a:spcBef>
                  <a:spcPct val="0"/>
                </a:spcBef>
                <a:spcAft>
                  <a:spcPct val="35000"/>
                </a:spcAft>
              </a:pPr>
              <a:endParaRPr lang="en-US" sz="1400" b="1" kern="1200" dirty="0">
                <a:latin typeface="Helvetica" pitchFamily="34" charset="0"/>
              </a:endParaRPr>
            </a:p>
          </p:txBody>
        </p:sp>
        <p:sp>
          <p:nvSpPr>
            <p:cNvPr id="14" name="Freeform 13"/>
            <p:cNvSpPr/>
            <p:nvPr/>
          </p:nvSpPr>
          <p:spPr>
            <a:xfrm>
              <a:off x="7085318" y="2372031"/>
              <a:ext cx="1155362" cy="1321848"/>
            </a:xfrm>
            <a:custGeom>
              <a:avLst/>
              <a:gdLst>
                <a:gd name="connsiteX0" fmla="*/ 0 w 1155362"/>
                <a:gd name="connsiteY0" fmla="*/ 115536 h 1321848"/>
                <a:gd name="connsiteX1" fmla="*/ 115536 w 1155362"/>
                <a:gd name="connsiteY1" fmla="*/ 0 h 1321848"/>
                <a:gd name="connsiteX2" fmla="*/ 1039826 w 1155362"/>
                <a:gd name="connsiteY2" fmla="*/ 0 h 1321848"/>
                <a:gd name="connsiteX3" fmla="*/ 1155362 w 1155362"/>
                <a:gd name="connsiteY3" fmla="*/ 115536 h 1321848"/>
                <a:gd name="connsiteX4" fmla="*/ 1155362 w 1155362"/>
                <a:gd name="connsiteY4" fmla="*/ 1206312 h 1321848"/>
                <a:gd name="connsiteX5" fmla="*/ 1039826 w 1155362"/>
                <a:gd name="connsiteY5" fmla="*/ 1321848 h 1321848"/>
                <a:gd name="connsiteX6" fmla="*/ 115536 w 1155362"/>
                <a:gd name="connsiteY6" fmla="*/ 1321848 h 1321848"/>
                <a:gd name="connsiteX7" fmla="*/ 0 w 1155362"/>
                <a:gd name="connsiteY7" fmla="*/ 1206312 h 1321848"/>
                <a:gd name="connsiteX8" fmla="*/ 0 w 1155362"/>
                <a:gd name="connsiteY8" fmla="*/ 115536 h 1321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362" h="1321848">
                  <a:moveTo>
                    <a:pt x="0" y="115536"/>
                  </a:moveTo>
                  <a:cubicBezTo>
                    <a:pt x="0" y="51727"/>
                    <a:pt x="51727" y="0"/>
                    <a:pt x="115536" y="0"/>
                  </a:cubicBezTo>
                  <a:lnTo>
                    <a:pt x="1039826" y="0"/>
                  </a:lnTo>
                  <a:cubicBezTo>
                    <a:pt x="1103635" y="0"/>
                    <a:pt x="1155362" y="51727"/>
                    <a:pt x="1155362" y="115536"/>
                  </a:cubicBezTo>
                  <a:lnTo>
                    <a:pt x="1155362" y="1206312"/>
                  </a:lnTo>
                  <a:cubicBezTo>
                    <a:pt x="1155362" y="1270121"/>
                    <a:pt x="1103635" y="1321848"/>
                    <a:pt x="1039826" y="1321848"/>
                  </a:cubicBezTo>
                  <a:lnTo>
                    <a:pt x="115536" y="1321848"/>
                  </a:lnTo>
                  <a:cubicBezTo>
                    <a:pt x="51727" y="1321848"/>
                    <a:pt x="0" y="1270121"/>
                    <a:pt x="0" y="1206312"/>
                  </a:cubicBezTo>
                  <a:lnTo>
                    <a:pt x="0" y="115536"/>
                  </a:lnTo>
                  <a:close/>
                </a:path>
              </a:pathLst>
            </a:custGeom>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87179" tIns="87179" rIns="87179" bIns="87179" numCol="1" spcCol="1270" anchor="ctr" anchorCtr="0">
              <a:noAutofit/>
            </a:bodyPr>
            <a:lstStyle/>
            <a:p>
              <a:pPr lvl="0" algn="ctr" defTabSz="622300">
                <a:lnSpc>
                  <a:spcPct val="90000"/>
                </a:lnSpc>
                <a:spcBef>
                  <a:spcPct val="0"/>
                </a:spcBef>
                <a:spcAft>
                  <a:spcPct val="35000"/>
                </a:spcAft>
              </a:pPr>
              <a:r>
                <a:rPr lang="en-US" sz="1400" b="1" kern="1200" dirty="0">
                  <a:latin typeface="Helvetica" pitchFamily="34" charset="0"/>
                </a:rPr>
                <a:t>Evaluate draft budget and develop final budget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895350" indent="-895350"/>
            <a:r>
              <a:rPr lang="en-US" sz="3000" b="1" dirty="0" smtClean="0">
                <a:solidFill>
                  <a:srgbClr val="FF6600"/>
                </a:solidFill>
                <a:latin typeface="Helvetica" pitchFamily="34" charset="0"/>
              </a:rPr>
              <a:t>1.3	Determine the criteria for participating in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968552"/>
          </a:xfrm>
        </p:spPr>
        <p:txBody>
          <a:bodyPr>
            <a:noAutofit/>
          </a:bodyPr>
          <a:lstStyle/>
          <a:p>
            <a:pPr>
              <a:spcBef>
                <a:spcPts val="1200"/>
              </a:spcBef>
              <a:spcAft>
                <a:spcPts val="600"/>
              </a:spcAft>
            </a:pPr>
            <a:r>
              <a:rPr lang="en-AU" sz="1800" dirty="0" smtClean="0"/>
              <a:t>Before setting guidelines for sponsorship activity participations, it is useful to consider some ideas that may impact on the activities success or failure</a:t>
            </a:r>
            <a:endParaRPr lang="en-US" sz="1800" dirty="0" smtClean="0"/>
          </a:p>
          <a:p>
            <a:pPr>
              <a:spcBef>
                <a:spcPts val="1200"/>
              </a:spcBef>
              <a:spcAft>
                <a:spcPts val="600"/>
              </a:spcAft>
            </a:pPr>
            <a:r>
              <a:rPr lang="en-AU" sz="1800" dirty="0" smtClean="0"/>
              <a:t>Will sponsorship dilute the organisation's operations?</a:t>
            </a:r>
            <a:endParaRPr lang="en-US" sz="1800" dirty="0" smtClean="0"/>
          </a:p>
          <a:p>
            <a:pPr>
              <a:spcBef>
                <a:spcPts val="1200"/>
              </a:spcBef>
              <a:spcAft>
                <a:spcPts val="600"/>
              </a:spcAft>
            </a:pPr>
            <a:r>
              <a:rPr lang="en-AU" sz="1800" dirty="0" smtClean="0"/>
              <a:t>Communications activity should exist outside any sponsorship/partnership support. Sponsorship marketing should be used only to enhance the operations – not to create them. Sponsorship marketing activity is also likely to be more successful as part of a wider awareness-raising campaign that incorporates other media activity</a:t>
            </a:r>
            <a:endParaRPr lang="en-US" sz="1800" dirty="0" smtClean="0"/>
          </a:p>
          <a:p>
            <a:pPr>
              <a:spcBef>
                <a:spcPts val="1200"/>
              </a:spcBef>
              <a:spcAft>
                <a:spcPts val="600"/>
              </a:spcAft>
            </a:pPr>
            <a:r>
              <a:rPr lang="en-AU" sz="1800" dirty="0" smtClean="0"/>
              <a:t>Could there be any justifiable cause for complaint – from either the public or the media – if the sponsorship/partnership goes ahead?</a:t>
            </a:r>
            <a:endParaRPr lang="en-US" sz="1800" dirty="0" smtClean="0"/>
          </a:p>
          <a:p>
            <a:pPr marL="360000" indent="-360000">
              <a:spcBef>
                <a:spcPts val="1200"/>
              </a:spcBef>
              <a:spcAft>
                <a:spcPts val="600"/>
              </a:spcAft>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1.4	Consider alternatives to participation in sponsorship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When considering participation in sponsorship activities it is important to evaluate the effectiveness of the event versus other marketing options such as:</a:t>
            </a:r>
          </a:p>
          <a:p>
            <a:pPr marL="360000" indent="-360000">
              <a:spcBef>
                <a:spcPts val="600"/>
              </a:spcBef>
              <a:spcAft>
                <a:spcPts val="1200"/>
              </a:spcAft>
            </a:pPr>
            <a:r>
              <a:rPr lang="en-US" sz="2200" dirty="0" smtClean="0">
                <a:latin typeface="Helvetica" pitchFamily="34" charset="0"/>
              </a:rPr>
              <a:t>Existing promotion strategies</a:t>
            </a:r>
          </a:p>
          <a:p>
            <a:pPr marL="360000" indent="-360000">
              <a:spcBef>
                <a:spcPts val="600"/>
              </a:spcBef>
              <a:spcAft>
                <a:spcPts val="1200"/>
              </a:spcAft>
            </a:pPr>
            <a:r>
              <a:rPr lang="en-US" sz="2200" dirty="0" smtClean="0">
                <a:latin typeface="Helvetica" pitchFamily="34" charset="0"/>
              </a:rPr>
              <a:t>Enhancing public relations</a:t>
            </a:r>
          </a:p>
          <a:p>
            <a:pPr marL="360000" indent="-360000">
              <a:spcBef>
                <a:spcPts val="600"/>
              </a:spcBef>
              <a:spcAft>
                <a:spcPts val="1200"/>
              </a:spcAft>
            </a:pPr>
            <a:r>
              <a:rPr lang="en-US" sz="2200" dirty="0" smtClean="0">
                <a:latin typeface="Helvetica" pitchFamily="34" charset="0"/>
              </a:rPr>
              <a:t>Lowering selling price</a:t>
            </a:r>
          </a:p>
          <a:p>
            <a:pPr marL="360000" indent="-360000">
              <a:spcBef>
                <a:spcPts val="600"/>
              </a:spcBef>
              <a:spcAft>
                <a:spcPts val="1200"/>
              </a:spcAft>
            </a:pPr>
            <a:r>
              <a:rPr lang="en-US" sz="2200" dirty="0" smtClean="0">
                <a:latin typeface="Helvetica" pitchFamily="34" charset="0"/>
              </a:rPr>
              <a:t>Developing new products and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6" name="Picture 5" descr="C:\Users\Quentin\AppData\Local\Microsoft\Windows\Temporary Internet Files\Content.IE5\225CUFF9\deployment-options[1].png"/>
          <p:cNvPicPr/>
          <p:nvPr/>
        </p:nvPicPr>
        <p:blipFill>
          <a:blip r:embed="rId3" cstate="print"/>
          <a:srcRect/>
          <a:stretch>
            <a:fillRect/>
          </a:stretch>
        </p:blipFill>
        <p:spPr bwMode="auto">
          <a:xfrm>
            <a:off x="6084168" y="2708920"/>
            <a:ext cx="2232248" cy="2074887"/>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704856" cy="1368152"/>
          </a:xfrm>
        </p:spPr>
        <p:txBody>
          <a:bodyPr>
            <a:noAutofit/>
          </a:bodyPr>
          <a:lstStyle/>
          <a:p>
            <a:pPr marL="895350" indent="-895350"/>
            <a:r>
              <a:rPr lang="en-US" sz="3000" b="1" dirty="0" smtClean="0">
                <a:solidFill>
                  <a:srgbClr val="FF6600"/>
                </a:solidFill>
                <a:latin typeface="Helvetica" pitchFamily="34" charset="0"/>
              </a:rPr>
              <a:t>1.5	Seek support from suppliers and service providers for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fontScale="92500" lnSpcReduction="10000"/>
          </a:bodyPr>
          <a:lstStyle/>
          <a:p>
            <a:pPr marL="0" indent="0">
              <a:spcBef>
                <a:spcPts val="600"/>
              </a:spcBef>
              <a:spcAft>
                <a:spcPts val="1200"/>
              </a:spcAft>
              <a:buNone/>
            </a:pPr>
            <a:r>
              <a:rPr lang="en-US" sz="2200" dirty="0" smtClean="0"/>
              <a:t>Potential partners in the activity could include:</a:t>
            </a:r>
          </a:p>
          <a:p>
            <a:pPr>
              <a:spcBef>
                <a:spcPts val="600"/>
              </a:spcBef>
              <a:spcAft>
                <a:spcPts val="1200"/>
              </a:spcAft>
            </a:pPr>
            <a:r>
              <a:rPr lang="en-AU" sz="2200" dirty="0" smtClean="0"/>
              <a:t>Staff</a:t>
            </a:r>
            <a:endParaRPr lang="en-US" sz="2200" dirty="0" smtClean="0"/>
          </a:p>
          <a:p>
            <a:pPr>
              <a:spcBef>
                <a:spcPts val="600"/>
              </a:spcBef>
              <a:spcAft>
                <a:spcPts val="1200"/>
              </a:spcAft>
            </a:pPr>
            <a:r>
              <a:rPr lang="en-AU" sz="2200" dirty="0" smtClean="0"/>
              <a:t>Owners</a:t>
            </a:r>
            <a:endParaRPr lang="en-US" sz="2200" dirty="0" smtClean="0"/>
          </a:p>
          <a:p>
            <a:pPr>
              <a:spcBef>
                <a:spcPts val="600"/>
              </a:spcBef>
              <a:spcAft>
                <a:spcPts val="1200"/>
              </a:spcAft>
            </a:pPr>
            <a:r>
              <a:rPr lang="en-AU" sz="2200" dirty="0" smtClean="0"/>
              <a:t>Customers and clients</a:t>
            </a:r>
            <a:endParaRPr lang="en-US" sz="2200" dirty="0" smtClean="0"/>
          </a:p>
          <a:p>
            <a:pPr>
              <a:spcBef>
                <a:spcPts val="600"/>
              </a:spcBef>
              <a:spcAft>
                <a:spcPts val="1200"/>
              </a:spcAft>
            </a:pPr>
            <a:r>
              <a:rPr lang="en-AU" sz="2200" dirty="0" smtClean="0"/>
              <a:t>Suppliers</a:t>
            </a:r>
            <a:endParaRPr lang="en-US" sz="2200" dirty="0" smtClean="0"/>
          </a:p>
          <a:p>
            <a:pPr>
              <a:spcBef>
                <a:spcPts val="600"/>
              </a:spcBef>
              <a:spcAft>
                <a:spcPts val="1200"/>
              </a:spcAft>
            </a:pPr>
            <a:r>
              <a:rPr lang="en-AU" sz="2200" dirty="0" smtClean="0"/>
              <a:t>Service providers</a:t>
            </a:r>
            <a:endParaRPr lang="en-US" sz="2200" dirty="0" smtClean="0"/>
          </a:p>
          <a:p>
            <a:pPr>
              <a:spcBef>
                <a:spcPts val="600"/>
              </a:spcBef>
              <a:spcAft>
                <a:spcPts val="1200"/>
              </a:spcAft>
            </a:pPr>
            <a:r>
              <a:rPr lang="en-AU" sz="2200" dirty="0" smtClean="0"/>
              <a:t>Government and industry bodies</a:t>
            </a:r>
            <a:endParaRPr lang="en-US" sz="2200" dirty="0" smtClean="0"/>
          </a:p>
          <a:p>
            <a:pPr>
              <a:spcBef>
                <a:spcPts val="600"/>
              </a:spcBef>
              <a:spcAft>
                <a:spcPts val="1200"/>
              </a:spcAft>
            </a:pPr>
            <a:r>
              <a:rPr lang="en-AU" sz="2200" dirty="0" smtClean="0"/>
              <a:t>Local community</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6" name="Picture 5" descr="C:\Users\Quentin\AppData\Local\Microsoft\Windows\Temporary Internet Files\Content.IE5\XCZRY9RX\7834203456_a41415ba59_z[1].jpg"/>
          <p:cNvPicPr/>
          <p:nvPr/>
        </p:nvPicPr>
        <p:blipFill>
          <a:blip r:embed="rId3" cstate="print"/>
          <a:srcRect/>
          <a:stretch>
            <a:fillRect/>
          </a:stretch>
        </p:blipFill>
        <p:spPr bwMode="auto">
          <a:xfrm>
            <a:off x="4572000" y="2708920"/>
            <a:ext cx="3024336" cy="216024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764704"/>
            <a:ext cx="7467600" cy="1143000"/>
          </a:xfrm>
        </p:spPr>
        <p:txBody>
          <a:bodyPr>
            <a:normAutofit/>
          </a:bodyPr>
          <a:lstStyle/>
          <a:p>
            <a:pPr algn="ctr"/>
            <a:r>
              <a:rPr lang="en-US" sz="3000" b="1" dirty="0" smtClean="0">
                <a:solidFill>
                  <a:srgbClr val="FF6600"/>
                </a:solidFill>
                <a:latin typeface="Helvetica" pitchFamily="34" charset="0"/>
              </a:rPr>
              <a:t>Seeking support process</a:t>
            </a:r>
            <a:endParaRPr lang="en-US" sz="30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grpSp>
        <p:nvGrpSpPr>
          <p:cNvPr id="3" name="Group 2"/>
          <p:cNvGrpSpPr/>
          <p:nvPr/>
        </p:nvGrpSpPr>
        <p:grpSpPr>
          <a:xfrm>
            <a:off x="683568" y="2488263"/>
            <a:ext cx="7194471" cy="1172706"/>
            <a:chOff x="761904" y="2725511"/>
            <a:chExt cx="7194471" cy="1172706"/>
          </a:xfrm>
        </p:grpSpPr>
        <p:sp>
          <p:nvSpPr>
            <p:cNvPr id="5" name="Freeform 4"/>
            <p:cNvSpPr/>
            <p:nvPr/>
          </p:nvSpPr>
          <p:spPr>
            <a:xfrm>
              <a:off x="761904" y="2725511"/>
              <a:ext cx="1891616" cy="1134969"/>
            </a:xfrm>
            <a:custGeom>
              <a:avLst/>
              <a:gdLst>
                <a:gd name="connsiteX0" fmla="*/ 0 w 1891616"/>
                <a:gd name="connsiteY0" fmla="*/ 113497 h 1134969"/>
                <a:gd name="connsiteX1" fmla="*/ 113497 w 1891616"/>
                <a:gd name="connsiteY1" fmla="*/ 0 h 1134969"/>
                <a:gd name="connsiteX2" fmla="*/ 1778119 w 1891616"/>
                <a:gd name="connsiteY2" fmla="*/ 0 h 1134969"/>
                <a:gd name="connsiteX3" fmla="*/ 1891616 w 1891616"/>
                <a:gd name="connsiteY3" fmla="*/ 113497 h 1134969"/>
                <a:gd name="connsiteX4" fmla="*/ 1891616 w 1891616"/>
                <a:gd name="connsiteY4" fmla="*/ 1021472 h 1134969"/>
                <a:gd name="connsiteX5" fmla="*/ 1778119 w 1891616"/>
                <a:gd name="connsiteY5" fmla="*/ 1134969 h 1134969"/>
                <a:gd name="connsiteX6" fmla="*/ 113497 w 1891616"/>
                <a:gd name="connsiteY6" fmla="*/ 1134969 h 1134969"/>
                <a:gd name="connsiteX7" fmla="*/ 0 w 1891616"/>
                <a:gd name="connsiteY7" fmla="*/ 1021472 h 1134969"/>
                <a:gd name="connsiteX8" fmla="*/ 0 w 1891616"/>
                <a:gd name="connsiteY8" fmla="*/ 113497 h 113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1616" h="1134969">
                  <a:moveTo>
                    <a:pt x="0" y="113497"/>
                  </a:moveTo>
                  <a:cubicBezTo>
                    <a:pt x="0" y="50814"/>
                    <a:pt x="50814" y="0"/>
                    <a:pt x="113497" y="0"/>
                  </a:cubicBezTo>
                  <a:lnTo>
                    <a:pt x="1778119" y="0"/>
                  </a:lnTo>
                  <a:cubicBezTo>
                    <a:pt x="1840802" y="0"/>
                    <a:pt x="1891616" y="50814"/>
                    <a:pt x="1891616" y="113497"/>
                  </a:cubicBezTo>
                  <a:lnTo>
                    <a:pt x="1891616" y="1021472"/>
                  </a:lnTo>
                  <a:cubicBezTo>
                    <a:pt x="1891616" y="1084155"/>
                    <a:pt x="1840802" y="1134969"/>
                    <a:pt x="1778119" y="1134969"/>
                  </a:cubicBezTo>
                  <a:lnTo>
                    <a:pt x="113497" y="1134969"/>
                  </a:lnTo>
                  <a:cubicBezTo>
                    <a:pt x="50814" y="1134969"/>
                    <a:pt x="0" y="1084155"/>
                    <a:pt x="0" y="1021472"/>
                  </a:cubicBezTo>
                  <a:lnTo>
                    <a:pt x="0" y="11349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90392" tIns="90392" rIns="90392" bIns="90392" numCol="1" spcCol="1270" anchor="ctr" anchorCtr="0">
              <a:noAutofit/>
            </a:bodyPr>
            <a:lstStyle/>
            <a:p>
              <a:pPr lvl="0" algn="ctr" defTabSz="666750">
                <a:lnSpc>
                  <a:spcPct val="90000"/>
                </a:lnSpc>
                <a:spcBef>
                  <a:spcPct val="0"/>
                </a:spcBef>
                <a:spcAft>
                  <a:spcPct val="35000"/>
                </a:spcAft>
              </a:pPr>
              <a:r>
                <a:rPr lang="en-US" sz="1500" b="1" kern="1200" dirty="0">
                  <a:latin typeface="Helvetica" pitchFamily="34" charset="0"/>
                </a:rPr>
                <a:t>Identify stakeholders</a:t>
              </a:r>
            </a:p>
          </p:txBody>
        </p:sp>
        <p:sp>
          <p:nvSpPr>
            <p:cNvPr id="6" name="Freeform 5"/>
            <p:cNvSpPr/>
            <p:nvPr/>
          </p:nvSpPr>
          <p:spPr>
            <a:xfrm>
              <a:off x="2842682" y="3058435"/>
              <a:ext cx="401022" cy="469120"/>
            </a:xfrm>
            <a:custGeom>
              <a:avLst/>
              <a:gdLst>
                <a:gd name="connsiteX0" fmla="*/ 0 w 401022"/>
                <a:gd name="connsiteY0" fmla="*/ 93824 h 469120"/>
                <a:gd name="connsiteX1" fmla="*/ 200511 w 401022"/>
                <a:gd name="connsiteY1" fmla="*/ 93824 h 469120"/>
                <a:gd name="connsiteX2" fmla="*/ 200511 w 401022"/>
                <a:gd name="connsiteY2" fmla="*/ 0 h 469120"/>
                <a:gd name="connsiteX3" fmla="*/ 401022 w 401022"/>
                <a:gd name="connsiteY3" fmla="*/ 234560 h 469120"/>
                <a:gd name="connsiteX4" fmla="*/ 200511 w 401022"/>
                <a:gd name="connsiteY4" fmla="*/ 469120 h 469120"/>
                <a:gd name="connsiteX5" fmla="*/ 200511 w 401022"/>
                <a:gd name="connsiteY5" fmla="*/ 375296 h 469120"/>
                <a:gd name="connsiteX6" fmla="*/ 0 w 401022"/>
                <a:gd name="connsiteY6" fmla="*/ 375296 h 469120"/>
                <a:gd name="connsiteX7" fmla="*/ 0 w 401022"/>
                <a:gd name="connsiteY7" fmla="*/ 93824 h 46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1022" h="469120">
                  <a:moveTo>
                    <a:pt x="0" y="93824"/>
                  </a:moveTo>
                  <a:lnTo>
                    <a:pt x="200511" y="93824"/>
                  </a:lnTo>
                  <a:lnTo>
                    <a:pt x="200511" y="0"/>
                  </a:lnTo>
                  <a:lnTo>
                    <a:pt x="401022" y="234560"/>
                  </a:lnTo>
                  <a:lnTo>
                    <a:pt x="200511" y="469120"/>
                  </a:lnTo>
                  <a:lnTo>
                    <a:pt x="200511" y="375296"/>
                  </a:lnTo>
                  <a:lnTo>
                    <a:pt x="0" y="375296"/>
                  </a:lnTo>
                  <a:lnTo>
                    <a:pt x="0" y="93824"/>
                  </a:lnTo>
                  <a:close/>
                </a:path>
              </a:pathLst>
            </a:cu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0" tIns="93824" rIns="120307" bIns="93824" numCol="1" spcCol="1270" anchor="ctr" anchorCtr="0">
              <a:noAutofit/>
            </a:bodyPr>
            <a:lstStyle/>
            <a:p>
              <a:pPr lvl="0" algn="ctr" defTabSz="666750">
                <a:lnSpc>
                  <a:spcPct val="90000"/>
                </a:lnSpc>
                <a:spcBef>
                  <a:spcPct val="0"/>
                </a:spcBef>
                <a:spcAft>
                  <a:spcPct val="35000"/>
                </a:spcAft>
              </a:pPr>
              <a:endParaRPr lang="en-US" sz="1500" b="1" kern="1200" dirty="0">
                <a:latin typeface="Helvetica" pitchFamily="34" charset="0"/>
              </a:endParaRPr>
            </a:p>
          </p:txBody>
        </p:sp>
        <p:sp>
          <p:nvSpPr>
            <p:cNvPr id="8" name="Freeform 7"/>
            <p:cNvSpPr/>
            <p:nvPr/>
          </p:nvSpPr>
          <p:spPr>
            <a:xfrm>
              <a:off x="3410167" y="2725511"/>
              <a:ext cx="1891616" cy="1134969"/>
            </a:xfrm>
            <a:custGeom>
              <a:avLst/>
              <a:gdLst>
                <a:gd name="connsiteX0" fmla="*/ 0 w 1891616"/>
                <a:gd name="connsiteY0" fmla="*/ 113497 h 1134969"/>
                <a:gd name="connsiteX1" fmla="*/ 113497 w 1891616"/>
                <a:gd name="connsiteY1" fmla="*/ 0 h 1134969"/>
                <a:gd name="connsiteX2" fmla="*/ 1778119 w 1891616"/>
                <a:gd name="connsiteY2" fmla="*/ 0 h 1134969"/>
                <a:gd name="connsiteX3" fmla="*/ 1891616 w 1891616"/>
                <a:gd name="connsiteY3" fmla="*/ 113497 h 1134969"/>
                <a:gd name="connsiteX4" fmla="*/ 1891616 w 1891616"/>
                <a:gd name="connsiteY4" fmla="*/ 1021472 h 1134969"/>
                <a:gd name="connsiteX5" fmla="*/ 1778119 w 1891616"/>
                <a:gd name="connsiteY5" fmla="*/ 1134969 h 1134969"/>
                <a:gd name="connsiteX6" fmla="*/ 113497 w 1891616"/>
                <a:gd name="connsiteY6" fmla="*/ 1134969 h 1134969"/>
                <a:gd name="connsiteX7" fmla="*/ 0 w 1891616"/>
                <a:gd name="connsiteY7" fmla="*/ 1021472 h 1134969"/>
                <a:gd name="connsiteX8" fmla="*/ 0 w 1891616"/>
                <a:gd name="connsiteY8" fmla="*/ 113497 h 113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1616" h="1134969">
                  <a:moveTo>
                    <a:pt x="0" y="113497"/>
                  </a:moveTo>
                  <a:cubicBezTo>
                    <a:pt x="0" y="50814"/>
                    <a:pt x="50814" y="0"/>
                    <a:pt x="113497" y="0"/>
                  </a:cubicBezTo>
                  <a:lnTo>
                    <a:pt x="1778119" y="0"/>
                  </a:lnTo>
                  <a:cubicBezTo>
                    <a:pt x="1840802" y="0"/>
                    <a:pt x="1891616" y="50814"/>
                    <a:pt x="1891616" y="113497"/>
                  </a:cubicBezTo>
                  <a:lnTo>
                    <a:pt x="1891616" y="1021472"/>
                  </a:lnTo>
                  <a:cubicBezTo>
                    <a:pt x="1891616" y="1084155"/>
                    <a:pt x="1840802" y="1134969"/>
                    <a:pt x="1778119" y="1134969"/>
                  </a:cubicBezTo>
                  <a:lnTo>
                    <a:pt x="113497" y="1134969"/>
                  </a:lnTo>
                  <a:cubicBezTo>
                    <a:pt x="50814" y="1134969"/>
                    <a:pt x="0" y="1084155"/>
                    <a:pt x="0" y="1021472"/>
                  </a:cubicBezTo>
                  <a:lnTo>
                    <a:pt x="0" y="113497"/>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90392" tIns="90392" rIns="90392" bIns="90392" numCol="1" spcCol="1270" anchor="ctr" anchorCtr="0">
              <a:noAutofit/>
            </a:bodyPr>
            <a:lstStyle/>
            <a:p>
              <a:pPr lvl="0" algn="ctr" defTabSz="666750">
                <a:lnSpc>
                  <a:spcPct val="90000"/>
                </a:lnSpc>
                <a:spcBef>
                  <a:spcPct val="0"/>
                </a:spcBef>
                <a:spcAft>
                  <a:spcPct val="35000"/>
                </a:spcAft>
              </a:pPr>
              <a:r>
                <a:rPr lang="en-US" sz="1500" b="1" kern="1200" dirty="0">
                  <a:latin typeface="Helvetica" pitchFamily="34" charset="0"/>
                </a:rPr>
                <a:t>Identify sponsorship activity delivery requirements</a:t>
              </a:r>
            </a:p>
          </p:txBody>
        </p:sp>
        <p:sp>
          <p:nvSpPr>
            <p:cNvPr id="9" name="Freeform 8"/>
            <p:cNvSpPr/>
            <p:nvPr/>
          </p:nvSpPr>
          <p:spPr>
            <a:xfrm rot="48868">
              <a:off x="5492507" y="3077467"/>
              <a:ext cx="404417" cy="469120"/>
            </a:xfrm>
            <a:custGeom>
              <a:avLst/>
              <a:gdLst>
                <a:gd name="connsiteX0" fmla="*/ 0 w 404417"/>
                <a:gd name="connsiteY0" fmla="*/ 93824 h 469120"/>
                <a:gd name="connsiteX1" fmla="*/ 202209 w 404417"/>
                <a:gd name="connsiteY1" fmla="*/ 93824 h 469120"/>
                <a:gd name="connsiteX2" fmla="*/ 202209 w 404417"/>
                <a:gd name="connsiteY2" fmla="*/ 0 h 469120"/>
                <a:gd name="connsiteX3" fmla="*/ 404417 w 404417"/>
                <a:gd name="connsiteY3" fmla="*/ 234560 h 469120"/>
                <a:gd name="connsiteX4" fmla="*/ 202209 w 404417"/>
                <a:gd name="connsiteY4" fmla="*/ 469120 h 469120"/>
                <a:gd name="connsiteX5" fmla="*/ 202209 w 404417"/>
                <a:gd name="connsiteY5" fmla="*/ 375296 h 469120"/>
                <a:gd name="connsiteX6" fmla="*/ 0 w 404417"/>
                <a:gd name="connsiteY6" fmla="*/ 375296 h 469120"/>
                <a:gd name="connsiteX7" fmla="*/ 0 w 404417"/>
                <a:gd name="connsiteY7" fmla="*/ 93824 h 469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4417" h="469120">
                  <a:moveTo>
                    <a:pt x="0" y="93824"/>
                  </a:moveTo>
                  <a:lnTo>
                    <a:pt x="202209" y="93824"/>
                  </a:lnTo>
                  <a:lnTo>
                    <a:pt x="202209" y="0"/>
                  </a:lnTo>
                  <a:lnTo>
                    <a:pt x="404417" y="234560"/>
                  </a:lnTo>
                  <a:lnTo>
                    <a:pt x="202209" y="469120"/>
                  </a:lnTo>
                  <a:lnTo>
                    <a:pt x="202209" y="375296"/>
                  </a:lnTo>
                  <a:lnTo>
                    <a:pt x="0" y="375296"/>
                  </a:lnTo>
                  <a:lnTo>
                    <a:pt x="0" y="93824"/>
                  </a:lnTo>
                  <a:close/>
                </a:path>
              </a:pathLst>
            </a:custGeom>
          </p:spPr>
          <p:style>
            <a:lnRef idx="0">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1" tIns="93824" rIns="121325" bIns="93823" numCol="1" spcCol="1270" anchor="ctr" anchorCtr="0">
              <a:noAutofit/>
            </a:bodyPr>
            <a:lstStyle/>
            <a:p>
              <a:pPr lvl="0" algn="ctr" defTabSz="666750">
                <a:lnSpc>
                  <a:spcPct val="90000"/>
                </a:lnSpc>
                <a:spcBef>
                  <a:spcPct val="0"/>
                </a:spcBef>
                <a:spcAft>
                  <a:spcPct val="35000"/>
                </a:spcAft>
              </a:pPr>
              <a:endParaRPr lang="en-US" sz="1500" b="1" kern="1200" dirty="0">
                <a:latin typeface="Helvetica" pitchFamily="34" charset="0"/>
              </a:endParaRPr>
            </a:p>
          </p:txBody>
        </p:sp>
        <p:sp>
          <p:nvSpPr>
            <p:cNvPr id="10" name="Freeform 9"/>
            <p:cNvSpPr/>
            <p:nvPr/>
          </p:nvSpPr>
          <p:spPr>
            <a:xfrm>
              <a:off x="6064759" y="2763248"/>
              <a:ext cx="1891616" cy="1134969"/>
            </a:xfrm>
            <a:custGeom>
              <a:avLst/>
              <a:gdLst>
                <a:gd name="connsiteX0" fmla="*/ 0 w 1891616"/>
                <a:gd name="connsiteY0" fmla="*/ 113497 h 1134969"/>
                <a:gd name="connsiteX1" fmla="*/ 113497 w 1891616"/>
                <a:gd name="connsiteY1" fmla="*/ 0 h 1134969"/>
                <a:gd name="connsiteX2" fmla="*/ 1778119 w 1891616"/>
                <a:gd name="connsiteY2" fmla="*/ 0 h 1134969"/>
                <a:gd name="connsiteX3" fmla="*/ 1891616 w 1891616"/>
                <a:gd name="connsiteY3" fmla="*/ 113497 h 1134969"/>
                <a:gd name="connsiteX4" fmla="*/ 1891616 w 1891616"/>
                <a:gd name="connsiteY4" fmla="*/ 1021472 h 1134969"/>
                <a:gd name="connsiteX5" fmla="*/ 1778119 w 1891616"/>
                <a:gd name="connsiteY5" fmla="*/ 1134969 h 1134969"/>
                <a:gd name="connsiteX6" fmla="*/ 113497 w 1891616"/>
                <a:gd name="connsiteY6" fmla="*/ 1134969 h 1134969"/>
                <a:gd name="connsiteX7" fmla="*/ 0 w 1891616"/>
                <a:gd name="connsiteY7" fmla="*/ 1021472 h 1134969"/>
                <a:gd name="connsiteX8" fmla="*/ 0 w 1891616"/>
                <a:gd name="connsiteY8" fmla="*/ 113497 h 1134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1616" h="1134969">
                  <a:moveTo>
                    <a:pt x="0" y="113497"/>
                  </a:moveTo>
                  <a:cubicBezTo>
                    <a:pt x="0" y="50814"/>
                    <a:pt x="50814" y="0"/>
                    <a:pt x="113497" y="0"/>
                  </a:cubicBezTo>
                  <a:lnTo>
                    <a:pt x="1778119" y="0"/>
                  </a:lnTo>
                  <a:cubicBezTo>
                    <a:pt x="1840802" y="0"/>
                    <a:pt x="1891616" y="50814"/>
                    <a:pt x="1891616" y="113497"/>
                  </a:cubicBezTo>
                  <a:lnTo>
                    <a:pt x="1891616" y="1021472"/>
                  </a:lnTo>
                  <a:cubicBezTo>
                    <a:pt x="1891616" y="1084155"/>
                    <a:pt x="1840802" y="1134969"/>
                    <a:pt x="1778119" y="1134969"/>
                  </a:cubicBezTo>
                  <a:lnTo>
                    <a:pt x="113497" y="1134969"/>
                  </a:lnTo>
                  <a:cubicBezTo>
                    <a:pt x="50814" y="1134969"/>
                    <a:pt x="0" y="1084155"/>
                    <a:pt x="0" y="1021472"/>
                  </a:cubicBezTo>
                  <a:lnTo>
                    <a:pt x="0" y="113497"/>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90392" tIns="90392" rIns="90392" bIns="90392" numCol="1" spcCol="1270" anchor="ctr" anchorCtr="0">
              <a:noAutofit/>
            </a:bodyPr>
            <a:lstStyle/>
            <a:p>
              <a:pPr lvl="0" algn="ctr" defTabSz="666750">
                <a:lnSpc>
                  <a:spcPct val="90000"/>
                </a:lnSpc>
                <a:spcBef>
                  <a:spcPct val="0"/>
                </a:spcBef>
                <a:spcAft>
                  <a:spcPct val="35000"/>
                </a:spcAft>
              </a:pPr>
              <a:r>
                <a:rPr lang="en-US" sz="1500" b="1" kern="1200" dirty="0">
                  <a:latin typeface="Helvetica" pitchFamily="34" charset="0"/>
                </a:rPr>
                <a:t>Match stakeholder capabilities to sponsorship </a:t>
              </a:r>
              <a:r>
                <a:rPr lang="en-US" sz="1500" b="1" kern="1200" dirty="0" smtClean="0">
                  <a:latin typeface="Helvetica" pitchFamily="34" charset="0"/>
                </a:rPr>
                <a:t>activity </a:t>
              </a:r>
              <a:r>
                <a:rPr lang="en-US" sz="1500" b="1" kern="1200" dirty="0">
                  <a:latin typeface="Helvetica" pitchFamily="34" charset="0"/>
                </a:rPr>
                <a:t>needs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7920880" cy="1143000"/>
          </a:xfrm>
        </p:spPr>
        <p:txBody>
          <a:bodyPr>
            <a:noAutofit/>
          </a:bodyPr>
          <a:lstStyle/>
          <a:p>
            <a:pPr marL="895350" indent="-895350"/>
            <a:r>
              <a:rPr lang="en-US" sz="3000" b="1" dirty="0" smtClean="0">
                <a:solidFill>
                  <a:srgbClr val="FF6600"/>
                </a:solidFill>
                <a:latin typeface="Helvetica" pitchFamily="34" charset="0"/>
              </a:rPr>
              <a:t>1.6	Establish protocols for monitoring participation in sponsorship activities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704856" cy="4752528"/>
          </a:xfrm>
        </p:spPr>
        <p:txBody>
          <a:bodyPr>
            <a:noAutofit/>
          </a:bodyPr>
          <a:lstStyle/>
          <a:p>
            <a:pPr marL="0" indent="0">
              <a:spcBef>
                <a:spcPts val="600"/>
              </a:spcBef>
              <a:spcAft>
                <a:spcPts val="1200"/>
              </a:spcAft>
              <a:buNone/>
            </a:pPr>
            <a:r>
              <a:rPr lang="en-US" sz="1800" dirty="0" smtClean="0"/>
              <a:t>Establishing protocols:</a:t>
            </a:r>
          </a:p>
          <a:p>
            <a:pPr marL="360000" indent="-360000">
              <a:spcBef>
                <a:spcPts val="600"/>
              </a:spcBef>
              <a:spcAft>
                <a:spcPts val="1200"/>
              </a:spcAft>
            </a:pPr>
            <a:r>
              <a:rPr lang="en-AU" sz="1800" dirty="0" smtClean="0"/>
              <a:t>Identifying staff and/or external agencies to track the use of resources supplied.</a:t>
            </a:r>
            <a:endParaRPr lang="en-US" sz="1800" dirty="0" smtClean="0"/>
          </a:p>
          <a:p>
            <a:pPr marL="360000" indent="-360000">
              <a:spcBef>
                <a:spcPts val="600"/>
              </a:spcBef>
              <a:spcAft>
                <a:spcPts val="1200"/>
              </a:spcAft>
            </a:pPr>
            <a:r>
              <a:rPr lang="en-AU" sz="1800" dirty="0" smtClean="0"/>
              <a:t>Establishing internal records to record the results of involvement in individual sponsorship activities</a:t>
            </a:r>
          </a:p>
          <a:p>
            <a:pPr marL="360000" indent="-360000">
              <a:spcBef>
                <a:spcPts val="600"/>
              </a:spcBef>
              <a:spcAft>
                <a:spcPts val="1200"/>
              </a:spcAft>
            </a:pPr>
            <a:r>
              <a:rPr lang="en-AU" sz="1800" dirty="0" smtClean="0"/>
              <a:t>Preparing internal forms and systems to facilitate tracking the type and volume of resources committed to, and provided for, sponsorship activities</a:t>
            </a:r>
          </a:p>
          <a:p>
            <a:pPr marL="360000" indent="-360000">
              <a:spcBef>
                <a:spcPts val="600"/>
              </a:spcBef>
              <a:spcAft>
                <a:spcPts val="1200"/>
              </a:spcAft>
            </a:pPr>
            <a:r>
              <a:rPr lang="en-AU" sz="1800" dirty="0" smtClean="0"/>
              <a:t>Undertaking scheduled visits to sites and events where sponsorship has been provided</a:t>
            </a:r>
          </a:p>
          <a:p>
            <a:pPr marL="360000" indent="-360000">
              <a:spcBef>
                <a:spcPts val="600"/>
              </a:spcBef>
              <a:spcAft>
                <a:spcPts val="1200"/>
              </a:spcAft>
            </a:pPr>
            <a:r>
              <a:rPr lang="en-AU" sz="1800" dirty="0" smtClean="0"/>
              <a:t>Archiving evidence of the exposure and mention that the organisation receives as a result of its engagement with every sponsorship activity</a:t>
            </a:r>
            <a:endParaRPr lang="en-US" sz="1800" dirty="0" smtClean="0"/>
          </a:p>
          <a:p>
            <a:pPr marL="360000" indent="-360000">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440160"/>
          </a:xfrm>
        </p:spPr>
        <p:txBody>
          <a:bodyPr>
            <a:normAutofit fontScale="90000"/>
          </a:bodyPr>
          <a:lstStyle/>
          <a:p>
            <a:pPr marL="895350" indent="-895350"/>
            <a:r>
              <a:rPr lang="en-US" sz="3400" b="1" dirty="0" smtClean="0">
                <a:solidFill>
                  <a:srgbClr val="FF6600"/>
                </a:solidFill>
                <a:latin typeface="Helvetica" pitchFamily="34" charset="0"/>
              </a:rPr>
              <a:t>1.7	Set criteria against which to evaluate effectiveness, and return from, sponsorship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132856"/>
            <a:ext cx="7467600" cy="3949899"/>
          </a:xfrm>
        </p:spPr>
        <p:txBody>
          <a:bodyPr>
            <a:normAutofit/>
          </a:bodyPr>
          <a:lstStyle/>
          <a:p>
            <a:pPr marL="0" indent="0">
              <a:spcBef>
                <a:spcPts val="600"/>
              </a:spcBef>
              <a:spcAft>
                <a:spcPts val="1200"/>
              </a:spcAft>
              <a:buNone/>
            </a:pPr>
            <a:r>
              <a:rPr lang="en-US" sz="2200" dirty="0" smtClean="0">
                <a:latin typeface="Helvetica" pitchFamily="34" charset="0"/>
              </a:rPr>
              <a:t>It is possible to approach sponsorship activity evaluation from two perspectives:</a:t>
            </a:r>
          </a:p>
          <a:p>
            <a:pPr marL="360000" indent="-360000">
              <a:spcBef>
                <a:spcPts val="600"/>
              </a:spcBef>
              <a:spcAft>
                <a:spcPts val="1200"/>
              </a:spcAft>
            </a:pPr>
            <a:r>
              <a:rPr lang="en-US" sz="2200" dirty="0" smtClean="0">
                <a:latin typeface="Helvetica" pitchFamily="34" charset="0"/>
              </a:rPr>
              <a:t>Public relations approach</a:t>
            </a:r>
          </a:p>
          <a:p>
            <a:pPr marL="360000" indent="-360000">
              <a:spcBef>
                <a:spcPts val="600"/>
              </a:spcBef>
              <a:spcAft>
                <a:spcPts val="1200"/>
              </a:spcAft>
            </a:pPr>
            <a:r>
              <a:rPr lang="en-US" sz="2200" dirty="0" smtClean="0">
                <a:latin typeface="Helvetica" pitchFamily="34" charset="0"/>
              </a:rPr>
              <a:t>Advertising and </a:t>
            </a:r>
            <a:br>
              <a:rPr lang="en-US" sz="2200" dirty="0" smtClean="0">
                <a:latin typeface="Helvetica" pitchFamily="34" charset="0"/>
              </a:rPr>
            </a:br>
            <a:r>
              <a:rPr lang="en-US" sz="2200" dirty="0" smtClean="0">
                <a:latin typeface="Helvetica" pitchFamily="34" charset="0"/>
              </a:rPr>
              <a:t>marketing approach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6" name="Picture 5" descr="C:\Users\Quentin\AppData\Local\Microsoft\Windows\Temporary Internet Files\Content.IE5\XCZRY9RX\bigstock-The-words-Time-to-Evaluate-on-244838481[1].jpg"/>
          <p:cNvPicPr/>
          <p:nvPr/>
        </p:nvPicPr>
        <p:blipFill>
          <a:blip r:embed="rId3" cstate="print"/>
          <a:srcRect/>
          <a:stretch>
            <a:fillRect/>
          </a:stretch>
        </p:blipFill>
        <p:spPr bwMode="auto">
          <a:xfrm>
            <a:off x="4860032" y="2924944"/>
            <a:ext cx="2736304" cy="223224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Criteria for evaluating effectiveness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t>Ambler et al (2002) describes five customer marketing changes that could be used to measure sponsorship effectiveness which include:</a:t>
            </a:r>
            <a:endParaRPr lang="en-US" sz="2200" dirty="0" smtClean="0"/>
          </a:p>
          <a:p>
            <a:pPr marL="360000" indent="-360000">
              <a:spcBef>
                <a:spcPts val="600"/>
              </a:spcBef>
              <a:spcAft>
                <a:spcPts val="1200"/>
              </a:spcAft>
            </a:pPr>
            <a:r>
              <a:rPr lang="en-US" sz="2200" dirty="0" smtClean="0"/>
              <a:t>Brand awareness</a:t>
            </a:r>
          </a:p>
          <a:p>
            <a:pPr marL="720000" indent="-360000">
              <a:spcBef>
                <a:spcPts val="600"/>
              </a:spcBef>
              <a:spcAft>
                <a:spcPts val="1200"/>
              </a:spcAft>
              <a:buClr>
                <a:schemeClr val="accent1">
                  <a:lumMod val="75000"/>
                </a:schemeClr>
              </a:buClr>
              <a:buSzPct val="100000"/>
              <a:buNone/>
            </a:pPr>
            <a:r>
              <a:rPr lang="en-US" sz="2200" dirty="0" smtClean="0"/>
              <a:t>Brand associations</a:t>
            </a:r>
          </a:p>
          <a:p>
            <a:pPr marL="360000" indent="-360000">
              <a:spcBef>
                <a:spcPts val="600"/>
              </a:spcBef>
              <a:spcAft>
                <a:spcPts val="1200"/>
              </a:spcAft>
            </a:pPr>
            <a:r>
              <a:rPr lang="en-US" sz="2200" dirty="0" smtClean="0"/>
              <a:t>Brand attitudes</a:t>
            </a:r>
          </a:p>
          <a:p>
            <a:pPr marL="360000" indent="-360000">
              <a:spcBef>
                <a:spcPts val="600"/>
              </a:spcBef>
              <a:spcAft>
                <a:spcPts val="1200"/>
              </a:spcAft>
            </a:pPr>
            <a:r>
              <a:rPr lang="en-US" sz="2200" dirty="0" smtClean="0"/>
              <a:t>Brand attachment</a:t>
            </a:r>
          </a:p>
          <a:p>
            <a:pPr marL="360000" indent="-360000">
              <a:spcBef>
                <a:spcPts val="600"/>
              </a:spcBef>
              <a:spcAft>
                <a:spcPts val="1200"/>
              </a:spcAft>
            </a:pPr>
            <a:r>
              <a:rPr lang="en-US" sz="2200" dirty="0" smtClean="0"/>
              <a:t>Brand experience</a:t>
            </a:r>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2050" name="Picture 2" descr="C:\Users\Quentin\AppData\Local\Microsoft\Windows\Temporary Internet Files\Content.IE5\XCZRY9RX\400px-Brand_GmbH_logo_registered_trademark.svg[1].png"/>
          <p:cNvPicPr>
            <a:picLocks noChangeAspect="1" noChangeArrowheads="1"/>
          </p:cNvPicPr>
          <p:nvPr/>
        </p:nvPicPr>
        <p:blipFill>
          <a:blip r:embed="rId3" cstate="print"/>
          <a:srcRect/>
          <a:stretch>
            <a:fillRect/>
          </a:stretch>
        </p:blipFill>
        <p:spPr bwMode="auto">
          <a:xfrm>
            <a:off x="4716016" y="2708920"/>
            <a:ext cx="2304256" cy="2592288"/>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circle(in)">
                                      <p:cBhvr>
                                        <p:cTn id="7" dur="20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512168"/>
          </a:xfrm>
        </p:spPr>
        <p:txBody>
          <a:bodyPr>
            <a:noAutofit/>
          </a:bodyPr>
          <a:lstStyle/>
          <a:p>
            <a:pPr marL="895350" indent="-895350"/>
            <a:r>
              <a:rPr lang="en-US" sz="3000" b="1" dirty="0" smtClean="0">
                <a:solidFill>
                  <a:srgbClr val="FF6600"/>
                </a:solidFill>
                <a:latin typeface="Helvetica" pitchFamily="34" charset="0"/>
              </a:rPr>
              <a:t>1.8		Identify products and services that may be developed to align with sponsorship activities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560840" cy="4536504"/>
          </a:xfrm>
        </p:spPr>
        <p:txBody>
          <a:bodyPr>
            <a:normAutofit/>
          </a:bodyPr>
          <a:lstStyle/>
          <a:p>
            <a:pPr marL="0" indent="0">
              <a:spcBef>
                <a:spcPts val="600"/>
              </a:spcBef>
              <a:spcAft>
                <a:spcPts val="1200"/>
              </a:spcAft>
              <a:buNone/>
            </a:pPr>
            <a:r>
              <a:rPr lang="en-AU" sz="1800" dirty="0" smtClean="0"/>
              <a:t>Identifying and developing products and services that align with sponsorship activities could include</a:t>
            </a:r>
            <a:r>
              <a:rPr lang="en-US" sz="1800" dirty="0" smtClean="0"/>
              <a:t>:</a:t>
            </a:r>
          </a:p>
          <a:p>
            <a:pPr marL="360000" indent="-360000">
              <a:spcBef>
                <a:spcPts val="600"/>
              </a:spcBef>
              <a:spcAft>
                <a:spcPts val="1200"/>
              </a:spcAft>
            </a:pPr>
            <a:r>
              <a:rPr lang="en-AU" sz="1800" dirty="0" smtClean="0"/>
              <a:t>Modifying existing products and services</a:t>
            </a:r>
            <a:endParaRPr lang="en-US" sz="1800" dirty="0" smtClean="0"/>
          </a:p>
          <a:p>
            <a:pPr marL="360000" indent="-360000">
              <a:spcBef>
                <a:spcPts val="600"/>
              </a:spcBef>
              <a:spcAft>
                <a:spcPts val="1200"/>
              </a:spcAft>
            </a:pPr>
            <a:r>
              <a:rPr lang="en-AU" sz="1800" dirty="0" smtClean="0"/>
              <a:t>Introducing new products, services or packages to align with the event</a:t>
            </a:r>
          </a:p>
          <a:p>
            <a:pPr marL="360000" indent="-360000">
              <a:spcBef>
                <a:spcPts val="600"/>
              </a:spcBef>
              <a:spcAft>
                <a:spcPts val="1200"/>
              </a:spcAft>
            </a:pPr>
            <a:r>
              <a:rPr lang="en-AU" sz="1800" dirty="0" smtClean="0"/>
              <a:t>Developing one-off products and services only available to coincide with the sponsorship event or activity.</a:t>
            </a:r>
          </a:p>
          <a:p>
            <a:pPr marL="360000" indent="-360000">
              <a:spcBef>
                <a:spcPts val="600"/>
              </a:spcBef>
              <a:spcAft>
                <a:spcPts val="1200"/>
              </a:spcAft>
            </a:pPr>
            <a:r>
              <a:rPr lang="en-AU" sz="1800" dirty="0" smtClean="0"/>
              <a:t>Re-titling of packages to reflect the sponsorship activity</a:t>
            </a:r>
          </a:p>
          <a:p>
            <a:pPr marL="360000" indent="-360000">
              <a:spcBef>
                <a:spcPts val="600"/>
              </a:spcBef>
              <a:spcAft>
                <a:spcPts val="1200"/>
              </a:spcAft>
            </a:pPr>
            <a:r>
              <a:rPr lang="en-AU" sz="1800" dirty="0" smtClean="0"/>
              <a:t>Partnering other businesses in creating a joint venture product</a:t>
            </a:r>
          </a:p>
          <a:p>
            <a:pPr marL="360000" indent="-360000">
              <a:spcBef>
                <a:spcPts val="600"/>
              </a:spcBef>
              <a:spcAft>
                <a:spcPts val="1200"/>
              </a:spcAft>
            </a:pPr>
            <a:r>
              <a:rPr lang="en-AU" sz="1800" dirty="0" smtClean="0"/>
              <a:t>Providing a discount for purchasers participating</a:t>
            </a:r>
          </a:p>
          <a:p>
            <a:pPr marL="360000" indent="-360000">
              <a:spcBef>
                <a:spcPts val="600"/>
              </a:spcBef>
              <a:spcAft>
                <a:spcPts val="1200"/>
              </a:spcAft>
            </a:pPr>
            <a:endParaRPr lang="en-AU" sz="1800" dirty="0" smtClean="0"/>
          </a:p>
          <a:p>
            <a:pPr marL="360000" indent="-360000">
              <a:spcBef>
                <a:spcPts val="600"/>
              </a:spcBef>
              <a:spcAft>
                <a:spcPts val="1200"/>
              </a:spcAft>
            </a:pPr>
            <a:endParaRPr lang="en-US" sz="1800" dirty="0" smtClean="0"/>
          </a:p>
          <a:p>
            <a:pPr marL="360000" indent="-360000">
              <a:spcBef>
                <a:spcPts val="600"/>
              </a:spcBef>
              <a:spcAft>
                <a:spcPts val="12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40160"/>
          </a:xfrm>
        </p:spPr>
        <p:txBody>
          <a:bodyPr>
            <a:normAutofit fontScale="90000"/>
          </a:bodyPr>
          <a:lstStyle/>
          <a:p>
            <a:pPr marL="895350" indent="-895350"/>
            <a:r>
              <a:rPr lang="en-US" sz="3400" b="1" dirty="0" smtClean="0">
                <a:solidFill>
                  <a:srgbClr val="FF6600"/>
                </a:solidFill>
                <a:latin typeface="Helvetica" pitchFamily="34" charset="0"/>
              </a:rPr>
              <a:t>1.9	Determine how requests for sponsorship that cannot be accommodated will be refused</a:t>
            </a:r>
            <a:endParaRPr lang="en-US"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7" name="Picture 6" descr="C:\Users\Quentin\AppData\Local\Microsoft\Windows\Temporary Internet Files\Content.IE5\225CUFF9\rejection-ideogram[1].png"/>
          <p:cNvPicPr/>
          <p:nvPr/>
        </p:nvPicPr>
        <p:blipFill>
          <a:blip r:embed="rId3" cstate="print"/>
          <a:srcRect/>
          <a:stretch>
            <a:fillRect/>
          </a:stretch>
        </p:blipFill>
        <p:spPr bwMode="auto">
          <a:xfrm>
            <a:off x="2411760" y="2276872"/>
            <a:ext cx="3528392" cy="309634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Preparing for refusing sponsorship applications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88832" cy="5040560"/>
          </a:xfrm>
        </p:spPr>
        <p:txBody>
          <a:bodyPr>
            <a:noAutofit/>
          </a:bodyPr>
          <a:lstStyle/>
          <a:p>
            <a:pPr marL="0" indent="0">
              <a:spcBef>
                <a:spcPts val="600"/>
              </a:spcBef>
              <a:spcAft>
                <a:spcPts val="600"/>
              </a:spcAft>
              <a:buNone/>
            </a:pPr>
            <a:r>
              <a:rPr lang="en-AU" sz="1800" dirty="0" smtClean="0"/>
              <a:t>In determining how to refuse sponsorship requests, it may be necessary to consider</a:t>
            </a:r>
            <a:r>
              <a:rPr lang="en-US" sz="1800" dirty="0" smtClean="0"/>
              <a:t>:</a:t>
            </a:r>
          </a:p>
          <a:p>
            <a:pPr marL="360000" indent="-360000">
              <a:spcBef>
                <a:spcPts val="600"/>
              </a:spcBef>
              <a:spcAft>
                <a:spcPts val="600"/>
              </a:spcAft>
            </a:pPr>
            <a:r>
              <a:rPr lang="en-AU" sz="1800" dirty="0" smtClean="0"/>
              <a:t>Preparing standard ‘thanks and regret’ letters identifying the other activities that the organisation engages in </a:t>
            </a:r>
            <a:endParaRPr lang="en-US" sz="1800" dirty="0" smtClean="0"/>
          </a:p>
          <a:p>
            <a:pPr marL="360000" indent="-360000">
              <a:spcBef>
                <a:spcPts val="600"/>
              </a:spcBef>
              <a:spcAft>
                <a:spcPts val="600"/>
              </a:spcAft>
            </a:pPr>
            <a:r>
              <a:rPr lang="en-AU" sz="1800" dirty="0" smtClean="0"/>
              <a:t>Explaining how the application for sponsorship does not meet the identified criteria of the business </a:t>
            </a:r>
          </a:p>
          <a:p>
            <a:pPr marL="360000" indent="-360000">
              <a:spcBef>
                <a:spcPts val="600"/>
              </a:spcBef>
              <a:spcAft>
                <a:spcPts val="600"/>
              </a:spcAft>
            </a:pPr>
            <a:r>
              <a:rPr lang="en-AU" sz="1800" dirty="0" smtClean="0"/>
              <a:t>Working with applicants to re-formulate their application or activity in order for it to qualify for sponsorship </a:t>
            </a:r>
          </a:p>
          <a:p>
            <a:pPr marL="360000" indent="-360000">
              <a:spcBef>
                <a:spcPts val="600"/>
              </a:spcBef>
              <a:spcAft>
                <a:spcPts val="600"/>
              </a:spcAft>
            </a:pPr>
            <a:r>
              <a:rPr lang="en-AU" sz="1800" dirty="0" smtClean="0"/>
              <a:t>Appointing and training personnel to deal with such instances</a:t>
            </a:r>
          </a:p>
          <a:p>
            <a:pPr marL="360000" indent="-360000">
              <a:spcBef>
                <a:spcPts val="600"/>
              </a:spcBef>
              <a:spcAft>
                <a:spcPts val="600"/>
              </a:spcAft>
            </a:pPr>
            <a:r>
              <a:rPr lang="en-AU" sz="1800" dirty="0" smtClean="0"/>
              <a:t>Identifying a supplementary contribution that may be</a:t>
            </a:r>
          </a:p>
          <a:p>
            <a:pPr marL="360000" indent="-360000">
              <a:spcBef>
                <a:spcPts val="600"/>
              </a:spcBef>
              <a:spcAft>
                <a:spcPts val="600"/>
              </a:spcAft>
            </a:pPr>
            <a:r>
              <a:rPr lang="en-AU" sz="1800" dirty="0" smtClean="0"/>
              <a:t>Ensuring the negative response of the organisation leaves a positive result in the eyes of the individual or organisation making the request</a:t>
            </a:r>
            <a:endParaRPr lang="en-US" sz="1800" dirty="0" smtClean="0"/>
          </a:p>
          <a:p>
            <a:pPr marL="360000" indent="-360000">
              <a:spcBef>
                <a:spcPts val="600"/>
              </a:spcBef>
              <a:spcAft>
                <a:spcPts val="600"/>
              </a:spcAft>
              <a:buNone/>
            </a:pPr>
            <a:endParaRPr lang="en-US" sz="18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2: Develop sponsorship packages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b="1" dirty="0" smtClean="0">
                <a:latin typeface="Helvetica" pitchFamily="34" charset="0"/>
                <a:cs typeface="Helvetica" pitchFamily="34" charset="0"/>
              </a:rPr>
              <a:t>Performance criteria: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sp>
        <p:nvSpPr>
          <p:cNvPr id="7" name="Block Arc 6"/>
          <p:cNvSpPr/>
          <p:nvPr/>
        </p:nvSpPr>
        <p:spPr>
          <a:xfrm>
            <a:off x="-3910767" y="1428449"/>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24" name="Group 23"/>
          <p:cNvGrpSpPr/>
          <p:nvPr/>
        </p:nvGrpSpPr>
        <p:grpSpPr>
          <a:xfrm>
            <a:off x="750504" y="2323254"/>
            <a:ext cx="5973877" cy="3683203"/>
            <a:chOff x="750504" y="2323254"/>
            <a:chExt cx="5973877" cy="3683203"/>
          </a:xfrm>
        </p:grpSpPr>
        <p:grpSp>
          <p:nvGrpSpPr>
            <p:cNvPr id="23" name="Group 22"/>
            <p:cNvGrpSpPr/>
            <p:nvPr/>
          </p:nvGrpSpPr>
          <p:grpSpPr>
            <a:xfrm>
              <a:off x="750504" y="2323254"/>
              <a:ext cx="5973877" cy="3683203"/>
              <a:chOff x="750504" y="2323254"/>
              <a:chExt cx="5973877" cy="3683203"/>
            </a:xfrm>
          </p:grpSpPr>
          <p:sp>
            <p:nvSpPr>
              <p:cNvPr id="8" name="Freeform 7"/>
              <p:cNvSpPr/>
              <p:nvPr/>
            </p:nvSpPr>
            <p:spPr>
              <a:xfrm>
                <a:off x="1068106" y="2386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03354" tIns="38100" rIns="38100" bIns="38100" numCol="1" spcCol="1270" anchor="ctr" anchorCtr="0">
                <a:noAutofit/>
              </a:bodyPr>
              <a:lstStyle/>
              <a:p>
                <a:pPr lvl="0" algn="l" defTabSz="666750">
                  <a:lnSpc>
                    <a:spcPct val="90000"/>
                  </a:lnSpc>
                  <a:spcBef>
                    <a:spcPct val="0"/>
                  </a:spcBef>
                  <a:spcAft>
                    <a:spcPct val="35000"/>
                  </a:spcAft>
                </a:pPr>
                <a:r>
                  <a:rPr lang="en-AU" sz="1500" i="0" kern="1200" dirty="0" smtClean="0">
                    <a:latin typeface="Helvetica" pitchFamily="34" charset="0"/>
                    <a:cs typeface="Helvetica" pitchFamily="34" charset="0"/>
                  </a:rPr>
                  <a:t>Identify the elements of a sponsorship package that the organisation is prepared to support</a:t>
                </a:r>
                <a:endParaRPr lang="en-AU" sz="1500" i="0" kern="1200" dirty="0"/>
              </a:p>
            </p:txBody>
          </p:sp>
          <p:sp>
            <p:nvSpPr>
              <p:cNvPr id="9" name="Oval 8"/>
              <p:cNvSpPr/>
              <p:nvPr/>
            </p:nvSpPr>
            <p:spPr>
              <a:xfrm>
                <a:off x="750504" y="2323254"/>
                <a:ext cx="635203" cy="635203"/>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1432240" y="3148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txBody>
              <a:bodyPr spcFirstLastPara="0" vert="horz" wrap="square" lIns="403354" tIns="38100" rIns="38100" bIns="38100" numCol="1" spcCol="1270" anchor="ctr" anchorCtr="0">
                <a:noAutofit/>
              </a:bodyPr>
              <a:lstStyle/>
              <a:p>
                <a:pPr lvl="0" algn="l" defTabSz="666750">
                  <a:lnSpc>
                    <a:spcPct val="90000"/>
                  </a:lnSpc>
                  <a:spcBef>
                    <a:spcPct val="0"/>
                  </a:spcBef>
                  <a:spcAft>
                    <a:spcPct val="35000"/>
                  </a:spcAft>
                </a:pPr>
                <a:r>
                  <a:rPr lang="en-AU" sz="1500" i="0" kern="1200" dirty="0" smtClean="0">
                    <a:latin typeface="Helvetica" pitchFamily="34" charset="0"/>
                    <a:cs typeface="Helvetica" pitchFamily="34" charset="0"/>
                  </a:rPr>
                  <a:t>Identify the products and services that may be offered as sponsorship</a:t>
                </a:r>
                <a:endParaRPr lang="en-AU" sz="1500" i="0" kern="1200" dirty="0"/>
              </a:p>
            </p:txBody>
          </p:sp>
          <p:sp>
            <p:nvSpPr>
              <p:cNvPr id="11" name="Oval 10"/>
              <p:cNvSpPr/>
              <p:nvPr/>
            </p:nvSpPr>
            <p:spPr>
              <a:xfrm>
                <a:off x="1114639" y="3085254"/>
                <a:ext cx="635203" cy="635203"/>
              </a:xfrm>
              <a:prstGeom prst="ellipse">
                <a:avLst/>
              </a:prstGeom>
            </p:spPr>
            <p:style>
              <a:lnRef idx="2">
                <a:schemeClr val="accent5">
                  <a:hueOff val="-774129"/>
                  <a:satOff val="7761"/>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1544000" y="3910774"/>
                <a:ext cx="5180380" cy="508162"/>
              </a:xfrm>
              <a:custGeom>
                <a:avLst/>
                <a:gdLst>
                  <a:gd name="connsiteX0" fmla="*/ 0 w 5180380"/>
                  <a:gd name="connsiteY0" fmla="*/ 0 h 508162"/>
                  <a:gd name="connsiteX1" fmla="*/ 5180380 w 5180380"/>
                  <a:gd name="connsiteY1" fmla="*/ 0 h 508162"/>
                  <a:gd name="connsiteX2" fmla="*/ 5180380 w 5180380"/>
                  <a:gd name="connsiteY2" fmla="*/ 508162 h 508162"/>
                  <a:gd name="connsiteX3" fmla="*/ 0 w 5180380"/>
                  <a:gd name="connsiteY3" fmla="*/ 508162 h 508162"/>
                  <a:gd name="connsiteX4" fmla="*/ 0 w 518038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508162">
                    <a:moveTo>
                      <a:pt x="0" y="0"/>
                    </a:moveTo>
                    <a:lnTo>
                      <a:pt x="5180380" y="0"/>
                    </a:lnTo>
                    <a:lnTo>
                      <a:pt x="5180380" y="508162"/>
                    </a:lnTo>
                    <a:lnTo>
                      <a:pt x="0" y="508162"/>
                    </a:lnTo>
                    <a:lnTo>
                      <a:pt x="0" y="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403354" tIns="38100" rIns="38100" bIns="38100" numCol="1" spcCol="1270" anchor="ctr" anchorCtr="0">
                <a:noAutofit/>
              </a:bodyPr>
              <a:lstStyle/>
              <a:p>
                <a:pPr lvl="0" algn="l" defTabSz="666750">
                  <a:lnSpc>
                    <a:spcPct val="90000"/>
                  </a:lnSpc>
                  <a:spcBef>
                    <a:spcPct val="0"/>
                  </a:spcBef>
                  <a:spcAft>
                    <a:spcPct val="35000"/>
                  </a:spcAft>
                </a:pPr>
                <a:r>
                  <a:rPr lang="en-AU" sz="1500" i="0" kern="1200" dirty="0" smtClean="0">
                    <a:latin typeface="Helvetica" pitchFamily="34" charset="0"/>
                    <a:cs typeface="Helvetica" pitchFamily="34" charset="0"/>
                  </a:rPr>
                  <a:t>Define organisational expectations in relation to expected returns for different sponsorship packages</a:t>
                </a:r>
                <a:endParaRPr lang="en-AU" sz="1500" i="0" kern="1200" dirty="0"/>
              </a:p>
            </p:txBody>
          </p:sp>
          <p:sp>
            <p:nvSpPr>
              <p:cNvPr id="13" name="Oval 12"/>
              <p:cNvSpPr/>
              <p:nvPr/>
            </p:nvSpPr>
            <p:spPr>
              <a:xfrm>
                <a:off x="1226399" y="3847254"/>
                <a:ext cx="635203" cy="635203"/>
              </a:xfrm>
              <a:prstGeom prst="ellipse">
                <a:avLst/>
              </a:prstGeom>
            </p:spPr>
            <p:style>
              <a:lnRef idx="2">
                <a:schemeClr val="accent5">
                  <a:hueOff val="-1548258"/>
                  <a:satOff val="15522"/>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4" name="Freeform 13"/>
              <p:cNvSpPr/>
              <p:nvPr/>
            </p:nvSpPr>
            <p:spPr>
              <a:xfrm>
                <a:off x="1432240" y="4672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txBody>
              <a:bodyPr spcFirstLastPara="0" vert="horz" wrap="square" lIns="403354" tIns="38100" rIns="38100" bIns="38100" numCol="1" spcCol="1270" anchor="ctr" anchorCtr="0">
                <a:noAutofit/>
              </a:bodyPr>
              <a:lstStyle/>
              <a:p>
                <a:pPr lvl="0" algn="l" defTabSz="666750">
                  <a:lnSpc>
                    <a:spcPct val="90000"/>
                  </a:lnSpc>
                  <a:spcBef>
                    <a:spcPct val="0"/>
                  </a:spcBef>
                  <a:spcAft>
                    <a:spcPct val="35000"/>
                  </a:spcAft>
                </a:pPr>
                <a:r>
                  <a:rPr lang="en-AU" sz="1500" i="0" kern="1200" dirty="0" smtClean="0">
                    <a:latin typeface="Helvetica" pitchFamily="34" charset="0"/>
                    <a:cs typeface="Helvetica" pitchFamily="34" charset="0"/>
                  </a:rPr>
                  <a:t>Identify the input required by the organisation into sponsorship arrangements</a:t>
                </a:r>
                <a:endParaRPr lang="en-AU" sz="1500" i="0" kern="1200" dirty="0"/>
              </a:p>
            </p:txBody>
          </p:sp>
          <p:sp>
            <p:nvSpPr>
              <p:cNvPr id="15" name="Oval 14"/>
              <p:cNvSpPr/>
              <p:nvPr/>
            </p:nvSpPr>
            <p:spPr>
              <a:xfrm>
                <a:off x="1114639" y="4609254"/>
                <a:ext cx="635203" cy="635203"/>
              </a:xfrm>
              <a:prstGeom prst="ellipse">
                <a:avLst/>
              </a:prstGeom>
            </p:spPr>
            <p:style>
              <a:lnRef idx="2">
                <a:schemeClr val="accent5">
                  <a:hueOff val="-2322388"/>
                  <a:satOff val="23283"/>
                  <a:lumOff val="-16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068106" y="5434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03354" tIns="38100" rIns="38100" bIns="38100" numCol="1" spcCol="1270" anchor="ctr" anchorCtr="0">
                <a:noAutofit/>
              </a:bodyPr>
              <a:lstStyle/>
              <a:p>
                <a:pPr lvl="0" algn="l" defTabSz="666750">
                  <a:lnSpc>
                    <a:spcPct val="90000"/>
                  </a:lnSpc>
                  <a:spcBef>
                    <a:spcPct val="0"/>
                  </a:spcBef>
                  <a:spcAft>
                    <a:spcPct val="35000"/>
                  </a:spcAft>
                </a:pPr>
                <a:r>
                  <a:rPr lang="en-AU" sz="1500" i="0" kern="1200" dirty="0" smtClean="0">
                    <a:latin typeface="Helvetica" pitchFamily="34" charset="0"/>
                    <a:cs typeface="Helvetica" pitchFamily="34" charset="0"/>
                  </a:rPr>
                  <a:t>Develop and disseminate sponsorship information to potential partners</a:t>
                </a:r>
                <a:endParaRPr lang="en-AU" sz="1500" i="0" kern="1200" dirty="0"/>
              </a:p>
            </p:txBody>
          </p:sp>
          <p:sp>
            <p:nvSpPr>
              <p:cNvPr id="17" name="Oval 16"/>
              <p:cNvSpPr/>
              <p:nvPr/>
            </p:nvSpPr>
            <p:spPr>
              <a:xfrm>
                <a:off x="750504" y="5371254"/>
                <a:ext cx="635203" cy="635203"/>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18" name="TextBox 17"/>
            <p:cNvSpPr txBox="1"/>
            <p:nvPr/>
          </p:nvSpPr>
          <p:spPr>
            <a:xfrm>
              <a:off x="780074" y="2457763"/>
              <a:ext cx="576064" cy="323165"/>
            </a:xfrm>
            <a:prstGeom prst="rect">
              <a:avLst/>
            </a:prstGeom>
            <a:noFill/>
          </p:spPr>
          <p:txBody>
            <a:bodyPr wrap="square" rtlCol="0">
              <a:spAutoFit/>
            </a:bodyPr>
            <a:lstStyle/>
            <a:p>
              <a:pPr algn="ctr"/>
              <a:r>
                <a:rPr lang="en-AU" sz="1500" b="1" dirty="0" smtClean="0">
                  <a:latin typeface="Helvetica" pitchFamily="34" charset="0"/>
                </a:rPr>
                <a:t>2.1</a:t>
              </a:r>
              <a:endParaRPr lang="en-AU" sz="1500" b="1" dirty="0">
                <a:latin typeface="Helvetica" pitchFamily="34" charset="0"/>
              </a:endParaRPr>
            </a:p>
          </p:txBody>
        </p:sp>
        <p:sp>
          <p:nvSpPr>
            <p:cNvPr id="19" name="TextBox 18"/>
            <p:cNvSpPr txBox="1"/>
            <p:nvPr/>
          </p:nvSpPr>
          <p:spPr>
            <a:xfrm>
              <a:off x="1144208" y="3241272"/>
              <a:ext cx="576064" cy="323165"/>
            </a:xfrm>
            <a:prstGeom prst="rect">
              <a:avLst/>
            </a:prstGeom>
            <a:noFill/>
          </p:spPr>
          <p:txBody>
            <a:bodyPr wrap="square" rtlCol="0">
              <a:spAutoFit/>
            </a:bodyPr>
            <a:lstStyle/>
            <a:p>
              <a:pPr algn="ctr"/>
              <a:r>
                <a:rPr lang="en-AU" sz="1500" b="1" dirty="0" smtClean="0">
                  <a:latin typeface="Helvetica" pitchFamily="34" charset="0"/>
                </a:rPr>
                <a:t>2.2</a:t>
              </a:r>
              <a:endParaRPr lang="en-AU" sz="1500" b="1" dirty="0">
                <a:latin typeface="Helvetica" pitchFamily="34" charset="0"/>
              </a:endParaRPr>
            </a:p>
          </p:txBody>
        </p:sp>
        <p:sp>
          <p:nvSpPr>
            <p:cNvPr id="20" name="TextBox 19"/>
            <p:cNvSpPr txBox="1"/>
            <p:nvPr/>
          </p:nvSpPr>
          <p:spPr>
            <a:xfrm>
              <a:off x="1259632" y="4003274"/>
              <a:ext cx="576064" cy="323165"/>
            </a:xfrm>
            <a:prstGeom prst="rect">
              <a:avLst/>
            </a:prstGeom>
            <a:noFill/>
          </p:spPr>
          <p:txBody>
            <a:bodyPr wrap="square" rtlCol="0">
              <a:spAutoFit/>
            </a:bodyPr>
            <a:lstStyle/>
            <a:p>
              <a:pPr algn="ctr"/>
              <a:r>
                <a:rPr lang="en-AU" sz="1500" b="1" dirty="0" smtClean="0">
                  <a:latin typeface="Helvetica" pitchFamily="34" charset="0"/>
                </a:rPr>
                <a:t>2.3</a:t>
              </a:r>
              <a:endParaRPr lang="en-AU" sz="1500" b="1" dirty="0">
                <a:latin typeface="Helvetica" pitchFamily="34" charset="0"/>
              </a:endParaRPr>
            </a:p>
          </p:txBody>
        </p:sp>
        <p:sp>
          <p:nvSpPr>
            <p:cNvPr id="21" name="TextBox 20"/>
            <p:cNvSpPr txBox="1"/>
            <p:nvPr/>
          </p:nvSpPr>
          <p:spPr>
            <a:xfrm>
              <a:off x="1144208" y="4765272"/>
              <a:ext cx="576064" cy="323165"/>
            </a:xfrm>
            <a:prstGeom prst="rect">
              <a:avLst/>
            </a:prstGeom>
            <a:noFill/>
          </p:spPr>
          <p:txBody>
            <a:bodyPr wrap="square" rtlCol="0">
              <a:spAutoFit/>
            </a:bodyPr>
            <a:lstStyle/>
            <a:p>
              <a:pPr algn="ctr"/>
              <a:r>
                <a:rPr lang="en-AU" sz="1500" b="1" dirty="0" smtClean="0">
                  <a:latin typeface="Helvetica" pitchFamily="34" charset="0"/>
                </a:rPr>
                <a:t>2.4</a:t>
              </a:r>
              <a:endParaRPr lang="en-AU" sz="1500" b="1" dirty="0">
                <a:latin typeface="Helvetica" pitchFamily="34" charset="0"/>
              </a:endParaRPr>
            </a:p>
          </p:txBody>
        </p:sp>
        <p:sp>
          <p:nvSpPr>
            <p:cNvPr id="22" name="TextBox 21"/>
            <p:cNvSpPr txBox="1"/>
            <p:nvPr/>
          </p:nvSpPr>
          <p:spPr>
            <a:xfrm>
              <a:off x="793089" y="5527272"/>
              <a:ext cx="576064" cy="323165"/>
            </a:xfrm>
            <a:prstGeom prst="rect">
              <a:avLst/>
            </a:prstGeom>
            <a:noFill/>
          </p:spPr>
          <p:txBody>
            <a:bodyPr wrap="square" rtlCol="0">
              <a:spAutoFit/>
            </a:bodyPr>
            <a:lstStyle/>
            <a:p>
              <a:pPr algn="ctr"/>
              <a:r>
                <a:rPr lang="en-AU" sz="1500" b="1" dirty="0" smtClean="0">
                  <a:latin typeface="Helvetica" pitchFamily="34" charset="0"/>
                </a:rPr>
                <a:t>2.5</a:t>
              </a:r>
              <a:endParaRPr lang="en-AU" sz="1500" b="1" dirty="0">
                <a:latin typeface="Helvetica" pitchFamily="34" charset="0"/>
              </a:endParaRPr>
            </a:p>
          </p:txBody>
        </p:sp>
      </p:gr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84176"/>
          </a:xfrm>
        </p:spPr>
        <p:txBody>
          <a:bodyPr>
            <a:normAutofit/>
          </a:bodyPr>
          <a:lstStyle/>
          <a:p>
            <a:pPr marL="895350" indent="-895350"/>
            <a:r>
              <a:rPr lang="en-AU" sz="3000" b="1" dirty="0" smtClean="0">
                <a:solidFill>
                  <a:srgbClr val="FF6600"/>
                </a:solidFill>
                <a:latin typeface="Helvetica" pitchFamily="34" charset="0"/>
              </a:rPr>
              <a:t>2.1	Identify the elements of a sponsorship package that the organisation is prepared to support </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560840" cy="4464496"/>
          </a:xfrm>
        </p:spPr>
        <p:txBody>
          <a:bodyPr>
            <a:normAutofit/>
          </a:bodyPr>
          <a:lstStyle/>
          <a:p>
            <a:pPr>
              <a:spcBef>
                <a:spcPts val="600"/>
              </a:spcBef>
              <a:spcAft>
                <a:spcPts val="1200"/>
              </a:spcAft>
              <a:buNone/>
            </a:pPr>
            <a:r>
              <a:rPr lang="en-AU" sz="2200" dirty="0" smtClean="0">
                <a:latin typeface="Helvetica" pitchFamily="34" charset="0"/>
                <a:cs typeface="Helvetica" pitchFamily="34" charset="0"/>
              </a:rPr>
              <a:t>Four common sponsorship packages include:</a:t>
            </a:r>
          </a:p>
          <a:p>
            <a:pPr>
              <a:spcBef>
                <a:spcPts val="600"/>
              </a:spcBef>
              <a:spcAft>
                <a:spcPts val="1200"/>
              </a:spcAft>
            </a:pPr>
            <a:r>
              <a:rPr lang="en-AU" sz="2200" dirty="0" smtClean="0">
                <a:latin typeface="Helvetica" pitchFamily="34" charset="0"/>
                <a:cs typeface="Helvetica" pitchFamily="34" charset="0"/>
              </a:rPr>
              <a:t>Level playing field: where each sponsor is given equal rights and benefits</a:t>
            </a:r>
          </a:p>
          <a:p>
            <a:pPr>
              <a:spcBef>
                <a:spcPts val="600"/>
              </a:spcBef>
              <a:spcAft>
                <a:spcPts val="1200"/>
              </a:spcAft>
            </a:pPr>
            <a:r>
              <a:rPr lang="en-AU" sz="2200" dirty="0" smtClean="0">
                <a:latin typeface="Helvetica" pitchFamily="34" charset="0"/>
                <a:cs typeface="Helvetica" pitchFamily="34" charset="0"/>
              </a:rPr>
              <a:t>Hierarchical: which is based upon the amount paid</a:t>
            </a:r>
          </a:p>
          <a:p>
            <a:pPr>
              <a:spcBef>
                <a:spcPts val="600"/>
              </a:spcBef>
              <a:spcAft>
                <a:spcPts val="1200"/>
              </a:spcAft>
            </a:pPr>
            <a:r>
              <a:rPr lang="en-AU" sz="2200" dirty="0" smtClean="0">
                <a:latin typeface="Helvetica" pitchFamily="34" charset="0"/>
                <a:cs typeface="Helvetica" pitchFamily="34" charset="0"/>
              </a:rPr>
              <a:t>Sole: where the one sponsor has access to all rights and benefits</a:t>
            </a:r>
          </a:p>
          <a:p>
            <a:pPr>
              <a:spcBef>
                <a:spcPts val="600"/>
              </a:spcBef>
              <a:spcAft>
                <a:spcPts val="1200"/>
              </a:spcAft>
            </a:pPr>
            <a:r>
              <a:rPr lang="en-AU" sz="2200" dirty="0" smtClean="0">
                <a:latin typeface="Helvetica" pitchFamily="34" charset="0"/>
                <a:cs typeface="Helvetica" pitchFamily="34" charset="0"/>
              </a:rPr>
              <a:t>Ad hoc: this is where each package provides different benefits to the sponsors and varying returns to the sponsoree</a:t>
            </a:r>
          </a:p>
          <a:p>
            <a:pPr marL="0" indent="0">
              <a:spcBef>
                <a:spcPts val="600"/>
              </a:spcBef>
              <a:spcAft>
                <a:spcPts val="1200"/>
              </a:spcAft>
              <a:buNone/>
            </a:pPr>
            <a:endParaRPr lang="en-AU" sz="2200" dirty="0" smtClean="0">
              <a:latin typeface="Helvetica" pitchFamily="34" charset="0"/>
              <a:cs typeface="Helvetica" pitchFamily="34" charset="0"/>
            </a:endParaRPr>
          </a:p>
          <a:p>
            <a:pPr marL="360000" indent="-36000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848872" cy="1143000"/>
          </a:xfrm>
        </p:spPr>
        <p:txBody>
          <a:bodyPr>
            <a:normAutofit fontScale="90000"/>
          </a:bodyPr>
          <a:lstStyle/>
          <a:p>
            <a:pPr marL="895350" indent="-895350"/>
            <a:r>
              <a:rPr lang="en-US" sz="3400" b="1" dirty="0" smtClean="0">
                <a:solidFill>
                  <a:srgbClr val="FF6600"/>
                </a:solidFill>
                <a:latin typeface="Helvetica" pitchFamily="34" charset="0"/>
              </a:rPr>
              <a:t>2.2	Identify the products and services that may be offered as sponsorship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040560"/>
          </a:xfrm>
        </p:spPr>
        <p:txBody>
          <a:bodyPr>
            <a:noAutofit/>
          </a:bodyPr>
          <a:lstStyle/>
          <a:p>
            <a:pPr marL="0" indent="0">
              <a:spcBef>
                <a:spcPts val="600"/>
              </a:spcBef>
              <a:spcAft>
                <a:spcPts val="1200"/>
              </a:spcAft>
              <a:buNone/>
            </a:pPr>
            <a:r>
              <a:rPr lang="en-AU" sz="1800" dirty="0" smtClean="0">
                <a:latin typeface="Helvetica" pitchFamily="34" charset="0"/>
                <a:cs typeface="Helvetica" pitchFamily="34" charset="0"/>
              </a:rPr>
              <a:t>An organisation could provide products and services such as:</a:t>
            </a:r>
          </a:p>
          <a:p>
            <a:pPr marL="360000" indent="-360000">
              <a:spcBef>
                <a:spcPts val="600"/>
              </a:spcBef>
              <a:spcAft>
                <a:spcPts val="1200"/>
              </a:spcAft>
            </a:pPr>
            <a:r>
              <a:rPr lang="en-AU" sz="1800" dirty="0" smtClean="0">
                <a:latin typeface="Helvetica" pitchFamily="34" charset="0"/>
                <a:cs typeface="Helvetica" pitchFamily="34" charset="0"/>
              </a:rPr>
              <a:t>Financial assistance, including cash contributions, discounts, and rebates</a:t>
            </a:r>
          </a:p>
          <a:p>
            <a:pPr marL="360000" indent="-360000">
              <a:spcBef>
                <a:spcPts val="600"/>
              </a:spcBef>
              <a:spcAft>
                <a:spcPts val="1200"/>
              </a:spcAft>
            </a:pPr>
            <a:r>
              <a:rPr lang="en-AU" sz="1800" dirty="0" smtClean="0">
                <a:latin typeface="Helvetica" pitchFamily="34" charset="0"/>
                <a:cs typeface="Helvetica" pitchFamily="34" charset="0"/>
              </a:rPr>
              <a:t>Merchandising items such as bags, caps, pens, t-shirts featuring company name and/or logo</a:t>
            </a:r>
          </a:p>
          <a:p>
            <a:pPr marL="360000" indent="-360000">
              <a:spcBef>
                <a:spcPts val="600"/>
              </a:spcBef>
              <a:spcAft>
                <a:spcPts val="1200"/>
              </a:spcAft>
            </a:pPr>
            <a:r>
              <a:rPr lang="en-AU" sz="1800" dirty="0" smtClean="0">
                <a:latin typeface="Helvetica" pitchFamily="34" charset="0"/>
                <a:cs typeface="Helvetica" pitchFamily="34" charset="0"/>
              </a:rPr>
              <a:t>Advertising material, including posters, banners and various </a:t>
            </a:r>
            <a:br>
              <a:rPr lang="en-AU" sz="1800" dirty="0" smtClean="0">
                <a:latin typeface="Helvetica" pitchFamily="34" charset="0"/>
                <a:cs typeface="Helvetica" pitchFamily="34" charset="0"/>
              </a:rPr>
            </a:br>
            <a:r>
              <a:rPr lang="en-AU" sz="1800" dirty="0" smtClean="0">
                <a:latin typeface="Helvetica" pitchFamily="34" charset="0"/>
                <a:cs typeface="Helvetica" pitchFamily="34" charset="0"/>
              </a:rPr>
              <a:t>point-of-sale materials</a:t>
            </a:r>
          </a:p>
          <a:p>
            <a:pPr marL="360000" indent="-360000">
              <a:spcBef>
                <a:spcPts val="600"/>
              </a:spcBef>
              <a:spcAft>
                <a:spcPts val="1200"/>
              </a:spcAft>
            </a:pPr>
            <a:r>
              <a:rPr lang="en-AU" sz="1800" dirty="0" smtClean="0">
                <a:latin typeface="Helvetica" pitchFamily="34" charset="0"/>
                <a:cs typeface="Helvetica" pitchFamily="34" charset="0"/>
              </a:rPr>
              <a:t>Tours, trips, packages and other products or services from the offerings available</a:t>
            </a:r>
          </a:p>
          <a:p>
            <a:pPr marL="360000" indent="-360000">
              <a:spcBef>
                <a:spcPts val="600"/>
              </a:spcBef>
              <a:spcAft>
                <a:spcPts val="1200"/>
              </a:spcAft>
            </a:pPr>
            <a:r>
              <a:rPr lang="en-AU" sz="1800" dirty="0" smtClean="0">
                <a:latin typeface="Helvetica" pitchFamily="34" charset="0"/>
                <a:cs typeface="Helvetica" pitchFamily="34" charset="0"/>
              </a:rPr>
              <a:t>Advice and information</a:t>
            </a:r>
          </a:p>
          <a:p>
            <a:pPr marL="360000" indent="-360000">
              <a:spcBef>
                <a:spcPts val="600"/>
              </a:spcBef>
              <a:spcAft>
                <a:spcPts val="1200"/>
              </a:spcAft>
            </a:pPr>
            <a:r>
              <a:rPr lang="en-AU" sz="1800" dirty="0" smtClean="0">
                <a:latin typeface="Helvetica" pitchFamily="34" charset="0"/>
                <a:cs typeface="Helvetica" pitchFamily="34" charset="0"/>
              </a:rPr>
              <a:t>Personnel to assist with the planning and/or conduct of the sponsored event</a:t>
            </a:r>
          </a:p>
          <a:p>
            <a:pPr marL="360000" indent="-360000">
              <a:spcBef>
                <a:spcPts val="600"/>
              </a:spcBef>
              <a:spcAft>
                <a:spcPts val="1200"/>
              </a:spcAft>
            </a:pPr>
            <a:endParaRPr lang="en-AU" sz="1800" dirty="0" smtClean="0">
              <a:latin typeface="Helvetica" pitchFamily="34" charset="0"/>
              <a:cs typeface="Helvetica" pitchFamily="34" charset="0"/>
            </a:endParaRPr>
          </a:p>
          <a:p>
            <a:pPr marL="360000" indent="-360000">
              <a:spcBef>
                <a:spcPts val="600"/>
              </a:spcBef>
              <a:spcAft>
                <a:spcPts val="1200"/>
              </a:spcAft>
              <a:buNone/>
            </a:pPr>
            <a:endParaRPr lang="en-AU"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36904" cy="1584176"/>
          </a:xfrm>
        </p:spPr>
        <p:txBody>
          <a:bodyPr>
            <a:normAutofit fontScale="90000"/>
          </a:bodyPr>
          <a:lstStyle/>
          <a:p>
            <a:pPr marL="895350" indent="-895350"/>
            <a:r>
              <a:rPr lang="en-AU" sz="3400" b="1" dirty="0" smtClean="0">
                <a:solidFill>
                  <a:srgbClr val="FF6600"/>
                </a:solidFill>
                <a:latin typeface="Helvetica" pitchFamily="34" charset="0"/>
              </a:rPr>
              <a:t>2.3	Define organisational expectations in relation to expected returns for different sponsorship packages </a:t>
            </a:r>
            <a:endParaRPr lang="en-AU" sz="3400" b="1" dirty="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7" name="Picture 6" descr="C:\Users\Quentin\AppData\Local\Microsoft\Windows\Temporary Internet Files\Content.IE5\225CUFF9\0503_expectations_Unnikrishna_Menon_Damodaran[1].jpg"/>
          <p:cNvPicPr/>
          <p:nvPr/>
        </p:nvPicPr>
        <p:blipFill>
          <a:blip r:embed="rId3" cstate="print"/>
          <a:srcRect/>
          <a:stretch>
            <a:fillRect/>
          </a:stretch>
        </p:blipFill>
        <p:spPr bwMode="auto">
          <a:xfrm>
            <a:off x="2771800" y="2204864"/>
            <a:ext cx="3456384" cy="345638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064896" cy="1296144"/>
          </a:xfrm>
        </p:spPr>
        <p:txBody>
          <a:bodyPr>
            <a:noAutofit/>
          </a:bodyPr>
          <a:lstStyle/>
          <a:p>
            <a:pPr marL="895350" indent="-895350"/>
            <a:r>
              <a:rPr lang="en-AU" sz="3000" b="1" dirty="0" smtClean="0">
                <a:solidFill>
                  <a:srgbClr val="FF6600"/>
                </a:solidFill>
                <a:latin typeface="Helvetica" pitchFamily="34" charset="0"/>
              </a:rPr>
              <a:t>2.4	Identify the input required by the organisation into sponsorship arrangements</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317381" cy="4536504"/>
          </a:xfrm>
        </p:spPr>
        <p:txBody>
          <a:bodyPr>
            <a:normAutofit/>
          </a:bodyPr>
          <a:lstStyle/>
          <a:p>
            <a:pPr marL="0" indent="0">
              <a:spcBef>
                <a:spcPts val="600"/>
              </a:spcBef>
              <a:spcAft>
                <a:spcPts val="1200"/>
              </a:spcAft>
              <a:buNone/>
            </a:pPr>
            <a:r>
              <a:rPr lang="en-AU" sz="2200" dirty="0" smtClean="0"/>
              <a:t>The amount of input required for a sponsorship activity can vary quite significantly ranging from little or no input to active involvement in all aspects of the event. Input could include:</a:t>
            </a:r>
            <a:endParaRPr lang="en-US" sz="2200" dirty="0" smtClean="0"/>
          </a:p>
          <a:p>
            <a:pPr marL="360000" indent="-360000">
              <a:spcBef>
                <a:spcPts val="600"/>
              </a:spcBef>
              <a:spcAft>
                <a:spcPts val="1200"/>
              </a:spcAft>
            </a:pPr>
            <a:r>
              <a:rPr lang="en-US" sz="2200" dirty="0" smtClean="0"/>
              <a:t>Zero </a:t>
            </a:r>
          </a:p>
          <a:p>
            <a:pPr marL="360000" indent="-360000">
              <a:spcBef>
                <a:spcPts val="600"/>
              </a:spcBef>
              <a:spcAft>
                <a:spcPts val="1200"/>
              </a:spcAft>
            </a:pPr>
            <a:r>
              <a:rPr lang="en-US" sz="2200" dirty="0" smtClean="0"/>
              <a:t>Planning and implementation</a:t>
            </a:r>
          </a:p>
          <a:p>
            <a:pPr marL="360000" indent="-360000">
              <a:spcBef>
                <a:spcPts val="600"/>
              </a:spcBef>
              <a:spcAft>
                <a:spcPts val="1200"/>
              </a:spcAft>
            </a:pPr>
            <a:r>
              <a:rPr lang="en-US" sz="2200" dirty="0" smtClean="0"/>
              <a:t>Promotional material and product </a:t>
            </a:r>
            <a:br>
              <a:rPr lang="en-US" sz="2200" dirty="0" smtClean="0"/>
            </a:br>
            <a:r>
              <a:rPr lang="en-US" sz="2200" dirty="0" smtClean="0"/>
              <a:t>placement</a:t>
            </a:r>
          </a:p>
          <a:p>
            <a:pPr marL="360000" indent="-360000">
              <a:spcBef>
                <a:spcPts val="600"/>
              </a:spcBef>
              <a:spcAft>
                <a:spcPts val="1200"/>
              </a:spcAft>
            </a:pPr>
            <a:r>
              <a:rPr lang="en-US" sz="2200" dirty="0" smtClean="0"/>
              <a:t>Deciding whether to include competitors in the activity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6" name="Picture 5" descr="C:\Users\Quentin\AppData\Local\Microsoft\Windows\Temporary Internet Files\Content.IE5\XCZRY9RX\problem-solvers[1].jpg"/>
          <p:cNvPicPr/>
          <p:nvPr/>
        </p:nvPicPr>
        <p:blipFill>
          <a:blip r:embed="rId3" cstate="print"/>
          <a:srcRect/>
          <a:stretch>
            <a:fillRect/>
          </a:stretch>
        </p:blipFill>
        <p:spPr bwMode="auto">
          <a:xfrm>
            <a:off x="5508104" y="3356992"/>
            <a:ext cx="2329435" cy="180020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40160"/>
          </a:xfrm>
        </p:spPr>
        <p:txBody>
          <a:bodyPr>
            <a:normAutofit fontScale="90000"/>
          </a:bodyPr>
          <a:lstStyle/>
          <a:p>
            <a:pPr marL="895350" indent="-895350"/>
            <a:r>
              <a:rPr lang="en-US" sz="3400" b="1" dirty="0" smtClean="0">
                <a:solidFill>
                  <a:srgbClr val="FF6600"/>
                </a:solidFill>
                <a:latin typeface="Helvetica" pitchFamily="34" charset="0"/>
              </a:rPr>
              <a:t>2.5	Develop and disseminate sponsorship information to potential partners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608512"/>
          </a:xfrm>
        </p:spPr>
        <p:txBody>
          <a:bodyPr>
            <a:normAutofit/>
          </a:bodyPr>
          <a:lstStyle/>
          <a:p>
            <a:pPr marL="0" indent="0">
              <a:spcBef>
                <a:spcPts val="600"/>
              </a:spcBef>
              <a:spcAft>
                <a:spcPts val="600"/>
              </a:spcAft>
              <a:buNone/>
            </a:pPr>
            <a:r>
              <a:rPr lang="en-US" sz="2200" dirty="0" smtClean="0"/>
              <a:t>It is necessary to provide information to potential partners that could include:</a:t>
            </a:r>
          </a:p>
          <a:p>
            <a:pPr>
              <a:spcBef>
                <a:spcPts val="600"/>
              </a:spcBef>
              <a:spcAft>
                <a:spcPts val="600"/>
              </a:spcAft>
            </a:pPr>
            <a:r>
              <a:rPr lang="en-AU" sz="2200" dirty="0" smtClean="0"/>
              <a:t>Preparing hard copy information that explains to targeted individuals and organisations what sponsorship is available from the host enterprise </a:t>
            </a:r>
            <a:endParaRPr lang="en-US" sz="2200" dirty="0" smtClean="0"/>
          </a:p>
          <a:p>
            <a:pPr>
              <a:spcBef>
                <a:spcPts val="600"/>
              </a:spcBef>
              <a:spcAft>
                <a:spcPts val="600"/>
              </a:spcAft>
            </a:pPr>
            <a:r>
              <a:rPr lang="en-AU" sz="2200" dirty="0" smtClean="0"/>
              <a:t>Forwarding sponsorship information kits to strategically targeted event and activity organisers </a:t>
            </a:r>
            <a:endParaRPr lang="en-US" sz="2200" dirty="0" smtClean="0"/>
          </a:p>
          <a:p>
            <a:pPr>
              <a:spcBef>
                <a:spcPts val="600"/>
              </a:spcBef>
              <a:spcAft>
                <a:spcPts val="600"/>
              </a:spcAft>
            </a:pPr>
            <a:r>
              <a:rPr lang="en-AU" sz="2200" dirty="0" smtClean="0"/>
              <a:t>Explaining sponsorship availability and requirements in response to enquiries generated </a:t>
            </a:r>
            <a:endParaRPr lang="en-US" sz="2200" dirty="0" smtClean="0"/>
          </a:p>
          <a:p>
            <a:pPr>
              <a:spcBef>
                <a:spcPts val="600"/>
              </a:spcBef>
              <a:spcAft>
                <a:spcPts val="600"/>
              </a:spcAft>
            </a:pPr>
            <a:r>
              <a:rPr lang="en-AU" sz="2200" dirty="0" smtClean="0"/>
              <a:t>Encouraging event organisers to apply for sponsorship </a:t>
            </a:r>
            <a:endParaRPr lang="en-US" sz="2200" dirty="0" smtClean="0"/>
          </a:p>
          <a:p>
            <a:pPr>
              <a:spcBef>
                <a:spcPts val="600"/>
              </a:spcBef>
              <a:spcAft>
                <a:spcPts val="600"/>
              </a:spcAft>
              <a:buNone/>
            </a:pPr>
            <a:endParaRPr lang="en-US" sz="2200" dirty="0" smtClean="0"/>
          </a:p>
          <a:p>
            <a:pPr marL="360000" indent="-360000">
              <a:spcBef>
                <a:spcPts val="600"/>
              </a:spcBef>
              <a:spcAft>
                <a:spcPts val="6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3: Implement Sponsorship Packages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200" b="1" dirty="0" smtClean="0">
                <a:latin typeface="Helvetica" pitchFamily="34" charset="0"/>
              </a:rPr>
              <a:t>Performance criteria includes: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grpSp>
        <p:nvGrpSpPr>
          <p:cNvPr id="5" name="Group 4"/>
          <p:cNvGrpSpPr/>
          <p:nvPr/>
        </p:nvGrpSpPr>
        <p:grpSpPr>
          <a:xfrm>
            <a:off x="-3852936" y="1385184"/>
            <a:ext cx="10568212" cy="5472816"/>
            <a:chOff x="-3910767" y="1268552"/>
            <a:chExt cx="10568212" cy="5472816"/>
          </a:xfrm>
        </p:grpSpPr>
        <p:sp>
          <p:nvSpPr>
            <p:cNvPr id="6" name="Block Arc 5"/>
            <p:cNvSpPr/>
            <p:nvPr/>
          </p:nvSpPr>
          <p:spPr>
            <a:xfrm>
              <a:off x="-3910767" y="1268552"/>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7" name="Group 6"/>
            <p:cNvGrpSpPr/>
            <p:nvPr/>
          </p:nvGrpSpPr>
          <p:grpSpPr>
            <a:xfrm>
              <a:off x="683568" y="2132856"/>
              <a:ext cx="5973877" cy="3683203"/>
              <a:chOff x="750504" y="2323254"/>
              <a:chExt cx="5973877" cy="3683203"/>
            </a:xfrm>
          </p:grpSpPr>
          <p:grpSp>
            <p:nvGrpSpPr>
              <p:cNvPr id="8" name="Group 7"/>
              <p:cNvGrpSpPr/>
              <p:nvPr/>
            </p:nvGrpSpPr>
            <p:grpSpPr>
              <a:xfrm>
                <a:off x="750504" y="2323254"/>
                <a:ext cx="5973877" cy="3683203"/>
                <a:chOff x="750504" y="2323254"/>
                <a:chExt cx="5973877" cy="3683203"/>
              </a:xfrm>
            </p:grpSpPr>
            <p:sp>
              <p:nvSpPr>
                <p:cNvPr id="14" name="Freeform 13"/>
                <p:cNvSpPr/>
                <p:nvPr/>
              </p:nvSpPr>
              <p:spPr>
                <a:xfrm>
                  <a:off x="1068106" y="2386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a:latin typeface="Helvetica" pitchFamily="34" charset="0"/>
                      <a:cs typeface="Helvetica" pitchFamily="34" charset="0"/>
                    </a:rPr>
                    <a:t>Confirm the details of the sponsorship the organisation is prepared to offer</a:t>
                  </a:r>
                  <a:endParaRPr lang="en-AU" sz="1500" kern="1200" dirty="0"/>
                </a:p>
              </p:txBody>
            </p:sp>
            <p:sp>
              <p:nvSpPr>
                <p:cNvPr id="15" name="Oval 14"/>
                <p:cNvSpPr/>
                <p:nvPr/>
              </p:nvSpPr>
              <p:spPr>
                <a:xfrm>
                  <a:off x="750504" y="2323254"/>
                  <a:ext cx="635203" cy="635203"/>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432240" y="3148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txBody>
                <a:bodyPr spcFirstLastPara="0" vert="horz" wrap="square" lIns="403354" tIns="38100" rIns="38100" bIns="38100" numCol="1" spcCol="1270" anchor="ctr" anchorCtr="0">
                  <a:noAutofit/>
                </a:bodyPr>
                <a:lstStyle/>
                <a:p>
                  <a:pPr marL="0" lvl="1" defTabSz="666750">
                    <a:lnSpc>
                      <a:spcPct val="90000"/>
                    </a:lnSpc>
                    <a:spcBef>
                      <a:spcPct val="0"/>
                    </a:spcBef>
                    <a:spcAft>
                      <a:spcPct val="35000"/>
                    </a:spcAft>
                  </a:pPr>
                  <a:r>
                    <a:rPr lang="en-AU" sz="1500" dirty="0">
                      <a:latin typeface="Helvetica" pitchFamily="34" charset="0"/>
                      <a:cs typeface="Helvetica" pitchFamily="34" charset="0"/>
                    </a:rPr>
                    <a:t>Confirm the return the organisation will receive for its </a:t>
                  </a:r>
                  <a:r>
                    <a:rPr lang="en-AU" sz="1500" dirty="0" smtClean="0">
                      <a:latin typeface="Helvetica" pitchFamily="34" charset="0"/>
                      <a:cs typeface="Helvetica" pitchFamily="34" charset="0"/>
                    </a:rPr>
                    <a:t>sponsorship</a:t>
                  </a:r>
                  <a:endParaRPr lang="en-US" sz="1500" dirty="0">
                    <a:latin typeface="Helvetica" pitchFamily="34" charset="0"/>
                    <a:cs typeface="Helvetica" pitchFamily="34" charset="0"/>
                  </a:endParaRPr>
                </a:p>
              </p:txBody>
            </p:sp>
            <p:sp>
              <p:nvSpPr>
                <p:cNvPr id="17" name="Oval 16"/>
                <p:cNvSpPr/>
                <p:nvPr/>
              </p:nvSpPr>
              <p:spPr>
                <a:xfrm>
                  <a:off x="1114639" y="3085254"/>
                  <a:ext cx="635203" cy="635203"/>
                </a:xfrm>
                <a:prstGeom prst="ellipse">
                  <a:avLst/>
                </a:prstGeom>
              </p:spPr>
              <p:style>
                <a:lnRef idx="2">
                  <a:schemeClr val="accent5">
                    <a:hueOff val="-774129"/>
                    <a:satOff val="7761"/>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8" name="Freeform 17"/>
                <p:cNvSpPr/>
                <p:nvPr/>
              </p:nvSpPr>
              <p:spPr>
                <a:xfrm>
                  <a:off x="1544000" y="3910774"/>
                  <a:ext cx="5180380" cy="508162"/>
                </a:xfrm>
                <a:custGeom>
                  <a:avLst/>
                  <a:gdLst>
                    <a:gd name="connsiteX0" fmla="*/ 0 w 5180380"/>
                    <a:gd name="connsiteY0" fmla="*/ 0 h 508162"/>
                    <a:gd name="connsiteX1" fmla="*/ 5180380 w 5180380"/>
                    <a:gd name="connsiteY1" fmla="*/ 0 h 508162"/>
                    <a:gd name="connsiteX2" fmla="*/ 5180380 w 5180380"/>
                    <a:gd name="connsiteY2" fmla="*/ 508162 h 508162"/>
                    <a:gd name="connsiteX3" fmla="*/ 0 w 5180380"/>
                    <a:gd name="connsiteY3" fmla="*/ 508162 h 508162"/>
                    <a:gd name="connsiteX4" fmla="*/ 0 w 518038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508162">
                      <a:moveTo>
                        <a:pt x="0" y="0"/>
                      </a:moveTo>
                      <a:lnTo>
                        <a:pt x="5180380" y="0"/>
                      </a:lnTo>
                      <a:lnTo>
                        <a:pt x="5180380" y="508162"/>
                      </a:lnTo>
                      <a:lnTo>
                        <a:pt x="0" y="508162"/>
                      </a:lnTo>
                      <a:lnTo>
                        <a:pt x="0" y="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403354" tIns="38100" rIns="38100" bIns="38100" numCol="1" spcCol="1270" anchor="ctr" anchorCtr="0">
                  <a:noAutofit/>
                </a:bodyPr>
                <a:lstStyle/>
                <a:p>
                  <a:pPr marL="0" lvl="1" defTabSz="666750">
                    <a:lnSpc>
                      <a:spcPct val="90000"/>
                    </a:lnSpc>
                    <a:spcBef>
                      <a:spcPct val="0"/>
                    </a:spcBef>
                    <a:spcAft>
                      <a:spcPct val="35000"/>
                    </a:spcAft>
                  </a:pPr>
                  <a:r>
                    <a:rPr lang="en-AU" sz="1500" dirty="0">
                      <a:latin typeface="Helvetica" pitchFamily="34" charset="0"/>
                      <a:cs typeface="Helvetica" pitchFamily="34" charset="0"/>
                    </a:rPr>
                    <a:t>Negotiate additional opportunities as a result of the initial </a:t>
                  </a:r>
                  <a:r>
                    <a:rPr lang="en-AU" sz="1500" dirty="0" smtClean="0">
                      <a:latin typeface="Helvetica" pitchFamily="34" charset="0"/>
                      <a:cs typeface="Helvetica" pitchFamily="34" charset="0"/>
                    </a:rPr>
                    <a:t>sponsorship</a:t>
                  </a:r>
                  <a:endParaRPr lang="en-AU" sz="1500" dirty="0">
                    <a:latin typeface="Helvetica" pitchFamily="34" charset="0"/>
                    <a:cs typeface="Helvetica" pitchFamily="34" charset="0"/>
                  </a:endParaRPr>
                </a:p>
              </p:txBody>
            </p:sp>
            <p:sp>
              <p:nvSpPr>
                <p:cNvPr id="19" name="Oval 18"/>
                <p:cNvSpPr/>
                <p:nvPr/>
              </p:nvSpPr>
              <p:spPr>
                <a:xfrm>
                  <a:off x="1226399" y="3847254"/>
                  <a:ext cx="635203" cy="635203"/>
                </a:xfrm>
                <a:prstGeom prst="ellipse">
                  <a:avLst/>
                </a:prstGeom>
              </p:spPr>
              <p:style>
                <a:lnRef idx="2">
                  <a:schemeClr val="accent5">
                    <a:hueOff val="-1548258"/>
                    <a:satOff val="15522"/>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Freeform 19"/>
                <p:cNvSpPr/>
                <p:nvPr/>
              </p:nvSpPr>
              <p:spPr>
                <a:xfrm>
                  <a:off x="1432240" y="4672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txBody>
                <a:bodyPr spcFirstLastPara="0" vert="horz" wrap="square" lIns="403354" tIns="38100" rIns="38100" bIns="38100" numCol="1" spcCol="1270" anchor="ctr" anchorCtr="0">
                  <a:noAutofit/>
                </a:bodyPr>
                <a:lstStyle/>
                <a:p>
                  <a:pPr marL="0" lvl="1" defTabSz="666750">
                    <a:lnSpc>
                      <a:spcPct val="90000"/>
                    </a:lnSpc>
                    <a:spcBef>
                      <a:spcPct val="0"/>
                    </a:spcBef>
                    <a:spcAft>
                      <a:spcPct val="35000"/>
                    </a:spcAft>
                  </a:pPr>
                  <a:r>
                    <a:rPr lang="en-AU" sz="1500" dirty="0">
                      <a:latin typeface="Helvetica" pitchFamily="34" charset="0"/>
                      <a:cs typeface="Helvetica" pitchFamily="34" charset="0"/>
                    </a:rPr>
                    <a:t>Complete contracts in relation to the </a:t>
                  </a:r>
                  <a:r>
                    <a:rPr lang="en-AU" sz="1500" dirty="0" smtClean="0">
                      <a:latin typeface="Helvetica" pitchFamily="34" charset="0"/>
                      <a:cs typeface="Helvetica" pitchFamily="34" charset="0"/>
                    </a:rPr>
                    <a:t>sponsorship</a:t>
                  </a:r>
                  <a:endParaRPr lang="en-AU" sz="1500" dirty="0">
                    <a:latin typeface="Helvetica" pitchFamily="34" charset="0"/>
                    <a:cs typeface="Helvetica" pitchFamily="34" charset="0"/>
                  </a:endParaRPr>
                </a:p>
              </p:txBody>
            </p:sp>
            <p:sp>
              <p:nvSpPr>
                <p:cNvPr id="21" name="Oval 20"/>
                <p:cNvSpPr/>
                <p:nvPr/>
              </p:nvSpPr>
              <p:spPr>
                <a:xfrm>
                  <a:off x="1114639" y="4609254"/>
                  <a:ext cx="635203" cy="635203"/>
                </a:xfrm>
                <a:prstGeom prst="ellipse">
                  <a:avLst/>
                </a:prstGeom>
              </p:spPr>
              <p:style>
                <a:lnRef idx="2">
                  <a:schemeClr val="accent5">
                    <a:hueOff val="-2322388"/>
                    <a:satOff val="23283"/>
                    <a:lumOff val="-16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2" name="Freeform 21"/>
                <p:cNvSpPr/>
                <p:nvPr/>
              </p:nvSpPr>
              <p:spPr>
                <a:xfrm>
                  <a:off x="1068106" y="5434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03354" tIns="38100" rIns="38100" bIns="38100" numCol="1" spcCol="1270" anchor="ctr" anchorCtr="0">
                  <a:noAutofit/>
                </a:bodyPr>
                <a:lstStyle/>
                <a:p>
                  <a:pPr marL="0" lvl="1" defTabSz="666750">
                    <a:lnSpc>
                      <a:spcPct val="90000"/>
                    </a:lnSpc>
                    <a:spcBef>
                      <a:spcPct val="0"/>
                    </a:spcBef>
                    <a:spcAft>
                      <a:spcPct val="35000"/>
                    </a:spcAft>
                  </a:pPr>
                  <a:r>
                    <a:rPr lang="en-AU" sz="1500" dirty="0">
                      <a:latin typeface="Helvetica" pitchFamily="34" charset="0"/>
                      <a:cs typeface="Helvetica" pitchFamily="34" charset="0"/>
                    </a:rPr>
                    <a:t>Brief staff in relation to the sponsorship deal that has been entered </a:t>
                  </a:r>
                  <a:r>
                    <a:rPr lang="en-AU" sz="1500" dirty="0" smtClean="0">
                      <a:latin typeface="Helvetica" pitchFamily="34" charset="0"/>
                      <a:cs typeface="Helvetica" pitchFamily="34" charset="0"/>
                    </a:rPr>
                    <a:t>into</a:t>
                  </a:r>
                  <a:endParaRPr lang="en-US" sz="1500" dirty="0"/>
                </a:p>
              </p:txBody>
            </p:sp>
            <p:sp>
              <p:nvSpPr>
                <p:cNvPr id="23" name="Oval 22"/>
                <p:cNvSpPr/>
                <p:nvPr/>
              </p:nvSpPr>
              <p:spPr>
                <a:xfrm>
                  <a:off x="750504" y="5371254"/>
                  <a:ext cx="635203" cy="635203"/>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9" name="TextBox 8"/>
              <p:cNvSpPr txBox="1"/>
              <p:nvPr/>
            </p:nvSpPr>
            <p:spPr>
              <a:xfrm>
                <a:off x="780074" y="2457763"/>
                <a:ext cx="576064" cy="323165"/>
              </a:xfrm>
              <a:prstGeom prst="rect">
                <a:avLst/>
              </a:prstGeom>
              <a:noFill/>
            </p:spPr>
            <p:txBody>
              <a:bodyPr wrap="square" rtlCol="0">
                <a:spAutoFit/>
              </a:bodyPr>
              <a:lstStyle/>
              <a:p>
                <a:pPr algn="ctr"/>
                <a:r>
                  <a:rPr lang="en-AU" sz="1500" b="1" dirty="0" smtClean="0">
                    <a:latin typeface="Helvetica" pitchFamily="34" charset="0"/>
                  </a:rPr>
                  <a:t>3.1</a:t>
                </a:r>
                <a:endParaRPr lang="en-AU" sz="1500" b="1" dirty="0">
                  <a:latin typeface="Helvetica" pitchFamily="34" charset="0"/>
                </a:endParaRPr>
              </a:p>
            </p:txBody>
          </p:sp>
          <p:sp>
            <p:nvSpPr>
              <p:cNvPr id="10" name="TextBox 9"/>
              <p:cNvSpPr txBox="1"/>
              <p:nvPr/>
            </p:nvSpPr>
            <p:spPr>
              <a:xfrm>
                <a:off x="1144208" y="3241272"/>
                <a:ext cx="576064" cy="323165"/>
              </a:xfrm>
              <a:prstGeom prst="rect">
                <a:avLst/>
              </a:prstGeom>
              <a:noFill/>
            </p:spPr>
            <p:txBody>
              <a:bodyPr wrap="square" rtlCol="0">
                <a:spAutoFit/>
              </a:bodyPr>
              <a:lstStyle/>
              <a:p>
                <a:pPr algn="ctr"/>
                <a:r>
                  <a:rPr lang="en-AU" sz="1500" b="1" dirty="0" smtClean="0">
                    <a:latin typeface="Helvetica" pitchFamily="34" charset="0"/>
                  </a:rPr>
                  <a:t>3.2</a:t>
                </a:r>
                <a:endParaRPr lang="en-AU" sz="1500" b="1" dirty="0">
                  <a:latin typeface="Helvetica" pitchFamily="34" charset="0"/>
                </a:endParaRPr>
              </a:p>
            </p:txBody>
          </p:sp>
          <p:sp>
            <p:nvSpPr>
              <p:cNvPr id="11" name="TextBox 10"/>
              <p:cNvSpPr txBox="1"/>
              <p:nvPr/>
            </p:nvSpPr>
            <p:spPr>
              <a:xfrm>
                <a:off x="1259632" y="4003274"/>
                <a:ext cx="576064" cy="323165"/>
              </a:xfrm>
              <a:prstGeom prst="rect">
                <a:avLst/>
              </a:prstGeom>
              <a:noFill/>
            </p:spPr>
            <p:txBody>
              <a:bodyPr wrap="square" rtlCol="0">
                <a:spAutoFit/>
              </a:bodyPr>
              <a:lstStyle/>
              <a:p>
                <a:pPr algn="ctr"/>
                <a:r>
                  <a:rPr lang="en-AU" sz="1500" b="1" dirty="0" smtClean="0">
                    <a:latin typeface="Helvetica" pitchFamily="34" charset="0"/>
                  </a:rPr>
                  <a:t>3.3</a:t>
                </a:r>
                <a:endParaRPr lang="en-AU" sz="1500" b="1" dirty="0">
                  <a:latin typeface="Helvetica" pitchFamily="34" charset="0"/>
                </a:endParaRPr>
              </a:p>
            </p:txBody>
          </p:sp>
          <p:sp>
            <p:nvSpPr>
              <p:cNvPr id="12" name="TextBox 11"/>
              <p:cNvSpPr txBox="1"/>
              <p:nvPr/>
            </p:nvSpPr>
            <p:spPr>
              <a:xfrm>
                <a:off x="1144208" y="4765272"/>
                <a:ext cx="576064" cy="323165"/>
              </a:xfrm>
              <a:prstGeom prst="rect">
                <a:avLst/>
              </a:prstGeom>
              <a:noFill/>
            </p:spPr>
            <p:txBody>
              <a:bodyPr wrap="square" rtlCol="0">
                <a:spAutoFit/>
              </a:bodyPr>
              <a:lstStyle/>
              <a:p>
                <a:pPr algn="ctr"/>
                <a:r>
                  <a:rPr lang="en-AU" sz="1500" b="1" dirty="0">
                    <a:latin typeface="Helvetica" pitchFamily="34" charset="0"/>
                  </a:rPr>
                  <a:t>3</a:t>
                </a:r>
                <a:r>
                  <a:rPr lang="en-AU" sz="1500" b="1" dirty="0" smtClean="0">
                    <a:latin typeface="Helvetica" pitchFamily="34" charset="0"/>
                  </a:rPr>
                  <a:t>.4</a:t>
                </a:r>
                <a:endParaRPr lang="en-AU" sz="1500" b="1" dirty="0">
                  <a:latin typeface="Helvetica" pitchFamily="34" charset="0"/>
                </a:endParaRPr>
              </a:p>
            </p:txBody>
          </p:sp>
          <p:sp>
            <p:nvSpPr>
              <p:cNvPr id="13" name="TextBox 12"/>
              <p:cNvSpPr txBox="1"/>
              <p:nvPr/>
            </p:nvSpPr>
            <p:spPr>
              <a:xfrm>
                <a:off x="793089" y="5527272"/>
                <a:ext cx="576064" cy="323165"/>
              </a:xfrm>
              <a:prstGeom prst="rect">
                <a:avLst/>
              </a:prstGeom>
              <a:noFill/>
            </p:spPr>
            <p:txBody>
              <a:bodyPr wrap="square" rtlCol="0">
                <a:spAutoFit/>
              </a:bodyPr>
              <a:lstStyle/>
              <a:p>
                <a:pPr algn="ctr"/>
                <a:r>
                  <a:rPr lang="en-AU" sz="1500" b="1" dirty="0" smtClean="0">
                    <a:latin typeface="Helvetica" pitchFamily="34" charset="0"/>
                  </a:rPr>
                  <a:t>3.5</a:t>
                </a:r>
                <a:endParaRPr lang="en-AU" sz="1500" b="1" dirty="0">
                  <a:latin typeface="Helvetica" pitchFamily="34" charset="0"/>
                </a:endParaRPr>
              </a:p>
            </p:txBody>
          </p:sp>
        </p:grpSp>
      </p:gr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3: Implement Sponsorship Packages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US" sz="2400" b="1" dirty="0" smtClean="0">
                <a:latin typeface="Helvetica" pitchFamily="34" charset="0"/>
                <a:cs typeface="Helvetica" pitchFamily="34" charset="0"/>
              </a:rPr>
              <a:t>Performance criteria: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grpSp>
        <p:nvGrpSpPr>
          <p:cNvPr id="6" name="Group 5"/>
          <p:cNvGrpSpPr/>
          <p:nvPr/>
        </p:nvGrpSpPr>
        <p:grpSpPr>
          <a:xfrm>
            <a:off x="-3852936" y="1524450"/>
            <a:ext cx="10635148" cy="5472816"/>
            <a:chOff x="-3910767" y="1356441"/>
            <a:chExt cx="10635148" cy="5472816"/>
          </a:xfrm>
        </p:grpSpPr>
        <p:grpSp>
          <p:nvGrpSpPr>
            <p:cNvPr id="7" name="Group 6"/>
            <p:cNvGrpSpPr/>
            <p:nvPr/>
          </p:nvGrpSpPr>
          <p:grpSpPr>
            <a:xfrm>
              <a:off x="-3910767" y="1356441"/>
              <a:ext cx="10635148" cy="5472816"/>
              <a:chOff x="-3910767" y="1356441"/>
              <a:chExt cx="10635148" cy="5472816"/>
            </a:xfrm>
          </p:grpSpPr>
          <p:sp>
            <p:nvSpPr>
              <p:cNvPr id="12" name="Block Arc 11"/>
              <p:cNvSpPr/>
              <p:nvPr/>
            </p:nvSpPr>
            <p:spPr>
              <a:xfrm>
                <a:off x="-3910767" y="1356441"/>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sp>
            <p:nvSpPr>
              <p:cNvPr id="13" name="Freeform 12"/>
              <p:cNvSpPr/>
              <p:nvPr/>
            </p:nvSpPr>
            <p:spPr>
              <a:xfrm>
                <a:off x="1143696" y="2373288"/>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96257" tIns="38100" rIns="38100" bIns="38100" numCol="1" spcCol="1270" anchor="ctr" anchorCtr="0">
                <a:noAutofit/>
              </a:bodyPr>
              <a:lstStyle/>
              <a:p>
                <a:pPr marL="0" lvl="1">
                  <a:spcBef>
                    <a:spcPts val="600"/>
                  </a:spcBef>
                  <a:spcAft>
                    <a:spcPts val="1200"/>
                  </a:spcAft>
                  <a:buSzPct val="80000"/>
                </a:pPr>
                <a:r>
                  <a:rPr lang="en-AU" sz="1600" dirty="0">
                    <a:latin typeface="Helvetica" pitchFamily="34" charset="0"/>
                    <a:cs typeface="Helvetica" pitchFamily="34" charset="0"/>
                  </a:rPr>
                  <a:t>Participate actively and willingly in the sponsored event/activity</a:t>
                </a:r>
              </a:p>
            </p:txBody>
          </p:sp>
          <p:sp>
            <p:nvSpPr>
              <p:cNvPr id="14" name="Oval 13"/>
              <p:cNvSpPr/>
              <p:nvPr/>
            </p:nvSpPr>
            <p:spPr>
              <a:xfrm>
                <a:off x="752943" y="2295137"/>
                <a:ext cx="781507" cy="781507"/>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5" name="Freeform 14"/>
              <p:cNvSpPr/>
              <p:nvPr/>
            </p:nvSpPr>
            <p:spPr>
              <a:xfrm>
                <a:off x="1502141" y="3311259"/>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5">
                  <a:hueOff val="-1032172"/>
                  <a:satOff val="10348"/>
                  <a:lumOff val="-7190"/>
                  <a:alphaOff val="0"/>
                </a:schemeClr>
              </a:fillRef>
              <a:effectRef idx="0">
                <a:schemeClr val="accent5">
                  <a:hueOff val="-1032172"/>
                  <a:satOff val="10348"/>
                  <a:lumOff val="-7190"/>
                  <a:alphaOff val="0"/>
                </a:schemeClr>
              </a:effectRef>
              <a:fontRef idx="minor">
                <a:schemeClr val="lt1"/>
              </a:fontRef>
            </p:style>
            <p:txBody>
              <a:bodyPr spcFirstLastPara="0" vert="horz" wrap="square" lIns="496257" tIns="38100" rIns="38100" bIns="38100" numCol="1" spcCol="1270" anchor="ctr" anchorCtr="0">
                <a:noAutofit/>
              </a:bodyPr>
              <a:lstStyle/>
              <a:p>
                <a:pPr marL="0" lvl="1">
                  <a:spcBef>
                    <a:spcPts val="600"/>
                  </a:spcBef>
                  <a:spcAft>
                    <a:spcPts val="1200"/>
                  </a:spcAft>
                  <a:buSzPct val="80000"/>
                </a:pPr>
                <a:r>
                  <a:rPr lang="en-AU" sz="1600" dirty="0">
                    <a:latin typeface="Helvetica" pitchFamily="34" charset="0"/>
                    <a:cs typeface="Helvetica" pitchFamily="34" charset="0"/>
                  </a:rPr>
                  <a:t>Ensure the terms and conditions of the sponsorship agreement are discharged</a:t>
                </a:r>
                <a:endParaRPr lang="en-US" sz="1600" dirty="0">
                  <a:latin typeface="Helvetica" pitchFamily="34" charset="0"/>
                  <a:cs typeface="Helvetica" pitchFamily="34" charset="0"/>
                </a:endParaRPr>
              </a:p>
            </p:txBody>
          </p:sp>
          <p:sp>
            <p:nvSpPr>
              <p:cNvPr id="16" name="Oval 15"/>
              <p:cNvSpPr/>
              <p:nvPr/>
            </p:nvSpPr>
            <p:spPr>
              <a:xfrm>
                <a:off x="1111387" y="3233108"/>
                <a:ext cx="781507" cy="781507"/>
              </a:xfrm>
              <a:prstGeom prst="ellipse">
                <a:avLst/>
              </a:prstGeom>
            </p:spPr>
            <p:style>
              <a:lnRef idx="2">
                <a:schemeClr val="accent5">
                  <a:hueOff val="-1032172"/>
                  <a:satOff val="10348"/>
                  <a:lumOff val="-719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7" name="Freeform 16"/>
              <p:cNvSpPr/>
              <p:nvPr/>
            </p:nvSpPr>
            <p:spPr>
              <a:xfrm>
                <a:off x="1502141" y="4249230"/>
                <a:ext cx="5222240" cy="625205"/>
              </a:xfrm>
              <a:custGeom>
                <a:avLst/>
                <a:gdLst>
                  <a:gd name="connsiteX0" fmla="*/ 0 w 5222240"/>
                  <a:gd name="connsiteY0" fmla="*/ 0 h 625205"/>
                  <a:gd name="connsiteX1" fmla="*/ 5222240 w 5222240"/>
                  <a:gd name="connsiteY1" fmla="*/ 0 h 625205"/>
                  <a:gd name="connsiteX2" fmla="*/ 5222240 w 5222240"/>
                  <a:gd name="connsiteY2" fmla="*/ 625205 h 625205"/>
                  <a:gd name="connsiteX3" fmla="*/ 0 w 5222240"/>
                  <a:gd name="connsiteY3" fmla="*/ 625205 h 625205"/>
                  <a:gd name="connsiteX4" fmla="*/ 0 w 5222240"/>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2240" h="625205">
                    <a:moveTo>
                      <a:pt x="0" y="0"/>
                    </a:moveTo>
                    <a:lnTo>
                      <a:pt x="5222240" y="0"/>
                    </a:lnTo>
                    <a:lnTo>
                      <a:pt x="5222240" y="625205"/>
                    </a:lnTo>
                    <a:lnTo>
                      <a:pt x="0" y="625205"/>
                    </a:lnTo>
                    <a:lnTo>
                      <a:pt x="0" y="0"/>
                    </a:lnTo>
                    <a:close/>
                  </a:path>
                </a:pathLst>
              </a:custGeom>
            </p:spPr>
            <p:style>
              <a:lnRef idx="2">
                <a:schemeClr val="lt1">
                  <a:hueOff val="0"/>
                  <a:satOff val="0"/>
                  <a:lumOff val="0"/>
                  <a:alphaOff val="0"/>
                </a:schemeClr>
              </a:lnRef>
              <a:fillRef idx="1">
                <a:schemeClr val="accent5">
                  <a:hueOff val="-2064345"/>
                  <a:satOff val="20696"/>
                  <a:lumOff val="-14379"/>
                  <a:alphaOff val="0"/>
                </a:schemeClr>
              </a:fillRef>
              <a:effectRef idx="0">
                <a:schemeClr val="accent5">
                  <a:hueOff val="-2064345"/>
                  <a:satOff val="20696"/>
                  <a:lumOff val="-14379"/>
                  <a:alphaOff val="0"/>
                </a:schemeClr>
              </a:effectRef>
              <a:fontRef idx="minor">
                <a:schemeClr val="lt1"/>
              </a:fontRef>
            </p:style>
            <p:txBody>
              <a:bodyPr spcFirstLastPara="0" vert="horz" wrap="square" lIns="496257" tIns="38100" rIns="38100" bIns="38100" numCol="1" spcCol="1270" anchor="ctr" anchorCtr="0">
                <a:noAutofit/>
              </a:bodyPr>
              <a:lstStyle/>
              <a:p>
                <a:pPr marL="0" lvl="1">
                  <a:spcBef>
                    <a:spcPts val="600"/>
                  </a:spcBef>
                  <a:spcAft>
                    <a:spcPts val="1200"/>
                  </a:spcAft>
                  <a:buSzPct val="80000"/>
                </a:pPr>
                <a:r>
                  <a:rPr lang="en-AU" sz="1600" dirty="0">
                    <a:latin typeface="Helvetica" pitchFamily="34" charset="0"/>
                    <a:cs typeface="Helvetica" pitchFamily="34" charset="0"/>
                  </a:rPr>
                  <a:t>Monitor the application of sponsorship contributions, as previously established</a:t>
                </a:r>
                <a:endParaRPr lang="en-US" sz="1600" dirty="0">
                  <a:latin typeface="Helvetica" pitchFamily="34" charset="0"/>
                  <a:cs typeface="Helvetica" pitchFamily="34" charset="0"/>
                </a:endParaRPr>
              </a:p>
            </p:txBody>
          </p:sp>
          <p:sp>
            <p:nvSpPr>
              <p:cNvPr id="18" name="Oval 17"/>
              <p:cNvSpPr/>
              <p:nvPr/>
            </p:nvSpPr>
            <p:spPr>
              <a:xfrm>
                <a:off x="1111387" y="4171080"/>
                <a:ext cx="781507" cy="781507"/>
              </a:xfrm>
              <a:prstGeom prst="ellipse">
                <a:avLst/>
              </a:prstGeom>
            </p:spPr>
            <p:style>
              <a:lnRef idx="2">
                <a:schemeClr val="accent5">
                  <a:hueOff val="-2064345"/>
                  <a:satOff val="20696"/>
                  <a:lumOff val="-1437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9" name="Freeform 18"/>
              <p:cNvSpPr/>
              <p:nvPr/>
            </p:nvSpPr>
            <p:spPr>
              <a:xfrm>
                <a:off x="1143696" y="5187201"/>
                <a:ext cx="5580684" cy="625205"/>
              </a:xfrm>
              <a:custGeom>
                <a:avLst/>
                <a:gdLst>
                  <a:gd name="connsiteX0" fmla="*/ 0 w 5580684"/>
                  <a:gd name="connsiteY0" fmla="*/ 0 h 625205"/>
                  <a:gd name="connsiteX1" fmla="*/ 5580684 w 5580684"/>
                  <a:gd name="connsiteY1" fmla="*/ 0 h 625205"/>
                  <a:gd name="connsiteX2" fmla="*/ 5580684 w 5580684"/>
                  <a:gd name="connsiteY2" fmla="*/ 625205 h 625205"/>
                  <a:gd name="connsiteX3" fmla="*/ 0 w 5580684"/>
                  <a:gd name="connsiteY3" fmla="*/ 625205 h 625205"/>
                  <a:gd name="connsiteX4" fmla="*/ 0 w 5580684"/>
                  <a:gd name="connsiteY4" fmla="*/ 0 h 625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80684" h="625205">
                    <a:moveTo>
                      <a:pt x="0" y="0"/>
                    </a:moveTo>
                    <a:lnTo>
                      <a:pt x="5580684" y="0"/>
                    </a:lnTo>
                    <a:lnTo>
                      <a:pt x="5580684" y="625205"/>
                    </a:lnTo>
                    <a:lnTo>
                      <a:pt x="0" y="625205"/>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96257" tIns="38100" rIns="38100" bIns="38100" numCol="1" spcCol="1270" anchor="ctr" anchorCtr="0">
                <a:noAutofit/>
              </a:bodyPr>
              <a:lstStyle/>
              <a:p>
                <a:pPr marL="0" lvl="1">
                  <a:spcBef>
                    <a:spcPts val="600"/>
                  </a:spcBef>
                  <a:spcAft>
                    <a:spcPts val="1200"/>
                  </a:spcAft>
                  <a:buSzPct val="80000"/>
                </a:pPr>
                <a:r>
                  <a:rPr lang="en-AU" sz="1600" dirty="0">
                    <a:latin typeface="Helvetica" pitchFamily="34" charset="0"/>
                    <a:cs typeface="Helvetica" pitchFamily="34" charset="0"/>
                  </a:rPr>
                  <a:t>Record results and outcomes of participation in the sponsorship, as previously determined</a:t>
                </a:r>
                <a:endParaRPr lang="en-US" sz="1600" dirty="0">
                  <a:latin typeface="Helvetica" pitchFamily="34" charset="0"/>
                  <a:cs typeface="Helvetica" pitchFamily="34" charset="0"/>
                </a:endParaRPr>
              </a:p>
            </p:txBody>
          </p:sp>
          <p:sp>
            <p:nvSpPr>
              <p:cNvPr id="20" name="Oval 19"/>
              <p:cNvSpPr/>
              <p:nvPr/>
            </p:nvSpPr>
            <p:spPr>
              <a:xfrm>
                <a:off x="752943" y="5109051"/>
                <a:ext cx="781507" cy="781507"/>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8" name="TextBox 7"/>
            <p:cNvSpPr txBox="1"/>
            <p:nvPr/>
          </p:nvSpPr>
          <p:spPr>
            <a:xfrm>
              <a:off x="791580" y="2529771"/>
              <a:ext cx="684076" cy="323165"/>
            </a:xfrm>
            <a:prstGeom prst="rect">
              <a:avLst/>
            </a:prstGeom>
            <a:noFill/>
          </p:spPr>
          <p:txBody>
            <a:bodyPr wrap="square" rtlCol="0">
              <a:spAutoFit/>
            </a:bodyPr>
            <a:lstStyle/>
            <a:p>
              <a:pPr algn="ctr"/>
              <a:r>
                <a:rPr lang="en-AU" sz="1500" b="1" dirty="0">
                  <a:latin typeface="Helvetica" pitchFamily="34" charset="0"/>
                </a:rPr>
                <a:t>3</a:t>
              </a:r>
              <a:r>
                <a:rPr lang="en-AU" sz="1500" b="1" dirty="0" smtClean="0">
                  <a:latin typeface="Helvetica" pitchFamily="34" charset="0"/>
                </a:rPr>
                <a:t>.6</a:t>
              </a:r>
              <a:endParaRPr lang="en-AU" sz="1500" b="1" dirty="0">
                <a:latin typeface="Helvetica" pitchFamily="34" charset="0"/>
              </a:endParaRPr>
            </a:p>
          </p:txBody>
        </p:sp>
        <p:sp>
          <p:nvSpPr>
            <p:cNvPr id="9" name="TextBox 8"/>
            <p:cNvSpPr txBox="1"/>
            <p:nvPr/>
          </p:nvSpPr>
          <p:spPr>
            <a:xfrm>
              <a:off x="1187624" y="3465875"/>
              <a:ext cx="648072" cy="323165"/>
            </a:xfrm>
            <a:prstGeom prst="rect">
              <a:avLst/>
            </a:prstGeom>
            <a:noFill/>
          </p:spPr>
          <p:txBody>
            <a:bodyPr wrap="square" rtlCol="0">
              <a:spAutoFit/>
            </a:bodyPr>
            <a:lstStyle/>
            <a:p>
              <a:pPr algn="ctr"/>
              <a:r>
                <a:rPr lang="en-AU" sz="1500" b="1" dirty="0" smtClean="0">
                  <a:latin typeface="Helvetica" pitchFamily="34" charset="0"/>
                </a:rPr>
                <a:t>3.7</a:t>
              </a:r>
              <a:endParaRPr lang="en-AU" sz="1500" b="1" dirty="0">
                <a:latin typeface="Helvetica" pitchFamily="34" charset="0"/>
              </a:endParaRPr>
            </a:p>
          </p:txBody>
        </p:sp>
        <p:sp>
          <p:nvSpPr>
            <p:cNvPr id="10" name="TextBox 9"/>
            <p:cNvSpPr txBox="1"/>
            <p:nvPr/>
          </p:nvSpPr>
          <p:spPr>
            <a:xfrm>
              <a:off x="1159564" y="4422973"/>
              <a:ext cx="648072" cy="323165"/>
            </a:xfrm>
            <a:prstGeom prst="rect">
              <a:avLst/>
            </a:prstGeom>
            <a:noFill/>
          </p:spPr>
          <p:txBody>
            <a:bodyPr wrap="square" rtlCol="0">
              <a:spAutoFit/>
            </a:bodyPr>
            <a:lstStyle/>
            <a:p>
              <a:pPr algn="ctr"/>
              <a:r>
                <a:rPr lang="en-AU" sz="1500" b="1" dirty="0" smtClean="0">
                  <a:latin typeface="Helvetica" pitchFamily="34" charset="0"/>
                </a:rPr>
                <a:t>3.8</a:t>
              </a:r>
              <a:endParaRPr lang="en-AU" sz="1500" b="1" dirty="0">
                <a:latin typeface="Helvetica" pitchFamily="34" charset="0"/>
              </a:endParaRPr>
            </a:p>
          </p:txBody>
        </p:sp>
        <p:sp>
          <p:nvSpPr>
            <p:cNvPr id="11" name="TextBox 10"/>
            <p:cNvSpPr txBox="1"/>
            <p:nvPr/>
          </p:nvSpPr>
          <p:spPr>
            <a:xfrm>
              <a:off x="809582" y="5373216"/>
              <a:ext cx="648072" cy="323165"/>
            </a:xfrm>
            <a:prstGeom prst="rect">
              <a:avLst/>
            </a:prstGeom>
            <a:noFill/>
          </p:spPr>
          <p:txBody>
            <a:bodyPr wrap="square" rtlCol="0">
              <a:spAutoFit/>
            </a:bodyPr>
            <a:lstStyle/>
            <a:p>
              <a:pPr algn="ctr"/>
              <a:r>
                <a:rPr lang="en-AU" sz="1500" b="1" dirty="0">
                  <a:latin typeface="Helvetica" pitchFamily="34" charset="0"/>
                </a:rPr>
                <a:t>3</a:t>
              </a:r>
              <a:r>
                <a:rPr lang="en-AU" sz="1500" b="1" dirty="0" smtClean="0">
                  <a:latin typeface="Helvetica" pitchFamily="34" charset="0"/>
                </a:rPr>
                <a:t>.9</a:t>
              </a:r>
              <a:endParaRPr lang="en-AU" sz="1500" b="1" dirty="0">
                <a:latin typeface="Helvetica" pitchFamily="34" charset="0"/>
              </a:endParaRPr>
            </a:p>
          </p:txBody>
        </p:sp>
      </p:gr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12168"/>
          </a:xfrm>
        </p:spPr>
        <p:txBody>
          <a:bodyPr>
            <a:noAutofit/>
          </a:bodyPr>
          <a:lstStyle/>
          <a:p>
            <a:pPr marL="895350" indent="-895350"/>
            <a:r>
              <a:rPr lang="en-AU" sz="3000" b="1" dirty="0" smtClean="0">
                <a:solidFill>
                  <a:srgbClr val="FF6600"/>
                </a:solidFill>
                <a:latin typeface="Helvetica" pitchFamily="34" charset="0"/>
              </a:rPr>
              <a:t>3.1	Confirm the details of the sponsorship the organisation is prepared to offer </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rmAutofit/>
          </a:bodyPr>
          <a:lstStyle/>
          <a:p>
            <a:pPr marL="0" indent="0">
              <a:lnSpc>
                <a:spcPts val="3100"/>
              </a:lnSpc>
              <a:spcBef>
                <a:spcPts val="600"/>
              </a:spcBef>
              <a:spcAft>
                <a:spcPts val="1200"/>
              </a:spcAft>
              <a:buNone/>
            </a:pPr>
            <a:r>
              <a:rPr lang="en-AU" sz="2200" dirty="0" smtClean="0"/>
              <a:t>When conforming sponsorship activity details, it is important to confirm:</a:t>
            </a:r>
          </a:p>
          <a:p>
            <a:pPr>
              <a:lnSpc>
                <a:spcPts val="3100"/>
              </a:lnSpc>
              <a:spcBef>
                <a:spcPts val="600"/>
              </a:spcBef>
              <a:spcAft>
                <a:spcPts val="1200"/>
              </a:spcAft>
            </a:pPr>
            <a:r>
              <a:rPr lang="en-AU" sz="2200" dirty="0" smtClean="0"/>
              <a:t>Identification and description of </a:t>
            </a:r>
            <a:br>
              <a:rPr lang="en-AU" sz="2200" dirty="0" smtClean="0"/>
            </a:br>
            <a:r>
              <a:rPr lang="en-AU" sz="2200" dirty="0" smtClean="0"/>
              <a:t>all levels of sponsorship offered </a:t>
            </a:r>
            <a:br>
              <a:rPr lang="en-AU" sz="2200" dirty="0" smtClean="0"/>
            </a:br>
            <a:r>
              <a:rPr lang="en-AU" sz="2200" dirty="0" smtClean="0"/>
              <a:t>by the organisation – this refers </a:t>
            </a:r>
            <a:br>
              <a:rPr lang="en-AU" sz="2200" dirty="0" smtClean="0"/>
            </a:br>
            <a:r>
              <a:rPr lang="en-AU" sz="2200" dirty="0" smtClean="0"/>
              <a:t>to how the different sponsorship </a:t>
            </a:r>
            <a:br>
              <a:rPr lang="en-AU" sz="2200" dirty="0" smtClean="0"/>
            </a:br>
            <a:r>
              <a:rPr lang="en-AU" sz="2200" dirty="0" smtClean="0"/>
              <a:t>levels are classified </a:t>
            </a:r>
            <a:br>
              <a:rPr lang="en-AU" sz="2200" dirty="0" smtClean="0"/>
            </a:br>
            <a:r>
              <a:rPr lang="en-AU" sz="2200" dirty="0" smtClean="0"/>
              <a:t>(in effect, ‘packages’) that will be offered</a:t>
            </a:r>
          </a:p>
          <a:p>
            <a:pPr marL="360000" indent="-360000">
              <a:lnSpc>
                <a:spcPts val="3100"/>
              </a:lnSpc>
              <a:spcBef>
                <a:spcPts val="600"/>
              </a:spcBef>
              <a:spcAft>
                <a:spcPts val="1200"/>
              </a:spcAft>
              <a:buNone/>
            </a:pPr>
            <a:endParaRPr lang="en-AU" sz="2200" dirty="0" smtClean="0"/>
          </a:p>
          <a:p>
            <a:pPr marL="360000" indent="-360000">
              <a:lnSpc>
                <a:spcPts val="3100"/>
              </a:lnSpc>
              <a:spcBef>
                <a:spcPts val="600"/>
              </a:spcBef>
              <a:spcAft>
                <a:spcPts val="1200"/>
              </a:spcAft>
              <a:buNone/>
            </a:pPr>
            <a:endParaRPr lang="en-AU"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6" name="Picture 5" descr="C:\Users\Quentin\AppData\Local\Microsoft\Windows\Temporary Internet Files\Content.IE5\19YMNHS8\tick-160426_640[1].png"/>
          <p:cNvPicPr/>
          <p:nvPr/>
        </p:nvPicPr>
        <p:blipFill>
          <a:blip r:embed="rId3" cstate="print"/>
          <a:srcRect/>
          <a:stretch>
            <a:fillRect/>
          </a:stretch>
        </p:blipFill>
        <p:spPr bwMode="auto">
          <a:xfrm>
            <a:off x="5868144" y="2636912"/>
            <a:ext cx="2183210" cy="216024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40160"/>
          </a:xfrm>
        </p:spPr>
        <p:txBody>
          <a:bodyPr>
            <a:noAutofit/>
          </a:bodyPr>
          <a:lstStyle/>
          <a:p>
            <a:pPr marL="895350" indent="-895350"/>
            <a:r>
              <a:rPr lang="en-AU" sz="3000" b="1" dirty="0" smtClean="0">
                <a:solidFill>
                  <a:srgbClr val="FF6600"/>
                </a:solidFill>
                <a:latin typeface="Helvetica" pitchFamily="34" charset="0"/>
              </a:rPr>
              <a:t>3.1	Confirm the details of the sponsorship the organisation is prepared to offer</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467600" cy="4093915"/>
          </a:xfrm>
        </p:spPr>
        <p:txBody>
          <a:bodyPr>
            <a:normAutofit/>
          </a:bodyPr>
          <a:lstStyle/>
          <a:p>
            <a:pPr marL="0" indent="0">
              <a:spcBef>
                <a:spcPts val="600"/>
              </a:spcBef>
              <a:spcAft>
                <a:spcPts val="1200"/>
              </a:spcAft>
              <a:buNone/>
            </a:pPr>
            <a:r>
              <a:rPr lang="en-AU" sz="2200" dirty="0" smtClean="0"/>
              <a:t>When confirming the details of the sponsorship it may be necessary to include</a:t>
            </a:r>
            <a:r>
              <a:rPr lang="en-US" sz="2200" dirty="0" smtClean="0"/>
              <a:t>:</a:t>
            </a:r>
          </a:p>
          <a:p>
            <a:pPr>
              <a:spcBef>
                <a:spcPts val="600"/>
              </a:spcBef>
              <a:spcAft>
                <a:spcPts val="1200"/>
              </a:spcAft>
            </a:pPr>
            <a:r>
              <a:rPr lang="en-AU" sz="2200" dirty="0" smtClean="0"/>
              <a:t>Clarifying elements of existing </a:t>
            </a:r>
            <a:br>
              <a:rPr lang="en-AU" sz="2200" dirty="0" smtClean="0"/>
            </a:br>
            <a:r>
              <a:rPr lang="en-AU" sz="2200" dirty="0" smtClean="0"/>
              <a:t>sponsorship packages</a:t>
            </a:r>
            <a:endParaRPr lang="en-US" sz="2200" dirty="0" smtClean="0"/>
          </a:p>
          <a:p>
            <a:pPr>
              <a:spcBef>
                <a:spcPts val="600"/>
              </a:spcBef>
              <a:spcAft>
                <a:spcPts val="1200"/>
              </a:spcAft>
            </a:pPr>
            <a:r>
              <a:rPr lang="en-AU" sz="2200" dirty="0" smtClean="0"/>
              <a:t>Negotiating variations to standard </a:t>
            </a:r>
            <a:br>
              <a:rPr lang="en-AU" sz="2200" dirty="0" smtClean="0"/>
            </a:br>
            <a:r>
              <a:rPr lang="en-AU" sz="2200" dirty="0" smtClean="0"/>
              <a:t>sponsorship packages</a:t>
            </a:r>
            <a:endParaRPr lang="en-US" sz="2200" dirty="0" smtClean="0"/>
          </a:p>
          <a:p>
            <a:pPr>
              <a:spcBef>
                <a:spcPts val="600"/>
              </a:spcBef>
              <a:spcAft>
                <a:spcPts val="1200"/>
              </a:spcAft>
            </a:pPr>
            <a:r>
              <a:rPr lang="en-AU" sz="2200" dirty="0" smtClean="0"/>
              <a:t>Meeting with event organisers, boards </a:t>
            </a:r>
            <a:br>
              <a:rPr lang="en-AU" sz="2200" dirty="0" smtClean="0"/>
            </a:br>
            <a:r>
              <a:rPr lang="en-AU" sz="2200" dirty="0" smtClean="0"/>
              <a:t>and committees</a:t>
            </a: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8184" y="2924944"/>
            <a:ext cx="1956048" cy="19560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heel(1)">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368152"/>
          </a:xfrm>
        </p:spPr>
        <p:txBody>
          <a:bodyPr>
            <a:normAutofit fontScale="90000"/>
          </a:bodyPr>
          <a:lstStyle/>
          <a:p>
            <a:pPr marL="895350" indent="-895350"/>
            <a:r>
              <a:rPr lang="en-AU" sz="3400" b="1" dirty="0" smtClean="0">
                <a:solidFill>
                  <a:srgbClr val="FF6600"/>
                </a:solidFill>
                <a:latin typeface="Helvetica" pitchFamily="34" charset="0"/>
              </a:rPr>
              <a:t>3.2	Confirm the return the organisation will receive  for its sponsorship</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680520"/>
          </a:xfrm>
        </p:spPr>
        <p:txBody>
          <a:bodyPr>
            <a:noAutofit/>
          </a:bodyPr>
          <a:lstStyle/>
          <a:p>
            <a:pPr marL="0" indent="0">
              <a:spcBef>
                <a:spcPts val="600"/>
              </a:spcBef>
              <a:spcAft>
                <a:spcPts val="600"/>
              </a:spcAft>
              <a:buNone/>
            </a:pPr>
            <a:r>
              <a:rPr lang="en-US" sz="1800" dirty="0" smtClean="0">
                <a:latin typeface="Helvetica" pitchFamily="34" charset="0"/>
                <a:cs typeface="Helvetica" pitchFamily="34" charset="0"/>
              </a:rPr>
              <a:t>Eight stages of the </a:t>
            </a:r>
            <a:r>
              <a:rPr lang="en-AU" sz="1800" dirty="0" smtClean="0">
                <a:latin typeface="Helvetica" pitchFamily="34" charset="0"/>
                <a:cs typeface="Helvetica" pitchFamily="34" charset="0"/>
              </a:rPr>
              <a:t>‘The Sponsorship Unit Relationship Model'</a:t>
            </a:r>
            <a:r>
              <a:rPr lang="en-US" sz="1800" dirty="0" smtClean="0">
                <a:latin typeface="Helvetica" pitchFamily="34" charset="0"/>
                <a:cs typeface="Helvetica" pitchFamily="34" charset="0"/>
              </a:rPr>
              <a:t>:</a:t>
            </a:r>
          </a:p>
          <a:p>
            <a:pPr>
              <a:spcBef>
                <a:spcPts val="600"/>
              </a:spcBef>
              <a:spcAft>
                <a:spcPts val="600"/>
              </a:spcAft>
            </a:pPr>
            <a:r>
              <a:rPr lang="en-AU" sz="1800" dirty="0" smtClean="0">
                <a:latin typeface="Helvetica" pitchFamily="34" charset="0"/>
                <a:cs typeface="Helvetica" pitchFamily="34" charset="0"/>
              </a:rPr>
              <a:t>The Attraction – between the two parties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The Approach – where one party introduces themselves to the other</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Courting – where the schmoozing occurs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Proposal – where ‘the question’ is asked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Engagement – where a positive answer to the question is received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Marriage – where  the contract is signed and the benefits start flowing</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Affairs – where you/the Club looks for other sponsors, and/or your sponsor looks for other sponsorees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Divorce – where the relationship ends</a:t>
            </a:r>
            <a:endParaRPr lang="en-US" sz="1800" dirty="0" smtClean="0">
              <a:latin typeface="Helvetica" pitchFamily="34" charset="0"/>
              <a:cs typeface="Helvetica" pitchFamily="34" charset="0"/>
            </a:endParaRPr>
          </a:p>
          <a:p>
            <a:pPr marL="360000" indent="-360000">
              <a:spcBef>
                <a:spcPts val="600"/>
              </a:spcBef>
              <a:spcAft>
                <a:spcPts val="600"/>
              </a:spcAft>
            </a:pPr>
            <a:endParaRPr lang="en-US" sz="1800" dirty="0" smtClean="0">
              <a:latin typeface="Helvetica" pitchFamily="34" charset="0"/>
              <a:cs typeface="Helvetica" pitchFamily="34" charset="0"/>
            </a:endParaRPr>
          </a:p>
          <a:p>
            <a:pPr marL="360000" indent="-360000">
              <a:spcBef>
                <a:spcPts val="600"/>
              </a:spcBef>
              <a:spcAft>
                <a:spcPts val="600"/>
              </a:spcAft>
              <a:buNone/>
            </a:pP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000" b="1" dirty="0" smtClean="0">
                <a:solidFill>
                  <a:srgbClr val="FF6600"/>
                </a:solidFill>
                <a:latin typeface="Helvetica" pitchFamily="34" charset="0"/>
              </a:rPr>
              <a:t>Benefits and returns for the organisation</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5256584"/>
          </a:xfrm>
        </p:spPr>
        <p:txBody>
          <a:bodyPr>
            <a:noAutofit/>
          </a:bodyPr>
          <a:lstStyle/>
          <a:p>
            <a:pPr marL="0" indent="0">
              <a:spcBef>
                <a:spcPts val="600"/>
              </a:spcBef>
              <a:spcAft>
                <a:spcPts val="600"/>
              </a:spcAft>
              <a:buNone/>
            </a:pPr>
            <a:r>
              <a:rPr lang="en-US" sz="1800" dirty="0" smtClean="0">
                <a:latin typeface="Helvetica" pitchFamily="34" charset="0"/>
                <a:cs typeface="Helvetica" pitchFamily="34" charset="0"/>
              </a:rPr>
              <a:t>Options for benefits can include:</a:t>
            </a:r>
          </a:p>
          <a:p>
            <a:pPr>
              <a:spcBef>
                <a:spcPts val="600"/>
              </a:spcBef>
              <a:spcAft>
                <a:spcPts val="600"/>
              </a:spcAft>
            </a:pPr>
            <a:r>
              <a:rPr lang="en-AU" sz="1800" dirty="0" smtClean="0">
                <a:latin typeface="Helvetica" pitchFamily="34" charset="0"/>
                <a:cs typeface="Helvetica" pitchFamily="34" charset="0"/>
              </a:rPr>
              <a:t>Naming rights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Hospitality</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Signage and banners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Tickets/seats/attendance</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Access to staff, celebrities and officials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Participation by staff in advertisement</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Media appearances by staff/management</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Product placement</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Logos and sponsor name on uniforms, tickets, programmes, marketing materials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Exclusivity </a:t>
            </a:r>
            <a:endParaRPr lang="en-US" sz="1800" dirty="0" smtClean="0">
              <a:latin typeface="Helvetica" pitchFamily="34" charset="0"/>
              <a:cs typeface="Helvetica" pitchFamily="34" charset="0"/>
            </a:endParaRPr>
          </a:p>
          <a:p>
            <a:pPr marL="360000" indent="-360000">
              <a:spcBef>
                <a:spcPts val="600"/>
              </a:spcBef>
              <a:spcAft>
                <a:spcPts val="600"/>
              </a:spcAft>
            </a:pPr>
            <a:endParaRPr lang="en-US" sz="1800" dirty="0" smtClean="0">
              <a:latin typeface="Helvetica" pitchFamily="34" charset="0"/>
              <a:cs typeface="Helvetica" pitchFamily="34" charset="0"/>
            </a:endParaRPr>
          </a:p>
          <a:p>
            <a:pPr marL="360000" indent="-360000">
              <a:spcBef>
                <a:spcPts val="600"/>
              </a:spcBef>
              <a:spcAft>
                <a:spcPts val="600"/>
              </a:spcAft>
              <a:buNone/>
            </a:pP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90542" y="2132856"/>
            <a:ext cx="2687960" cy="268796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20880" cy="1143000"/>
          </a:xfrm>
        </p:spPr>
        <p:txBody>
          <a:bodyPr>
            <a:normAutofit fontScale="90000"/>
          </a:bodyPr>
          <a:lstStyle/>
          <a:p>
            <a:pPr marL="895350" indent="-895350"/>
            <a:r>
              <a:rPr lang="en-US" sz="3400" b="1" dirty="0" smtClean="0">
                <a:solidFill>
                  <a:srgbClr val="FF6600"/>
                </a:solidFill>
                <a:latin typeface="Helvetica" pitchFamily="34" charset="0"/>
              </a:rPr>
              <a:t>3.3	Negotiate additional opportunities as a result of the initial sponsorship</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5112568"/>
          </a:xfrm>
        </p:spPr>
        <p:txBody>
          <a:bodyPr>
            <a:noAutofit/>
          </a:bodyPr>
          <a:lstStyle/>
          <a:p>
            <a:pPr marL="0" indent="0">
              <a:spcBef>
                <a:spcPts val="600"/>
              </a:spcBef>
              <a:spcAft>
                <a:spcPts val="600"/>
              </a:spcAft>
              <a:buNone/>
            </a:pPr>
            <a:r>
              <a:rPr lang="en-AU" sz="2000" dirty="0" smtClean="0">
                <a:latin typeface="Helvetica" pitchFamily="34" charset="0"/>
                <a:cs typeface="Helvetica" pitchFamily="34" charset="0"/>
              </a:rPr>
              <a:t>It is important to maintain positive relationships with sponsorship organisers in order to:</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Encourage their cooperation with you</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Motivate then to continue, extend or increase engagement with other activities</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Send a positive message to competitors who may be watching</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Facilitate a harmonious working relationship</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Help ‘smooth over’ the inevitable ‘bumps in the road’ which often emerge as part of such a relationship</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Keep promises you have made about your orientation to the relationship</a:t>
            </a:r>
            <a:endParaRPr lang="en-US" sz="2000" dirty="0" smtClean="0">
              <a:latin typeface="Helvetica" pitchFamily="34" charset="0"/>
              <a:cs typeface="Helvetica" pitchFamily="34" charset="0"/>
            </a:endParaRPr>
          </a:p>
          <a:p>
            <a:pPr marL="360000" indent="-360000">
              <a:spcBef>
                <a:spcPts val="600"/>
              </a:spcBef>
              <a:spcAft>
                <a:spcPts val="600"/>
              </a:spcAft>
              <a:buNone/>
            </a:pPr>
            <a:endParaRPr lang="en-US"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3.4	Complete contracts in relation to the sponsorship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772816"/>
            <a:ext cx="7467600" cy="4309939"/>
          </a:xfrm>
        </p:spPr>
        <p:txBody>
          <a:bodyPr>
            <a:normAutofit/>
          </a:bodyPr>
          <a:lstStyle/>
          <a:p>
            <a:pPr marL="0" indent="0" algn="ctr">
              <a:spcBef>
                <a:spcPts val="600"/>
              </a:spcBef>
              <a:spcAft>
                <a:spcPts val="1200"/>
              </a:spcAft>
              <a:buNone/>
            </a:pPr>
            <a:r>
              <a:rPr lang="en-US" sz="2200" b="1" i="1" dirty="0" smtClean="0">
                <a:latin typeface="Helvetica" pitchFamily="34" charset="0"/>
              </a:rPr>
              <a:t>What is a contract?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descr="C:\Users\Quentin\AppData\Local\Microsoft\Windows\Temporary Internet Files\Content.IE5\19YMNHS8\contract-sign-clipart[1].jpg"/>
          <p:cNvPicPr/>
          <p:nvPr/>
        </p:nvPicPr>
        <p:blipFill>
          <a:blip r:embed="rId3" cstate="print"/>
          <a:srcRect/>
          <a:stretch>
            <a:fillRect/>
          </a:stretch>
        </p:blipFill>
        <p:spPr bwMode="auto">
          <a:xfrm>
            <a:off x="2987824" y="2636912"/>
            <a:ext cx="2952328" cy="288032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3.4	Complete contracts in relation to the sponsorship</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968552"/>
          </a:xfrm>
        </p:spPr>
        <p:txBody>
          <a:bodyPr>
            <a:noAutofit/>
          </a:bodyPr>
          <a:lstStyle/>
          <a:p>
            <a:pPr marL="0" indent="0">
              <a:spcBef>
                <a:spcPts val="600"/>
              </a:spcBef>
              <a:spcAft>
                <a:spcPts val="600"/>
              </a:spcAft>
              <a:buNone/>
            </a:pPr>
            <a:r>
              <a:rPr lang="en-US" sz="1800" dirty="0" smtClean="0">
                <a:latin typeface="Helvetica" pitchFamily="34" charset="0"/>
                <a:cs typeface="Helvetica" pitchFamily="34" charset="0"/>
              </a:rPr>
              <a:t>Possible contract details could include:</a:t>
            </a:r>
          </a:p>
          <a:p>
            <a:pPr>
              <a:spcBef>
                <a:spcPts val="600"/>
              </a:spcBef>
              <a:spcAft>
                <a:spcPts val="600"/>
              </a:spcAft>
            </a:pPr>
            <a:r>
              <a:rPr lang="en-AU" sz="1800" dirty="0" smtClean="0">
                <a:latin typeface="Helvetica" pitchFamily="34" charset="0"/>
                <a:cs typeface="Helvetica" pitchFamily="34" charset="0"/>
              </a:rPr>
              <a:t>It does not contain anything you do not agree to</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It does not contain anything you do not understand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It only commits you to doing what you want to do/are prepared to do for the support you are getting</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It commits the sponsor/organisers to doing what they believe they have promised they will do</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The duration of the contract (start and finish dates for the sponsorship) are what you thought they would be</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It has been approved by management and legal advisors before they are signed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It has been signed by the appropriate people representing both parties</a:t>
            </a:r>
            <a:endParaRPr lang="en-US" sz="1800" dirty="0" smtClean="0">
              <a:latin typeface="Helvetica" pitchFamily="34" charset="0"/>
              <a:cs typeface="Helvetica" pitchFamily="34" charset="0"/>
            </a:endParaRPr>
          </a:p>
          <a:p>
            <a:pPr marL="360000" indent="-360000">
              <a:spcBef>
                <a:spcPts val="600"/>
              </a:spcBef>
              <a:spcAft>
                <a:spcPts val="600"/>
              </a:spcAft>
              <a:buNone/>
            </a:pP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3.4	Complete contracts in relation to the sponsorship</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Autofit/>
          </a:bodyPr>
          <a:lstStyle/>
          <a:p>
            <a:pPr marL="0" indent="0">
              <a:spcBef>
                <a:spcPts val="600"/>
              </a:spcBef>
              <a:spcAft>
                <a:spcPts val="600"/>
              </a:spcAft>
              <a:buNone/>
            </a:pPr>
            <a:r>
              <a:rPr lang="en-AU" sz="1600" dirty="0" smtClean="0">
                <a:cs typeface="Helvetica" pitchFamily="34" charset="0"/>
              </a:rPr>
              <a:t>Contracts should also list expected benefits such as:</a:t>
            </a:r>
          </a:p>
          <a:p>
            <a:pPr>
              <a:spcBef>
                <a:spcPts val="600"/>
              </a:spcBef>
              <a:spcAft>
                <a:spcPts val="600"/>
              </a:spcAft>
            </a:pPr>
            <a:r>
              <a:rPr lang="en-AU" sz="1600" dirty="0" smtClean="0">
                <a:cs typeface="Helvetica" pitchFamily="34" charset="0"/>
              </a:rPr>
              <a:t>Number of times a hospitality tent will be provided, maximum guests to attend, sample food and beverage menus, number of service staff, hours of operation</a:t>
            </a:r>
          </a:p>
          <a:p>
            <a:pPr>
              <a:spcBef>
                <a:spcPts val="600"/>
              </a:spcBef>
              <a:spcAft>
                <a:spcPts val="600"/>
              </a:spcAft>
            </a:pPr>
            <a:r>
              <a:rPr lang="en-AU" sz="1600" dirty="0" smtClean="0">
                <a:cs typeface="Helvetica" pitchFamily="34" charset="0"/>
              </a:rPr>
              <a:t>Number, size, wording and placement of signage</a:t>
            </a:r>
          </a:p>
          <a:p>
            <a:pPr>
              <a:spcBef>
                <a:spcPts val="600"/>
              </a:spcBef>
              <a:spcAft>
                <a:spcPts val="600"/>
              </a:spcAft>
            </a:pPr>
            <a:r>
              <a:rPr lang="en-AU" sz="1600" dirty="0" smtClean="0">
                <a:cs typeface="Helvetica" pitchFamily="34" charset="0"/>
              </a:rPr>
              <a:t>Number and type of tickets to be provided including specifications of games, venues, competitions this applies to</a:t>
            </a:r>
          </a:p>
          <a:p>
            <a:pPr>
              <a:spcBef>
                <a:spcPts val="600"/>
              </a:spcBef>
              <a:spcAft>
                <a:spcPts val="600"/>
              </a:spcAft>
            </a:pPr>
            <a:r>
              <a:rPr lang="en-AU" sz="1600" dirty="0" smtClean="0">
                <a:cs typeface="Helvetica" pitchFamily="34" charset="0"/>
              </a:rPr>
              <a:t>Number, and duration, of meetings with staff, management, celebrities or nominated people</a:t>
            </a:r>
          </a:p>
          <a:p>
            <a:pPr>
              <a:spcBef>
                <a:spcPts val="600"/>
              </a:spcBef>
              <a:spcAft>
                <a:spcPts val="600"/>
              </a:spcAft>
            </a:pPr>
            <a:r>
              <a:rPr lang="en-AU" sz="1600" dirty="0" smtClean="0">
                <a:cs typeface="Helvetica" pitchFamily="34" charset="0"/>
              </a:rPr>
              <a:t>Merchandise which can be displayed and/or sold</a:t>
            </a:r>
          </a:p>
          <a:p>
            <a:pPr>
              <a:spcBef>
                <a:spcPts val="600"/>
              </a:spcBef>
              <a:spcAft>
                <a:spcPts val="600"/>
              </a:spcAft>
            </a:pPr>
            <a:r>
              <a:rPr lang="en-AU" sz="1600" dirty="0" smtClean="0">
                <a:cs typeface="Helvetica" pitchFamily="34" charset="0"/>
              </a:rPr>
              <a:t>Commitment by the organisers to purchase specified products/services from the sponsor</a:t>
            </a:r>
          </a:p>
          <a:p>
            <a:pPr>
              <a:spcBef>
                <a:spcPts val="600"/>
              </a:spcBef>
              <a:spcAft>
                <a:spcPts val="600"/>
              </a:spcAft>
            </a:pPr>
            <a:r>
              <a:rPr lang="en-AU" sz="1600" dirty="0" smtClean="0">
                <a:cs typeface="Helvetica" pitchFamily="34" charset="0"/>
              </a:rPr>
              <a:t>Exclusivity arrangements, or restrictions applying to certain other companies/sponsors in order to optimise benefit to the sponsor</a:t>
            </a:r>
          </a:p>
          <a:p>
            <a:pPr marL="360000" indent="-360000">
              <a:spcBef>
                <a:spcPts val="600"/>
              </a:spcBef>
              <a:spcAft>
                <a:spcPts val="600"/>
              </a:spcAft>
              <a:buNone/>
            </a:pPr>
            <a:endParaRPr lang="en-AU" sz="1600" dirty="0" smtClean="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296144"/>
          </a:xfrm>
        </p:spPr>
        <p:txBody>
          <a:bodyPr>
            <a:noAutofit/>
          </a:bodyPr>
          <a:lstStyle/>
          <a:p>
            <a:pPr marL="895350" indent="-895350"/>
            <a:r>
              <a:rPr lang="en-US" sz="3000" b="1" dirty="0" smtClean="0">
                <a:solidFill>
                  <a:srgbClr val="FF6600"/>
                </a:solidFill>
                <a:latin typeface="Helvetica" pitchFamily="34" charset="0"/>
              </a:rPr>
              <a:t>3.5	Brief staff in relation to the sponsorship deal that has been entered into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361950" indent="-361950">
              <a:spcBef>
                <a:spcPts val="600"/>
              </a:spcBef>
              <a:spcAft>
                <a:spcPts val="1200"/>
              </a:spcAft>
            </a:pPr>
            <a:r>
              <a:rPr lang="en-AU" sz="2200" dirty="0" smtClean="0"/>
              <a:t>For the event to be successful it is essential to inform all relevant people about the details of the activity</a:t>
            </a:r>
          </a:p>
          <a:p>
            <a:pPr marL="361950" indent="-361950">
              <a:spcBef>
                <a:spcPts val="600"/>
              </a:spcBef>
              <a:spcAft>
                <a:spcPts val="1200"/>
              </a:spcAft>
            </a:pPr>
            <a:r>
              <a:rPr lang="en-AU" sz="2200" dirty="0" smtClean="0"/>
              <a:t>Failure to inform people effectively could negatively impact on the overall success of the event which could lead to missed opportunities for the organisation</a:t>
            </a:r>
            <a:endParaRPr lang="en-US" sz="2200" dirty="0" smtClean="0"/>
          </a:p>
          <a:p>
            <a:pPr marL="360000" indent="-360000">
              <a:spcBef>
                <a:spcPts val="600"/>
              </a:spcBef>
              <a:spcAft>
                <a:spcPts val="1200"/>
              </a:spcAft>
              <a:buNone/>
            </a:pPr>
            <a:endParaRPr lang="en-US" sz="2200" dirty="0" smtClean="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6" name="Picture 5" descr="C:\Users\Quentin\AppData\Local\Microsoft\Windows\Temporary Internet Files\Content.IE5\19YMNHS8\listening-feedback-communication[1].jpg"/>
          <p:cNvPicPr/>
          <p:nvPr/>
        </p:nvPicPr>
        <p:blipFill>
          <a:blip r:embed="rId3" cstate="print"/>
          <a:srcRect/>
          <a:stretch>
            <a:fillRect/>
          </a:stretch>
        </p:blipFill>
        <p:spPr bwMode="auto">
          <a:xfrm>
            <a:off x="2555776" y="4005064"/>
            <a:ext cx="3024336" cy="187220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3.6	Participate actively and willingly in the sponsored event/activity</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896544"/>
          </a:xfrm>
        </p:spPr>
        <p:txBody>
          <a:bodyPr>
            <a:noAutofit/>
          </a:bodyPr>
          <a:lstStyle/>
          <a:p>
            <a:pPr marL="0" indent="0">
              <a:spcBef>
                <a:spcPts val="600"/>
              </a:spcBef>
              <a:spcAft>
                <a:spcPts val="600"/>
              </a:spcAft>
              <a:buNone/>
            </a:pPr>
            <a:r>
              <a:rPr lang="en-US" sz="2000" dirty="0" smtClean="0">
                <a:latin typeface="Helvetica" pitchFamily="34" charset="0"/>
                <a:cs typeface="Helvetica" pitchFamily="34" charset="0"/>
              </a:rPr>
              <a:t>Actively participating in the activity could include:</a:t>
            </a:r>
          </a:p>
          <a:p>
            <a:pPr>
              <a:spcBef>
                <a:spcPts val="600"/>
              </a:spcBef>
              <a:spcAft>
                <a:spcPts val="600"/>
              </a:spcAft>
            </a:pPr>
            <a:r>
              <a:rPr lang="en-AU" sz="2000" dirty="0" smtClean="0">
                <a:latin typeface="Helvetica" pitchFamily="34" charset="0"/>
                <a:cs typeface="Helvetica" pitchFamily="34" charset="0"/>
              </a:rPr>
              <a:t>Supporting event organisers with requests</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Operating specialist equipment</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Helping guests and participants with directions</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Identifying any potential issues or problems</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Smiling and being friendly towards all participants</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Completing tasks and roles promptly and efficiently</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Making sure all utilised areas are safe, clean and easily accessible</a:t>
            </a:r>
            <a:endParaRPr lang="en-US" sz="2000" dirty="0" smtClean="0">
              <a:latin typeface="Helvetica" pitchFamily="34" charset="0"/>
              <a:cs typeface="Helvetica" pitchFamily="34" charset="0"/>
            </a:endParaRPr>
          </a:p>
          <a:p>
            <a:pPr>
              <a:spcBef>
                <a:spcPts val="600"/>
              </a:spcBef>
              <a:spcAft>
                <a:spcPts val="600"/>
              </a:spcAft>
            </a:pPr>
            <a:r>
              <a:rPr lang="en-AU" sz="2000" dirty="0" smtClean="0">
                <a:latin typeface="Helvetica" pitchFamily="34" charset="0"/>
                <a:cs typeface="Helvetica" pitchFamily="34" charset="0"/>
              </a:rPr>
              <a:t>Displaying and distributing advertising or marketing materials as per organisational requirements</a:t>
            </a:r>
            <a:endParaRPr lang="en-US" sz="2000" dirty="0" smtClean="0">
              <a:latin typeface="Helvetica" pitchFamily="34" charset="0"/>
              <a:cs typeface="Helvetica" pitchFamily="34" charset="0"/>
            </a:endParaRPr>
          </a:p>
          <a:p>
            <a:pPr marL="360000" indent="-360000">
              <a:spcBef>
                <a:spcPts val="600"/>
              </a:spcBef>
              <a:spcAft>
                <a:spcPts val="600"/>
              </a:spcAft>
              <a:buNone/>
            </a:pPr>
            <a:endParaRPr lang="en-US"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512168"/>
          </a:xfrm>
        </p:spPr>
        <p:txBody>
          <a:bodyPr>
            <a:noAutofit/>
          </a:bodyPr>
          <a:lstStyle/>
          <a:p>
            <a:pPr marL="895350" indent="-895350"/>
            <a:r>
              <a:rPr lang="en-AU" sz="3000" b="1" dirty="0" smtClean="0">
                <a:solidFill>
                  <a:srgbClr val="FF6600"/>
                </a:solidFill>
                <a:latin typeface="Helvetica" pitchFamily="34" charset="0"/>
              </a:rPr>
              <a:t>3.7	Ensure the terms and conditions of the sponsorship agreement are discharged </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467600" cy="4165923"/>
          </a:xfrm>
        </p:spPr>
        <p:txBody>
          <a:bodyPr>
            <a:noAutofit/>
          </a:bodyPr>
          <a:lstStyle/>
          <a:p>
            <a:pPr marL="0" indent="0">
              <a:spcBef>
                <a:spcPts val="600"/>
              </a:spcBef>
              <a:spcAft>
                <a:spcPts val="600"/>
              </a:spcAft>
              <a:buNone/>
            </a:pPr>
            <a:r>
              <a:rPr lang="en-US" sz="1800" dirty="0" smtClean="0">
                <a:latin typeface="Helvetica" pitchFamily="34" charset="0"/>
                <a:cs typeface="Helvetica" pitchFamily="34" charset="0"/>
              </a:rPr>
              <a:t>Checking agreed terms and conditions are being met could include:</a:t>
            </a:r>
          </a:p>
          <a:p>
            <a:pPr>
              <a:spcBef>
                <a:spcPts val="600"/>
              </a:spcBef>
              <a:spcAft>
                <a:spcPts val="600"/>
              </a:spcAft>
            </a:pPr>
            <a:r>
              <a:rPr lang="en-AU" sz="1800" dirty="0" smtClean="0">
                <a:latin typeface="Helvetica" pitchFamily="34" charset="0"/>
                <a:cs typeface="Helvetica" pitchFamily="34" charset="0"/>
              </a:rPr>
              <a:t>Providing resources as identified in the contract, including products, services and other advice, assistance and information</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Ensuring relevant quantities are provided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Ensuring supply dates are complied with</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Checking spaces are organised and set-up as agreed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Communicating with event organisers that agreed actions are being administered as per the contract conditions</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Providing mechanisms for staff and participants to be able to advise of any issues with their ability to complete tasks as required</a:t>
            </a: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440160"/>
          </a:xfrm>
        </p:spPr>
        <p:txBody>
          <a:bodyPr>
            <a:noAutofit/>
          </a:bodyPr>
          <a:lstStyle/>
          <a:p>
            <a:pPr marL="895350" indent="-895350"/>
            <a:r>
              <a:rPr lang="en-AU" sz="3000" b="1" dirty="0" smtClean="0">
                <a:solidFill>
                  <a:srgbClr val="FF6600"/>
                </a:solidFill>
                <a:latin typeface="Helvetica" pitchFamily="34" charset="0"/>
              </a:rPr>
              <a:t>3.8	Monitor the application of sponsorship contributions, as previously established </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7560840" cy="4165923"/>
          </a:xfrm>
        </p:spPr>
        <p:txBody>
          <a:bodyPr>
            <a:normAutofit/>
          </a:bodyPr>
          <a:lstStyle/>
          <a:p>
            <a:pPr marL="0" indent="0">
              <a:spcBef>
                <a:spcPts val="600"/>
              </a:spcBef>
              <a:spcAft>
                <a:spcPts val="1200"/>
              </a:spcAft>
              <a:buNone/>
            </a:pPr>
            <a:r>
              <a:rPr lang="en-AU" sz="2000" dirty="0" smtClean="0">
                <a:latin typeface="Helvetica" pitchFamily="34" charset="0"/>
                <a:cs typeface="Helvetica" pitchFamily="34" charset="0"/>
              </a:rPr>
              <a:t>Whilst a sponsorship activity or event is underway, it is necessary to have people monitor the progress of the activity. This could include:</a:t>
            </a:r>
          </a:p>
          <a:p>
            <a:pPr marL="360000" indent="-360000">
              <a:spcBef>
                <a:spcPts val="600"/>
              </a:spcBef>
              <a:spcAft>
                <a:spcPts val="1200"/>
              </a:spcAft>
            </a:pPr>
            <a:r>
              <a:rPr lang="en-AU" sz="2000" dirty="0" smtClean="0">
                <a:latin typeface="Helvetica" pitchFamily="34" charset="0"/>
                <a:cs typeface="Helvetica" pitchFamily="34" charset="0"/>
              </a:rPr>
              <a:t>Meeting with organisers</a:t>
            </a:r>
          </a:p>
          <a:p>
            <a:pPr marL="360000" indent="-360000">
              <a:spcBef>
                <a:spcPts val="600"/>
              </a:spcBef>
              <a:spcAft>
                <a:spcPts val="1200"/>
              </a:spcAft>
            </a:pPr>
            <a:r>
              <a:rPr lang="en-AU" sz="2000" dirty="0" smtClean="0">
                <a:latin typeface="Helvetica" pitchFamily="34" charset="0"/>
                <a:cs typeface="Helvetica" pitchFamily="34" charset="0"/>
              </a:rPr>
              <a:t>Visiting and observing events and sites</a:t>
            </a:r>
          </a:p>
          <a:p>
            <a:pPr marL="360000" indent="-360000">
              <a:spcBef>
                <a:spcPts val="600"/>
              </a:spcBef>
              <a:spcAft>
                <a:spcPts val="1200"/>
              </a:spcAft>
            </a:pPr>
            <a:r>
              <a:rPr lang="en-AU" sz="2000" dirty="0" smtClean="0">
                <a:latin typeface="Helvetica" pitchFamily="34" charset="0"/>
                <a:cs typeface="Helvetica" pitchFamily="34" charset="0"/>
              </a:rPr>
              <a:t>Monitoring media</a:t>
            </a:r>
          </a:p>
          <a:p>
            <a:pPr marL="360000" indent="-360000">
              <a:spcBef>
                <a:spcPts val="600"/>
              </a:spcBef>
              <a:spcAft>
                <a:spcPts val="1200"/>
              </a:spcAft>
            </a:pPr>
            <a:r>
              <a:rPr lang="en-AU" sz="2000" dirty="0" smtClean="0">
                <a:latin typeface="Helvetica" pitchFamily="34" charset="0"/>
                <a:cs typeface="Helvetica" pitchFamily="34" charset="0"/>
              </a:rPr>
              <a:t>Reviewing contract terms and conditions</a:t>
            </a:r>
          </a:p>
          <a:p>
            <a:pPr marL="360000" indent="-360000">
              <a:spcBef>
                <a:spcPts val="600"/>
              </a:spcBef>
              <a:spcAft>
                <a:spcPts val="1200"/>
              </a:spcAft>
            </a:pPr>
            <a:r>
              <a:rPr lang="en-AU" sz="2000" dirty="0" smtClean="0">
                <a:latin typeface="Helvetica" pitchFamily="34" charset="0"/>
                <a:cs typeface="Helvetica" pitchFamily="34" charset="0"/>
              </a:rPr>
              <a:t>Taking remedial action where required</a:t>
            </a:r>
          </a:p>
          <a:p>
            <a:pPr marL="360000" indent="-360000">
              <a:spcBef>
                <a:spcPts val="600"/>
              </a:spcBef>
              <a:spcAft>
                <a:spcPts val="1200"/>
              </a:spcAft>
              <a:buNone/>
            </a:pPr>
            <a:endParaRPr lang="en-AU" sz="20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6136" y="2924944"/>
            <a:ext cx="2520280" cy="189021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895350" indent="-895350"/>
            <a:r>
              <a:rPr lang="en-US" sz="3000" b="1" dirty="0" smtClean="0">
                <a:solidFill>
                  <a:srgbClr val="FF6600"/>
                </a:solidFill>
                <a:latin typeface="Helvetica" pitchFamily="34" charset="0"/>
              </a:rPr>
              <a:t>3.9	Record results and outcomes of participation in the sponsorship, as previously determined</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968552" cy="4093915"/>
          </a:xfrm>
        </p:spPr>
        <p:txBody>
          <a:bodyPr>
            <a:normAutofit/>
          </a:bodyPr>
          <a:lstStyle/>
          <a:p>
            <a:pPr marL="0" indent="0">
              <a:lnSpc>
                <a:spcPts val="3100"/>
              </a:lnSpc>
              <a:spcBef>
                <a:spcPts val="600"/>
              </a:spcBef>
              <a:spcAft>
                <a:spcPts val="1200"/>
              </a:spcAft>
              <a:buNone/>
            </a:pPr>
            <a:r>
              <a:rPr lang="en-AU" sz="2200" dirty="0" smtClean="0">
                <a:latin typeface="Helvetica" pitchFamily="34" charset="0"/>
                <a:cs typeface="Helvetica" pitchFamily="34" charset="0"/>
              </a:rPr>
              <a:t>No matter what the KPI's are, it is important that all relevant data is collected and stored effectively in order to provide an opportunity for evaluation of the overall performance of the sponsorship activity. </a:t>
            </a:r>
            <a:endParaRPr lang="en-US" sz="2200" dirty="0" smtClean="0">
              <a:latin typeface="Helvetica" pitchFamily="34" charset="0"/>
              <a:cs typeface="Helvetica" pitchFamily="34" charset="0"/>
            </a:endParaRPr>
          </a:p>
          <a:p>
            <a:pPr marL="360000" indent="-360000">
              <a:lnSpc>
                <a:spcPts val="3100"/>
              </a:lnSpc>
              <a:spcBef>
                <a:spcPts val="600"/>
              </a:spcBef>
              <a:spcAft>
                <a:spcPts val="1200"/>
              </a:spcAft>
              <a:buNone/>
            </a:pP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6" name="Picture 5" descr="C:\Users\Quentin\AppData\Local\Microsoft\Windows\Temporary Internet Files\Content.IE5\19YMNHS8\results[1].gif"/>
          <p:cNvPicPr/>
          <p:nvPr/>
        </p:nvPicPr>
        <p:blipFill>
          <a:blip r:embed="rId3" cstate="print"/>
          <a:srcRect/>
          <a:stretch>
            <a:fillRect/>
          </a:stretch>
        </p:blipFill>
        <p:spPr bwMode="auto">
          <a:xfrm>
            <a:off x="5292080" y="2204864"/>
            <a:ext cx="2952328" cy="2736304"/>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000" b="1" dirty="0" smtClean="0">
                <a:solidFill>
                  <a:srgbClr val="FF6600"/>
                </a:solidFill>
                <a:latin typeface="Helvetica" pitchFamily="34" charset="0"/>
              </a:rPr>
              <a:t>Element 4: Evaluate involvement in the sponsorship</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US" sz="2200" b="1" dirty="0" smtClean="0">
                <a:latin typeface="Helvetica" pitchFamily="34" charset="0"/>
              </a:rPr>
              <a:t>Performance criteria:</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grpSp>
        <p:nvGrpSpPr>
          <p:cNvPr id="5" name="Group 4"/>
          <p:cNvGrpSpPr/>
          <p:nvPr/>
        </p:nvGrpSpPr>
        <p:grpSpPr>
          <a:xfrm>
            <a:off x="-3852936" y="1412776"/>
            <a:ext cx="10568212" cy="5472816"/>
            <a:chOff x="-3910767" y="1268552"/>
            <a:chExt cx="10568212" cy="5472816"/>
          </a:xfrm>
        </p:grpSpPr>
        <p:sp>
          <p:nvSpPr>
            <p:cNvPr id="6" name="Block Arc 5"/>
            <p:cNvSpPr/>
            <p:nvPr/>
          </p:nvSpPr>
          <p:spPr>
            <a:xfrm>
              <a:off x="-3910767" y="1268552"/>
              <a:ext cx="5472816" cy="5472816"/>
            </a:xfrm>
            <a:prstGeom prst="blockArc">
              <a:avLst>
                <a:gd name="adj1" fmla="val 18900000"/>
                <a:gd name="adj2" fmla="val 2700000"/>
                <a:gd name="adj3" fmla="val 395"/>
              </a:avLst>
            </a:prstGeom>
          </p:spPr>
          <p:style>
            <a:lnRef idx="2">
              <a:schemeClr val="accent6">
                <a:hueOff val="0"/>
                <a:satOff val="0"/>
                <a:lumOff val="0"/>
                <a:alphaOff val="0"/>
              </a:schemeClr>
            </a:lnRef>
            <a:fillRef idx="0">
              <a:schemeClr val="accent6">
                <a:tint val="90000"/>
                <a:hueOff val="0"/>
                <a:satOff val="0"/>
                <a:lumOff val="0"/>
                <a:alphaOff val="0"/>
              </a:schemeClr>
            </a:fillRef>
            <a:effectRef idx="0">
              <a:schemeClr val="accent6">
                <a:tint val="90000"/>
                <a:hueOff val="0"/>
                <a:satOff val="0"/>
                <a:lumOff val="0"/>
                <a:alphaOff val="0"/>
              </a:schemeClr>
            </a:effectRef>
            <a:fontRef idx="minor">
              <a:schemeClr val="tx1">
                <a:hueOff val="0"/>
                <a:satOff val="0"/>
                <a:lumOff val="0"/>
                <a:alphaOff val="0"/>
              </a:schemeClr>
            </a:fontRef>
          </p:style>
        </p:sp>
        <p:grpSp>
          <p:nvGrpSpPr>
            <p:cNvPr id="7" name="Group 6"/>
            <p:cNvGrpSpPr/>
            <p:nvPr/>
          </p:nvGrpSpPr>
          <p:grpSpPr>
            <a:xfrm>
              <a:off x="683568" y="2132856"/>
              <a:ext cx="5973877" cy="3683203"/>
              <a:chOff x="750504" y="2323254"/>
              <a:chExt cx="5973877" cy="3683203"/>
            </a:xfrm>
          </p:grpSpPr>
          <p:grpSp>
            <p:nvGrpSpPr>
              <p:cNvPr id="8" name="Group 7"/>
              <p:cNvGrpSpPr/>
              <p:nvPr/>
            </p:nvGrpSpPr>
            <p:grpSpPr>
              <a:xfrm>
                <a:off x="750504" y="2323254"/>
                <a:ext cx="5973877" cy="3683203"/>
                <a:chOff x="750504" y="2323254"/>
                <a:chExt cx="5973877" cy="3683203"/>
              </a:xfrm>
            </p:grpSpPr>
            <p:sp>
              <p:nvSpPr>
                <p:cNvPr id="14" name="Freeform 13"/>
                <p:cNvSpPr/>
                <p:nvPr/>
              </p:nvSpPr>
              <p:spPr>
                <a:xfrm>
                  <a:off x="1068106" y="2386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403354" tIns="38100" rIns="38100" bIns="38100" numCol="1" spcCol="1270" anchor="ctr" anchorCtr="0">
                  <a:noAutofit/>
                </a:bodyPr>
                <a:lstStyle/>
                <a:p>
                  <a:pPr defTabSz="666750">
                    <a:lnSpc>
                      <a:spcPct val="90000"/>
                    </a:lnSpc>
                    <a:spcBef>
                      <a:spcPct val="0"/>
                    </a:spcBef>
                    <a:spcAft>
                      <a:spcPct val="35000"/>
                    </a:spcAft>
                  </a:pPr>
                  <a:r>
                    <a:rPr lang="en-AU" sz="1500" dirty="0" smtClean="0">
                      <a:latin typeface="Helvetica" pitchFamily="34" charset="0"/>
                    </a:rPr>
                    <a:t>Assess the outcomes and results of the sponsorship against predetermined KPIs</a:t>
                  </a:r>
                  <a:endParaRPr lang="en-AU" sz="1500" dirty="0">
                    <a:latin typeface="Helvetica" pitchFamily="34" charset="0"/>
                  </a:endParaRPr>
                </a:p>
              </p:txBody>
            </p:sp>
            <p:sp>
              <p:nvSpPr>
                <p:cNvPr id="15" name="Oval 14"/>
                <p:cNvSpPr/>
                <p:nvPr/>
              </p:nvSpPr>
              <p:spPr>
                <a:xfrm>
                  <a:off x="750504" y="2323254"/>
                  <a:ext cx="635203" cy="635203"/>
                </a:xfrm>
                <a:prstGeom prst="ellipse">
                  <a:avLst/>
                </a:prstGeom>
              </p:spPr>
              <p:style>
                <a:lnRef idx="2">
                  <a:schemeClr val="accent5">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6" name="Freeform 15"/>
                <p:cNvSpPr/>
                <p:nvPr/>
              </p:nvSpPr>
              <p:spPr>
                <a:xfrm>
                  <a:off x="1432240" y="3148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774129"/>
                    <a:satOff val="7761"/>
                    <a:lumOff val="-5392"/>
                    <a:alphaOff val="0"/>
                  </a:schemeClr>
                </a:fillRef>
                <a:effectRef idx="0">
                  <a:schemeClr val="accent5">
                    <a:hueOff val="-774129"/>
                    <a:satOff val="7761"/>
                    <a:lumOff val="-5392"/>
                    <a:alphaOff val="0"/>
                  </a:schemeClr>
                </a:effectRef>
                <a:fontRef idx="minor">
                  <a:schemeClr val="lt1"/>
                </a:fontRef>
              </p:style>
              <p:txBody>
                <a:bodyPr spcFirstLastPara="0" vert="horz" wrap="square" lIns="403354" tIns="38100" rIns="38100" bIns="38100" numCol="1" spcCol="1270" anchor="ctr" anchorCtr="0">
                  <a:noAutofit/>
                </a:bodyPr>
                <a:lstStyle/>
                <a:p>
                  <a:pPr marL="360000" indent="-360000">
                    <a:spcBef>
                      <a:spcPts val="600"/>
                    </a:spcBef>
                    <a:spcAft>
                      <a:spcPts val="1200"/>
                    </a:spcAft>
                  </a:pPr>
                  <a:r>
                    <a:rPr lang="en-AU" sz="1500" dirty="0" smtClean="0">
                      <a:latin typeface="Helvetica" pitchFamily="34" charset="0"/>
                    </a:rPr>
                    <a:t>Seek feedback on the sponsorship activity or event</a:t>
                  </a:r>
                  <a:endParaRPr lang="en-AU" sz="1500" dirty="0">
                    <a:latin typeface="Helvetica" pitchFamily="34" charset="0"/>
                  </a:endParaRPr>
                </a:p>
              </p:txBody>
            </p:sp>
            <p:sp>
              <p:nvSpPr>
                <p:cNvPr id="17" name="Oval 16"/>
                <p:cNvSpPr/>
                <p:nvPr/>
              </p:nvSpPr>
              <p:spPr>
                <a:xfrm>
                  <a:off x="1114639" y="3085254"/>
                  <a:ext cx="635203" cy="635203"/>
                </a:xfrm>
                <a:prstGeom prst="ellipse">
                  <a:avLst/>
                </a:prstGeom>
              </p:spPr>
              <p:style>
                <a:lnRef idx="2">
                  <a:schemeClr val="accent5">
                    <a:hueOff val="-774129"/>
                    <a:satOff val="7761"/>
                    <a:lumOff val="-5392"/>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8" name="Freeform 17"/>
                <p:cNvSpPr/>
                <p:nvPr/>
              </p:nvSpPr>
              <p:spPr>
                <a:xfrm>
                  <a:off x="1544000" y="3910774"/>
                  <a:ext cx="5180380" cy="508162"/>
                </a:xfrm>
                <a:custGeom>
                  <a:avLst/>
                  <a:gdLst>
                    <a:gd name="connsiteX0" fmla="*/ 0 w 5180380"/>
                    <a:gd name="connsiteY0" fmla="*/ 0 h 508162"/>
                    <a:gd name="connsiteX1" fmla="*/ 5180380 w 5180380"/>
                    <a:gd name="connsiteY1" fmla="*/ 0 h 508162"/>
                    <a:gd name="connsiteX2" fmla="*/ 5180380 w 5180380"/>
                    <a:gd name="connsiteY2" fmla="*/ 508162 h 508162"/>
                    <a:gd name="connsiteX3" fmla="*/ 0 w 5180380"/>
                    <a:gd name="connsiteY3" fmla="*/ 508162 h 508162"/>
                    <a:gd name="connsiteX4" fmla="*/ 0 w 518038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80380" h="508162">
                      <a:moveTo>
                        <a:pt x="0" y="0"/>
                      </a:moveTo>
                      <a:lnTo>
                        <a:pt x="5180380" y="0"/>
                      </a:lnTo>
                      <a:lnTo>
                        <a:pt x="5180380" y="508162"/>
                      </a:lnTo>
                      <a:lnTo>
                        <a:pt x="0" y="508162"/>
                      </a:lnTo>
                      <a:lnTo>
                        <a:pt x="0" y="0"/>
                      </a:lnTo>
                      <a:close/>
                    </a:path>
                  </a:pathLst>
                </a:custGeom>
              </p:spPr>
              <p:style>
                <a:lnRef idx="2">
                  <a:schemeClr val="lt1">
                    <a:hueOff val="0"/>
                    <a:satOff val="0"/>
                    <a:lumOff val="0"/>
                    <a:alphaOff val="0"/>
                  </a:schemeClr>
                </a:lnRef>
                <a:fillRef idx="1">
                  <a:schemeClr val="accent5">
                    <a:hueOff val="-1548258"/>
                    <a:satOff val="15522"/>
                    <a:lumOff val="-10784"/>
                    <a:alphaOff val="0"/>
                  </a:schemeClr>
                </a:fillRef>
                <a:effectRef idx="0">
                  <a:schemeClr val="accent5">
                    <a:hueOff val="-1548258"/>
                    <a:satOff val="15522"/>
                    <a:lumOff val="-10784"/>
                    <a:alphaOff val="0"/>
                  </a:schemeClr>
                </a:effectRef>
                <a:fontRef idx="minor">
                  <a:schemeClr val="lt1"/>
                </a:fontRef>
              </p:style>
              <p:txBody>
                <a:bodyPr spcFirstLastPara="0" vert="horz" wrap="square" lIns="403354" tIns="38100" rIns="38100" bIns="38100" numCol="1" spcCol="1270" anchor="ctr" anchorCtr="0">
                  <a:noAutofit/>
                </a:bodyPr>
                <a:lstStyle/>
                <a:p>
                  <a:pPr>
                    <a:spcBef>
                      <a:spcPts val="600"/>
                    </a:spcBef>
                    <a:spcAft>
                      <a:spcPts val="1200"/>
                    </a:spcAft>
                  </a:pPr>
                  <a:r>
                    <a:rPr lang="en-AU" sz="1500" dirty="0" smtClean="0">
                      <a:latin typeface="Helvetica" pitchFamily="34" charset="0"/>
                    </a:rPr>
                    <a:t>Provide feedback to the organiser of the sponsorship event or activity</a:t>
                  </a:r>
                  <a:endParaRPr lang="en-AU" sz="1500" dirty="0">
                    <a:latin typeface="Helvetica" pitchFamily="34" charset="0"/>
                  </a:endParaRPr>
                </a:p>
              </p:txBody>
            </p:sp>
            <p:sp>
              <p:nvSpPr>
                <p:cNvPr id="19" name="Oval 18"/>
                <p:cNvSpPr/>
                <p:nvPr/>
              </p:nvSpPr>
              <p:spPr>
                <a:xfrm>
                  <a:off x="1226399" y="3847254"/>
                  <a:ext cx="635203" cy="635203"/>
                </a:xfrm>
                <a:prstGeom prst="ellipse">
                  <a:avLst/>
                </a:prstGeom>
              </p:spPr>
              <p:style>
                <a:lnRef idx="2">
                  <a:schemeClr val="accent5">
                    <a:hueOff val="-1548258"/>
                    <a:satOff val="15522"/>
                    <a:lumOff val="-10784"/>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0" name="Freeform 19"/>
                <p:cNvSpPr/>
                <p:nvPr/>
              </p:nvSpPr>
              <p:spPr>
                <a:xfrm>
                  <a:off x="1432240" y="4672774"/>
                  <a:ext cx="5292140" cy="508162"/>
                </a:xfrm>
                <a:custGeom>
                  <a:avLst/>
                  <a:gdLst>
                    <a:gd name="connsiteX0" fmla="*/ 0 w 5292140"/>
                    <a:gd name="connsiteY0" fmla="*/ 0 h 508162"/>
                    <a:gd name="connsiteX1" fmla="*/ 5292140 w 5292140"/>
                    <a:gd name="connsiteY1" fmla="*/ 0 h 508162"/>
                    <a:gd name="connsiteX2" fmla="*/ 5292140 w 5292140"/>
                    <a:gd name="connsiteY2" fmla="*/ 508162 h 508162"/>
                    <a:gd name="connsiteX3" fmla="*/ 0 w 5292140"/>
                    <a:gd name="connsiteY3" fmla="*/ 508162 h 508162"/>
                    <a:gd name="connsiteX4" fmla="*/ 0 w 5292140"/>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92140" h="508162">
                      <a:moveTo>
                        <a:pt x="0" y="0"/>
                      </a:moveTo>
                      <a:lnTo>
                        <a:pt x="5292140" y="0"/>
                      </a:lnTo>
                      <a:lnTo>
                        <a:pt x="5292140" y="508162"/>
                      </a:lnTo>
                      <a:lnTo>
                        <a:pt x="0" y="508162"/>
                      </a:lnTo>
                      <a:lnTo>
                        <a:pt x="0" y="0"/>
                      </a:lnTo>
                      <a:close/>
                    </a:path>
                  </a:pathLst>
                </a:custGeom>
              </p:spPr>
              <p:style>
                <a:lnRef idx="2">
                  <a:schemeClr val="lt1">
                    <a:hueOff val="0"/>
                    <a:satOff val="0"/>
                    <a:lumOff val="0"/>
                    <a:alphaOff val="0"/>
                  </a:schemeClr>
                </a:lnRef>
                <a:fillRef idx="1">
                  <a:schemeClr val="accent5">
                    <a:hueOff val="-2322388"/>
                    <a:satOff val="23283"/>
                    <a:lumOff val="-16177"/>
                    <a:alphaOff val="0"/>
                  </a:schemeClr>
                </a:fillRef>
                <a:effectRef idx="0">
                  <a:schemeClr val="accent5">
                    <a:hueOff val="-2322388"/>
                    <a:satOff val="23283"/>
                    <a:lumOff val="-16177"/>
                    <a:alphaOff val="0"/>
                  </a:schemeClr>
                </a:effectRef>
                <a:fontRef idx="minor">
                  <a:schemeClr val="lt1"/>
                </a:fontRef>
              </p:style>
              <p:txBody>
                <a:bodyPr spcFirstLastPara="0" vert="horz" wrap="square" lIns="403354" tIns="38100" rIns="38100" bIns="38100" numCol="1" spcCol="1270" anchor="ctr" anchorCtr="0">
                  <a:noAutofit/>
                </a:bodyPr>
                <a:lstStyle/>
                <a:p>
                  <a:pPr>
                    <a:spcBef>
                      <a:spcPts val="600"/>
                    </a:spcBef>
                    <a:spcAft>
                      <a:spcPts val="1200"/>
                    </a:spcAft>
                  </a:pPr>
                  <a:r>
                    <a:rPr lang="en-AU" sz="1500" dirty="0" smtClean="0">
                      <a:latin typeface="Helvetica" pitchFamily="34" charset="0"/>
                    </a:rPr>
                    <a:t>Determine whether similar sponsorship involvement will occur</a:t>
                  </a:r>
                  <a:endParaRPr lang="en-AU" sz="1500" dirty="0">
                    <a:latin typeface="Helvetica" pitchFamily="34" charset="0"/>
                  </a:endParaRPr>
                </a:p>
              </p:txBody>
            </p:sp>
            <p:sp>
              <p:nvSpPr>
                <p:cNvPr id="21" name="Oval 20"/>
                <p:cNvSpPr/>
                <p:nvPr/>
              </p:nvSpPr>
              <p:spPr>
                <a:xfrm>
                  <a:off x="1114639" y="4609254"/>
                  <a:ext cx="635203" cy="635203"/>
                </a:xfrm>
                <a:prstGeom prst="ellipse">
                  <a:avLst/>
                </a:prstGeom>
              </p:spPr>
              <p:style>
                <a:lnRef idx="2">
                  <a:schemeClr val="accent5">
                    <a:hueOff val="-2322388"/>
                    <a:satOff val="23283"/>
                    <a:lumOff val="-16177"/>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22" name="Freeform 21"/>
                <p:cNvSpPr/>
                <p:nvPr/>
              </p:nvSpPr>
              <p:spPr>
                <a:xfrm>
                  <a:off x="1068106" y="5434774"/>
                  <a:ext cx="5656275" cy="508162"/>
                </a:xfrm>
                <a:custGeom>
                  <a:avLst/>
                  <a:gdLst>
                    <a:gd name="connsiteX0" fmla="*/ 0 w 5656275"/>
                    <a:gd name="connsiteY0" fmla="*/ 0 h 508162"/>
                    <a:gd name="connsiteX1" fmla="*/ 5656275 w 5656275"/>
                    <a:gd name="connsiteY1" fmla="*/ 0 h 508162"/>
                    <a:gd name="connsiteX2" fmla="*/ 5656275 w 5656275"/>
                    <a:gd name="connsiteY2" fmla="*/ 508162 h 508162"/>
                    <a:gd name="connsiteX3" fmla="*/ 0 w 5656275"/>
                    <a:gd name="connsiteY3" fmla="*/ 508162 h 508162"/>
                    <a:gd name="connsiteX4" fmla="*/ 0 w 5656275"/>
                    <a:gd name="connsiteY4" fmla="*/ 0 h 5081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56275" h="508162">
                      <a:moveTo>
                        <a:pt x="0" y="0"/>
                      </a:moveTo>
                      <a:lnTo>
                        <a:pt x="5656275" y="0"/>
                      </a:lnTo>
                      <a:lnTo>
                        <a:pt x="5656275" y="508162"/>
                      </a:lnTo>
                      <a:lnTo>
                        <a:pt x="0" y="508162"/>
                      </a:lnTo>
                      <a:lnTo>
                        <a:pt x="0" y="0"/>
                      </a:lnTo>
                      <a:close/>
                    </a:path>
                  </a:pathLst>
                </a:custGeom>
              </p:spPr>
              <p:style>
                <a:lnRef idx="2">
                  <a:schemeClr val="lt1">
                    <a:hueOff val="0"/>
                    <a:satOff val="0"/>
                    <a:lumOff val="0"/>
                    <a:alphaOff val="0"/>
                  </a:schemeClr>
                </a:lnRef>
                <a:fillRef idx="1">
                  <a:schemeClr val="accent5">
                    <a:hueOff val="-3096517"/>
                    <a:satOff val="31044"/>
                    <a:lumOff val="-21569"/>
                    <a:alphaOff val="0"/>
                  </a:schemeClr>
                </a:fillRef>
                <a:effectRef idx="0">
                  <a:schemeClr val="accent5">
                    <a:hueOff val="-3096517"/>
                    <a:satOff val="31044"/>
                    <a:lumOff val="-21569"/>
                    <a:alphaOff val="0"/>
                  </a:schemeClr>
                </a:effectRef>
                <a:fontRef idx="minor">
                  <a:schemeClr val="lt1"/>
                </a:fontRef>
              </p:style>
              <p:txBody>
                <a:bodyPr spcFirstLastPara="0" vert="horz" wrap="square" lIns="403354" tIns="38100" rIns="38100" bIns="38100" numCol="1" spcCol="1270" anchor="ctr" anchorCtr="0">
                  <a:noAutofit/>
                </a:bodyPr>
                <a:lstStyle/>
                <a:p>
                  <a:pPr>
                    <a:spcBef>
                      <a:spcPts val="600"/>
                    </a:spcBef>
                    <a:spcAft>
                      <a:spcPts val="1200"/>
                    </a:spcAft>
                  </a:pPr>
                  <a:r>
                    <a:rPr lang="en-AU" sz="1500" dirty="0" smtClean="0">
                      <a:latin typeface="Helvetica" pitchFamily="34" charset="0"/>
                    </a:rPr>
                    <a:t>Archive lessons learned from the sponsorship engagement for future reference</a:t>
                  </a:r>
                  <a:endParaRPr lang="en-AU" sz="1500" dirty="0">
                    <a:latin typeface="Helvetica" pitchFamily="34" charset="0"/>
                  </a:endParaRPr>
                </a:p>
              </p:txBody>
            </p:sp>
            <p:sp>
              <p:nvSpPr>
                <p:cNvPr id="23" name="Oval 22"/>
                <p:cNvSpPr/>
                <p:nvPr/>
              </p:nvSpPr>
              <p:spPr>
                <a:xfrm>
                  <a:off x="750504" y="5371254"/>
                  <a:ext cx="635203" cy="635203"/>
                </a:xfrm>
                <a:prstGeom prst="ellipse">
                  <a:avLst/>
                </a:prstGeom>
              </p:spPr>
              <p:style>
                <a:lnRef idx="2">
                  <a:schemeClr val="accent5">
                    <a:hueOff val="-3096517"/>
                    <a:satOff val="31044"/>
                    <a:lumOff val="-21569"/>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sp>
            <p:nvSpPr>
              <p:cNvPr id="9" name="TextBox 8"/>
              <p:cNvSpPr txBox="1"/>
              <p:nvPr/>
            </p:nvSpPr>
            <p:spPr>
              <a:xfrm>
                <a:off x="780074" y="2457763"/>
                <a:ext cx="576064" cy="323165"/>
              </a:xfrm>
              <a:prstGeom prst="rect">
                <a:avLst/>
              </a:prstGeom>
              <a:noFill/>
            </p:spPr>
            <p:txBody>
              <a:bodyPr wrap="square" rtlCol="0">
                <a:spAutoFit/>
              </a:bodyPr>
              <a:lstStyle/>
              <a:p>
                <a:pPr algn="ctr"/>
                <a:r>
                  <a:rPr lang="en-AU" sz="1500" b="1" dirty="0">
                    <a:latin typeface="Helvetica" pitchFamily="34" charset="0"/>
                  </a:rPr>
                  <a:t>4</a:t>
                </a:r>
                <a:r>
                  <a:rPr lang="en-AU" sz="1500" b="1" dirty="0" smtClean="0">
                    <a:latin typeface="Helvetica" pitchFamily="34" charset="0"/>
                  </a:rPr>
                  <a:t>.1</a:t>
                </a:r>
                <a:endParaRPr lang="en-AU" sz="1500" b="1" dirty="0">
                  <a:latin typeface="Helvetica" pitchFamily="34" charset="0"/>
                </a:endParaRPr>
              </a:p>
            </p:txBody>
          </p:sp>
          <p:sp>
            <p:nvSpPr>
              <p:cNvPr id="10" name="TextBox 9"/>
              <p:cNvSpPr txBox="1"/>
              <p:nvPr/>
            </p:nvSpPr>
            <p:spPr>
              <a:xfrm>
                <a:off x="1144208" y="3241272"/>
                <a:ext cx="576064" cy="323165"/>
              </a:xfrm>
              <a:prstGeom prst="rect">
                <a:avLst/>
              </a:prstGeom>
              <a:noFill/>
            </p:spPr>
            <p:txBody>
              <a:bodyPr wrap="square" rtlCol="0">
                <a:spAutoFit/>
              </a:bodyPr>
              <a:lstStyle/>
              <a:p>
                <a:pPr algn="ctr"/>
                <a:r>
                  <a:rPr lang="en-AU" sz="1500" b="1" dirty="0" smtClean="0">
                    <a:latin typeface="Helvetica" pitchFamily="34" charset="0"/>
                  </a:rPr>
                  <a:t>4.2</a:t>
                </a:r>
                <a:endParaRPr lang="en-AU" sz="1500" b="1" dirty="0">
                  <a:latin typeface="Helvetica" pitchFamily="34" charset="0"/>
                </a:endParaRPr>
              </a:p>
            </p:txBody>
          </p:sp>
          <p:sp>
            <p:nvSpPr>
              <p:cNvPr id="11" name="TextBox 10"/>
              <p:cNvSpPr txBox="1"/>
              <p:nvPr/>
            </p:nvSpPr>
            <p:spPr>
              <a:xfrm>
                <a:off x="1259632" y="4003274"/>
                <a:ext cx="576064" cy="323165"/>
              </a:xfrm>
              <a:prstGeom prst="rect">
                <a:avLst/>
              </a:prstGeom>
              <a:noFill/>
            </p:spPr>
            <p:txBody>
              <a:bodyPr wrap="square" rtlCol="0">
                <a:spAutoFit/>
              </a:bodyPr>
              <a:lstStyle/>
              <a:p>
                <a:pPr algn="ctr"/>
                <a:r>
                  <a:rPr lang="en-AU" sz="1500" b="1" dirty="0" smtClean="0">
                    <a:latin typeface="Helvetica" pitchFamily="34" charset="0"/>
                  </a:rPr>
                  <a:t>4.3</a:t>
                </a:r>
                <a:endParaRPr lang="en-AU" sz="1500" b="1" dirty="0">
                  <a:latin typeface="Helvetica" pitchFamily="34" charset="0"/>
                </a:endParaRPr>
              </a:p>
            </p:txBody>
          </p:sp>
          <p:sp>
            <p:nvSpPr>
              <p:cNvPr id="12" name="TextBox 11"/>
              <p:cNvSpPr txBox="1"/>
              <p:nvPr/>
            </p:nvSpPr>
            <p:spPr>
              <a:xfrm>
                <a:off x="1144208" y="4765272"/>
                <a:ext cx="576064" cy="323165"/>
              </a:xfrm>
              <a:prstGeom prst="rect">
                <a:avLst/>
              </a:prstGeom>
              <a:noFill/>
            </p:spPr>
            <p:txBody>
              <a:bodyPr wrap="square" rtlCol="0">
                <a:spAutoFit/>
              </a:bodyPr>
              <a:lstStyle/>
              <a:p>
                <a:pPr algn="ctr"/>
                <a:r>
                  <a:rPr lang="en-AU" sz="1500" b="1" dirty="0" smtClean="0">
                    <a:latin typeface="Helvetica" pitchFamily="34" charset="0"/>
                  </a:rPr>
                  <a:t>4.4</a:t>
                </a:r>
                <a:endParaRPr lang="en-AU" sz="1500" b="1" dirty="0">
                  <a:latin typeface="Helvetica" pitchFamily="34" charset="0"/>
                </a:endParaRPr>
              </a:p>
            </p:txBody>
          </p:sp>
          <p:sp>
            <p:nvSpPr>
              <p:cNvPr id="13" name="TextBox 12"/>
              <p:cNvSpPr txBox="1"/>
              <p:nvPr/>
            </p:nvSpPr>
            <p:spPr>
              <a:xfrm>
                <a:off x="793089" y="5527272"/>
                <a:ext cx="576064" cy="323165"/>
              </a:xfrm>
              <a:prstGeom prst="rect">
                <a:avLst/>
              </a:prstGeom>
              <a:noFill/>
            </p:spPr>
            <p:txBody>
              <a:bodyPr wrap="square" rtlCol="0">
                <a:spAutoFit/>
              </a:bodyPr>
              <a:lstStyle/>
              <a:p>
                <a:pPr algn="ctr"/>
                <a:r>
                  <a:rPr lang="en-AU" sz="1500" b="1" dirty="0" smtClean="0">
                    <a:latin typeface="Helvetica" pitchFamily="34" charset="0"/>
                  </a:rPr>
                  <a:t>4.5</a:t>
                </a:r>
                <a:endParaRPr lang="en-AU" sz="1500" b="1" dirty="0">
                  <a:latin typeface="Helvetica" pitchFamily="34" charset="0"/>
                </a:endParaRPr>
              </a:p>
            </p:txBody>
          </p:sp>
        </p:gr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368152"/>
          </a:xfrm>
        </p:spPr>
        <p:txBody>
          <a:bodyPr>
            <a:noAutofit/>
          </a:bodyPr>
          <a:lstStyle/>
          <a:p>
            <a:pPr marL="895350" indent="-895350"/>
            <a:r>
              <a:rPr lang="en-US" sz="3000" b="1" dirty="0" smtClean="0">
                <a:solidFill>
                  <a:srgbClr val="FF6600"/>
                </a:solidFill>
                <a:latin typeface="Helvetica" pitchFamily="34" charset="0"/>
              </a:rPr>
              <a:t>4.1	Assess the outcomes and results of the sponsorship against predetermined KPIs</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632848" cy="4680520"/>
          </a:xfrm>
        </p:spPr>
        <p:txBody>
          <a:bodyPr>
            <a:noAutofit/>
          </a:bodyPr>
          <a:lstStyle/>
          <a:p>
            <a:pPr marL="0" indent="0">
              <a:spcBef>
                <a:spcPts val="600"/>
              </a:spcBef>
              <a:spcAft>
                <a:spcPts val="600"/>
              </a:spcAft>
              <a:buNone/>
            </a:pPr>
            <a:r>
              <a:rPr lang="en-US" sz="1800" dirty="0" smtClean="0">
                <a:latin typeface="Helvetica" pitchFamily="34" charset="0"/>
                <a:cs typeface="Helvetica" pitchFamily="34" charset="0"/>
              </a:rPr>
              <a:t>Managing the measurement process:</a:t>
            </a:r>
          </a:p>
          <a:p>
            <a:pPr>
              <a:spcBef>
                <a:spcPts val="600"/>
              </a:spcBef>
              <a:spcAft>
                <a:spcPts val="600"/>
              </a:spcAft>
            </a:pPr>
            <a:r>
              <a:rPr lang="en-AU" sz="1800" dirty="0" smtClean="0">
                <a:latin typeface="Helvetica" pitchFamily="34" charset="0"/>
                <a:cs typeface="Helvetica" pitchFamily="34" charset="0"/>
              </a:rPr>
              <a:t>Vanity - the selection of measures that make management look good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Provincialism - keeping within organizational or industry boundaries when new measure are needed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Narcissism - measuring from one's own point of view, not that of the customer</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Laziness - assuming one's knows what to measure without giving it thought</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Pettiness - measuring a small subset of what should be measured</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Inanity - measuring without thought of how measurement or actions based on it will influence the organization</a:t>
            </a:r>
            <a:endParaRPr lang="en-US" sz="1800" dirty="0" smtClean="0">
              <a:latin typeface="Helvetica" pitchFamily="34" charset="0"/>
              <a:cs typeface="Helvetica" pitchFamily="34" charset="0"/>
            </a:endParaRPr>
          </a:p>
          <a:p>
            <a:pPr>
              <a:spcBef>
                <a:spcPts val="600"/>
              </a:spcBef>
              <a:spcAft>
                <a:spcPts val="600"/>
              </a:spcAft>
            </a:pPr>
            <a:r>
              <a:rPr lang="en-AU" sz="1800" dirty="0" smtClean="0">
                <a:latin typeface="Helvetica" pitchFamily="34" charset="0"/>
                <a:cs typeface="Helvetica" pitchFamily="34" charset="0"/>
              </a:rPr>
              <a:t>Frivolity - not being serious about measuring</a:t>
            </a:r>
            <a:endParaRPr lang="en-US" sz="1800" dirty="0" smtClean="0">
              <a:latin typeface="Helvetica" pitchFamily="34" charset="0"/>
              <a:cs typeface="Helvetica" pitchFamily="34" charset="0"/>
            </a:endParaRPr>
          </a:p>
          <a:p>
            <a:pPr marL="360000" indent="-360000">
              <a:spcBef>
                <a:spcPts val="600"/>
              </a:spcBef>
              <a:spcAft>
                <a:spcPts val="600"/>
              </a:spcAft>
            </a:pPr>
            <a:endParaRPr lang="en-US" sz="1800" dirty="0" smtClean="0">
              <a:latin typeface="Helvetica" pitchFamily="34" charset="0"/>
              <a:cs typeface="Helvetica" pitchFamily="34" charset="0"/>
            </a:endParaRPr>
          </a:p>
          <a:p>
            <a:pPr marL="360000" indent="-360000">
              <a:spcBef>
                <a:spcPts val="600"/>
              </a:spcBef>
              <a:spcAft>
                <a:spcPts val="600"/>
              </a:spcAft>
              <a:buNone/>
            </a:pPr>
            <a:endParaRPr lang="en-US" sz="18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844824"/>
            <a:ext cx="7467600" cy="4608512"/>
          </a:xfrm>
        </p:spPr>
        <p:txBody>
          <a:bodyPr>
            <a:noAutofit/>
          </a:bodyPr>
          <a:lstStyle/>
          <a:p>
            <a:pPr marL="0" indent="0">
              <a:spcBef>
                <a:spcPts val="600"/>
              </a:spcBef>
              <a:spcAft>
                <a:spcPts val="1200"/>
              </a:spcAft>
              <a:buNone/>
            </a:pPr>
            <a:r>
              <a:rPr lang="en-AU" sz="2200" dirty="0" smtClean="0">
                <a:latin typeface="Helvetica" pitchFamily="34" charset="0"/>
                <a:cs typeface="Helvetica" pitchFamily="34" charset="0"/>
              </a:rPr>
              <a:t>Assessing results of a sponsorship activity could include</a:t>
            </a:r>
            <a:r>
              <a:rPr lang="en-US" sz="2200" dirty="0" smtClean="0">
                <a:latin typeface="Helvetica" pitchFamily="34" charset="0"/>
                <a:cs typeface="Helvetica" pitchFamily="34" charset="0"/>
              </a:rPr>
              <a:t>:</a:t>
            </a:r>
          </a:p>
          <a:p>
            <a:pPr marL="360000" indent="-360000">
              <a:spcBef>
                <a:spcPts val="600"/>
              </a:spcBef>
              <a:spcAft>
                <a:spcPts val="1200"/>
              </a:spcAft>
            </a:pPr>
            <a:r>
              <a:rPr lang="en-AU" sz="2200" dirty="0" smtClean="0">
                <a:latin typeface="Helvetica" pitchFamily="34" charset="0"/>
                <a:cs typeface="Helvetica" pitchFamily="34" charset="0"/>
              </a:rPr>
              <a:t>Compiling data that has been captured </a:t>
            </a:r>
            <a:endParaRPr lang="en-US" sz="2200" dirty="0" smtClean="0">
              <a:latin typeface="Helvetica" pitchFamily="34" charset="0"/>
              <a:cs typeface="Helvetica" pitchFamily="34" charset="0"/>
            </a:endParaRPr>
          </a:p>
          <a:p>
            <a:pPr marL="360000" indent="-360000">
              <a:spcBef>
                <a:spcPts val="600"/>
              </a:spcBef>
              <a:spcAft>
                <a:spcPts val="1200"/>
              </a:spcAft>
            </a:pPr>
            <a:r>
              <a:rPr lang="en-AU" sz="2200" dirty="0" smtClean="0">
                <a:latin typeface="Helvetica" pitchFamily="34" charset="0"/>
                <a:cs typeface="Helvetica" pitchFamily="34" charset="0"/>
              </a:rPr>
              <a:t>Quantifying statistical data</a:t>
            </a:r>
            <a:endParaRPr lang="en-US" sz="2200" dirty="0" smtClean="0">
              <a:latin typeface="Helvetica" pitchFamily="34" charset="0"/>
              <a:cs typeface="Helvetica" pitchFamily="34" charset="0"/>
            </a:endParaRPr>
          </a:p>
          <a:p>
            <a:pPr marL="360000" indent="-360000">
              <a:spcBef>
                <a:spcPts val="600"/>
              </a:spcBef>
              <a:spcAft>
                <a:spcPts val="1200"/>
              </a:spcAft>
            </a:pPr>
            <a:r>
              <a:rPr lang="en-AU" sz="2200" dirty="0" smtClean="0">
                <a:latin typeface="Helvetica" pitchFamily="34" charset="0"/>
                <a:cs typeface="Helvetica" pitchFamily="34" charset="0"/>
              </a:rPr>
              <a:t>Comparing actual outcomes/results against projections, expectations and nominated key performance indicators</a:t>
            </a:r>
          </a:p>
          <a:p>
            <a:pPr marL="360000" indent="-360000">
              <a:spcBef>
                <a:spcPts val="600"/>
              </a:spcBef>
              <a:spcAft>
                <a:spcPts val="1200"/>
              </a:spcAft>
            </a:pPr>
            <a:r>
              <a:rPr lang="en-AU" sz="2200" dirty="0" smtClean="0">
                <a:latin typeface="Helvetica" pitchFamily="34" charset="0"/>
                <a:cs typeface="Helvetica" pitchFamily="34" charset="0"/>
              </a:rPr>
              <a:t>Seeking reasons behind the attainment or non-attainment of stated targets and objectives</a:t>
            </a:r>
          </a:p>
          <a:p>
            <a:pPr marL="360000" indent="-360000">
              <a:spcBef>
                <a:spcPts val="600"/>
              </a:spcBef>
              <a:spcAft>
                <a:spcPts val="1200"/>
              </a:spcAft>
            </a:pPr>
            <a:r>
              <a:rPr lang="en-AU" sz="2200" dirty="0" smtClean="0">
                <a:latin typeface="Helvetica" pitchFamily="34" charset="0"/>
                <a:cs typeface="Helvetica" pitchFamily="34" charset="0"/>
              </a:rPr>
              <a:t>Often sponsorship evaluation will be based around the Return on Investment (ROI) </a:t>
            </a:r>
          </a:p>
          <a:p>
            <a:pPr marL="360000" indent="-360000">
              <a:spcBef>
                <a:spcPts val="600"/>
              </a:spcBef>
              <a:spcAft>
                <a:spcPts val="1200"/>
              </a:spcAft>
            </a:pPr>
            <a:endParaRPr lang="en-US" sz="2200" dirty="0" smtClean="0">
              <a:latin typeface="Helvetica" pitchFamily="34" charset="0"/>
              <a:cs typeface="Helvetica" pitchFamily="34" charset="0"/>
            </a:endParaRPr>
          </a:p>
          <a:p>
            <a:pPr marL="360000" indent="-360000">
              <a:spcBef>
                <a:spcPts val="600"/>
              </a:spcBef>
              <a:spcAft>
                <a:spcPts val="1200"/>
              </a:spcAft>
              <a:buNone/>
            </a:pPr>
            <a:endParaRPr lang="en-US"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sp>
        <p:nvSpPr>
          <p:cNvPr id="6" name="Title 1"/>
          <p:cNvSpPr>
            <a:spLocks noGrp="1"/>
          </p:cNvSpPr>
          <p:nvPr>
            <p:ph type="title"/>
          </p:nvPr>
        </p:nvSpPr>
        <p:spPr>
          <a:xfrm>
            <a:off x="611560" y="332656"/>
            <a:ext cx="7467600" cy="1368152"/>
          </a:xfrm>
        </p:spPr>
        <p:txBody>
          <a:bodyPr>
            <a:noAutofit/>
          </a:bodyPr>
          <a:lstStyle/>
          <a:p>
            <a:pPr marL="895350" indent="-895350"/>
            <a:r>
              <a:rPr lang="en-US" sz="3000" b="1" dirty="0" smtClean="0">
                <a:solidFill>
                  <a:srgbClr val="FF6600"/>
                </a:solidFill>
                <a:latin typeface="Helvetica" pitchFamily="34" charset="0"/>
              </a:rPr>
              <a:t>4.1	Assess the outcomes and results of the sponsorship against predetermined KPIs</a:t>
            </a:r>
            <a:endParaRPr lang="en-US" sz="3000" b="1" dirty="0">
              <a:solidFill>
                <a:srgbClr val="FF6600"/>
              </a:solidFill>
              <a:latin typeface="Helvetica"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US" sz="3000" b="1" dirty="0" smtClean="0">
                <a:solidFill>
                  <a:srgbClr val="FF6600"/>
                </a:solidFill>
                <a:latin typeface="Helvetica" pitchFamily="34" charset="0"/>
              </a:rPr>
              <a:t>4.2	Seek feedback on the sponsorship event or activity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484784"/>
            <a:ext cx="7776864" cy="4968552"/>
          </a:xfrm>
        </p:spPr>
        <p:txBody>
          <a:bodyPr>
            <a:noAutofit/>
          </a:bodyPr>
          <a:lstStyle/>
          <a:p>
            <a:pPr marL="0" indent="0">
              <a:lnSpc>
                <a:spcPts val="2600"/>
              </a:lnSpc>
              <a:spcBef>
                <a:spcPts val="600"/>
              </a:spcBef>
              <a:spcAft>
                <a:spcPts val="600"/>
              </a:spcAft>
              <a:buNone/>
            </a:pPr>
            <a:r>
              <a:rPr lang="en-AU" sz="1700" dirty="0" smtClean="0">
                <a:latin typeface="Helvetica" pitchFamily="34" charset="0"/>
                <a:cs typeface="Helvetica" pitchFamily="34" charset="0"/>
              </a:rPr>
              <a:t>Feedback is an important tool for determining the success or failure of an activity and it also can assist in the  planning of future activities. Feedback may need to be gathered from</a:t>
            </a:r>
            <a:r>
              <a:rPr lang="en-US" sz="1700" dirty="0" smtClean="0">
                <a:latin typeface="Helvetica" pitchFamily="34" charset="0"/>
                <a:cs typeface="Helvetica" pitchFamily="34" charset="0"/>
              </a:rPr>
              <a:t>:</a:t>
            </a:r>
          </a:p>
          <a:p>
            <a:pPr>
              <a:lnSpc>
                <a:spcPts val="2600"/>
              </a:lnSpc>
              <a:spcBef>
                <a:spcPts val="600"/>
              </a:spcBef>
              <a:spcAft>
                <a:spcPts val="600"/>
              </a:spcAft>
            </a:pPr>
            <a:r>
              <a:rPr lang="en-AU" sz="1700" dirty="0" smtClean="0">
                <a:latin typeface="Helvetica" pitchFamily="34" charset="0"/>
                <a:cs typeface="Helvetica" pitchFamily="34" charset="0"/>
              </a:rPr>
              <a:t>Sponsorship partners</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Participants in the sponsored event/activity</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Members of the general public</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Enterprise staff who attended and/or </a:t>
            </a:r>
            <a:br>
              <a:rPr lang="en-AU" sz="1700" dirty="0" smtClean="0">
                <a:latin typeface="Helvetica" pitchFamily="34" charset="0"/>
                <a:cs typeface="Helvetica" pitchFamily="34" charset="0"/>
              </a:rPr>
            </a:br>
            <a:r>
              <a:rPr lang="en-AU" sz="1700" dirty="0" smtClean="0">
                <a:latin typeface="Helvetica" pitchFamily="34" charset="0"/>
                <a:cs typeface="Helvetica" pitchFamily="34" charset="0"/>
              </a:rPr>
              <a:t>worked on the event</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Industry peak bodies</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Government agencies</a:t>
            </a:r>
            <a:endParaRPr lang="en-US" sz="1700" dirty="0" smtClean="0">
              <a:latin typeface="Helvetica" pitchFamily="34" charset="0"/>
              <a:cs typeface="Helvetica" pitchFamily="34" charset="0"/>
            </a:endParaRPr>
          </a:p>
          <a:p>
            <a:pPr>
              <a:lnSpc>
                <a:spcPts val="2600"/>
              </a:lnSpc>
              <a:spcBef>
                <a:spcPts val="600"/>
              </a:spcBef>
              <a:spcAft>
                <a:spcPts val="600"/>
              </a:spcAft>
            </a:pPr>
            <a:r>
              <a:rPr lang="en-AU" sz="1700" dirty="0" smtClean="0">
                <a:latin typeface="Helvetica" pitchFamily="34" charset="0"/>
                <a:cs typeface="Helvetica" pitchFamily="34" charset="0"/>
              </a:rPr>
              <a:t>Joint venture partners, such as suppliers/providers who provided assistance to the host enterprise sponsorship activities</a:t>
            </a:r>
            <a:endParaRPr lang="en-US" sz="1700" dirty="0" smtClean="0">
              <a:latin typeface="Helvetica" pitchFamily="34" charset="0"/>
              <a:cs typeface="Helvetica" pitchFamily="34" charset="0"/>
            </a:endParaRPr>
          </a:p>
          <a:p>
            <a:pPr marL="360000" indent="-360000">
              <a:lnSpc>
                <a:spcPts val="2600"/>
              </a:lnSpc>
              <a:spcBef>
                <a:spcPts val="600"/>
              </a:spcBef>
              <a:spcAft>
                <a:spcPts val="600"/>
              </a:spcAft>
              <a:buNone/>
            </a:pPr>
            <a:endParaRPr lang="en-US" sz="17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80112" y="2924944"/>
            <a:ext cx="2615183" cy="19613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895350" indent="-895350"/>
            <a:r>
              <a:rPr lang="en-AU" sz="3000" b="1" dirty="0" smtClean="0">
                <a:solidFill>
                  <a:srgbClr val="FF6600"/>
                </a:solidFill>
                <a:latin typeface="Helvetica" pitchFamily="34" charset="0"/>
              </a:rPr>
              <a:t>4.3	Provide feedback to the organiser of the sponsorship event or activity</a:t>
            </a:r>
            <a:endParaRPr lang="en-AU" sz="3000" b="1" dirty="0">
              <a:solidFill>
                <a:srgbClr val="FF6600"/>
              </a:solidFill>
              <a:latin typeface="Helvetica" pitchFamily="34" charset="0"/>
            </a:endParaRPr>
          </a:p>
        </p:txBody>
      </p:sp>
      <p:sp>
        <p:nvSpPr>
          <p:cNvPr id="3" name="Content Placeholder 2"/>
          <p:cNvSpPr>
            <a:spLocks noGrp="1"/>
          </p:cNvSpPr>
          <p:nvPr>
            <p:ph idx="1"/>
          </p:nvPr>
        </p:nvSpPr>
        <p:spPr>
          <a:xfrm>
            <a:off x="611560" y="1628800"/>
            <a:ext cx="7467600" cy="4453955"/>
          </a:xfrm>
        </p:spPr>
        <p:txBody>
          <a:bodyPr>
            <a:normAutofit/>
          </a:bodyPr>
          <a:lstStyle/>
          <a:p>
            <a:pPr marL="0" indent="0">
              <a:spcBef>
                <a:spcPts val="600"/>
              </a:spcBef>
              <a:spcAft>
                <a:spcPts val="1200"/>
              </a:spcAft>
              <a:buNone/>
            </a:pPr>
            <a:r>
              <a:rPr lang="en-AU" sz="2200" dirty="0" smtClean="0">
                <a:latin typeface="Helvetica" pitchFamily="34" charset="0"/>
                <a:cs typeface="Helvetica" pitchFamily="34" charset="0"/>
              </a:rPr>
              <a:t>It is important to provide appropriate feedback to the event organisers so they can respond and improve future activities. Providing feedback may include:</a:t>
            </a:r>
          </a:p>
          <a:p>
            <a:pPr marL="360000" indent="-360000">
              <a:spcBef>
                <a:spcPts val="600"/>
              </a:spcBef>
              <a:spcAft>
                <a:spcPts val="1200"/>
              </a:spcAft>
            </a:pPr>
            <a:r>
              <a:rPr lang="en-AU" sz="2200" dirty="0" smtClean="0">
                <a:latin typeface="Helvetica" pitchFamily="34" charset="0"/>
                <a:cs typeface="Helvetica" pitchFamily="34" charset="0"/>
              </a:rPr>
              <a:t>Providing hard and soft data regarding the effects of the sponsorship on the organisation</a:t>
            </a:r>
          </a:p>
          <a:p>
            <a:pPr marL="360000" indent="-360000">
              <a:spcBef>
                <a:spcPts val="600"/>
              </a:spcBef>
              <a:spcAft>
                <a:spcPts val="1200"/>
              </a:spcAft>
            </a:pPr>
            <a:r>
              <a:rPr lang="en-AU" sz="2200" dirty="0" smtClean="0">
                <a:latin typeface="Helvetica" pitchFamily="34" charset="0"/>
                <a:cs typeface="Helvetica" pitchFamily="34" charset="0"/>
              </a:rPr>
              <a:t>Meeting with those involved to discuss the general implementation of the event</a:t>
            </a:r>
          </a:p>
          <a:p>
            <a:pPr marL="360000" indent="-360000">
              <a:spcBef>
                <a:spcPts val="600"/>
              </a:spcBef>
              <a:spcAft>
                <a:spcPts val="1200"/>
              </a:spcAft>
            </a:pPr>
            <a:r>
              <a:rPr lang="en-AU" sz="2200" dirty="0" smtClean="0">
                <a:latin typeface="Helvetica" pitchFamily="34" charset="0"/>
                <a:cs typeface="Helvetica" pitchFamily="34" charset="0"/>
              </a:rPr>
              <a:t>Sharing information is a significant part of relationship building and open communication will ensure stronger partnerships and improved future performance</a:t>
            </a:r>
          </a:p>
          <a:p>
            <a:pPr marL="360000" indent="-360000">
              <a:spcBef>
                <a:spcPts val="600"/>
              </a:spcBef>
              <a:spcAft>
                <a:spcPts val="1200"/>
              </a:spcAft>
            </a:pPr>
            <a:endParaRPr lang="en-AU" sz="2200" dirty="0" smtClean="0">
              <a:latin typeface="Helvetica" pitchFamily="34" charset="0"/>
              <a:cs typeface="Helvetica" pitchFamily="34" charset="0"/>
            </a:endParaRPr>
          </a:p>
          <a:p>
            <a:pPr marL="360000" indent="-360000">
              <a:spcBef>
                <a:spcPts val="600"/>
              </a:spcBef>
              <a:spcAft>
                <a:spcPts val="1200"/>
              </a:spcAft>
              <a:buNone/>
            </a:pPr>
            <a:endParaRPr lang="en-AU" sz="2200" dirty="0" smtClean="0">
              <a:latin typeface="Helvetica" pitchFamily="34" charset="0"/>
              <a:cs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895350" indent="-895350"/>
            <a:r>
              <a:rPr lang="en-US" sz="3000" b="1" dirty="0" smtClean="0">
                <a:solidFill>
                  <a:srgbClr val="FF6600"/>
                </a:solidFill>
                <a:latin typeface="Helvetica" pitchFamily="34" charset="0"/>
              </a:rPr>
              <a:t>4.4	Determine whether similar sponsorship involvement will occur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381947"/>
          </a:xfrm>
        </p:spPr>
        <p:txBody>
          <a:bodyPr>
            <a:normAutofit/>
          </a:bodyPr>
          <a:lstStyle/>
          <a:p>
            <a:pPr marL="0" indent="0">
              <a:spcBef>
                <a:spcPts val="600"/>
              </a:spcBef>
              <a:spcAft>
                <a:spcPts val="1200"/>
              </a:spcAft>
              <a:buNone/>
            </a:pPr>
            <a:r>
              <a:rPr lang="en-AU" sz="2200" dirty="0" smtClean="0">
                <a:latin typeface="Helvetica" pitchFamily="34" charset="0"/>
              </a:rPr>
              <a:t>In determining whether the organisation should participate in similar sponsorship activities, it is important to evaluate:</a:t>
            </a:r>
          </a:p>
          <a:p>
            <a:pPr marL="360000" indent="-360000">
              <a:spcBef>
                <a:spcPts val="600"/>
              </a:spcBef>
              <a:spcAft>
                <a:spcPts val="1200"/>
              </a:spcAft>
            </a:pPr>
            <a:r>
              <a:rPr lang="en-AU" sz="2200" dirty="0" smtClean="0">
                <a:latin typeface="Helvetica" pitchFamily="34" charset="0"/>
              </a:rPr>
              <a:t>The relationship between the parties</a:t>
            </a:r>
          </a:p>
          <a:p>
            <a:pPr marL="360000" indent="-360000">
              <a:spcBef>
                <a:spcPts val="600"/>
              </a:spcBef>
              <a:spcAft>
                <a:spcPts val="1200"/>
              </a:spcAft>
            </a:pPr>
            <a:r>
              <a:rPr lang="en-AU" sz="2200" dirty="0" smtClean="0">
                <a:latin typeface="Helvetica" pitchFamily="34" charset="0"/>
              </a:rPr>
              <a:t>The outcomes of the event</a:t>
            </a:r>
          </a:p>
          <a:p>
            <a:pPr marL="360000" indent="-360000">
              <a:spcBef>
                <a:spcPts val="600"/>
              </a:spcBef>
              <a:spcAft>
                <a:spcPts val="1200"/>
              </a:spcAft>
            </a:pPr>
            <a:r>
              <a:rPr lang="en-AU" sz="2200" dirty="0" smtClean="0">
                <a:latin typeface="Helvetica" pitchFamily="34" charset="0"/>
              </a:rPr>
              <a:t>The process</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6" name="Picture 5" descr="C:\Users\Quentin\AppData\Local\Microsoft\Windows\Temporary Internet Files\Content.IE5\225CUFF9\10034617715_51f7a1bf09_z[1].jpg"/>
          <p:cNvPicPr/>
          <p:nvPr/>
        </p:nvPicPr>
        <p:blipFill>
          <a:blip r:embed="rId3" cstate="print"/>
          <a:srcRect/>
          <a:stretch>
            <a:fillRect/>
          </a:stretch>
        </p:blipFill>
        <p:spPr bwMode="auto">
          <a:xfrm>
            <a:off x="5595317" y="2950840"/>
            <a:ext cx="2520280" cy="2088232"/>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pPr marL="895350" indent="-895350"/>
            <a:r>
              <a:rPr lang="en-US" sz="3000" b="1" dirty="0" smtClean="0">
                <a:solidFill>
                  <a:srgbClr val="FF6600"/>
                </a:solidFill>
                <a:latin typeface="Helvetica" pitchFamily="34" charset="0"/>
              </a:rPr>
              <a:t>4.5	Archive lessons learned from the sponsorship engagement for future reference </a:t>
            </a:r>
            <a:endParaRPr lang="en-US" sz="3000" b="1" dirty="0">
              <a:solidFill>
                <a:srgbClr val="FF6600"/>
              </a:solidFill>
              <a:latin typeface="Helvetica" pitchFamily="34" charset="0"/>
            </a:endParaRPr>
          </a:p>
        </p:txBody>
      </p:sp>
      <p:sp>
        <p:nvSpPr>
          <p:cNvPr id="3" name="Content Placeholder 2"/>
          <p:cNvSpPr>
            <a:spLocks noGrp="1"/>
          </p:cNvSpPr>
          <p:nvPr>
            <p:ph idx="1"/>
          </p:nvPr>
        </p:nvSpPr>
        <p:spPr>
          <a:xfrm>
            <a:off x="611560" y="1844824"/>
            <a:ext cx="7467600" cy="4237931"/>
          </a:xfrm>
        </p:spPr>
        <p:txBody>
          <a:bodyPr>
            <a:normAutofit/>
          </a:bodyPr>
          <a:lstStyle/>
          <a:p>
            <a:pPr marL="0" indent="0">
              <a:spcBef>
                <a:spcPts val="600"/>
              </a:spcBef>
              <a:spcAft>
                <a:spcPts val="1200"/>
              </a:spcAft>
              <a:buNone/>
            </a:pPr>
            <a:r>
              <a:rPr lang="en-US" sz="2200" dirty="0" smtClean="0">
                <a:latin typeface="Helvetica" pitchFamily="34" charset="0"/>
              </a:rPr>
              <a:t>Being able to draw upon lessons learned from sponsorship activities is important</a:t>
            </a:r>
            <a:r>
              <a:rPr lang="en-US" sz="2200" dirty="0"/>
              <a:t>:</a:t>
            </a:r>
            <a:endParaRPr lang="en-US" sz="2200" dirty="0" smtClean="0">
              <a:latin typeface="Helvetica" pitchFamily="34" charset="0"/>
            </a:endParaRPr>
          </a:p>
          <a:p>
            <a:pPr marL="360000" indent="-360000">
              <a:spcBef>
                <a:spcPts val="600"/>
              </a:spcBef>
              <a:spcAft>
                <a:spcPts val="1200"/>
              </a:spcAft>
            </a:pPr>
            <a:r>
              <a:rPr lang="en-US" sz="2200" dirty="0" smtClean="0">
                <a:latin typeface="Helvetica" pitchFamily="34" charset="0"/>
              </a:rPr>
              <a:t>Reasons to keep records</a:t>
            </a:r>
          </a:p>
          <a:p>
            <a:pPr marL="360000" indent="-360000">
              <a:spcBef>
                <a:spcPts val="600"/>
              </a:spcBef>
              <a:spcAft>
                <a:spcPts val="1200"/>
              </a:spcAft>
            </a:pPr>
            <a:r>
              <a:rPr lang="en-US" sz="2200" dirty="0" smtClean="0">
                <a:latin typeface="Helvetica" pitchFamily="34" charset="0"/>
              </a:rPr>
              <a:t>Options for storing records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C:\Users\Quentin\AppData\Local\Microsoft\Windows\Temporary Internet Files\Content.IE5\19YMNHS8\document[1].gif"/>
          <p:cNvPicPr/>
          <p:nvPr/>
        </p:nvPicPr>
        <p:blipFill>
          <a:blip r:embed="rId3" cstate="print"/>
          <a:srcRect/>
          <a:stretch>
            <a:fillRect/>
          </a:stretch>
        </p:blipFill>
        <p:spPr bwMode="auto">
          <a:xfrm>
            <a:off x="5508104" y="2636912"/>
            <a:ext cx="2016224" cy="2483718"/>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1163</TotalTime>
  <Words>5638</Words>
  <Application>Microsoft Office PowerPoint</Application>
  <PresentationFormat>On-screen Show (4:3)</PresentationFormat>
  <Paragraphs>562</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Arial</vt:lpstr>
      <vt:lpstr>Calibri</vt:lpstr>
      <vt:lpstr>Franklin Gothic Book</vt:lpstr>
      <vt:lpstr>Helvetica</vt:lpstr>
      <vt:lpstr>Wingdings 2</vt:lpstr>
      <vt:lpstr>PPT_Tour_operation_&amp;_travel_agencies_template_130214</vt:lpstr>
      <vt:lpstr>Develop, implement and evaluate sponsorship plans</vt:lpstr>
      <vt:lpstr>Element 1: Identify the context for sponsorship activities</vt:lpstr>
      <vt:lpstr>Element 1: Identify the context for sponsorship activities</vt:lpstr>
      <vt:lpstr>1.1 Identify and assess opportunities for engagement with sponsorship activities</vt:lpstr>
      <vt:lpstr>Sponsorship objectives</vt:lpstr>
      <vt:lpstr>Linking sponsorship with promotional tools</vt:lpstr>
      <vt:lpstr>Sponsorship objectives</vt:lpstr>
      <vt:lpstr>1.2 Develop a budget for sponsorship activities</vt:lpstr>
      <vt:lpstr>Budget process</vt:lpstr>
      <vt:lpstr>1.3 Determine the criteria for participating in sponsorship activities</vt:lpstr>
      <vt:lpstr>1.4 Consider alternatives to participation in sponsorship </vt:lpstr>
      <vt:lpstr>1.5 Seek support from suppliers and service providers for sponsorship activities</vt:lpstr>
      <vt:lpstr>Seeking support process</vt:lpstr>
      <vt:lpstr>1.6 Establish protocols for monitoring participation in sponsorship activities </vt:lpstr>
      <vt:lpstr>1.7 Set criteria against which to evaluate effectiveness, and return from, sponsorship activities</vt:lpstr>
      <vt:lpstr>Criteria for evaluating effectiveness</vt:lpstr>
      <vt:lpstr>1.8  Identify products and services that may be developed to align with sponsorship activities</vt:lpstr>
      <vt:lpstr>1.9 Determine how requests for sponsorship that cannot be accommodated will be refused</vt:lpstr>
      <vt:lpstr>Preparing for refusing sponsorship applications</vt:lpstr>
      <vt:lpstr>Element 2: Develop sponsorship packages</vt:lpstr>
      <vt:lpstr>2.1 Identify the elements of a sponsorship package that the organisation is prepared to support </vt:lpstr>
      <vt:lpstr>2.2 Identify the products and services that may be offered as sponsorship</vt:lpstr>
      <vt:lpstr>2.3 Define organisational expectations in relation to expected returns for different sponsorship packages </vt:lpstr>
      <vt:lpstr>2.4 Identify the input required by the organisation into sponsorship arrangements</vt:lpstr>
      <vt:lpstr>2.5 Develop and disseminate sponsorship information to potential partners</vt:lpstr>
      <vt:lpstr>Element 3: Implement Sponsorship Packages</vt:lpstr>
      <vt:lpstr>Element 3: Implement Sponsorship Packages</vt:lpstr>
      <vt:lpstr>3.1 Confirm the details of the sponsorship the organisation is prepared to offer </vt:lpstr>
      <vt:lpstr>3.1 Confirm the details of the sponsorship the organisation is prepared to offer</vt:lpstr>
      <vt:lpstr>3.2 Confirm the return the organisation will receive  for its sponsorship</vt:lpstr>
      <vt:lpstr>Benefits and returns for the organisation</vt:lpstr>
      <vt:lpstr>3.3 Negotiate additional opportunities as a result of the initial sponsorship</vt:lpstr>
      <vt:lpstr>3.4 Complete contracts in relation to the sponsorship </vt:lpstr>
      <vt:lpstr>3.4 Complete contracts in relation to the sponsorship</vt:lpstr>
      <vt:lpstr>3.4 Complete contracts in relation to the sponsorship</vt:lpstr>
      <vt:lpstr>3.5 Brief staff in relation to the sponsorship deal that has been entered into </vt:lpstr>
      <vt:lpstr>3.6 Participate actively and willingly in the sponsored event/activity</vt:lpstr>
      <vt:lpstr>3.7 Ensure the terms and conditions of the sponsorship agreement are discharged </vt:lpstr>
      <vt:lpstr>3.8 Monitor the application of sponsorship contributions, as previously established </vt:lpstr>
      <vt:lpstr>3.9 Record results and outcomes of participation in the sponsorship, as previously determined</vt:lpstr>
      <vt:lpstr>Element 4: Evaluate involvement in the sponsorship</vt:lpstr>
      <vt:lpstr>4.1 Assess the outcomes and results of the sponsorship against predetermined KPIs</vt:lpstr>
      <vt:lpstr>4.1 Assess the outcomes and results of the sponsorship against predetermined KPIs</vt:lpstr>
      <vt:lpstr>4.2 Seek feedback on the sponsorship event or activity </vt:lpstr>
      <vt:lpstr>4.3 Provide feedback to the organiser of the sponsorship event or activity</vt:lpstr>
      <vt:lpstr>4.4 Determine whether similar sponsorship involvement will occur  </vt:lpstr>
      <vt:lpstr>4.5 Archive lessons learned from the sponsorship engagement for future reference </vt:lpstr>
    </vt:vector>
  </TitlesOfParts>
  <Company>William Angliss TAFE</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 implement and evaluate sponsorship plans</dc:title>
  <dc:creator>Kaly Quach</dc:creator>
  <cp:lastModifiedBy>Carla Angelica Co</cp:lastModifiedBy>
  <cp:revision>94</cp:revision>
  <dcterms:created xsi:type="dcterms:W3CDTF">2014-06-30T04:59:36Z</dcterms:created>
  <dcterms:modified xsi:type="dcterms:W3CDTF">2016-07-18T07:25:41Z</dcterms:modified>
</cp:coreProperties>
</file>