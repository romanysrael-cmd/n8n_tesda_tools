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45"/>
  </p:notesMasterIdLst>
  <p:handoutMasterIdLst>
    <p:handoutMasterId r:id="rId46"/>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35" autoAdjust="0"/>
    <p:restoredTop sz="85005" autoAdjust="0"/>
  </p:normalViewPr>
  <p:slideViewPr>
    <p:cSldViewPr>
      <p:cViewPr varScale="1">
        <p:scale>
          <a:sx n="78" d="100"/>
          <a:sy n="78" d="100"/>
        </p:scale>
        <p:origin x="159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7/18/2016</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7/18/2016</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introduces the unit</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420236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introduces the</a:t>
            </a:r>
            <a:r>
              <a:rPr lang="en-AU" baseline="0" noProof="0" dirty="0" smtClean="0"/>
              <a:t> element and goes through the performance criteria. Trainer informs trainees of assessment and work projects.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27388467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introduces the slide and explains the importance of inducting staff effectively. The first impression of the organisation or team is important to establish a good rapport with the employee/s.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41987687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explains the importance of</a:t>
            </a:r>
            <a:r>
              <a:rPr lang="en-AU" baseline="0" noProof="0" dirty="0" smtClean="0"/>
              <a:t> having an induction strategy and making sure that the same process is applied to all new staff members.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3049041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a:t>
            </a:r>
            <a:r>
              <a:rPr lang="en-AU" baseline="0" noProof="0" dirty="0" smtClean="0"/>
              <a:t> the slide and asks students to provide examples. Trainees read through the section in their TMs and practice with other students.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30952209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shows</a:t>
            </a:r>
            <a:r>
              <a:rPr lang="en-US" baseline="0" dirty="0" smtClean="0"/>
              <a:t> the slide and explains the idea of an organisation chart. Trainees identify who they think are the most important or relevant people to their position or role. Trainees discuss and trainer supports.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26351200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the performance criteria</a:t>
            </a:r>
            <a:r>
              <a:rPr lang="en-US" baseline="0" dirty="0" smtClean="0"/>
              <a:t> and explains the idea that positions interconnect and influence each others’ work. All staff rely on the accounting department to get their salary, and accounting requires supervisors to complete working hours of staff before they can pay the salary.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22916219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slide and explains</a:t>
            </a:r>
            <a:r>
              <a:rPr lang="en-US" baseline="0" dirty="0" smtClean="0"/>
              <a:t> the different levels of authority within organisations. Trainer might want to show examples of organisational charts in the hospitality and tourism industry. There are many various examples available online. Trainees can read through the information in their TMs. Trainer asks trainees to identify how their position relates to others in the organisation.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23130973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information from the slide. Trainees read through the introduction in their TMs.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1617155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each type of structure using</a:t>
            </a:r>
            <a:r>
              <a:rPr lang="en-US" baseline="0" dirty="0" smtClean="0"/>
              <a:t> information from TM. It is possible to incorporate other examples of organisational structure like mechanical and organic and to show companies that use these structures (Google, Airlines, Apple). There is a lot of information available on the internet to support examples.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38561305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a:t>
            </a:r>
            <a:r>
              <a:rPr lang="en-US" baseline="0" dirty="0" smtClean="0"/>
              <a:t> the slide and trainees read through the explanation from their TMs. Trainees explain their own work context and structures using the terms in the slide. Is their workplace highly centralised, with very specific job roles or do staff perform multiple roles? Trainer can use examples of big hotel chains with strict guidelines, departments, SOPs etc versus smaller more organic hotels or organisations. Trainees complete the activity regarding organisational structure and report back to the class.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21857957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a:t>
            </a:r>
            <a:r>
              <a:rPr lang="en-US" baseline="0" dirty="0" smtClean="0"/>
              <a:t> the slide and trainees discuss how they can speak positively about their organisation. Trainees could present different aspects of their organistaional structure to the class using positive language. For example “Our company has many departments which makes it easy to find the right person to speak to about a specific issue or activity. Management is approachable and there are regular meetings where ideas or issues are welcomed.”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19798074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the idea of vision and mission statements. Trainees share their organisation’s vision and mission statements if known.</a:t>
            </a:r>
            <a:r>
              <a:rPr lang="en-US" baseline="0" dirty="0" smtClean="0"/>
              <a:t> Trainer explains how these statements influence company strategies and priorities and values through providing a foundation for how all activities in a company are supposed to be conducted. Trainer uses information from TM to explain the purpose of vision and mission statements.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5133758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presents slide and asks trainees if they have any other reasons why clear roles and responsibilities are effective. Trainees own responses.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15897454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a:t>
            </a:r>
            <a:r>
              <a:rPr lang="en-US" baseline="0" dirty="0" smtClean="0"/>
              <a:t> the slide and explains that often what employees value in the workplace are not always the same as what the organisation values. Clear job roles and responsibilities help to align company values and employee values. Trainer asks trainees to respond to the slide and ask if they agree or disagree. Students answer as appropriate and trainer guides discussion.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10870707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shows the slide and goes through the purpose</a:t>
            </a:r>
            <a:r>
              <a:rPr lang="en-US" baseline="0" dirty="0" smtClean="0"/>
              <a:t> of a job description. Trainer asks trainees if their job descriptions clearly explain their roles and responsibilities. Trainer presents task and duty statement information from TMs and trainees read and ask questions as needed. Trainees read through the job description example and identify main duties and responsibilities. Trainer supports.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8807047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shows the slide</a:t>
            </a:r>
            <a:r>
              <a:rPr lang="en-US" baseline="0" dirty="0" smtClean="0"/>
              <a:t> and trainees read through the information in their TMs. Trainees read through the verbs list and ask for any explanation of words they don’t know. Trainer supports.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36083505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goes through the introduction to the performance criteria and students look at the slide. Trainer asks what other language</a:t>
            </a:r>
            <a:r>
              <a:rPr lang="en-US" baseline="0" dirty="0" smtClean="0"/>
              <a:t> may be useful to explain features in the workplace? Trainees respond as appropriate. Trainer facilitates discussion. Activity: students look at the equipment or items and decide which person may use the item. Trainer supports.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dirty="0" smtClean="0">
                <a:solidFill>
                  <a:schemeClr val="tx1"/>
                </a:solidFill>
                <a:latin typeface="+mn-lt"/>
                <a:ea typeface="+mn-ea"/>
                <a:cs typeface="+mn-cs"/>
              </a:rPr>
              <a:t>Activity:</a:t>
            </a:r>
            <a:r>
              <a:rPr lang="en-AU" sz="1200" kern="1200" dirty="0" smtClean="0">
                <a:solidFill>
                  <a:schemeClr val="tx1"/>
                </a:solidFill>
                <a:latin typeface="+mn-lt"/>
                <a:ea typeface="+mn-ea"/>
                <a:cs typeface="+mn-cs"/>
              </a:rPr>
              <a:t> Write down all of the main items, materials and equipment that is needed in your position or choose a job and list the relevant items. Describe the main items to your partner. Trainees complete the activity</a:t>
            </a:r>
            <a:r>
              <a:rPr lang="en-AU" sz="1200" kern="1200" baseline="0" dirty="0" smtClean="0">
                <a:solidFill>
                  <a:schemeClr val="tx1"/>
                </a:solidFill>
                <a:latin typeface="+mn-lt"/>
                <a:ea typeface="+mn-ea"/>
                <a:cs typeface="+mn-cs"/>
              </a:rPr>
              <a:t> and share with their groups. Who has the longest list?</a:t>
            </a:r>
            <a:endParaRPr lang="en-US"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35339469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the performance criteria</a:t>
            </a:r>
            <a:r>
              <a:rPr lang="en-US" baseline="0" dirty="0" smtClean="0"/>
              <a:t> and explains that training may be a requirement for certain roles.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41055835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Trainees</a:t>
            </a:r>
            <a:r>
              <a:rPr lang="en-US" baseline="0" dirty="0" smtClean="0"/>
              <a:t> read through the information from their TMs and practice the language that may be useful for informing employees about training requirements. Trainer explains any unknown phrases and expressions.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13662108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a:t>
            </a:r>
            <a:r>
              <a:rPr lang="en-US" baseline="0" dirty="0" smtClean="0"/>
              <a:t> the slide and trainees read through the information from their TMs. Trainees discuss any on the job training they have experienced.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3902694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presents</a:t>
            </a:r>
            <a:r>
              <a:rPr lang="en-US" baseline="0" dirty="0" smtClean="0"/>
              <a:t> the slide and asks students if they have experienced any of this training. Trainees respond and share other training experiences as appropriate. Perhaps they have delivered training or received training. Trainees complete activity from their TMs.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dirty="0" smtClean="0">
                <a:solidFill>
                  <a:schemeClr val="tx1"/>
                </a:solidFill>
                <a:latin typeface="+mn-lt"/>
                <a:ea typeface="+mn-ea"/>
                <a:cs typeface="+mn-cs"/>
              </a:rPr>
              <a:t>Activity:</a:t>
            </a:r>
            <a:r>
              <a:rPr lang="en-AU" sz="1200" kern="1200" dirty="0" smtClean="0">
                <a:solidFill>
                  <a:schemeClr val="tx1"/>
                </a:solidFill>
                <a:latin typeface="+mn-lt"/>
                <a:ea typeface="+mn-ea"/>
                <a:cs typeface="+mn-cs"/>
              </a:rPr>
              <a:t> Read through the training plan below (TM) and determine how you would describe this training to someone. Practice summarising the training with your partner.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reminds</a:t>
            </a:r>
            <a:r>
              <a:rPr lang="en-AU" sz="1200" kern="1200" baseline="0" dirty="0" smtClean="0">
                <a:solidFill>
                  <a:schemeClr val="tx1"/>
                </a:solidFill>
                <a:latin typeface="+mn-lt"/>
                <a:ea typeface="+mn-ea"/>
                <a:cs typeface="+mn-cs"/>
              </a:rPr>
              <a:t> trainees of Work Projects and due dates. Trainer goes through summary of the Element and clarifies any questions from trainees.</a:t>
            </a:r>
            <a:endParaRPr lang="en-US"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30387350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a:t>
            </a:r>
            <a:r>
              <a:rPr lang="en-US" baseline="0" dirty="0" smtClean="0"/>
              <a:t> the element and explains the assessment and work project requirements.</a:t>
            </a:r>
          </a:p>
          <a:p>
            <a:pPr>
              <a:buFont typeface="Arial" pitchFamily="34" charset="0"/>
              <a:buNone/>
            </a:pPr>
            <a:r>
              <a:rPr lang="en-US" baseline="0" dirty="0" smtClean="0"/>
              <a:t>Trainer asks if trainees have attended meetings or conducted them before?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38936942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the slide and performance</a:t>
            </a:r>
            <a:r>
              <a:rPr lang="en-US" baseline="0" dirty="0" smtClean="0"/>
              <a:t> criteria. Trainees discuss the modes of communication within their organisation such as: emailing, notice boards, verbal, text messages etc.</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15859764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the different ways of communicating within the workplace and students</a:t>
            </a:r>
            <a:r>
              <a:rPr lang="en-US" baseline="0" dirty="0" smtClean="0"/>
              <a:t> look at the example in the slide (TM). Have they seen this type of meeting request before? Have they used the system? What other methods do they use in their workplace?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31903453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asks trainees what should be included in a meeting request before showing the slide. Trainees respond and then trainer shows the slide. Trainer asks if a noticeboard is used in their organisation.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24773687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asks students what information is needed for an effective online meeting request. Trainees read through the slide information. Have trainees used this method before? Trainees read through the explanation of each idea in their TMs and trainer supports as required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5900172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goes through summary with trainees. Trainees explain the process in their workplace.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16631084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the performance criteria and asks trainees to explain what an agenda is. Have trainees used an agenda before?</a:t>
            </a:r>
            <a:r>
              <a:rPr lang="en-US" baseline="0" dirty="0" smtClean="0"/>
              <a:t> Trainer explains why an agenda is important using the information in the slide and from the TM.</a:t>
            </a:r>
          </a:p>
          <a:p>
            <a:pPr>
              <a:buFont typeface="Arial" pitchFamily="34" charset="0"/>
              <a:buNone/>
            </a:pPr>
            <a:r>
              <a:rPr lang="en-US" baseline="0" dirty="0" smtClean="0"/>
              <a:t>Trainees read through the create an effective agenda ideas in their TMs and trainer supports.</a:t>
            </a:r>
          </a:p>
          <a:p>
            <a:pPr>
              <a:buFont typeface="Arial" pitchFamily="34" charset="0"/>
              <a:buNone/>
            </a:pPr>
            <a:r>
              <a:rPr lang="en-US" baseline="0" dirty="0" smtClean="0"/>
              <a:t>Trainees complete the agenda activity from their TMs. Trainer supports.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12922494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introduces the performance criteria and explains the idea of a chair/chairperson. Trainer asks trainees what the role of a chairperson is? Trainer uses TM and slide to answer.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33308509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goes through the information with trainees and explains the role of the chair in relation to successfully running a meeting. Trainees could provide examples of good and bad meetings they have attended or conducted. What were the major factors that influenced the success or failure of the meetings? Trainees provide answers and trainer facilitates discussion.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17420971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highlights</a:t>
            </a:r>
            <a:r>
              <a:rPr lang="en-US" baseline="0" dirty="0" smtClean="0"/>
              <a:t> the need for attendees to participate in meetings actively to make them successful. Trainer goes through the slide with trainees and elicits any other ideas from students.</a:t>
            </a:r>
          </a:p>
          <a:p>
            <a:pPr>
              <a:buFont typeface="Arial" pitchFamily="34" charset="0"/>
              <a:buNone/>
            </a:pPr>
            <a:r>
              <a:rPr lang="en-US" baseline="0" dirty="0" smtClean="0"/>
              <a:t>Trainees provide ideas on why a meeting may be unsuccessful. Trainees read through the information in their TMs regarding why meetings fail. Trainer encourages trainees to offer examples of when they have experienced similar situations.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32130085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the performance criteria and explains</a:t>
            </a:r>
            <a:r>
              <a:rPr lang="en-US" baseline="0" dirty="0" smtClean="0"/>
              <a:t> how meetings often result in actions or activities that are determined need to be completed.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875399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that an action plan is an important</a:t>
            </a:r>
            <a:r>
              <a:rPr lang="en-US" baseline="0" dirty="0" smtClean="0"/>
              <a:t> way to monitor the progress of actions and to be able to identify issues or areas that require support. Trainer can access many examples of action plans online and share with trainees. Trainees can identify the important aspects of an action plan and check against the information in the slide and in their TMs.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187686196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Trainees</a:t>
            </a:r>
            <a:r>
              <a:rPr lang="en-US" baseline="0" dirty="0" smtClean="0"/>
              <a:t> complete the activity in their TMs. They complete the action plan template with an objective from their workplace. </a:t>
            </a:r>
          </a:p>
          <a:p>
            <a:pPr>
              <a:buFont typeface="Arial" pitchFamily="34" charset="0"/>
              <a:buNone/>
            </a:pPr>
            <a:r>
              <a:rPr lang="en-US" baseline="0" dirty="0" smtClean="0"/>
              <a:t>Trainer reminds trainees of work projects and assessment items. Trainer summarises the element and answers questions as required.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10166556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the element</a:t>
            </a:r>
            <a:r>
              <a:rPr lang="en-US" baseline="0" dirty="0" smtClean="0"/>
              <a:t> and explains the work projects and assessment due dates.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11261865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introduces the performance criteria and ask trainees to read through the slide. Trainees explain what they think each point means. Trainees read through the information in their TMs and trainer answers any questions as necessary. Trainees can write a set of clear instructions to do something simple that they know. Then share with their partner and see if their partner understands.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3415534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the slide and explains that checking for understanding</a:t>
            </a:r>
            <a:r>
              <a:rPr lang="en-US" baseline="0" dirty="0" smtClean="0"/>
              <a:t> is not as simple as saying “Do you understand?” Participants will often just answer yes when in fact they don’t understand as they don’t want to lose face in front of the group.</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31888770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a:t>
            </a:r>
            <a:r>
              <a:rPr lang="en-US" baseline="0" dirty="0" smtClean="0"/>
              <a:t> the idea of concept checking using information from the TM. Trainees read through their TMs and ask questions as needed. </a:t>
            </a:r>
          </a:p>
          <a:p>
            <a:pPr>
              <a:buFont typeface="Arial" pitchFamily="34" charset="0"/>
              <a:buNone/>
            </a:pPr>
            <a:r>
              <a:rPr lang="en-US" baseline="0" dirty="0" smtClean="0"/>
              <a:t>Trainer goes through the slide and explains how these questions check that participants understand the instructions.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40700844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a:t>
            </a:r>
            <a:r>
              <a:rPr lang="en-US" baseline="0" dirty="0" smtClean="0"/>
              <a:t> the performance criteria and goes through the introduction from the TM. Trainer asks trainees why feedback is important? Trainer asks why people are often afraid of feedback? (Scared they have done something wrong, take it personally, feedback may be incorrect) Trainer asks if trainees like receiving/giving feedback? Trainer asks what they think are important aspects in giving constructive feedback?</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180406304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asks trainees when feedback is required in the workplace. Trainees offer own ideas then trainer shows the slide. Trainer asks what feedback participants have given in the past. Was the feedback successful? If not, what went wrong? Trainer encourages discussion.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311066155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asks trainees how they give feedback. What techniques do they use to make feedback successful and effective?</a:t>
            </a:r>
          </a:p>
          <a:p>
            <a:pPr>
              <a:buFont typeface="Arial" pitchFamily="34" charset="0"/>
              <a:buNone/>
            </a:pPr>
            <a:r>
              <a:rPr lang="en-US" baseline="0" dirty="0" smtClean="0"/>
              <a:t>Trainer presents the slide and uses information from the TM to explain each point. Trainees read through the six step constructive feedback suggestions in their TMs and discuss as a group. Trainer facilitates discussion and answers any questions.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234145426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a:t>
            </a:r>
            <a:r>
              <a:rPr lang="en-US" baseline="0" dirty="0" smtClean="0"/>
              <a:t> the performance criteria and asks trainees why feedback from staff is important.</a:t>
            </a:r>
          </a:p>
          <a:p>
            <a:pPr>
              <a:buFont typeface="Arial" pitchFamily="34" charset="0"/>
              <a:buNone/>
            </a:pPr>
            <a:r>
              <a:rPr lang="en-US" baseline="0" dirty="0" smtClean="0"/>
              <a:t>Do they seek feedback from staff? How? Why? Are staff comfortable to provide feedback? Trainees discuss in small groups.</a:t>
            </a:r>
          </a:p>
          <a:p>
            <a:pPr>
              <a:buFont typeface="Arial" pitchFamily="34" charset="0"/>
              <a:buNone/>
            </a:pPr>
            <a:r>
              <a:rPr lang="en-US" baseline="0" dirty="0" smtClean="0"/>
              <a:t>Trainees read through the feedback section in their TMs and discuss in groups. Trainer asks if they have staff feedback surveys in their workplace. How often? Are they effective? Trainer encourages discussion about staff feedback.</a:t>
            </a:r>
          </a:p>
          <a:p>
            <a:pPr>
              <a:buFont typeface="Arial" pitchFamily="34" charset="0"/>
              <a:buNone/>
            </a:pPr>
            <a:r>
              <a:rPr lang="en-US" baseline="0" dirty="0" smtClean="0"/>
              <a:t>Trainer reminds trainees of work projects and assessment. Trainer summarises the element and trainees ask questions as needed.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19170572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7/18/2016</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7/18/2016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7/18/2016</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7/18/2016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7/18/2016</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blog.lucidmeetings.com/blog/anatomy-of-the-perfect-meeting-invitation-email"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3.gi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62584" y="332656"/>
            <a:ext cx="7725168" cy="1152128"/>
          </a:xfrm>
        </p:spPr>
        <p:txBody>
          <a:bodyPr>
            <a:normAutofit fontScale="90000"/>
          </a:bodyPr>
          <a:lstStyle/>
          <a:p>
            <a:r>
              <a:rPr lang="en-AU" sz="4000" dirty="0">
                <a:ln w="5000" cmpd="sng">
                  <a:noFill/>
                  <a:prstDash val="solid"/>
                </a:ln>
                <a:solidFill>
                  <a:srgbClr val="FF6600"/>
                </a:solidFill>
                <a:latin typeface="Helvetica" pitchFamily="34" charset="0"/>
              </a:rPr>
              <a:t>USE ENGLISH AT A SUPERVISORY </a:t>
            </a:r>
            <a:r>
              <a:rPr lang="en-AU" sz="4000" dirty="0" smtClean="0">
                <a:ln w="5000" cmpd="sng">
                  <a:noFill/>
                  <a:prstDash val="solid"/>
                </a:ln>
                <a:solidFill>
                  <a:srgbClr val="FF6600"/>
                </a:solidFill>
                <a:latin typeface="Helvetica" pitchFamily="34" charset="0"/>
              </a:rPr>
              <a:t>LEVEL</a:t>
            </a:r>
            <a:endParaRPr lang="en-AU" sz="4000" dirty="0">
              <a:ln w="5000" cmpd="sng">
                <a:noFill/>
                <a:prstDash val="solid"/>
              </a:ln>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21" name="Group 20"/>
          <p:cNvGrpSpPr/>
          <p:nvPr/>
        </p:nvGrpSpPr>
        <p:grpSpPr>
          <a:xfrm>
            <a:off x="539552" y="1628800"/>
            <a:ext cx="5709616" cy="4176464"/>
            <a:chOff x="0" y="0"/>
            <a:chExt cx="7585544" cy="6098650"/>
          </a:xfrm>
        </p:grpSpPr>
        <p:pic>
          <p:nvPicPr>
            <p:cNvPr id="22" name="Picture 21"/>
            <p:cNvPicPr>
              <a:picLocks noChangeAspect="1"/>
            </p:cNvPicPr>
            <p:nvPr/>
          </p:nvPicPr>
          <p:blipFill rotWithShape="1">
            <a:blip r:embed="rId3" cstate="print">
              <a:extLst>
                <a:ext uri="{28A0092B-C50C-407E-A947-70E740481C1C}">
                  <a14:useLocalDpi xmlns:a14="http://schemas.microsoft.com/office/drawing/2010/main" val="0"/>
                </a:ext>
              </a:extLst>
            </a:blip>
            <a:srcRect l="23382" t="8066" r="23964" b="10443"/>
            <a:stretch/>
          </p:blipFill>
          <p:spPr bwMode="auto">
            <a:xfrm>
              <a:off x="4468633" y="1502797"/>
              <a:ext cx="3069203" cy="3053300"/>
            </a:xfrm>
            <a:prstGeom prst="rect">
              <a:avLst/>
            </a:prstGeom>
            <a:ln>
              <a:noFill/>
            </a:ln>
            <a:extLst>
              <a:ext uri="{53640926-AAD7-44D8-BBD7-CCE9431645EC}">
                <a14:shadowObscured xmlns:a14="http://schemas.microsoft.com/office/drawing/2010/main"/>
              </a:ext>
            </a:extLst>
          </p:spPr>
        </p:pic>
        <p:pic>
          <p:nvPicPr>
            <p:cNvPr id="23" name="Picture 22"/>
            <p:cNvPicPr>
              <a:picLocks noChangeAspect="1"/>
            </p:cNvPicPr>
            <p:nvPr/>
          </p:nvPicPr>
          <p:blipFill rotWithShape="1">
            <a:blip r:embed="rId4" cstate="print">
              <a:extLst>
                <a:ext uri="{28A0092B-C50C-407E-A947-70E740481C1C}">
                  <a14:useLocalDpi xmlns:a14="http://schemas.microsoft.com/office/drawing/2010/main" val="0"/>
                </a:ext>
              </a:extLst>
            </a:blip>
            <a:srcRect l="2066" r="11983" b="19666"/>
            <a:stretch/>
          </p:blipFill>
          <p:spPr bwMode="auto">
            <a:xfrm>
              <a:off x="4643562" y="4269850"/>
              <a:ext cx="2910177" cy="1812898"/>
            </a:xfrm>
            <a:prstGeom prst="rect">
              <a:avLst/>
            </a:prstGeom>
            <a:ln>
              <a:noFill/>
            </a:ln>
            <a:extLst>
              <a:ext uri="{53640926-AAD7-44D8-BBD7-CCE9431645EC}">
                <a14:shadowObscured xmlns:a14="http://schemas.microsoft.com/office/drawing/2010/main"/>
              </a:ext>
            </a:extLst>
          </p:spPr>
        </p:pic>
        <p:pic>
          <p:nvPicPr>
            <p:cNvPr id="24" name="Picture 23"/>
            <p:cNvPicPr>
              <a:picLocks noChangeAspect="1"/>
            </p:cNvPicPr>
            <p:nvPr/>
          </p:nvPicPr>
          <p:blipFill rotWithShape="1">
            <a:blip r:embed="rId5" cstate="print">
              <a:extLst>
                <a:ext uri="{28A0092B-C50C-407E-A947-70E740481C1C}">
                  <a14:useLocalDpi xmlns:a14="http://schemas.microsoft.com/office/drawing/2010/main" val="0"/>
                </a:ext>
              </a:extLst>
            </a:blip>
            <a:srcRect t="3460" r="19030" b="26513"/>
            <a:stretch/>
          </p:blipFill>
          <p:spPr bwMode="auto">
            <a:xfrm>
              <a:off x="4643562" y="0"/>
              <a:ext cx="2941982" cy="1828800"/>
            </a:xfrm>
            <a:prstGeom prst="rect">
              <a:avLst/>
            </a:prstGeom>
            <a:ln>
              <a:noFill/>
            </a:ln>
            <a:extLst>
              <a:ext uri="{53640926-AAD7-44D8-BBD7-CCE9431645EC}">
                <a14:shadowObscured xmlns:a14="http://schemas.microsoft.com/office/drawing/2010/main"/>
              </a:ext>
            </a:extLst>
          </p:spPr>
        </p:pic>
        <p:pic>
          <p:nvPicPr>
            <p:cNvPr id="25" name="Picture 24"/>
            <p:cNvPicPr>
              <a:picLocks noChangeAspect="1"/>
            </p:cNvPicPr>
            <p:nvPr/>
          </p:nvPicPr>
          <p:blipFill rotWithShape="1">
            <a:blip r:embed="rId6" cstate="print">
              <a:extLst>
                <a:ext uri="{28A0092B-C50C-407E-A947-70E740481C1C}">
                  <a14:useLocalDpi xmlns:a14="http://schemas.microsoft.com/office/drawing/2010/main" val="0"/>
                </a:ext>
              </a:extLst>
            </a:blip>
            <a:srcRect l="1890" t="1444" r="5459" b="7583"/>
            <a:stretch/>
          </p:blipFill>
          <p:spPr bwMode="auto">
            <a:xfrm>
              <a:off x="0" y="0"/>
              <a:ext cx="4651513" cy="6098650"/>
            </a:xfrm>
            <a:prstGeom prst="rect">
              <a:avLst/>
            </a:prstGeom>
            <a:noFill/>
            <a:ln>
              <a:noFill/>
            </a:ln>
            <a:extLst>
              <a:ext uri="{53640926-AAD7-44D8-BBD7-CCE9431645EC}">
                <a14:shadowObscured xmlns:a14="http://schemas.microsoft.com/office/drawing/2010/main"/>
              </a:ext>
            </a:extLst>
          </p:spPr>
        </p:pic>
      </p:grpSp>
      <p:sp>
        <p:nvSpPr>
          <p:cNvPr id="3" name="Subtitle 2"/>
          <p:cNvSpPr>
            <a:spLocks noGrp="1"/>
          </p:cNvSpPr>
          <p:nvPr>
            <p:ph type="subTitle" idx="1"/>
          </p:nvPr>
        </p:nvSpPr>
        <p:spPr>
          <a:xfrm>
            <a:off x="5847156" y="1627090"/>
            <a:ext cx="2541268" cy="289742"/>
          </a:xfrm>
        </p:spPr>
        <p:txBody>
          <a:bodyPr>
            <a:normAutofit lnSpcReduction="10000"/>
          </a:bodyPr>
          <a:lstStyle/>
          <a:p>
            <a:r>
              <a:rPr lang="en-AU" b="1" dirty="0">
                <a:latin typeface="Helvetica" pitchFamily="34" charset="0"/>
              </a:rPr>
              <a:t>D2.LAN.CL10.02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circle(in)">
                                      <p:cBhvr>
                                        <p:cTn id="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1: Use English to induct new employees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Performance criteria:</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grpSp>
        <p:nvGrpSpPr>
          <p:cNvPr id="26" name="Group 25"/>
          <p:cNvGrpSpPr/>
          <p:nvPr/>
        </p:nvGrpSpPr>
        <p:grpSpPr>
          <a:xfrm>
            <a:off x="-4198800" y="1268760"/>
            <a:ext cx="11147064" cy="5976664"/>
            <a:chOff x="-4198800" y="1268760"/>
            <a:chExt cx="11147064" cy="5976664"/>
          </a:xfrm>
        </p:grpSpPr>
        <p:grpSp>
          <p:nvGrpSpPr>
            <p:cNvPr id="6" name="Group 5"/>
            <p:cNvGrpSpPr/>
            <p:nvPr/>
          </p:nvGrpSpPr>
          <p:grpSpPr>
            <a:xfrm>
              <a:off x="-4198800" y="1268760"/>
              <a:ext cx="11147064" cy="5976664"/>
              <a:chOff x="-3982775" y="1428449"/>
              <a:chExt cx="10635148" cy="5472816"/>
            </a:xfrm>
          </p:grpSpPr>
          <p:sp>
            <p:nvSpPr>
              <p:cNvPr id="7" name="Block Arc 6"/>
              <p:cNvSpPr/>
              <p:nvPr/>
            </p:nvSpPr>
            <p:spPr>
              <a:xfrm>
                <a:off x="-3982775" y="1428449"/>
                <a:ext cx="5472816" cy="5472816"/>
              </a:xfrm>
              <a:prstGeom prst="blockArc">
                <a:avLst>
                  <a:gd name="adj1" fmla="val 18900000"/>
                  <a:gd name="adj2" fmla="val 2700000"/>
                  <a:gd name="adj3" fmla="val 395"/>
                </a:avLst>
              </a:prstGeom>
            </p:spPr>
            <p:style>
              <a:lnRef idx="2">
                <a:schemeClr val="accent5">
                  <a:hueOff val="0"/>
                  <a:satOff val="0"/>
                  <a:lumOff val="0"/>
                  <a:alphaOff val="0"/>
                </a:schemeClr>
              </a:lnRef>
              <a:fillRef idx="0">
                <a:schemeClr val="accent4">
                  <a:tint val="90000"/>
                  <a:hueOff val="0"/>
                  <a:satOff val="0"/>
                  <a:lumOff val="0"/>
                  <a:alphaOff val="0"/>
                </a:schemeClr>
              </a:fillRef>
              <a:effectRef idx="0">
                <a:schemeClr val="accent4">
                  <a:tint val="90000"/>
                  <a:hueOff val="0"/>
                  <a:satOff val="0"/>
                  <a:lumOff val="0"/>
                  <a:alphaOff val="0"/>
                </a:schemeClr>
              </a:effectRef>
              <a:fontRef idx="minor">
                <a:schemeClr val="tx1">
                  <a:hueOff val="0"/>
                  <a:satOff val="0"/>
                  <a:lumOff val="0"/>
                  <a:alphaOff val="0"/>
                </a:schemeClr>
              </a:fontRef>
            </p:style>
          </p:sp>
          <p:sp>
            <p:nvSpPr>
              <p:cNvPr id="8" name="Freeform 7"/>
              <p:cNvSpPr/>
              <p:nvPr/>
            </p:nvSpPr>
            <p:spPr>
              <a:xfrm>
                <a:off x="939608" y="2331956"/>
                <a:ext cx="5712764" cy="504000"/>
              </a:xfrm>
              <a:custGeom>
                <a:avLst/>
                <a:gdLst>
                  <a:gd name="connsiteX0" fmla="*/ 0 w 5712764"/>
                  <a:gd name="connsiteY0" fmla="*/ 0 h 427857"/>
                  <a:gd name="connsiteX1" fmla="*/ 5712764 w 5712764"/>
                  <a:gd name="connsiteY1" fmla="*/ 0 h 427857"/>
                  <a:gd name="connsiteX2" fmla="*/ 5712764 w 5712764"/>
                  <a:gd name="connsiteY2" fmla="*/ 427857 h 427857"/>
                  <a:gd name="connsiteX3" fmla="*/ 0 w 5712764"/>
                  <a:gd name="connsiteY3" fmla="*/ 427857 h 427857"/>
                  <a:gd name="connsiteX4" fmla="*/ 0 w 5712764"/>
                  <a:gd name="connsiteY4" fmla="*/ 0 h 427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2764" h="427857">
                    <a:moveTo>
                      <a:pt x="0" y="0"/>
                    </a:moveTo>
                    <a:lnTo>
                      <a:pt x="5712764" y="0"/>
                    </a:lnTo>
                    <a:lnTo>
                      <a:pt x="5712764" y="427857"/>
                    </a:lnTo>
                    <a:lnTo>
                      <a:pt x="0" y="427857"/>
                    </a:lnTo>
                    <a:lnTo>
                      <a:pt x="0" y="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339612" tIns="33020" rIns="33020" bIns="33020" numCol="1" spcCol="1270" anchor="ctr" anchorCtr="0">
                <a:noAutofit/>
              </a:bodyPr>
              <a:lstStyle/>
              <a:p>
                <a:pPr lvl="0" defTabSz="577850">
                  <a:lnSpc>
                    <a:spcPct val="90000"/>
                  </a:lnSpc>
                  <a:spcBef>
                    <a:spcPct val="0"/>
                  </a:spcBef>
                  <a:spcAft>
                    <a:spcPct val="35000"/>
                  </a:spcAft>
                </a:pPr>
                <a:r>
                  <a:rPr lang="en-AU" sz="1600" kern="1200" dirty="0" smtClean="0">
                    <a:latin typeface="Helvetica" pitchFamily="34" charset="0"/>
                  </a:rPr>
                  <a:t>Welcome new employee(s) and introduce them to key personnel</a:t>
                </a:r>
                <a:endParaRPr lang="en-AU" sz="1600" kern="1200" dirty="0">
                  <a:latin typeface="Helvetica" pitchFamily="34" charset="0"/>
                </a:endParaRPr>
              </a:p>
            </p:txBody>
          </p:sp>
          <p:sp>
            <p:nvSpPr>
              <p:cNvPr id="9" name="Oval 8"/>
              <p:cNvSpPr/>
              <p:nvPr/>
            </p:nvSpPr>
            <p:spPr>
              <a:xfrm>
                <a:off x="672197" y="2293384"/>
                <a:ext cx="534822" cy="534822"/>
              </a:xfrm>
              <a:prstGeom prst="ellipse">
                <a:avLst/>
              </a:prstGeom>
            </p:spPr>
            <p:style>
              <a:lnRef idx="2">
                <a:schemeClr val="accent4">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0" name="Freeform 9"/>
              <p:cNvSpPr/>
              <p:nvPr/>
            </p:nvSpPr>
            <p:spPr>
              <a:xfrm>
                <a:off x="1291551" y="2973661"/>
                <a:ext cx="5360822" cy="504000"/>
              </a:xfrm>
              <a:custGeom>
                <a:avLst/>
                <a:gdLst>
                  <a:gd name="connsiteX0" fmla="*/ 0 w 5360822"/>
                  <a:gd name="connsiteY0" fmla="*/ 0 h 427857"/>
                  <a:gd name="connsiteX1" fmla="*/ 5360822 w 5360822"/>
                  <a:gd name="connsiteY1" fmla="*/ 0 h 427857"/>
                  <a:gd name="connsiteX2" fmla="*/ 5360822 w 5360822"/>
                  <a:gd name="connsiteY2" fmla="*/ 427857 h 427857"/>
                  <a:gd name="connsiteX3" fmla="*/ 0 w 5360822"/>
                  <a:gd name="connsiteY3" fmla="*/ 427857 h 427857"/>
                  <a:gd name="connsiteX4" fmla="*/ 0 w 5360822"/>
                  <a:gd name="connsiteY4" fmla="*/ 0 h 427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0822" h="427857">
                    <a:moveTo>
                      <a:pt x="0" y="0"/>
                    </a:moveTo>
                    <a:lnTo>
                      <a:pt x="5360822" y="0"/>
                    </a:lnTo>
                    <a:lnTo>
                      <a:pt x="5360822" y="427857"/>
                    </a:lnTo>
                    <a:lnTo>
                      <a:pt x="0" y="427857"/>
                    </a:lnTo>
                    <a:lnTo>
                      <a:pt x="0" y="0"/>
                    </a:lnTo>
                    <a:close/>
                  </a:path>
                </a:pathLst>
              </a:custGeom>
            </p:spPr>
            <p:style>
              <a:lnRef idx="2">
                <a:schemeClr val="lt1">
                  <a:hueOff val="0"/>
                  <a:satOff val="0"/>
                  <a:lumOff val="0"/>
                  <a:alphaOff val="0"/>
                </a:schemeClr>
              </a:lnRef>
              <a:fillRef idx="1">
                <a:schemeClr val="accent4">
                  <a:hueOff val="371365"/>
                  <a:satOff val="-11282"/>
                  <a:lumOff val="3726"/>
                  <a:alphaOff val="0"/>
                </a:schemeClr>
              </a:fillRef>
              <a:effectRef idx="0">
                <a:schemeClr val="accent4">
                  <a:hueOff val="371365"/>
                  <a:satOff val="-11282"/>
                  <a:lumOff val="3726"/>
                  <a:alphaOff val="0"/>
                </a:schemeClr>
              </a:effectRef>
              <a:fontRef idx="minor">
                <a:schemeClr val="lt1"/>
              </a:fontRef>
            </p:style>
            <p:txBody>
              <a:bodyPr spcFirstLastPara="0" vert="horz" wrap="square" lIns="339612" tIns="33020" rIns="33020" bIns="33020" numCol="1" spcCol="1270" anchor="ctr" anchorCtr="0">
                <a:noAutofit/>
              </a:bodyPr>
              <a:lstStyle/>
              <a:p>
                <a:pPr lvl="0" defTabSz="577850">
                  <a:lnSpc>
                    <a:spcPct val="90000"/>
                  </a:lnSpc>
                  <a:spcBef>
                    <a:spcPct val="0"/>
                  </a:spcBef>
                  <a:spcAft>
                    <a:spcPct val="35000"/>
                  </a:spcAft>
                </a:pPr>
                <a:r>
                  <a:rPr lang="en-AU" sz="1600" kern="1200" dirty="0" smtClean="0">
                    <a:latin typeface="Helvetica" pitchFamily="34" charset="0"/>
                  </a:rPr>
                  <a:t>Explain how the position relates to others in the company</a:t>
                </a:r>
                <a:endParaRPr lang="en-AU" sz="1600" kern="1200" dirty="0">
                  <a:latin typeface="Helvetica" pitchFamily="34" charset="0"/>
                </a:endParaRPr>
              </a:p>
            </p:txBody>
          </p:sp>
          <p:sp>
            <p:nvSpPr>
              <p:cNvPr id="11" name="Oval 10"/>
              <p:cNvSpPr/>
              <p:nvPr/>
            </p:nvSpPr>
            <p:spPr>
              <a:xfrm>
                <a:off x="1024139" y="2935089"/>
                <a:ext cx="534822" cy="534822"/>
              </a:xfrm>
              <a:prstGeom prst="ellipse">
                <a:avLst/>
              </a:prstGeom>
            </p:spPr>
            <p:style>
              <a:lnRef idx="2">
                <a:schemeClr val="accent4">
                  <a:hueOff val="371365"/>
                  <a:satOff val="-11282"/>
                  <a:lumOff val="3726"/>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2" name="Freeform 11"/>
              <p:cNvSpPr/>
              <p:nvPr/>
            </p:nvSpPr>
            <p:spPr>
              <a:xfrm>
                <a:off x="1452485" y="3615367"/>
                <a:ext cx="5199888" cy="504000"/>
              </a:xfrm>
              <a:custGeom>
                <a:avLst/>
                <a:gdLst>
                  <a:gd name="connsiteX0" fmla="*/ 0 w 5199888"/>
                  <a:gd name="connsiteY0" fmla="*/ 0 h 427857"/>
                  <a:gd name="connsiteX1" fmla="*/ 5199888 w 5199888"/>
                  <a:gd name="connsiteY1" fmla="*/ 0 h 427857"/>
                  <a:gd name="connsiteX2" fmla="*/ 5199888 w 5199888"/>
                  <a:gd name="connsiteY2" fmla="*/ 427857 h 427857"/>
                  <a:gd name="connsiteX3" fmla="*/ 0 w 5199888"/>
                  <a:gd name="connsiteY3" fmla="*/ 427857 h 427857"/>
                  <a:gd name="connsiteX4" fmla="*/ 0 w 5199888"/>
                  <a:gd name="connsiteY4" fmla="*/ 0 h 427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9888" h="427857">
                    <a:moveTo>
                      <a:pt x="0" y="0"/>
                    </a:moveTo>
                    <a:lnTo>
                      <a:pt x="5199888" y="0"/>
                    </a:lnTo>
                    <a:lnTo>
                      <a:pt x="5199888" y="427857"/>
                    </a:lnTo>
                    <a:lnTo>
                      <a:pt x="0" y="427857"/>
                    </a:lnTo>
                    <a:lnTo>
                      <a:pt x="0" y="0"/>
                    </a:lnTo>
                    <a:close/>
                  </a:path>
                </a:pathLst>
              </a:custGeom>
            </p:spPr>
            <p:style>
              <a:lnRef idx="2">
                <a:schemeClr val="lt1">
                  <a:hueOff val="0"/>
                  <a:satOff val="0"/>
                  <a:lumOff val="0"/>
                  <a:alphaOff val="0"/>
                </a:schemeClr>
              </a:lnRef>
              <a:fillRef idx="1">
                <a:schemeClr val="accent4">
                  <a:hueOff val="742729"/>
                  <a:satOff val="-22564"/>
                  <a:lumOff val="7451"/>
                  <a:alphaOff val="0"/>
                </a:schemeClr>
              </a:fillRef>
              <a:effectRef idx="0">
                <a:schemeClr val="accent4">
                  <a:hueOff val="742729"/>
                  <a:satOff val="-22564"/>
                  <a:lumOff val="7451"/>
                  <a:alphaOff val="0"/>
                </a:schemeClr>
              </a:effectRef>
              <a:fontRef idx="minor">
                <a:schemeClr val="lt1"/>
              </a:fontRef>
            </p:style>
            <p:txBody>
              <a:bodyPr spcFirstLastPara="0" vert="horz" wrap="square" lIns="339612" tIns="33020" rIns="33020" bIns="33020" numCol="1" spcCol="1270" anchor="ctr" anchorCtr="0">
                <a:noAutofit/>
              </a:bodyPr>
              <a:lstStyle/>
              <a:p>
                <a:pPr lvl="0" defTabSz="577850">
                  <a:lnSpc>
                    <a:spcPct val="90000"/>
                  </a:lnSpc>
                  <a:spcBef>
                    <a:spcPct val="0"/>
                  </a:spcBef>
                  <a:spcAft>
                    <a:spcPct val="35000"/>
                  </a:spcAft>
                </a:pPr>
                <a:r>
                  <a:rPr lang="en-AU" sz="1600" kern="1200" dirty="0" smtClean="0">
                    <a:latin typeface="Helvetica" pitchFamily="34" charset="0"/>
                  </a:rPr>
                  <a:t>Speak positively about the company structure, goals and priorities</a:t>
                </a:r>
                <a:endParaRPr lang="en-AU" sz="1600" kern="1200" dirty="0">
                  <a:latin typeface="Helvetica" pitchFamily="34" charset="0"/>
                </a:endParaRPr>
              </a:p>
            </p:txBody>
          </p:sp>
          <p:sp>
            <p:nvSpPr>
              <p:cNvPr id="13" name="Oval 12"/>
              <p:cNvSpPr/>
              <p:nvPr/>
            </p:nvSpPr>
            <p:spPr>
              <a:xfrm>
                <a:off x="1185074" y="3576795"/>
                <a:ext cx="534822" cy="534822"/>
              </a:xfrm>
              <a:prstGeom prst="ellipse">
                <a:avLst/>
              </a:prstGeom>
            </p:spPr>
            <p:style>
              <a:lnRef idx="2">
                <a:schemeClr val="accent4">
                  <a:hueOff val="742729"/>
                  <a:satOff val="-22564"/>
                  <a:lumOff val="7451"/>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4" name="Freeform 13"/>
              <p:cNvSpPr/>
              <p:nvPr/>
            </p:nvSpPr>
            <p:spPr>
              <a:xfrm>
                <a:off x="1452485" y="4256666"/>
                <a:ext cx="5199888" cy="504000"/>
              </a:xfrm>
              <a:custGeom>
                <a:avLst/>
                <a:gdLst>
                  <a:gd name="connsiteX0" fmla="*/ 0 w 5199888"/>
                  <a:gd name="connsiteY0" fmla="*/ 0 h 427857"/>
                  <a:gd name="connsiteX1" fmla="*/ 5199888 w 5199888"/>
                  <a:gd name="connsiteY1" fmla="*/ 0 h 427857"/>
                  <a:gd name="connsiteX2" fmla="*/ 5199888 w 5199888"/>
                  <a:gd name="connsiteY2" fmla="*/ 427857 h 427857"/>
                  <a:gd name="connsiteX3" fmla="*/ 0 w 5199888"/>
                  <a:gd name="connsiteY3" fmla="*/ 427857 h 427857"/>
                  <a:gd name="connsiteX4" fmla="*/ 0 w 5199888"/>
                  <a:gd name="connsiteY4" fmla="*/ 0 h 427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9888" h="427857">
                    <a:moveTo>
                      <a:pt x="0" y="0"/>
                    </a:moveTo>
                    <a:lnTo>
                      <a:pt x="5199888" y="0"/>
                    </a:lnTo>
                    <a:lnTo>
                      <a:pt x="5199888" y="427857"/>
                    </a:lnTo>
                    <a:lnTo>
                      <a:pt x="0" y="427857"/>
                    </a:lnTo>
                    <a:lnTo>
                      <a:pt x="0" y="0"/>
                    </a:lnTo>
                    <a:close/>
                  </a:path>
                </a:pathLst>
              </a:custGeom>
            </p:spPr>
            <p:style>
              <a:lnRef idx="2">
                <a:schemeClr val="lt1">
                  <a:hueOff val="0"/>
                  <a:satOff val="0"/>
                  <a:lumOff val="0"/>
                  <a:alphaOff val="0"/>
                </a:schemeClr>
              </a:lnRef>
              <a:fillRef idx="1">
                <a:schemeClr val="accent4">
                  <a:hueOff val="1114094"/>
                  <a:satOff val="-33846"/>
                  <a:lumOff val="11177"/>
                  <a:alphaOff val="0"/>
                </a:schemeClr>
              </a:fillRef>
              <a:effectRef idx="0">
                <a:schemeClr val="accent4">
                  <a:hueOff val="1114094"/>
                  <a:satOff val="-33846"/>
                  <a:lumOff val="11177"/>
                  <a:alphaOff val="0"/>
                </a:schemeClr>
              </a:effectRef>
              <a:fontRef idx="minor">
                <a:schemeClr val="lt1"/>
              </a:fontRef>
            </p:style>
            <p:txBody>
              <a:bodyPr spcFirstLastPara="0" vert="horz" wrap="square" lIns="339612" tIns="33020" rIns="33020" bIns="33020" numCol="1" spcCol="1270" anchor="ctr" anchorCtr="0">
                <a:noAutofit/>
              </a:bodyPr>
              <a:lstStyle/>
              <a:p>
                <a:pPr lvl="0" defTabSz="577850">
                  <a:lnSpc>
                    <a:spcPct val="90000"/>
                  </a:lnSpc>
                  <a:spcBef>
                    <a:spcPct val="0"/>
                  </a:spcBef>
                  <a:spcAft>
                    <a:spcPct val="35000"/>
                  </a:spcAft>
                </a:pPr>
                <a:r>
                  <a:rPr lang="en-AU" sz="1600" kern="1200" dirty="0" smtClean="0">
                    <a:latin typeface="Helvetica" pitchFamily="34" charset="0"/>
                  </a:rPr>
                  <a:t>Give information about the new employee’s roles and responsibilities</a:t>
                </a:r>
                <a:endParaRPr lang="en-AU" sz="1600" kern="1200" dirty="0">
                  <a:latin typeface="Helvetica" pitchFamily="34" charset="0"/>
                </a:endParaRPr>
              </a:p>
            </p:txBody>
          </p:sp>
          <p:sp>
            <p:nvSpPr>
              <p:cNvPr id="15" name="Oval 14"/>
              <p:cNvSpPr/>
              <p:nvPr/>
            </p:nvSpPr>
            <p:spPr>
              <a:xfrm>
                <a:off x="1185074" y="4218094"/>
                <a:ext cx="534822" cy="534822"/>
              </a:xfrm>
              <a:prstGeom prst="ellipse">
                <a:avLst/>
              </a:prstGeom>
            </p:spPr>
            <p:style>
              <a:lnRef idx="2">
                <a:schemeClr val="accent4">
                  <a:hueOff val="1114094"/>
                  <a:satOff val="-33846"/>
                  <a:lumOff val="11177"/>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6" name="Freeform 15"/>
              <p:cNvSpPr/>
              <p:nvPr/>
            </p:nvSpPr>
            <p:spPr>
              <a:xfrm>
                <a:off x="1291551" y="4898372"/>
                <a:ext cx="5360822" cy="504000"/>
              </a:xfrm>
              <a:custGeom>
                <a:avLst/>
                <a:gdLst>
                  <a:gd name="connsiteX0" fmla="*/ 0 w 5360822"/>
                  <a:gd name="connsiteY0" fmla="*/ 0 h 427857"/>
                  <a:gd name="connsiteX1" fmla="*/ 5360822 w 5360822"/>
                  <a:gd name="connsiteY1" fmla="*/ 0 h 427857"/>
                  <a:gd name="connsiteX2" fmla="*/ 5360822 w 5360822"/>
                  <a:gd name="connsiteY2" fmla="*/ 427857 h 427857"/>
                  <a:gd name="connsiteX3" fmla="*/ 0 w 5360822"/>
                  <a:gd name="connsiteY3" fmla="*/ 427857 h 427857"/>
                  <a:gd name="connsiteX4" fmla="*/ 0 w 5360822"/>
                  <a:gd name="connsiteY4" fmla="*/ 0 h 427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0822" h="427857">
                    <a:moveTo>
                      <a:pt x="0" y="0"/>
                    </a:moveTo>
                    <a:lnTo>
                      <a:pt x="5360822" y="0"/>
                    </a:lnTo>
                    <a:lnTo>
                      <a:pt x="5360822" y="427857"/>
                    </a:lnTo>
                    <a:lnTo>
                      <a:pt x="0" y="427857"/>
                    </a:lnTo>
                    <a:lnTo>
                      <a:pt x="0" y="0"/>
                    </a:lnTo>
                    <a:close/>
                  </a:path>
                </a:pathLst>
              </a:custGeom>
            </p:spPr>
            <p:style>
              <a:lnRef idx="2">
                <a:schemeClr val="lt1">
                  <a:hueOff val="0"/>
                  <a:satOff val="0"/>
                  <a:lumOff val="0"/>
                  <a:alphaOff val="0"/>
                </a:schemeClr>
              </a:lnRef>
              <a:fillRef idx="1">
                <a:schemeClr val="accent4">
                  <a:hueOff val="1485459"/>
                  <a:satOff val="-45128"/>
                  <a:lumOff val="14902"/>
                  <a:alphaOff val="0"/>
                </a:schemeClr>
              </a:fillRef>
              <a:effectRef idx="0">
                <a:schemeClr val="accent4">
                  <a:hueOff val="1485459"/>
                  <a:satOff val="-45128"/>
                  <a:lumOff val="14902"/>
                  <a:alphaOff val="0"/>
                </a:schemeClr>
              </a:effectRef>
              <a:fontRef idx="minor">
                <a:schemeClr val="lt1"/>
              </a:fontRef>
            </p:style>
            <p:txBody>
              <a:bodyPr spcFirstLastPara="0" vert="horz" wrap="square" lIns="339612" tIns="33020" rIns="33020" bIns="33020" numCol="1" spcCol="1270" anchor="ctr" anchorCtr="0">
                <a:noAutofit/>
              </a:bodyPr>
              <a:lstStyle/>
              <a:p>
                <a:pPr lvl="0" defTabSz="577850">
                  <a:lnSpc>
                    <a:spcPct val="90000"/>
                  </a:lnSpc>
                  <a:spcBef>
                    <a:spcPct val="0"/>
                  </a:spcBef>
                  <a:spcAft>
                    <a:spcPct val="35000"/>
                  </a:spcAft>
                </a:pPr>
                <a:r>
                  <a:rPr lang="en-AU" sz="1600" kern="1200" dirty="0" smtClean="0">
                    <a:latin typeface="Helvetica" pitchFamily="34" charset="0"/>
                  </a:rPr>
                  <a:t>Show and explain features in the work area</a:t>
                </a:r>
                <a:endParaRPr lang="en-AU" sz="1600" kern="1200" dirty="0">
                  <a:latin typeface="Helvetica" pitchFamily="34" charset="0"/>
                </a:endParaRPr>
              </a:p>
            </p:txBody>
          </p:sp>
          <p:sp>
            <p:nvSpPr>
              <p:cNvPr id="17" name="Oval 16"/>
              <p:cNvSpPr/>
              <p:nvPr/>
            </p:nvSpPr>
            <p:spPr>
              <a:xfrm>
                <a:off x="1024139" y="4859800"/>
                <a:ext cx="534822" cy="534822"/>
              </a:xfrm>
              <a:prstGeom prst="ellipse">
                <a:avLst/>
              </a:prstGeom>
            </p:spPr>
            <p:style>
              <a:lnRef idx="2">
                <a:schemeClr val="accent4">
                  <a:hueOff val="1485459"/>
                  <a:satOff val="-45128"/>
                  <a:lumOff val="14902"/>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8" name="Freeform 17"/>
              <p:cNvSpPr/>
              <p:nvPr/>
            </p:nvSpPr>
            <p:spPr>
              <a:xfrm>
                <a:off x="939608" y="5540077"/>
                <a:ext cx="5712764" cy="504000"/>
              </a:xfrm>
              <a:custGeom>
                <a:avLst/>
                <a:gdLst>
                  <a:gd name="connsiteX0" fmla="*/ 0 w 5712764"/>
                  <a:gd name="connsiteY0" fmla="*/ 0 h 427857"/>
                  <a:gd name="connsiteX1" fmla="*/ 5712764 w 5712764"/>
                  <a:gd name="connsiteY1" fmla="*/ 0 h 427857"/>
                  <a:gd name="connsiteX2" fmla="*/ 5712764 w 5712764"/>
                  <a:gd name="connsiteY2" fmla="*/ 427857 h 427857"/>
                  <a:gd name="connsiteX3" fmla="*/ 0 w 5712764"/>
                  <a:gd name="connsiteY3" fmla="*/ 427857 h 427857"/>
                  <a:gd name="connsiteX4" fmla="*/ 0 w 5712764"/>
                  <a:gd name="connsiteY4" fmla="*/ 0 h 4278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2764" h="427857">
                    <a:moveTo>
                      <a:pt x="0" y="0"/>
                    </a:moveTo>
                    <a:lnTo>
                      <a:pt x="5712764" y="0"/>
                    </a:lnTo>
                    <a:lnTo>
                      <a:pt x="5712764" y="427857"/>
                    </a:lnTo>
                    <a:lnTo>
                      <a:pt x="0" y="427857"/>
                    </a:lnTo>
                    <a:lnTo>
                      <a:pt x="0" y="0"/>
                    </a:lnTo>
                    <a:close/>
                  </a:path>
                </a:pathLst>
              </a:custGeom>
            </p:spPr>
            <p:style>
              <a:lnRef idx="2">
                <a:schemeClr val="lt1">
                  <a:hueOff val="0"/>
                  <a:satOff val="0"/>
                  <a:lumOff val="0"/>
                  <a:alphaOff val="0"/>
                </a:schemeClr>
              </a:lnRef>
              <a:fillRef idx="1">
                <a:schemeClr val="accent4">
                  <a:hueOff val="1856823"/>
                  <a:satOff val="-56410"/>
                  <a:lumOff val="18628"/>
                  <a:alphaOff val="0"/>
                </a:schemeClr>
              </a:fillRef>
              <a:effectRef idx="0">
                <a:schemeClr val="accent4">
                  <a:hueOff val="1856823"/>
                  <a:satOff val="-56410"/>
                  <a:lumOff val="18628"/>
                  <a:alphaOff val="0"/>
                </a:schemeClr>
              </a:effectRef>
              <a:fontRef idx="minor">
                <a:schemeClr val="lt1"/>
              </a:fontRef>
            </p:style>
            <p:txBody>
              <a:bodyPr spcFirstLastPara="0" vert="horz" wrap="square" lIns="339612" tIns="33020" rIns="33020" bIns="33020" numCol="1" spcCol="1270" anchor="ctr" anchorCtr="0">
                <a:noAutofit/>
              </a:bodyPr>
              <a:lstStyle/>
              <a:p>
                <a:pPr lvl="0" defTabSz="577850">
                  <a:lnSpc>
                    <a:spcPct val="90000"/>
                  </a:lnSpc>
                  <a:spcBef>
                    <a:spcPct val="0"/>
                  </a:spcBef>
                  <a:spcAft>
                    <a:spcPct val="35000"/>
                  </a:spcAft>
                </a:pPr>
                <a:r>
                  <a:rPr lang="en-AU" sz="1600" kern="1200" dirty="0" smtClean="0">
                    <a:latin typeface="Helvetica" pitchFamily="34" charset="0"/>
                  </a:rPr>
                  <a:t>Outline details of any training requirements</a:t>
                </a:r>
                <a:endParaRPr lang="en-AU" sz="1600" kern="1200" dirty="0">
                  <a:latin typeface="Helvetica" pitchFamily="34" charset="0"/>
                </a:endParaRPr>
              </a:p>
            </p:txBody>
          </p:sp>
          <p:sp>
            <p:nvSpPr>
              <p:cNvPr id="19" name="Oval 18"/>
              <p:cNvSpPr/>
              <p:nvPr/>
            </p:nvSpPr>
            <p:spPr>
              <a:xfrm>
                <a:off x="672197" y="5501505"/>
                <a:ext cx="534822" cy="534822"/>
              </a:xfrm>
              <a:prstGeom prst="ellipse">
                <a:avLst/>
              </a:prstGeom>
            </p:spPr>
            <p:style>
              <a:lnRef idx="2">
                <a:schemeClr val="accent4">
                  <a:hueOff val="1856823"/>
                  <a:satOff val="-56410"/>
                  <a:lumOff val="18628"/>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grpSp>
        <p:sp>
          <p:nvSpPr>
            <p:cNvPr id="20" name="TextBox 19"/>
            <p:cNvSpPr txBox="1"/>
            <p:nvPr/>
          </p:nvSpPr>
          <p:spPr>
            <a:xfrm>
              <a:off x="725400" y="2329135"/>
              <a:ext cx="462224" cy="307777"/>
            </a:xfrm>
            <a:prstGeom prst="rect">
              <a:avLst/>
            </a:prstGeom>
            <a:noFill/>
          </p:spPr>
          <p:txBody>
            <a:bodyPr wrap="square" rtlCol="0">
              <a:spAutoFit/>
            </a:bodyPr>
            <a:lstStyle/>
            <a:p>
              <a:pPr algn="ctr"/>
              <a:r>
                <a:rPr lang="en-AU" sz="1400" b="1" dirty="0" smtClean="0">
                  <a:latin typeface="Helvetica" pitchFamily="34" charset="0"/>
                </a:rPr>
                <a:t>1.1</a:t>
              </a:r>
              <a:endParaRPr lang="en-AU" sz="1400" b="1" dirty="0">
                <a:latin typeface="Helvetica" pitchFamily="34" charset="0"/>
              </a:endParaRPr>
            </a:p>
          </p:txBody>
        </p:sp>
        <p:sp>
          <p:nvSpPr>
            <p:cNvPr id="21" name="TextBox 20"/>
            <p:cNvSpPr txBox="1"/>
            <p:nvPr/>
          </p:nvSpPr>
          <p:spPr>
            <a:xfrm>
              <a:off x="1108912" y="3021471"/>
              <a:ext cx="462224" cy="307777"/>
            </a:xfrm>
            <a:prstGeom prst="rect">
              <a:avLst/>
            </a:prstGeom>
            <a:noFill/>
          </p:spPr>
          <p:txBody>
            <a:bodyPr wrap="square" rtlCol="0">
              <a:spAutoFit/>
            </a:bodyPr>
            <a:lstStyle/>
            <a:p>
              <a:pPr algn="ctr"/>
              <a:r>
                <a:rPr lang="en-AU" sz="1400" b="1" dirty="0" smtClean="0">
                  <a:latin typeface="Helvetica" pitchFamily="34" charset="0"/>
                </a:rPr>
                <a:t>1.2</a:t>
              </a:r>
              <a:endParaRPr lang="en-AU" sz="1400" b="1" dirty="0">
                <a:latin typeface="Helvetica" pitchFamily="34" charset="0"/>
              </a:endParaRPr>
            </a:p>
          </p:txBody>
        </p:sp>
        <p:sp>
          <p:nvSpPr>
            <p:cNvPr id="22" name="TextBox 21"/>
            <p:cNvSpPr txBox="1"/>
            <p:nvPr/>
          </p:nvSpPr>
          <p:spPr>
            <a:xfrm>
              <a:off x="1240801" y="3747548"/>
              <a:ext cx="462224" cy="307777"/>
            </a:xfrm>
            <a:prstGeom prst="rect">
              <a:avLst/>
            </a:prstGeom>
            <a:noFill/>
          </p:spPr>
          <p:txBody>
            <a:bodyPr wrap="square" rtlCol="0">
              <a:spAutoFit/>
            </a:bodyPr>
            <a:lstStyle/>
            <a:p>
              <a:pPr algn="ctr"/>
              <a:r>
                <a:rPr lang="en-AU" sz="1400" b="1" dirty="0" smtClean="0">
                  <a:latin typeface="Helvetica" pitchFamily="34" charset="0"/>
                </a:rPr>
                <a:t>1.3</a:t>
              </a:r>
              <a:endParaRPr lang="en-AU" sz="1400" b="1" dirty="0">
                <a:latin typeface="Helvetica" pitchFamily="34" charset="0"/>
              </a:endParaRPr>
            </a:p>
          </p:txBody>
        </p:sp>
        <p:sp>
          <p:nvSpPr>
            <p:cNvPr id="23" name="TextBox 22"/>
            <p:cNvSpPr txBox="1"/>
            <p:nvPr/>
          </p:nvSpPr>
          <p:spPr>
            <a:xfrm>
              <a:off x="1252101" y="4422594"/>
              <a:ext cx="462224" cy="307777"/>
            </a:xfrm>
            <a:prstGeom prst="rect">
              <a:avLst/>
            </a:prstGeom>
            <a:noFill/>
          </p:spPr>
          <p:txBody>
            <a:bodyPr wrap="square" rtlCol="0">
              <a:spAutoFit/>
            </a:bodyPr>
            <a:lstStyle/>
            <a:p>
              <a:pPr algn="ctr"/>
              <a:r>
                <a:rPr lang="en-AU" sz="1400" b="1" dirty="0" smtClean="0">
                  <a:latin typeface="Helvetica" pitchFamily="34" charset="0"/>
                </a:rPr>
                <a:t>1.4</a:t>
              </a:r>
              <a:endParaRPr lang="en-AU" sz="1400" b="1" dirty="0">
                <a:latin typeface="Helvetica" pitchFamily="34" charset="0"/>
              </a:endParaRPr>
            </a:p>
          </p:txBody>
        </p:sp>
        <p:sp>
          <p:nvSpPr>
            <p:cNvPr id="24" name="TextBox 23"/>
            <p:cNvSpPr txBox="1"/>
            <p:nvPr/>
          </p:nvSpPr>
          <p:spPr>
            <a:xfrm>
              <a:off x="1108912" y="5137447"/>
              <a:ext cx="462224" cy="307777"/>
            </a:xfrm>
            <a:prstGeom prst="rect">
              <a:avLst/>
            </a:prstGeom>
            <a:noFill/>
          </p:spPr>
          <p:txBody>
            <a:bodyPr wrap="square" rtlCol="0">
              <a:spAutoFit/>
            </a:bodyPr>
            <a:lstStyle/>
            <a:p>
              <a:pPr algn="ctr"/>
              <a:r>
                <a:rPr lang="en-AU" sz="1400" b="1" dirty="0" smtClean="0">
                  <a:latin typeface="Helvetica" pitchFamily="34" charset="0"/>
                </a:rPr>
                <a:t>1.5</a:t>
              </a:r>
              <a:endParaRPr lang="en-AU" sz="1400" b="1" dirty="0">
                <a:latin typeface="Helvetica" pitchFamily="34" charset="0"/>
              </a:endParaRPr>
            </a:p>
          </p:txBody>
        </p:sp>
        <p:sp>
          <p:nvSpPr>
            <p:cNvPr id="25" name="TextBox 24"/>
            <p:cNvSpPr txBox="1"/>
            <p:nvPr/>
          </p:nvSpPr>
          <p:spPr>
            <a:xfrm>
              <a:off x="729407" y="5824161"/>
              <a:ext cx="462224" cy="307777"/>
            </a:xfrm>
            <a:prstGeom prst="rect">
              <a:avLst/>
            </a:prstGeom>
            <a:noFill/>
          </p:spPr>
          <p:txBody>
            <a:bodyPr wrap="square" rtlCol="0">
              <a:spAutoFit/>
            </a:bodyPr>
            <a:lstStyle/>
            <a:p>
              <a:pPr algn="ctr"/>
              <a:r>
                <a:rPr lang="en-AU" sz="1400" b="1" dirty="0" smtClean="0">
                  <a:latin typeface="Helvetica" pitchFamily="34" charset="0"/>
                </a:rPr>
                <a:t>1.6</a:t>
              </a:r>
              <a:endParaRPr lang="en-AU" sz="1400" b="1" dirty="0">
                <a:latin typeface="Helvetica" pitchFamily="34" charset="0"/>
              </a:endParaRPr>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pPr marL="901700" indent="-901700"/>
            <a:r>
              <a:rPr lang="en-US" sz="3400" b="1" dirty="0" smtClean="0">
                <a:solidFill>
                  <a:srgbClr val="FF6600"/>
                </a:solidFill>
                <a:latin typeface="Helvetica" pitchFamily="34" charset="0"/>
              </a:rPr>
              <a:t>1.1	Welcome new employee(s) and introduce them to key personnel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09939"/>
          </a:xfrm>
        </p:spPr>
        <p:txBody>
          <a:bodyPr>
            <a:normAutofit/>
          </a:bodyPr>
          <a:lstStyle/>
          <a:p>
            <a:pPr marL="0" indent="0">
              <a:spcBef>
                <a:spcPts val="600"/>
              </a:spcBef>
              <a:spcAft>
                <a:spcPts val="1200"/>
              </a:spcAft>
              <a:buNone/>
            </a:pPr>
            <a:r>
              <a:rPr lang="en-AU" sz="2000" dirty="0" smtClean="0">
                <a:latin typeface="Helvetica" pitchFamily="34" charset="0"/>
              </a:rPr>
              <a:t>An organization only has one chance to make a good </a:t>
            </a:r>
            <a:br>
              <a:rPr lang="en-AU" sz="2000" dirty="0" smtClean="0">
                <a:latin typeface="Helvetica" pitchFamily="34" charset="0"/>
              </a:rPr>
            </a:br>
            <a:r>
              <a:rPr lang="en-AU" sz="2000" dirty="0" smtClean="0">
                <a:latin typeface="Helvetica" pitchFamily="34" charset="0"/>
              </a:rPr>
              <a:t>first impression with the new hire, and the first few </a:t>
            </a:r>
            <a:br>
              <a:rPr lang="en-AU" sz="2000" dirty="0" smtClean="0">
                <a:latin typeface="Helvetica" pitchFamily="34" charset="0"/>
              </a:rPr>
            </a:br>
            <a:r>
              <a:rPr lang="en-AU" sz="2000" dirty="0" smtClean="0">
                <a:latin typeface="Helvetica" pitchFamily="34" charset="0"/>
              </a:rPr>
              <a:t>days will leave a lasting impression. </a:t>
            </a:r>
          </a:p>
          <a:p>
            <a:pPr marL="0" indent="0">
              <a:spcBef>
                <a:spcPts val="600"/>
              </a:spcBef>
              <a:spcAft>
                <a:spcPts val="1200"/>
              </a:spcAft>
              <a:buNone/>
            </a:pPr>
            <a:r>
              <a:rPr lang="en-AU" sz="2000" dirty="0" smtClean="0">
                <a:latin typeface="Helvetica" pitchFamily="34" charset="0"/>
              </a:rPr>
              <a:t>It is important then to make sure that all new employees are provided with an opportunity to meet the people they will work most closely with.</a:t>
            </a:r>
          </a:p>
          <a:p>
            <a:pPr marL="0" indent="0">
              <a:spcBef>
                <a:spcPts val="600"/>
              </a:spcBef>
              <a:spcAft>
                <a:spcPts val="1200"/>
              </a:spcAft>
              <a:buNone/>
            </a:pPr>
            <a:endParaRPr lang="en-US" sz="2000"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pic>
        <p:nvPicPr>
          <p:cNvPr id="6" name="Picture 5" descr="C:\Users\Quentin\AppData\Local\Microsoft\Windows\Temporary Internet Files\Content.IE5\19YMNHS8\Training[1].jpg"/>
          <p:cNvPicPr/>
          <p:nvPr/>
        </p:nvPicPr>
        <p:blipFill>
          <a:blip r:embed="rId3" cstate="print"/>
          <a:srcRect/>
          <a:stretch>
            <a:fillRect/>
          </a:stretch>
        </p:blipFill>
        <p:spPr bwMode="auto">
          <a:xfrm>
            <a:off x="3013100" y="3747616"/>
            <a:ext cx="2376264" cy="208823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100" b="1" dirty="0" smtClean="0">
                <a:solidFill>
                  <a:srgbClr val="FF6600"/>
                </a:solidFill>
                <a:latin typeface="Helvetica" pitchFamily="34" charset="0"/>
              </a:rPr>
              <a:t>Planning for new employees</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000" dirty="0" smtClean="0">
                <a:latin typeface="Helvetica" pitchFamily="34" charset="0"/>
              </a:rPr>
              <a:t>It is important that all staff receive the same level of support when they join your organisation. An organisation should:</a:t>
            </a:r>
          </a:p>
          <a:p>
            <a:pPr marL="360000" indent="-360000">
              <a:spcBef>
                <a:spcPts val="600"/>
              </a:spcBef>
              <a:spcAft>
                <a:spcPts val="1200"/>
              </a:spcAft>
            </a:pPr>
            <a:r>
              <a:rPr lang="en-US" sz="2000" dirty="0" smtClean="0">
                <a:latin typeface="Helvetica" pitchFamily="34" charset="0"/>
              </a:rPr>
              <a:t>Have a welcome strategy in place</a:t>
            </a:r>
          </a:p>
          <a:p>
            <a:pPr marL="360000" indent="-360000">
              <a:spcBef>
                <a:spcPts val="600"/>
              </a:spcBef>
              <a:spcAft>
                <a:spcPts val="1200"/>
              </a:spcAft>
            </a:pPr>
            <a:r>
              <a:rPr lang="en-US" sz="2000" dirty="0" smtClean="0">
                <a:latin typeface="Helvetica" pitchFamily="34" charset="0"/>
              </a:rPr>
              <a:t>Have a personal collage of all </a:t>
            </a:r>
            <a:br>
              <a:rPr lang="en-US" sz="2000" dirty="0" smtClean="0">
                <a:latin typeface="Helvetica" pitchFamily="34" charset="0"/>
              </a:rPr>
            </a:br>
            <a:r>
              <a:rPr lang="en-US" sz="2000" dirty="0" smtClean="0">
                <a:latin typeface="Helvetica" pitchFamily="34" charset="0"/>
              </a:rPr>
              <a:t>immediate staff</a:t>
            </a:r>
          </a:p>
          <a:p>
            <a:pPr marL="360000" indent="-360000">
              <a:spcBef>
                <a:spcPts val="600"/>
              </a:spcBef>
              <a:spcAft>
                <a:spcPts val="1200"/>
              </a:spcAft>
            </a:pPr>
            <a:r>
              <a:rPr lang="en-US" sz="2000" dirty="0" smtClean="0">
                <a:latin typeface="Helvetica" pitchFamily="34" charset="0"/>
              </a:rPr>
              <a:t>Have a mentor or buddy system</a:t>
            </a:r>
          </a:p>
          <a:p>
            <a:pPr marL="360000" indent="-360000">
              <a:spcBef>
                <a:spcPts val="600"/>
              </a:spcBef>
              <a:spcAft>
                <a:spcPts val="1200"/>
              </a:spcAft>
            </a:pPr>
            <a:r>
              <a:rPr lang="en-US" sz="2000" dirty="0" smtClean="0">
                <a:latin typeface="Helvetica" pitchFamily="34" charset="0"/>
              </a:rPr>
              <a:t>Express a genuine interest in the </a:t>
            </a:r>
            <a:br>
              <a:rPr lang="en-US" sz="2000" dirty="0" smtClean="0">
                <a:latin typeface="Helvetica" pitchFamily="34" charset="0"/>
              </a:rPr>
            </a:br>
            <a:r>
              <a:rPr lang="en-US" sz="2000" dirty="0" smtClean="0">
                <a:latin typeface="Helvetica" pitchFamily="34" charset="0"/>
              </a:rPr>
              <a:t>new employee as a person</a:t>
            </a:r>
          </a:p>
          <a:p>
            <a:pPr marL="360000" indent="-360000">
              <a:spcBef>
                <a:spcPts val="600"/>
              </a:spcBef>
              <a:spcAft>
                <a:spcPts val="1200"/>
              </a:spcAft>
            </a:pPr>
            <a:r>
              <a:rPr lang="en-US" sz="2000" dirty="0" smtClean="0">
                <a:latin typeface="Helvetica" pitchFamily="34" charset="0"/>
              </a:rPr>
              <a:t>Immerse the new staff member in the company culture</a:t>
            </a: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6095" y="2564904"/>
            <a:ext cx="2007865" cy="20078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100" b="1" dirty="0" smtClean="0">
                <a:solidFill>
                  <a:srgbClr val="FF6600"/>
                </a:solidFill>
                <a:latin typeface="Helvetica" pitchFamily="34" charset="0"/>
              </a:rPr>
              <a:t>Introducing people</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dirty="0" smtClean="0">
                <a:latin typeface="Helvetica" pitchFamily="34" charset="0"/>
              </a:rPr>
              <a:t>It is important to practice:</a:t>
            </a:r>
          </a:p>
          <a:p>
            <a:pPr marL="360000" indent="-360000">
              <a:spcBef>
                <a:spcPts val="600"/>
              </a:spcBef>
              <a:spcAft>
                <a:spcPts val="1200"/>
              </a:spcAft>
            </a:pPr>
            <a:r>
              <a:rPr lang="en-AU" sz="2400" dirty="0" smtClean="0">
                <a:latin typeface="Helvetica" pitchFamily="34" charset="0"/>
                <a:cs typeface="Helvetica" pitchFamily="34" charset="0"/>
              </a:rPr>
              <a:t>Introducing yourself</a:t>
            </a:r>
          </a:p>
          <a:p>
            <a:pPr marL="360000" indent="-360000">
              <a:spcBef>
                <a:spcPts val="600"/>
              </a:spcBef>
              <a:spcAft>
                <a:spcPts val="1200"/>
              </a:spcAft>
            </a:pPr>
            <a:r>
              <a:rPr lang="en-AU" sz="2400" dirty="0" smtClean="0">
                <a:latin typeface="Helvetica" pitchFamily="34" charset="0"/>
                <a:cs typeface="Helvetica" pitchFamily="34" charset="0"/>
              </a:rPr>
              <a:t>Introducing others</a:t>
            </a:r>
            <a:endParaRPr lang="en-US" sz="2200" dirty="0" smtClean="0">
              <a:latin typeface="Helvetica" pitchFamily="34" charset="0"/>
              <a:cs typeface="Helvetica" pitchFamily="34" charset="0"/>
            </a:endParaRPr>
          </a:p>
          <a:p>
            <a:pPr marL="360000" indent="-360000">
              <a:spcBef>
                <a:spcPts val="600"/>
              </a:spcBef>
              <a:spcAft>
                <a:spcPts val="1200"/>
              </a:spcAft>
            </a:pPr>
            <a:r>
              <a:rPr lang="en-US" sz="2200" dirty="0" smtClean="0">
                <a:latin typeface="Helvetica" pitchFamily="34" charset="0"/>
                <a:cs typeface="Helvetica" pitchFamily="34" charset="0"/>
              </a:rPr>
              <a:t>Responding to introductions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6" name="Picture 5" descr="introducing people"/>
          <p:cNvPicPr/>
          <p:nvPr/>
        </p:nvPicPr>
        <p:blipFill>
          <a:blip r:embed="rId3" cstate="print"/>
          <a:srcRect/>
          <a:stretch>
            <a:fillRect/>
          </a:stretch>
        </p:blipFill>
        <p:spPr bwMode="auto">
          <a:xfrm>
            <a:off x="5004047" y="1700808"/>
            <a:ext cx="2670987" cy="216904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100" b="1" dirty="0" smtClean="0">
                <a:solidFill>
                  <a:srgbClr val="FF6600"/>
                </a:solidFill>
                <a:latin typeface="Helvetica" pitchFamily="34" charset="0"/>
              </a:rPr>
              <a:t>Key personnel</a:t>
            </a:r>
            <a:endParaRPr lang="en-US" sz="31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7" name="Picture 6" descr="http://www.hotelmule.com/forum/attachments/month_1006/100626221392b485e84b5f4343.gif"/>
          <p:cNvPicPr/>
          <p:nvPr/>
        </p:nvPicPr>
        <p:blipFill>
          <a:blip r:embed="rId3" cstate="print"/>
          <a:srcRect/>
          <a:stretch>
            <a:fillRect/>
          </a:stretch>
        </p:blipFill>
        <p:spPr bwMode="auto">
          <a:xfrm>
            <a:off x="1043608" y="1687230"/>
            <a:ext cx="5904656" cy="361397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pPr marL="901700" indent="-901700"/>
            <a:r>
              <a:rPr lang="en-US" sz="3400" b="1" dirty="0" smtClean="0">
                <a:solidFill>
                  <a:srgbClr val="FF6600"/>
                </a:solidFill>
                <a:latin typeface="Helvetica" pitchFamily="34" charset="0"/>
              </a:rPr>
              <a:t>1.2	Explain how the position relates to others in the company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AU" sz="2400" dirty="0" smtClean="0"/>
              <a:t>It is important to understand how a position relates to other positions within an organisation in order to better achieve the overall goals of the company. </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6" name="Picture 5" descr="C:\Users\Quentin\AppData\Local\Microsoft\Windows\Temporary Internet Files\Content.IE5\XCZRY9RX\Job-300x299[1].jpg"/>
          <p:cNvPicPr/>
          <p:nvPr/>
        </p:nvPicPr>
        <p:blipFill>
          <a:blip r:embed="rId3" cstate="print"/>
          <a:srcRect/>
          <a:stretch>
            <a:fillRect/>
          </a:stretch>
        </p:blipFill>
        <p:spPr bwMode="auto">
          <a:xfrm>
            <a:off x="2699792" y="3117056"/>
            <a:ext cx="2808312" cy="280831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296144"/>
          </a:xfrm>
        </p:spPr>
        <p:txBody>
          <a:bodyPr>
            <a:normAutofit/>
          </a:bodyPr>
          <a:lstStyle/>
          <a:p>
            <a:r>
              <a:rPr lang="en-US" sz="3100" b="1" dirty="0" smtClean="0">
                <a:solidFill>
                  <a:srgbClr val="FF6600"/>
                </a:solidFill>
                <a:latin typeface="Helvetica" pitchFamily="34" charset="0"/>
              </a:rPr>
              <a:t>Role clarity and relationship to other positions</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0" indent="0">
              <a:spcBef>
                <a:spcPts val="600"/>
              </a:spcBef>
              <a:spcAft>
                <a:spcPts val="1200"/>
              </a:spcAft>
              <a:buNone/>
            </a:pPr>
            <a:r>
              <a:rPr lang="en-US" sz="2200" dirty="0" smtClean="0">
                <a:latin typeface="Helvetica" pitchFamily="34" charset="0"/>
              </a:rPr>
              <a:t>It is necessary to clearly outline the role of the new employee and how their position relates to other roles in the organisation. There may often be different levels within a company such as:</a:t>
            </a:r>
          </a:p>
          <a:p>
            <a:pPr marL="360000" indent="-360000">
              <a:spcBef>
                <a:spcPts val="600"/>
              </a:spcBef>
              <a:spcAft>
                <a:spcPts val="1200"/>
              </a:spcAft>
            </a:pPr>
            <a:r>
              <a:rPr lang="en-US" sz="2200" dirty="0" smtClean="0">
                <a:latin typeface="Helvetica" pitchFamily="34" charset="0"/>
              </a:rPr>
              <a:t>Managers</a:t>
            </a:r>
          </a:p>
          <a:p>
            <a:pPr marL="360000" indent="-360000">
              <a:spcBef>
                <a:spcPts val="600"/>
              </a:spcBef>
              <a:spcAft>
                <a:spcPts val="1200"/>
              </a:spcAft>
            </a:pPr>
            <a:r>
              <a:rPr lang="en-US" sz="2200" dirty="0" smtClean="0">
                <a:latin typeface="Helvetica" pitchFamily="34" charset="0"/>
              </a:rPr>
              <a:t>Supervisors</a:t>
            </a:r>
          </a:p>
          <a:p>
            <a:pPr marL="360000" indent="-360000">
              <a:spcBef>
                <a:spcPts val="600"/>
              </a:spcBef>
              <a:spcAft>
                <a:spcPts val="1200"/>
              </a:spcAft>
            </a:pPr>
            <a:r>
              <a:rPr lang="en-US" sz="2200" dirty="0" smtClean="0">
                <a:latin typeface="Helvetica" pitchFamily="34" charset="0"/>
              </a:rPr>
              <a:t>Operational staff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5" name="Picture 2" descr="C:\Users\Quentin\AppData\Local\Microsoft\Windows\Temporary Internet Files\Content.IE5\225CUFF9\leadership[1].jpg"/>
          <p:cNvPicPr>
            <a:picLocks noChangeAspect="1" noChangeArrowheads="1"/>
          </p:cNvPicPr>
          <p:nvPr/>
        </p:nvPicPr>
        <p:blipFill>
          <a:blip r:embed="rId3" cstate="print"/>
          <a:srcRect/>
          <a:stretch>
            <a:fillRect/>
          </a:stretch>
        </p:blipFill>
        <p:spPr bwMode="auto">
          <a:xfrm>
            <a:off x="4355976" y="3170560"/>
            <a:ext cx="2338164" cy="2338164"/>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fontScale="90000"/>
          </a:bodyPr>
          <a:lstStyle/>
          <a:p>
            <a:pPr marL="901700" indent="-901700"/>
            <a:r>
              <a:rPr lang="en-US" sz="3400" b="1" dirty="0" smtClean="0">
                <a:solidFill>
                  <a:srgbClr val="FF6600"/>
                </a:solidFill>
                <a:latin typeface="Helvetica" pitchFamily="34" charset="0"/>
              </a:rPr>
              <a:t>1.3	Speak positively about the company structure, goals and priorities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536504"/>
          </a:xfrm>
        </p:spPr>
        <p:txBody>
          <a:bodyPr>
            <a:normAutofit/>
          </a:bodyPr>
          <a:lstStyle/>
          <a:p>
            <a:pPr marL="0" indent="0">
              <a:spcBef>
                <a:spcPts val="600"/>
              </a:spcBef>
              <a:spcAft>
                <a:spcPts val="1200"/>
              </a:spcAft>
              <a:buNone/>
            </a:pPr>
            <a:r>
              <a:rPr lang="en-US" sz="2200" dirty="0" smtClean="0">
                <a:latin typeface="Helvetica" pitchFamily="34" charset="0"/>
              </a:rPr>
              <a:t>Speaking positively about company goals, structure and priorities is an important role. It helps to:</a:t>
            </a:r>
          </a:p>
          <a:p>
            <a:pPr marL="360000" indent="-360000">
              <a:spcBef>
                <a:spcPts val="600"/>
              </a:spcBef>
              <a:spcAft>
                <a:spcPts val="1200"/>
              </a:spcAft>
            </a:pPr>
            <a:r>
              <a:rPr lang="en-US" sz="2200" dirty="0" smtClean="0">
                <a:latin typeface="Helvetica" pitchFamily="34" charset="0"/>
              </a:rPr>
              <a:t>Encourage and engage new employees</a:t>
            </a:r>
          </a:p>
          <a:p>
            <a:pPr marL="360000" indent="-360000">
              <a:spcBef>
                <a:spcPts val="600"/>
              </a:spcBef>
              <a:spcAft>
                <a:spcPts val="1200"/>
              </a:spcAft>
            </a:pPr>
            <a:r>
              <a:rPr lang="en-US" sz="2200" dirty="0" smtClean="0">
                <a:latin typeface="Helvetica" pitchFamily="34" charset="0"/>
              </a:rPr>
              <a:t>Show your awareness of the organisation and to share that knowledge </a:t>
            </a:r>
          </a:p>
          <a:p>
            <a:pPr marL="360000" indent="-360000">
              <a:spcBef>
                <a:spcPts val="600"/>
              </a:spcBef>
              <a:spcAft>
                <a:spcPts val="1200"/>
              </a:spcAft>
            </a:pPr>
            <a:r>
              <a:rPr lang="en-US" sz="2200" dirty="0" smtClean="0">
                <a:latin typeface="Helvetica" pitchFamily="34" charset="0"/>
              </a:rPr>
              <a:t>Align individual goals with company priorities and strategy</a:t>
            </a:r>
          </a:p>
          <a:p>
            <a:pPr marL="360000" indent="-360000">
              <a:spcBef>
                <a:spcPts val="600"/>
              </a:spcBef>
              <a:spcAft>
                <a:spcPts val="1200"/>
              </a:spcAft>
            </a:pPr>
            <a:r>
              <a:rPr lang="en-US" sz="2200" dirty="0" smtClean="0">
                <a:latin typeface="Helvetica" pitchFamily="34" charset="0"/>
              </a:rPr>
              <a:t>Identify who does what within the organisation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100" b="1" dirty="0" smtClean="0">
                <a:solidFill>
                  <a:srgbClr val="FF6600"/>
                </a:solidFill>
                <a:latin typeface="Helvetica" pitchFamily="34" charset="0"/>
              </a:rPr>
              <a:t>Organisation structure</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There are many different types of organisation structures:</a:t>
            </a:r>
          </a:p>
          <a:p>
            <a:pPr marL="360000" indent="-360000">
              <a:spcBef>
                <a:spcPts val="600"/>
              </a:spcBef>
              <a:spcAft>
                <a:spcPts val="1200"/>
              </a:spcAft>
            </a:pPr>
            <a:r>
              <a:rPr lang="en-US" sz="2200" dirty="0" smtClean="0">
                <a:latin typeface="Helvetica" pitchFamily="34" charset="0"/>
              </a:rPr>
              <a:t>Functional</a:t>
            </a:r>
          </a:p>
          <a:p>
            <a:pPr marL="360000" indent="-360000">
              <a:spcBef>
                <a:spcPts val="600"/>
              </a:spcBef>
              <a:spcAft>
                <a:spcPts val="1200"/>
              </a:spcAft>
            </a:pPr>
            <a:r>
              <a:rPr lang="en-US" sz="2200" dirty="0" smtClean="0">
                <a:latin typeface="Helvetica" pitchFamily="34" charset="0"/>
              </a:rPr>
              <a:t>Departmental</a:t>
            </a:r>
          </a:p>
          <a:p>
            <a:pPr marL="360000" indent="-360000">
              <a:spcBef>
                <a:spcPts val="600"/>
              </a:spcBef>
              <a:spcAft>
                <a:spcPts val="1200"/>
              </a:spcAft>
            </a:pPr>
            <a:r>
              <a:rPr lang="en-US" sz="2200" dirty="0" smtClean="0">
                <a:latin typeface="Helvetica" pitchFamily="34" charset="0"/>
              </a:rPr>
              <a:t>Divisional</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6" name="Picture 5" descr="C:\Program Files (x86)\Microsoft Office\MEDIA\OFFICE12\AutoShap\BD18241_.wmf"/>
          <p:cNvPicPr/>
          <p:nvPr/>
        </p:nvPicPr>
        <p:blipFill>
          <a:blip r:embed="rId3" cstate="print"/>
          <a:srcRect/>
          <a:stretch>
            <a:fillRect/>
          </a:stretch>
        </p:blipFill>
        <p:spPr bwMode="auto">
          <a:xfrm>
            <a:off x="3779912" y="2132856"/>
            <a:ext cx="2232248" cy="2304256"/>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100" b="1" dirty="0" smtClean="0">
                <a:solidFill>
                  <a:srgbClr val="FF6600"/>
                </a:solidFill>
                <a:latin typeface="Helvetica" pitchFamily="34" charset="0"/>
              </a:rPr>
              <a:t>Organisational structure details</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marL="0" indent="0">
              <a:spcBef>
                <a:spcPts val="600"/>
              </a:spcBef>
              <a:spcAft>
                <a:spcPts val="1200"/>
              </a:spcAft>
              <a:buNone/>
            </a:pPr>
            <a:r>
              <a:rPr lang="en-US" sz="2200" dirty="0" smtClean="0"/>
              <a:t>The significant components of organisational structure are:</a:t>
            </a:r>
          </a:p>
          <a:p>
            <a:pPr>
              <a:spcBef>
                <a:spcPts val="600"/>
              </a:spcBef>
              <a:spcAft>
                <a:spcPts val="1200"/>
              </a:spcAft>
            </a:pPr>
            <a:r>
              <a:rPr lang="en-AU" sz="2200" dirty="0" smtClean="0"/>
              <a:t>Work specialisation</a:t>
            </a:r>
            <a:endParaRPr lang="en-US" sz="2200" dirty="0" smtClean="0"/>
          </a:p>
          <a:p>
            <a:pPr>
              <a:spcBef>
                <a:spcPts val="600"/>
              </a:spcBef>
              <a:spcAft>
                <a:spcPts val="1200"/>
              </a:spcAft>
            </a:pPr>
            <a:r>
              <a:rPr lang="en-US" sz="2200" dirty="0" smtClean="0"/>
              <a:t>Span of control</a:t>
            </a:r>
          </a:p>
          <a:p>
            <a:pPr>
              <a:spcBef>
                <a:spcPts val="600"/>
              </a:spcBef>
              <a:spcAft>
                <a:spcPts val="1200"/>
              </a:spcAft>
            </a:pPr>
            <a:r>
              <a:rPr lang="en-US" sz="2200" dirty="0" smtClean="0"/>
              <a:t>Centralisation</a:t>
            </a:r>
          </a:p>
          <a:p>
            <a:pPr>
              <a:spcBef>
                <a:spcPts val="600"/>
              </a:spcBef>
              <a:spcAft>
                <a:spcPts val="1200"/>
              </a:spcAft>
            </a:pPr>
            <a:r>
              <a:rPr lang="en-US" sz="2200" dirty="0" smtClean="0"/>
              <a:t>Decentralisation</a:t>
            </a:r>
          </a:p>
          <a:p>
            <a:pPr>
              <a:spcBef>
                <a:spcPts val="600"/>
              </a:spcBef>
              <a:spcAft>
                <a:spcPts val="1200"/>
              </a:spcAft>
            </a:pPr>
            <a:r>
              <a:rPr lang="en-US" sz="2200" dirty="0" smtClean="0"/>
              <a:t>Formalisation</a:t>
            </a:r>
          </a:p>
          <a:p>
            <a:pPr>
              <a:spcBef>
                <a:spcPts val="600"/>
              </a:spcBef>
              <a:spcAft>
                <a:spcPts val="1200"/>
              </a:spcAft>
            </a:pPr>
            <a:r>
              <a:rPr lang="en-AU" sz="2200" dirty="0" smtClean="0"/>
              <a:t>Departmentalisation</a:t>
            </a:r>
            <a:endParaRPr lang="en-US" sz="2200" dirty="0" smtClean="0"/>
          </a:p>
          <a:p>
            <a:pPr>
              <a:spcBef>
                <a:spcPts val="600"/>
              </a:spcBef>
              <a:spcAft>
                <a:spcPts val="1200"/>
              </a:spcAft>
            </a:pPr>
            <a:r>
              <a:rPr lang="en-AU" sz="2200" dirty="0" smtClean="0"/>
              <a:t>Chain of command</a:t>
            </a:r>
            <a:endParaRPr lang="en-US" sz="2200" dirty="0" smtClean="0"/>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2051" name="Picture 3" descr="C:\Users\Quentin\AppData\Local\Microsoft\Windows\Temporary Internet Files\Content.IE5\XCZRY9RX\pm-relationship61[1].jpg"/>
          <p:cNvPicPr>
            <a:picLocks noChangeAspect="1" noChangeArrowheads="1"/>
          </p:cNvPicPr>
          <p:nvPr/>
        </p:nvPicPr>
        <p:blipFill>
          <a:blip r:embed="rId3" cstate="print"/>
          <a:srcRect/>
          <a:stretch>
            <a:fillRect/>
          </a:stretch>
        </p:blipFill>
        <p:spPr bwMode="auto">
          <a:xfrm>
            <a:off x="4427984" y="2492896"/>
            <a:ext cx="2736304" cy="3004898"/>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051"/>
                                        </p:tgtEl>
                                        <p:attrNameLst>
                                          <p:attrName>style.visibility</p:attrName>
                                        </p:attrNameLst>
                                      </p:cBhvr>
                                      <p:to>
                                        <p:strVal val="visible"/>
                                      </p:to>
                                    </p:set>
                                    <p:animEffect transition="in" filter="circle(in)">
                                      <p:cBhvr>
                                        <p:cTn id="7" dur="20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100" b="1" dirty="0" smtClean="0">
                <a:solidFill>
                  <a:srgbClr val="FF6600"/>
                </a:solidFill>
                <a:latin typeface="Helvetica" pitchFamily="34" charset="0"/>
              </a:rPr>
              <a:t>Speaking positively in the workplace</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040560"/>
          </a:xfrm>
        </p:spPr>
        <p:txBody>
          <a:bodyPr>
            <a:normAutofit/>
          </a:bodyPr>
          <a:lstStyle/>
          <a:p>
            <a:pPr marL="0" indent="0">
              <a:spcBef>
                <a:spcPts val="600"/>
              </a:spcBef>
              <a:spcAft>
                <a:spcPts val="600"/>
              </a:spcAft>
              <a:buNone/>
            </a:pPr>
            <a:r>
              <a:rPr lang="en-US" sz="1800" dirty="0" smtClean="0"/>
              <a:t>Some ideas to support speaking positively:</a:t>
            </a:r>
          </a:p>
          <a:p>
            <a:pPr>
              <a:spcBef>
                <a:spcPts val="600"/>
              </a:spcBef>
              <a:spcAft>
                <a:spcPts val="600"/>
              </a:spcAft>
            </a:pPr>
            <a:r>
              <a:rPr lang="en-US" sz="1800" dirty="0" smtClean="0"/>
              <a:t>Smile when you speak.  People will react differently when you put a little smile in your voice.  It is human nature to mirror the person we are speaking to.</a:t>
            </a:r>
          </a:p>
          <a:p>
            <a:pPr>
              <a:spcBef>
                <a:spcPts val="600"/>
              </a:spcBef>
              <a:spcAft>
                <a:spcPts val="600"/>
              </a:spcAft>
            </a:pPr>
            <a:r>
              <a:rPr lang="en-US" sz="1800" dirty="0" smtClean="0"/>
              <a:t>Focus on what you can do.  Instead of “We can’t do that until next week,” try “We will be able to do that next week.”</a:t>
            </a:r>
          </a:p>
          <a:p>
            <a:pPr>
              <a:spcBef>
                <a:spcPts val="600"/>
              </a:spcBef>
              <a:spcAft>
                <a:spcPts val="600"/>
              </a:spcAft>
            </a:pPr>
            <a:r>
              <a:rPr lang="en-US" sz="1800" dirty="0" smtClean="0"/>
              <a:t>Suggest alternatives and solutions.  Instead of “That is okay, except…” say “If you do X , it will be perfect.”</a:t>
            </a:r>
          </a:p>
          <a:p>
            <a:pPr>
              <a:spcBef>
                <a:spcPts val="600"/>
              </a:spcBef>
              <a:spcAft>
                <a:spcPts val="600"/>
              </a:spcAft>
            </a:pPr>
            <a:r>
              <a:rPr lang="en-US" sz="1800" dirty="0" smtClean="0"/>
              <a:t>Take responsibility – don’t lay blame others.  Instead of “ It’s not my fault,” say “ Here’s what I can do to fix that.”</a:t>
            </a:r>
          </a:p>
          <a:p>
            <a:pPr>
              <a:spcBef>
                <a:spcPts val="600"/>
              </a:spcBef>
              <a:spcAft>
                <a:spcPts val="600"/>
              </a:spcAft>
            </a:pPr>
            <a:r>
              <a:rPr lang="en-US" sz="1800" dirty="0" smtClean="0"/>
              <a:t>Avoid sounding pushy.  Instead of “You‘ll have to,” say “Could you” or “Would you be able to” or “What I’ll need is…”</a:t>
            </a:r>
          </a:p>
          <a:p>
            <a:pPr>
              <a:spcBef>
                <a:spcPts val="600"/>
              </a:spcBef>
              <a:spcAft>
                <a:spcPts val="600"/>
              </a:spcAft>
            </a:pPr>
            <a:r>
              <a:rPr lang="en-US" sz="1800" dirty="0" smtClean="0"/>
              <a:t>Use a yes we can attitude.  Instead of “No, because…” say “Yes, as soon as…”</a:t>
            </a:r>
          </a:p>
          <a:p>
            <a:pPr marL="360000" indent="-360000">
              <a:spcBef>
                <a:spcPts val="600"/>
              </a:spcBef>
              <a:spcAft>
                <a:spcPts val="600"/>
              </a:spcAft>
              <a:buNone/>
            </a:pPr>
            <a:endParaRPr lang="en-US" sz="18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100" b="1" dirty="0" smtClean="0">
                <a:solidFill>
                  <a:srgbClr val="FF6600"/>
                </a:solidFill>
                <a:latin typeface="Helvetica" pitchFamily="34" charset="0"/>
              </a:rPr>
              <a:t>Vision and mission</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669979"/>
          </a:xfrm>
        </p:spPr>
        <p:txBody>
          <a:bodyPr>
            <a:normAutofit/>
          </a:bodyPr>
          <a:lstStyle/>
          <a:p>
            <a:pPr marL="0" indent="0">
              <a:spcBef>
                <a:spcPts val="600"/>
              </a:spcBef>
              <a:spcAft>
                <a:spcPts val="1200"/>
              </a:spcAft>
              <a:buNone/>
            </a:pPr>
            <a:r>
              <a:rPr lang="en-US" sz="2200" dirty="0" smtClean="0">
                <a:latin typeface="Helvetica" pitchFamily="34" charset="0"/>
              </a:rPr>
              <a:t>Vision and mission statements:</a:t>
            </a:r>
          </a:p>
          <a:p>
            <a:pPr marL="360000" indent="-360000">
              <a:spcBef>
                <a:spcPts val="600"/>
              </a:spcBef>
              <a:spcAft>
                <a:spcPts val="1200"/>
              </a:spcAft>
            </a:pPr>
            <a:r>
              <a:rPr lang="en-US" sz="2200" dirty="0" smtClean="0">
                <a:latin typeface="Helvetica" pitchFamily="34" charset="0"/>
              </a:rPr>
              <a:t>Are important aspects which influence organisational culture</a:t>
            </a:r>
          </a:p>
          <a:p>
            <a:pPr marL="360000" indent="-360000">
              <a:spcBef>
                <a:spcPts val="600"/>
              </a:spcBef>
              <a:spcAft>
                <a:spcPts val="1200"/>
              </a:spcAft>
            </a:pPr>
            <a:r>
              <a:rPr lang="en-US" sz="2200" dirty="0" smtClean="0">
                <a:latin typeface="Helvetica" pitchFamily="34" charset="0"/>
              </a:rPr>
              <a:t>Create a foundation for values, priorities, company goals and objectives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3074" name="Picture 2" descr="C:\Users\Quentin\AppData\Local\Microsoft\Windows\Temporary Internet Files\Content.IE5\X0AY02HY\VisionMissionValues[1].jpg"/>
          <p:cNvPicPr>
            <a:picLocks noChangeAspect="1" noChangeArrowheads="1"/>
          </p:cNvPicPr>
          <p:nvPr/>
        </p:nvPicPr>
        <p:blipFill>
          <a:blip r:embed="rId3" cstate="print"/>
          <a:srcRect/>
          <a:stretch>
            <a:fillRect/>
          </a:stretch>
        </p:blipFill>
        <p:spPr bwMode="auto">
          <a:xfrm>
            <a:off x="2771800" y="3862038"/>
            <a:ext cx="2736304" cy="212013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circle(in)">
                                      <p:cBhvr>
                                        <p:cTn id="7" dur="20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fontScale="90000"/>
          </a:bodyPr>
          <a:lstStyle/>
          <a:p>
            <a:pPr marL="901700" indent="-901700"/>
            <a:r>
              <a:rPr lang="en-US" sz="3400" b="1" dirty="0" smtClean="0">
                <a:solidFill>
                  <a:srgbClr val="FF6600"/>
                </a:solidFill>
                <a:latin typeface="Helvetica" pitchFamily="34" charset="0"/>
              </a:rPr>
              <a:t>1.4	Give information about the new employee’s roles and responsibilities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381947"/>
          </a:xfrm>
        </p:spPr>
        <p:txBody>
          <a:bodyPr>
            <a:normAutofit/>
          </a:bodyPr>
          <a:lstStyle/>
          <a:p>
            <a:pPr marL="0" indent="0">
              <a:spcBef>
                <a:spcPts val="600"/>
              </a:spcBef>
              <a:spcAft>
                <a:spcPts val="1200"/>
              </a:spcAft>
              <a:buNone/>
            </a:pPr>
            <a:r>
              <a:rPr lang="en-US" sz="2200" dirty="0" smtClean="0">
                <a:latin typeface="Helvetica" pitchFamily="34" charset="0"/>
              </a:rPr>
              <a:t>Identifying an employee’s roles and responsibilities is important to:</a:t>
            </a:r>
          </a:p>
          <a:p>
            <a:pPr marL="360000" indent="-360000">
              <a:spcBef>
                <a:spcPts val="600"/>
              </a:spcBef>
              <a:spcAft>
                <a:spcPts val="1200"/>
              </a:spcAft>
            </a:pPr>
            <a:r>
              <a:rPr lang="en-US" sz="2200" dirty="0" smtClean="0">
                <a:latin typeface="Helvetica" pitchFamily="34" charset="0"/>
              </a:rPr>
              <a:t>Show them clearly what is expected from their work</a:t>
            </a:r>
          </a:p>
          <a:p>
            <a:pPr marL="360000" indent="-360000">
              <a:spcBef>
                <a:spcPts val="600"/>
              </a:spcBef>
              <a:spcAft>
                <a:spcPts val="1200"/>
              </a:spcAft>
            </a:pPr>
            <a:r>
              <a:rPr lang="en-US" sz="2200" dirty="0" smtClean="0">
                <a:latin typeface="Helvetica" pitchFamily="34" charset="0"/>
              </a:rPr>
              <a:t>Set goals </a:t>
            </a:r>
          </a:p>
          <a:p>
            <a:pPr marL="360000" indent="-360000">
              <a:spcBef>
                <a:spcPts val="600"/>
              </a:spcBef>
              <a:spcAft>
                <a:spcPts val="1200"/>
              </a:spcAft>
            </a:pPr>
            <a:r>
              <a:rPr lang="en-US" sz="2200" dirty="0" smtClean="0">
                <a:latin typeface="Helvetica" pitchFamily="34" charset="0"/>
              </a:rPr>
              <a:t>Inform them of who they will work</a:t>
            </a:r>
            <a:br>
              <a:rPr lang="en-US" sz="2200" dirty="0" smtClean="0">
                <a:latin typeface="Helvetica" pitchFamily="34" charset="0"/>
              </a:rPr>
            </a:br>
            <a:r>
              <a:rPr lang="en-US" sz="2200" dirty="0" smtClean="0">
                <a:latin typeface="Helvetica" pitchFamily="34" charset="0"/>
              </a:rPr>
              <a:t>with</a:t>
            </a:r>
          </a:p>
          <a:p>
            <a:pPr marL="360000" indent="-360000">
              <a:spcBef>
                <a:spcPts val="600"/>
              </a:spcBef>
              <a:spcAft>
                <a:spcPts val="1200"/>
              </a:spcAft>
            </a:pPr>
            <a:r>
              <a:rPr lang="en-US" sz="2200" dirty="0" smtClean="0">
                <a:latin typeface="Helvetica" pitchFamily="34" charset="0"/>
              </a:rPr>
              <a:t>Allow them to ask for clarification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6" name="Picture 5" descr="C:\Users\Quentin\AppData\Local\Microsoft\Windows\Temporary Internet Files\Content.IE5\XCZRY9RX\team-photo-from-istock[1].jpg"/>
          <p:cNvPicPr/>
          <p:nvPr/>
        </p:nvPicPr>
        <p:blipFill>
          <a:blip r:embed="rId3" cstate="print"/>
          <a:srcRect/>
          <a:stretch>
            <a:fillRect/>
          </a:stretch>
        </p:blipFill>
        <p:spPr bwMode="auto">
          <a:xfrm>
            <a:off x="5580112" y="3140968"/>
            <a:ext cx="2448272" cy="2016224"/>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100" b="1" dirty="0" smtClean="0">
                <a:solidFill>
                  <a:srgbClr val="FF6600"/>
                </a:solidFill>
                <a:latin typeface="Helvetica" pitchFamily="34" charset="0"/>
              </a:rPr>
              <a:t>What employees value in their work role</a:t>
            </a:r>
            <a:endParaRPr lang="en-US" sz="31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7" name="Picture 6" descr="http://www.parkeravery.com/images3/pov_img/pov_storerole4.png"/>
          <p:cNvPicPr/>
          <p:nvPr/>
        </p:nvPicPr>
        <p:blipFill>
          <a:blip r:embed="rId3" cstate="print"/>
          <a:srcRect/>
          <a:stretch>
            <a:fillRect/>
          </a:stretch>
        </p:blipFill>
        <p:spPr bwMode="auto">
          <a:xfrm>
            <a:off x="586036" y="1526952"/>
            <a:ext cx="6336704" cy="403244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100" b="1" dirty="0" smtClean="0">
                <a:solidFill>
                  <a:srgbClr val="FF6600"/>
                </a:solidFill>
                <a:latin typeface="Helvetica" pitchFamily="34" charset="0"/>
              </a:rPr>
              <a:t>Job description</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AU" sz="2200" dirty="0" smtClean="0"/>
              <a:t>A job description identifies essential and non-essential tasks that are assigned to a specific position</a:t>
            </a:r>
          </a:p>
          <a:p>
            <a:pPr marL="360000" indent="-360000">
              <a:spcBef>
                <a:spcPts val="600"/>
              </a:spcBef>
              <a:spcAft>
                <a:spcPts val="1200"/>
              </a:spcAft>
            </a:pPr>
            <a:r>
              <a:rPr lang="en-AU" sz="2200" dirty="0" smtClean="0"/>
              <a:t>It also identifies reporting relationships and may also describe required qualifications, minimum requirements, working conditions, and desirable qualifications</a:t>
            </a:r>
            <a:endParaRPr lang="en-US" sz="2200" dirty="0" smtClean="0"/>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24199" y="3933056"/>
            <a:ext cx="2688299" cy="201622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100" b="1" dirty="0" smtClean="0">
                <a:solidFill>
                  <a:srgbClr val="FF6600"/>
                </a:solidFill>
                <a:latin typeface="Helvetica" pitchFamily="34" charset="0"/>
              </a:rPr>
              <a:t>Language relating to job roles </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4525963"/>
          </a:xfrm>
        </p:spPr>
        <p:txBody>
          <a:bodyPr>
            <a:normAutofit/>
          </a:bodyPr>
          <a:lstStyle/>
          <a:p>
            <a:pPr marL="0" indent="0">
              <a:spcBef>
                <a:spcPts val="600"/>
              </a:spcBef>
              <a:spcAft>
                <a:spcPts val="1200"/>
              </a:spcAft>
              <a:buNone/>
            </a:pPr>
            <a:r>
              <a:rPr lang="en-US" sz="2200" dirty="0" smtClean="0">
                <a:latin typeface="Helvetica" pitchFamily="34" charset="0"/>
              </a:rPr>
              <a:t>Job descriptions and task statements often begin with:</a:t>
            </a:r>
          </a:p>
          <a:p>
            <a:pPr>
              <a:spcBef>
                <a:spcPts val="600"/>
              </a:spcBef>
              <a:spcAft>
                <a:spcPts val="1200"/>
              </a:spcAft>
            </a:pPr>
            <a:r>
              <a:rPr lang="en-AU" sz="2400" dirty="0" smtClean="0"/>
              <a:t>Job tasks include:</a:t>
            </a:r>
            <a:endParaRPr lang="en-US" sz="2400" dirty="0" smtClean="0"/>
          </a:p>
          <a:p>
            <a:pPr>
              <a:spcBef>
                <a:spcPts val="600"/>
              </a:spcBef>
              <a:spcAft>
                <a:spcPts val="1200"/>
              </a:spcAft>
            </a:pPr>
            <a:r>
              <a:rPr lang="en-AU" sz="2400" dirty="0" smtClean="0"/>
              <a:t>Responsibilities include:</a:t>
            </a:r>
            <a:endParaRPr lang="en-US" sz="2400" dirty="0" smtClean="0"/>
          </a:p>
          <a:p>
            <a:pPr>
              <a:spcBef>
                <a:spcPts val="600"/>
              </a:spcBef>
              <a:spcAft>
                <a:spcPts val="1200"/>
              </a:spcAft>
            </a:pPr>
            <a:r>
              <a:rPr lang="en-AU" sz="2400" dirty="0" smtClean="0"/>
              <a:t>Main duties are:</a:t>
            </a:r>
            <a:endParaRPr lang="en-US" sz="2400" dirty="0" smtClean="0"/>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4098" name="Picture 2" descr="C:\Users\Quentin\AppData\Local\Microsoft\Windows\Temporary Internet Files\Content.IE5\19YMNHS8\8615571487_08c4384918_z[1].jpg"/>
          <p:cNvPicPr>
            <a:picLocks noChangeAspect="1" noChangeArrowheads="1"/>
          </p:cNvPicPr>
          <p:nvPr/>
        </p:nvPicPr>
        <p:blipFill>
          <a:blip r:embed="rId3" cstate="print"/>
          <a:srcRect/>
          <a:stretch>
            <a:fillRect/>
          </a:stretch>
        </p:blipFill>
        <p:spPr bwMode="auto">
          <a:xfrm>
            <a:off x="4716016" y="2132856"/>
            <a:ext cx="3021975" cy="2016224"/>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circle(in)">
                                      <p:cBhvr>
                                        <p:cTn id="7" dur="20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901700" indent="-901700"/>
            <a:r>
              <a:rPr lang="en-US" sz="3100" b="1" dirty="0" smtClean="0">
                <a:solidFill>
                  <a:srgbClr val="FF6600"/>
                </a:solidFill>
                <a:latin typeface="Helvetica" pitchFamily="34" charset="0"/>
              </a:rPr>
              <a:t>1.5	Show and explain features in the workplace</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600"/>
              </a:spcAft>
              <a:buNone/>
            </a:pPr>
            <a:r>
              <a:rPr lang="en-AU" sz="2200" dirty="0" smtClean="0"/>
              <a:t>In explaining a particular work area for a staff member</a:t>
            </a:r>
            <a:br>
              <a:rPr lang="en-AU" sz="2200" dirty="0" smtClean="0"/>
            </a:br>
            <a:r>
              <a:rPr lang="en-AU" sz="2200" dirty="0" smtClean="0"/>
              <a:t>it may be useful to use phrases and expressions such as:</a:t>
            </a:r>
            <a:endParaRPr lang="en-US" sz="2200" dirty="0" smtClean="0"/>
          </a:p>
          <a:p>
            <a:pPr>
              <a:spcBef>
                <a:spcPts val="600"/>
              </a:spcBef>
              <a:spcAft>
                <a:spcPts val="600"/>
              </a:spcAft>
            </a:pPr>
            <a:r>
              <a:rPr lang="en-AU" sz="2200" dirty="0" smtClean="0"/>
              <a:t>There is/There are</a:t>
            </a:r>
            <a:endParaRPr lang="en-US" sz="2200" dirty="0" smtClean="0"/>
          </a:p>
          <a:p>
            <a:pPr>
              <a:spcBef>
                <a:spcPts val="600"/>
              </a:spcBef>
              <a:spcAft>
                <a:spcPts val="600"/>
              </a:spcAft>
            </a:pPr>
            <a:r>
              <a:rPr lang="en-AU" sz="2200" dirty="0" smtClean="0"/>
              <a:t>You will need....</a:t>
            </a:r>
            <a:endParaRPr lang="en-US" sz="2200" dirty="0" smtClean="0"/>
          </a:p>
          <a:p>
            <a:pPr>
              <a:spcBef>
                <a:spcPts val="600"/>
              </a:spcBef>
              <a:spcAft>
                <a:spcPts val="600"/>
              </a:spcAft>
            </a:pPr>
            <a:r>
              <a:rPr lang="en-AU" sz="2200" dirty="0" smtClean="0"/>
              <a:t>This is where you will be working</a:t>
            </a:r>
            <a:endParaRPr lang="en-US" sz="2200" dirty="0" smtClean="0"/>
          </a:p>
          <a:p>
            <a:pPr>
              <a:spcBef>
                <a:spcPts val="600"/>
              </a:spcBef>
              <a:spcAft>
                <a:spcPts val="600"/>
              </a:spcAft>
            </a:pPr>
            <a:r>
              <a:rPr lang="en-AU" sz="2200" dirty="0" smtClean="0"/>
              <a:t>This is a/an......</a:t>
            </a:r>
            <a:endParaRPr lang="en-US" sz="2200" dirty="0" smtClean="0"/>
          </a:p>
          <a:p>
            <a:pPr>
              <a:spcBef>
                <a:spcPts val="600"/>
              </a:spcBef>
              <a:spcAft>
                <a:spcPts val="600"/>
              </a:spcAft>
            </a:pPr>
            <a:r>
              <a:rPr lang="en-AU" sz="2200" dirty="0" smtClean="0"/>
              <a:t>Have you used a ................. before?</a:t>
            </a:r>
            <a:endParaRPr lang="en-US" sz="2200" dirty="0" smtClean="0"/>
          </a:p>
          <a:p>
            <a:pPr marL="360000" indent="-360000">
              <a:spcBef>
                <a:spcPts val="600"/>
              </a:spcBef>
              <a:spcAft>
                <a:spcPts val="6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6" name="Picture 5" descr="C:\Users\Quentin\AppData\Local\Microsoft\Windows\Temporary Internet Files\Content.IE5\225CUFF9\0511-1010-1220-4809_Man_Standing_in_a_Messy_Kitchen_clipart_image[1].jpg"/>
          <p:cNvPicPr/>
          <p:nvPr/>
        </p:nvPicPr>
        <p:blipFill>
          <a:blip r:embed="rId3" cstate="print"/>
          <a:srcRect/>
          <a:stretch>
            <a:fillRect/>
          </a:stretch>
        </p:blipFill>
        <p:spPr bwMode="auto">
          <a:xfrm>
            <a:off x="6012160" y="2708920"/>
            <a:ext cx="2085975" cy="218122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901700" indent="-901700"/>
            <a:r>
              <a:rPr lang="en-US" sz="3400" b="1" dirty="0" smtClean="0">
                <a:solidFill>
                  <a:srgbClr val="FF6600"/>
                </a:solidFill>
                <a:latin typeface="Helvetica" pitchFamily="34" charset="0"/>
              </a:rPr>
              <a:t>1.6	Outline details of any training requirements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lnSpc>
                <a:spcPct val="150000"/>
              </a:lnSpc>
              <a:spcBef>
                <a:spcPts val="600"/>
              </a:spcBef>
              <a:spcAft>
                <a:spcPts val="1200"/>
              </a:spcAft>
              <a:buNone/>
            </a:pPr>
            <a:r>
              <a:rPr lang="en-US" sz="2200" dirty="0" smtClean="0">
                <a:latin typeface="Helvetica" pitchFamily="34" charset="0"/>
              </a:rPr>
              <a:t>A job role may require certain training to be completed and it is important that any required training is explained clearly to a new employee.</a:t>
            </a:r>
          </a:p>
          <a:p>
            <a:pPr marL="360000" indent="-360000">
              <a:lnSpc>
                <a:spcPct val="150000"/>
              </a:lnSpc>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6" name="Picture 5" descr="C:\Users\Quentin\AppData\Local\Microsoft\Windows\Temporary Internet Files\Content.IE5\19YMNHS8\Training[1].jpg"/>
          <p:cNvPicPr/>
          <p:nvPr/>
        </p:nvPicPr>
        <p:blipFill>
          <a:blip r:embed="rId3" cstate="print"/>
          <a:srcRect/>
          <a:stretch>
            <a:fillRect/>
          </a:stretch>
        </p:blipFill>
        <p:spPr bwMode="auto">
          <a:xfrm>
            <a:off x="2411760" y="3361804"/>
            <a:ext cx="2736304" cy="259228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100" b="1" dirty="0" smtClean="0">
                <a:solidFill>
                  <a:srgbClr val="FF6600"/>
                </a:solidFill>
                <a:latin typeface="Helvetica" pitchFamily="34" charset="0"/>
              </a:rPr>
              <a:t>Training requirements</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968552"/>
          </a:xfrm>
        </p:spPr>
        <p:txBody>
          <a:bodyPr>
            <a:normAutofit/>
          </a:bodyPr>
          <a:lstStyle/>
          <a:p>
            <a:pPr marL="0" indent="0">
              <a:spcBef>
                <a:spcPts val="600"/>
              </a:spcBef>
              <a:spcAft>
                <a:spcPts val="1200"/>
              </a:spcAft>
              <a:buNone/>
            </a:pPr>
            <a:r>
              <a:rPr lang="en-AU" sz="2000" dirty="0" smtClean="0"/>
              <a:t>In describing training requirements, it may be useful to use expressions like:</a:t>
            </a:r>
            <a:endParaRPr lang="en-US" sz="2000" dirty="0" smtClean="0"/>
          </a:p>
          <a:p>
            <a:pPr>
              <a:spcBef>
                <a:spcPts val="600"/>
              </a:spcBef>
              <a:spcAft>
                <a:spcPts val="1200"/>
              </a:spcAft>
            </a:pPr>
            <a:r>
              <a:rPr lang="en-AU" sz="2000" dirty="0" smtClean="0"/>
              <a:t>It is a requirement of the </a:t>
            </a:r>
            <a:br>
              <a:rPr lang="en-AU" sz="2000" dirty="0" smtClean="0"/>
            </a:br>
            <a:r>
              <a:rPr lang="en-AU" sz="2000" dirty="0" smtClean="0"/>
              <a:t>organisation that.......</a:t>
            </a:r>
            <a:endParaRPr lang="en-US" sz="2000" dirty="0" smtClean="0"/>
          </a:p>
          <a:p>
            <a:pPr>
              <a:spcBef>
                <a:spcPts val="600"/>
              </a:spcBef>
              <a:spcAft>
                <a:spcPts val="1200"/>
              </a:spcAft>
            </a:pPr>
            <a:r>
              <a:rPr lang="en-AU" sz="2000" dirty="0" smtClean="0"/>
              <a:t>You will be required to.........</a:t>
            </a:r>
            <a:endParaRPr lang="en-US" sz="2000" dirty="0" smtClean="0"/>
          </a:p>
          <a:p>
            <a:pPr>
              <a:spcBef>
                <a:spcPts val="600"/>
              </a:spcBef>
              <a:spcAft>
                <a:spcPts val="1200"/>
              </a:spcAft>
            </a:pPr>
            <a:r>
              <a:rPr lang="en-AU" sz="2000" dirty="0" smtClean="0"/>
              <a:t>You are expected to be able to............</a:t>
            </a:r>
            <a:endParaRPr lang="en-US" sz="2000" dirty="0" smtClean="0"/>
          </a:p>
          <a:p>
            <a:pPr>
              <a:spcBef>
                <a:spcPts val="600"/>
              </a:spcBef>
              <a:spcAft>
                <a:spcPts val="1200"/>
              </a:spcAft>
            </a:pPr>
            <a:r>
              <a:rPr lang="en-AU" sz="2000" dirty="0" smtClean="0"/>
              <a:t>You will have to attend training for........</a:t>
            </a:r>
            <a:endParaRPr lang="en-US" sz="2000" dirty="0" smtClean="0"/>
          </a:p>
          <a:p>
            <a:pPr>
              <a:spcBef>
                <a:spcPts val="600"/>
              </a:spcBef>
              <a:spcAft>
                <a:spcPts val="1200"/>
              </a:spcAft>
            </a:pPr>
            <a:r>
              <a:rPr lang="en-AU" sz="2000" dirty="0" smtClean="0"/>
              <a:t>Training will be provided for.........</a:t>
            </a:r>
            <a:endParaRPr lang="en-US" sz="2000" dirty="0" smtClean="0"/>
          </a:p>
          <a:p>
            <a:pPr>
              <a:spcBef>
                <a:spcPts val="600"/>
              </a:spcBef>
              <a:spcAft>
                <a:spcPts val="1200"/>
              </a:spcAft>
            </a:pPr>
            <a:r>
              <a:rPr lang="en-AU" sz="2000" dirty="0" smtClean="0"/>
              <a:t>This position requires that you are trained in these areas:....</a:t>
            </a:r>
            <a:endParaRPr lang="en-US" sz="2000" dirty="0" smtClean="0"/>
          </a:p>
          <a:p>
            <a:pPr marL="360000" indent="-360000">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6136" y="2420888"/>
            <a:ext cx="2352002" cy="214466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100" b="1" dirty="0" smtClean="0">
                <a:solidFill>
                  <a:srgbClr val="FF6600"/>
                </a:solidFill>
                <a:latin typeface="Helvetica" pitchFamily="34" charset="0"/>
              </a:rPr>
              <a:t>Training requirements cont’d</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184576"/>
          </a:xfrm>
        </p:spPr>
        <p:txBody>
          <a:bodyPr>
            <a:noAutofit/>
          </a:bodyPr>
          <a:lstStyle/>
          <a:p>
            <a:pPr marL="0" indent="0">
              <a:spcBef>
                <a:spcPts val="600"/>
              </a:spcBef>
              <a:spcAft>
                <a:spcPts val="600"/>
              </a:spcAft>
              <a:buNone/>
            </a:pPr>
            <a:r>
              <a:rPr lang="en-AU" sz="1800" dirty="0" smtClean="0"/>
              <a:t>It will be important to be able to explain the main information relating to the training such as:</a:t>
            </a:r>
            <a:endParaRPr lang="en-US" sz="1800" dirty="0" smtClean="0"/>
          </a:p>
          <a:p>
            <a:pPr>
              <a:spcBef>
                <a:spcPts val="600"/>
              </a:spcBef>
              <a:spcAft>
                <a:spcPts val="600"/>
              </a:spcAft>
            </a:pPr>
            <a:r>
              <a:rPr lang="en-AU" sz="1800" dirty="0" smtClean="0"/>
              <a:t>When and how the training is delivered</a:t>
            </a:r>
            <a:endParaRPr lang="en-US" sz="1800" dirty="0" smtClean="0"/>
          </a:p>
          <a:p>
            <a:pPr>
              <a:spcBef>
                <a:spcPts val="600"/>
              </a:spcBef>
              <a:spcAft>
                <a:spcPts val="600"/>
              </a:spcAft>
            </a:pPr>
            <a:r>
              <a:rPr lang="en-AU" sz="1800" dirty="0" smtClean="0"/>
              <a:t>How long it takes</a:t>
            </a:r>
            <a:endParaRPr lang="en-US" sz="1800" dirty="0" smtClean="0"/>
          </a:p>
          <a:p>
            <a:pPr>
              <a:spcBef>
                <a:spcPts val="600"/>
              </a:spcBef>
              <a:spcAft>
                <a:spcPts val="600"/>
              </a:spcAft>
            </a:pPr>
            <a:r>
              <a:rPr lang="en-AU" sz="1800" dirty="0" smtClean="0"/>
              <a:t>What materials, items, clothing, or equipment is needed</a:t>
            </a:r>
            <a:endParaRPr lang="en-US" sz="1800" dirty="0" smtClean="0"/>
          </a:p>
          <a:p>
            <a:pPr>
              <a:spcBef>
                <a:spcPts val="600"/>
              </a:spcBef>
              <a:spcAft>
                <a:spcPts val="600"/>
              </a:spcAft>
            </a:pPr>
            <a:r>
              <a:rPr lang="en-AU" sz="1800" dirty="0" smtClean="0"/>
              <a:t>Who arranges the training and how they contact the employee to inform them of the training</a:t>
            </a:r>
            <a:endParaRPr lang="en-US" sz="1800" dirty="0" smtClean="0"/>
          </a:p>
          <a:p>
            <a:pPr>
              <a:spcBef>
                <a:spcPts val="600"/>
              </a:spcBef>
              <a:spcAft>
                <a:spcPts val="600"/>
              </a:spcAft>
            </a:pPr>
            <a:r>
              <a:rPr lang="en-AU" sz="1800" dirty="0" smtClean="0"/>
              <a:t>Where training takes place</a:t>
            </a:r>
            <a:endParaRPr lang="en-US" sz="1800" dirty="0" smtClean="0"/>
          </a:p>
          <a:p>
            <a:pPr>
              <a:spcBef>
                <a:spcPts val="600"/>
              </a:spcBef>
              <a:spcAft>
                <a:spcPts val="600"/>
              </a:spcAft>
            </a:pPr>
            <a:r>
              <a:rPr lang="en-AU" sz="1800" dirty="0" smtClean="0"/>
              <a:t>What happens if the training outcome is unsuccessful</a:t>
            </a:r>
            <a:endParaRPr lang="en-US" sz="1800" dirty="0" smtClean="0"/>
          </a:p>
          <a:p>
            <a:pPr>
              <a:spcBef>
                <a:spcPts val="600"/>
              </a:spcBef>
              <a:spcAft>
                <a:spcPts val="600"/>
              </a:spcAft>
            </a:pPr>
            <a:r>
              <a:rPr lang="en-AU" sz="1800" dirty="0" smtClean="0"/>
              <a:t>Is further training needed</a:t>
            </a:r>
            <a:endParaRPr lang="en-US" sz="1800" dirty="0" smtClean="0"/>
          </a:p>
          <a:p>
            <a:pPr>
              <a:spcBef>
                <a:spcPts val="600"/>
              </a:spcBef>
              <a:spcAft>
                <a:spcPts val="600"/>
              </a:spcAft>
            </a:pPr>
            <a:r>
              <a:rPr lang="en-AU" sz="1800" dirty="0" smtClean="0"/>
              <a:t>How often training must be updated</a:t>
            </a:r>
            <a:endParaRPr lang="en-US" sz="1800" dirty="0" smtClean="0"/>
          </a:p>
          <a:p>
            <a:pPr>
              <a:spcBef>
                <a:spcPts val="600"/>
              </a:spcBef>
              <a:spcAft>
                <a:spcPts val="600"/>
              </a:spcAft>
            </a:pPr>
            <a:r>
              <a:rPr lang="en-AU" sz="1800" dirty="0" smtClean="0"/>
              <a:t>Why the training is needed</a:t>
            </a:r>
            <a:endParaRPr lang="en-US" sz="1800" dirty="0" smtClean="0"/>
          </a:p>
          <a:p>
            <a:pPr marL="360000" indent="-360000">
              <a:spcBef>
                <a:spcPts val="600"/>
              </a:spcBef>
              <a:spcAft>
                <a:spcPts val="600"/>
              </a:spcAft>
              <a:buNone/>
            </a:pPr>
            <a:endParaRPr lang="en-US" sz="18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100" b="1" dirty="0" smtClean="0">
                <a:solidFill>
                  <a:srgbClr val="FF6600"/>
                </a:solidFill>
                <a:latin typeface="Helvetica" pitchFamily="34" charset="0"/>
              </a:rPr>
              <a:t>Training requirements cont’d</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7632848" cy="4968552"/>
          </a:xfrm>
        </p:spPr>
        <p:txBody>
          <a:bodyPr>
            <a:normAutofit lnSpcReduction="10000"/>
          </a:bodyPr>
          <a:lstStyle/>
          <a:p>
            <a:pPr marL="0" indent="0">
              <a:spcBef>
                <a:spcPts val="600"/>
              </a:spcBef>
              <a:spcAft>
                <a:spcPts val="600"/>
              </a:spcAft>
              <a:buNone/>
            </a:pPr>
            <a:r>
              <a:rPr lang="en-AU" sz="2000" dirty="0" smtClean="0"/>
              <a:t>General training in organisations may include</a:t>
            </a:r>
            <a:r>
              <a:rPr lang="en-US" sz="2000" dirty="0" smtClean="0"/>
              <a:t>:</a:t>
            </a:r>
          </a:p>
          <a:p>
            <a:pPr>
              <a:spcBef>
                <a:spcPts val="600"/>
              </a:spcBef>
              <a:spcAft>
                <a:spcPts val="600"/>
              </a:spcAft>
            </a:pPr>
            <a:r>
              <a:rPr lang="en-AU" sz="2000" dirty="0" smtClean="0"/>
              <a:t>Evacuation and emergency procedures</a:t>
            </a:r>
            <a:endParaRPr lang="en-US" sz="2000" dirty="0" smtClean="0"/>
          </a:p>
          <a:p>
            <a:pPr>
              <a:spcBef>
                <a:spcPts val="600"/>
              </a:spcBef>
              <a:spcAft>
                <a:spcPts val="600"/>
              </a:spcAft>
            </a:pPr>
            <a:r>
              <a:rPr lang="en-AU" sz="2000" dirty="0" smtClean="0"/>
              <a:t>First aid</a:t>
            </a:r>
            <a:endParaRPr lang="en-US" sz="2000" dirty="0" smtClean="0"/>
          </a:p>
          <a:p>
            <a:pPr>
              <a:spcBef>
                <a:spcPts val="600"/>
              </a:spcBef>
              <a:spcAft>
                <a:spcPts val="600"/>
              </a:spcAft>
            </a:pPr>
            <a:r>
              <a:rPr lang="en-AU" sz="2000" dirty="0" smtClean="0"/>
              <a:t>How to use equipment specific </a:t>
            </a:r>
            <a:br>
              <a:rPr lang="en-AU" sz="2000" dirty="0" smtClean="0"/>
            </a:br>
            <a:r>
              <a:rPr lang="en-AU" sz="2000" dirty="0" smtClean="0"/>
              <a:t>to a position</a:t>
            </a:r>
            <a:endParaRPr lang="en-US" sz="2000" dirty="0" smtClean="0"/>
          </a:p>
          <a:p>
            <a:pPr>
              <a:spcBef>
                <a:spcPts val="600"/>
              </a:spcBef>
              <a:spcAft>
                <a:spcPts val="600"/>
              </a:spcAft>
            </a:pPr>
            <a:r>
              <a:rPr lang="en-AU" sz="2000" dirty="0" smtClean="0"/>
              <a:t>HR manual/Operations manual </a:t>
            </a:r>
            <a:br>
              <a:rPr lang="en-AU" sz="2000" dirty="0" smtClean="0"/>
            </a:br>
            <a:r>
              <a:rPr lang="en-AU" sz="2000" dirty="0" smtClean="0"/>
              <a:t>use</a:t>
            </a:r>
            <a:endParaRPr lang="en-US" sz="2000" dirty="0" smtClean="0"/>
          </a:p>
          <a:p>
            <a:pPr>
              <a:spcBef>
                <a:spcPts val="600"/>
              </a:spcBef>
              <a:spcAft>
                <a:spcPts val="600"/>
              </a:spcAft>
            </a:pPr>
            <a:r>
              <a:rPr lang="en-AU" sz="2000" dirty="0" smtClean="0"/>
              <a:t>Annual/Sick leave procedures</a:t>
            </a:r>
            <a:endParaRPr lang="en-US" sz="2000" dirty="0" smtClean="0"/>
          </a:p>
          <a:p>
            <a:pPr>
              <a:spcBef>
                <a:spcPts val="600"/>
              </a:spcBef>
              <a:spcAft>
                <a:spcPts val="600"/>
              </a:spcAft>
            </a:pPr>
            <a:r>
              <a:rPr lang="en-AU" sz="2000" dirty="0" smtClean="0"/>
              <a:t>Customer service management</a:t>
            </a:r>
            <a:endParaRPr lang="en-US" sz="2000" dirty="0" smtClean="0"/>
          </a:p>
          <a:p>
            <a:pPr>
              <a:spcBef>
                <a:spcPts val="600"/>
              </a:spcBef>
              <a:spcAft>
                <a:spcPts val="600"/>
              </a:spcAft>
            </a:pPr>
            <a:r>
              <a:rPr lang="en-AU" sz="2000" dirty="0" smtClean="0"/>
              <a:t>Quality assurance</a:t>
            </a:r>
            <a:endParaRPr lang="en-US" sz="2000" dirty="0" smtClean="0"/>
          </a:p>
          <a:p>
            <a:pPr>
              <a:spcBef>
                <a:spcPts val="600"/>
              </a:spcBef>
              <a:spcAft>
                <a:spcPts val="600"/>
              </a:spcAft>
            </a:pPr>
            <a:r>
              <a:rPr lang="en-AU" sz="2000" dirty="0" smtClean="0"/>
              <a:t>IT</a:t>
            </a:r>
            <a:endParaRPr lang="en-US" sz="2000" dirty="0" smtClean="0"/>
          </a:p>
          <a:p>
            <a:pPr>
              <a:spcBef>
                <a:spcPts val="600"/>
              </a:spcBef>
              <a:spcAft>
                <a:spcPts val="600"/>
              </a:spcAft>
            </a:pPr>
            <a:r>
              <a:rPr lang="en-AU" sz="2000" dirty="0" smtClean="0"/>
              <a:t>Meeting request/attendance procedures</a:t>
            </a:r>
            <a:endParaRPr lang="en-US" sz="2000" dirty="0" smtClean="0"/>
          </a:p>
          <a:p>
            <a:pPr marL="360000" indent="-360000">
              <a:spcBef>
                <a:spcPts val="600"/>
              </a:spcBef>
              <a:spcAft>
                <a:spcPts val="6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04048" y="2852936"/>
            <a:ext cx="3048000" cy="203301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2: Conduct a staff meeting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Performance Criteria:</a:t>
            </a:r>
          </a:p>
          <a:p>
            <a:pPr>
              <a:buNone/>
            </a:pPr>
            <a:r>
              <a:rPr lang="en-AU" sz="2400" dirty="0" smtClean="0"/>
              <a:t>	</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grpSp>
        <p:nvGrpSpPr>
          <p:cNvPr id="41" name="Group 40"/>
          <p:cNvGrpSpPr/>
          <p:nvPr/>
        </p:nvGrpSpPr>
        <p:grpSpPr>
          <a:xfrm>
            <a:off x="-3910767" y="1356441"/>
            <a:ext cx="10635148" cy="5472816"/>
            <a:chOff x="-3910767" y="1356441"/>
            <a:chExt cx="10635148" cy="5472816"/>
          </a:xfrm>
        </p:grpSpPr>
        <p:grpSp>
          <p:nvGrpSpPr>
            <p:cNvPr id="31" name="Group 30"/>
            <p:cNvGrpSpPr/>
            <p:nvPr/>
          </p:nvGrpSpPr>
          <p:grpSpPr>
            <a:xfrm>
              <a:off x="-3910767" y="1356441"/>
              <a:ext cx="10635148" cy="5472816"/>
              <a:chOff x="-3910767" y="1356441"/>
              <a:chExt cx="10635148" cy="5472816"/>
            </a:xfrm>
          </p:grpSpPr>
          <p:sp>
            <p:nvSpPr>
              <p:cNvPr id="32" name="Block Arc 31"/>
              <p:cNvSpPr/>
              <p:nvPr/>
            </p:nvSpPr>
            <p:spPr>
              <a:xfrm>
                <a:off x="-3910767" y="1356441"/>
                <a:ext cx="5472816" cy="5472816"/>
              </a:xfrm>
              <a:prstGeom prst="blockArc">
                <a:avLst>
                  <a:gd name="adj1" fmla="val 18900000"/>
                  <a:gd name="adj2" fmla="val 2700000"/>
                  <a:gd name="adj3" fmla="val 395"/>
                </a:avLst>
              </a:prstGeom>
            </p:spPr>
            <p:style>
              <a:lnRef idx="2">
                <a:schemeClr val="accent5">
                  <a:hueOff val="0"/>
                  <a:satOff val="0"/>
                  <a:lumOff val="0"/>
                  <a:alphaOff val="0"/>
                </a:schemeClr>
              </a:lnRef>
              <a:fillRef idx="0">
                <a:schemeClr val="accent4">
                  <a:tint val="90000"/>
                  <a:hueOff val="0"/>
                  <a:satOff val="0"/>
                  <a:lumOff val="0"/>
                  <a:alphaOff val="0"/>
                </a:schemeClr>
              </a:fillRef>
              <a:effectRef idx="0">
                <a:schemeClr val="accent4">
                  <a:tint val="90000"/>
                  <a:hueOff val="0"/>
                  <a:satOff val="0"/>
                  <a:lumOff val="0"/>
                  <a:alphaOff val="0"/>
                </a:schemeClr>
              </a:effectRef>
              <a:fontRef idx="minor">
                <a:schemeClr val="tx1">
                  <a:hueOff val="0"/>
                  <a:satOff val="0"/>
                  <a:lumOff val="0"/>
                  <a:alphaOff val="0"/>
                </a:schemeClr>
              </a:fontRef>
            </p:style>
          </p:sp>
          <p:sp>
            <p:nvSpPr>
              <p:cNvPr id="33" name="Freeform 32"/>
              <p:cNvSpPr/>
              <p:nvPr/>
            </p:nvSpPr>
            <p:spPr>
              <a:xfrm>
                <a:off x="1143696" y="2373288"/>
                <a:ext cx="5580684" cy="625205"/>
              </a:xfrm>
              <a:custGeom>
                <a:avLst/>
                <a:gdLst>
                  <a:gd name="connsiteX0" fmla="*/ 0 w 5580684"/>
                  <a:gd name="connsiteY0" fmla="*/ 0 h 625205"/>
                  <a:gd name="connsiteX1" fmla="*/ 5580684 w 5580684"/>
                  <a:gd name="connsiteY1" fmla="*/ 0 h 625205"/>
                  <a:gd name="connsiteX2" fmla="*/ 5580684 w 5580684"/>
                  <a:gd name="connsiteY2" fmla="*/ 625205 h 625205"/>
                  <a:gd name="connsiteX3" fmla="*/ 0 w 5580684"/>
                  <a:gd name="connsiteY3" fmla="*/ 625205 h 625205"/>
                  <a:gd name="connsiteX4" fmla="*/ 0 w 5580684"/>
                  <a:gd name="connsiteY4" fmla="*/ 0 h 625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0684" h="625205">
                    <a:moveTo>
                      <a:pt x="0" y="0"/>
                    </a:moveTo>
                    <a:lnTo>
                      <a:pt x="5580684" y="0"/>
                    </a:lnTo>
                    <a:lnTo>
                      <a:pt x="5580684" y="625205"/>
                    </a:lnTo>
                    <a:lnTo>
                      <a:pt x="0" y="625205"/>
                    </a:lnTo>
                    <a:lnTo>
                      <a:pt x="0" y="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496257" tIns="45720" rIns="45720" bIns="45720" numCol="1" spcCol="1270" anchor="ctr" anchorCtr="0">
                <a:noAutofit/>
              </a:bodyPr>
              <a:lstStyle/>
              <a:p>
                <a:pPr lvl="0" algn="l" defTabSz="800100">
                  <a:lnSpc>
                    <a:spcPct val="90000"/>
                  </a:lnSpc>
                  <a:spcBef>
                    <a:spcPct val="0"/>
                  </a:spcBef>
                  <a:spcAft>
                    <a:spcPct val="35000"/>
                  </a:spcAft>
                </a:pPr>
                <a:r>
                  <a:rPr lang="en-AU" sz="1800" kern="1200" dirty="0" smtClean="0">
                    <a:latin typeface="Helvetica" pitchFamily="34" charset="0"/>
                  </a:rPr>
                  <a:t>Notify all relevant staff of scheduled staff meeting</a:t>
                </a:r>
                <a:endParaRPr lang="en-AU" sz="1800" kern="1200" dirty="0">
                  <a:latin typeface="Helvetica" pitchFamily="34" charset="0"/>
                </a:endParaRPr>
              </a:p>
            </p:txBody>
          </p:sp>
          <p:sp>
            <p:nvSpPr>
              <p:cNvPr id="34" name="Oval 33"/>
              <p:cNvSpPr/>
              <p:nvPr/>
            </p:nvSpPr>
            <p:spPr>
              <a:xfrm>
                <a:off x="752943" y="2295137"/>
                <a:ext cx="781507" cy="781507"/>
              </a:xfrm>
              <a:prstGeom prst="ellipse">
                <a:avLst/>
              </a:prstGeom>
            </p:spPr>
            <p:style>
              <a:lnRef idx="2">
                <a:schemeClr val="accent4">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35" name="Freeform 34"/>
              <p:cNvSpPr/>
              <p:nvPr/>
            </p:nvSpPr>
            <p:spPr>
              <a:xfrm>
                <a:off x="1502141" y="3311259"/>
                <a:ext cx="5222240" cy="625205"/>
              </a:xfrm>
              <a:custGeom>
                <a:avLst/>
                <a:gdLst>
                  <a:gd name="connsiteX0" fmla="*/ 0 w 5222240"/>
                  <a:gd name="connsiteY0" fmla="*/ 0 h 625205"/>
                  <a:gd name="connsiteX1" fmla="*/ 5222240 w 5222240"/>
                  <a:gd name="connsiteY1" fmla="*/ 0 h 625205"/>
                  <a:gd name="connsiteX2" fmla="*/ 5222240 w 5222240"/>
                  <a:gd name="connsiteY2" fmla="*/ 625205 h 625205"/>
                  <a:gd name="connsiteX3" fmla="*/ 0 w 5222240"/>
                  <a:gd name="connsiteY3" fmla="*/ 625205 h 625205"/>
                  <a:gd name="connsiteX4" fmla="*/ 0 w 5222240"/>
                  <a:gd name="connsiteY4" fmla="*/ 0 h 625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2240" h="625205">
                    <a:moveTo>
                      <a:pt x="0" y="0"/>
                    </a:moveTo>
                    <a:lnTo>
                      <a:pt x="5222240" y="0"/>
                    </a:lnTo>
                    <a:lnTo>
                      <a:pt x="5222240" y="625205"/>
                    </a:lnTo>
                    <a:lnTo>
                      <a:pt x="0" y="625205"/>
                    </a:lnTo>
                    <a:lnTo>
                      <a:pt x="0" y="0"/>
                    </a:lnTo>
                    <a:close/>
                  </a:path>
                </a:pathLst>
              </a:custGeom>
            </p:spPr>
            <p:style>
              <a:lnRef idx="2">
                <a:schemeClr val="lt1">
                  <a:hueOff val="0"/>
                  <a:satOff val="0"/>
                  <a:lumOff val="0"/>
                  <a:alphaOff val="0"/>
                </a:schemeClr>
              </a:lnRef>
              <a:fillRef idx="1">
                <a:schemeClr val="accent4">
                  <a:hueOff val="618941"/>
                  <a:satOff val="-18803"/>
                  <a:lumOff val="6209"/>
                  <a:alphaOff val="0"/>
                </a:schemeClr>
              </a:fillRef>
              <a:effectRef idx="0">
                <a:schemeClr val="accent4">
                  <a:hueOff val="618941"/>
                  <a:satOff val="-18803"/>
                  <a:lumOff val="6209"/>
                  <a:alphaOff val="0"/>
                </a:schemeClr>
              </a:effectRef>
              <a:fontRef idx="minor">
                <a:schemeClr val="lt1"/>
              </a:fontRef>
            </p:style>
            <p:txBody>
              <a:bodyPr spcFirstLastPara="0" vert="horz" wrap="square" lIns="496257" tIns="45720" rIns="45720" bIns="45720" numCol="1" spcCol="1270" anchor="ctr" anchorCtr="0">
                <a:noAutofit/>
              </a:bodyPr>
              <a:lstStyle/>
              <a:p>
                <a:pPr lvl="0" algn="l" defTabSz="800100">
                  <a:lnSpc>
                    <a:spcPct val="90000"/>
                  </a:lnSpc>
                  <a:spcBef>
                    <a:spcPct val="0"/>
                  </a:spcBef>
                  <a:spcAft>
                    <a:spcPct val="35000"/>
                  </a:spcAft>
                </a:pPr>
                <a:r>
                  <a:rPr lang="en-AU" sz="1800" kern="1200" dirty="0" smtClean="0">
                    <a:latin typeface="Helvetica" pitchFamily="34" charset="0"/>
                  </a:rPr>
                  <a:t>Draw up an agenda for the staff meeting</a:t>
                </a:r>
                <a:endParaRPr lang="en-AU" sz="1800" kern="1200" dirty="0">
                  <a:latin typeface="Helvetica" pitchFamily="34" charset="0"/>
                </a:endParaRPr>
              </a:p>
            </p:txBody>
          </p:sp>
          <p:sp>
            <p:nvSpPr>
              <p:cNvPr id="36" name="Oval 35"/>
              <p:cNvSpPr/>
              <p:nvPr/>
            </p:nvSpPr>
            <p:spPr>
              <a:xfrm>
                <a:off x="1111387" y="3233108"/>
                <a:ext cx="781507" cy="781507"/>
              </a:xfrm>
              <a:prstGeom prst="ellipse">
                <a:avLst/>
              </a:prstGeom>
            </p:spPr>
            <p:style>
              <a:lnRef idx="2">
                <a:schemeClr val="accent4">
                  <a:hueOff val="618941"/>
                  <a:satOff val="-18803"/>
                  <a:lumOff val="6209"/>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37" name="Freeform 36"/>
              <p:cNvSpPr/>
              <p:nvPr/>
            </p:nvSpPr>
            <p:spPr>
              <a:xfrm>
                <a:off x="1502141" y="4249230"/>
                <a:ext cx="5222240" cy="625205"/>
              </a:xfrm>
              <a:custGeom>
                <a:avLst/>
                <a:gdLst>
                  <a:gd name="connsiteX0" fmla="*/ 0 w 5222240"/>
                  <a:gd name="connsiteY0" fmla="*/ 0 h 625205"/>
                  <a:gd name="connsiteX1" fmla="*/ 5222240 w 5222240"/>
                  <a:gd name="connsiteY1" fmla="*/ 0 h 625205"/>
                  <a:gd name="connsiteX2" fmla="*/ 5222240 w 5222240"/>
                  <a:gd name="connsiteY2" fmla="*/ 625205 h 625205"/>
                  <a:gd name="connsiteX3" fmla="*/ 0 w 5222240"/>
                  <a:gd name="connsiteY3" fmla="*/ 625205 h 625205"/>
                  <a:gd name="connsiteX4" fmla="*/ 0 w 5222240"/>
                  <a:gd name="connsiteY4" fmla="*/ 0 h 625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2240" h="625205">
                    <a:moveTo>
                      <a:pt x="0" y="0"/>
                    </a:moveTo>
                    <a:lnTo>
                      <a:pt x="5222240" y="0"/>
                    </a:lnTo>
                    <a:lnTo>
                      <a:pt x="5222240" y="625205"/>
                    </a:lnTo>
                    <a:lnTo>
                      <a:pt x="0" y="625205"/>
                    </a:lnTo>
                    <a:lnTo>
                      <a:pt x="0" y="0"/>
                    </a:lnTo>
                    <a:close/>
                  </a:path>
                </a:pathLst>
              </a:custGeom>
            </p:spPr>
            <p:style>
              <a:lnRef idx="2">
                <a:schemeClr val="lt1">
                  <a:hueOff val="0"/>
                  <a:satOff val="0"/>
                  <a:lumOff val="0"/>
                  <a:alphaOff val="0"/>
                </a:schemeClr>
              </a:lnRef>
              <a:fillRef idx="1">
                <a:schemeClr val="accent4">
                  <a:hueOff val="1237882"/>
                  <a:satOff val="-37607"/>
                  <a:lumOff val="12419"/>
                  <a:alphaOff val="0"/>
                </a:schemeClr>
              </a:fillRef>
              <a:effectRef idx="0">
                <a:schemeClr val="accent4">
                  <a:hueOff val="1237882"/>
                  <a:satOff val="-37607"/>
                  <a:lumOff val="12419"/>
                  <a:alphaOff val="0"/>
                </a:schemeClr>
              </a:effectRef>
              <a:fontRef idx="minor">
                <a:schemeClr val="lt1"/>
              </a:fontRef>
            </p:style>
            <p:txBody>
              <a:bodyPr spcFirstLastPara="0" vert="horz" wrap="square" lIns="496257" tIns="45720" rIns="45720" bIns="45720" numCol="1" spcCol="1270" anchor="ctr" anchorCtr="0">
                <a:noAutofit/>
              </a:bodyPr>
              <a:lstStyle/>
              <a:p>
                <a:pPr lvl="0" algn="l" defTabSz="800100">
                  <a:lnSpc>
                    <a:spcPct val="90000"/>
                  </a:lnSpc>
                  <a:spcBef>
                    <a:spcPct val="0"/>
                  </a:spcBef>
                  <a:spcAft>
                    <a:spcPct val="35000"/>
                  </a:spcAft>
                </a:pPr>
                <a:r>
                  <a:rPr lang="en-AU" sz="1800" kern="1200" dirty="0" smtClean="0">
                    <a:latin typeface="Helvetica" pitchFamily="34" charset="0"/>
                  </a:rPr>
                  <a:t>Chair the meeting</a:t>
                </a:r>
                <a:endParaRPr lang="en-AU" sz="1800" kern="1200" dirty="0">
                  <a:latin typeface="Helvetica" pitchFamily="34" charset="0"/>
                </a:endParaRPr>
              </a:p>
            </p:txBody>
          </p:sp>
          <p:sp>
            <p:nvSpPr>
              <p:cNvPr id="38" name="Oval 37"/>
              <p:cNvSpPr/>
              <p:nvPr/>
            </p:nvSpPr>
            <p:spPr>
              <a:xfrm>
                <a:off x="1111387" y="4171080"/>
                <a:ext cx="781507" cy="781507"/>
              </a:xfrm>
              <a:prstGeom prst="ellipse">
                <a:avLst/>
              </a:prstGeom>
            </p:spPr>
            <p:style>
              <a:lnRef idx="2">
                <a:schemeClr val="accent4">
                  <a:hueOff val="1237882"/>
                  <a:satOff val="-37607"/>
                  <a:lumOff val="12419"/>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39" name="Freeform 38"/>
              <p:cNvSpPr/>
              <p:nvPr/>
            </p:nvSpPr>
            <p:spPr>
              <a:xfrm>
                <a:off x="1143696" y="5187201"/>
                <a:ext cx="5580684" cy="625205"/>
              </a:xfrm>
              <a:custGeom>
                <a:avLst/>
                <a:gdLst>
                  <a:gd name="connsiteX0" fmla="*/ 0 w 5580684"/>
                  <a:gd name="connsiteY0" fmla="*/ 0 h 625205"/>
                  <a:gd name="connsiteX1" fmla="*/ 5580684 w 5580684"/>
                  <a:gd name="connsiteY1" fmla="*/ 0 h 625205"/>
                  <a:gd name="connsiteX2" fmla="*/ 5580684 w 5580684"/>
                  <a:gd name="connsiteY2" fmla="*/ 625205 h 625205"/>
                  <a:gd name="connsiteX3" fmla="*/ 0 w 5580684"/>
                  <a:gd name="connsiteY3" fmla="*/ 625205 h 625205"/>
                  <a:gd name="connsiteX4" fmla="*/ 0 w 5580684"/>
                  <a:gd name="connsiteY4" fmla="*/ 0 h 625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0684" h="625205">
                    <a:moveTo>
                      <a:pt x="0" y="0"/>
                    </a:moveTo>
                    <a:lnTo>
                      <a:pt x="5580684" y="0"/>
                    </a:lnTo>
                    <a:lnTo>
                      <a:pt x="5580684" y="625205"/>
                    </a:lnTo>
                    <a:lnTo>
                      <a:pt x="0" y="625205"/>
                    </a:lnTo>
                    <a:lnTo>
                      <a:pt x="0" y="0"/>
                    </a:lnTo>
                    <a:close/>
                  </a:path>
                </a:pathLst>
              </a:custGeom>
            </p:spPr>
            <p:style>
              <a:lnRef idx="2">
                <a:schemeClr val="lt1">
                  <a:hueOff val="0"/>
                  <a:satOff val="0"/>
                  <a:lumOff val="0"/>
                  <a:alphaOff val="0"/>
                </a:schemeClr>
              </a:lnRef>
              <a:fillRef idx="1">
                <a:schemeClr val="accent4">
                  <a:hueOff val="1856823"/>
                  <a:satOff val="-56410"/>
                  <a:lumOff val="18628"/>
                  <a:alphaOff val="0"/>
                </a:schemeClr>
              </a:fillRef>
              <a:effectRef idx="0">
                <a:schemeClr val="accent4">
                  <a:hueOff val="1856823"/>
                  <a:satOff val="-56410"/>
                  <a:lumOff val="18628"/>
                  <a:alphaOff val="0"/>
                </a:schemeClr>
              </a:effectRef>
              <a:fontRef idx="minor">
                <a:schemeClr val="lt1"/>
              </a:fontRef>
            </p:style>
            <p:txBody>
              <a:bodyPr spcFirstLastPara="0" vert="horz" wrap="square" lIns="496257" tIns="45720" rIns="45720" bIns="45720" numCol="1" spcCol="1270" anchor="ctr" anchorCtr="0">
                <a:noAutofit/>
              </a:bodyPr>
              <a:lstStyle/>
              <a:p>
                <a:pPr lvl="0" algn="l" defTabSz="800100">
                  <a:lnSpc>
                    <a:spcPct val="90000"/>
                  </a:lnSpc>
                  <a:spcBef>
                    <a:spcPct val="0"/>
                  </a:spcBef>
                  <a:spcAft>
                    <a:spcPct val="35000"/>
                  </a:spcAft>
                </a:pPr>
                <a:r>
                  <a:rPr lang="en-AU" sz="1800" kern="1200" dirty="0" smtClean="0">
                    <a:latin typeface="Helvetica" pitchFamily="34" charset="0"/>
                  </a:rPr>
                  <a:t>Develop an action plan and dates</a:t>
                </a:r>
                <a:endParaRPr lang="en-AU" sz="1800" kern="1200" dirty="0">
                  <a:latin typeface="Helvetica" pitchFamily="34" charset="0"/>
                </a:endParaRPr>
              </a:p>
            </p:txBody>
          </p:sp>
          <p:sp>
            <p:nvSpPr>
              <p:cNvPr id="40" name="Oval 39"/>
              <p:cNvSpPr/>
              <p:nvPr/>
            </p:nvSpPr>
            <p:spPr>
              <a:xfrm>
                <a:off x="752943" y="5109051"/>
                <a:ext cx="781507" cy="781507"/>
              </a:xfrm>
              <a:prstGeom prst="ellipse">
                <a:avLst/>
              </a:prstGeom>
            </p:spPr>
            <p:style>
              <a:lnRef idx="2">
                <a:schemeClr val="accent4">
                  <a:hueOff val="1856823"/>
                  <a:satOff val="-56410"/>
                  <a:lumOff val="18628"/>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grpSp>
        <p:sp>
          <p:nvSpPr>
            <p:cNvPr id="27" name="TextBox 26"/>
            <p:cNvSpPr txBox="1"/>
            <p:nvPr/>
          </p:nvSpPr>
          <p:spPr>
            <a:xfrm>
              <a:off x="827584" y="2483604"/>
              <a:ext cx="648072" cy="369332"/>
            </a:xfrm>
            <a:prstGeom prst="rect">
              <a:avLst/>
            </a:prstGeom>
            <a:noFill/>
          </p:spPr>
          <p:txBody>
            <a:bodyPr wrap="square" rtlCol="0">
              <a:spAutoFit/>
            </a:bodyPr>
            <a:lstStyle/>
            <a:p>
              <a:pPr algn="ctr"/>
              <a:r>
                <a:rPr lang="en-AU" b="1" dirty="0" smtClean="0">
                  <a:latin typeface="Helvetica" pitchFamily="34" charset="0"/>
                </a:rPr>
                <a:t>2.1</a:t>
              </a:r>
              <a:endParaRPr lang="en-AU" b="1" dirty="0">
                <a:latin typeface="Helvetica" pitchFamily="34" charset="0"/>
              </a:endParaRPr>
            </a:p>
          </p:txBody>
        </p:sp>
        <p:sp>
          <p:nvSpPr>
            <p:cNvPr id="28" name="TextBox 27"/>
            <p:cNvSpPr txBox="1"/>
            <p:nvPr/>
          </p:nvSpPr>
          <p:spPr>
            <a:xfrm>
              <a:off x="1151620" y="3450486"/>
              <a:ext cx="648072" cy="369332"/>
            </a:xfrm>
            <a:prstGeom prst="rect">
              <a:avLst/>
            </a:prstGeom>
            <a:noFill/>
          </p:spPr>
          <p:txBody>
            <a:bodyPr wrap="square" rtlCol="0">
              <a:spAutoFit/>
            </a:bodyPr>
            <a:lstStyle/>
            <a:p>
              <a:pPr algn="ctr"/>
              <a:r>
                <a:rPr lang="en-AU" b="1" dirty="0" smtClean="0">
                  <a:latin typeface="Helvetica" pitchFamily="34" charset="0"/>
                </a:rPr>
                <a:t>2.2</a:t>
              </a:r>
              <a:endParaRPr lang="en-AU" b="1" dirty="0">
                <a:latin typeface="Helvetica" pitchFamily="34" charset="0"/>
              </a:endParaRPr>
            </a:p>
          </p:txBody>
        </p:sp>
        <p:sp>
          <p:nvSpPr>
            <p:cNvPr id="29" name="TextBox 28"/>
            <p:cNvSpPr txBox="1"/>
            <p:nvPr/>
          </p:nvSpPr>
          <p:spPr>
            <a:xfrm>
              <a:off x="1187624" y="4365104"/>
              <a:ext cx="648072" cy="369332"/>
            </a:xfrm>
            <a:prstGeom prst="rect">
              <a:avLst/>
            </a:prstGeom>
            <a:noFill/>
          </p:spPr>
          <p:txBody>
            <a:bodyPr wrap="square" rtlCol="0">
              <a:spAutoFit/>
            </a:bodyPr>
            <a:lstStyle/>
            <a:p>
              <a:pPr algn="ctr"/>
              <a:r>
                <a:rPr lang="en-AU" b="1" dirty="0" smtClean="0">
                  <a:latin typeface="Helvetica" pitchFamily="34" charset="0"/>
                </a:rPr>
                <a:t>2.3</a:t>
              </a:r>
              <a:endParaRPr lang="en-AU" b="1" dirty="0">
                <a:latin typeface="Helvetica" pitchFamily="34" charset="0"/>
              </a:endParaRPr>
            </a:p>
          </p:txBody>
        </p:sp>
        <p:sp>
          <p:nvSpPr>
            <p:cNvPr id="30" name="TextBox 29"/>
            <p:cNvSpPr txBox="1"/>
            <p:nvPr/>
          </p:nvSpPr>
          <p:spPr>
            <a:xfrm>
              <a:off x="808348" y="5322694"/>
              <a:ext cx="648072" cy="369332"/>
            </a:xfrm>
            <a:prstGeom prst="rect">
              <a:avLst/>
            </a:prstGeom>
            <a:noFill/>
          </p:spPr>
          <p:txBody>
            <a:bodyPr wrap="square" rtlCol="0">
              <a:spAutoFit/>
            </a:bodyPr>
            <a:lstStyle/>
            <a:p>
              <a:pPr algn="ctr"/>
              <a:r>
                <a:rPr lang="en-AU" b="1" dirty="0" smtClean="0">
                  <a:latin typeface="Helvetica" pitchFamily="34" charset="0"/>
                </a:rPr>
                <a:t>2.4</a:t>
              </a:r>
              <a:endParaRPr lang="en-AU" b="1" dirty="0">
                <a:latin typeface="Helvetica" pitchFamily="34" charset="0"/>
              </a:endParaRPr>
            </a:p>
          </p:txBody>
        </p:sp>
      </p:gr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901700" indent="-901700"/>
            <a:r>
              <a:rPr lang="en-US" sz="3100" b="1" dirty="0" smtClean="0">
                <a:solidFill>
                  <a:srgbClr val="FF6600"/>
                </a:solidFill>
                <a:latin typeface="Helvetica" pitchFamily="34" charset="0"/>
              </a:rPr>
              <a:t>2.1	Notify all relevant staff of scheduled staff meeting </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lnSpc>
                <a:spcPts val="3000"/>
              </a:lnSpc>
              <a:spcBef>
                <a:spcPts val="600"/>
              </a:spcBef>
              <a:spcAft>
                <a:spcPts val="1200"/>
              </a:spcAft>
              <a:buNone/>
            </a:pPr>
            <a:r>
              <a:rPr lang="en-AU" sz="2400" dirty="0" smtClean="0"/>
              <a:t>Each organisation will have different ways of organising and conducting meetings so it is important</a:t>
            </a:r>
            <a:br>
              <a:rPr lang="en-AU" sz="2400" dirty="0" smtClean="0"/>
            </a:br>
            <a:r>
              <a:rPr lang="en-AU" sz="2400" dirty="0" smtClean="0"/>
              <a:t>to be able to explain company specific meeting procedures clearly and effectively.</a:t>
            </a:r>
            <a:endParaRPr lang="en-US" sz="2200" dirty="0" smtClean="0">
              <a:latin typeface="Helvetica" pitchFamily="34" charset="0"/>
            </a:endParaRPr>
          </a:p>
          <a:p>
            <a:pPr marL="360000" indent="-360000">
              <a:lnSpc>
                <a:spcPts val="3000"/>
              </a:lnSpc>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6" name="Picture 5" descr="C:\Users\Quentin\AppData\Local\Microsoft\Windows\Temporary Internet Files\Content.IE5\X0AY02HY\communicate[1].jpg"/>
          <p:cNvPicPr/>
          <p:nvPr/>
        </p:nvPicPr>
        <p:blipFill rotWithShape="1">
          <a:blip r:embed="rId3" cstate="print"/>
          <a:srcRect b="12099"/>
          <a:stretch/>
        </p:blipFill>
        <p:spPr bwMode="auto">
          <a:xfrm>
            <a:off x="1907704" y="3429000"/>
            <a:ext cx="3240360" cy="2595116"/>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100" b="1" dirty="0" smtClean="0">
                <a:solidFill>
                  <a:srgbClr val="FF6600"/>
                </a:solidFill>
                <a:latin typeface="Helvetica" pitchFamily="34" charset="0"/>
              </a:rPr>
              <a:t>Communicating with staff</a:t>
            </a:r>
            <a:endParaRPr lang="en-US" sz="31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7" name="Picture 6" descr="https://lh4.ggpht.com/LlbvQ1kskBdcyqkg0m2eViyGhnmd7F6Mpub0yWDUxPXu52Vypl4Oa_fJcR07voMBXfxMhRQN=w665"/>
          <p:cNvPicPr/>
          <p:nvPr/>
        </p:nvPicPr>
        <p:blipFill>
          <a:blip r:embed="rId3" cstate="print"/>
          <a:srcRect/>
          <a:stretch>
            <a:fillRect/>
          </a:stretch>
        </p:blipFill>
        <p:spPr bwMode="auto">
          <a:xfrm>
            <a:off x="611560" y="1552104"/>
            <a:ext cx="6120680" cy="4104456"/>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100" b="1" dirty="0" smtClean="0">
                <a:solidFill>
                  <a:srgbClr val="FF6600"/>
                </a:solidFill>
                <a:latin typeface="Helvetica" pitchFamily="34" charset="0"/>
              </a:rPr>
              <a:t>Noticeboard</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5040560"/>
          </a:xfrm>
        </p:spPr>
        <p:txBody>
          <a:bodyPr>
            <a:normAutofit/>
          </a:bodyPr>
          <a:lstStyle/>
          <a:p>
            <a:pPr marL="0" indent="0">
              <a:spcBef>
                <a:spcPts val="600"/>
              </a:spcBef>
              <a:spcAft>
                <a:spcPts val="1200"/>
              </a:spcAft>
              <a:buNone/>
            </a:pPr>
            <a:r>
              <a:rPr lang="en-AU" sz="2000" dirty="0" smtClean="0"/>
              <a:t>One common way to inform staff of a meeting is to use a staff noticeboard. The meeting information should include:</a:t>
            </a:r>
            <a:endParaRPr lang="en-US" sz="2000" dirty="0" smtClean="0"/>
          </a:p>
          <a:p>
            <a:pPr>
              <a:spcBef>
                <a:spcPts val="600"/>
              </a:spcBef>
              <a:spcAft>
                <a:spcPts val="1200"/>
              </a:spcAft>
            </a:pPr>
            <a:r>
              <a:rPr lang="en-AU" sz="2000" dirty="0" smtClean="0"/>
              <a:t>Meeting title</a:t>
            </a:r>
            <a:endParaRPr lang="en-US" sz="2000" dirty="0" smtClean="0"/>
          </a:p>
          <a:p>
            <a:pPr>
              <a:spcBef>
                <a:spcPts val="600"/>
              </a:spcBef>
              <a:spcAft>
                <a:spcPts val="1200"/>
              </a:spcAft>
            </a:pPr>
            <a:r>
              <a:rPr lang="en-AU" sz="2000" dirty="0" smtClean="0"/>
              <a:t>Date and time</a:t>
            </a:r>
            <a:endParaRPr lang="en-US" sz="2000" dirty="0" smtClean="0"/>
          </a:p>
          <a:p>
            <a:pPr>
              <a:spcBef>
                <a:spcPts val="600"/>
              </a:spcBef>
              <a:spcAft>
                <a:spcPts val="1200"/>
              </a:spcAft>
            </a:pPr>
            <a:r>
              <a:rPr lang="en-AU" sz="2000" dirty="0" smtClean="0"/>
              <a:t>Location</a:t>
            </a:r>
            <a:endParaRPr lang="en-US" sz="2000" dirty="0" smtClean="0"/>
          </a:p>
          <a:p>
            <a:pPr>
              <a:spcBef>
                <a:spcPts val="600"/>
              </a:spcBef>
              <a:spcAft>
                <a:spcPts val="1200"/>
              </a:spcAft>
            </a:pPr>
            <a:r>
              <a:rPr lang="en-AU" sz="2000" dirty="0" smtClean="0"/>
              <a:t>Reason for meeting</a:t>
            </a:r>
            <a:endParaRPr lang="en-US" sz="2000" dirty="0" smtClean="0"/>
          </a:p>
          <a:p>
            <a:pPr>
              <a:spcBef>
                <a:spcPts val="600"/>
              </a:spcBef>
              <a:spcAft>
                <a:spcPts val="1200"/>
              </a:spcAft>
            </a:pPr>
            <a:r>
              <a:rPr lang="en-AU" sz="2000" dirty="0" smtClean="0"/>
              <a:t>Materials to bring or information to prepare</a:t>
            </a:r>
            <a:endParaRPr lang="en-US" sz="2000" dirty="0" smtClean="0"/>
          </a:p>
          <a:p>
            <a:pPr>
              <a:spcBef>
                <a:spcPts val="600"/>
              </a:spcBef>
              <a:spcAft>
                <a:spcPts val="1200"/>
              </a:spcAft>
            </a:pPr>
            <a:r>
              <a:rPr lang="en-AU" sz="2000" dirty="0" smtClean="0"/>
              <a:t>Duration of meeting</a:t>
            </a:r>
            <a:endParaRPr lang="en-US" sz="2000" dirty="0" smtClean="0"/>
          </a:p>
          <a:p>
            <a:pPr>
              <a:spcBef>
                <a:spcPts val="600"/>
              </a:spcBef>
              <a:spcAft>
                <a:spcPts val="1200"/>
              </a:spcAft>
            </a:pPr>
            <a:r>
              <a:rPr lang="en-AU" sz="2000" dirty="0" smtClean="0"/>
              <a:t>Attendees (people who need to attend)</a:t>
            </a:r>
            <a:endParaRPr lang="en-US" sz="2000" dirty="0" smtClean="0"/>
          </a:p>
          <a:p>
            <a:pPr marL="360000" indent="-360000">
              <a:spcBef>
                <a:spcPts val="600"/>
              </a:spcBef>
              <a:spcAft>
                <a:spcPts val="1200"/>
              </a:spcAft>
            </a:pPr>
            <a:endParaRPr lang="en-US" sz="2000" dirty="0" smtClean="0"/>
          </a:p>
          <a:p>
            <a:pPr marL="360000" indent="-360000">
              <a:spcBef>
                <a:spcPts val="600"/>
              </a:spcBef>
              <a:spcAft>
                <a:spcPts val="1200"/>
              </a:spcAft>
              <a:buNone/>
            </a:pPr>
            <a:endParaRPr lang="en-US" sz="2000" dirty="0" smtClean="0"/>
          </a:p>
          <a:p>
            <a:pPr marL="360000" indent="-360000">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6" y="2348880"/>
            <a:ext cx="2759968" cy="206997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Online meeting requests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lnSpcReduction="10000"/>
          </a:bodyPr>
          <a:lstStyle/>
          <a:p>
            <a:pPr marL="0" indent="0">
              <a:spcBef>
                <a:spcPts val="600"/>
              </a:spcBef>
              <a:spcAft>
                <a:spcPts val="1200"/>
              </a:spcAft>
              <a:buNone/>
            </a:pPr>
            <a:r>
              <a:rPr lang="en-AU" sz="2000" dirty="0" smtClean="0"/>
              <a:t>Below are some ideas for writing effective online meeting requests</a:t>
            </a:r>
            <a:r>
              <a:rPr lang="en-US" sz="2000" dirty="0" smtClean="0"/>
              <a:t>:</a:t>
            </a:r>
          </a:p>
          <a:p>
            <a:pPr lvl="0">
              <a:spcBef>
                <a:spcPts val="600"/>
              </a:spcBef>
              <a:spcAft>
                <a:spcPts val="1200"/>
              </a:spcAft>
            </a:pPr>
            <a:r>
              <a:rPr lang="en-AU" sz="2000" dirty="0" smtClean="0">
                <a:hlinkClick r:id="rId3"/>
              </a:rPr>
              <a:t>Succinct Subject Line</a:t>
            </a:r>
            <a:r>
              <a:rPr lang="en-AU" sz="2000" dirty="0" smtClean="0"/>
              <a:t> (required)</a:t>
            </a:r>
            <a:endParaRPr lang="en-US" sz="2000" dirty="0" smtClean="0"/>
          </a:p>
          <a:p>
            <a:pPr lvl="0">
              <a:spcBef>
                <a:spcPts val="600"/>
              </a:spcBef>
              <a:spcAft>
                <a:spcPts val="1200"/>
              </a:spcAft>
            </a:pPr>
            <a:r>
              <a:rPr lang="en-AU" sz="2000" u="sng" dirty="0" smtClean="0">
                <a:hlinkClick r:id="rId3"/>
              </a:rPr>
              <a:t>Personal Introduction</a:t>
            </a:r>
            <a:endParaRPr lang="en-US" sz="2000" dirty="0" smtClean="0"/>
          </a:p>
          <a:p>
            <a:pPr lvl="0">
              <a:spcBef>
                <a:spcPts val="600"/>
              </a:spcBef>
              <a:spcAft>
                <a:spcPts val="1200"/>
              </a:spcAft>
            </a:pPr>
            <a:r>
              <a:rPr lang="en-AU" sz="2000" u="sng" dirty="0" smtClean="0">
                <a:hlinkClick r:id="rId3"/>
              </a:rPr>
              <a:t>Required Preparation</a:t>
            </a:r>
            <a:endParaRPr lang="en-US" sz="2000" dirty="0" smtClean="0"/>
          </a:p>
          <a:p>
            <a:pPr lvl="0">
              <a:spcBef>
                <a:spcPts val="600"/>
              </a:spcBef>
              <a:spcAft>
                <a:spcPts val="1200"/>
              </a:spcAft>
            </a:pPr>
            <a:r>
              <a:rPr lang="en-AU" sz="2000" u="sng" dirty="0" smtClean="0">
                <a:hlinkClick r:id="rId3"/>
              </a:rPr>
              <a:t>Meeting Date and Time</a:t>
            </a:r>
            <a:r>
              <a:rPr lang="en-AU" sz="2000" dirty="0" smtClean="0"/>
              <a:t> (required)</a:t>
            </a:r>
            <a:endParaRPr lang="en-US" sz="2000" dirty="0" smtClean="0"/>
          </a:p>
          <a:p>
            <a:pPr lvl="0">
              <a:spcBef>
                <a:spcPts val="600"/>
              </a:spcBef>
              <a:spcAft>
                <a:spcPts val="1200"/>
              </a:spcAft>
            </a:pPr>
            <a:r>
              <a:rPr lang="en-AU" sz="2000" u="sng" dirty="0" smtClean="0">
                <a:hlinkClick r:id="rId3"/>
              </a:rPr>
              <a:t>Location</a:t>
            </a:r>
            <a:r>
              <a:rPr lang="en-AU" sz="2000" dirty="0" smtClean="0"/>
              <a:t> (required)</a:t>
            </a:r>
            <a:endParaRPr lang="en-US" sz="2000" dirty="0" smtClean="0"/>
          </a:p>
          <a:p>
            <a:pPr lvl="0">
              <a:spcBef>
                <a:spcPts val="600"/>
              </a:spcBef>
              <a:spcAft>
                <a:spcPts val="1200"/>
              </a:spcAft>
            </a:pPr>
            <a:r>
              <a:rPr lang="en-AU" sz="2000" u="sng" dirty="0" smtClean="0">
                <a:hlinkClick r:id="rId3"/>
              </a:rPr>
              <a:t>Meeting Purpose</a:t>
            </a:r>
            <a:r>
              <a:rPr lang="en-AU" sz="2000" dirty="0" smtClean="0"/>
              <a:t> (required)</a:t>
            </a:r>
            <a:endParaRPr lang="en-US" sz="2000" dirty="0" smtClean="0"/>
          </a:p>
          <a:p>
            <a:pPr lvl="0">
              <a:spcBef>
                <a:spcPts val="600"/>
              </a:spcBef>
              <a:spcAft>
                <a:spcPts val="1200"/>
              </a:spcAft>
            </a:pPr>
            <a:r>
              <a:rPr lang="en-AU" sz="2000" u="sng" dirty="0" smtClean="0">
                <a:hlinkClick r:id="rId3"/>
              </a:rPr>
              <a:t>Agenda</a:t>
            </a:r>
            <a:endParaRPr lang="en-US" sz="2000" dirty="0" smtClean="0"/>
          </a:p>
          <a:p>
            <a:pPr lvl="0">
              <a:spcBef>
                <a:spcPts val="600"/>
              </a:spcBef>
              <a:spcAft>
                <a:spcPts val="1200"/>
              </a:spcAft>
            </a:pPr>
            <a:r>
              <a:rPr lang="en-AU" sz="2000" u="sng" dirty="0" smtClean="0">
                <a:hlinkClick r:id="rId3"/>
              </a:rPr>
              <a:t>Invitee List</a:t>
            </a:r>
            <a:endParaRPr lang="en-US" sz="2000" u="sng" dirty="0" smtClean="0"/>
          </a:p>
          <a:p>
            <a:pPr marL="360000" indent="-360000">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64088" y="2348880"/>
            <a:ext cx="2615952" cy="26159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100" b="1" dirty="0" smtClean="0">
                <a:solidFill>
                  <a:srgbClr val="FF6600"/>
                </a:solidFill>
                <a:latin typeface="Helvetica" pitchFamily="34" charset="0"/>
              </a:rPr>
              <a:t>Meeting requests</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112568"/>
          </a:xfrm>
        </p:spPr>
        <p:txBody>
          <a:bodyPr>
            <a:normAutofit/>
          </a:bodyPr>
          <a:lstStyle/>
          <a:p>
            <a:pPr marL="0" indent="0">
              <a:spcBef>
                <a:spcPts val="600"/>
              </a:spcBef>
              <a:spcAft>
                <a:spcPts val="1200"/>
              </a:spcAft>
              <a:buNone/>
            </a:pPr>
            <a:r>
              <a:rPr lang="en-US" sz="2000" dirty="0" smtClean="0"/>
              <a:t>Things to consider:</a:t>
            </a:r>
          </a:p>
          <a:p>
            <a:pPr>
              <a:spcBef>
                <a:spcPts val="600"/>
              </a:spcBef>
              <a:spcAft>
                <a:spcPts val="1200"/>
              </a:spcAft>
            </a:pPr>
            <a:r>
              <a:rPr lang="en-AU" sz="2000" dirty="0" smtClean="0"/>
              <a:t>Send detailed meeting invitations for scheduled business meetings. Invitations aren't necessary for ad-hoc meetings</a:t>
            </a:r>
            <a:endParaRPr lang="en-US" sz="2000" dirty="0" smtClean="0"/>
          </a:p>
          <a:p>
            <a:pPr>
              <a:spcBef>
                <a:spcPts val="600"/>
              </a:spcBef>
              <a:spcAft>
                <a:spcPts val="1200"/>
              </a:spcAft>
            </a:pPr>
            <a:r>
              <a:rPr lang="en-AU" sz="2000" dirty="0" smtClean="0"/>
              <a:t>Failure to send a good invitation is inconsiderate and makes people unhappy!</a:t>
            </a:r>
            <a:endParaRPr lang="en-US" sz="2000" dirty="0" smtClean="0"/>
          </a:p>
          <a:p>
            <a:pPr>
              <a:spcBef>
                <a:spcPts val="600"/>
              </a:spcBef>
              <a:spcAft>
                <a:spcPts val="1200"/>
              </a:spcAft>
            </a:pPr>
            <a:r>
              <a:rPr lang="en-AU" sz="2000" dirty="0" smtClean="0"/>
              <a:t>The amount of information you need to write from scratch depends on the software you use to send your email</a:t>
            </a:r>
            <a:endParaRPr lang="en-US" sz="2000" dirty="0" smtClean="0"/>
          </a:p>
          <a:p>
            <a:pPr>
              <a:spcBef>
                <a:spcPts val="600"/>
              </a:spcBef>
              <a:spcAft>
                <a:spcPts val="1200"/>
              </a:spcAft>
            </a:pPr>
            <a:r>
              <a:rPr lang="en-AU" sz="2000" dirty="0" smtClean="0"/>
              <a:t>There are 4 required and 4 optional pieces of information to include</a:t>
            </a:r>
            <a:endParaRPr lang="en-US" sz="2000" dirty="0" smtClean="0"/>
          </a:p>
          <a:p>
            <a:pPr marL="360000" indent="-360000">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901700" indent="-901700"/>
            <a:r>
              <a:rPr lang="en-US" sz="3100" b="1" dirty="0" smtClean="0">
                <a:solidFill>
                  <a:srgbClr val="FF6600"/>
                </a:solidFill>
                <a:latin typeface="Helvetica" pitchFamily="34" charset="0"/>
              </a:rPr>
              <a:t>2.2	Draw up an agenda for a staff meeting</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marL="0" indent="0">
              <a:spcBef>
                <a:spcPts val="600"/>
              </a:spcBef>
              <a:spcAft>
                <a:spcPts val="1200"/>
              </a:spcAft>
              <a:buNone/>
            </a:pPr>
            <a:r>
              <a:rPr lang="en-US" sz="2200" dirty="0" smtClean="0">
                <a:latin typeface="Helvetica" pitchFamily="34" charset="0"/>
              </a:rPr>
              <a:t>An agenda:</a:t>
            </a:r>
          </a:p>
          <a:p>
            <a:pPr marL="360000" indent="-360000">
              <a:spcBef>
                <a:spcPts val="600"/>
              </a:spcBef>
              <a:spcAft>
                <a:spcPts val="1200"/>
              </a:spcAft>
            </a:pPr>
            <a:r>
              <a:rPr lang="en-AU" sz="2400" dirty="0" smtClean="0"/>
              <a:t>Communicates important information</a:t>
            </a:r>
            <a:endParaRPr lang="en-US" sz="2200" dirty="0" smtClean="0">
              <a:latin typeface="Helvetica" pitchFamily="34" charset="0"/>
            </a:endParaRPr>
          </a:p>
          <a:p>
            <a:pPr marL="360000" indent="-360000">
              <a:spcBef>
                <a:spcPts val="600"/>
              </a:spcBef>
              <a:spcAft>
                <a:spcPts val="1200"/>
              </a:spcAft>
            </a:pPr>
            <a:r>
              <a:rPr lang="en-AU" sz="2400" dirty="0" smtClean="0"/>
              <a:t>provides an outline for the meeting</a:t>
            </a:r>
          </a:p>
          <a:p>
            <a:pPr marL="360000" indent="-360000">
              <a:spcBef>
                <a:spcPts val="600"/>
              </a:spcBef>
              <a:spcAft>
                <a:spcPts val="1200"/>
              </a:spcAft>
            </a:pPr>
            <a:r>
              <a:rPr lang="en-AU" sz="2400" dirty="0" smtClean="0"/>
              <a:t>is a checklist to ensure that all topics are covered</a:t>
            </a:r>
          </a:p>
          <a:p>
            <a:pPr marL="360000" indent="-360000">
              <a:spcBef>
                <a:spcPts val="600"/>
              </a:spcBef>
              <a:spcAft>
                <a:spcPts val="1200"/>
              </a:spcAft>
            </a:pPr>
            <a:r>
              <a:rPr lang="en-AU" sz="2400" dirty="0" smtClean="0"/>
              <a:t>lets participants know what will be discussed and gives them a chance to come prepared for the meeting</a:t>
            </a:r>
          </a:p>
          <a:p>
            <a:pPr marL="360000" indent="-360000">
              <a:spcBef>
                <a:spcPts val="600"/>
              </a:spcBef>
              <a:spcAft>
                <a:spcPts val="1200"/>
              </a:spcAft>
            </a:pPr>
            <a:r>
              <a:rPr lang="en-AU" sz="2400" dirty="0" smtClean="0"/>
              <a:t>provides a focus for the meeting</a:t>
            </a:r>
            <a:endParaRPr lang="en-US" sz="2400" dirty="0" smtClean="0"/>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6" name="Picture 5" descr="C:\Users\Quentin\AppData\Local\Microsoft\Windows\Temporary Internet Files\Content.IE5\X0AY02HY\agenda[1].jpg"/>
          <p:cNvPicPr/>
          <p:nvPr/>
        </p:nvPicPr>
        <p:blipFill>
          <a:blip r:embed="rId3" cstate="print"/>
          <a:srcRect/>
          <a:stretch>
            <a:fillRect/>
          </a:stretch>
        </p:blipFill>
        <p:spPr bwMode="auto">
          <a:xfrm>
            <a:off x="6012160" y="1268760"/>
            <a:ext cx="1944216" cy="1956556"/>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901700" indent="-901700"/>
            <a:r>
              <a:rPr lang="en-US" sz="3400" b="1" dirty="0" smtClean="0">
                <a:solidFill>
                  <a:srgbClr val="FF6600"/>
                </a:solidFill>
                <a:latin typeface="Helvetica" pitchFamily="34" charset="0"/>
              </a:rPr>
              <a:t>2.3	Chair the meeting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4597971"/>
          </a:xfrm>
        </p:spPr>
        <p:txBody>
          <a:bodyPr>
            <a:normAutofit/>
          </a:bodyPr>
          <a:lstStyle/>
          <a:p>
            <a:pPr marL="0" indent="0">
              <a:spcBef>
                <a:spcPts val="600"/>
              </a:spcBef>
              <a:spcAft>
                <a:spcPts val="600"/>
              </a:spcAft>
              <a:buNone/>
            </a:pPr>
            <a:r>
              <a:rPr lang="en-US" sz="2000" dirty="0" smtClean="0"/>
              <a:t>The chair controls the meeting:</a:t>
            </a:r>
          </a:p>
          <a:p>
            <a:pPr>
              <a:spcBef>
                <a:spcPts val="600"/>
              </a:spcBef>
              <a:spcAft>
                <a:spcPts val="600"/>
              </a:spcAft>
            </a:pPr>
            <a:r>
              <a:rPr lang="en-AU" sz="2000" dirty="0" smtClean="0"/>
              <a:t>All remarks are addressed through the chair</a:t>
            </a:r>
            <a:endParaRPr lang="en-US" sz="2000" dirty="0" smtClean="0"/>
          </a:p>
          <a:p>
            <a:pPr>
              <a:spcBef>
                <a:spcPts val="600"/>
              </a:spcBef>
              <a:spcAft>
                <a:spcPts val="600"/>
              </a:spcAft>
            </a:pPr>
            <a:r>
              <a:rPr lang="en-AU" sz="2000" dirty="0" smtClean="0"/>
              <a:t>Members do not interrupt each other</a:t>
            </a:r>
            <a:endParaRPr lang="en-US" sz="2000" dirty="0" smtClean="0"/>
          </a:p>
          <a:p>
            <a:pPr>
              <a:spcBef>
                <a:spcPts val="600"/>
              </a:spcBef>
              <a:spcAft>
                <a:spcPts val="600"/>
              </a:spcAft>
            </a:pPr>
            <a:r>
              <a:rPr lang="en-AU" sz="2000" dirty="0" smtClean="0"/>
              <a:t>Members aim to reach a consensus</a:t>
            </a:r>
            <a:endParaRPr lang="en-US" sz="2000" dirty="0" smtClean="0"/>
          </a:p>
          <a:p>
            <a:pPr>
              <a:spcBef>
                <a:spcPts val="600"/>
              </a:spcBef>
              <a:spcAft>
                <a:spcPts val="600"/>
              </a:spcAft>
            </a:pPr>
            <a:r>
              <a:rPr lang="en-AU" sz="2000" dirty="0" smtClean="0"/>
              <a:t>A vote is taken if consensus is </a:t>
            </a:r>
            <a:br>
              <a:rPr lang="en-AU" sz="2000" dirty="0" smtClean="0"/>
            </a:br>
            <a:r>
              <a:rPr lang="en-AU" sz="2000" dirty="0" smtClean="0"/>
              <a:t>not reached</a:t>
            </a:r>
            <a:endParaRPr lang="en-US" sz="2000" dirty="0" smtClean="0"/>
          </a:p>
          <a:p>
            <a:pPr>
              <a:spcBef>
                <a:spcPts val="600"/>
              </a:spcBef>
              <a:spcAft>
                <a:spcPts val="600"/>
              </a:spcAft>
            </a:pPr>
            <a:r>
              <a:rPr lang="en-AU" sz="2000" dirty="0" smtClean="0"/>
              <a:t>The majority wins the </a:t>
            </a:r>
            <a:br>
              <a:rPr lang="en-AU" sz="2000" dirty="0" smtClean="0"/>
            </a:br>
            <a:r>
              <a:rPr lang="en-AU" sz="2000" dirty="0" smtClean="0"/>
              <a:t>vote</a:t>
            </a:r>
            <a:endParaRPr lang="en-US" sz="2000" dirty="0" smtClean="0"/>
          </a:p>
          <a:p>
            <a:pPr>
              <a:spcBef>
                <a:spcPts val="600"/>
              </a:spcBef>
              <a:spcAft>
                <a:spcPts val="600"/>
              </a:spcAft>
            </a:pPr>
            <a:r>
              <a:rPr lang="en-AU" sz="2000" dirty="0" smtClean="0"/>
              <a:t>All members accept the majority </a:t>
            </a:r>
            <a:br>
              <a:rPr lang="en-AU" sz="2000" dirty="0" smtClean="0"/>
            </a:br>
            <a:r>
              <a:rPr lang="en-AU" sz="2000" dirty="0" smtClean="0"/>
              <a:t>decision</a:t>
            </a:r>
            <a:endParaRPr lang="en-US" sz="2000" dirty="0" smtClean="0"/>
          </a:p>
          <a:p>
            <a:pPr marL="360000" indent="-360000">
              <a:spcBef>
                <a:spcPts val="600"/>
              </a:spcBef>
              <a:spcAft>
                <a:spcPts val="6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6" name="Picture 5" descr="C:\Users\Quentin\AppData\Local\Microsoft\Windows\Temporary Internet Files\Content.IE5\19YMNHS8\sbGroup[1].jpg"/>
          <p:cNvPicPr/>
          <p:nvPr/>
        </p:nvPicPr>
        <p:blipFill>
          <a:blip r:embed="rId3" cstate="print"/>
          <a:srcRect/>
          <a:stretch>
            <a:fillRect/>
          </a:stretch>
        </p:blipFill>
        <p:spPr bwMode="auto">
          <a:xfrm>
            <a:off x="5004717" y="3242431"/>
            <a:ext cx="3141810" cy="185392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100" b="1" dirty="0" smtClean="0">
                <a:solidFill>
                  <a:srgbClr val="FF6600"/>
                </a:solidFill>
                <a:latin typeface="Helvetica" pitchFamily="34" charset="0"/>
              </a:rPr>
              <a:t>Meeting chair duties</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dirty="0" smtClean="0"/>
              <a:t>Summarising by the chairperson during meetings can:</a:t>
            </a:r>
            <a:endParaRPr lang="en-US" sz="2200" dirty="0" smtClean="0"/>
          </a:p>
          <a:p>
            <a:pPr>
              <a:spcBef>
                <a:spcPts val="600"/>
              </a:spcBef>
              <a:spcAft>
                <a:spcPts val="1200"/>
              </a:spcAft>
            </a:pPr>
            <a:r>
              <a:rPr lang="en-AU" sz="2200" dirty="0" smtClean="0"/>
              <a:t>Indicate progress, or lack of</a:t>
            </a:r>
            <a:endParaRPr lang="en-US" sz="2200" dirty="0" smtClean="0"/>
          </a:p>
          <a:p>
            <a:pPr>
              <a:spcBef>
                <a:spcPts val="600"/>
              </a:spcBef>
              <a:spcAft>
                <a:spcPts val="1200"/>
              </a:spcAft>
            </a:pPr>
            <a:r>
              <a:rPr lang="en-AU" sz="2200" dirty="0" smtClean="0"/>
              <a:t>Refocus discussion that has wandered </a:t>
            </a:r>
            <a:br>
              <a:rPr lang="en-AU" sz="2200" dirty="0" smtClean="0"/>
            </a:br>
            <a:r>
              <a:rPr lang="en-AU" sz="2200" dirty="0" smtClean="0"/>
              <a:t>off the point</a:t>
            </a:r>
            <a:endParaRPr lang="en-US" sz="2200" dirty="0" smtClean="0"/>
          </a:p>
          <a:p>
            <a:pPr>
              <a:spcBef>
                <a:spcPts val="600"/>
              </a:spcBef>
              <a:spcAft>
                <a:spcPts val="1200"/>
              </a:spcAft>
            </a:pPr>
            <a:r>
              <a:rPr lang="en-AU" sz="2200" dirty="0" smtClean="0"/>
              <a:t>Conclude one point and lead into the next</a:t>
            </a:r>
            <a:endParaRPr lang="en-US" sz="2200" dirty="0" smtClean="0"/>
          </a:p>
          <a:p>
            <a:pPr>
              <a:spcBef>
                <a:spcPts val="600"/>
              </a:spcBef>
              <a:spcAft>
                <a:spcPts val="1200"/>
              </a:spcAft>
            </a:pPr>
            <a:r>
              <a:rPr lang="en-AU" sz="2200" dirty="0" smtClean="0"/>
              <a:t>Highlight important points</a:t>
            </a:r>
            <a:endParaRPr lang="en-US" sz="2200" dirty="0" smtClean="0"/>
          </a:p>
          <a:p>
            <a:pPr>
              <a:spcBef>
                <a:spcPts val="600"/>
              </a:spcBef>
              <a:spcAft>
                <a:spcPts val="1200"/>
              </a:spcAft>
            </a:pPr>
            <a:r>
              <a:rPr lang="en-AU" sz="2200" dirty="0" smtClean="0"/>
              <a:t>Assist the secretary if necessary</a:t>
            </a:r>
            <a:endParaRPr lang="en-US" sz="2200" dirty="0" smtClean="0"/>
          </a:p>
          <a:p>
            <a:pPr>
              <a:spcBef>
                <a:spcPts val="600"/>
              </a:spcBef>
              <a:spcAft>
                <a:spcPts val="1200"/>
              </a:spcAft>
            </a:pPr>
            <a:r>
              <a:rPr lang="en-AU" sz="2200" dirty="0" smtClean="0"/>
              <a:t>Clarify any misunderstandings</a:t>
            </a:r>
            <a:endParaRPr lang="en-US" sz="2200" dirty="0" smtClean="0"/>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4208" y="2492895"/>
            <a:ext cx="1935688" cy="193010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100" b="1" dirty="0" smtClean="0">
                <a:solidFill>
                  <a:srgbClr val="FF6600"/>
                </a:solidFill>
                <a:latin typeface="Helvetica" pitchFamily="34" charset="0"/>
              </a:rPr>
              <a:t>Role of attendees</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5400600"/>
          </a:xfrm>
        </p:spPr>
        <p:txBody>
          <a:bodyPr>
            <a:normAutofit lnSpcReduction="10000"/>
          </a:bodyPr>
          <a:lstStyle/>
          <a:p>
            <a:pPr marL="0" indent="0">
              <a:spcBef>
                <a:spcPts val="600"/>
              </a:spcBef>
              <a:spcAft>
                <a:spcPts val="600"/>
              </a:spcAft>
              <a:buNone/>
            </a:pPr>
            <a:r>
              <a:rPr lang="en-AU" sz="1800" dirty="0" smtClean="0"/>
              <a:t>To ensure an effective meeting, all participants should:</a:t>
            </a:r>
            <a:endParaRPr lang="en-US" sz="1800" dirty="0" smtClean="0"/>
          </a:p>
          <a:p>
            <a:pPr>
              <a:spcBef>
                <a:spcPts val="600"/>
              </a:spcBef>
              <a:spcAft>
                <a:spcPts val="600"/>
              </a:spcAft>
            </a:pPr>
            <a:r>
              <a:rPr lang="en-AU" sz="1800" dirty="0" smtClean="0"/>
              <a:t>Undertake any necessary preparation prior to the meeting</a:t>
            </a:r>
            <a:endParaRPr lang="en-US" sz="1800" dirty="0" smtClean="0"/>
          </a:p>
          <a:p>
            <a:pPr>
              <a:spcBef>
                <a:spcPts val="600"/>
              </a:spcBef>
              <a:spcAft>
                <a:spcPts val="600"/>
              </a:spcAft>
            </a:pPr>
            <a:r>
              <a:rPr lang="en-AU" sz="1800" dirty="0" smtClean="0"/>
              <a:t>Arrive on time</a:t>
            </a:r>
            <a:endParaRPr lang="en-US" sz="1800" dirty="0" smtClean="0"/>
          </a:p>
          <a:p>
            <a:pPr>
              <a:spcBef>
                <a:spcPts val="600"/>
              </a:spcBef>
              <a:spcAft>
                <a:spcPts val="600"/>
              </a:spcAft>
            </a:pPr>
            <a:r>
              <a:rPr lang="en-AU" sz="1800" dirty="0" smtClean="0"/>
              <a:t>Keep an open mind</a:t>
            </a:r>
            <a:endParaRPr lang="en-US" sz="1800" dirty="0" smtClean="0"/>
          </a:p>
          <a:p>
            <a:pPr>
              <a:spcBef>
                <a:spcPts val="600"/>
              </a:spcBef>
              <a:spcAft>
                <a:spcPts val="600"/>
              </a:spcAft>
            </a:pPr>
            <a:r>
              <a:rPr lang="en-AU" sz="1800" dirty="0" smtClean="0"/>
              <a:t>Listen to the opinions of others</a:t>
            </a:r>
            <a:endParaRPr lang="en-US" sz="1800" dirty="0" smtClean="0"/>
          </a:p>
          <a:p>
            <a:pPr>
              <a:spcBef>
                <a:spcPts val="600"/>
              </a:spcBef>
              <a:spcAft>
                <a:spcPts val="600"/>
              </a:spcAft>
            </a:pPr>
            <a:r>
              <a:rPr lang="en-AU" sz="1800" dirty="0" smtClean="0"/>
              <a:t>Participate</a:t>
            </a:r>
            <a:endParaRPr lang="en-US" sz="1800" dirty="0" smtClean="0"/>
          </a:p>
          <a:p>
            <a:pPr>
              <a:spcBef>
                <a:spcPts val="600"/>
              </a:spcBef>
              <a:spcAft>
                <a:spcPts val="600"/>
              </a:spcAft>
            </a:pPr>
            <a:r>
              <a:rPr lang="en-AU" sz="1800" dirty="0" smtClean="0"/>
              <a:t>Avoid dominating the proceedings</a:t>
            </a:r>
            <a:endParaRPr lang="en-US" sz="1800" dirty="0" smtClean="0"/>
          </a:p>
          <a:p>
            <a:pPr>
              <a:spcBef>
                <a:spcPts val="600"/>
              </a:spcBef>
              <a:spcAft>
                <a:spcPts val="600"/>
              </a:spcAft>
            </a:pPr>
            <a:r>
              <a:rPr lang="en-AU" sz="1800" dirty="0" smtClean="0"/>
              <a:t>Avoid conflict situations</a:t>
            </a:r>
            <a:endParaRPr lang="en-US" sz="1800" dirty="0" smtClean="0"/>
          </a:p>
          <a:p>
            <a:pPr>
              <a:spcBef>
                <a:spcPts val="600"/>
              </a:spcBef>
              <a:spcAft>
                <a:spcPts val="600"/>
              </a:spcAft>
            </a:pPr>
            <a:r>
              <a:rPr lang="en-AU" sz="1800" dirty="0" smtClean="0"/>
              <a:t>Avoid side conversations which distract others</a:t>
            </a:r>
            <a:endParaRPr lang="en-US" sz="1800" dirty="0" smtClean="0"/>
          </a:p>
          <a:p>
            <a:pPr>
              <a:spcBef>
                <a:spcPts val="600"/>
              </a:spcBef>
              <a:spcAft>
                <a:spcPts val="600"/>
              </a:spcAft>
            </a:pPr>
            <a:r>
              <a:rPr lang="en-AU" sz="1800" dirty="0" smtClean="0"/>
              <a:t>Ask questions to clarify understanding</a:t>
            </a:r>
            <a:endParaRPr lang="en-US" sz="1800" dirty="0" smtClean="0"/>
          </a:p>
          <a:p>
            <a:pPr>
              <a:spcBef>
                <a:spcPts val="600"/>
              </a:spcBef>
              <a:spcAft>
                <a:spcPts val="600"/>
              </a:spcAft>
            </a:pPr>
            <a:r>
              <a:rPr lang="en-AU" sz="1800" dirty="0" smtClean="0"/>
              <a:t>Note down any action agreed upon</a:t>
            </a:r>
            <a:endParaRPr lang="en-US" sz="1800" dirty="0" smtClean="0"/>
          </a:p>
          <a:p>
            <a:pPr>
              <a:spcBef>
                <a:spcPts val="600"/>
              </a:spcBef>
              <a:spcAft>
                <a:spcPts val="600"/>
              </a:spcAft>
            </a:pPr>
            <a:r>
              <a:rPr lang="en-AU" sz="1800" dirty="0" smtClean="0"/>
              <a:t>After the meeting, undertake any agreed action and brief others as appropriate</a:t>
            </a:r>
            <a:endParaRPr lang="en-US" sz="1800" dirty="0" smtClean="0"/>
          </a:p>
          <a:p>
            <a:pPr marL="360000" indent="-360000">
              <a:spcBef>
                <a:spcPts val="600"/>
              </a:spcBef>
              <a:spcAft>
                <a:spcPts val="600"/>
              </a:spcAft>
              <a:buNone/>
            </a:pPr>
            <a:endParaRPr lang="en-US" sz="18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66600" y="2060848"/>
            <a:ext cx="2221992" cy="304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901700" indent="-901700"/>
            <a:r>
              <a:rPr lang="en-US" sz="3100" b="1" dirty="0" smtClean="0">
                <a:solidFill>
                  <a:srgbClr val="FF6600"/>
                </a:solidFill>
                <a:latin typeface="Helvetica" pitchFamily="34" charset="0"/>
              </a:rPr>
              <a:t>2.4	Develop an action plan and dates</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lnSpc>
                <a:spcPct val="150000"/>
              </a:lnSpc>
              <a:spcBef>
                <a:spcPts val="600"/>
              </a:spcBef>
              <a:spcAft>
                <a:spcPts val="1200"/>
              </a:spcAft>
              <a:buNone/>
            </a:pPr>
            <a:r>
              <a:rPr lang="en-US" sz="2200" dirty="0" smtClean="0">
                <a:latin typeface="Helvetica" pitchFamily="34" charset="0"/>
              </a:rPr>
              <a:t>Often during a meeting certain actions will become apparent and it is important to develop a plan that details how these actions will get done.</a:t>
            </a:r>
          </a:p>
          <a:p>
            <a:pPr marL="360000" indent="-360000">
              <a:lnSpc>
                <a:spcPct val="150000"/>
              </a:lnSpc>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6" name="Picture 5" descr="C:\Users\Quentin\AppData\Local\Microsoft\Windows\Temporary Internet Files\Content.IE5\X0AY02HY\plan[1].jpg"/>
          <p:cNvPicPr/>
          <p:nvPr/>
        </p:nvPicPr>
        <p:blipFill>
          <a:blip r:embed="rId3" cstate="print"/>
          <a:srcRect/>
          <a:stretch>
            <a:fillRect/>
          </a:stretch>
        </p:blipFill>
        <p:spPr bwMode="auto">
          <a:xfrm>
            <a:off x="2555776" y="3284984"/>
            <a:ext cx="3096344" cy="252028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100" b="1" dirty="0" smtClean="0">
                <a:solidFill>
                  <a:srgbClr val="FF6600"/>
                </a:solidFill>
                <a:latin typeface="Helvetica" pitchFamily="34" charset="0"/>
              </a:rPr>
              <a:t>Action plan development</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5112568"/>
          </a:xfrm>
        </p:spPr>
        <p:txBody>
          <a:bodyPr>
            <a:noAutofit/>
          </a:bodyPr>
          <a:lstStyle/>
          <a:p>
            <a:pPr marL="0" indent="0">
              <a:spcBef>
                <a:spcPts val="600"/>
              </a:spcBef>
              <a:spcAft>
                <a:spcPts val="1200"/>
              </a:spcAft>
              <a:buNone/>
            </a:pPr>
            <a:r>
              <a:rPr lang="en-US" sz="2000" dirty="0" smtClean="0"/>
              <a:t>When developing an action plan it is important to:</a:t>
            </a:r>
          </a:p>
          <a:p>
            <a:pPr marL="360000" indent="-360000">
              <a:spcBef>
                <a:spcPts val="600"/>
              </a:spcBef>
              <a:spcAft>
                <a:spcPts val="1200"/>
              </a:spcAft>
            </a:pPr>
            <a:r>
              <a:rPr lang="en-AU" sz="2000" dirty="0" smtClean="0"/>
              <a:t>Express your solution as a series of goals</a:t>
            </a:r>
          </a:p>
          <a:p>
            <a:pPr marL="360000" indent="-360000">
              <a:spcBef>
                <a:spcPts val="600"/>
              </a:spcBef>
              <a:spcAft>
                <a:spcPts val="1200"/>
              </a:spcAft>
            </a:pPr>
            <a:r>
              <a:rPr lang="en-AU" sz="2000" dirty="0" smtClean="0"/>
              <a:t>Generate a list of Actions for each goal</a:t>
            </a:r>
            <a:endParaRPr lang="en-US" sz="2000" dirty="0" smtClean="0"/>
          </a:p>
          <a:p>
            <a:pPr marL="360000" indent="-360000">
              <a:spcBef>
                <a:spcPts val="600"/>
              </a:spcBef>
              <a:spcAft>
                <a:spcPts val="1200"/>
              </a:spcAft>
            </a:pPr>
            <a:r>
              <a:rPr lang="en-AU" sz="2000" dirty="0" smtClean="0"/>
              <a:t>Prepare a timeline</a:t>
            </a:r>
          </a:p>
          <a:p>
            <a:pPr marL="360000" indent="-360000">
              <a:spcBef>
                <a:spcPts val="600"/>
              </a:spcBef>
              <a:spcAft>
                <a:spcPts val="1200"/>
              </a:spcAft>
            </a:pPr>
            <a:r>
              <a:rPr lang="en-AU" sz="2000" dirty="0" smtClean="0"/>
              <a:t>Allocate resources</a:t>
            </a:r>
          </a:p>
          <a:p>
            <a:pPr marL="360000" indent="-360000">
              <a:spcBef>
                <a:spcPts val="600"/>
              </a:spcBef>
              <a:spcAft>
                <a:spcPts val="1200"/>
              </a:spcAft>
            </a:pPr>
            <a:r>
              <a:rPr lang="en-AU" sz="2000" dirty="0" smtClean="0"/>
              <a:t>Develop strategies for </a:t>
            </a:r>
            <a:br>
              <a:rPr lang="en-AU" sz="2000" dirty="0" smtClean="0"/>
            </a:br>
            <a:r>
              <a:rPr lang="en-AU" sz="2000" dirty="0" smtClean="0"/>
              <a:t>monitoring progress</a:t>
            </a:r>
          </a:p>
          <a:p>
            <a:pPr marL="360000" indent="-360000">
              <a:spcBef>
                <a:spcPts val="600"/>
              </a:spcBef>
              <a:spcAft>
                <a:spcPts val="1200"/>
              </a:spcAft>
            </a:pPr>
            <a:r>
              <a:rPr lang="en-AU" sz="2000" dirty="0" smtClean="0"/>
              <a:t>Assign tasks</a:t>
            </a:r>
          </a:p>
          <a:p>
            <a:pPr marL="360000" indent="-360000">
              <a:spcBef>
                <a:spcPts val="600"/>
              </a:spcBef>
              <a:spcAft>
                <a:spcPts val="1200"/>
              </a:spcAft>
            </a:pPr>
            <a:r>
              <a:rPr lang="en-AU" sz="2000" dirty="0" smtClean="0"/>
              <a:t>Estimate costs/materials</a:t>
            </a:r>
          </a:p>
          <a:p>
            <a:pPr marL="360000" indent="-360000">
              <a:spcBef>
                <a:spcPts val="600"/>
              </a:spcBef>
              <a:spcAft>
                <a:spcPts val="1200"/>
              </a:spcAft>
            </a:pPr>
            <a:r>
              <a:rPr lang="en-AU" sz="2000" dirty="0" smtClean="0"/>
              <a:t>Implement the plan</a:t>
            </a:r>
          </a:p>
          <a:p>
            <a:pPr marL="360000" indent="-360000">
              <a:spcBef>
                <a:spcPts val="600"/>
              </a:spcBef>
              <a:spcAft>
                <a:spcPts val="1200"/>
              </a:spcAft>
            </a:pPr>
            <a:endParaRPr lang="en-US" sz="2000" dirty="0" smtClean="0"/>
          </a:p>
          <a:p>
            <a:pPr marL="360000" indent="-360000">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27984" y="3501008"/>
            <a:ext cx="2759968" cy="184089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100" b="1" dirty="0" smtClean="0">
                <a:solidFill>
                  <a:srgbClr val="FF6600"/>
                </a:solidFill>
                <a:latin typeface="Helvetica" pitchFamily="34" charset="0"/>
              </a:rPr>
              <a:t>Action plan</a:t>
            </a:r>
            <a:endParaRPr lang="en-US" sz="31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pic>
        <p:nvPicPr>
          <p:cNvPr id="7" name="Picture 6" descr="http://www.exceltemp.com/wp-content/uploads/2014/03/Action-Plan-Templates.jpg"/>
          <p:cNvPicPr/>
          <p:nvPr/>
        </p:nvPicPr>
        <p:blipFill>
          <a:blip r:embed="rId3" cstate="print"/>
          <a:srcRect/>
          <a:stretch>
            <a:fillRect/>
          </a:stretch>
        </p:blipFill>
        <p:spPr bwMode="auto">
          <a:xfrm>
            <a:off x="750393" y="1484784"/>
            <a:ext cx="5472608" cy="4734881"/>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3: Supervise and motivate a team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Performance criteria:</a:t>
            </a:r>
          </a:p>
          <a:p>
            <a:pPr marL="0" indent="0">
              <a:spcBef>
                <a:spcPts val="600"/>
              </a:spcBef>
              <a:spcAft>
                <a:spcPts val="1200"/>
              </a:spcAft>
              <a:buNone/>
            </a:pPr>
            <a:r>
              <a:rPr lang="en-AU" sz="2400" dirty="0" smtClean="0"/>
              <a:t>	</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grpSp>
        <p:nvGrpSpPr>
          <p:cNvPr id="6" name="Group 5"/>
          <p:cNvGrpSpPr/>
          <p:nvPr/>
        </p:nvGrpSpPr>
        <p:grpSpPr>
          <a:xfrm>
            <a:off x="-3982775" y="1428449"/>
            <a:ext cx="10635148" cy="5472816"/>
            <a:chOff x="-3982775" y="1428449"/>
            <a:chExt cx="10635148" cy="5472816"/>
          </a:xfrm>
        </p:grpSpPr>
        <p:sp>
          <p:nvSpPr>
            <p:cNvPr id="7" name="Block Arc 6"/>
            <p:cNvSpPr/>
            <p:nvPr/>
          </p:nvSpPr>
          <p:spPr>
            <a:xfrm>
              <a:off x="-3982775" y="1428449"/>
              <a:ext cx="5472816" cy="5472816"/>
            </a:xfrm>
            <a:prstGeom prst="blockArc">
              <a:avLst>
                <a:gd name="adj1" fmla="val 18900000"/>
                <a:gd name="adj2" fmla="val 2700000"/>
                <a:gd name="adj3" fmla="val 395"/>
              </a:avLst>
            </a:prstGeom>
          </p:spPr>
          <p:style>
            <a:lnRef idx="2">
              <a:schemeClr val="accent5">
                <a:hueOff val="0"/>
                <a:satOff val="0"/>
                <a:lumOff val="0"/>
                <a:alphaOff val="0"/>
              </a:schemeClr>
            </a:lnRef>
            <a:fillRef idx="0">
              <a:schemeClr val="accent4">
                <a:tint val="90000"/>
                <a:hueOff val="0"/>
                <a:satOff val="0"/>
                <a:lumOff val="0"/>
                <a:alphaOff val="0"/>
              </a:schemeClr>
            </a:fillRef>
            <a:effectRef idx="0">
              <a:schemeClr val="accent4">
                <a:tint val="90000"/>
                <a:hueOff val="0"/>
                <a:satOff val="0"/>
                <a:lumOff val="0"/>
                <a:alphaOff val="0"/>
              </a:schemeClr>
            </a:effectRef>
            <a:fontRef idx="minor">
              <a:schemeClr val="tx1">
                <a:hueOff val="0"/>
                <a:satOff val="0"/>
                <a:lumOff val="0"/>
                <a:alphaOff val="0"/>
              </a:schemeClr>
            </a:fontRef>
          </p:style>
        </p:sp>
        <p:sp>
          <p:nvSpPr>
            <p:cNvPr id="8" name="Freeform 7"/>
            <p:cNvSpPr/>
            <p:nvPr/>
          </p:nvSpPr>
          <p:spPr>
            <a:xfrm>
              <a:off x="1071688" y="2445296"/>
              <a:ext cx="5580684" cy="625205"/>
            </a:xfrm>
            <a:custGeom>
              <a:avLst/>
              <a:gdLst>
                <a:gd name="connsiteX0" fmla="*/ 0 w 5580684"/>
                <a:gd name="connsiteY0" fmla="*/ 0 h 625205"/>
                <a:gd name="connsiteX1" fmla="*/ 5580684 w 5580684"/>
                <a:gd name="connsiteY1" fmla="*/ 0 h 625205"/>
                <a:gd name="connsiteX2" fmla="*/ 5580684 w 5580684"/>
                <a:gd name="connsiteY2" fmla="*/ 625205 h 625205"/>
                <a:gd name="connsiteX3" fmla="*/ 0 w 5580684"/>
                <a:gd name="connsiteY3" fmla="*/ 625205 h 625205"/>
                <a:gd name="connsiteX4" fmla="*/ 0 w 5580684"/>
                <a:gd name="connsiteY4" fmla="*/ 0 h 625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0684" h="625205">
                  <a:moveTo>
                    <a:pt x="0" y="0"/>
                  </a:moveTo>
                  <a:lnTo>
                    <a:pt x="5580684" y="0"/>
                  </a:lnTo>
                  <a:lnTo>
                    <a:pt x="5580684" y="625205"/>
                  </a:lnTo>
                  <a:lnTo>
                    <a:pt x="0" y="625205"/>
                  </a:lnTo>
                  <a:lnTo>
                    <a:pt x="0" y="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496257" tIns="45720" rIns="45720" bIns="45720" numCol="1" spcCol="1270" anchor="ctr" anchorCtr="0">
              <a:noAutofit/>
            </a:bodyPr>
            <a:lstStyle/>
            <a:p>
              <a:pPr lvl="0" algn="l" defTabSz="800100">
                <a:lnSpc>
                  <a:spcPct val="90000"/>
                </a:lnSpc>
                <a:spcBef>
                  <a:spcPct val="0"/>
                </a:spcBef>
                <a:spcAft>
                  <a:spcPct val="35000"/>
                </a:spcAft>
              </a:pPr>
              <a:r>
                <a:rPr lang="en-AU" sz="1800" kern="1200" dirty="0" smtClean="0">
                  <a:latin typeface="Helvetica" pitchFamily="34" charset="0"/>
                </a:rPr>
                <a:t>Give clear instructions of work to be completed and realistic deadlines</a:t>
              </a:r>
              <a:endParaRPr lang="en-AU" sz="1800" kern="1200" dirty="0">
                <a:latin typeface="Helvetica" pitchFamily="34" charset="0"/>
              </a:endParaRPr>
            </a:p>
          </p:txBody>
        </p:sp>
        <p:sp>
          <p:nvSpPr>
            <p:cNvPr id="9" name="Oval 8"/>
            <p:cNvSpPr/>
            <p:nvPr/>
          </p:nvSpPr>
          <p:spPr>
            <a:xfrm>
              <a:off x="680935" y="2367145"/>
              <a:ext cx="781507" cy="781507"/>
            </a:xfrm>
            <a:prstGeom prst="ellipse">
              <a:avLst/>
            </a:prstGeom>
          </p:spPr>
          <p:style>
            <a:lnRef idx="2">
              <a:schemeClr val="accent4">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0" name="Freeform 9"/>
            <p:cNvSpPr/>
            <p:nvPr/>
          </p:nvSpPr>
          <p:spPr>
            <a:xfrm>
              <a:off x="1430133" y="3383267"/>
              <a:ext cx="5222240" cy="625205"/>
            </a:xfrm>
            <a:custGeom>
              <a:avLst/>
              <a:gdLst>
                <a:gd name="connsiteX0" fmla="*/ 0 w 5222240"/>
                <a:gd name="connsiteY0" fmla="*/ 0 h 625205"/>
                <a:gd name="connsiteX1" fmla="*/ 5222240 w 5222240"/>
                <a:gd name="connsiteY1" fmla="*/ 0 h 625205"/>
                <a:gd name="connsiteX2" fmla="*/ 5222240 w 5222240"/>
                <a:gd name="connsiteY2" fmla="*/ 625205 h 625205"/>
                <a:gd name="connsiteX3" fmla="*/ 0 w 5222240"/>
                <a:gd name="connsiteY3" fmla="*/ 625205 h 625205"/>
                <a:gd name="connsiteX4" fmla="*/ 0 w 5222240"/>
                <a:gd name="connsiteY4" fmla="*/ 0 h 625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2240" h="625205">
                  <a:moveTo>
                    <a:pt x="0" y="0"/>
                  </a:moveTo>
                  <a:lnTo>
                    <a:pt x="5222240" y="0"/>
                  </a:lnTo>
                  <a:lnTo>
                    <a:pt x="5222240" y="625205"/>
                  </a:lnTo>
                  <a:lnTo>
                    <a:pt x="0" y="625205"/>
                  </a:lnTo>
                  <a:lnTo>
                    <a:pt x="0" y="0"/>
                  </a:lnTo>
                  <a:close/>
                </a:path>
              </a:pathLst>
            </a:custGeom>
          </p:spPr>
          <p:style>
            <a:lnRef idx="2">
              <a:schemeClr val="lt1">
                <a:hueOff val="0"/>
                <a:satOff val="0"/>
                <a:lumOff val="0"/>
                <a:alphaOff val="0"/>
              </a:schemeClr>
            </a:lnRef>
            <a:fillRef idx="1">
              <a:schemeClr val="accent4">
                <a:hueOff val="618941"/>
                <a:satOff val="-18803"/>
                <a:lumOff val="6209"/>
                <a:alphaOff val="0"/>
              </a:schemeClr>
            </a:fillRef>
            <a:effectRef idx="0">
              <a:schemeClr val="accent4">
                <a:hueOff val="618941"/>
                <a:satOff val="-18803"/>
                <a:lumOff val="6209"/>
                <a:alphaOff val="0"/>
              </a:schemeClr>
            </a:effectRef>
            <a:fontRef idx="minor">
              <a:schemeClr val="lt1"/>
            </a:fontRef>
          </p:style>
          <p:txBody>
            <a:bodyPr spcFirstLastPara="0" vert="horz" wrap="square" lIns="496257" tIns="45720" rIns="45720" bIns="45720" numCol="1" spcCol="1270" anchor="ctr" anchorCtr="0">
              <a:noAutofit/>
            </a:bodyPr>
            <a:lstStyle/>
            <a:p>
              <a:pPr lvl="0" algn="l" defTabSz="800100">
                <a:lnSpc>
                  <a:spcPct val="90000"/>
                </a:lnSpc>
                <a:spcBef>
                  <a:spcPct val="0"/>
                </a:spcBef>
                <a:spcAft>
                  <a:spcPct val="35000"/>
                </a:spcAft>
              </a:pPr>
              <a:r>
                <a:rPr lang="en-AU" sz="1800" kern="1200" dirty="0" smtClean="0">
                  <a:latin typeface="Helvetica" pitchFamily="34" charset="0"/>
                </a:rPr>
                <a:t>Check instructions have been understood by</a:t>
              </a:r>
              <a:endParaRPr lang="en-AU" sz="1800" kern="1200" dirty="0">
                <a:latin typeface="Helvetica" pitchFamily="34" charset="0"/>
              </a:endParaRPr>
            </a:p>
          </p:txBody>
        </p:sp>
        <p:sp>
          <p:nvSpPr>
            <p:cNvPr id="11" name="Oval 10"/>
            <p:cNvSpPr/>
            <p:nvPr/>
          </p:nvSpPr>
          <p:spPr>
            <a:xfrm>
              <a:off x="1039379" y="3305116"/>
              <a:ext cx="781507" cy="781507"/>
            </a:xfrm>
            <a:prstGeom prst="ellipse">
              <a:avLst/>
            </a:prstGeom>
          </p:spPr>
          <p:style>
            <a:lnRef idx="2">
              <a:schemeClr val="accent4">
                <a:hueOff val="618941"/>
                <a:satOff val="-18803"/>
                <a:lumOff val="6209"/>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2" name="Freeform 11"/>
            <p:cNvSpPr/>
            <p:nvPr/>
          </p:nvSpPr>
          <p:spPr>
            <a:xfrm>
              <a:off x="1430133" y="4321238"/>
              <a:ext cx="5222240" cy="625205"/>
            </a:xfrm>
            <a:custGeom>
              <a:avLst/>
              <a:gdLst>
                <a:gd name="connsiteX0" fmla="*/ 0 w 5222240"/>
                <a:gd name="connsiteY0" fmla="*/ 0 h 625205"/>
                <a:gd name="connsiteX1" fmla="*/ 5222240 w 5222240"/>
                <a:gd name="connsiteY1" fmla="*/ 0 h 625205"/>
                <a:gd name="connsiteX2" fmla="*/ 5222240 w 5222240"/>
                <a:gd name="connsiteY2" fmla="*/ 625205 h 625205"/>
                <a:gd name="connsiteX3" fmla="*/ 0 w 5222240"/>
                <a:gd name="connsiteY3" fmla="*/ 625205 h 625205"/>
                <a:gd name="connsiteX4" fmla="*/ 0 w 5222240"/>
                <a:gd name="connsiteY4" fmla="*/ 0 h 625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2240" h="625205">
                  <a:moveTo>
                    <a:pt x="0" y="0"/>
                  </a:moveTo>
                  <a:lnTo>
                    <a:pt x="5222240" y="0"/>
                  </a:lnTo>
                  <a:lnTo>
                    <a:pt x="5222240" y="625205"/>
                  </a:lnTo>
                  <a:lnTo>
                    <a:pt x="0" y="625205"/>
                  </a:lnTo>
                  <a:lnTo>
                    <a:pt x="0" y="0"/>
                  </a:lnTo>
                  <a:close/>
                </a:path>
              </a:pathLst>
            </a:custGeom>
          </p:spPr>
          <p:style>
            <a:lnRef idx="2">
              <a:schemeClr val="lt1">
                <a:hueOff val="0"/>
                <a:satOff val="0"/>
                <a:lumOff val="0"/>
                <a:alphaOff val="0"/>
              </a:schemeClr>
            </a:lnRef>
            <a:fillRef idx="1">
              <a:schemeClr val="accent4">
                <a:hueOff val="1237882"/>
                <a:satOff val="-37607"/>
                <a:lumOff val="12419"/>
                <a:alphaOff val="0"/>
              </a:schemeClr>
            </a:fillRef>
            <a:effectRef idx="0">
              <a:schemeClr val="accent4">
                <a:hueOff val="1237882"/>
                <a:satOff val="-37607"/>
                <a:lumOff val="12419"/>
                <a:alphaOff val="0"/>
              </a:schemeClr>
            </a:effectRef>
            <a:fontRef idx="minor">
              <a:schemeClr val="lt1"/>
            </a:fontRef>
          </p:style>
          <p:txBody>
            <a:bodyPr spcFirstLastPara="0" vert="horz" wrap="square" lIns="496257" tIns="45720" rIns="45720" bIns="45720" numCol="1" spcCol="1270" anchor="ctr" anchorCtr="0">
              <a:noAutofit/>
            </a:bodyPr>
            <a:lstStyle/>
            <a:p>
              <a:pPr lvl="0" algn="l" defTabSz="800100">
                <a:lnSpc>
                  <a:spcPct val="90000"/>
                </a:lnSpc>
                <a:spcBef>
                  <a:spcPct val="0"/>
                </a:spcBef>
                <a:spcAft>
                  <a:spcPct val="35000"/>
                </a:spcAft>
              </a:pPr>
              <a:r>
                <a:rPr lang="en-AU" sz="1800" kern="1200" dirty="0" smtClean="0">
                  <a:latin typeface="Helvetica" pitchFamily="34" charset="0"/>
                </a:rPr>
                <a:t>Give constructive feedback on performance</a:t>
              </a:r>
              <a:endParaRPr lang="en-AU" sz="1800" kern="1200" dirty="0">
                <a:latin typeface="Helvetica" pitchFamily="34" charset="0"/>
              </a:endParaRPr>
            </a:p>
          </p:txBody>
        </p:sp>
        <p:sp>
          <p:nvSpPr>
            <p:cNvPr id="13" name="Oval 12"/>
            <p:cNvSpPr/>
            <p:nvPr/>
          </p:nvSpPr>
          <p:spPr>
            <a:xfrm>
              <a:off x="1039379" y="4243088"/>
              <a:ext cx="781507" cy="781507"/>
            </a:xfrm>
            <a:prstGeom prst="ellipse">
              <a:avLst/>
            </a:prstGeom>
          </p:spPr>
          <p:style>
            <a:lnRef idx="2">
              <a:schemeClr val="accent4">
                <a:hueOff val="1237882"/>
                <a:satOff val="-37607"/>
                <a:lumOff val="12419"/>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4" name="Freeform 13"/>
            <p:cNvSpPr/>
            <p:nvPr/>
          </p:nvSpPr>
          <p:spPr>
            <a:xfrm>
              <a:off x="1071688" y="5259209"/>
              <a:ext cx="5580684" cy="625205"/>
            </a:xfrm>
            <a:custGeom>
              <a:avLst/>
              <a:gdLst>
                <a:gd name="connsiteX0" fmla="*/ 0 w 5580684"/>
                <a:gd name="connsiteY0" fmla="*/ 0 h 625205"/>
                <a:gd name="connsiteX1" fmla="*/ 5580684 w 5580684"/>
                <a:gd name="connsiteY1" fmla="*/ 0 h 625205"/>
                <a:gd name="connsiteX2" fmla="*/ 5580684 w 5580684"/>
                <a:gd name="connsiteY2" fmla="*/ 625205 h 625205"/>
                <a:gd name="connsiteX3" fmla="*/ 0 w 5580684"/>
                <a:gd name="connsiteY3" fmla="*/ 625205 h 625205"/>
                <a:gd name="connsiteX4" fmla="*/ 0 w 5580684"/>
                <a:gd name="connsiteY4" fmla="*/ 0 h 625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0684" h="625205">
                  <a:moveTo>
                    <a:pt x="0" y="0"/>
                  </a:moveTo>
                  <a:lnTo>
                    <a:pt x="5580684" y="0"/>
                  </a:lnTo>
                  <a:lnTo>
                    <a:pt x="5580684" y="625205"/>
                  </a:lnTo>
                  <a:lnTo>
                    <a:pt x="0" y="625205"/>
                  </a:lnTo>
                  <a:lnTo>
                    <a:pt x="0" y="0"/>
                  </a:lnTo>
                  <a:close/>
                </a:path>
              </a:pathLst>
            </a:custGeom>
          </p:spPr>
          <p:style>
            <a:lnRef idx="2">
              <a:schemeClr val="lt1">
                <a:hueOff val="0"/>
                <a:satOff val="0"/>
                <a:lumOff val="0"/>
                <a:alphaOff val="0"/>
              </a:schemeClr>
            </a:lnRef>
            <a:fillRef idx="1">
              <a:schemeClr val="accent4">
                <a:hueOff val="1856823"/>
                <a:satOff val="-56410"/>
                <a:lumOff val="18628"/>
                <a:alphaOff val="0"/>
              </a:schemeClr>
            </a:fillRef>
            <a:effectRef idx="0">
              <a:schemeClr val="accent4">
                <a:hueOff val="1856823"/>
                <a:satOff val="-56410"/>
                <a:lumOff val="18628"/>
                <a:alphaOff val="0"/>
              </a:schemeClr>
            </a:effectRef>
            <a:fontRef idx="minor">
              <a:schemeClr val="lt1"/>
            </a:fontRef>
          </p:style>
          <p:txBody>
            <a:bodyPr spcFirstLastPara="0" vert="horz" wrap="square" lIns="496257" tIns="45720" rIns="45720" bIns="45720" numCol="1" spcCol="1270" anchor="ctr" anchorCtr="0">
              <a:noAutofit/>
            </a:bodyPr>
            <a:lstStyle/>
            <a:p>
              <a:pPr lvl="0" algn="l" defTabSz="800100">
                <a:lnSpc>
                  <a:spcPct val="90000"/>
                </a:lnSpc>
                <a:spcBef>
                  <a:spcPct val="0"/>
                </a:spcBef>
                <a:spcAft>
                  <a:spcPct val="35000"/>
                </a:spcAft>
              </a:pPr>
              <a:r>
                <a:rPr lang="en-AU" sz="1800" kern="1200" dirty="0" smtClean="0">
                  <a:latin typeface="Helvetica" pitchFamily="34" charset="0"/>
                </a:rPr>
                <a:t>Seek suggestions for improvements from staff</a:t>
              </a:r>
              <a:endParaRPr lang="en-AU" sz="1800" kern="1200" dirty="0">
                <a:latin typeface="Helvetica" pitchFamily="34" charset="0"/>
              </a:endParaRPr>
            </a:p>
          </p:txBody>
        </p:sp>
        <p:sp>
          <p:nvSpPr>
            <p:cNvPr id="15" name="Oval 14"/>
            <p:cNvSpPr/>
            <p:nvPr/>
          </p:nvSpPr>
          <p:spPr>
            <a:xfrm>
              <a:off x="680935" y="5181059"/>
              <a:ext cx="781507" cy="781507"/>
            </a:xfrm>
            <a:prstGeom prst="ellipse">
              <a:avLst/>
            </a:prstGeom>
          </p:spPr>
          <p:style>
            <a:lnRef idx="2">
              <a:schemeClr val="accent4">
                <a:hueOff val="1856823"/>
                <a:satOff val="-56410"/>
                <a:lumOff val="18628"/>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grpSp>
      <p:sp>
        <p:nvSpPr>
          <p:cNvPr id="16" name="TextBox 15"/>
          <p:cNvSpPr txBox="1"/>
          <p:nvPr/>
        </p:nvSpPr>
        <p:spPr>
          <a:xfrm>
            <a:off x="755576" y="2564904"/>
            <a:ext cx="602548" cy="369332"/>
          </a:xfrm>
          <a:prstGeom prst="rect">
            <a:avLst/>
          </a:prstGeom>
          <a:noFill/>
        </p:spPr>
        <p:txBody>
          <a:bodyPr wrap="square" rtlCol="0">
            <a:spAutoFit/>
          </a:bodyPr>
          <a:lstStyle/>
          <a:p>
            <a:pPr algn="ctr"/>
            <a:r>
              <a:rPr lang="en-AU" b="1" dirty="0" smtClean="0">
                <a:latin typeface="Helvetica" pitchFamily="34" charset="0"/>
              </a:rPr>
              <a:t>3.1</a:t>
            </a:r>
            <a:endParaRPr lang="en-AU" b="1" dirty="0">
              <a:latin typeface="Helvetica" pitchFamily="34" charset="0"/>
            </a:endParaRPr>
          </a:p>
        </p:txBody>
      </p:sp>
      <p:sp>
        <p:nvSpPr>
          <p:cNvPr id="17" name="TextBox 16"/>
          <p:cNvSpPr txBox="1"/>
          <p:nvPr/>
        </p:nvSpPr>
        <p:spPr>
          <a:xfrm>
            <a:off x="1128858" y="3511203"/>
            <a:ext cx="602548" cy="369332"/>
          </a:xfrm>
          <a:prstGeom prst="rect">
            <a:avLst/>
          </a:prstGeom>
          <a:noFill/>
        </p:spPr>
        <p:txBody>
          <a:bodyPr wrap="square" rtlCol="0">
            <a:spAutoFit/>
          </a:bodyPr>
          <a:lstStyle/>
          <a:p>
            <a:pPr algn="ctr"/>
            <a:r>
              <a:rPr lang="en-AU" b="1" dirty="0" smtClean="0">
                <a:latin typeface="Helvetica" pitchFamily="34" charset="0"/>
              </a:rPr>
              <a:t>3.2</a:t>
            </a:r>
            <a:endParaRPr lang="en-AU" b="1" dirty="0">
              <a:latin typeface="Helvetica" pitchFamily="34" charset="0"/>
            </a:endParaRPr>
          </a:p>
        </p:txBody>
      </p:sp>
      <p:sp>
        <p:nvSpPr>
          <p:cNvPr id="18" name="TextBox 17"/>
          <p:cNvSpPr txBox="1"/>
          <p:nvPr/>
        </p:nvSpPr>
        <p:spPr>
          <a:xfrm>
            <a:off x="1128858" y="4449175"/>
            <a:ext cx="602548" cy="369332"/>
          </a:xfrm>
          <a:prstGeom prst="rect">
            <a:avLst/>
          </a:prstGeom>
          <a:noFill/>
        </p:spPr>
        <p:txBody>
          <a:bodyPr wrap="square" rtlCol="0">
            <a:spAutoFit/>
          </a:bodyPr>
          <a:lstStyle/>
          <a:p>
            <a:pPr algn="ctr"/>
            <a:r>
              <a:rPr lang="en-AU" b="1" dirty="0" smtClean="0">
                <a:latin typeface="Helvetica" pitchFamily="34" charset="0"/>
              </a:rPr>
              <a:t>3.3</a:t>
            </a:r>
            <a:endParaRPr lang="en-AU" b="1" dirty="0">
              <a:latin typeface="Helvetica" pitchFamily="34" charset="0"/>
            </a:endParaRPr>
          </a:p>
        </p:txBody>
      </p:sp>
      <p:sp>
        <p:nvSpPr>
          <p:cNvPr id="19" name="TextBox 18"/>
          <p:cNvSpPr txBox="1"/>
          <p:nvPr/>
        </p:nvSpPr>
        <p:spPr>
          <a:xfrm>
            <a:off x="755576" y="5387146"/>
            <a:ext cx="602548" cy="369332"/>
          </a:xfrm>
          <a:prstGeom prst="rect">
            <a:avLst/>
          </a:prstGeom>
          <a:noFill/>
        </p:spPr>
        <p:txBody>
          <a:bodyPr wrap="square" rtlCol="0">
            <a:spAutoFit/>
          </a:bodyPr>
          <a:lstStyle/>
          <a:p>
            <a:pPr algn="ctr"/>
            <a:r>
              <a:rPr lang="en-AU" b="1" dirty="0" smtClean="0">
                <a:latin typeface="Helvetica" pitchFamily="34" charset="0"/>
              </a:rPr>
              <a:t>3.4</a:t>
            </a:r>
            <a:endParaRPr lang="en-AU" b="1" dirty="0">
              <a:latin typeface="Helvetica" pitchFamily="34"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fontScale="90000"/>
          </a:bodyPr>
          <a:lstStyle/>
          <a:p>
            <a:pPr marL="901700" indent="-901700"/>
            <a:r>
              <a:rPr lang="en-US" sz="3400" b="1" dirty="0" smtClean="0">
                <a:solidFill>
                  <a:srgbClr val="FF6600"/>
                </a:solidFill>
                <a:latin typeface="Helvetica" pitchFamily="34" charset="0"/>
              </a:rPr>
              <a:t>3.1	Give clear instructions of work to be completed and realistic deadlines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39341"/>
            <a:ext cx="7467600" cy="4886003"/>
          </a:xfrm>
        </p:spPr>
        <p:txBody>
          <a:bodyPr>
            <a:normAutofit/>
          </a:bodyPr>
          <a:lstStyle/>
          <a:p>
            <a:pPr marL="0" indent="0">
              <a:spcBef>
                <a:spcPts val="600"/>
              </a:spcBef>
              <a:spcAft>
                <a:spcPts val="1200"/>
              </a:spcAft>
              <a:buNone/>
            </a:pPr>
            <a:r>
              <a:rPr lang="en-US" sz="2200" dirty="0" smtClean="0">
                <a:latin typeface="Helvetica" pitchFamily="34" charset="0"/>
              </a:rPr>
              <a:t>Giving clear instructions:</a:t>
            </a:r>
          </a:p>
          <a:p>
            <a:pPr marL="360000" indent="-360000">
              <a:spcBef>
                <a:spcPts val="600"/>
              </a:spcBef>
              <a:spcAft>
                <a:spcPts val="1200"/>
              </a:spcAft>
            </a:pPr>
            <a:r>
              <a:rPr lang="en-US" sz="2200" dirty="0" smtClean="0">
                <a:latin typeface="Helvetica" pitchFamily="34" charset="0"/>
              </a:rPr>
              <a:t>Don’t assume they know what you mean</a:t>
            </a:r>
          </a:p>
          <a:p>
            <a:pPr marL="360000" indent="-360000">
              <a:spcBef>
                <a:spcPts val="600"/>
              </a:spcBef>
              <a:spcAft>
                <a:spcPts val="1200"/>
              </a:spcAft>
            </a:pPr>
            <a:r>
              <a:rPr lang="en-US" sz="2200" dirty="0" smtClean="0">
                <a:latin typeface="Helvetica" pitchFamily="34" charset="0"/>
              </a:rPr>
              <a:t>Be clear and specific</a:t>
            </a:r>
          </a:p>
          <a:p>
            <a:pPr marL="360000" indent="-360000">
              <a:spcBef>
                <a:spcPts val="600"/>
              </a:spcBef>
              <a:spcAft>
                <a:spcPts val="1200"/>
              </a:spcAft>
            </a:pPr>
            <a:r>
              <a:rPr lang="en-US" sz="2200" dirty="0" smtClean="0">
                <a:latin typeface="Helvetica" pitchFamily="34" charset="0"/>
              </a:rPr>
              <a:t>Give timeframes</a:t>
            </a:r>
          </a:p>
          <a:p>
            <a:pPr marL="360000" indent="-360000">
              <a:spcBef>
                <a:spcPts val="600"/>
              </a:spcBef>
              <a:spcAft>
                <a:spcPts val="1200"/>
              </a:spcAft>
            </a:pPr>
            <a:r>
              <a:rPr lang="en-US" sz="2200" dirty="0" smtClean="0">
                <a:latin typeface="Helvetica" pitchFamily="34" charset="0"/>
              </a:rPr>
              <a:t>Give examples</a:t>
            </a:r>
          </a:p>
          <a:p>
            <a:pPr marL="360000" indent="-360000">
              <a:spcBef>
                <a:spcPts val="600"/>
              </a:spcBef>
              <a:spcAft>
                <a:spcPts val="1200"/>
              </a:spcAft>
            </a:pPr>
            <a:r>
              <a:rPr lang="en-US" sz="2200" dirty="0" smtClean="0">
                <a:latin typeface="Helvetica" pitchFamily="34" charset="0"/>
              </a:rPr>
              <a:t>Give alternatives</a:t>
            </a:r>
          </a:p>
          <a:p>
            <a:pPr marL="360000" indent="-360000">
              <a:spcBef>
                <a:spcPts val="600"/>
              </a:spcBef>
              <a:spcAft>
                <a:spcPts val="1200"/>
              </a:spcAft>
            </a:pPr>
            <a:r>
              <a:rPr lang="en-US" sz="2200" dirty="0" smtClean="0">
                <a:latin typeface="Helvetica" pitchFamily="34" charset="0"/>
              </a:rPr>
              <a:t>Set boundaries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56732" y="2640620"/>
            <a:ext cx="2808312" cy="280831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901700" indent="-901700"/>
            <a:r>
              <a:rPr lang="en-US" sz="3100" b="1" dirty="0" smtClean="0">
                <a:solidFill>
                  <a:srgbClr val="FF6600"/>
                </a:solidFill>
                <a:latin typeface="Helvetica" pitchFamily="34" charset="0"/>
              </a:rPr>
              <a:t>3.2	Check instructions have been understood by all involved</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lnSpc>
                <a:spcPts val="3200"/>
              </a:lnSpc>
              <a:spcBef>
                <a:spcPts val="600"/>
              </a:spcBef>
              <a:spcAft>
                <a:spcPts val="1200"/>
              </a:spcAft>
              <a:buNone/>
            </a:pPr>
            <a:r>
              <a:rPr lang="en-AU" sz="2400" dirty="0" smtClean="0"/>
              <a:t>Before you let your staff loose on the basis of your instruction, it is useful to seek clarification from staff  to ensure that they understand what the task at hand is and what is expected. </a:t>
            </a:r>
            <a:br>
              <a:rPr lang="en-AU" sz="2400" dirty="0" smtClean="0"/>
            </a:br>
            <a:endParaRPr lang="en-US" sz="2200" dirty="0" smtClean="0">
              <a:latin typeface="Helvetica" pitchFamily="34" charset="0"/>
            </a:endParaRPr>
          </a:p>
          <a:p>
            <a:pPr marL="360000" indent="-360000">
              <a:lnSpc>
                <a:spcPts val="3200"/>
              </a:lnSpc>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6" name="Picture 5" descr="C:\Users\Quentin\AppData\Local\Microsoft\Windows\Temporary Internet Files\Content.IE5\19YMNHS8\creativecurriculum6117-pbworks-com[1].gif"/>
          <p:cNvPicPr/>
          <p:nvPr/>
        </p:nvPicPr>
        <p:blipFill>
          <a:blip r:embed="rId3" cstate="print"/>
          <a:srcRect/>
          <a:stretch>
            <a:fillRect/>
          </a:stretch>
        </p:blipFill>
        <p:spPr bwMode="auto">
          <a:xfrm>
            <a:off x="2627784" y="3356992"/>
            <a:ext cx="2304256" cy="273630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28184" y="2132856"/>
            <a:ext cx="1980474" cy="2651237"/>
          </a:xfrm>
          <a:prstGeom prst="rect">
            <a:avLst/>
          </a:prstGeom>
        </p:spPr>
      </p:pic>
      <p:sp>
        <p:nvSpPr>
          <p:cNvPr id="2" name="Title 1"/>
          <p:cNvSpPr>
            <a:spLocks noGrp="1"/>
          </p:cNvSpPr>
          <p:nvPr>
            <p:ph type="title"/>
          </p:nvPr>
        </p:nvSpPr>
        <p:spPr>
          <a:xfrm>
            <a:off x="611560" y="332656"/>
            <a:ext cx="7467600" cy="1143000"/>
          </a:xfrm>
        </p:spPr>
        <p:txBody>
          <a:bodyPr>
            <a:normAutofit/>
          </a:bodyPr>
          <a:lstStyle/>
          <a:p>
            <a:r>
              <a:rPr lang="en-US" sz="3100" b="1" dirty="0" smtClean="0">
                <a:solidFill>
                  <a:srgbClr val="FF6600"/>
                </a:solidFill>
                <a:latin typeface="Helvetica" pitchFamily="34" charset="0"/>
              </a:rPr>
              <a:t>Concept checking</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96544"/>
          </a:xfrm>
        </p:spPr>
        <p:txBody>
          <a:bodyPr>
            <a:normAutofit/>
          </a:bodyPr>
          <a:lstStyle/>
          <a:p>
            <a:pPr marL="0" indent="0">
              <a:spcBef>
                <a:spcPts val="600"/>
              </a:spcBef>
              <a:spcAft>
                <a:spcPts val="600"/>
              </a:spcAft>
              <a:buNone/>
            </a:pPr>
            <a:r>
              <a:rPr lang="en-AU" sz="2000" dirty="0" smtClean="0"/>
              <a:t>For example, some questions that could be asked to make sure staff have understood instructions are:</a:t>
            </a:r>
            <a:endParaRPr lang="en-US" sz="2000" dirty="0" smtClean="0"/>
          </a:p>
          <a:p>
            <a:pPr>
              <a:spcBef>
                <a:spcPts val="600"/>
              </a:spcBef>
              <a:spcAft>
                <a:spcPts val="600"/>
              </a:spcAft>
            </a:pPr>
            <a:r>
              <a:rPr lang="en-AU" sz="2000" dirty="0" smtClean="0"/>
              <a:t>How long have you got to complete these tasks?</a:t>
            </a:r>
            <a:endParaRPr lang="en-US" sz="2000" dirty="0" smtClean="0"/>
          </a:p>
          <a:p>
            <a:pPr>
              <a:spcBef>
                <a:spcPts val="600"/>
              </a:spcBef>
              <a:spcAft>
                <a:spcPts val="600"/>
              </a:spcAft>
            </a:pPr>
            <a:r>
              <a:rPr lang="en-AU" sz="2000" dirty="0" smtClean="0"/>
              <a:t>Who is responsible for task A, task B...?</a:t>
            </a:r>
            <a:endParaRPr lang="en-US" sz="2000" dirty="0" smtClean="0"/>
          </a:p>
          <a:p>
            <a:pPr>
              <a:spcBef>
                <a:spcPts val="600"/>
              </a:spcBef>
              <a:spcAft>
                <a:spcPts val="600"/>
              </a:spcAft>
            </a:pPr>
            <a:r>
              <a:rPr lang="en-AU" sz="2000" dirty="0" smtClean="0"/>
              <a:t>What do you need to complete the tasks?</a:t>
            </a:r>
            <a:endParaRPr lang="en-US" sz="2000" dirty="0" smtClean="0"/>
          </a:p>
          <a:p>
            <a:pPr>
              <a:spcBef>
                <a:spcPts val="600"/>
              </a:spcBef>
              <a:spcAft>
                <a:spcPts val="600"/>
              </a:spcAft>
            </a:pPr>
            <a:r>
              <a:rPr lang="en-AU" sz="2000" dirty="0" smtClean="0"/>
              <a:t>Who should you contact if you have a problem?</a:t>
            </a:r>
            <a:endParaRPr lang="en-US" sz="2000" dirty="0" smtClean="0"/>
          </a:p>
          <a:p>
            <a:pPr>
              <a:spcBef>
                <a:spcPts val="600"/>
              </a:spcBef>
              <a:spcAft>
                <a:spcPts val="600"/>
              </a:spcAft>
            </a:pPr>
            <a:r>
              <a:rPr lang="en-AU" sz="2000" dirty="0" smtClean="0"/>
              <a:t>Should you ......?</a:t>
            </a:r>
            <a:endParaRPr lang="en-US" sz="2000" dirty="0" smtClean="0"/>
          </a:p>
          <a:p>
            <a:pPr>
              <a:spcBef>
                <a:spcPts val="600"/>
              </a:spcBef>
              <a:spcAft>
                <a:spcPts val="600"/>
              </a:spcAft>
            </a:pPr>
            <a:r>
              <a:rPr lang="en-AU" sz="2000" dirty="0" smtClean="0"/>
              <a:t>Will you .....?</a:t>
            </a:r>
            <a:endParaRPr lang="en-US" sz="2000" dirty="0" smtClean="0"/>
          </a:p>
          <a:p>
            <a:pPr>
              <a:spcBef>
                <a:spcPts val="600"/>
              </a:spcBef>
              <a:spcAft>
                <a:spcPts val="600"/>
              </a:spcAft>
            </a:pPr>
            <a:r>
              <a:rPr lang="en-AU" sz="2000" dirty="0" smtClean="0"/>
              <a:t>Gary, when is the next project update meeting? (Use names)</a:t>
            </a:r>
            <a:endParaRPr lang="en-US" sz="2000" dirty="0" smtClean="0"/>
          </a:p>
          <a:p>
            <a:pPr marL="360000" indent="-360000">
              <a:spcBef>
                <a:spcPts val="600"/>
              </a:spcBef>
              <a:spcAft>
                <a:spcPts val="6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901700" indent="-901700"/>
            <a:r>
              <a:rPr lang="en-US" sz="3100" b="1" dirty="0" smtClean="0">
                <a:solidFill>
                  <a:srgbClr val="FF6600"/>
                </a:solidFill>
                <a:latin typeface="Helvetica" pitchFamily="34" charset="0"/>
              </a:rPr>
              <a:t>3.3	Give constructive feedback on performance</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0" indent="0">
              <a:spcBef>
                <a:spcPts val="600"/>
              </a:spcBef>
              <a:spcAft>
                <a:spcPts val="1200"/>
              </a:spcAft>
              <a:buNone/>
            </a:pPr>
            <a:r>
              <a:rPr lang="en-AU" sz="2200" dirty="0" smtClean="0"/>
              <a:t>Feedback is an essential element for everyone in an </a:t>
            </a:r>
            <a:br>
              <a:rPr lang="en-AU" sz="2200" dirty="0" smtClean="0"/>
            </a:br>
            <a:r>
              <a:rPr lang="en-AU" sz="2200" dirty="0" smtClean="0"/>
              <a:t>organisation's workforce</a:t>
            </a:r>
            <a:r>
              <a:rPr lang="en-US" sz="2200" dirty="0"/>
              <a:t>:</a:t>
            </a:r>
            <a:endParaRPr lang="en-US" sz="2200" dirty="0" smtClean="0"/>
          </a:p>
          <a:p>
            <a:pPr marL="360000" indent="-360000">
              <a:spcBef>
                <a:spcPts val="600"/>
              </a:spcBef>
              <a:spcAft>
                <a:spcPts val="1200"/>
              </a:spcAft>
            </a:pPr>
            <a:r>
              <a:rPr lang="en-AU" sz="2200" dirty="0" smtClean="0"/>
              <a:t>Feedback is a useful tool for indicating </a:t>
            </a:r>
            <a:br>
              <a:rPr lang="en-AU" sz="2200" dirty="0" smtClean="0"/>
            </a:br>
            <a:r>
              <a:rPr lang="en-AU" sz="2200" dirty="0" smtClean="0"/>
              <a:t>when things are going in the right direction or for </a:t>
            </a:r>
            <a:br>
              <a:rPr lang="en-AU" sz="2200" dirty="0" smtClean="0"/>
            </a:br>
            <a:r>
              <a:rPr lang="en-AU" sz="2200" dirty="0" smtClean="0"/>
              <a:t>redirecting problem performance</a:t>
            </a:r>
            <a:endParaRPr lang="en-US" sz="2200" dirty="0" smtClean="0"/>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6" name="Picture 5" descr="C:\Users\Quentin\AppData\Local\Microsoft\Windows\Temporary Internet Files\Content.IE5\X0AY02HY\feedback-heads[1].png"/>
          <p:cNvPicPr/>
          <p:nvPr/>
        </p:nvPicPr>
        <p:blipFill>
          <a:blip r:embed="rId3" cstate="print"/>
          <a:srcRect/>
          <a:stretch>
            <a:fillRect/>
          </a:stretch>
        </p:blipFill>
        <p:spPr bwMode="auto">
          <a:xfrm>
            <a:off x="2483768" y="4005064"/>
            <a:ext cx="2664296" cy="187220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100" b="1" dirty="0" smtClean="0">
                <a:solidFill>
                  <a:srgbClr val="FF6600"/>
                </a:solidFill>
                <a:latin typeface="Helvetica" pitchFamily="34" charset="0"/>
              </a:rPr>
              <a:t>How to give useful feedback</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600"/>
              </a:spcAft>
              <a:buNone/>
            </a:pPr>
            <a:r>
              <a:rPr lang="en-AU" sz="2200" dirty="0" smtClean="0"/>
              <a:t>Some situations which require giving constructive feedback include:</a:t>
            </a:r>
          </a:p>
          <a:p>
            <a:pPr>
              <a:spcBef>
                <a:spcPts val="600"/>
              </a:spcBef>
              <a:spcAft>
                <a:spcPts val="600"/>
              </a:spcAft>
            </a:pPr>
            <a:r>
              <a:rPr lang="en-AU" sz="2200" dirty="0" smtClean="0"/>
              <a:t>Ongoing performance discussions </a:t>
            </a:r>
            <a:endParaRPr lang="en-US" sz="2200" dirty="0" smtClean="0"/>
          </a:p>
          <a:p>
            <a:pPr>
              <a:spcBef>
                <a:spcPts val="600"/>
              </a:spcBef>
              <a:spcAft>
                <a:spcPts val="600"/>
              </a:spcAft>
            </a:pPr>
            <a:r>
              <a:rPr lang="en-AU" sz="2200" dirty="0" smtClean="0"/>
              <a:t>Providing specific performance </a:t>
            </a:r>
            <a:br>
              <a:rPr lang="en-AU" sz="2200" dirty="0" smtClean="0"/>
            </a:br>
            <a:r>
              <a:rPr lang="en-AU" sz="2200" dirty="0" smtClean="0"/>
              <a:t>pointers </a:t>
            </a:r>
            <a:endParaRPr lang="en-US" sz="2200" dirty="0" smtClean="0"/>
          </a:p>
          <a:p>
            <a:pPr>
              <a:spcBef>
                <a:spcPts val="600"/>
              </a:spcBef>
              <a:spcAft>
                <a:spcPts val="600"/>
              </a:spcAft>
            </a:pPr>
            <a:r>
              <a:rPr lang="en-AU" sz="2200" dirty="0" smtClean="0"/>
              <a:t>Following up on coaching discussions </a:t>
            </a:r>
            <a:endParaRPr lang="en-US" sz="2200" dirty="0" smtClean="0"/>
          </a:p>
          <a:p>
            <a:pPr>
              <a:spcBef>
                <a:spcPts val="600"/>
              </a:spcBef>
              <a:spcAft>
                <a:spcPts val="600"/>
              </a:spcAft>
            </a:pPr>
            <a:r>
              <a:rPr lang="en-AU" sz="2200" dirty="0" smtClean="0"/>
              <a:t>Giving corrective guidance </a:t>
            </a:r>
            <a:endParaRPr lang="en-US" sz="2200" dirty="0" smtClean="0"/>
          </a:p>
          <a:p>
            <a:pPr>
              <a:spcBef>
                <a:spcPts val="600"/>
              </a:spcBef>
              <a:spcAft>
                <a:spcPts val="600"/>
              </a:spcAft>
            </a:pPr>
            <a:r>
              <a:rPr lang="en-AU" sz="2200" dirty="0" smtClean="0"/>
              <a:t>Letting someone know the consequences of their behaviour</a:t>
            </a:r>
            <a:endParaRPr lang="en-US" sz="2200" dirty="0" smtClean="0"/>
          </a:p>
          <a:p>
            <a:pPr marL="0" indent="0">
              <a:spcBef>
                <a:spcPts val="600"/>
              </a:spcBef>
              <a:spcAft>
                <a:spcPts val="600"/>
              </a:spcAft>
              <a:buNone/>
            </a:pPr>
            <a:endParaRPr lang="en-US" sz="2200" dirty="0" smtClean="0"/>
          </a:p>
          <a:p>
            <a:pPr marL="0" indent="0">
              <a:spcBef>
                <a:spcPts val="600"/>
              </a:spcBef>
              <a:spcAft>
                <a:spcPts val="600"/>
              </a:spcAft>
              <a:buNone/>
            </a:pPr>
            <a:endParaRPr lang="en-US" sz="2200" dirty="0" smtClean="0"/>
          </a:p>
          <a:p>
            <a:pPr marL="360000" indent="-360000">
              <a:spcBef>
                <a:spcPts val="600"/>
              </a:spcBef>
              <a:spcAft>
                <a:spcPts val="6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940152" y="2276872"/>
            <a:ext cx="2015409" cy="20398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100" b="1" dirty="0" smtClean="0">
                <a:solidFill>
                  <a:srgbClr val="FF6600"/>
                </a:solidFill>
                <a:latin typeface="Helvetica" pitchFamily="34" charset="0"/>
              </a:rPr>
              <a:t>Constructive feedback</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5040560"/>
          </a:xfrm>
        </p:spPr>
        <p:txBody>
          <a:bodyPr>
            <a:normAutofit/>
          </a:bodyPr>
          <a:lstStyle/>
          <a:p>
            <a:pPr marL="0" indent="0">
              <a:spcBef>
                <a:spcPts val="600"/>
              </a:spcBef>
              <a:spcAft>
                <a:spcPts val="1200"/>
              </a:spcAft>
              <a:buNone/>
            </a:pPr>
            <a:r>
              <a:rPr lang="en-AU" sz="2200" dirty="0" smtClean="0"/>
              <a:t>Six ways to make feedback constructive:</a:t>
            </a:r>
          </a:p>
          <a:p>
            <a:pPr>
              <a:spcBef>
                <a:spcPts val="600"/>
              </a:spcBef>
              <a:spcAft>
                <a:spcPts val="1200"/>
              </a:spcAft>
            </a:pPr>
            <a:r>
              <a:rPr lang="en-AU" sz="2200" dirty="0" smtClean="0"/>
              <a:t>If you can't think of a constructive purpose for giving feedback, don't give it at all</a:t>
            </a:r>
            <a:endParaRPr lang="en-US" sz="2200" dirty="0" smtClean="0"/>
          </a:p>
          <a:p>
            <a:pPr>
              <a:spcBef>
                <a:spcPts val="600"/>
              </a:spcBef>
              <a:spcAft>
                <a:spcPts val="1200"/>
              </a:spcAft>
            </a:pPr>
            <a:r>
              <a:rPr lang="en-AU" sz="2200" dirty="0" smtClean="0"/>
              <a:t>Focus on description rather </a:t>
            </a:r>
            <a:br>
              <a:rPr lang="en-AU" sz="2200" dirty="0" smtClean="0"/>
            </a:br>
            <a:r>
              <a:rPr lang="en-AU" sz="2200" dirty="0" smtClean="0"/>
              <a:t>than judgement </a:t>
            </a:r>
            <a:endParaRPr lang="en-US" sz="2200" dirty="0" smtClean="0"/>
          </a:p>
          <a:p>
            <a:pPr>
              <a:spcBef>
                <a:spcPts val="600"/>
              </a:spcBef>
              <a:spcAft>
                <a:spcPts val="1200"/>
              </a:spcAft>
            </a:pPr>
            <a:r>
              <a:rPr lang="en-AU" sz="2200" dirty="0" smtClean="0"/>
              <a:t>Focus on observation rather </a:t>
            </a:r>
            <a:br>
              <a:rPr lang="en-AU" sz="2200" dirty="0" smtClean="0"/>
            </a:br>
            <a:r>
              <a:rPr lang="en-AU" sz="2200" dirty="0" smtClean="0"/>
              <a:t>than inference</a:t>
            </a:r>
          </a:p>
          <a:p>
            <a:pPr>
              <a:spcBef>
                <a:spcPts val="600"/>
              </a:spcBef>
              <a:spcAft>
                <a:spcPts val="1200"/>
              </a:spcAft>
            </a:pPr>
            <a:r>
              <a:rPr lang="en-AU" sz="2200" dirty="0" smtClean="0"/>
              <a:t>Focus on behaviour rather than the person</a:t>
            </a:r>
          </a:p>
          <a:p>
            <a:pPr>
              <a:spcBef>
                <a:spcPts val="600"/>
              </a:spcBef>
              <a:spcAft>
                <a:spcPts val="1200"/>
              </a:spcAft>
            </a:pPr>
            <a:r>
              <a:rPr lang="en-AU" sz="2200" dirty="0" smtClean="0"/>
              <a:t>Provide a balance of positive and negative feedback</a:t>
            </a:r>
          </a:p>
          <a:p>
            <a:pPr>
              <a:spcBef>
                <a:spcPts val="600"/>
              </a:spcBef>
              <a:spcAft>
                <a:spcPts val="1200"/>
              </a:spcAft>
            </a:pPr>
            <a:r>
              <a:rPr lang="en-AU" sz="2200" dirty="0" smtClean="0"/>
              <a:t>Be aware of feedback overload</a:t>
            </a:r>
          </a:p>
          <a:p>
            <a:pPr>
              <a:spcBef>
                <a:spcPts val="600"/>
              </a:spcBef>
              <a:spcAft>
                <a:spcPts val="1200"/>
              </a:spcAft>
            </a:pPr>
            <a:endParaRPr lang="en-US" sz="2200" dirty="0" smtClean="0"/>
          </a:p>
          <a:p>
            <a:pPr marL="0" indent="0">
              <a:spcBef>
                <a:spcPts val="600"/>
              </a:spcBef>
              <a:spcAft>
                <a:spcPts val="1200"/>
              </a:spcAft>
              <a:buNone/>
            </a:pPr>
            <a:endParaRPr lang="en-US" sz="2200" dirty="0" smtClean="0"/>
          </a:p>
          <a:p>
            <a:pPr marL="0" indent="0">
              <a:spcBef>
                <a:spcPts val="600"/>
              </a:spcBef>
              <a:spcAft>
                <a:spcPts val="1200"/>
              </a:spcAft>
              <a:buNone/>
            </a:pPr>
            <a:endParaRPr lang="en-US" sz="2200" dirty="0" smtClean="0"/>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59276" y="2852936"/>
            <a:ext cx="2304256" cy="16583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901700" indent="-901700"/>
            <a:r>
              <a:rPr lang="en-US" sz="3100" b="1" dirty="0" smtClean="0">
                <a:solidFill>
                  <a:srgbClr val="FF6600"/>
                </a:solidFill>
                <a:latin typeface="Helvetica" pitchFamily="34" charset="0"/>
              </a:rPr>
              <a:t>3.4	Seek suggestions for improvement from staff</a:t>
            </a:r>
            <a:endParaRPr lang="en-US" sz="31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400" dirty="0" smtClean="0"/>
              <a:t>Why is it important to provide opportunities for staff to give feedback?</a:t>
            </a:r>
          </a:p>
          <a:p>
            <a:pPr>
              <a:spcBef>
                <a:spcPts val="600"/>
              </a:spcBef>
              <a:spcAft>
                <a:spcPts val="1200"/>
              </a:spcAft>
            </a:pPr>
            <a:r>
              <a:rPr lang="en-AU" sz="2400" dirty="0" smtClean="0"/>
              <a:t>Engages staff</a:t>
            </a:r>
          </a:p>
          <a:p>
            <a:pPr>
              <a:spcBef>
                <a:spcPts val="600"/>
              </a:spcBef>
              <a:spcAft>
                <a:spcPts val="1200"/>
              </a:spcAft>
            </a:pPr>
            <a:r>
              <a:rPr lang="en-AU" sz="2400" dirty="0" smtClean="0"/>
              <a:t>Makes them feel like they have a voice</a:t>
            </a:r>
          </a:p>
          <a:p>
            <a:pPr>
              <a:spcBef>
                <a:spcPts val="600"/>
              </a:spcBef>
              <a:spcAft>
                <a:spcPts val="1200"/>
              </a:spcAft>
            </a:pPr>
            <a:r>
              <a:rPr lang="en-AU" sz="2400" dirty="0" smtClean="0"/>
              <a:t>They often have good ideas because </a:t>
            </a:r>
            <a:br>
              <a:rPr lang="en-AU" sz="2400" dirty="0" smtClean="0"/>
            </a:br>
            <a:r>
              <a:rPr lang="en-AU" sz="2400" dirty="0" smtClean="0"/>
              <a:t>they are closest to the work</a:t>
            </a:r>
            <a:endParaRPr lang="en-US" sz="2400" dirty="0" smtClean="0"/>
          </a:p>
          <a:p>
            <a:pPr marL="0" indent="0">
              <a:spcBef>
                <a:spcPts val="600"/>
              </a:spcBef>
              <a:spcAft>
                <a:spcPts val="1200"/>
              </a:spcAft>
              <a:buNone/>
            </a:pPr>
            <a:endParaRPr lang="en-US" sz="2400" dirty="0" smtClean="0"/>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2200" y="2492896"/>
            <a:ext cx="1613699" cy="21602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_Tour_operation_&amp;_travel_agencies_template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PPT_Tour_operation_&amp;_travel_agencies_template_130214</Template>
  <TotalTime>895</TotalTime>
  <Words>3505</Words>
  <Application>Microsoft Office PowerPoint</Application>
  <PresentationFormat>On-screen Show (4:3)</PresentationFormat>
  <Paragraphs>415</Paragraphs>
  <Slides>43</Slides>
  <Notes>43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43</vt:i4>
      </vt:variant>
    </vt:vector>
  </HeadingPairs>
  <TitlesOfParts>
    <vt:vector size="49" baseType="lpstr">
      <vt:lpstr>Arial</vt:lpstr>
      <vt:lpstr>Calibri</vt:lpstr>
      <vt:lpstr>Franklin Gothic Book</vt:lpstr>
      <vt:lpstr>Helvetica</vt:lpstr>
      <vt:lpstr>Wingdings 2</vt:lpstr>
      <vt:lpstr>PPT_Tour_operation_&amp;_travel_agencies_template_130214</vt:lpstr>
      <vt:lpstr>USE ENGLISH AT A SUPERVISORY LEVEL</vt:lpstr>
      <vt:lpstr>Element 1: Use English to induct new employees</vt:lpstr>
      <vt:lpstr>1.1 Welcome new employee(s) and introduce them to key personnel </vt:lpstr>
      <vt:lpstr>Planning for new employees</vt:lpstr>
      <vt:lpstr>Introducing people</vt:lpstr>
      <vt:lpstr>Key personnel</vt:lpstr>
      <vt:lpstr>1.2 Explain how the position relates to others in the company</vt:lpstr>
      <vt:lpstr>Role clarity and relationship to other positions</vt:lpstr>
      <vt:lpstr>1.3 Speak positively about the company structure, goals and priorities</vt:lpstr>
      <vt:lpstr>Organisation structure</vt:lpstr>
      <vt:lpstr>Organisational structure details</vt:lpstr>
      <vt:lpstr>Speaking positively in the workplace</vt:lpstr>
      <vt:lpstr>Vision and mission</vt:lpstr>
      <vt:lpstr>1.4 Give information about the new employee’s roles and responsibilities</vt:lpstr>
      <vt:lpstr>What employees value in their work role</vt:lpstr>
      <vt:lpstr>Job description</vt:lpstr>
      <vt:lpstr>Language relating to job roles </vt:lpstr>
      <vt:lpstr>1.5 Show and explain features in the workplace</vt:lpstr>
      <vt:lpstr>1.6 Outline details of any training requirements</vt:lpstr>
      <vt:lpstr>Training requirements</vt:lpstr>
      <vt:lpstr>Training requirements cont’d</vt:lpstr>
      <vt:lpstr>Training requirements cont’d</vt:lpstr>
      <vt:lpstr>Element 2: Conduct a staff meeting</vt:lpstr>
      <vt:lpstr>2.1 Notify all relevant staff of scheduled staff meeting </vt:lpstr>
      <vt:lpstr>Communicating with staff</vt:lpstr>
      <vt:lpstr>Noticeboard</vt:lpstr>
      <vt:lpstr>Online meeting requests</vt:lpstr>
      <vt:lpstr>Meeting requests</vt:lpstr>
      <vt:lpstr>2.2 Draw up an agenda for a staff meeting</vt:lpstr>
      <vt:lpstr>2.3 Chair the meeting</vt:lpstr>
      <vt:lpstr>Meeting chair duties</vt:lpstr>
      <vt:lpstr>Role of attendees</vt:lpstr>
      <vt:lpstr>2.4 Develop an action plan and dates</vt:lpstr>
      <vt:lpstr>Action plan development</vt:lpstr>
      <vt:lpstr>Action plan</vt:lpstr>
      <vt:lpstr>Element 3: Supervise and motivate a team</vt:lpstr>
      <vt:lpstr>3.1 Give clear instructions of work to be completed and realistic deadlines</vt:lpstr>
      <vt:lpstr>3.2 Check instructions have been understood by all involved</vt:lpstr>
      <vt:lpstr>Concept checking</vt:lpstr>
      <vt:lpstr>3.3 Give constructive feedback on performance</vt:lpstr>
      <vt:lpstr>How to give useful feedback</vt:lpstr>
      <vt:lpstr>Constructive feedback</vt:lpstr>
      <vt:lpstr>3.4 Seek suggestions for improvement from staff</vt:lpstr>
    </vt:vector>
  </TitlesOfParts>
  <Company>William Angliss TAFE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 ENGLISH AT A SUPERVISORY LEVEL</dc:title>
  <dc:creator>Mai Vu</dc:creator>
  <cp:lastModifiedBy>Carla Angelica Co</cp:lastModifiedBy>
  <cp:revision>98</cp:revision>
  <dcterms:created xsi:type="dcterms:W3CDTF">2014-03-24T03:39:50Z</dcterms:created>
  <dcterms:modified xsi:type="dcterms:W3CDTF">2016-07-18T05:59:45Z</dcterms:modified>
</cp:coreProperties>
</file>