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72"/>
  </p:notesMasterIdLst>
  <p:handoutMasterIdLst>
    <p:handoutMasterId r:id="rId73"/>
  </p:handoutMasterIdLst>
  <p:sldIdLst>
    <p:sldId id="256" r:id="rId2"/>
    <p:sldId id="297" r:id="rId3"/>
    <p:sldId id="296" r:id="rId4"/>
    <p:sldId id="257" r:id="rId5"/>
    <p:sldId id="258" r:id="rId6"/>
    <p:sldId id="259" r:id="rId7"/>
    <p:sldId id="260" r:id="rId8"/>
    <p:sldId id="298" r:id="rId9"/>
    <p:sldId id="299" r:id="rId10"/>
    <p:sldId id="300" r:id="rId11"/>
    <p:sldId id="301" r:id="rId12"/>
    <p:sldId id="302" r:id="rId13"/>
    <p:sldId id="304" r:id="rId14"/>
    <p:sldId id="358" r:id="rId15"/>
    <p:sldId id="303" r:id="rId16"/>
    <p:sldId id="306" r:id="rId17"/>
    <p:sldId id="307" r:id="rId18"/>
    <p:sldId id="309" r:id="rId19"/>
    <p:sldId id="308" r:id="rId20"/>
    <p:sldId id="359" r:id="rId21"/>
    <p:sldId id="360" r:id="rId22"/>
    <p:sldId id="261" r:id="rId23"/>
    <p:sldId id="310" r:id="rId24"/>
    <p:sldId id="311" r:id="rId25"/>
    <p:sldId id="312" r:id="rId26"/>
    <p:sldId id="361" r:id="rId27"/>
    <p:sldId id="313" r:id="rId28"/>
    <p:sldId id="314" r:id="rId29"/>
    <p:sldId id="315" r:id="rId30"/>
    <p:sldId id="316" r:id="rId31"/>
    <p:sldId id="318" r:id="rId32"/>
    <p:sldId id="319" r:id="rId33"/>
    <p:sldId id="320" r:id="rId34"/>
    <p:sldId id="321" r:id="rId35"/>
    <p:sldId id="324" r:id="rId36"/>
    <p:sldId id="262" r:id="rId37"/>
    <p:sldId id="327" r:id="rId38"/>
    <p:sldId id="362" r:id="rId39"/>
    <p:sldId id="328" r:id="rId40"/>
    <p:sldId id="329" r:id="rId41"/>
    <p:sldId id="363" r:id="rId42"/>
    <p:sldId id="331" r:id="rId43"/>
    <p:sldId id="364" r:id="rId44"/>
    <p:sldId id="332" r:id="rId45"/>
    <p:sldId id="333" r:id="rId46"/>
    <p:sldId id="264" r:id="rId47"/>
    <p:sldId id="334" r:id="rId48"/>
    <p:sldId id="365" r:id="rId49"/>
    <p:sldId id="335" r:id="rId50"/>
    <p:sldId id="366" r:id="rId51"/>
    <p:sldId id="367" r:id="rId52"/>
    <p:sldId id="336" r:id="rId53"/>
    <p:sldId id="337" r:id="rId54"/>
    <p:sldId id="338" r:id="rId55"/>
    <p:sldId id="265" r:id="rId56"/>
    <p:sldId id="340" r:id="rId57"/>
    <p:sldId id="341" r:id="rId58"/>
    <p:sldId id="368" r:id="rId59"/>
    <p:sldId id="369" r:id="rId60"/>
    <p:sldId id="370" r:id="rId61"/>
    <p:sldId id="344" r:id="rId62"/>
    <p:sldId id="266" r:id="rId63"/>
    <p:sldId id="345" r:id="rId64"/>
    <p:sldId id="346" r:id="rId65"/>
    <p:sldId id="371" r:id="rId66"/>
    <p:sldId id="347" r:id="rId67"/>
    <p:sldId id="372" r:id="rId68"/>
    <p:sldId id="348" r:id="rId69"/>
    <p:sldId id="350" r:id="rId70"/>
    <p:sldId id="349" r:id="rId71"/>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32" autoAdjust="0"/>
    <p:restoredTop sz="88172" autoAdjust="0"/>
  </p:normalViewPr>
  <p:slideViewPr>
    <p:cSldViewPr>
      <p:cViewPr varScale="1">
        <p:scale>
          <a:sx n="81" d="100"/>
          <a:sy n="81" d="100"/>
        </p:scale>
        <p:origin x="127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3/31/2015</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10399227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3/31/2015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5089516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www.childwise.net/Resources/online-publications.html"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3" Type="http://schemas.openxmlformats.org/officeDocument/2006/relationships/hyperlink" Target="http://www.thecode.org/" TargetMode="External"/><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Trainer introduces the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23378684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kern="1200" baseline="0" dirty="0" smtClean="0">
                <a:solidFill>
                  <a:schemeClr val="tx1"/>
                </a:solidFill>
                <a:latin typeface="+mn-lt"/>
                <a:ea typeface="+mn-ea"/>
                <a:cs typeface="+mn-cs"/>
              </a:rPr>
              <a:t>Trainer Notes: </a:t>
            </a:r>
            <a:r>
              <a:rPr lang="en-US" sz="1200" kern="1200" baseline="0" dirty="0" smtClean="0">
                <a:solidFill>
                  <a:schemeClr val="tx1"/>
                </a:solidFill>
                <a:latin typeface="+mn-lt"/>
                <a:ea typeface="+mn-ea"/>
                <a:cs typeface="+mn-cs"/>
              </a:rPr>
              <a:t>Trainer advises students that this Unit comprises three Elements, as listed on the slide</a:t>
            </a:r>
          </a:p>
          <a:p>
            <a:r>
              <a:rPr lang="en-US" sz="1200" kern="1200" baseline="0" dirty="0" smtClean="0">
                <a:solidFill>
                  <a:schemeClr val="tx1"/>
                </a:solidFill>
                <a:latin typeface="+mn-lt"/>
                <a:ea typeface="+mn-ea"/>
                <a:cs typeface="+mn-cs"/>
              </a:rPr>
              <a:t>explaining:</a:t>
            </a:r>
          </a:p>
          <a:p>
            <a:r>
              <a:rPr lang="en-US" sz="1200" kern="1200" baseline="0" dirty="0" smtClean="0">
                <a:solidFill>
                  <a:schemeClr val="tx1"/>
                </a:solidFill>
                <a:latin typeface="+mn-lt"/>
                <a:ea typeface="+mn-ea"/>
                <a:cs typeface="+mn-cs"/>
              </a:rPr>
              <a:t>• Each Element comprises a number of Performance Criteria which will be</a:t>
            </a:r>
          </a:p>
          <a:p>
            <a:r>
              <a:rPr lang="en-US" sz="1200" kern="1200" baseline="0" dirty="0" smtClean="0">
                <a:solidFill>
                  <a:schemeClr val="tx1"/>
                </a:solidFill>
                <a:latin typeface="+mn-lt"/>
                <a:ea typeface="+mn-ea"/>
                <a:cs typeface="+mn-cs"/>
              </a:rPr>
              <a:t>identified throughout the class and explained in detail</a:t>
            </a:r>
          </a:p>
          <a:p>
            <a:r>
              <a:rPr lang="en-US" sz="1200" kern="1200" baseline="0" dirty="0" smtClean="0">
                <a:solidFill>
                  <a:schemeClr val="tx1"/>
                </a:solidFill>
                <a:latin typeface="+mn-lt"/>
                <a:ea typeface="+mn-ea"/>
                <a:cs typeface="+mn-cs"/>
              </a:rPr>
              <a:t>• Students can obtain more detail from their Trainee Manual</a:t>
            </a:r>
          </a:p>
          <a:p>
            <a:r>
              <a:rPr lang="en-US" sz="1200" kern="1200" baseline="0" dirty="0" smtClean="0">
                <a:solidFill>
                  <a:schemeClr val="tx1"/>
                </a:solidFill>
                <a:latin typeface="+mn-lt"/>
                <a:ea typeface="+mn-ea"/>
                <a:cs typeface="+mn-cs"/>
              </a:rPr>
              <a:t>• The course presents advice and information but, where their workplace</a:t>
            </a:r>
          </a:p>
          <a:p>
            <a:r>
              <a:rPr lang="en-US" sz="1200" kern="1200" baseline="0" dirty="0" smtClean="0">
                <a:solidFill>
                  <a:schemeClr val="tx1"/>
                </a:solidFill>
                <a:latin typeface="+mn-lt"/>
                <a:ea typeface="+mn-ea"/>
                <a:cs typeface="+mn-cs"/>
              </a:rPr>
              <a:t>requirements differ to what is presented, the workplace practices and standards</a:t>
            </a:r>
          </a:p>
          <a:p>
            <a:r>
              <a:rPr lang="en-US" sz="1200" kern="1200" baseline="0" dirty="0" smtClean="0">
                <a:solidFill>
                  <a:schemeClr val="tx1"/>
                </a:solidFill>
                <a:latin typeface="+mn-lt"/>
                <a:ea typeface="+mn-ea"/>
                <a:cs typeface="+mn-cs"/>
              </a:rPr>
              <a:t>must be observed.</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41006295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kern="1200" baseline="0" dirty="0" smtClean="0">
                <a:solidFill>
                  <a:schemeClr val="tx1"/>
                </a:solidFill>
                <a:latin typeface="+mn-lt"/>
                <a:ea typeface="+mn-ea"/>
                <a:cs typeface="+mn-cs"/>
              </a:rPr>
              <a:t>Trainer Notes: </a:t>
            </a:r>
            <a:r>
              <a:rPr lang="en-US" sz="1200" kern="1200" baseline="0" dirty="0" smtClean="0">
                <a:solidFill>
                  <a:schemeClr val="tx1"/>
                </a:solidFill>
                <a:latin typeface="+mn-lt"/>
                <a:ea typeface="+mn-ea"/>
                <a:cs typeface="+mn-cs"/>
              </a:rPr>
              <a:t>Trainer advises students that assessment for this Unit may take several forms all</a:t>
            </a:r>
          </a:p>
          <a:p>
            <a:r>
              <a:rPr lang="en-US" sz="1200" kern="1200" baseline="0" dirty="0" smtClean="0">
                <a:solidFill>
                  <a:schemeClr val="tx1"/>
                </a:solidFill>
                <a:latin typeface="+mn-lt"/>
                <a:ea typeface="+mn-ea"/>
                <a:cs typeface="+mn-cs"/>
              </a:rPr>
              <a:t>of which are aimed at verifying they have achieved competency for the Unit as</a:t>
            </a:r>
          </a:p>
          <a:p>
            <a:r>
              <a:rPr lang="en-US" sz="1200" kern="1200" baseline="0" dirty="0" smtClean="0">
                <a:solidFill>
                  <a:schemeClr val="tx1"/>
                </a:solidFill>
                <a:latin typeface="+mn-lt"/>
                <a:ea typeface="+mn-ea"/>
                <a:cs typeface="+mn-cs"/>
              </a:rPr>
              <a:t>required.</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Trainer indicates to students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28480122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kern="1200" baseline="0" dirty="0" smtClean="0">
                <a:solidFill>
                  <a:schemeClr val="tx1"/>
                </a:solidFill>
                <a:latin typeface="+mn-lt"/>
                <a:ea typeface="+mn-ea"/>
                <a:cs typeface="+mn-cs"/>
              </a:rPr>
              <a:t>Trainer Notes: </a:t>
            </a:r>
            <a:r>
              <a:rPr lang="en-US" sz="1200" kern="1200" baseline="0" dirty="0" smtClean="0">
                <a:solidFill>
                  <a:schemeClr val="tx1"/>
                </a:solidFill>
                <a:latin typeface="+mn-lt"/>
                <a:ea typeface="+mn-ea"/>
                <a:cs typeface="+mn-cs"/>
              </a:rPr>
              <a:t>Trainer identifies for students the Performance Criteria for this Element, as listed</a:t>
            </a:r>
          </a:p>
          <a:p>
            <a:r>
              <a:rPr lang="en-US" sz="1200" kern="1200" baseline="0" dirty="0" smtClean="0">
                <a:solidFill>
                  <a:schemeClr val="tx1"/>
                </a:solidFill>
                <a:latin typeface="+mn-lt"/>
                <a:ea typeface="+mn-ea"/>
                <a:cs typeface="+mn-cs"/>
              </a:rPr>
              <a:t>on the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25076233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kern="1200" baseline="0" dirty="0" smtClean="0">
                <a:solidFill>
                  <a:schemeClr val="tx1"/>
                </a:solidFill>
                <a:latin typeface="+mn-lt"/>
                <a:ea typeface="+mn-ea"/>
                <a:cs typeface="+mn-cs"/>
              </a:rPr>
              <a:t>Trainer Notes: </a:t>
            </a:r>
            <a:r>
              <a:rPr lang="en-US" sz="1200" kern="1200" baseline="0" dirty="0" smtClean="0">
                <a:solidFill>
                  <a:schemeClr val="tx1"/>
                </a:solidFill>
                <a:latin typeface="+mn-lt"/>
                <a:ea typeface="+mn-ea"/>
                <a:cs typeface="+mn-cs"/>
              </a:rPr>
              <a:t>Trainer identifies for students the Performance Criteria for this Element, as listed</a:t>
            </a:r>
          </a:p>
          <a:p>
            <a:r>
              <a:rPr lang="en-US" sz="1200" kern="1200" baseline="0" dirty="0" smtClean="0">
                <a:solidFill>
                  <a:schemeClr val="tx1"/>
                </a:solidFill>
                <a:latin typeface="+mn-lt"/>
                <a:ea typeface="+mn-ea"/>
                <a:cs typeface="+mn-cs"/>
              </a:rPr>
              <a:t>on the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18183870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kern="1200" baseline="0" dirty="0" smtClean="0">
                <a:solidFill>
                  <a:schemeClr val="tx1"/>
                </a:solidFill>
                <a:latin typeface="+mn-lt"/>
                <a:ea typeface="+mn-ea"/>
                <a:cs typeface="+mn-cs"/>
              </a:rPr>
              <a:t>Trainer Notes: </a:t>
            </a:r>
            <a:r>
              <a:rPr lang="en-US" sz="1200" kern="1200" baseline="0" dirty="0" smtClean="0">
                <a:solidFill>
                  <a:schemeClr val="tx1"/>
                </a:solidFill>
                <a:latin typeface="+mn-lt"/>
                <a:ea typeface="+mn-ea"/>
                <a:cs typeface="+mn-cs"/>
              </a:rPr>
              <a:t>Trainer identifies for students the Performance Criteria for this Element, as listed</a:t>
            </a:r>
          </a:p>
          <a:p>
            <a:r>
              <a:rPr lang="en-US" sz="1200" kern="1200" baseline="0" dirty="0" smtClean="0">
                <a:solidFill>
                  <a:schemeClr val="tx1"/>
                </a:solidFill>
                <a:latin typeface="+mn-lt"/>
                <a:ea typeface="+mn-ea"/>
                <a:cs typeface="+mn-cs"/>
              </a:rPr>
              <a:t>on the slide.</a:t>
            </a:r>
          </a:p>
          <a:p>
            <a:endParaRPr lang="en-US" sz="1200" kern="1200" baseline="0" dirty="0" smtClean="0">
              <a:solidFill>
                <a:schemeClr val="tx1"/>
              </a:solidFill>
              <a:latin typeface="+mn-lt"/>
              <a:ea typeface="+mn-ea"/>
              <a:cs typeface="+mn-cs"/>
            </a:endParaRPr>
          </a:p>
          <a:p>
            <a:pPr>
              <a:lnSpc>
                <a:spcPct val="150000"/>
              </a:lnSpc>
            </a:pPr>
            <a:r>
              <a:rPr lang="en-US" sz="1200" b="1" kern="1200" baseline="0" dirty="0" smtClean="0">
                <a:solidFill>
                  <a:schemeClr val="tx1"/>
                </a:solidFill>
                <a:latin typeface="+mn-lt"/>
                <a:ea typeface="+mn-ea"/>
                <a:cs typeface="+mn-cs"/>
              </a:rPr>
              <a:t>Class Activity – General discussion</a:t>
            </a:r>
          </a:p>
          <a:p>
            <a:pPr>
              <a:lnSpc>
                <a:spcPct val="150000"/>
              </a:lnSpc>
            </a:pPr>
            <a:r>
              <a:rPr lang="en-US" sz="1200" kern="1200" baseline="0" dirty="0" smtClean="0">
                <a:solidFill>
                  <a:schemeClr val="tx1"/>
                </a:solidFill>
                <a:latin typeface="+mn-lt"/>
                <a:ea typeface="+mn-ea"/>
                <a:cs typeface="+mn-cs"/>
              </a:rPr>
              <a:t>Trainer leads a general class discussion on responding to Child Sex Tourism</a:t>
            </a:r>
          </a:p>
          <a:p>
            <a:pPr>
              <a:lnSpc>
                <a:spcPct val="150000"/>
              </a:lnSpc>
            </a:pPr>
            <a:r>
              <a:rPr lang="en-US" sz="1200" kern="1200" baseline="0" dirty="0" smtClean="0">
                <a:solidFill>
                  <a:schemeClr val="tx1"/>
                </a:solidFill>
                <a:latin typeface="+mn-lt"/>
                <a:ea typeface="+mn-ea"/>
                <a:cs typeface="+mn-cs"/>
              </a:rPr>
              <a:t>in the workplace asking questions such as:</a:t>
            </a:r>
          </a:p>
          <a:p>
            <a:pPr>
              <a:lnSpc>
                <a:spcPct val="150000"/>
              </a:lnSpc>
            </a:pPr>
            <a:endParaRPr lang="en-US" sz="1200" kern="1200" baseline="0" dirty="0" smtClean="0">
              <a:solidFill>
                <a:schemeClr val="tx1"/>
              </a:solidFill>
              <a:latin typeface="+mn-lt"/>
              <a:ea typeface="+mn-ea"/>
              <a:cs typeface="+mn-cs"/>
            </a:endParaRPr>
          </a:p>
          <a:p>
            <a:pPr>
              <a:lnSpc>
                <a:spcPct val="150000"/>
              </a:lnSpc>
            </a:pPr>
            <a:r>
              <a:rPr lang="en-US" sz="1200" kern="1200" baseline="0" dirty="0" smtClean="0">
                <a:solidFill>
                  <a:schemeClr val="tx1"/>
                </a:solidFill>
                <a:latin typeface="+mn-lt"/>
                <a:ea typeface="+mn-ea"/>
                <a:cs typeface="+mn-cs"/>
              </a:rPr>
              <a:t>• Are you aware of Child Sex Tourism in your workplace, local area or region?</a:t>
            </a:r>
          </a:p>
          <a:p>
            <a:pPr>
              <a:lnSpc>
                <a:spcPct val="150000"/>
              </a:lnSpc>
            </a:pPr>
            <a:r>
              <a:rPr lang="en-US" sz="1200" kern="1200" baseline="0" dirty="0" smtClean="0">
                <a:solidFill>
                  <a:schemeClr val="tx1"/>
                </a:solidFill>
                <a:latin typeface="+mn-lt"/>
                <a:ea typeface="+mn-ea"/>
                <a:cs typeface="+mn-cs"/>
              </a:rPr>
              <a:t>• If yes, how prevalent do you believe Child Sex Tourism is in your workplace, local area or region?</a:t>
            </a:r>
          </a:p>
          <a:p>
            <a:pPr>
              <a:lnSpc>
                <a:spcPct val="150000"/>
              </a:lnSpc>
            </a:pPr>
            <a:r>
              <a:rPr lang="en-US" sz="1200" kern="1200" baseline="0" dirty="0" smtClean="0">
                <a:solidFill>
                  <a:schemeClr val="tx1"/>
                </a:solidFill>
                <a:latin typeface="+mn-lt"/>
                <a:ea typeface="+mn-ea"/>
                <a:cs typeface="+mn-cs"/>
              </a:rPr>
              <a:t>• Are you aware of local and international laws regarding Child Sex Tourism?</a:t>
            </a:r>
          </a:p>
          <a:p>
            <a:pPr>
              <a:lnSpc>
                <a:spcPct val="150000"/>
              </a:lnSpc>
            </a:pPr>
            <a:r>
              <a:rPr lang="en-US" sz="1200" kern="1200" baseline="0" dirty="0" smtClean="0">
                <a:solidFill>
                  <a:schemeClr val="tx1"/>
                </a:solidFill>
                <a:latin typeface="+mn-lt"/>
                <a:ea typeface="+mn-ea"/>
                <a:cs typeface="+mn-cs"/>
              </a:rPr>
              <a:t>• How important is it for the hotel and travel industries to introduce child protection measures across all areas of the workplace?</a:t>
            </a:r>
          </a:p>
          <a:p>
            <a:pPr>
              <a:lnSpc>
                <a:spcPct val="150000"/>
              </a:lnSpc>
            </a:pPr>
            <a:r>
              <a:rPr lang="en-US" sz="1200" kern="1200" baseline="0" dirty="0" smtClean="0">
                <a:solidFill>
                  <a:schemeClr val="tx1"/>
                </a:solidFill>
                <a:latin typeface="+mn-lt"/>
                <a:ea typeface="+mn-ea"/>
                <a:cs typeface="+mn-cs"/>
              </a:rPr>
              <a:t>• Does your workplace currently have policies, procedures and training in place to identify and eliminate Child Sex Tourism from your workplace? If yes, please describe.</a:t>
            </a:r>
            <a:endParaRPr lang="en-US" dirty="0" smtClean="0"/>
          </a:p>
          <a:p>
            <a:pPr>
              <a:buFont typeface="Arial" pitchFamily="34" charset="0"/>
              <a:buChar char="•"/>
            </a:pPr>
            <a:endParaRPr lang="en-US"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34811552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 </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a:t>
            </a:r>
            <a:endParaRPr lang="en-US" b="1" dirty="0" smtClean="0"/>
          </a:p>
          <a:p>
            <a:pPr>
              <a:buFont typeface="Arial" pitchFamily="34" charset="0"/>
              <a:buChar char="•"/>
            </a:pPr>
            <a:r>
              <a:rPr lang="en-US" b="0" dirty="0" smtClean="0"/>
              <a:t>Trainer</a:t>
            </a:r>
            <a:r>
              <a:rPr lang="en-US" b="0" baseline="0" dirty="0" smtClean="0"/>
              <a:t> to explain that if the ‘definition of a child’ is younger than the age of 18 in the country where you operate then you must follow the local definition.</a:t>
            </a:r>
          </a:p>
          <a:p>
            <a:pPr>
              <a:buFont typeface="Arial" pitchFamily="34" charset="0"/>
              <a:buNone/>
            </a:pPr>
            <a:endParaRPr lang="en-US" b="1"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42821482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 and Activity: </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dirty="0" smtClean="0"/>
              <a:t>Trainer</a:t>
            </a:r>
            <a:r>
              <a:rPr lang="en-US" b="0" baseline="0" dirty="0" smtClean="0"/>
              <a:t> to refer students to the Training Manual for a more detailed definition of Child Sex Tourism</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a:t>
            </a:r>
            <a:endParaRPr lang="en-US" b="0" baseline="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0" baseline="0"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1" dirty="0" smtClean="0"/>
              <a:t>Activity: </a:t>
            </a:r>
            <a:r>
              <a:rPr lang="en-US" b="0" dirty="0" smtClean="0"/>
              <a:t>It</a:t>
            </a:r>
            <a:r>
              <a:rPr lang="en-US" b="0" baseline="0" dirty="0" smtClean="0"/>
              <a:t> is suggested that the Trainer download and go through with the students the Childwise Free Downloadable Publication, </a:t>
            </a:r>
            <a:r>
              <a:rPr lang="en-US" sz="1200" b="0" kern="1200" dirty="0" smtClean="0">
                <a:solidFill>
                  <a:schemeClr val="tx1"/>
                </a:solidFill>
                <a:latin typeface="+mn-lt"/>
                <a:ea typeface="+mn-ea"/>
                <a:cs typeface="+mn-cs"/>
              </a:rPr>
              <a:t>‘Wise Up’ to Child Sexual Abuse available</a:t>
            </a:r>
            <a:r>
              <a:rPr lang="en-US" sz="1200" b="0" kern="1200" baseline="0" dirty="0" smtClean="0">
                <a:solidFill>
                  <a:schemeClr val="tx1"/>
                </a:solidFill>
                <a:latin typeface="+mn-lt"/>
                <a:ea typeface="+mn-ea"/>
                <a:cs typeface="+mn-cs"/>
              </a:rPr>
              <a:t> at</a:t>
            </a:r>
            <a:r>
              <a:rPr lang="en-US" sz="1200" b="0" kern="1200" dirty="0" smtClean="0">
                <a:solidFill>
                  <a:schemeClr val="tx1"/>
                </a:solidFill>
                <a:latin typeface="+mn-lt"/>
                <a:ea typeface="+mn-ea"/>
                <a:cs typeface="+mn-cs"/>
              </a:rPr>
              <a: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sz="1200" b="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0" kern="1200" dirty="0" smtClean="0">
                <a:solidFill>
                  <a:schemeClr val="tx1"/>
                </a:solidFill>
                <a:latin typeface="+mn-lt"/>
                <a:ea typeface="+mn-ea"/>
                <a:cs typeface="+mn-cs"/>
              </a:rPr>
              <a:t> </a:t>
            </a:r>
            <a:r>
              <a:rPr lang="en-US" sz="1200" b="1" u="sng" kern="1200" dirty="0" smtClean="0">
                <a:solidFill>
                  <a:schemeClr val="tx1"/>
                </a:solidFill>
                <a:latin typeface="+mn-lt"/>
                <a:ea typeface="+mn-ea"/>
                <a:cs typeface="+mn-cs"/>
                <a:hlinkClick r:id="rId3"/>
              </a:rPr>
              <a:t>http://www.childwise.net/Resources/online-publications.html</a:t>
            </a:r>
            <a:r>
              <a:rPr lang="en-US" sz="1200" b="1" u="sng" kern="1200" dirty="0" smtClean="0">
                <a:solidFill>
                  <a:schemeClr val="tx1"/>
                </a:solidFill>
                <a:latin typeface="+mn-lt"/>
                <a:ea typeface="+mn-ea"/>
                <a:cs typeface="+mn-cs"/>
              </a:rPr>
              <a:t>)</a:t>
            </a:r>
            <a:endParaRPr lang="en-AU" sz="1200" b="1" kern="1200" dirty="0" smtClean="0">
              <a:solidFill>
                <a:schemeClr val="tx1"/>
              </a:solidFill>
              <a:latin typeface="+mn-lt"/>
              <a:ea typeface="+mn-ea"/>
              <a:cs typeface="+mn-cs"/>
            </a:endParaRPr>
          </a:p>
          <a:p>
            <a:pPr>
              <a:buFont typeface="Arial" pitchFamily="34" charset="0"/>
              <a:buChar char="•"/>
            </a:pPr>
            <a:endParaRPr lang="en-US" b="1" dirty="0" smtClean="0"/>
          </a:p>
          <a:p>
            <a:pPr>
              <a:buFont typeface="Arial" pitchFamily="34" charset="0"/>
              <a:buChar char="•"/>
            </a:pPr>
            <a:endParaRPr lang="en-US" b="0"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19268137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a:t>
            </a:r>
            <a:r>
              <a:rPr lang="en-US" b="1" dirty="0" smtClean="0"/>
              <a:t>Trainer Notes:</a:t>
            </a:r>
            <a:r>
              <a:rPr lang="en-US" b="1" baseline="0" dirty="0" smtClean="0"/>
              <a:t> </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to explain that, due to the above reasons, </a:t>
            </a:r>
            <a:r>
              <a:rPr lang="en-US" sz="1200" b="0" baseline="0" dirty="0" smtClean="0"/>
              <a:t>child sex </a:t>
            </a:r>
            <a:r>
              <a:rPr lang="en-US" sz="1200" dirty="0" smtClean="0"/>
              <a:t>offenders are now looking to less developed countries to access vulnerable children</a:t>
            </a:r>
            <a:endParaRPr lang="en-US" b="1" baseline="0"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a:t>
            </a:r>
            <a:endParaRPr lang="en-US" b="1"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19454126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1" dirty="0" smtClean="0"/>
              <a:t>Trainer Notes:</a:t>
            </a:r>
            <a:r>
              <a:rPr lang="en-US" b="1" baseline="0" dirty="0" smtClean="0"/>
              <a:t> </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to explain that ‘</a:t>
            </a:r>
            <a:r>
              <a:rPr lang="en-US" sz="1200" b="0" baseline="0" dirty="0" smtClean="0"/>
              <a:t>In</a:t>
            </a:r>
            <a:r>
              <a:rPr lang="en-US" sz="1200" dirty="0" smtClean="0"/>
              <a:t> the past many of these offenders have found themselves in positions of power where they can access children freely but due to a stronger commitment to stamp out child abuse in their own countries, they are now moving to areas where there are vulnerable children and perhaps lax law enforcement and corruption’</a:t>
            </a:r>
            <a:r>
              <a:rPr lang="en-AU" sz="1200" dirty="0" smtClean="0"/>
              <a:t> </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a:t>
            </a:r>
            <a:endParaRPr lang="en-US" b="1" baseline="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38026767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a:t>
            </a:r>
            <a:endParaRPr lang="en-US" b="1" dirty="0" smtClean="0"/>
          </a:p>
          <a:p>
            <a:pPr>
              <a:buFont typeface="Arial" pitchFamily="34" charset="0"/>
              <a:buNone/>
            </a:pPr>
            <a:endParaRPr lang="en-US" b="1"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23826023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1" baseline="0" dirty="0" smtClean="0"/>
              <a:t>Trainer Notes: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dirty="0" smtClean="0">
                <a:solidFill>
                  <a:schemeClr val="tx1"/>
                </a:solidFill>
                <a:latin typeface="+mn-lt"/>
                <a:ea typeface="+mn-ea"/>
                <a:cs typeface="+mn-cs"/>
              </a:rPr>
              <a:t>Trainer</a:t>
            </a:r>
            <a:r>
              <a:rPr lang="en-US" sz="1200" b="0" kern="1200" baseline="0" dirty="0" smtClean="0">
                <a:solidFill>
                  <a:schemeClr val="tx1"/>
                </a:solidFill>
                <a:latin typeface="+mn-lt"/>
                <a:ea typeface="+mn-ea"/>
                <a:cs typeface="+mn-cs"/>
              </a:rPr>
              <a:t> to explain that ‘</a:t>
            </a:r>
            <a:r>
              <a:rPr lang="en-US" sz="1200" dirty="0" smtClean="0"/>
              <a:t>The internet has also allowed these offenders to form networks that keep each other up to date about ‘new’ destinations where children can be accessed easily as well as allowing offenders to share videos and photographs of abused children’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a:t>
            </a:r>
            <a:r>
              <a:rPr lang="en-AU" sz="1200" dirty="0" smtClean="0"/>
              <a:t> </a:t>
            </a:r>
            <a:endParaRPr lang="en-US" b="0"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36473227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1" baseline="0" dirty="0" smtClean="0"/>
              <a:t>Trainer Notes: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2103962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1" baseline="0" dirty="0" smtClean="0"/>
              <a:t>Trainer Notes: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33739798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a:t>
            </a:r>
            <a:endParaRPr lang="en-US" b="1" dirty="0" smtClean="0"/>
          </a:p>
          <a:p>
            <a:pPr>
              <a:buFont typeface="Arial" pitchFamily="34" charset="0"/>
              <a:buNone/>
            </a:pPr>
            <a:endParaRPr lang="en-US" b="1"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618870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a:t>
            </a:r>
            <a:endParaRPr lang="en-US" b="1" dirty="0" smtClean="0"/>
          </a:p>
          <a:p>
            <a:pPr>
              <a:buFont typeface="Arial" pitchFamily="34" charset="0"/>
              <a:buNone/>
            </a:pPr>
            <a:endParaRPr lang="en-US" b="1"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4374407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1" dirty="0" smtClean="0"/>
              <a:t>Trainer Notes and Activity: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1" baseline="0" dirty="0" smtClean="0"/>
              <a:t> </a:t>
            </a:r>
            <a:r>
              <a:rPr lang="en-US" b="0" dirty="0" smtClean="0"/>
              <a:t>Please</a:t>
            </a:r>
            <a:r>
              <a:rPr lang="en-US" b="0" baseline="0" dirty="0" smtClean="0"/>
              <a:t> ask the students not to search for child pornography on the internet as an exercise to see if it actually exists and is assessable as this may lead to them being investigated and also acts as a form of voyeurism that perpetuates the existence of child pornography on the internet</a:t>
            </a: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sz="1200" b="1"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1" kern="1200" dirty="0" smtClean="0">
                <a:solidFill>
                  <a:schemeClr val="tx1"/>
                </a:solidFill>
                <a:latin typeface="+mn-lt"/>
                <a:ea typeface="+mn-ea"/>
                <a:cs typeface="+mn-cs"/>
              </a:rPr>
              <a:t>Activity:</a:t>
            </a:r>
            <a:r>
              <a:rPr lang="en-US" sz="1200" b="1" kern="1200" baseline="0" dirty="0" smtClean="0">
                <a:solidFill>
                  <a:schemeClr val="tx1"/>
                </a:solidFill>
                <a:latin typeface="+mn-lt"/>
                <a:ea typeface="+mn-ea"/>
                <a:cs typeface="+mn-cs"/>
              </a:rPr>
              <a:t> </a:t>
            </a:r>
            <a:r>
              <a:rPr lang="en-US" sz="1200" b="0" kern="1200" baseline="0" dirty="0" smtClean="0">
                <a:solidFill>
                  <a:schemeClr val="tx1"/>
                </a:solidFill>
                <a:latin typeface="+mn-lt"/>
                <a:ea typeface="+mn-ea"/>
                <a:cs typeface="+mn-cs"/>
              </a:rPr>
              <a:t>Trainer to discuss with the class what is it about the internet that has allowed the CSEC and CST to grow.</a:t>
            </a:r>
            <a:endParaRPr lang="en-US" b="1" dirty="0" smtClean="0"/>
          </a:p>
          <a:p>
            <a:pPr>
              <a:buFont typeface="Arial" pitchFamily="34" charset="0"/>
              <a:buNone/>
            </a:pPr>
            <a:endParaRPr lang="en-US" b="1"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38826874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dirty="0" smtClean="0">
                <a:solidFill>
                  <a:schemeClr val="tx1"/>
                </a:solidFill>
                <a:latin typeface="+mn-lt"/>
                <a:ea typeface="+mn-ea"/>
                <a:cs typeface="+mn-cs"/>
              </a:rPr>
              <a:t>Trainer</a:t>
            </a:r>
            <a:r>
              <a:rPr lang="en-US" sz="1200" b="0" kern="1200" baseline="0" dirty="0" smtClean="0">
                <a:solidFill>
                  <a:schemeClr val="tx1"/>
                </a:solidFill>
                <a:latin typeface="+mn-lt"/>
                <a:ea typeface="+mn-ea"/>
                <a:cs typeface="+mn-cs"/>
              </a:rPr>
              <a:t> to explain that due to the above ‘</a:t>
            </a:r>
            <a:r>
              <a:rPr lang="en-US" sz="1200" dirty="0" smtClean="0"/>
              <a:t>This has led to an explosion in the sexual abuse of children, as more and more offenders are accessing vulnerable children in these new budget destinations’</a:t>
            </a:r>
            <a:endParaRPr lang="en-US" b="0" dirty="0" smtClean="0"/>
          </a:p>
          <a:p>
            <a:pPr>
              <a:buFont typeface="Arial" pitchFamily="34" charset="0"/>
              <a:buNone/>
            </a:pPr>
            <a:endParaRPr lang="en-US" b="1"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20500304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a:t>
            </a:r>
            <a:endParaRPr lang="en-US" b="1" dirty="0" smtClean="0"/>
          </a:p>
          <a:p>
            <a:pPr>
              <a:buFont typeface="Arial" pitchFamily="34" charset="0"/>
              <a:buNone/>
            </a:pPr>
            <a:endParaRPr lang="en-US" b="1"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13647457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a:t>
            </a:r>
            <a:endParaRPr lang="en-US" b="1" dirty="0" smtClean="0"/>
          </a:p>
          <a:p>
            <a:pPr>
              <a:buFont typeface="Arial" pitchFamily="34" charset="0"/>
              <a:buNone/>
            </a:pPr>
            <a:endParaRPr lang="en-US" b="1"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29977255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a:t>
            </a:r>
            <a:endParaRPr lang="en-US" b="1" dirty="0" smtClean="0"/>
          </a:p>
          <a:p>
            <a:pPr>
              <a:buFont typeface="Arial" pitchFamily="34" charset="0"/>
              <a:buNone/>
            </a:pPr>
            <a:endParaRPr lang="en-US" b="1"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21511285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dirty="0" smtClean="0">
                <a:solidFill>
                  <a:schemeClr val="tx1"/>
                </a:solidFill>
                <a:latin typeface="+mn-lt"/>
                <a:ea typeface="+mn-ea"/>
                <a:cs typeface="+mn-cs"/>
              </a:rPr>
              <a:t>Trainer</a:t>
            </a:r>
            <a:r>
              <a:rPr lang="en-US" sz="1200" b="0" kern="1200" baseline="0" dirty="0" smtClean="0">
                <a:solidFill>
                  <a:schemeClr val="tx1"/>
                </a:solidFill>
                <a:latin typeface="+mn-lt"/>
                <a:ea typeface="+mn-ea"/>
                <a:cs typeface="+mn-cs"/>
              </a:rPr>
              <a:t> to discuss that children are just that and that the offender has all the power and influence, regardless of the child’s behavior or life situation</a:t>
            </a:r>
            <a:endParaRPr lang="en-US" b="0" dirty="0" smtClean="0"/>
          </a:p>
          <a:p>
            <a:pPr>
              <a:buFont typeface="Arial" pitchFamily="34" charset="0"/>
              <a:buNone/>
            </a:pPr>
            <a:endParaRPr lang="en-US" b="1" dirty="0" smtClean="0"/>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10377791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 and Activity: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refer the class to the Training Manual and discuss each point with students</a:t>
            </a:r>
            <a:endParaRPr lang="en-US" b="1" dirty="0" smtClean="0"/>
          </a:p>
          <a:p>
            <a:pPr>
              <a:buFont typeface="Arial" pitchFamily="34" charset="0"/>
              <a:buNone/>
            </a:pPr>
            <a:endParaRPr lang="en-US" b="1"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32568399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 and Activity: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refer the class to the Training Manual and discuss each point in class</a:t>
            </a:r>
            <a:endParaRPr lang="en-US" b="1" dirty="0" smtClean="0"/>
          </a:p>
          <a:p>
            <a:pPr>
              <a:buFont typeface="Arial" pitchFamily="34" charset="0"/>
              <a:buNone/>
            </a:pPr>
            <a:endParaRPr lang="en-US" b="1"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13310993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12674025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14002962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dirty="0" smtClean="0"/>
              <a:t>Trainer</a:t>
            </a:r>
            <a:r>
              <a:rPr lang="en-US" b="0" baseline="0" dirty="0" smtClean="0"/>
              <a:t> to explain that, due to the above, </a:t>
            </a:r>
            <a:r>
              <a:rPr lang="en-US" sz="1200" b="0" baseline="0" dirty="0" smtClean="0"/>
              <a:t>t</a:t>
            </a:r>
            <a:r>
              <a:rPr lang="en-US" sz="1200" dirty="0" smtClean="0"/>
              <a:t>his inevitably leads to the further breakdown of families and communities.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a:t>
            </a: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dirty="0" smtClean="0"/>
              <a:t> </a:t>
            </a:r>
            <a:endParaRPr lang="en-AU" sz="1200" dirty="0" smtClean="0"/>
          </a:p>
          <a:p>
            <a:pPr>
              <a:buFont typeface="Arial" pitchFamily="34" charset="0"/>
              <a:buChar char="•"/>
            </a:pPr>
            <a:endParaRPr lang="en-US" b="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2617931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 and Activity: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1" kern="1200" baseline="0" dirty="0" smtClean="0">
                <a:solidFill>
                  <a:schemeClr val="tx1"/>
                </a:solidFill>
                <a:latin typeface="+mn-lt"/>
                <a:ea typeface="+mn-ea"/>
                <a:cs typeface="+mn-cs"/>
              </a:rPr>
              <a:t> Activity: </a:t>
            </a:r>
            <a:r>
              <a:rPr lang="en-US" sz="1200" b="0" kern="1200" baseline="0" dirty="0" smtClean="0">
                <a:solidFill>
                  <a:schemeClr val="tx1"/>
                </a:solidFill>
                <a:latin typeface="+mn-lt"/>
                <a:ea typeface="+mn-ea"/>
                <a:cs typeface="+mn-cs"/>
              </a:rPr>
              <a:t>Trainer to discuss each of the above points with the class and ask why each of these may be an issue for an abused child or an adult that was abused as a child</a:t>
            </a:r>
            <a:endParaRPr lang="en-US" b="1"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30034644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16469607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 and Activity: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1" kern="1200" baseline="0" dirty="0" smtClean="0">
                <a:solidFill>
                  <a:schemeClr val="tx1"/>
                </a:solidFill>
                <a:latin typeface="+mn-lt"/>
                <a:ea typeface="+mn-ea"/>
                <a:cs typeface="+mn-cs"/>
              </a:rPr>
              <a:t>Activity: </a:t>
            </a:r>
            <a:r>
              <a:rPr lang="en-US" sz="1200" b="0" kern="1200" baseline="0" dirty="0" smtClean="0">
                <a:solidFill>
                  <a:schemeClr val="tx1"/>
                </a:solidFill>
                <a:latin typeface="+mn-lt"/>
                <a:ea typeface="+mn-ea"/>
                <a:cs typeface="+mn-cs"/>
              </a:rPr>
              <a:t>Trainer to discuss with class whether the discussion of sex is taboo in their local communities. If so, what ways that are culturally appropriate could be used to discuss the issue of CST and the CSEC?</a:t>
            </a:r>
            <a:endParaRPr lang="en-US" sz="1200" b="1" kern="120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14684133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40965946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a:t>
            </a:r>
          </a:p>
          <a:p>
            <a:pPr>
              <a:buFont typeface="Arial" pitchFamily="34" charset="0"/>
              <a:buNone/>
            </a:pPr>
            <a:endParaRPr lang="en-US" b="1"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1" dirty="0" smtClean="0"/>
              <a:t>Trainer</a:t>
            </a:r>
            <a:r>
              <a:rPr lang="en-US" b="1" baseline="0" dirty="0" smtClean="0"/>
              <a:t> to discuss the following points based on the above description: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dirty="0" smtClean="0"/>
              <a:t>Child victims of sexual abuse</a:t>
            </a:r>
            <a:r>
              <a:rPr lang="en-US" sz="1200" baseline="0" dirty="0" smtClean="0"/>
              <a:t> need to be</a:t>
            </a:r>
            <a:r>
              <a:rPr lang="en-US" sz="1200" dirty="0" smtClean="0"/>
              <a:t> protected, supported and provided with ongoing health care and educational opportunities.</a:t>
            </a:r>
            <a:endParaRPr lang="en-AU" sz="1200"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aseline="0" dirty="0" smtClean="0"/>
              <a:t> </a:t>
            </a:r>
            <a:r>
              <a:rPr lang="en-US" sz="1200" dirty="0" smtClean="0"/>
              <a:t>However, all of these options are costly and can never undo the harm.</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dirty="0" smtClean="0"/>
              <a:t>The best course of action for a community and the Hotel and Travel Industry within those communities is to work towards the elimination of CST before the impacts are felt by all concerned.</a:t>
            </a:r>
            <a:endParaRPr lang="en-AU" sz="1200"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1" baseline="0"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1" baseline="0"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9129606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a:t>
            </a:r>
          </a:p>
          <a:p>
            <a:pPr>
              <a:buFont typeface="Arial" pitchFamily="34" charset="0"/>
              <a:buNone/>
            </a:pPr>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31521545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 and Activity:</a:t>
            </a:r>
          </a:p>
          <a:p>
            <a:pPr>
              <a:buFont typeface="Arial" pitchFamily="34" charset="0"/>
              <a:buChar char="•"/>
            </a:pPr>
            <a:r>
              <a:rPr lang="en-US" b="0" dirty="0" smtClean="0"/>
              <a:t>Refer</a:t>
            </a:r>
            <a:r>
              <a:rPr lang="en-US" b="0" baseline="0" dirty="0" smtClean="0"/>
              <a:t> students to </a:t>
            </a:r>
            <a:r>
              <a:rPr lang="en-AU" sz="1200" dirty="0" smtClean="0"/>
              <a:t>the Training Manual for a comprehensive list of Impacts and discuss each point in detail asking the students</a:t>
            </a:r>
            <a:r>
              <a:rPr lang="en-AU" sz="1200" baseline="0" dirty="0" smtClean="0"/>
              <a:t> why they think that each of these points will impact on the Hotel and Travel Industries?</a:t>
            </a:r>
          </a:p>
          <a:p>
            <a:pPr>
              <a:buFont typeface="Arial" pitchFamily="34" charset="0"/>
              <a:buNone/>
            </a:pPr>
            <a:endParaRPr lang="en-AU" sz="1200" baseline="0" dirty="0" smtClean="0"/>
          </a:p>
          <a:p>
            <a:pPr>
              <a:buFont typeface="Arial" pitchFamily="34" charset="0"/>
              <a:buChar char="•"/>
            </a:pPr>
            <a:r>
              <a:rPr lang="en-AU" sz="1200" b="1" baseline="0" dirty="0" smtClean="0"/>
              <a:t>Other Suggestions for the above: </a:t>
            </a:r>
            <a:r>
              <a:rPr lang="en-US" baseline="0" dirty="0" smtClean="0"/>
              <a:t>include showing the students Trip Advisor Reviews and copies of Newspaper and Magazine articles regarding Child Sex Tourism</a:t>
            </a:r>
            <a:endParaRPr lang="en-US" b="1"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32079156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a:t>
            </a:r>
            <a:r>
              <a:rPr lang="en-US" b="1" baseline="0" dirty="0" smtClean="0"/>
              <a:t> and Activity:</a:t>
            </a:r>
          </a:p>
          <a:p>
            <a:pPr>
              <a:buFont typeface="Arial" pitchFamily="34" charset="0"/>
              <a:buChar char="•"/>
            </a:pPr>
            <a:r>
              <a:rPr lang="en-US" b="0" baseline="0" dirty="0" smtClean="0"/>
              <a:t>Trainer </a:t>
            </a:r>
            <a:r>
              <a:rPr lang="en-US" sz="1200" b="0" kern="1200" baseline="0" dirty="0" smtClean="0">
                <a:solidFill>
                  <a:schemeClr val="tx1"/>
                </a:solidFill>
                <a:latin typeface="+mn-lt"/>
                <a:ea typeface="+mn-ea"/>
                <a:cs typeface="+mn-cs"/>
              </a:rPr>
              <a:t>to direct students to the Training Manual and take students through each of the legal obligations explaining each point as necessary</a:t>
            </a:r>
            <a:endParaRPr lang="en-US" sz="1200" kern="1200" dirty="0" smtClean="0">
              <a:solidFill>
                <a:schemeClr val="tx1"/>
              </a:solidFill>
              <a:latin typeface="+mn-lt"/>
              <a:ea typeface="+mn-ea"/>
              <a:cs typeface="+mn-cs"/>
            </a:endParaRPr>
          </a:p>
          <a:p>
            <a:pPr>
              <a:buFont typeface="Arial" pitchFamily="34" charset="0"/>
              <a:buNone/>
            </a:pPr>
            <a:endParaRPr lang="en-US" dirty="0" smtClean="0"/>
          </a:p>
          <a:p>
            <a:pPr>
              <a:buFont typeface="Arial" pitchFamily="34" charset="0"/>
              <a:buChar char="•"/>
            </a:pPr>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35482038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a:t>
            </a:r>
          </a:p>
          <a:p>
            <a:pPr>
              <a:buFont typeface="Arial" pitchFamily="34" charset="0"/>
              <a:buNone/>
            </a:pPr>
            <a:endParaRPr lang="en-US" dirty="0" smtClean="0"/>
          </a:p>
          <a:p>
            <a:pPr>
              <a:buFont typeface="Arial" pitchFamily="34" charset="0"/>
              <a:buChar cha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25003215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a:t>
            </a:r>
          </a:p>
          <a:p>
            <a:pPr>
              <a:buFont typeface="Arial" pitchFamily="34" charset="0"/>
              <a:buNone/>
            </a:pPr>
            <a:endParaRPr lang="en-US" dirty="0" smtClean="0"/>
          </a:p>
          <a:p>
            <a:pPr>
              <a:buFont typeface="Arial" pitchFamily="34" charset="0"/>
              <a:buChar char="•"/>
            </a:pPr>
            <a:endParaRPr lang="en-US" dirty="0" smtClean="0"/>
          </a:p>
          <a:p>
            <a:pPr>
              <a:buFont typeface="Arial" pitchFamily="34" charset="0"/>
              <a:buNone/>
            </a:pPr>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420200962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 and Activity: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 and refer</a:t>
            </a:r>
            <a:r>
              <a:rPr lang="en-US" sz="1200" kern="1200" baseline="0" dirty="0" smtClean="0">
                <a:solidFill>
                  <a:schemeClr val="tx1"/>
                </a:solidFill>
                <a:latin typeface="+mn-lt"/>
                <a:ea typeface="+mn-ea"/>
                <a:cs typeface="+mn-cs"/>
              </a:rPr>
              <a:t> class to </a:t>
            </a:r>
            <a:r>
              <a:rPr lang="en-US" sz="1200" dirty="0" smtClean="0"/>
              <a:t>the Glossary of the Training Manual for a description of each offender type</a:t>
            </a:r>
            <a:endParaRPr lang="en-US" sz="1200" kern="1200" dirty="0" smtClean="0">
              <a:solidFill>
                <a:schemeClr val="tx1"/>
              </a:solidFill>
              <a:latin typeface="+mn-lt"/>
              <a:ea typeface="+mn-ea"/>
              <a:cs typeface="+mn-cs"/>
            </a:endParaRPr>
          </a:p>
          <a:p>
            <a:pPr>
              <a:buFont typeface="Arial" pitchFamily="34" charset="0"/>
              <a:buNone/>
            </a:pPr>
            <a:endParaRPr lang="en-US" dirty="0" smtClean="0"/>
          </a:p>
          <a:p>
            <a:pPr>
              <a:buFont typeface="Arial" pitchFamily="34" charset="0"/>
              <a:buChar char="•"/>
            </a:pPr>
            <a:endParaRPr lang="en-US" dirty="0" smtClean="0"/>
          </a:p>
          <a:p>
            <a:pPr>
              <a:buFont typeface="Arial" pitchFamily="34" charset="0"/>
              <a:buNone/>
            </a:pPr>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38919360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 and Activity: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a:t>
            </a:r>
            <a:r>
              <a:rPr lang="en-US" sz="1200" kern="1200" dirty="0" smtClean="0">
                <a:solidFill>
                  <a:schemeClr val="tx1"/>
                </a:solidFill>
                <a:latin typeface="+mn-lt"/>
                <a:ea typeface="+mn-ea"/>
                <a:cs typeface="+mn-cs"/>
              </a:rPr>
              <a:t> refer</a:t>
            </a:r>
            <a:r>
              <a:rPr lang="en-US" sz="1200" kern="1200" baseline="0" dirty="0" smtClean="0">
                <a:solidFill>
                  <a:schemeClr val="tx1"/>
                </a:solidFill>
                <a:latin typeface="+mn-lt"/>
                <a:ea typeface="+mn-ea"/>
                <a:cs typeface="+mn-cs"/>
              </a:rPr>
              <a:t> class to </a:t>
            </a:r>
            <a:r>
              <a:rPr lang="en-US" sz="1200" dirty="0" smtClean="0"/>
              <a:t>the Training Manual for a description of each offender type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dirty="0" smtClean="0">
                <a:solidFill>
                  <a:schemeClr val="tx1"/>
                </a:solidFill>
                <a:latin typeface="+mn-lt"/>
                <a:ea typeface="+mn-ea"/>
                <a:cs typeface="+mn-cs"/>
              </a:rPr>
              <a:t>Trainer</a:t>
            </a:r>
            <a:r>
              <a:rPr lang="en-US" sz="1200" kern="1200" baseline="0" dirty="0" smtClean="0">
                <a:solidFill>
                  <a:schemeClr val="tx1"/>
                </a:solidFill>
                <a:latin typeface="+mn-lt"/>
                <a:ea typeface="+mn-ea"/>
                <a:cs typeface="+mn-cs"/>
              </a:rPr>
              <a:t> to discuss each Variable and ask the class ‘why do each of these variables impact on CST’s growth?’</a:t>
            </a:r>
            <a:endParaRPr lang="en-US" sz="1200" kern="1200" dirty="0" smtClean="0">
              <a:solidFill>
                <a:schemeClr val="tx1"/>
              </a:solidFill>
              <a:latin typeface="+mn-lt"/>
              <a:ea typeface="+mn-ea"/>
              <a:cs typeface="+mn-cs"/>
            </a:endParaRPr>
          </a:p>
          <a:p>
            <a:pPr>
              <a:buFont typeface="Arial" pitchFamily="34" charset="0"/>
              <a:buNone/>
            </a:pPr>
            <a:endParaRPr lang="en-US" dirty="0" smtClean="0"/>
          </a:p>
          <a:p>
            <a:pPr>
              <a:buFont typeface="Arial" pitchFamily="34" charset="0"/>
              <a:buChar char="•"/>
            </a:pPr>
            <a:endParaRPr lang="en-US" dirty="0" smtClean="0"/>
          </a:p>
          <a:p>
            <a:pPr>
              <a:buFont typeface="Arial" pitchFamily="34" charset="0"/>
              <a:buNone/>
            </a:pPr>
            <a:endParaRPr lang="en-US" dirty="0" smtClean="0"/>
          </a:p>
          <a:p>
            <a:pPr>
              <a:buFont typeface="Arial" pitchFamily="34" charset="0"/>
              <a:buChar char="•"/>
            </a:pPr>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35363563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 and Activity: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a:t>
            </a:r>
            <a:r>
              <a:rPr lang="en-US" sz="1200" kern="1200" dirty="0" smtClean="0">
                <a:solidFill>
                  <a:schemeClr val="tx1"/>
                </a:solidFill>
                <a:latin typeface="+mn-lt"/>
                <a:ea typeface="+mn-ea"/>
                <a:cs typeface="+mn-cs"/>
              </a:rPr>
              <a:t> refer</a:t>
            </a:r>
            <a:r>
              <a:rPr lang="en-US" sz="1200" kern="1200" baseline="0" dirty="0" smtClean="0">
                <a:solidFill>
                  <a:schemeClr val="tx1"/>
                </a:solidFill>
                <a:latin typeface="+mn-lt"/>
                <a:ea typeface="+mn-ea"/>
                <a:cs typeface="+mn-cs"/>
              </a:rPr>
              <a:t> class to </a:t>
            </a:r>
            <a:r>
              <a:rPr lang="en-US" sz="1200" dirty="0" smtClean="0"/>
              <a:t>the Training Manual for a description of an offender’s Modus Operandi</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dirty="0" smtClean="0">
                <a:solidFill>
                  <a:schemeClr val="tx1"/>
                </a:solidFill>
                <a:latin typeface="+mn-lt"/>
                <a:ea typeface="+mn-ea"/>
                <a:cs typeface="+mn-cs"/>
              </a:rPr>
              <a:t>Trainer</a:t>
            </a:r>
            <a:r>
              <a:rPr lang="en-US" sz="1200" kern="1200" baseline="0" dirty="0" smtClean="0">
                <a:solidFill>
                  <a:schemeClr val="tx1"/>
                </a:solidFill>
                <a:latin typeface="+mn-lt"/>
                <a:ea typeface="+mn-ea"/>
                <a:cs typeface="+mn-cs"/>
              </a:rPr>
              <a:t> to discuss each Variable and ask the class ‘why do each of these variables impacts on CST’s growth?’</a:t>
            </a:r>
            <a:endParaRPr lang="en-US" sz="1200" kern="1200" dirty="0" smtClean="0">
              <a:solidFill>
                <a:schemeClr val="tx1"/>
              </a:solidFill>
              <a:latin typeface="+mn-lt"/>
              <a:ea typeface="+mn-ea"/>
              <a:cs typeface="+mn-cs"/>
            </a:endParaRPr>
          </a:p>
          <a:p>
            <a:pPr>
              <a:buFont typeface="Arial" pitchFamily="34" charset="0"/>
              <a:buNone/>
            </a:pPr>
            <a:endParaRPr lang="en-US" dirty="0" smtClean="0"/>
          </a:p>
          <a:p>
            <a:pPr>
              <a:buFont typeface="Arial" pitchFamily="34" charset="0"/>
              <a:buChar char="•"/>
            </a:pPr>
            <a:endParaRPr lang="en-US" dirty="0" smtClean="0"/>
          </a:p>
          <a:p>
            <a:pPr>
              <a:buFont typeface="Arial" pitchFamily="34" charset="0"/>
              <a:buNone/>
            </a:pPr>
            <a:endParaRPr lang="en-US" dirty="0" smtClean="0"/>
          </a:p>
          <a:p>
            <a:pPr>
              <a:buFont typeface="Arial" pitchFamily="34" charset="0"/>
              <a:buChar char="•"/>
            </a:pPr>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390014173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a:t>
            </a:r>
          </a:p>
          <a:p>
            <a:pPr>
              <a:buFont typeface="Arial" pitchFamily="34" charset="0"/>
              <a:buNone/>
            </a:pPr>
            <a:endParaRPr lang="en-US" dirty="0" smtClean="0"/>
          </a:p>
          <a:p>
            <a:pPr>
              <a:buFont typeface="Arial" pitchFamily="34" charset="0"/>
              <a:buChar cha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164380841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0" dirty="0" smtClean="0"/>
              <a:t> </a:t>
            </a:r>
            <a:r>
              <a:rPr lang="en-US" b="1" dirty="0" smtClean="0"/>
              <a:t>Trainer Notes</a:t>
            </a:r>
            <a:r>
              <a:rPr lang="en-US" b="1" baseline="0" dirty="0" smtClean="0"/>
              <a:t> and Activity: </a:t>
            </a:r>
            <a:r>
              <a:rPr lang="en-US" b="0" baseline="0" dirty="0" smtClean="0"/>
              <a:t>The Trainer could ask the class if there are any other positions in the Hotel and Travel Industries that are not included on the list above.</a:t>
            </a:r>
            <a:endParaRPr lang="en-US" b="0" dirty="0" smtClean="0"/>
          </a:p>
          <a:p>
            <a:pPr>
              <a:buFont typeface="Arial" pitchFamily="34" charset="0"/>
              <a:buNone/>
            </a:pPr>
            <a:endParaRPr lang="en-US" dirty="0" smtClean="0"/>
          </a:p>
          <a:p>
            <a:pPr>
              <a:buFont typeface="Arial" pitchFamily="34" charset="0"/>
              <a:buChar char="•"/>
            </a:pPr>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12787216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a:t>
            </a:r>
          </a:p>
          <a:p>
            <a:pPr>
              <a:buFont typeface="Arial" pitchFamily="34" charset="0"/>
              <a:buNone/>
            </a:pPr>
            <a:endParaRPr lang="en-US" dirty="0" smtClean="0"/>
          </a:p>
          <a:p>
            <a:pPr>
              <a:buFont typeface="Arial" pitchFamily="34" charset="0"/>
              <a:buChar char="•"/>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10561586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 and Activity: </a:t>
            </a:r>
            <a:r>
              <a:rPr lang="en-US" b="0" dirty="0" smtClean="0"/>
              <a:t>The</a:t>
            </a:r>
            <a:r>
              <a:rPr lang="en-US" b="1" baseline="0" dirty="0" smtClean="0"/>
              <a:t> </a:t>
            </a:r>
            <a:r>
              <a:rPr lang="en-US" b="0" baseline="0" dirty="0" smtClean="0"/>
              <a:t>Trainer should familiarize themselves with the United Nations Convention on the Rights of the Child, particularly Articles 19, 27, 31, 32, 34 and 35 and refer students to the Training Manual for a detailed breakdown of each Article</a:t>
            </a:r>
          </a:p>
          <a:p>
            <a:pPr>
              <a:buFont typeface="Arial" pitchFamily="34" charset="0"/>
              <a:buChar char="•"/>
            </a:pPr>
            <a:endParaRPr lang="en-US" b="0" baseline="0" dirty="0" smtClean="0"/>
          </a:p>
          <a:p>
            <a:pPr>
              <a:buFont typeface="Arial" pitchFamily="34" charset="0"/>
              <a:buChar char="•"/>
            </a:pPr>
            <a:r>
              <a:rPr lang="en-US" b="0" baseline="0" dirty="0" smtClean="0"/>
              <a:t> The United Nations Convention on the Rights of the Child can be found here: </a:t>
            </a:r>
          </a:p>
          <a:p>
            <a:pPr>
              <a:buFont typeface="Arial" pitchFamily="34" charset="0"/>
              <a:buNone/>
            </a:pPr>
            <a:endParaRPr lang="en-US" b="0" baseline="0" dirty="0" smtClean="0"/>
          </a:p>
          <a:p>
            <a:pPr>
              <a:buFont typeface="Arial" pitchFamily="34" charset="0"/>
              <a:buNone/>
            </a:pPr>
            <a:r>
              <a:rPr lang="en-US" b="0" baseline="0" dirty="0" smtClean="0"/>
              <a:t>http://www.crin.org/docs/resources/treaties/uncrc.asp#Thirty_four</a:t>
            </a:r>
          </a:p>
          <a:p>
            <a:pPr>
              <a:buFont typeface="Arial" pitchFamily="34" charset="0"/>
              <a:buNone/>
            </a:pPr>
            <a:endParaRPr lang="en-US" b="0" baseline="0" dirty="0" smtClean="0"/>
          </a:p>
          <a:p>
            <a:pPr>
              <a:buFont typeface="Arial" pitchFamily="34" charset="0"/>
              <a:buChar char="•"/>
            </a:pPr>
            <a:r>
              <a:rPr lang="en-US" b="0" baseline="0" dirty="0" smtClean="0"/>
              <a:t> </a:t>
            </a:r>
            <a:r>
              <a:rPr lang="en-US" b="1" baseline="0" dirty="0" smtClean="0"/>
              <a:t>Activity 2: </a:t>
            </a:r>
            <a:r>
              <a:rPr lang="en-US" b="0" baseline="0" dirty="0" smtClean="0"/>
              <a:t>If time permits it is suggested that the Trainer also take the students through each of the above suggested articles and relate the importance of the Hotel and Tourism Industries adhering to these laws in their workplaces, business operations and dealings with customers.</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38430988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a:t>
            </a:r>
          </a:p>
          <a:p>
            <a:pPr>
              <a:buFont typeface="Arial" pitchFamily="34" charset="0"/>
              <a:buNone/>
            </a:pPr>
            <a:endParaRPr lang="en-US" dirty="0" smtClean="0"/>
          </a:p>
          <a:p>
            <a:pPr>
              <a:buFont typeface="Arial" pitchFamily="34" charset="0"/>
              <a:buChar cha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87564777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a:t>
            </a:r>
            <a:r>
              <a:rPr lang="en-US" b="1" dirty="0" smtClean="0"/>
              <a:t>Trainer Notes: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a:t>
            </a:r>
          </a:p>
          <a:p>
            <a:pPr>
              <a:buFont typeface="Arial" pitchFamily="34" charset="0"/>
              <a:buNone/>
            </a:pPr>
            <a:endParaRPr lang="en-US" dirty="0" smtClean="0"/>
          </a:p>
          <a:p>
            <a:pPr>
              <a:buFont typeface="Arial" pitchFamily="34" charset="0"/>
              <a:buChar cha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108317183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a:t>
            </a:r>
            <a:r>
              <a:rPr lang="en-US" b="1" dirty="0" smtClean="0"/>
              <a:t>Trainer</a:t>
            </a:r>
            <a:r>
              <a:rPr lang="en-US" b="1" baseline="0" dirty="0" smtClean="0"/>
              <a:t> Notes:</a:t>
            </a:r>
          </a:p>
          <a:p>
            <a:pPr>
              <a:buFont typeface="Arial" pitchFamily="34" charset="0"/>
              <a:buChar char="•"/>
            </a:pPr>
            <a:r>
              <a:rPr lang="en-US" b="0" baseline="0" dirty="0" smtClean="0"/>
              <a:t> Trainer to discuss above points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145084633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a:t>
            </a:r>
            <a:r>
              <a:rPr lang="en-US" sz="1200" b="1" kern="1200" baseline="0" dirty="0" smtClean="0">
                <a:solidFill>
                  <a:schemeClr val="tx1"/>
                </a:solidFill>
                <a:latin typeface="+mn-lt"/>
                <a:ea typeface="+mn-ea"/>
                <a:cs typeface="+mn-cs"/>
              </a:rPr>
              <a:t>Trainer Notes and Activity: </a:t>
            </a:r>
            <a:r>
              <a:rPr lang="en-US" sz="1200" b="0" kern="1200" baseline="0" dirty="0" smtClean="0">
                <a:solidFill>
                  <a:schemeClr val="tx1"/>
                </a:solidFill>
                <a:latin typeface="+mn-lt"/>
                <a:ea typeface="+mn-ea"/>
                <a:cs typeface="+mn-cs"/>
              </a:rPr>
              <a:t>It is suggested that the Trainer show students the following website:</a:t>
            </a:r>
          </a:p>
          <a:p>
            <a:pPr>
              <a:buFont typeface="Arial" pitchFamily="34" charset="0"/>
              <a:buNone/>
            </a:pPr>
            <a:endParaRPr lang="en-US" sz="1200" b="0" kern="1200" baseline="0" dirty="0" smtClean="0">
              <a:solidFill>
                <a:schemeClr val="tx1"/>
              </a:solidFill>
              <a:latin typeface="+mn-lt"/>
              <a:ea typeface="+mn-ea"/>
              <a:cs typeface="+mn-cs"/>
            </a:endParaRPr>
          </a:p>
          <a:p>
            <a:pPr lvl="1">
              <a:buFont typeface="Arial" pitchFamily="34" charset="0"/>
              <a:buNone/>
            </a:pPr>
            <a:r>
              <a:rPr lang="en-US" sz="1200" b="0" kern="1200" baseline="0" dirty="0" smtClean="0">
                <a:solidFill>
                  <a:schemeClr val="tx1"/>
                </a:solidFill>
                <a:latin typeface="+mn-lt"/>
                <a:ea typeface="+mn-ea"/>
                <a:cs typeface="+mn-cs"/>
              </a:rPr>
              <a:t>http://www.thefuturegroup.org/youwillbecaught/laws.html</a:t>
            </a:r>
          </a:p>
          <a:p>
            <a:pPr lvl="1">
              <a:buFont typeface="Arial" pitchFamily="34" charset="0"/>
              <a:buNone/>
            </a:pPr>
            <a:endParaRPr lang="en-US" sz="1200" b="0" kern="1200" baseline="0" dirty="0" smtClean="0">
              <a:solidFill>
                <a:schemeClr val="tx1"/>
              </a:solidFill>
              <a:latin typeface="+mn-lt"/>
              <a:ea typeface="+mn-ea"/>
              <a:cs typeface="+mn-cs"/>
            </a:endParaRPr>
          </a:p>
          <a:p>
            <a:pPr lvl="0">
              <a:buFont typeface="Arial"/>
              <a:buChar char="•"/>
            </a:pPr>
            <a:r>
              <a:rPr lang="en-US" b="0" kern="1200" baseline="0" dirty="0" smtClean="0">
                <a:solidFill>
                  <a:schemeClr val="tx1"/>
                </a:solidFill>
                <a:latin typeface="+mn-lt"/>
                <a:ea typeface="+mn-ea"/>
                <a:cs typeface="+mn-cs"/>
              </a:rPr>
              <a:t> This is a very good resource website that contains information on which countries have Extraterritorial Laws, has a ‘Report an Offender’ page, a list of international </a:t>
            </a:r>
            <a:r>
              <a:rPr lang="en-US" b="0" dirty="0" smtClean="0"/>
              <a:t>Partners who</a:t>
            </a:r>
            <a:r>
              <a:rPr lang="en-US" b="0" baseline="0" dirty="0" smtClean="0"/>
              <a:t> are</a:t>
            </a:r>
            <a:r>
              <a:rPr lang="en-US" b="0" dirty="0" smtClean="0"/>
              <a:t> fighting the CSEC, information</a:t>
            </a:r>
            <a:r>
              <a:rPr lang="en-US" b="0" baseline="0" dirty="0" smtClean="0"/>
              <a:t> on Health Issues and on Offenders who have been caught and prosecuted.</a:t>
            </a:r>
          </a:p>
          <a:p>
            <a:pPr lvl="0">
              <a:buFont typeface="Arial"/>
              <a:buNone/>
            </a:pPr>
            <a:endParaRPr lang="en-US" b="0" baseline="0" dirty="0" smtClean="0"/>
          </a:p>
          <a:p>
            <a:pPr>
              <a:buFont typeface="Arial" pitchFamily="34" charset="0"/>
              <a:buChar char="•"/>
            </a:pPr>
            <a:r>
              <a:rPr lang="en-US" b="1" baseline="0" dirty="0" smtClean="0"/>
              <a:t> </a:t>
            </a:r>
            <a:r>
              <a:rPr lang="en-US" b="1" dirty="0" smtClean="0"/>
              <a:t>Activity: </a:t>
            </a:r>
            <a:r>
              <a:rPr lang="en-US" b="0" dirty="0" smtClean="0"/>
              <a:t>Break the students into groups of 3 – 4 and then</a:t>
            </a:r>
            <a:r>
              <a:rPr lang="en-US" b="0" baseline="0" dirty="0" smtClean="0"/>
              <a:t> if internet access is available give each of the groups one of the examples listed in the Training Manual and ask them to research this particular Global Effort and to report back to the class on their findings.</a:t>
            </a:r>
          </a:p>
          <a:p>
            <a:pPr>
              <a:buFont typeface="Arial" pitchFamily="34" charset="0"/>
              <a:buChar char="•"/>
            </a:pPr>
            <a:r>
              <a:rPr lang="en-US" b="0" baseline="0" dirty="0" smtClean="0"/>
              <a:t> If internet access is unavailable the Trainer can download information from these sites and prepare information packs on each of these Global Efforts to give to the students to complete this activity</a:t>
            </a:r>
          </a:p>
          <a:p>
            <a:pPr>
              <a:buFont typeface="Arial" pitchFamily="34" charset="0"/>
              <a:buChar char="•"/>
            </a:pPr>
            <a:r>
              <a:rPr lang="en-US" b="0" baseline="0" dirty="0" smtClean="0"/>
              <a:t> 20 - 30 Minutes should be more than enough time for the Research part of this Activity</a:t>
            </a:r>
            <a:endParaRPr lang="en-US" b="0" dirty="0" smtClean="0"/>
          </a:p>
          <a:p>
            <a:pPr lvl="0">
              <a:buFont typeface="Arial"/>
              <a:buChar char="•"/>
            </a:pP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219198310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a:t>
            </a:r>
          </a:p>
          <a:p>
            <a:pPr>
              <a:buFont typeface="Arial" pitchFamily="34" charset="0"/>
              <a:buNone/>
            </a:pPr>
            <a:endParaRPr lang="en-US" dirty="0" smtClean="0"/>
          </a:p>
          <a:p>
            <a:pPr>
              <a:buFont typeface="Arial" pitchFamily="34" charset="0"/>
              <a:buChar cha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7172483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a:t>
            </a:r>
          </a:p>
          <a:p>
            <a:pPr>
              <a:buFont typeface="Arial" pitchFamily="34" charset="0"/>
              <a:buNone/>
            </a:pPr>
            <a:endParaRPr lang="en-US" dirty="0" smtClean="0"/>
          </a:p>
          <a:p>
            <a:pPr>
              <a:buFont typeface="Arial" pitchFamily="34" charset="0"/>
              <a:buChar char="•"/>
            </a:pPr>
            <a:endParaRPr lang="en-US" dirty="0" smtClean="0"/>
          </a:p>
          <a:p>
            <a:pPr>
              <a:buFont typeface="Arial" pitchFamily="34" charset="0"/>
              <a:buNone/>
            </a:pPr>
            <a:endParaRPr lang="en-US"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56890911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a:t>
            </a:r>
          </a:p>
          <a:p>
            <a:pPr>
              <a:buFont typeface="Arial" pitchFamily="34" charset="0"/>
              <a:buNone/>
            </a:pPr>
            <a:endParaRPr lang="en-US" dirty="0" smtClean="0"/>
          </a:p>
          <a:p>
            <a:pPr>
              <a:buFont typeface="Arial" pitchFamily="34" charset="0"/>
              <a:buChar char="•"/>
            </a:pPr>
            <a:endParaRPr lang="en-US" dirty="0" smtClean="0"/>
          </a:p>
          <a:p>
            <a:pPr>
              <a:buFont typeface="Arial" pitchFamily="34" charset="0"/>
              <a:buNone/>
            </a:pPr>
            <a:endParaRPr lang="en-US"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117716439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dirty="0" smtClean="0"/>
              <a:t>Trainer Notes and Activity:</a:t>
            </a:r>
          </a:p>
          <a:p>
            <a:pPr marL="0" marR="0" indent="0" algn="l" defTabSz="914400" rtl="0" eaLnBrk="1" fontAlgn="auto" latinLnBrk="0" hangingPunct="1">
              <a:lnSpc>
                <a:spcPct val="100000"/>
              </a:lnSpc>
              <a:spcBef>
                <a:spcPts val="0"/>
              </a:spcBef>
              <a:spcAft>
                <a:spcPts val="0"/>
              </a:spcAft>
              <a:buClrTx/>
              <a:buSzTx/>
              <a:buFont typeface="Arial"/>
              <a:buChar char="•"/>
              <a:tabLst/>
              <a:defRPr/>
            </a:pPr>
            <a:r>
              <a:rPr lang="en-US" b="1" dirty="0" smtClean="0"/>
              <a:t> </a:t>
            </a:r>
            <a:r>
              <a:rPr lang="en-US" b="0" dirty="0" smtClean="0"/>
              <a:t>Trainer</a:t>
            </a:r>
            <a:r>
              <a:rPr lang="en-US" b="0" baseline="0" dirty="0" smtClean="0"/>
              <a:t> to refer class  to the Training Manual and go through each of the Support examples shown</a:t>
            </a:r>
            <a:r>
              <a:rPr lang="en-US" b="1" dirty="0" smtClean="0"/>
              <a:t> </a:t>
            </a:r>
          </a:p>
          <a:p>
            <a:pPr marL="0" marR="0" indent="0" algn="l" defTabSz="914400" rtl="0" eaLnBrk="1" fontAlgn="auto" latinLnBrk="0" hangingPunct="1">
              <a:lnSpc>
                <a:spcPct val="100000"/>
              </a:lnSpc>
              <a:spcBef>
                <a:spcPts val="0"/>
              </a:spcBef>
              <a:spcAft>
                <a:spcPts val="0"/>
              </a:spcAft>
              <a:buClrTx/>
              <a:buSzTx/>
              <a:buFont typeface="Arial"/>
              <a:buChar char="•"/>
              <a:tabLst/>
              <a:defRPr/>
            </a:pPr>
            <a:r>
              <a:rPr lang="en-US" b="1" baseline="0" dirty="0" smtClean="0"/>
              <a:t> </a:t>
            </a:r>
            <a:r>
              <a:rPr lang="en-US" b="0" dirty="0" smtClean="0"/>
              <a:t>The Trainer could research</a:t>
            </a:r>
            <a:r>
              <a:rPr lang="en-US" b="0" baseline="0" dirty="0" smtClean="0"/>
              <a:t> local, national and regional organizations and prepare a Handout Pack of this information for students.</a:t>
            </a:r>
            <a:endParaRPr lang="en-US"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190792088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 and Activity: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dirty="0" smtClean="0">
                <a:solidFill>
                  <a:schemeClr val="tx1"/>
                </a:solidFill>
                <a:latin typeface="+mn-lt"/>
                <a:ea typeface="+mn-ea"/>
                <a:cs typeface="+mn-cs"/>
              </a:rPr>
              <a:t> Trainer</a:t>
            </a:r>
            <a:r>
              <a:rPr lang="en-US" sz="1200" kern="1200" baseline="0" dirty="0" smtClean="0">
                <a:solidFill>
                  <a:schemeClr val="tx1"/>
                </a:solidFill>
                <a:latin typeface="+mn-lt"/>
                <a:ea typeface="+mn-ea"/>
                <a:cs typeface="+mn-cs"/>
              </a:rPr>
              <a:t> could access some of the local awareness raising items available and distribute to the class, asking the class if they had seen them anywhere before and where would be the best place to locate them in their workplaces?</a:t>
            </a:r>
            <a:endParaRPr lang="en-US" sz="1200" kern="1200" dirty="0" smtClean="0">
              <a:solidFill>
                <a:schemeClr val="tx1"/>
              </a:solidFill>
              <a:latin typeface="+mn-lt"/>
              <a:ea typeface="+mn-ea"/>
              <a:cs typeface="+mn-cs"/>
            </a:endParaRPr>
          </a:p>
          <a:p>
            <a:pPr>
              <a:buFont typeface="Arial" pitchFamily="34" charset="0"/>
              <a:buNone/>
            </a:pPr>
            <a:endParaRPr lang="en-US" dirty="0" smtClean="0"/>
          </a:p>
          <a:p>
            <a:pPr>
              <a:buFont typeface="Arial" pitchFamily="34" charset="0"/>
              <a:buChar char="•"/>
            </a:pPr>
            <a:endParaRPr lang="en-US" dirty="0" smtClean="0"/>
          </a:p>
          <a:p>
            <a:pPr>
              <a:buFont typeface="Arial" pitchFamily="34" charset="0"/>
              <a:buNone/>
            </a:pPr>
            <a:endParaRPr lang="en-US" dirty="0" smtClean="0"/>
          </a:p>
          <a:p>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237340752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 and Activity: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refer students to the Training Manual and go through each point with the class asking them do their businesses already do these things? If not could they?</a:t>
            </a:r>
            <a:endParaRPr lang="en-US" sz="1200" kern="1200" dirty="0" smtClean="0">
              <a:solidFill>
                <a:schemeClr val="tx1"/>
              </a:solidFill>
              <a:latin typeface="+mn-lt"/>
              <a:ea typeface="+mn-ea"/>
              <a:cs typeface="+mn-cs"/>
            </a:endParaRPr>
          </a:p>
          <a:p>
            <a:pPr>
              <a:buFont typeface="Arial" pitchFamily="34" charset="0"/>
              <a:buNone/>
            </a:pPr>
            <a:endParaRPr lang="en-US" dirty="0" smtClean="0"/>
          </a:p>
          <a:p>
            <a:pPr>
              <a:buFont typeface="Arial" pitchFamily="34" charset="0"/>
              <a:buChar char="•"/>
            </a:pPr>
            <a:endParaRPr lang="en-US" dirty="0" smtClean="0"/>
          </a:p>
          <a:p>
            <a:pPr>
              <a:buFont typeface="Arial" pitchFamily="34" charset="0"/>
              <a:buNone/>
            </a:pPr>
            <a:endParaRPr lang="en-US" dirty="0" smtClean="0"/>
          </a:p>
          <a:p>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390545026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a:t>
            </a:r>
          </a:p>
          <a:p>
            <a:pPr>
              <a:buFont typeface="Arial" pitchFamily="34" charset="0"/>
              <a:buNone/>
            </a:pPr>
            <a:endParaRPr lang="en-US" dirty="0" smtClean="0"/>
          </a:p>
          <a:p>
            <a:pPr>
              <a:buFont typeface="Arial" pitchFamily="34" charset="0"/>
              <a:buChar char="•"/>
            </a:pPr>
            <a:endParaRPr lang="en-US" dirty="0" smtClean="0"/>
          </a:p>
          <a:p>
            <a:pPr>
              <a:buFont typeface="Arial" pitchFamily="34" charset="0"/>
              <a:buNone/>
            </a:pPr>
            <a:endParaRPr lang="en-US" dirty="0" smtClean="0"/>
          </a:p>
          <a:p>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2862330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a:t>
            </a:r>
          </a:p>
          <a:p>
            <a:pPr>
              <a:buFont typeface="Arial" pitchFamily="34" charset="0"/>
              <a:buNone/>
            </a:pPr>
            <a:endParaRPr lang="en-US" dirty="0" smtClean="0"/>
          </a:p>
          <a:p>
            <a:pPr>
              <a:buFont typeface="Arial" pitchFamily="34" charset="0"/>
              <a:buChar char="•"/>
            </a:pPr>
            <a:endParaRPr lang="en-US" dirty="0" smtClean="0"/>
          </a:p>
          <a:p>
            <a:pPr>
              <a:buFont typeface="Arial" pitchFamily="34" charset="0"/>
              <a:buNone/>
            </a:pPr>
            <a:endParaRPr lang="en-US" dirty="0" smtClean="0"/>
          </a:p>
          <a:p>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397845775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a:t>
            </a:r>
          </a:p>
          <a:p>
            <a:pPr>
              <a:buFont typeface="Arial" pitchFamily="34" charset="0"/>
              <a:buNone/>
            </a:pPr>
            <a:endParaRPr lang="en-US" dirty="0" smtClean="0"/>
          </a:p>
          <a:p>
            <a:pPr>
              <a:buFont typeface="Arial" pitchFamily="34" charset="0"/>
              <a:buChar char="•"/>
            </a:pPr>
            <a:endParaRPr lang="en-US" dirty="0" smtClean="0"/>
          </a:p>
          <a:p>
            <a:pPr>
              <a:buFont typeface="Arial" pitchFamily="34" charset="0"/>
              <a:buNone/>
            </a:pPr>
            <a:endParaRPr lang="en-US" dirty="0" smtClean="0"/>
          </a:p>
          <a:p>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187405565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a:t>
            </a:r>
          </a:p>
          <a:p>
            <a:pPr>
              <a:buFont typeface="Arial" pitchFamily="34" charset="0"/>
              <a:buNone/>
            </a:pPr>
            <a:endParaRPr lang="en-US" dirty="0" smtClean="0"/>
          </a:p>
          <a:p>
            <a:pPr>
              <a:buFont typeface="Arial" pitchFamily="34" charset="0"/>
              <a:buChar char="•"/>
            </a:pPr>
            <a:endParaRPr lang="en-US" dirty="0" smtClean="0"/>
          </a:p>
          <a:p>
            <a:pPr>
              <a:buFont typeface="Arial" pitchFamily="34" charset="0"/>
              <a:buNone/>
            </a:pPr>
            <a:endParaRPr lang="en-US" dirty="0" smtClean="0"/>
          </a:p>
          <a:p>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364407644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a:t>
            </a:r>
          </a:p>
          <a:p>
            <a:pPr>
              <a:buFont typeface="Arial" pitchFamily="34" charset="0"/>
              <a:buNone/>
            </a:pPr>
            <a:endParaRPr lang="en-US" dirty="0" smtClean="0"/>
          </a:p>
          <a:p>
            <a:pPr>
              <a:buFont typeface="Arial" pitchFamily="34" charset="0"/>
              <a:buChar char="•"/>
            </a:pPr>
            <a:endParaRPr lang="en-US" dirty="0" smtClean="0"/>
          </a:p>
          <a:p>
            <a:pPr>
              <a:buFont typeface="Arial" pitchFamily="34" charset="0"/>
              <a:buNone/>
            </a:pPr>
            <a:endParaRPr lang="en-US" dirty="0" smtClean="0"/>
          </a:p>
          <a:p>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341950891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1" dirty="0" smtClean="0"/>
              <a:t>Trainer Notes and Activity: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refer class to the Training Manual for a detailed list of Reporting Mechanisms and discuss them with the students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baseline="0" dirty="0" smtClean="0">
                <a:solidFill>
                  <a:schemeClr val="tx1"/>
                </a:solidFill>
                <a:latin typeface="+mn-lt"/>
                <a:ea typeface="+mn-ea"/>
                <a:cs typeface="+mn-cs"/>
              </a:rPr>
              <a:t> </a:t>
            </a:r>
            <a:r>
              <a:rPr lang="en-US" sz="1200" b="1" kern="1200" baseline="0" dirty="0" smtClean="0">
                <a:solidFill>
                  <a:schemeClr val="tx1"/>
                </a:solidFill>
                <a:latin typeface="+mn-lt"/>
                <a:ea typeface="+mn-ea"/>
                <a:cs typeface="+mn-cs"/>
              </a:rPr>
              <a:t>Activity: </a:t>
            </a:r>
            <a:r>
              <a:rPr lang="en-US" sz="1200" b="0" kern="1200" baseline="0" dirty="0" smtClean="0">
                <a:solidFill>
                  <a:schemeClr val="tx1"/>
                </a:solidFill>
                <a:latin typeface="+mn-lt"/>
                <a:ea typeface="+mn-ea"/>
                <a:cs typeface="+mn-cs"/>
              </a:rPr>
              <a:t>If internet access is available ask the class to research the following: </a:t>
            </a:r>
          </a:p>
          <a:p>
            <a:pPr marL="45720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0" kern="1200" baseline="0" dirty="0" smtClean="0">
                <a:solidFill>
                  <a:schemeClr val="tx1"/>
                </a:solidFill>
                <a:latin typeface="+mn-lt"/>
                <a:ea typeface="+mn-ea"/>
                <a:cs typeface="+mn-cs"/>
              </a:rPr>
              <a:t> </a:t>
            </a: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baseline="0" dirty="0" smtClean="0">
                <a:solidFill>
                  <a:schemeClr val="tx1"/>
                </a:solidFill>
                <a:latin typeface="+mn-lt"/>
                <a:ea typeface="+mn-ea"/>
                <a:cs typeface="+mn-cs"/>
              </a:rPr>
              <a:t> their local Child Helpline International Number</a:t>
            </a: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baseline="0" dirty="0" smtClean="0">
                <a:solidFill>
                  <a:schemeClr val="tx1"/>
                </a:solidFill>
                <a:latin typeface="+mn-lt"/>
                <a:ea typeface="+mn-ea"/>
                <a:cs typeface="+mn-cs"/>
              </a:rPr>
              <a:t> their local ECPAT or Child Protection Agency contact details</a:t>
            </a: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baseline="0" dirty="0" smtClean="0">
                <a:solidFill>
                  <a:schemeClr val="tx1"/>
                </a:solidFill>
                <a:latin typeface="+mn-lt"/>
                <a:ea typeface="+mn-ea"/>
                <a:cs typeface="+mn-cs"/>
              </a:rPr>
              <a:t> the contact details for any local authorities dealing with CST</a:t>
            </a: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baseline="0" dirty="0" smtClean="0">
                <a:solidFill>
                  <a:schemeClr val="tx1"/>
                </a:solidFill>
                <a:latin typeface="+mn-lt"/>
                <a:ea typeface="+mn-ea"/>
                <a:cs typeface="+mn-cs"/>
              </a:rPr>
              <a:t> the contact details of local embassies</a:t>
            </a:r>
            <a:endParaRPr lang="en-US" sz="1200" kern="1200" dirty="0" smtClean="0">
              <a:solidFill>
                <a:schemeClr val="tx1"/>
              </a:solidFill>
              <a:latin typeface="+mn-lt"/>
              <a:ea typeface="+mn-ea"/>
              <a:cs typeface="+mn-cs"/>
            </a:endParaRPr>
          </a:p>
          <a:p>
            <a:pPr>
              <a:buFont typeface="Arial" pitchFamily="34" charset="0"/>
              <a:buNone/>
            </a:pPr>
            <a:endParaRPr lang="en-US" dirty="0" smtClean="0"/>
          </a:p>
          <a:p>
            <a:pPr>
              <a:buFont typeface="Arial" pitchFamily="34" charset="0"/>
              <a:buChar char="•"/>
            </a:pPr>
            <a:endParaRPr lang="en-US" dirty="0" smtClean="0"/>
          </a:p>
          <a:p>
            <a:pPr>
              <a:buFont typeface="Arial" pitchFamily="34" charset="0"/>
              <a:buNone/>
            </a:pPr>
            <a:endParaRPr lang="en-US" dirty="0" smtClean="0"/>
          </a:p>
          <a:p>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50679705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a:t>
            </a:r>
            <a:r>
              <a:rPr lang="en-US" b="1" dirty="0" smtClean="0"/>
              <a:t>Trainer Notes and Activity: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 Trainer </a:t>
            </a:r>
            <a:r>
              <a:rPr lang="en-US" sz="1200" b="0" kern="1200" baseline="0" dirty="0" smtClean="0">
                <a:solidFill>
                  <a:schemeClr val="tx1"/>
                </a:solidFill>
                <a:latin typeface="+mn-lt"/>
                <a:ea typeface="+mn-ea"/>
                <a:cs typeface="+mn-cs"/>
              </a:rPr>
              <a:t>to refer students to Page 27 of the Training Manual and go through the ‘What to Report’ section</a:t>
            </a:r>
            <a:endParaRPr lang="en-US" sz="1200" kern="1200" dirty="0" smtClean="0">
              <a:solidFill>
                <a:schemeClr val="tx1"/>
              </a:solidFill>
              <a:latin typeface="+mn-lt"/>
              <a:ea typeface="+mn-ea"/>
              <a:cs typeface="+mn-cs"/>
            </a:endParaRPr>
          </a:p>
          <a:p>
            <a:pPr>
              <a:buFont typeface="Arial" pitchFamily="34" charset="0"/>
              <a:buNone/>
            </a:pPr>
            <a:endParaRPr lang="en-US" dirty="0" smtClean="0"/>
          </a:p>
          <a:p>
            <a:pPr>
              <a:buFont typeface="Arial" pitchFamily="34" charset="0"/>
              <a:buChar char="•"/>
            </a:pPr>
            <a:endParaRPr lang="en-US" dirty="0" smtClean="0"/>
          </a:p>
          <a:p>
            <a:pPr>
              <a:buFont typeface="Arial" pitchFamily="34" charset="0"/>
              <a:buNone/>
            </a:pPr>
            <a:endParaRPr lang="en-US" dirty="0" smtClean="0"/>
          </a:p>
          <a:p>
            <a:endParaRPr lang="en-US" dirty="0" smtClean="0"/>
          </a:p>
          <a:p>
            <a:pPr>
              <a:buFont typeface="Arial" pitchFamily="34" charset="0"/>
              <a:buNone/>
            </a:pPr>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280156865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a:t>
            </a:r>
            <a:r>
              <a:rPr lang="en-US" b="1" dirty="0" smtClean="0"/>
              <a:t>Trainer Notes: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a:t>
            </a:r>
          </a:p>
          <a:p>
            <a:pPr>
              <a:buFont typeface="Arial" pitchFamily="34" charset="0"/>
              <a:buNone/>
            </a:pPr>
            <a:endParaRPr lang="en-US" dirty="0" smtClean="0"/>
          </a:p>
          <a:p>
            <a:pPr>
              <a:buFont typeface="Arial" pitchFamily="34" charset="0"/>
              <a:buChar char="•"/>
            </a:pPr>
            <a:endParaRPr lang="en-US" dirty="0" smtClean="0"/>
          </a:p>
          <a:p>
            <a:pPr>
              <a:buFont typeface="Arial" pitchFamily="34" charset="0"/>
              <a:buNone/>
            </a:pPr>
            <a:endParaRPr lang="en-US" dirty="0" smtClean="0"/>
          </a:p>
          <a:p>
            <a:endParaRPr lang="en-US" dirty="0" smtClean="0"/>
          </a:p>
          <a:p>
            <a:pPr>
              <a:buFont typeface="Arial" pitchFamily="34" charset="0"/>
              <a:buChar cha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9998801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a:t>
            </a:r>
            <a:r>
              <a:rPr lang="en-US" b="1" dirty="0" smtClean="0"/>
              <a:t>Trainer Notes: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a:t>
            </a:r>
          </a:p>
          <a:p>
            <a:pPr>
              <a:buFont typeface="Arial" pitchFamily="34" charset="0"/>
              <a:buNone/>
            </a:pPr>
            <a:endParaRPr lang="en-US" dirty="0" smtClean="0"/>
          </a:p>
          <a:p>
            <a:pPr>
              <a:buFont typeface="Arial" pitchFamily="34" charset="0"/>
              <a:buChar char="•"/>
            </a:pPr>
            <a:endParaRPr lang="en-US" dirty="0" smtClean="0"/>
          </a:p>
          <a:p>
            <a:pPr>
              <a:buFont typeface="Arial" pitchFamily="34" charset="0"/>
              <a:buNone/>
            </a:pPr>
            <a:endParaRPr lang="en-US" dirty="0" smtClean="0"/>
          </a:p>
          <a:p>
            <a:endParaRPr lang="en-US" dirty="0" smtClean="0"/>
          </a:p>
          <a:p>
            <a:pPr>
              <a:buFont typeface="Arial" pitchFamily="34" charset="0"/>
              <a:buChar char="•"/>
            </a:pPr>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21276900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a:t>
            </a:r>
            <a:r>
              <a:rPr lang="en-US" b="1" dirty="0" smtClean="0"/>
              <a:t>Trainer Notes: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a:t>
            </a:r>
          </a:p>
          <a:p>
            <a:pPr>
              <a:buFont typeface="Arial" pitchFamily="34" charset="0"/>
              <a:buNone/>
            </a:pPr>
            <a:endParaRPr lang="en-US" dirty="0" smtClean="0"/>
          </a:p>
          <a:p>
            <a:pPr>
              <a:buFont typeface="Arial" pitchFamily="34" charset="0"/>
              <a:buChar char="•"/>
            </a:pPr>
            <a:endParaRPr lang="en-US" dirty="0" smtClean="0"/>
          </a:p>
          <a:p>
            <a:pPr>
              <a:buFont typeface="Arial" pitchFamily="34" charset="0"/>
              <a:buNone/>
            </a:pPr>
            <a:endParaRPr lang="en-US" dirty="0" smtClean="0"/>
          </a:p>
          <a:p>
            <a:endParaRPr lang="en-US" dirty="0" smtClean="0"/>
          </a:p>
          <a:p>
            <a:pPr>
              <a:buFont typeface="Arial" pitchFamily="34" charset="0"/>
              <a:buChar char="•"/>
            </a:pPr>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337021063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a:t>
            </a:r>
            <a:r>
              <a:rPr lang="en-US" sz="1200" b="1" kern="1200" baseline="0" dirty="0" smtClean="0">
                <a:solidFill>
                  <a:schemeClr val="tx1"/>
                </a:solidFill>
                <a:latin typeface="+mn-lt"/>
                <a:ea typeface="+mn-ea"/>
                <a:cs typeface="+mn-cs"/>
              </a:rPr>
              <a:t>Trainer Notes and Activity: </a:t>
            </a:r>
            <a:r>
              <a:rPr lang="en-US" sz="1200" b="0" kern="1200" baseline="0" dirty="0" smtClean="0">
                <a:solidFill>
                  <a:schemeClr val="tx1"/>
                </a:solidFill>
                <a:latin typeface="+mn-lt"/>
                <a:ea typeface="+mn-ea"/>
                <a:cs typeface="+mn-cs"/>
              </a:rPr>
              <a:t>If you have internet access go to the website (if no internet access download and print copies of the Code of Conduct to give to students):</a:t>
            </a:r>
          </a:p>
          <a:p>
            <a:pPr>
              <a:buFont typeface="Arial" pitchFamily="34" charset="0"/>
              <a:buNone/>
            </a:pPr>
            <a:endParaRPr lang="en-US" sz="1200" b="0" kern="1200" baseline="0" dirty="0" smtClean="0">
              <a:solidFill>
                <a:schemeClr val="tx1"/>
              </a:solidFill>
              <a:latin typeface="+mn-lt"/>
              <a:ea typeface="+mn-ea"/>
              <a:cs typeface="+mn-cs"/>
            </a:endParaRPr>
          </a:p>
          <a:p>
            <a:pPr lvl="1">
              <a:buFont typeface="Arial" pitchFamily="34" charset="0"/>
              <a:buNone/>
            </a:pPr>
            <a:r>
              <a:rPr lang="en-US" sz="1200" u="sng" dirty="0" smtClean="0">
                <a:latin typeface="Helvetica"/>
                <a:cs typeface="Helvetica"/>
                <a:hlinkClick r:id="rId3"/>
              </a:rPr>
              <a:t>http://www.thecode.org/</a:t>
            </a:r>
            <a:r>
              <a:rPr lang="en-US" sz="1200" dirty="0" smtClean="0">
                <a:latin typeface="Helvetica"/>
                <a:cs typeface="Helvetica"/>
              </a:rPr>
              <a:t> </a:t>
            </a:r>
          </a:p>
          <a:p>
            <a:pPr lvl="1">
              <a:buFont typeface="Arial" pitchFamily="34" charset="0"/>
              <a:buNone/>
            </a:pPr>
            <a:endParaRPr lang="en-US" sz="1200" b="0" dirty="0" smtClean="0">
              <a:latin typeface="Helvetica"/>
              <a:cs typeface="Helvetica"/>
            </a:endParaRPr>
          </a:p>
          <a:p>
            <a:pPr lvl="0">
              <a:buFont typeface="Arial"/>
              <a:buChar char="•"/>
            </a:pPr>
            <a:r>
              <a:rPr lang="en-US" b="0" dirty="0" smtClean="0">
                <a:latin typeface="Helvetica"/>
                <a:cs typeface="Helvetica"/>
              </a:rPr>
              <a:t> Take the students</a:t>
            </a:r>
            <a:r>
              <a:rPr lang="en-US" b="0" baseline="0" dirty="0" smtClean="0">
                <a:latin typeface="Helvetica"/>
                <a:cs typeface="Helvetica"/>
              </a:rPr>
              <a:t> through ‘The Code of Conduct for the Protection of Children from Sexual Exploitation in Travel and Tourism’ discussing each dot point and the benefits of adopting this point into the workplace.</a:t>
            </a:r>
            <a:endParaRPr lang="en-US" b="0" dirty="0" smtClean="0"/>
          </a:p>
          <a:p>
            <a:pPr>
              <a:buFont typeface="Arial" pitchFamily="34" charset="0"/>
              <a:buNone/>
            </a:pPr>
            <a:endParaRPr lang="en-US" dirty="0" smtClean="0"/>
          </a:p>
          <a:p>
            <a:pPr>
              <a:buFont typeface="Arial" pitchFamily="34" charset="0"/>
              <a:buNone/>
            </a:pPr>
            <a:endParaRPr lang="en-US" dirty="0" smtClean="0"/>
          </a:p>
          <a:p>
            <a:endParaRPr lang="en-US" dirty="0" smtClean="0"/>
          </a:p>
          <a:p>
            <a:pPr>
              <a:buFont typeface="Arial" pitchFamily="34" charset="0"/>
              <a:buChar cha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16901130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a:t>
            </a:r>
            <a:r>
              <a:rPr lang="en-US" b="1" dirty="0" smtClean="0"/>
              <a:t>Trainer Notes: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a:t>
            </a:r>
          </a:p>
          <a:p>
            <a:pPr>
              <a:buFont typeface="Arial" pitchFamily="34" charset="0"/>
              <a:buNone/>
            </a:pPr>
            <a:endParaRPr lang="en-US" dirty="0" smtClean="0"/>
          </a:p>
          <a:p>
            <a:pPr>
              <a:buFont typeface="Arial" pitchFamily="34" charset="0"/>
              <a:buChar char="•"/>
            </a:pPr>
            <a:endParaRPr lang="en-US" dirty="0" smtClean="0"/>
          </a:p>
          <a:p>
            <a:pPr>
              <a:buFont typeface="Arial" pitchFamily="34" charset="0"/>
              <a:buNone/>
            </a:pPr>
            <a:endParaRPr lang="en-US" dirty="0" smtClean="0"/>
          </a:p>
          <a:p>
            <a:endParaRPr lang="en-US" dirty="0" smtClean="0"/>
          </a:p>
          <a:p>
            <a:pPr>
              <a:buFont typeface="Arial" pitchFamily="34" charset="0"/>
              <a:buChar cha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p14="http://schemas.microsoft.com/office/powerpoint/2010/main" val="263772860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a:t>
            </a:r>
            <a:r>
              <a:rPr lang="en-US" b="1" dirty="0" smtClean="0"/>
              <a:t>Trainer Notes: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a:t>
            </a:r>
          </a:p>
          <a:p>
            <a:pPr>
              <a:buFont typeface="Arial" pitchFamily="34" charset="0"/>
              <a:buNone/>
            </a:pPr>
            <a:endParaRPr lang="en-US" dirty="0" smtClean="0"/>
          </a:p>
          <a:p>
            <a:pPr>
              <a:buFont typeface="Arial" pitchFamily="34" charset="0"/>
              <a:buChar char="•"/>
            </a:pPr>
            <a:endParaRPr lang="en-US" dirty="0" smtClean="0"/>
          </a:p>
          <a:p>
            <a:pPr>
              <a:buFont typeface="Arial" pitchFamily="34" charset="0"/>
              <a:buNone/>
            </a:pPr>
            <a:endParaRPr lang="en-US" dirty="0" smtClean="0"/>
          </a:p>
          <a:p>
            <a:endParaRPr lang="en-US" dirty="0" smtClean="0"/>
          </a:p>
          <a:p>
            <a:pPr>
              <a:buFont typeface="Arial" pitchFamily="34" charset="0"/>
              <a:buChar cha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extLst>
      <p:ext uri="{BB962C8B-B14F-4D97-AF65-F5344CB8AC3E}">
        <p14:creationId xmlns:p14="http://schemas.microsoft.com/office/powerpoint/2010/main" val="293268724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a:t>
            </a:r>
            <a:r>
              <a:rPr lang="en-US" b="1" dirty="0" smtClean="0"/>
              <a:t>Trainer Notes: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d</a:t>
            </a:r>
            <a:r>
              <a:rPr lang="en-US" sz="1200" kern="1200" dirty="0" smtClean="0">
                <a:solidFill>
                  <a:schemeClr val="tx1"/>
                </a:solidFill>
                <a:latin typeface="+mn-lt"/>
                <a:ea typeface="+mn-ea"/>
                <a:cs typeface="+mn-cs"/>
              </a:rPr>
              <a:t>iscuss the above points</a:t>
            </a:r>
          </a:p>
          <a:p>
            <a:pPr>
              <a:buFont typeface="Arial" pitchFamily="34" charset="0"/>
              <a:buNone/>
            </a:pPr>
            <a:endParaRPr lang="en-US" dirty="0" smtClean="0"/>
          </a:p>
          <a:p>
            <a:pPr>
              <a:buFont typeface="Arial" pitchFamily="34" charset="0"/>
              <a:buChar char="•"/>
            </a:pPr>
            <a:endParaRPr lang="en-US" dirty="0" smtClean="0"/>
          </a:p>
          <a:p>
            <a:pPr>
              <a:buFont typeface="Arial" pitchFamily="34" charset="0"/>
              <a:buNone/>
            </a:pPr>
            <a:endParaRPr lang="en-US" dirty="0" smtClean="0"/>
          </a:p>
          <a:p>
            <a:endParaRPr lang="en-US" dirty="0" smtClean="0"/>
          </a:p>
          <a:p>
            <a:pPr>
              <a:buFont typeface="Arial" pitchFamily="34" charset="0"/>
              <a:buChar cha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p14="http://schemas.microsoft.com/office/powerpoint/2010/main" val="2702215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a:t>
            </a:r>
            <a:r>
              <a:rPr lang="en-US" b="1" dirty="0" smtClean="0"/>
              <a:t>Trainer Notes and Activity: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refer students to Page 31 of the Training Manual and go through the section ‘First Actions’ asking the class would this be possible in their own workplaces?</a:t>
            </a:r>
            <a:endParaRPr lang="en-US" sz="1200" kern="1200" dirty="0" smtClean="0">
              <a:solidFill>
                <a:schemeClr val="tx1"/>
              </a:solidFill>
              <a:latin typeface="+mn-lt"/>
              <a:ea typeface="+mn-ea"/>
              <a:cs typeface="+mn-cs"/>
            </a:endParaRPr>
          </a:p>
          <a:p>
            <a:pPr>
              <a:buFont typeface="Arial" pitchFamily="34" charset="0"/>
              <a:buNone/>
            </a:pPr>
            <a:endParaRPr lang="en-US" dirty="0" smtClean="0"/>
          </a:p>
          <a:p>
            <a:pPr>
              <a:buFont typeface="Arial" pitchFamily="34" charset="0"/>
              <a:buChar char="•"/>
            </a:pPr>
            <a:endParaRPr lang="en-US" dirty="0" smtClean="0"/>
          </a:p>
          <a:p>
            <a:pPr>
              <a:buFont typeface="Arial" pitchFamily="34" charset="0"/>
              <a:buNone/>
            </a:pPr>
            <a:endParaRPr lang="en-US" dirty="0" smtClean="0"/>
          </a:p>
          <a:p>
            <a:endParaRPr lang="en-US" dirty="0" smtClean="0"/>
          </a:p>
          <a:p>
            <a:pPr>
              <a:buFont typeface="Arial" pitchFamily="34" charset="0"/>
              <a:buChar char="•"/>
            </a:pPr>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extLst>
      <p:ext uri="{BB962C8B-B14F-4D97-AF65-F5344CB8AC3E}">
        <p14:creationId xmlns:p14="http://schemas.microsoft.com/office/powerpoint/2010/main" val="166107163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a:t>
            </a:r>
            <a:r>
              <a:rPr lang="en-US" b="1" dirty="0" smtClean="0"/>
              <a:t>Trainer Notes and Activity: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Trainer </a:t>
            </a:r>
            <a:r>
              <a:rPr lang="en-US" sz="1200" b="0" kern="1200" baseline="0" dirty="0" smtClean="0">
                <a:solidFill>
                  <a:schemeClr val="tx1"/>
                </a:solidFill>
                <a:latin typeface="+mn-lt"/>
                <a:ea typeface="+mn-ea"/>
                <a:cs typeface="+mn-cs"/>
              </a:rPr>
              <a:t>to refer the class to the Training Manual for a detailed description of each above point and discuss each point with the class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baseline="0" dirty="0" smtClean="0">
                <a:solidFill>
                  <a:schemeClr val="tx1"/>
                </a:solidFill>
                <a:latin typeface="+mn-lt"/>
                <a:ea typeface="+mn-ea"/>
                <a:cs typeface="+mn-cs"/>
              </a:rPr>
              <a:t> </a:t>
            </a:r>
            <a:r>
              <a:rPr lang="en-US" sz="1200" b="1" kern="1200" baseline="0" dirty="0" smtClean="0">
                <a:solidFill>
                  <a:schemeClr val="tx1"/>
                </a:solidFill>
                <a:latin typeface="+mn-lt"/>
                <a:ea typeface="+mn-ea"/>
                <a:cs typeface="+mn-cs"/>
              </a:rPr>
              <a:t>Activity: </a:t>
            </a:r>
            <a:r>
              <a:rPr lang="en-US" sz="1200" b="0" kern="1200" baseline="0" dirty="0" smtClean="0">
                <a:solidFill>
                  <a:schemeClr val="tx1"/>
                </a:solidFill>
                <a:latin typeface="+mn-lt"/>
                <a:ea typeface="+mn-ea"/>
                <a:cs typeface="+mn-cs"/>
              </a:rPr>
              <a:t>Trainer to ask class if each of these points are something that they can do in their own workplaces?</a:t>
            </a:r>
            <a:endParaRPr lang="en-US" sz="1200" kern="1200" dirty="0" smtClean="0">
              <a:solidFill>
                <a:schemeClr val="tx1"/>
              </a:solidFill>
              <a:latin typeface="+mn-lt"/>
              <a:ea typeface="+mn-ea"/>
              <a:cs typeface="+mn-cs"/>
            </a:endParaRPr>
          </a:p>
          <a:p>
            <a:pPr>
              <a:buFont typeface="Arial" pitchFamily="34" charset="0"/>
              <a:buNone/>
            </a:pPr>
            <a:endParaRPr lang="en-US" dirty="0" smtClean="0"/>
          </a:p>
          <a:p>
            <a:pPr>
              <a:buFont typeface="Arial" pitchFamily="34" charset="0"/>
              <a:buChar char="•"/>
            </a:pPr>
            <a:endParaRPr lang="en-US" dirty="0" smtClean="0"/>
          </a:p>
          <a:p>
            <a:pPr>
              <a:buFont typeface="Arial" pitchFamily="34" charset="0"/>
              <a:buNone/>
            </a:pPr>
            <a:endParaRPr lang="en-US" dirty="0" smtClean="0"/>
          </a:p>
          <a:p>
            <a:endParaRPr lang="en-US" dirty="0" smtClean="0"/>
          </a:p>
          <a:p>
            <a:pPr>
              <a:buFont typeface="Arial" pitchFamily="34" charset="0"/>
              <a:buChar cha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extLst>
      <p:ext uri="{BB962C8B-B14F-4D97-AF65-F5344CB8AC3E}">
        <p14:creationId xmlns:p14="http://schemas.microsoft.com/office/powerpoint/2010/main" val="27709836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3/31/2015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3/31/2015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3/31/2015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3/31/2015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3/31/2015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3/31/2015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3/31/2015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3/31/2015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3/31/2015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3/31/2015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3/31/2015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0B9F9CF-7D2C-460C-8F3E-F6213A54EF65}" type="datetime1">
              <a:rPr lang="en-US" smtClean="0"/>
              <a:pPr/>
              <a:t>3/31/2015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ecpat.net/EI/Programmes_ICT.asp"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ecpat.net/EI/Programmes_ICT.asp"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ecpat.net/EI/CST_Publications.asp"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30.jpeg"/></Relationships>
</file>

<file path=ppt/slides/_rels/slide5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www.ecpat.net/EI/EI_publications.asp" TargetMode="External"/><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hyperlink" Target="http://www.thecode.org/" TargetMode="External"/><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66.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7166"/>
            <a:ext cx="7675216" cy="1785950"/>
          </a:xfrm>
        </p:spPr>
        <p:txBody>
          <a:bodyPr>
            <a:noAutofit/>
          </a:bodyPr>
          <a:lstStyle/>
          <a:p>
            <a:pPr algn="l"/>
            <a:r>
              <a:rPr lang="en-US" sz="3600" cap="none" dirty="0" smtClean="0">
                <a:ln w="5000" cmpd="sng">
                  <a:noFill/>
                  <a:prstDash val="solid"/>
                </a:ln>
                <a:solidFill>
                  <a:srgbClr val="FF6600"/>
                </a:solidFill>
                <a:latin typeface="Helvetica" pitchFamily="34" charset="0"/>
              </a:rPr>
              <a:t>PERFORM CHILD PROTECTION DUTIES RELEVANT TO THE TOURISM INDUSTRY</a:t>
            </a:r>
            <a:endParaRPr lang="en-US" sz="3600" cap="none"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6072198" y="1857364"/>
            <a:ext cx="2189208" cy="1009822"/>
          </a:xfrm>
        </p:spPr>
        <p:txBody>
          <a:bodyPr>
            <a:noAutofit/>
          </a:bodyPr>
          <a:lstStyle/>
          <a:p>
            <a:r>
              <a:rPr lang="en-US" b="1" dirty="0" smtClean="0">
                <a:latin typeface="Helvetica" pitchFamily="34" charset="0"/>
              </a:rPr>
              <a:t>D1.HRS.CL1.20</a:t>
            </a:r>
            <a:br>
              <a:rPr lang="en-US" b="1" dirty="0" smtClean="0">
                <a:latin typeface="Helvetica" pitchFamily="34" charset="0"/>
              </a:rPr>
            </a:br>
            <a:r>
              <a:rPr lang="en-US" b="1" dirty="0" smtClean="0">
                <a:latin typeface="Helvetica" pitchFamily="34" charset="0"/>
              </a:rPr>
              <a:t>D1.HOT.CL1.13</a:t>
            </a:r>
            <a:br>
              <a:rPr lang="en-US" b="1" dirty="0" smtClean="0">
                <a:latin typeface="Helvetica" pitchFamily="34" charset="0"/>
              </a:rPr>
            </a:br>
            <a:r>
              <a:rPr lang="en-US" b="1" dirty="0" smtClean="0">
                <a:latin typeface="Helvetica" pitchFamily="34" charset="0"/>
              </a:rPr>
              <a:t>D2.TCC.CL1.14</a:t>
            </a:r>
            <a:endParaRPr lang="en-US"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a:t>
            </a:fld>
            <a:endParaRPr lang="en-US" dirty="0"/>
          </a:p>
        </p:txBody>
      </p:sp>
      <p:pic>
        <p:nvPicPr>
          <p:cNvPr id="1026" name="Picture 2" descr="C:\Documents and Settings\danielc\Desktop\iStock_Comm on Phone.jpg"/>
          <p:cNvPicPr>
            <a:picLocks noChangeAspect="1" noChangeArrowheads="1"/>
          </p:cNvPicPr>
          <p:nvPr/>
        </p:nvPicPr>
        <p:blipFill>
          <a:blip r:embed="rId3" cstate="print"/>
          <a:stretch>
            <a:fillRect/>
          </a:stretch>
        </p:blipFill>
        <p:spPr bwMode="auto">
          <a:xfrm>
            <a:off x="1403648" y="2564904"/>
            <a:ext cx="3888432" cy="2916324"/>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916832"/>
            <a:ext cx="7920880" cy="4941168"/>
          </a:xfrm>
        </p:spPr>
        <p:txBody>
          <a:bodyPr>
            <a:normAutofit/>
          </a:bodyPr>
          <a:lstStyle/>
          <a:p>
            <a:pPr marL="0" indent="0">
              <a:spcBef>
                <a:spcPts val="1200"/>
              </a:spcBef>
              <a:spcAft>
                <a:spcPts val="1200"/>
              </a:spcAft>
              <a:buNone/>
            </a:pPr>
            <a:r>
              <a:rPr lang="en-US" sz="2200" b="1" dirty="0" smtClean="0">
                <a:solidFill>
                  <a:srgbClr val="0000FF"/>
                </a:solidFill>
                <a:latin typeface="Helvetica" pitchFamily="34" charset="0"/>
              </a:rPr>
              <a:t>This Unit is comprised of three Elements :</a:t>
            </a:r>
          </a:p>
          <a:p>
            <a:pPr marL="457200" indent="-457200">
              <a:spcBef>
                <a:spcPts val="1200"/>
              </a:spcBef>
              <a:spcAft>
                <a:spcPts val="1200"/>
              </a:spcAft>
              <a:buSzPct val="100000"/>
              <a:buFont typeface="+mj-lt"/>
              <a:buAutoNum type="arabicPeriod"/>
            </a:pPr>
            <a:r>
              <a:rPr lang="en-US" sz="2200" b="1" dirty="0" smtClean="0">
                <a:latin typeface="Helvetica" pitchFamily="34" charset="0"/>
              </a:rPr>
              <a:t>Identify the issue of sexual exploitation of children by tourists (otherwise known as child sex tourism) </a:t>
            </a:r>
          </a:p>
          <a:p>
            <a:pPr marL="457200" indent="-457200">
              <a:spcBef>
                <a:spcPts val="1200"/>
              </a:spcBef>
              <a:spcAft>
                <a:spcPts val="1200"/>
              </a:spcAft>
              <a:buSzPct val="100000"/>
              <a:buFont typeface="+mj-lt"/>
              <a:buAutoNum type="arabicPeriod"/>
            </a:pPr>
            <a:r>
              <a:rPr lang="en-US" sz="2200" b="1" dirty="0" smtClean="0">
                <a:latin typeface="Helvetica" pitchFamily="34" charset="0"/>
              </a:rPr>
              <a:t>Describe, national, regional and international actions to prevent the sexual exploitation of children by tourists</a:t>
            </a:r>
          </a:p>
          <a:p>
            <a:pPr marL="457200" indent="-457200">
              <a:spcBef>
                <a:spcPts val="1200"/>
              </a:spcBef>
              <a:spcAft>
                <a:spcPts val="1200"/>
              </a:spcAft>
              <a:buSzPct val="100000"/>
              <a:buFont typeface="+mj-lt"/>
              <a:buAutoNum type="arabicPeriod"/>
            </a:pPr>
            <a:r>
              <a:rPr lang="en-US" sz="2200" b="1" dirty="0" smtClean="0">
                <a:latin typeface="Helvetica" pitchFamily="34" charset="0"/>
              </a:rPr>
              <a:t>Describe actions that can be taken in the workplace to protect children from sexual exploitation by tourists</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a:t>
            </a:fld>
            <a:endParaRPr lang="en-US" dirty="0"/>
          </a:p>
        </p:txBody>
      </p:sp>
      <p:sp>
        <p:nvSpPr>
          <p:cNvPr id="5" name="Title 1"/>
          <p:cNvSpPr txBox="1">
            <a:spLocks/>
          </p:cNvSpPr>
          <p:nvPr/>
        </p:nvSpPr>
        <p:spPr>
          <a:xfrm>
            <a:off x="611560" y="332656"/>
            <a:ext cx="8136904" cy="1512168"/>
          </a:xfrm>
          <a:prstGeom prst="rect">
            <a:avLst/>
          </a:prstGeom>
        </p:spPr>
        <p:txBody>
          <a:bodyPr vert="horz" lIns="45720" rIns="45720" anchor="ctr">
            <a:normAutofit fontScale="97500"/>
          </a:bodyPr>
          <a:lstStyle/>
          <a:p>
            <a:pPr marL="534988" lvl="0" indent="-534988">
              <a:spcBef>
                <a:spcPts val="600"/>
              </a:spcBef>
              <a:spcAft>
                <a:spcPts val="600"/>
              </a:spcAft>
            </a:pPr>
            <a:r>
              <a:rPr lang="en-US" sz="2800" b="1" dirty="0" smtClean="0">
                <a:ln w="5000" cmpd="sng">
                  <a:noFill/>
                  <a:prstDash val="solid"/>
                </a:ln>
                <a:solidFill>
                  <a:srgbClr val="FF6600"/>
                </a:solidFill>
                <a:latin typeface="Helvetica" pitchFamily="34" charset="0"/>
              </a:rPr>
              <a:t>1.	</a:t>
            </a:r>
            <a:r>
              <a:rPr kumimoji="0" lang="en-US" sz="2800" b="1" u="none" strike="noStrike" kern="1200" cap="none" spc="0" normalizeH="0" baseline="0" noProof="0" dirty="0" smtClean="0">
                <a:ln w="5000" cmpd="sng">
                  <a:noFill/>
                  <a:prstDash val="solid"/>
                </a:ln>
                <a:solidFill>
                  <a:srgbClr val="FF6600"/>
                </a:solidFill>
                <a:effectLst/>
                <a:uLnTx/>
                <a:uFillTx/>
                <a:latin typeface="Helvetica" pitchFamily="34" charset="0"/>
                <a:ea typeface="+mj-ea"/>
                <a:cs typeface="+mj-cs"/>
              </a:rPr>
              <a:t>Perform Child Protection Duties Relevant to the Tourism Industry</a:t>
            </a:r>
            <a:endParaRPr kumimoji="0" lang="en-US" sz="2800" b="1" u="none" strike="noStrike" kern="1200" cap="none" spc="0" normalizeH="0" baseline="0" noProof="0" dirty="0">
              <a:ln>
                <a:noFill/>
              </a:ln>
              <a:solidFill>
                <a:srgbClr val="FF6600"/>
              </a:solidFill>
              <a:effectLst/>
              <a:uLnTx/>
              <a:uFillTx/>
              <a:latin typeface="Helvetica" pitchFamily="34" charset="0"/>
              <a:ea typeface="+mj-ea"/>
              <a:cs typeface="+mj-cs"/>
            </a:endParaRPr>
          </a:p>
        </p:txBody>
      </p:sp>
      <p:pic>
        <p:nvPicPr>
          <p:cNvPr id="6146" name="Picture 2" descr="C:\Documents and Settings\maiv\Local Settings\Temporary Internet Files\Content.IE5\ZXOPI4XJ\MC910217048[1].png"/>
          <p:cNvPicPr>
            <a:picLocks noChangeAspect="1" noChangeArrowheads="1"/>
          </p:cNvPicPr>
          <p:nvPr/>
        </p:nvPicPr>
        <p:blipFill>
          <a:blip r:embed="rId3" cstate="print"/>
          <a:srcRect/>
          <a:stretch>
            <a:fillRect/>
          </a:stretch>
        </p:blipFill>
        <p:spPr bwMode="auto">
          <a:xfrm>
            <a:off x="6732240" y="1268760"/>
            <a:ext cx="1124744" cy="1124744"/>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Assessment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solidFill>
                  <a:srgbClr val="0000FF"/>
                </a:solidFill>
                <a:latin typeface="Helvetica" pitchFamily="34" charset="0"/>
              </a:rPr>
              <a:t>Assessment for this Unit may include:</a:t>
            </a:r>
          </a:p>
          <a:p>
            <a:pPr marL="360000" indent="-360000">
              <a:spcBef>
                <a:spcPts val="1200"/>
              </a:spcBef>
              <a:spcAft>
                <a:spcPts val="1200"/>
              </a:spcAft>
            </a:pPr>
            <a:r>
              <a:rPr lang="en-US" sz="2200" b="1" dirty="0" smtClean="0">
                <a:latin typeface="Helvetica" pitchFamily="34" charset="0"/>
              </a:rPr>
              <a:t>Oral Questions</a:t>
            </a:r>
          </a:p>
          <a:p>
            <a:pPr marL="360000" indent="-360000">
              <a:spcBef>
                <a:spcPts val="1200"/>
              </a:spcBef>
              <a:spcAft>
                <a:spcPts val="1200"/>
              </a:spcAft>
            </a:pPr>
            <a:r>
              <a:rPr lang="en-US" sz="2200" b="1" dirty="0" smtClean="0">
                <a:latin typeface="Helvetica" pitchFamily="34" charset="0"/>
              </a:rPr>
              <a:t>Written Questions</a:t>
            </a:r>
          </a:p>
          <a:p>
            <a:pPr marL="360000" indent="-360000">
              <a:spcBef>
                <a:spcPts val="1200"/>
              </a:spcBef>
              <a:spcAft>
                <a:spcPts val="1200"/>
              </a:spcAft>
            </a:pPr>
            <a:r>
              <a:rPr lang="en-US" sz="2200" b="1" dirty="0" smtClean="0">
                <a:latin typeface="Helvetica" pitchFamily="34" charset="0"/>
              </a:rPr>
              <a:t>Work Projects</a:t>
            </a:r>
          </a:p>
          <a:p>
            <a:pPr marL="360000" indent="-360000">
              <a:spcBef>
                <a:spcPts val="1200"/>
              </a:spcBef>
              <a:spcAft>
                <a:spcPts val="1200"/>
              </a:spcAft>
            </a:pPr>
            <a:r>
              <a:rPr lang="en-US" sz="2200" b="1" dirty="0" smtClean="0">
                <a:latin typeface="Helvetica" pitchFamily="34" charset="0"/>
              </a:rPr>
              <a:t>Workplace observation of practical skills</a:t>
            </a:r>
          </a:p>
          <a:p>
            <a:pPr marL="360000" indent="-360000">
              <a:spcBef>
                <a:spcPts val="1200"/>
              </a:spcBef>
              <a:spcAft>
                <a:spcPts val="1200"/>
              </a:spcAft>
            </a:pPr>
            <a:r>
              <a:rPr lang="en-US" sz="2200" b="1" dirty="0" smtClean="0">
                <a:latin typeface="Helvetica" pitchFamily="34" charset="0"/>
              </a:rPr>
              <a:t>Practical Exercises</a:t>
            </a:r>
          </a:p>
          <a:p>
            <a:pPr marL="360000" indent="-360000">
              <a:spcBef>
                <a:spcPts val="1200"/>
              </a:spcBef>
              <a:spcAft>
                <a:spcPts val="1200"/>
              </a:spcAft>
            </a:pPr>
            <a:r>
              <a:rPr lang="en-US" sz="2200" b="1" dirty="0" smtClean="0">
                <a:latin typeface="Helvetica" pitchFamily="34" charset="0"/>
              </a:rPr>
              <a:t>Formal report from employer/supervisor.</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5" name="Picture 2" descr="C:\Users\fgvghyujil\AppData\Local\Microsoft\Windows\Temporary Internet Files\Content.IE5\PP601SXW\MC900440428[1].wmf"/>
          <p:cNvPicPr>
            <a:picLocks noChangeAspect="1" noChangeArrowheads="1"/>
          </p:cNvPicPr>
          <p:nvPr/>
        </p:nvPicPr>
        <p:blipFill>
          <a:blip r:embed="rId3" cstate="print"/>
          <a:srcRect/>
          <a:stretch>
            <a:fillRect/>
          </a:stretch>
        </p:blipFill>
        <p:spPr bwMode="auto">
          <a:xfrm>
            <a:off x="6732240" y="3501008"/>
            <a:ext cx="1736725" cy="1828800"/>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18092" cy="1143000"/>
          </a:xfrm>
        </p:spPr>
        <p:txBody>
          <a:bodyPr>
            <a:normAutofit/>
          </a:bodyPr>
          <a:lstStyle/>
          <a:p>
            <a:pPr marL="534988" indent="-534988">
              <a:spcBef>
                <a:spcPts val="600"/>
              </a:spcBef>
              <a:spcAft>
                <a:spcPts val="600"/>
              </a:spcAft>
            </a:pPr>
            <a:r>
              <a:rPr lang="en-US" sz="2800" b="1" dirty="0" smtClean="0">
                <a:ln w="5000" cmpd="sng">
                  <a:noFill/>
                  <a:prstDash val="solid"/>
                </a:ln>
                <a:solidFill>
                  <a:srgbClr val="FF6600"/>
                </a:solidFill>
                <a:latin typeface="Helvetica" pitchFamily="34" charset="0"/>
              </a:rPr>
              <a:t>1. 	</a:t>
            </a:r>
            <a:r>
              <a:rPr lang="en-US" sz="2800" b="1" dirty="0" smtClean="0">
                <a:solidFill>
                  <a:srgbClr val="FF6600"/>
                </a:solidFill>
                <a:latin typeface="Helvetica"/>
                <a:cs typeface="Helvetica"/>
              </a:rPr>
              <a:t>Identify the issue of sexual exploitation of children by tourists</a:t>
            </a:r>
            <a:endParaRPr lang="en-AU" sz="2800" b="1" dirty="0">
              <a:solidFill>
                <a:srgbClr val="FF6600"/>
              </a:solidFill>
              <a:latin typeface="Helvetica"/>
              <a:cs typeface="Helvetica"/>
            </a:endParaRPr>
          </a:p>
        </p:txBody>
      </p:sp>
      <p:sp>
        <p:nvSpPr>
          <p:cNvPr id="3" name="Content Placeholder 2"/>
          <p:cNvSpPr>
            <a:spLocks noGrp="1"/>
          </p:cNvSpPr>
          <p:nvPr>
            <p:ph idx="1"/>
          </p:nvPr>
        </p:nvSpPr>
        <p:spPr>
          <a:xfrm>
            <a:off x="611560" y="1772816"/>
            <a:ext cx="7467600" cy="4525963"/>
          </a:xfrm>
        </p:spPr>
        <p:txBody>
          <a:bodyPr>
            <a:normAutofit/>
          </a:bodyPr>
          <a:lstStyle/>
          <a:p>
            <a:pPr>
              <a:spcBef>
                <a:spcPts val="1200"/>
              </a:spcBef>
              <a:spcAft>
                <a:spcPts val="1200"/>
              </a:spcAft>
              <a:buNone/>
            </a:pPr>
            <a:r>
              <a:rPr lang="en-US" sz="2200" b="1" dirty="0" smtClean="0">
                <a:solidFill>
                  <a:srgbClr val="0000FF"/>
                </a:solidFill>
                <a:latin typeface="Helvetica" pitchFamily="34" charset="0"/>
              </a:rPr>
              <a:t>Performance Criteria:</a:t>
            </a:r>
            <a:endParaRPr lang="en-AU" sz="2200" b="1" dirty="0" smtClean="0">
              <a:solidFill>
                <a:srgbClr val="0000FF"/>
              </a:solidFill>
              <a:latin typeface="Helvetica" pitchFamily="34" charset="0"/>
            </a:endParaRPr>
          </a:p>
          <a:p>
            <a:pPr marL="712788" indent="-676275">
              <a:spcBef>
                <a:spcPts val="1200"/>
              </a:spcBef>
              <a:spcAft>
                <a:spcPts val="1200"/>
              </a:spcAft>
              <a:buSzPct val="100000"/>
              <a:buNone/>
            </a:pPr>
            <a:r>
              <a:rPr lang="en-US" sz="2200" b="1" dirty="0" smtClean="0">
                <a:solidFill>
                  <a:schemeClr val="accent1">
                    <a:lumMod val="75000"/>
                  </a:schemeClr>
                </a:solidFill>
                <a:latin typeface="Helvetica" pitchFamily="34" charset="0"/>
              </a:rPr>
              <a:t>1.1</a:t>
            </a:r>
            <a:r>
              <a:rPr lang="en-US" sz="2200" b="1" dirty="0" smtClean="0">
                <a:latin typeface="Helvetica" pitchFamily="34" charset="0"/>
              </a:rPr>
              <a:t>	Define the problem of child sexual exploitation of children by tourists (otherwise known as child-sex tourism)</a:t>
            </a:r>
            <a:endParaRPr lang="en-AU" sz="2200" b="1" dirty="0" smtClean="0">
              <a:latin typeface="Helvetica" pitchFamily="34" charset="0"/>
            </a:endParaRPr>
          </a:p>
          <a:p>
            <a:pPr marL="712788" indent="-676275">
              <a:spcBef>
                <a:spcPts val="1200"/>
              </a:spcBef>
              <a:spcAft>
                <a:spcPts val="1200"/>
              </a:spcAft>
              <a:buNone/>
              <a:tabLst>
                <a:tab pos="712788" algn="l"/>
              </a:tabLst>
            </a:pPr>
            <a:r>
              <a:rPr lang="en-US" sz="2200" b="1" dirty="0" smtClean="0">
                <a:solidFill>
                  <a:schemeClr val="accent1">
                    <a:lumMod val="75000"/>
                  </a:schemeClr>
                </a:solidFill>
                <a:latin typeface="Helvetica" pitchFamily="34" charset="0"/>
              </a:rPr>
              <a:t>1.2	</a:t>
            </a:r>
            <a:r>
              <a:rPr lang="en-US" sz="2200" b="1" dirty="0" smtClean="0">
                <a:latin typeface="Helvetica" pitchFamily="34" charset="0"/>
              </a:rPr>
              <a:t>Describe the impact of child sexual </a:t>
            </a:r>
            <a:br>
              <a:rPr lang="en-US" sz="2200" b="1" dirty="0" smtClean="0">
                <a:latin typeface="Helvetica" pitchFamily="34" charset="0"/>
              </a:rPr>
            </a:br>
            <a:r>
              <a:rPr lang="en-US" sz="2200" b="1" dirty="0" smtClean="0">
                <a:latin typeface="Helvetica" pitchFamily="34" charset="0"/>
              </a:rPr>
              <a:t>exploitation on children, communities </a:t>
            </a:r>
            <a:br>
              <a:rPr lang="en-US" sz="2200" b="1" dirty="0" smtClean="0">
                <a:latin typeface="Helvetica" pitchFamily="34" charset="0"/>
              </a:rPr>
            </a:br>
            <a:r>
              <a:rPr lang="en-US" sz="2200" b="1" dirty="0" smtClean="0">
                <a:latin typeface="Helvetica" pitchFamily="34" charset="0"/>
              </a:rPr>
              <a:t>and the hotel and travel industries</a:t>
            </a:r>
            <a:endParaRPr lang="en-AU" sz="2200" b="1" dirty="0" smtClean="0">
              <a:latin typeface="Helvetica" pitchFamily="34" charset="0"/>
            </a:endParaRPr>
          </a:p>
          <a:p>
            <a:pPr marL="712788" indent="-676275">
              <a:spcBef>
                <a:spcPts val="1200"/>
              </a:spcBef>
              <a:spcAft>
                <a:spcPts val="1200"/>
              </a:spcAft>
              <a:buNone/>
            </a:pPr>
            <a:r>
              <a:rPr lang="en-US" sz="2200" b="1" dirty="0" smtClean="0">
                <a:solidFill>
                  <a:schemeClr val="accent1">
                    <a:lumMod val="75000"/>
                  </a:schemeClr>
                </a:solidFill>
                <a:latin typeface="Helvetica" pitchFamily="34" charset="0"/>
              </a:rPr>
              <a:t>1.3</a:t>
            </a:r>
            <a:r>
              <a:rPr lang="en-US" sz="2200" b="1" dirty="0" smtClean="0">
                <a:latin typeface="Helvetica" pitchFamily="34" charset="0"/>
              </a:rPr>
              <a:t>	Identify suspicious behaviors that may </a:t>
            </a:r>
            <a:br>
              <a:rPr lang="en-US" sz="2200" b="1" dirty="0" smtClean="0">
                <a:latin typeface="Helvetica" pitchFamily="34" charset="0"/>
              </a:rPr>
            </a:br>
            <a:r>
              <a:rPr lang="en-US" sz="2200" b="1" dirty="0" smtClean="0">
                <a:latin typeface="Helvetica" pitchFamily="34" charset="0"/>
              </a:rPr>
              <a:t>be exhibited by child sex tourists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a:t>
            </a:fld>
            <a:endParaRPr lang="en-US" dirty="0"/>
          </a:p>
        </p:txBody>
      </p:sp>
      <p:pic>
        <p:nvPicPr>
          <p:cNvPr id="5" name="Picture 2" descr="C:\Users\fgvghyujil\AppData\Local\Microsoft\Windows\Temporary Internet Files\Content.IE5\PP601SXW\MC900440428[1].wmf"/>
          <p:cNvPicPr>
            <a:picLocks noChangeAspect="1" noChangeArrowheads="1"/>
          </p:cNvPicPr>
          <p:nvPr/>
        </p:nvPicPr>
        <p:blipFill>
          <a:blip r:embed="rId3" cstate="print"/>
          <a:srcRect/>
          <a:stretch>
            <a:fillRect/>
          </a:stretch>
        </p:blipFill>
        <p:spPr bwMode="auto">
          <a:xfrm>
            <a:off x="6876256" y="3645024"/>
            <a:ext cx="1736725" cy="182880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988840"/>
            <a:ext cx="8143932" cy="4669979"/>
          </a:xfrm>
        </p:spPr>
        <p:txBody>
          <a:bodyPr>
            <a:noAutofit/>
          </a:bodyPr>
          <a:lstStyle/>
          <a:p>
            <a:pPr>
              <a:spcBef>
                <a:spcPts val="1200"/>
              </a:spcBef>
              <a:spcAft>
                <a:spcPts val="1200"/>
              </a:spcAft>
              <a:buNone/>
            </a:pPr>
            <a:r>
              <a:rPr lang="en-US" sz="2200" b="1" dirty="0" smtClean="0">
                <a:solidFill>
                  <a:srgbClr val="0000FF"/>
                </a:solidFill>
                <a:latin typeface="Helvetica" pitchFamily="34" charset="0"/>
              </a:rPr>
              <a:t>Performance Criteria:</a:t>
            </a:r>
            <a:endParaRPr lang="en-AU" sz="2200" b="1" dirty="0" smtClean="0">
              <a:solidFill>
                <a:srgbClr val="0000FF"/>
              </a:solidFill>
              <a:latin typeface="Helvetica" pitchFamily="34" charset="0"/>
            </a:endParaRPr>
          </a:p>
          <a:p>
            <a:pPr marL="712788" indent="-676275">
              <a:spcBef>
                <a:spcPts val="1200"/>
              </a:spcBef>
              <a:spcAft>
                <a:spcPts val="1200"/>
              </a:spcAft>
              <a:buNone/>
            </a:pPr>
            <a:r>
              <a:rPr lang="en-US" sz="2000" b="1" dirty="0" smtClean="0">
                <a:solidFill>
                  <a:schemeClr val="accent1">
                    <a:lumMod val="75000"/>
                  </a:schemeClr>
                </a:solidFill>
                <a:latin typeface="Helvetica" pitchFamily="34" charset="0"/>
              </a:rPr>
              <a:t>2.1	</a:t>
            </a:r>
            <a:r>
              <a:rPr lang="en-US" sz="2000" b="1" dirty="0" smtClean="0">
                <a:latin typeface="Helvetica" pitchFamily="34" charset="0"/>
              </a:rPr>
              <a:t>Locate and become familiar with the United Nations Convention on the Rights (UNCRC) of the Child and the main UN Articles relating to the rights of all </a:t>
            </a:r>
            <a:br>
              <a:rPr lang="en-US" sz="2000" b="1" dirty="0" smtClean="0">
                <a:latin typeface="Helvetica" pitchFamily="34" charset="0"/>
              </a:rPr>
            </a:br>
            <a:r>
              <a:rPr lang="en-US" sz="2000" b="1" dirty="0" smtClean="0">
                <a:latin typeface="Helvetica" pitchFamily="34" charset="0"/>
              </a:rPr>
              <a:t>children to be safe from sexual exploitation </a:t>
            </a:r>
            <a:endParaRPr lang="en-AU" sz="2000" b="1" dirty="0" smtClean="0">
              <a:latin typeface="Helvetica" pitchFamily="34" charset="0"/>
            </a:endParaRPr>
          </a:p>
          <a:p>
            <a:pPr marL="712788" indent="-676275">
              <a:spcBef>
                <a:spcPts val="1200"/>
              </a:spcBef>
              <a:spcAft>
                <a:spcPts val="1200"/>
              </a:spcAft>
              <a:buNone/>
            </a:pPr>
            <a:r>
              <a:rPr lang="en-US" sz="2000" b="1" dirty="0" smtClean="0">
                <a:solidFill>
                  <a:schemeClr val="accent1">
                    <a:lumMod val="75000"/>
                  </a:schemeClr>
                </a:solidFill>
                <a:latin typeface="Helvetica" pitchFamily="34" charset="0"/>
              </a:rPr>
              <a:t>2.2</a:t>
            </a:r>
            <a:r>
              <a:rPr lang="en-US" sz="2000" b="1" dirty="0" smtClean="0">
                <a:latin typeface="Helvetica" pitchFamily="34" charset="0"/>
              </a:rPr>
              <a:t>	Examine national, regional and international </a:t>
            </a:r>
            <a:br>
              <a:rPr lang="en-US" sz="2000" b="1" dirty="0" smtClean="0">
                <a:latin typeface="Helvetica" pitchFamily="34" charset="0"/>
              </a:rPr>
            </a:br>
            <a:r>
              <a:rPr lang="en-US" sz="2000" b="1" dirty="0" smtClean="0">
                <a:latin typeface="Helvetica" pitchFamily="34" charset="0"/>
              </a:rPr>
              <a:t>initiatives to prevent the sexual exploitation </a:t>
            </a:r>
            <a:br>
              <a:rPr lang="en-US" sz="2000" b="1" dirty="0" smtClean="0">
                <a:latin typeface="Helvetica" pitchFamily="34" charset="0"/>
              </a:rPr>
            </a:br>
            <a:r>
              <a:rPr lang="en-US" sz="2000" b="1" dirty="0" smtClean="0">
                <a:latin typeface="Helvetica" pitchFamily="34" charset="0"/>
              </a:rPr>
              <a:t>of children by tourists</a:t>
            </a:r>
            <a:endParaRPr lang="en-AU" sz="2000" b="1" dirty="0" smtClean="0">
              <a:latin typeface="Helvetica" pitchFamily="34" charset="0"/>
            </a:endParaRPr>
          </a:p>
          <a:p>
            <a:pPr marL="712788" indent="-676275">
              <a:spcBef>
                <a:spcPts val="1200"/>
              </a:spcBef>
              <a:spcAft>
                <a:spcPts val="1200"/>
              </a:spcAft>
              <a:buNone/>
            </a:pPr>
            <a:r>
              <a:rPr lang="en-US" sz="2000" b="1" dirty="0" smtClean="0">
                <a:solidFill>
                  <a:schemeClr val="accent1">
                    <a:lumMod val="75000"/>
                  </a:schemeClr>
                </a:solidFill>
                <a:latin typeface="Helvetica" pitchFamily="34" charset="0"/>
              </a:rPr>
              <a:t>2.3</a:t>
            </a:r>
            <a:r>
              <a:rPr lang="en-US" sz="2000" b="1" dirty="0" smtClean="0">
                <a:latin typeface="Helvetica" pitchFamily="34" charset="0"/>
              </a:rPr>
              <a:t>	Identify reporting mechanisms if suspicious </a:t>
            </a:r>
            <a:br>
              <a:rPr lang="en-US" sz="2000" b="1" dirty="0" smtClean="0">
                <a:latin typeface="Helvetica" pitchFamily="34" charset="0"/>
              </a:rPr>
            </a:br>
            <a:r>
              <a:rPr lang="en-US" sz="2000" b="1" dirty="0" smtClean="0">
                <a:latin typeface="Helvetica" pitchFamily="34" charset="0"/>
              </a:rPr>
              <a:t>behavior is observed</a:t>
            </a:r>
            <a:endParaRPr lang="en-AU" sz="2000" b="1" dirty="0" smtClean="0">
              <a:latin typeface="Helvetica" pitchFamily="34" charset="0"/>
            </a:endParaRP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a:t>
            </a:fld>
            <a:endParaRPr lang="en-US" dirty="0"/>
          </a:p>
        </p:txBody>
      </p:sp>
      <p:sp>
        <p:nvSpPr>
          <p:cNvPr id="5" name="Title 1"/>
          <p:cNvSpPr txBox="1">
            <a:spLocks/>
          </p:cNvSpPr>
          <p:nvPr/>
        </p:nvSpPr>
        <p:spPr>
          <a:xfrm>
            <a:off x="467544" y="332656"/>
            <a:ext cx="8460432" cy="1656184"/>
          </a:xfrm>
          <a:prstGeom prst="rect">
            <a:avLst/>
          </a:prstGeom>
        </p:spPr>
        <p:txBody>
          <a:bodyPr vert="horz" lIns="45720" rIns="45720" anchor="ctr">
            <a:noAutofit/>
          </a:bodyPr>
          <a:lstStyle/>
          <a:p>
            <a:pPr marL="534988" lvl="0" indent="-534988">
              <a:spcBef>
                <a:spcPct val="0"/>
              </a:spcBef>
              <a:defRPr/>
            </a:pPr>
            <a:r>
              <a:rPr lang="en-US" sz="2800" b="1" dirty="0" smtClean="0">
                <a:solidFill>
                  <a:srgbClr val="FF6600"/>
                </a:solidFill>
                <a:latin typeface="Helvetica"/>
                <a:cs typeface="Helvetica"/>
              </a:rPr>
              <a:t>2.	</a:t>
            </a:r>
            <a:r>
              <a:rPr kumimoji="0" lang="en-US" sz="2800" b="1" u="none" strike="noStrike" kern="1200" cap="none" spc="0" normalizeH="0" baseline="0" noProof="0" dirty="0" smtClean="0">
                <a:ln>
                  <a:noFill/>
                </a:ln>
                <a:solidFill>
                  <a:srgbClr val="FF6600"/>
                </a:solidFill>
                <a:effectLst/>
                <a:uLnTx/>
                <a:uFillTx/>
                <a:latin typeface="Helvetica"/>
                <a:ea typeface="+mj-ea"/>
                <a:cs typeface="Helvetica"/>
              </a:rPr>
              <a:t>Describe national, regional and international actions to prevent the sexual exploitation of children by tourists</a:t>
            </a:r>
            <a:endParaRPr kumimoji="0" lang="en-AU" sz="2800" b="1" u="none" strike="noStrike" kern="1200" cap="none" spc="0" normalizeH="0" baseline="0" noProof="0" dirty="0">
              <a:ln>
                <a:noFill/>
              </a:ln>
              <a:solidFill>
                <a:srgbClr val="FF6600"/>
              </a:solidFill>
              <a:effectLst/>
              <a:uLnTx/>
              <a:uFillTx/>
              <a:latin typeface="Helvetica"/>
              <a:ea typeface="+mj-ea"/>
              <a:cs typeface="Helvetica"/>
            </a:endParaRPr>
          </a:p>
        </p:txBody>
      </p:sp>
      <p:pic>
        <p:nvPicPr>
          <p:cNvPr id="7" name="Picture 2" descr="C:\Users\fgvghyujil\AppData\Local\Microsoft\Windows\Temporary Internet Files\Content.IE5\PP601SXW\MC900440428[1].wmf"/>
          <p:cNvPicPr>
            <a:picLocks noChangeAspect="1" noChangeArrowheads="1"/>
          </p:cNvPicPr>
          <p:nvPr/>
        </p:nvPicPr>
        <p:blipFill>
          <a:blip r:embed="rId3" cstate="print"/>
          <a:srcRect/>
          <a:stretch>
            <a:fillRect/>
          </a:stretch>
        </p:blipFill>
        <p:spPr bwMode="auto">
          <a:xfrm>
            <a:off x="6715140" y="3500438"/>
            <a:ext cx="1736725" cy="1828800"/>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620688"/>
            <a:ext cx="7992888" cy="1656184"/>
          </a:xfrm>
        </p:spPr>
        <p:txBody>
          <a:bodyPr>
            <a:normAutofit fontScale="90000"/>
          </a:bodyPr>
          <a:lstStyle/>
          <a:p>
            <a:pPr marL="534988" indent="-534988"/>
            <a:r>
              <a:rPr lang="en-US" sz="3100" b="1" dirty="0" smtClean="0">
                <a:solidFill>
                  <a:srgbClr val="FF6600"/>
                </a:solidFill>
                <a:latin typeface="Helvetica"/>
                <a:cs typeface="Helvetica"/>
              </a:rPr>
              <a:t>3.	Describe actions that can be taken in the workplace to protect children from sexual exploitation by tourists</a:t>
            </a:r>
            <a:r>
              <a:rPr lang="en-AU" sz="3600" b="1" dirty="0" smtClean="0"/>
              <a:t/>
            </a:r>
            <a:br>
              <a:rPr lang="en-AU" sz="3600" b="1" dirty="0" smtClean="0"/>
            </a:b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332037"/>
            <a:ext cx="7467600" cy="4525963"/>
          </a:xfrm>
        </p:spPr>
        <p:txBody>
          <a:bodyPr>
            <a:normAutofit/>
          </a:bodyPr>
          <a:lstStyle/>
          <a:p>
            <a:pPr marL="360000" indent="-360000">
              <a:spcBef>
                <a:spcPts val="1200"/>
              </a:spcBef>
              <a:spcAft>
                <a:spcPts val="1200"/>
              </a:spcAft>
              <a:buNone/>
            </a:pPr>
            <a:r>
              <a:rPr lang="en-US" sz="2200" b="1" dirty="0" smtClean="0">
                <a:solidFill>
                  <a:srgbClr val="0000FF"/>
                </a:solidFill>
                <a:latin typeface="Helvetica" pitchFamily="34" charset="0"/>
              </a:rPr>
              <a:t>Performance Criteria:</a:t>
            </a:r>
          </a:p>
          <a:p>
            <a:pPr marL="712788" indent="-712788">
              <a:spcBef>
                <a:spcPts val="1200"/>
              </a:spcBef>
              <a:spcAft>
                <a:spcPts val="1200"/>
              </a:spcAft>
              <a:buNone/>
            </a:pPr>
            <a:r>
              <a:rPr lang="en-US" sz="2200" b="1" dirty="0" smtClean="0">
                <a:solidFill>
                  <a:schemeClr val="accent1">
                    <a:lumMod val="75000"/>
                  </a:schemeClr>
                </a:solidFill>
                <a:latin typeface="Helvetica" pitchFamily="34" charset="0"/>
              </a:rPr>
              <a:t>3.1</a:t>
            </a:r>
            <a:r>
              <a:rPr lang="en-US" sz="2200" b="1" dirty="0" smtClean="0">
                <a:latin typeface="Helvetica" pitchFamily="34" charset="0"/>
              </a:rPr>
              <a:t>	Prepare a list of actions that can be taken by staff working in each labor division of </a:t>
            </a:r>
            <a:br>
              <a:rPr lang="en-US" sz="2200" b="1" dirty="0" smtClean="0">
                <a:latin typeface="Helvetica" pitchFamily="34" charset="0"/>
              </a:rPr>
            </a:br>
            <a:r>
              <a:rPr lang="en-US" sz="2200" b="1" dirty="0" smtClean="0">
                <a:latin typeface="Helvetica" pitchFamily="34" charset="0"/>
              </a:rPr>
              <a:t>the hotel and travel industries to </a:t>
            </a:r>
            <a:br>
              <a:rPr lang="en-US" sz="2200" b="1" dirty="0" smtClean="0">
                <a:latin typeface="Helvetica" pitchFamily="34" charset="0"/>
              </a:rPr>
            </a:br>
            <a:r>
              <a:rPr lang="en-US" sz="2200" b="1" dirty="0" smtClean="0">
                <a:latin typeface="Helvetica" pitchFamily="34" charset="0"/>
              </a:rPr>
              <a:t>prevent the sexual exploitation of </a:t>
            </a:r>
            <a:br>
              <a:rPr lang="en-US" sz="2200" b="1" dirty="0" smtClean="0">
                <a:latin typeface="Helvetica" pitchFamily="34" charset="0"/>
              </a:rPr>
            </a:br>
            <a:r>
              <a:rPr lang="en-US" sz="2200" b="1" dirty="0" smtClean="0">
                <a:latin typeface="Helvetica" pitchFamily="34" charset="0"/>
              </a:rPr>
              <a:t>children by tourists</a:t>
            </a:r>
            <a:endParaRPr lang="en-AU" sz="2200" b="1" dirty="0" smtClean="0">
              <a:latin typeface="Helvetica" pitchFamily="34" charset="0"/>
            </a:endParaRP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a:t>
            </a:fld>
            <a:endParaRPr lang="en-US" dirty="0"/>
          </a:p>
        </p:txBody>
      </p:sp>
      <p:pic>
        <p:nvPicPr>
          <p:cNvPr id="5" name="Picture 2" descr="C:\Users\fgvghyujil\AppData\Local\Microsoft\Windows\Temporary Internet Files\Content.IE5\PP601SXW\MC900440428[1].wmf"/>
          <p:cNvPicPr>
            <a:picLocks noChangeAspect="1" noChangeArrowheads="1"/>
          </p:cNvPicPr>
          <p:nvPr/>
        </p:nvPicPr>
        <p:blipFill>
          <a:blip r:embed="rId3" cstate="print"/>
          <a:srcRect/>
          <a:stretch>
            <a:fillRect/>
          </a:stretch>
        </p:blipFill>
        <p:spPr bwMode="auto">
          <a:xfrm>
            <a:off x="6715140" y="3500438"/>
            <a:ext cx="1736725" cy="1828800"/>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7920880" cy="1872208"/>
          </a:xfrm>
        </p:spPr>
        <p:txBody>
          <a:bodyPr>
            <a:noAutofit/>
          </a:bodyPr>
          <a:lstStyle/>
          <a:p>
            <a:pPr marL="712788" indent="-712788"/>
            <a:r>
              <a:rPr lang="en-US" sz="2800" b="1" dirty="0" smtClean="0">
                <a:solidFill>
                  <a:srgbClr val="FF6600"/>
                </a:solidFill>
                <a:latin typeface="Helvetica"/>
                <a:cs typeface="Helvetica"/>
              </a:rPr>
              <a:t>1.1	Define the problem of child sexual exploitation of children by tourists (otherwise known as child-sex tourism)</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533400" y="2276872"/>
            <a:ext cx="7467600" cy="4077891"/>
          </a:xfrm>
        </p:spPr>
        <p:txBody>
          <a:bodyPr>
            <a:normAutofit/>
          </a:bodyPr>
          <a:lstStyle/>
          <a:p>
            <a:pPr marL="360000" indent="-360000">
              <a:spcBef>
                <a:spcPts val="1200"/>
              </a:spcBef>
              <a:spcAft>
                <a:spcPts val="1200"/>
              </a:spcAft>
            </a:pPr>
            <a:r>
              <a:rPr lang="en-US" sz="2200" b="1" dirty="0" smtClean="0">
                <a:latin typeface="Helvetica" pitchFamily="34" charset="0"/>
              </a:rPr>
              <a:t>According to UNICEF, 3 million children are victims of sexual exploitation every year</a:t>
            </a:r>
          </a:p>
          <a:p>
            <a:pPr marL="360000" indent="-360000">
              <a:spcBef>
                <a:spcPts val="1200"/>
              </a:spcBef>
              <a:spcAft>
                <a:spcPts val="1200"/>
              </a:spcAft>
            </a:pPr>
            <a:r>
              <a:rPr lang="en-US" sz="2200" b="1" dirty="0" smtClean="0">
                <a:latin typeface="Helvetica" pitchFamily="34" charset="0"/>
              </a:rPr>
              <a:t>Under the UNICEF definition a Child is </a:t>
            </a:r>
            <a:br>
              <a:rPr lang="en-US" sz="2200" b="1" dirty="0" smtClean="0">
                <a:latin typeface="Helvetica" pitchFamily="34" charset="0"/>
              </a:rPr>
            </a:br>
            <a:r>
              <a:rPr lang="en-US" sz="2200" b="1" dirty="0" smtClean="0">
                <a:latin typeface="Helvetica" pitchFamily="34" charset="0"/>
              </a:rPr>
              <a:t>anyone under the age of 18.</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a:t>
            </a:fld>
            <a:endParaRPr lang="en-US" dirty="0"/>
          </a:p>
        </p:txBody>
      </p:sp>
      <p:pic>
        <p:nvPicPr>
          <p:cNvPr id="5" name="Picture 4" descr="arrested.jpg"/>
          <p:cNvPicPr/>
          <p:nvPr/>
        </p:nvPicPr>
        <p:blipFill>
          <a:blip r:embed="rId3" cstate="print"/>
          <a:stretch>
            <a:fillRect/>
          </a:stretch>
        </p:blipFill>
        <p:spPr>
          <a:xfrm>
            <a:off x="6516216" y="3140968"/>
            <a:ext cx="1728192" cy="1872208"/>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632848" cy="1800200"/>
          </a:xfrm>
        </p:spPr>
        <p:txBody>
          <a:bodyPr>
            <a:noAutofit/>
          </a:bodyPr>
          <a:lstStyle/>
          <a:p>
            <a:pPr marL="712788" indent="-712788"/>
            <a:r>
              <a:rPr lang="en-US" sz="2800" b="1" dirty="0" smtClean="0">
                <a:solidFill>
                  <a:srgbClr val="FF6600"/>
                </a:solidFill>
                <a:latin typeface="Helvetica"/>
                <a:cs typeface="Helvetica"/>
              </a:rPr>
              <a:t>1.1	Define the problem of child sexual exploitation of children by tourists (otherwise known as child-sex tourism)</a:t>
            </a:r>
            <a:endParaRPr lang="en-US" sz="2800" b="1" dirty="0">
              <a:solidFill>
                <a:srgbClr val="FF6600"/>
              </a:solidFill>
              <a:latin typeface="Helvetica"/>
              <a:cs typeface="Helvetica"/>
            </a:endParaRPr>
          </a:p>
        </p:txBody>
      </p:sp>
      <p:sp>
        <p:nvSpPr>
          <p:cNvPr id="3" name="Content Placeholder 2"/>
          <p:cNvSpPr>
            <a:spLocks noGrp="1"/>
          </p:cNvSpPr>
          <p:nvPr>
            <p:ph idx="1"/>
          </p:nvPr>
        </p:nvSpPr>
        <p:spPr>
          <a:xfrm>
            <a:off x="457200" y="2132856"/>
            <a:ext cx="7467600" cy="4221907"/>
          </a:xfrm>
        </p:spPr>
        <p:txBody>
          <a:bodyPr>
            <a:normAutofit/>
          </a:bodyPr>
          <a:lstStyle/>
          <a:p>
            <a:pPr>
              <a:spcBef>
                <a:spcPts val="1200"/>
              </a:spcBef>
              <a:spcAft>
                <a:spcPts val="1200"/>
              </a:spcAft>
            </a:pPr>
            <a:r>
              <a:rPr lang="en-US" sz="2200" b="1" dirty="0" smtClean="0">
                <a:latin typeface="Helvetica" pitchFamily="34" charset="0"/>
              </a:rPr>
              <a:t>Child Sex Tourism refers to the sexual abuse of children by offenders who normally live </a:t>
            </a:r>
            <a:br>
              <a:rPr lang="en-US" sz="2200" b="1" dirty="0" smtClean="0">
                <a:latin typeface="Helvetica" pitchFamily="34" charset="0"/>
              </a:rPr>
            </a:br>
            <a:r>
              <a:rPr lang="en-US" sz="2200" b="1" dirty="0" smtClean="0">
                <a:latin typeface="Helvetica" pitchFamily="34" charset="0"/>
              </a:rPr>
              <a:t>outside the region where the abuse is </a:t>
            </a:r>
            <a:br>
              <a:rPr lang="en-US" sz="2200" b="1" dirty="0" smtClean="0">
                <a:latin typeface="Helvetica" pitchFamily="34" charset="0"/>
              </a:rPr>
            </a:br>
            <a:r>
              <a:rPr lang="en-US" sz="2200" b="1" dirty="0" smtClean="0">
                <a:latin typeface="Helvetica" pitchFamily="34" charset="0"/>
              </a:rPr>
              <a:t>occurring</a:t>
            </a:r>
          </a:p>
          <a:p>
            <a:pPr>
              <a:spcBef>
                <a:spcPts val="1200"/>
              </a:spcBef>
              <a:spcAft>
                <a:spcPts val="1200"/>
              </a:spcAft>
            </a:pPr>
            <a:r>
              <a:rPr lang="en-US" sz="2200" b="1" dirty="0" smtClean="0">
                <a:latin typeface="Helvetica" pitchFamily="34" charset="0"/>
              </a:rPr>
              <a:t>Offenders could be tourists, expatriates, </a:t>
            </a:r>
            <a:br>
              <a:rPr lang="en-US" sz="2200" b="1" dirty="0" smtClean="0">
                <a:latin typeface="Helvetica" pitchFamily="34" charset="0"/>
              </a:rPr>
            </a:br>
            <a:r>
              <a:rPr lang="en-US" sz="2200" b="1" dirty="0" smtClean="0">
                <a:latin typeface="Helvetica" pitchFamily="34" charset="0"/>
              </a:rPr>
              <a:t>foreign workers, business travelers or </a:t>
            </a:r>
            <a:br>
              <a:rPr lang="en-US" sz="2200" b="1" dirty="0" smtClean="0">
                <a:latin typeface="Helvetica" pitchFamily="34" charset="0"/>
              </a:rPr>
            </a:br>
            <a:r>
              <a:rPr lang="en-US" sz="2200" b="1" dirty="0" smtClean="0">
                <a:latin typeface="Helvetica" pitchFamily="34" charset="0"/>
              </a:rPr>
              <a:t>anyone who is in the area for a </a:t>
            </a:r>
            <a:br>
              <a:rPr lang="en-US" sz="2200" b="1" dirty="0" smtClean="0">
                <a:latin typeface="Helvetica" pitchFamily="34" charset="0"/>
              </a:rPr>
            </a:br>
            <a:r>
              <a:rPr lang="en-US" sz="2200" b="1" dirty="0" smtClean="0">
                <a:latin typeface="Helvetica" pitchFamily="34" charset="0"/>
              </a:rPr>
              <a:t>short-term period.</a:t>
            </a:r>
            <a:endParaRPr lang="en-AU" sz="2200" b="1" dirty="0" smtClean="0">
              <a:latin typeface="Helvetica" pitchFamily="34" charset="0"/>
            </a:endParaRP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a:t>
            </a:fld>
            <a:endParaRPr lang="en-US" dirty="0"/>
          </a:p>
        </p:txBody>
      </p:sp>
      <p:pic>
        <p:nvPicPr>
          <p:cNvPr id="5" name="Picture 4" descr="Travel.jpg"/>
          <p:cNvPicPr/>
          <p:nvPr/>
        </p:nvPicPr>
        <p:blipFill>
          <a:blip r:embed="rId3" cstate="print"/>
          <a:stretch>
            <a:fillRect/>
          </a:stretch>
        </p:blipFill>
        <p:spPr>
          <a:xfrm>
            <a:off x="6732240" y="2780928"/>
            <a:ext cx="1801495" cy="2684678"/>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800200"/>
          </a:xfrm>
        </p:spPr>
        <p:txBody>
          <a:bodyPr>
            <a:noAutofit/>
          </a:bodyPr>
          <a:lstStyle/>
          <a:p>
            <a:pPr marL="712788" indent="-712788"/>
            <a:r>
              <a:rPr lang="en-US" sz="2800" b="1" dirty="0" smtClean="0">
                <a:solidFill>
                  <a:srgbClr val="FF6600"/>
                </a:solidFill>
                <a:latin typeface="Helvetica"/>
                <a:cs typeface="Helvetica"/>
              </a:rPr>
              <a:t>1.1	Define the problem of child sexual exploitation of children by tourists (otherwise known as child-sex tourism)</a:t>
            </a:r>
            <a:endParaRPr lang="en-US" sz="2800" b="1" dirty="0">
              <a:solidFill>
                <a:srgbClr val="FF6600"/>
              </a:solidFill>
              <a:latin typeface="Helvetica"/>
              <a:cs typeface="Helvetica"/>
            </a:endParaRPr>
          </a:p>
        </p:txBody>
      </p:sp>
      <p:sp>
        <p:nvSpPr>
          <p:cNvPr id="3" name="Content Placeholder 2"/>
          <p:cNvSpPr>
            <a:spLocks noGrp="1"/>
          </p:cNvSpPr>
          <p:nvPr>
            <p:ph idx="1"/>
          </p:nvPr>
        </p:nvSpPr>
        <p:spPr>
          <a:xfrm>
            <a:off x="609600" y="2204864"/>
            <a:ext cx="7467600" cy="4073699"/>
          </a:xfrm>
        </p:spPr>
        <p:txBody>
          <a:bodyPr>
            <a:normAutofit lnSpcReduction="10000"/>
          </a:bodyPr>
          <a:lstStyle/>
          <a:p>
            <a:pPr marL="360000" indent="-360000">
              <a:spcBef>
                <a:spcPts val="1200"/>
              </a:spcBef>
              <a:spcAft>
                <a:spcPts val="1200"/>
              </a:spcAft>
              <a:buNone/>
            </a:pPr>
            <a:r>
              <a:rPr lang="en-US" sz="2200" b="1" dirty="0" smtClean="0">
                <a:solidFill>
                  <a:srgbClr val="0000FF"/>
                </a:solidFill>
                <a:latin typeface="Helvetica" pitchFamily="34" charset="0"/>
              </a:rPr>
              <a:t>Why is Child Sex Tourism Growing?</a:t>
            </a:r>
          </a:p>
          <a:p>
            <a:pPr marL="360000" indent="-360000">
              <a:spcBef>
                <a:spcPts val="1200"/>
              </a:spcBef>
              <a:spcAft>
                <a:spcPts val="1200"/>
              </a:spcAft>
            </a:pPr>
            <a:r>
              <a:rPr lang="en-US" sz="2200" b="1" dirty="0" smtClean="0">
                <a:latin typeface="Helvetica" pitchFamily="34" charset="0"/>
              </a:rPr>
              <a:t>It has become increasingly difficult for situational and preferential abusers and pedophiles to </a:t>
            </a:r>
            <a:br>
              <a:rPr lang="en-US" sz="2200" b="1" dirty="0" smtClean="0">
                <a:latin typeface="Helvetica" pitchFamily="34" charset="0"/>
              </a:rPr>
            </a:br>
            <a:r>
              <a:rPr lang="en-US" sz="2200" b="1" dirty="0" smtClean="0">
                <a:latin typeface="Helvetica" pitchFamily="34" charset="0"/>
              </a:rPr>
              <a:t>target children in richer countries due to: </a:t>
            </a:r>
          </a:p>
          <a:p>
            <a:pPr marL="661752" lvl="1" indent="-360000">
              <a:spcBef>
                <a:spcPts val="1200"/>
              </a:spcBef>
              <a:spcAft>
                <a:spcPts val="1200"/>
              </a:spcAft>
            </a:pPr>
            <a:r>
              <a:rPr lang="en-US" sz="2200" b="1" dirty="0" smtClean="0">
                <a:latin typeface="Helvetica" pitchFamily="34" charset="0"/>
              </a:rPr>
              <a:t>closer scrutiny in workplaces</a:t>
            </a:r>
          </a:p>
          <a:p>
            <a:pPr marL="661752" lvl="1" indent="-360000">
              <a:spcBef>
                <a:spcPts val="1200"/>
              </a:spcBef>
              <a:spcAft>
                <a:spcPts val="1200"/>
              </a:spcAft>
            </a:pPr>
            <a:r>
              <a:rPr lang="en-US" sz="2200" b="1" dirty="0" smtClean="0">
                <a:latin typeface="Helvetica" pitchFamily="34" charset="0"/>
              </a:rPr>
              <a:t>police checks and strong laws</a:t>
            </a:r>
          </a:p>
          <a:p>
            <a:pPr marL="661752" lvl="1" indent="-360000">
              <a:spcBef>
                <a:spcPts val="1200"/>
              </a:spcBef>
              <a:spcAft>
                <a:spcPts val="1200"/>
              </a:spcAft>
            </a:pPr>
            <a:r>
              <a:rPr lang="en-US" sz="2200" b="1" dirty="0" smtClean="0">
                <a:latin typeface="Helvetica" pitchFamily="34" charset="0"/>
              </a:rPr>
              <a:t>policies and procedures set up to eliminate situations where child abuse may occur.</a:t>
            </a:r>
            <a:endParaRPr lang="en-AU" sz="2200" b="1"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a:t>
            </a:fld>
            <a:endParaRPr lang="en-US" dirty="0"/>
          </a:p>
        </p:txBody>
      </p:sp>
      <p:pic>
        <p:nvPicPr>
          <p:cNvPr id="1026" name="Picture 2" descr="C:\Documents and Settings\maiv\Local Settings\Temporary Internet Files\Content.IE5\A8BAWIUD\MC900434391[1].wmf"/>
          <p:cNvPicPr>
            <a:picLocks noChangeAspect="1" noChangeArrowheads="1"/>
          </p:cNvPicPr>
          <p:nvPr/>
        </p:nvPicPr>
        <p:blipFill>
          <a:blip r:embed="rId3" cstate="print"/>
          <a:srcRect/>
          <a:stretch>
            <a:fillRect/>
          </a:stretch>
        </p:blipFill>
        <p:spPr bwMode="auto">
          <a:xfrm>
            <a:off x="6948264" y="3284984"/>
            <a:ext cx="1885950" cy="1920875"/>
          </a:xfrm>
          <a:prstGeom prst="rect">
            <a:avLst/>
          </a:prstGeom>
          <a:noFill/>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lora 3.jpg"/>
          <p:cNvPicPr>
            <a:picLocks noChangeAspect="1"/>
          </p:cNvPicPr>
          <p:nvPr/>
        </p:nvPicPr>
        <p:blipFill>
          <a:blip r:embed="rId3" cstate="print"/>
          <a:stretch>
            <a:fillRect/>
          </a:stretch>
        </p:blipFill>
        <p:spPr>
          <a:xfrm>
            <a:off x="5292080" y="5299373"/>
            <a:ext cx="1694160" cy="1558627"/>
          </a:xfrm>
          <a:prstGeom prst="rect">
            <a:avLst/>
          </a:prstGeom>
        </p:spPr>
      </p:pic>
      <p:sp>
        <p:nvSpPr>
          <p:cNvPr id="2" name="Title 1"/>
          <p:cNvSpPr>
            <a:spLocks noGrp="1"/>
          </p:cNvSpPr>
          <p:nvPr>
            <p:ph type="title"/>
          </p:nvPr>
        </p:nvSpPr>
        <p:spPr>
          <a:xfrm>
            <a:off x="611560" y="332656"/>
            <a:ext cx="7704856" cy="1728192"/>
          </a:xfrm>
        </p:spPr>
        <p:txBody>
          <a:bodyPr>
            <a:noAutofit/>
          </a:bodyPr>
          <a:lstStyle/>
          <a:p>
            <a:pPr marL="712788" indent="-712788"/>
            <a:r>
              <a:rPr lang="en-US" sz="2800" b="1" dirty="0" smtClean="0">
                <a:solidFill>
                  <a:srgbClr val="FF6600"/>
                </a:solidFill>
                <a:latin typeface="Helvetica"/>
                <a:cs typeface="Helvetica"/>
              </a:rPr>
              <a:t>1.1	Define the problem of child sexual exploitation of children by tourists (otherwise known as child-sex tourism)</a:t>
            </a:r>
            <a:endParaRPr lang="en-US" sz="2800" b="1" dirty="0">
              <a:solidFill>
                <a:srgbClr val="FF6600"/>
              </a:solidFill>
              <a:latin typeface="Helvetica"/>
              <a:cs typeface="Helvetica"/>
            </a:endParaRPr>
          </a:p>
        </p:txBody>
      </p:sp>
      <p:sp>
        <p:nvSpPr>
          <p:cNvPr id="3" name="Content Placeholder 2"/>
          <p:cNvSpPr>
            <a:spLocks noGrp="1"/>
          </p:cNvSpPr>
          <p:nvPr>
            <p:ph idx="1"/>
          </p:nvPr>
        </p:nvSpPr>
        <p:spPr>
          <a:xfrm>
            <a:off x="539552" y="2332037"/>
            <a:ext cx="7467600" cy="4525963"/>
          </a:xfrm>
        </p:spPr>
        <p:txBody>
          <a:bodyPr>
            <a:normAutofit/>
          </a:bodyPr>
          <a:lstStyle/>
          <a:p>
            <a:pPr marL="0" indent="0">
              <a:spcBef>
                <a:spcPts val="1200"/>
              </a:spcBef>
              <a:spcAft>
                <a:spcPts val="1200"/>
              </a:spcAft>
              <a:buNone/>
            </a:pPr>
            <a:r>
              <a:rPr lang="en-US" sz="2200" b="1" dirty="0" smtClean="0">
                <a:solidFill>
                  <a:srgbClr val="0000FF"/>
                </a:solidFill>
                <a:latin typeface="Helvetica" pitchFamily="34" charset="0"/>
              </a:rPr>
              <a:t>Why Do Child Sex Tourists Choose Less Developed Countries?</a:t>
            </a:r>
          </a:p>
          <a:p>
            <a:pPr marL="360000" indent="-360000">
              <a:spcBef>
                <a:spcPts val="1200"/>
              </a:spcBef>
              <a:spcAft>
                <a:spcPts val="1200"/>
              </a:spcAft>
            </a:pPr>
            <a:r>
              <a:rPr lang="en-US" sz="2200" b="1" dirty="0" smtClean="0">
                <a:latin typeface="Helvetica" pitchFamily="34" charset="0"/>
              </a:rPr>
              <a:t>These countries may not have a strong enforcement system and may be going </a:t>
            </a:r>
            <a:br>
              <a:rPr lang="en-US" sz="2200" b="1" dirty="0" smtClean="0">
                <a:latin typeface="Helvetica" pitchFamily="34" charset="0"/>
              </a:rPr>
            </a:br>
            <a:r>
              <a:rPr lang="en-US" sz="2200" b="1" dirty="0" smtClean="0">
                <a:latin typeface="Helvetica" pitchFamily="34" charset="0"/>
              </a:rPr>
              <a:t>through a myriad of development </a:t>
            </a:r>
            <a:br>
              <a:rPr lang="en-US" sz="2200" b="1" dirty="0" smtClean="0">
                <a:latin typeface="Helvetica" pitchFamily="34" charset="0"/>
              </a:rPr>
            </a:br>
            <a:r>
              <a:rPr lang="en-US" sz="2200" b="1" dirty="0" smtClean="0">
                <a:latin typeface="Helvetica" pitchFamily="34" charset="0"/>
              </a:rPr>
              <a:t>issues, with Child Protection being </a:t>
            </a:r>
            <a:br>
              <a:rPr lang="en-US" sz="2200" b="1" dirty="0" smtClean="0">
                <a:latin typeface="Helvetica" pitchFamily="34" charset="0"/>
              </a:rPr>
            </a:br>
            <a:r>
              <a:rPr lang="en-US" sz="2200" b="1" dirty="0" smtClean="0">
                <a:latin typeface="Helvetica" pitchFamily="34" charset="0"/>
              </a:rPr>
              <a:t>only one of the concerns a country </a:t>
            </a:r>
            <a:br>
              <a:rPr lang="en-US" sz="2200" b="1" dirty="0" smtClean="0">
                <a:latin typeface="Helvetica" pitchFamily="34" charset="0"/>
              </a:rPr>
            </a:br>
            <a:r>
              <a:rPr lang="en-US" sz="2200" b="1" dirty="0" smtClean="0">
                <a:latin typeface="Helvetica" pitchFamily="34" charset="0"/>
              </a:rPr>
              <a:t>may be facing.</a:t>
            </a:r>
            <a:endParaRPr lang="en-AU" sz="2200" b="1" dirty="0" smtClean="0">
              <a:latin typeface="Helvetica" pitchFamily="34" charset="0"/>
            </a:endParaRP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a:t>
            </a:fld>
            <a:endParaRPr lang="en-US" dirty="0"/>
          </a:p>
        </p:txBody>
      </p:sp>
      <p:pic>
        <p:nvPicPr>
          <p:cNvPr id="5" name="Picture 4" descr="MP900399909[1].JPG"/>
          <p:cNvPicPr/>
          <p:nvPr/>
        </p:nvPicPr>
        <p:blipFill>
          <a:blip r:embed="rId4" cstate="print"/>
          <a:stretch>
            <a:fillRect/>
          </a:stretch>
        </p:blipFill>
        <p:spPr>
          <a:xfrm>
            <a:off x="6372200" y="3861048"/>
            <a:ext cx="2304256" cy="1584176"/>
          </a:xfrm>
          <a:prstGeom prst="rect">
            <a:avLst/>
          </a:prstGeom>
          <a:ln w="19050">
            <a:solidFill>
              <a:schemeClr val="tx2">
                <a:lumMod val="50000"/>
              </a:schemeClr>
            </a:solidFill>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2088232"/>
          </a:xfrm>
        </p:spPr>
        <p:txBody>
          <a:bodyPr>
            <a:noAutofit/>
          </a:bodyPr>
          <a:lstStyle/>
          <a:p>
            <a:pPr marL="712788" indent="-712788"/>
            <a:r>
              <a:rPr lang="en-US" sz="2800" b="1" dirty="0" smtClean="0">
                <a:solidFill>
                  <a:srgbClr val="FF6600"/>
                </a:solidFill>
                <a:latin typeface="Helvetica"/>
                <a:cs typeface="Helvetica"/>
              </a:rPr>
              <a:t>1.1	Define the problem of child sexual exploitation of children by tourists (otherwise known as child-sex tourism)</a:t>
            </a:r>
            <a:endParaRPr lang="en-US" sz="2800" b="1" dirty="0">
              <a:solidFill>
                <a:srgbClr val="FF6600"/>
              </a:solidFill>
              <a:latin typeface="Helvetica"/>
              <a:cs typeface="Helvetica"/>
            </a:endParaRPr>
          </a:p>
        </p:txBody>
      </p:sp>
      <p:sp>
        <p:nvSpPr>
          <p:cNvPr id="3" name="Content Placeholder 2"/>
          <p:cNvSpPr>
            <a:spLocks noGrp="1"/>
          </p:cNvSpPr>
          <p:nvPr>
            <p:ph idx="1"/>
          </p:nvPr>
        </p:nvSpPr>
        <p:spPr>
          <a:xfrm>
            <a:off x="611560" y="2332037"/>
            <a:ext cx="7467600" cy="4525963"/>
          </a:xfrm>
        </p:spPr>
        <p:txBody>
          <a:bodyPr>
            <a:normAutofit/>
          </a:bodyPr>
          <a:lstStyle/>
          <a:p>
            <a:pPr>
              <a:spcBef>
                <a:spcPts val="1200"/>
              </a:spcBef>
              <a:spcAft>
                <a:spcPts val="1200"/>
              </a:spcAft>
              <a:buNone/>
            </a:pPr>
            <a:r>
              <a:rPr lang="en-US" sz="2200" b="1" dirty="0" smtClean="0">
                <a:solidFill>
                  <a:srgbClr val="0000FF"/>
                </a:solidFill>
                <a:latin typeface="Helvetica" pitchFamily="34" charset="0"/>
              </a:rPr>
              <a:t>Offender Behavior:</a:t>
            </a:r>
          </a:p>
          <a:p>
            <a:pPr>
              <a:spcBef>
                <a:spcPts val="1200"/>
              </a:spcBef>
              <a:spcAft>
                <a:spcPts val="1200"/>
              </a:spcAft>
            </a:pPr>
            <a:r>
              <a:rPr lang="en-US" sz="2200" b="1" dirty="0" smtClean="0">
                <a:latin typeface="Helvetica" pitchFamily="34" charset="0"/>
              </a:rPr>
              <a:t>Offenders are frequenting hotels, bars, </a:t>
            </a:r>
            <a:br>
              <a:rPr lang="en-US" sz="2200" b="1" dirty="0" smtClean="0">
                <a:latin typeface="Helvetica" pitchFamily="34" charset="0"/>
              </a:rPr>
            </a:br>
            <a:r>
              <a:rPr lang="en-US" sz="2200" b="1" dirty="0" smtClean="0">
                <a:latin typeface="Helvetica" pitchFamily="34" charset="0"/>
              </a:rPr>
              <a:t>restaurants and other hospitality and </a:t>
            </a:r>
            <a:br>
              <a:rPr lang="en-US" sz="2200" b="1" dirty="0" smtClean="0">
                <a:latin typeface="Helvetica" pitchFamily="34" charset="0"/>
              </a:rPr>
            </a:br>
            <a:r>
              <a:rPr lang="en-US" sz="2200" b="1" dirty="0" smtClean="0">
                <a:latin typeface="Helvetica" pitchFamily="34" charset="0"/>
              </a:rPr>
              <a:t>tourism venues where children can be </a:t>
            </a:r>
            <a:br>
              <a:rPr lang="en-US" sz="2200" b="1" dirty="0" smtClean="0">
                <a:latin typeface="Helvetica" pitchFamily="34" charset="0"/>
              </a:rPr>
            </a:br>
            <a:r>
              <a:rPr lang="en-US" sz="2200" b="1" dirty="0" smtClean="0">
                <a:latin typeface="Helvetica" pitchFamily="34" charset="0"/>
              </a:rPr>
              <a:t>accessed and abused without the threat </a:t>
            </a:r>
            <a:br>
              <a:rPr lang="en-US" sz="2200" b="1" dirty="0" smtClean="0">
                <a:latin typeface="Helvetica" pitchFamily="34" charset="0"/>
              </a:rPr>
            </a:br>
            <a:r>
              <a:rPr lang="en-US" sz="2200" b="1" dirty="0" smtClean="0">
                <a:latin typeface="Helvetica" pitchFamily="34" charset="0"/>
              </a:rPr>
              <a:t>of being identified, caught and prosecuted.</a:t>
            </a:r>
            <a:endParaRPr lang="en-AU"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a:t>
            </a:fld>
            <a:endParaRPr lang="en-US" dirty="0"/>
          </a:p>
        </p:txBody>
      </p:sp>
      <p:pic>
        <p:nvPicPr>
          <p:cNvPr id="7" name="Picture 6" descr="C:\Users\fgvghyujil\AppData\Local\Microsoft\Windows\Temporary Internet Files\Content.IE5\XS68P6G0\MP900185047[1].jpg"/>
          <p:cNvPicPr/>
          <p:nvPr/>
        </p:nvPicPr>
        <p:blipFill>
          <a:blip r:embed="rId3" cstate="print"/>
          <a:srcRect/>
          <a:stretch>
            <a:fillRect/>
          </a:stretch>
        </p:blipFill>
        <p:spPr bwMode="auto">
          <a:xfrm>
            <a:off x="6948264" y="2852936"/>
            <a:ext cx="1918014" cy="264968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800200"/>
          </a:xfrm>
        </p:spPr>
        <p:txBody>
          <a:bodyPr>
            <a:noAutofit/>
          </a:bodyPr>
          <a:lstStyle/>
          <a:p>
            <a:pPr marL="712788" indent="-712788"/>
            <a:r>
              <a:rPr lang="en-US" sz="2800" b="1" dirty="0" smtClean="0">
                <a:solidFill>
                  <a:srgbClr val="FF6600"/>
                </a:solidFill>
                <a:latin typeface="Helvetica"/>
                <a:cs typeface="Helvetica"/>
              </a:rPr>
              <a:t>1.1	Define the problem of child sexual exploitation of children by tourists (otherwise known as child-sex tourism)</a:t>
            </a:r>
            <a:endParaRPr lang="en-US" sz="2800" b="1" dirty="0">
              <a:solidFill>
                <a:srgbClr val="FF6600"/>
              </a:solidFill>
              <a:latin typeface="Helvetica"/>
              <a:cs typeface="Helvetica"/>
            </a:endParaRPr>
          </a:p>
        </p:txBody>
      </p:sp>
      <p:sp>
        <p:nvSpPr>
          <p:cNvPr id="3" name="Content Placeholder 2"/>
          <p:cNvSpPr>
            <a:spLocks noGrp="1"/>
          </p:cNvSpPr>
          <p:nvPr>
            <p:ph idx="1"/>
          </p:nvPr>
        </p:nvSpPr>
        <p:spPr>
          <a:xfrm>
            <a:off x="609600" y="2132856"/>
            <a:ext cx="7850832" cy="4725144"/>
          </a:xfrm>
        </p:spPr>
        <p:txBody>
          <a:bodyPr>
            <a:normAutofit/>
          </a:bodyPr>
          <a:lstStyle/>
          <a:p>
            <a:pPr marL="360000" indent="-360000">
              <a:spcBef>
                <a:spcPts val="1200"/>
              </a:spcBef>
              <a:spcAft>
                <a:spcPts val="1200"/>
              </a:spcAft>
              <a:buNone/>
            </a:pPr>
            <a:r>
              <a:rPr lang="en-US" sz="2200" b="1" dirty="0" smtClean="0">
                <a:solidFill>
                  <a:srgbClr val="0000FF"/>
                </a:solidFill>
                <a:latin typeface="Helvetica" pitchFamily="34" charset="0"/>
              </a:rPr>
              <a:t>The Internet’s Influence on CST:</a:t>
            </a:r>
          </a:p>
          <a:p>
            <a:pPr marL="360000" indent="-360000">
              <a:spcBef>
                <a:spcPts val="1200"/>
              </a:spcBef>
              <a:spcAft>
                <a:spcPts val="1200"/>
              </a:spcAft>
            </a:pPr>
            <a:r>
              <a:rPr lang="en-US" sz="2200" b="1" dirty="0" smtClean="0">
                <a:latin typeface="Helvetica" pitchFamily="34" charset="0"/>
              </a:rPr>
              <a:t>The internet has played an integral part in the sexual exploitation of children by foreigners, as it has allowed offenders, both situational and preferential, as well as pedophiles:</a:t>
            </a:r>
          </a:p>
          <a:p>
            <a:pPr marL="661752" lvl="1" indent="-360000">
              <a:spcBef>
                <a:spcPts val="1200"/>
              </a:spcBef>
              <a:spcAft>
                <a:spcPts val="1200"/>
              </a:spcAft>
            </a:pPr>
            <a:r>
              <a:rPr lang="en-US" sz="2200" b="1" dirty="0" smtClean="0">
                <a:latin typeface="Helvetica" pitchFamily="34" charset="0"/>
              </a:rPr>
              <a:t>to access and share information about </a:t>
            </a:r>
            <a:br>
              <a:rPr lang="en-US" sz="2200" b="1" dirty="0" smtClean="0">
                <a:latin typeface="Helvetica" pitchFamily="34" charset="0"/>
              </a:rPr>
            </a:br>
            <a:r>
              <a:rPr lang="en-US" sz="2200" b="1" dirty="0" smtClean="0">
                <a:latin typeface="Helvetica" pitchFamily="34" charset="0"/>
              </a:rPr>
              <a:t>destinations where there are vulnerable </a:t>
            </a:r>
            <a:br>
              <a:rPr lang="en-US" sz="2200" b="1" dirty="0" smtClean="0">
                <a:latin typeface="Helvetica" pitchFamily="34" charset="0"/>
              </a:rPr>
            </a:br>
            <a:r>
              <a:rPr lang="en-US" sz="2200" b="1" dirty="0" smtClean="0">
                <a:latin typeface="Helvetica" pitchFamily="34" charset="0"/>
              </a:rPr>
              <a:t>children and lax law enforcement.</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a:t>
            </a:fld>
            <a:endParaRPr lang="en-US" dirty="0"/>
          </a:p>
        </p:txBody>
      </p:sp>
      <p:pic>
        <p:nvPicPr>
          <p:cNvPr id="5" name="Picture 4" descr="MP900408864[1].JPG"/>
          <p:cNvPicPr/>
          <p:nvPr/>
        </p:nvPicPr>
        <p:blipFill>
          <a:blip r:embed="rId3" cstate="print"/>
          <a:stretch>
            <a:fillRect/>
          </a:stretch>
        </p:blipFill>
        <p:spPr>
          <a:xfrm>
            <a:off x="6804248" y="4077072"/>
            <a:ext cx="1944216" cy="180020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800200"/>
          </a:xfrm>
        </p:spPr>
        <p:txBody>
          <a:bodyPr>
            <a:noAutofit/>
          </a:bodyPr>
          <a:lstStyle/>
          <a:p>
            <a:pPr marL="712788" indent="-712788"/>
            <a:r>
              <a:rPr lang="en-US" sz="2800" b="1" dirty="0" smtClean="0">
                <a:solidFill>
                  <a:srgbClr val="FF6600"/>
                </a:solidFill>
                <a:latin typeface="Helvetica"/>
                <a:cs typeface="Helvetica"/>
              </a:rPr>
              <a:t>1.1	Define the problem of child sexual exploitation of children by tourists (otherwise known as child-sex tourism)</a:t>
            </a:r>
            <a:endParaRPr lang="en-US" sz="2800" b="1" dirty="0">
              <a:solidFill>
                <a:srgbClr val="FF6600"/>
              </a:solidFill>
              <a:latin typeface="Helvetica"/>
              <a:cs typeface="Helvetica"/>
            </a:endParaRPr>
          </a:p>
        </p:txBody>
      </p:sp>
      <p:sp>
        <p:nvSpPr>
          <p:cNvPr id="3" name="Content Placeholder 2"/>
          <p:cNvSpPr>
            <a:spLocks noGrp="1"/>
          </p:cNvSpPr>
          <p:nvPr>
            <p:ph idx="1"/>
          </p:nvPr>
        </p:nvSpPr>
        <p:spPr>
          <a:xfrm>
            <a:off x="609600" y="2204864"/>
            <a:ext cx="7922840" cy="4653136"/>
          </a:xfrm>
        </p:spPr>
        <p:txBody>
          <a:bodyPr>
            <a:normAutofit/>
          </a:bodyPr>
          <a:lstStyle/>
          <a:p>
            <a:pPr marL="360000" indent="-360000">
              <a:spcBef>
                <a:spcPts val="1200"/>
              </a:spcBef>
              <a:spcAft>
                <a:spcPts val="1200"/>
              </a:spcAft>
              <a:buNone/>
            </a:pPr>
            <a:r>
              <a:rPr lang="en-US" sz="2200" b="1" dirty="0" smtClean="0">
                <a:solidFill>
                  <a:srgbClr val="0000FF"/>
                </a:solidFill>
                <a:latin typeface="Helvetica" pitchFamily="34" charset="0"/>
              </a:rPr>
              <a:t>The Internet’s Influence on CST:</a:t>
            </a:r>
          </a:p>
          <a:p>
            <a:pPr>
              <a:spcBef>
                <a:spcPts val="1200"/>
              </a:spcBef>
              <a:spcAft>
                <a:spcPts val="1200"/>
              </a:spcAft>
            </a:pPr>
            <a:r>
              <a:rPr lang="en-US" sz="2200" b="1" dirty="0" smtClean="0">
                <a:latin typeface="Helvetica" pitchFamily="34" charset="0"/>
              </a:rPr>
              <a:t>The internet has allowed offenders to share videos and photographs of abused children</a:t>
            </a:r>
            <a:r>
              <a:rPr lang="en-AU" sz="2200" b="1" dirty="0" smtClean="0">
                <a:latin typeface="Helvetica" pitchFamily="34" charset="0"/>
              </a:rPr>
              <a:t> </a:t>
            </a:r>
            <a:endParaRPr lang="en-US" sz="2200" b="1" dirty="0" smtClean="0">
              <a:latin typeface="Helvetica" pitchFamily="34" charset="0"/>
            </a:endParaRPr>
          </a:p>
          <a:p>
            <a:pPr>
              <a:spcBef>
                <a:spcPts val="1200"/>
              </a:spcBef>
              <a:spcAft>
                <a:spcPts val="1200"/>
              </a:spcAft>
            </a:pPr>
            <a:r>
              <a:rPr lang="en-US" sz="2200" b="1" dirty="0" smtClean="0">
                <a:latin typeface="Helvetica" pitchFamily="34" charset="0"/>
              </a:rPr>
              <a:t>Many of these images are stored, traded, </a:t>
            </a:r>
            <a:br>
              <a:rPr lang="en-US" sz="2200" b="1" dirty="0" smtClean="0">
                <a:latin typeface="Helvetica" pitchFamily="34" charset="0"/>
              </a:rPr>
            </a:br>
            <a:r>
              <a:rPr lang="en-US" sz="2200" b="1" dirty="0" smtClean="0">
                <a:latin typeface="Helvetica" pitchFamily="34" charset="0"/>
              </a:rPr>
              <a:t>sold and distributed via offender network .</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a:t>
            </a:fld>
            <a:endParaRPr lang="en-US" dirty="0"/>
          </a:p>
        </p:txBody>
      </p:sp>
      <p:pic>
        <p:nvPicPr>
          <p:cNvPr id="5" name="Picture 4" descr="keyboard.jpg"/>
          <p:cNvPicPr/>
          <p:nvPr/>
        </p:nvPicPr>
        <p:blipFill>
          <a:blip r:embed="rId3" cstate="print"/>
          <a:stretch>
            <a:fillRect/>
          </a:stretch>
        </p:blipFill>
        <p:spPr>
          <a:xfrm>
            <a:off x="6156176" y="4941168"/>
            <a:ext cx="2160240" cy="1440160"/>
          </a:xfrm>
          <a:prstGeom prst="rect">
            <a:avLst/>
          </a:prstGeom>
        </p:spPr>
      </p:pic>
      <p:pic>
        <p:nvPicPr>
          <p:cNvPr id="6" name="Picture 5" descr="MP900309261[1].JPG"/>
          <p:cNvPicPr/>
          <p:nvPr/>
        </p:nvPicPr>
        <p:blipFill>
          <a:blip r:embed="rId4" cstate="print"/>
          <a:stretch>
            <a:fillRect/>
          </a:stretch>
        </p:blipFill>
        <p:spPr>
          <a:xfrm>
            <a:off x="7092281" y="3573016"/>
            <a:ext cx="2051720" cy="1368152"/>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2088232"/>
          </a:xfrm>
        </p:spPr>
        <p:txBody>
          <a:bodyPr>
            <a:noAutofit/>
          </a:bodyPr>
          <a:lstStyle/>
          <a:p>
            <a:pPr marL="712788" indent="-712788">
              <a:spcBef>
                <a:spcPts val="1200"/>
              </a:spcBef>
              <a:spcAft>
                <a:spcPts val="1200"/>
              </a:spcAft>
            </a:pPr>
            <a:r>
              <a:rPr lang="en-US" sz="2800" b="1" dirty="0" smtClean="0">
                <a:solidFill>
                  <a:srgbClr val="FF6600"/>
                </a:solidFill>
                <a:latin typeface="Helvetica"/>
                <a:cs typeface="Helvetica"/>
              </a:rPr>
              <a:t>1.1	Define the problem of child sexual exploitation of children by tourists (otherwise known as child-sex tourism)</a:t>
            </a:r>
            <a:endParaRPr lang="en-US" sz="2800" b="1" dirty="0">
              <a:solidFill>
                <a:srgbClr val="FF6600"/>
              </a:solidFill>
              <a:latin typeface="Helvetica"/>
              <a:cs typeface="Helvetica"/>
            </a:endParaRPr>
          </a:p>
        </p:txBody>
      </p:sp>
      <p:sp>
        <p:nvSpPr>
          <p:cNvPr id="3" name="Content Placeholder 2"/>
          <p:cNvSpPr>
            <a:spLocks noGrp="1"/>
          </p:cNvSpPr>
          <p:nvPr>
            <p:ph idx="1"/>
          </p:nvPr>
        </p:nvSpPr>
        <p:spPr>
          <a:xfrm>
            <a:off x="611560" y="2276872"/>
            <a:ext cx="7776864" cy="4581128"/>
          </a:xfrm>
        </p:spPr>
        <p:txBody>
          <a:bodyPr>
            <a:normAutofit/>
          </a:bodyPr>
          <a:lstStyle/>
          <a:p>
            <a:pPr marL="360000" indent="-360000">
              <a:spcBef>
                <a:spcPts val="1200"/>
              </a:spcBef>
              <a:spcAft>
                <a:spcPts val="1200"/>
              </a:spcAft>
              <a:buNone/>
            </a:pPr>
            <a:r>
              <a:rPr lang="en-US" sz="2200" b="1" dirty="0" smtClean="0">
                <a:solidFill>
                  <a:srgbClr val="0000FF"/>
                </a:solidFill>
                <a:latin typeface="Helvetica" pitchFamily="34" charset="0"/>
              </a:rPr>
              <a:t>The Internet’s Influence on CST:</a:t>
            </a:r>
          </a:p>
          <a:p>
            <a:pPr>
              <a:spcBef>
                <a:spcPts val="1200"/>
              </a:spcBef>
              <a:spcAft>
                <a:spcPts val="1200"/>
              </a:spcAft>
            </a:pPr>
            <a:r>
              <a:rPr lang="en-US" sz="2200" b="1" dirty="0" smtClean="0">
                <a:latin typeface="Helvetica" pitchFamily="34" charset="0"/>
              </a:rPr>
              <a:t>The production and distribution of these images furthers the ongoing exploitation of children and inevitably promotes the visitation by offenders to vulnerable communities</a:t>
            </a:r>
          </a:p>
          <a:p>
            <a:pPr>
              <a:spcBef>
                <a:spcPts val="1200"/>
              </a:spcBef>
              <a:spcAft>
                <a:spcPts val="1200"/>
              </a:spcAft>
            </a:pPr>
            <a:r>
              <a:rPr lang="en-US" sz="2200" b="1" dirty="0" smtClean="0">
                <a:latin typeface="Helvetica" pitchFamily="34" charset="0"/>
              </a:rPr>
              <a:t>These offenders are also frequenting </a:t>
            </a:r>
            <a:br>
              <a:rPr lang="en-US" sz="2200" b="1" dirty="0" smtClean="0">
                <a:latin typeface="Helvetica" pitchFamily="34" charset="0"/>
              </a:rPr>
            </a:br>
            <a:r>
              <a:rPr lang="en-US" sz="2200" b="1" dirty="0" smtClean="0">
                <a:latin typeface="Helvetica" pitchFamily="34" charset="0"/>
              </a:rPr>
              <a:t>Hotel and Travel businesses where they </a:t>
            </a:r>
            <a:br>
              <a:rPr lang="en-US" sz="2200" b="1" dirty="0" smtClean="0">
                <a:latin typeface="Helvetica" pitchFamily="34" charset="0"/>
              </a:rPr>
            </a:br>
            <a:r>
              <a:rPr lang="en-US" sz="2200" b="1" dirty="0" smtClean="0">
                <a:latin typeface="Helvetica" pitchFamily="34" charset="0"/>
              </a:rPr>
              <a:t>can access children without fear of </a:t>
            </a:r>
            <a:br>
              <a:rPr lang="en-US" sz="2200" b="1" dirty="0" smtClean="0">
                <a:latin typeface="Helvetica" pitchFamily="34" charset="0"/>
              </a:rPr>
            </a:br>
            <a:r>
              <a:rPr lang="en-US" sz="2200" b="1" dirty="0" smtClean="0">
                <a:latin typeface="Helvetica" pitchFamily="34" charset="0"/>
              </a:rPr>
              <a:t>identification, arrest and prosecution.</a:t>
            </a:r>
            <a:endParaRPr lang="en-AU"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a:t>
            </a:fld>
            <a:endParaRPr lang="en-US" dirty="0"/>
          </a:p>
        </p:txBody>
      </p:sp>
      <p:pic>
        <p:nvPicPr>
          <p:cNvPr id="5" name="Picture 4" descr="Search.jpg"/>
          <p:cNvPicPr>
            <a:picLocks noChangeAspect="1"/>
          </p:cNvPicPr>
          <p:nvPr/>
        </p:nvPicPr>
        <p:blipFill>
          <a:blip r:embed="rId3" cstate="print"/>
          <a:stretch>
            <a:fillRect/>
          </a:stretch>
        </p:blipFill>
        <p:spPr>
          <a:xfrm>
            <a:off x="6660232" y="4437112"/>
            <a:ext cx="2297900" cy="1541508"/>
          </a:xfrm>
          <a:prstGeom prst="rect">
            <a:avLst/>
          </a:prstGeom>
          <a:ln w="19050">
            <a:solidFill>
              <a:schemeClr val="tx1">
                <a:lumMod val="75000"/>
                <a:lumOff val="25000"/>
              </a:schemeClr>
            </a:solidFill>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2088232"/>
          </a:xfrm>
        </p:spPr>
        <p:txBody>
          <a:bodyPr>
            <a:noAutofit/>
          </a:bodyPr>
          <a:lstStyle/>
          <a:p>
            <a:pPr marL="712788" indent="-712788"/>
            <a:r>
              <a:rPr lang="en-US" sz="2800" b="1" dirty="0" smtClean="0">
                <a:solidFill>
                  <a:srgbClr val="FF6600"/>
                </a:solidFill>
                <a:latin typeface="Helvetica"/>
                <a:cs typeface="Helvetica"/>
              </a:rPr>
              <a:t>1.1	Define the problem of child sexual exploitation of children by tourists (otherwise known as child-sex tourism)</a:t>
            </a:r>
            <a:endParaRPr lang="en-US" sz="2800" b="1" dirty="0">
              <a:solidFill>
                <a:srgbClr val="FF6600"/>
              </a:solidFill>
              <a:latin typeface="Helvetica"/>
              <a:cs typeface="Helvetica"/>
            </a:endParaRPr>
          </a:p>
        </p:txBody>
      </p:sp>
      <p:sp>
        <p:nvSpPr>
          <p:cNvPr id="3" name="Content Placeholder 2"/>
          <p:cNvSpPr>
            <a:spLocks noGrp="1"/>
          </p:cNvSpPr>
          <p:nvPr>
            <p:ph idx="1"/>
          </p:nvPr>
        </p:nvSpPr>
        <p:spPr>
          <a:xfrm>
            <a:off x="609600" y="2204864"/>
            <a:ext cx="7850832" cy="4248472"/>
          </a:xfrm>
        </p:spPr>
        <p:txBody>
          <a:bodyPr>
            <a:normAutofit fontScale="92500"/>
          </a:bodyPr>
          <a:lstStyle/>
          <a:p>
            <a:pPr marL="360000" indent="-360000">
              <a:spcBef>
                <a:spcPts val="1200"/>
              </a:spcBef>
              <a:spcAft>
                <a:spcPts val="1200"/>
              </a:spcAft>
              <a:buNone/>
            </a:pPr>
            <a:r>
              <a:rPr lang="en-US" sz="2200" b="1" dirty="0" smtClean="0">
                <a:solidFill>
                  <a:srgbClr val="0000FF"/>
                </a:solidFill>
                <a:latin typeface="Helvetica" pitchFamily="34" charset="0"/>
              </a:rPr>
              <a:t>The Internet’s Influence on CST:</a:t>
            </a:r>
          </a:p>
          <a:p>
            <a:pPr>
              <a:spcBef>
                <a:spcPts val="1200"/>
              </a:spcBef>
              <a:spcAft>
                <a:spcPts val="1200"/>
              </a:spcAft>
            </a:pPr>
            <a:r>
              <a:rPr lang="en-US" sz="2200" b="1" dirty="0" smtClean="0">
                <a:latin typeface="Helvetica" pitchFamily="34" charset="0"/>
              </a:rPr>
              <a:t>Those who make and use pornographic images of children ‘perpetuate the exploitation of children by creating a demand for more images</a:t>
            </a:r>
            <a:r>
              <a:rPr lang="en-US" sz="1700" b="1" i="1" dirty="0" smtClean="0">
                <a:latin typeface="Helvetica" pitchFamily="34" charset="0"/>
              </a:rPr>
              <a:t>’ </a:t>
            </a:r>
            <a:br>
              <a:rPr lang="en-US" sz="1700" b="1" i="1" dirty="0" smtClean="0">
                <a:latin typeface="Helvetica" pitchFamily="34" charset="0"/>
              </a:rPr>
            </a:br>
            <a:r>
              <a:rPr lang="en-US" sz="1700" b="1" i="1" dirty="0" smtClean="0">
                <a:latin typeface="Helvetica" pitchFamily="34" charset="0"/>
              </a:rPr>
              <a:t>(Reference: </a:t>
            </a:r>
            <a:r>
              <a:rPr lang="en-US" sz="1700" b="1" i="1" dirty="0" smtClean="0">
                <a:latin typeface="Helvetica" pitchFamily="34" charset="0"/>
                <a:hlinkClick r:id="rId3"/>
              </a:rPr>
              <a:t>http://ecpat.net/EI/Programmes_ICT.asp</a:t>
            </a:r>
            <a:r>
              <a:rPr lang="en-US" sz="1700" b="1" i="1" dirty="0" smtClean="0">
                <a:latin typeface="Helvetica" pitchFamily="34" charset="0"/>
              </a:rPr>
              <a:t> 16/1/2012)</a:t>
            </a:r>
            <a:endParaRPr lang="en-AU" sz="1700" b="1" i="1" dirty="0" smtClean="0">
              <a:latin typeface="Helvetica" pitchFamily="34" charset="0"/>
            </a:endParaRPr>
          </a:p>
          <a:p>
            <a:pPr>
              <a:spcBef>
                <a:spcPts val="1200"/>
              </a:spcBef>
              <a:spcAft>
                <a:spcPts val="1200"/>
              </a:spcAft>
            </a:pPr>
            <a:r>
              <a:rPr lang="en-US" sz="2200" b="1" dirty="0" smtClean="0">
                <a:latin typeface="Helvetica" pitchFamily="34" charset="0"/>
              </a:rPr>
              <a:t>The very fact that these images have been made means that vast numbers of children have already been abused</a:t>
            </a:r>
          </a:p>
          <a:p>
            <a:pPr>
              <a:spcBef>
                <a:spcPts val="1200"/>
              </a:spcBef>
              <a:spcAft>
                <a:spcPts val="1200"/>
              </a:spcAft>
            </a:pPr>
            <a:r>
              <a:rPr lang="en-US" sz="2200" b="1" dirty="0" smtClean="0">
                <a:latin typeface="Helvetica" pitchFamily="34" charset="0"/>
              </a:rPr>
              <a:t>Once they are distributed and viewed the abuse grows dramatically. It also aids in the offenders becoming ‘desensitized’ to child abuse.</a:t>
            </a:r>
            <a:endParaRPr lang="en-AU"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a:t>
            </a:fld>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2016224"/>
          </a:xfrm>
        </p:spPr>
        <p:txBody>
          <a:bodyPr>
            <a:noAutofit/>
          </a:bodyPr>
          <a:lstStyle/>
          <a:p>
            <a:pPr marL="712788" indent="-712788"/>
            <a:r>
              <a:rPr lang="en-US" sz="2800" b="1" dirty="0" smtClean="0">
                <a:solidFill>
                  <a:srgbClr val="FF6600"/>
                </a:solidFill>
                <a:latin typeface="Helvetica"/>
                <a:cs typeface="Helvetica"/>
              </a:rPr>
              <a:t>1.1	Define the problem of child sexual exploitation of children by tourists (otherwise known as child-sex tourism)</a:t>
            </a:r>
            <a:endParaRPr lang="en-US" sz="2800" b="1" dirty="0">
              <a:solidFill>
                <a:srgbClr val="FF6600"/>
              </a:solidFill>
              <a:latin typeface="Helvetica"/>
              <a:cs typeface="Helvetica"/>
            </a:endParaRPr>
          </a:p>
        </p:txBody>
      </p:sp>
      <p:sp>
        <p:nvSpPr>
          <p:cNvPr id="3" name="Content Placeholder 2"/>
          <p:cNvSpPr>
            <a:spLocks noGrp="1"/>
          </p:cNvSpPr>
          <p:nvPr>
            <p:ph idx="1"/>
          </p:nvPr>
        </p:nvSpPr>
        <p:spPr>
          <a:xfrm>
            <a:off x="611560" y="2276872"/>
            <a:ext cx="7467600" cy="3733875"/>
          </a:xfrm>
        </p:spPr>
        <p:txBody>
          <a:bodyPr>
            <a:normAutofit/>
          </a:bodyPr>
          <a:lstStyle/>
          <a:p>
            <a:pPr marL="360000" indent="-360000">
              <a:spcBef>
                <a:spcPts val="1200"/>
              </a:spcBef>
              <a:spcAft>
                <a:spcPts val="1200"/>
              </a:spcAft>
              <a:buNone/>
            </a:pPr>
            <a:r>
              <a:rPr lang="en-US" sz="2200" b="1" dirty="0" smtClean="0">
                <a:solidFill>
                  <a:srgbClr val="0000FF"/>
                </a:solidFill>
                <a:latin typeface="Helvetica" pitchFamily="34" charset="0"/>
              </a:rPr>
              <a:t>The Internet’s Influence on CST:</a:t>
            </a:r>
          </a:p>
          <a:p>
            <a:pPr>
              <a:spcBef>
                <a:spcPts val="1200"/>
              </a:spcBef>
              <a:spcAft>
                <a:spcPts val="1200"/>
              </a:spcAft>
            </a:pPr>
            <a:r>
              <a:rPr lang="en-US" sz="2200" b="1" dirty="0" smtClean="0">
                <a:latin typeface="Helvetica" pitchFamily="34" charset="0"/>
              </a:rPr>
              <a:t>‘The growth of the Internet is creating more commercial opportunities for child exploiters and pornographers and the rapid development of new technologies are facilitating the development and reach of distribution networks’ .</a:t>
            </a:r>
            <a:br>
              <a:rPr lang="en-US" sz="2200" b="1" dirty="0" smtClean="0">
                <a:latin typeface="Helvetica" pitchFamily="34" charset="0"/>
              </a:rPr>
            </a:br>
            <a:r>
              <a:rPr lang="en-US" sz="2200" b="1" dirty="0" smtClean="0">
                <a:latin typeface="Helvetica" pitchFamily="34" charset="0"/>
              </a:rPr>
              <a:t/>
            </a:r>
            <a:br>
              <a:rPr lang="en-US" sz="2200" b="1" dirty="0" smtClean="0">
                <a:latin typeface="Helvetica" pitchFamily="34" charset="0"/>
              </a:rPr>
            </a:br>
            <a:r>
              <a:rPr lang="en-US" sz="1600" b="1" i="1" dirty="0" smtClean="0">
                <a:latin typeface="Helvetica" pitchFamily="34" charset="0"/>
              </a:rPr>
              <a:t>(Reference: </a:t>
            </a:r>
            <a:r>
              <a:rPr lang="en-US" sz="1600" b="1" i="1" dirty="0" smtClean="0">
                <a:latin typeface="Helvetica" pitchFamily="34" charset="0"/>
                <a:hlinkClick r:id="rId3"/>
              </a:rPr>
              <a:t>http://ecpat.net/EI/Programmes_ICT.asp</a:t>
            </a:r>
            <a:r>
              <a:rPr lang="en-US" sz="1600" b="1" i="1" dirty="0" smtClean="0">
                <a:latin typeface="Helvetica" pitchFamily="34" charset="0"/>
              </a:rPr>
              <a:t> 16/1/2012</a:t>
            </a:r>
            <a:r>
              <a:rPr lang="en-US" sz="1600" b="1" dirty="0" smtClean="0"/>
              <a:t>)</a:t>
            </a:r>
            <a:endParaRPr lang="en-AU" sz="1600" b="1" i="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a:t>
            </a:fld>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76864" cy="1656184"/>
          </a:xfrm>
        </p:spPr>
        <p:txBody>
          <a:bodyPr>
            <a:noAutofit/>
          </a:bodyPr>
          <a:lstStyle/>
          <a:p>
            <a:pPr marL="712788" indent="-712788"/>
            <a:r>
              <a:rPr lang="en-US" sz="2800" b="1" dirty="0" smtClean="0">
                <a:solidFill>
                  <a:srgbClr val="FF6600"/>
                </a:solidFill>
                <a:latin typeface="Helvetica"/>
                <a:cs typeface="Helvetica"/>
              </a:rPr>
              <a:t>1.1	Define the problem of child sexual exploitation of children by tourists (otherwise known as child-sex tourism)</a:t>
            </a:r>
            <a:endParaRPr lang="en-US" sz="2800" b="1" dirty="0">
              <a:solidFill>
                <a:srgbClr val="FF6600"/>
              </a:solidFill>
              <a:latin typeface="Helvetica"/>
              <a:cs typeface="Helvetica"/>
            </a:endParaRPr>
          </a:p>
        </p:txBody>
      </p:sp>
      <p:sp>
        <p:nvSpPr>
          <p:cNvPr id="3" name="Content Placeholder 2"/>
          <p:cNvSpPr>
            <a:spLocks noGrp="1"/>
          </p:cNvSpPr>
          <p:nvPr>
            <p:ph idx="1"/>
          </p:nvPr>
        </p:nvSpPr>
        <p:spPr>
          <a:xfrm>
            <a:off x="611560" y="2060848"/>
            <a:ext cx="7704856" cy="4464496"/>
          </a:xfrm>
        </p:spPr>
        <p:txBody>
          <a:bodyPr>
            <a:normAutofit/>
          </a:bodyPr>
          <a:lstStyle/>
          <a:p>
            <a:pPr marL="360000" indent="-360000">
              <a:spcBef>
                <a:spcPts val="1200"/>
              </a:spcBef>
              <a:spcAft>
                <a:spcPts val="1200"/>
              </a:spcAft>
              <a:buNone/>
            </a:pPr>
            <a:r>
              <a:rPr lang="en-US" sz="2200" b="1" dirty="0" smtClean="0">
                <a:solidFill>
                  <a:srgbClr val="0000FF"/>
                </a:solidFill>
                <a:latin typeface="Helvetica" pitchFamily="34" charset="0"/>
              </a:rPr>
              <a:t>The Internet’s Influence on CST:</a:t>
            </a:r>
          </a:p>
          <a:p>
            <a:pPr marL="360000" indent="-360000">
              <a:spcBef>
                <a:spcPts val="1200"/>
              </a:spcBef>
              <a:spcAft>
                <a:spcPts val="1200"/>
              </a:spcAft>
            </a:pPr>
            <a:r>
              <a:rPr lang="en-US" sz="2200" b="1" dirty="0" smtClean="0">
                <a:latin typeface="Helvetica" pitchFamily="34" charset="0"/>
              </a:rPr>
              <a:t>Inevitably there is a direct link to the making of these images and the abuse of children that </a:t>
            </a:r>
            <a:br>
              <a:rPr lang="en-US" sz="2200" b="1" dirty="0" smtClean="0">
                <a:latin typeface="Helvetica" pitchFamily="34" charset="0"/>
              </a:rPr>
            </a:br>
            <a:r>
              <a:rPr lang="en-US" sz="2200" b="1" dirty="0" smtClean="0">
                <a:latin typeface="Helvetica" pitchFamily="34" charset="0"/>
              </a:rPr>
              <a:t>occurs in their production, with the </a:t>
            </a:r>
            <a:br>
              <a:rPr lang="en-US" sz="2200" b="1" dirty="0" smtClean="0">
                <a:latin typeface="Helvetica" pitchFamily="34" charset="0"/>
              </a:rPr>
            </a:br>
            <a:r>
              <a:rPr lang="en-US" sz="2200" b="1" dirty="0" smtClean="0">
                <a:latin typeface="Helvetica" pitchFamily="34" charset="0"/>
              </a:rPr>
              <a:t>growth of child sex tourism and the </a:t>
            </a:r>
            <a:br>
              <a:rPr lang="en-US" sz="2200" b="1" dirty="0" smtClean="0">
                <a:latin typeface="Helvetica" pitchFamily="34" charset="0"/>
              </a:rPr>
            </a:br>
            <a:r>
              <a:rPr lang="en-US" sz="2200" b="1" dirty="0" smtClean="0">
                <a:latin typeface="Helvetica" pitchFamily="34" charset="0"/>
              </a:rPr>
              <a:t>industry this creates.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a:t>
            </a:fld>
            <a:endParaRPr lang="en-US" dirty="0"/>
          </a:p>
        </p:txBody>
      </p:sp>
      <p:pic>
        <p:nvPicPr>
          <p:cNvPr id="5" name="Picture 4" descr="keyboard.jpg"/>
          <p:cNvPicPr/>
          <p:nvPr/>
        </p:nvPicPr>
        <p:blipFill>
          <a:blip r:embed="rId3" cstate="print"/>
          <a:stretch>
            <a:fillRect/>
          </a:stretch>
        </p:blipFill>
        <p:spPr>
          <a:xfrm>
            <a:off x="6156175" y="4653136"/>
            <a:ext cx="2160240" cy="1440160"/>
          </a:xfrm>
          <a:prstGeom prst="rect">
            <a:avLst/>
          </a:prstGeom>
        </p:spPr>
      </p:pic>
      <p:pic>
        <p:nvPicPr>
          <p:cNvPr id="6" name="Picture 5" descr="MP900309261[1].JPG"/>
          <p:cNvPicPr/>
          <p:nvPr/>
        </p:nvPicPr>
        <p:blipFill>
          <a:blip r:embed="rId4" cstate="print"/>
          <a:stretch>
            <a:fillRect/>
          </a:stretch>
        </p:blipFill>
        <p:spPr>
          <a:xfrm>
            <a:off x="7092280" y="3284984"/>
            <a:ext cx="2051720" cy="1368152"/>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584176"/>
          </a:xfrm>
        </p:spPr>
        <p:txBody>
          <a:bodyPr>
            <a:noAutofit/>
          </a:bodyPr>
          <a:lstStyle/>
          <a:p>
            <a:pPr marL="712788" indent="-712788"/>
            <a:r>
              <a:rPr lang="en-US" sz="2800" b="1" dirty="0" smtClean="0">
                <a:solidFill>
                  <a:srgbClr val="FF6600"/>
                </a:solidFill>
                <a:latin typeface="Helvetica"/>
                <a:cs typeface="Helvetica"/>
              </a:rPr>
              <a:t>1.1	Define the problem of child sexual exploitation of children by tourists (otherwise known as child-sex tourism)</a:t>
            </a:r>
            <a:endParaRPr lang="en-US" sz="2800" b="1" dirty="0">
              <a:solidFill>
                <a:srgbClr val="FF6600"/>
              </a:solidFill>
              <a:latin typeface="Helvetica"/>
              <a:cs typeface="Helvetica"/>
            </a:endParaRPr>
          </a:p>
        </p:txBody>
      </p:sp>
      <p:sp>
        <p:nvSpPr>
          <p:cNvPr id="3" name="Content Placeholder 2"/>
          <p:cNvSpPr>
            <a:spLocks noGrp="1"/>
          </p:cNvSpPr>
          <p:nvPr>
            <p:ph idx="1"/>
          </p:nvPr>
        </p:nvSpPr>
        <p:spPr>
          <a:xfrm>
            <a:off x="611560" y="2132856"/>
            <a:ext cx="7467600" cy="3949899"/>
          </a:xfrm>
        </p:spPr>
        <p:txBody>
          <a:bodyPr>
            <a:normAutofit/>
          </a:bodyPr>
          <a:lstStyle/>
          <a:p>
            <a:pPr>
              <a:spcBef>
                <a:spcPts val="1200"/>
              </a:spcBef>
              <a:spcAft>
                <a:spcPts val="1200"/>
              </a:spcAft>
              <a:buNone/>
            </a:pPr>
            <a:r>
              <a:rPr lang="en-US" sz="2200" b="1" dirty="0" smtClean="0">
                <a:solidFill>
                  <a:srgbClr val="0000FF"/>
                </a:solidFill>
                <a:latin typeface="Helvetica" pitchFamily="34" charset="0"/>
              </a:rPr>
              <a:t>The Growth in International Travel:</a:t>
            </a:r>
            <a:endParaRPr lang="en-AU" sz="2200" b="1" dirty="0" smtClean="0">
              <a:solidFill>
                <a:srgbClr val="0000FF"/>
              </a:solidFill>
              <a:latin typeface="Helvetica" pitchFamily="34" charset="0"/>
            </a:endParaRPr>
          </a:p>
          <a:p>
            <a:pPr marL="360000" indent="-360000">
              <a:spcBef>
                <a:spcPts val="1200"/>
              </a:spcBef>
              <a:spcAft>
                <a:spcPts val="1200"/>
              </a:spcAft>
            </a:pPr>
            <a:r>
              <a:rPr lang="en-US" sz="2200" b="1" dirty="0" smtClean="0">
                <a:latin typeface="Helvetica" pitchFamily="34" charset="0"/>
              </a:rPr>
              <a:t>Another area impacting dramatically on the increase in child sexual abuse and child trafficking is the growth in international travel and budget airlines over the past 10 – 15 years</a:t>
            </a:r>
          </a:p>
          <a:p>
            <a:pPr marL="360000" indent="-360000">
              <a:spcBef>
                <a:spcPts val="1200"/>
              </a:spcBef>
              <a:spcAft>
                <a:spcPts val="1200"/>
              </a:spcAft>
            </a:pPr>
            <a:r>
              <a:rPr lang="en-US" sz="2200" b="1" dirty="0" smtClean="0">
                <a:latin typeface="Helvetica" pitchFamily="34" charset="0"/>
              </a:rPr>
              <a:t>More people are travelling than ever before and often this is from First World Countries to Third World and Developing Countries.</a:t>
            </a:r>
            <a:endParaRPr lang="en-US" sz="24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a:t>
            </a:fld>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2088232"/>
          </a:xfrm>
        </p:spPr>
        <p:txBody>
          <a:bodyPr>
            <a:noAutofit/>
          </a:bodyPr>
          <a:lstStyle/>
          <a:p>
            <a:pPr marL="712788" indent="-712788"/>
            <a:r>
              <a:rPr lang="en-US" sz="2800" b="1" dirty="0" smtClean="0">
                <a:solidFill>
                  <a:srgbClr val="FF6600"/>
                </a:solidFill>
                <a:latin typeface="Helvetica"/>
                <a:cs typeface="Helvetica"/>
              </a:rPr>
              <a:t>1.1	Define the problem of child sexual exploitation of children by tourists (otherwise known as child-sex tourism)</a:t>
            </a:r>
            <a:endParaRPr lang="en-US" sz="2800" b="1" dirty="0">
              <a:solidFill>
                <a:srgbClr val="FF6600"/>
              </a:solidFill>
              <a:latin typeface="Helvetica"/>
              <a:cs typeface="Helvetica"/>
            </a:endParaRPr>
          </a:p>
        </p:txBody>
      </p:sp>
      <p:sp>
        <p:nvSpPr>
          <p:cNvPr id="3" name="Content Placeholder 2"/>
          <p:cNvSpPr>
            <a:spLocks noGrp="1"/>
          </p:cNvSpPr>
          <p:nvPr>
            <p:ph idx="1"/>
          </p:nvPr>
        </p:nvSpPr>
        <p:spPr>
          <a:xfrm>
            <a:off x="611560" y="2332037"/>
            <a:ext cx="7992888" cy="4525963"/>
          </a:xfrm>
        </p:spPr>
        <p:txBody>
          <a:bodyPr>
            <a:normAutofit/>
          </a:bodyPr>
          <a:lstStyle/>
          <a:p>
            <a:pPr>
              <a:spcBef>
                <a:spcPts val="1200"/>
              </a:spcBef>
              <a:spcAft>
                <a:spcPts val="1200"/>
              </a:spcAft>
              <a:buNone/>
            </a:pPr>
            <a:r>
              <a:rPr lang="en-US" sz="2200" b="1" dirty="0" smtClean="0">
                <a:solidFill>
                  <a:srgbClr val="0000FF"/>
                </a:solidFill>
                <a:latin typeface="Helvetica" pitchFamily="34" charset="0"/>
              </a:rPr>
              <a:t>The Hotel and Travel Industries Can Assist:</a:t>
            </a:r>
            <a:endParaRPr lang="en-AU" sz="2200" b="1" dirty="0" smtClean="0">
              <a:solidFill>
                <a:srgbClr val="0000FF"/>
              </a:solidFill>
              <a:latin typeface="Helvetica" pitchFamily="34" charset="0"/>
            </a:endParaRPr>
          </a:p>
          <a:p>
            <a:pPr>
              <a:spcBef>
                <a:spcPts val="1200"/>
              </a:spcBef>
              <a:spcAft>
                <a:spcPts val="1200"/>
              </a:spcAft>
            </a:pPr>
            <a:r>
              <a:rPr lang="en-US" sz="2200" b="1" dirty="0" smtClean="0">
                <a:latin typeface="Helvetica" pitchFamily="34" charset="0"/>
              </a:rPr>
              <a:t>The Hotel and Travel Industries can play a vital part in the elimination of child sex tourism, regardless of location and law enforcement issues.</a:t>
            </a:r>
            <a:endParaRPr lang="en-AU" sz="2200" b="1" dirty="0" smtClean="0">
              <a:latin typeface="Helvetica" pitchFamily="34" charset="0"/>
            </a:endParaRPr>
          </a:p>
          <a:p>
            <a:pPr>
              <a:spcBef>
                <a:spcPts val="1200"/>
              </a:spcBef>
              <a:spcAft>
                <a:spcPts val="1200"/>
              </a:spcAft>
            </a:pPr>
            <a:endParaRPr lang="en-AU" sz="2200" b="1" dirty="0" smtClean="0">
              <a:latin typeface="Helvetica" pitchFamily="34" charset="0"/>
            </a:endParaRPr>
          </a:p>
          <a:p>
            <a:pPr marL="360000" indent="-360000">
              <a:spcBef>
                <a:spcPts val="1200"/>
              </a:spcBef>
              <a:spcAft>
                <a:spcPts val="1200"/>
              </a:spcAft>
            </a:pPr>
            <a:endParaRPr lang="en-AU" sz="2400" dirty="0" smtClean="0"/>
          </a:p>
          <a:p>
            <a:pPr marL="360000" indent="-360000">
              <a:spcBef>
                <a:spcPts val="1200"/>
              </a:spcBef>
              <a:spcAft>
                <a:spcPts val="1200"/>
              </a:spcAft>
              <a:buNone/>
            </a:pPr>
            <a:endParaRPr lang="en-US" sz="24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a:t>
            </a:fld>
            <a:endParaRPr lang="en-US" dirty="0"/>
          </a:p>
        </p:txBody>
      </p:sp>
      <p:pic>
        <p:nvPicPr>
          <p:cNvPr id="7170" name="Picture 2" descr="C:\Documents and Settings\maiv\Local Settings\Temporary Internet Files\Content.IE5\ZXOPI4XJ\MP900408864[1].jpg"/>
          <p:cNvPicPr>
            <a:picLocks noChangeAspect="1" noChangeArrowheads="1"/>
          </p:cNvPicPr>
          <p:nvPr/>
        </p:nvPicPr>
        <p:blipFill>
          <a:blip r:embed="rId3" cstate="print"/>
          <a:srcRect/>
          <a:stretch>
            <a:fillRect/>
          </a:stretch>
        </p:blipFill>
        <p:spPr bwMode="auto">
          <a:xfrm>
            <a:off x="6372200" y="4005064"/>
            <a:ext cx="2132856" cy="2132856"/>
          </a:xfrm>
          <a:prstGeom prst="rect">
            <a:avLst/>
          </a:prstGeom>
          <a:noFill/>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76672"/>
            <a:ext cx="7467600" cy="1143000"/>
          </a:xfrm>
        </p:spPr>
        <p:txBody>
          <a:bodyPr>
            <a:noAutofit/>
          </a:bodyPr>
          <a:lstStyle/>
          <a:p>
            <a:pPr marL="712788" indent="-712788"/>
            <a:r>
              <a:rPr lang="en-US" sz="2800" b="1" dirty="0" smtClean="0">
                <a:solidFill>
                  <a:srgbClr val="FF6600"/>
                </a:solidFill>
                <a:latin typeface="Helvetica"/>
                <a:cs typeface="Helvetica"/>
              </a:rPr>
              <a:t>1.1	Define the problem of child sexual exploitation of children by tourists (otherwise known as child-sex tourism)</a:t>
            </a:r>
            <a:endParaRPr lang="en-US" sz="2800" b="1" dirty="0">
              <a:solidFill>
                <a:srgbClr val="FF6600"/>
              </a:solidFill>
              <a:latin typeface="Helvetica"/>
              <a:cs typeface="Helvetica"/>
            </a:endParaRPr>
          </a:p>
        </p:txBody>
      </p:sp>
      <p:sp>
        <p:nvSpPr>
          <p:cNvPr id="3" name="Content Placeholder 2"/>
          <p:cNvSpPr>
            <a:spLocks noGrp="1"/>
          </p:cNvSpPr>
          <p:nvPr>
            <p:ph idx="1"/>
          </p:nvPr>
        </p:nvSpPr>
        <p:spPr>
          <a:xfrm>
            <a:off x="611560" y="2060848"/>
            <a:ext cx="7776864" cy="4608512"/>
          </a:xfrm>
        </p:spPr>
        <p:txBody>
          <a:bodyPr>
            <a:normAutofit/>
          </a:bodyPr>
          <a:lstStyle/>
          <a:p>
            <a:pPr>
              <a:spcBef>
                <a:spcPts val="1200"/>
              </a:spcBef>
              <a:spcAft>
                <a:spcPts val="1200"/>
              </a:spcAft>
              <a:buNone/>
            </a:pPr>
            <a:r>
              <a:rPr lang="en-AU" sz="2200" b="1" dirty="0" smtClean="0">
                <a:solidFill>
                  <a:srgbClr val="0000FF"/>
                </a:solidFill>
                <a:latin typeface="Helvetica" pitchFamily="34" charset="0"/>
              </a:rPr>
              <a:t>The First Step:</a:t>
            </a:r>
          </a:p>
          <a:p>
            <a:pPr>
              <a:spcBef>
                <a:spcPts val="1200"/>
              </a:spcBef>
              <a:spcAft>
                <a:spcPts val="1200"/>
              </a:spcAft>
            </a:pPr>
            <a:r>
              <a:rPr lang="en-US" sz="2200" b="1" dirty="0" smtClean="0">
                <a:latin typeface="Helvetica" pitchFamily="34" charset="0"/>
              </a:rPr>
              <a:t>Identify whether child sexual exploitation is a direct issue on the business’ premises and grounds or operating locality.</a:t>
            </a:r>
            <a:endParaRPr lang="en-US" sz="24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a:t>
            </a:fld>
            <a:endParaRPr lang="en-US" dirty="0"/>
          </a:p>
        </p:txBody>
      </p:sp>
      <p:pic>
        <p:nvPicPr>
          <p:cNvPr id="5" name="Picture 4" descr="iStock_000003194010Medium.jpg"/>
          <p:cNvPicPr>
            <a:picLocks noChangeAspect="1"/>
          </p:cNvPicPr>
          <p:nvPr/>
        </p:nvPicPr>
        <p:blipFill>
          <a:blip r:embed="rId3" cstate="print"/>
          <a:stretch>
            <a:fillRect/>
          </a:stretch>
        </p:blipFill>
        <p:spPr>
          <a:xfrm>
            <a:off x="5940152" y="4077072"/>
            <a:ext cx="2586618" cy="1722889"/>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pPr marL="712788" indent="-712788"/>
            <a:r>
              <a:rPr lang="en-US" sz="2800" b="1" dirty="0" smtClean="0">
                <a:solidFill>
                  <a:srgbClr val="FF6600"/>
                </a:solidFill>
                <a:latin typeface="Helvetica"/>
                <a:cs typeface="Helvetica"/>
              </a:rPr>
              <a:t>1.1	Define the problem of child sexual exploitation of children by tourists (otherwise known as child-sex tourism)</a:t>
            </a:r>
            <a:endParaRPr lang="en-US" sz="2800" b="1" dirty="0">
              <a:solidFill>
                <a:srgbClr val="FF6600"/>
              </a:solidFill>
              <a:latin typeface="Helvetica"/>
              <a:cs typeface="Helvetica"/>
            </a:endParaRPr>
          </a:p>
        </p:txBody>
      </p:sp>
      <p:sp>
        <p:nvSpPr>
          <p:cNvPr id="3" name="Content Placeholder 2"/>
          <p:cNvSpPr>
            <a:spLocks noGrp="1"/>
          </p:cNvSpPr>
          <p:nvPr>
            <p:ph idx="1"/>
          </p:nvPr>
        </p:nvSpPr>
        <p:spPr>
          <a:xfrm>
            <a:off x="611560" y="1844824"/>
            <a:ext cx="7704856" cy="4752528"/>
          </a:xfrm>
        </p:spPr>
        <p:txBody>
          <a:bodyPr>
            <a:normAutofit/>
          </a:bodyPr>
          <a:lstStyle/>
          <a:p>
            <a:pPr>
              <a:spcBef>
                <a:spcPts val="1200"/>
              </a:spcBef>
              <a:spcAft>
                <a:spcPts val="1200"/>
              </a:spcAft>
              <a:buNone/>
            </a:pPr>
            <a:r>
              <a:rPr lang="en-AU" sz="2200" b="1" dirty="0" smtClean="0">
                <a:solidFill>
                  <a:srgbClr val="0000FF"/>
                </a:solidFill>
                <a:latin typeface="Helvetica" pitchFamily="34" charset="0"/>
              </a:rPr>
              <a:t>The Second Step:</a:t>
            </a:r>
          </a:p>
          <a:p>
            <a:pPr>
              <a:spcBef>
                <a:spcPts val="1200"/>
              </a:spcBef>
              <a:spcAft>
                <a:spcPts val="1200"/>
              </a:spcAft>
            </a:pPr>
            <a:r>
              <a:rPr lang="en-US" sz="2200" b="1" dirty="0" smtClean="0">
                <a:latin typeface="Helvetica" pitchFamily="34" charset="0"/>
              </a:rPr>
              <a:t>Develop policies, procedures and training (in tandem with Child Protection Agencies) for all business operations and staff, that identifies the potential for offending to occur and eliminates it completely from their business.</a:t>
            </a:r>
            <a:endParaRPr lang="en-AU" sz="2200" b="1" dirty="0" smtClean="0">
              <a:latin typeface="Helvetica" pitchFamily="34" charset="0"/>
            </a:endParaRPr>
          </a:p>
          <a:p>
            <a:pPr>
              <a:spcBef>
                <a:spcPts val="1200"/>
              </a:spcBef>
              <a:spcAft>
                <a:spcPts val="1200"/>
              </a:spcAft>
              <a:buNone/>
            </a:pPr>
            <a:endParaRPr lang="en-AU" sz="2200" b="1" dirty="0" smtClean="0">
              <a:latin typeface="Helvetica" pitchFamily="34" charset="0"/>
            </a:endParaRPr>
          </a:p>
          <a:p>
            <a:pPr marL="360000" indent="-360000">
              <a:spcBef>
                <a:spcPts val="1200"/>
              </a:spcBef>
              <a:spcAft>
                <a:spcPts val="1200"/>
              </a:spcAft>
            </a:pPr>
            <a:endParaRPr lang="en-AU" sz="2400" dirty="0" smtClean="0"/>
          </a:p>
          <a:p>
            <a:pPr marL="360000" indent="-360000">
              <a:spcBef>
                <a:spcPts val="1200"/>
              </a:spcBef>
              <a:spcAft>
                <a:spcPts val="1200"/>
              </a:spcAft>
              <a:buNone/>
            </a:pPr>
            <a:endParaRPr lang="en-US" sz="24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a:t>
            </a:fld>
            <a:endParaRPr lang="en-US" dirty="0"/>
          </a:p>
        </p:txBody>
      </p:sp>
      <p:pic>
        <p:nvPicPr>
          <p:cNvPr id="5" name="Picture 4" descr="21816_training.jpg"/>
          <p:cNvPicPr>
            <a:picLocks noChangeAspect="1"/>
          </p:cNvPicPr>
          <p:nvPr/>
        </p:nvPicPr>
        <p:blipFill>
          <a:blip r:embed="rId3" cstate="print"/>
          <a:stretch>
            <a:fillRect/>
          </a:stretch>
        </p:blipFill>
        <p:spPr>
          <a:xfrm>
            <a:off x="6156176" y="4293096"/>
            <a:ext cx="2278864" cy="1701552"/>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pPr marL="712788" indent="-712788"/>
            <a:r>
              <a:rPr lang="en-US" sz="2800" b="1" dirty="0" smtClean="0">
                <a:solidFill>
                  <a:srgbClr val="FF6600"/>
                </a:solidFill>
                <a:latin typeface="Helvetica"/>
                <a:cs typeface="Helvetica"/>
              </a:rPr>
              <a:t>1.2	Describe the impact of child sexual exploitation on children, communities and the hotel and travel industries</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611560" y="1844824"/>
            <a:ext cx="7776864" cy="4752528"/>
          </a:xfrm>
        </p:spPr>
        <p:txBody>
          <a:bodyPr>
            <a:normAutofit/>
          </a:bodyPr>
          <a:lstStyle/>
          <a:p>
            <a:pPr marL="360000" indent="-360000">
              <a:spcBef>
                <a:spcPts val="1200"/>
              </a:spcBef>
              <a:spcAft>
                <a:spcPts val="1200"/>
              </a:spcAft>
            </a:pPr>
            <a:r>
              <a:rPr lang="en-US" sz="2200" b="1" dirty="0" smtClean="0">
                <a:latin typeface="Helvetica" pitchFamily="34" charset="0"/>
              </a:rPr>
              <a:t>Child Sex Tourism is an abhorrent act, that is morally, legally and physically corrupt</a:t>
            </a:r>
          </a:p>
          <a:p>
            <a:pPr marL="360000" indent="-360000">
              <a:spcBef>
                <a:spcPts val="1200"/>
              </a:spcBef>
              <a:spcAft>
                <a:spcPts val="1200"/>
              </a:spcAft>
            </a:pPr>
            <a:r>
              <a:rPr lang="en-US" sz="2200" b="1" dirty="0" smtClean="0">
                <a:latin typeface="Helvetica" pitchFamily="34" charset="0"/>
              </a:rPr>
              <a:t>Children who are abused sexually suffer a lifetime of ongoing physical, emotional and social impacts</a:t>
            </a:r>
          </a:p>
          <a:p>
            <a:pPr marL="360000" indent="-360000">
              <a:spcBef>
                <a:spcPts val="1200"/>
              </a:spcBef>
              <a:spcAft>
                <a:spcPts val="1200"/>
              </a:spcAft>
            </a:pPr>
            <a:r>
              <a:rPr lang="en-US" sz="2200" b="1" dirty="0" smtClean="0">
                <a:latin typeface="Helvetica" pitchFamily="34" charset="0"/>
              </a:rPr>
              <a:t>Child Sexual abuse is a crime no matter where and when it happens and that it is never ever the child’s fault</a:t>
            </a:r>
          </a:p>
          <a:p>
            <a:pPr marL="360000" indent="-360000">
              <a:spcBef>
                <a:spcPts val="1200"/>
              </a:spcBef>
              <a:spcAft>
                <a:spcPts val="1200"/>
              </a:spcAft>
            </a:pPr>
            <a:r>
              <a:rPr lang="en-US" sz="2200" b="1" dirty="0" smtClean="0">
                <a:latin typeface="Helvetica" pitchFamily="34" charset="0"/>
              </a:rPr>
              <a:t>The person abusing the child is entirely responsible.</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a:t>
            </a:fld>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pPr marL="712788" indent="-712788"/>
            <a:r>
              <a:rPr lang="en-US" sz="2800" b="1" dirty="0" smtClean="0">
                <a:solidFill>
                  <a:srgbClr val="FF6600"/>
                </a:solidFill>
                <a:latin typeface="Helvetica"/>
                <a:cs typeface="Helvetica"/>
              </a:rPr>
              <a:t>1.2	Describe the impact of child sexual exploitation on children, communities and the hotel and travel industries</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611560" y="1916832"/>
            <a:ext cx="7467600" cy="4165923"/>
          </a:xfrm>
        </p:spPr>
        <p:txBody>
          <a:bodyPr>
            <a:normAutofit/>
          </a:bodyPr>
          <a:lstStyle/>
          <a:p>
            <a:pPr>
              <a:spcBef>
                <a:spcPts val="1200"/>
              </a:spcBef>
              <a:spcAft>
                <a:spcPts val="1200"/>
              </a:spcAft>
            </a:pPr>
            <a:r>
              <a:rPr lang="en-AU" sz="2200" b="1" dirty="0" smtClean="0">
                <a:latin typeface="Helvetica" pitchFamily="34" charset="0"/>
              </a:rPr>
              <a:t>Please refer to the Training Manual for a detailed description of the impact of the CSEC.</a:t>
            </a: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a:t>
            </a:fld>
            <a:endParaRPr lang="en-US" dirty="0"/>
          </a:p>
        </p:txBody>
      </p:sp>
      <p:pic>
        <p:nvPicPr>
          <p:cNvPr id="8196" name="Picture 4" descr="C:\Documents and Settings\maiv\Local Settings\Temporary Internet Files\Content.IE5\XIGBUS4Y\MP900438678[1].jpg"/>
          <p:cNvPicPr>
            <a:picLocks noChangeAspect="1" noChangeArrowheads="1"/>
          </p:cNvPicPr>
          <p:nvPr/>
        </p:nvPicPr>
        <p:blipFill>
          <a:blip r:embed="rId3" cstate="print"/>
          <a:srcRect/>
          <a:stretch>
            <a:fillRect/>
          </a:stretch>
        </p:blipFill>
        <p:spPr bwMode="auto">
          <a:xfrm>
            <a:off x="6084168" y="2924738"/>
            <a:ext cx="2195336" cy="2193248"/>
          </a:xfrm>
          <a:prstGeom prst="rect">
            <a:avLst/>
          </a:prstGeom>
          <a:noFill/>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pPr marL="712788" indent="-712788"/>
            <a:r>
              <a:rPr lang="en-US" sz="2800" b="1" dirty="0" smtClean="0">
                <a:solidFill>
                  <a:srgbClr val="FF6600"/>
                </a:solidFill>
                <a:latin typeface="Helvetica"/>
                <a:cs typeface="Helvetica"/>
              </a:rPr>
              <a:t>1.2	Describe the impact of child sexual exploitation on children, communities and the hotel and travel industries</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611560" y="1916832"/>
            <a:ext cx="7467600" cy="4165923"/>
          </a:xfrm>
        </p:spPr>
        <p:txBody>
          <a:bodyPr>
            <a:normAutofit/>
          </a:bodyPr>
          <a:lstStyle/>
          <a:p>
            <a:pPr marL="360000" indent="-360000">
              <a:spcBef>
                <a:spcPts val="600"/>
              </a:spcBef>
              <a:spcAft>
                <a:spcPts val="1200"/>
              </a:spcAft>
              <a:buNone/>
            </a:pPr>
            <a:r>
              <a:rPr lang="en-US" sz="2200" b="1" dirty="0" smtClean="0">
                <a:solidFill>
                  <a:srgbClr val="0000FF"/>
                </a:solidFill>
                <a:latin typeface="Helvetica" pitchFamily="34" charset="0"/>
              </a:rPr>
              <a:t>Who are the Victims?</a:t>
            </a:r>
          </a:p>
          <a:p>
            <a:r>
              <a:rPr lang="en-AU" sz="2200" b="1" dirty="0" smtClean="0">
                <a:latin typeface="Helvetica" pitchFamily="34" charset="0"/>
              </a:rPr>
              <a:t>Please refer to the Training Manual for a detailed description of the victims of CST.</a:t>
            </a:r>
            <a:endParaRPr lang="en-AU" sz="24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24</a:t>
            </a:fld>
            <a:endParaRPr lang="en-US" dirty="0"/>
          </a:p>
        </p:txBody>
      </p:sp>
      <p:pic>
        <p:nvPicPr>
          <p:cNvPr id="5" name="Picture 4" descr="C:\Documents and Settings\maiv\Local Settings\Temporary Internet Files\Content.IE5\XIGBUS4Y\MP900438678[1].jpg"/>
          <p:cNvPicPr>
            <a:picLocks noChangeAspect="1" noChangeArrowheads="1"/>
          </p:cNvPicPr>
          <p:nvPr/>
        </p:nvPicPr>
        <p:blipFill>
          <a:blip r:embed="rId3" cstate="print"/>
          <a:srcRect/>
          <a:stretch>
            <a:fillRect/>
          </a:stretch>
        </p:blipFill>
        <p:spPr bwMode="auto">
          <a:xfrm>
            <a:off x="6228184" y="2996884"/>
            <a:ext cx="2051044" cy="2049093"/>
          </a:xfrm>
          <a:prstGeom prst="rect">
            <a:avLst/>
          </a:prstGeom>
          <a:noFill/>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296144"/>
          </a:xfrm>
        </p:spPr>
        <p:txBody>
          <a:bodyPr>
            <a:noAutofit/>
          </a:bodyPr>
          <a:lstStyle/>
          <a:p>
            <a:pPr marL="712788" indent="-712788"/>
            <a:r>
              <a:rPr lang="en-US" sz="2800" b="1" dirty="0" smtClean="0">
                <a:solidFill>
                  <a:srgbClr val="FF6600"/>
                </a:solidFill>
                <a:latin typeface="Helvetica"/>
                <a:cs typeface="Helvetica"/>
              </a:rPr>
              <a:t>1.2	Describe the impact of child sexual exploitation on children, communities and the hotel and travel industries</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611560" y="1988840"/>
            <a:ext cx="7467600" cy="4093915"/>
          </a:xfrm>
        </p:spPr>
        <p:txBody>
          <a:bodyPr>
            <a:normAutofit/>
          </a:bodyPr>
          <a:lstStyle/>
          <a:p>
            <a:pPr marL="360000" indent="-360000">
              <a:spcBef>
                <a:spcPts val="1200"/>
              </a:spcBef>
              <a:spcAft>
                <a:spcPts val="1200"/>
              </a:spcAft>
              <a:buNone/>
            </a:pPr>
            <a:r>
              <a:rPr lang="en-US" sz="2200" b="1" dirty="0" smtClean="0">
                <a:solidFill>
                  <a:srgbClr val="0000FF"/>
                </a:solidFill>
                <a:latin typeface="Helvetica" pitchFamily="34" charset="0"/>
              </a:rPr>
              <a:t>The Impact on Children:</a:t>
            </a:r>
          </a:p>
          <a:p>
            <a:pPr>
              <a:spcBef>
                <a:spcPts val="1200"/>
              </a:spcBef>
              <a:spcAft>
                <a:spcPts val="1200"/>
              </a:spcAft>
            </a:pPr>
            <a:r>
              <a:rPr lang="en-US" sz="2200" b="1" dirty="0" smtClean="0">
                <a:latin typeface="Helvetica" pitchFamily="34" charset="0"/>
              </a:rPr>
              <a:t>The negative impacts on children of CST is profound, lifelong and dramatic.</a:t>
            </a:r>
            <a:endParaRPr lang="en-AU"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25</a:t>
            </a:fld>
            <a:endParaRPr lang="en-US" dirty="0"/>
          </a:p>
        </p:txBody>
      </p:sp>
      <p:pic>
        <p:nvPicPr>
          <p:cNvPr id="5" name="Picture 4" descr="C:\Documents and Settings\maiv\Local Settings\Temporary Internet Files\Content.IE5\XIGBUS4Y\MP900438678[1].jpg"/>
          <p:cNvPicPr>
            <a:picLocks noChangeAspect="1" noChangeArrowheads="1"/>
          </p:cNvPicPr>
          <p:nvPr/>
        </p:nvPicPr>
        <p:blipFill>
          <a:blip r:embed="rId3" cstate="print"/>
          <a:srcRect/>
          <a:stretch>
            <a:fillRect/>
          </a:stretch>
        </p:blipFill>
        <p:spPr bwMode="auto">
          <a:xfrm>
            <a:off x="6372200" y="3140763"/>
            <a:ext cx="1907028" cy="1905214"/>
          </a:xfrm>
          <a:prstGeom prst="rect">
            <a:avLst/>
          </a:prstGeom>
          <a:noFill/>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pPr marL="712788" indent="-712788"/>
            <a:r>
              <a:rPr lang="en-US" sz="2800" b="1" dirty="0" smtClean="0">
                <a:solidFill>
                  <a:srgbClr val="FF6600"/>
                </a:solidFill>
                <a:latin typeface="Helvetica"/>
                <a:cs typeface="Helvetica"/>
              </a:rPr>
              <a:t>1.2	Describe the impact of child sexual exploitation on children, communities and the hotel and travel industries</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611560" y="1772816"/>
            <a:ext cx="7467600" cy="4309939"/>
          </a:xfrm>
        </p:spPr>
        <p:txBody>
          <a:bodyPr>
            <a:normAutofit lnSpcReduction="10000"/>
          </a:bodyPr>
          <a:lstStyle/>
          <a:p>
            <a:pPr marL="360000" indent="-360000">
              <a:spcBef>
                <a:spcPts val="1200"/>
              </a:spcBef>
              <a:spcAft>
                <a:spcPts val="1200"/>
              </a:spcAft>
              <a:buNone/>
            </a:pPr>
            <a:r>
              <a:rPr lang="en-US" sz="2200" b="1" dirty="0" smtClean="0">
                <a:solidFill>
                  <a:srgbClr val="0000FF"/>
                </a:solidFill>
                <a:latin typeface="Helvetica" pitchFamily="34" charset="0"/>
              </a:rPr>
              <a:t>The Impact on Children:</a:t>
            </a:r>
          </a:p>
          <a:p>
            <a:pPr>
              <a:spcBef>
                <a:spcPts val="1200"/>
              </a:spcBef>
              <a:spcAft>
                <a:spcPts val="1200"/>
              </a:spcAft>
            </a:pPr>
            <a:r>
              <a:rPr lang="en-US" sz="2200" b="1" dirty="0" smtClean="0">
                <a:latin typeface="Helvetica" pitchFamily="34" charset="0"/>
              </a:rPr>
              <a:t>‘The physical violence involved in the sexual exploitation of a child results in injury, pain and fear, while the acute psychological distress of sexual exploitation results in guilt, low self-esteem, depression and, in some instances, suicide’</a:t>
            </a:r>
          </a:p>
          <a:p>
            <a:pPr>
              <a:spcBef>
                <a:spcPts val="1200"/>
              </a:spcBef>
              <a:spcAft>
                <a:spcPts val="1200"/>
              </a:spcAft>
            </a:pPr>
            <a:r>
              <a:rPr lang="en-US" sz="2200" b="1" dirty="0" smtClean="0">
                <a:latin typeface="Helvetica" pitchFamily="34" charset="0"/>
              </a:rPr>
              <a:t>‘Children are also more vulnerable to sexually transmitted infections (STI), including HIV/AIDS’.</a:t>
            </a:r>
            <a:endParaRPr lang="en-AU" sz="2200" b="1" dirty="0" smtClean="0">
              <a:latin typeface="Helvetica" pitchFamily="34" charset="0"/>
            </a:endParaRPr>
          </a:p>
          <a:p>
            <a:pPr marL="0" indent="0" algn="ctr">
              <a:spcBef>
                <a:spcPts val="1200"/>
              </a:spcBef>
              <a:spcAft>
                <a:spcPts val="1200"/>
              </a:spcAft>
              <a:buNone/>
            </a:pPr>
            <a:r>
              <a:rPr lang="en-US" sz="1600" b="1" i="1" dirty="0" smtClean="0">
                <a:latin typeface="Helvetica" pitchFamily="34" charset="0"/>
              </a:rPr>
              <a:t>Reference: Title: Combating Child Sex Tourism: FAQs, </a:t>
            </a:r>
            <a:r>
              <a:rPr lang="en-US" sz="1600" b="1" i="1" dirty="0" smtClean="0">
                <a:latin typeface="Helvetica" pitchFamily="34" charset="0"/>
                <a:hlinkClick r:id="rId3"/>
              </a:rPr>
              <a:t>http://ecpat.net/EI/CST_Publications.asp</a:t>
            </a:r>
            <a:r>
              <a:rPr lang="en-US" sz="1600" b="1" i="1" dirty="0" smtClean="0">
                <a:latin typeface="Helvetica" pitchFamily="34" charset="0"/>
              </a:rPr>
              <a:t> Page 16. 16/1/2012. </a:t>
            </a:r>
            <a:br>
              <a:rPr lang="en-US" sz="1600" b="1" i="1" dirty="0" smtClean="0">
                <a:latin typeface="Helvetica" pitchFamily="34" charset="0"/>
              </a:rPr>
            </a:br>
            <a:r>
              <a:rPr lang="en-US" sz="1600" b="1" i="1" dirty="0" smtClean="0">
                <a:latin typeface="Helvetica" pitchFamily="34" charset="0"/>
              </a:rPr>
              <a:t>An ECPAT International Publication. 2008.</a:t>
            </a:r>
            <a:endParaRPr lang="en-AU" sz="1600" b="1" i="1" dirty="0" smtClean="0">
              <a:latin typeface="Helvetica" pitchFamily="34" charset="0"/>
            </a:endParaRPr>
          </a:p>
          <a:p>
            <a:endParaRPr lang="en-US" sz="2200" dirty="0" smtClean="0">
              <a:latin typeface="Helvetica" pitchFamily="34" charset="0"/>
            </a:endParaRPr>
          </a:p>
          <a:p>
            <a:pPr>
              <a:buNone/>
            </a:pPr>
            <a:endParaRPr lang="en-AU" sz="24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26</a:t>
            </a:fld>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pPr marL="712788" indent="-712788"/>
            <a:r>
              <a:rPr lang="en-US" sz="2800" b="1" dirty="0" smtClean="0">
                <a:solidFill>
                  <a:srgbClr val="FF6600"/>
                </a:solidFill>
                <a:latin typeface="Helvetica"/>
                <a:cs typeface="Helvetica"/>
              </a:rPr>
              <a:t>1.2	Describe the impact of child sexual exploitation on children, communities and the hotel and travel industries</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611560" y="1772816"/>
            <a:ext cx="7467600" cy="4309939"/>
          </a:xfrm>
        </p:spPr>
        <p:txBody>
          <a:bodyPr>
            <a:normAutofit/>
          </a:bodyPr>
          <a:lstStyle/>
          <a:p>
            <a:pPr>
              <a:spcBef>
                <a:spcPts val="1200"/>
              </a:spcBef>
              <a:spcAft>
                <a:spcPts val="1200"/>
              </a:spcAft>
              <a:buNone/>
            </a:pPr>
            <a:r>
              <a:rPr lang="en-US" sz="2200" b="1" dirty="0" smtClean="0">
                <a:solidFill>
                  <a:srgbClr val="0000FF"/>
                </a:solidFill>
                <a:latin typeface="Helvetica" pitchFamily="34" charset="0"/>
              </a:rPr>
              <a:t>The Impact CST has on Children and Communities:</a:t>
            </a:r>
          </a:p>
          <a:p>
            <a:pPr>
              <a:spcBef>
                <a:spcPts val="1200"/>
              </a:spcBef>
              <a:spcAft>
                <a:spcPts val="1200"/>
              </a:spcAft>
            </a:pPr>
            <a:r>
              <a:rPr lang="en-US" sz="2200" b="1" dirty="0" smtClean="0">
                <a:latin typeface="Helvetica" pitchFamily="34" charset="0"/>
              </a:rPr>
              <a:t>The CSEC is not something that happens and then is forgotten about by the children, their families and communities</a:t>
            </a:r>
          </a:p>
          <a:p>
            <a:pPr>
              <a:spcBef>
                <a:spcPts val="1200"/>
              </a:spcBef>
              <a:spcAft>
                <a:spcPts val="1200"/>
              </a:spcAft>
            </a:pPr>
            <a:r>
              <a:rPr lang="en-US" sz="2200" b="1" dirty="0" smtClean="0">
                <a:latin typeface="Helvetica" pitchFamily="34" charset="0"/>
              </a:rPr>
              <a:t>Many CST victims are often tainted by their abuse experiences and many communities are unfortunately unwilling to accept them.</a:t>
            </a:r>
          </a:p>
          <a:p>
            <a:endParaRPr lang="en-US" sz="2200" b="1" dirty="0" smtClean="0">
              <a:latin typeface="Helvetica" pitchFamily="34" charset="0"/>
            </a:endParaRPr>
          </a:p>
          <a:p>
            <a:pPr>
              <a:buNone/>
            </a:pPr>
            <a:endParaRPr lang="en-AU" sz="24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27</a:t>
            </a:fld>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pPr marL="712788" indent="-712788"/>
            <a:r>
              <a:rPr lang="en-US" sz="2800" b="1" dirty="0" smtClean="0">
                <a:solidFill>
                  <a:srgbClr val="FF6600"/>
                </a:solidFill>
                <a:latin typeface="Helvetica"/>
                <a:cs typeface="Helvetica"/>
              </a:rPr>
              <a:t>1.2	Describe the impact of child sexual exploitation on children, communities and the hotel and travel industries</a:t>
            </a:r>
            <a:endParaRPr lang="en-AU" sz="2800" b="1" dirty="0" smtClean="0">
              <a:solidFill>
                <a:srgbClr val="FF6600"/>
              </a:solidFill>
              <a:latin typeface="Helvetica"/>
              <a:cs typeface="Helvetica"/>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28</a:t>
            </a:fld>
            <a:endParaRPr lang="en-US" dirty="0"/>
          </a:p>
        </p:txBody>
      </p:sp>
      <p:sp>
        <p:nvSpPr>
          <p:cNvPr id="5" name="Content Placeholder 2"/>
          <p:cNvSpPr txBox="1">
            <a:spLocks/>
          </p:cNvSpPr>
          <p:nvPr/>
        </p:nvSpPr>
        <p:spPr>
          <a:xfrm>
            <a:off x="611560" y="1772816"/>
            <a:ext cx="8064896" cy="4824536"/>
          </a:xfrm>
          <a:prstGeom prst="rect">
            <a:avLst/>
          </a:prstGeom>
        </p:spPr>
        <p:txBody>
          <a:bodyPr vert="horz">
            <a:normAutofit fontScale="92500" lnSpcReduction="10000"/>
          </a:bodyPr>
          <a:lstStyle/>
          <a:p>
            <a:pPr>
              <a:spcBef>
                <a:spcPts val="600"/>
              </a:spcBef>
              <a:spcAft>
                <a:spcPts val="1200"/>
              </a:spcAft>
            </a:pPr>
            <a:r>
              <a:rPr lang="en-US" sz="2200" b="1" dirty="0" smtClean="0">
                <a:solidFill>
                  <a:srgbClr val="0000FF"/>
                </a:solidFill>
                <a:latin typeface="Helvetica" pitchFamily="34" charset="0"/>
              </a:rPr>
              <a:t>The Impact CST has on Children and Communities:</a:t>
            </a:r>
          </a:p>
          <a:p>
            <a:pPr>
              <a:spcBef>
                <a:spcPts val="600"/>
              </a:spcBef>
              <a:spcAft>
                <a:spcPts val="1200"/>
              </a:spcAft>
            </a:pPr>
            <a:r>
              <a:rPr lang="en-US" sz="2200" b="1" dirty="0" smtClean="0">
                <a:latin typeface="Helvetica" pitchFamily="34" charset="0"/>
              </a:rPr>
              <a:t>Socially, for the children this can have an ongoing devastating effect such as:</a:t>
            </a:r>
          </a:p>
          <a:p>
            <a:pPr marL="420624" lvl="0" indent="-384048">
              <a:spcBef>
                <a:spcPts val="600"/>
              </a:spcBef>
              <a:spcAft>
                <a:spcPts val="1200"/>
              </a:spcAft>
              <a:buClr>
                <a:schemeClr val="accent1"/>
              </a:buClr>
              <a:buSzPct val="80000"/>
              <a:buFont typeface="Wingdings 2"/>
              <a:buChar char=""/>
            </a:pPr>
            <a:r>
              <a:rPr lang="en-US" sz="2200" b="1" dirty="0" smtClean="0">
                <a:latin typeface="Helvetica" pitchFamily="34" charset="0"/>
              </a:rPr>
              <a:t>Difficulty in obtaining education</a:t>
            </a:r>
            <a:endParaRPr kumimoji="0" lang="en-US" sz="2200" b="1" i="0" u="none" strike="noStrike" kern="1200" cap="none" spc="0" normalizeH="0" baseline="0" noProof="0" dirty="0" smtClean="0">
              <a:ln>
                <a:noFill/>
              </a:ln>
              <a:solidFill>
                <a:schemeClr val="tx1"/>
              </a:solidFill>
              <a:effectLst/>
              <a:uLnTx/>
              <a:uFillTx/>
              <a:latin typeface="Helvetica" pitchFamily="34" charset="0"/>
              <a:ea typeface="+mn-ea"/>
              <a:cs typeface="+mn-cs"/>
            </a:endParaRPr>
          </a:p>
          <a:p>
            <a:pPr marL="420624" lvl="0" indent="-384048">
              <a:spcBef>
                <a:spcPts val="600"/>
              </a:spcBef>
              <a:spcAft>
                <a:spcPts val="1200"/>
              </a:spcAft>
              <a:buClr>
                <a:schemeClr val="accent1"/>
              </a:buClr>
              <a:buSzPct val="80000"/>
              <a:buFont typeface="Wingdings 2"/>
              <a:buChar char=""/>
            </a:pPr>
            <a:r>
              <a:rPr lang="en-US" sz="2200" b="1" dirty="0" smtClean="0">
                <a:latin typeface="Helvetica" pitchFamily="34" charset="0"/>
              </a:rPr>
              <a:t>Lack of community support and understanding</a:t>
            </a:r>
          </a:p>
          <a:p>
            <a:pPr marL="420624" indent="-384048">
              <a:spcBef>
                <a:spcPts val="600"/>
              </a:spcBef>
              <a:spcAft>
                <a:spcPts val="1200"/>
              </a:spcAft>
              <a:buClr>
                <a:schemeClr val="accent1"/>
              </a:buClr>
              <a:buSzPct val="80000"/>
              <a:buFont typeface="Wingdings 2"/>
              <a:buChar char=""/>
            </a:pPr>
            <a:r>
              <a:rPr lang="en-US" sz="2200" b="1" dirty="0" smtClean="0">
                <a:latin typeface="Helvetica" pitchFamily="34" charset="0"/>
              </a:rPr>
              <a:t>A criminal record</a:t>
            </a:r>
          </a:p>
          <a:p>
            <a:pPr marL="420624" lvl="1" indent="-384048">
              <a:spcBef>
                <a:spcPts val="600"/>
              </a:spcBef>
              <a:spcAft>
                <a:spcPts val="1200"/>
              </a:spcAft>
              <a:buClr>
                <a:schemeClr val="accent1"/>
              </a:buClr>
              <a:buSzPct val="80000"/>
              <a:buFont typeface="Wingdings 2"/>
              <a:buChar char=""/>
            </a:pPr>
            <a:r>
              <a:rPr lang="en-US" sz="2200" b="1" dirty="0" smtClean="0">
                <a:latin typeface="Helvetica" pitchFamily="34" charset="0"/>
              </a:rPr>
              <a:t>The inability to develop ‘normal’ friendships</a:t>
            </a:r>
          </a:p>
          <a:p>
            <a:pPr marL="420624" lvl="1" indent="-384048">
              <a:spcBef>
                <a:spcPts val="600"/>
              </a:spcBef>
              <a:spcAft>
                <a:spcPts val="1200"/>
              </a:spcAft>
              <a:buClr>
                <a:schemeClr val="accent1"/>
              </a:buClr>
              <a:buSzPct val="80000"/>
              <a:buFont typeface="Wingdings 2"/>
              <a:buChar char=""/>
            </a:pPr>
            <a:r>
              <a:rPr lang="en-US" sz="2200" b="1" dirty="0" smtClean="0">
                <a:latin typeface="Helvetica" pitchFamily="34" charset="0"/>
              </a:rPr>
              <a:t>The inability to interact socially</a:t>
            </a:r>
          </a:p>
          <a:p>
            <a:pPr marL="420624" lvl="1" indent="-384048">
              <a:spcBef>
                <a:spcPts val="600"/>
              </a:spcBef>
              <a:spcAft>
                <a:spcPts val="1200"/>
              </a:spcAft>
              <a:buClr>
                <a:schemeClr val="accent1"/>
              </a:buClr>
              <a:buSzPct val="80000"/>
              <a:buFont typeface="Wingdings 2"/>
              <a:buChar char=""/>
            </a:pPr>
            <a:r>
              <a:rPr lang="en-US" sz="2200" b="1" dirty="0" smtClean="0">
                <a:latin typeface="Helvetica" pitchFamily="34" charset="0"/>
              </a:rPr>
              <a:t>The inability to gain worthwhile employment and hence financial independence and stability.</a:t>
            </a:r>
          </a:p>
          <a:p>
            <a:pPr marL="420624" lvl="0" indent="-384048">
              <a:spcBef>
                <a:spcPts val="600"/>
              </a:spcBef>
              <a:spcAft>
                <a:spcPts val="1200"/>
              </a:spcAft>
              <a:buClr>
                <a:schemeClr val="accent1"/>
              </a:buClr>
              <a:buSzPct val="80000"/>
              <a:buFont typeface="Wingdings 2"/>
              <a:buChar char=""/>
            </a:pPr>
            <a:endParaRPr kumimoji="0" lang="en-US" sz="2200" b="1" i="0" u="none" strike="noStrike" kern="1200" cap="none" spc="0" normalizeH="0" baseline="0" noProof="0" dirty="0" smtClean="0">
              <a:ln>
                <a:noFill/>
              </a:ln>
              <a:solidFill>
                <a:schemeClr val="tx1"/>
              </a:solidFill>
              <a:effectLst/>
              <a:uLnTx/>
              <a:uFillTx/>
              <a:latin typeface="Helvetica" pitchFamily="34" charset="0"/>
              <a:ea typeface="+mn-ea"/>
              <a:cs typeface="+mn-cs"/>
            </a:endParaRPr>
          </a:p>
          <a:p>
            <a:pPr marL="420624" marR="0" lvl="0" indent="-384048" algn="l" defTabSz="914400" rtl="0" eaLnBrk="1" fontAlgn="auto" latinLnBrk="0" hangingPunct="1">
              <a:lnSpc>
                <a:spcPct val="100000"/>
              </a:lnSpc>
              <a:spcBef>
                <a:spcPts val="600"/>
              </a:spcBef>
              <a:spcAft>
                <a:spcPts val="1200"/>
              </a:spcAft>
              <a:buClr>
                <a:schemeClr val="accent1"/>
              </a:buClr>
              <a:buSzPct val="80000"/>
              <a:buFont typeface="Wingdings 2"/>
              <a:buNone/>
              <a:tabLst/>
              <a:defRPr/>
            </a:pPr>
            <a:endParaRPr kumimoji="0" lang="en-AU" sz="24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pPr marL="712788" indent="-712788"/>
            <a:r>
              <a:rPr lang="en-US" sz="2800" b="1" dirty="0" smtClean="0">
                <a:solidFill>
                  <a:srgbClr val="FF6600"/>
                </a:solidFill>
                <a:latin typeface="Helvetica"/>
                <a:cs typeface="Helvetica"/>
              </a:rPr>
              <a:t>1.2	Describe the impact of child sexual exploitation on children, communities and the hotel and travel industries</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611560" y="1772816"/>
            <a:ext cx="7467600" cy="4309939"/>
          </a:xfrm>
        </p:spPr>
        <p:txBody>
          <a:bodyPr>
            <a:normAutofit/>
          </a:bodyPr>
          <a:lstStyle/>
          <a:p>
            <a:pPr>
              <a:spcBef>
                <a:spcPts val="1200"/>
              </a:spcBef>
              <a:spcAft>
                <a:spcPts val="1200"/>
              </a:spcAft>
              <a:buNone/>
            </a:pPr>
            <a:r>
              <a:rPr lang="en-US" sz="2200" b="1" dirty="0" smtClean="0">
                <a:solidFill>
                  <a:srgbClr val="0000FF"/>
                </a:solidFill>
                <a:latin typeface="Helvetica" pitchFamily="34" charset="0"/>
              </a:rPr>
              <a:t>The Impact CST has on Children and Communities:</a:t>
            </a:r>
          </a:p>
          <a:p>
            <a:pPr>
              <a:spcBef>
                <a:spcPts val="1200"/>
              </a:spcBef>
              <a:spcAft>
                <a:spcPts val="1200"/>
              </a:spcAft>
            </a:pPr>
            <a:r>
              <a:rPr lang="en-US" sz="2200" b="1" dirty="0" smtClean="0">
                <a:latin typeface="Helvetica" pitchFamily="34" charset="0"/>
              </a:rPr>
              <a:t>Physically, the health issues many child victims suffer also impact not only on themselves but on their communities</a:t>
            </a:r>
          </a:p>
          <a:p>
            <a:pPr>
              <a:spcBef>
                <a:spcPts val="1200"/>
              </a:spcBef>
              <a:spcAft>
                <a:spcPts val="1200"/>
              </a:spcAft>
            </a:pPr>
            <a:r>
              <a:rPr lang="en-US" sz="2200" b="1" dirty="0" smtClean="0">
                <a:latin typeface="Helvetica" pitchFamily="34" charset="0"/>
              </a:rPr>
              <a:t>Communities with limited means and experience have to care for sick children and adults (that as children were abused) and many of these same communities have seen an explosion in HIV and STI rates.</a:t>
            </a:r>
            <a:endParaRPr lang="en-AU" sz="24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29</a:t>
            </a:fld>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pPr marL="712788" indent="-712788"/>
            <a:r>
              <a:rPr lang="en-US" sz="2800" b="1" dirty="0" smtClean="0">
                <a:solidFill>
                  <a:srgbClr val="FF6600"/>
                </a:solidFill>
                <a:latin typeface="Helvetica"/>
                <a:cs typeface="Helvetica"/>
              </a:rPr>
              <a:t>1.2	Describe the impact of child sexual exploitation on children, communities and the hotel and travel industries</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611560" y="1844824"/>
            <a:ext cx="7467600" cy="4237931"/>
          </a:xfrm>
        </p:spPr>
        <p:txBody>
          <a:bodyPr>
            <a:normAutofit/>
          </a:bodyPr>
          <a:lstStyle/>
          <a:p>
            <a:pPr>
              <a:spcBef>
                <a:spcPts val="1200"/>
              </a:spcBef>
              <a:spcAft>
                <a:spcPts val="1200"/>
              </a:spcAft>
              <a:buNone/>
            </a:pPr>
            <a:r>
              <a:rPr lang="en-US" sz="2200" b="1" dirty="0" smtClean="0">
                <a:solidFill>
                  <a:srgbClr val="0000FF"/>
                </a:solidFill>
                <a:latin typeface="Helvetica" pitchFamily="34" charset="0"/>
              </a:rPr>
              <a:t>The Impact CST has on Children and Communities:</a:t>
            </a:r>
          </a:p>
          <a:p>
            <a:pPr>
              <a:spcBef>
                <a:spcPts val="1200"/>
              </a:spcBef>
              <a:spcAft>
                <a:spcPts val="1200"/>
              </a:spcAft>
            </a:pPr>
            <a:r>
              <a:rPr lang="en-US" sz="2200" b="1" dirty="0" smtClean="0">
                <a:latin typeface="Helvetica" pitchFamily="34" charset="0"/>
              </a:rPr>
              <a:t>In many communities the discussion of sex, prostitution and particularly child sex is taboo, therefore child victims are often forced to suffer in silence through no fault of their own.</a:t>
            </a:r>
            <a:endParaRPr lang="en-AU" sz="24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30</a:t>
            </a:fld>
            <a:endParaRPr lang="en-US" dirty="0"/>
          </a:p>
        </p:txBody>
      </p:sp>
      <p:pic>
        <p:nvPicPr>
          <p:cNvPr id="9219" name="Picture 3" descr="C:\Documents and Settings\maiv\Local Settings\Temporary Internet Files\Content.IE5\ZXOPI4XJ\MP900401561[1].jpg"/>
          <p:cNvPicPr>
            <a:picLocks noChangeAspect="1" noChangeArrowheads="1"/>
          </p:cNvPicPr>
          <p:nvPr/>
        </p:nvPicPr>
        <p:blipFill>
          <a:blip r:embed="rId3" cstate="print"/>
          <a:srcRect/>
          <a:stretch>
            <a:fillRect/>
          </a:stretch>
        </p:blipFill>
        <p:spPr bwMode="auto">
          <a:xfrm>
            <a:off x="5580112" y="4005064"/>
            <a:ext cx="2820898" cy="1879864"/>
          </a:xfrm>
          <a:prstGeom prst="rect">
            <a:avLst/>
          </a:prstGeom>
          <a:noFill/>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pPr marL="712788" indent="-712788"/>
            <a:r>
              <a:rPr lang="en-US" sz="2800" b="1" dirty="0" smtClean="0">
                <a:solidFill>
                  <a:srgbClr val="FF6600"/>
                </a:solidFill>
                <a:latin typeface="Helvetica"/>
                <a:cs typeface="Helvetica"/>
              </a:rPr>
              <a:t>1.2	Describe the impact of child sexual exploitation on children, communities and the hotel and travel industries</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611560" y="1772816"/>
            <a:ext cx="7467600" cy="4309939"/>
          </a:xfrm>
        </p:spPr>
        <p:txBody>
          <a:bodyPr>
            <a:normAutofit/>
          </a:bodyPr>
          <a:lstStyle/>
          <a:p>
            <a:pPr>
              <a:spcBef>
                <a:spcPts val="1200"/>
              </a:spcBef>
              <a:spcAft>
                <a:spcPts val="1200"/>
              </a:spcAft>
              <a:buNone/>
            </a:pPr>
            <a:r>
              <a:rPr lang="en-US" sz="2200" b="1" dirty="0" smtClean="0">
                <a:solidFill>
                  <a:srgbClr val="0000FF"/>
                </a:solidFill>
                <a:latin typeface="Helvetica" pitchFamily="34" charset="0"/>
              </a:rPr>
              <a:t>The Impact CST has on Children and Communities:</a:t>
            </a:r>
          </a:p>
          <a:p>
            <a:pPr>
              <a:spcBef>
                <a:spcPts val="1200"/>
              </a:spcBef>
              <a:spcAft>
                <a:spcPts val="1200"/>
              </a:spcAft>
            </a:pPr>
            <a:r>
              <a:rPr lang="en-US" sz="2200" b="1" dirty="0" smtClean="0">
                <a:latin typeface="Helvetica" pitchFamily="34" charset="0"/>
              </a:rPr>
              <a:t>The impact on communities of the CSEC is negative and substantial, as is the loss of child innocence, the breakdown of morals and social norms, the growth in crime associated with the CSEC and the attraction of these vulnerable communities to offenders and child pornographers becomes apparent.</a:t>
            </a:r>
            <a:endParaRPr lang="en-AU" sz="2200" b="1" dirty="0" smtClean="0">
              <a:latin typeface="Helvetica" pitchFamily="34" charset="0"/>
            </a:endParaRPr>
          </a:p>
          <a:p>
            <a:pPr>
              <a:spcBef>
                <a:spcPts val="1200"/>
              </a:spcBef>
              <a:spcAft>
                <a:spcPts val="1200"/>
              </a:spcAft>
            </a:pPr>
            <a:endParaRPr lang="en-AU" sz="2200" b="1" dirty="0" smtClean="0">
              <a:latin typeface="Helvetica" pitchFamily="34" charset="0"/>
            </a:endParaRPr>
          </a:p>
          <a:p>
            <a:pPr>
              <a:spcBef>
                <a:spcPts val="1200"/>
              </a:spcBef>
              <a:spcAft>
                <a:spcPts val="1200"/>
              </a:spcAft>
            </a:pPr>
            <a:endParaRPr lang="en-US" sz="2200" dirty="0" smtClean="0">
              <a:latin typeface="Helvetica" pitchFamily="34" charset="0"/>
            </a:endParaRPr>
          </a:p>
          <a:p>
            <a:pPr>
              <a:spcBef>
                <a:spcPts val="1200"/>
              </a:spcBef>
              <a:spcAft>
                <a:spcPts val="1200"/>
              </a:spcAft>
              <a:buNone/>
            </a:pPr>
            <a:endParaRPr lang="en-AU" sz="24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31</a:t>
            </a:fld>
            <a:endParaRPr lang="en-US" dirty="0"/>
          </a:p>
        </p:txBody>
      </p:sp>
      <p:pic>
        <p:nvPicPr>
          <p:cNvPr id="10242" name="Picture 2" descr="C:\Documents and Settings\maiv\Local Settings\Temporary Internet Files\Content.IE5\XBB4NDLH\MP900262699[1].jpg"/>
          <p:cNvPicPr>
            <a:picLocks noChangeAspect="1" noChangeArrowheads="1"/>
          </p:cNvPicPr>
          <p:nvPr/>
        </p:nvPicPr>
        <p:blipFill>
          <a:blip r:embed="rId3" cstate="print"/>
          <a:srcRect/>
          <a:stretch>
            <a:fillRect/>
          </a:stretch>
        </p:blipFill>
        <p:spPr bwMode="auto">
          <a:xfrm>
            <a:off x="6228184" y="4581128"/>
            <a:ext cx="2577480" cy="1718320"/>
          </a:xfrm>
          <a:prstGeom prst="rect">
            <a:avLst/>
          </a:prstGeom>
          <a:noFill/>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pPr marL="712788" indent="-712788"/>
            <a:r>
              <a:rPr lang="en-US" sz="2800" b="1" dirty="0" smtClean="0">
                <a:solidFill>
                  <a:srgbClr val="FF6600"/>
                </a:solidFill>
                <a:latin typeface="Helvetica"/>
                <a:cs typeface="Helvetica"/>
              </a:rPr>
              <a:t>1.2	Describe the impact of child sexual exploitation on children, communities and the hotel and travel industries</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611560" y="1916832"/>
            <a:ext cx="7467600" cy="4165923"/>
          </a:xfrm>
        </p:spPr>
        <p:txBody>
          <a:bodyPr>
            <a:normAutofit/>
          </a:bodyPr>
          <a:lstStyle/>
          <a:p>
            <a:pPr>
              <a:spcBef>
                <a:spcPts val="1200"/>
              </a:spcBef>
              <a:spcAft>
                <a:spcPts val="1200"/>
              </a:spcAft>
              <a:buNone/>
            </a:pPr>
            <a:r>
              <a:rPr lang="en-US" sz="2200" b="1" dirty="0" smtClean="0">
                <a:solidFill>
                  <a:srgbClr val="0000FF"/>
                </a:solidFill>
                <a:latin typeface="Helvetica" pitchFamily="34" charset="0"/>
              </a:rPr>
              <a:t>The Impact CST has on Children and Communities:</a:t>
            </a:r>
          </a:p>
          <a:p>
            <a:pPr>
              <a:spcBef>
                <a:spcPts val="1200"/>
              </a:spcBef>
              <a:spcAft>
                <a:spcPts val="1200"/>
              </a:spcAft>
            </a:pPr>
            <a:r>
              <a:rPr lang="en-US" sz="2200" b="1" dirty="0" smtClean="0">
                <a:latin typeface="Helvetica" pitchFamily="34" charset="0"/>
              </a:rPr>
              <a:t>Additionally, there is also the lost future opportunities for these child victims to become worthwhile contributing members of a functioning and healthy community.</a:t>
            </a:r>
            <a:endParaRPr lang="en-AU" sz="2200" b="1" dirty="0" smtClean="0">
              <a:latin typeface="Helvetica" pitchFamily="34" charset="0"/>
            </a:endParaRPr>
          </a:p>
          <a:p>
            <a:endParaRPr lang="en-US" sz="2200" b="1" dirty="0" smtClean="0">
              <a:latin typeface="Helvetica" pitchFamily="34" charset="0"/>
            </a:endParaRPr>
          </a:p>
          <a:p>
            <a:pPr>
              <a:buNone/>
            </a:pPr>
            <a:endParaRPr lang="en-AU" sz="24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32</a:t>
            </a:fld>
            <a:endParaRPr lang="en-US" dirty="0"/>
          </a:p>
        </p:txBody>
      </p:sp>
      <p:pic>
        <p:nvPicPr>
          <p:cNvPr id="5" name="Picture 4" descr="C:\Users\fgvghyujil\AppData\Local\Microsoft\Windows\Temporary Internet Files\Content.IE5\H44FM00L\MC900429741[1].wmf"/>
          <p:cNvPicPr/>
          <p:nvPr/>
        </p:nvPicPr>
        <p:blipFill>
          <a:blip r:embed="rId3" cstate="print"/>
          <a:srcRect/>
          <a:stretch>
            <a:fillRect/>
          </a:stretch>
        </p:blipFill>
        <p:spPr bwMode="auto">
          <a:xfrm>
            <a:off x="6516216" y="3933056"/>
            <a:ext cx="1897227" cy="188000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pPr marL="712788" indent="-712788"/>
            <a:r>
              <a:rPr lang="en-US" sz="2800" b="1" dirty="0" smtClean="0">
                <a:solidFill>
                  <a:srgbClr val="FF6600"/>
                </a:solidFill>
                <a:latin typeface="Helvetica"/>
                <a:cs typeface="Helvetica"/>
              </a:rPr>
              <a:t>1.2	Describe the impact of child sexual exploitation on children, communities and the hotel and travel industries</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611560" y="1916832"/>
            <a:ext cx="7467600" cy="4165923"/>
          </a:xfrm>
        </p:spPr>
        <p:txBody>
          <a:bodyPr>
            <a:normAutofit/>
          </a:bodyPr>
          <a:lstStyle/>
          <a:p>
            <a:pPr>
              <a:spcBef>
                <a:spcPts val="1200"/>
              </a:spcBef>
              <a:spcAft>
                <a:spcPts val="1200"/>
              </a:spcAft>
              <a:buNone/>
            </a:pPr>
            <a:r>
              <a:rPr lang="en-US" sz="2200" b="1" dirty="0" smtClean="0">
                <a:solidFill>
                  <a:srgbClr val="0000FF"/>
                </a:solidFill>
                <a:latin typeface="Helvetica" pitchFamily="34" charset="0"/>
              </a:rPr>
              <a:t>The Impact on the Hotel and Travel Industries:</a:t>
            </a:r>
          </a:p>
          <a:p>
            <a:pPr>
              <a:spcBef>
                <a:spcPts val="1200"/>
              </a:spcBef>
              <a:spcAft>
                <a:spcPts val="1200"/>
              </a:spcAft>
            </a:pPr>
            <a:r>
              <a:rPr lang="en-US" sz="2200" b="1" dirty="0" smtClean="0">
                <a:latin typeface="Helvetica" pitchFamily="34" charset="0"/>
              </a:rPr>
              <a:t>It is common knowledge amongst the travel and hotel industries that many genuine tourists are not willing to visit areas where child sex tourism (or sex tourism) is openly occurring</a:t>
            </a:r>
          </a:p>
          <a:p>
            <a:pPr>
              <a:spcBef>
                <a:spcPts val="1200"/>
              </a:spcBef>
              <a:spcAft>
                <a:spcPts val="1200"/>
              </a:spcAft>
            </a:pPr>
            <a:r>
              <a:rPr lang="en-US" sz="2200" b="1" dirty="0" smtClean="0">
                <a:latin typeface="Helvetica" pitchFamily="34" charset="0"/>
              </a:rPr>
              <a:t>The majority of tourists will avoid such destinations, hotels, restaurants, bars and other businesses that allow such activities to occur</a:t>
            </a:r>
            <a:endParaRPr lang="en-AU" sz="2200" b="1" dirty="0" smtClean="0">
              <a:latin typeface="Helvetica" pitchFamily="34" charset="0"/>
            </a:endParaRPr>
          </a:p>
          <a:p>
            <a:endParaRPr lang="en-AU" sz="2000" dirty="0" smtClean="0"/>
          </a:p>
          <a:p>
            <a:endParaRPr lang="en-US" sz="2200" dirty="0" smtClean="0">
              <a:latin typeface="Helvetica" pitchFamily="34" charset="0"/>
            </a:endParaRPr>
          </a:p>
          <a:p>
            <a:pPr>
              <a:buNone/>
            </a:pPr>
            <a:endParaRPr lang="en-AU" sz="24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33</a:t>
            </a:fld>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pPr marL="712788" indent="-712788"/>
            <a:r>
              <a:rPr lang="en-US" sz="2800" b="1" dirty="0" smtClean="0">
                <a:solidFill>
                  <a:srgbClr val="FF6600"/>
                </a:solidFill>
                <a:latin typeface="Helvetica"/>
                <a:cs typeface="Helvetica"/>
              </a:rPr>
              <a:t>1.2	Describe the impact of child sexual exploitation on children, communities and the hotel and travel industries</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611560" y="1916832"/>
            <a:ext cx="7467600" cy="4165923"/>
          </a:xfrm>
        </p:spPr>
        <p:txBody>
          <a:bodyPr>
            <a:normAutofit/>
          </a:bodyPr>
          <a:lstStyle/>
          <a:p>
            <a:pPr>
              <a:spcBef>
                <a:spcPts val="1200"/>
              </a:spcBef>
              <a:spcAft>
                <a:spcPts val="1200"/>
              </a:spcAft>
              <a:buNone/>
            </a:pPr>
            <a:r>
              <a:rPr lang="en-US" sz="2200" b="1" dirty="0" smtClean="0">
                <a:solidFill>
                  <a:srgbClr val="0000FF"/>
                </a:solidFill>
                <a:latin typeface="Helvetica" pitchFamily="34" charset="0"/>
              </a:rPr>
              <a:t>Direct Impacts on the Hotel and Travel Industries:</a:t>
            </a:r>
          </a:p>
          <a:p>
            <a:pPr>
              <a:spcBef>
                <a:spcPts val="1200"/>
              </a:spcBef>
              <a:spcAft>
                <a:spcPts val="1200"/>
              </a:spcAft>
            </a:pPr>
            <a:r>
              <a:rPr lang="en-AU" sz="2200" b="1" dirty="0" smtClean="0">
                <a:latin typeface="Helvetica" pitchFamily="34" charset="0"/>
              </a:rPr>
              <a:t>Refer to the Training Manual for a comprehensive list of Impacts.</a:t>
            </a:r>
            <a:endParaRPr lang="en-AU" sz="24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34</a:t>
            </a:fld>
            <a:endParaRPr lang="en-US" dirty="0"/>
          </a:p>
        </p:txBody>
      </p:sp>
      <p:pic>
        <p:nvPicPr>
          <p:cNvPr id="5" name="Picture 4" descr="C:\Documents and Settings\maiv\Local Settings\Temporary Internet Files\Content.IE5\XIGBUS4Y\MP900438678[1].jpg"/>
          <p:cNvPicPr>
            <a:picLocks noChangeAspect="1" noChangeArrowheads="1"/>
          </p:cNvPicPr>
          <p:nvPr/>
        </p:nvPicPr>
        <p:blipFill>
          <a:blip r:embed="rId3" cstate="print"/>
          <a:srcRect/>
          <a:stretch>
            <a:fillRect/>
          </a:stretch>
        </p:blipFill>
        <p:spPr bwMode="auto">
          <a:xfrm>
            <a:off x="6300192" y="3140556"/>
            <a:ext cx="1979312" cy="1977429"/>
          </a:xfrm>
          <a:prstGeom prst="rect">
            <a:avLst/>
          </a:prstGeom>
          <a:noFill/>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pPr marL="712788" indent="-712788"/>
            <a:r>
              <a:rPr lang="en-US" sz="2800" b="1" dirty="0" smtClean="0">
                <a:solidFill>
                  <a:srgbClr val="FF6600"/>
                </a:solidFill>
                <a:latin typeface="Helvetica"/>
                <a:cs typeface="Helvetica"/>
              </a:rPr>
              <a:t>1.2	Describe the impact of child sexual exploitation on children, communities and the hotel and travel industries</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611560" y="1844824"/>
            <a:ext cx="7467600" cy="4237931"/>
          </a:xfrm>
        </p:spPr>
        <p:txBody>
          <a:bodyPr>
            <a:normAutofit/>
          </a:bodyPr>
          <a:lstStyle/>
          <a:p>
            <a:pPr>
              <a:spcBef>
                <a:spcPts val="1200"/>
              </a:spcBef>
              <a:spcAft>
                <a:spcPts val="1200"/>
              </a:spcAft>
              <a:buNone/>
            </a:pPr>
            <a:r>
              <a:rPr lang="en-US" sz="2200" b="1" dirty="0" smtClean="0">
                <a:solidFill>
                  <a:srgbClr val="0000FF"/>
                </a:solidFill>
                <a:latin typeface="Helvetica" pitchFamily="34" charset="0"/>
              </a:rPr>
              <a:t>Legal Obligations for the Hotel and Travel Industries:</a:t>
            </a:r>
          </a:p>
          <a:p>
            <a:pPr>
              <a:spcBef>
                <a:spcPts val="1200"/>
              </a:spcBef>
              <a:spcAft>
                <a:spcPts val="1200"/>
              </a:spcAft>
            </a:pPr>
            <a:r>
              <a:rPr lang="en-US" sz="2200" b="1" dirty="0" smtClean="0">
                <a:latin typeface="Helvetica" pitchFamily="34" charset="0"/>
              </a:rPr>
              <a:t>Refer to the Training Manual for a comprehensive list of Legal Obligations.</a:t>
            </a:r>
            <a:endParaRPr lang="en-AU"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35</a:t>
            </a:fld>
            <a:endParaRPr lang="en-US" dirty="0"/>
          </a:p>
        </p:txBody>
      </p:sp>
      <p:pic>
        <p:nvPicPr>
          <p:cNvPr id="5" name="Picture 4" descr="C:\Documents and Settings\maiv\Local Settings\Temporary Internet Files\Content.IE5\XIGBUS4Y\MP900438678[1].jpg"/>
          <p:cNvPicPr>
            <a:picLocks noChangeAspect="1" noChangeArrowheads="1"/>
          </p:cNvPicPr>
          <p:nvPr/>
        </p:nvPicPr>
        <p:blipFill>
          <a:blip r:embed="rId3" cstate="print"/>
          <a:srcRect/>
          <a:stretch>
            <a:fillRect/>
          </a:stretch>
        </p:blipFill>
        <p:spPr bwMode="auto">
          <a:xfrm>
            <a:off x="6156176" y="2996678"/>
            <a:ext cx="2123328" cy="2121308"/>
          </a:xfrm>
          <a:prstGeom prst="rect">
            <a:avLst/>
          </a:prstGeom>
          <a:noFill/>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712788" indent="-712788"/>
            <a:r>
              <a:rPr lang="en-US" sz="2800" b="1" dirty="0" smtClean="0">
                <a:solidFill>
                  <a:srgbClr val="FF6600"/>
                </a:solidFill>
                <a:latin typeface="Helvetica"/>
                <a:cs typeface="Helvetica"/>
              </a:rPr>
              <a:t>1.3	Identify suspicious behaviors that may be exhibited by child sex tourists</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611560" y="1556792"/>
            <a:ext cx="7704856" cy="4752528"/>
          </a:xfrm>
        </p:spPr>
        <p:txBody>
          <a:bodyPr>
            <a:normAutofit/>
          </a:bodyPr>
          <a:lstStyle/>
          <a:p>
            <a:pPr>
              <a:spcBef>
                <a:spcPts val="1200"/>
              </a:spcBef>
              <a:spcAft>
                <a:spcPts val="1200"/>
              </a:spcAft>
              <a:buNone/>
            </a:pPr>
            <a:r>
              <a:rPr lang="en-US" sz="2200" b="1" dirty="0" smtClean="0">
                <a:solidFill>
                  <a:srgbClr val="0000FF"/>
                </a:solidFill>
                <a:latin typeface="Helvetica" pitchFamily="34" charset="0"/>
              </a:rPr>
              <a:t>What Do Offenders Look Like?</a:t>
            </a:r>
          </a:p>
          <a:p>
            <a:pPr>
              <a:spcBef>
                <a:spcPts val="1200"/>
              </a:spcBef>
              <a:spcAft>
                <a:spcPts val="1200"/>
              </a:spcAft>
            </a:pPr>
            <a:r>
              <a:rPr lang="en-US" sz="2200" b="1" dirty="0" smtClean="0">
                <a:latin typeface="Helvetica" pitchFamily="34" charset="0"/>
              </a:rPr>
              <a:t>The first and most important thing to remember is that there is no stereotypical offender</a:t>
            </a:r>
          </a:p>
          <a:p>
            <a:pPr>
              <a:spcBef>
                <a:spcPts val="1200"/>
              </a:spcBef>
              <a:spcAft>
                <a:spcPts val="1200"/>
              </a:spcAft>
            </a:pPr>
            <a:r>
              <a:rPr lang="en-US" sz="2200" b="1" dirty="0" smtClean="0">
                <a:latin typeface="Helvetica" pitchFamily="34" charset="0"/>
              </a:rPr>
              <a:t>They can come from anywhere, be male or female, married or single, wealthy or of a lower socio–economic and educational status</a:t>
            </a:r>
          </a:p>
          <a:p>
            <a:pPr>
              <a:spcBef>
                <a:spcPts val="1200"/>
              </a:spcBef>
              <a:spcAft>
                <a:spcPts val="1200"/>
              </a:spcAft>
            </a:pPr>
            <a:r>
              <a:rPr lang="en-US" sz="2200" b="1" dirty="0" smtClean="0">
                <a:latin typeface="Helvetica" pitchFamily="34" charset="0"/>
              </a:rPr>
              <a:t>There is not one physical feature, behavior type or social pattern that will distinguish a child sex tourist.</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36</a:t>
            </a:fld>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712788" indent="-712788"/>
            <a:r>
              <a:rPr lang="en-US" sz="2800" b="1" dirty="0" smtClean="0">
                <a:solidFill>
                  <a:srgbClr val="FF6600"/>
                </a:solidFill>
                <a:latin typeface="Helvetica"/>
                <a:cs typeface="Helvetica"/>
              </a:rPr>
              <a:t>1.3	Identify suspicious behaviors that may be exhibited by child sex tourists</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611560" y="1772816"/>
            <a:ext cx="7467600" cy="4309939"/>
          </a:xfrm>
        </p:spPr>
        <p:txBody>
          <a:bodyPr>
            <a:normAutofit/>
          </a:bodyPr>
          <a:lstStyle/>
          <a:p>
            <a:pPr>
              <a:spcBef>
                <a:spcPts val="1200"/>
              </a:spcBef>
              <a:spcAft>
                <a:spcPts val="1200"/>
              </a:spcAft>
              <a:buNone/>
            </a:pPr>
            <a:r>
              <a:rPr lang="en-US" sz="2200" b="1" dirty="0" smtClean="0">
                <a:solidFill>
                  <a:srgbClr val="0000FF"/>
                </a:solidFill>
                <a:latin typeface="Helvetica" pitchFamily="34" charset="0"/>
              </a:rPr>
              <a:t>What We Do Know About Offenders:</a:t>
            </a:r>
            <a:endParaRPr lang="en-AU" sz="2200" b="1" dirty="0" smtClean="0">
              <a:solidFill>
                <a:srgbClr val="0000FF"/>
              </a:solidFill>
              <a:latin typeface="Helvetica" pitchFamily="34" charset="0"/>
            </a:endParaRPr>
          </a:p>
          <a:p>
            <a:pPr lvl="0">
              <a:spcBef>
                <a:spcPts val="1200"/>
              </a:spcBef>
              <a:spcAft>
                <a:spcPts val="1200"/>
              </a:spcAft>
            </a:pPr>
            <a:r>
              <a:rPr lang="en-US" sz="2200" b="1" dirty="0" smtClean="0">
                <a:latin typeface="Helvetica" pitchFamily="34" charset="0"/>
              </a:rPr>
              <a:t>95% of Child Sex Offenders are male and they can be married and have children of their own</a:t>
            </a:r>
            <a:endParaRPr lang="en-AU" sz="2200" b="1" dirty="0" smtClean="0">
              <a:latin typeface="Helvetica" pitchFamily="34" charset="0"/>
            </a:endParaRPr>
          </a:p>
          <a:p>
            <a:pPr lvl="0">
              <a:spcBef>
                <a:spcPts val="1200"/>
              </a:spcBef>
              <a:spcAft>
                <a:spcPts val="1200"/>
              </a:spcAft>
            </a:pPr>
            <a:r>
              <a:rPr lang="en-US" sz="2200" b="1" dirty="0" smtClean="0">
                <a:latin typeface="Helvetica" pitchFamily="34" charset="0"/>
              </a:rPr>
              <a:t>Up to a third of offences are committed by adolescents</a:t>
            </a:r>
            <a:endParaRPr lang="en-AU" sz="2200" b="1" dirty="0" smtClean="0">
              <a:latin typeface="Helvetica" pitchFamily="34" charset="0"/>
            </a:endParaRPr>
          </a:p>
          <a:p>
            <a:pPr lvl="0">
              <a:spcBef>
                <a:spcPts val="1200"/>
              </a:spcBef>
              <a:spcAft>
                <a:spcPts val="1200"/>
              </a:spcAft>
            </a:pPr>
            <a:r>
              <a:rPr lang="en-US" sz="2200" b="1" dirty="0" smtClean="0">
                <a:latin typeface="Helvetica" pitchFamily="34" charset="0"/>
              </a:rPr>
              <a:t>Most sexual offences are committed </a:t>
            </a:r>
            <a:br>
              <a:rPr lang="en-US" sz="2200" b="1" dirty="0" smtClean="0">
                <a:latin typeface="Helvetica" pitchFamily="34" charset="0"/>
              </a:rPr>
            </a:br>
            <a:r>
              <a:rPr lang="en-US" sz="2200" b="1" dirty="0" smtClean="0">
                <a:latin typeface="Helvetica" pitchFamily="34" charset="0"/>
              </a:rPr>
              <a:t>by men between the ages of 25 – 40 </a:t>
            </a:r>
            <a:br>
              <a:rPr lang="en-US" sz="2200" b="1" dirty="0" smtClean="0">
                <a:latin typeface="Helvetica" pitchFamily="34" charset="0"/>
              </a:rPr>
            </a:br>
            <a:r>
              <a:rPr lang="en-US" sz="2200" b="1" dirty="0" smtClean="0">
                <a:latin typeface="Helvetica" pitchFamily="34" charset="0"/>
              </a:rPr>
              <a:t>years.</a:t>
            </a:r>
            <a:endParaRPr lang="en-AU" sz="2200" b="1" dirty="0" smtClean="0">
              <a:latin typeface="Helvetica" pitchFamily="34" charset="0"/>
            </a:endParaRPr>
          </a:p>
          <a:p>
            <a:pPr>
              <a:spcBef>
                <a:spcPts val="1200"/>
              </a:spcBef>
              <a:spcAft>
                <a:spcPts val="1200"/>
              </a:spcAft>
              <a:buNone/>
            </a:pPr>
            <a:endParaRPr lang="en-AU" sz="2200" b="1" dirty="0" smtClean="0">
              <a:latin typeface="Helvetica" pitchFamily="34" charset="0"/>
            </a:endParaRP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37</a:t>
            </a:fld>
            <a:endParaRPr lang="en-US" dirty="0"/>
          </a:p>
        </p:txBody>
      </p:sp>
      <p:pic>
        <p:nvPicPr>
          <p:cNvPr id="18434" name="Picture 2" descr="C:\Documents and Settings\maiv\Local Settings\Temporary Internet Files\Content.IE5\A8BAWIUD\MC900287178[1].wmf"/>
          <p:cNvPicPr>
            <a:picLocks noChangeAspect="1" noChangeArrowheads="1"/>
          </p:cNvPicPr>
          <p:nvPr/>
        </p:nvPicPr>
        <p:blipFill>
          <a:blip r:embed="rId3" cstate="print"/>
          <a:srcRect/>
          <a:stretch>
            <a:fillRect/>
          </a:stretch>
        </p:blipFill>
        <p:spPr bwMode="auto">
          <a:xfrm>
            <a:off x="6372200" y="4005064"/>
            <a:ext cx="2049850" cy="1669227"/>
          </a:xfrm>
          <a:prstGeom prst="rect">
            <a:avLst/>
          </a:prstGeom>
          <a:noFill/>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712788" indent="-712788"/>
            <a:r>
              <a:rPr lang="en-US" sz="2800" b="1" dirty="0" smtClean="0">
                <a:solidFill>
                  <a:srgbClr val="FF6600"/>
                </a:solidFill>
                <a:latin typeface="Helvetica"/>
                <a:cs typeface="Helvetica"/>
              </a:rPr>
              <a:t>1.3	Identify suspicious behaviors that may be exhibited by child sex tourists</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1200"/>
              </a:spcBef>
              <a:spcAft>
                <a:spcPts val="1200"/>
              </a:spcAft>
              <a:buNone/>
            </a:pPr>
            <a:r>
              <a:rPr lang="en-US" sz="2200" b="1" dirty="0" smtClean="0">
                <a:solidFill>
                  <a:srgbClr val="0000FF"/>
                </a:solidFill>
                <a:latin typeface="Helvetica" pitchFamily="34" charset="0"/>
              </a:rPr>
              <a:t>What We Do Know About Offenders:</a:t>
            </a:r>
            <a:endParaRPr lang="en-AU" sz="2200" b="1" dirty="0" smtClean="0">
              <a:solidFill>
                <a:srgbClr val="0000FF"/>
              </a:solidFill>
              <a:latin typeface="Helvetica" pitchFamily="34" charset="0"/>
            </a:endParaRPr>
          </a:p>
          <a:p>
            <a:pPr lvl="0">
              <a:spcBef>
                <a:spcPts val="1200"/>
              </a:spcBef>
              <a:spcAft>
                <a:spcPts val="1200"/>
              </a:spcAft>
            </a:pPr>
            <a:r>
              <a:rPr lang="en-US" sz="2200" b="1" dirty="0" smtClean="0">
                <a:latin typeface="Helvetica" pitchFamily="34" charset="0"/>
              </a:rPr>
              <a:t>There are three internationally recognized types of offenders:</a:t>
            </a:r>
            <a:endParaRPr lang="en-AU" sz="2200" b="1" dirty="0" smtClean="0">
              <a:latin typeface="Helvetica" pitchFamily="34" charset="0"/>
            </a:endParaRPr>
          </a:p>
          <a:p>
            <a:pPr lvl="2">
              <a:spcBef>
                <a:spcPts val="12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Situational Child Sex Tourist</a:t>
            </a:r>
            <a:endParaRPr lang="en-AU" sz="2200" b="1" dirty="0" smtClean="0">
              <a:latin typeface="Helvetica" pitchFamily="34" charset="0"/>
            </a:endParaRPr>
          </a:p>
          <a:p>
            <a:pPr lvl="2">
              <a:spcBef>
                <a:spcPts val="12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Preferential Child Sex Tourist</a:t>
            </a:r>
            <a:endParaRPr lang="en-AU" sz="2200" b="1" dirty="0" smtClean="0">
              <a:latin typeface="Helvetica" pitchFamily="34" charset="0"/>
            </a:endParaRPr>
          </a:p>
          <a:p>
            <a:pPr lvl="2">
              <a:spcBef>
                <a:spcPts val="12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Pedophile .</a:t>
            </a:r>
          </a:p>
          <a:p>
            <a:pPr marL="0" lvl="2" indent="0" algn="ctr">
              <a:spcBef>
                <a:spcPts val="1200"/>
              </a:spcBef>
              <a:spcAft>
                <a:spcPts val="1200"/>
              </a:spcAft>
              <a:buNone/>
            </a:pPr>
            <a:r>
              <a:rPr lang="en-US" sz="1600" b="1" i="1" dirty="0" smtClean="0">
                <a:latin typeface="Helvetica" pitchFamily="34" charset="0"/>
              </a:rPr>
              <a:t>(see the Glossary at the beginning of the Training Manual </a:t>
            </a:r>
            <a:br>
              <a:rPr lang="en-US" sz="1600" b="1" i="1" dirty="0" smtClean="0">
                <a:latin typeface="Helvetica" pitchFamily="34" charset="0"/>
              </a:rPr>
            </a:br>
            <a:r>
              <a:rPr lang="en-US" sz="1600" b="1" i="1" dirty="0" smtClean="0">
                <a:latin typeface="Helvetica" pitchFamily="34" charset="0"/>
              </a:rPr>
              <a:t>for a description of each offender type)</a:t>
            </a:r>
            <a:endParaRPr lang="en-AU" sz="1600" b="1" i="1" dirty="0" smtClean="0">
              <a:latin typeface="Helvetica" pitchFamily="34" charset="0"/>
            </a:endParaRPr>
          </a:p>
          <a:p>
            <a:pPr>
              <a:spcBef>
                <a:spcPts val="1200"/>
              </a:spcBef>
              <a:spcAft>
                <a:spcPts val="1200"/>
              </a:spcAft>
              <a:buNone/>
            </a:pPr>
            <a:endParaRPr lang="en-AU" sz="2400" b="1" dirty="0" smtClean="0"/>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38</a:t>
            </a:fld>
            <a:endParaRPr lang="en-US" dirty="0"/>
          </a:p>
        </p:txBody>
      </p:sp>
      <p:pic>
        <p:nvPicPr>
          <p:cNvPr id="11266" name="Picture 2" descr="C:\Documents and Settings\maiv\Local Settings\Temporary Internet Files\Content.IE5\XIGBUS4Y\MP900185047[1].jpg"/>
          <p:cNvPicPr>
            <a:picLocks noChangeAspect="1" noChangeArrowheads="1"/>
          </p:cNvPicPr>
          <p:nvPr/>
        </p:nvPicPr>
        <p:blipFill>
          <a:blip r:embed="rId3" cstate="print"/>
          <a:srcRect/>
          <a:stretch>
            <a:fillRect/>
          </a:stretch>
        </p:blipFill>
        <p:spPr bwMode="auto">
          <a:xfrm>
            <a:off x="7286906" y="2780928"/>
            <a:ext cx="1857094" cy="2764904"/>
          </a:xfrm>
          <a:prstGeom prst="rect">
            <a:avLst/>
          </a:prstGeom>
          <a:noFill/>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712788" indent="-712788"/>
            <a:r>
              <a:rPr lang="en-US" sz="2800" b="1" dirty="0" smtClean="0">
                <a:solidFill>
                  <a:srgbClr val="FF6600"/>
                </a:solidFill>
                <a:latin typeface="Helvetica"/>
                <a:cs typeface="Helvetica"/>
              </a:rPr>
              <a:t>1.3	Identify suspicious behaviors that may be exhibited by child sex tourists</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611560" y="1844824"/>
            <a:ext cx="7467600" cy="4237931"/>
          </a:xfrm>
        </p:spPr>
        <p:txBody>
          <a:bodyPr>
            <a:normAutofit/>
          </a:bodyPr>
          <a:lstStyle/>
          <a:p>
            <a:pPr>
              <a:spcBef>
                <a:spcPts val="1200"/>
              </a:spcBef>
              <a:spcAft>
                <a:spcPts val="1200"/>
              </a:spcAft>
              <a:buNone/>
            </a:pPr>
            <a:r>
              <a:rPr lang="en-US" sz="2200" b="1" dirty="0" smtClean="0">
                <a:solidFill>
                  <a:srgbClr val="0000FF"/>
                </a:solidFill>
                <a:latin typeface="Helvetica" pitchFamily="34" charset="0"/>
              </a:rPr>
              <a:t>The Variables for Offending:</a:t>
            </a:r>
          </a:p>
          <a:p>
            <a:pPr lvl="0">
              <a:spcBef>
                <a:spcPts val="1200"/>
              </a:spcBef>
              <a:spcAft>
                <a:spcPts val="1200"/>
              </a:spcAft>
            </a:pPr>
            <a:r>
              <a:rPr lang="en-AU" sz="2200" b="1" dirty="0" smtClean="0">
                <a:latin typeface="Helvetica" pitchFamily="34" charset="0"/>
              </a:rPr>
              <a:t>Refer to the Training Manual for a Comprehensive List.</a:t>
            </a:r>
          </a:p>
          <a:p>
            <a:pPr>
              <a:spcBef>
                <a:spcPts val="1200"/>
              </a:spcBef>
              <a:spcAft>
                <a:spcPts val="1200"/>
              </a:spcAft>
            </a:pPr>
            <a:endParaRPr lang="en-AU" sz="2200" b="1" dirty="0" smtClean="0">
              <a:latin typeface="Helvetica" pitchFamily="34" charset="0"/>
            </a:endParaRPr>
          </a:p>
          <a:p>
            <a:pPr>
              <a:spcBef>
                <a:spcPts val="1200"/>
              </a:spcBef>
              <a:spcAft>
                <a:spcPts val="1200"/>
              </a:spcAft>
            </a:pPr>
            <a:endParaRPr lang="en-AU" sz="2400" b="1" dirty="0" smtClean="0"/>
          </a:p>
          <a:p>
            <a:pPr>
              <a:spcBef>
                <a:spcPts val="1200"/>
              </a:spcBef>
              <a:spcAft>
                <a:spcPts val="1200"/>
              </a:spcAft>
            </a:pPr>
            <a:endParaRPr lang="en-US" sz="2400" dirty="0" smtClean="0"/>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39</a:t>
            </a:fld>
            <a:endParaRPr lang="en-US" dirty="0"/>
          </a:p>
        </p:txBody>
      </p:sp>
      <p:pic>
        <p:nvPicPr>
          <p:cNvPr id="5" name="Picture 4" descr="C:\Documents and Settings\maiv\Local Settings\Temporary Internet Files\Content.IE5\XIGBUS4Y\MP900438678[1].jpg"/>
          <p:cNvPicPr>
            <a:picLocks noChangeAspect="1" noChangeArrowheads="1"/>
          </p:cNvPicPr>
          <p:nvPr/>
        </p:nvPicPr>
        <p:blipFill>
          <a:blip r:embed="rId3" cstate="print"/>
          <a:srcRect/>
          <a:stretch>
            <a:fillRect/>
          </a:stretch>
        </p:blipFill>
        <p:spPr bwMode="auto">
          <a:xfrm>
            <a:off x="6156176" y="2996678"/>
            <a:ext cx="2123328" cy="2121308"/>
          </a:xfrm>
          <a:prstGeom prst="rect">
            <a:avLst/>
          </a:prstGeom>
          <a:noFill/>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712788" indent="-712788"/>
            <a:r>
              <a:rPr lang="en-US" sz="2800" b="1" dirty="0" smtClean="0">
                <a:solidFill>
                  <a:srgbClr val="FF6600"/>
                </a:solidFill>
                <a:latin typeface="Helvetica"/>
                <a:cs typeface="Helvetica"/>
              </a:rPr>
              <a:t>1.3	Identify suspicious behaviors that may be exhibited by child sex tourists</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1200"/>
              </a:spcBef>
              <a:spcAft>
                <a:spcPts val="1200"/>
              </a:spcAft>
              <a:buNone/>
            </a:pPr>
            <a:r>
              <a:rPr lang="en-US" sz="2200" b="1" dirty="0" smtClean="0">
                <a:solidFill>
                  <a:srgbClr val="0000FF"/>
                </a:solidFill>
                <a:latin typeface="Helvetica" pitchFamily="34" charset="0"/>
              </a:rPr>
              <a:t>Offenders Modus Operandi:</a:t>
            </a:r>
            <a:endParaRPr lang="en-AU" sz="2200" b="1" dirty="0" smtClean="0">
              <a:solidFill>
                <a:srgbClr val="0000FF"/>
              </a:solidFill>
              <a:latin typeface="Helvetica" pitchFamily="34" charset="0"/>
            </a:endParaRPr>
          </a:p>
          <a:p>
            <a:pPr>
              <a:spcBef>
                <a:spcPts val="1200"/>
              </a:spcBef>
              <a:spcAft>
                <a:spcPts val="1200"/>
              </a:spcAft>
            </a:pPr>
            <a:r>
              <a:rPr lang="en-US" sz="2200" b="1" dirty="0" smtClean="0">
                <a:latin typeface="Helvetica" pitchFamily="34" charset="0"/>
              </a:rPr>
              <a:t>Refer to the Training Manual for a comprehensive list.</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40</a:t>
            </a:fld>
            <a:endParaRPr lang="en-US" dirty="0"/>
          </a:p>
        </p:txBody>
      </p:sp>
      <p:pic>
        <p:nvPicPr>
          <p:cNvPr id="5" name="Picture 4" descr="C:\Documents and Settings\maiv\Local Settings\Temporary Internet Files\Content.IE5\XIGBUS4Y\MP900438678[1].jpg"/>
          <p:cNvPicPr>
            <a:picLocks noChangeAspect="1" noChangeArrowheads="1"/>
          </p:cNvPicPr>
          <p:nvPr/>
        </p:nvPicPr>
        <p:blipFill>
          <a:blip r:embed="rId3" cstate="print"/>
          <a:srcRect/>
          <a:stretch>
            <a:fillRect/>
          </a:stretch>
        </p:blipFill>
        <p:spPr bwMode="auto">
          <a:xfrm>
            <a:off x="6084374" y="2924944"/>
            <a:ext cx="2195130" cy="2193042"/>
          </a:xfrm>
          <a:prstGeom prst="rect">
            <a:avLst/>
          </a:prstGeom>
          <a:noFill/>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712788" indent="-712788"/>
            <a:r>
              <a:rPr lang="en-US" sz="2800" b="1" dirty="0" smtClean="0">
                <a:solidFill>
                  <a:srgbClr val="FF6600"/>
                </a:solidFill>
                <a:latin typeface="Helvetica"/>
                <a:cs typeface="Helvetica"/>
              </a:rPr>
              <a:t>1.3	Identify suspicious behaviors that may be exhibited by child sex tourists</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solidFill>
                  <a:srgbClr val="0000FF"/>
                </a:solidFill>
                <a:latin typeface="Helvetica" pitchFamily="34" charset="0"/>
              </a:rPr>
              <a:t>Suspicious Behavior that can be Identified by the Hotel and Travel Industries:</a:t>
            </a:r>
            <a:endParaRPr lang="en-AU" sz="2200" b="1" dirty="0" smtClean="0">
              <a:solidFill>
                <a:srgbClr val="0000FF"/>
              </a:solidFill>
              <a:latin typeface="Helvetica" pitchFamily="34" charset="0"/>
            </a:endParaRPr>
          </a:p>
          <a:p>
            <a:pPr>
              <a:spcBef>
                <a:spcPts val="1200"/>
              </a:spcBef>
              <a:spcAft>
                <a:spcPts val="1200"/>
              </a:spcAft>
            </a:pPr>
            <a:r>
              <a:rPr lang="en-US" sz="2200" b="1" dirty="0" smtClean="0">
                <a:latin typeface="Helvetica" pitchFamily="34" charset="0"/>
              </a:rPr>
              <a:t>While there is no stereotypical offender type, approaches to staff, contractors, suppliers and stakeholders of The Hotel and Travel Industries by potential offenders can be counteracted with:</a:t>
            </a:r>
          </a:p>
          <a:p>
            <a:pPr lvl="1">
              <a:spcBef>
                <a:spcPts val="1200"/>
              </a:spcBef>
              <a:spcAft>
                <a:spcPts val="1200"/>
              </a:spcAft>
            </a:pPr>
            <a:r>
              <a:rPr lang="en-US" sz="2200" b="1" dirty="0" smtClean="0">
                <a:latin typeface="Helvetica" pitchFamily="34" charset="0"/>
              </a:rPr>
              <a:t>Child Safe policies and procedures</a:t>
            </a:r>
          </a:p>
          <a:p>
            <a:pPr lvl="1">
              <a:spcBef>
                <a:spcPts val="1200"/>
              </a:spcBef>
              <a:spcAft>
                <a:spcPts val="1200"/>
              </a:spcAft>
            </a:pPr>
            <a:r>
              <a:rPr lang="en-US" sz="2200" b="1" dirty="0" smtClean="0">
                <a:latin typeface="Helvetica" pitchFamily="34" charset="0"/>
              </a:rPr>
              <a:t>staff training</a:t>
            </a:r>
          </a:p>
          <a:p>
            <a:pPr lvl="1">
              <a:spcBef>
                <a:spcPts val="1200"/>
              </a:spcBef>
              <a:spcAft>
                <a:spcPts val="1200"/>
              </a:spcAft>
            </a:pPr>
            <a:r>
              <a:rPr lang="en-US" sz="2200" b="1" dirty="0" smtClean="0">
                <a:latin typeface="Helvetica" pitchFamily="34" charset="0"/>
              </a:rPr>
              <a:t>monitoring and reporting mechanisms.</a:t>
            </a:r>
            <a:endParaRPr lang="en-AU" sz="2200" b="1" dirty="0" smtClean="0">
              <a:latin typeface="Helvetica" pitchFamily="34" charset="0"/>
            </a:endParaRP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41</a:t>
            </a:fld>
            <a:endParaRPr lang="en-US" dirty="0"/>
          </a:p>
        </p:txBody>
      </p:sp>
      <p:pic>
        <p:nvPicPr>
          <p:cNvPr id="5" name="Picture 4" descr="21816_training.jpg"/>
          <p:cNvPicPr>
            <a:picLocks noChangeAspect="1"/>
          </p:cNvPicPr>
          <p:nvPr/>
        </p:nvPicPr>
        <p:blipFill>
          <a:blip r:embed="rId3" cstate="print"/>
          <a:stretch>
            <a:fillRect/>
          </a:stretch>
        </p:blipFill>
        <p:spPr>
          <a:xfrm>
            <a:off x="6804248" y="4149080"/>
            <a:ext cx="2004814" cy="1496928"/>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712788" indent="-712788"/>
            <a:r>
              <a:rPr lang="en-US" sz="2800" b="1" dirty="0" smtClean="0">
                <a:solidFill>
                  <a:srgbClr val="FF6600"/>
                </a:solidFill>
                <a:latin typeface="Helvetica"/>
                <a:cs typeface="Helvetica"/>
              </a:rPr>
              <a:t>1.3	Identify suspicious behaviors that may be exhibited by child sex tourists</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1200"/>
              </a:spcBef>
              <a:spcAft>
                <a:spcPts val="1200"/>
              </a:spcAft>
              <a:buNone/>
            </a:pPr>
            <a:r>
              <a:rPr lang="en-US" sz="2200" b="1" dirty="0" smtClean="0">
                <a:solidFill>
                  <a:srgbClr val="0000FF"/>
                </a:solidFill>
                <a:latin typeface="Helvetica" pitchFamily="34" charset="0"/>
              </a:rPr>
              <a:t>Suspicious Behavior that can be Identified by the Hotel and Travel Industries:</a:t>
            </a:r>
            <a:endParaRPr lang="en-AU" sz="2200" b="1" dirty="0" smtClean="0">
              <a:solidFill>
                <a:srgbClr val="0000FF"/>
              </a:solidFill>
              <a:latin typeface="Helvetica" pitchFamily="34" charset="0"/>
            </a:endParaRPr>
          </a:p>
          <a:p>
            <a:pPr>
              <a:spcBef>
                <a:spcPts val="1200"/>
              </a:spcBef>
              <a:spcAft>
                <a:spcPts val="1200"/>
              </a:spcAft>
            </a:pPr>
            <a:r>
              <a:rPr lang="en-US" sz="2200" b="1" dirty="0" smtClean="0">
                <a:latin typeface="Helvetica" pitchFamily="34" charset="0"/>
              </a:rPr>
              <a:t>Remember that Reception Staff, Bartenders, Housekeeping Staff, Waiters and Waitresses, Porters, Doormen, Security, Tour Guides, Information Staff, Child Activity Staff, Child Minders, Swimming Pool and Beach Lifeguards, Theme Park Staff, Bus Drivers and Taxi Drivers are generally the people that those looking to procure children for sex will come into contact with.</a:t>
            </a:r>
            <a:endParaRPr lang="en-AU" sz="2200" b="1" dirty="0" smtClean="0">
              <a:latin typeface="Helvetica" pitchFamily="34" charset="0"/>
            </a:endParaRPr>
          </a:p>
          <a:p>
            <a:pPr>
              <a:spcBef>
                <a:spcPts val="1200"/>
              </a:spcBef>
              <a:spcAft>
                <a:spcPts val="1200"/>
              </a:spcAft>
              <a:buNone/>
            </a:pPr>
            <a:endParaRPr lang="en-AU" sz="2200" b="1" dirty="0" smtClean="0">
              <a:latin typeface="Helvetica" pitchFamily="34" charset="0"/>
            </a:endParaRP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42</a:t>
            </a:fld>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712788" indent="-712788"/>
            <a:r>
              <a:rPr lang="en-US" sz="2800" b="1" dirty="0" smtClean="0">
                <a:solidFill>
                  <a:srgbClr val="FF6600"/>
                </a:solidFill>
                <a:latin typeface="Helvetica"/>
                <a:cs typeface="Helvetica"/>
              </a:rPr>
              <a:t>1.3	Identify suspicious behaviors that may be exhibited by child sex tourists</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611560" y="1772816"/>
            <a:ext cx="7467600" cy="4309939"/>
          </a:xfrm>
        </p:spPr>
        <p:txBody>
          <a:bodyPr>
            <a:normAutofit/>
          </a:bodyPr>
          <a:lstStyle/>
          <a:p>
            <a:pPr>
              <a:spcBef>
                <a:spcPts val="1200"/>
              </a:spcBef>
              <a:spcAft>
                <a:spcPts val="1200"/>
              </a:spcAft>
              <a:buNone/>
            </a:pPr>
            <a:r>
              <a:rPr lang="en-AU" sz="2200" b="1" dirty="0" smtClean="0">
                <a:solidFill>
                  <a:srgbClr val="0000FF"/>
                </a:solidFill>
                <a:latin typeface="Helvetica" pitchFamily="34" charset="0"/>
              </a:rPr>
              <a:t>Opportunities for the Hotel and Travel Industries:</a:t>
            </a:r>
          </a:p>
          <a:p>
            <a:pPr>
              <a:spcBef>
                <a:spcPts val="1200"/>
              </a:spcBef>
              <a:spcAft>
                <a:spcPts val="1200"/>
              </a:spcAft>
            </a:pPr>
            <a:r>
              <a:rPr lang="en-US" sz="2200" b="1" dirty="0" smtClean="0">
                <a:latin typeface="Helvetica" pitchFamily="34" charset="0"/>
              </a:rPr>
              <a:t>There is a real opportunity here for the Hotel and Travel Industries which are Child Safe businesses to stop the offending at its source and before it can progress any further and damage vulnerable children, communities and businesses.</a:t>
            </a:r>
            <a:endParaRPr lang="en-AU" sz="2200" b="1" dirty="0" smtClean="0">
              <a:latin typeface="Helvetica" pitchFamily="34" charset="0"/>
            </a:endParaRPr>
          </a:p>
          <a:p>
            <a:pPr>
              <a:spcBef>
                <a:spcPts val="1200"/>
              </a:spcBef>
              <a:spcAft>
                <a:spcPts val="1200"/>
              </a:spcAft>
              <a:buNone/>
            </a:pPr>
            <a:endParaRPr lang="en-AU" sz="2200" b="1" dirty="0" smtClean="0">
              <a:latin typeface="Helvetica" pitchFamily="34" charset="0"/>
            </a:endParaRP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43</a:t>
            </a:fld>
            <a:endParaRPr lang="en-US" dirty="0"/>
          </a:p>
        </p:txBody>
      </p:sp>
      <p:pic>
        <p:nvPicPr>
          <p:cNvPr id="12290" name="Picture 2" descr="C:\Documents and Settings\maiv\Local Settings\Temporary Internet Files\Content.IE5\XIGBUS4Y\MP900402960[1].jpg"/>
          <p:cNvPicPr>
            <a:picLocks noChangeAspect="1" noChangeArrowheads="1"/>
          </p:cNvPicPr>
          <p:nvPr/>
        </p:nvPicPr>
        <p:blipFill>
          <a:blip r:embed="rId3" cstate="print"/>
          <a:srcRect/>
          <a:stretch>
            <a:fillRect/>
          </a:stretch>
        </p:blipFill>
        <p:spPr bwMode="auto">
          <a:xfrm>
            <a:off x="5868144" y="4221088"/>
            <a:ext cx="2708920" cy="1805947"/>
          </a:xfrm>
          <a:prstGeom prst="rect">
            <a:avLst/>
          </a:prstGeom>
          <a:noFill/>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76672"/>
            <a:ext cx="8208912" cy="2232248"/>
          </a:xfrm>
        </p:spPr>
        <p:txBody>
          <a:bodyPr>
            <a:noAutofit/>
          </a:bodyPr>
          <a:lstStyle/>
          <a:p>
            <a:pPr marL="712788" indent="-712788"/>
            <a:r>
              <a:rPr lang="en-US" sz="2800" b="1" dirty="0" smtClean="0">
                <a:solidFill>
                  <a:srgbClr val="FF6600"/>
                </a:solidFill>
                <a:latin typeface="Helvetica"/>
                <a:cs typeface="Helvetica"/>
              </a:rPr>
              <a:t>2.1	Locate and become familiar with the United Nations Convention on the Rights (UNCRC) of the Child and the main UN Articles relating to the rights of all children to be safe from sexual exploitation </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457200" y="2852936"/>
            <a:ext cx="8075240" cy="3501827"/>
          </a:xfrm>
        </p:spPr>
        <p:txBody>
          <a:bodyPr>
            <a:normAutofit lnSpcReduction="10000"/>
          </a:bodyPr>
          <a:lstStyle/>
          <a:p>
            <a:pPr>
              <a:spcBef>
                <a:spcPts val="1200"/>
              </a:spcBef>
              <a:spcAft>
                <a:spcPts val="1200"/>
              </a:spcAft>
            </a:pPr>
            <a:r>
              <a:rPr lang="en-US" sz="2200" b="1" dirty="0" smtClean="0">
                <a:latin typeface="Helvetica" pitchFamily="34" charset="0"/>
              </a:rPr>
              <a:t>The UNCRC is an all-encompassing Child Rights document that has been enshrined in law by many of the 191 ratifying countries</a:t>
            </a:r>
          </a:p>
          <a:p>
            <a:pPr>
              <a:spcBef>
                <a:spcPts val="1200"/>
              </a:spcBef>
              <a:spcAft>
                <a:spcPts val="1200"/>
              </a:spcAft>
            </a:pPr>
            <a:r>
              <a:rPr lang="en-US" sz="2200" b="1" dirty="0" smtClean="0">
                <a:latin typeface="Helvetica" pitchFamily="34" charset="0"/>
              </a:rPr>
              <a:t>This means that Child Protection is a legal obligation in most countries of the world</a:t>
            </a:r>
          </a:p>
          <a:p>
            <a:pPr>
              <a:spcBef>
                <a:spcPts val="1200"/>
              </a:spcBef>
              <a:spcAft>
                <a:spcPts val="1200"/>
              </a:spcAft>
            </a:pPr>
            <a:r>
              <a:rPr lang="en-US" sz="2200" b="1" dirty="0" smtClean="0">
                <a:latin typeface="Helvetica" pitchFamily="34" charset="0"/>
              </a:rPr>
              <a:t>Even more so it is a moral obligation to protect children not only by governments but by citizens, residents, businesses and employees. In fact everyone has this obligation.</a:t>
            </a:r>
            <a:endParaRPr lang="en-AU"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44</a:t>
            </a:fld>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1800200"/>
          </a:xfrm>
        </p:spPr>
        <p:txBody>
          <a:bodyPr>
            <a:noAutofit/>
          </a:bodyPr>
          <a:lstStyle/>
          <a:p>
            <a:pPr marL="712788" indent="-712788"/>
            <a:r>
              <a:rPr lang="en-US" sz="2400" b="1" dirty="0" smtClean="0">
                <a:solidFill>
                  <a:srgbClr val="FF6600"/>
                </a:solidFill>
                <a:latin typeface="Helvetica"/>
                <a:cs typeface="Helvetica"/>
              </a:rPr>
              <a:t>2.1	Locate and become familiar with the United Nations Convention on the Rights (UNCRC) of the Child and the main UN Articles relating to the rights of all children to be safe from sexual exploitation </a:t>
            </a:r>
            <a:endParaRPr lang="en-AU" sz="2400" b="1" dirty="0" smtClean="0">
              <a:solidFill>
                <a:srgbClr val="FF6600"/>
              </a:solidFill>
              <a:latin typeface="Helvetica"/>
              <a:cs typeface="Helvetica"/>
            </a:endParaRPr>
          </a:p>
        </p:txBody>
      </p:sp>
      <p:sp>
        <p:nvSpPr>
          <p:cNvPr id="3" name="Content Placeholder 2"/>
          <p:cNvSpPr>
            <a:spLocks noGrp="1"/>
          </p:cNvSpPr>
          <p:nvPr>
            <p:ph idx="1"/>
          </p:nvPr>
        </p:nvSpPr>
        <p:spPr>
          <a:xfrm>
            <a:off x="457200" y="2348880"/>
            <a:ext cx="8147248" cy="4176464"/>
          </a:xfrm>
        </p:spPr>
        <p:txBody>
          <a:bodyPr>
            <a:normAutofit fontScale="92500" lnSpcReduction="10000"/>
          </a:bodyPr>
          <a:lstStyle/>
          <a:p>
            <a:pPr marL="0" indent="0">
              <a:spcBef>
                <a:spcPts val="600"/>
              </a:spcBef>
              <a:spcAft>
                <a:spcPts val="600"/>
              </a:spcAft>
              <a:buNone/>
            </a:pPr>
            <a:r>
              <a:rPr lang="en-US" sz="2200" b="1" dirty="0" smtClean="0">
                <a:solidFill>
                  <a:srgbClr val="0000FF"/>
                </a:solidFill>
                <a:latin typeface="Helvetica" pitchFamily="34" charset="0"/>
              </a:rPr>
              <a:t>Understanding the UNCRC Articles and Interpreting them for the Hotel and Travel Industries:</a:t>
            </a:r>
          </a:p>
          <a:p>
            <a:pPr>
              <a:spcBef>
                <a:spcPts val="600"/>
              </a:spcBef>
              <a:spcAft>
                <a:spcPts val="600"/>
              </a:spcAft>
            </a:pPr>
            <a:r>
              <a:rPr lang="en-US" sz="2200" b="1" dirty="0" smtClean="0">
                <a:latin typeface="Helvetica" pitchFamily="34" charset="0"/>
              </a:rPr>
              <a:t>The Hotel and Travel Industries can take important steps to adhere to the UNCRC:</a:t>
            </a:r>
          </a:p>
          <a:p>
            <a:pPr lvl="1">
              <a:spcBef>
                <a:spcPts val="600"/>
              </a:spcBef>
              <a:spcAft>
                <a:spcPts val="600"/>
              </a:spcAft>
            </a:pPr>
            <a:r>
              <a:rPr lang="en-US" sz="2200" b="1" dirty="0" smtClean="0">
                <a:latin typeface="Helvetica" pitchFamily="34" charset="0"/>
              </a:rPr>
              <a:t>through their Child Safe business operations </a:t>
            </a:r>
          </a:p>
          <a:p>
            <a:pPr lvl="1">
              <a:spcBef>
                <a:spcPts val="600"/>
              </a:spcBef>
              <a:spcAft>
                <a:spcPts val="600"/>
              </a:spcAft>
            </a:pPr>
            <a:r>
              <a:rPr lang="en-US" sz="2200" b="1" dirty="0" smtClean="0">
                <a:latin typeface="Helvetica" pitchFamily="34" charset="0"/>
              </a:rPr>
              <a:t>policies, procedures and training</a:t>
            </a:r>
          </a:p>
          <a:p>
            <a:pPr lvl="1">
              <a:spcBef>
                <a:spcPts val="600"/>
              </a:spcBef>
              <a:spcAft>
                <a:spcPts val="600"/>
              </a:spcAft>
            </a:pPr>
            <a:r>
              <a:rPr lang="en-US" sz="2200" b="1" dirty="0" smtClean="0">
                <a:latin typeface="Helvetica" pitchFamily="34" charset="0"/>
              </a:rPr>
              <a:t>monitoring and reporting functions</a:t>
            </a:r>
          </a:p>
          <a:p>
            <a:pPr lvl="1">
              <a:spcBef>
                <a:spcPts val="600"/>
              </a:spcBef>
              <a:spcAft>
                <a:spcPts val="600"/>
              </a:spcAft>
            </a:pPr>
            <a:r>
              <a:rPr lang="en-US" sz="2200" b="1" dirty="0" smtClean="0">
                <a:latin typeface="Helvetica" pitchFamily="34" charset="0"/>
              </a:rPr>
              <a:t>by working with local child protection agencies such as ECPAT, their local or regional NTA or NTO and internationally recognized NGOs to incorporate the above articles into their business practices.</a:t>
            </a:r>
            <a:endParaRPr lang="en-AU" sz="2200" b="1" dirty="0" smtClean="0">
              <a:latin typeface="Helvetica" pitchFamily="34" charset="0"/>
            </a:endParaRPr>
          </a:p>
          <a:p>
            <a:endParaRPr lang="en-AU" sz="2400" dirty="0" smtClean="0"/>
          </a:p>
          <a:p>
            <a:pPr>
              <a:buNone/>
            </a:pPr>
            <a:endParaRPr lang="en-AU" sz="24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45</a:t>
            </a:fld>
            <a:endParaRPr 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76672"/>
            <a:ext cx="7848872" cy="1143000"/>
          </a:xfrm>
        </p:spPr>
        <p:txBody>
          <a:bodyPr>
            <a:noAutofit/>
          </a:bodyPr>
          <a:lstStyle/>
          <a:p>
            <a:pPr marL="712788" indent="-712788"/>
            <a:r>
              <a:rPr lang="en-US" sz="2800" b="1" dirty="0" smtClean="0">
                <a:solidFill>
                  <a:srgbClr val="FF6600"/>
                </a:solidFill>
                <a:latin typeface="Helvetica"/>
                <a:cs typeface="Helvetica"/>
              </a:rPr>
              <a:t>2.2	Examine national, regional and international initiatives to prevent the sexual exploitation of children by tourists</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609600" y="1905000"/>
            <a:ext cx="7467600" cy="4525963"/>
          </a:xfrm>
        </p:spPr>
        <p:txBody>
          <a:bodyPr>
            <a:normAutofit/>
          </a:bodyPr>
          <a:lstStyle/>
          <a:p>
            <a:pPr>
              <a:spcBef>
                <a:spcPts val="1200"/>
              </a:spcBef>
              <a:spcAft>
                <a:spcPts val="1200"/>
              </a:spcAft>
            </a:pPr>
            <a:r>
              <a:rPr lang="en-US" sz="2200" b="1" dirty="0" smtClean="0">
                <a:latin typeface="Helvetica" pitchFamily="34" charset="0"/>
              </a:rPr>
              <a:t>There has been a huge effort over the last 20 years by governments, NGOs and various International Tourism and Hotel Organizations to work towards ending of CST</a:t>
            </a:r>
            <a:endParaRPr lang="en-AU" sz="2200" b="1" dirty="0" smtClean="0">
              <a:latin typeface="Helvetica" pitchFamily="34" charset="0"/>
            </a:endParaRPr>
          </a:p>
          <a:p>
            <a:pPr>
              <a:spcBef>
                <a:spcPts val="1200"/>
              </a:spcBef>
              <a:spcAft>
                <a:spcPts val="1200"/>
              </a:spcAft>
            </a:pPr>
            <a:r>
              <a:rPr lang="en-US" sz="2200" b="1" dirty="0" smtClean="0">
                <a:latin typeface="Helvetica" pitchFamily="34" charset="0"/>
              </a:rPr>
              <a:t>In many cases these efforts have been successful, with often an industry wide adoption of policies and procedures that educate, train, provide assistance and clear steps for an organization or business to follow to be considered ‘Child Safe’.</a:t>
            </a:r>
            <a:endParaRPr lang="en-AU" sz="2200" b="1" dirty="0" smtClean="0">
              <a:latin typeface="Helvetica" pitchFamily="34" charset="0"/>
            </a:endParaRP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46</a:t>
            </a:fld>
            <a:endParaRPr 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76672"/>
            <a:ext cx="7848872" cy="998984"/>
          </a:xfrm>
        </p:spPr>
        <p:txBody>
          <a:bodyPr>
            <a:noAutofit/>
          </a:bodyPr>
          <a:lstStyle/>
          <a:p>
            <a:pPr marL="712788" indent="-712788"/>
            <a:r>
              <a:rPr lang="en-US" sz="2800" b="1" dirty="0" smtClean="0">
                <a:solidFill>
                  <a:srgbClr val="FF6600"/>
                </a:solidFill>
                <a:latin typeface="Helvetica"/>
                <a:cs typeface="Helvetica"/>
              </a:rPr>
              <a:t>2.2	Examine national, regional and international initiatives to prevent the sexual exploitation of children by tourists</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609600" y="1905000"/>
            <a:ext cx="7467600" cy="4525963"/>
          </a:xfrm>
        </p:spPr>
        <p:txBody>
          <a:bodyPr>
            <a:normAutofit/>
          </a:bodyPr>
          <a:lstStyle/>
          <a:p>
            <a:pPr>
              <a:spcBef>
                <a:spcPts val="1200"/>
              </a:spcBef>
              <a:spcAft>
                <a:spcPts val="1200"/>
              </a:spcAft>
            </a:pPr>
            <a:r>
              <a:rPr lang="en-US" sz="2200" b="1" dirty="0" smtClean="0">
                <a:latin typeface="Helvetica" pitchFamily="34" charset="0"/>
              </a:rPr>
              <a:t>NGOs such as ECPAT and Childwise have worked tirelessly to develop training programs for Hotel and Tourism Industry operators and stakeholders, which are of great relevance and assistance to businesses to become and remain ‘Child Safe’.</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47</a:t>
            </a:fld>
            <a:endParaRPr lang="en-US" dirty="0"/>
          </a:p>
        </p:txBody>
      </p:sp>
      <p:pic>
        <p:nvPicPr>
          <p:cNvPr id="5" name="Picture 4" descr="Writing summary.jpg"/>
          <p:cNvPicPr>
            <a:picLocks noChangeAspect="1"/>
          </p:cNvPicPr>
          <p:nvPr/>
        </p:nvPicPr>
        <p:blipFill>
          <a:blip r:embed="rId3" cstate="print"/>
          <a:stretch>
            <a:fillRect/>
          </a:stretch>
        </p:blipFill>
        <p:spPr>
          <a:xfrm>
            <a:off x="5868144" y="3933056"/>
            <a:ext cx="2545988" cy="1689338"/>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76672"/>
            <a:ext cx="7848872" cy="1368152"/>
          </a:xfrm>
        </p:spPr>
        <p:txBody>
          <a:bodyPr>
            <a:noAutofit/>
          </a:bodyPr>
          <a:lstStyle/>
          <a:p>
            <a:pPr marL="712788" indent="-712788"/>
            <a:r>
              <a:rPr lang="en-US" sz="2800" b="1" dirty="0" smtClean="0">
                <a:solidFill>
                  <a:srgbClr val="FF6600"/>
                </a:solidFill>
                <a:latin typeface="Helvetica"/>
                <a:cs typeface="Helvetica"/>
              </a:rPr>
              <a:t>2.2	Examine national, regional and international initiatives to prevent the sexual exploitation of children by tourists</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609600" y="2132856"/>
            <a:ext cx="7467600" cy="4298107"/>
          </a:xfrm>
        </p:spPr>
        <p:txBody>
          <a:bodyPr>
            <a:normAutofit/>
          </a:bodyPr>
          <a:lstStyle/>
          <a:p>
            <a:pPr>
              <a:spcBef>
                <a:spcPts val="1200"/>
              </a:spcBef>
              <a:spcAft>
                <a:spcPts val="1200"/>
              </a:spcAft>
              <a:buNone/>
            </a:pPr>
            <a:r>
              <a:rPr lang="en-US" sz="2200" b="1" dirty="0" smtClean="0">
                <a:solidFill>
                  <a:srgbClr val="0000FF"/>
                </a:solidFill>
                <a:latin typeface="Helvetica" pitchFamily="34" charset="0"/>
              </a:rPr>
              <a:t>Extraterritorial Laws:</a:t>
            </a:r>
          </a:p>
          <a:p>
            <a:pPr>
              <a:spcBef>
                <a:spcPts val="1200"/>
              </a:spcBef>
              <a:spcAft>
                <a:spcPts val="1200"/>
              </a:spcAft>
            </a:pPr>
            <a:r>
              <a:rPr lang="en-US" sz="2200" b="1" dirty="0" smtClean="0">
                <a:latin typeface="Helvetica" pitchFamily="34" charset="0"/>
              </a:rPr>
              <a:t>The development of Extraterritorial Laws in over  40 countries is also acting as a deterrent, although to date prosecutions have been few and the laws are somewhat difficult to implement as countries must work together and form </a:t>
            </a:r>
            <a:br>
              <a:rPr lang="en-US" sz="2200" b="1" dirty="0" smtClean="0">
                <a:latin typeface="Helvetica" pitchFamily="34" charset="0"/>
              </a:rPr>
            </a:br>
            <a:r>
              <a:rPr lang="en-US" sz="2200" b="1" dirty="0" smtClean="0">
                <a:latin typeface="Helvetica" pitchFamily="34" charset="0"/>
              </a:rPr>
              <a:t>agreements to make them work </a:t>
            </a:r>
            <a:br>
              <a:rPr lang="en-US" sz="2200" b="1" dirty="0" smtClean="0">
                <a:latin typeface="Helvetica" pitchFamily="34" charset="0"/>
              </a:rPr>
            </a:br>
            <a:r>
              <a:rPr lang="en-US" sz="2200" b="1" dirty="0" smtClean="0">
                <a:latin typeface="Helvetica" pitchFamily="34" charset="0"/>
              </a:rPr>
              <a:t>successfully.</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48</a:t>
            </a:fld>
            <a:endParaRPr lang="en-US" dirty="0"/>
          </a:p>
        </p:txBody>
      </p:sp>
      <p:pic>
        <p:nvPicPr>
          <p:cNvPr id="13314" name="Picture 2" descr="C:\Documents and Settings\maiv\Local Settings\Temporary Internet Files\Content.IE5\XIGBUS4Y\MP900178584[1].jpg"/>
          <p:cNvPicPr>
            <a:picLocks noChangeAspect="1" noChangeArrowheads="1"/>
          </p:cNvPicPr>
          <p:nvPr/>
        </p:nvPicPr>
        <p:blipFill>
          <a:blip r:embed="rId3" cstate="print"/>
          <a:srcRect/>
          <a:stretch>
            <a:fillRect/>
          </a:stretch>
        </p:blipFill>
        <p:spPr bwMode="auto">
          <a:xfrm>
            <a:off x="6012160" y="4293096"/>
            <a:ext cx="2721496" cy="1805259"/>
          </a:xfrm>
          <a:prstGeom prst="rect">
            <a:avLst/>
          </a:prstGeom>
          <a:noFill/>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76672"/>
            <a:ext cx="7848872" cy="1152128"/>
          </a:xfrm>
        </p:spPr>
        <p:txBody>
          <a:bodyPr>
            <a:noAutofit/>
          </a:bodyPr>
          <a:lstStyle/>
          <a:p>
            <a:pPr marL="712788" indent="-712788"/>
            <a:r>
              <a:rPr lang="en-US" sz="2800" b="1" dirty="0" smtClean="0">
                <a:solidFill>
                  <a:srgbClr val="FF6600"/>
                </a:solidFill>
                <a:latin typeface="Helvetica"/>
                <a:cs typeface="Helvetica"/>
              </a:rPr>
              <a:t>2.2	Examine national, regional and international initiatives to prevent the sexual exploitation of children by tourists</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533400" y="1916832"/>
            <a:ext cx="7855024" cy="4361731"/>
          </a:xfrm>
        </p:spPr>
        <p:txBody>
          <a:bodyPr>
            <a:normAutofit/>
          </a:bodyPr>
          <a:lstStyle/>
          <a:p>
            <a:pPr>
              <a:spcBef>
                <a:spcPts val="1200"/>
              </a:spcBef>
              <a:spcAft>
                <a:spcPts val="1200"/>
              </a:spcAft>
              <a:buNone/>
            </a:pPr>
            <a:r>
              <a:rPr lang="en-US" sz="2200" b="1" dirty="0" smtClean="0">
                <a:solidFill>
                  <a:srgbClr val="0000FF"/>
                </a:solidFill>
                <a:latin typeface="Helvetica" pitchFamily="34" charset="0"/>
              </a:rPr>
              <a:t>Problems:</a:t>
            </a:r>
          </a:p>
          <a:p>
            <a:pPr>
              <a:spcBef>
                <a:spcPts val="1200"/>
              </a:spcBef>
              <a:spcAft>
                <a:spcPts val="1200"/>
              </a:spcAft>
            </a:pPr>
            <a:r>
              <a:rPr lang="en-US" sz="2200" b="1" dirty="0" smtClean="0">
                <a:latin typeface="Helvetica" pitchFamily="34" charset="0"/>
              </a:rPr>
              <a:t>What must be recognized is that while many laws and organizational policies exist, if local law enforcement is weak, under-resourced, corrupt or </a:t>
            </a:r>
            <a:br>
              <a:rPr lang="en-US" sz="2200" b="1" dirty="0" smtClean="0">
                <a:latin typeface="Helvetica" pitchFamily="34" charset="0"/>
              </a:rPr>
            </a:br>
            <a:r>
              <a:rPr lang="en-US" sz="2200" b="1" dirty="0" smtClean="0">
                <a:latin typeface="Helvetica" pitchFamily="34" charset="0"/>
              </a:rPr>
              <a:t>unwilling to act then no amount of </a:t>
            </a:r>
            <a:br>
              <a:rPr lang="en-US" sz="2200" b="1" dirty="0" smtClean="0">
                <a:latin typeface="Helvetica" pitchFamily="34" charset="0"/>
              </a:rPr>
            </a:br>
            <a:r>
              <a:rPr lang="en-US" sz="2200" b="1" dirty="0" smtClean="0">
                <a:latin typeface="Helvetica" pitchFamily="34" charset="0"/>
              </a:rPr>
              <a:t>international agreements and laws </a:t>
            </a:r>
            <a:br>
              <a:rPr lang="en-US" sz="2200" b="1" dirty="0" smtClean="0">
                <a:latin typeface="Helvetica" pitchFamily="34" charset="0"/>
              </a:rPr>
            </a:br>
            <a:r>
              <a:rPr lang="en-US" sz="2200" b="1" dirty="0" smtClean="0">
                <a:latin typeface="Helvetica" pitchFamily="34" charset="0"/>
              </a:rPr>
              <a:t>will end the CSEC.</a:t>
            </a:r>
            <a:endParaRPr lang="en-AU" sz="2200" b="1" dirty="0" smtClean="0">
              <a:latin typeface="Helvetica" pitchFamily="34" charset="0"/>
            </a:endParaRP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49</a:t>
            </a:fld>
            <a:endParaRPr lang="en-US" dirty="0"/>
          </a:p>
        </p:txBody>
      </p:sp>
      <p:pic>
        <p:nvPicPr>
          <p:cNvPr id="14338" name="Picture 2" descr="C:\Documents and Settings\maiv\Local Settings\Temporary Internet Files\Content.IE5\ZXOPI4XJ\MP900289753[1].jpg"/>
          <p:cNvPicPr>
            <a:picLocks noChangeAspect="1" noChangeArrowheads="1"/>
          </p:cNvPicPr>
          <p:nvPr/>
        </p:nvPicPr>
        <p:blipFill>
          <a:blip r:embed="rId3" cstate="print"/>
          <a:srcRect/>
          <a:stretch>
            <a:fillRect/>
          </a:stretch>
        </p:blipFill>
        <p:spPr bwMode="auto">
          <a:xfrm>
            <a:off x="7517635" y="3356992"/>
            <a:ext cx="1626365" cy="2433464"/>
          </a:xfrm>
          <a:prstGeom prst="rect">
            <a:avLst/>
          </a:prstGeom>
          <a:noFill/>
        </p:spPr>
      </p:pic>
      <p:pic>
        <p:nvPicPr>
          <p:cNvPr id="7" name="Picture 2" descr="C:\Documents and Settings\maiv\Local Settings\Temporary Internet Files\Content.IE5\XIGBUS4Y\MP900289005[1].jpg"/>
          <p:cNvPicPr>
            <a:picLocks noChangeAspect="1" noChangeArrowheads="1"/>
          </p:cNvPicPr>
          <p:nvPr/>
        </p:nvPicPr>
        <p:blipFill>
          <a:blip r:embed="rId4" cstate="print"/>
          <a:srcRect/>
          <a:stretch>
            <a:fillRect/>
          </a:stretch>
        </p:blipFill>
        <p:spPr bwMode="auto">
          <a:xfrm>
            <a:off x="5364088" y="4817554"/>
            <a:ext cx="2433464" cy="1597975"/>
          </a:xfrm>
          <a:prstGeom prst="rect">
            <a:avLst/>
          </a:prstGeom>
          <a:noFill/>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76672"/>
            <a:ext cx="8003232" cy="1152128"/>
          </a:xfrm>
        </p:spPr>
        <p:txBody>
          <a:bodyPr>
            <a:noAutofit/>
          </a:bodyPr>
          <a:lstStyle/>
          <a:p>
            <a:pPr marL="712788" indent="-712788"/>
            <a:r>
              <a:rPr lang="en-US" sz="2800" b="1" dirty="0" smtClean="0">
                <a:solidFill>
                  <a:srgbClr val="FF6600"/>
                </a:solidFill>
                <a:latin typeface="Helvetica"/>
                <a:cs typeface="Helvetica"/>
              </a:rPr>
              <a:t>2.2	Examine national, regional and international initiatives to prevent the sexual exploitation of children by tourists</a:t>
            </a:r>
            <a:endParaRPr lang="en-US" sz="2800" b="1" dirty="0"/>
          </a:p>
        </p:txBody>
      </p:sp>
      <p:sp>
        <p:nvSpPr>
          <p:cNvPr id="3" name="Content Placeholder 2"/>
          <p:cNvSpPr>
            <a:spLocks noGrp="1"/>
          </p:cNvSpPr>
          <p:nvPr>
            <p:ph idx="1"/>
          </p:nvPr>
        </p:nvSpPr>
        <p:spPr>
          <a:xfrm>
            <a:off x="457200" y="1916832"/>
            <a:ext cx="7859216" cy="4361731"/>
          </a:xfrm>
        </p:spPr>
        <p:txBody>
          <a:bodyPr>
            <a:normAutofit/>
          </a:bodyPr>
          <a:lstStyle/>
          <a:p>
            <a:pPr>
              <a:spcBef>
                <a:spcPts val="1200"/>
              </a:spcBef>
              <a:spcAft>
                <a:spcPts val="1200"/>
              </a:spcAft>
              <a:buNone/>
            </a:pPr>
            <a:r>
              <a:rPr lang="en-US" sz="2200" b="1" dirty="0" smtClean="0">
                <a:solidFill>
                  <a:srgbClr val="0000FF"/>
                </a:solidFill>
                <a:latin typeface="Helvetica" pitchFamily="34" charset="0"/>
              </a:rPr>
              <a:t>Why the Hotel and Travel Industries Must Act:</a:t>
            </a:r>
            <a:endParaRPr lang="en-AU" sz="2200" b="1" dirty="0" smtClean="0">
              <a:solidFill>
                <a:srgbClr val="0000FF"/>
              </a:solidFill>
              <a:latin typeface="Helvetica" pitchFamily="34" charset="0"/>
            </a:endParaRPr>
          </a:p>
          <a:p>
            <a:pPr>
              <a:spcBef>
                <a:spcPts val="1200"/>
              </a:spcBef>
              <a:spcAft>
                <a:spcPts val="1200"/>
              </a:spcAft>
            </a:pPr>
            <a:r>
              <a:rPr lang="en-US" sz="2200" b="1" dirty="0" smtClean="0">
                <a:latin typeface="Helvetica" pitchFamily="34" charset="0"/>
              </a:rPr>
              <a:t>Hotel and Travel Industry businesses must act to stop the CSEC as they are at the forefront of where CST is occurring on a physical level. By taking a strong business stance against the CSEC, the Hotel and Travel Industry can have a huge impact on helping to eliminate the CSEC from tourism destinations.</a:t>
            </a:r>
          </a:p>
          <a:p>
            <a:pPr>
              <a:spcBef>
                <a:spcPts val="1200"/>
              </a:spcBef>
              <a:spcAft>
                <a:spcPts val="1200"/>
              </a:spcAft>
              <a:buNone/>
            </a:pPr>
            <a:endParaRPr lang="en-US" sz="2200" b="1" dirty="0">
              <a:latin typeface="Helvetica" pitchFamily="34" charset="0"/>
            </a:endParaRPr>
          </a:p>
        </p:txBody>
      </p:sp>
      <p:sp>
        <p:nvSpPr>
          <p:cNvPr id="4" name="Slide Number Placeholder 3"/>
          <p:cNvSpPr>
            <a:spLocks noGrp="1"/>
          </p:cNvSpPr>
          <p:nvPr>
            <p:ph type="sldNum" sz="quarter" idx="12"/>
          </p:nvPr>
        </p:nvSpPr>
        <p:spPr/>
        <p:txBody>
          <a:bodyPr/>
          <a:lstStyle/>
          <a:p>
            <a:fld id="{90BDF71C-F485-43AE-8825-5070AF1EA8C9}" type="slidenum">
              <a:rPr lang="en-US" smtClean="0"/>
              <a:pPr/>
              <a:t>50</a:t>
            </a:fld>
            <a:endParaRPr lang="en-US" dirty="0"/>
          </a:p>
        </p:txBody>
      </p:sp>
      <p:pic>
        <p:nvPicPr>
          <p:cNvPr id="15362" name="Picture 2" descr="C:\Documents and Settings\maiv\Local Settings\Temporary Internet Files\Content.IE5\XIGBUS4Y\MP900395954[1].jpg"/>
          <p:cNvPicPr>
            <a:picLocks noChangeAspect="1" noChangeArrowheads="1"/>
          </p:cNvPicPr>
          <p:nvPr/>
        </p:nvPicPr>
        <p:blipFill>
          <a:blip r:embed="rId3" cstate="print"/>
          <a:srcRect/>
          <a:stretch>
            <a:fillRect/>
          </a:stretch>
        </p:blipFill>
        <p:spPr bwMode="auto">
          <a:xfrm>
            <a:off x="3635896" y="4797152"/>
            <a:ext cx="1692792" cy="1692792"/>
          </a:xfrm>
          <a:prstGeom prst="rect">
            <a:avLst/>
          </a:prstGeom>
          <a:noFill/>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76672"/>
            <a:ext cx="8003232" cy="1224136"/>
          </a:xfrm>
        </p:spPr>
        <p:txBody>
          <a:bodyPr>
            <a:noAutofit/>
          </a:bodyPr>
          <a:lstStyle/>
          <a:p>
            <a:pPr marL="712788" indent="-712788"/>
            <a:r>
              <a:rPr lang="en-US" sz="2800" b="1" dirty="0" smtClean="0">
                <a:solidFill>
                  <a:srgbClr val="FF6600"/>
                </a:solidFill>
                <a:latin typeface="Helvetica"/>
                <a:cs typeface="Helvetica"/>
              </a:rPr>
              <a:t>2.2	Examine national, regional and international initiatives to prevent the sexual exploitation of children by tourists</a:t>
            </a:r>
            <a:endParaRPr lang="en-US" sz="2800" b="1" dirty="0"/>
          </a:p>
        </p:txBody>
      </p:sp>
      <p:sp>
        <p:nvSpPr>
          <p:cNvPr id="3" name="Content Placeholder 2"/>
          <p:cNvSpPr>
            <a:spLocks noGrp="1"/>
          </p:cNvSpPr>
          <p:nvPr>
            <p:ph idx="1"/>
          </p:nvPr>
        </p:nvSpPr>
        <p:spPr>
          <a:xfrm>
            <a:off x="457200" y="2060848"/>
            <a:ext cx="7467600" cy="4217715"/>
          </a:xfrm>
        </p:spPr>
        <p:txBody>
          <a:bodyPr>
            <a:normAutofit/>
          </a:bodyPr>
          <a:lstStyle/>
          <a:p>
            <a:pPr>
              <a:spcBef>
                <a:spcPts val="1200"/>
              </a:spcBef>
              <a:spcAft>
                <a:spcPts val="1200"/>
              </a:spcAft>
              <a:buNone/>
            </a:pPr>
            <a:r>
              <a:rPr lang="en-US" sz="2200" b="1" dirty="0" smtClean="0">
                <a:solidFill>
                  <a:srgbClr val="0000FF"/>
                </a:solidFill>
                <a:latin typeface="Helvetica" pitchFamily="34" charset="0"/>
              </a:rPr>
              <a:t>Why the Hotel and Travel Industries Must Act:</a:t>
            </a:r>
            <a:endParaRPr lang="en-AU" sz="2200" b="1" dirty="0" smtClean="0">
              <a:solidFill>
                <a:srgbClr val="0000FF"/>
              </a:solidFill>
              <a:latin typeface="Helvetica" pitchFamily="34" charset="0"/>
            </a:endParaRPr>
          </a:p>
          <a:p>
            <a:pPr>
              <a:spcBef>
                <a:spcPts val="1200"/>
              </a:spcBef>
              <a:spcAft>
                <a:spcPts val="1200"/>
              </a:spcAft>
            </a:pPr>
            <a:r>
              <a:rPr lang="en-US" sz="2200" b="1" dirty="0" smtClean="0">
                <a:latin typeface="Helvetica" pitchFamily="34" charset="0"/>
              </a:rPr>
              <a:t>If offenders have nowhere to go to offend or places to procure vulnerable children this will dramatically decrease the current levels of CST.</a:t>
            </a:r>
            <a:endParaRPr lang="en-AU" sz="2200" b="1" dirty="0" smtClean="0">
              <a:latin typeface="Helvetica" pitchFamily="34" charset="0"/>
            </a:endParaRPr>
          </a:p>
          <a:p>
            <a:pPr>
              <a:spcBef>
                <a:spcPts val="1200"/>
              </a:spcBef>
              <a:spcAft>
                <a:spcPts val="1200"/>
              </a:spcAft>
            </a:pPr>
            <a:endParaRPr lang="en-US" sz="2200" b="1" dirty="0">
              <a:latin typeface="Helvetica" pitchFamily="34" charset="0"/>
            </a:endParaRPr>
          </a:p>
        </p:txBody>
      </p:sp>
      <p:sp>
        <p:nvSpPr>
          <p:cNvPr id="4" name="Slide Number Placeholder 3"/>
          <p:cNvSpPr>
            <a:spLocks noGrp="1"/>
          </p:cNvSpPr>
          <p:nvPr>
            <p:ph type="sldNum" sz="quarter" idx="12"/>
          </p:nvPr>
        </p:nvSpPr>
        <p:spPr/>
        <p:txBody>
          <a:bodyPr/>
          <a:lstStyle/>
          <a:p>
            <a:fld id="{90BDF71C-F485-43AE-8825-5070AF1EA8C9}" type="slidenum">
              <a:rPr lang="en-US" smtClean="0"/>
              <a:pPr/>
              <a:t>51</a:t>
            </a:fld>
            <a:endParaRPr lang="en-US" dirty="0"/>
          </a:p>
        </p:txBody>
      </p:sp>
      <p:pic>
        <p:nvPicPr>
          <p:cNvPr id="16386" name="Picture 2" descr="C:\Documents and Settings\maiv\Local Settings\Temporary Internet Files\Content.IE5\A8BAWIUD\MP900316905[1].jpg"/>
          <p:cNvPicPr>
            <a:picLocks noChangeAspect="1" noChangeArrowheads="1"/>
          </p:cNvPicPr>
          <p:nvPr/>
        </p:nvPicPr>
        <p:blipFill>
          <a:blip r:embed="rId3" cstate="print"/>
          <a:srcRect/>
          <a:stretch>
            <a:fillRect/>
          </a:stretch>
        </p:blipFill>
        <p:spPr bwMode="auto">
          <a:xfrm>
            <a:off x="5940152" y="4077072"/>
            <a:ext cx="2577480" cy="1714024"/>
          </a:xfrm>
          <a:prstGeom prst="rect">
            <a:avLst/>
          </a:prstGeom>
          <a:noFill/>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992888" cy="1224136"/>
          </a:xfrm>
        </p:spPr>
        <p:txBody>
          <a:bodyPr>
            <a:noAutofit/>
          </a:bodyPr>
          <a:lstStyle/>
          <a:p>
            <a:pPr marL="712788" indent="-712788"/>
            <a:r>
              <a:rPr lang="en-US" sz="2800" b="1" dirty="0" smtClean="0">
                <a:solidFill>
                  <a:srgbClr val="FF6600"/>
                </a:solidFill>
                <a:latin typeface="Helvetica"/>
                <a:cs typeface="Helvetica"/>
              </a:rPr>
              <a:t>2.2	Examine national, regional and international initiatives to prevent the sexual exploitation of children by tourists</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611560" y="1916832"/>
            <a:ext cx="7776864" cy="4253955"/>
          </a:xfrm>
        </p:spPr>
        <p:txBody>
          <a:bodyPr>
            <a:normAutofit/>
          </a:bodyPr>
          <a:lstStyle/>
          <a:p>
            <a:pPr>
              <a:spcBef>
                <a:spcPts val="1200"/>
              </a:spcBef>
              <a:spcAft>
                <a:spcPts val="1200"/>
              </a:spcAft>
              <a:buNone/>
            </a:pPr>
            <a:r>
              <a:rPr lang="en-US" sz="2200" b="1" dirty="0" smtClean="0">
                <a:solidFill>
                  <a:srgbClr val="0000FF"/>
                </a:solidFill>
                <a:latin typeface="Helvetica" pitchFamily="34" charset="0"/>
              </a:rPr>
              <a:t>Local, National and Regional Support:</a:t>
            </a:r>
            <a:endParaRPr lang="en-AU" sz="2200" b="1" dirty="0" smtClean="0">
              <a:solidFill>
                <a:srgbClr val="0000FF"/>
              </a:solidFill>
              <a:latin typeface="Helvetica" pitchFamily="34" charset="0"/>
            </a:endParaRPr>
          </a:p>
          <a:p>
            <a:pPr>
              <a:spcBef>
                <a:spcPts val="1200"/>
              </a:spcBef>
              <a:spcAft>
                <a:spcPts val="1200"/>
              </a:spcAft>
            </a:pPr>
            <a:r>
              <a:rPr lang="en-US" sz="2200" b="1" dirty="0" smtClean="0">
                <a:latin typeface="Helvetica" pitchFamily="34" charset="0"/>
              </a:rPr>
              <a:t>Refer to the Training Manual for a comprehensive breakdown of current Training Programs and Support Mechanisms.</a:t>
            </a:r>
            <a:endParaRPr lang="en-AU" sz="2200" b="1" dirty="0" smtClean="0">
              <a:latin typeface="Helvetica" pitchFamily="34" charset="0"/>
            </a:endParaRP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52</a:t>
            </a:fld>
            <a:endParaRPr lang="en-US" dirty="0"/>
          </a:p>
        </p:txBody>
      </p:sp>
      <p:pic>
        <p:nvPicPr>
          <p:cNvPr id="17411" name="Picture 3" descr="C:\Documents and Settings\maiv\Local Settings\Temporary Internet Files\Content.IE5\A8BAWIUD\MP900178594[1].jpg"/>
          <p:cNvPicPr>
            <a:picLocks noChangeAspect="1" noChangeArrowheads="1"/>
          </p:cNvPicPr>
          <p:nvPr/>
        </p:nvPicPr>
        <p:blipFill>
          <a:blip r:embed="rId3" cstate="print"/>
          <a:srcRect/>
          <a:stretch>
            <a:fillRect/>
          </a:stretch>
        </p:blipFill>
        <p:spPr bwMode="auto">
          <a:xfrm>
            <a:off x="6156176" y="4293096"/>
            <a:ext cx="2217440" cy="1478294"/>
          </a:xfrm>
          <a:prstGeom prst="rect">
            <a:avLst/>
          </a:prstGeom>
          <a:noFill/>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76672"/>
            <a:ext cx="7848872" cy="1152128"/>
          </a:xfrm>
        </p:spPr>
        <p:txBody>
          <a:bodyPr>
            <a:noAutofit/>
          </a:bodyPr>
          <a:lstStyle/>
          <a:p>
            <a:pPr marL="712788" indent="-712788"/>
            <a:r>
              <a:rPr lang="en-US" sz="2800" b="1" dirty="0" smtClean="0">
                <a:solidFill>
                  <a:srgbClr val="FF6600"/>
                </a:solidFill>
                <a:latin typeface="Helvetica"/>
                <a:cs typeface="Helvetica"/>
              </a:rPr>
              <a:t>2.2	Examine national, regional and international initiatives to prevent the sexual exploitation of children by tourists</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611560" y="1988840"/>
            <a:ext cx="7467600" cy="4093915"/>
          </a:xfrm>
        </p:spPr>
        <p:txBody>
          <a:bodyPr>
            <a:normAutofit lnSpcReduction="10000"/>
          </a:bodyPr>
          <a:lstStyle/>
          <a:p>
            <a:pPr>
              <a:spcBef>
                <a:spcPts val="1200"/>
              </a:spcBef>
              <a:spcAft>
                <a:spcPts val="1200"/>
              </a:spcAft>
            </a:pPr>
            <a:r>
              <a:rPr lang="en-US" sz="2200" b="1" dirty="0" smtClean="0">
                <a:latin typeface="Helvetica" pitchFamily="34" charset="0"/>
              </a:rPr>
              <a:t>Childwise and ECPAT have produced all sorts of awareness raising items such as t-shirts, videos, brochures, stickers, travel wallets, signage for taxis, hotels, buses, trains and other forms of local transportation</a:t>
            </a:r>
            <a:endParaRPr lang="en-AU" sz="2200" b="1" dirty="0" smtClean="0">
              <a:latin typeface="Helvetica" pitchFamily="34" charset="0"/>
            </a:endParaRPr>
          </a:p>
          <a:p>
            <a:pPr>
              <a:spcBef>
                <a:spcPts val="1200"/>
              </a:spcBef>
              <a:spcAft>
                <a:spcPts val="1200"/>
              </a:spcAft>
            </a:pPr>
            <a:r>
              <a:rPr lang="en-US" sz="2200" b="1" dirty="0" smtClean="0">
                <a:latin typeface="Helvetica" pitchFamily="34" charset="0"/>
              </a:rPr>
              <a:t>Additionally, ECPAT has many freely available publications on its website that are in multiple languages and are of invaluable assistance in the development of a Child Safe business. They can be found at: </a:t>
            </a:r>
            <a:r>
              <a:rPr lang="en-US" sz="2200" b="1" dirty="0" smtClean="0">
                <a:latin typeface="Helvetica" pitchFamily="34" charset="0"/>
                <a:hlinkClick r:id="rId3"/>
              </a:rPr>
              <a:t>http://www.ecpat.net/EI/EI_publications.asp</a:t>
            </a:r>
            <a:r>
              <a:rPr lang="en-US" sz="2200" b="1" dirty="0" smtClean="0">
                <a:latin typeface="Helvetica" pitchFamily="34" charset="0"/>
              </a:rPr>
              <a:t>.</a:t>
            </a:r>
            <a:endParaRPr lang="en-AU"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53</a:t>
            </a:fld>
            <a:endParaRPr lang="en-US"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548680"/>
            <a:ext cx="7848872" cy="1080120"/>
          </a:xfrm>
        </p:spPr>
        <p:txBody>
          <a:bodyPr>
            <a:noAutofit/>
          </a:bodyPr>
          <a:lstStyle/>
          <a:p>
            <a:pPr marL="712788" indent="-712788"/>
            <a:r>
              <a:rPr lang="en-US" sz="2800" b="1" dirty="0" smtClean="0">
                <a:solidFill>
                  <a:srgbClr val="FF6600"/>
                </a:solidFill>
                <a:latin typeface="Helvetica"/>
                <a:cs typeface="Helvetica"/>
              </a:rPr>
              <a:t>2.2	Examine national, regional and international initiatives to prevent the sexual exploitation of children by tourists</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611560" y="2132856"/>
            <a:ext cx="7467600" cy="3949899"/>
          </a:xfrm>
        </p:spPr>
        <p:txBody>
          <a:bodyPr>
            <a:normAutofit/>
          </a:bodyPr>
          <a:lstStyle/>
          <a:p>
            <a:pPr marL="0" indent="0">
              <a:spcBef>
                <a:spcPts val="1200"/>
              </a:spcBef>
              <a:spcAft>
                <a:spcPts val="1200"/>
              </a:spcAft>
              <a:buNone/>
            </a:pPr>
            <a:r>
              <a:rPr lang="en-US" sz="2200" b="1" dirty="0" smtClean="0">
                <a:solidFill>
                  <a:srgbClr val="0000FF"/>
                </a:solidFill>
                <a:latin typeface="Helvetica" pitchFamily="34" charset="0"/>
              </a:rPr>
              <a:t>What Can the Hotel and Travel Industries Do to Assist in Awareness Raising?</a:t>
            </a:r>
            <a:endParaRPr lang="en-AU" sz="2200" b="1" dirty="0" smtClean="0">
              <a:solidFill>
                <a:srgbClr val="0000FF"/>
              </a:solidFill>
              <a:latin typeface="Helvetica" pitchFamily="34" charset="0"/>
            </a:endParaRPr>
          </a:p>
          <a:p>
            <a:pPr>
              <a:spcBef>
                <a:spcPts val="1200"/>
              </a:spcBef>
              <a:spcAft>
                <a:spcPts val="1200"/>
              </a:spcAft>
            </a:pPr>
            <a:r>
              <a:rPr lang="en-AU" sz="2200" b="1" dirty="0" smtClean="0">
                <a:latin typeface="Helvetica" pitchFamily="34" charset="0"/>
              </a:rPr>
              <a:t>Refer to the Training Manual and go </a:t>
            </a:r>
            <a:br>
              <a:rPr lang="en-AU" sz="2200" b="1" dirty="0" smtClean="0">
                <a:latin typeface="Helvetica" pitchFamily="34" charset="0"/>
              </a:rPr>
            </a:br>
            <a:r>
              <a:rPr lang="en-AU" sz="2200" b="1" dirty="0" smtClean="0">
                <a:latin typeface="Helvetica" pitchFamily="34" charset="0"/>
              </a:rPr>
              <a:t>through each point as a class.</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54</a:t>
            </a:fld>
            <a:endParaRPr lang="en-US" dirty="0"/>
          </a:p>
        </p:txBody>
      </p:sp>
      <p:pic>
        <p:nvPicPr>
          <p:cNvPr id="5123" name="Picture 3" descr="C:\Documents and Settings\maiv\Local Settings\Temporary Internet Files\Content.IE5\XBB4NDLH\MP900439419[1].jpg"/>
          <p:cNvPicPr>
            <a:picLocks noChangeAspect="1" noChangeArrowheads="1"/>
          </p:cNvPicPr>
          <p:nvPr/>
        </p:nvPicPr>
        <p:blipFill>
          <a:blip r:embed="rId3" cstate="print"/>
          <a:srcRect/>
          <a:stretch>
            <a:fillRect/>
          </a:stretch>
        </p:blipFill>
        <p:spPr bwMode="auto">
          <a:xfrm>
            <a:off x="6588224" y="2636912"/>
            <a:ext cx="1612423" cy="2408312"/>
          </a:xfrm>
          <a:prstGeom prst="rect">
            <a:avLst/>
          </a:prstGeom>
          <a:noFill/>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76672"/>
            <a:ext cx="7704856" cy="998984"/>
          </a:xfrm>
        </p:spPr>
        <p:txBody>
          <a:bodyPr>
            <a:normAutofit fontScale="90000"/>
          </a:bodyPr>
          <a:lstStyle/>
          <a:p>
            <a:pPr marL="712788" indent="-712788"/>
            <a:r>
              <a:rPr lang="en-US" sz="3600" b="1" dirty="0" smtClean="0">
                <a:solidFill>
                  <a:srgbClr val="FF6600"/>
                </a:solidFill>
                <a:latin typeface="Helvetica"/>
                <a:cs typeface="Helvetica"/>
              </a:rPr>
              <a:t>2.3	Identify reporting mechanisms if suspicious behavior is observed</a:t>
            </a:r>
            <a:endParaRPr lang="en-US" sz="3600" b="1" dirty="0" smtClean="0">
              <a:latin typeface="Helvetica" pitchFamily="34" charset="0"/>
            </a:endParaRPr>
          </a:p>
        </p:txBody>
      </p:sp>
      <p:sp>
        <p:nvSpPr>
          <p:cNvPr id="3" name="Content Placeholder 2"/>
          <p:cNvSpPr>
            <a:spLocks noGrp="1"/>
          </p:cNvSpPr>
          <p:nvPr>
            <p:ph idx="1"/>
          </p:nvPr>
        </p:nvSpPr>
        <p:spPr>
          <a:xfrm>
            <a:off x="611560" y="1844824"/>
            <a:ext cx="7467600" cy="4237931"/>
          </a:xfrm>
        </p:spPr>
        <p:txBody>
          <a:bodyPr>
            <a:normAutofit/>
          </a:bodyPr>
          <a:lstStyle/>
          <a:p>
            <a:pPr>
              <a:spcBef>
                <a:spcPts val="1200"/>
              </a:spcBef>
              <a:spcAft>
                <a:spcPts val="1200"/>
              </a:spcAft>
            </a:pPr>
            <a:r>
              <a:rPr lang="en-US" sz="2200" b="1" dirty="0" smtClean="0">
                <a:latin typeface="Helvetica" pitchFamily="34" charset="0"/>
              </a:rPr>
              <a:t>Perhaps the biggest disincentive to child sex offenders, is the fear of being reported, caught, prosecuted and jailed</a:t>
            </a:r>
            <a:endParaRPr lang="en-AU" sz="2200" b="1" dirty="0" smtClean="0">
              <a:latin typeface="Helvetica" pitchFamily="34" charset="0"/>
            </a:endParaRPr>
          </a:p>
          <a:p>
            <a:pPr>
              <a:spcBef>
                <a:spcPts val="1200"/>
              </a:spcBef>
              <a:spcAft>
                <a:spcPts val="1200"/>
              </a:spcAft>
            </a:pPr>
            <a:r>
              <a:rPr lang="en-US" sz="2200" b="1" dirty="0" smtClean="0">
                <a:latin typeface="Helvetica" pitchFamily="34" charset="0"/>
              </a:rPr>
              <a:t>At the moment we know most child sex offenders act with impunity either with the direct support of others or the indirect support of those </a:t>
            </a:r>
            <a:br>
              <a:rPr lang="en-US" sz="2200" b="1" dirty="0" smtClean="0">
                <a:latin typeface="Helvetica" pitchFamily="34" charset="0"/>
              </a:rPr>
            </a:br>
            <a:r>
              <a:rPr lang="en-US" sz="2200" b="1" dirty="0" smtClean="0">
                <a:latin typeface="Helvetica" pitchFamily="34" charset="0"/>
              </a:rPr>
              <a:t>that turn away from what is happening </a:t>
            </a:r>
            <a:br>
              <a:rPr lang="en-US" sz="2200" b="1" dirty="0" smtClean="0">
                <a:latin typeface="Helvetica" pitchFamily="34" charset="0"/>
              </a:rPr>
            </a:br>
            <a:r>
              <a:rPr lang="en-US" sz="2200" b="1" dirty="0" smtClean="0">
                <a:latin typeface="Helvetica" pitchFamily="34" charset="0"/>
              </a:rPr>
              <a:t>to maintain their business earnings and </a:t>
            </a:r>
            <a:br>
              <a:rPr lang="en-US" sz="2200" b="1" dirty="0" smtClean="0">
                <a:latin typeface="Helvetica" pitchFamily="34" charset="0"/>
              </a:rPr>
            </a:br>
            <a:r>
              <a:rPr lang="en-US" sz="2200" b="1" dirty="0" smtClean="0">
                <a:latin typeface="Helvetica" pitchFamily="34" charset="0"/>
              </a:rPr>
              <a:t>customer base.</a:t>
            </a:r>
            <a:endParaRPr lang="en-AU" sz="2200" b="1" dirty="0" smtClean="0">
              <a:latin typeface="Helvetica" pitchFamily="34" charset="0"/>
            </a:endParaRP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55</a:t>
            </a:fld>
            <a:endParaRPr lang="en-US" dirty="0"/>
          </a:p>
        </p:txBody>
      </p:sp>
      <p:pic>
        <p:nvPicPr>
          <p:cNvPr id="5" name="Picture 4" descr="phoned_woman_i.jpg"/>
          <p:cNvPicPr>
            <a:picLocks noChangeAspect="1"/>
          </p:cNvPicPr>
          <p:nvPr/>
        </p:nvPicPr>
        <p:blipFill>
          <a:blip r:embed="rId3" cstate="print"/>
          <a:stretch>
            <a:fillRect/>
          </a:stretch>
        </p:blipFill>
        <p:spPr>
          <a:xfrm>
            <a:off x="6660232" y="4149080"/>
            <a:ext cx="2281436" cy="1711077"/>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548680"/>
            <a:ext cx="7467600" cy="926976"/>
          </a:xfrm>
        </p:spPr>
        <p:txBody>
          <a:bodyPr>
            <a:noAutofit/>
          </a:bodyPr>
          <a:lstStyle/>
          <a:p>
            <a:pPr marL="712788" indent="-712788"/>
            <a:r>
              <a:rPr lang="en-US" sz="2800" b="1" dirty="0" smtClean="0">
                <a:solidFill>
                  <a:srgbClr val="FF6600"/>
                </a:solidFill>
                <a:latin typeface="Helvetica"/>
                <a:cs typeface="Helvetica"/>
              </a:rPr>
              <a:t>2.3	Identify reporting mechanisms if suspicious behavior is observed</a:t>
            </a:r>
            <a:endParaRPr lang="en-US" sz="2800" dirty="0" smtClean="0">
              <a:latin typeface="Helvetica" pitchFamily="34" charset="0"/>
            </a:endParaRPr>
          </a:p>
        </p:txBody>
      </p:sp>
      <p:sp>
        <p:nvSpPr>
          <p:cNvPr id="3" name="Content Placeholder 2"/>
          <p:cNvSpPr>
            <a:spLocks noGrp="1"/>
          </p:cNvSpPr>
          <p:nvPr>
            <p:ph idx="1"/>
          </p:nvPr>
        </p:nvSpPr>
        <p:spPr>
          <a:xfrm>
            <a:off x="611560" y="1844824"/>
            <a:ext cx="7467600" cy="4237931"/>
          </a:xfrm>
        </p:spPr>
        <p:txBody>
          <a:bodyPr>
            <a:normAutofit/>
          </a:bodyPr>
          <a:lstStyle/>
          <a:p>
            <a:pPr>
              <a:spcBef>
                <a:spcPts val="1200"/>
              </a:spcBef>
              <a:spcAft>
                <a:spcPts val="1200"/>
              </a:spcAft>
            </a:pPr>
            <a:r>
              <a:rPr lang="en-US" sz="2200" b="1" dirty="0" smtClean="0">
                <a:latin typeface="Helvetica" pitchFamily="34" charset="0"/>
              </a:rPr>
              <a:t>There is also the general disbelief that this kind of thing is actually happening and that there are people out there who do this</a:t>
            </a:r>
            <a:endParaRPr lang="en-AU" sz="2200" b="1" dirty="0" smtClean="0">
              <a:latin typeface="Helvetica" pitchFamily="34" charset="0"/>
            </a:endParaRPr>
          </a:p>
          <a:p>
            <a:pPr>
              <a:spcBef>
                <a:spcPts val="1200"/>
              </a:spcBef>
              <a:spcAft>
                <a:spcPts val="1200"/>
              </a:spcAft>
            </a:pPr>
            <a:r>
              <a:rPr lang="en-US" sz="2200" b="1" dirty="0" smtClean="0">
                <a:latin typeface="Helvetica" pitchFamily="34" charset="0"/>
              </a:rPr>
              <a:t>Child Sex Tourism is a reality and is growing larger</a:t>
            </a:r>
            <a:endParaRPr lang="en-AU" sz="2200" b="1" dirty="0" smtClean="0">
              <a:latin typeface="Helvetica" pitchFamily="34" charset="0"/>
            </a:endParaRPr>
          </a:p>
          <a:p>
            <a:pPr>
              <a:spcBef>
                <a:spcPts val="1200"/>
              </a:spcBef>
              <a:spcAft>
                <a:spcPts val="1200"/>
              </a:spcAft>
            </a:pPr>
            <a:r>
              <a:rPr lang="en-US" sz="2200" b="1" dirty="0" smtClean="0">
                <a:latin typeface="Helvetica" pitchFamily="34" charset="0"/>
              </a:rPr>
              <a:t>For the Hotel and Travel Industries to be </a:t>
            </a:r>
            <a:br>
              <a:rPr lang="en-US" sz="2200" b="1" dirty="0" smtClean="0">
                <a:latin typeface="Helvetica" pitchFamily="34" charset="0"/>
              </a:rPr>
            </a:br>
            <a:r>
              <a:rPr lang="en-US" sz="2200" b="1" dirty="0" smtClean="0">
                <a:latin typeface="Helvetica" pitchFamily="34" charset="0"/>
              </a:rPr>
              <a:t>Child Safe, they must realize that Child </a:t>
            </a:r>
            <a:br>
              <a:rPr lang="en-US" sz="2200" b="1" dirty="0" smtClean="0">
                <a:latin typeface="Helvetica" pitchFamily="34" charset="0"/>
              </a:rPr>
            </a:br>
            <a:r>
              <a:rPr lang="en-US" sz="2200" b="1" dirty="0" smtClean="0">
                <a:latin typeface="Helvetica" pitchFamily="34" charset="0"/>
              </a:rPr>
              <a:t>Sex Tourism is real and damaging to </a:t>
            </a:r>
            <a:br>
              <a:rPr lang="en-US" sz="2200" b="1" dirty="0" smtClean="0">
                <a:latin typeface="Helvetica" pitchFamily="34" charset="0"/>
              </a:rPr>
            </a:br>
            <a:r>
              <a:rPr lang="en-US" sz="2200" b="1" dirty="0" smtClean="0">
                <a:latin typeface="Helvetica" pitchFamily="34" charset="0"/>
              </a:rPr>
              <a:t>children, communities and businesses.</a:t>
            </a:r>
            <a:endParaRPr lang="en-AU" sz="2200" b="1" dirty="0" smtClean="0">
              <a:latin typeface="Helvetica" pitchFamily="34" charset="0"/>
            </a:endParaRP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56</a:t>
            </a:fld>
            <a:endParaRPr lang="en-US" dirty="0"/>
          </a:p>
        </p:txBody>
      </p:sp>
      <p:pic>
        <p:nvPicPr>
          <p:cNvPr id="5" name="Picture 4" descr="lost-and-found sign.jpg"/>
          <p:cNvPicPr>
            <a:picLocks noChangeAspect="1"/>
          </p:cNvPicPr>
          <p:nvPr/>
        </p:nvPicPr>
        <p:blipFill>
          <a:blip r:embed="rId3" cstate="print"/>
          <a:stretch>
            <a:fillRect/>
          </a:stretch>
        </p:blipFill>
        <p:spPr>
          <a:xfrm>
            <a:off x="6732240" y="3861048"/>
            <a:ext cx="1849388" cy="1849388"/>
          </a:xfrm>
          <a:prstGeom prst="rect">
            <a:avLst/>
          </a:prstGeom>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pPr marL="712788" indent="-712788"/>
            <a:r>
              <a:rPr lang="en-US" sz="3600" b="1" dirty="0" smtClean="0">
                <a:solidFill>
                  <a:srgbClr val="FF6600"/>
                </a:solidFill>
                <a:latin typeface="Helvetica"/>
                <a:cs typeface="Helvetica"/>
              </a:rPr>
              <a:t>2.3	Identify reporting mechanisms if suspicious behavior is observed</a:t>
            </a:r>
            <a:endParaRPr lang="en-US" sz="3600" b="1" dirty="0" smtClean="0">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a:spcBef>
                <a:spcPts val="1200"/>
              </a:spcBef>
              <a:spcAft>
                <a:spcPts val="1200"/>
              </a:spcAft>
              <a:buNone/>
            </a:pPr>
            <a:r>
              <a:rPr lang="en-US" sz="2200" b="1" dirty="0" smtClean="0">
                <a:solidFill>
                  <a:srgbClr val="0000FF"/>
                </a:solidFill>
                <a:latin typeface="Helvetica" pitchFamily="34" charset="0"/>
              </a:rPr>
              <a:t>Accepting the Facts of CST:</a:t>
            </a:r>
          </a:p>
          <a:p>
            <a:pPr>
              <a:spcBef>
                <a:spcPts val="1200"/>
              </a:spcBef>
              <a:spcAft>
                <a:spcPts val="1200"/>
              </a:spcAft>
            </a:pPr>
            <a:r>
              <a:rPr lang="en-US" sz="2200" b="1" dirty="0" smtClean="0">
                <a:latin typeface="Helvetica" pitchFamily="34" charset="0"/>
              </a:rPr>
              <a:t>With this recognition comes the realization that we are all responsible for the elimination of CST</a:t>
            </a:r>
          </a:p>
          <a:p>
            <a:pPr>
              <a:spcBef>
                <a:spcPts val="1200"/>
              </a:spcBef>
              <a:spcAft>
                <a:spcPts val="1200"/>
              </a:spcAft>
            </a:pPr>
            <a:r>
              <a:rPr lang="en-US" sz="2200" b="1" dirty="0" smtClean="0">
                <a:latin typeface="Helvetica" pitchFamily="34" charset="0"/>
              </a:rPr>
              <a:t>Therefore, the Hotel and Travel Industries </a:t>
            </a:r>
            <a:br>
              <a:rPr lang="en-US" sz="2200" b="1" dirty="0" smtClean="0">
                <a:latin typeface="Helvetica" pitchFamily="34" charset="0"/>
              </a:rPr>
            </a:br>
            <a:r>
              <a:rPr lang="en-US" sz="2200" b="1" dirty="0" smtClean="0">
                <a:latin typeface="Helvetica" pitchFamily="34" charset="0"/>
              </a:rPr>
              <a:t>can play a vital part in stopping CST and </a:t>
            </a:r>
            <a:br>
              <a:rPr lang="en-US" sz="2200" b="1" dirty="0" smtClean="0">
                <a:latin typeface="Helvetica" pitchFamily="34" charset="0"/>
              </a:rPr>
            </a:br>
            <a:r>
              <a:rPr lang="en-US" sz="2200" b="1" dirty="0" smtClean="0">
                <a:latin typeface="Helvetica" pitchFamily="34" charset="0"/>
              </a:rPr>
              <a:t>the CSEC.</a:t>
            </a:r>
            <a:endParaRPr lang="en-AU" sz="2200" b="1" dirty="0" smtClean="0">
              <a:latin typeface="Helvetica" pitchFamily="34" charset="0"/>
            </a:endParaRP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57</a:t>
            </a:fld>
            <a:endParaRPr lang="en-US" dirty="0"/>
          </a:p>
        </p:txBody>
      </p:sp>
      <p:pic>
        <p:nvPicPr>
          <p:cNvPr id="5" name="Picture 4" descr="iStock_000002364439Medium.jpg"/>
          <p:cNvPicPr>
            <a:picLocks noChangeAspect="1"/>
          </p:cNvPicPr>
          <p:nvPr/>
        </p:nvPicPr>
        <p:blipFill>
          <a:blip r:embed="rId3" cstate="print"/>
          <a:stretch>
            <a:fillRect/>
          </a:stretch>
        </p:blipFill>
        <p:spPr>
          <a:xfrm>
            <a:off x="7232314" y="3068960"/>
            <a:ext cx="1911686" cy="2874296"/>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pPr marL="712788" indent="-712788"/>
            <a:r>
              <a:rPr lang="en-US" sz="3600" b="1" dirty="0" smtClean="0">
                <a:solidFill>
                  <a:srgbClr val="FF6600"/>
                </a:solidFill>
                <a:latin typeface="Helvetica"/>
                <a:cs typeface="Helvetica"/>
              </a:rPr>
              <a:t>2.3	Identify reporting mechanisms if suspicious behavior is observed</a:t>
            </a:r>
            <a:endParaRPr lang="en-US" sz="3600" b="1" dirty="0" smtClean="0">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0" indent="0">
              <a:spcBef>
                <a:spcPts val="1200"/>
              </a:spcBef>
              <a:spcAft>
                <a:spcPts val="1200"/>
              </a:spcAft>
              <a:buNone/>
            </a:pPr>
            <a:r>
              <a:rPr lang="en-US" sz="2200" b="1" dirty="0" smtClean="0">
                <a:solidFill>
                  <a:srgbClr val="0000FF"/>
                </a:solidFill>
                <a:latin typeface="Helvetica" pitchFamily="34" charset="0"/>
              </a:rPr>
              <a:t>What Happens Even if There is a Child Safe Industry and Abuse Still Occurs?</a:t>
            </a:r>
            <a:endParaRPr lang="en-AU" sz="2200" b="1" dirty="0" smtClean="0">
              <a:solidFill>
                <a:srgbClr val="0000FF"/>
              </a:solidFill>
              <a:latin typeface="Helvetica" pitchFamily="34" charset="0"/>
            </a:endParaRPr>
          </a:p>
          <a:p>
            <a:pPr>
              <a:spcBef>
                <a:spcPts val="1200"/>
              </a:spcBef>
              <a:spcAft>
                <a:spcPts val="1200"/>
              </a:spcAft>
            </a:pPr>
            <a:r>
              <a:rPr lang="en-US" sz="2200" b="1" dirty="0" smtClean="0">
                <a:latin typeface="Helvetica" pitchFamily="34" charset="0"/>
              </a:rPr>
              <a:t>If policies, procedures, staff training and networking with other businesses fails to stop an offender, the next step is to report offenders directly to the relevant authorities and Child Protection Agencies that can act </a:t>
            </a:r>
            <a:br>
              <a:rPr lang="en-US" sz="2200" b="1" dirty="0" smtClean="0">
                <a:latin typeface="Helvetica" pitchFamily="34" charset="0"/>
              </a:rPr>
            </a:br>
            <a:r>
              <a:rPr lang="en-US" sz="2200" b="1" dirty="0" smtClean="0">
                <a:latin typeface="Helvetica" pitchFamily="34" charset="0"/>
              </a:rPr>
              <a:t>on your behalf.</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58</a:t>
            </a:fld>
            <a:endParaRPr lang="en-US" dirty="0"/>
          </a:p>
        </p:txBody>
      </p:sp>
      <p:pic>
        <p:nvPicPr>
          <p:cNvPr id="4098" name="Picture 2" descr="C:\Documents and Settings\maiv\Local Settings\Temporary Internet Files\Content.IE5\XIGBUS4Y\MP900400849[1].jpg"/>
          <p:cNvPicPr>
            <a:picLocks noChangeAspect="1" noChangeArrowheads="1"/>
          </p:cNvPicPr>
          <p:nvPr/>
        </p:nvPicPr>
        <p:blipFill>
          <a:blip r:embed="rId3" cstate="print"/>
          <a:srcRect/>
          <a:stretch>
            <a:fillRect/>
          </a:stretch>
        </p:blipFill>
        <p:spPr bwMode="auto">
          <a:xfrm>
            <a:off x="6084168" y="4221088"/>
            <a:ext cx="2496735" cy="1663840"/>
          </a:xfrm>
          <a:prstGeom prst="rect">
            <a:avLst/>
          </a:prstGeom>
          <a:noFill/>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76672"/>
            <a:ext cx="7467600" cy="998984"/>
          </a:xfrm>
        </p:spPr>
        <p:txBody>
          <a:bodyPr>
            <a:noAutofit/>
          </a:bodyPr>
          <a:lstStyle/>
          <a:p>
            <a:pPr marL="712788" indent="-712788"/>
            <a:r>
              <a:rPr lang="en-US" sz="2800" b="1" dirty="0" smtClean="0">
                <a:solidFill>
                  <a:srgbClr val="FF6600"/>
                </a:solidFill>
                <a:latin typeface="Helvetica"/>
                <a:cs typeface="Helvetica"/>
              </a:rPr>
              <a:t>2.3	Identify reporting mechanisms if suspicious behavior is observed</a:t>
            </a:r>
            <a:endParaRPr lang="en-US" sz="2800" b="1" dirty="0" smtClean="0">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lnSpcReduction="10000"/>
          </a:bodyPr>
          <a:lstStyle/>
          <a:p>
            <a:pPr>
              <a:spcBef>
                <a:spcPts val="1200"/>
              </a:spcBef>
              <a:spcAft>
                <a:spcPts val="1200"/>
              </a:spcAft>
              <a:buNone/>
            </a:pPr>
            <a:r>
              <a:rPr lang="en-AU" sz="2200" b="1" dirty="0" smtClean="0">
                <a:solidFill>
                  <a:srgbClr val="0000FF"/>
                </a:solidFill>
                <a:latin typeface="Helvetica" pitchFamily="34" charset="0"/>
              </a:rPr>
              <a:t>Reporting Mechanisms:</a:t>
            </a:r>
          </a:p>
          <a:p>
            <a:pPr>
              <a:spcBef>
                <a:spcPts val="1200"/>
              </a:spcBef>
              <a:spcAft>
                <a:spcPts val="1200"/>
              </a:spcAft>
            </a:pPr>
            <a:r>
              <a:rPr lang="en-US" sz="2200" b="1" dirty="0" smtClean="0">
                <a:latin typeface="Helvetica" pitchFamily="34" charset="0"/>
              </a:rPr>
              <a:t>There are many reporting mechanisms available to the Hotel and Travel Industries</a:t>
            </a:r>
          </a:p>
          <a:p>
            <a:pPr>
              <a:spcBef>
                <a:spcPts val="1200"/>
              </a:spcBef>
              <a:spcAft>
                <a:spcPts val="1200"/>
              </a:spcAft>
            </a:pPr>
            <a:r>
              <a:rPr lang="en-US" sz="2200" b="1" dirty="0" smtClean="0">
                <a:latin typeface="Helvetica" pitchFamily="34" charset="0"/>
              </a:rPr>
              <a:t>Even if you are a Child Safe business, this may  not stop the offending, therefore you must act and these offenders must be reported, caught, prosecuted and jailed</a:t>
            </a:r>
          </a:p>
          <a:p>
            <a:pPr>
              <a:spcBef>
                <a:spcPts val="1200"/>
              </a:spcBef>
              <a:spcAft>
                <a:spcPts val="1200"/>
              </a:spcAft>
            </a:pPr>
            <a:r>
              <a:rPr lang="en-US" sz="2200" b="1" dirty="0" smtClean="0">
                <a:latin typeface="Helvetica" pitchFamily="34" charset="0"/>
              </a:rPr>
              <a:t>This will aid in the elimination of CST from your business and region and will deter other offenders immediately.</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59</a:t>
            </a:fld>
            <a:endParaRPr 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712788" indent="-712788"/>
            <a:r>
              <a:rPr lang="en-US" sz="2800" b="1" dirty="0" smtClean="0">
                <a:solidFill>
                  <a:srgbClr val="FF6600"/>
                </a:solidFill>
                <a:latin typeface="Helvetica"/>
                <a:cs typeface="Helvetica"/>
              </a:rPr>
              <a:t>2.3	Identify reporting mechanisms if suspicious behavior is observed</a:t>
            </a:r>
            <a:endParaRPr lang="en-US" sz="2800" dirty="0" smtClean="0">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a:spcBef>
                <a:spcPts val="1200"/>
              </a:spcBef>
              <a:spcAft>
                <a:spcPts val="1200"/>
              </a:spcAft>
              <a:buNone/>
            </a:pPr>
            <a:r>
              <a:rPr lang="en-AU" sz="2200" b="1" dirty="0" smtClean="0">
                <a:solidFill>
                  <a:srgbClr val="0000FF"/>
                </a:solidFill>
                <a:latin typeface="Helvetica" pitchFamily="34" charset="0"/>
              </a:rPr>
              <a:t>Reporting Mechanisms:</a:t>
            </a:r>
          </a:p>
          <a:p>
            <a:pPr marL="360000" indent="-360000">
              <a:spcBef>
                <a:spcPts val="1200"/>
              </a:spcBef>
              <a:spcAft>
                <a:spcPts val="1200"/>
              </a:spcAft>
            </a:pPr>
            <a:r>
              <a:rPr lang="en-US" sz="2200" b="1" dirty="0" smtClean="0">
                <a:latin typeface="Helvetica" pitchFamily="34" charset="0"/>
              </a:rPr>
              <a:t>Refer to the Training Manual for a detailed list of Reporting Mechanisms.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60</a:t>
            </a:fld>
            <a:endParaRPr lang="en-US" dirty="0"/>
          </a:p>
        </p:txBody>
      </p:sp>
      <p:pic>
        <p:nvPicPr>
          <p:cNvPr id="5" name="Picture 4" descr="magnified_print.jpg"/>
          <p:cNvPicPr>
            <a:picLocks noChangeAspect="1"/>
          </p:cNvPicPr>
          <p:nvPr/>
        </p:nvPicPr>
        <p:blipFill>
          <a:blip r:embed="rId3" cstate="print"/>
          <a:stretch>
            <a:fillRect/>
          </a:stretch>
        </p:blipFill>
        <p:spPr>
          <a:xfrm>
            <a:off x="5796136" y="3645024"/>
            <a:ext cx="2641476" cy="1981107"/>
          </a:xfrm>
          <a:prstGeom prst="rect">
            <a:avLst/>
          </a:prstGeom>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712788" indent="-712788"/>
            <a:r>
              <a:rPr lang="en-US" sz="2800" b="1" dirty="0" smtClean="0">
                <a:solidFill>
                  <a:srgbClr val="FF6600"/>
                </a:solidFill>
                <a:latin typeface="Helvetica"/>
                <a:cs typeface="Helvetica"/>
              </a:rPr>
              <a:t>2.3	Identify reporting mechanisms if suspicious behavior is observed</a:t>
            </a:r>
            <a:endParaRPr lang="en-US" sz="2800" dirty="0" smtClean="0">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a:spcBef>
                <a:spcPts val="1200"/>
              </a:spcBef>
              <a:spcAft>
                <a:spcPts val="1200"/>
              </a:spcAft>
              <a:buNone/>
            </a:pPr>
            <a:r>
              <a:rPr lang="en-US" sz="2200" b="1" dirty="0" smtClean="0">
                <a:solidFill>
                  <a:srgbClr val="0000FF"/>
                </a:solidFill>
                <a:latin typeface="Helvetica" pitchFamily="34" charset="0"/>
              </a:rPr>
              <a:t>What to Report:</a:t>
            </a:r>
          </a:p>
          <a:p>
            <a:pPr>
              <a:spcBef>
                <a:spcPts val="1200"/>
              </a:spcBef>
              <a:spcAft>
                <a:spcPts val="1200"/>
              </a:spcAft>
            </a:pPr>
            <a:r>
              <a:rPr lang="en-US" sz="2200" b="1" dirty="0" smtClean="0">
                <a:latin typeface="Helvetica" pitchFamily="34" charset="0"/>
              </a:rPr>
              <a:t>Refer to Page 27 of the Training Manual for a detailed breakdown of what to report if suspicious behavior is detected.</a:t>
            </a:r>
            <a:endParaRPr lang="en-AU" sz="2200" b="1" dirty="0" smtClean="0">
              <a:latin typeface="Helvetica" pitchFamily="34" charset="0"/>
            </a:endParaRP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61</a:t>
            </a:fld>
            <a:endParaRPr lang="en-US" dirty="0"/>
          </a:p>
        </p:txBody>
      </p:sp>
      <p:pic>
        <p:nvPicPr>
          <p:cNvPr id="6" name="Picture 5" descr="Clearwater-compendium-tab-pages_award_img.jpg"/>
          <p:cNvPicPr>
            <a:picLocks noChangeAspect="1"/>
          </p:cNvPicPr>
          <p:nvPr/>
        </p:nvPicPr>
        <p:blipFill>
          <a:blip r:embed="rId3" cstate="print"/>
          <a:stretch>
            <a:fillRect/>
          </a:stretch>
        </p:blipFill>
        <p:spPr>
          <a:xfrm>
            <a:off x="6012160" y="3933056"/>
            <a:ext cx="2520280" cy="1680187"/>
          </a:xfrm>
          <a:prstGeom prst="rect">
            <a:avLst/>
          </a:prstGeom>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476672"/>
            <a:ext cx="8359080" cy="1891680"/>
          </a:xfrm>
        </p:spPr>
        <p:txBody>
          <a:bodyPr>
            <a:noAutofit/>
          </a:bodyPr>
          <a:lstStyle/>
          <a:p>
            <a:pPr marL="712788" indent="-712788">
              <a:spcBef>
                <a:spcPts val="600"/>
              </a:spcBef>
              <a:spcAft>
                <a:spcPts val="1200"/>
              </a:spcAft>
            </a:pPr>
            <a:r>
              <a:rPr lang="en-US" sz="2800" b="1" dirty="0" smtClean="0">
                <a:solidFill>
                  <a:srgbClr val="FF6600"/>
                </a:solidFill>
                <a:latin typeface="Helvetica"/>
                <a:cs typeface="Helvetica"/>
              </a:rPr>
              <a:t>3.1	Prepare a list of actions that can be taken by staff working in each labor division of the hotel and travel industries to prevent the sexual exploitation of children by tourists</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533400" y="2636912"/>
            <a:ext cx="8071048" cy="4098851"/>
          </a:xfrm>
        </p:spPr>
        <p:txBody>
          <a:bodyPr>
            <a:normAutofit/>
          </a:bodyPr>
          <a:lstStyle/>
          <a:p>
            <a:pPr>
              <a:spcBef>
                <a:spcPts val="1200"/>
              </a:spcBef>
              <a:spcAft>
                <a:spcPts val="1200"/>
              </a:spcAft>
            </a:pPr>
            <a:r>
              <a:rPr lang="en-US" sz="2200" b="1" dirty="0" smtClean="0">
                <a:latin typeface="Helvetica" pitchFamily="34" charset="0"/>
              </a:rPr>
              <a:t>It is of vital importance that the Hotel and Travel Industries work towards implementing practical policies and procedures that will aid in ending CST</a:t>
            </a:r>
            <a:endParaRPr lang="en-AU" sz="2200" b="1" dirty="0" smtClean="0">
              <a:latin typeface="Helvetica" pitchFamily="34" charset="0"/>
            </a:endParaRPr>
          </a:p>
          <a:p>
            <a:pPr>
              <a:spcBef>
                <a:spcPts val="1200"/>
              </a:spcBef>
              <a:spcAft>
                <a:spcPts val="1200"/>
              </a:spcAft>
            </a:pPr>
            <a:r>
              <a:rPr lang="en-US" sz="2200" b="1" dirty="0" smtClean="0">
                <a:latin typeface="Helvetica" pitchFamily="34" charset="0"/>
              </a:rPr>
              <a:t>Additionally, it is important to contact and work with the various local Child Protection Agencies such as ECPAT, to assist in the development of ‘Child Safe’ business policies, Staff Training, Operating and Reporting Procedures.</a:t>
            </a:r>
            <a:endParaRPr lang="en-AU"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62</a:t>
            </a:fld>
            <a:endParaRPr lang="en-US"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8352928" cy="1872208"/>
          </a:xfrm>
        </p:spPr>
        <p:txBody>
          <a:bodyPr>
            <a:noAutofit/>
          </a:bodyPr>
          <a:lstStyle/>
          <a:p>
            <a:pPr marL="712788" indent="-712788">
              <a:spcBef>
                <a:spcPts val="600"/>
              </a:spcBef>
              <a:spcAft>
                <a:spcPts val="1200"/>
              </a:spcAft>
            </a:pPr>
            <a:r>
              <a:rPr lang="en-US" sz="2800" b="1" dirty="0" smtClean="0">
                <a:solidFill>
                  <a:srgbClr val="FF6600"/>
                </a:solidFill>
                <a:latin typeface="Helvetica"/>
                <a:cs typeface="Helvetica"/>
              </a:rPr>
              <a:t>3.1	Prepare a list of actions that can be taken by staff working in each labor division of the hotel and travel industries to prevent the sexual exploitation of children by tourists</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609600" y="2492896"/>
            <a:ext cx="8210872" cy="4032448"/>
          </a:xfrm>
        </p:spPr>
        <p:txBody>
          <a:bodyPr>
            <a:normAutofit/>
          </a:bodyPr>
          <a:lstStyle/>
          <a:p>
            <a:pPr>
              <a:spcBef>
                <a:spcPts val="1200"/>
              </a:spcBef>
              <a:spcAft>
                <a:spcPts val="1200"/>
              </a:spcAft>
              <a:buNone/>
            </a:pPr>
            <a:r>
              <a:rPr lang="en-US" sz="2200" b="1" dirty="0" smtClean="0">
                <a:solidFill>
                  <a:srgbClr val="0000FF"/>
                </a:solidFill>
                <a:latin typeface="Helvetica" pitchFamily="34" charset="0"/>
              </a:rPr>
              <a:t>Why is it Important to Be Child Safe?</a:t>
            </a:r>
          </a:p>
          <a:p>
            <a:pPr>
              <a:spcBef>
                <a:spcPts val="1200"/>
              </a:spcBef>
              <a:spcAft>
                <a:spcPts val="1200"/>
              </a:spcAft>
            </a:pPr>
            <a:r>
              <a:rPr lang="en-US" sz="2200" b="1" dirty="0" smtClean="0">
                <a:latin typeface="Helvetica" pitchFamily="34" charset="0"/>
              </a:rPr>
              <a:t>Firstly, to protect the most vulnerable </a:t>
            </a:r>
            <a:br>
              <a:rPr lang="en-US" sz="2200" b="1" dirty="0" smtClean="0">
                <a:latin typeface="Helvetica" pitchFamily="34" charset="0"/>
              </a:rPr>
            </a:br>
            <a:r>
              <a:rPr lang="en-US" sz="2200" b="1" dirty="0" smtClean="0">
                <a:latin typeface="Helvetica" pitchFamily="34" charset="0"/>
              </a:rPr>
              <a:t>members of our communities, children</a:t>
            </a:r>
            <a:endParaRPr lang="en-AU" sz="2200" b="1" dirty="0" smtClean="0">
              <a:latin typeface="Helvetica" pitchFamily="34" charset="0"/>
            </a:endParaRPr>
          </a:p>
          <a:p>
            <a:pPr>
              <a:spcBef>
                <a:spcPts val="1200"/>
              </a:spcBef>
              <a:spcAft>
                <a:spcPts val="1200"/>
              </a:spcAft>
            </a:pPr>
            <a:r>
              <a:rPr lang="en-US" sz="2200" b="1" dirty="0" smtClean="0">
                <a:latin typeface="Helvetica" pitchFamily="34" charset="0"/>
              </a:rPr>
              <a:t>Secondly, it is a Legal and Moral requirement</a:t>
            </a:r>
            <a:endParaRPr lang="en-AU" sz="2200" b="1" dirty="0" smtClean="0">
              <a:latin typeface="Helvetica" pitchFamily="34" charset="0"/>
            </a:endParaRPr>
          </a:p>
          <a:p>
            <a:pPr>
              <a:spcBef>
                <a:spcPts val="1200"/>
              </a:spcBef>
              <a:spcAft>
                <a:spcPts val="1200"/>
              </a:spcAft>
            </a:pPr>
            <a:r>
              <a:rPr lang="en-US" sz="2200" b="1" dirty="0" smtClean="0">
                <a:latin typeface="Helvetica" pitchFamily="34" charset="0"/>
              </a:rPr>
              <a:t>Therefore, the Hotel and Travel Industries should develop a ‘zero policy’ regarding the CSEC and CST and make this one of their main aims.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63</a:t>
            </a:fld>
            <a:endParaRPr lang="en-US" dirty="0"/>
          </a:p>
        </p:txBody>
      </p:sp>
      <p:pic>
        <p:nvPicPr>
          <p:cNvPr id="2053" name="Picture 5" descr="C:\Documents and Settings\maiv\Local Settings\Temporary Internet Files\Content.IE5\XIGBUS4Y\MC900024284[1].wmf"/>
          <p:cNvPicPr>
            <a:picLocks noChangeAspect="1" noChangeArrowheads="1"/>
          </p:cNvPicPr>
          <p:nvPr/>
        </p:nvPicPr>
        <p:blipFill>
          <a:blip r:embed="rId3" cstate="print"/>
          <a:srcRect/>
          <a:stretch>
            <a:fillRect/>
          </a:stretch>
        </p:blipFill>
        <p:spPr bwMode="auto">
          <a:xfrm>
            <a:off x="6588224" y="2348880"/>
            <a:ext cx="1967789" cy="1562710"/>
          </a:xfrm>
          <a:prstGeom prst="rect">
            <a:avLst/>
          </a:prstGeom>
          <a:noFill/>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332656"/>
            <a:ext cx="8532440" cy="1872208"/>
          </a:xfrm>
        </p:spPr>
        <p:txBody>
          <a:bodyPr>
            <a:noAutofit/>
          </a:bodyPr>
          <a:lstStyle/>
          <a:p>
            <a:pPr marL="712788" indent="-712788">
              <a:spcBef>
                <a:spcPts val="1200"/>
              </a:spcBef>
              <a:spcAft>
                <a:spcPts val="1200"/>
              </a:spcAft>
            </a:pPr>
            <a:r>
              <a:rPr lang="en-US" sz="2800" b="1" dirty="0" smtClean="0">
                <a:solidFill>
                  <a:srgbClr val="FF6600"/>
                </a:solidFill>
                <a:latin typeface="Helvetica"/>
                <a:cs typeface="Helvetica"/>
              </a:rPr>
              <a:t>3.1	Prepare a list of actions that can be taken by staff working in each labor division of the hotel and travel industries to prevent the sexual exploitation of children by tourists</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609600" y="2420888"/>
            <a:ext cx="8282880" cy="3781475"/>
          </a:xfrm>
        </p:spPr>
        <p:txBody>
          <a:bodyPr>
            <a:normAutofit/>
          </a:bodyPr>
          <a:lstStyle/>
          <a:p>
            <a:pPr>
              <a:spcBef>
                <a:spcPts val="1200"/>
              </a:spcBef>
              <a:spcAft>
                <a:spcPts val="1200"/>
              </a:spcAft>
              <a:buNone/>
            </a:pPr>
            <a:r>
              <a:rPr lang="en-US" sz="2200" b="1" dirty="0" smtClean="0">
                <a:solidFill>
                  <a:srgbClr val="0000FF"/>
                </a:solidFill>
                <a:latin typeface="Helvetica" pitchFamily="34" charset="0"/>
              </a:rPr>
              <a:t>What are the Steps to Take to Become Child Safe?</a:t>
            </a:r>
          </a:p>
          <a:p>
            <a:pPr>
              <a:spcBef>
                <a:spcPts val="1200"/>
              </a:spcBef>
              <a:spcAft>
                <a:spcPts val="1200"/>
              </a:spcAft>
            </a:pPr>
            <a:r>
              <a:rPr lang="en-US" sz="2200" b="1" dirty="0" smtClean="0">
                <a:latin typeface="Helvetica" pitchFamily="34" charset="0"/>
              </a:rPr>
              <a:t>The Hotel and Travel Industries should align themselves with other Responsible and Sustainable business operators and stakeholders that are Child Safe.</a:t>
            </a:r>
          </a:p>
          <a:p>
            <a:pPr marL="360000" indent="-360000">
              <a:spcBef>
                <a:spcPts val="1200"/>
              </a:spcBef>
              <a:spcAft>
                <a:spcPts val="1200"/>
              </a:spcAft>
              <a:buNone/>
            </a:pPr>
            <a:endParaRPr lang="en-US" sz="2200" dirty="0" smtClean="0">
              <a:latin typeface="Helvetica" pitchFamily="34" charset="0"/>
            </a:endParaRP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64</a:t>
            </a:fld>
            <a:endParaRPr lang="en-US" dirty="0"/>
          </a:p>
        </p:txBody>
      </p:sp>
      <p:pic>
        <p:nvPicPr>
          <p:cNvPr id="5" name="Picture 4" descr="Hands Photo Large.jpg"/>
          <p:cNvPicPr>
            <a:picLocks noChangeAspect="1"/>
          </p:cNvPicPr>
          <p:nvPr/>
        </p:nvPicPr>
        <p:blipFill>
          <a:blip r:embed="rId3" cstate="print"/>
          <a:stretch>
            <a:fillRect/>
          </a:stretch>
        </p:blipFill>
        <p:spPr>
          <a:xfrm>
            <a:off x="3491880" y="4437112"/>
            <a:ext cx="2108096" cy="1698425"/>
          </a:xfrm>
          <a:prstGeom prst="rect">
            <a:avLst/>
          </a:prstGeom>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332656"/>
            <a:ext cx="8496944" cy="1584176"/>
          </a:xfrm>
        </p:spPr>
        <p:txBody>
          <a:bodyPr>
            <a:noAutofit/>
          </a:bodyPr>
          <a:lstStyle/>
          <a:p>
            <a:pPr marL="712788" indent="-712788">
              <a:spcBef>
                <a:spcPts val="600"/>
              </a:spcBef>
              <a:spcAft>
                <a:spcPts val="1200"/>
              </a:spcAft>
            </a:pPr>
            <a:r>
              <a:rPr lang="en-US" sz="2800" b="1" dirty="0" smtClean="0">
                <a:solidFill>
                  <a:srgbClr val="FF6600"/>
                </a:solidFill>
                <a:latin typeface="Helvetica"/>
                <a:cs typeface="Helvetica"/>
              </a:rPr>
              <a:t>3.1	Prepare a list of actions that can be taken by staff working in each labor division of the hotel and travel industries to prevent the sexual exploitation of children by tourists</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609600" y="2420888"/>
            <a:ext cx="7994848" cy="3781475"/>
          </a:xfrm>
        </p:spPr>
        <p:txBody>
          <a:bodyPr>
            <a:normAutofit/>
          </a:bodyPr>
          <a:lstStyle/>
          <a:p>
            <a:pPr>
              <a:spcBef>
                <a:spcPts val="1200"/>
              </a:spcBef>
              <a:spcAft>
                <a:spcPts val="1200"/>
              </a:spcAft>
              <a:buNone/>
            </a:pPr>
            <a:r>
              <a:rPr lang="en-US" sz="2200" b="1" dirty="0" smtClean="0">
                <a:solidFill>
                  <a:srgbClr val="0000FF"/>
                </a:solidFill>
                <a:latin typeface="Helvetica" pitchFamily="34" charset="0"/>
              </a:rPr>
              <a:t>What are the Steps to Take to Become Child Safe?</a:t>
            </a:r>
          </a:p>
          <a:p>
            <a:pPr>
              <a:spcBef>
                <a:spcPts val="1200"/>
              </a:spcBef>
              <a:spcAft>
                <a:spcPts val="1200"/>
              </a:spcAft>
            </a:pPr>
            <a:r>
              <a:rPr lang="en-US" sz="2200" b="1" dirty="0" smtClean="0">
                <a:latin typeface="Helvetica" pitchFamily="34" charset="0"/>
              </a:rPr>
              <a:t>The Hotel and Travel Industries must implement ECPAT’s ‘Code of Conduct for the Protection of Children from Sexual Exploitation in Travel and Tourism’ into their Staff Training and </a:t>
            </a:r>
            <a:br>
              <a:rPr lang="en-US" sz="2200" b="1" dirty="0" smtClean="0">
                <a:latin typeface="Helvetica" pitchFamily="34" charset="0"/>
              </a:rPr>
            </a:br>
            <a:r>
              <a:rPr lang="en-US" sz="2200" b="1" dirty="0" smtClean="0">
                <a:latin typeface="Helvetica" pitchFamily="34" charset="0"/>
              </a:rPr>
              <a:t>Induction Programs and directly into </a:t>
            </a:r>
            <a:br>
              <a:rPr lang="en-US" sz="2200" b="1" dirty="0" smtClean="0">
                <a:latin typeface="Helvetica" pitchFamily="34" charset="0"/>
              </a:rPr>
            </a:br>
            <a:r>
              <a:rPr lang="en-US" sz="2200" b="1" dirty="0" smtClean="0">
                <a:latin typeface="Helvetica" pitchFamily="34" charset="0"/>
              </a:rPr>
              <a:t>their operating procedures </a:t>
            </a:r>
            <a:br>
              <a:rPr lang="en-US" sz="2200" b="1" dirty="0" smtClean="0">
                <a:latin typeface="Helvetica" pitchFamily="34" charset="0"/>
              </a:rPr>
            </a:br>
            <a:r>
              <a:rPr lang="en-US" sz="2200" b="1" dirty="0" smtClean="0">
                <a:latin typeface="Helvetica" pitchFamily="34" charset="0"/>
                <a:hlinkClick r:id="rId3"/>
              </a:rPr>
              <a:t>http://www.thecode.org/</a:t>
            </a:r>
            <a:r>
              <a:rPr lang="en-US" sz="2200" b="1" dirty="0" smtClean="0">
                <a:latin typeface="Helvetica" pitchFamily="34" charset="0"/>
              </a:rPr>
              <a:t>.</a:t>
            </a:r>
            <a:endParaRPr lang="en-AU"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65</a:t>
            </a:fld>
            <a:endParaRPr lang="en-US" dirty="0"/>
          </a:p>
        </p:txBody>
      </p:sp>
      <p:pic>
        <p:nvPicPr>
          <p:cNvPr id="5" name="Picture 4" descr="21816_training.jpg"/>
          <p:cNvPicPr>
            <a:picLocks noChangeAspect="1"/>
          </p:cNvPicPr>
          <p:nvPr/>
        </p:nvPicPr>
        <p:blipFill>
          <a:blip r:embed="rId4" cstate="print"/>
          <a:stretch>
            <a:fillRect/>
          </a:stretch>
        </p:blipFill>
        <p:spPr>
          <a:xfrm>
            <a:off x="6372200" y="4293096"/>
            <a:ext cx="2393143" cy="1786880"/>
          </a:xfrm>
          <a:prstGeom prst="rect">
            <a:avLst/>
          </a:prstGeom>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332656"/>
            <a:ext cx="8352928" cy="1440160"/>
          </a:xfrm>
        </p:spPr>
        <p:txBody>
          <a:bodyPr>
            <a:noAutofit/>
          </a:bodyPr>
          <a:lstStyle/>
          <a:p>
            <a:pPr marL="712788" indent="-712788">
              <a:spcBef>
                <a:spcPts val="600"/>
              </a:spcBef>
              <a:spcAft>
                <a:spcPts val="1200"/>
              </a:spcAft>
            </a:pPr>
            <a:r>
              <a:rPr lang="en-US" sz="2800" b="1" dirty="0" smtClean="0">
                <a:solidFill>
                  <a:srgbClr val="FF6600"/>
                </a:solidFill>
                <a:latin typeface="Helvetica"/>
                <a:cs typeface="Helvetica"/>
              </a:rPr>
              <a:t>3.1	Prepare a list of actions that can be taken by staff working in each labor division of the hotel and travel industries to prevent the sexual exploitation of children by tourists</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611560" y="2204864"/>
            <a:ext cx="7994848" cy="4104456"/>
          </a:xfrm>
        </p:spPr>
        <p:txBody>
          <a:bodyPr>
            <a:normAutofit/>
          </a:bodyPr>
          <a:lstStyle/>
          <a:p>
            <a:pPr>
              <a:spcBef>
                <a:spcPts val="1200"/>
              </a:spcBef>
              <a:spcAft>
                <a:spcPts val="1200"/>
              </a:spcAft>
              <a:buNone/>
            </a:pPr>
            <a:r>
              <a:rPr lang="en-US" sz="2200" b="1" dirty="0" smtClean="0">
                <a:solidFill>
                  <a:srgbClr val="0000FF"/>
                </a:solidFill>
                <a:latin typeface="Helvetica" pitchFamily="34" charset="0"/>
              </a:rPr>
              <a:t>Why is it Important to Be Child Safe?</a:t>
            </a:r>
          </a:p>
          <a:p>
            <a:pPr>
              <a:spcBef>
                <a:spcPts val="1200"/>
              </a:spcBef>
              <a:spcAft>
                <a:spcPts val="1200"/>
              </a:spcAft>
            </a:pPr>
            <a:r>
              <a:rPr lang="en-US" sz="2200" b="1" dirty="0" smtClean="0">
                <a:latin typeface="Helvetica" pitchFamily="34" charset="0"/>
              </a:rPr>
              <a:t>The Child Safe message is also stating to staff and customers that you operate legally, morally, sustainably and responsibly. It shows that you are providing a return to your local community, not only via </a:t>
            </a:r>
            <a:br>
              <a:rPr lang="en-US" sz="2200" b="1" dirty="0" smtClean="0">
                <a:latin typeface="Helvetica" pitchFamily="34" charset="0"/>
              </a:rPr>
            </a:br>
            <a:r>
              <a:rPr lang="en-US" sz="2200" b="1" dirty="0" smtClean="0">
                <a:latin typeface="Helvetica" pitchFamily="34" charset="0"/>
              </a:rPr>
              <a:t>staff hiring and use of local goods and </a:t>
            </a:r>
            <a:br>
              <a:rPr lang="en-US" sz="2200" b="1" dirty="0" smtClean="0">
                <a:latin typeface="Helvetica" pitchFamily="34" charset="0"/>
              </a:rPr>
            </a:br>
            <a:r>
              <a:rPr lang="en-US" sz="2200" b="1" dirty="0" smtClean="0">
                <a:latin typeface="Helvetica" pitchFamily="34" charset="0"/>
              </a:rPr>
              <a:t>services but by taking a stand and </a:t>
            </a:r>
            <a:br>
              <a:rPr lang="en-US" sz="2200" b="1" dirty="0" smtClean="0">
                <a:latin typeface="Helvetica" pitchFamily="34" charset="0"/>
              </a:rPr>
            </a:br>
            <a:r>
              <a:rPr lang="en-US" sz="2200" b="1" dirty="0" smtClean="0">
                <a:latin typeface="Helvetica" pitchFamily="34" charset="0"/>
              </a:rPr>
              <a:t>protecting children from offenders and </a:t>
            </a:r>
            <a:br>
              <a:rPr lang="en-US" sz="2200" b="1" dirty="0" smtClean="0">
                <a:latin typeface="Helvetica" pitchFamily="34" charset="0"/>
              </a:rPr>
            </a:br>
            <a:r>
              <a:rPr lang="en-US" sz="2200" b="1" dirty="0" smtClean="0">
                <a:latin typeface="Helvetica" pitchFamily="34" charset="0"/>
              </a:rPr>
              <a:t>exploitation.</a:t>
            </a:r>
            <a:endParaRPr lang="en-AU" sz="2200" b="1" dirty="0" smtClean="0">
              <a:latin typeface="Helvetica" pitchFamily="34" charset="0"/>
            </a:endParaRP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66</a:t>
            </a:fld>
            <a:endParaRPr lang="en-US" dirty="0"/>
          </a:p>
        </p:txBody>
      </p:sp>
      <p:pic>
        <p:nvPicPr>
          <p:cNvPr id="5" name="Picture 4" descr="MP900423037[1].JPG"/>
          <p:cNvPicPr/>
          <p:nvPr/>
        </p:nvPicPr>
        <p:blipFill>
          <a:blip r:embed="rId3" cstate="print"/>
          <a:stretch>
            <a:fillRect/>
          </a:stretch>
        </p:blipFill>
        <p:spPr>
          <a:xfrm>
            <a:off x="7020272" y="4005064"/>
            <a:ext cx="1907704" cy="2115865"/>
          </a:xfrm>
          <a:prstGeom prst="rect">
            <a:avLst/>
          </a:prstGeom>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332656"/>
            <a:ext cx="8568952" cy="1872208"/>
          </a:xfrm>
        </p:spPr>
        <p:txBody>
          <a:bodyPr>
            <a:noAutofit/>
          </a:bodyPr>
          <a:lstStyle/>
          <a:p>
            <a:pPr marL="712788" indent="-712788">
              <a:spcBef>
                <a:spcPts val="600"/>
              </a:spcBef>
              <a:spcAft>
                <a:spcPts val="1200"/>
              </a:spcAft>
            </a:pPr>
            <a:r>
              <a:rPr lang="en-US" sz="2800" b="1" dirty="0" smtClean="0">
                <a:solidFill>
                  <a:srgbClr val="FF6600"/>
                </a:solidFill>
                <a:latin typeface="Helvetica"/>
                <a:cs typeface="Helvetica"/>
              </a:rPr>
              <a:t>3.1	Prepare a list of actions that can be taken by staff working in each labor division of the hotel and travel industries to prevent the sexual exploitation of children by tourists</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609600" y="2276872"/>
            <a:ext cx="8210872" cy="3925491"/>
          </a:xfrm>
        </p:spPr>
        <p:txBody>
          <a:bodyPr>
            <a:normAutofit/>
          </a:bodyPr>
          <a:lstStyle/>
          <a:p>
            <a:pPr>
              <a:spcBef>
                <a:spcPts val="1200"/>
              </a:spcBef>
              <a:spcAft>
                <a:spcPts val="1200"/>
              </a:spcAft>
              <a:buNone/>
            </a:pPr>
            <a:r>
              <a:rPr lang="en-US" sz="2200" b="1" dirty="0" smtClean="0">
                <a:solidFill>
                  <a:srgbClr val="0000FF"/>
                </a:solidFill>
                <a:latin typeface="Helvetica" pitchFamily="34" charset="0"/>
              </a:rPr>
              <a:t>Why is it Important to Be Child Safe?</a:t>
            </a:r>
          </a:p>
          <a:p>
            <a:pPr>
              <a:spcBef>
                <a:spcPts val="1200"/>
              </a:spcBef>
              <a:spcAft>
                <a:spcPts val="1200"/>
              </a:spcAft>
            </a:pPr>
            <a:r>
              <a:rPr lang="en-US" sz="2200" b="1" dirty="0" smtClean="0">
                <a:latin typeface="Helvetica" pitchFamily="34" charset="0"/>
              </a:rPr>
              <a:t>It will send a clear message to offenders and pornographers that they are not welcome to use your business premises</a:t>
            </a:r>
          </a:p>
          <a:p>
            <a:pPr>
              <a:spcBef>
                <a:spcPts val="1200"/>
              </a:spcBef>
              <a:spcAft>
                <a:spcPts val="1200"/>
              </a:spcAft>
            </a:pPr>
            <a:r>
              <a:rPr lang="en-US" sz="2200" b="1" dirty="0" smtClean="0">
                <a:latin typeface="Helvetica" pitchFamily="34" charset="0"/>
              </a:rPr>
              <a:t>It also feeds into the greatest fear that </a:t>
            </a:r>
            <a:br>
              <a:rPr lang="en-US" sz="2200" b="1" dirty="0" smtClean="0">
                <a:latin typeface="Helvetica" pitchFamily="34" charset="0"/>
              </a:rPr>
            </a:br>
            <a:r>
              <a:rPr lang="en-US" sz="2200" b="1" dirty="0" smtClean="0">
                <a:latin typeface="Helvetica" pitchFamily="34" charset="0"/>
              </a:rPr>
              <a:t>offenders have which is being reported, </a:t>
            </a:r>
            <a:br>
              <a:rPr lang="en-US" sz="2200" b="1" dirty="0" smtClean="0">
                <a:latin typeface="Helvetica" pitchFamily="34" charset="0"/>
              </a:rPr>
            </a:br>
            <a:r>
              <a:rPr lang="en-US" sz="2200" b="1" dirty="0" smtClean="0">
                <a:latin typeface="Helvetica" pitchFamily="34" charset="0"/>
              </a:rPr>
              <a:t>arrested, prosecuted and jailed.</a:t>
            </a:r>
            <a:endParaRPr lang="en-AU" sz="2200" b="1" dirty="0" smtClean="0">
              <a:latin typeface="Helvetica" pitchFamily="34" charset="0"/>
            </a:endParaRP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67</a:t>
            </a:fld>
            <a:endParaRPr lang="en-US" dirty="0"/>
          </a:p>
        </p:txBody>
      </p:sp>
      <p:pic>
        <p:nvPicPr>
          <p:cNvPr id="6" name="Picture 5" descr="arrested.jpg"/>
          <p:cNvPicPr/>
          <p:nvPr/>
        </p:nvPicPr>
        <p:blipFill>
          <a:blip r:embed="rId3" cstate="print"/>
          <a:stretch>
            <a:fillRect/>
          </a:stretch>
        </p:blipFill>
        <p:spPr>
          <a:xfrm>
            <a:off x="7092280" y="3933056"/>
            <a:ext cx="1584176" cy="1728192"/>
          </a:xfrm>
          <a:prstGeom prst="rect">
            <a:avLst/>
          </a:prstGeom>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332656"/>
            <a:ext cx="8496944" cy="1872208"/>
          </a:xfrm>
        </p:spPr>
        <p:txBody>
          <a:bodyPr>
            <a:noAutofit/>
          </a:bodyPr>
          <a:lstStyle/>
          <a:p>
            <a:pPr marL="712788" indent="-712788">
              <a:spcBef>
                <a:spcPts val="600"/>
              </a:spcBef>
              <a:spcAft>
                <a:spcPts val="1200"/>
              </a:spcAft>
            </a:pPr>
            <a:r>
              <a:rPr lang="en-US" sz="2800" b="1" dirty="0" smtClean="0">
                <a:solidFill>
                  <a:srgbClr val="FF6600"/>
                </a:solidFill>
                <a:latin typeface="Helvetica"/>
                <a:cs typeface="Helvetica"/>
              </a:rPr>
              <a:t>3.1	Prepare a list of actions that can be taken by staff working in each labor division of the hotel and travel industries to prevent the sexual exploitation of children by tourists</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395536" y="2348880"/>
            <a:ext cx="8352928" cy="3853483"/>
          </a:xfrm>
        </p:spPr>
        <p:txBody>
          <a:bodyPr>
            <a:normAutofit/>
          </a:bodyPr>
          <a:lstStyle/>
          <a:p>
            <a:pPr>
              <a:spcBef>
                <a:spcPts val="1200"/>
              </a:spcBef>
              <a:spcAft>
                <a:spcPts val="1200"/>
              </a:spcAft>
              <a:buNone/>
            </a:pPr>
            <a:r>
              <a:rPr lang="en-US" sz="2200" b="1" dirty="0" smtClean="0">
                <a:solidFill>
                  <a:srgbClr val="0000FF"/>
                </a:solidFill>
                <a:latin typeface="Helvetica" pitchFamily="34" charset="0"/>
              </a:rPr>
              <a:t>Actions That Can Be Taken to Prevent the CSEC by Tourists:</a:t>
            </a:r>
            <a:endParaRPr lang="en-AU" sz="2200" b="1" dirty="0" smtClean="0">
              <a:solidFill>
                <a:srgbClr val="0000FF"/>
              </a:solidFill>
              <a:latin typeface="Helvetica" pitchFamily="34" charset="0"/>
            </a:endParaRPr>
          </a:p>
          <a:p>
            <a:pPr>
              <a:spcBef>
                <a:spcPts val="1200"/>
              </a:spcBef>
              <a:spcAft>
                <a:spcPts val="1200"/>
              </a:spcAft>
            </a:pPr>
            <a:r>
              <a:rPr lang="en-US" sz="2200" b="1" dirty="0" smtClean="0">
                <a:latin typeface="Helvetica" pitchFamily="34" charset="0"/>
              </a:rPr>
              <a:t>All Hotel and Travel Industry businesses will need to have clear Child Safe operating policies and procedures, that include staff induction and training</a:t>
            </a:r>
            <a:endParaRPr lang="en-AU" sz="2200" b="1" dirty="0" smtClean="0">
              <a:latin typeface="Helvetica" pitchFamily="34" charset="0"/>
            </a:endParaRPr>
          </a:p>
          <a:p>
            <a:pPr>
              <a:spcBef>
                <a:spcPts val="1200"/>
              </a:spcBef>
              <a:spcAft>
                <a:spcPts val="1200"/>
              </a:spcAft>
            </a:pPr>
            <a:r>
              <a:rPr lang="en-US" sz="2200" b="1" dirty="0" smtClean="0">
                <a:latin typeface="Helvetica" pitchFamily="34" charset="0"/>
              </a:rPr>
              <a:t>All staff members regardless of position </a:t>
            </a:r>
            <a:br>
              <a:rPr lang="en-US" sz="2200" b="1" dirty="0" smtClean="0">
                <a:latin typeface="Helvetica" pitchFamily="34" charset="0"/>
              </a:rPr>
            </a:br>
            <a:r>
              <a:rPr lang="en-US" sz="2200" b="1" dirty="0" smtClean="0">
                <a:latin typeface="Helvetica" pitchFamily="34" charset="0"/>
              </a:rPr>
              <a:t>should be trained in ‘Child Safe’ workplace </a:t>
            </a:r>
            <a:br>
              <a:rPr lang="en-US" sz="2200" b="1" dirty="0" smtClean="0">
                <a:latin typeface="Helvetica" pitchFamily="34" charset="0"/>
              </a:rPr>
            </a:br>
            <a:r>
              <a:rPr lang="en-US" sz="2200" b="1" dirty="0" smtClean="0">
                <a:latin typeface="Helvetica" pitchFamily="34" charset="0"/>
              </a:rPr>
              <a:t>policies and procedures.</a:t>
            </a:r>
            <a:endParaRPr lang="en-AU" sz="2200" b="1" dirty="0" smtClean="0">
              <a:latin typeface="Helvetica" pitchFamily="34" charset="0"/>
            </a:endParaRP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68</a:t>
            </a:fld>
            <a:endParaRPr lang="en-US" dirty="0"/>
          </a:p>
        </p:txBody>
      </p:sp>
      <p:pic>
        <p:nvPicPr>
          <p:cNvPr id="7" name="Picture 6" descr="Employee handbook.jpg"/>
          <p:cNvPicPr/>
          <p:nvPr/>
        </p:nvPicPr>
        <p:blipFill>
          <a:blip r:embed="rId3" cstate="print"/>
          <a:stretch>
            <a:fillRect/>
          </a:stretch>
        </p:blipFill>
        <p:spPr>
          <a:xfrm>
            <a:off x="7164288" y="3861048"/>
            <a:ext cx="1419835" cy="2209190"/>
          </a:xfrm>
          <a:prstGeom prst="rect">
            <a:avLst/>
          </a:prstGeom>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332656"/>
            <a:ext cx="8568952" cy="1872208"/>
          </a:xfrm>
        </p:spPr>
        <p:txBody>
          <a:bodyPr>
            <a:noAutofit/>
          </a:bodyPr>
          <a:lstStyle/>
          <a:p>
            <a:pPr marL="712788" indent="-712788">
              <a:spcBef>
                <a:spcPts val="600"/>
              </a:spcBef>
              <a:spcAft>
                <a:spcPts val="1200"/>
              </a:spcAft>
            </a:pPr>
            <a:r>
              <a:rPr lang="en-US" sz="2800" b="1" dirty="0" smtClean="0">
                <a:solidFill>
                  <a:srgbClr val="FF6600"/>
                </a:solidFill>
                <a:latin typeface="Helvetica"/>
                <a:cs typeface="Helvetica"/>
              </a:rPr>
              <a:t>3.1	Prepare a list of actions that can be taken by staff working in each labor division of the hotel and travel industries to prevent the sexual exploitation of children by tourists</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609600" y="2420888"/>
            <a:ext cx="8138864" cy="3781475"/>
          </a:xfrm>
        </p:spPr>
        <p:txBody>
          <a:bodyPr>
            <a:normAutofit/>
          </a:bodyPr>
          <a:lstStyle/>
          <a:p>
            <a:pPr>
              <a:spcBef>
                <a:spcPts val="1200"/>
              </a:spcBef>
              <a:spcAft>
                <a:spcPts val="1200"/>
              </a:spcAft>
              <a:buNone/>
            </a:pPr>
            <a:r>
              <a:rPr lang="en-US" sz="2200" b="1" dirty="0" smtClean="0">
                <a:solidFill>
                  <a:srgbClr val="0000FF"/>
                </a:solidFill>
                <a:latin typeface="Helvetica" pitchFamily="34" charset="0"/>
              </a:rPr>
              <a:t>First Actions:</a:t>
            </a:r>
          </a:p>
          <a:p>
            <a:pPr>
              <a:spcBef>
                <a:spcPts val="1200"/>
              </a:spcBef>
              <a:spcAft>
                <a:spcPts val="1200"/>
              </a:spcAft>
            </a:pPr>
            <a:r>
              <a:rPr lang="en-US" sz="2200" b="1" dirty="0" smtClean="0">
                <a:latin typeface="Helvetica" pitchFamily="34" charset="0"/>
              </a:rPr>
              <a:t>Refer to the Training Manual for a detailed discussion of ‘First Actions’.</a:t>
            </a:r>
            <a:endParaRPr lang="en-AU" sz="2200" b="1" dirty="0" smtClean="0">
              <a:latin typeface="Helvetica" pitchFamily="34" charset="0"/>
            </a:endParaRP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69</a:t>
            </a:fld>
            <a:endParaRPr lang="en-US" dirty="0"/>
          </a:p>
        </p:txBody>
      </p:sp>
      <p:pic>
        <p:nvPicPr>
          <p:cNvPr id="5" name="Picture 4" descr="iStock_000002829159Medium.jpg"/>
          <p:cNvPicPr>
            <a:picLocks noChangeAspect="1"/>
          </p:cNvPicPr>
          <p:nvPr/>
        </p:nvPicPr>
        <p:blipFill>
          <a:blip r:embed="rId3" cstate="print"/>
          <a:stretch>
            <a:fillRect/>
          </a:stretch>
        </p:blipFill>
        <p:spPr>
          <a:xfrm>
            <a:off x="6300192" y="3645024"/>
            <a:ext cx="2421208" cy="2433472"/>
          </a:xfrm>
          <a:prstGeom prst="rect">
            <a:avLst/>
          </a:prstGeom>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332656"/>
            <a:ext cx="8568952" cy="1656184"/>
          </a:xfrm>
        </p:spPr>
        <p:txBody>
          <a:bodyPr>
            <a:noAutofit/>
          </a:bodyPr>
          <a:lstStyle/>
          <a:p>
            <a:pPr marL="712788" indent="-712788">
              <a:spcBef>
                <a:spcPts val="600"/>
              </a:spcBef>
              <a:spcAft>
                <a:spcPts val="1200"/>
              </a:spcAft>
            </a:pPr>
            <a:r>
              <a:rPr lang="en-US" sz="2800" b="1" dirty="0" smtClean="0">
                <a:solidFill>
                  <a:srgbClr val="FF6600"/>
                </a:solidFill>
                <a:latin typeface="Helvetica"/>
                <a:cs typeface="Helvetica"/>
              </a:rPr>
              <a:t>3.1	Prepare a list of actions that can be taken by staff working in each labor division of the hotel and travel industries to prevent the sexual exploitation of children by tourists</a:t>
            </a:r>
            <a:endParaRPr lang="en-AU" sz="2800" b="1" dirty="0" smtClean="0">
              <a:solidFill>
                <a:srgbClr val="FF6600"/>
              </a:solidFill>
              <a:latin typeface="Helvetica"/>
              <a:cs typeface="Helvetica"/>
            </a:endParaRPr>
          </a:p>
        </p:txBody>
      </p:sp>
      <p:sp>
        <p:nvSpPr>
          <p:cNvPr id="3" name="Content Placeholder 2"/>
          <p:cNvSpPr>
            <a:spLocks noGrp="1"/>
          </p:cNvSpPr>
          <p:nvPr>
            <p:ph idx="1"/>
          </p:nvPr>
        </p:nvSpPr>
        <p:spPr>
          <a:xfrm>
            <a:off x="609600" y="2204864"/>
            <a:ext cx="8138864" cy="4464496"/>
          </a:xfrm>
        </p:spPr>
        <p:txBody>
          <a:bodyPr>
            <a:normAutofit fontScale="92500" lnSpcReduction="20000"/>
          </a:bodyPr>
          <a:lstStyle/>
          <a:p>
            <a:pPr>
              <a:spcBef>
                <a:spcPts val="600"/>
              </a:spcBef>
              <a:spcAft>
                <a:spcPts val="1200"/>
              </a:spcAft>
              <a:buNone/>
            </a:pPr>
            <a:r>
              <a:rPr lang="en-US" sz="2200" b="1" dirty="0" smtClean="0">
                <a:solidFill>
                  <a:srgbClr val="0000FF"/>
                </a:solidFill>
                <a:latin typeface="Helvetica" pitchFamily="34" charset="0"/>
              </a:rPr>
              <a:t>What Can You Do As a Business to Prevent CST?</a:t>
            </a:r>
            <a:endParaRPr lang="en-AU" sz="2200" b="1" dirty="0" smtClean="0">
              <a:solidFill>
                <a:srgbClr val="0000FF"/>
              </a:solidFill>
              <a:latin typeface="Helvetica" pitchFamily="34" charset="0"/>
            </a:endParaRPr>
          </a:p>
          <a:p>
            <a:pPr>
              <a:spcBef>
                <a:spcPts val="600"/>
              </a:spcBef>
              <a:spcAft>
                <a:spcPts val="1200"/>
              </a:spcAft>
            </a:pPr>
            <a:r>
              <a:rPr lang="en-US" sz="2200" b="1" dirty="0" smtClean="0">
                <a:latin typeface="Helvetica" pitchFamily="34" charset="0"/>
              </a:rPr>
              <a:t>Training</a:t>
            </a:r>
          </a:p>
          <a:p>
            <a:pPr>
              <a:spcBef>
                <a:spcPts val="600"/>
              </a:spcBef>
              <a:spcAft>
                <a:spcPts val="1200"/>
              </a:spcAft>
            </a:pPr>
            <a:r>
              <a:rPr lang="en-US" sz="2200" b="1" dirty="0" smtClean="0">
                <a:latin typeface="Helvetica" pitchFamily="34" charset="0"/>
              </a:rPr>
              <a:t>Marketing, Promotion and Booking Agreements</a:t>
            </a:r>
          </a:p>
          <a:p>
            <a:pPr>
              <a:spcBef>
                <a:spcPts val="600"/>
              </a:spcBef>
              <a:spcAft>
                <a:spcPts val="1200"/>
              </a:spcAft>
            </a:pPr>
            <a:r>
              <a:rPr lang="en-US" sz="2200" b="1" dirty="0" smtClean="0">
                <a:latin typeface="Helvetica" pitchFamily="34" charset="0"/>
              </a:rPr>
              <a:t>First Point of Contact Staff</a:t>
            </a:r>
          </a:p>
          <a:p>
            <a:pPr>
              <a:spcBef>
                <a:spcPts val="600"/>
              </a:spcBef>
              <a:spcAft>
                <a:spcPts val="1200"/>
              </a:spcAft>
            </a:pPr>
            <a:r>
              <a:rPr lang="en-US" sz="2200" b="1" dirty="0" smtClean="0">
                <a:latin typeface="Helvetica" pitchFamily="34" charset="0"/>
              </a:rPr>
              <a:t>Child Activity Staff</a:t>
            </a:r>
          </a:p>
          <a:p>
            <a:pPr>
              <a:spcBef>
                <a:spcPts val="600"/>
              </a:spcBef>
              <a:spcAft>
                <a:spcPts val="1200"/>
              </a:spcAft>
            </a:pPr>
            <a:r>
              <a:rPr lang="en-US" sz="2200" b="1" dirty="0" smtClean="0">
                <a:latin typeface="Helvetica" pitchFamily="34" charset="0"/>
              </a:rPr>
              <a:t>Service Suppliers</a:t>
            </a:r>
          </a:p>
          <a:p>
            <a:pPr>
              <a:spcBef>
                <a:spcPts val="600"/>
              </a:spcBef>
              <a:spcAft>
                <a:spcPts val="1200"/>
              </a:spcAft>
            </a:pPr>
            <a:r>
              <a:rPr lang="en-US" sz="2200" b="1" dirty="0" smtClean="0">
                <a:latin typeface="Helvetica" pitchFamily="34" charset="0"/>
              </a:rPr>
              <a:t>Reporting Suspicious Behavior and Offending</a:t>
            </a:r>
          </a:p>
          <a:p>
            <a:pPr>
              <a:spcBef>
                <a:spcPts val="600"/>
              </a:spcBef>
              <a:spcAft>
                <a:spcPts val="1200"/>
              </a:spcAft>
            </a:pPr>
            <a:r>
              <a:rPr lang="en-US" sz="2200" b="1" dirty="0" smtClean="0">
                <a:latin typeface="Helvetica" pitchFamily="34" charset="0"/>
              </a:rPr>
              <a:t>Relationship Building</a:t>
            </a:r>
          </a:p>
          <a:p>
            <a:pPr>
              <a:spcBef>
                <a:spcPts val="600"/>
              </a:spcBef>
              <a:spcAft>
                <a:spcPts val="1200"/>
              </a:spcAft>
            </a:pPr>
            <a:r>
              <a:rPr lang="en-US" sz="2200" b="1" dirty="0" smtClean="0">
                <a:latin typeface="Helvetica" pitchFamily="34" charset="0"/>
              </a:rPr>
              <a:t>Onsite Internet and Computer Use.</a:t>
            </a:r>
            <a:endParaRPr lang="en-AU" sz="2200" b="1" dirty="0" smtClean="0">
              <a:latin typeface="Helvetica" pitchFamily="34" charset="0"/>
            </a:endParaRPr>
          </a:p>
          <a:p>
            <a:pPr>
              <a:spcBef>
                <a:spcPts val="600"/>
              </a:spcBef>
              <a:spcAft>
                <a:spcPts val="1200"/>
              </a:spcAft>
              <a:buNone/>
            </a:pPr>
            <a:endParaRPr lang="en-AU" sz="2400" b="1" dirty="0" smtClean="0"/>
          </a:p>
          <a:p>
            <a:pPr>
              <a:spcBef>
                <a:spcPts val="600"/>
              </a:spcBef>
              <a:spcAft>
                <a:spcPts val="1200"/>
              </a:spcAft>
            </a:pPr>
            <a:endParaRPr lang="en-AU" sz="2400" b="1" dirty="0" smtClean="0"/>
          </a:p>
          <a:p>
            <a:pPr>
              <a:spcBef>
                <a:spcPts val="600"/>
              </a:spcBef>
              <a:spcAft>
                <a:spcPts val="1200"/>
              </a:spcAft>
            </a:pPr>
            <a:endParaRPr lang="en-AU" sz="2400" b="1" dirty="0" smtClean="0"/>
          </a:p>
          <a:p>
            <a:pPr>
              <a:spcBef>
                <a:spcPts val="600"/>
              </a:spcBef>
              <a:spcAft>
                <a:spcPts val="1200"/>
              </a:spcAft>
            </a:pPr>
            <a:endParaRPr lang="en-AU" sz="2400" dirty="0" smtClean="0"/>
          </a:p>
          <a:p>
            <a:pPr>
              <a:spcBef>
                <a:spcPts val="600"/>
              </a:spcBef>
              <a:spcAft>
                <a:spcPts val="1200"/>
              </a:spcAft>
            </a:pPr>
            <a:endParaRPr lang="en-AU" sz="2400" b="1" dirty="0" smtClean="0"/>
          </a:p>
          <a:p>
            <a:pPr>
              <a:spcBef>
                <a:spcPts val="600"/>
              </a:spcBef>
              <a:spcAft>
                <a:spcPts val="1200"/>
              </a:spcAft>
            </a:pPr>
            <a:endParaRPr lang="en-AU" sz="2400" b="1" dirty="0" smtClean="0"/>
          </a:p>
          <a:p>
            <a:pPr>
              <a:spcBef>
                <a:spcPts val="600"/>
              </a:spcBef>
              <a:spcAft>
                <a:spcPts val="1200"/>
              </a:spcAft>
            </a:pPr>
            <a:endParaRPr lang="en-AU" sz="2400" b="1" dirty="0" smtClean="0"/>
          </a:p>
          <a:p>
            <a:pPr lvl="0">
              <a:spcBef>
                <a:spcPts val="600"/>
              </a:spcBef>
              <a:spcAft>
                <a:spcPts val="1200"/>
              </a:spcAft>
            </a:pPr>
            <a:endParaRPr lang="en-AU" sz="2400" b="1"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70</a:t>
            </a:fld>
            <a:endParaRPr lang="en-US" dirty="0"/>
          </a:p>
        </p:txBody>
      </p:sp>
      <p:pic>
        <p:nvPicPr>
          <p:cNvPr id="5" name="Picture 4" descr="iStock_000003030968Medium.jpg"/>
          <p:cNvPicPr>
            <a:picLocks noChangeAspect="1"/>
          </p:cNvPicPr>
          <p:nvPr/>
        </p:nvPicPr>
        <p:blipFill>
          <a:blip r:embed="rId3" cstate="print"/>
          <a:stretch>
            <a:fillRect/>
          </a:stretch>
        </p:blipFill>
        <p:spPr>
          <a:xfrm>
            <a:off x="7231646" y="2924944"/>
            <a:ext cx="1912354" cy="2865152"/>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Technic">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4390</TotalTime>
  <Words>5313</Words>
  <Application>Microsoft Office PowerPoint</Application>
  <PresentationFormat>On-screen Show (4:3)</PresentationFormat>
  <Paragraphs>720</Paragraphs>
  <Slides>70</Slides>
  <Notes>70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70</vt:i4>
      </vt:variant>
    </vt:vector>
  </HeadingPairs>
  <TitlesOfParts>
    <vt:vector size="76" baseType="lpstr">
      <vt:lpstr>Arial</vt:lpstr>
      <vt:lpstr>Calibri</vt:lpstr>
      <vt:lpstr>Franklin Gothic Book</vt:lpstr>
      <vt:lpstr>Helvetica</vt:lpstr>
      <vt:lpstr>Wingdings 2</vt:lpstr>
      <vt:lpstr>Technic</vt:lpstr>
      <vt:lpstr>PERFORM CHILD PROTECTION DUTIES RELEVANT TO THE TOURISM INDUSTRY</vt:lpstr>
      <vt:lpstr>PowerPoint Presentation</vt:lpstr>
      <vt:lpstr>Assessment </vt:lpstr>
      <vt:lpstr>1.  Identify the issue of sexual exploitation of children by tourists</vt:lpstr>
      <vt:lpstr>PowerPoint Presentation</vt:lpstr>
      <vt:lpstr>3. Describe actions that can be taken in the workplace to protect children from sexual exploitation by tourists </vt:lpstr>
      <vt:lpstr>1.1 Define the problem of child sexual exploitation of children by tourists (otherwise known as child-sex tourism)</vt:lpstr>
      <vt:lpstr>1.1 Define the problem of child sexual exploitation of children by tourists (otherwise known as child-sex tourism)</vt:lpstr>
      <vt:lpstr>1.1 Define the problem of child sexual exploitation of children by tourists (otherwise known as child-sex tourism)</vt:lpstr>
      <vt:lpstr>1.1 Define the problem of child sexual exploitation of children by tourists (otherwise known as child-sex tourism)</vt:lpstr>
      <vt:lpstr>1.1 Define the problem of child sexual exploitation of children by tourists (otherwise known as child-sex tourism)</vt:lpstr>
      <vt:lpstr>1.1 Define the problem of child sexual exploitation of children by tourists (otherwise known as child-sex tourism)</vt:lpstr>
      <vt:lpstr>1.1 Define the problem of child sexual exploitation of children by tourists (otherwise known as child-sex tourism)</vt:lpstr>
      <vt:lpstr>1.1 Define the problem of child sexual exploitation of children by tourists (otherwise known as child-sex tourism)</vt:lpstr>
      <vt:lpstr>1.1 Define the problem of child sexual exploitation of children by tourists (otherwise known as child-sex tourism)</vt:lpstr>
      <vt:lpstr>1.1 Define the problem of child sexual exploitation of children by tourists (otherwise known as child-sex tourism)</vt:lpstr>
      <vt:lpstr>1.1 Define the problem of child sexual exploitation of children by tourists (otherwise known as child-sex tourism)</vt:lpstr>
      <vt:lpstr>1.1 Define the problem of child sexual exploitation of children by tourists (otherwise known as child-sex tourism)</vt:lpstr>
      <vt:lpstr>1.1 Define the problem of child sexual exploitation of children by tourists (otherwise known as child-sex tourism)</vt:lpstr>
      <vt:lpstr>1.1 Define the problem of child sexual exploitation of children by tourists (otherwise known as child-sex tourism)</vt:lpstr>
      <vt:lpstr>1.1 Define the problem of child sexual exploitation of children by tourists (otherwise known as child-sex tourism)</vt:lpstr>
      <vt:lpstr>1.2 Describe the impact of child sexual exploitation on children, communities and the hotel and travel industries</vt:lpstr>
      <vt:lpstr>1.2 Describe the impact of child sexual exploitation on children, communities and the hotel and travel industries</vt:lpstr>
      <vt:lpstr>1.2 Describe the impact of child sexual exploitation on children, communities and the hotel and travel industries</vt:lpstr>
      <vt:lpstr>1.2 Describe the impact of child sexual exploitation on children, communities and the hotel and travel industries</vt:lpstr>
      <vt:lpstr>1.2 Describe the impact of child sexual exploitation on children, communities and the hotel and travel industries</vt:lpstr>
      <vt:lpstr>1.2 Describe the impact of child sexual exploitation on children, communities and the hotel and travel industries</vt:lpstr>
      <vt:lpstr>1.2 Describe the impact of child sexual exploitation on children, communities and the hotel and travel industries</vt:lpstr>
      <vt:lpstr>1.2 Describe the impact of child sexual exploitation on children, communities and the hotel and travel industries</vt:lpstr>
      <vt:lpstr>1.2 Describe the impact of child sexual exploitation on children, communities and the hotel and travel industries</vt:lpstr>
      <vt:lpstr>1.2 Describe the impact of child sexual exploitation on children, communities and the hotel and travel industries</vt:lpstr>
      <vt:lpstr>1.2 Describe the impact of child sexual exploitation on children, communities and the hotel and travel industries</vt:lpstr>
      <vt:lpstr>1.2 Describe the impact of child sexual exploitation on children, communities and the hotel and travel industries</vt:lpstr>
      <vt:lpstr>1.2 Describe the impact of child sexual exploitation on children, communities and the hotel and travel industries</vt:lpstr>
      <vt:lpstr>1.2 Describe the impact of child sexual exploitation on children, communities and the hotel and travel industries</vt:lpstr>
      <vt:lpstr>1.3 Identify suspicious behaviors that may be exhibited by child sex tourists</vt:lpstr>
      <vt:lpstr>1.3 Identify suspicious behaviors that may be exhibited by child sex tourists</vt:lpstr>
      <vt:lpstr>1.3 Identify suspicious behaviors that may be exhibited by child sex tourists</vt:lpstr>
      <vt:lpstr>1.3 Identify suspicious behaviors that may be exhibited by child sex tourists</vt:lpstr>
      <vt:lpstr>1.3 Identify suspicious behaviors that may be exhibited by child sex tourists</vt:lpstr>
      <vt:lpstr>1.3 Identify suspicious behaviors that may be exhibited by child sex tourists</vt:lpstr>
      <vt:lpstr>1.3 Identify suspicious behaviors that may be exhibited by child sex tourists</vt:lpstr>
      <vt:lpstr>1.3 Identify suspicious behaviors that may be exhibited by child sex tourists</vt:lpstr>
      <vt:lpstr>2.1 Locate and become familiar with the United Nations Convention on the Rights (UNCRC) of the Child and the main UN Articles relating to the rights of all children to be safe from sexual exploitation </vt:lpstr>
      <vt:lpstr>2.1 Locate and become familiar with the United Nations Convention on the Rights (UNCRC) of the Child and the main UN Articles relating to the rights of all children to be safe from sexual exploitation </vt:lpstr>
      <vt:lpstr>2.2 Examine national, regional and international initiatives to prevent the sexual exploitation of children by tourists</vt:lpstr>
      <vt:lpstr>2.2 Examine national, regional and international initiatives to prevent the sexual exploitation of children by tourists</vt:lpstr>
      <vt:lpstr>2.2 Examine national, regional and international initiatives to prevent the sexual exploitation of children by tourists</vt:lpstr>
      <vt:lpstr>2.2 Examine national, regional and international initiatives to prevent the sexual exploitation of children by tourists</vt:lpstr>
      <vt:lpstr>2.2 Examine national, regional and international initiatives to prevent the sexual exploitation of children by tourists</vt:lpstr>
      <vt:lpstr>2.2 Examine national, regional and international initiatives to prevent the sexual exploitation of children by tourists</vt:lpstr>
      <vt:lpstr>2.2 Examine national, regional and international initiatives to prevent the sexual exploitation of children by tourists</vt:lpstr>
      <vt:lpstr>2.2 Examine national, regional and international initiatives to prevent the sexual exploitation of children by tourists</vt:lpstr>
      <vt:lpstr>2.2 Examine national, regional and international initiatives to prevent the sexual exploitation of children by tourists</vt:lpstr>
      <vt:lpstr>2.3 Identify reporting mechanisms if suspicious behavior is observed</vt:lpstr>
      <vt:lpstr>2.3 Identify reporting mechanisms if suspicious behavior is observed</vt:lpstr>
      <vt:lpstr>2.3 Identify reporting mechanisms if suspicious behavior is observed</vt:lpstr>
      <vt:lpstr>2.3 Identify reporting mechanisms if suspicious behavior is observed</vt:lpstr>
      <vt:lpstr>2.3 Identify reporting mechanisms if suspicious behavior is observed</vt:lpstr>
      <vt:lpstr>2.3 Identify reporting mechanisms if suspicious behavior is observed</vt:lpstr>
      <vt:lpstr>2.3 Identify reporting mechanisms if suspicious behavior is observed</vt:lpstr>
      <vt:lpstr>3.1 Prepare a list of actions that can be taken by staff working in each labor division of the hotel and travel industries to prevent the sexual exploitation of children by tourists</vt:lpstr>
      <vt:lpstr>3.1 Prepare a list of actions that can be taken by staff working in each labor division of the hotel and travel industries to prevent the sexual exploitation of children by tourists</vt:lpstr>
      <vt:lpstr>3.1 Prepare a list of actions that can be taken by staff working in each labor division of the hotel and travel industries to prevent the sexual exploitation of children by tourists</vt:lpstr>
      <vt:lpstr>3.1 Prepare a list of actions that can be taken by staff working in each labor division of the hotel and travel industries to prevent the sexual exploitation of children by tourists</vt:lpstr>
      <vt:lpstr>3.1 Prepare a list of actions that can be taken by staff working in each labor division of the hotel and travel industries to prevent the sexual exploitation of children by tourists</vt:lpstr>
      <vt:lpstr>3.1 Prepare a list of actions that can be taken by staff working in each labor division of the hotel and travel industries to prevent the sexual exploitation of children by tourists</vt:lpstr>
      <vt:lpstr>3.1 Prepare a list of actions that can be taken by staff working in each labor division of the hotel and travel industries to prevent the sexual exploitation of children by tourists</vt:lpstr>
      <vt:lpstr>3.1 Prepare a list of actions that can be taken by staff working in each labor division of the hotel and travel industries to prevent the sexual exploitation of children by tourists</vt:lpstr>
      <vt:lpstr>3.1 Prepare a list of actions that can be taken by staff working in each labor division of the hotel and travel industries to prevent the sexual exploitation of children by tourists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Communicate on the telephone</dc:title>
  <dc:creator>Mai Vu</dc:creator>
  <cp:lastModifiedBy>Ma. Christina Aquino</cp:lastModifiedBy>
  <cp:revision>382</cp:revision>
  <dcterms:created xsi:type="dcterms:W3CDTF">2012-01-17T22:35:24Z</dcterms:created>
  <dcterms:modified xsi:type="dcterms:W3CDTF">2015-03-31T01:20:15Z</dcterms:modified>
</cp:coreProperties>
</file>