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77"/>
  </p:notesMasterIdLst>
  <p:handoutMasterIdLst>
    <p:handoutMasterId r:id="rId78"/>
  </p:handoutMasterIdLst>
  <p:sldIdLst>
    <p:sldId id="256" r:id="rId2"/>
    <p:sldId id="257" r:id="rId3"/>
    <p:sldId id="258" r:id="rId4"/>
    <p:sldId id="259" r:id="rId5"/>
    <p:sldId id="260" r:id="rId6"/>
    <p:sldId id="268" r:id="rId7"/>
    <p:sldId id="269" r:id="rId8"/>
    <p:sldId id="264" r:id="rId9"/>
    <p:sldId id="266" r:id="rId10"/>
    <p:sldId id="271" r:id="rId11"/>
    <p:sldId id="267" r:id="rId12"/>
    <p:sldId id="265" r:id="rId13"/>
    <p:sldId id="273" r:id="rId14"/>
    <p:sldId id="274" r:id="rId15"/>
    <p:sldId id="275" r:id="rId16"/>
    <p:sldId id="276" r:id="rId17"/>
    <p:sldId id="278" r:id="rId18"/>
    <p:sldId id="277" r:id="rId19"/>
    <p:sldId id="279" r:id="rId20"/>
    <p:sldId id="281" r:id="rId21"/>
    <p:sldId id="280" r:id="rId22"/>
    <p:sldId id="282" r:id="rId23"/>
    <p:sldId id="283" r:id="rId24"/>
    <p:sldId id="284" r:id="rId25"/>
    <p:sldId id="285" r:id="rId26"/>
    <p:sldId id="286" r:id="rId27"/>
    <p:sldId id="287" r:id="rId28"/>
    <p:sldId id="289" r:id="rId29"/>
    <p:sldId id="290" r:id="rId30"/>
    <p:sldId id="291" r:id="rId31"/>
    <p:sldId id="292" r:id="rId32"/>
    <p:sldId id="293" r:id="rId33"/>
    <p:sldId id="294" r:id="rId34"/>
    <p:sldId id="295" r:id="rId35"/>
    <p:sldId id="296" r:id="rId36"/>
    <p:sldId id="297" r:id="rId37"/>
    <p:sldId id="298" r:id="rId38"/>
    <p:sldId id="299" r:id="rId39"/>
    <p:sldId id="300" r:id="rId40"/>
    <p:sldId id="301" r:id="rId41"/>
    <p:sldId id="302" r:id="rId42"/>
    <p:sldId id="303" r:id="rId43"/>
    <p:sldId id="304" r:id="rId44"/>
    <p:sldId id="305" r:id="rId45"/>
    <p:sldId id="306" r:id="rId46"/>
    <p:sldId id="307" r:id="rId47"/>
    <p:sldId id="308" r:id="rId48"/>
    <p:sldId id="309" r:id="rId49"/>
    <p:sldId id="310" r:id="rId50"/>
    <p:sldId id="311" r:id="rId51"/>
    <p:sldId id="312" r:id="rId52"/>
    <p:sldId id="313" r:id="rId53"/>
    <p:sldId id="314" r:id="rId54"/>
    <p:sldId id="315" r:id="rId55"/>
    <p:sldId id="316" r:id="rId56"/>
    <p:sldId id="317" r:id="rId57"/>
    <p:sldId id="318" r:id="rId58"/>
    <p:sldId id="319" r:id="rId59"/>
    <p:sldId id="320" r:id="rId60"/>
    <p:sldId id="321" r:id="rId61"/>
    <p:sldId id="322" r:id="rId62"/>
    <p:sldId id="323" r:id="rId63"/>
    <p:sldId id="324" r:id="rId64"/>
    <p:sldId id="325" r:id="rId65"/>
    <p:sldId id="326" r:id="rId66"/>
    <p:sldId id="327" r:id="rId67"/>
    <p:sldId id="328" r:id="rId68"/>
    <p:sldId id="329" r:id="rId69"/>
    <p:sldId id="330" r:id="rId70"/>
    <p:sldId id="331" r:id="rId71"/>
    <p:sldId id="332" r:id="rId72"/>
    <p:sldId id="333" r:id="rId73"/>
    <p:sldId id="334" r:id="rId74"/>
    <p:sldId id="335" r:id="rId75"/>
    <p:sldId id="336" r:id="rId76"/>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807" autoAdjust="0"/>
    <p:restoredTop sz="73898" autoAdjust="0"/>
  </p:normalViewPr>
  <p:slideViewPr>
    <p:cSldViewPr>
      <p:cViewPr varScale="1">
        <p:scale>
          <a:sx n="68" d="100"/>
          <a:sy n="68" d="100"/>
        </p:scale>
        <p:origin x="2070"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handoutMaster" Target="handoutMasters/handout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F422C15-66ED-4F0C-B78A-23632E0AD608}" type="doc">
      <dgm:prSet loTypeId="urn:microsoft.com/office/officeart/2005/8/layout/cycle6" loCatId="relationship" qsTypeId="urn:microsoft.com/office/officeart/2005/8/quickstyle/simple1" qsCatId="simple" csTypeId="urn:microsoft.com/office/officeart/2005/8/colors/colorful5" csCatId="colorful" phldr="1"/>
      <dgm:spPr/>
      <dgm:t>
        <a:bodyPr/>
        <a:lstStyle/>
        <a:p>
          <a:endParaRPr lang="en-AU"/>
        </a:p>
      </dgm:t>
    </dgm:pt>
    <dgm:pt modelId="{C65C4323-F321-4DA4-ACD6-5EC7A74FC183}">
      <dgm:prSet phldrT="[Text]"/>
      <dgm:spPr/>
      <dgm:t>
        <a:bodyPr/>
        <a:lstStyle/>
        <a:p>
          <a:r>
            <a:rPr lang="en-AU" dirty="0">
              <a:latin typeface="Helvetica" pitchFamily="34" charset="0"/>
            </a:rPr>
            <a:t>Business letter</a:t>
          </a:r>
        </a:p>
      </dgm:t>
    </dgm:pt>
    <dgm:pt modelId="{99F61D73-E8AD-4644-BB50-B040DFD9FFDB}" type="parTrans" cxnId="{43F35CB0-9C5A-4DC4-9C90-36B2F369A043}">
      <dgm:prSet/>
      <dgm:spPr/>
      <dgm:t>
        <a:bodyPr/>
        <a:lstStyle/>
        <a:p>
          <a:endParaRPr lang="en-AU">
            <a:latin typeface="Helvetica" pitchFamily="34" charset="0"/>
          </a:endParaRPr>
        </a:p>
      </dgm:t>
    </dgm:pt>
    <dgm:pt modelId="{85218400-E6BF-463B-9516-2543F901EF9D}" type="sibTrans" cxnId="{43F35CB0-9C5A-4DC4-9C90-36B2F369A043}">
      <dgm:prSet/>
      <dgm:spPr/>
      <dgm:t>
        <a:bodyPr/>
        <a:lstStyle/>
        <a:p>
          <a:endParaRPr lang="en-AU" dirty="0">
            <a:latin typeface="Helvetica" pitchFamily="34" charset="0"/>
          </a:endParaRPr>
        </a:p>
      </dgm:t>
    </dgm:pt>
    <dgm:pt modelId="{981D590F-980B-48D0-9ACB-3813573AA609}">
      <dgm:prSet phldrT="[Text]"/>
      <dgm:spPr/>
      <dgm:t>
        <a:bodyPr/>
        <a:lstStyle/>
        <a:p>
          <a:r>
            <a:rPr lang="en-AU" dirty="0">
              <a:latin typeface="Helvetica" pitchFamily="34" charset="0"/>
            </a:rPr>
            <a:t>Minutes</a:t>
          </a:r>
        </a:p>
      </dgm:t>
    </dgm:pt>
    <dgm:pt modelId="{C0B2542D-FD17-4716-AA45-15B4186E32CC}" type="parTrans" cxnId="{14C441B6-6B82-4EC0-A61F-79A78887DD7C}">
      <dgm:prSet/>
      <dgm:spPr/>
      <dgm:t>
        <a:bodyPr/>
        <a:lstStyle/>
        <a:p>
          <a:endParaRPr lang="en-AU">
            <a:latin typeface="Helvetica" pitchFamily="34" charset="0"/>
          </a:endParaRPr>
        </a:p>
      </dgm:t>
    </dgm:pt>
    <dgm:pt modelId="{1102F6D9-CB70-468D-8369-3A7873543CB8}" type="sibTrans" cxnId="{14C441B6-6B82-4EC0-A61F-79A78887DD7C}">
      <dgm:prSet/>
      <dgm:spPr/>
      <dgm:t>
        <a:bodyPr/>
        <a:lstStyle/>
        <a:p>
          <a:endParaRPr lang="en-AU" dirty="0">
            <a:latin typeface="Helvetica" pitchFamily="34" charset="0"/>
          </a:endParaRPr>
        </a:p>
      </dgm:t>
    </dgm:pt>
    <dgm:pt modelId="{9E4BBB7C-16E2-44AC-9AD1-394FD64EE330}">
      <dgm:prSet phldrT="[Text]"/>
      <dgm:spPr/>
      <dgm:t>
        <a:bodyPr/>
        <a:lstStyle/>
        <a:p>
          <a:r>
            <a:rPr lang="en-AU" dirty="0">
              <a:latin typeface="Helvetica" pitchFamily="34" charset="0"/>
            </a:rPr>
            <a:t>Agenda</a:t>
          </a:r>
        </a:p>
      </dgm:t>
    </dgm:pt>
    <dgm:pt modelId="{8CAAE0E0-4502-4C0B-995D-E0F0DF82625C}" type="parTrans" cxnId="{F3E3BDF0-571B-4973-8460-85801D28F6DD}">
      <dgm:prSet/>
      <dgm:spPr/>
      <dgm:t>
        <a:bodyPr/>
        <a:lstStyle/>
        <a:p>
          <a:endParaRPr lang="en-AU">
            <a:latin typeface="Helvetica" pitchFamily="34" charset="0"/>
          </a:endParaRPr>
        </a:p>
      </dgm:t>
    </dgm:pt>
    <dgm:pt modelId="{0F35A542-464D-4AA4-9F83-601F7E9D3324}" type="sibTrans" cxnId="{F3E3BDF0-571B-4973-8460-85801D28F6DD}">
      <dgm:prSet/>
      <dgm:spPr/>
      <dgm:t>
        <a:bodyPr/>
        <a:lstStyle/>
        <a:p>
          <a:endParaRPr lang="en-AU" dirty="0">
            <a:latin typeface="Helvetica" pitchFamily="34" charset="0"/>
          </a:endParaRPr>
        </a:p>
      </dgm:t>
    </dgm:pt>
    <dgm:pt modelId="{786229D9-A2F6-4288-A7A6-AA61EA4811E0}">
      <dgm:prSet phldrT="[Text]"/>
      <dgm:spPr/>
      <dgm:t>
        <a:bodyPr/>
        <a:lstStyle/>
        <a:p>
          <a:r>
            <a:rPr lang="en-AU" dirty="0">
              <a:latin typeface="Helvetica" pitchFamily="34" charset="0"/>
            </a:rPr>
            <a:t>Report</a:t>
          </a:r>
        </a:p>
      </dgm:t>
    </dgm:pt>
    <dgm:pt modelId="{A71365BE-6B27-4473-9BAC-432F1C272DAD}" type="parTrans" cxnId="{76C0DF1C-ED06-41F2-8B2B-3B49E1F93EC3}">
      <dgm:prSet/>
      <dgm:spPr/>
      <dgm:t>
        <a:bodyPr/>
        <a:lstStyle/>
        <a:p>
          <a:endParaRPr lang="en-AU">
            <a:latin typeface="Helvetica" pitchFamily="34" charset="0"/>
          </a:endParaRPr>
        </a:p>
      </dgm:t>
    </dgm:pt>
    <dgm:pt modelId="{5554356A-BBB1-4139-BCFC-14C54E489CF1}" type="sibTrans" cxnId="{76C0DF1C-ED06-41F2-8B2B-3B49E1F93EC3}">
      <dgm:prSet/>
      <dgm:spPr/>
      <dgm:t>
        <a:bodyPr/>
        <a:lstStyle/>
        <a:p>
          <a:endParaRPr lang="en-AU" dirty="0">
            <a:latin typeface="Helvetica" pitchFamily="34" charset="0"/>
          </a:endParaRPr>
        </a:p>
      </dgm:t>
    </dgm:pt>
    <dgm:pt modelId="{3C5B0F0D-C34A-496D-980F-EFCE42FD93F4}">
      <dgm:prSet phldrT="[Text]"/>
      <dgm:spPr/>
      <dgm:t>
        <a:bodyPr/>
        <a:lstStyle/>
        <a:p>
          <a:r>
            <a:rPr lang="en-AU" dirty="0">
              <a:latin typeface="Helvetica" pitchFamily="34" charset="0"/>
            </a:rPr>
            <a:t>Memo/Email</a:t>
          </a:r>
        </a:p>
      </dgm:t>
    </dgm:pt>
    <dgm:pt modelId="{87D19D58-2484-4FD6-BD5A-E999CA72A6FC}" type="parTrans" cxnId="{B2E0F17C-1D55-4495-82A4-86E334F8B4D4}">
      <dgm:prSet/>
      <dgm:spPr/>
      <dgm:t>
        <a:bodyPr/>
        <a:lstStyle/>
        <a:p>
          <a:endParaRPr lang="en-AU">
            <a:latin typeface="Helvetica" pitchFamily="34" charset="0"/>
          </a:endParaRPr>
        </a:p>
      </dgm:t>
    </dgm:pt>
    <dgm:pt modelId="{934F09A9-BCDC-4C40-AB3D-634FD4B29F28}" type="sibTrans" cxnId="{B2E0F17C-1D55-4495-82A4-86E334F8B4D4}">
      <dgm:prSet/>
      <dgm:spPr/>
      <dgm:t>
        <a:bodyPr/>
        <a:lstStyle/>
        <a:p>
          <a:endParaRPr lang="en-AU" dirty="0">
            <a:latin typeface="Helvetica" pitchFamily="34" charset="0"/>
          </a:endParaRPr>
        </a:p>
      </dgm:t>
    </dgm:pt>
    <dgm:pt modelId="{6BF687D5-A31E-4C9E-B436-3C74569DEF2A}">
      <dgm:prSet phldrT="[Text]"/>
      <dgm:spPr/>
      <dgm:t>
        <a:bodyPr/>
        <a:lstStyle/>
        <a:p>
          <a:r>
            <a:rPr lang="en-AU" dirty="0">
              <a:latin typeface="Helvetica" pitchFamily="34" charset="0"/>
            </a:rPr>
            <a:t>Invoice</a:t>
          </a:r>
        </a:p>
      </dgm:t>
    </dgm:pt>
    <dgm:pt modelId="{557A582E-F80D-4A58-A583-234B9C8AF101}" type="parTrans" cxnId="{CC22D47E-9A00-4BEE-AE57-E5C45E1DDC04}">
      <dgm:prSet/>
      <dgm:spPr/>
      <dgm:t>
        <a:bodyPr/>
        <a:lstStyle/>
        <a:p>
          <a:endParaRPr lang="en-AU">
            <a:latin typeface="Helvetica" pitchFamily="34" charset="0"/>
          </a:endParaRPr>
        </a:p>
      </dgm:t>
    </dgm:pt>
    <dgm:pt modelId="{AFCDB6D1-FBD9-48C4-B26F-0D517D7559CA}" type="sibTrans" cxnId="{CC22D47E-9A00-4BEE-AE57-E5C45E1DDC04}">
      <dgm:prSet/>
      <dgm:spPr/>
      <dgm:t>
        <a:bodyPr/>
        <a:lstStyle/>
        <a:p>
          <a:endParaRPr lang="en-AU" dirty="0">
            <a:latin typeface="Helvetica" pitchFamily="34" charset="0"/>
          </a:endParaRPr>
        </a:p>
      </dgm:t>
    </dgm:pt>
    <dgm:pt modelId="{8ADFE9B4-AB49-48AF-9080-0E70ED7EFB28}">
      <dgm:prSet phldrT="[Text]"/>
      <dgm:spPr/>
      <dgm:t>
        <a:bodyPr/>
        <a:lstStyle/>
        <a:p>
          <a:r>
            <a:rPr lang="en-AU" dirty="0">
              <a:latin typeface="Helvetica" pitchFamily="34" charset="0"/>
            </a:rPr>
            <a:t>Receipt</a:t>
          </a:r>
        </a:p>
      </dgm:t>
    </dgm:pt>
    <dgm:pt modelId="{4D62FDFC-F35C-4A68-8F8C-BAF5BA65D299}" type="parTrans" cxnId="{1CEE87C6-5C76-4A73-83A5-CD700EE3F570}">
      <dgm:prSet/>
      <dgm:spPr/>
      <dgm:t>
        <a:bodyPr/>
        <a:lstStyle/>
        <a:p>
          <a:endParaRPr lang="en-AU">
            <a:latin typeface="Helvetica" pitchFamily="34" charset="0"/>
          </a:endParaRPr>
        </a:p>
      </dgm:t>
    </dgm:pt>
    <dgm:pt modelId="{75A38E58-4805-4DF4-91C8-309C6E6A0A52}" type="sibTrans" cxnId="{1CEE87C6-5C76-4A73-83A5-CD700EE3F570}">
      <dgm:prSet/>
      <dgm:spPr/>
      <dgm:t>
        <a:bodyPr/>
        <a:lstStyle/>
        <a:p>
          <a:endParaRPr lang="en-AU" dirty="0">
            <a:latin typeface="Helvetica" pitchFamily="34" charset="0"/>
          </a:endParaRPr>
        </a:p>
      </dgm:t>
    </dgm:pt>
    <dgm:pt modelId="{A93FF620-DA46-4845-A347-A2CB958C64BF}">
      <dgm:prSet phldrT="[Text]"/>
      <dgm:spPr/>
      <dgm:t>
        <a:bodyPr/>
        <a:lstStyle/>
        <a:p>
          <a:r>
            <a:rPr lang="en-AU" dirty="0">
              <a:latin typeface="Helvetica" pitchFamily="34" charset="0"/>
            </a:rPr>
            <a:t>Message</a:t>
          </a:r>
        </a:p>
      </dgm:t>
    </dgm:pt>
    <dgm:pt modelId="{F15213A5-7C09-4991-A7B7-EC26F5552357}" type="parTrans" cxnId="{1D72218C-AF0D-4265-AA37-8E01F36A3327}">
      <dgm:prSet/>
      <dgm:spPr/>
      <dgm:t>
        <a:bodyPr/>
        <a:lstStyle/>
        <a:p>
          <a:endParaRPr lang="en-AU">
            <a:latin typeface="Helvetica" pitchFamily="34" charset="0"/>
          </a:endParaRPr>
        </a:p>
      </dgm:t>
    </dgm:pt>
    <dgm:pt modelId="{A21F4DF5-E7A1-489A-9EE2-53DA0993BD6F}" type="sibTrans" cxnId="{1D72218C-AF0D-4265-AA37-8E01F36A3327}">
      <dgm:prSet/>
      <dgm:spPr/>
      <dgm:t>
        <a:bodyPr/>
        <a:lstStyle/>
        <a:p>
          <a:endParaRPr lang="en-AU" dirty="0">
            <a:latin typeface="Helvetica" pitchFamily="34" charset="0"/>
          </a:endParaRPr>
        </a:p>
      </dgm:t>
    </dgm:pt>
    <dgm:pt modelId="{47E0CB6C-DF48-4D2D-BAFB-A5410E1FA290}" type="pres">
      <dgm:prSet presAssocID="{3F422C15-66ED-4F0C-B78A-23632E0AD608}" presName="cycle" presStyleCnt="0">
        <dgm:presLayoutVars>
          <dgm:dir/>
          <dgm:resizeHandles val="exact"/>
        </dgm:presLayoutVars>
      </dgm:prSet>
      <dgm:spPr/>
      <dgm:t>
        <a:bodyPr/>
        <a:lstStyle/>
        <a:p>
          <a:endParaRPr lang="en-AU"/>
        </a:p>
      </dgm:t>
    </dgm:pt>
    <dgm:pt modelId="{7798D984-B9DF-41CE-BF8B-CEE12391B271}" type="pres">
      <dgm:prSet presAssocID="{C65C4323-F321-4DA4-ACD6-5EC7A74FC183}" presName="node" presStyleLbl="node1" presStyleIdx="0" presStyleCnt="8">
        <dgm:presLayoutVars>
          <dgm:bulletEnabled val="1"/>
        </dgm:presLayoutVars>
      </dgm:prSet>
      <dgm:spPr/>
      <dgm:t>
        <a:bodyPr/>
        <a:lstStyle/>
        <a:p>
          <a:endParaRPr lang="en-AU"/>
        </a:p>
      </dgm:t>
    </dgm:pt>
    <dgm:pt modelId="{36BBA5DE-C85B-41EA-A1D8-B1EB92DCEA02}" type="pres">
      <dgm:prSet presAssocID="{C65C4323-F321-4DA4-ACD6-5EC7A74FC183}" presName="spNode" presStyleCnt="0"/>
      <dgm:spPr/>
    </dgm:pt>
    <dgm:pt modelId="{76835164-5F37-47D2-A6EA-3323D9FE478E}" type="pres">
      <dgm:prSet presAssocID="{85218400-E6BF-463B-9516-2543F901EF9D}" presName="sibTrans" presStyleLbl="sibTrans1D1" presStyleIdx="0" presStyleCnt="8"/>
      <dgm:spPr/>
      <dgm:t>
        <a:bodyPr/>
        <a:lstStyle/>
        <a:p>
          <a:endParaRPr lang="en-AU"/>
        </a:p>
      </dgm:t>
    </dgm:pt>
    <dgm:pt modelId="{8BC764F7-7DDC-45C4-B7A9-CE3C74AA13B2}" type="pres">
      <dgm:prSet presAssocID="{981D590F-980B-48D0-9ACB-3813573AA609}" presName="node" presStyleLbl="node1" presStyleIdx="1" presStyleCnt="8">
        <dgm:presLayoutVars>
          <dgm:bulletEnabled val="1"/>
        </dgm:presLayoutVars>
      </dgm:prSet>
      <dgm:spPr/>
      <dgm:t>
        <a:bodyPr/>
        <a:lstStyle/>
        <a:p>
          <a:endParaRPr lang="en-AU"/>
        </a:p>
      </dgm:t>
    </dgm:pt>
    <dgm:pt modelId="{8760379A-E7EE-4D27-9DF5-34E2D9E5BE1F}" type="pres">
      <dgm:prSet presAssocID="{981D590F-980B-48D0-9ACB-3813573AA609}" presName="spNode" presStyleCnt="0"/>
      <dgm:spPr/>
    </dgm:pt>
    <dgm:pt modelId="{BCF32CC8-FF31-4170-BD63-6539F79D5678}" type="pres">
      <dgm:prSet presAssocID="{1102F6D9-CB70-468D-8369-3A7873543CB8}" presName="sibTrans" presStyleLbl="sibTrans1D1" presStyleIdx="1" presStyleCnt="8"/>
      <dgm:spPr/>
      <dgm:t>
        <a:bodyPr/>
        <a:lstStyle/>
        <a:p>
          <a:endParaRPr lang="en-AU"/>
        </a:p>
      </dgm:t>
    </dgm:pt>
    <dgm:pt modelId="{C14F902A-EF7C-4B2D-8B66-46A860D6A553}" type="pres">
      <dgm:prSet presAssocID="{9E4BBB7C-16E2-44AC-9AD1-394FD64EE330}" presName="node" presStyleLbl="node1" presStyleIdx="2" presStyleCnt="8">
        <dgm:presLayoutVars>
          <dgm:bulletEnabled val="1"/>
        </dgm:presLayoutVars>
      </dgm:prSet>
      <dgm:spPr/>
      <dgm:t>
        <a:bodyPr/>
        <a:lstStyle/>
        <a:p>
          <a:endParaRPr lang="en-AU"/>
        </a:p>
      </dgm:t>
    </dgm:pt>
    <dgm:pt modelId="{A62F13D4-B787-48CF-9017-B8C4BD6FD95C}" type="pres">
      <dgm:prSet presAssocID="{9E4BBB7C-16E2-44AC-9AD1-394FD64EE330}" presName="spNode" presStyleCnt="0"/>
      <dgm:spPr/>
    </dgm:pt>
    <dgm:pt modelId="{CD6446B7-0A83-40B9-ADFC-BFFFA522E366}" type="pres">
      <dgm:prSet presAssocID="{0F35A542-464D-4AA4-9F83-601F7E9D3324}" presName="sibTrans" presStyleLbl="sibTrans1D1" presStyleIdx="2" presStyleCnt="8"/>
      <dgm:spPr/>
      <dgm:t>
        <a:bodyPr/>
        <a:lstStyle/>
        <a:p>
          <a:endParaRPr lang="en-AU"/>
        </a:p>
      </dgm:t>
    </dgm:pt>
    <dgm:pt modelId="{8AFCA5D4-55AC-4BFF-A3CB-3A309D817D2F}" type="pres">
      <dgm:prSet presAssocID="{786229D9-A2F6-4288-A7A6-AA61EA4811E0}" presName="node" presStyleLbl="node1" presStyleIdx="3" presStyleCnt="8">
        <dgm:presLayoutVars>
          <dgm:bulletEnabled val="1"/>
        </dgm:presLayoutVars>
      </dgm:prSet>
      <dgm:spPr/>
      <dgm:t>
        <a:bodyPr/>
        <a:lstStyle/>
        <a:p>
          <a:endParaRPr lang="en-AU"/>
        </a:p>
      </dgm:t>
    </dgm:pt>
    <dgm:pt modelId="{F5A8D90C-C460-494F-9C92-79F6A9FBE63A}" type="pres">
      <dgm:prSet presAssocID="{786229D9-A2F6-4288-A7A6-AA61EA4811E0}" presName="spNode" presStyleCnt="0"/>
      <dgm:spPr/>
    </dgm:pt>
    <dgm:pt modelId="{36220849-1BA4-4233-B07D-E327BFDF34BF}" type="pres">
      <dgm:prSet presAssocID="{5554356A-BBB1-4139-BCFC-14C54E489CF1}" presName="sibTrans" presStyleLbl="sibTrans1D1" presStyleIdx="3" presStyleCnt="8"/>
      <dgm:spPr/>
      <dgm:t>
        <a:bodyPr/>
        <a:lstStyle/>
        <a:p>
          <a:endParaRPr lang="en-AU"/>
        </a:p>
      </dgm:t>
    </dgm:pt>
    <dgm:pt modelId="{3864AA40-D604-4F39-97C9-37705C5DCFB1}" type="pres">
      <dgm:prSet presAssocID="{3C5B0F0D-C34A-496D-980F-EFCE42FD93F4}" presName="node" presStyleLbl="node1" presStyleIdx="4" presStyleCnt="8">
        <dgm:presLayoutVars>
          <dgm:bulletEnabled val="1"/>
        </dgm:presLayoutVars>
      </dgm:prSet>
      <dgm:spPr/>
      <dgm:t>
        <a:bodyPr/>
        <a:lstStyle/>
        <a:p>
          <a:endParaRPr lang="en-AU"/>
        </a:p>
      </dgm:t>
    </dgm:pt>
    <dgm:pt modelId="{BC93BA26-FCAB-49F3-9CDC-D893CB8BFDD9}" type="pres">
      <dgm:prSet presAssocID="{3C5B0F0D-C34A-496D-980F-EFCE42FD93F4}" presName="spNode" presStyleCnt="0"/>
      <dgm:spPr/>
    </dgm:pt>
    <dgm:pt modelId="{047ED581-9F7D-485A-BC76-E4B71670019E}" type="pres">
      <dgm:prSet presAssocID="{934F09A9-BCDC-4C40-AB3D-634FD4B29F28}" presName="sibTrans" presStyleLbl="sibTrans1D1" presStyleIdx="4" presStyleCnt="8"/>
      <dgm:spPr/>
      <dgm:t>
        <a:bodyPr/>
        <a:lstStyle/>
        <a:p>
          <a:endParaRPr lang="en-AU"/>
        </a:p>
      </dgm:t>
    </dgm:pt>
    <dgm:pt modelId="{F2F110C1-6856-4B60-A768-C9458F77A194}" type="pres">
      <dgm:prSet presAssocID="{6BF687D5-A31E-4C9E-B436-3C74569DEF2A}" presName="node" presStyleLbl="node1" presStyleIdx="5" presStyleCnt="8">
        <dgm:presLayoutVars>
          <dgm:bulletEnabled val="1"/>
        </dgm:presLayoutVars>
      </dgm:prSet>
      <dgm:spPr/>
      <dgm:t>
        <a:bodyPr/>
        <a:lstStyle/>
        <a:p>
          <a:endParaRPr lang="en-AU"/>
        </a:p>
      </dgm:t>
    </dgm:pt>
    <dgm:pt modelId="{A5644A95-6176-49B2-9A21-9551E341B6BA}" type="pres">
      <dgm:prSet presAssocID="{6BF687D5-A31E-4C9E-B436-3C74569DEF2A}" presName="spNode" presStyleCnt="0"/>
      <dgm:spPr/>
    </dgm:pt>
    <dgm:pt modelId="{3FA839C2-43AD-4FC8-ADB0-109E31C6F424}" type="pres">
      <dgm:prSet presAssocID="{AFCDB6D1-FBD9-48C4-B26F-0D517D7559CA}" presName="sibTrans" presStyleLbl="sibTrans1D1" presStyleIdx="5" presStyleCnt="8"/>
      <dgm:spPr/>
      <dgm:t>
        <a:bodyPr/>
        <a:lstStyle/>
        <a:p>
          <a:endParaRPr lang="en-AU"/>
        </a:p>
      </dgm:t>
    </dgm:pt>
    <dgm:pt modelId="{2F6D21C3-298D-4D98-B8AF-84FB77279851}" type="pres">
      <dgm:prSet presAssocID="{8ADFE9B4-AB49-48AF-9080-0E70ED7EFB28}" presName="node" presStyleLbl="node1" presStyleIdx="6" presStyleCnt="8">
        <dgm:presLayoutVars>
          <dgm:bulletEnabled val="1"/>
        </dgm:presLayoutVars>
      </dgm:prSet>
      <dgm:spPr/>
      <dgm:t>
        <a:bodyPr/>
        <a:lstStyle/>
        <a:p>
          <a:endParaRPr lang="en-AU"/>
        </a:p>
      </dgm:t>
    </dgm:pt>
    <dgm:pt modelId="{05726264-6C9C-48DC-A5E1-CE4FE3F9A27F}" type="pres">
      <dgm:prSet presAssocID="{8ADFE9B4-AB49-48AF-9080-0E70ED7EFB28}" presName="spNode" presStyleCnt="0"/>
      <dgm:spPr/>
    </dgm:pt>
    <dgm:pt modelId="{4B307D92-358F-403F-A8A8-175F3922D13F}" type="pres">
      <dgm:prSet presAssocID="{75A38E58-4805-4DF4-91C8-309C6E6A0A52}" presName="sibTrans" presStyleLbl="sibTrans1D1" presStyleIdx="6" presStyleCnt="8"/>
      <dgm:spPr/>
      <dgm:t>
        <a:bodyPr/>
        <a:lstStyle/>
        <a:p>
          <a:endParaRPr lang="en-AU"/>
        </a:p>
      </dgm:t>
    </dgm:pt>
    <dgm:pt modelId="{6532059D-70A2-4212-96B1-35AAB40DFEF3}" type="pres">
      <dgm:prSet presAssocID="{A93FF620-DA46-4845-A347-A2CB958C64BF}" presName="node" presStyleLbl="node1" presStyleIdx="7" presStyleCnt="8">
        <dgm:presLayoutVars>
          <dgm:bulletEnabled val="1"/>
        </dgm:presLayoutVars>
      </dgm:prSet>
      <dgm:spPr/>
      <dgm:t>
        <a:bodyPr/>
        <a:lstStyle/>
        <a:p>
          <a:endParaRPr lang="en-AU"/>
        </a:p>
      </dgm:t>
    </dgm:pt>
    <dgm:pt modelId="{1DED11F6-E249-4E62-A4E7-CE0190255780}" type="pres">
      <dgm:prSet presAssocID="{A93FF620-DA46-4845-A347-A2CB958C64BF}" presName="spNode" presStyleCnt="0"/>
      <dgm:spPr/>
    </dgm:pt>
    <dgm:pt modelId="{7AB07128-E1A2-484A-A8AC-F1725E20735F}" type="pres">
      <dgm:prSet presAssocID="{A21F4DF5-E7A1-489A-9EE2-53DA0993BD6F}" presName="sibTrans" presStyleLbl="sibTrans1D1" presStyleIdx="7" presStyleCnt="8"/>
      <dgm:spPr/>
      <dgm:t>
        <a:bodyPr/>
        <a:lstStyle/>
        <a:p>
          <a:endParaRPr lang="en-AU"/>
        </a:p>
      </dgm:t>
    </dgm:pt>
  </dgm:ptLst>
  <dgm:cxnLst>
    <dgm:cxn modelId="{5D4E03D4-F85D-4EF3-A002-8298E2370306}" type="presOf" srcId="{75A38E58-4805-4DF4-91C8-309C6E6A0A52}" destId="{4B307D92-358F-403F-A8A8-175F3922D13F}" srcOrd="0" destOrd="0" presId="urn:microsoft.com/office/officeart/2005/8/layout/cycle6"/>
    <dgm:cxn modelId="{0FCC22C2-C1A5-4AAF-86DE-8D0B9869C3DE}" type="presOf" srcId="{1102F6D9-CB70-468D-8369-3A7873543CB8}" destId="{BCF32CC8-FF31-4170-BD63-6539F79D5678}" srcOrd="0" destOrd="0" presId="urn:microsoft.com/office/officeart/2005/8/layout/cycle6"/>
    <dgm:cxn modelId="{43F35CB0-9C5A-4DC4-9C90-36B2F369A043}" srcId="{3F422C15-66ED-4F0C-B78A-23632E0AD608}" destId="{C65C4323-F321-4DA4-ACD6-5EC7A74FC183}" srcOrd="0" destOrd="0" parTransId="{99F61D73-E8AD-4644-BB50-B040DFD9FFDB}" sibTransId="{85218400-E6BF-463B-9516-2543F901EF9D}"/>
    <dgm:cxn modelId="{120842E3-C6DA-4278-8805-386684B641CA}" type="presOf" srcId="{981D590F-980B-48D0-9ACB-3813573AA609}" destId="{8BC764F7-7DDC-45C4-B7A9-CE3C74AA13B2}" srcOrd="0" destOrd="0" presId="urn:microsoft.com/office/officeart/2005/8/layout/cycle6"/>
    <dgm:cxn modelId="{86804AFB-0A6C-42A6-84B5-12765F02A861}" type="presOf" srcId="{9E4BBB7C-16E2-44AC-9AD1-394FD64EE330}" destId="{C14F902A-EF7C-4B2D-8B66-46A860D6A553}" srcOrd="0" destOrd="0" presId="urn:microsoft.com/office/officeart/2005/8/layout/cycle6"/>
    <dgm:cxn modelId="{CC22D47E-9A00-4BEE-AE57-E5C45E1DDC04}" srcId="{3F422C15-66ED-4F0C-B78A-23632E0AD608}" destId="{6BF687D5-A31E-4C9E-B436-3C74569DEF2A}" srcOrd="5" destOrd="0" parTransId="{557A582E-F80D-4A58-A583-234B9C8AF101}" sibTransId="{AFCDB6D1-FBD9-48C4-B26F-0D517D7559CA}"/>
    <dgm:cxn modelId="{43D9A9D5-16D9-4ED5-A83D-22ACC02CCB0C}" type="presOf" srcId="{3F422C15-66ED-4F0C-B78A-23632E0AD608}" destId="{47E0CB6C-DF48-4D2D-BAFB-A5410E1FA290}" srcOrd="0" destOrd="0" presId="urn:microsoft.com/office/officeart/2005/8/layout/cycle6"/>
    <dgm:cxn modelId="{D9770F3E-F25E-42AF-ABBA-1E7A54589200}" type="presOf" srcId="{85218400-E6BF-463B-9516-2543F901EF9D}" destId="{76835164-5F37-47D2-A6EA-3323D9FE478E}" srcOrd="0" destOrd="0" presId="urn:microsoft.com/office/officeart/2005/8/layout/cycle6"/>
    <dgm:cxn modelId="{8D78C84C-2240-44ED-BCF6-A0BEF6E1F03E}" type="presOf" srcId="{934F09A9-BCDC-4C40-AB3D-634FD4B29F28}" destId="{047ED581-9F7D-485A-BC76-E4B71670019E}" srcOrd="0" destOrd="0" presId="urn:microsoft.com/office/officeart/2005/8/layout/cycle6"/>
    <dgm:cxn modelId="{1D72218C-AF0D-4265-AA37-8E01F36A3327}" srcId="{3F422C15-66ED-4F0C-B78A-23632E0AD608}" destId="{A93FF620-DA46-4845-A347-A2CB958C64BF}" srcOrd="7" destOrd="0" parTransId="{F15213A5-7C09-4991-A7B7-EC26F5552357}" sibTransId="{A21F4DF5-E7A1-489A-9EE2-53DA0993BD6F}"/>
    <dgm:cxn modelId="{1CEE87C6-5C76-4A73-83A5-CD700EE3F570}" srcId="{3F422C15-66ED-4F0C-B78A-23632E0AD608}" destId="{8ADFE9B4-AB49-48AF-9080-0E70ED7EFB28}" srcOrd="6" destOrd="0" parTransId="{4D62FDFC-F35C-4A68-8F8C-BAF5BA65D299}" sibTransId="{75A38E58-4805-4DF4-91C8-309C6E6A0A52}"/>
    <dgm:cxn modelId="{85CA24F9-B983-461F-BE00-2C32607FE6A8}" type="presOf" srcId="{786229D9-A2F6-4288-A7A6-AA61EA4811E0}" destId="{8AFCA5D4-55AC-4BFF-A3CB-3A309D817D2F}" srcOrd="0" destOrd="0" presId="urn:microsoft.com/office/officeart/2005/8/layout/cycle6"/>
    <dgm:cxn modelId="{5CE55745-25B9-4125-942F-8E76F0269633}" type="presOf" srcId="{6BF687D5-A31E-4C9E-B436-3C74569DEF2A}" destId="{F2F110C1-6856-4B60-A768-C9458F77A194}" srcOrd="0" destOrd="0" presId="urn:microsoft.com/office/officeart/2005/8/layout/cycle6"/>
    <dgm:cxn modelId="{165C033D-86B6-4061-8236-76C79F9F34CE}" type="presOf" srcId="{8ADFE9B4-AB49-48AF-9080-0E70ED7EFB28}" destId="{2F6D21C3-298D-4D98-B8AF-84FB77279851}" srcOrd="0" destOrd="0" presId="urn:microsoft.com/office/officeart/2005/8/layout/cycle6"/>
    <dgm:cxn modelId="{14C441B6-6B82-4EC0-A61F-79A78887DD7C}" srcId="{3F422C15-66ED-4F0C-B78A-23632E0AD608}" destId="{981D590F-980B-48D0-9ACB-3813573AA609}" srcOrd="1" destOrd="0" parTransId="{C0B2542D-FD17-4716-AA45-15B4186E32CC}" sibTransId="{1102F6D9-CB70-468D-8369-3A7873543CB8}"/>
    <dgm:cxn modelId="{E552F83A-30D3-4F19-98F8-91D3B007B328}" type="presOf" srcId="{3C5B0F0D-C34A-496D-980F-EFCE42FD93F4}" destId="{3864AA40-D604-4F39-97C9-37705C5DCFB1}" srcOrd="0" destOrd="0" presId="urn:microsoft.com/office/officeart/2005/8/layout/cycle6"/>
    <dgm:cxn modelId="{B2E0F17C-1D55-4495-82A4-86E334F8B4D4}" srcId="{3F422C15-66ED-4F0C-B78A-23632E0AD608}" destId="{3C5B0F0D-C34A-496D-980F-EFCE42FD93F4}" srcOrd="4" destOrd="0" parTransId="{87D19D58-2484-4FD6-BD5A-E999CA72A6FC}" sibTransId="{934F09A9-BCDC-4C40-AB3D-634FD4B29F28}"/>
    <dgm:cxn modelId="{4B88A883-599A-4348-A9A7-166EDDD74F9E}" type="presOf" srcId="{A93FF620-DA46-4845-A347-A2CB958C64BF}" destId="{6532059D-70A2-4212-96B1-35AAB40DFEF3}" srcOrd="0" destOrd="0" presId="urn:microsoft.com/office/officeart/2005/8/layout/cycle6"/>
    <dgm:cxn modelId="{303B801C-AC91-4ACB-8DC5-1E62F9B478B8}" type="presOf" srcId="{C65C4323-F321-4DA4-ACD6-5EC7A74FC183}" destId="{7798D984-B9DF-41CE-BF8B-CEE12391B271}" srcOrd="0" destOrd="0" presId="urn:microsoft.com/office/officeart/2005/8/layout/cycle6"/>
    <dgm:cxn modelId="{5D1C9179-A4D4-4891-BA37-F4DB694D06AD}" type="presOf" srcId="{0F35A542-464D-4AA4-9F83-601F7E9D3324}" destId="{CD6446B7-0A83-40B9-ADFC-BFFFA522E366}" srcOrd="0" destOrd="0" presId="urn:microsoft.com/office/officeart/2005/8/layout/cycle6"/>
    <dgm:cxn modelId="{1A668E97-7166-42DB-AD3C-BCEADA727788}" type="presOf" srcId="{A21F4DF5-E7A1-489A-9EE2-53DA0993BD6F}" destId="{7AB07128-E1A2-484A-A8AC-F1725E20735F}" srcOrd="0" destOrd="0" presId="urn:microsoft.com/office/officeart/2005/8/layout/cycle6"/>
    <dgm:cxn modelId="{A6D278BD-5731-4DFA-8B3D-504FA6E41476}" type="presOf" srcId="{5554356A-BBB1-4139-BCFC-14C54E489CF1}" destId="{36220849-1BA4-4233-B07D-E327BFDF34BF}" srcOrd="0" destOrd="0" presId="urn:microsoft.com/office/officeart/2005/8/layout/cycle6"/>
    <dgm:cxn modelId="{26E52A32-BA83-4611-9C19-4C92ED062926}" type="presOf" srcId="{AFCDB6D1-FBD9-48C4-B26F-0D517D7559CA}" destId="{3FA839C2-43AD-4FC8-ADB0-109E31C6F424}" srcOrd="0" destOrd="0" presId="urn:microsoft.com/office/officeart/2005/8/layout/cycle6"/>
    <dgm:cxn modelId="{F3E3BDF0-571B-4973-8460-85801D28F6DD}" srcId="{3F422C15-66ED-4F0C-B78A-23632E0AD608}" destId="{9E4BBB7C-16E2-44AC-9AD1-394FD64EE330}" srcOrd="2" destOrd="0" parTransId="{8CAAE0E0-4502-4C0B-995D-E0F0DF82625C}" sibTransId="{0F35A542-464D-4AA4-9F83-601F7E9D3324}"/>
    <dgm:cxn modelId="{76C0DF1C-ED06-41F2-8B2B-3B49E1F93EC3}" srcId="{3F422C15-66ED-4F0C-B78A-23632E0AD608}" destId="{786229D9-A2F6-4288-A7A6-AA61EA4811E0}" srcOrd="3" destOrd="0" parTransId="{A71365BE-6B27-4473-9BAC-432F1C272DAD}" sibTransId="{5554356A-BBB1-4139-BCFC-14C54E489CF1}"/>
    <dgm:cxn modelId="{A0AFFEF9-D1EB-4C05-887D-BF4C473409C3}" type="presParOf" srcId="{47E0CB6C-DF48-4D2D-BAFB-A5410E1FA290}" destId="{7798D984-B9DF-41CE-BF8B-CEE12391B271}" srcOrd="0" destOrd="0" presId="urn:microsoft.com/office/officeart/2005/8/layout/cycle6"/>
    <dgm:cxn modelId="{BD27F008-4F5D-4389-9E83-B69BF8B414BB}" type="presParOf" srcId="{47E0CB6C-DF48-4D2D-BAFB-A5410E1FA290}" destId="{36BBA5DE-C85B-41EA-A1D8-B1EB92DCEA02}" srcOrd="1" destOrd="0" presId="urn:microsoft.com/office/officeart/2005/8/layout/cycle6"/>
    <dgm:cxn modelId="{2971205D-F896-4267-8C04-EEC163533530}" type="presParOf" srcId="{47E0CB6C-DF48-4D2D-BAFB-A5410E1FA290}" destId="{76835164-5F37-47D2-A6EA-3323D9FE478E}" srcOrd="2" destOrd="0" presId="urn:microsoft.com/office/officeart/2005/8/layout/cycle6"/>
    <dgm:cxn modelId="{BF31765E-2F6F-467A-91FE-26124BE73C38}" type="presParOf" srcId="{47E0CB6C-DF48-4D2D-BAFB-A5410E1FA290}" destId="{8BC764F7-7DDC-45C4-B7A9-CE3C74AA13B2}" srcOrd="3" destOrd="0" presId="urn:microsoft.com/office/officeart/2005/8/layout/cycle6"/>
    <dgm:cxn modelId="{9213BCD8-D77C-42B8-AF1E-C80D765B0633}" type="presParOf" srcId="{47E0CB6C-DF48-4D2D-BAFB-A5410E1FA290}" destId="{8760379A-E7EE-4D27-9DF5-34E2D9E5BE1F}" srcOrd="4" destOrd="0" presId="urn:microsoft.com/office/officeart/2005/8/layout/cycle6"/>
    <dgm:cxn modelId="{12B267FA-A142-4A9F-BD1F-2A28200C3C05}" type="presParOf" srcId="{47E0CB6C-DF48-4D2D-BAFB-A5410E1FA290}" destId="{BCF32CC8-FF31-4170-BD63-6539F79D5678}" srcOrd="5" destOrd="0" presId="urn:microsoft.com/office/officeart/2005/8/layout/cycle6"/>
    <dgm:cxn modelId="{0E5DF4C3-BBBD-4AA4-83A8-C7DA478FCFE2}" type="presParOf" srcId="{47E0CB6C-DF48-4D2D-BAFB-A5410E1FA290}" destId="{C14F902A-EF7C-4B2D-8B66-46A860D6A553}" srcOrd="6" destOrd="0" presId="urn:microsoft.com/office/officeart/2005/8/layout/cycle6"/>
    <dgm:cxn modelId="{AAA5BBC7-B067-43D2-AE11-F27C98425D3C}" type="presParOf" srcId="{47E0CB6C-DF48-4D2D-BAFB-A5410E1FA290}" destId="{A62F13D4-B787-48CF-9017-B8C4BD6FD95C}" srcOrd="7" destOrd="0" presId="urn:microsoft.com/office/officeart/2005/8/layout/cycle6"/>
    <dgm:cxn modelId="{2FE78014-A678-4667-8D0D-63675B621302}" type="presParOf" srcId="{47E0CB6C-DF48-4D2D-BAFB-A5410E1FA290}" destId="{CD6446B7-0A83-40B9-ADFC-BFFFA522E366}" srcOrd="8" destOrd="0" presId="urn:microsoft.com/office/officeart/2005/8/layout/cycle6"/>
    <dgm:cxn modelId="{786906A3-14DE-4AC9-B507-98CB5BC49A26}" type="presParOf" srcId="{47E0CB6C-DF48-4D2D-BAFB-A5410E1FA290}" destId="{8AFCA5D4-55AC-4BFF-A3CB-3A309D817D2F}" srcOrd="9" destOrd="0" presId="urn:microsoft.com/office/officeart/2005/8/layout/cycle6"/>
    <dgm:cxn modelId="{A7398F18-2EAF-497E-B190-87C80D002F4B}" type="presParOf" srcId="{47E0CB6C-DF48-4D2D-BAFB-A5410E1FA290}" destId="{F5A8D90C-C460-494F-9C92-79F6A9FBE63A}" srcOrd="10" destOrd="0" presId="urn:microsoft.com/office/officeart/2005/8/layout/cycle6"/>
    <dgm:cxn modelId="{00FA8CDA-2203-4DD3-BD23-A4838093D198}" type="presParOf" srcId="{47E0CB6C-DF48-4D2D-BAFB-A5410E1FA290}" destId="{36220849-1BA4-4233-B07D-E327BFDF34BF}" srcOrd="11" destOrd="0" presId="urn:microsoft.com/office/officeart/2005/8/layout/cycle6"/>
    <dgm:cxn modelId="{61609DDA-0199-4438-BF4E-6FFB940F14BE}" type="presParOf" srcId="{47E0CB6C-DF48-4D2D-BAFB-A5410E1FA290}" destId="{3864AA40-D604-4F39-97C9-37705C5DCFB1}" srcOrd="12" destOrd="0" presId="urn:microsoft.com/office/officeart/2005/8/layout/cycle6"/>
    <dgm:cxn modelId="{ADA8BB73-EE52-44CA-9B34-AEE302574CC0}" type="presParOf" srcId="{47E0CB6C-DF48-4D2D-BAFB-A5410E1FA290}" destId="{BC93BA26-FCAB-49F3-9CDC-D893CB8BFDD9}" srcOrd="13" destOrd="0" presId="urn:microsoft.com/office/officeart/2005/8/layout/cycle6"/>
    <dgm:cxn modelId="{259A6ABC-D928-478B-9997-0232C5D55644}" type="presParOf" srcId="{47E0CB6C-DF48-4D2D-BAFB-A5410E1FA290}" destId="{047ED581-9F7D-485A-BC76-E4B71670019E}" srcOrd="14" destOrd="0" presId="urn:microsoft.com/office/officeart/2005/8/layout/cycle6"/>
    <dgm:cxn modelId="{FDE682CC-AE41-4FB3-B8BC-0AE522AF4CD5}" type="presParOf" srcId="{47E0CB6C-DF48-4D2D-BAFB-A5410E1FA290}" destId="{F2F110C1-6856-4B60-A768-C9458F77A194}" srcOrd="15" destOrd="0" presId="urn:microsoft.com/office/officeart/2005/8/layout/cycle6"/>
    <dgm:cxn modelId="{86251360-468C-4ED5-8A5B-C510EBAB4974}" type="presParOf" srcId="{47E0CB6C-DF48-4D2D-BAFB-A5410E1FA290}" destId="{A5644A95-6176-49B2-9A21-9551E341B6BA}" srcOrd="16" destOrd="0" presId="urn:microsoft.com/office/officeart/2005/8/layout/cycle6"/>
    <dgm:cxn modelId="{69A41B5D-0079-4C1F-81AE-C89BC4B2AE46}" type="presParOf" srcId="{47E0CB6C-DF48-4D2D-BAFB-A5410E1FA290}" destId="{3FA839C2-43AD-4FC8-ADB0-109E31C6F424}" srcOrd="17" destOrd="0" presId="urn:microsoft.com/office/officeart/2005/8/layout/cycle6"/>
    <dgm:cxn modelId="{7A708651-D68E-43D8-9852-D399D986E4EE}" type="presParOf" srcId="{47E0CB6C-DF48-4D2D-BAFB-A5410E1FA290}" destId="{2F6D21C3-298D-4D98-B8AF-84FB77279851}" srcOrd="18" destOrd="0" presId="urn:microsoft.com/office/officeart/2005/8/layout/cycle6"/>
    <dgm:cxn modelId="{F3688AFF-89FC-4DE9-9CBD-20CDA77EA36E}" type="presParOf" srcId="{47E0CB6C-DF48-4D2D-BAFB-A5410E1FA290}" destId="{05726264-6C9C-48DC-A5E1-CE4FE3F9A27F}" srcOrd="19" destOrd="0" presId="urn:microsoft.com/office/officeart/2005/8/layout/cycle6"/>
    <dgm:cxn modelId="{03E72D17-CD0C-45E6-81B8-15C571EFC1B0}" type="presParOf" srcId="{47E0CB6C-DF48-4D2D-BAFB-A5410E1FA290}" destId="{4B307D92-358F-403F-A8A8-175F3922D13F}" srcOrd="20" destOrd="0" presId="urn:microsoft.com/office/officeart/2005/8/layout/cycle6"/>
    <dgm:cxn modelId="{0FEE589A-54B2-42FB-B1BB-120CFD33267B}" type="presParOf" srcId="{47E0CB6C-DF48-4D2D-BAFB-A5410E1FA290}" destId="{6532059D-70A2-4212-96B1-35AAB40DFEF3}" srcOrd="21" destOrd="0" presId="urn:microsoft.com/office/officeart/2005/8/layout/cycle6"/>
    <dgm:cxn modelId="{3C65A52F-47ED-43BD-BB06-7D4E3688DF55}" type="presParOf" srcId="{47E0CB6C-DF48-4D2D-BAFB-A5410E1FA290}" destId="{1DED11F6-E249-4E62-A4E7-CE0190255780}" srcOrd="22" destOrd="0" presId="urn:microsoft.com/office/officeart/2005/8/layout/cycle6"/>
    <dgm:cxn modelId="{D035798B-65BE-4EE9-8F8E-850475852126}" type="presParOf" srcId="{47E0CB6C-DF48-4D2D-BAFB-A5410E1FA290}" destId="{7AB07128-E1A2-484A-A8AC-F1725E20735F}" srcOrd="23" destOrd="0" presId="urn:microsoft.com/office/officeart/2005/8/layout/cycle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0D82819-BB8A-479A-B850-8636586E382A}" type="doc">
      <dgm:prSet loTypeId="urn:microsoft.com/office/officeart/2005/8/layout/process2" loCatId="process" qsTypeId="urn:microsoft.com/office/officeart/2005/8/quickstyle/simple1" qsCatId="simple" csTypeId="urn:microsoft.com/office/officeart/2005/8/colors/colorful5" csCatId="colorful" phldr="1"/>
      <dgm:spPr/>
    </dgm:pt>
    <dgm:pt modelId="{FE5CC327-D1C6-4AAD-BA85-AF0774FD29B3}">
      <dgm:prSet phldrT="[Text]" custT="1"/>
      <dgm:spPr/>
      <dgm:t>
        <a:bodyPr/>
        <a:lstStyle/>
        <a:p>
          <a:pPr algn="ctr"/>
          <a:r>
            <a:rPr lang="en-AU" sz="1200" b="1" dirty="0">
              <a:latin typeface="Helvetica" pitchFamily="34" charset="0"/>
            </a:rPr>
            <a:t>Introduction</a:t>
          </a:r>
        </a:p>
      </dgm:t>
    </dgm:pt>
    <dgm:pt modelId="{36A78A1E-37C0-486D-9064-640FE5ABD507}" type="parTrans" cxnId="{EA4EDFD7-C6AF-4219-9192-DB15C262A533}">
      <dgm:prSet/>
      <dgm:spPr/>
      <dgm:t>
        <a:bodyPr/>
        <a:lstStyle/>
        <a:p>
          <a:pPr algn="ctr"/>
          <a:endParaRPr lang="en-AU"/>
        </a:p>
      </dgm:t>
    </dgm:pt>
    <dgm:pt modelId="{FBCA21D5-5EA2-434A-BA74-6C6AF64E93EB}" type="sibTrans" cxnId="{EA4EDFD7-C6AF-4219-9192-DB15C262A533}">
      <dgm:prSet/>
      <dgm:spPr/>
      <dgm:t>
        <a:bodyPr/>
        <a:lstStyle/>
        <a:p>
          <a:pPr algn="ctr"/>
          <a:endParaRPr lang="en-AU" dirty="0"/>
        </a:p>
      </dgm:t>
    </dgm:pt>
    <dgm:pt modelId="{B4686CDA-BFC5-451D-A5F0-4CB30A7E770C}">
      <dgm:prSet phldrT="[Text]" custT="1"/>
      <dgm:spPr/>
      <dgm:t>
        <a:bodyPr/>
        <a:lstStyle/>
        <a:p>
          <a:pPr algn="ctr"/>
          <a:r>
            <a:rPr lang="en-AU" sz="1200" b="1" dirty="0">
              <a:latin typeface="Helvetica" pitchFamily="34" charset="0"/>
            </a:rPr>
            <a:t>Body</a:t>
          </a:r>
        </a:p>
      </dgm:t>
    </dgm:pt>
    <dgm:pt modelId="{B928F908-6018-42AA-87E9-88A35D83336A}" type="parTrans" cxnId="{5D7F3CC9-B8D3-4AFC-9674-9ADCF7E97775}">
      <dgm:prSet/>
      <dgm:spPr/>
      <dgm:t>
        <a:bodyPr/>
        <a:lstStyle/>
        <a:p>
          <a:pPr algn="ctr"/>
          <a:endParaRPr lang="en-AU"/>
        </a:p>
      </dgm:t>
    </dgm:pt>
    <dgm:pt modelId="{FE37871F-3ADA-4084-BF34-758353E6D562}" type="sibTrans" cxnId="{5D7F3CC9-B8D3-4AFC-9674-9ADCF7E97775}">
      <dgm:prSet/>
      <dgm:spPr/>
      <dgm:t>
        <a:bodyPr/>
        <a:lstStyle/>
        <a:p>
          <a:pPr algn="ctr"/>
          <a:endParaRPr lang="en-AU" dirty="0"/>
        </a:p>
      </dgm:t>
    </dgm:pt>
    <dgm:pt modelId="{8619D499-CAED-49F5-8864-4F91D0640DCE}">
      <dgm:prSet phldrT="[Text]" custT="1"/>
      <dgm:spPr/>
      <dgm:t>
        <a:bodyPr/>
        <a:lstStyle/>
        <a:p>
          <a:pPr algn="ctr"/>
          <a:r>
            <a:rPr lang="en-AU" sz="1200" b="1" dirty="0">
              <a:latin typeface="Helvetica" pitchFamily="34" charset="0"/>
            </a:rPr>
            <a:t>Summary</a:t>
          </a:r>
        </a:p>
      </dgm:t>
    </dgm:pt>
    <dgm:pt modelId="{DEBD602B-94C3-4D6E-99B5-F7C49F3CBEDD}" type="parTrans" cxnId="{743DE8F8-C057-4FF2-994A-9E72D0F1D71D}">
      <dgm:prSet/>
      <dgm:spPr/>
      <dgm:t>
        <a:bodyPr/>
        <a:lstStyle/>
        <a:p>
          <a:pPr algn="ctr"/>
          <a:endParaRPr lang="en-AU"/>
        </a:p>
      </dgm:t>
    </dgm:pt>
    <dgm:pt modelId="{38AAEA76-CED2-459E-A2D3-74889F2A3F6D}" type="sibTrans" cxnId="{743DE8F8-C057-4FF2-994A-9E72D0F1D71D}">
      <dgm:prSet/>
      <dgm:spPr/>
      <dgm:t>
        <a:bodyPr/>
        <a:lstStyle/>
        <a:p>
          <a:pPr algn="ctr"/>
          <a:endParaRPr lang="en-AU"/>
        </a:p>
      </dgm:t>
    </dgm:pt>
    <dgm:pt modelId="{916D961E-4D50-4FCB-B015-ED0439029F0C}">
      <dgm:prSet phldrT="[Text]" custT="1"/>
      <dgm:spPr/>
      <dgm:t>
        <a:bodyPr/>
        <a:lstStyle/>
        <a:p>
          <a:pPr algn="l"/>
          <a:r>
            <a:rPr lang="en-AU" sz="1200" dirty="0" smtClean="0">
              <a:latin typeface="Helvetica" pitchFamily="34" charset="0"/>
            </a:rPr>
            <a:t> Introduce </a:t>
          </a:r>
          <a:r>
            <a:rPr lang="en-AU" sz="1200" dirty="0">
              <a:latin typeface="Helvetica" pitchFamily="34" charset="0"/>
            </a:rPr>
            <a:t>the </a:t>
          </a:r>
          <a:r>
            <a:rPr lang="en-AU" sz="1200" dirty="0" smtClean="0">
              <a:latin typeface="Helvetica" pitchFamily="34" charset="0"/>
            </a:rPr>
            <a:t>subject</a:t>
          </a:r>
          <a:endParaRPr lang="en-AU" sz="1200" dirty="0">
            <a:latin typeface="Helvetica" pitchFamily="34" charset="0"/>
          </a:endParaRPr>
        </a:p>
      </dgm:t>
    </dgm:pt>
    <dgm:pt modelId="{4B75837E-592A-4A54-991B-4585888A71A2}" type="parTrans" cxnId="{2E7107A5-DE3F-4ACB-9B29-8AC85D7FB3BE}">
      <dgm:prSet/>
      <dgm:spPr/>
      <dgm:t>
        <a:bodyPr/>
        <a:lstStyle/>
        <a:p>
          <a:pPr algn="ctr"/>
          <a:endParaRPr lang="en-AU"/>
        </a:p>
      </dgm:t>
    </dgm:pt>
    <dgm:pt modelId="{495F920D-1921-4F2B-ACAD-6C97FB97460A}" type="sibTrans" cxnId="{2E7107A5-DE3F-4ACB-9B29-8AC85D7FB3BE}">
      <dgm:prSet/>
      <dgm:spPr/>
      <dgm:t>
        <a:bodyPr/>
        <a:lstStyle/>
        <a:p>
          <a:pPr algn="ctr"/>
          <a:endParaRPr lang="en-AU"/>
        </a:p>
      </dgm:t>
    </dgm:pt>
    <dgm:pt modelId="{ACE6484C-EC4F-4771-9CD0-4FF2775F6051}">
      <dgm:prSet phldrT="[Text]" custT="1"/>
      <dgm:spPr/>
      <dgm:t>
        <a:bodyPr/>
        <a:lstStyle/>
        <a:p>
          <a:pPr algn="l"/>
          <a:r>
            <a:rPr lang="en-AU" sz="1200" dirty="0" smtClean="0">
              <a:latin typeface="Helvetica" pitchFamily="34" charset="0"/>
            </a:rPr>
            <a:t> One </a:t>
          </a:r>
          <a:r>
            <a:rPr lang="en-AU" sz="1200" dirty="0">
              <a:latin typeface="Helvetica" pitchFamily="34" charset="0"/>
            </a:rPr>
            <a:t>idea only.</a:t>
          </a:r>
        </a:p>
      </dgm:t>
    </dgm:pt>
    <dgm:pt modelId="{72F6DD8B-D802-4782-A3C8-9EE52499103B}" type="parTrans" cxnId="{0189F40A-9CF2-4D6C-9E73-93CDD13C0193}">
      <dgm:prSet/>
      <dgm:spPr/>
      <dgm:t>
        <a:bodyPr/>
        <a:lstStyle/>
        <a:p>
          <a:pPr algn="ctr"/>
          <a:endParaRPr lang="en-AU"/>
        </a:p>
      </dgm:t>
    </dgm:pt>
    <dgm:pt modelId="{D9DC4FF8-B027-4F44-AAA0-BCBF7FB45FFF}" type="sibTrans" cxnId="{0189F40A-9CF2-4D6C-9E73-93CDD13C0193}">
      <dgm:prSet/>
      <dgm:spPr/>
      <dgm:t>
        <a:bodyPr/>
        <a:lstStyle/>
        <a:p>
          <a:pPr algn="ctr"/>
          <a:endParaRPr lang="en-AU"/>
        </a:p>
      </dgm:t>
    </dgm:pt>
    <dgm:pt modelId="{A587C368-5934-4C57-8822-C6C7F87381F5}">
      <dgm:prSet phldrT="[Text]" custT="1"/>
      <dgm:spPr/>
      <dgm:t>
        <a:bodyPr/>
        <a:lstStyle/>
        <a:p>
          <a:pPr algn="l"/>
          <a:r>
            <a:rPr lang="en-AU" sz="1200" dirty="0" smtClean="0">
              <a:latin typeface="Helvetica" pitchFamily="34" charset="0"/>
            </a:rPr>
            <a:t> All </a:t>
          </a:r>
          <a:r>
            <a:rPr lang="en-AU" sz="1200" dirty="0">
              <a:latin typeface="Helvetica" pitchFamily="34" charset="0"/>
            </a:rPr>
            <a:t>information must be grouped</a:t>
          </a:r>
        </a:p>
      </dgm:t>
    </dgm:pt>
    <dgm:pt modelId="{384EC4F1-D175-486C-9AF8-5B26752024C4}" type="parTrans" cxnId="{71371EA2-56F3-4357-9F9F-58EE2DE62BCB}">
      <dgm:prSet/>
      <dgm:spPr/>
      <dgm:t>
        <a:bodyPr/>
        <a:lstStyle/>
        <a:p>
          <a:pPr algn="ctr"/>
          <a:endParaRPr lang="en-AU"/>
        </a:p>
      </dgm:t>
    </dgm:pt>
    <dgm:pt modelId="{E9696C95-9082-40CA-B9C3-D20673350208}" type="sibTrans" cxnId="{71371EA2-56F3-4357-9F9F-58EE2DE62BCB}">
      <dgm:prSet/>
      <dgm:spPr/>
      <dgm:t>
        <a:bodyPr/>
        <a:lstStyle/>
        <a:p>
          <a:pPr algn="ctr"/>
          <a:endParaRPr lang="en-AU"/>
        </a:p>
      </dgm:t>
    </dgm:pt>
    <dgm:pt modelId="{C99B0340-4EF9-47B8-8F82-15DF57F7951D}">
      <dgm:prSet phldrT="[Text]" custT="1"/>
      <dgm:spPr/>
      <dgm:t>
        <a:bodyPr/>
        <a:lstStyle/>
        <a:p>
          <a:pPr algn="l"/>
          <a:r>
            <a:rPr lang="en-AU" sz="1200" dirty="0" smtClean="0">
              <a:latin typeface="Helvetica" pitchFamily="34" charset="0"/>
            </a:rPr>
            <a:t> Chunking</a:t>
          </a:r>
          <a:r>
            <a:rPr lang="en-AU" sz="1200" dirty="0">
              <a:latin typeface="Helvetica" pitchFamily="34" charset="0"/>
            </a:rPr>
            <a:t>: breaking down of info</a:t>
          </a:r>
        </a:p>
      </dgm:t>
    </dgm:pt>
    <dgm:pt modelId="{F5B6E816-596D-44C0-A943-30FD217DE06A}" type="parTrans" cxnId="{5609AD5C-070B-4A69-8566-8D724367FDBD}">
      <dgm:prSet/>
      <dgm:spPr/>
      <dgm:t>
        <a:bodyPr/>
        <a:lstStyle/>
        <a:p>
          <a:pPr algn="ctr"/>
          <a:endParaRPr lang="en-AU"/>
        </a:p>
      </dgm:t>
    </dgm:pt>
    <dgm:pt modelId="{08EB7047-5B38-4021-8D77-06FCC442802D}" type="sibTrans" cxnId="{5609AD5C-070B-4A69-8566-8D724367FDBD}">
      <dgm:prSet/>
      <dgm:spPr/>
      <dgm:t>
        <a:bodyPr/>
        <a:lstStyle/>
        <a:p>
          <a:pPr algn="ctr"/>
          <a:endParaRPr lang="en-AU"/>
        </a:p>
      </dgm:t>
    </dgm:pt>
    <dgm:pt modelId="{7BB80CB4-8363-45F3-BF74-995D0E6BE339}">
      <dgm:prSet phldrT="[Text]" custT="1"/>
      <dgm:spPr/>
      <dgm:t>
        <a:bodyPr/>
        <a:lstStyle/>
        <a:p>
          <a:pPr algn="l"/>
          <a:r>
            <a:rPr lang="en-AU" sz="1200" dirty="0" smtClean="0">
              <a:latin typeface="Helvetica" pitchFamily="34" charset="0"/>
            </a:rPr>
            <a:t> Summarise </a:t>
          </a:r>
          <a:r>
            <a:rPr lang="en-AU" sz="1200" dirty="0">
              <a:latin typeface="Helvetica" pitchFamily="34" charset="0"/>
            </a:rPr>
            <a:t>all you have said</a:t>
          </a:r>
        </a:p>
      </dgm:t>
    </dgm:pt>
    <dgm:pt modelId="{068764AF-8670-4E65-A97B-BFAD17D867DF}" type="parTrans" cxnId="{CB737BD0-14A9-4C42-B556-8E997E55C0AE}">
      <dgm:prSet/>
      <dgm:spPr/>
      <dgm:t>
        <a:bodyPr/>
        <a:lstStyle/>
        <a:p>
          <a:pPr algn="ctr"/>
          <a:endParaRPr lang="en-AU"/>
        </a:p>
      </dgm:t>
    </dgm:pt>
    <dgm:pt modelId="{02A7284F-FD68-4536-A58B-44EFB09DC713}" type="sibTrans" cxnId="{CB737BD0-14A9-4C42-B556-8E997E55C0AE}">
      <dgm:prSet/>
      <dgm:spPr/>
      <dgm:t>
        <a:bodyPr/>
        <a:lstStyle/>
        <a:p>
          <a:pPr algn="ctr"/>
          <a:endParaRPr lang="en-AU"/>
        </a:p>
      </dgm:t>
    </dgm:pt>
    <dgm:pt modelId="{D9CCB2E7-6A48-4F05-BCB1-B93A205359B5}">
      <dgm:prSet phldrT="[Text]" custT="1"/>
      <dgm:spPr/>
      <dgm:t>
        <a:bodyPr/>
        <a:lstStyle/>
        <a:p>
          <a:pPr algn="l"/>
          <a:r>
            <a:rPr lang="en-AU" sz="1200" dirty="0" smtClean="0">
              <a:latin typeface="Helvetica" pitchFamily="34" charset="0"/>
            </a:rPr>
            <a:t> Action.</a:t>
          </a:r>
          <a:endParaRPr lang="en-AU" sz="1200" dirty="0">
            <a:latin typeface="Helvetica" pitchFamily="34" charset="0"/>
          </a:endParaRPr>
        </a:p>
      </dgm:t>
    </dgm:pt>
    <dgm:pt modelId="{D263D3AB-C93A-4141-9ECC-279B8F64A434}" type="parTrans" cxnId="{4EDBC3FD-EFFA-4357-82B9-6C7F3666F7BB}">
      <dgm:prSet/>
      <dgm:spPr/>
      <dgm:t>
        <a:bodyPr/>
        <a:lstStyle/>
        <a:p>
          <a:pPr algn="ctr"/>
          <a:endParaRPr lang="en-AU"/>
        </a:p>
      </dgm:t>
    </dgm:pt>
    <dgm:pt modelId="{678E96FE-EE57-4145-ABEE-BD77A100A351}" type="sibTrans" cxnId="{4EDBC3FD-EFFA-4357-82B9-6C7F3666F7BB}">
      <dgm:prSet/>
      <dgm:spPr/>
      <dgm:t>
        <a:bodyPr/>
        <a:lstStyle/>
        <a:p>
          <a:pPr algn="ctr"/>
          <a:endParaRPr lang="en-AU"/>
        </a:p>
      </dgm:t>
    </dgm:pt>
    <dgm:pt modelId="{CABB544A-68DD-4188-BDF6-9A10772AE72A}">
      <dgm:prSet phldrT="[Text]" custT="1"/>
      <dgm:spPr/>
      <dgm:t>
        <a:bodyPr/>
        <a:lstStyle/>
        <a:p>
          <a:pPr algn="l"/>
          <a:r>
            <a:rPr lang="en-AU" sz="1200" dirty="0" smtClean="0">
              <a:latin typeface="Helvetica" pitchFamily="34" charset="0"/>
            </a:rPr>
            <a:t> Labelling</a:t>
          </a:r>
          <a:endParaRPr lang="en-AU" sz="1200" dirty="0">
            <a:latin typeface="Helvetica" pitchFamily="34" charset="0"/>
          </a:endParaRPr>
        </a:p>
      </dgm:t>
    </dgm:pt>
    <dgm:pt modelId="{AD53CB57-D71F-4424-9961-A7DA0DEC3058}" type="parTrans" cxnId="{CAF91B60-B3D2-4835-A27E-800486AE36ED}">
      <dgm:prSet/>
      <dgm:spPr/>
      <dgm:t>
        <a:bodyPr/>
        <a:lstStyle/>
        <a:p>
          <a:endParaRPr lang="en-AU"/>
        </a:p>
      </dgm:t>
    </dgm:pt>
    <dgm:pt modelId="{516A63BB-557C-4F64-851F-4959D87C09D9}" type="sibTrans" cxnId="{CAF91B60-B3D2-4835-A27E-800486AE36ED}">
      <dgm:prSet/>
      <dgm:spPr/>
      <dgm:t>
        <a:bodyPr/>
        <a:lstStyle/>
        <a:p>
          <a:endParaRPr lang="en-AU"/>
        </a:p>
      </dgm:t>
    </dgm:pt>
    <dgm:pt modelId="{35855C9A-4321-48AC-94BD-7D4E56162157}">
      <dgm:prSet phldrT="[Text]" custT="1"/>
      <dgm:spPr/>
      <dgm:t>
        <a:bodyPr/>
        <a:lstStyle/>
        <a:p>
          <a:pPr algn="l"/>
          <a:r>
            <a:rPr lang="en-AU" sz="1200" dirty="0" smtClean="0">
              <a:latin typeface="Helvetica" pitchFamily="34" charset="0"/>
            </a:rPr>
            <a:t> Integrated graphics.</a:t>
          </a:r>
          <a:endParaRPr lang="en-AU" sz="1200" dirty="0">
            <a:latin typeface="Helvetica" pitchFamily="34" charset="0"/>
          </a:endParaRPr>
        </a:p>
        <a:p>
          <a:pPr algn="ctr"/>
          <a:endParaRPr lang="en-AU" sz="700" dirty="0"/>
        </a:p>
      </dgm:t>
    </dgm:pt>
    <dgm:pt modelId="{8B9D503C-97A7-452C-A642-4878385F4034}" type="parTrans" cxnId="{E7E57EDC-4ADC-4D41-83BB-88E95DC23858}">
      <dgm:prSet/>
      <dgm:spPr/>
      <dgm:t>
        <a:bodyPr/>
        <a:lstStyle/>
        <a:p>
          <a:endParaRPr lang="en-AU"/>
        </a:p>
      </dgm:t>
    </dgm:pt>
    <dgm:pt modelId="{4B4A0EB4-1091-4F83-B86E-8117A03E1AF3}" type="sibTrans" cxnId="{E7E57EDC-4ADC-4D41-83BB-88E95DC23858}">
      <dgm:prSet/>
      <dgm:spPr/>
      <dgm:t>
        <a:bodyPr/>
        <a:lstStyle/>
        <a:p>
          <a:endParaRPr lang="en-AU"/>
        </a:p>
      </dgm:t>
    </dgm:pt>
    <dgm:pt modelId="{EAD9E39C-33AF-4038-8588-8FF72C145B3C}" type="pres">
      <dgm:prSet presAssocID="{B0D82819-BB8A-479A-B850-8636586E382A}" presName="linearFlow" presStyleCnt="0">
        <dgm:presLayoutVars>
          <dgm:resizeHandles val="exact"/>
        </dgm:presLayoutVars>
      </dgm:prSet>
      <dgm:spPr/>
    </dgm:pt>
    <dgm:pt modelId="{2278645C-1059-4C29-A1AE-CE7AA80FBAED}" type="pres">
      <dgm:prSet presAssocID="{FE5CC327-D1C6-4AAD-BA85-AF0774FD29B3}" presName="node" presStyleLbl="node1" presStyleIdx="0" presStyleCnt="3" custScaleX="75531" custLinFactNeighborX="-977" custLinFactNeighborY="-974">
        <dgm:presLayoutVars>
          <dgm:bulletEnabled val="1"/>
        </dgm:presLayoutVars>
      </dgm:prSet>
      <dgm:spPr/>
      <dgm:t>
        <a:bodyPr/>
        <a:lstStyle/>
        <a:p>
          <a:endParaRPr lang="en-AU"/>
        </a:p>
      </dgm:t>
    </dgm:pt>
    <dgm:pt modelId="{E316299B-93EC-46D0-95E4-65F391A3691F}" type="pres">
      <dgm:prSet presAssocID="{FBCA21D5-5EA2-434A-BA74-6C6AF64E93EB}" presName="sibTrans" presStyleLbl="sibTrans2D1" presStyleIdx="0" presStyleCnt="2"/>
      <dgm:spPr/>
      <dgm:t>
        <a:bodyPr/>
        <a:lstStyle/>
        <a:p>
          <a:endParaRPr lang="en-AU"/>
        </a:p>
      </dgm:t>
    </dgm:pt>
    <dgm:pt modelId="{93C22658-7CB9-4260-8854-3874B3AA1F6C}" type="pres">
      <dgm:prSet presAssocID="{FBCA21D5-5EA2-434A-BA74-6C6AF64E93EB}" presName="connectorText" presStyleLbl="sibTrans2D1" presStyleIdx="0" presStyleCnt="2"/>
      <dgm:spPr/>
      <dgm:t>
        <a:bodyPr/>
        <a:lstStyle/>
        <a:p>
          <a:endParaRPr lang="en-AU"/>
        </a:p>
      </dgm:t>
    </dgm:pt>
    <dgm:pt modelId="{F4562A0B-23CA-419D-9DA8-A1CEC5DB61E6}" type="pres">
      <dgm:prSet presAssocID="{B4686CDA-BFC5-451D-A5F0-4CB30A7E770C}" presName="node" presStyleLbl="node1" presStyleIdx="1" presStyleCnt="3" custScaleX="77485" custScaleY="180247">
        <dgm:presLayoutVars>
          <dgm:bulletEnabled val="1"/>
        </dgm:presLayoutVars>
      </dgm:prSet>
      <dgm:spPr/>
      <dgm:t>
        <a:bodyPr/>
        <a:lstStyle/>
        <a:p>
          <a:endParaRPr lang="en-AU"/>
        </a:p>
      </dgm:t>
    </dgm:pt>
    <dgm:pt modelId="{11CBFAF0-0AEE-4DCC-9197-AFB7795A1B7A}" type="pres">
      <dgm:prSet presAssocID="{FE37871F-3ADA-4084-BF34-758353E6D562}" presName="sibTrans" presStyleLbl="sibTrans2D1" presStyleIdx="1" presStyleCnt="2"/>
      <dgm:spPr/>
      <dgm:t>
        <a:bodyPr/>
        <a:lstStyle/>
        <a:p>
          <a:endParaRPr lang="en-AU"/>
        </a:p>
      </dgm:t>
    </dgm:pt>
    <dgm:pt modelId="{A650C100-7B5D-4792-B072-C28FB5DFBA90}" type="pres">
      <dgm:prSet presAssocID="{FE37871F-3ADA-4084-BF34-758353E6D562}" presName="connectorText" presStyleLbl="sibTrans2D1" presStyleIdx="1" presStyleCnt="2"/>
      <dgm:spPr/>
      <dgm:t>
        <a:bodyPr/>
        <a:lstStyle/>
        <a:p>
          <a:endParaRPr lang="en-AU"/>
        </a:p>
      </dgm:t>
    </dgm:pt>
    <dgm:pt modelId="{A448D105-70E4-41D6-99A6-1A7324D0DD67}" type="pres">
      <dgm:prSet presAssocID="{8619D499-CAED-49F5-8864-4F91D0640DCE}" presName="node" presStyleLbl="node1" presStyleIdx="2" presStyleCnt="3" custScaleX="77485">
        <dgm:presLayoutVars>
          <dgm:bulletEnabled val="1"/>
        </dgm:presLayoutVars>
      </dgm:prSet>
      <dgm:spPr/>
      <dgm:t>
        <a:bodyPr/>
        <a:lstStyle/>
        <a:p>
          <a:endParaRPr lang="en-AU"/>
        </a:p>
      </dgm:t>
    </dgm:pt>
  </dgm:ptLst>
  <dgm:cxnLst>
    <dgm:cxn modelId="{CB737BD0-14A9-4C42-B556-8E997E55C0AE}" srcId="{8619D499-CAED-49F5-8864-4F91D0640DCE}" destId="{7BB80CB4-8363-45F3-BF74-995D0E6BE339}" srcOrd="0" destOrd="0" parTransId="{068764AF-8670-4E65-A97B-BFAD17D867DF}" sibTransId="{02A7284F-FD68-4536-A58B-44EFB09DC713}"/>
    <dgm:cxn modelId="{9F2DB01C-3ADC-412D-A581-7AD2BE40DC8C}" type="presOf" srcId="{FE37871F-3ADA-4084-BF34-758353E6D562}" destId="{A650C100-7B5D-4792-B072-C28FB5DFBA90}" srcOrd="1" destOrd="0" presId="urn:microsoft.com/office/officeart/2005/8/layout/process2"/>
    <dgm:cxn modelId="{743DE8F8-C057-4FF2-994A-9E72D0F1D71D}" srcId="{B0D82819-BB8A-479A-B850-8636586E382A}" destId="{8619D499-CAED-49F5-8864-4F91D0640DCE}" srcOrd="2" destOrd="0" parTransId="{DEBD602B-94C3-4D6E-99B5-F7C49F3CBEDD}" sibTransId="{38AAEA76-CED2-459E-A2D3-74889F2A3F6D}"/>
    <dgm:cxn modelId="{22042A80-ED3C-4F3D-ABB9-F7005392A329}" type="presOf" srcId="{FE5CC327-D1C6-4AAD-BA85-AF0774FD29B3}" destId="{2278645C-1059-4C29-A1AE-CE7AA80FBAED}" srcOrd="0" destOrd="0" presId="urn:microsoft.com/office/officeart/2005/8/layout/process2"/>
    <dgm:cxn modelId="{8D94C8A7-31FE-430E-A30D-EBA28F42AE13}" type="presOf" srcId="{FE37871F-3ADA-4084-BF34-758353E6D562}" destId="{11CBFAF0-0AEE-4DCC-9197-AFB7795A1B7A}" srcOrd="0" destOrd="0" presId="urn:microsoft.com/office/officeart/2005/8/layout/process2"/>
    <dgm:cxn modelId="{DD988B70-270A-40CB-98BA-14FDE54F98AF}" type="presOf" srcId="{B0D82819-BB8A-479A-B850-8636586E382A}" destId="{EAD9E39C-33AF-4038-8588-8FF72C145B3C}" srcOrd="0" destOrd="0" presId="urn:microsoft.com/office/officeart/2005/8/layout/process2"/>
    <dgm:cxn modelId="{49D11995-9033-47E2-8FDF-3921324B8114}" type="presOf" srcId="{A587C368-5934-4C57-8822-C6C7F87381F5}" destId="{F4562A0B-23CA-419D-9DA8-A1CEC5DB61E6}" srcOrd="0" destOrd="1" presId="urn:microsoft.com/office/officeart/2005/8/layout/process2"/>
    <dgm:cxn modelId="{BFC57A04-2E28-4D0A-9299-D8D6A9A06616}" type="presOf" srcId="{C99B0340-4EF9-47B8-8F82-15DF57F7951D}" destId="{F4562A0B-23CA-419D-9DA8-A1CEC5DB61E6}" srcOrd="0" destOrd="2" presId="urn:microsoft.com/office/officeart/2005/8/layout/process2"/>
    <dgm:cxn modelId="{7AE9512C-0820-4479-B4D4-9EE60F00F655}" type="presOf" srcId="{35855C9A-4321-48AC-94BD-7D4E56162157}" destId="{F4562A0B-23CA-419D-9DA8-A1CEC5DB61E6}" srcOrd="0" destOrd="4" presId="urn:microsoft.com/office/officeart/2005/8/layout/process2"/>
    <dgm:cxn modelId="{EA4EDFD7-C6AF-4219-9192-DB15C262A533}" srcId="{B0D82819-BB8A-479A-B850-8636586E382A}" destId="{FE5CC327-D1C6-4AAD-BA85-AF0774FD29B3}" srcOrd="0" destOrd="0" parTransId="{36A78A1E-37C0-486D-9064-640FE5ABD507}" sibTransId="{FBCA21D5-5EA2-434A-BA74-6C6AF64E93EB}"/>
    <dgm:cxn modelId="{5D7F3CC9-B8D3-4AFC-9674-9ADCF7E97775}" srcId="{B0D82819-BB8A-479A-B850-8636586E382A}" destId="{B4686CDA-BFC5-451D-A5F0-4CB30A7E770C}" srcOrd="1" destOrd="0" parTransId="{B928F908-6018-42AA-87E9-88A35D83336A}" sibTransId="{FE37871F-3ADA-4084-BF34-758353E6D562}"/>
    <dgm:cxn modelId="{2248D885-830D-463C-BCF7-FCD6875A3721}" type="presOf" srcId="{8619D499-CAED-49F5-8864-4F91D0640DCE}" destId="{A448D105-70E4-41D6-99A6-1A7324D0DD67}" srcOrd="0" destOrd="0" presId="urn:microsoft.com/office/officeart/2005/8/layout/process2"/>
    <dgm:cxn modelId="{0189F40A-9CF2-4D6C-9E73-93CDD13C0193}" srcId="{FE5CC327-D1C6-4AAD-BA85-AF0774FD29B3}" destId="{ACE6484C-EC4F-4771-9CD0-4FF2775F6051}" srcOrd="1" destOrd="0" parTransId="{72F6DD8B-D802-4782-A3C8-9EE52499103B}" sibTransId="{D9DC4FF8-B027-4F44-AAA0-BCBF7FB45FFF}"/>
    <dgm:cxn modelId="{5D8927A4-1E06-44B4-86E6-0D34FFE45E6B}" type="presOf" srcId="{B4686CDA-BFC5-451D-A5F0-4CB30A7E770C}" destId="{F4562A0B-23CA-419D-9DA8-A1CEC5DB61E6}" srcOrd="0" destOrd="0" presId="urn:microsoft.com/office/officeart/2005/8/layout/process2"/>
    <dgm:cxn modelId="{2E7107A5-DE3F-4ACB-9B29-8AC85D7FB3BE}" srcId="{FE5CC327-D1C6-4AAD-BA85-AF0774FD29B3}" destId="{916D961E-4D50-4FCB-B015-ED0439029F0C}" srcOrd="0" destOrd="0" parTransId="{4B75837E-592A-4A54-991B-4585888A71A2}" sibTransId="{495F920D-1921-4F2B-ACAD-6C97FB97460A}"/>
    <dgm:cxn modelId="{71371EA2-56F3-4357-9F9F-58EE2DE62BCB}" srcId="{B4686CDA-BFC5-451D-A5F0-4CB30A7E770C}" destId="{A587C368-5934-4C57-8822-C6C7F87381F5}" srcOrd="0" destOrd="0" parTransId="{384EC4F1-D175-486C-9AF8-5B26752024C4}" sibTransId="{E9696C95-9082-40CA-B9C3-D20673350208}"/>
    <dgm:cxn modelId="{F11F1BCA-22DA-4831-8F17-9D3D920DCFC5}" type="presOf" srcId="{CABB544A-68DD-4188-BDF6-9A10772AE72A}" destId="{F4562A0B-23CA-419D-9DA8-A1CEC5DB61E6}" srcOrd="0" destOrd="3" presId="urn:microsoft.com/office/officeart/2005/8/layout/process2"/>
    <dgm:cxn modelId="{CAF91B60-B3D2-4835-A27E-800486AE36ED}" srcId="{B4686CDA-BFC5-451D-A5F0-4CB30A7E770C}" destId="{CABB544A-68DD-4188-BDF6-9A10772AE72A}" srcOrd="2" destOrd="0" parTransId="{AD53CB57-D71F-4424-9961-A7DA0DEC3058}" sibTransId="{516A63BB-557C-4F64-851F-4959D87C09D9}"/>
    <dgm:cxn modelId="{F8CB3308-61BA-4FA6-873D-8CFFC221E039}" type="presOf" srcId="{FBCA21D5-5EA2-434A-BA74-6C6AF64E93EB}" destId="{E316299B-93EC-46D0-95E4-65F391A3691F}" srcOrd="0" destOrd="0" presId="urn:microsoft.com/office/officeart/2005/8/layout/process2"/>
    <dgm:cxn modelId="{E7E57EDC-4ADC-4D41-83BB-88E95DC23858}" srcId="{B4686CDA-BFC5-451D-A5F0-4CB30A7E770C}" destId="{35855C9A-4321-48AC-94BD-7D4E56162157}" srcOrd="3" destOrd="0" parTransId="{8B9D503C-97A7-452C-A642-4878385F4034}" sibTransId="{4B4A0EB4-1091-4F83-B86E-8117A03E1AF3}"/>
    <dgm:cxn modelId="{9F97028E-8D69-496F-B3B2-1E9C68CBFEA9}" type="presOf" srcId="{FBCA21D5-5EA2-434A-BA74-6C6AF64E93EB}" destId="{93C22658-7CB9-4260-8854-3874B3AA1F6C}" srcOrd="1" destOrd="0" presId="urn:microsoft.com/office/officeart/2005/8/layout/process2"/>
    <dgm:cxn modelId="{4EDBC3FD-EFFA-4357-82B9-6C7F3666F7BB}" srcId="{8619D499-CAED-49F5-8864-4F91D0640DCE}" destId="{D9CCB2E7-6A48-4F05-BCB1-B93A205359B5}" srcOrd="1" destOrd="0" parTransId="{D263D3AB-C93A-4141-9ECC-279B8F64A434}" sibTransId="{678E96FE-EE57-4145-ABEE-BD77A100A351}"/>
    <dgm:cxn modelId="{989C2002-689E-47E1-B86A-00E37C4E84DB}" type="presOf" srcId="{7BB80CB4-8363-45F3-BF74-995D0E6BE339}" destId="{A448D105-70E4-41D6-99A6-1A7324D0DD67}" srcOrd="0" destOrd="1" presId="urn:microsoft.com/office/officeart/2005/8/layout/process2"/>
    <dgm:cxn modelId="{B047A319-DDBA-47EC-9E8D-B27F7BD1C450}" type="presOf" srcId="{916D961E-4D50-4FCB-B015-ED0439029F0C}" destId="{2278645C-1059-4C29-A1AE-CE7AA80FBAED}" srcOrd="0" destOrd="1" presId="urn:microsoft.com/office/officeart/2005/8/layout/process2"/>
    <dgm:cxn modelId="{5609AD5C-070B-4A69-8566-8D724367FDBD}" srcId="{B4686CDA-BFC5-451D-A5F0-4CB30A7E770C}" destId="{C99B0340-4EF9-47B8-8F82-15DF57F7951D}" srcOrd="1" destOrd="0" parTransId="{F5B6E816-596D-44C0-A943-30FD217DE06A}" sibTransId="{08EB7047-5B38-4021-8D77-06FCC442802D}"/>
    <dgm:cxn modelId="{94683CF1-BC09-43CD-9C83-490B604C3317}" type="presOf" srcId="{ACE6484C-EC4F-4771-9CD0-4FF2775F6051}" destId="{2278645C-1059-4C29-A1AE-CE7AA80FBAED}" srcOrd="0" destOrd="2" presId="urn:microsoft.com/office/officeart/2005/8/layout/process2"/>
    <dgm:cxn modelId="{7D457D9C-2E97-465B-951D-29BE0D4D95AF}" type="presOf" srcId="{D9CCB2E7-6A48-4F05-BCB1-B93A205359B5}" destId="{A448D105-70E4-41D6-99A6-1A7324D0DD67}" srcOrd="0" destOrd="2" presId="urn:microsoft.com/office/officeart/2005/8/layout/process2"/>
    <dgm:cxn modelId="{906CB219-333B-4A92-BCD4-36FFADA8B365}" type="presParOf" srcId="{EAD9E39C-33AF-4038-8588-8FF72C145B3C}" destId="{2278645C-1059-4C29-A1AE-CE7AA80FBAED}" srcOrd="0" destOrd="0" presId="urn:microsoft.com/office/officeart/2005/8/layout/process2"/>
    <dgm:cxn modelId="{97888DFA-9470-48EA-BB33-03D9C9A23702}" type="presParOf" srcId="{EAD9E39C-33AF-4038-8588-8FF72C145B3C}" destId="{E316299B-93EC-46D0-95E4-65F391A3691F}" srcOrd="1" destOrd="0" presId="urn:microsoft.com/office/officeart/2005/8/layout/process2"/>
    <dgm:cxn modelId="{0E04E51F-9A6D-4E98-9F43-83453A13DCD1}" type="presParOf" srcId="{E316299B-93EC-46D0-95E4-65F391A3691F}" destId="{93C22658-7CB9-4260-8854-3874B3AA1F6C}" srcOrd="0" destOrd="0" presId="urn:microsoft.com/office/officeart/2005/8/layout/process2"/>
    <dgm:cxn modelId="{3E620CED-23A6-474C-9F02-AEC97B5A9D42}" type="presParOf" srcId="{EAD9E39C-33AF-4038-8588-8FF72C145B3C}" destId="{F4562A0B-23CA-419D-9DA8-A1CEC5DB61E6}" srcOrd="2" destOrd="0" presId="urn:microsoft.com/office/officeart/2005/8/layout/process2"/>
    <dgm:cxn modelId="{CA88ADC0-C545-4980-A74C-0964055F89CF}" type="presParOf" srcId="{EAD9E39C-33AF-4038-8588-8FF72C145B3C}" destId="{11CBFAF0-0AEE-4DCC-9197-AFB7795A1B7A}" srcOrd="3" destOrd="0" presId="urn:microsoft.com/office/officeart/2005/8/layout/process2"/>
    <dgm:cxn modelId="{CC4527CF-6BFD-4E19-8CFE-110244D59829}" type="presParOf" srcId="{11CBFAF0-0AEE-4DCC-9197-AFB7795A1B7A}" destId="{A650C100-7B5D-4792-B072-C28FB5DFBA90}" srcOrd="0" destOrd="0" presId="urn:microsoft.com/office/officeart/2005/8/layout/process2"/>
    <dgm:cxn modelId="{A9B2D086-FF57-4861-8CBA-1BD1F8772261}" type="presParOf" srcId="{EAD9E39C-33AF-4038-8588-8FF72C145B3C}" destId="{A448D105-70E4-41D6-99A6-1A7324D0DD67}" srcOrd="4"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C4101C1-E2CE-473F-A29C-0E96585AEDE3}" type="doc">
      <dgm:prSet loTypeId="urn:microsoft.com/office/officeart/2005/8/layout/chevron2" loCatId="process" qsTypeId="urn:microsoft.com/office/officeart/2005/8/quickstyle/simple1" qsCatId="simple" csTypeId="urn:microsoft.com/office/officeart/2005/8/colors/colorful5" csCatId="colorful" phldr="1"/>
      <dgm:spPr/>
      <dgm:t>
        <a:bodyPr/>
        <a:lstStyle/>
        <a:p>
          <a:endParaRPr lang="en-AU"/>
        </a:p>
      </dgm:t>
    </dgm:pt>
    <dgm:pt modelId="{3CA9DCEE-BD8A-4229-A54D-3FC558299C84}">
      <dgm:prSet phldrT="[Text]" custT="1"/>
      <dgm:spPr/>
      <dgm:t>
        <a:bodyPr/>
        <a:lstStyle/>
        <a:p>
          <a:r>
            <a:rPr lang="en-AU" sz="2200" b="0" dirty="0">
              <a:latin typeface="Helvetica" pitchFamily="34" charset="0"/>
            </a:rPr>
            <a:t>1:</a:t>
          </a:r>
        </a:p>
      </dgm:t>
    </dgm:pt>
    <dgm:pt modelId="{67EF6761-2BF9-4610-A45E-5314CB6B7801}" type="parTrans" cxnId="{9ED9615F-D781-419C-82EB-6F8F7C6B0ECF}">
      <dgm:prSet/>
      <dgm:spPr/>
      <dgm:t>
        <a:bodyPr/>
        <a:lstStyle/>
        <a:p>
          <a:endParaRPr lang="en-AU" sz="2200" b="0">
            <a:latin typeface="Helvetica" pitchFamily="34" charset="0"/>
          </a:endParaRPr>
        </a:p>
      </dgm:t>
    </dgm:pt>
    <dgm:pt modelId="{330272D2-FFC8-467B-BA51-C347BB8A441A}" type="sibTrans" cxnId="{9ED9615F-D781-419C-82EB-6F8F7C6B0ECF}">
      <dgm:prSet/>
      <dgm:spPr/>
      <dgm:t>
        <a:bodyPr/>
        <a:lstStyle/>
        <a:p>
          <a:endParaRPr lang="en-AU" sz="2200" b="0">
            <a:latin typeface="Helvetica" pitchFamily="34" charset="0"/>
          </a:endParaRPr>
        </a:p>
      </dgm:t>
    </dgm:pt>
    <dgm:pt modelId="{11C7ACFE-8FA8-42B6-A570-CE17E92C6F89}">
      <dgm:prSet phldrT="[Text]" custT="1"/>
      <dgm:spPr/>
      <dgm:t>
        <a:bodyPr/>
        <a:lstStyle/>
        <a:p>
          <a:r>
            <a:rPr lang="en-AU" sz="2200" b="0" dirty="0">
              <a:latin typeface="Helvetica" pitchFamily="34" charset="0"/>
            </a:rPr>
            <a:t>2:</a:t>
          </a:r>
        </a:p>
      </dgm:t>
    </dgm:pt>
    <dgm:pt modelId="{D06AE473-6DF5-43DC-A5C0-D7A9C6B1E70A}" type="parTrans" cxnId="{076FAF74-2DE4-400F-9639-48E6234F69BC}">
      <dgm:prSet/>
      <dgm:spPr/>
      <dgm:t>
        <a:bodyPr/>
        <a:lstStyle/>
        <a:p>
          <a:endParaRPr lang="en-AU" sz="2200" b="0">
            <a:latin typeface="Helvetica" pitchFamily="34" charset="0"/>
          </a:endParaRPr>
        </a:p>
      </dgm:t>
    </dgm:pt>
    <dgm:pt modelId="{9E492C42-4BC9-4997-B95B-FA81377EC874}" type="sibTrans" cxnId="{076FAF74-2DE4-400F-9639-48E6234F69BC}">
      <dgm:prSet/>
      <dgm:spPr/>
      <dgm:t>
        <a:bodyPr/>
        <a:lstStyle/>
        <a:p>
          <a:endParaRPr lang="en-AU" sz="2200" b="0">
            <a:latin typeface="Helvetica" pitchFamily="34" charset="0"/>
          </a:endParaRPr>
        </a:p>
      </dgm:t>
    </dgm:pt>
    <dgm:pt modelId="{4426319F-B077-43FF-A820-A3E68DDF7E44}">
      <dgm:prSet phldrT="[Text]" custT="1"/>
      <dgm:spPr/>
      <dgm:t>
        <a:bodyPr/>
        <a:lstStyle/>
        <a:p>
          <a:r>
            <a:rPr lang="en-AU" sz="2200" b="0" dirty="0">
              <a:latin typeface="Helvetica" pitchFamily="34" charset="0"/>
            </a:rPr>
            <a:t>3:</a:t>
          </a:r>
        </a:p>
      </dgm:t>
    </dgm:pt>
    <dgm:pt modelId="{854166E4-58E4-4E56-9E5E-4971B08C9C15}" type="parTrans" cxnId="{9CC96E6E-4FAF-4F2E-81E4-B112F3D69AA4}">
      <dgm:prSet/>
      <dgm:spPr/>
      <dgm:t>
        <a:bodyPr/>
        <a:lstStyle/>
        <a:p>
          <a:endParaRPr lang="en-AU" sz="2200" b="0">
            <a:latin typeface="Helvetica" pitchFamily="34" charset="0"/>
          </a:endParaRPr>
        </a:p>
      </dgm:t>
    </dgm:pt>
    <dgm:pt modelId="{6A8AB65C-B52B-44DF-91CA-F833EA892A7E}" type="sibTrans" cxnId="{9CC96E6E-4FAF-4F2E-81E4-B112F3D69AA4}">
      <dgm:prSet/>
      <dgm:spPr/>
      <dgm:t>
        <a:bodyPr/>
        <a:lstStyle/>
        <a:p>
          <a:endParaRPr lang="en-AU" sz="2200" b="0">
            <a:latin typeface="Helvetica" pitchFamily="34" charset="0"/>
          </a:endParaRPr>
        </a:p>
      </dgm:t>
    </dgm:pt>
    <dgm:pt modelId="{E3D1628F-40F2-40A6-A46F-B8AD51EC8177}">
      <dgm:prSet phldrT="[Text]" custT="1"/>
      <dgm:spPr/>
      <dgm:t>
        <a:bodyPr/>
        <a:lstStyle/>
        <a:p>
          <a:r>
            <a:rPr lang="en-AU" sz="2200" b="0" dirty="0">
              <a:latin typeface="Helvetica" pitchFamily="34" charset="0"/>
            </a:rPr>
            <a:t>4:</a:t>
          </a:r>
        </a:p>
      </dgm:t>
    </dgm:pt>
    <dgm:pt modelId="{53461F7A-9F14-4D0B-816C-AAF901C7A9C3}" type="parTrans" cxnId="{A5EDA284-2DC4-4F24-9FCD-F36004AB27AD}">
      <dgm:prSet/>
      <dgm:spPr/>
      <dgm:t>
        <a:bodyPr/>
        <a:lstStyle/>
        <a:p>
          <a:endParaRPr lang="en-AU" sz="2200" b="0">
            <a:latin typeface="Helvetica" pitchFamily="34" charset="0"/>
          </a:endParaRPr>
        </a:p>
      </dgm:t>
    </dgm:pt>
    <dgm:pt modelId="{5D716A14-95B8-4A38-A23A-9A869C45F764}" type="sibTrans" cxnId="{A5EDA284-2DC4-4F24-9FCD-F36004AB27AD}">
      <dgm:prSet/>
      <dgm:spPr/>
      <dgm:t>
        <a:bodyPr/>
        <a:lstStyle/>
        <a:p>
          <a:endParaRPr lang="en-AU" sz="2200" b="0">
            <a:latin typeface="Helvetica" pitchFamily="34" charset="0"/>
          </a:endParaRPr>
        </a:p>
      </dgm:t>
    </dgm:pt>
    <dgm:pt modelId="{740FB836-0EAA-437B-ADCA-8B6D901D59C0}">
      <dgm:prSet phldrT="[Text]" custT="1"/>
      <dgm:spPr/>
      <dgm:t>
        <a:bodyPr/>
        <a:lstStyle/>
        <a:p>
          <a:r>
            <a:rPr lang="en-AU" sz="2200" b="0" dirty="0">
              <a:latin typeface="Helvetica" pitchFamily="34" charset="0"/>
            </a:rPr>
            <a:t>5:</a:t>
          </a:r>
        </a:p>
      </dgm:t>
    </dgm:pt>
    <dgm:pt modelId="{827FA8A5-EF97-4351-97BB-E6B3BFE693A9}" type="parTrans" cxnId="{28D21DE3-91DE-4C62-88DB-B46CD0113915}">
      <dgm:prSet/>
      <dgm:spPr/>
      <dgm:t>
        <a:bodyPr/>
        <a:lstStyle/>
        <a:p>
          <a:endParaRPr lang="en-AU" sz="2200" b="0">
            <a:latin typeface="Helvetica" pitchFamily="34" charset="0"/>
          </a:endParaRPr>
        </a:p>
      </dgm:t>
    </dgm:pt>
    <dgm:pt modelId="{9A65A639-EA31-4FCE-B5ED-F9EEA7B44DFD}" type="sibTrans" cxnId="{28D21DE3-91DE-4C62-88DB-B46CD0113915}">
      <dgm:prSet/>
      <dgm:spPr/>
      <dgm:t>
        <a:bodyPr/>
        <a:lstStyle/>
        <a:p>
          <a:endParaRPr lang="en-AU" sz="2200" b="0">
            <a:latin typeface="Helvetica" pitchFamily="34" charset="0"/>
          </a:endParaRPr>
        </a:p>
      </dgm:t>
    </dgm:pt>
    <dgm:pt modelId="{919FE342-0884-46AE-8A99-F1E409437B4F}">
      <dgm:prSet phldrT="[Text]" custT="1"/>
      <dgm:spPr/>
      <dgm:t>
        <a:bodyPr/>
        <a:lstStyle/>
        <a:p>
          <a:r>
            <a:rPr lang="en-AU" sz="2200" b="0" dirty="0">
              <a:latin typeface="Helvetica" pitchFamily="34" charset="0"/>
            </a:rPr>
            <a:t>6:</a:t>
          </a:r>
        </a:p>
      </dgm:t>
    </dgm:pt>
    <dgm:pt modelId="{5FF27CE3-9A5D-480C-8AEE-BD21D820F6D4}" type="parTrans" cxnId="{254A4923-D771-4E7C-A83C-71EC3219534F}">
      <dgm:prSet/>
      <dgm:spPr/>
      <dgm:t>
        <a:bodyPr/>
        <a:lstStyle/>
        <a:p>
          <a:endParaRPr lang="en-AU" sz="2200" b="0">
            <a:latin typeface="Helvetica" pitchFamily="34" charset="0"/>
          </a:endParaRPr>
        </a:p>
      </dgm:t>
    </dgm:pt>
    <dgm:pt modelId="{0AA306AD-8686-4826-9BC2-9F85870FA2B6}" type="sibTrans" cxnId="{254A4923-D771-4E7C-A83C-71EC3219534F}">
      <dgm:prSet/>
      <dgm:spPr/>
      <dgm:t>
        <a:bodyPr/>
        <a:lstStyle/>
        <a:p>
          <a:endParaRPr lang="en-AU" sz="2200" b="0">
            <a:latin typeface="Helvetica" pitchFamily="34" charset="0"/>
          </a:endParaRPr>
        </a:p>
      </dgm:t>
    </dgm:pt>
    <dgm:pt modelId="{3D82DC89-1606-4558-AFAA-C13152EEA4A3}">
      <dgm:prSet phldrT="[Text]" custT="1"/>
      <dgm:spPr/>
      <dgm:t>
        <a:bodyPr/>
        <a:lstStyle/>
        <a:p>
          <a:r>
            <a:rPr lang="en-AU" sz="2200" b="0" dirty="0">
              <a:latin typeface="Helvetica" pitchFamily="34" charset="0"/>
            </a:rPr>
            <a:t>Be clear about your purpose</a:t>
          </a:r>
        </a:p>
      </dgm:t>
    </dgm:pt>
    <dgm:pt modelId="{1BB0CAE7-08DE-40BE-B91F-8F90CF7B798A}" type="parTrans" cxnId="{A587F866-43DE-42C4-BE03-CEE657137674}">
      <dgm:prSet/>
      <dgm:spPr/>
      <dgm:t>
        <a:bodyPr/>
        <a:lstStyle/>
        <a:p>
          <a:endParaRPr lang="en-AU" sz="2200" b="0">
            <a:latin typeface="Helvetica" pitchFamily="34" charset="0"/>
          </a:endParaRPr>
        </a:p>
      </dgm:t>
    </dgm:pt>
    <dgm:pt modelId="{68E1263E-2F47-4D1A-8418-2FAEAB92CAE8}" type="sibTrans" cxnId="{A587F866-43DE-42C4-BE03-CEE657137674}">
      <dgm:prSet/>
      <dgm:spPr/>
      <dgm:t>
        <a:bodyPr/>
        <a:lstStyle/>
        <a:p>
          <a:endParaRPr lang="en-AU" sz="2200" b="0">
            <a:latin typeface="Helvetica" pitchFamily="34" charset="0"/>
          </a:endParaRPr>
        </a:p>
      </dgm:t>
    </dgm:pt>
    <dgm:pt modelId="{67F73E7F-701D-4598-883F-18446C481297}">
      <dgm:prSet phldrT="[Text]" custT="1"/>
      <dgm:spPr/>
      <dgm:t>
        <a:bodyPr/>
        <a:lstStyle/>
        <a:p>
          <a:pPr>
            <a:spcBef>
              <a:spcPts val="1200"/>
            </a:spcBef>
          </a:pPr>
          <a:r>
            <a:rPr lang="en-AU" sz="2200" b="0" dirty="0">
              <a:latin typeface="Helvetica" pitchFamily="34" charset="0"/>
            </a:rPr>
            <a:t>Plan what you will say</a:t>
          </a:r>
        </a:p>
      </dgm:t>
    </dgm:pt>
    <dgm:pt modelId="{F23CCBF1-CFF6-4846-9F27-FE87159102AB}" type="parTrans" cxnId="{142397E8-234E-4D9A-A9C0-EF9109C5F15F}">
      <dgm:prSet/>
      <dgm:spPr/>
      <dgm:t>
        <a:bodyPr/>
        <a:lstStyle/>
        <a:p>
          <a:endParaRPr lang="en-AU" sz="2200" b="0">
            <a:latin typeface="Helvetica" pitchFamily="34" charset="0"/>
          </a:endParaRPr>
        </a:p>
      </dgm:t>
    </dgm:pt>
    <dgm:pt modelId="{7B13BCB2-0CF1-43DF-8D7A-D9D6417B25E6}" type="sibTrans" cxnId="{142397E8-234E-4D9A-A9C0-EF9109C5F15F}">
      <dgm:prSet/>
      <dgm:spPr/>
      <dgm:t>
        <a:bodyPr/>
        <a:lstStyle/>
        <a:p>
          <a:endParaRPr lang="en-AU" sz="2200" b="0">
            <a:latin typeface="Helvetica" pitchFamily="34" charset="0"/>
          </a:endParaRPr>
        </a:p>
      </dgm:t>
    </dgm:pt>
    <dgm:pt modelId="{38346484-5781-4D85-81E3-8E6D1C0EC934}">
      <dgm:prSet phldrT="[Text]" custT="1"/>
      <dgm:spPr/>
      <dgm:t>
        <a:bodyPr/>
        <a:lstStyle/>
        <a:p>
          <a:r>
            <a:rPr lang="en-AU" sz="2200" b="0" dirty="0">
              <a:latin typeface="Helvetica" pitchFamily="34" charset="0"/>
            </a:rPr>
            <a:t>Draft your document	</a:t>
          </a:r>
        </a:p>
      </dgm:t>
    </dgm:pt>
    <dgm:pt modelId="{234B2561-8F41-4408-A1CB-D0C8939339A2}" type="parTrans" cxnId="{D37E3922-453C-41D0-A09B-A242299E4B64}">
      <dgm:prSet/>
      <dgm:spPr/>
      <dgm:t>
        <a:bodyPr/>
        <a:lstStyle/>
        <a:p>
          <a:endParaRPr lang="en-AU" sz="2200" b="0">
            <a:latin typeface="Helvetica" pitchFamily="34" charset="0"/>
          </a:endParaRPr>
        </a:p>
      </dgm:t>
    </dgm:pt>
    <dgm:pt modelId="{8BB2C454-B299-4D63-A981-D3FC08A567A7}" type="sibTrans" cxnId="{D37E3922-453C-41D0-A09B-A242299E4B64}">
      <dgm:prSet/>
      <dgm:spPr/>
      <dgm:t>
        <a:bodyPr/>
        <a:lstStyle/>
        <a:p>
          <a:endParaRPr lang="en-AU" sz="2200" b="0">
            <a:latin typeface="Helvetica" pitchFamily="34" charset="0"/>
          </a:endParaRPr>
        </a:p>
      </dgm:t>
    </dgm:pt>
    <dgm:pt modelId="{79A530E3-18AF-4D74-9EA0-D72BF760144F}">
      <dgm:prSet phldrT="[Text]" custT="1"/>
      <dgm:spPr/>
      <dgm:t>
        <a:bodyPr/>
        <a:lstStyle/>
        <a:p>
          <a:r>
            <a:rPr lang="en-AU" sz="2200" b="0" dirty="0">
              <a:latin typeface="Helvetica" pitchFamily="34" charset="0"/>
            </a:rPr>
            <a:t>Edit</a:t>
          </a:r>
        </a:p>
      </dgm:t>
    </dgm:pt>
    <dgm:pt modelId="{FB489D64-A0E4-4960-B73A-F91ED69030EA}" type="parTrans" cxnId="{C4AF8218-52AB-4413-994B-813F5BE267A5}">
      <dgm:prSet/>
      <dgm:spPr/>
      <dgm:t>
        <a:bodyPr/>
        <a:lstStyle/>
        <a:p>
          <a:endParaRPr lang="en-AU" sz="2200" b="0">
            <a:latin typeface="Helvetica" pitchFamily="34" charset="0"/>
          </a:endParaRPr>
        </a:p>
      </dgm:t>
    </dgm:pt>
    <dgm:pt modelId="{9225641F-3D40-4ECF-B6C0-80DCCA73DF8F}" type="sibTrans" cxnId="{C4AF8218-52AB-4413-994B-813F5BE267A5}">
      <dgm:prSet/>
      <dgm:spPr/>
      <dgm:t>
        <a:bodyPr/>
        <a:lstStyle/>
        <a:p>
          <a:endParaRPr lang="en-AU" sz="2200" b="0">
            <a:latin typeface="Helvetica" pitchFamily="34" charset="0"/>
          </a:endParaRPr>
        </a:p>
      </dgm:t>
    </dgm:pt>
    <dgm:pt modelId="{D559E06B-9067-4A18-96C7-9E800843194B}">
      <dgm:prSet phldrT="[Text]" custT="1"/>
      <dgm:spPr/>
      <dgm:t>
        <a:bodyPr/>
        <a:lstStyle/>
        <a:p>
          <a:r>
            <a:rPr lang="en-AU" sz="2200" b="0" dirty="0">
              <a:latin typeface="Helvetica" pitchFamily="34" charset="0"/>
            </a:rPr>
            <a:t>Type the final draft</a:t>
          </a:r>
        </a:p>
      </dgm:t>
    </dgm:pt>
    <dgm:pt modelId="{B82EA3E6-EE37-4DE3-86CC-5065A4605F71}" type="parTrans" cxnId="{9BA9835F-08F1-4A4B-A05C-137588F657EC}">
      <dgm:prSet/>
      <dgm:spPr/>
      <dgm:t>
        <a:bodyPr/>
        <a:lstStyle/>
        <a:p>
          <a:endParaRPr lang="en-AU" sz="2200" b="0">
            <a:latin typeface="Helvetica" pitchFamily="34" charset="0"/>
          </a:endParaRPr>
        </a:p>
      </dgm:t>
    </dgm:pt>
    <dgm:pt modelId="{4FEE735E-F686-45B9-B381-3349D3517B01}" type="sibTrans" cxnId="{9BA9835F-08F1-4A4B-A05C-137588F657EC}">
      <dgm:prSet/>
      <dgm:spPr/>
      <dgm:t>
        <a:bodyPr/>
        <a:lstStyle/>
        <a:p>
          <a:endParaRPr lang="en-AU" sz="2200" b="0">
            <a:latin typeface="Helvetica" pitchFamily="34" charset="0"/>
          </a:endParaRPr>
        </a:p>
      </dgm:t>
    </dgm:pt>
    <dgm:pt modelId="{1087D52F-1DCF-45FA-948D-D887224079A5}">
      <dgm:prSet phldrT="[Text]" custT="1"/>
      <dgm:spPr/>
      <dgm:t>
        <a:bodyPr/>
        <a:lstStyle/>
        <a:p>
          <a:r>
            <a:rPr lang="en-AU" sz="2200" b="0" dirty="0">
              <a:latin typeface="Helvetica" pitchFamily="34" charset="0"/>
            </a:rPr>
            <a:t>Proof read</a:t>
          </a:r>
        </a:p>
      </dgm:t>
    </dgm:pt>
    <dgm:pt modelId="{DF24CFBD-E51D-4823-8675-F27B26E088A4}" type="parTrans" cxnId="{E61AB776-CE63-453C-93E2-C59DE721A4B6}">
      <dgm:prSet/>
      <dgm:spPr/>
      <dgm:t>
        <a:bodyPr/>
        <a:lstStyle/>
        <a:p>
          <a:endParaRPr lang="en-AU" sz="2200" b="0">
            <a:latin typeface="Helvetica" pitchFamily="34" charset="0"/>
          </a:endParaRPr>
        </a:p>
      </dgm:t>
    </dgm:pt>
    <dgm:pt modelId="{DA0627A8-E644-4C1D-A972-F920A294F9A4}" type="sibTrans" cxnId="{E61AB776-CE63-453C-93E2-C59DE721A4B6}">
      <dgm:prSet/>
      <dgm:spPr/>
      <dgm:t>
        <a:bodyPr/>
        <a:lstStyle/>
        <a:p>
          <a:endParaRPr lang="en-AU" sz="2200" b="0">
            <a:latin typeface="Helvetica" pitchFamily="34" charset="0"/>
          </a:endParaRPr>
        </a:p>
      </dgm:t>
    </dgm:pt>
    <dgm:pt modelId="{28287DD4-0C88-49E3-A58E-C790FB733C2D}" type="pres">
      <dgm:prSet presAssocID="{1C4101C1-E2CE-473F-A29C-0E96585AEDE3}" presName="linearFlow" presStyleCnt="0">
        <dgm:presLayoutVars>
          <dgm:dir/>
          <dgm:animLvl val="lvl"/>
          <dgm:resizeHandles val="exact"/>
        </dgm:presLayoutVars>
      </dgm:prSet>
      <dgm:spPr/>
      <dgm:t>
        <a:bodyPr/>
        <a:lstStyle/>
        <a:p>
          <a:endParaRPr lang="en-AU"/>
        </a:p>
      </dgm:t>
    </dgm:pt>
    <dgm:pt modelId="{13FD98B7-A1D4-4ED1-8B98-BF794C4F7A23}" type="pres">
      <dgm:prSet presAssocID="{3CA9DCEE-BD8A-4229-A54D-3FC558299C84}" presName="composite" presStyleCnt="0"/>
      <dgm:spPr/>
    </dgm:pt>
    <dgm:pt modelId="{F2697E70-B845-41B8-AF37-D021F7E04F89}" type="pres">
      <dgm:prSet presAssocID="{3CA9DCEE-BD8A-4229-A54D-3FC558299C84}" presName="parentText" presStyleLbl="alignNode1" presStyleIdx="0" presStyleCnt="6">
        <dgm:presLayoutVars>
          <dgm:chMax val="1"/>
          <dgm:bulletEnabled val="1"/>
        </dgm:presLayoutVars>
      </dgm:prSet>
      <dgm:spPr/>
      <dgm:t>
        <a:bodyPr/>
        <a:lstStyle/>
        <a:p>
          <a:endParaRPr lang="en-AU"/>
        </a:p>
      </dgm:t>
    </dgm:pt>
    <dgm:pt modelId="{192CAF06-1849-428E-8D86-5BC031693FA9}" type="pres">
      <dgm:prSet presAssocID="{3CA9DCEE-BD8A-4229-A54D-3FC558299C84}" presName="descendantText" presStyleLbl="alignAcc1" presStyleIdx="0" presStyleCnt="6">
        <dgm:presLayoutVars>
          <dgm:bulletEnabled val="1"/>
        </dgm:presLayoutVars>
      </dgm:prSet>
      <dgm:spPr/>
      <dgm:t>
        <a:bodyPr/>
        <a:lstStyle/>
        <a:p>
          <a:endParaRPr lang="en-AU"/>
        </a:p>
      </dgm:t>
    </dgm:pt>
    <dgm:pt modelId="{DB1DE15D-96B2-4FA9-9E0D-729185A98A34}" type="pres">
      <dgm:prSet presAssocID="{330272D2-FFC8-467B-BA51-C347BB8A441A}" presName="sp" presStyleCnt="0"/>
      <dgm:spPr/>
    </dgm:pt>
    <dgm:pt modelId="{08E1F412-B1B1-4042-B27E-AD2C77B1A030}" type="pres">
      <dgm:prSet presAssocID="{11C7ACFE-8FA8-42B6-A570-CE17E92C6F89}" presName="composite" presStyleCnt="0"/>
      <dgm:spPr/>
    </dgm:pt>
    <dgm:pt modelId="{6705EAC3-3A80-410A-A925-CC5D44A0DD2B}" type="pres">
      <dgm:prSet presAssocID="{11C7ACFE-8FA8-42B6-A570-CE17E92C6F89}" presName="parentText" presStyleLbl="alignNode1" presStyleIdx="1" presStyleCnt="6">
        <dgm:presLayoutVars>
          <dgm:chMax val="1"/>
          <dgm:bulletEnabled val="1"/>
        </dgm:presLayoutVars>
      </dgm:prSet>
      <dgm:spPr/>
      <dgm:t>
        <a:bodyPr/>
        <a:lstStyle/>
        <a:p>
          <a:endParaRPr lang="en-AU"/>
        </a:p>
      </dgm:t>
    </dgm:pt>
    <dgm:pt modelId="{EA2258C2-C974-4867-997B-833B708B8A50}" type="pres">
      <dgm:prSet presAssocID="{11C7ACFE-8FA8-42B6-A570-CE17E92C6F89}" presName="descendantText" presStyleLbl="alignAcc1" presStyleIdx="1" presStyleCnt="6">
        <dgm:presLayoutVars>
          <dgm:bulletEnabled val="1"/>
        </dgm:presLayoutVars>
      </dgm:prSet>
      <dgm:spPr/>
      <dgm:t>
        <a:bodyPr/>
        <a:lstStyle/>
        <a:p>
          <a:endParaRPr lang="en-AU"/>
        </a:p>
      </dgm:t>
    </dgm:pt>
    <dgm:pt modelId="{3E881B6F-7947-4383-95CA-ECDD934C9B79}" type="pres">
      <dgm:prSet presAssocID="{9E492C42-4BC9-4997-B95B-FA81377EC874}" presName="sp" presStyleCnt="0"/>
      <dgm:spPr/>
    </dgm:pt>
    <dgm:pt modelId="{8F45FA6C-2321-4ADF-B657-3F7CA17E4760}" type="pres">
      <dgm:prSet presAssocID="{4426319F-B077-43FF-A820-A3E68DDF7E44}" presName="composite" presStyleCnt="0"/>
      <dgm:spPr/>
    </dgm:pt>
    <dgm:pt modelId="{F84A07EE-EF3B-4866-BC60-853C497B8642}" type="pres">
      <dgm:prSet presAssocID="{4426319F-B077-43FF-A820-A3E68DDF7E44}" presName="parentText" presStyleLbl="alignNode1" presStyleIdx="2" presStyleCnt="6">
        <dgm:presLayoutVars>
          <dgm:chMax val="1"/>
          <dgm:bulletEnabled val="1"/>
        </dgm:presLayoutVars>
      </dgm:prSet>
      <dgm:spPr/>
      <dgm:t>
        <a:bodyPr/>
        <a:lstStyle/>
        <a:p>
          <a:endParaRPr lang="en-AU"/>
        </a:p>
      </dgm:t>
    </dgm:pt>
    <dgm:pt modelId="{0A32297E-C34E-4F79-A44A-AF95200835D2}" type="pres">
      <dgm:prSet presAssocID="{4426319F-B077-43FF-A820-A3E68DDF7E44}" presName="descendantText" presStyleLbl="alignAcc1" presStyleIdx="2" presStyleCnt="6">
        <dgm:presLayoutVars>
          <dgm:bulletEnabled val="1"/>
        </dgm:presLayoutVars>
      </dgm:prSet>
      <dgm:spPr/>
      <dgm:t>
        <a:bodyPr/>
        <a:lstStyle/>
        <a:p>
          <a:endParaRPr lang="en-AU"/>
        </a:p>
      </dgm:t>
    </dgm:pt>
    <dgm:pt modelId="{B4407610-830D-478E-9C0C-EA43E4B5A005}" type="pres">
      <dgm:prSet presAssocID="{6A8AB65C-B52B-44DF-91CA-F833EA892A7E}" presName="sp" presStyleCnt="0"/>
      <dgm:spPr/>
    </dgm:pt>
    <dgm:pt modelId="{AD7DA843-0C81-4A04-B5F2-B1D1625F98ED}" type="pres">
      <dgm:prSet presAssocID="{E3D1628F-40F2-40A6-A46F-B8AD51EC8177}" presName="composite" presStyleCnt="0"/>
      <dgm:spPr/>
    </dgm:pt>
    <dgm:pt modelId="{B5BFBAF4-69C4-487C-A5B4-26C30924C291}" type="pres">
      <dgm:prSet presAssocID="{E3D1628F-40F2-40A6-A46F-B8AD51EC8177}" presName="parentText" presStyleLbl="alignNode1" presStyleIdx="3" presStyleCnt="6">
        <dgm:presLayoutVars>
          <dgm:chMax val="1"/>
          <dgm:bulletEnabled val="1"/>
        </dgm:presLayoutVars>
      </dgm:prSet>
      <dgm:spPr/>
      <dgm:t>
        <a:bodyPr/>
        <a:lstStyle/>
        <a:p>
          <a:endParaRPr lang="en-AU"/>
        </a:p>
      </dgm:t>
    </dgm:pt>
    <dgm:pt modelId="{EDA1C3BF-995E-4EFE-9914-DD1C163332E8}" type="pres">
      <dgm:prSet presAssocID="{E3D1628F-40F2-40A6-A46F-B8AD51EC8177}" presName="descendantText" presStyleLbl="alignAcc1" presStyleIdx="3" presStyleCnt="6">
        <dgm:presLayoutVars>
          <dgm:bulletEnabled val="1"/>
        </dgm:presLayoutVars>
      </dgm:prSet>
      <dgm:spPr/>
      <dgm:t>
        <a:bodyPr/>
        <a:lstStyle/>
        <a:p>
          <a:endParaRPr lang="en-AU"/>
        </a:p>
      </dgm:t>
    </dgm:pt>
    <dgm:pt modelId="{6E1C199F-6F2B-47A2-BDA0-3ADEA4F6076B}" type="pres">
      <dgm:prSet presAssocID="{5D716A14-95B8-4A38-A23A-9A869C45F764}" presName="sp" presStyleCnt="0"/>
      <dgm:spPr/>
    </dgm:pt>
    <dgm:pt modelId="{B586B326-640C-4320-B021-32A2A0D342B0}" type="pres">
      <dgm:prSet presAssocID="{740FB836-0EAA-437B-ADCA-8B6D901D59C0}" presName="composite" presStyleCnt="0"/>
      <dgm:spPr/>
    </dgm:pt>
    <dgm:pt modelId="{6082C7F8-B966-4C4A-97EA-2BF9F502DF91}" type="pres">
      <dgm:prSet presAssocID="{740FB836-0EAA-437B-ADCA-8B6D901D59C0}" presName="parentText" presStyleLbl="alignNode1" presStyleIdx="4" presStyleCnt="6">
        <dgm:presLayoutVars>
          <dgm:chMax val="1"/>
          <dgm:bulletEnabled val="1"/>
        </dgm:presLayoutVars>
      </dgm:prSet>
      <dgm:spPr/>
      <dgm:t>
        <a:bodyPr/>
        <a:lstStyle/>
        <a:p>
          <a:endParaRPr lang="en-AU"/>
        </a:p>
      </dgm:t>
    </dgm:pt>
    <dgm:pt modelId="{BC181C88-BC07-481B-B541-B627A3DD37BD}" type="pres">
      <dgm:prSet presAssocID="{740FB836-0EAA-437B-ADCA-8B6D901D59C0}" presName="descendantText" presStyleLbl="alignAcc1" presStyleIdx="4" presStyleCnt="6">
        <dgm:presLayoutVars>
          <dgm:bulletEnabled val="1"/>
        </dgm:presLayoutVars>
      </dgm:prSet>
      <dgm:spPr/>
      <dgm:t>
        <a:bodyPr/>
        <a:lstStyle/>
        <a:p>
          <a:endParaRPr lang="en-AU"/>
        </a:p>
      </dgm:t>
    </dgm:pt>
    <dgm:pt modelId="{D04A4E63-6A44-446E-9EA7-A0FEB99F4C13}" type="pres">
      <dgm:prSet presAssocID="{9A65A639-EA31-4FCE-B5ED-F9EEA7B44DFD}" presName="sp" presStyleCnt="0"/>
      <dgm:spPr/>
    </dgm:pt>
    <dgm:pt modelId="{DB0652C0-E06F-4AD6-9DC7-F0374D539DC1}" type="pres">
      <dgm:prSet presAssocID="{919FE342-0884-46AE-8A99-F1E409437B4F}" presName="composite" presStyleCnt="0"/>
      <dgm:spPr/>
    </dgm:pt>
    <dgm:pt modelId="{2242E4FF-CAAE-4A50-8FBA-AD3FB4BC2399}" type="pres">
      <dgm:prSet presAssocID="{919FE342-0884-46AE-8A99-F1E409437B4F}" presName="parentText" presStyleLbl="alignNode1" presStyleIdx="5" presStyleCnt="6">
        <dgm:presLayoutVars>
          <dgm:chMax val="1"/>
          <dgm:bulletEnabled val="1"/>
        </dgm:presLayoutVars>
      </dgm:prSet>
      <dgm:spPr/>
      <dgm:t>
        <a:bodyPr/>
        <a:lstStyle/>
        <a:p>
          <a:endParaRPr lang="en-AU"/>
        </a:p>
      </dgm:t>
    </dgm:pt>
    <dgm:pt modelId="{861E3399-6D5E-4F25-ABD6-7B45AFE46BCC}" type="pres">
      <dgm:prSet presAssocID="{919FE342-0884-46AE-8A99-F1E409437B4F}" presName="descendantText" presStyleLbl="alignAcc1" presStyleIdx="5" presStyleCnt="6">
        <dgm:presLayoutVars>
          <dgm:bulletEnabled val="1"/>
        </dgm:presLayoutVars>
      </dgm:prSet>
      <dgm:spPr/>
      <dgm:t>
        <a:bodyPr/>
        <a:lstStyle/>
        <a:p>
          <a:endParaRPr lang="en-AU"/>
        </a:p>
      </dgm:t>
    </dgm:pt>
  </dgm:ptLst>
  <dgm:cxnLst>
    <dgm:cxn modelId="{ACAD87AC-69D7-44D1-BB60-1DAA9D8E14E9}" type="presOf" srcId="{3D82DC89-1606-4558-AFAA-C13152EEA4A3}" destId="{192CAF06-1849-428E-8D86-5BC031693FA9}" srcOrd="0" destOrd="0" presId="urn:microsoft.com/office/officeart/2005/8/layout/chevron2"/>
    <dgm:cxn modelId="{8AE3A4EE-B9EC-4CFB-A78F-3350333EEEE1}" type="presOf" srcId="{1C4101C1-E2CE-473F-A29C-0E96585AEDE3}" destId="{28287DD4-0C88-49E3-A58E-C790FB733C2D}" srcOrd="0" destOrd="0" presId="urn:microsoft.com/office/officeart/2005/8/layout/chevron2"/>
    <dgm:cxn modelId="{076FAF74-2DE4-400F-9639-48E6234F69BC}" srcId="{1C4101C1-E2CE-473F-A29C-0E96585AEDE3}" destId="{11C7ACFE-8FA8-42B6-A570-CE17E92C6F89}" srcOrd="1" destOrd="0" parTransId="{D06AE473-6DF5-43DC-A5C0-D7A9C6B1E70A}" sibTransId="{9E492C42-4BC9-4997-B95B-FA81377EC874}"/>
    <dgm:cxn modelId="{254A4923-D771-4E7C-A83C-71EC3219534F}" srcId="{1C4101C1-E2CE-473F-A29C-0E96585AEDE3}" destId="{919FE342-0884-46AE-8A99-F1E409437B4F}" srcOrd="5" destOrd="0" parTransId="{5FF27CE3-9A5D-480C-8AEE-BD21D820F6D4}" sibTransId="{0AA306AD-8686-4826-9BC2-9F85870FA2B6}"/>
    <dgm:cxn modelId="{0E5C3DC6-9A78-41BB-97F1-F85DF90235DA}" type="presOf" srcId="{79A530E3-18AF-4D74-9EA0-D72BF760144F}" destId="{EDA1C3BF-995E-4EFE-9914-DD1C163332E8}" srcOrd="0" destOrd="0" presId="urn:microsoft.com/office/officeart/2005/8/layout/chevron2"/>
    <dgm:cxn modelId="{9CC96E6E-4FAF-4F2E-81E4-B112F3D69AA4}" srcId="{1C4101C1-E2CE-473F-A29C-0E96585AEDE3}" destId="{4426319F-B077-43FF-A820-A3E68DDF7E44}" srcOrd="2" destOrd="0" parTransId="{854166E4-58E4-4E56-9E5E-4971B08C9C15}" sibTransId="{6A8AB65C-B52B-44DF-91CA-F833EA892A7E}"/>
    <dgm:cxn modelId="{862D2C08-38A1-4B5F-818C-B44741F88709}" type="presOf" srcId="{67F73E7F-701D-4598-883F-18446C481297}" destId="{EA2258C2-C974-4867-997B-833B708B8A50}" srcOrd="0" destOrd="0" presId="urn:microsoft.com/office/officeart/2005/8/layout/chevron2"/>
    <dgm:cxn modelId="{A587F866-43DE-42C4-BE03-CEE657137674}" srcId="{3CA9DCEE-BD8A-4229-A54D-3FC558299C84}" destId="{3D82DC89-1606-4558-AFAA-C13152EEA4A3}" srcOrd="0" destOrd="0" parTransId="{1BB0CAE7-08DE-40BE-B91F-8F90CF7B798A}" sibTransId="{68E1263E-2F47-4D1A-8418-2FAEAB92CAE8}"/>
    <dgm:cxn modelId="{A818E440-1E59-453D-AB09-92C04EE324B3}" type="presOf" srcId="{11C7ACFE-8FA8-42B6-A570-CE17E92C6F89}" destId="{6705EAC3-3A80-410A-A925-CC5D44A0DD2B}" srcOrd="0" destOrd="0" presId="urn:microsoft.com/office/officeart/2005/8/layout/chevron2"/>
    <dgm:cxn modelId="{28D21DE3-91DE-4C62-88DB-B46CD0113915}" srcId="{1C4101C1-E2CE-473F-A29C-0E96585AEDE3}" destId="{740FB836-0EAA-437B-ADCA-8B6D901D59C0}" srcOrd="4" destOrd="0" parTransId="{827FA8A5-EF97-4351-97BB-E6B3BFE693A9}" sibTransId="{9A65A639-EA31-4FCE-B5ED-F9EEA7B44DFD}"/>
    <dgm:cxn modelId="{9ED9615F-D781-419C-82EB-6F8F7C6B0ECF}" srcId="{1C4101C1-E2CE-473F-A29C-0E96585AEDE3}" destId="{3CA9DCEE-BD8A-4229-A54D-3FC558299C84}" srcOrd="0" destOrd="0" parTransId="{67EF6761-2BF9-4610-A45E-5314CB6B7801}" sibTransId="{330272D2-FFC8-467B-BA51-C347BB8A441A}"/>
    <dgm:cxn modelId="{E5EB8EA7-0416-46CA-9714-372FF6E21706}" type="presOf" srcId="{919FE342-0884-46AE-8A99-F1E409437B4F}" destId="{2242E4FF-CAAE-4A50-8FBA-AD3FB4BC2399}" srcOrd="0" destOrd="0" presId="urn:microsoft.com/office/officeart/2005/8/layout/chevron2"/>
    <dgm:cxn modelId="{9BA9835F-08F1-4A4B-A05C-137588F657EC}" srcId="{740FB836-0EAA-437B-ADCA-8B6D901D59C0}" destId="{D559E06B-9067-4A18-96C7-9E800843194B}" srcOrd="0" destOrd="0" parTransId="{B82EA3E6-EE37-4DE3-86CC-5065A4605F71}" sibTransId="{4FEE735E-F686-45B9-B381-3349D3517B01}"/>
    <dgm:cxn modelId="{700A62E1-02CD-49A5-9523-29E15FFEA2E6}" type="presOf" srcId="{4426319F-B077-43FF-A820-A3E68DDF7E44}" destId="{F84A07EE-EF3B-4866-BC60-853C497B8642}" srcOrd="0" destOrd="0" presId="urn:microsoft.com/office/officeart/2005/8/layout/chevron2"/>
    <dgm:cxn modelId="{E61AB776-CE63-453C-93E2-C59DE721A4B6}" srcId="{919FE342-0884-46AE-8A99-F1E409437B4F}" destId="{1087D52F-1DCF-45FA-948D-D887224079A5}" srcOrd="0" destOrd="0" parTransId="{DF24CFBD-E51D-4823-8675-F27B26E088A4}" sibTransId="{DA0627A8-E644-4C1D-A972-F920A294F9A4}"/>
    <dgm:cxn modelId="{CD48E985-EDB4-4132-98A2-C794291B3761}" type="presOf" srcId="{38346484-5781-4D85-81E3-8E6D1C0EC934}" destId="{0A32297E-C34E-4F79-A44A-AF95200835D2}" srcOrd="0" destOrd="0" presId="urn:microsoft.com/office/officeart/2005/8/layout/chevron2"/>
    <dgm:cxn modelId="{142397E8-234E-4D9A-A9C0-EF9109C5F15F}" srcId="{11C7ACFE-8FA8-42B6-A570-CE17E92C6F89}" destId="{67F73E7F-701D-4598-883F-18446C481297}" srcOrd="0" destOrd="0" parTransId="{F23CCBF1-CFF6-4846-9F27-FE87159102AB}" sibTransId="{7B13BCB2-0CF1-43DF-8D7A-D9D6417B25E6}"/>
    <dgm:cxn modelId="{C4AF8218-52AB-4413-994B-813F5BE267A5}" srcId="{E3D1628F-40F2-40A6-A46F-B8AD51EC8177}" destId="{79A530E3-18AF-4D74-9EA0-D72BF760144F}" srcOrd="0" destOrd="0" parTransId="{FB489D64-A0E4-4960-B73A-F91ED69030EA}" sibTransId="{9225641F-3D40-4ECF-B6C0-80DCCA73DF8F}"/>
    <dgm:cxn modelId="{2FE7C1BB-E18E-4796-A3DC-74DD77DF8B46}" type="presOf" srcId="{1087D52F-1DCF-45FA-948D-D887224079A5}" destId="{861E3399-6D5E-4F25-ABD6-7B45AFE46BCC}" srcOrd="0" destOrd="0" presId="urn:microsoft.com/office/officeart/2005/8/layout/chevron2"/>
    <dgm:cxn modelId="{D37E3922-453C-41D0-A09B-A242299E4B64}" srcId="{4426319F-B077-43FF-A820-A3E68DDF7E44}" destId="{38346484-5781-4D85-81E3-8E6D1C0EC934}" srcOrd="0" destOrd="0" parTransId="{234B2561-8F41-4408-A1CB-D0C8939339A2}" sibTransId="{8BB2C454-B299-4D63-A981-D3FC08A567A7}"/>
    <dgm:cxn modelId="{A5EDA284-2DC4-4F24-9FCD-F36004AB27AD}" srcId="{1C4101C1-E2CE-473F-A29C-0E96585AEDE3}" destId="{E3D1628F-40F2-40A6-A46F-B8AD51EC8177}" srcOrd="3" destOrd="0" parTransId="{53461F7A-9F14-4D0B-816C-AAF901C7A9C3}" sibTransId="{5D716A14-95B8-4A38-A23A-9A869C45F764}"/>
    <dgm:cxn modelId="{CFD7550C-B4B7-41A8-BBF3-7CA697BD2A45}" type="presOf" srcId="{740FB836-0EAA-437B-ADCA-8B6D901D59C0}" destId="{6082C7F8-B966-4C4A-97EA-2BF9F502DF91}" srcOrd="0" destOrd="0" presId="urn:microsoft.com/office/officeart/2005/8/layout/chevron2"/>
    <dgm:cxn modelId="{5A1374A6-4BAA-4EB0-8C76-B479227DF090}" type="presOf" srcId="{3CA9DCEE-BD8A-4229-A54D-3FC558299C84}" destId="{F2697E70-B845-41B8-AF37-D021F7E04F89}" srcOrd="0" destOrd="0" presId="urn:microsoft.com/office/officeart/2005/8/layout/chevron2"/>
    <dgm:cxn modelId="{6674F444-B2DC-45C7-8FAF-A417BA535716}" type="presOf" srcId="{D559E06B-9067-4A18-96C7-9E800843194B}" destId="{BC181C88-BC07-481B-B541-B627A3DD37BD}" srcOrd="0" destOrd="0" presId="urn:microsoft.com/office/officeart/2005/8/layout/chevron2"/>
    <dgm:cxn modelId="{741F4F92-D892-4361-BDB7-BE3540B61C78}" type="presOf" srcId="{E3D1628F-40F2-40A6-A46F-B8AD51EC8177}" destId="{B5BFBAF4-69C4-487C-A5B4-26C30924C291}" srcOrd="0" destOrd="0" presId="urn:microsoft.com/office/officeart/2005/8/layout/chevron2"/>
    <dgm:cxn modelId="{EF1D188F-6464-4A6E-8815-2073F1A44C49}" type="presParOf" srcId="{28287DD4-0C88-49E3-A58E-C790FB733C2D}" destId="{13FD98B7-A1D4-4ED1-8B98-BF794C4F7A23}" srcOrd="0" destOrd="0" presId="urn:microsoft.com/office/officeart/2005/8/layout/chevron2"/>
    <dgm:cxn modelId="{CEF11643-565B-4788-A164-DBB9BE90C0B5}" type="presParOf" srcId="{13FD98B7-A1D4-4ED1-8B98-BF794C4F7A23}" destId="{F2697E70-B845-41B8-AF37-D021F7E04F89}" srcOrd="0" destOrd="0" presId="urn:microsoft.com/office/officeart/2005/8/layout/chevron2"/>
    <dgm:cxn modelId="{943552E1-505A-4BEA-9ACD-BF53543726BB}" type="presParOf" srcId="{13FD98B7-A1D4-4ED1-8B98-BF794C4F7A23}" destId="{192CAF06-1849-428E-8D86-5BC031693FA9}" srcOrd="1" destOrd="0" presId="urn:microsoft.com/office/officeart/2005/8/layout/chevron2"/>
    <dgm:cxn modelId="{5A5A0E02-0DC4-4690-B45F-DE00089A1E7E}" type="presParOf" srcId="{28287DD4-0C88-49E3-A58E-C790FB733C2D}" destId="{DB1DE15D-96B2-4FA9-9E0D-729185A98A34}" srcOrd="1" destOrd="0" presId="urn:microsoft.com/office/officeart/2005/8/layout/chevron2"/>
    <dgm:cxn modelId="{3F2D2291-AA11-4EEC-BBE9-E23140DD9B8E}" type="presParOf" srcId="{28287DD4-0C88-49E3-A58E-C790FB733C2D}" destId="{08E1F412-B1B1-4042-B27E-AD2C77B1A030}" srcOrd="2" destOrd="0" presId="urn:microsoft.com/office/officeart/2005/8/layout/chevron2"/>
    <dgm:cxn modelId="{43849952-6267-40A3-B195-945C33D84FB4}" type="presParOf" srcId="{08E1F412-B1B1-4042-B27E-AD2C77B1A030}" destId="{6705EAC3-3A80-410A-A925-CC5D44A0DD2B}" srcOrd="0" destOrd="0" presId="urn:microsoft.com/office/officeart/2005/8/layout/chevron2"/>
    <dgm:cxn modelId="{898B851B-1032-4C4D-96DD-7B46D26E3530}" type="presParOf" srcId="{08E1F412-B1B1-4042-B27E-AD2C77B1A030}" destId="{EA2258C2-C974-4867-997B-833B708B8A50}" srcOrd="1" destOrd="0" presId="urn:microsoft.com/office/officeart/2005/8/layout/chevron2"/>
    <dgm:cxn modelId="{1F37A340-7D06-4092-AB60-472ACDA2C631}" type="presParOf" srcId="{28287DD4-0C88-49E3-A58E-C790FB733C2D}" destId="{3E881B6F-7947-4383-95CA-ECDD934C9B79}" srcOrd="3" destOrd="0" presId="urn:microsoft.com/office/officeart/2005/8/layout/chevron2"/>
    <dgm:cxn modelId="{3F6D6B81-069D-4AFA-9998-572CB6BD89AE}" type="presParOf" srcId="{28287DD4-0C88-49E3-A58E-C790FB733C2D}" destId="{8F45FA6C-2321-4ADF-B657-3F7CA17E4760}" srcOrd="4" destOrd="0" presId="urn:microsoft.com/office/officeart/2005/8/layout/chevron2"/>
    <dgm:cxn modelId="{E5907CD7-5FF1-48D9-A751-B00BC6AB7E08}" type="presParOf" srcId="{8F45FA6C-2321-4ADF-B657-3F7CA17E4760}" destId="{F84A07EE-EF3B-4866-BC60-853C497B8642}" srcOrd="0" destOrd="0" presId="urn:microsoft.com/office/officeart/2005/8/layout/chevron2"/>
    <dgm:cxn modelId="{3B5B9F21-71BF-4375-AE8C-5E1C9325D8F3}" type="presParOf" srcId="{8F45FA6C-2321-4ADF-B657-3F7CA17E4760}" destId="{0A32297E-C34E-4F79-A44A-AF95200835D2}" srcOrd="1" destOrd="0" presId="urn:microsoft.com/office/officeart/2005/8/layout/chevron2"/>
    <dgm:cxn modelId="{2A58A250-38BA-4B28-881E-AE422602E6D0}" type="presParOf" srcId="{28287DD4-0C88-49E3-A58E-C790FB733C2D}" destId="{B4407610-830D-478E-9C0C-EA43E4B5A005}" srcOrd="5" destOrd="0" presId="urn:microsoft.com/office/officeart/2005/8/layout/chevron2"/>
    <dgm:cxn modelId="{410592D8-ED1A-46A4-95E3-8D4CC570C409}" type="presParOf" srcId="{28287DD4-0C88-49E3-A58E-C790FB733C2D}" destId="{AD7DA843-0C81-4A04-B5F2-B1D1625F98ED}" srcOrd="6" destOrd="0" presId="urn:microsoft.com/office/officeart/2005/8/layout/chevron2"/>
    <dgm:cxn modelId="{8D314F8E-ECE6-4730-8F83-6ED85A455AA4}" type="presParOf" srcId="{AD7DA843-0C81-4A04-B5F2-B1D1625F98ED}" destId="{B5BFBAF4-69C4-487C-A5B4-26C30924C291}" srcOrd="0" destOrd="0" presId="urn:microsoft.com/office/officeart/2005/8/layout/chevron2"/>
    <dgm:cxn modelId="{EAC13BD8-5394-4303-8A36-05A28CC9A270}" type="presParOf" srcId="{AD7DA843-0C81-4A04-B5F2-B1D1625F98ED}" destId="{EDA1C3BF-995E-4EFE-9914-DD1C163332E8}" srcOrd="1" destOrd="0" presId="urn:microsoft.com/office/officeart/2005/8/layout/chevron2"/>
    <dgm:cxn modelId="{82600FA0-98A2-469D-AF69-2D21CF061C3F}" type="presParOf" srcId="{28287DD4-0C88-49E3-A58E-C790FB733C2D}" destId="{6E1C199F-6F2B-47A2-BDA0-3ADEA4F6076B}" srcOrd="7" destOrd="0" presId="urn:microsoft.com/office/officeart/2005/8/layout/chevron2"/>
    <dgm:cxn modelId="{7EF52DE0-6023-4B39-B439-DC1672C571C7}" type="presParOf" srcId="{28287DD4-0C88-49E3-A58E-C790FB733C2D}" destId="{B586B326-640C-4320-B021-32A2A0D342B0}" srcOrd="8" destOrd="0" presId="urn:microsoft.com/office/officeart/2005/8/layout/chevron2"/>
    <dgm:cxn modelId="{77C37D51-2AEF-489D-BA58-36209BB691B0}" type="presParOf" srcId="{B586B326-640C-4320-B021-32A2A0D342B0}" destId="{6082C7F8-B966-4C4A-97EA-2BF9F502DF91}" srcOrd="0" destOrd="0" presId="urn:microsoft.com/office/officeart/2005/8/layout/chevron2"/>
    <dgm:cxn modelId="{EC67041C-A42A-4D99-9DC0-F23C1031006C}" type="presParOf" srcId="{B586B326-640C-4320-B021-32A2A0D342B0}" destId="{BC181C88-BC07-481B-B541-B627A3DD37BD}" srcOrd="1" destOrd="0" presId="urn:microsoft.com/office/officeart/2005/8/layout/chevron2"/>
    <dgm:cxn modelId="{EB9DA33F-EC70-4F6B-BB6A-F7D7F8BA6F76}" type="presParOf" srcId="{28287DD4-0C88-49E3-A58E-C790FB733C2D}" destId="{D04A4E63-6A44-446E-9EA7-A0FEB99F4C13}" srcOrd="9" destOrd="0" presId="urn:microsoft.com/office/officeart/2005/8/layout/chevron2"/>
    <dgm:cxn modelId="{9D05FAD4-2881-4566-BD15-2DC27635BC22}" type="presParOf" srcId="{28287DD4-0C88-49E3-A58E-C790FB733C2D}" destId="{DB0652C0-E06F-4AD6-9DC7-F0374D539DC1}" srcOrd="10" destOrd="0" presId="urn:microsoft.com/office/officeart/2005/8/layout/chevron2"/>
    <dgm:cxn modelId="{2E499F5F-EDF8-4FEF-B856-66454633DB4C}" type="presParOf" srcId="{DB0652C0-E06F-4AD6-9DC7-F0374D539DC1}" destId="{2242E4FF-CAAE-4A50-8FBA-AD3FB4BC2399}" srcOrd="0" destOrd="0" presId="urn:microsoft.com/office/officeart/2005/8/layout/chevron2"/>
    <dgm:cxn modelId="{83A08FDB-3D88-4929-8828-3A32A4B1DB72}" type="presParOf" srcId="{DB0652C0-E06F-4AD6-9DC7-F0374D539DC1}" destId="{861E3399-6D5E-4F25-ABD6-7B45AFE46BCC}"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4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latin typeface="Helvetica" pitchFamily="34" charset="0"/>
            </a:endParaRPr>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latin typeface="Helvetica" pitchFamily="34" charset="0"/>
              </a:rPr>
              <a:pPr/>
              <a:t>4/6/2015</a:t>
            </a:fld>
            <a:endParaRPr lang="en-GB" dirty="0">
              <a:latin typeface="Helvetica" pitchFamily="34" charset="0"/>
            </a:endParaRPr>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latin typeface="Helvetica" pitchFamily="34" charset="0"/>
            </a:endParaRPr>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latin typeface="Helvetica" pitchFamily="34" charset="0"/>
              </a:rPr>
              <a:pPr/>
              <a:t>‹#›</a:t>
            </a:fld>
            <a:endParaRPr lang="en-GB" dirty="0">
              <a:latin typeface="Helvetica" pitchFamily="34" charset="0"/>
            </a:endParaRPr>
          </a:p>
        </p:txBody>
      </p:sp>
    </p:spTree>
    <p:extLst>
      <p:ext uri="{BB962C8B-B14F-4D97-AF65-F5344CB8AC3E}">
        <p14:creationId xmlns:p14="http://schemas.microsoft.com/office/powerpoint/2010/main" val="12524221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atin typeface="Helvetica" pitchFamily="34" charset="0"/>
              </a:defRPr>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atin typeface="Helvetica" pitchFamily="34" charset="0"/>
              </a:defRPr>
            </a:lvl1pPr>
          </a:lstStyle>
          <a:p>
            <a:fld id="{BC34F173-2430-41D6-9CA5-C9CD3BDF7E96}" type="datetimeFigureOut">
              <a:rPr lang="en-US" smtClean="0"/>
              <a:pPr/>
              <a:t>4/6/2015</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atin typeface="Helvetica" pitchFamily="34" charset="0"/>
              </a:defRPr>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atin typeface="Helvetica" pitchFamily="34" charset="0"/>
              </a:defRPr>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17398022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Helvetica" pitchFamily="34" charset="0"/>
        <a:ea typeface="+mn-ea"/>
        <a:cs typeface="+mn-cs"/>
      </a:defRPr>
    </a:lvl1pPr>
    <a:lvl2pPr marL="457200" algn="l" defTabSz="914400" rtl="0" eaLnBrk="1" latinLnBrk="0" hangingPunct="1">
      <a:defRPr sz="1200" kern="1200">
        <a:solidFill>
          <a:schemeClr val="tx1"/>
        </a:solidFill>
        <a:latin typeface="Helvetica" pitchFamily="34" charset="0"/>
        <a:ea typeface="+mn-ea"/>
        <a:cs typeface="+mn-cs"/>
      </a:defRPr>
    </a:lvl2pPr>
    <a:lvl3pPr marL="914400" algn="l" defTabSz="914400" rtl="0" eaLnBrk="1" latinLnBrk="0" hangingPunct="1">
      <a:defRPr sz="1200" kern="1200">
        <a:solidFill>
          <a:schemeClr val="tx1"/>
        </a:solidFill>
        <a:latin typeface="Helvetica" pitchFamily="34" charset="0"/>
        <a:ea typeface="+mn-ea"/>
        <a:cs typeface="+mn-cs"/>
      </a:defRPr>
    </a:lvl3pPr>
    <a:lvl4pPr marL="1371600" algn="l" defTabSz="914400" rtl="0" eaLnBrk="1" latinLnBrk="0" hangingPunct="1">
      <a:defRPr sz="1200" kern="1200">
        <a:solidFill>
          <a:schemeClr val="tx1"/>
        </a:solidFill>
        <a:latin typeface="Helvetica" pitchFamily="34" charset="0"/>
        <a:ea typeface="+mn-ea"/>
        <a:cs typeface="+mn-cs"/>
      </a:defRPr>
    </a:lvl4pPr>
    <a:lvl5pPr marL="1828800" algn="l" defTabSz="914400" rtl="0" eaLnBrk="1" latinLnBrk="0" hangingPunct="1">
      <a:defRPr sz="1200" kern="1200">
        <a:solidFill>
          <a:schemeClr val="tx1"/>
        </a:solidFill>
        <a:latin typeface="Helvetic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welcomes trainees to class.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26477991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that this Unit comprises three Elements, as listed on the slide explaining:</a:t>
            </a:r>
          </a:p>
          <a:p>
            <a:r>
              <a:rPr lang="en-AU" sz="1200" kern="1200" baseline="0" dirty="0" smtClean="0">
                <a:solidFill>
                  <a:schemeClr val="tx1"/>
                </a:solidFill>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ea typeface="+mn-ea"/>
                <a:cs typeface="+mn-cs"/>
              </a:rPr>
              <a:t>• Trainees can obtain more detail from their Trainee Manual</a:t>
            </a:r>
          </a:p>
          <a:p>
            <a:r>
              <a:rPr lang="en-AU" sz="1200" kern="1200" baseline="0" dirty="0" smtClean="0">
                <a:solidFill>
                  <a:schemeClr val="tx1"/>
                </a:solidFill>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25142482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that assessment for this Unit may take several forms all of which are aimed at verifying they have achieved competency for the Unit as required.</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Trainer indicates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16332006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types of documents are commonly produced in a hospitality environment?</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5434454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34378272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Discussion – discuss difference between hardware and software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Discuss the differences.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6611562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Discussion - Compile list of hardware and software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to get audience to identify different types of hardware and software that can be used.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20181531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dirty="0" smtClean="0">
                <a:latin typeface="Helvetica" pitchFamily="34" charset="0"/>
              </a:rPr>
              <a:t>Trainer to explain types of computers</a:t>
            </a:r>
            <a:r>
              <a:rPr lang="en-US" sz="1200" baseline="0" dirty="0" smtClean="0">
                <a:latin typeface="Helvetica" pitchFamily="34" charset="0"/>
              </a:rPr>
              <a:t> and his/her own experience.</a:t>
            </a:r>
            <a:endParaRPr lang="en-US" sz="1200" dirty="0" smtClean="0">
              <a:latin typeface="Helvetica" pitchFamily="34" charset="0"/>
            </a:endParaRPr>
          </a:p>
          <a:p>
            <a:pPr>
              <a:buNone/>
            </a:pPr>
            <a:r>
              <a:rPr lang="en-AU" sz="1200" b="1" dirty="0" smtClean="0"/>
              <a:t>Notebook or Laptop </a:t>
            </a:r>
          </a:p>
          <a:p>
            <a:pPr>
              <a:buNone/>
            </a:pPr>
            <a:r>
              <a:rPr lang="en-AU" sz="1200" dirty="0" smtClean="0"/>
              <a:t>These are portable computers which are used by people “on the go”. A notebook is similar in size to a standard book. A laptop is larger than a notebook. They are both lightweight, very convenient but are not as fast as a fixed PC, have a shorter battery life and can easily be damaged if not taken care of. </a:t>
            </a:r>
          </a:p>
          <a:p>
            <a:pPr>
              <a:buNone/>
            </a:pPr>
            <a:r>
              <a:rPr lang="en-AU" sz="1200" b="1" dirty="0" smtClean="0"/>
              <a:t>Touch Screen PC </a:t>
            </a:r>
          </a:p>
          <a:p>
            <a:pPr>
              <a:buNone/>
            </a:pPr>
            <a:r>
              <a:rPr lang="en-AU" sz="1200" dirty="0" smtClean="0"/>
              <a:t>This is a PC that can be held in the hand. A touch screen looks similar to a notebook/laptop monitor, though they can vary in style. A special pen is used to access different menu options on the touch screen. There is no keyboard or mouse.</a:t>
            </a:r>
          </a:p>
          <a:p>
            <a:pPr>
              <a:buNone/>
            </a:pPr>
            <a:r>
              <a:rPr lang="en-AU" sz="1200" b="1" dirty="0" smtClean="0"/>
              <a:t>Palmtops</a:t>
            </a:r>
          </a:p>
          <a:p>
            <a:pPr>
              <a:buNone/>
            </a:pPr>
            <a:r>
              <a:rPr lang="en-AU" sz="1200" dirty="0" smtClean="0"/>
              <a:t>Mini computers that are designed to perform basic computer functions and fit in the palm of the hand. Many are used in conjunction with a normal PC. There are different styles available. Two common types are shown. You can transfer data from your PC to the Palmtop as a reference or to edit on the go. The palmtop is not as powerful as a PC. Palmtops can be connected to the internet, or to a PC and are useful when travelling to send and receive email.</a:t>
            </a:r>
          </a:p>
          <a:p>
            <a:pPr>
              <a:buNone/>
            </a:pPr>
            <a:r>
              <a:rPr lang="en-AU" sz="1200" dirty="0" smtClean="0"/>
              <a:t>                                                                                                         </a:t>
            </a:r>
          </a:p>
          <a:p>
            <a:pPr>
              <a:buNone/>
            </a:pPr>
            <a:r>
              <a:rPr lang="en-AU" sz="1200" b="1" dirty="0" smtClean="0"/>
              <a:t>Tablets/I pads and I phones</a:t>
            </a:r>
          </a:p>
          <a:p>
            <a:pPr>
              <a:buNone/>
            </a:pPr>
            <a:r>
              <a:rPr lang="en-AU" sz="1200" dirty="0" smtClean="0"/>
              <a:t>IPads and android tablets are a combination of a modern smart phone and a laptop computer. Business owners often use tablets to get tasks done on the run, create presentations for meetings and update websites and blogs. They are lightweight, compact and affordable.  They can easily be synchronised with your computer when returning to the office.</a:t>
            </a:r>
            <a:endParaRPr lang="en-AU" sz="1200" b="1"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4333928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b="1" dirty="0" smtClean="0"/>
              <a:t>Discuss office hardware.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dirty="0" smtClean="0"/>
              <a:t>Can you think of</a:t>
            </a:r>
            <a:r>
              <a:rPr lang="en-AU" baseline="0" dirty="0" smtClean="0"/>
              <a:t> any more not listed here?</a:t>
            </a:r>
            <a:endParaRPr lang="en-US"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38257626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b="1" dirty="0" smtClean="0"/>
              <a:t>Discuss office hardware.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dirty="0" smtClean="0"/>
              <a:t>Can you think of</a:t>
            </a:r>
            <a:r>
              <a:rPr lang="en-AU" baseline="0" dirty="0" smtClean="0"/>
              <a:t> any more not listed here?</a:t>
            </a:r>
            <a:endParaRPr lang="en-US"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289853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Trainer</a:t>
            </a:r>
            <a:r>
              <a:rPr lang="en-US" baseline="0" dirty="0" smtClean="0"/>
              <a:t> to explain the internet browsers available in their country (e.g. Internet Explorer, Mozilla Firefox) and ask what trainees use at work and at home.</a:t>
            </a:r>
          </a:p>
          <a:p>
            <a:pPr>
              <a:buFont typeface="Arial" pitchFamily="34" charset="0"/>
              <a:buChar char="•"/>
            </a:pPr>
            <a:r>
              <a:rPr lang="en-US" baseline="0" dirty="0" smtClean="0"/>
              <a:t>Trainer to ask what software trainees use to do word processing: Word for Windows?  Or do they use Apple Mac and download Word onto it?  Trainer to explain there are different versions of Word e.g. 2003, 2007, 2010</a:t>
            </a:r>
          </a:p>
          <a:p>
            <a:pPr>
              <a:buFont typeface="Arial" pitchFamily="34" charset="0"/>
              <a:buChar char="•"/>
            </a:pPr>
            <a:r>
              <a:rPr lang="en-US" baseline="0" dirty="0" smtClean="0"/>
              <a:t>Trainer to ask what spreadsheets trainees use (e.g. Excel) and what they feel is good or not as good about it. Do they know how to sort it? Enter formulas?</a:t>
            </a:r>
          </a:p>
          <a:p>
            <a:pPr>
              <a:buFont typeface="Arial" pitchFamily="34" charset="0"/>
              <a:buChar char="•"/>
            </a:pPr>
            <a:r>
              <a:rPr lang="en-US" baseline="0" dirty="0" smtClean="0"/>
              <a:t>Trainer to explain that engineers, for example, use a project management tool called Microsoft Project which allows them to track projects </a:t>
            </a:r>
          </a:p>
          <a:p>
            <a:pPr>
              <a:buFont typeface="Arial" pitchFamily="34" charset="0"/>
              <a:buChar char="•"/>
            </a:pPr>
            <a:r>
              <a:rPr lang="en-US" baseline="0" dirty="0" smtClean="0"/>
              <a:t>Trainer to explain that there are various packages to do accounting/bookkeeping such as MYOB, Quicken</a:t>
            </a:r>
          </a:p>
          <a:p>
            <a:pPr>
              <a:buFont typeface="Arial" pitchFamily="34" charset="0"/>
              <a:buChar char="•"/>
            </a:pPr>
            <a:r>
              <a:rPr lang="en-US" baseline="0" dirty="0" smtClean="0"/>
              <a:t>Trainer to explain that he/she uses PowerPoint – trainer to explain its advantages for presentations.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36293711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latin typeface="Helvetica" pitchFamily="34" charset="0"/>
              </a:rPr>
              <a:t>Discussion</a:t>
            </a:r>
          </a:p>
          <a:p>
            <a:endParaRPr lang="en-AU" sz="1200" kern="1200" dirty="0" smtClean="0">
              <a:solidFill>
                <a:schemeClr val="tx1"/>
              </a:solidFill>
              <a:latin typeface="Helvetica" pitchFamily="34" charset="0"/>
              <a:ea typeface="+mn-ea"/>
              <a:cs typeface="+mn-cs"/>
            </a:endParaRPr>
          </a:p>
          <a:p>
            <a:pPr>
              <a:buFont typeface="Arial" pitchFamily="34" charset="0"/>
              <a:buChar char="•"/>
            </a:pPr>
            <a:r>
              <a:rPr lang="en-AU" sz="1200" kern="1200" dirty="0" smtClean="0">
                <a:solidFill>
                  <a:schemeClr val="tx1"/>
                </a:solidFill>
                <a:latin typeface="Helvetica" pitchFamily="34" charset="0"/>
                <a:ea typeface="+mn-ea"/>
                <a:cs typeface="+mn-cs"/>
              </a:rPr>
              <a:t>Discuss the differences in software.</a:t>
            </a:r>
          </a:p>
          <a:p>
            <a:pPr>
              <a:buFont typeface="Arial" pitchFamily="34" charset="0"/>
              <a:buChar char="•"/>
            </a:pPr>
            <a:r>
              <a:rPr lang="en-AU" sz="1200" kern="1200" dirty="0" smtClean="0">
                <a:solidFill>
                  <a:schemeClr val="tx1"/>
                </a:solidFill>
                <a:latin typeface="Helvetica" pitchFamily="34" charset="0"/>
                <a:ea typeface="+mn-ea"/>
                <a:cs typeface="+mn-cs"/>
              </a:rPr>
              <a:t>What other</a:t>
            </a:r>
            <a:r>
              <a:rPr lang="en-AU" sz="1200" kern="1200" baseline="0" dirty="0" smtClean="0">
                <a:solidFill>
                  <a:schemeClr val="tx1"/>
                </a:solidFill>
                <a:latin typeface="Helvetica" pitchFamily="34" charset="0"/>
                <a:ea typeface="+mn-ea"/>
                <a:cs typeface="+mn-cs"/>
              </a:rPr>
              <a:t> specific software programs are used in a hospitality environment?</a:t>
            </a: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2577585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Class Discussion</a:t>
            </a:r>
          </a:p>
          <a:p>
            <a:pPr>
              <a:buFont typeface="Arial" pitchFamily="34" charset="0"/>
              <a:buNone/>
            </a:pPr>
            <a:endParaRPr lang="en-US" dirty="0" smtClean="0"/>
          </a:p>
          <a:p>
            <a:pPr>
              <a:buFont typeface="Arial" pitchFamily="34" charset="0"/>
              <a:buChar char="•"/>
            </a:pPr>
            <a:r>
              <a:rPr lang="en-US" dirty="0" smtClean="0"/>
              <a:t>Ask trainees for their experience in industry guidelines</a:t>
            </a:r>
            <a:r>
              <a:rPr lang="en-US" baseline="0" dirty="0" smtClean="0"/>
              <a:t> in their workplace</a:t>
            </a:r>
          </a:p>
          <a:p>
            <a:pPr>
              <a:buFont typeface="Arial" pitchFamily="34" charset="0"/>
              <a:buChar char="•"/>
            </a:pPr>
            <a:r>
              <a:rPr lang="en-US" baseline="0" dirty="0" smtClean="0"/>
              <a:t>Link it to your own</a:t>
            </a:r>
          </a:p>
          <a:p>
            <a:pPr>
              <a:buFont typeface="Arial" pitchFamily="34" charset="0"/>
              <a:buChar char="•"/>
            </a:pPr>
            <a:r>
              <a:rPr lang="en-US" baseline="0" dirty="0" smtClean="0"/>
              <a:t>Bring in some samples</a:t>
            </a:r>
          </a:p>
          <a:p>
            <a:pPr>
              <a:buFont typeface="Arial" pitchFamily="34" charset="0"/>
              <a:buChar char="•"/>
            </a:pPr>
            <a:r>
              <a:rPr lang="en-US" baseline="0" dirty="0" smtClean="0"/>
              <a:t>Ask students to bring in non-sensitive correspondence or office documentation to show consistency across the board.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37782313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Class Discussion &amp; Demonstration</a:t>
            </a:r>
          </a:p>
          <a:p>
            <a:pPr>
              <a:buFont typeface="Arial" pitchFamily="34" charset="0"/>
              <a:buNone/>
            </a:pPr>
            <a:endParaRPr lang="en-US" dirty="0" smtClean="0"/>
          </a:p>
          <a:p>
            <a:pPr>
              <a:buFont typeface="Arial" pitchFamily="34" charset="0"/>
              <a:buChar char="•"/>
            </a:pPr>
            <a:r>
              <a:rPr lang="en-US" dirty="0" smtClean="0"/>
              <a:t>What is each document used for?</a:t>
            </a:r>
          </a:p>
          <a:p>
            <a:pPr>
              <a:buFont typeface="Arial" pitchFamily="34" charset="0"/>
              <a:buChar char="•"/>
            </a:pPr>
            <a:r>
              <a:rPr lang="en-US" dirty="0" smtClean="0"/>
              <a:t>What information is contained in these</a:t>
            </a:r>
            <a:r>
              <a:rPr lang="en-US" baseline="0" dirty="0" smtClean="0"/>
              <a:t> documents?</a:t>
            </a:r>
          </a:p>
          <a:p>
            <a:pPr>
              <a:buFont typeface="Arial" pitchFamily="34" charset="0"/>
              <a:buChar char="•"/>
            </a:pPr>
            <a:r>
              <a:rPr lang="en-US" baseline="0" dirty="0" smtClean="0"/>
              <a:t>What format do they take?</a:t>
            </a:r>
          </a:p>
          <a:p>
            <a:pPr>
              <a:buFont typeface="Arial" pitchFamily="34" charset="0"/>
              <a:buChar char="•"/>
            </a:pPr>
            <a:endParaRPr lang="en-US" baseline="0" dirty="0" smtClean="0"/>
          </a:p>
          <a:p>
            <a:pPr>
              <a:buFont typeface="Arial" pitchFamily="34" charset="0"/>
              <a:buChar char="•"/>
            </a:pPr>
            <a:r>
              <a:rPr lang="en-US" baseline="0" dirty="0" smtClean="0"/>
              <a:t>Trainer to show examples of each document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33282014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Class Discussion &amp; Demonstration</a:t>
            </a:r>
          </a:p>
          <a:p>
            <a:pPr>
              <a:buFont typeface="Arial" pitchFamily="34" charset="0"/>
              <a:buNone/>
            </a:pPr>
            <a:endParaRPr lang="en-US" dirty="0" smtClean="0"/>
          </a:p>
          <a:p>
            <a:pPr>
              <a:buFont typeface="Arial" pitchFamily="34" charset="0"/>
              <a:buChar char="•"/>
            </a:pPr>
            <a:r>
              <a:rPr lang="en-US" dirty="0" smtClean="0"/>
              <a:t>What is each document used for?</a:t>
            </a:r>
          </a:p>
          <a:p>
            <a:pPr>
              <a:buFont typeface="Arial" pitchFamily="34" charset="0"/>
              <a:buChar char="•"/>
            </a:pPr>
            <a:r>
              <a:rPr lang="en-US" dirty="0" smtClean="0"/>
              <a:t>What information is contained in these</a:t>
            </a:r>
            <a:r>
              <a:rPr lang="en-US" baseline="0" dirty="0" smtClean="0"/>
              <a:t> documents?</a:t>
            </a:r>
          </a:p>
          <a:p>
            <a:pPr>
              <a:buFont typeface="Arial" pitchFamily="34" charset="0"/>
              <a:buChar char="•"/>
            </a:pPr>
            <a:r>
              <a:rPr lang="en-US" baseline="0" dirty="0" smtClean="0"/>
              <a:t>What format do they take?</a:t>
            </a:r>
          </a:p>
          <a:p>
            <a:pPr>
              <a:buFont typeface="Arial" pitchFamily="34" charset="0"/>
              <a:buChar char="•"/>
            </a:pPr>
            <a:endParaRPr lang="en-US" baseline="0" dirty="0" smtClean="0"/>
          </a:p>
          <a:p>
            <a:pPr>
              <a:buFont typeface="Arial" pitchFamily="34" charset="0"/>
              <a:buChar char="•"/>
            </a:pPr>
            <a:r>
              <a:rPr lang="en-US" baseline="0" dirty="0" smtClean="0"/>
              <a:t>Trainer to show examples of each document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13049700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Class Discussion </a:t>
            </a:r>
          </a:p>
          <a:p>
            <a:pPr>
              <a:buFont typeface="Arial" pitchFamily="34" charset="0"/>
              <a:buNone/>
            </a:pPr>
            <a:endParaRPr lang="en-US" dirty="0" smtClean="0"/>
          </a:p>
          <a:p>
            <a:pPr>
              <a:buFont typeface="Arial" pitchFamily="34" charset="0"/>
              <a:buChar char="•"/>
            </a:pPr>
            <a:r>
              <a:rPr lang="en-US" dirty="0" smtClean="0"/>
              <a:t>What information do these audiences need?</a:t>
            </a:r>
          </a:p>
          <a:p>
            <a:pPr>
              <a:buFont typeface="Arial" pitchFamily="34" charset="0"/>
              <a:buChar char="•"/>
            </a:pPr>
            <a:r>
              <a:rPr lang="en-US" dirty="0" smtClean="0"/>
              <a:t>What types of documents are normally provided to these audiences?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30813133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b="1" dirty="0" smtClean="0"/>
              <a:t>Discuss office duties</a:t>
            </a:r>
          </a:p>
          <a:p>
            <a:pPr>
              <a:buFont typeface="Arial" pitchFamily="34" charset="0"/>
              <a:buNone/>
            </a:pPr>
            <a:endParaRPr lang="en-AU" dirty="0" smtClean="0"/>
          </a:p>
          <a:p>
            <a:pPr>
              <a:buFont typeface="Arial" pitchFamily="34" charset="0"/>
              <a:buNone/>
            </a:pPr>
            <a:r>
              <a:rPr lang="en-AU" dirty="0" smtClean="0"/>
              <a:t>What are other common administration /office duties?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1662760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Class Discussion </a:t>
            </a:r>
          </a:p>
          <a:p>
            <a:pPr>
              <a:buFont typeface="Arial" pitchFamily="34" charset="0"/>
              <a:buNone/>
            </a:pPr>
            <a:endParaRPr lang="en-US" dirty="0" smtClean="0"/>
          </a:p>
          <a:p>
            <a:pPr>
              <a:buFont typeface="Arial" pitchFamily="34" charset="0"/>
              <a:buChar char="•"/>
            </a:pPr>
            <a:r>
              <a:rPr lang="en-US" dirty="0" smtClean="0"/>
              <a:t>Why would these people be involved?</a:t>
            </a:r>
          </a:p>
          <a:p>
            <a:pPr>
              <a:buFont typeface="Arial" pitchFamily="34" charset="0"/>
              <a:buChar char="•"/>
            </a:pPr>
            <a:r>
              <a:rPr lang="en-US" dirty="0" smtClean="0"/>
              <a:t>What information is sought from</a:t>
            </a:r>
            <a:r>
              <a:rPr lang="en-US" baseline="0" dirty="0" smtClean="0"/>
              <a:t> these people?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16622500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Class Discussion </a:t>
            </a:r>
          </a:p>
          <a:p>
            <a:pPr>
              <a:buFont typeface="Arial" pitchFamily="34" charset="0"/>
              <a:buNone/>
            </a:pPr>
            <a:endParaRPr lang="en-US" dirty="0" smtClean="0"/>
          </a:p>
          <a:p>
            <a:pPr>
              <a:buFont typeface="Arial" pitchFamily="34" charset="0"/>
              <a:buChar char="•"/>
            </a:pPr>
            <a:r>
              <a:rPr lang="en-US" dirty="0" smtClean="0"/>
              <a:t>What company policies,</a:t>
            </a:r>
            <a:r>
              <a:rPr lang="en-US" baseline="0" dirty="0" smtClean="0"/>
              <a:t> procedures and standards impact on the preparation of documents?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16546322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Class Discussion </a:t>
            </a:r>
          </a:p>
          <a:p>
            <a:pPr>
              <a:buFont typeface="Arial" pitchFamily="34" charset="0"/>
              <a:buChar char="•"/>
            </a:pPr>
            <a:endParaRPr lang="en-US" dirty="0" smtClean="0"/>
          </a:p>
          <a:p>
            <a:pPr>
              <a:buFont typeface="Arial" pitchFamily="34" charset="0"/>
              <a:buChar char="•"/>
            </a:pPr>
            <a:r>
              <a:rPr lang="en-AU" sz="1200" dirty="0" smtClean="0"/>
              <a:t>What is the purpose of writing documents?</a:t>
            </a:r>
          </a:p>
          <a:p>
            <a:pPr>
              <a:buFont typeface="Arial" pitchFamily="34" charset="0"/>
              <a:buChar char="•"/>
            </a:pPr>
            <a:r>
              <a:rPr lang="en-AU" sz="1200" dirty="0" smtClean="0"/>
              <a:t>What do they try to achieve?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4673634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Class Discussion </a:t>
            </a:r>
          </a:p>
          <a:p>
            <a:pPr>
              <a:buFont typeface="Arial" pitchFamily="34" charset="0"/>
              <a:buChar char="•"/>
            </a:pPr>
            <a:endParaRPr lang="en-US" dirty="0" smtClean="0"/>
          </a:p>
          <a:p>
            <a:pPr>
              <a:buFont typeface="Arial" pitchFamily="34" charset="0"/>
              <a:buChar char="•"/>
            </a:pPr>
            <a:r>
              <a:rPr lang="en-AU" sz="1200" dirty="0" smtClean="0"/>
              <a:t>What is the difference between</a:t>
            </a:r>
            <a:r>
              <a:rPr lang="en-AU" sz="1200" baseline="0" dirty="0" smtClean="0"/>
              <a:t> these appeals?</a:t>
            </a: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22292811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Class Discussion </a:t>
            </a:r>
          </a:p>
          <a:p>
            <a:pPr>
              <a:buFont typeface="Arial" pitchFamily="34" charset="0"/>
              <a:buChar char="•"/>
            </a:pPr>
            <a:endParaRPr lang="en-US" dirty="0" smtClean="0"/>
          </a:p>
          <a:p>
            <a:pPr>
              <a:buFont typeface="Arial" pitchFamily="34" charset="0"/>
              <a:buChar char="•"/>
            </a:pPr>
            <a:r>
              <a:rPr lang="en-AU" sz="1200" dirty="0" smtClean="0"/>
              <a:t>What are examples of when you would use this</a:t>
            </a:r>
            <a:r>
              <a:rPr lang="en-AU" sz="1200" baseline="0" dirty="0" smtClean="0"/>
              <a:t> style of writing?</a:t>
            </a: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24404920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Class Discussion </a:t>
            </a:r>
          </a:p>
          <a:p>
            <a:pPr>
              <a:buFont typeface="Arial" pitchFamily="34" charset="0"/>
              <a:buChar char="•"/>
            </a:pPr>
            <a:endParaRPr lang="en-US" dirty="0" smtClean="0"/>
          </a:p>
          <a:p>
            <a:pPr>
              <a:buFont typeface="Arial" pitchFamily="34" charset="0"/>
              <a:buChar char="•"/>
            </a:pPr>
            <a:r>
              <a:rPr lang="en-AU" sz="1200" dirty="0" smtClean="0"/>
              <a:t>What are examples of when you would use this</a:t>
            </a:r>
            <a:r>
              <a:rPr lang="en-AU" sz="1200" baseline="0" dirty="0" smtClean="0"/>
              <a:t> style of writing?</a:t>
            </a: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707812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Class Discussion </a:t>
            </a:r>
          </a:p>
          <a:p>
            <a:pPr>
              <a:buFont typeface="Arial" pitchFamily="34" charset="0"/>
              <a:buChar char="•"/>
            </a:pPr>
            <a:endParaRPr lang="en-US" dirty="0" smtClean="0"/>
          </a:p>
          <a:p>
            <a:pPr>
              <a:buFont typeface="Arial" pitchFamily="34" charset="0"/>
              <a:buChar char="•"/>
            </a:pPr>
            <a:r>
              <a:rPr lang="en-AU" sz="1200" dirty="0" smtClean="0"/>
              <a:t>What are some points for</a:t>
            </a:r>
            <a:r>
              <a:rPr lang="en-AU" sz="1200" baseline="0" dirty="0" smtClean="0"/>
              <a:t> confirmation in each of these points?</a:t>
            </a: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2958312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Class Discussion </a:t>
            </a:r>
          </a:p>
          <a:p>
            <a:pPr>
              <a:buFont typeface="Arial" pitchFamily="34" charset="0"/>
              <a:buChar char="•"/>
            </a:pPr>
            <a:endParaRPr lang="en-US" dirty="0" smtClean="0"/>
          </a:p>
          <a:p>
            <a:pPr>
              <a:buFont typeface="Arial" pitchFamily="34" charset="0"/>
              <a:buChar char="•"/>
            </a:pPr>
            <a:r>
              <a:rPr lang="en-AU" sz="1200" dirty="0" smtClean="0"/>
              <a:t>What are some points for</a:t>
            </a:r>
            <a:r>
              <a:rPr lang="en-AU" sz="1200" baseline="0" dirty="0" smtClean="0"/>
              <a:t> confirmation in each of these points?</a:t>
            </a: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20398808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needs to be considered when producing documents?</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17754344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20132798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Explain each business</a:t>
            </a:r>
            <a:r>
              <a:rPr lang="en-US" baseline="0" dirty="0" smtClean="0"/>
              <a:t> document by giving them samples you have brought along to class.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32179367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dirty="0" smtClean="0"/>
              <a:t>Discuss the basic principles involved in preparing documents.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24868010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dirty="0" smtClean="0"/>
              <a:t>Discuss the six steps to good writing.</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378425564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dirty="0" smtClean="0"/>
              <a:t>Trainer to ask trainees to bring a sample of each different style of letter as above.</a:t>
            </a:r>
          </a:p>
          <a:p>
            <a:r>
              <a:rPr lang="en-AU" sz="1200" dirty="0" smtClean="0"/>
              <a:t>Ask</a:t>
            </a:r>
            <a:r>
              <a:rPr lang="en-AU" sz="1200" baseline="0" dirty="0" smtClean="0"/>
              <a:t> trainees which one is which.</a:t>
            </a:r>
          </a:p>
          <a:p>
            <a:endParaRPr lang="en-AU" sz="1200" dirty="0" smtClean="0"/>
          </a:p>
          <a:p>
            <a:r>
              <a:rPr lang="en-AU" sz="1200" dirty="0" smtClean="0"/>
              <a:t>Trainer to ask trainees</a:t>
            </a:r>
            <a:r>
              <a:rPr lang="en-AU" sz="1200" baseline="0" dirty="0" smtClean="0"/>
              <a:t> to bring in </a:t>
            </a:r>
            <a:r>
              <a:rPr lang="en-AU" sz="1200" dirty="0" smtClean="0"/>
              <a:t>samples and ask them to identify differences.</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15214916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dirty="0" smtClean="0"/>
              <a:t>Trainer to ask trainees to bring a sample of each different style of letter as above.</a:t>
            </a:r>
          </a:p>
          <a:p>
            <a:r>
              <a:rPr lang="en-AU" sz="1200" dirty="0" smtClean="0"/>
              <a:t>Ask</a:t>
            </a:r>
            <a:r>
              <a:rPr lang="en-AU" sz="1200" baseline="0" dirty="0" smtClean="0"/>
              <a:t> trainees which one is which.</a:t>
            </a:r>
          </a:p>
          <a:p>
            <a:endParaRPr lang="en-AU" sz="1200" dirty="0" smtClean="0"/>
          </a:p>
          <a:p>
            <a:r>
              <a:rPr lang="en-AU" sz="1200" dirty="0" smtClean="0"/>
              <a:t>Trainer to ask trainees</a:t>
            </a:r>
            <a:r>
              <a:rPr lang="en-AU" sz="1200" baseline="0" dirty="0" smtClean="0"/>
              <a:t> to bring in </a:t>
            </a:r>
            <a:r>
              <a:rPr lang="en-AU" sz="1200" dirty="0" smtClean="0"/>
              <a:t>samples and ask them to identify differences.</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346150048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dirty="0" smtClean="0"/>
              <a:t>Trainer to ask trainees to bring a sample of each different style of letter as above.</a:t>
            </a:r>
          </a:p>
          <a:p>
            <a:r>
              <a:rPr lang="en-AU" sz="1200" dirty="0" smtClean="0"/>
              <a:t>Ask</a:t>
            </a:r>
            <a:r>
              <a:rPr lang="en-AU" sz="1200" baseline="0" dirty="0" smtClean="0"/>
              <a:t> trainees which one is which.</a:t>
            </a:r>
          </a:p>
          <a:p>
            <a:endParaRPr lang="en-AU" sz="1200" dirty="0" smtClean="0"/>
          </a:p>
          <a:p>
            <a:r>
              <a:rPr lang="en-AU" sz="1200" dirty="0" smtClean="0"/>
              <a:t>Trainer to ask trainees</a:t>
            </a:r>
            <a:r>
              <a:rPr lang="en-AU" sz="1200" baseline="0" dirty="0" smtClean="0"/>
              <a:t> to bring in </a:t>
            </a:r>
            <a:r>
              <a:rPr lang="en-AU" sz="1200" dirty="0" smtClean="0"/>
              <a:t>samples and ask them to identify differences.</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37582001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dirty="0" smtClean="0"/>
              <a:t>Trainer to ask trainees to bring a sample of each different style of letter as above.</a:t>
            </a:r>
          </a:p>
          <a:p>
            <a:r>
              <a:rPr lang="en-AU" sz="1200" dirty="0" smtClean="0"/>
              <a:t>Ask</a:t>
            </a:r>
            <a:r>
              <a:rPr lang="en-AU" sz="1200" baseline="0" dirty="0" smtClean="0"/>
              <a:t> trainees which one is which.</a:t>
            </a:r>
          </a:p>
          <a:p>
            <a:endParaRPr lang="en-AU" sz="1200" dirty="0" smtClean="0"/>
          </a:p>
          <a:p>
            <a:r>
              <a:rPr lang="en-AU" sz="1200" dirty="0" smtClean="0"/>
              <a:t>Trainer to ask trainees</a:t>
            </a:r>
            <a:r>
              <a:rPr lang="en-AU" sz="1200" baseline="0" dirty="0" smtClean="0"/>
              <a:t> to bring in </a:t>
            </a:r>
            <a:r>
              <a:rPr lang="en-AU" sz="1200" dirty="0" smtClean="0"/>
              <a:t>samples and ask them to identify differences.</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10874492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dirty="0" smtClean="0"/>
              <a:t>Discuss sample</a:t>
            </a:r>
            <a:r>
              <a:rPr lang="en-AU" baseline="0" dirty="0" smtClean="0"/>
              <a:t> memo in slide.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382270089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Activity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to show example or get audience to prepare a letterhead.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19109250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Discuss sample routine letter in slide.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14499160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dirty="0" smtClean="0"/>
              <a:t>Discuss sample good</a:t>
            </a:r>
            <a:r>
              <a:rPr lang="en-AU" baseline="0" dirty="0" smtClean="0"/>
              <a:t> news</a:t>
            </a:r>
            <a:r>
              <a:rPr lang="en-AU" dirty="0" smtClean="0"/>
              <a:t> letter in slide.</a:t>
            </a:r>
            <a:endParaRPr lang="en-US"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13087365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dirty="0" smtClean="0"/>
              <a:t>Discuss sample bad</a:t>
            </a:r>
            <a:r>
              <a:rPr lang="en-AU" baseline="0" dirty="0" smtClean="0"/>
              <a:t> news</a:t>
            </a:r>
            <a:r>
              <a:rPr lang="en-AU" dirty="0" smtClean="0"/>
              <a:t> letter in slide.</a:t>
            </a:r>
            <a:endParaRPr lang="en-US"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199260534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Activity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to show an example of this document.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18807813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Activity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to show an example of this document.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145295725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Activity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to show an example of this document.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260914698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Activity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to show an example of this document.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207584731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Activity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to show an example of this document.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extLst>
      <p:ext uri="{BB962C8B-B14F-4D97-AF65-F5344CB8AC3E}">
        <p14:creationId xmlns:p14="http://schemas.microsoft.com/office/powerpoint/2010/main" val="372659171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Activity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to show an example of this document.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extLst>
      <p:ext uri="{BB962C8B-B14F-4D97-AF65-F5344CB8AC3E}">
        <p14:creationId xmlns:p14="http://schemas.microsoft.com/office/powerpoint/2010/main" val="422278464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Activity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to show an example of this document.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extLst>
      <p:ext uri="{BB962C8B-B14F-4D97-AF65-F5344CB8AC3E}">
        <p14:creationId xmlns:p14="http://schemas.microsoft.com/office/powerpoint/2010/main" val="213030421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ea typeface="+mn-ea"/>
                <a:cs typeface="+mn-cs"/>
              </a:rPr>
              <a:t>Why is it important to have deadlines?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ea typeface="+mn-ea"/>
                <a:cs typeface="+mn-cs"/>
              </a:rPr>
              <a:t>When would each of these deadlines be appropriate?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extLst>
      <p:ext uri="{BB962C8B-B14F-4D97-AF65-F5344CB8AC3E}">
        <p14:creationId xmlns:p14="http://schemas.microsoft.com/office/powerpoint/2010/main" val="229796384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ea typeface="+mn-ea"/>
                <a:cs typeface="+mn-cs"/>
              </a:rPr>
              <a:t>What other considerations may need to be taken into account?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extLst>
      <p:ext uri="{BB962C8B-B14F-4D97-AF65-F5344CB8AC3E}">
        <p14:creationId xmlns:p14="http://schemas.microsoft.com/office/powerpoint/2010/main" val="385144787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ea typeface="+mn-ea"/>
                <a:cs typeface="+mn-cs"/>
              </a:rPr>
              <a:t>How can different software packages affect a document?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ea typeface="+mn-ea"/>
                <a:cs typeface="+mn-cs"/>
              </a:rPr>
              <a:t>How do their functions differ?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ea typeface="+mn-ea"/>
                <a:cs typeface="+mn-cs"/>
              </a:rPr>
              <a:t>What needs to be taken into consideration if transferring a document between different software systems?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extLst>
      <p:ext uri="{BB962C8B-B14F-4D97-AF65-F5344CB8AC3E}">
        <p14:creationId xmlns:p14="http://schemas.microsoft.com/office/powerpoint/2010/main" val="349594907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ea typeface="+mn-ea"/>
                <a:cs typeface="+mn-cs"/>
              </a:rPr>
              <a:t>Why is it important to save documents on a regular basis?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ea typeface="+mn-ea"/>
                <a:cs typeface="+mn-cs"/>
              </a:rPr>
              <a:t>Which methods are commonly used and why?</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extLst>
      <p:ext uri="{BB962C8B-B14F-4D97-AF65-F5344CB8AC3E}">
        <p14:creationId xmlns:p14="http://schemas.microsoft.com/office/powerpoint/2010/main" val="194939863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ea typeface="+mn-ea"/>
                <a:cs typeface="+mn-cs"/>
              </a:rPr>
              <a:t>Why is it important to proof read documents?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ea typeface="+mn-ea"/>
                <a:cs typeface="+mn-cs"/>
              </a:rPr>
              <a:t>What do you look for during this process?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extLst>
      <p:ext uri="{BB962C8B-B14F-4D97-AF65-F5344CB8AC3E}">
        <p14:creationId xmlns:p14="http://schemas.microsoft.com/office/powerpoint/2010/main" val="250724218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0" kern="1200" dirty="0" smtClean="0">
                <a:solidFill>
                  <a:schemeClr val="tx1"/>
                </a:solidFill>
                <a:ea typeface="+mn-ea"/>
                <a:cs typeface="+mn-cs"/>
              </a:rPr>
              <a:t>Rule of 7 Cs:</a:t>
            </a:r>
            <a:endParaRPr lang="en-AU" sz="1200" kern="1200" dirty="0" smtClean="0">
              <a:solidFill>
                <a:schemeClr val="tx1"/>
              </a:solidFill>
              <a:ea typeface="+mn-ea"/>
              <a:cs typeface="+mn-cs"/>
            </a:endParaRPr>
          </a:p>
          <a:p>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Clear - able to be understood in one reading by the recipient (time = money).</a:t>
            </a:r>
          </a:p>
          <a:p>
            <a:pPr>
              <a:buFont typeface="Arial" pitchFamily="34" charset="0"/>
              <a:buChar char="•"/>
            </a:pPr>
            <a:r>
              <a:rPr lang="en-AU" sz="1200" kern="1200" dirty="0" smtClean="0">
                <a:solidFill>
                  <a:schemeClr val="tx1"/>
                </a:solidFill>
                <a:ea typeface="+mn-ea"/>
                <a:cs typeface="+mn-cs"/>
              </a:rPr>
              <a:t>Concise - conveying what has to be stated with a minimum of words, sentences and paragraphs. </a:t>
            </a:r>
          </a:p>
          <a:p>
            <a:pPr>
              <a:buFont typeface="Arial" pitchFamily="34" charset="0"/>
              <a:buChar char="•"/>
            </a:pPr>
            <a:r>
              <a:rPr lang="en-AU" sz="1200" kern="1200" dirty="0" smtClean="0">
                <a:solidFill>
                  <a:schemeClr val="tx1"/>
                </a:solidFill>
                <a:ea typeface="+mn-ea"/>
                <a:cs typeface="+mn-cs"/>
              </a:rPr>
              <a:t>Complete - all of the information necessary to understand the correspondence is passed on. </a:t>
            </a:r>
          </a:p>
          <a:p>
            <a:pPr>
              <a:buFont typeface="Arial" pitchFamily="34" charset="0"/>
              <a:buChar char="•"/>
            </a:pPr>
            <a:r>
              <a:rPr lang="en-AU" sz="1200" kern="1200" dirty="0" smtClean="0">
                <a:solidFill>
                  <a:schemeClr val="tx1"/>
                </a:solidFill>
                <a:ea typeface="+mn-ea"/>
                <a:cs typeface="+mn-cs"/>
              </a:rPr>
              <a:t>Correct - all of the information conveyed is accurate. </a:t>
            </a:r>
          </a:p>
          <a:p>
            <a:pPr>
              <a:buFont typeface="Arial" pitchFamily="34" charset="0"/>
              <a:buChar char="•"/>
            </a:pPr>
            <a:r>
              <a:rPr lang="en-AU" sz="1200" kern="1200" dirty="0" smtClean="0">
                <a:solidFill>
                  <a:schemeClr val="tx1"/>
                </a:solidFill>
                <a:ea typeface="+mn-ea"/>
                <a:cs typeface="+mn-cs"/>
              </a:rPr>
              <a:t>Courteous - your tone is always polite as you are representing your organization and wish to create goodwill. </a:t>
            </a:r>
          </a:p>
          <a:p>
            <a:pPr>
              <a:buFont typeface="Arial" pitchFamily="34" charset="0"/>
              <a:buChar char="•"/>
            </a:pPr>
            <a:r>
              <a:rPr lang="en-AU" sz="1200" kern="1200" dirty="0" smtClean="0">
                <a:solidFill>
                  <a:schemeClr val="tx1"/>
                </a:solidFill>
                <a:ea typeface="+mn-ea"/>
                <a:cs typeface="+mn-cs"/>
              </a:rPr>
              <a:t>Clean - this means that there are no coffee stains, liquid paper, or crossing out on your correspondence. It also means that your work is not cluttered and there is plenty of white space so that the document looks appealing and professional. </a:t>
            </a:r>
          </a:p>
          <a:p>
            <a:pPr>
              <a:buFont typeface="Arial" pitchFamily="34" charset="0"/>
              <a:buChar char="•"/>
            </a:pPr>
            <a:r>
              <a:rPr lang="en-AU" sz="1200" kern="1200" dirty="0" smtClean="0">
                <a:solidFill>
                  <a:schemeClr val="tx1"/>
                </a:solidFill>
                <a:ea typeface="+mn-ea"/>
                <a:cs typeface="+mn-cs"/>
              </a:rPr>
              <a:t>Checked - this means your work has been examined for spelling mistakes, grammatical mistakes, format and layout and found to be mistake-free. </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extLst>
      <p:ext uri="{BB962C8B-B14F-4D97-AF65-F5344CB8AC3E}">
        <p14:creationId xmlns:p14="http://schemas.microsoft.com/office/powerpoint/2010/main" val="343128496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dirty="0" smtClean="0"/>
              <a:t>Trainer to go online and show trainees online dictionaries.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dirty="0" smtClean="0"/>
              <a:t>As</a:t>
            </a:r>
            <a:r>
              <a:rPr lang="en-AU" sz="1200" baseline="0" dirty="0" smtClean="0"/>
              <a:t>k trainees to look up the words ‘scope, pax, FIT’ in all dictionaries and in the thesaurus. Which one did they prefer? Why?  Suggest to bookmark them as a favourite on their computer for future use.</a:t>
            </a:r>
            <a:endParaRPr lang="en-AU" sz="1200"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extLst>
      <p:ext uri="{BB962C8B-B14F-4D97-AF65-F5344CB8AC3E}">
        <p14:creationId xmlns:p14="http://schemas.microsoft.com/office/powerpoint/2010/main" val="78754399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Questions</a:t>
            </a:r>
          </a:p>
          <a:p>
            <a:pPr>
              <a:buFont typeface="Arial" pitchFamily="34" charset="0"/>
              <a:buNone/>
            </a:pPr>
            <a:endParaRPr lang="en-US" dirty="0" smtClean="0"/>
          </a:p>
          <a:p>
            <a:pPr>
              <a:buFont typeface="Arial" pitchFamily="34" charset="0"/>
              <a:buChar char="•"/>
            </a:pPr>
            <a:r>
              <a:rPr lang="en-US" dirty="0" smtClean="0"/>
              <a:t>Why</a:t>
            </a:r>
            <a:r>
              <a:rPr lang="en-US" baseline="0" dirty="0" smtClean="0"/>
              <a:t> is it important to undertake these activities?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extLst>
      <p:ext uri="{BB962C8B-B14F-4D97-AF65-F5344CB8AC3E}">
        <p14:creationId xmlns:p14="http://schemas.microsoft.com/office/powerpoint/2010/main" val="302281893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tasks are associated with printing a document?</a:t>
            </a:r>
          </a:p>
          <a:p>
            <a:pPr>
              <a:buFont typeface="Arial" pitchFamily="34" charset="0"/>
              <a:buChar char="•"/>
            </a:pPr>
            <a:r>
              <a:rPr lang="en-AU" sz="1200" kern="1200" baseline="0" dirty="0" smtClean="0">
                <a:solidFill>
                  <a:schemeClr val="tx1"/>
                </a:solidFill>
                <a:ea typeface="+mn-ea"/>
                <a:cs typeface="+mn-cs"/>
              </a:rPr>
              <a:t>What other preparation tasks are involved in preparing documents and attachments to the audience?</a:t>
            </a:r>
          </a:p>
          <a:p>
            <a:pPr>
              <a:buFont typeface="Arial" pitchFamily="34" charset="0"/>
              <a:buChar char="•"/>
            </a:pPr>
            <a:r>
              <a:rPr lang="en-AU" sz="1200" kern="1200" baseline="0" dirty="0" smtClean="0">
                <a:solidFill>
                  <a:schemeClr val="tx1"/>
                </a:solidFill>
                <a:ea typeface="+mn-ea"/>
                <a:cs typeface="+mn-cs"/>
              </a:rPr>
              <a:t>How can documents be delivered to the intended audience?</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extLst>
      <p:ext uri="{BB962C8B-B14F-4D97-AF65-F5344CB8AC3E}">
        <p14:creationId xmlns:p14="http://schemas.microsoft.com/office/powerpoint/2010/main" val="5785450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extLst>
      <p:ext uri="{BB962C8B-B14F-4D97-AF65-F5344CB8AC3E}">
        <p14:creationId xmlns:p14="http://schemas.microsoft.com/office/powerpoint/2010/main" val="274645276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Questions</a:t>
            </a:r>
          </a:p>
          <a:p>
            <a:pPr>
              <a:buFont typeface="Arial" pitchFamily="34" charset="0"/>
              <a:buNone/>
            </a:pPr>
            <a:endParaRPr lang="en-US" dirty="0" smtClean="0"/>
          </a:p>
          <a:p>
            <a:pPr>
              <a:buFont typeface="Arial" pitchFamily="34" charset="0"/>
              <a:buChar char="•"/>
            </a:pPr>
            <a:r>
              <a:rPr lang="en-US" dirty="0" smtClean="0"/>
              <a:t>Why</a:t>
            </a:r>
            <a:r>
              <a:rPr lang="en-US" baseline="0" dirty="0" smtClean="0"/>
              <a:t> is it important to undertake these activities?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extLst>
      <p:ext uri="{BB962C8B-B14F-4D97-AF65-F5344CB8AC3E}">
        <p14:creationId xmlns:p14="http://schemas.microsoft.com/office/powerpoint/2010/main" val="184670769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Questions</a:t>
            </a:r>
          </a:p>
          <a:p>
            <a:pPr>
              <a:buFont typeface="Arial" pitchFamily="34" charset="0"/>
              <a:buNone/>
            </a:pPr>
            <a:endParaRPr lang="en-US" dirty="0" smtClean="0"/>
          </a:p>
          <a:p>
            <a:pPr>
              <a:buFont typeface="Arial" pitchFamily="34" charset="0"/>
              <a:buChar char="•"/>
            </a:pPr>
            <a:r>
              <a:rPr lang="en-US" dirty="0" smtClean="0"/>
              <a:t>What</a:t>
            </a:r>
            <a:r>
              <a:rPr lang="en-US" baseline="0" dirty="0" smtClean="0"/>
              <a:t> else can impact on whether a document can print?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extLst>
      <p:ext uri="{BB962C8B-B14F-4D97-AF65-F5344CB8AC3E}">
        <p14:creationId xmlns:p14="http://schemas.microsoft.com/office/powerpoint/2010/main" val="293253111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Questions</a:t>
            </a:r>
          </a:p>
          <a:p>
            <a:pPr>
              <a:buFont typeface="Arial" pitchFamily="34" charset="0"/>
              <a:buNone/>
            </a:pPr>
            <a:endParaRPr lang="en-US" dirty="0" smtClean="0"/>
          </a:p>
          <a:p>
            <a:pPr>
              <a:buFont typeface="Arial" pitchFamily="34" charset="0"/>
              <a:buChar char="•"/>
            </a:pPr>
            <a:r>
              <a:rPr lang="en-US" dirty="0" smtClean="0"/>
              <a:t>Why else</a:t>
            </a:r>
            <a:r>
              <a:rPr lang="en-US" baseline="0" dirty="0" smtClean="0"/>
              <a:t> is a print preview important in your view?</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extLst>
      <p:ext uri="{BB962C8B-B14F-4D97-AF65-F5344CB8AC3E}">
        <p14:creationId xmlns:p14="http://schemas.microsoft.com/office/powerpoint/2010/main" val="177718127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Questions</a:t>
            </a:r>
          </a:p>
          <a:p>
            <a:pPr>
              <a:buFont typeface="Arial" pitchFamily="34" charset="0"/>
              <a:buNone/>
            </a:pPr>
            <a:endParaRPr lang="en-US" dirty="0" smtClean="0"/>
          </a:p>
          <a:p>
            <a:pPr>
              <a:buFont typeface="Arial" pitchFamily="34" charset="0"/>
              <a:buChar char="•"/>
            </a:pPr>
            <a:r>
              <a:rPr lang="en-US" dirty="0" smtClean="0"/>
              <a:t>Which one do you use?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extLst>
      <p:ext uri="{BB962C8B-B14F-4D97-AF65-F5344CB8AC3E}">
        <p14:creationId xmlns:p14="http://schemas.microsoft.com/office/powerpoint/2010/main" val="339120994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Questions</a:t>
            </a:r>
          </a:p>
          <a:p>
            <a:pPr>
              <a:buFont typeface="Arial" pitchFamily="34" charset="0"/>
              <a:buNone/>
            </a:pPr>
            <a:endParaRPr lang="en-US" dirty="0" smtClean="0"/>
          </a:p>
          <a:p>
            <a:pPr>
              <a:buFont typeface="Arial" pitchFamily="34" charset="0"/>
              <a:buChar char="•"/>
            </a:pPr>
            <a:r>
              <a:rPr lang="en-US" dirty="0" smtClean="0"/>
              <a:t>Why is proof reading important?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extLst>
      <p:ext uri="{BB962C8B-B14F-4D97-AF65-F5344CB8AC3E}">
        <p14:creationId xmlns:p14="http://schemas.microsoft.com/office/powerpoint/2010/main" val="126630661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Questions</a:t>
            </a:r>
          </a:p>
          <a:p>
            <a:pPr>
              <a:buFont typeface="Arial" pitchFamily="34" charset="0"/>
              <a:buNone/>
            </a:pPr>
            <a:endParaRPr lang="en-US" dirty="0" smtClean="0"/>
          </a:p>
          <a:p>
            <a:pPr>
              <a:buFont typeface="Arial" pitchFamily="34" charset="0"/>
              <a:buChar char="•"/>
            </a:pPr>
            <a:r>
              <a:rPr lang="en-US" dirty="0" smtClean="0"/>
              <a:t>Why is getting</a:t>
            </a:r>
            <a:r>
              <a:rPr lang="en-US" baseline="0" dirty="0" smtClean="0"/>
              <a:t> feedback important?</a:t>
            </a:r>
          </a:p>
          <a:p>
            <a:pPr>
              <a:buFont typeface="Arial" pitchFamily="34" charset="0"/>
              <a:buChar char="•"/>
            </a:pPr>
            <a:r>
              <a:rPr lang="en-US" baseline="0" dirty="0" smtClean="0"/>
              <a:t>What types of feedback do you wish to get?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extLst>
      <p:ext uri="{BB962C8B-B14F-4D97-AF65-F5344CB8AC3E}">
        <p14:creationId xmlns:p14="http://schemas.microsoft.com/office/powerpoint/2010/main" val="228161881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Questions</a:t>
            </a:r>
          </a:p>
          <a:p>
            <a:pPr>
              <a:buFont typeface="Arial" pitchFamily="34" charset="0"/>
              <a:buNone/>
            </a:pPr>
            <a:endParaRPr lang="en-US" dirty="0" smtClean="0"/>
          </a:p>
          <a:p>
            <a:pPr>
              <a:buFont typeface="Arial" pitchFamily="34" charset="0"/>
              <a:buChar char="•"/>
            </a:pPr>
            <a:r>
              <a:rPr lang="en-US" dirty="0" smtClean="0"/>
              <a:t>Discuss</a:t>
            </a:r>
            <a:r>
              <a:rPr lang="en-US" baseline="0" dirty="0" smtClean="0"/>
              <a:t> these points.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extLst>
      <p:ext uri="{BB962C8B-B14F-4D97-AF65-F5344CB8AC3E}">
        <p14:creationId xmlns:p14="http://schemas.microsoft.com/office/powerpoint/2010/main" val="336721271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Questions</a:t>
            </a:r>
          </a:p>
          <a:p>
            <a:pPr>
              <a:buFont typeface="Arial" pitchFamily="34" charset="0"/>
              <a:buNone/>
            </a:pPr>
            <a:endParaRPr lang="en-US" dirty="0" smtClean="0"/>
          </a:p>
          <a:p>
            <a:pPr>
              <a:buFont typeface="Arial" pitchFamily="34" charset="0"/>
              <a:buChar char="•"/>
            </a:pPr>
            <a:r>
              <a:rPr lang="en-US" dirty="0" smtClean="0"/>
              <a:t>Discuss</a:t>
            </a:r>
            <a:r>
              <a:rPr lang="en-US" baseline="0" dirty="0" smtClean="0"/>
              <a:t> these points.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extLst>
      <p:ext uri="{BB962C8B-B14F-4D97-AF65-F5344CB8AC3E}">
        <p14:creationId xmlns:p14="http://schemas.microsoft.com/office/powerpoint/2010/main" val="135388748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Questions</a:t>
            </a:r>
          </a:p>
          <a:p>
            <a:pPr>
              <a:buFont typeface="Arial" pitchFamily="34" charset="0"/>
              <a:buNone/>
            </a:pPr>
            <a:endParaRPr lang="en-US" dirty="0" smtClean="0"/>
          </a:p>
          <a:p>
            <a:pPr>
              <a:buFont typeface="Arial" pitchFamily="34" charset="0"/>
              <a:buChar char="•"/>
            </a:pPr>
            <a:r>
              <a:rPr lang="en-US" dirty="0" smtClean="0"/>
              <a:t>When would</a:t>
            </a:r>
            <a:r>
              <a:rPr lang="en-US" baseline="0" dirty="0" smtClean="0"/>
              <a:t> each method be the most appropriate?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extLst>
      <p:ext uri="{BB962C8B-B14F-4D97-AF65-F5344CB8AC3E}">
        <p14:creationId xmlns:p14="http://schemas.microsoft.com/office/powerpoint/2010/main" val="104715679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Discussion</a:t>
            </a:r>
          </a:p>
          <a:p>
            <a:pPr>
              <a:buFont typeface="Arial" pitchFamily="34" charset="0"/>
              <a:buNone/>
            </a:pPr>
            <a:endParaRPr lang="en-US" dirty="0" smtClean="0"/>
          </a:p>
          <a:p>
            <a:pPr>
              <a:buFont typeface="Arial" pitchFamily="34" charset="0"/>
              <a:buChar char="•"/>
            </a:pPr>
            <a:r>
              <a:rPr lang="en-US" dirty="0" smtClean="0"/>
              <a:t>Discuss these formats.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extLst>
      <p:ext uri="{BB962C8B-B14F-4D97-AF65-F5344CB8AC3E}">
        <p14:creationId xmlns:p14="http://schemas.microsoft.com/office/powerpoint/2010/main" val="242131723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Discussion</a:t>
            </a:r>
          </a:p>
          <a:p>
            <a:pPr>
              <a:buFont typeface="Arial" pitchFamily="34" charset="0"/>
              <a:buNone/>
            </a:pPr>
            <a:endParaRPr lang="en-US" dirty="0" smtClean="0"/>
          </a:p>
          <a:p>
            <a:pPr>
              <a:buFont typeface="Arial" pitchFamily="34" charset="0"/>
              <a:buChar char="•"/>
            </a:pPr>
            <a:r>
              <a:rPr lang="en-US" dirty="0" smtClean="0"/>
              <a:t>Discuss these formats.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extLst>
      <p:ext uri="{BB962C8B-B14F-4D97-AF65-F5344CB8AC3E}">
        <p14:creationId xmlns:p14="http://schemas.microsoft.com/office/powerpoint/2010/main" val="260946601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Discussion</a:t>
            </a:r>
          </a:p>
          <a:p>
            <a:pPr>
              <a:buFont typeface="Arial" pitchFamily="34" charset="0"/>
              <a:buNone/>
            </a:pPr>
            <a:endParaRPr lang="en-US" dirty="0" smtClean="0"/>
          </a:p>
          <a:p>
            <a:pPr>
              <a:buFont typeface="Arial" pitchFamily="34" charset="0"/>
              <a:buChar char="•"/>
            </a:pPr>
            <a:r>
              <a:rPr lang="en-US" dirty="0" smtClean="0"/>
              <a:t>Discuss these formats.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extLst>
      <p:ext uri="{BB962C8B-B14F-4D97-AF65-F5344CB8AC3E}">
        <p14:creationId xmlns:p14="http://schemas.microsoft.com/office/powerpoint/2010/main" val="227409580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Discussion</a:t>
            </a:r>
          </a:p>
          <a:p>
            <a:pPr>
              <a:buFont typeface="Arial" pitchFamily="34" charset="0"/>
              <a:buNone/>
            </a:pPr>
            <a:endParaRPr lang="en-US" dirty="0" smtClean="0"/>
          </a:p>
          <a:p>
            <a:pPr>
              <a:buFont typeface="Arial" pitchFamily="34" charset="0"/>
              <a:buChar char="•"/>
            </a:pPr>
            <a:r>
              <a:rPr lang="en-US" dirty="0" smtClean="0"/>
              <a:t>Discuss these formats.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extLst>
      <p:ext uri="{BB962C8B-B14F-4D97-AF65-F5344CB8AC3E}">
        <p14:creationId xmlns:p14="http://schemas.microsoft.com/office/powerpoint/2010/main" val="397393475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Discussion</a:t>
            </a:r>
          </a:p>
          <a:p>
            <a:pPr>
              <a:buFont typeface="Arial" pitchFamily="34" charset="0"/>
              <a:buNone/>
            </a:pPr>
            <a:endParaRPr lang="en-US" dirty="0" smtClean="0"/>
          </a:p>
          <a:p>
            <a:pPr>
              <a:buFont typeface="Arial" pitchFamily="34" charset="0"/>
              <a:buChar char="•"/>
            </a:pPr>
            <a:r>
              <a:rPr lang="en-AU" sz="1200" dirty="0" smtClean="0">
                <a:latin typeface="Helvetica" pitchFamily="34" charset="0"/>
              </a:rPr>
              <a:t>What additional activities may need to be undertaken?</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extLst>
      <p:ext uri="{BB962C8B-B14F-4D97-AF65-F5344CB8AC3E}">
        <p14:creationId xmlns:p14="http://schemas.microsoft.com/office/powerpoint/2010/main" val="43382936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Discussion</a:t>
            </a:r>
          </a:p>
          <a:p>
            <a:pPr>
              <a:buFont typeface="Arial" pitchFamily="34" charset="0"/>
              <a:buNone/>
            </a:pPr>
            <a:endParaRPr lang="en-US" dirty="0" smtClean="0"/>
          </a:p>
          <a:p>
            <a:pPr>
              <a:buFont typeface="Arial" pitchFamily="34" charset="0"/>
              <a:buChar char="•"/>
            </a:pPr>
            <a:r>
              <a:rPr lang="en-AU" sz="1200" dirty="0" smtClean="0">
                <a:latin typeface="Helvetica" pitchFamily="34" charset="0"/>
              </a:rPr>
              <a:t>What equipment is required?</a:t>
            </a:r>
          </a:p>
          <a:p>
            <a:pPr>
              <a:buFont typeface="Arial" pitchFamily="34" charset="0"/>
              <a:buChar char="•"/>
            </a:pPr>
            <a:r>
              <a:rPr lang="en-AU" sz="1200" dirty="0" smtClean="0">
                <a:latin typeface="Helvetica" pitchFamily="34" charset="0"/>
              </a:rPr>
              <a:t>What materials are needed?</a:t>
            </a:r>
          </a:p>
          <a:p>
            <a:pPr>
              <a:buFont typeface="Arial" pitchFamily="34" charset="0"/>
              <a:buChar char="•"/>
            </a:pPr>
            <a:r>
              <a:rPr lang="en-AU" sz="1200" dirty="0" smtClean="0">
                <a:latin typeface="Helvetica" pitchFamily="34" charset="0"/>
              </a:rPr>
              <a:t>What</a:t>
            </a:r>
            <a:r>
              <a:rPr lang="en-AU" sz="1200" baseline="0" dirty="0" smtClean="0">
                <a:latin typeface="Helvetica" pitchFamily="34" charset="0"/>
              </a:rPr>
              <a:t> tasks are involved?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extLst>
      <p:ext uri="{BB962C8B-B14F-4D97-AF65-F5344CB8AC3E}">
        <p14:creationId xmlns:p14="http://schemas.microsoft.com/office/powerpoint/2010/main" val="30222117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Discussion</a:t>
            </a:r>
          </a:p>
          <a:p>
            <a:pPr>
              <a:buFont typeface="Arial" pitchFamily="34" charset="0"/>
              <a:buNone/>
            </a:pPr>
            <a:endParaRPr lang="en-US" dirty="0" smtClean="0"/>
          </a:p>
          <a:p>
            <a:pPr>
              <a:buFont typeface="Arial" pitchFamily="34" charset="0"/>
              <a:buChar char="•"/>
            </a:pPr>
            <a:r>
              <a:rPr lang="en-AU" sz="1200" dirty="0" smtClean="0">
                <a:latin typeface="Helvetica" pitchFamily="34" charset="0"/>
              </a:rPr>
              <a:t>What equipment is required?</a:t>
            </a:r>
          </a:p>
          <a:p>
            <a:pPr>
              <a:buFont typeface="Arial" pitchFamily="34" charset="0"/>
              <a:buChar char="•"/>
            </a:pPr>
            <a:r>
              <a:rPr lang="en-AU" sz="1200" dirty="0" smtClean="0">
                <a:latin typeface="Helvetica" pitchFamily="34" charset="0"/>
              </a:rPr>
              <a:t>What materials are needed?</a:t>
            </a:r>
          </a:p>
          <a:p>
            <a:pPr>
              <a:buFont typeface="Arial" pitchFamily="34" charset="0"/>
              <a:buChar char="•"/>
            </a:pPr>
            <a:r>
              <a:rPr lang="en-AU" sz="1200" dirty="0" smtClean="0">
                <a:latin typeface="Helvetica" pitchFamily="34" charset="0"/>
              </a:rPr>
              <a:t>What</a:t>
            </a:r>
            <a:r>
              <a:rPr lang="en-AU" sz="1200" baseline="0" dirty="0" smtClean="0">
                <a:latin typeface="Helvetica" pitchFamily="34" charset="0"/>
              </a:rPr>
              <a:t> tasks are involved?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extLst>
      <p:ext uri="{BB962C8B-B14F-4D97-AF65-F5344CB8AC3E}">
        <p14:creationId xmlns:p14="http://schemas.microsoft.com/office/powerpoint/2010/main" val="38656687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Discussion</a:t>
            </a:r>
          </a:p>
          <a:p>
            <a:pPr>
              <a:buFont typeface="Arial" pitchFamily="34" charset="0"/>
              <a:buNone/>
            </a:pPr>
            <a:endParaRPr lang="en-US" dirty="0" smtClean="0"/>
          </a:p>
          <a:p>
            <a:pPr>
              <a:buFont typeface="Arial" pitchFamily="34" charset="0"/>
              <a:buChar char="•"/>
            </a:pPr>
            <a:r>
              <a:rPr lang="en-AU" sz="1200" dirty="0" smtClean="0">
                <a:latin typeface="Helvetica" pitchFamily="34" charset="0"/>
              </a:rPr>
              <a:t>Discuss questions in the slide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extLst>
      <p:ext uri="{BB962C8B-B14F-4D97-AF65-F5344CB8AC3E}">
        <p14:creationId xmlns:p14="http://schemas.microsoft.com/office/powerpoint/2010/main" val="133751458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Discussion</a:t>
            </a:r>
          </a:p>
          <a:p>
            <a:pPr>
              <a:buFont typeface="Arial" pitchFamily="34" charset="0"/>
              <a:buNone/>
            </a:pPr>
            <a:endParaRPr lang="en-US" dirty="0" smtClean="0"/>
          </a:p>
          <a:p>
            <a:pPr>
              <a:buFont typeface="Arial" pitchFamily="34" charset="0"/>
              <a:buChar char="•"/>
            </a:pPr>
            <a:r>
              <a:rPr lang="en-AU" sz="1200" dirty="0" smtClean="0">
                <a:latin typeface="Helvetica" pitchFamily="34" charset="0"/>
              </a:rPr>
              <a:t>What</a:t>
            </a:r>
            <a:r>
              <a:rPr lang="en-AU" sz="1200" baseline="0" dirty="0" smtClean="0">
                <a:latin typeface="Helvetica" pitchFamily="34" charset="0"/>
              </a:rPr>
              <a:t> is associated with conducting these additional tasks?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extLst>
      <p:ext uri="{BB962C8B-B14F-4D97-AF65-F5344CB8AC3E}">
        <p14:creationId xmlns:p14="http://schemas.microsoft.com/office/powerpoint/2010/main" val="143408829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This</a:t>
            </a:r>
            <a:r>
              <a:rPr lang="en-AU" sz="1200" b="1" kern="1200" baseline="0" dirty="0" smtClean="0">
                <a:solidFill>
                  <a:schemeClr val="tx1"/>
                </a:solidFill>
                <a:ea typeface="+mn-ea"/>
                <a:cs typeface="+mn-cs"/>
              </a:rPr>
              <a:t> is the conclusion of the subject.</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Thank the audience and deliver assessments as required.</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extLst>
      <p:ext uri="{BB962C8B-B14F-4D97-AF65-F5344CB8AC3E}">
        <p14:creationId xmlns:p14="http://schemas.microsoft.com/office/powerpoint/2010/main" val="31308591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4/6/2015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4/6/2015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4/6/2015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4/6/2015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4/6/2015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4/6/2015</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4/6/2015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4/6/2015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4/6/2015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4/6/2015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4/6/2015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4/6/2015</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Helvetica" pitchFamily="34" charset="0"/>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www.google.com.au/imgres?q=palmtop&amp;hl=en&amp;biw=1680&amp;bih=867&amp;tbm=isch&amp;tbnid=uOHQTwYzHQ5ykM:&amp;imgrefurl=http://www.forum.hansveta.com/index.php?showtopic=7263&amp;docid=NrSqPwoVzqdZOM&amp;imgurl=http://img103.imageshack.us/img103/3426/atariportfolio1ol3.jpg&amp;w=310&amp;h=302&amp;ei=nRjoTv36HoqSiQfXm53CCA&amp;zoom=1&amp;iact=rc&amp;dur=719&amp;sig=100832912127281516835&amp;page=2&amp;tbnh=149&amp;tbnw=153&amp;start=32&amp;ndsp=33&amp;ved=1t:429,r:9,s:32&amp;tx=100&amp;ty=51"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jpeg"/></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wmf"/></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8.jpeg"/><Relationship Id="rId4" Type="http://schemas.openxmlformats.org/officeDocument/2006/relationships/image" Target="../media/image17.wmf"/></Relationships>
</file>

<file path=ppt/slides/_rels/slide1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jpe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5.jpeg"/></Relationships>
</file>

<file path=ppt/slides/_rels/slide1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9.jpeg"/></Relationships>
</file>

<file path=ppt/slides/_rels/slide17.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43.jpeg"/><Relationship Id="rId4" Type="http://schemas.openxmlformats.org/officeDocument/2006/relationships/image" Target="../media/image42.jpeg"/></Relationships>
</file>

<file path=ppt/slides/_rels/slide32.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7" Type="http://schemas.openxmlformats.org/officeDocument/2006/relationships/image" Target="../media/image45.jpe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44.wmf"/><Relationship Id="rId5" Type="http://schemas.openxmlformats.org/officeDocument/2006/relationships/oleObject" Target="../embeddings/oleObject1.bin"/><Relationship Id="rId4" Type="http://schemas.openxmlformats.org/officeDocument/2006/relationships/hyperlink" Target="mailto:birgittam@angliss.edu.au" TargetMode="Externa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8" Type="http://schemas.openxmlformats.org/officeDocument/2006/relationships/image" Target="../media/image59.jpeg"/><Relationship Id="rId3" Type="http://schemas.openxmlformats.org/officeDocument/2006/relationships/hyperlink" Target="http://www.dictionary.com/" TargetMode="External"/><Relationship Id="rId7" Type="http://schemas.openxmlformats.org/officeDocument/2006/relationships/image" Target="../media/image58.jpeg"/><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hyperlink" Target="http://www.macquariedictionary.com.au/" TargetMode="External"/><Relationship Id="rId5" Type="http://schemas.openxmlformats.org/officeDocument/2006/relationships/hyperlink" Target="http://www.thesaurus.com/" TargetMode="External"/><Relationship Id="rId10" Type="http://schemas.openxmlformats.org/officeDocument/2006/relationships/image" Target="../media/image61.png"/><Relationship Id="rId4" Type="http://schemas.openxmlformats.org/officeDocument/2006/relationships/hyperlink" Target="http://www.thefreedictionary.com/" TargetMode="External"/><Relationship Id="rId9" Type="http://schemas.openxmlformats.org/officeDocument/2006/relationships/image" Target="../media/image60.jpeg"/></Relationships>
</file>

<file path=ppt/slides/_rels/slide54.xml.rels><?xml version="1.0" encoding="UTF-8" standalone="yes"?>
<Relationships xmlns="http://schemas.openxmlformats.org/package/2006/relationships"><Relationship Id="rId3" Type="http://schemas.openxmlformats.org/officeDocument/2006/relationships/hyperlink" Target="http://www.dictionary.com/" TargetMode="External"/><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62.jpeg"/></Relationships>
</file>

<file path=ppt/slides/_rels/slide5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hyperlink" Target="http://www.dictionary.com/" TargetMode="External"/><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63.jpeg"/></Relationships>
</file>

<file path=ppt/slides/_rels/slide58.xml.rels><?xml version="1.0" encoding="UTF-8" standalone="yes"?>
<Relationships xmlns="http://schemas.openxmlformats.org/package/2006/relationships"><Relationship Id="rId3" Type="http://schemas.openxmlformats.org/officeDocument/2006/relationships/hyperlink" Target="http://www.dictionary.com/" TargetMode="External"/><Relationship Id="rId2" Type="http://schemas.openxmlformats.org/officeDocument/2006/relationships/notesSlide" Target="../notesSlides/notesSlide58.xml"/><Relationship Id="rId1" Type="http://schemas.openxmlformats.org/officeDocument/2006/relationships/slideLayout" Target="../slideLayouts/slideLayout2.xml"/><Relationship Id="rId5" Type="http://schemas.openxmlformats.org/officeDocument/2006/relationships/image" Target="../media/image64.jpeg"/><Relationship Id="rId4" Type="http://schemas.openxmlformats.org/officeDocument/2006/relationships/image" Target="../media/image13.jpeg"/></Relationships>
</file>

<file path=ppt/slides/_rels/slide5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73.gif"/><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5576" y="764704"/>
            <a:ext cx="7848872" cy="1944216"/>
          </a:xfrm>
        </p:spPr>
        <p:txBody>
          <a:bodyPr>
            <a:noAutofit/>
          </a:bodyPr>
          <a:lstStyle/>
          <a:p>
            <a:r>
              <a:rPr lang="en-AU" sz="3600" dirty="0" smtClean="0">
                <a:ln w="5000" cmpd="sng">
                  <a:noFill/>
                  <a:prstDash val="solid"/>
                </a:ln>
                <a:solidFill>
                  <a:srgbClr val="FF6600"/>
                </a:solidFill>
                <a:latin typeface="Helvetica" pitchFamily="34" charset="0"/>
              </a:rPr>
              <a:t>PRODUCE DOCUMENTS, REPORTS AND WORKSHEETS ON A COMPUTER</a:t>
            </a:r>
            <a:endParaRPr lang="en-US" sz="36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6063180" y="2564904"/>
            <a:ext cx="2541268" cy="1008112"/>
          </a:xfrm>
        </p:spPr>
        <p:txBody>
          <a:bodyPr>
            <a:noAutofit/>
          </a:bodyPr>
          <a:lstStyle/>
          <a:p>
            <a:r>
              <a:rPr lang="en-AU" b="1" dirty="0" smtClean="0">
                <a:latin typeface="Helvetica" pitchFamily="34" charset="0"/>
              </a:rPr>
              <a:t>D1.HGE.CL7.10   D1.HGA.CL6.07   D2.TGA.CL6.02</a:t>
            </a:r>
            <a:endParaRPr lang="en-US"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a:t>
            </a:fld>
            <a:endParaRPr lang="en-US" dirty="0">
              <a:latin typeface="Helvetica" pitchFamily="34" charset="0"/>
            </a:endParaRPr>
          </a:p>
        </p:txBody>
      </p:sp>
      <p:pic>
        <p:nvPicPr>
          <p:cNvPr id="70657" name="Picture 1" descr="C:\Documents and Settings\danielc\Desktop\Produce docs reports worksheet\538794_attachment_1.jpg"/>
          <p:cNvPicPr>
            <a:picLocks noChangeAspect="1" noChangeArrowheads="1"/>
          </p:cNvPicPr>
          <p:nvPr/>
        </p:nvPicPr>
        <p:blipFill>
          <a:blip r:embed="rId3" cstate="print"/>
          <a:srcRect/>
          <a:stretch>
            <a:fillRect/>
          </a:stretch>
        </p:blipFill>
        <p:spPr bwMode="auto">
          <a:xfrm>
            <a:off x="1500166" y="4174064"/>
            <a:ext cx="2643206" cy="175332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Picture 7" descr="1031159_keyboard.jpg"/>
          <p:cNvPicPr/>
          <p:nvPr/>
        </p:nvPicPr>
        <p:blipFill>
          <a:blip r:embed="rId4" cstate="print"/>
          <a:stretch>
            <a:fillRect/>
          </a:stretch>
        </p:blipFill>
        <p:spPr>
          <a:xfrm>
            <a:off x="2857488" y="2673866"/>
            <a:ext cx="2523723" cy="171451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0658" name="Picture 2" descr="C:\Documents and Settings\danielc\Desktop\Produce docs reports worksheet\1150168_paper.jpg"/>
          <p:cNvPicPr>
            <a:picLocks noChangeAspect="1" noChangeArrowheads="1"/>
          </p:cNvPicPr>
          <p:nvPr/>
        </p:nvPicPr>
        <p:blipFill>
          <a:blip r:embed="rId5" cstate="print"/>
          <a:srcRect/>
          <a:stretch>
            <a:fillRect/>
          </a:stretch>
        </p:blipFill>
        <p:spPr bwMode="auto">
          <a:xfrm>
            <a:off x="4214810" y="4245502"/>
            <a:ext cx="2538434" cy="168382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Subject Elements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indent="0">
              <a:spcBef>
                <a:spcPts val="600"/>
              </a:spcBef>
              <a:spcAft>
                <a:spcPts val="1200"/>
              </a:spcAft>
              <a:buNone/>
            </a:pPr>
            <a:r>
              <a:rPr lang="en-US" sz="2200" dirty="0" smtClean="0">
                <a:latin typeface="Helvetica" pitchFamily="34" charset="0"/>
              </a:rPr>
              <a:t>This unit comprises three Elements:</a:t>
            </a:r>
          </a:p>
          <a:p>
            <a:pPr>
              <a:spcBef>
                <a:spcPts val="600"/>
              </a:spcBef>
              <a:spcAft>
                <a:spcPts val="1200"/>
              </a:spcAft>
            </a:pPr>
            <a:r>
              <a:rPr lang="en-AU" sz="2200" dirty="0" smtClean="0">
                <a:latin typeface="Helvetica" pitchFamily="34" charset="0"/>
              </a:rPr>
              <a:t>Determine presentation and format of document</a:t>
            </a:r>
          </a:p>
          <a:p>
            <a:pPr>
              <a:spcBef>
                <a:spcPts val="600"/>
              </a:spcBef>
              <a:spcAft>
                <a:spcPts val="1200"/>
              </a:spcAft>
            </a:pPr>
            <a:r>
              <a:rPr lang="en-AU" sz="2200" dirty="0" smtClean="0">
                <a:latin typeface="Helvetica" pitchFamily="34" charset="0"/>
              </a:rPr>
              <a:t>Produce document</a:t>
            </a:r>
          </a:p>
          <a:p>
            <a:pPr>
              <a:spcBef>
                <a:spcPts val="600"/>
              </a:spcBef>
              <a:spcAft>
                <a:spcPts val="1200"/>
              </a:spcAft>
            </a:pPr>
            <a:r>
              <a:rPr lang="en-AU" sz="2200" dirty="0" smtClean="0">
                <a:latin typeface="Helvetica" pitchFamily="34" charset="0"/>
              </a:rPr>
              <a:t>Print and deliver document</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a:t>
            </a:fld>
            <a:endParaRPr lang="en-US" dirty="0"/>
          </a:p>
        </p:txBody>
      </p:sp>
      <p:pic>
        <p:nvPicPr>
          <p:cNvPr id="7" name="Picture 6" descr="35013.JPG"/>
          <p:cNvPicPr>
            <a:picLocks noChangeAspect="1"/>
          </p:cNvPicPr>
          <p:nvPr/>
        </p:nvPicPr>
        <p:blipFill>
          <a:blip r:embed="rId3" cstate="print"/>
          <a:stretch>
            <a:fillRect/>
          </a:stretch>
        </p:blipFill>
        <p:spPr>
          <a:xfrm>
            <a:off x="6215074" y="2786058"/>
            <a:ext cx="1815856" cy="2315653"/>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428736"/>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Assessment for this unit may include:</a:t>
            </a:r>
          </a:p>
          <a:p>
            <a:pPr marL="360000" indent="-360000">
              <a:spcBef>
                <a:spcPts val="600"/>
              </a:spcBef>
              <a:spcAft>
                <a:spcPts val="1200"/>
              </a:spcAft>
            </a:pPr>
            <a:r>
              <a:rPr lang="en-US" sz="2200" dirty="0" smtClean="0">
                <a:latin typeface="Helvetica" pitchFamily="34" charset="0"/>
              </a:rPr>
              <a:t>Oral questions</a:t>
            </a:r>
          </a:p>
          <a:p>
            <a:pPr marL="360000" indent="-360000">
              <a:spcBef>
                <a:spcPts val="600"/>
              </a:spcBef>
              <a:spcAft>
                <a:spcPts val="1200"/>
              </a:spcAft>
            </a:pPr>
            <a:r>
              <a:rPr lang="en-US" sz="2200" dirty="0" smtClean="0">
                <a:latin typeface="Helvetica" pitchFamily="34" charset="0"/>
              </a:rPr>
              <a:t>Written questions</a:t>
            </a:r>
          </a:p>
          <a:p>
            <a:pPr marL="360000" indent="-360000">
              <a:spcBef>
                <a:spcPts val="600"/>
              </a:spcBef>
              <a:spcAft>
                <a:spcPts val="1200"/>
              </a:spcAft>
            </a:pPr>
            <a:r>
              <a:rPr lang="en-US" sz="2200" dirty="0" smtClean="0">
                <a:latin typeface="Helvetica" pitchFamily="34" charset="0"/>
              </a:rPr>
              <a:t>Work projects</a:t>
            </a:r>
          </a:p>
          <a:p>
            <a:pPr marL="360000" indent="-360000">
              <a:spcBef>
                <a:spcPts val="600"/>
              </a:spcBef>
              <a:spcAft>
                <a:spcPts val="1200"/>
              </a:spcAft>
            </a:pPr>
            <a:r>
              <a:rPr lang="en-US" sz="2200" dirty="0" smtClean="0">
                <a:latin typeface="Helvetica" pitchFamily="34" charset="0"/>
              </a:rPr>
              <a:t>Workplace observation of practical skills</a:t>
            </a:r>
          </a:p>
          <a:p>
            <a:pPr marL="360000" indent="-360000">
              <a:spcBef>
                <a:spcPts val="600"/>
              </a:spcBef>
              <a:spcAft>
                <a:spcPts val="1200"/>
              </a:spcAft>
            </a:pPr>
            <a:r>
              <a:rPr lang="en-US" sz="2200" dirty="0" smtClean="0">
                <a:latin typeface="Helvetica" pitchFamily="34" charset="0"/>
              </a:rPr>
              <a:t>Practical exercises</a:t>
            </a:r>
          </a:p>
          <a:p>
            <a:pPr marL="360000" indent="-360000">
              <a:spcBef>
                <a:spcPts val="600"/>
              </a:spcBef>
              <a:spcAft>
                <a:spcPts val="1200"/>
              </a:spcAft>
            </a:pPr>
            <a:r>
              <a:rPr lang="en-US" sz="2200" dirty="0" smtClean="0">
                <a:latin typeface="Helvetica" pitchFamily="34" charset="0"/>
              </a:rPr>
              <a:t>Formal report from supervisor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a:t>
            </a:fld>
            <a:endParaRPr lang="en-US" dirty="0"/>
          </a:p>
        </p:txBody>
      </p:sp>
      <p:pic>
        <p:nvPicPr>
          <p:cNvPr id="6" name="Picture 2" descr="C:\Documents and Settings\danielc\Local Settings\Temporary Internet Files\Content.IE5\7NII6ZZT\MP900439533[1].jpg"/>
          <p:cNvPicPr>
            <a:picLocks noChangeAspect="1" noChangeArrowheads="1"/>
          </p:cNvPicPr>
          <p:nvPr/>
        </p:nvPicPr>
        <p:blipFill>
          <a:blip r:embed="rId3" cstate="print"/>
          <a:srcRect/>
          <a:stretch>
            <a:fillRect/>
          </a:stretch>
        </p:blipFill>
        <p:spPr bwMode="auto">
          <a:xfrm>
            <a:off x="5715008" y="1981424"/>
            <a:ext cx="2305066" cy="1534516"/>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marL="0">
              <a:buNone/>
            </a:pPr>
            <a:r>
              <a:rPr lang="en-AU" sz="4000" b="1" dirty="0" smtClean="0">
                <a:solidFill>
                  <a:srgbClr val="FF6600"/>
                </a:solidFill>
              </a:rPr>
              <a:t>Element 1:</a:t>
            </a:r>
          </a:p>
          <a:p>
            <a:pPr marL="0">
              <a:spcBef>
                <a:spcPts val="600"/>
              </a:spcBef>
              <a:spcAft>
                <a:spcPts val="1200"/>
              </a:spcAft>
              <a:buNone/>
            </a:pPr>
            <a:r>
              <a:rPr lang="en-AU" sz="4000" dirty="0" smtClean="0">
                <a:solidFill>
                  <a:srgbClr val="FF6600"/>
                </a:solidFill>
                <a:latin typeface="Helvetica" pitchFamily="34" charset="0"/>
              </a:rPr>
              <a:t>Determine presentation and format of document</a:t>
            </a:r>
          </a:p>
          <a:p>
            <a:pPr>
              <a:buNone/>
            </a:pPr>
            <a:endParaRPr lang="en-AU" sz="4000" dirty="0" smtClean="0">
              <a:solidFill>
                <a:srgbClr val="FF6600"/>
              </a:solidFill>
            </a:endParaRP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a:t>
            </a:fld>
            <a:endParaRPr lang="en-US" dirty="0"/>
          </a:p>
        </p:txBody>
      </p:sp>
      <p:pic>
        <p:nvPicPr>
          <p:cNvPr id="6" name="Picture 5" descr="iStock_000002364450Medium.jpg"/>
          <p:cNvPicPr>
            <a:picLocks noChangeAspect="1"/>
          </p:cNvPicPr>
          <p:nvPr/>
        </p:nvPicPr>
        <p:blipFill>
          <a:blip r:embed="rId3" cstate="print"/>
          <a:stretch>
            <a:fillRect/>
          </a:stretch>
        </p:blipFill>
        <p:spPr>
          <a:xfrm>
            <a:off x="5857884" y="3214686"/>
            <a:ext cx="1794128" cy="2697543"/>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Determine presentation and format </a:t>
            </a:r>
            <a:br>
              <a:rPr lang="en-AU" sz="3400" b="1" dirty="0" smtClean="0">
                <a:solidFill>
                  <a:srgbClr val="FF6600"/>
                </a:solidFill>
                <a:latin typeface="Helvetica" pitchFamily="34" charset="0"/>
              </a:rPr>
            </a:br>
            <a:r>
              <a:rPr lang="en-AU" sz="3400" b="1" dirty="0" smtClean="0">
                <a:solidFill>
                  <a:srgbClr val="FF6600"/>
                </a:solidFill>
                <a:latin typeface="Helvetica" pitchFamily="34" charset="0"/>
              </a:rPr>
              <a:t>of document</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Select software appropriate to the nature of the document to be produced</a:t>
            </a:r>
          </a:p>
          <a:p>
            <a:pPr>
              <a:spcBef>
                <a:spcPts val="600"/>
              </a:spcBef>
              <a:spcAft>
                <a:spcPts val="1200"/>
              </a:spcAft>
            </a:pPr>
            <a:r>
              <a:rPr lang="en-AU" sz="2200" dirty="0" smtClean="0">
                <a:latin typeface="Helvetica" pitchFamily="34" charset="0"/>
              </a:rPr>
              <a:t>Select appropriate layout and style of document consistent with enterprise guidelines</a:t>
            </a:r>
          </a:p>
          <a:p>
            <a:pPr>
              <a:spcBef>
                <a:spcPts val="600"/>
              </a:spcBef>
              <a:spcAft>
                <a:spcPts val="1200"/>
              </a:spcAft>
            </a:pPr>
            <a:r>
              <a:rPr lang="en-AU" sz="2200" dirty="0" smtClean="0">
                <a:latin typeface="Helvetica" pitchFamily="34" charset="0"/>
              </a:rPr>
              <a:t>Discuss format and presentation of document with appropriate person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a:t>
            </a:fld>
            <a:endParaRPr lang="en-US" dirty="0"/>
          </a:p>
        </p:txBody>
      </p:sp>
      <p:pic>
        <p:nvPicPr>
          <p:cNvPr id="6" name="Picture 2" descr="I:\Overseas Projects\PHOTOS\2012\Office\1131445_red_check_sign_in_3d.jpg"/>
          <p:cNvPicPr>
            <a:picLocks noChangeAspect="1" noChangeArrowheads="1"/>
          </p:cNvPicPr>
          <p:nvPr/>
        </p:nvPicPr>
        <p:blipFill>
          <a:blip r:embed="rId3" cstate="print"/>
          <a:srcRect/>
          <a:stretch>
            <a:fillRect/>
          </a:stretch>
        </p:blipFill>
        <p:spPr bwMode="auto">
          <a:xfrm>
            <a:off x="3929058" y="4714884"/>
            <a:ext cx="1587500" cy="1270000"/>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Select hardware and software</a:t>
            </a: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Hardware 	</a:t>
            </a:r>
          </a:p>
          <a:p>
            <a:pPr>
              <a:spcBef>
                <a:spcPts val="600"/>
              </a:spcBef>
              <a:spcAft>
                <a:spcPts val="1200"/>
              </a:spcAft>
            </a:pPr>
            <a:r>
              <a:rPr lang="en-AU" sz="2200" dirty="0" smtClean="0">
                <a:latin typeface="Helvetica" pitchFamily="34" charset="0"/>
              </a:rPr>
              <a:t>The physical components of a computer system </a:t>
            </a:r>
            <a:br>
              <a:rPr lang="en-AU" sz="2200" dirty="0" smtClean="0">
                <a:latin typeface="Helvetica" pitchFamily="34" charset="0"/>
              </a:rPr>
            </a:br>
            <a:r>
              <a:rPr lang="en-AU" sz="2200" dirty="0" smtClean="0">
                <a:latin typeface="Helvetica" pitchFamily="34" charset="0"/>
              </a:rPr>
              <a:t>- everything that you can touch </a:t>
            </a:r>
            <a:endParaRPr lang="en-AU" sz="2200" b="1" dirty="0" smtClean="0">
              <a:latin typeface="Helvetica" pitchFamily="34" charset="0"/>
            </a:endParaRPr>
          </a:p>
          <a:p>
            <a:pPr>
              <a:spcBef>
                <a:spcPts val="600"/>
              </a:spcBef>
              <a:spcAft>
                <a:spcPts val="1200"/>
              </a:spcAft>
              <a:buNone/>
            </a:pPr>
            <a:r>
              <a:rPr lang="en-AU" sz="2200" b="1" dirty="0" smtClean="0">
                <a:latin typeface="Helvetica" pitchFamily="34" charset="0"/>
              </a:rPr>
              <a:t>Software 	</a:t>
            </a:r>
          </a:p>
          <a:p>
            <a:pPr>
              <a:spcBef>
                <a:spcPts val="600"/>
              </a:spcBef>
              <a:spcAft>
                <a:spcPts val="1200"/>
              </a:spcAft>
            </a:pPr>
            <a:r>
              <a:rPr lang="en-AU" sz="2200" dirty="0" smtClean="0">
                <a:latin typeface="Helvetica" pitchFamily="34" charset="0"/>
              </a:rPr>
              <a:t>The programs used on a computer are called software</a:t>
            </a:r>
          </a:p>
          <a:p>
            <a:pPr marL="0" indent="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a:t>
            </a:fld>
            <a:endParaRPr lang="en-US" dirty="0"/>
          </a:p>
        </p:txBody>
      </p:sp>
      <p:pic>
        <p:nvPicPr>
          <p:cNvPr id="60417" name="Picture 1" descr="C:\Documents and Settings\danielc\Desktop\Produce docs reports worksheet\562831_mouse.jpg"/>
          <p:cNvPicPr>
            <a:picLocks noChangeAspect="1" noChangeArrowheads="1"/>
          </p:cNvPicPr>
          <p:nvPr/>
        </p:nvPicPr>
        <p:blipFill>
          <a:blip r:embed="rId3" cstate="print"/>
          <a:srcRect l="18263" r="14773" b="13636"/>
          <a:stretch>
            <a:fillRect/>
          </a:stretch>
        </p:blipFill>
        <p:spPr bwMode="auto">
          <a:xfrm>
            <a:off x="7072330" y="1428736"/>
            <a:ext cx="928694" cy="1604108"/>
          </a:xfrm>
          <a:prstGeom prst="rect">
            <a:avLst/>
          </a:prstGeom>
          <a:noFill/>
        </p:spPr>
      </p:pic>
      <p:pic>
        <p:nvPicPr>
          <p:cNvPr id="60418" name="Picture 2" descr="C:\Documents and Settings\danielc\Desktop\Produce docs reports worksheet\1040529_browse.jpg"/>
          <p:cNvPicPr>
            <a:picLocks noChangeAspect="1" noChangeArrowheads="1"/>
          </p:cNvPicPr>
          <p:nvPr/>
        </p:nvPicPr>
        <p:blipFill>
          <a:blip r:embed="rId4" cstate="print"/>
          <a:srcRect/>
          <a:stretch>
            <a:fillRect/>
          </a:stretch>
        </p:blipFill>
        <p:spPr bwMode="auto">
          <a:xfrm>
            <a:off x="3214678" y="4143380"/>
            <a:ext cx="2643186" cy="1938336"/>
          </a:xfrm>
          <a:prstGeom prst="rect">
            <a:avLst/>
          </a:prstGeo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Select hardware and software</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b="1" dirty="0" smtClean="0">
                <a:latin typeface="Helvetica" pitchFamily="34" charset="0"/>
              </a:rPr>
              <a:t>Types of hardware and software</a:t>
            </a:r>
          </a:p>
          <a:p>
            <a:pPr marL="420688" indent="-420688">
              <a:spcBef>
                <a:spcPts val="600"/>
              </a:spcBef>
              <a:spcAft>
                <a:spcPts val="1200"/>
              </a:spcAft>
            </a:pPr>
            <a:r>
              <a:rPr lang="en-AU" sz="2200" dirty="0" smtClean="0">
                <a:latin typeface="Helvetica" pitchFamily="34" charset="0"/>
              </a:rPr>
              <a:t>What types of </a:t>
            </a:r>
            <a:r>
              <a:rPr lang="en-AU" sz="2200" u="sng" dirty="0" smtClean="0">
                <a:latin typeface="Helvetica" pitchFamily="34" charset="0"/>
              </a:rPr>
              <a:t>hardware</a:t>
            </a:r>
            <a:r>
              <a:rPr lang="en-AU" sz="2200" dirty="0" smtClean="0">
                <a:latin typeface="Helvetica" pitchFamily="34" charset="0"/>
              </a:rPr>
              <a:t> are used to produce documents?</a:t>
            </a:r>
          </a:p>
          <a:p>
            <a:pPr marL="420688" indent="-420688">
              <a:spcBef>
                <a:spcPts val="600"/>
              </a:spcBef>
              <a:spcAft>
                <a:spcPts val="1200"/>
              </a:spcAft>
            </a:pPr>
            <a:r>
              <a:rPr lang="en-AU" sz="2200" dirty="0" smtClean="0">
                <a:latin typeface="Helvetica" pitchFamily="34" charset="0"/>
              </a:rPr>
              <a:t>What types of </a:t>
            </a:r>
            <a:r>
              <a:rPr lang="en-AU" sz="2200" u="sng" dirty="0" smtClean="0">
                <a:latin typeface="Helvetica" pitchFamily="34" charset="0"/>
              </a:rPr>
              <a:t>software</a:t>
            </a:r>
            <a:r>
              <a:rPr lang="en-AU" sz="2200" dirty="0" smtClean="0">
                <a:latin typeface="Helvetica" pitchFamily="34" charset="0"/>
              </a:rPr>
              <a:t> are used to produce documents?</a:t>
            </a:r>
          </a:p>
          <a:p>
            <a:pPr marL="0" indent="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a:t>
            </a:fld>
            <a:endParaRPr lang="en-US" dirty="0"/>
          </a:p>
        </p:txBody>
      </p:sp>
      <p:pic>
        <p:nvPicPr>
          <p:cNvPr id="58369" name="Picture 1" descr="C:\Documents and Settings\danielc\Local Settings\Temporary Internet Files\Content.IE5\SIQ5KRQ3\MC900434411[1].wmf"/>
          <p:cNvPicPr>
            <a:picLocks noChangeAspect="1" noChangeArrowheads="1"/>
          </p:cNvPicPr>
          <p:nvPr/>
        </p:nvPicPr>
        <p:blipFill>
          <a:blip r:embed="rId3" cstate="print"/>
          <a:srcRect/>
          <a:stretch>
            <a:fillRect/>
          </a:stretch>
        </p:blipFill>
        <p:spPr bwMode="auto">
          <a:xfrm>
            <a:off x="6715140" y="2428868"/>
            <a:ext cx="1625600" cy="1828800"/>
          </a:xfrm>
          <a:prstGeom prst="rect">
            <a:avLst/>
          </a:prstGeom>
          <a:noFill/>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Hardware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US" sz="2200" b="1" dirty="0" smtClean="0">
                <a:latin typeface="Helvetica" pitchFamily="34" charset="0"/>
              </a:rPr>
              <a:t>Types of computers</a:t>
            </a:r>
          </a:p>
          <a:p>
            <a:pPr>
              <a:spcBef>
                <a:spcPts val="600"/>
              </a:spcBef>
              <a:spcAft>
                <a:spcPts val="1200"/>
              </a:spcAft>
            </a:pPr>
            <a:r>
              <a:rPr lang="en-US" sz="2200" dirty="0" smtClean="0">
                <a:latin typeface="Helvetica" pitchFamily="34" charset="0"/>
              </a:rPr>
              <a:t> </a:t>
            </a:r>
            <a:r>
              <a:rPr lang="en-AU" sz="2200" dirty="0" smtClean="0">
                <a:latin typeface="Helvetica" pitchFamily="34" charset="0"/>
              </a:rPr>
              <a:t>Notebook or Laptop </a:t>
            </a:r>
          </a:p>
          <a:p>
            <a:pPr>
              <a:spcBef>
                <a:spcPts val="600"/>
              </a:spcBef>
              <a:spcAft>
                <a:spcPts val="1200"/>
              </a:spcAft>
            </a:pPr>
            <a:r>
              <a:rPr lang="en-AU" sz="2200" dirty="0" smtClean="0">
                <a:latin typeface="Helvetica" pitchFamily="34" charset="0"/>
              </a:rPr>
              <a:t>Touch Screen PC </a:t>
            </a:r>
          </a:p>
          <a:p>
            <a:pPr>
              <a:spcBef>
                <a:spcPts val="600"/>
              </a:spcBef>
              <a:spcAft>
                <a:spcPts val="1200"/>
              </a:spcAft>
            </a:pPr>
            <a:r>
              <a:rPr lang="en-AU" sz="2200" dirty="0" smtClean="0">
                <a:latin typeface="Helvetica" pitchFamily="34" charset="0"/>
              </a:rPr>
              <a:t>Palmtops                                                                                                    </a:t>
            </a:r>
          </a:p>
          <a:p>
            <a:pPr>
              <a:spcBef>
                <a:spcPts val="600"/>
              </a:spcBef>
              <a:spcAft>
                <a:spcPts val="1200"/>
              </a:spcAft>
            </a:pPr>
            <a:r>
              <a:rPr lang="en-AU" sz="2200" dirty="0" smtClean="0">
                <a:latin typeface="Helvetica" pitchFamily="34" charset="0"/>
              </a:rPr>
              <a:t>Tablets/</a:t>
            </a:r>
            <a:r>
              <a:rPr lang="en-AU" sz="2200" dirty="0" err="1" smtClean="0">
                <a:latin typeface="Helvetica" pitchFamily="34" charset="0"/>
              </a:rPr>
              <a:t>iPads</a:t>
            </a:r>
            <a:r>
              <a:rPr lang="en-AU" sz="2200" dirty="0" smtClean="0">
                <a:latin typeface="Helvetica" pitchFamily="34" charset="0"/>
              </a:rPr>
              <a:t> and </a:t>
            </a:r>
            <a:r>
              <a:rPr lang="en-AU" sz="2200" dirty="0" err="1" smtClean="0">
                <a:latin typeface="Helvetica" pitchFamily="34" charset="0"/>
              </a:rPr>
              <a:t>iPhones</a:t>
            </a:r>
            <a:endParaRPr lang="en-AU"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a:t>
            </a:fld>
            <a:endParaRPr lang="en-US" dirty="0"/>
          </a:p>
        </p:txBody>
      </p:sp>
      <p:pic>
        <p:nvPicPr>
          <p:cNvPr id="15" name="Picture 14" descr="http://t0.gstatic.com/images?q=tbn:ANd9GcRujGpp807Zv9YeHECnKPeSslHUbXTL2xn6eHHD9LuJBCZzjHjSXIaCQ7is">
            <a:hlinkClick r:id="rId3"/>
          </p:cNvPr>
          <p:cNvPicPr/>
          <p:nvPr/>
        </p:nvPicPr>
        <p:blipFill>
          <a:blip r:embed="rId4" cstate="print"/>
          <a:srcRect/>
          <a:stretch>
            <a:fillRect/>
          </a:stretch>
        </p:blipFill>
        <p:spPr bwMode="auto">
          <a:xfrm>
            <a:off x="5857884" y="3000371"/>
            <a:ext cx="1643074" cy="1394007"/>
          </a:xfrm>
          <a:prstGeom prst="rect">
            <a:avLst/>
          </a:prstGeom>
          <a:noFill/>
          <a:ln w="9525">
            <a:noFill/>
            <a:miter lim="800000"/>
            <a:headEnd/>
            <a:tailEnd/>
          </a:ln>
        </p:spPr>
      </p:pic>
      <p:pic>
        <p:nvPicPr>
          <p:cNvPr id="56324" name="Picture 4" descr="C:\Documents and Settings\danielc\Desktop\Produce docs reports worksheet\299974_tablet_pc.jpg"/>
          <p:cNvPicPr>
            <a:picLocks noChangeAspect="1" noChangeArrowheads="1"/>
          </p:cNvPicPr>
          <p:nvPr/>
        </p:nvPicPr>
        <p:blipFill>
          <a:blip r:embed="rId5" cstate="print">
            <a:grayscl/>
            <a:lum bright="10000"/>
          </a:blip>
          <a:srcRect/>
          <a:stretch>
            <a:fillRect/>
          </a:stretch>
        </p:blipFill>
        <p:spPr bwMode="auto">
          <a:xfrm>
            <a:off x="5857884" y="1643050"/>
            <a:ext cx="1577963" cy="1183472"/>
          </a:xfrm>
          <a:prstGeom prst="rect">
            <a:avLst/>
          </a:prstGeom>
          <a:noFill/>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1484784"/>
            <a:ext cx="7107560" cy="5112568"/>
          </a:xfrm>
        </p:spPr>
        <p:txBody>
          <a:bodyPr>
            <a:noAutofit/>
          </a:bodyPr>
          <a:lstStyle/>
          <a:p>
            <a:pPr>
              <a:spcBef>
                <a:spcPts val="600"/>
              </a:spcBef>
              <a:spcAft>
                <a:spcPts val="1200"/>
              </a:spcAft>
            </a:pPr>
            <a:r>
              <a:rPr lang="en-AU" sz="2200" dirty="0" smtClean="0">
                <a:latin typeface="Helvetica" pitchFamily="34" charset="0"/>
              </a:rPr>
              <a:t>Computers, including laptops </a:t>
            </a:r>
          </a:p>
          <a:p>
            <a:pPr>
              <a:spcBef>
                <a:spcPts val="600"/>
              </a:spcBef>
              <a:spcAft>
                <a:spcPts val="1200"/>
              </a:spcAft>
            </a:pPr>
            <a:r>
              <a:rPr lang="en-AU" sz="2200" dirty="0" smtClean="0">
                <a:latin typeface="Helvetica" pitchFamily="34" charset="0"/>
              </a:rPr>
              <a:t>Digital cameras </a:t>
            </a:r>
          </a:p>
          <a:p>
            <a:pPr>
              <a:spcBef>
                <a:spcPts val="600"/>
              </a:spcBef>
              <a:spcAft>
                <a:spcPts val="1200"/>
              </a:spcAft>
            </a:pPr>
            <a:r>
              <a:rPr lang="en-AU" sz="2200" dirty="0" smtClean="0">
                <a:latin typeface="Helvetica" pitchFamily="34" charset="0"/>
              </a:rPr>
              <a:t>Zip drives </a:t>
            </a:r>
          </a:p>
          <a:p>
            <a:pPr>
              <a:spcBef>
                <a:spcPts val="600"/>
              </a:spcBef>
              <a:spcAft>
                <a:spcPts val="1200"/>
              </a:spcAft>
            </a:pPr>
            <a:r>
              <a:rPr lang="en-AU" sz="2200" dirty="0" smtClean="0">
                <a:latin typeface="Helvetica" pitchFamily="34" charset="0"/>
              </a:rPr>
              <a:t>Modems </a:t>
            </a:r>
          </a:p>
          <a:p>
            <a:pPr>
              <a:spcBef>
                <a:spcPts val="600"/>
              </a:spcBef>
              <a:spcAft>
                <a:spcPts val="1200"/>
              </a:spcAft>
            </a:pPr>
            <a:r>
              <a:rPr lang="en-AU" sz="2200" dirty="0" smtClean="0">
                <a:latin typeface="Helvetica" pitchFamily="34" charset="0"/>
              </a:rPr>
              <a:t>Printer/scanner/photocopier combination</a:t>
            </a:r>
          </a:p>
          <a:p>
            <a:pPr>
              <a:spcBef>
                <a:spcPts val="600"/>
              </a:spcBef>
              <a:spcAft>
                <a:spcPts val="1200"/>
              </a:spcAft>
            </a:pPr>
            <a:r>
              <a:rPr lang="en-AU" sz="2200" dirty="0" smtClean="0">
                <a:latin typeface="Helvetica" pitchFamily="34" charset="0"/>
              </a:rPr>
              <a:t>Facsimile </a:t>
            </a:r>
          </a:p>
          <a:p>
            <a:pPr>
              <a:spcBef>
                <a:spcPts val="600"/>
              </a:spcBef>
              <a:spcAft>
                <a:spcPts val="1200"/>
              </a:spcAft>
            </a:pPr>
            <a:r>
              <a:rPr lang="en-AU" sz="2200" dirty="0" smtClean="0">
                <a:latin typeface="Helvetica" pitchFamily="34" charset="0"/>
              </a:rPr>
              <a:t>Paging equipment </a:t>
            </a:r>
          </a:p>
          <a:p>
            <a:pPr>
              <a:spcBef>
                <a:spcPts val="600"/>
              </a:spcBef>
              <a:spcAft>
                <a:spcPts val="1200"/>
              </a:spcAft>
            </a:pP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a:t>
            </a:fld>
            <a:endParaRPr lang="en-US" dirty="0"/>
          </a:p>
        </p:txBody>
      </p:sp>
      <p:sp>
        <p:nvSpPr>
          <p:cNvPr id="11"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Hardware</a:t>
            </a:r>
            <a:endParaRPr lang="en-US" sz="3400" b="1" dirty="0">
              <a:solidFill>
                <a:srgbClr val="FF6600"/>
              </a:solidFill>
              <a:latin typeface="Helvetica" pitchFamily="34" charset="0"/>
            </a:endParaRPr>
          </a:p>
        </p:txBody>
      </p:sp>
      <p:pic>
        <p:nvPicPr>
          <p:cNvPr id="12" name="Picture 11" descr="MP900402184.JPG"/>
          <p:cNvPicPr>
            <a:picLocks noChangeAspect="1"/>
          </p:cNvPicPr>
          <p:nvPr/>
        </p:nvPicPr>
        <p:blipFill>
          <a:blip r:embed="rId3" cstate="print"/>
          <a:stretch>
            <a:fillRect/>
          </a:stretch>
        </p:blipFill>
        <p:spPr>
          <a:xfrm>
            <a:off x="6572264" y="3429000"/>
            <a:ext cx="1443143" cy="1104806"/>
          </a:xfrm>
          <a:prstGeom prst="rect">
            <a:avLst/>
          </a:prstGeom>
        </p:spPr>
      </p:pic>
      <p:pic>
        <p:nvPicPr>
          <p:cNvPr id="54273" name="Picture 1" descr="C:\Documents and Settings\danielc\Local Settings\Temporary Internet Files\Content.IE5\112MAXTI\MC900282722[1].wmf"/>
          <p:cNvPicPr>
            <a:picLocks noChangeAspect="1" noChangeArrowheads="1"/>
          </p:cNvPicPr>
          <p:nvPr/>
        </p:nvPicPr>
        <p:blipFill>
          <a:blip r:embed="rId4" cstate="print"/>
          <a:srcRect/>
          <a:stretch>
            <a:fillRect/>
          </a:stretch>
        </p:blipFill>
        <p:spPr bwMode="auto">
          <a:xfrm>
            <a:off x="6715140" y="1643050"/>
            <a:ext cx="1326905" cy="784321"/>
          </a:xfrm>
          <a:prstGeom prst="rect">
            <a:avLst/>
          </a:prstGeom>
          <a:noFill/>
        </p:spPr>
      </p:pic>
      <p:pic>
        <p:nvPicPr>
          <p:cNvPr id="54274" name="Picture 2" descr="C:\Documents and Settings\danielc\Local Settings\Temporary Internet Files\Content.IE5\SIQ5KRQ3\MC900432567[1].png"/>
          <p:cNvPicPr>
            <a:picLocks noChangeAspect="1" noChangeArrowheads="1"/>
          </p:cNvPicPr>
          <p:nvPr/>
        </p:nvPicPr>
        <p:blipFill>
          <a:blip r:embed="rId5" cstate="print"/>
          <a:srcRect/>
          <a:stretch>
            <a:fillRect/>
          </a:stretch>
        </p:blipFill>
        <p:spPr bwMode="auto">
          <a:xfrm>
            <a:off x="6500826" y="2285992"/>
            <a:ext cx="1342914" cy="1342914"/>
          </a:xfrm>
          <a:prstGeom prst="rect">
            <a:avLst/>
          </a:prstGeom>
          <a:noFill/>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1484784"/>
            <a:ext cx="7107560" cy="5112568"/>
          </a:xfrm>
        </p:spPr>
        <p:txBody>
          <a:bodyPr>
            <a:noAutofit/>
          </a:bodyPr>
          <a:lstStyle/>
          <a:p>
            <a:pPr>
              <a:spcBef>
                <a:spcPts val="600"/>
              </a:spcBef>
              <a:spcAft>
                <a:spcPts val="1200"/>
              </a:spcAft>
            </a:pPr>
            <a:r>
              <a:rPr lang="en-AU" sz="2200" dirty="0" smtClean="0">
                <a:latin typeface="Helvetica" pitchFamily="34" charset="0"/>
              </a:rPr>
              <a:t>Calculators </a:t>
            </a:r>
          </a:p>
          <a:p>
            <a:pPr>
              <a:spcBef>
                <a:spcPts val="600"/>
              </a:spcBef>
              <a:spcAft>
                <a:spcPts val="1200"/>
              </a:spcAft>
            </a:pPr>
            <a:r>
              <a:rPr lang="en-AU" sz="2200" dirty="0" smtClean="0">
                <a:latin typeface="Helvetica" pitchFamily="34" charset="0"/>
              </a:rPr>
              <a:t>Audio-transcribing machine </a:t>
            </a:r>
          </a:p>
          <a:p>
            <a:pPr>
              <a:spcBef>
                <a:spcPts val="600"/>
              </a:spcBef>
              <a:spcAft>
                <a:spcPts val="1200"/>
              </a:spcAft>
            </a:pPr>
            <a:r>
              <a:rPr lang="en-AU" sz="2200" dirty="0" smtClean="0">
                <a:latin typeface="Helvetica" pitchFamily="34" charset="0"/>
              </a:rPr>
              <a:t>Telephone answering machines </a:t>
            </a:r>
          </a:p>
          <a:p>
            <a:pPr>
              <a:spcBef>
                <a:spcPts val="600"/>
              </a:spcBef>
              <a:spcAft>
                <a:spcPts val="1200"/>
              </a:spcAft>
            </a:pPr>
            <a:r>
              <a:rPr lang="en-AU" sz="2200" dirty="0" smtClean="0">
                <a:latin typeface="Helvetica" pitchFamily="34" charset="0"/>
              </a:rPr>
              <a:t>External hard drives</a:t>
            </a:r>
          </a:p>
          <a:p>
            <a:pPr>
              <a:spcBef>
                <a:spcPts val="600"/>
              </a:spcBef>
              <a:spcAft>
                <a:spcPts val="1200"/>
              </a:spcAft>
            </a:pPr>
            <a:r>
              <a:rPr lang="en-AU" sz="2200" dirty="0" err="1" smtClean="0">
                <a:latin typeface="Helvetica" pitchFamily="34" charset="0"/>
              </a:rPr>
              <a:t>Ergonomical</a:t>
            </a:r>
            <a:r>
              <a:rPr lang="en-AU" sz="2200" dirty="0" smtClean="0">
                <a:latin typeface="Helvetica" pitchFamily="34" charset="0"/>
              </a:rPr>
              <a:t> mouse</a:t>
            </a:r>
            <a:endParaRPr lang="en-US" sz="2200" dirty="0" smtClean="0">
              <a:latin typeface="Helvetica" pitchFamily="34" charset="0"/>
            </a:endParaRPr>
          </a:p>
          <a:p>
            <a:pPr>
              <a:spcBef>
                <a:spcPts val="600"/>
              </a:spcBef>
              <a:spcAft>
                <a:spcPts val="1200"/>
              </a:spcAft>
            </a:pP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a:t>
            </a:fld>
            <a:endParaRPr lang="en-US" dirty="0"/>
          </a:p>
        </p:txBody>
      </p:sp>
      <p:sp>
        <p:nvSpPr>
          <p:cNvPr id="11"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Hardware</a:t>
            </a:r>
            <a:endParaRPr lang="en-US" sz="3400" b="1" dirty="0">
              <a:solidFill>
                <a:srgbClr val="FF6600"/>
              </a:solidFill>
              <a:latin typeface="Helvetica" pitchFamily="34" charset="0"/>
            </a:endParaRPr>
          </a:p>
        </p:txBody>
      </p:sp>
      <p:pic>
        <p:nvPicPr>
          <p:cNvPr id="6" name="Picture 2" descr="C:\Documents and Settings\jirayut\Local Settings\Temporary Internet Files\Content.IE5\L3HMVMNM\MP900433098[1].jpg"/>
          <p:cNvPicPr>
            <a:picLocks noChangeAspect="1" noChangeArrowheads="1"/>
          </p:cNvPicPr>
          <p:nvPr/>
        </p:nvPicPr>
        <p:blipFill>
          <a:blip r:embed="rId3" cstate="print"/>
          <a:srcRect/>
          <a:stretch>
            <a:fillRect/>
          </a:stretch>
        </p:blipFill>
        <p:spPr bwMode="auto">
          <a:xfrm>
            <a:off x="6143636" y="4000504"/>
            <a:ext cx="977272" cy="1500198"/>
          </a:xfrm>
          <a:prstGeom prst="rect">
            <a:avLst/>
          </a:prstGeom>
          <a:noFill/>
        </p:spPr>
      </p:pic>
      <p:pic>
        <p:nvPicPr>
          <p:cNvPr id="52226" name="Picture 2" descr="C:\Documents and Settings\danielc\Local Settings\Temporary Internet Files\Content.IE5\Y88G682L\MC900018285[1].wmf"/>
          <p:cNvPicPr>
            <a:picLocks noChangeAspect="1" noChangeArrowheads="1"/>
          </p:cNvPicPr>
          <p:nvPr/>
        </p:nvPicPr>
        <p:blipFill>
          <a:blip r:embed="rId4" cstate="print"/>
          <a:srcRect/>
          <a:stretch>
            <a:fillRect/>
          </a:stretch>
        </p:blipFill>
        <p:spPr bwMode="auto">
          <a:xfrm>
            <a:off x="6143636" y="1500174"/>
            <a:ext cx="1618144" cy="977830"/>
          </a:xfrm>
          <a:prstGeom prst="rect">
            <a:avLst/>
          </a:prstGeom>
          <a:noFill/>
        </p:spPr>
      </p:pic>
      <p:pic>
        <p:nvPicPr>
          <p:cNvPr id="52227" name="Picture 3" descr="C:\Documents and Settings\danielc\Desktop\Produce docs reports worksheet\293523_usb_portable_hd.jpg"/>
          <p:cNvPicPr>
            <a:picLocks noChangeAspect="1" noChangeArrowheads="1"/>
          </p:cNvPicPr>
          <p:nvPr/>
        </p:nvPicPr>
        <p:blipFill>
          <a:blip r:embed="rId5" cstate="print"/>
          <a:srcRect/>
          <a:stretch>
            <a:fillRect/>
          </a:stretch>
        </p:blipFill>
        <p:spPr bwMode="auto">
          <a:xfrm>
            <a:off x="6072198" y="2571744"/>
            <a:ext cx="1785950" cy="1190634"/>
          </a:xfrm>
          <a:prstGeom prst="rect">
            <a:avLst/>
          </a:prstGeo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260648"/>
            <a:ext cx="7467600" cy="1143000"/>
          </a:xfrm>
        </p:spPr>
        <p:txBody>
          <a:bodyPr>
            <a:normAutofit/>
          </a:bodyPr>
          <a:lstStyle/>
          <a:p>
            <a:r>
              <a:rPr lang="en-AU" sz="3400" b="1" dirty="0" smtClean="0">
                <a:solidFill>
                  <a:srgbClr val="FF6600"/>
                </a:solidFill>
                <a:latin typeface="Helvetica" pitchFamily="34" charset="0"/>
              </a:rPr>
              <a:t>Software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467544" y="1628800"/>
            <a:ext cx="7467600" cy="4536504"/>
          </a:xfrm>
        </p:spPr>
        <p:txBody>
          <a:bodyPr>
            <a:normAutofit/>
          </a:bodyPr>
          <a:lstStyle/>
          <a:p>
            <a:pPr>
              <a:spcBef>
                <a:spcPts val="600"/>
              </a:spcBef>
              <a:spcAft>
                <a:spcPts val="1200"/>
              </a:spcAft>
            </a:pPr>
            <a:r>
              <a:rPr lang="en-AU" sz="2200" dirty="0" smtClean="0">
                <a:latin typeface="Helvetica" pitchFamily="34" charset="0"/>
              </a:rPr>
              <a:t>Email and internet browsers </a:t>
            </a:r>
          </a:p>
          <a:p>
            <a:pPr>
              <a:spcBef>
                <a:spcPts val="600"/>
              </a:spcBef>
              <a:spcAft>
                <a:spcPts val="1200"/>
              </a:spcAft>
            </a:pPr>
            <a:r>
              <a:rPr lang="en-AU" sz="2200" dirty="0" smtClean="0">
                <a:latin typeface="Helvetica" pitchFamily="34" charset="0"/>
              </a:rPr>
              <a:t>Word processing </a:t>
            </a:r>
          </a:p>
          <a:p>
            <a:pPr>
              <a:spcBef>
                <a:spcPts val="600"/>
              </a:spcBef>
              <a:spcAft>
                <a:spcPts val="1200"/>
              </a:spcAft>
            </a:pPr>
            <a:r>
              <a:rPr lang="en-AU" sz="2200" dirty="0" smtClean="0">
                <a:latin typeface="Helvetica" pitchFamily="34" charset="0"/>
              </a:rPr>
              <a:t>Spreadsheets </a:t>
            </a:r>
          </a:p>
          <a:p>
            <a:pPr>
              <a:spcBef>
                <a:spcPts val="600"/>
              </a:spcBef>
              <a:spcAft>
                <a:spcPts val="1200"/>
              </a:spcAft>
            </a:pPr>
            <a:r>
              <a:rPr lang="en-AU" sz="2200" dirty="0" smtClean="0">
                <a:latin typeface="Helvetica" pitchFamily="34" charset="0"/>
              </a:rPr>
              <a:t>Databases </a:t>
            </a:r>
          </a:p>
          <a:p>
            <a:pPr>
              <a:spcBef>
                <a:spcPts val="600"/>
              </a:spcBef>
              <a:spcAft>
                <a:spcPts val="1200"/>
              </a:spcAft>
            </a:pPr>
            <a:r>
              <a:rPr lang="en-AU" sz="2200" dirty="0" smtClean="0">
                <a:latin typeface="Helvetica" pitchFamily="34" charset="0"/>
              </a:rPr>
              <a:t>Work project</a:t>
            </a:r>
          </a:p>
          <a:p>
            <a:pPr>
              <a:spcBef>
                <a:spcPts val="600"/>
              </a:spcBef>
              <a:spcAft>
                <a:spcPts val="1200"/>
              </a:spcAft>
            </a:pPr>
            <a:r>
              <a:rPr lang="en-AU" sz="2200" dirty="0" smtClean="0">
                <a:latin typeface="Helvetica" pitchFamily="34" charset="0"/>
              </a:rPr>
              <a:t>Accounting packages </a:t>
            </a:r>
          </a:p>
          <a:p>
            <a:pPr>
              <a:spcBef>
                <a:spcPts val="600"/>
              </a:spcBef>
              <a:spcAft>
                <a:spcPts val="1200"/>
              </a:spcAft>
            </a:pPr>
            <a:r>
              <a:rPr lang="en-AU" sz="2200" dirty="0" smtClean="0">
                <a:latin typeface="Helvetica" pitchFamily="34" charset="0"/>
              </a:rPr>
              <a:t>Presentation packages</a:t>
            </a:r>
          </a:p>
          <a:p>
            <a:pPr marL="1219536" lvl="3" indent="-360000">
              <a:spcBef>
                <a:spcPts val="600"/>
              </a:spcBef>
              <a:spcAft>
                <a:spcPts val="1200"/>
              </a:spcAft>
            </a:pPr>
            <a:endParaRPr lang="en-US" sz="1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a:t>
            </a:fld>
            <a:endParaRPr lang="en-US" dirty="0"/>
          </a:p>
        </p:txBody>
      </p:sp>
      <p:sp>
        <p:nvSpPr>
          <p:cNvPr id="54277" name="AutoShape 5" descr="data:image/jpeg;base64,/9j/4AAQSkZJRgABAQAAAQABAAD/2wBDAAkGBwgHBgkIBwgKCgkLDRYPDQwMDRsUFRAWIB0iIiAdHx8kKDQsJCYxJx8fLT0tMTU3Ojo6Iys/RD84QzQ5Ojf/2wBDAQoKCg0MDRoPDxo3JR8lNzc3Nzc3Nzc3Nzc3Nzc3Nzc3Nzc3Nzc3Nzc3Nzc3Nzc3Nzc3Nzc3Nzc3Nzc3Nzc3Nzf/wAARCACbAKcDASIAAhEBAxEB/8QAHAAAAQUBAQEAAAAAAAAAAAAAAAIDBAUGBwEI/8QAUBAAAQMCAwIJBggIDAcAAAAAAQACAwQRBRIhBjEHExQiQVFhkbEyNnGBocEjQlJyc4Ky0RUWJDNidMLwJTQ1Q0RTVGOS0uHiJkVkg4Si8f/EABoBAAIDAQEAAAAAAAAAAAAAAAADAQIEBQb/xAAtEQACAgECAwcEAgMAAAAAAAAAAQIDEQQyEiExBRMVQUJRcRQiUqEjM2GBkf/aAAwDAQACEQMRAD8A7ihCEACEIQAKNiNbT4dRS1lbK2GnibmfI7c0KSs1wkeY+MW/qD4hWiuKSRaK4pJFHiPCxgNOS2khrax267Isje95B7gs3iPC3iUt24bh1NA35czjIe4W8Vj8Jw41YfLxFROAdWQW0A3kkkADVXX4GfHTSSuw6OJjG3dxs+aQa28lotf1rY1p63iT5m9UQj5ZFs232krKStllxR7HxNaWCFjWhpv6CoEO3m1Ue7GJX/PjYf2VApWhlDijWjQAD/2XmFU8QhkqpozKGOaxkd7ZnONgFocK0uhfgh7FyzhI2sZ/TYnAfLpmn7lIj4UtqGeU6gf86mPueEmfC8Yp2yOlwfDskTM7iJjYN16b9hTBosR450Ltm2OeHBlmTeUSL6a66a33BZ1dppc01/1Ed0vxLKHhZx5v56kw+Tsax7f2ipUfDBiIPwuD0p+bO4e5UJoKp08kH4sSuljaHObHNfQ3sQekGx3dSrMSpWcQ6ZtK6mcwtDo3PuRe+h00Om4q6VE3hY/0yHVDzibyLhgP87g4+rP94UgcMFH8fBqv6sjD42XI0bgr/S1exD09fsd7p9vsPlp6eY0dW1s8MczRZpID2hwB53apDNuMKPlR1LfTGPcVzvDoS/CMNdxkTfyGnFnPAP5pqe5M87nRG5tpK2/ivJ3ay6FkoromcGd84zaR0Vm2WDO3zSt9MTk/FtRg8rsrKwXsTqxw3C/UuZSU8sTQ6QDKTa4cD4FFP+et/dv+wUV6+1zSaXMIaiTkk0dPwvabBcXmbDhuJU9RK5heI2OuS0dNurVC5FwMhv40wWAvyF+tj+ihd22tQlhHSsgoSwd2QhCUKBCEIAFmuEjzHxe39QfELSrNcJPmNjH0B8Qr1718l696OKYPiMlJRvjiq2U+cOZJeHjHOaegagBLmxezHDltZUaHmvc1jNTfyWjXU3sSoFHPQxQltTTOkeXXDwAbCwFt46v9E/FidFFM0x4VCGZgS4hpfvvvLfRbVdGVMHNy4cs6bzkRQuL8PxMu3ljT7U9hj38gayGF00rKmOXi273BpumsO1w7EtSbtbqfSoLC+PVji0jqTJLiWAZuKnabFKiCSGbAKoRyxyMeQ4k87yfi9G71qJHtDXwyYaZcNrnxU1K6nqGljvhbgDMDbQ81ZgVlTluJnj1letxOtabCokH1isEezaIrCiv2RxTNbQbVQ0mWA4TiLaSKnjhhDosz+aSSXXFuruVFi1Q58dXPLC6B1bUca2F7rva21hm9KgnF68acpl/xlQpZXyuzSOLj1kptGhrpm5wXMn7n1EdiDuKEHcVuZY6DhgvhOGBrInfkEGjnWP5pnb++qkGIjV1IzS2gf/qo2GNJwnC7wtfehgHlWJPFM7ej3qUYHXuaNwPZIvB6nPfS+WeVt3s8MOUXNG6x6RJ/9So4XNlzcS+NvFyDna/FKQYeab0kgJ3EHd7EQRyMmHGte0ZH7wfklLq/sj8lYbkV/A40jaunO4chkv3sQpnBTFk2piI/sbx9lC9ZqHmZ3L3mZ2hCELOZwQhCABZrhJ8xsY/Vz4haVZrhI8x8Y+gPiFevevkvXvR89IQhdk66LXCRegxD5jfFRQy7fSpOFfyfX/Mb4ptoS/NipdWMsZdgTUrLEelSWts9w6d6ROw5d3SpTBEZzUmyecLhNZSH2Viwmy9Db6JZYepOsZoCjIZLSm2mmp4Kenkw6ilbDCyJjy+VrnNa0NBNn2vYdAT42pbfXBqf6tXIPEFUNY0xmJ97FxIN1KZLKcRipAWcmcWjKWjnNIF3Xte+8+pYJ6LTSlxOCMk9PS3lxNFg2OQ4k+ZjsMdEYjbmV1798am1laKalllp6WRsgYQ0y1Ie1txYnKGC5sTbXvWX2XfkxmaPMDniDge0aFaatbnppG6c5h3ehK+h06kmooX9NUnyRY8GrQ3allv7M8fZQvODR4dtNEeulefsoRfvIt3HXkIQkCAQhCABZrhI8x8Y+gPiFpVmuEjzHxj6A+IV696+S9e9Hz0hCF2TsIt8GbmoMQGn5tu/5yaYHhoyg2OmiewT+JYhpfmN+0mmuA0039SW+rEvqILSHjQpT2uc0A3NhohzhfSyVe40t7VBAzHC5wtlLiOxNzwvikbnaWk9BVhQvyVDtN4slYw3O2KXp6e9GeZGSBkNgDuUnDqeSchkLc0l9yQLEA9an4FKIcSjzGwLxf0EWRJg3yIe0VBNSUbXSNaHBwcLdAvb3qBHPLxQY2SzCBpfo6lsNq4eVYQ85QHAuYSPRp4LN7PYM7GYXmOobE6MC4cwu0N9d46lRSyssqpZXMawZ/F41SvJbzmujPsPuK2MsTzGS2N2W1yVmcbwxmD4rRMjLnNu1+d1tSSWnd6lsxIHULWuB51wPFUk/MpJ+aG+DDzna35NPKO4hC94MtNr3s/uZD35ShZbn94i1/cdhQhCQIBCEIAFmuEjzHxj6A+IWlWa4SPMfGPoD4hXr3r5L170fPSEIXZOwi1wgkUGIEfIb9pRcxUnCjbD8Q+Y37ShZ1TzYp9WOZivQ8pnOjjEYIwSGSlsjXe5Tap3GUxHSHaKszKSyYcWQd53qGiGhMRuwJ+B5ZUMcN/Z2KLG62nRdOg2c09qgDZ1jRU4dOQAQ5jZdPb7Fm9hJeJxWppXDeHDf8k6ey6t6PFoI6FsMwkL8uUgDS3pWewp4pdqISb2e8esEW8UlLkxOOTTLfb+K9NT1DQS9oc31izh4K0opA+igkG7MPaExtUzjsHlc65EUzXdGg3HxTWzlQ38ER8a4AhoGvWFXrEr6S34Om5dt3t3fk8niEJewBaduczDcGmkt3tQs124RbuOtoQhJFAhCEACzXCR5j4x9AfELSrNcJPmNjH6ufEK9e9fJevej56QhC7J1yzwz+TsQ+Y3xTVBDTTmQVM/EgNJa7Q3PV3JzDf5NxD5jfFRqJ9CyRzsRZI+PKcrYzY5ujW4VPcW+paDCKCQOczEQWtZneQ0HLZtzfXrHtHak/g7DMrT+E2l3xmtLbHs3+q/o7VG5bg+RjWUcpBa4vaXE3JDbWdmvlFj1b+kr11RgjmlseGVBfe4LpnbtOp37374w/MrhjzaLDJLOZiLWDOQ5pIPNDnAEX6bZNO0lLbR4UQf4Qsb20Atu33Otr6dfYmXz4VNHUOgwx7HZXPDnOcADvAABI3nXs06FXthmLHSCGRzGeU4NOm/7ijAY/yPTBkdTI2J4fG1xDXDpHQlFwI0vu6UwI5AL8VJZo1OU6JbHahGCSxgeMgLukWsoGIuMFZBUsOoGvpBuFJp3XadRoelNYqA6mY67ea8dyqyrRtMRbyqirY2uuJIA8duh+5Z3Z+XPhz23vlkJ79fetDgs7Z8Lpnvc03iDXerQ+9ZjAxyeaqpiRzDbuNvckroKXRo2PByP+Lmn/ppP2UI4ODfa1v6tJ4tQst24z27jrqEISRIIQhAAs1wk+Y2Mfq58QtKszwk67D4v9B7wr1718l696Pn5jb62zdAaDa/rXrmEnyCw2uADcH19acp4XVEzYY25r2Go07b9m8p7EKB1DKGOtldq1zWgDTsGgK0z1OLuDPP2NUr33mCVgtLLVYZiwgaXSRwCQMaLlwBuQB0m2tlXYdiBpHGanyuL22uddN+i0Gxrix+IPjJaeKaWkGxGoI8VayQUMjjJPhOGyyvN3PdSgF5PSbWBPak6jtOGntcJryF362NdnDJcsGcO0koLMtLTBrQeaWmxPX+/QUVO0tQ945OyOFo011J03k+s9wWi5Nh1ubgmFA3trRtuO9BpqEajCMKH/gRHxaUjxrTr0sQ+0al0iZWox+qqInRSGIRvFiACLC3RYoftPVk3M0A1u4W0J71qxDStPNw3C2kbsuHU/8AkT7Z3x/m46ZlvkUsTfBqo+3KfwYeJV/iYuXaaqkY5j6mENdcOy2BN9+5V7KuDomj/wAQXSW19aQ7JO/K0XOQAAC9ugdZSfwlXW/js4H0xHgVD7dgulbK+JxXSJhadz3eRG5w7Gkp+eCqmp3sbR1DiRplhcfctia6sdvraoj6d/3rzlVT/aqg+mZx96X46n6P2Vfaa/EpMEmrKWi4qXDa7M1xygUj9x16lFhp8Qdi00zMMrmskubcmeLbuxaQ1FQf6RMfTIfvSHyyEayPI7XFU8b9ofsr4l7RLfg4oZKfaIzVoMc7oHtjhPlNFwS53V0ADfvPpE7sDb8Yh2wv9yE2nUyvjxsI3SsXEzp6EITxgIQhAAs1wj6bEYueqD3haVZrhJ8xsY+gPiFevei9e9HB8NquR1DZ3MzNa0ggDXUffZTcXrIq/DqSVrSx5c+7DvbYEEeCqGEX16B17v33dyUWhuobYu6yCXHq0HrVrNPDvlZ6kNnVHvOPzRotkRbl7egQge1aDDQ3lnHzOayKmaZXOcCRcaNFgCfKLdw61ntkDzsQA3cSLH1/6LTxYRiMreZTuDX2NnvDb9IuCVye0lJapNLOEjBrU++WF5CpaZlRI+tY3lxkhEpjga+MSy5gyU2tmAB51t/OHQmxRNMcB5LI2KWT4apc535N8JlLOoWAHlAk5uxSBs5iTraRgg3FphobWJ06UobKYg4k5ae5/TJv7Fl4ZPn3fMz4k/SMmhHky0Rpql4mEVPxjiXgNu084m5vpe9j1aJTKenimp4pqeBxfPFHMXm5Y0wguIN9DmJ1T7Nja8tIPJG3O7nn9hPx7G1lrGWJo6mxu+4K3Db5Vk8MvKJVxCKWChfNHStaaSG5aGgl+dnGXF7/ACt/WVIg5PLPxoiphxYkuWsjDQBI3I2zrNu5uYAnW196s2bF1G/lDvqw/wC5SafZCpgJMVXK0u0d8Cwg27CSE2MLm+cC0YzysoyE2bjpc8fFu4x12WAyG5006tyQtp+JWYl0k8xc43JOXUneUtmxEXxpJT9cf5VlehubzgV9PP2MQvHLfN2Jpel0p/7v+1LOxVCBoxxP6UzvcreH3ErTTM7sFptE36F/uQtDg2z4w3HxLCSGcU4Oa5199tQfcULdpqp1w4WaaouMcM1yQXWS14Wg71uHjZkCSZgESQF3kusoc8E7NwLh2IAlce3rWc4RZg/YnGGg/wAx7wpUs8kZs4OCzm29Xn2UxNt98J6e0K9W9fJevejjdyDdpsete5zqA1jbixyg6+3wSoOJL/hy8M62AXB9aXLFEIy+Koa8X8gtLXLrOEX1OrKKbNrwR07arGKpjhe0OZvYbjVdendT4dC0mGR4Jt8HGXm/WbLlHAsbY7V/q/vC7KLEXXO1K/kZz9T/AGMrRisT3GOKkqnPDScvJ3N6OspdNiBnlbGKGqiuLl0sYaB7VYWHUEZW9QWcRyAbl6heXHWgg8OhVbWY9g9DIY63FKGneN7ZahjCPUSrGQXBtvtouKHg82llrKyeSgoJDPM94fPUc4Akm+g7QmVQjLc8Da4RlueDpsm2mzEe/H8NPzahrvAph+32y7P+dUzuxpJPsCwUXBtj7srizCInAk3BcfVuUtnBji+TXEMKj6QG0hNtLaap3d0L1DO7pXqNTNwlbLRf0+R/zKd7vALyg4Rtn8SxGnoaOSpfNUPyMvTuaL9pKzreC/E8xedoqeJxtfi8PB3fXCsME4O48MxenxKuxeaump9Y28S2NoPQTYnrKhxoSznmDjSk+fM3ces9+woSac3m9SFmMxLQhCABCEIAbkhjlFpGNcP0hdU2O7MUeL4bUUZfJT8c3LnjsS3t1V6vDuUp4eUSnh5RxfFuCjF6cF2GVdPWAfEk+Cfb06g+xY/EsBxjCgXYlhlTTsbveW5mj0ubce1fTBCSQCNQCtMdXNdeZpjq5LrzOMcDBDsbqi12nEbx6Quxtd8EDfvUWnwvD4aw1UNHBHO5tnSMjDS4dtt6nNYxugaAEq2fHLIq2fHLJHM3Ntmb39qWKhhtz9SnQxg3NA9SVYdQShQwZddL9y8a526zu5SF6gBkF3ySgZ76MTyEANEPPQO9GR3WE4vUAMmIneQkmmv8b2KQhADMdOGOzZiShPIQB//Z"/>
          <p:cNvSpPr>
            <a:spLocks noChangeAspect="1" noChangeArrowheads="1"/>
          </p:cNvSpPr>
          <p:nvPr/>
        </p:nvSpPr>
        <p:spPr bwMode="auto">
          <a:xfrm>
            <a:off x="63500" y="-695325"/>
            <a:ext cx="1533525" cy="1428750"/>
          </a:xfrm>
          <a:prstGeom prst="rect">
            <a:avLst/>
          </a:prstGeom>
          <a:noFill/>
        </p:spPr>
        <p:txBody>
          <a:bodyPr vert="horz" wrap="square" lIns="91440" tIns="45720" rIns="91440" bIns="45720" numCol="1" anchor="t" anchorCtr="0" compatLnSpc="1">
            <a:prstTxWarp prst="textNoShape">
              <a:avLst/>
            </a:prstTxWarp>
          </a:bodyPr>
          <a:lstStyle/>
          <a:p>
            <a:endParaRPr lang="en-AU" dirty="0">
              <a:latin typeface="Helvetica" pitchFamily="34" charset="0"/>
            </a:endParaRPr>
          </a:p>
        </p:txBody>
      </p:sp>
      <p:pic>
        <p:nvPicPr>
          <p:cNvPr id="54279" name="Picture 7" descr="http://www.benkennie.com.au/assets/images/MYOB_Accounting.jpg"/>
          <p:cNvPicPr>
            <a:picLocks noChangeAspect="1" noChangeArrowheads="1"/>
          </p:cNvPicPr>
          <p:nvPr/>
        </p:nvPicPr>
        <p:blipFill>
          <a:blip r:embed="rId3" cstate="print"/>
          <a:srcRect/>
          <a:stretch>
            <a:fillRect/>
          </a:stretch>
        </p:blipFill>
        <p:spPr bwMode="auto">
          <a:xfrm>
            <a:off x="6516216" y="2829560"/>
            <a:ext cx="1236436" cy="1151409"/>
          </a:xfrm>
          <a:prstGeom prst="rect">
            <a:avLst/>
          </a:prstGeom>
          <a:noFill/>
        </p:spPr>
      </p:pic>
      <p:pic>
        <p:nvPicPr>
          <p:cNvPr id="54281" name="Picture 9" descr="http://0.tqn.com/d/presentationsoft/1/0/E/S/-/-/powerpoint-2010.png"/>
          <p:cNvPicPr>
            <a:picLocks noChangeAspect="1" noChangeArrowheads="1"/>
          </p:cNvPicPr>
          <p:nvPr/>
        </p:nvPicPr>
        <p:blipFill>
          <a:blip r:embed="rId4" cstate="print"/>
          <a:srcRect/>
          <a:stretch>
            <a:fillRect/>
          </a:stretch>
        </p:blipFill>
        <p:spPr bwMode="auto">
          <a:xfrm>
            <a:off x="5652120" y="2109480"/>
            <a:ext cx="1097310" cy="1443829"/>
          </a:xfrm>
          <a:prstGeom prst="rect">
            <a:avLst/>
          </a:prstGeom>
          <a:noFill/>
        </p:spPr>
      </p:pic>
      <p:pic>
        <p:nvPicPr>
          <p:cNvPr id="54283" name="Picture 11" descr="http://t2.gstatic.com/images?q=tbn:ANd9GcSCvT_VYlo10Ij1JiesQsa9XIe8HJUabVNa0m6Xuf1y7VI6O3x4Qw"/>
          <p:cNvPicPr>
            <a:picLocks noChangeAspect="1" noChangeArrowheads="1"/>
          </p:cNvPicPr>
          <p:nvPr/>
        </p:nvPicPr>
        <p:blipFill>
          <a:blip r:embed="rId5" cstate="print"/>
          <a:srcRect/>
          <a:stretch>
            <a:fillRect/>
          </a:stretch>
        </p:blipFill>
        <p:spPr bwMode="auto">
          <a:xfrm>
            <a:off x="4932040" y="4413736"/>
            <a:ext cx="1296144" cy="872652"/>
          </a:xfrm>
          <a:prstGeom prst="rect">
            <a:avLst/>
          </a:prstGeom>
          <a:noFill/>
        </p:spPr>
      </p:pic>
      <p:sp>
        <p:nvSpPr>
          <p:cNvPr id="54285" name="AutoShape 13" descr="data:image/jpeg;base64,/9j/4AAQSkZJRgABAQAAAQABAAD/2wCEAAkGBhASDRUUEBQUFBUVFBgQFBQVFBQUFhQVFBQVFRUUFBQXHCYeGBkjGRQUHy8gIycpLCwtFh4xNTAqNScsLCkBCQoKDgwOGg8PGiwkHyQsLC4pKS8uKSksLCwqNCkpLiwsLCwsLCwsKSwsKSwtLCwsKSwsLCwpMCwpKSwpKSwpLP/AABEIAMwAzAMBIgACEQEDEQH/xAAcAAABBQEBAQAAAAAAAAAAAAAGAAEEBQcDAgj/xABMEAABAwEDBQkMBgkEAwEAAAABAAIDEQQFIQYSMVGRBxMiMkFhcYHSFRcjMzRSU3Oho7HRFGJykrLDJEJUgpOzweHwFkN0okTC04P/xAAaAQACAwEBAAAAAAAAAAAAAAAABAECAwUG/8QALxEAAgIBAgQFBAIBBQAAAAAAAAECAxESMQQTIVEiMjNBgRRSYXEjsfAFQkOR0f/aAAwDAQACEQMRAD8A3FJJJACXG12yOJhdI4MaOUmiqco8qo7K2nHlIq1ldHO48g+KDLLdtsvGTPkdRleM7BjeaNvL/lSl7L9L0xWWYztw9MerLq9d0dgws7M7678G9TRieuiqRbb2tXE3wNPmjem/ew+KK7syYslnoQ3Pf576OPUNAVo60nkwWfLnLzy+EZ6Jy88vhAF/om8H4veP3pXO+a9Dc7tfpIvvP7KNzKdZTb4dZ2o+mr/JHJh+QJO5xavSxbZOym72tq9JDtf2Ubb4dZ2pb4dZ2lH09fYOTX2AjvaWr0kO1/ZTd7O1ekh2v7KN99Os7Sm312s7Sj6evsRya+wEd7K1ekh2v7KXextXpIdr+yjbfXaztKbfXaztKORX2Dk19gJ72Fq9JDtf2U3evtXpIdr+yjbfnaztKW/O1naUcivsRya+wEd661ekh2ydlN3rbV6SHbJ2Ub787WdpS352s7Sp5NfYOTX2AfvWWv0kO2TspjuV2v0sO2Tso5352s7Sm352s7Sjk19g5NfYBu9Va/SwbZOym71Nr9LBtk7COt+drO0p9+drO0o5UOwcmvsAXeotfpYNsnYQ7lJk7JYpGxyuY4uZngszqUqRTEDHBbDHM7OGJ0jlOtZ9utn9Mi9R/wC71WdcVHKMrqoRg5RNLuuUujBKmKBc3igp6dOkJUeVWUgssXBoZX4Mbq1uPMPara2WtsUTpHmjWguPUs2u2yvvG3ufJXMHCf8AVYOLGOn5lL32OOIx3ZjbNrwx3ZIyZyZdanm0WkksJrjpkPLj5qOS8BoawBrQKADDDUByBJ5AAa0ANaKADRQaAOZc0V1qtYXyyIRUFhCSTVSqrkiTJVXklADkpiUxKaqgqPVeapVXmqAPVU1V5JTZygg9VTVXnOTVUEZPVUs5eKpVQRk9ZyWcvFUqoDJ7qlVeKpVQGTtCeEOkfEIC3XT+mxeo/wDd6OoTw2/aHxCBN14/psXqPzHqJ+Rmd3pP4NKubxQU9QLm8UFPTI+BW6PelGMgaeN4R/2Rg0dZqf3Va5MXZ9HsTQRR7+G7pcMB1CiFLaPpV95pxaJAz92Lje0Haj+0uxpqSdfinKfwhWHilKfwjiVk2U953nZLU6M2qYsPCjdUcJh0cmkaD/dayqPK7J4WuzFopvjeHE763K08x0bNS1mm10KXwc4+F9TLhlheH7TL94fJdBldeH7TL94fJVZgLXEOBBBoQdIIwIK6NjSbm+5ytU+7DfIXLGQ2nerY8yNko1j36WP5BXU7R00WgTx5rqbFhrY1rWR9+/S7LmPPhogAdb28j+vQefpW1Nmrws6HDWNrQ9/YsymqkV5JWwyRryvFkELpJDRrRXnJ5GjnJwWV2rLK2ukc4TPYCSQxpAa0cgGCnZdZRb/NvUZ8HGdI0PfoJ6BoHWhZWSFbJ5eEW3+rLd+0S7R8kv8AVlu/aJdo+SqVe5H5NuttrDMRG3hyu1N80HW7RtPIjBRam8IOsgIbS+F1ptkr3scM2JjjgccX06RQdZV45+OrmXW1zNwYwAMYA1oGjAUw5hoUYlVk+w0+iwj1VNnLxVKqpkrk91TVXiqVUBk95yWcvFUqoDJ3gPDb9ofEIG3Xz+mxeo/MejaA8Nv2h8QgfdgP6bF6j8x6JeRlLfSfwabc3igp6gXN4oKemjombZE8O9HvOqV/W5390cynhHpQPudj9Nk9U78bUbycY9KT4b0/kUp8nyeUxSK8krc0APL/ACdo76TGMDhKBr0B/XoPVrQcyNbTPE17S1wq1wLSDyg6Qswvm5TZ5yzS08Jh1t+Y0FI8RHHiQhfVh6kVjY1ZXLeD7PO2VmlukcjmnS09PyUdka6tjSWtp5RlFNPKNWMrJYmzRmrXivR089cChLLfKLeIN7jPhZAQKaWM0F3SdA69S45M5RizNkbLV0Ra59BiQ4NrQD61KdNEAXpeL553Sv0uNacjRyNHMAurVYrY6v8AsbnbmOVuREkkluLHSCBz3tawFznENaBpJJoAFs9yXO2wWJsTaGV/DlcOVx005hoG1De5rk4GMNtnHIRCDsL+vQOsoitFvBcSTUnUqylpQzBaFl7s9kpiVEdbxyBcnW53MFhqRDmiwqmqqt1qdrXMynWVGspzC2Mg1javBtLdYVTnJZyjWRzC0NsZr+Kb6c3n2Krzk+co1sjmMt7NbWmRunjNH/YIQ3YvLYvUfmPV9YneGZ9tv4gqDdj8ui9R+Y9aJ5gyZyzU/g0+5vFBT1AubxQU9OHVM43OD+mSeqP8xiNZOMekoJ3NfLJPUn8bEayaT0n4pPh/TQpT6aPJK8kpEpiti4xVZf10i0Q0/XbwmHn1dB+SsiV0skec8c2OxVcVJYZDWroZbvBBIIoQaEHSCNIK7NjRflpcVHb/ABjA4SDn0B/XoPUhhjFwr4OqbixSVel4OYjQ1fN3b2+o4rsRzHlCLhGuVtsIkjLXcvLqPIUcPxHKnn29yHEBVe5H5NuttrDMRG3hyu1N80c7tG08iqXWKTft6DSX5wYGjSSTQU6ahbPcWSrrNd28xOaJXjOleeVx0gU5AMBt5V6BPKyi1Vep/oj3vbmuIjjoI4xmtA0YCmHMNAVYXLlbLktUOJYaeczhDrpo6woTbwI0ivsKSlN58SwVscs5ZYFy8FyjttrTy06V0LlGTJs9ly85y8F68l6jJXJ0zks5cc9NnIyGTtnJ85cM9LPQRknWF3ho/WM/EFR7snl0XqPzHq2sD/DR+sZ+MKo3ZfLovUfmPW9fkZr/AMMv2jUbm8UFPUC5vFBT06dgzbc08sk9SfxsRrJxj0n4oJ3M/LJPUn8bEay8Y9J+KT4f00J0+mjwV5Kcry4rUuMSrC7Y+CTrw6gqaSck0by4IhgizWBuoUVodWWr6shZQXnDZ7JJJPxGtNR51cAwc5OCzC5rybPHntFDWjm1rmnVXlw5VB3T8r/pVo3mI1hhJFRokk0F3OBoHWeVDNw3qYJgTxHcF45tfSEtxlHNh03Wxz7uKTtwtkaQ1qRYlFICAQagioOsHlXpxXmvc2O+T0MDbeySVvCALGO5GuOgkbQDyZy0NZdIUbZMXzv0Wa4+EYKH6zeR39D/AHXb/wBO4jpypfH/AIMUyXlLtQLdcVnm8ZG0nzhwXbQpwKdddpPcYaT3Ay8MgOWCT91/aHyQ5bbntdn47HAecOE3aMNq1ZKiwlw8Xt0F58NCW3Qx5l5n9YV5wpEdsY7Qeo4LQ7xyWss3HjAd5zOA72YHrqha8tzZ4qbPIHfVfwT94YewLCVE1+RSfDTjt1KnOTZygW277XZj4Rj2jWRnN6nCo9q4x3v5w6x8li00KNNdGWuclnKLFa2O0EdGg7F1zlUjJNu93h4/WM/GFWbs3l0X/H/Mep13O8PH6xn42qBuz+XRf8f8x6Zq8rN16Mv2jU7m8UFPUC5vFBT08dkzTcy8sk9SfxsRrLxj0n4oK3MfLJPUn8bEY2mWjjrqfiUnR6aE6vTR5kkAUOWUlJ7q6VycVZsiTJl0Q50wPI3hdfJ/nMqvdMyr+jWbeYjSaYEVGlkehzuYnEDrPIriO2x2Wxvnl0canK7ka0c5PxWMXxbpLRaHyymrnmvMBoDRzAUCtq0RwZ32cuvSt2UTo14IU98S4PjRGeTjOIS5IX1hvLzoxjPNyt/qOtE5kXPcryMDmm12htQQ5kLTyggtfJ8WjrOpSb6u90ExYdHGYdbfmNBXJ47htL5kdnudSmM1UnIivensN4uhmbIzSDiOQjlaelRnSLg96ShmLyidWDVm25stnEkZq1wBrq1g89cFwbbnt5+n5oOyNygEUu8yHwchoK6GvOA6jo2I0nu136przHAr0VVvNjqW/uOxnrWUdI72YeNwfaFMZICKtIPQaobtETm8YEKLvzmmrSQeY0WmvG4c1rcMEkMw5SSN44DxsO0YIhbON7DncEUBNTSldZV4yTNYzUtjo5oIocVRXnkTY5qkx5jj+tHwD1jinYr0OB0J1LSe5MoxlujM703MJ21NnkbIPNdwHdR4p9iGbXDa7MaTMez7Yq3qdo2FbkvMkbXCjgCDpBFRsWMqIvYUnwcH5ehjF1360Tx54IpIwkjHQ8cibddt0ctsidG4OG8Uw5PCPwI0haLeO59YpXBzWb04HOrGaCoNcWcXYAgrLXcxtj3B9mLJQ1hbm1zH6ScA7gnTrCrGpxTQvKiyEHHc0u5vFBT1BuphbGA4UOoqcmTqmZ7mHlknqT+NiKbTx3faPxKFdy/y2T1J/GxFNp47vtH4lJVemhCv00cXFeWMLnADSTTancVUX1ehiZmsPDcCK8rQcCRz0qAolJRWWQ2VWXN+b/KIYz4KHgimh7xgXdA0Dr1oUfErF0S4viSTucnlitmZPLKx8Ss8lMl3Wy1hmIjbw5XDkbqHOdA6zyKPJGmgt80QO9SSR1xOY9za00VocUxXPr1MUkpZlsb5DA1jA1gDWtAa0DQABQAKqyjubf4CBx28Jh5/NPMfksVkyhtn7TP/ABZPmtsyQmc+7LM55LnOhYXOcSSSWipJOkp3w2pxZ1Kr435jgzCRxBIOBBoQeQjSFwfIjDdAuHNP0iMYHCUDkOgP69B56a0CukXFnS65aWKWJwlhnuSRabkNlJ9Ig3t58LGADrezQH9PIf7rKXyLrdd8Ps9obLHpacRyOaeM08xCYom65Z9itV3Lln2N3c0EY4qvtVxxP0VaebRsXKO/A+zsnho+NwqRoLeQg84NQV1s9+wu0nNOp2jboXVbi9zquUJbla3Jt4mbUhzK1J0GgxpT2J8sLdmxNjGlxzj9lv8AemxELXAioxXK02SOQUkaHDnFdmpQ4dGkQ6/C1H3M4s96zRHwb3N5tI62nBXFiy/IwnZX6zMD90/NWF4ZERuxicWHUeE35+1Cl65L2qKpLC5vnM4Q6xpGxLtWQ2E2ratg+u/KKzTYRyNzvNdwXbDp6lZLDJnez2FT7sywtkBAjkLxoDH8McwFcR1FEeJ+5BHjfaSNkSXOzOeY2mQAOzQXAaA6mIHNVcL2vFtns0kz9EbHSHnzRWnWcOtOHQz0yc9+LrQQNDRTrOJ/op6rrmFWFx0uOcekqxQSZjuXeWyepP42IptPHd9o/EoU3LfLZPUn+YxFdq47vtH4lJVemhCv00Q7VaAxhceT2nkCE7Q4veXO0n/KIntN2Pnka0OAFdFCceUnHUu/+g3emH8M9pJ8RXdY8Qj0X6JUHLYCXxKPJGjt2QDj/vN/hntLk/c5cf8Afb/DPbWMeFv+3+iron2M/lYocrVor9zJ5/32/wAI9tcX7lLz/wCQ3+Ee2moUWLdf0YS4ex+39GaSNW5ZIvpdNl9RH+EIRduQyH/yW/wT20dXVdZhscUOcHb2xsZdSlc0UrTGidqjKO5twtM65NyXsS5ImyRFrwC1wLXA6CDgVjGUl0ustpcytWnhRu85h0dY0HoWzWt9GYcuCFcpLjbaoc0nNc05zH0rTWCOUEf0UX161+Tbia9a6bmVOkXF70Xv3On+nb/DPbTxbmodptbWnnhdTbviVVUjm8mx+39HPc7ypEMxs8x8DMaCuhkhwB6HaD1IuvG73MmzBjnHgc4JwQ+Nxx5FRa2H/wDE/wD0Wh3PYZI7Oxloe2Z7BTfMzNJpxSQSeFTlrimoQljDHaK7NOma/TOd42gWaycHSAGN+0eX4lUdly2c3CZgcPObgdhw+CvL7uf6Q0DPLc2pGFQSdaDryyatMdTmZ41s4Xs0+xTY5J9NjW12ReY7BlYcobNLgyQA+a7gu2HT1KyWNzH/ADUpFiyptUHEkJaP1X8JvtxHUQqriPuRnHjMeZGlXnk7ZrQPCxtJ84cF33hjtQ9ZdzeOO1xytkJYx2eWPAJqMW0cOenIuV27p0ZoLRGWfWZwm9bdI6qoyslrZLG18ZzmuFWnEVHWtFy7OqNkqbnlbnZZ7uz31vdgbA08Kd+Pq46OO1xYNq0JYXuw23fLyAGhkW9jpD3Z3trsWktg4qemt/k2W5vFBT1AubxQU9WGTL9yzy2T1J/mMRVauO77R+JQnuV+WyepP8xiLLVx3faPxKSr9NHPr9JEy44KvLtQoOk/2+KulFu2DNiGs8I9f9qKUm4LCHa1iIkkklYuMV4L17ovDo9SCBCccq9tcDoUWRpC7Dgs6q9aghM6qNNYGO5uj5KMLe4acV3jvNh08Hp0bVGUyNSe5AtN0vHFo72FVM7C00cCDz4Iva4EYYrzLC1wo4AjnFVVwzsUlUnsBbLY9hqxxb0HDrGhFdktLhZg+bTm55wphpGGulFFtGTcTiC0luNSNII1Y6E2Uwk+jZsTS6pAdQVo0Y6NirFOOWysYygm2drHf9nk4rwD5ruCfbp6lYrKZtOOldLJlFaIfFyGnmu4Tdh0dVFRX9zJcVjzI0S8Lks848LG0nztDvvDFCd67m1amzyfuyf0ePku1g3RmaLRGW/WZwh1tOOyqJ7vvqzzjwMjX8wPCHS04q38dhfFN3+dTJ35IWsWhkckTm57wzPHCaKnE5wwwGOK2GzwNYxrGijWtDGjUGigGwLokrV1KvOC1NEas49yJe14CCzvkd+qMOck0aNpCwDLdxNoYTid7JPSXvWnbqV75rILODjJK2R/2WOGaOtxr+4s63QLJmSQE6XwF56N9kA9gCJPOUKcXPVlL2wblc3igp6gXN4oKetTpmWblR/TZPUH+YxGbYc+0Fv1zXoBNUF7lB/TpPUH+YxaHdsPhJHfWLRtqf6JWpZihGhZgl+SxSSSTQ8JMSnTEIAbPTgrm8Li4qMkZJa8SxBwoU0BObiubbcyuOCAyiJPdzv1cfYVWztIOII6USNcDoxTPjBFCARz4qrjko687Ao20uaatJHQpcOUjm8docNYwPyU+03FG7iktO0bCqW2XFM3QM4a2/LSs2pR2MWpw2CWxW1srM5laVpiKYhSFWWqQWaxYaWtzRzvPLtJKC7Pfc8XEeaeaeE3YdHUrSs04yXlbowpB5bbqhmHhGNdz0oepwxQzeW5+DjBJT6r8R94YjYV7sWXrdE7CPrMx2tP9CiGwX1BN4qRrjqrR33Tio/jsI/it/zqZXe2T9pgqZI3U84cJu0aOtUZkIdUEgjEEaeohb6qe2ZJ2OWQPdE0ODg+reDUg14QGB61jPhvtYrZwX2s75P2eVljibM5z5M0FxcSTU40JOmladSsUlVZU3t9GsMsvK1hDftu4LfaQmvKh/pCP6MoynvD6XfdAeCJmWdh04NeGlw/eLjsXrdpjDbbABgBZg0DUBI8BVOS8dbZE48kse0yNVxu3eXw/wDH/MkS1UtWo40Za65yfdGs3N4oKeoFzeKCnps7hlW5P5dJ6g/zGLUoYs0U5ydpJWFZOZSSWKV0kbWOLmb2Q6tKVDq4EY4Ih77lq9FB/wB+0lKrIxjhnOovhCGGauksm77tq9FB7ztJu+9avRQe87S150Tf6us1pJZJ34LX6KD3naTd+G1+ig952lPNiH1dXc1xeHwgrJe/Fa/RQe87Sbvx2v0UHvO0jmxI+rqNalacyjdVFWPsz/NKzfvyWv0UHvO0m78tr9FZ/edpDnFlXxVT9zRBBMDVocOhSYrXaBxoy7ooCsx781r9FZ/edpN357X6Gz+87SjUu5C4mpbNmvQzZw4rm8zhRdFjnfotnobP7ztJu/TbPQ2f3naV9aL/AFlXc1612Nkrc2RocNNOfWhy8MiGnGF+afNfiPvDEe1AffqtnobP7ztpu/XbPQ2f3nbVZaJbmcuIoluXFryWtjXU3ou52kEfFQn5M26tRBJXq+aid+u2ehs/vO2m79ls9DZ/edtYuqD92Lt0P3YQ3fbL7hoN6kkb5sgDv+2dne1HFz2yWWEOmiML6kFhIdo5ajkKyXv2Wz0Nn9520u/bbPQ2f3nbWsEo+7Nq764f7mzaFn+6s+eRkUEMUjwSZXlkb3DDgsBLRzuNOYIX79ts9DZ/edtN37rZ6Gz+87atJqSwTbxFVkXHOPg85PXLaGTQ50Mo8LG41ikFPCN0mmpe927y+H/j/mSJu/dbPQ2f3nbQtlZlZLb5myStYwsZvYDM6hFS6pziccVlCCgn13E/44VuMXnOPY+g7m8UFPUC5vFBT0ydwhy3WxxqQvHcaPUp6SAIHcaPUl3Gj1KekgCB3Gj1Jdxo9SnpIAgdxo9SXcaPUp6SAIHcaPUl3Gj1KekgCB3Gj1Jdxo9SnpIAgdxo9SXcaPUp6SAIHcaPUl3Gj1KekgCB3Gj1Jdxo9SnpIAgdxo9SXcaPUp6SAIHcaPUl3Gj1KekgCB3Gj1Jdxo9SnpIA8QxBooF7SSQB/9k="/>
          <p:cNvSpPr>
            <a:spLocks noChangeAspect="1" noChangeArrowheads="1"/>
          </p:cNvSpPr>
          <p:nvPr/>
        </p:nvSpPr>
        <p:spPr bwMode="auto">
          <a:xfrm>
            <a:off x="63500" y="-695325"/>
            <a:ext cx="1438275" cy="1438275"/>
          </a:xfrm>
          <a:prstGeom prst="rect">
            <a:avLst/>
          </a:prstGeom>
          <a:noFill/>
        </p:spPr>
        <p:txBody>
          <a:bodyPr vert="horz" wrap="square" lIns="91440" tIns="45720" rIns="91440" bIns="45720" numCol="1" anchor="t" anchorCtr="0" compatLnSpc="1">
            <a:prstTxWarp prst="textNoShape">
              <a:avLst/>
            </a:prstTxWarp>
          </a:bodyPr>
          <a:lstStyle/>
          <a:p>
            <a:endParaRPr lang="en-AU" dirty="0">
              <a:latin typeface="Helvetica" pitchFamily="34" charset="0"/>
            </a:endParaRPr>
          </a:p>
        </p:txBody>
      </p:sp>
      <p:pic>
        <p:nvPicPr>
          <p:cNvPr id="54287" name="Picture 15" descr="http://cybernetnews.com/wp-content/uploads/2009/09/Excel.png"/>
          <p:cNvPicPr>
            <a:picLocks noChangeAspect="1" noChangeArrowheads="1"/>
          </p:cNvPicPr>
          <p:nvPr/>
        </p:nvPicPr>
        <p:blipFill>
          <a:blip r:embed="rId6" cstate="print"/>
          <a:srcRect/>
          <a:stretch>
            <a:fillRect/>
          </a:stretch>
        </p:blipFill>
        <p:spPr bwMode="auto">
          <a:xfrm>
            <a:off x="6084168" y="3837672"/>
            <a:ext cx="936104" cy="936104"/>
          </a:xfrm>
          <a:prstGeom prst="rect">
            <a:avLst/>
          </a:prstGeom>
          <a:noFill/>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42860"/>
            <a:ext cx="7467600" cy="1143000"/>
          </a:xfrm>
        </p:spPr>
        <p:txBody>
          <a:bodyPr>
            <a:normAutofit/>
          </a:bodyPr>
          <a:lstStyle/>
          <a:p>
            <a:r>
              <a:rPr lang="en-US" sz="3400" b="1" dirty="0" smtClean="0">
                <a:solidFill>
                  <a:srgbClr val="FF6600"/>
                </a:solidFill>
                <a:latin typeface="Helvetica" pitchFamily="34" charset="0"/>
              </a:rPr>
              <a:t>Software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buNone/>
            </a:pPr>
            <a:r>
              <a:rPr lang="en-US" sz="2200" dirty="0" smtClean="0">
                <a:latin typeface="Helvetica" pitchFamily="34" charset="0"/>
              </a:rPr>
              <a:t> </a:t>
            </a:r>
            <a:endParaRPr lang="en-AU" sz="2400" b="1" dirty="0" smtClean="0"/>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a:t>
            </a:fld>
            <a:endParaRPr lang="en-US" dirty="0"/>
          </a:p>
        </p:txBody>
      </p:sp>
      <p:pic>
        <p:nvPicPr>
          <p:cNvPr id="151554" name="Picture 2" descr="http://myfirstmac.com/images/uploads/articleImages/windows-mac-programs1.jpg"/>
          <p:cNvPicPr>
            <a:picLocks noChangeAspect="1" noChangeArrowheads="1"/>
          </p:cNvPicPr>
          <p:nvPr/>
        </p:nvPicPr>
        <p:blipFill>
          <a:blip r:embed="rId3" cstate="print"/>
          <a:stretch>
            <a:fillRect/>
          </a:stretch>
        </p:blipFill>
        <p:spPr bwMode="auto">
          <a:xfrm>
            <a:off x="2357422" y="1142984"/>
            <a:ext cx="4191000" cy="4610100"/>
          </a:xfrm>
          <a:prstGeom prst="rect">
            <a:avLst/>
          </a:prstGeom>
          <a:noFill/>
          <a:ln>
            <a:noFill/>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Hospitality documents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Types of hospitality specific documents</a:t>
            </a:r>
          </a:p>
          <a:p>
            <a:pPr>
              <a:spcBef>
                <a:spcPts val="600"/>
              </a:spcBef>
              <a:spcAft>
                <a:spcPts val="1200"/>
              </a:spcAft>
            </a:pPr>
            <a:r>
              <a:rPr lang="en-AU" sz="2200" dirty="0" smtClean="0">
                <a:latin typeface="Helvetica" pitchFamily="34" charset="0"/>
              </a:rPr>
              <a:t>Guest mail</a:t>
            </a:r>
          </a:p>
          <a:p>
            <a:pPr>
              <a:spcBef>
                <a:spcPts val="600"/>
              </a:spcBef>
              <a:spcAft>
                <a:spcPts val="1200"/>
              </a:spcAft>
            </a:pPr>
            <a:r>
              <a:rPr lang="en-AU" sz="2200" dirty="0" smtClean="0">
                <a:latin typeface="Helvetica" pitchFamily="34" charset="0"/>
              </a:rPr>
              <a:t>Customer records</a:t>
            </a:r>
          </a:p>
          <a:p>
            <a:pPr>
              <a:spcBef>
                <a:spcPts val="600"/>
              </a:spcBef>
              <a:spcAft>
                <a:spcPts val="1200"/>
              </a:spcAft>
            </a:pPr>
            <a:r>
              <a:rPr lang="en-AU" sz="2200" dirty="0" smtClean="0">
                <a:latin typeface="Helvetica" pitchFamily="34" charset="0"/>
              </a:rPr>
              <a:t>Incoming and outgoing correspondence, </a:t>
            </a:r>
            <a:br>
              <a:rPr lang="en-AU" sz="2200" dirty="0" smtClean="0">
                <a:latin typeface="Helvetica" pitchFamily="34" charset="0"/>
              </a:rPr>
            </a:br>
            <a:r>
              <a:rPr lang="en-AU" sz="2200" dirty="0" smtClean="0">
                <a:latin typeface="Helvetica" pitchFamily="34" charset="0"/>
              </a:rPr>
              <a:t>letters, facsimiles, memos, reports</a:t>
            </a:r>
          </a:p>
          <a:p>
            <a:pPr>
              <a:spcBef>
                <a:spcPts val="600"/>
              </a:spcBef>
              <a:spcAft>
                <a:spcPts val="1200"/>
              </a:spcAft>
            </a:pPr>
            <a:r>
              <a:rPr lang="en-AU" sz="2200" dirty="0" smtClean="0">
                <a:latin typeface="Helvetica" pitchFamily="34" charset="0"/>
              </a:rPr>
              <a:t>Menus </a:t>
            </a:r>
          </a:p>
          <a:p>
            <a:pPr>
              <a:spcBef>
                <a:spcPts val="600"/>
              </a:spcBef>
              <a:spcAft>
                <a:spcPts val="1200"/>
              </a:spcAft>
            </a:pPr>
            <a:r>
              <a:rPr lang="en-AU" sz="2200" dirty="0" smtClean="0">
                <a:latin typeface="Helvetica" pitchFamily="34" charset="0"/>
              </a:rPr>
              <a:t>Banquet orders</a:t>
            </a:r>
          </a:p>
          <a:p>
            <a:pPr>
              <a:spcBef>
                <a:spcPts val="600"/>
              </a:spcBef>
              <a:spcAft>
                <a:spcPts val="1200"/>
              </a:spcAft>
            </a:pPr>
            <a:r>
              <a:rPr lang="en-AU" sz="2200" dirty="0" smtClean="0">
                <a:latin typeface="Helvetica" pitchFamily="34" charset="0"/>
              </a:rPr>
              <a:t>Financial records, invoices, and receipts</a:t>
            </a:r>
          </a:p>
          <a:p>
            <a:endParaRPr lang="en-AU"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a:t>
            </a:fld>
            <a:endParaRPr lang="en-US" dirty="0"/>
          </a:p>
        </p:txBody>
      </p:sp>
      <p:pic>
        <p:nvPicPr>
          <p:cNvPr id="6" name="Picture 5" descr="C:\Documents and Settings\danielc\Desktop\Produce docs reports worksheet\466101_sorter.jpg"/>
          <p:cNvPicPr/>
          <p:nvPr/>
        </p:nvPicPr>
        <p:blipFill>
          <a:blip r:embed="rId3" cstate="print"/>
          <a:srcRect/>
          <a:stretch>
            <a:fillRect/>
          </a:stretch>
        </p:blipFill>
        <p:spPr bwMode="auto">
          <a:xfrm>
            <a:off x="6736845" y="2717275"/>
            <a:ext cx="1335617" cy="1354667"/>
          </a:xfrm>
          <a:prstGeom prst="rect">
            <a:avLst/>
          </a:prstGeom>
          <a:noFill/>
          <a:ln w="9525">
            <a:noFill/>
            <a:miter lim="800000"/>
            <a:headEnd/>
            <a:tailEnd/>
          </a:ln>
        </p:spPr>
      </p:pic>
      <p:pic>
        <p:nvPicPr>
          <p:cNvPr id="8" name="Picture 1" descr="C:\Documents and Settings\danielc\Desktop\Produce docs reports worksheet\1152597_paid_invoice.jpg"/>
          <p:cNvPicPr>
            <a:picLocks noChangeAspect="1" noChangeArrowheads="1"/>
          </p:cNvPicPr>
          <p:nvPr/>
        </p:nvPicPr>
        <p:blipFill>
          <a:blip r:embed="rId4" cstate="print"/>
          <a:srcRect/>
          <a:stretch>
            <a:fillRect/>
          </a:stretch>
        </p:blipFill>
        <p:spPr bwMode="auto">
          <a:xfrm>
            <a:off x="6429388" y="4643446"/>
            <a:ext cx="1728780" cy="1152520"/>
          </a:xfrm>
          <a:prstGeom prst="rect">
            <a:avLst/>
          </a:prstGeom>
          <a:noFill/>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Generic documents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Types of  generic documents</a:t>
            </a:r>
          </a:p>
          <a:p>
            <a:pPr>
              <a:spcBef>
                <a:spcPts val="600"/>
              </a:spcBef>
              <a:spcAft>
                <a:spcPts val="1200"/>
              </a:spcAft>
            </a:pPr>
            <a:r>
              <a:rPr lang="en-AU" sz="2200" dirty="0" smtClean="0">
                <a:latin typeface="Helvetica" pitchFamily="34" charset="0"/>
              </a:rPr>
              <a:t>Memos</a:t>
            </a:r>
          </a:p>
          <a:p>
            <a:pPr>
              <a:spcBef>
                <a:spcPts val="600"/>
              </a:spcBef>
              <a:spcAft>
                <a:spcPts val="1200"/>
              </a:spcAft>
            </a:pPr>
            <a:r>
              <a:rPr lang="en-AU" sz="2200" dirty="0" smtClean="0">
                <a:latin typeface="Helvetica" pitchFamily="34" charset="0"/>
              </a:rPr>
              <a:t>Faxes  </a:t>
            </a:r>
          </a:p>
          <a:p>
            <a:pPr>
              <a:spcBef>
                <a:spcPts val="600"/>
              </a:spcBef>
              <a:spcAft>
                <a:spcPts val="1200"/>
              </a:spcAft>
            </a:pPr>
            <a:r>
              <a:rPr lang="en-AU" sz="2200" dirty="0" smtClean="0">
                <a:latin typeface="Helvetica" pitchFamily="34" charset="0"/>
              </a:rPr>
              <a:t>Letters</a:t>
            </a:r>
          </a:p>
          <a:p>
            <a:pPr>
              <a:spcBef>
                <a:spcPts val="600"/>
              </a:spcBef>
              <a:spcAft>
                <a:spcPts val="1200"/>
              </a:spcAft>
            </a:pPr>
            <a:r>
              <a:rPr lang="en-AU" sz="2200" dirty="0" smtClean="0">
                <a:latin typeface="Helvetica" pitchFamily="34" charset="0"/>
              </a:rPr>
              <a:t>Envelopes</a:t>
            </a:r>
          </a:p>
          <a:p>
            <a:pPr>
              <a:spcBef>
                <a:spcPts val="600"/>
              </a:spcBef>
              <a:spcAft>
                <a:spcPts val="1200"/>
              </a:spcAft>
            </a:pPr>
            <a:r>
              <a:rPr lang="en-AU" sz="2200" dirty="0" smtClean="0">
                <a:latin typeface="Helvetica" pitchFamily="34" charset="0"/>
              </a:rPr>
              <a:t>Agendas </a:t>
            </a:r>
          </a:p>
          <a:p>
            <a:endParaRPr lang="en-AU"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a:t>
            </a:fld>
            <a:endParaRPr lang="en-US" dirty="0"/>
          </a:p>
        </p:txBody>
      </p:sp>
      <p:pic>
        <p:nvPicPr>
          <p:cNvPr id="6" name="Picture 5" descr="35005.JPG"/>
          <p:cNvPicPr/>
          <p:nvPr/>
        </p:nvPicPr>
        <p:blipFill>
          <a:blip r:embed="rId3" cstate="print"/>
          <a:stretch>
            <a:fillRect/>
          </a:stretch>
        </p:blipFill>
        <p:spPr>
          <a:xfrm>
            <a:off x="6357950" y="2643182"/>
            <a:ext cx="1424940" cy="1819275"/>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Generic documents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Types of generic documents</a:t>
            </a:r>
          </a:p>
          <a:p>
            <a:pPr>
              <a:spcBef>
                <a:spcPts val="600"/>
              </a:spcBef>
              <a:spcAft>
                <a:spcPts val="1200"/>
              </a:spcAft>
            </a:pPr>
            <a:r>
              <a:rPr lang="en-AU" sz="2200" dirty="0" smtClean="0">
                <a:latin typeface="Helvetica" pitchFamily="34" charset="0"/>
              </a:rPr>
              <a:t>Minutes</a:t>
            </a:r>
          </a:p>
          <a:p>
            <a:pPr>
              <a:spcBef>
                <a:spcPts val="600"/>
              </a:spcBef>
              <a:spcAft>
                <a:spcPts val="1200"/>
              </a:spcAft>
            </a:pPr>
            <a:r>
              <a:rPr lang="en-AU" sz="2200" dirty="0" smtClean="0">
                <a:latin typeface="Helvetica" pitchFamily="34" charset="0"/>
              </a:rPr>
              <a:t>Briefing papers</a:t>
            </a:r>
          </a:p>
          <a:p>
            <a:pPr>
              <a:spcBef>
                <a:spcPts val="600"/>
              </a:spcBef>
              <a:spcAft>
                <a:spcPts val="1200"/>
              </a:spcAft>
            </a:pPr>
            <a:r>
              <a:rPr lang="en-AU" sz="2200" dirty="0" smtClean="0">
                <a:latin typeface="Helvetica" pitchFamily="34" charset="0"/>
              </a:rPr>
              <a:t>Short report</a:t>
            </a:r>
          </a:p>
          <a:p>
            <a:pPr>
              <a:spcBef>
                <a:spcPts val="600"/>
              </a:spcBef>
              <a:spcAft>
                <a:spcPts val="1200"/>
              </a:spcAft>
            </a:pPr>
            <a:r>
              <a:rPr lang="en-AU" sz="2200" dirty="0" smtClean="0">
                <a:latin typeface="Helvetica" pitchFamily="34" charset="0"/>
              </a:rPr>
              <a:t>Long report</a:t>
            </a:r>
          </a:p>
          <a:p>
            <a:pPr>
              <a:spcBef>
                <a:spcPts val="600"/>
              </a:spcBef>
              <a:spcAft>
                <a:spcPts val="1200"/>
              </a:spcAft>
            </a:pPr>
            <a:r>
              <a:rPr lang="en-AU" sz="2200" dirty="0" smtClean="0">
                <a:latin typeface="Helvetica" pitchFamily="34" charset="0"/>
              </a:rPr>
              <a:t>Simple one page flyers</a:t>
            </a:r>
          </a:p>
          <a:p>
            <a:endParaRPr lang="en-AU" sz="2400" dirty="0" smtClean="0"/>
          </a:p>
          <a:p>
            <a:endParaRPr lang="en-AU"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a:t>
            </a:fld>
            <a:endParaRPr lang="en-US" dirty="0"/>
          </a:p>
        </p:txBody>
      </p:sp>
      <p:pic>
        <p:nvPicPr>
          <p:cNvPr id="7" name="Picture 6" descr="MP900409009.JPG"/>
          <p:cNvPicPr/>
          <p:nvPr/>
        </p:nvPicPr>
        <p:blipFill>
          <a:blip r:embed="rId3" cstate="print"/>
          <a:stretch>
            <a:fillRect/>
          </a:stretch>
        </p:blipFill>
        <p:spPr>
          <a:xfrm>
            <a:off x="6000760" y="2571744"/>
            <a:ext cx="2000746" cy="1863080"/>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Potential audiences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marL="0">
              <a:spcBef>
                <a:spcPts val="600"/>
              </a:spcBef>
              <a:spcAft>
                <a:spcPts val="1200"/>
              </a:spcAft>
              <a:buNone/>
            </a:pPr>
            <a:r>
              <a:rPr lang="en-AU" sz="2200" dirty="0" smtClean="0">
                <a:latin typeface="Helvetica" pitchFamily="34" charset="0"/>
              </a:rPr>
              <a:t>Potential audiences for the wide range of documents includes:</a:t>
            </a:r>
          </a:p>
          <a:p>
            <a:pPr>
              <a:spcBef>
                <a:spcPts val="600"/>
              </a:spcBef>
              <a:spcAft>
                <a:spcPts val="1200"/>
              </a:spcAft>
            </a:pPr>
            <a:r>
              <a:rPr lang="en-AU" sz="2200" dirty="0" smtClean="0">
                <a:latin typeface="Helvetica" pitchFamily="34" charset="0"/>
              </a:rPr>
              <a:t>Customers, guests and those who attend parties, conferences and seminars </a:t>
            </a:r>
          </a:p>
          <a:p>
            <a:pPr lvl="0">
              <a:spcBef>
                <a:spcPts val="600"/>
              </a:spcBef>
              <a:spcAft>
                <a:spcPts val="1200"/>
              </a:spcAft>
            </a:pPr>
            <a:r>
              <a:rPr lang="en-AU" sz="2200" dirty="0" smtClean="0">
                <a:latin typeface="Helvetica" pitchFamily="34" charset="0"/>
              </a:rPr>
              <a:t>Staff </a:t>
            </a:r>
          </a:p>
          <a:p>
            <a:pPr lvl="0">
              <a:spcBef>
                <a:spcPts val="600"/>
              </a:spcBef>
              <a:spcAft>
                <a:spcPts val="1200"/>
              </a:spcAft>
            </a:pPr>
            <a:r>
              <a:rPr lang="en-AU" sz="2200" dirty="0" smtClean="0">
                <a:latin typeface="Helvetica" pitchFamily="34" charset="0"/>
              </a:rPr>
              <a:t>Suppliers </a:t>
            </a:r>
          </a:p>
          <a:p>
            <a:pPr lvl="0">
              <a:spcBef>
                <a:spcPts val="600"/>
              </a:spcBef>
              <a:spcAft>
                <a:spcPts val="1200"/>
              </a:spcAft>
            </a:pPr>
            <a:r>
              <a:rPr lang="en-AU" sz="2200" dirty="0" smtClean="0">
                <a:latin typeface="Helvetica" pitchFamily="34" charset="0"/>
              </a:rPr>
              <a:t>Media </a:t>
            </a:r>
          </a:p>
          <a:p>
            <a:pPr lvl="0">
              <a:spcBef>
                <a:spcPts val="600"/>
              </a:spcBef>
              <a:spcAft>
                <a:spcPts val="1200"/>
              </a:spcAft>
            </a:pPr>
            <a:r>
              <a:rPr lang="en-AU" sz="2200" dirty="0" smtClean="0">
                <a:latin typeface="Helvetica" pitchFamily="34" charset="0"/>
              </a:rPr>
              <a:t>Agencies </a:t>
            </a:r>
          </a:p>
          <a:p>
            <a:pPr>
              <a:spcBef>
                <a:spcPts val="600"/>
              </a:spcBef>
              <a:spcAft>
                <a:spcPts val="1200"/>
              </a:spcAft>
            </a:pPr>
            <a:r>
              <a:rPr lang="en-AU" sz="2200" dirty="0" smtClean="0">
                <a:latin typeface="Helvetica" pitchFamily="34" charset="0"/>
              </a:rPr>
              <a:t>Government bodies </a:t>
            </a:r>
          </a:p>
          <a:p>
            <a:endParaRPr lang="en-AU" sz="2400" dirty="0" smtClean="0"/>
          </a:p>
          <a:p>
            <a:endParaRPr lang="en-AU"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a:t>
            </a:fld>
            <a:endParaRPr lang="en-US" dirty="0"/>
          </a:p>
        </p:txBody>
      </p:sp>
      <p:pic>
        <p:nvPicPr>
          <p:cNvPr id="39937" name="Picture 1" descr="C:\Documents and Settings\danielc\Desktop\Produce docs reports worksheet\781615_caterers_at_work_1.jpg"/>
          <p:cNvPicPr>
            <a:picLocks noChangeAspect="1" noChangeArrowheads="1"/>
          </p:cNvPicPr>
          <p:nvPr/>
        </p:nvPicPr>
        <p:blipFill>
          <a:blip r:embed="rId3" cstate="print"/>
          <a:srcRect/>
          <a:stretch>
            <a:fillRect/>
          </a:stretch>
        </p:blipFill>
        <p:spPr bwMode="auto">
          <a:xfrm>
            <a:off x="6072198" y="4643446"/>
            <a:ext cx="1928790" cy="1350176"/>
          </a:xfrm>
          <a:prstGeom prst="rect">
            <a:avLst/>
          </a:prstGeom>
          <a:noFill/>
        </p:spPr>
      </p:pic>
      <p:pic>
        <p:nvPicPr>
          <p:cNvPr id="39938" name="Picture 2" descr="C:\Documents and Settings\danielc\Desktop\Produce docs reports worksheet\1156735_meeting.jpg"/>
          <p:cNvPicPr>
            <a:picLocks noChangeAspect="1" noChangeArrowheads="1"/>
          </p:cNvPicPr>
          <p:nvPr/>
        </p:nvPicPr>
        <p:blipFill>
          <a:blip r:embed="rId4" cstate="print"/>
          <a:srcRect/>
          <a:stretch>
            <a:fillRect/>
          </a:stretch>
        </p:blipFill>
        <p:spPr bwMode="auto">
          <a:xfrm>
            <a:off x="6072198" y="3214686"/>
            <a:ext cx="1934033" cy="1321589"/>
          </a:xfrm>
          <a:prstGeom prst="rect">
            <a:avLst/>
          </a:prstGeom>
          <a:noFill/>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Document processing tasks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AU" sz="2200" dirty="0" smtClean="0">
                <a:latin typeface="Helvetica" pitchFamily="34" charset="0"/>
              </a:rPr>
              <a:t>Recording receipt or sending of documents</a:t>
            </a:r>
          </a:p>
          <a:p>
            <a:pPr>
              <a:spcBef>
                <a:spcPts val="600"/>
              </a:spcBef>
              <a:spcAft>
                <a:spcPts val="1200"/>
              </a:spcAft>
            </a:pPr>
            <a:r>
              <a:rPr lang="en-AU" sz="2200" dirty="0" smtClean="0">
                <a:latin typeface="Helvetica" pitchFamily="34" charset="0"/>
              </a:rPr>
              <a:t>Mailing (including bulk mailing)</a:t>
            </a:r>
          </a:p>
          <a:p>
            <a:pPr>
              <a:spcBef>
                <a:spcPts val="600"/>
              </a:spcBef>
              <a:spcAft>
                <a:spcPts val="1200"/>
              </a:spcAft>
            </a:pPr>
            <a:r>
              <a:rPr lang="en-AU" sz="2200" dirty="0" smtClean="0">
                <a:latin typeface="Helvetica" pitchFamily="34" charset="0"/>
              </a:rPr>
              <a:t>Photocopying </a:t>
            </a:r>
          </a:p>
          <a:p>
            <a:pPr>
              <a:spcBef>
                <a:spcPts val="600"/>
              </a:spcBef>
              <a:spcAft>
                <a:spcPts val="1200"/>
              </a:spcAft>
            </a:pPr>
            <a:r>
              <a:rPr lang="en-AU" sz="2200" dirty="0" smtClean="0">
                <a:latin typeface="Helvetica" pitchFamily="34" charset="0"/>
              </a:rPr>
              <a:t>Faxing </a:t>
            </a:r>
          </a:p>
          <a:p>
            <a:pPr>
              <a:spcBef>
                <a:spcPts val="600"/>
              </a:spcBef>
              <a:spcAft>
                <a:spcPts val="1200"/>
              </a:spcAft>
            </a:pPr>
            <a:r>
              <a:rPr lang="en-AU" sz="2200" dirty="0" smtClean="0">
                <a:latin typeface="Helvetica" pitchFamily="34" charset="0"/>
              </a:rPr>
              <a:t>E-mailing </a:t>
            </a:r>
          </a:p>
          <a:p>
            <a:pPr>
              <a:spcBef>
                <a:spcPts val="600"/>
              </a:spcBef>
              <a:spcAft>
                <a:spcPts val="1200"/>
              </a:spcAft>
            </a:pPr>
            <a:r>
              <a:rPr lang="en-AU" sz="2200" dirty="0" smtClean="0">
                <a:latin typeface="Helvetica" pitchFamily="34" charset="0"/>
              </a:rPr>
              <a:t>Collating and binding</a:t>
            </a:r>
          </a:p>
          <a:p>
            <a:pPr>
              <a:spcBef>
                <a:spcPts val="600"/>
              </a:spcBef>
              <a:spcAft>
                <a:spcPts val="1200"/>
              </a:spcAft>
            </a:pPr>
            <a:r>
              <a:rPr lang="en-AU" sz="2200" dirty="0" smtClean="0">
                <a:latin typeface="Helvetica" pitchFamily="34" charset="0"/>
              </a:rPr>
              <a:t>Banking</a:t>
            </a:r>
            <a:endParaRPr lang="en-AU"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a:t>
            </a:fld>
            <a:endParaRPr lang="en-US" dirty="0"/>
          </a:p>
        </p:txBody>
      </p:sp>
      <p:pic>
        <p:nvPicPr>
          <p:cNvPr id="37889" name="Picture 1" descr="C:\Documents and Settings\danielc\Local Settings\Temporary Internet Files\Content.IE5\XGIII3N1\MC900323154[1].wmf"/>
          <p:cNvPicPr>
            <a:picLocks noChangeAspect="1" noChangeArrowheads="1"/>
          </p:cNvPicPr>
          <p:nvPr/>
        </p:nvPicPr>
        <p:blipFill>
          <a:blip r:embed="rId3" cstate="print"/>
          <a:srcRect/>
          <a:stretch>
            <a:fillRect/>
          </a:stretch>
        </p:blipFill>
        <p:spPr bwMode="auto">
          <a:xfrm>
            <a:off x="5643570" y="2214554"/>
            <a:ext cx="2470087" cy="2782432"/>
          </a:xfrm>
          <a:prstGeom prst="rect">
            <a:avLst/>
          </a:prstGeom>
          <a:noFill/>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Discuss format and presentation of document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Appropriate person</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There are a number of people who may need to approve the format and presentation used in preparing documents.</a:t>
            </a:r>
          </a:p>
          <a:p>
            <a:pPr lvl="0">
              <a:spcBef>
                <a:spcPts val="600"/>
              </a:spcBef>
              <a:spcAft>
                <a:spcPts val="1200"/>
              </a:spcAft>
            </a:pPr>
            <a:r>
              <a:rPr lang="en-AU" sz="2200" dirty="0" smtClean="0">
                <a:latin typeface="Helvetica" pitchFamily="34" charset="0"/>
              </a:rPr>
              <a:t>Supervisor</a:t>
            </a:r>
          </a:p>
          <a:p>
            <a:pPr lvl="0">
              <a:spcBef>
                <a:spcPts val="600"/>
              </a:spcBef>
              <a:spcAft>
                <a:spcPts val="1200"/>
              </a:spcAft>
            </a:pPr>
            <a:r>
              <a:rPr lang="en-AU" sz="2200" dirty="0" smtClean="0">
                <a:latin typeface="Helvetica" pitchFamily="34" charset="0"/>
              </a:rPr>
              <a:t>Originator of document</a:t>
            </a:r>
          </a:p>
          <a:p>
            <a:pPr lvl="0">
              <a:spcBef>
                <a:spcPts val="600"/>
              </a:spcBef>
              <a:spcAft>
                <a:spcPts val="1200"/>
              </a:spcAft>
            </a:pPr>
            <a:r>
              <a:rPr lang="en-AU" sz="2200" dirty="0" smtClean="0">
                <a:latin typeface="Helvetica" pitchFamily="34" charset="0"/>
              </a:rPr>
              <a:t>Project leader</a:t>
            </a:r>
          </a:p>
          <a:p>
            <a:pPr lvl="0">
              <a:spcBef>
                <a:spcPts val="600"/>
              </a:spcBef>
              <a:spcAft>
                <a:spcPts val="1200"/>
              </a:spcAft>
            </a:pPr>
            <a:r>
              <a:rPr lang="en-AU" sz="2200" dirty="0" smtClean="0">
                <a:latin typeface="Helvetica" pitchFamily="34" charset="0"/>
              </a:rPr>
              <a:t>Colleagues</a:t>
            </a:r>
          </a:p>
          <a:p>
            <a:pPr lvl="0">
              <a:spcBef>
                <a:spcPts val="600"/>
              </a:spcBef>
              <a:spcAft>
                <a:spcPts val="1200"/>
              </a:spcAft>
            </a:pPr>
            <a:r>
              <a:rPr lang="en-AU" sz="2200" dirty="0" smtClean="0">
                <a:latin typeface="Helvetica" pitchFamily="34" charset="0"/>
              </a:rPr>
              <a:t>Intended client – as an initial draft</a:t>
            </a:r>
          </a:p>
          <a:p>
            <a:endParaRPr lang="en-AU" sz="2400" dirty="0" smtClean="0"/>
          </a:p>
          <a:p>
            <a:endParaRPr lang="en-AU"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a:t>
            </a:fld>
            <a:endParaRPr lang="en-US" dirty="0"/>
          </a:p>
        </p:txBody>
      </p:sp>
      <p:pic>
        <p:nvPicPr>
          <p:cNvPr id="7" name="Picture 6" descr="MP900285031[1].JPG"/>
          <p:cNvPicPr/>
          <p:nvPr/>
        </p:nvPicPr>
        <p:blipFill>
          <a:blip r:embed="rId3" cstate="print"/>
          <a:stretch>
            <a:fillRect/>
          </a:stretch>
        </p:blipFill>
        <p:spPr>
          <a:xfrm>
            <a:off x="5929322" y="3357562"/>
            <a:ext cx="2136894" cy="1460748"/>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Discuss format and presentation of document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Procedures and standards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Who has responsibility for producing and handling documents</a:t>
            </a:r>
          </a:p>
          <a:p>
            <a:pPr lvl="0">
              <a:spcBef>
                <a:spcPts val="600"/>
              </a:spcBef>
              <a:spcAft>
                <a:spcPts val="1200"/>
              </a:spcAft>
            </a:pPr>
            <a:r>
              <a:rPr lang="en-AU" sz="2200" dirty="0" smtClean="0">
                <a:latin typeface="Helvetica" pitchFamily="34" charset="0"/>
              </a:rPr>
              <a:t>The writing style and format to be used </a:t>
            </a:r>
          </a:p>
          <a:p>
            <a:pPr lvl="0">
              <a:spcBef>
                <a:spcPts val="600"/>
              </a:spcBef>
              <a:spcAft>
                <a:spcPts val="1200"/>
              </a:spcAft>
            </a:pPr>
            <a:r>
              <a:rPr lang="en-AU" sz="2200" dirty="0" smtClean="0">
                <a:latin typeface="Helvetica" pitchFamily="34" charset="0"/>
              </a:rPr>
              <a:t>Who has authority for authorising and signing documents </a:t>
            </a:r>
          </a:p>
          <a:p>
            <a:pPr lvl="0">
              <a:spcBef>
                <a:spcPts val="600"/>
              </a:spcBef>
              <a:spcAft>
                <a:spcPts val="1200"/>
              </a:spcAft>
            </a:pPr>
            <a:r>
              <a:rPr lang="en-AU" sz="2200" dirty="0" smtClean="0">
                <a:latin typeface="Helvetica" pitchFamily="34" charset="0"/>
              </a:rPr>
              <a:t>Filing and storing copies of documents</a:t>
            </a:r>
          </a:p>
          <a:p>
            <a:pPr>
              <a:spcBef>
                <a:spcPts val="600"/>
              </a:spcBef>
              <a:spcAft>
                <a:spcPts val="1200"/>
              </a:spcAft>
            </a:pPr>
            <a:r>
              <a:rPr lang="en-AU" sz="2200" dirty="0" smtClean="0">
                <a:latin typeface="Helvetica" pitchFamily="34" charset="0"/>
              </a:rPr>
              <a:t>Use of pro forma documents </a:t>
            </a:r>
          </a:p>
          <a:p>
            <a:endParaRPr lang="en-AU"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a:t>
            </a:fld>
            <a:endParaRPr lang="en-US" dirty="0"/>
          </a:p>
        </p:txBody>
      </p:sp>
      <p:pic>
        <p:nvPicPr>
          <p:cNvPr id="6" name="Picture 5" descr="MP900422389[1].JPG"/>
          <p:cNvPicPr/>
          <p:nvPr/>
        </p:nvPicPr>
        <p:blipFill>
          <a:blip r:embed="rId3" cstate="print"/>
          <a:stretch>
            <a:fillRect/>
          </a:stretch>
        </p:blipFill>
        <p:spPr>
          <a:xfrm>
            <a:off x="7143768" y="2883167"/>
            <a:ext cx="1316796" cy="1789982"/>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Using different writing styles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Purpose of writing documents</a:t>
            </a:r>
          </a:p>
          <a:p>
            <a:pPr>
              <a:spcBef>
                <a:spcPts val="600"/>
              </a:spcBef>
              <a:spcAft>
                <a:spcPts val="1200"/>
              </a:spcAft>
              <a:buNone/>
            </a:pPr>
            <a:r>
              <a:rPr lang="en-AU" sz="2200" dirty="0" smtClean="0">
                <a:latin typeface="Helvetica" pitchFamily="34" charset="0"/>
              </a:rPr>
              <a:t>They generally:</a:t>
            </a:r>
          </a:p>
          <a:p>
            <a:pPr>
              <a:spcBef>
                <a:spcPts val="600"/>
              </a:spcBef>
              <a:spcAft>
                <a:spcPts val="1200"/>
              </a:spcAft>
            </a:pPr>
            <a:r>
              <a:rPr lang="en-AU" sz="2200" dirty="0" smtClean="0">
                <a:latin typeface="Helvetica" pitchFamily="34" charset="0"/>
              </a:rPr>
              <a:t>Persuade </a:t>
            </a:r>
          </a:p>
          <a:p>
            <a:pPr>
              <a:spcBef>
                <a:spcPts val="600"/>
              </a:spcBef>
              <a:spcAft>
                <a:spcPts val="1200"/>
              </a:spcAft>
            </a:pPr>
            <a:r>
              <a:rPr lang="en-AU" sz="2200" dirty="0" smtClean="0">
                <a:latin typeface="Helvetica" pitchFamily="34" charset="0"/>
              </a:rPr>
              <a:t>Discuss/Argue</a:t>
            </a:r>
          </a:p>
          <a:p>
            <a:pPr>
              <a:spcBef>
                <a:spcPts val="600"/>
              </a:spcBef>
              <a:spcAft>
                <a:spcPts val="1200"/>
              </a:spcAft>
            </a:pPr>
            <a:r>
              <a:rPr lang="en-AU" sz="2200" dirty="0" smtClean="0">
                <a:latin typeface="Helvetica" pitchFamily="34" charset="0"/>
              </a:rPr>
              <a:t>Inform</a:t>
            </a:r>
          </a:p>
          <a:p>
            <a:endParaRPr lang="en-AU"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a:t>
            </a:fld>
            <a:endParaRPr lang="en-US" dirty="0"/>
          </a:p>
        </p:txBody>
      </p:sp>
      <p:pic>
        <p:nvPicPr>
          <p:cNvPr id="7" name="Picture 6" descr="iStock_000003030968Medium.jpg"/>
          <p:cNvPicPr>
            <a:picLocks noChangeAspect="1"/>
          </p:cNvPicPr>
          <p:nvPr/>
        </p:nvPicPr>
        <p:blipFill>
          <a:blip r:embed="rId3" cstate="print"/>
          <a:stretch>
            <a:fillRect/>
          </a:stretch>
        </p:blipFill>
        <p:spPr>
          <a:xfrm>
            <a:off x="6500826" y="2357430"/>
            <a:ext cx="1581152" cy="2368934"/>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Using different writing styles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Writing to persuade</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Here the aim is to influence the reader and three options present themselves.</a:t>
            </a:r>
          </a:p>
          <a:p>
            <a:pPr>
              <a:spcBef>
                <a:spcPts val="600"/>
              </a:spcBef>
              <a:spcAft>
                <a:spcPts val="1200"/>
              </a:spcAft>
              <a:buNone/>
            </a:pPr>
            <a:r>
              <a:rPr lang="en-AU" sz="2200" dirty="0" smtClean="0">
                <a:latin typeface="Helvetica" pitchFamily="34" charset="0"/>
              </a:rPr>
              <a:t>We can make an: </a:t>
            </a:r>
          </a:p>
          <a:p>
            <a:pPr lvl="0">
              <a:spcBef>
                <a:spcPts val="600"/>
              </a:spcBef>
              <a:spcAft>
                <a:spcPts val="1200"/>
              </a:spcAft>
            </a:pPr>
            <a:r>
              <a:rPr lang="en-AU" sz="2200" dirty="0" smtClean="0">
                <a:latin typeface="Helvetica" pitchFamily="34" charset="0"/>
              </a:rPr>
              <a:t>Emotional appeal </a:t>
            </a:r>
          </a:p>
          <a:p>
            <a:pPr lvl="0">
              <a:spcBef>
                <a:spcPts val="600"/>
              </a:spcBef>
              <a:spcAft>
                <a:spcPts val="1200"/>
              </a:spcAft>
            </a:pPr>
            <a:r>
              <a:rPr lang="en-AU" sz="2200" dirty="0" smtClean="0">
                <a:latin typeface="Helvetica" pitchFamily="34" charset="0"/>
              </a:rPr>
              <a:t>Factual appeal </a:t>
            </a:r>
          </a:p>
          <a:p>
            <a:pPr lvl="0">
              <a:spcBef>
                <a:spcPts val="600"/>
              </a:spcBef>
              <a:spcAft>
                <a:spcPts val="1200"/>
              </a:spcAft>
            </a:pPr>
            <a:r>
              <a:rPr lang="en-AU" sz="2200" dirty="0" smtClean="0">
                <a:latin typeface="Helvetica" pitchFamily="34" charset="0"/>
              </a:rPr>
              <a:t>Appeal to authority </a:t>
            </a:r>
          </a:p>
          <a:p>
            <a:endParaRPr lang="en-AU"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a:t>
            </a:fld>
            <a:endParaRPr lang="en-US" dirty="0"/>
          </a:p>
        </p:txBody>
      </p:sp>
      <p:pic>
        <p:nvPicPr>
          <p:cNvPr id="6" name="Picture 5" descr="C:\Documents and Settings\danielc\Local Settings\Temporary Internet Files\Content.IE5\SIQ5KRQ3\MP900407402[1].jpg"/>
          <p:cNvPicPr/>
          <p:nvPr/>
        </p:nvPicPr>
        <p:blipFill>
          <a:blip r:embed="rId3" cstate="print">
            <a:lum contrast="20000"/>
          </a:blip>
          <a:srcRect/>
          <a:stretch>
            <a:fillRect/>
          </a:stretch>
        </p:blipFill>
        <p:spPr bwMode="auto">
          <a:xfrm>
            <a:off x="5561029" y="3000372"/>
            <a:ext cx="2154243" cy="17145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Using different writing styles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Writing to develop an argument</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Your argument must be:</a:t>
            </a:r>
          </a:p>
          <a:p>
            <a:pPr>
              <a:spcBef>
                <a:spcPts val="600"/>
              </a:spcBef>
              <a:spcAft>
                <a:spcPts val="1200"/>
              </a:spcAft>
            </a:pPr>
            <a:r>
              <a:rPr lang="en-AU" sz="2200" dirty="0" smtClean="0">
                <a:latin typeface="Helvetica" pitchFamily="34" charset="0"/>
              </a:rPr>
              <a:t>Be sound, logical and convincing</a:t>
            </a:r>
          </a:p>
          <a:p>
            <a:pPr>
              <a:spcBef>
                <a:spcPts val="600"/>
              </a:spcBef>
              <a:spcAft>
                <a:spcPts val="1200"/>
              </a:spcAft>
            </a:pPr>
            <a:r>
              <a:rPr lang="en-AU" sz="2200" dirty="0" smtClean="0">
                <a:latin typeface="Helvetica" pitchFamily="34" charset="0"/>
              </a:rPr>
              <a:t>Clarify and identify the problem being </a:t>
            </a:r>
            <a:br>
              <a:rPr lang="en-AU" sz="2200" dirty="0" smtClean="0">
                <a:latin typeface="Helvetica" pitchFamily="34" charset="0"/>
              </a:rPr>
            </a:br>
            <a:r>
              <a:rPr lang="en-AU" sz="2200" dirty="0" smtClean="0">
                <a:latin typeface="Helvetica" pitchFamily="34" charset="0"/>
              </a:rPr>
              <a:t>addressed</a:t>
            </a:r>
          </a:p>
          <a:p>
            <a:pPr>
              <a:spcBef>
                <a:spcPts val="600"/>
              </a:spcBef>
              <a:spcAft>
                <a:spcPts val="1200"/>
              </a:spcAft>
            </a:pPr>
            <a:r>
              <a:rPr lang="en-AU" sz="2200" dirty="0" smtClean="0">
                <a:latin typeface="Helvetica" pitchFamily="34" charset="0"/>
              </a:rPr>
              <a:t>Be based on facts collected through research</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a:t>
            </a:fld>
            <a:endParaRPr lang="en-US" dirty="0"/>
          </a:p>
        </p:txBody>
      </p:sp>
      <p:pic>
        <p:nvPicPr>
          <p:cNvPr id="6" name="Picture 5" descr="iStock_000002496177Medium.jpg"/>
          <p:cNvPicPr>
            <a:picLocks noChangeAspect="1"/>
          </p:cNvPicPr>
          <p:nvPr/>
        </p:nvPicPr>
        <p:blipFill>
          <a:blip r:embed="rId3" cstate="print"/>
          <a:stretch>
            <a:fillRect/>
          </a:stretch>
        </p:blipFill>
        <p:spPr>
          <a:xfrm>
            <a:off x="6929454" y="2214554"/>
            <a:ext cx="1436380" cy="2152032"/>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Using different writing styles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Writing to inform</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Consider your reader/audience and to </a:t>
            </a:r>
          </a:p>
          <a:p>
            <a:pPr>
              <a:spcBef>
                <a:spcPts val="600"/>
              </a:spcBef>
              <a:spcAft>
                <a:spcPts val="1200"/>
              </a:spcAft>
            </a:pPr>
            <a:r>
              <a:rPr lang="en-AU" sz="2200" dirty="0" smtClean="0">
                <a:latin typeface="Helvetica" pitchFamily="34" charset="0"/>
              </a:rPr>
              <a:t>Identify their existing knowledge</a:t>
            </a:r>
          </a:p>
          <a:p>
            <a:pPr>
              <a:spcBef>
                <a:spcPts val="600"/>
              </a:spcBef>
              <a:spcAft>
                <a:spcPts val="1200"/>
              </a:spcAft>
            </a:pPr>
            <a:r>
              <a:rPr lang="en-AU" sz="2200" dirty="0" smtClean="0">
                <a:latin typeface="Helvetica" pitchFamily="34" charset="0"/>
              </a:rPr>
              <a:t>Identify what is opinion and what is fact</a:t>
            </a:r>
          </a:p>
          <a:p>
            <a:pPr>
              <a:spcBef>
                <a:spcPts val="600"/>
              </a:spcBef>
              <a:spcAft>
                <a:spcPts val="1200"/>
              </a:spcAft>
            </a:pPr>
            <a:r>
              <a:rPr lang="en-AU" sz="2200" dirty="0" smtClean="0">
                <a:latin typeface="Helvetica" pitchFamily="34" charset="0"/>
              </a:rPr>
              <a:t>Keep information clear and concise</a:t>
            </a:r>
          </a:p>
          <a:p>
            <a:pPr>
              <a:spcBef>
                <a:spcPts val="600"/>
              </a:spcBef>
              <a:spcAft>
                <a:spcPts val="1200"/>
              </a:spcAft>
            </a:pPr>
            <a:r>
              <a:rPr lang="en-AU" sz="2200" dirty="0" smtClean="0">
                <a:latin typeface="Helvetica" pitchFamily="34" charset="0"/>
              </a:rPr>
              <a:t>Present in a logical format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23</a:t>
            </a:fld>
            <a:endParaRPr lang="en-US" dirty="0"/>
          </a:p>
        </p:txBody>
      </p:sp>
      <p:pic>
        <p:nvPicPr>
          <p:cNvPr id="25601" name="Picture 1" descr="C:\Documents and Settings\danielc\Desktop\Produce docs reports worksheet\freeimage-4444470.jpg"/>
          <p:cNvPicPr>
            <a:picLocks noChangeAspect="1" noChangeArrowheads="1"/>
          </p:cNvPicPr>
          <p:nvPr/>
        </p:nvPicPr>
        <p:blipFill>
          <a:blip r:embed="rId3" cstate="print"/>
          <a:srcRect r="20470"/>
          <a:stretch>
            <a:fillRect/>
          </a:stretch>
        </p:blipFill>
        <p:spPr bwMode="auto">
          <a:xfrm>
            <a:off x="6286512" y="2571744"/>
            <a:ext cx="2143140" cy="1964601"/>
          </a:xfrm>
          <a:prstGeom prst="rect">
            <a:avLst/>
          </a:prstGeom>
          <a:noFill/>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Clarification of requirements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marL="0" lvl="0">
              <a:spcBef>
                <a:spcPts val="600"/>
              </a:spcBef>
              <a:spcAft>
                <a:spcPts val="1200"/>
              </a:spcAft>
              <a:buNone/>
            </a:pPr>
            <a:r>
              <a:rPr lang="en-AU" sz="2200" dirty="0" smtClean="0">
                <a:latin typeface="Helvetica" pitchFamily="34" charset="0"/>
              </a:rPr>
              <a:t>The clarification of requirements includes confirming the following aspects of a document:</a:t>
            </a:r>
          </a:p>
          <a:p>
            <a:pPr lvl="0">
              <a:spcBef>
                <a:spcPts val="600"/>
              </a:spcBef>
              <a:spcAft>
                <a:spcPts val="1200"/>
              </a:spcAft>
            </a:pPr>
            <a:r>
              <a:rPr lang="en-AU" sz="2200" dirty="0" smtClean="0">
                <a:latin typeface="Helvetica" pitchFamily="34" charset="0"/>
              </a:rPr>
              <a:t>Page setup </a:t>
            </a:r>
          </a:p>
          <a:p>
            <a:pPr lvl="0">
              <a:spcBef>
                <a:spcPts val="600"/>
              </a:spcBef>
              <a:spcAft>
                <a:spcPts val="1200"/>
              </a:spcAft>
            </a:pPr>
            <a:r>
              <a:rPr lang="en-AU" sz="2200" dirty="0" smtClean="0">
                <a:latin typeface="Helvetica" pitchFamily="34" charset="0"/>
              </a:rPr>
              <a:t>Paragraph format </a:t>
            </a:r>
          </a:p>
          <a:p>
            <a:pPr lvl="0">
              <a:spcBef>
                <a:spcPts val="600"/>
              </a:spcBef>
              <a:spcAft>
                <a:spcPts val="1200"/>
              </a:spcAft>
            </a:pPr>
            <a:r>
              <a:rPr lang="en-AU" sz="2200" dirty="0" smtClean="0">
                <a:latin typeface="Helvetica" pitchFamily="34" charset="0"/>
              </a:rPr>
              <a:t>Headers and footers </a:t>
            </a:r>
          </a:p>
          <a:p>
            <a:pPr lvl="0">
              <a:spcBef>
                <a:spcPts val="600"/>
              </a:spcBef>
              <a:spcAft>
                <a:spcPts val="1200"/>
              </a:spcAft>
            </a:pPr>
            <a:r>
              <a:rPr lang="en-AU" sz="2200" dirty="0" smtClean="0">
                <a:latin typeface="Helvetica" pitchFamily="34" charset="0"/>
              </a:rPr>
              <a:t>Paper size and orientation </a:t>
            </a:r>
          </a:p>
          <a:p>
            <a:pPr>
              <a:spcBef>
                <a:spcPts val="600"/>
              </a:spcBef>
              <a:spcAft>
                <a:spcPts val="1200"/>
              </a:spcAft>
            </a:pPr>
            <a:r>
              <a:rPr lang="en-AU" sz="2200" dirty="0" smtClean="0">
                <a:latin typeface="Helvetica" pitchFamily="34" charset="0"/>
              </a:rPr>
              <a:t>File naming system </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24</a:t>
            </a:fld>
            <a:endParaRPr lang="en-US" dirty="0"/>
          </a:p>
        </p:txBody>
      </p:sp>
      <p:pic>
        <p:nvPicPr>
          <p:cNvPr id="8" name="Picture 7"/>
          <p:cNvPicPr/>
          <p:nvPr/>
        </p:nvPicPr>
        <p:blipFill>
          <a:blip r:embed="rId3" cstate="print"/>
          <a:srcRect l="9644" t="15691" r="56105" b="8390"/>
          <a:stretch>
            <a:fillRect/>
          </a:stretch>
        </p:blipFill>
        <p:spPr bwMode="auto">
          <a:xfrm>
            <a:off x="5429256" y="2143116"/>
            <a:ext cx="2352660" cy="325983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Clarification of requirements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marL="0" lvl="0">
              <a:spcBef>
                <a:spcPts val="600"/>
              </a:spcBef>
              <a:spcAft>
                <a:spcPts val="1200"/>
              </a:spcAft>
              <a:buNone/>
            </a:pPr>
            <a:r>
              <a:rPr lang="en-AU" sz="2200" dirty="0" smtClean="0">
                <a:latin typeface="Helvetica" pitchFamily="34" charset="0"/>
              </a:rPr>
              <a:t>The clarification of requirements includes confirming the following aspects of a document:</a:t>
            </a:r>
          </a:p>
          <a:p>
            <a:pPr lvl="0">
              <a:spcBef>
                <a:spcPts val="600"/>
              </a:spcBef>
              <a:spcAft>
                <a:spcPts val="1200"/>
              </a:spcAft>
            </a:pPr>
            <a:r>
              <a:rPr lang="en-AU" sz="2200" dirty="0" smtClean="0">
                <a:latin typeface="Helvetica" pitchFamily="34" charset="0"/>
              </a:rPr>
              <a:t>Page setup </a:t>
            </a:r>
          </a:p>
          <a:p>
            <a:pPr lvl="0">
              <a:spcBef>
                <a:spcPts val="600"/>
              </a:spcBef>
              <a:spcAft>
                <a:spcPts val="1200"/>
              </a:spcAft>
            </a:pPr>
            <a:r>
              <a:rPr lang="en-AU" sz="2200" dirty="0" smtClean="0">
                <a:latin typeface="Helvetica" pitchFamily="34" charset="0"/>
              </a:rPr>
              <a:t>Paragraph format </a:t>
            </a:r>
          </a:p>
          <a:p>
            <a:pPr lvl="0">
              <a:spcBef>
                <a:spcPts val="600"/>
              </a:spcBef>
              <a:spcAft>
                <a:spcPts val="1200"/>
              </a:spcAft>
            </a:pPr>
            <a:r>
              <a:rPr lang="en-AU" sz="2200" dirty="0" smtClean="0">
                <a:latin typeface="Helvetica" pitchFamily="34" charset="0"/>
              </a:rPr>
              <a:t>Headers and footers </a:t>
            </a:r>
          </a:p>
          <a:p>
            <a:pPr lvl="0">
              <a:spcBef>
                <a:spcPts val="600"/>
              </a:spcBef>
              <a:spcAft>
                <a:spcPts val="1200"/>
              </a:spcAft>
            </a:pPr>
            <a:r>
              <a:rPr lang="en-AU" sz="2200" dirty="0" smtClean="0">
                <a:latin typeface="Helvetica" pitchFamily="34" charset="0"/>
              </a:rPr>
              <a:t>Paper size and orientation </a:t>
            </a:r>
          </a:p>
          <a:p>
            <a:pPr>
              <a:spcBef>
                <a:spcPts val="600"/>
              </a:spcBef>
              <a:spcAft>
                <a:spcPts val="1200"/>
              </a:spcAft>
            </a:pPr>
            <a:r>
              <a:rPr lang="en-AU" sz="2200" dirty="0" smtClean="0">
                <a:latin typeface="Helvetica" pitchFamily="34" charset="0"/>
              </a:rPr>
              <a:t>File naming system </a:t>
            </a:r>
          </a:p>
          <a:p>
            <a:pPr>
              <a:spcBef>
                <a:spcPts val="600"/>
              </a:spcBef>
              <a:spcAft>
                <a:spcPts val="1200"/>
              </a:spcAft>
            </a:pPr>
            <a:r>
              <a:rPr lang="en-AU" sz="2200" dirty="0" smtClean="0">
                <a:latin typeface="Helvetica" pitchFamily="34" charset="0"/>
              </a:rPr>
              <a:t>Time limitations for production </a:t>
            </a:r>
          </a:p>
          <a:p>
            <a:pPr>
              <a:spcBef>
                <a:spcPts val="600"/>
              </a:spcBef>
              <a:spcAft>
                <a:spcPts val="1200"/>
              </a:spcAft>
            </a:pPr>
            <a:r>
              <a:rPr lang="en-AU" sz="2200" dirty="0" smtClean="0">
                <a:latin typeface="Helvetica" pitchFamily="34" charset="0"/>
              </a:rPr>
              <a:t>Who to ask for help </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25</a:t>
            </a:fld>
            <a:endParaRPr lang="en-US" dirty="0"/>
          </a:p>
        </p:txBody>
      </p:sp>
      <p:pic>
        <p:nvPicPr>
          <p:cNvPr id="21506" name="Picture 2"/>
          <p:cNvPicPr>
            <a:picLocks noChangeAspect="1" noChangeArrowheads="1"/>
          </p:cNvPicPr>
          <p:nvPr/>
        </p:nvPicPr>
        <p:blipFill>
          <a:blip r:embed="rId3" cstate="print"/>
          <a:srcRect l="10156" t="5000" r="51562" b="68750"/>
          <a:stretch>
            <a:fillRect/>
          </a:stretch>
        </p:blipFill>
        <p:spPr bwMode="auto">
          <a:xfrm>
            <a:off x="4571999" y="2571744"/>
            <a:ext cx="3833839" cy="164307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marL="0">
              <a:buNone/>
            </a:pPr>
            <a:r>
              <a:rPr lang="en-AU" sz="4000" b="1" dirty="0" smtClean="0">
                <a:solidFill>
                  <a:srgbClr val="FF6600"/>
                </a:solidFill>
              </a:rPr>
              <a:t>Element 2:</a:t>
            </a:r>
          </a:p>
          <a:p>
            <a:pPr marL="0">
              <a:spcBef>
                <a:spcPts val="600"/>
              </a:spcBef>
              <a:spcAft>
                <a:spcPts val="1200"/>
              </a:spcAft>
              <a:buNone/>
            </a:pPr>
            <a:r>
              <a:rPr lang="en-AU" sz="4000" dirty="0" smtClean="0">
                <a:solidFill>
                  <a:srgbClr val="FF6600"/>
                </a:solidFill>
                <a:latin typeface="Helvetica" pitchFamily="34" charset="0"/>
              </a:rPr>
              <a:t>Produce document</a:t>
            </a:r>
          </a:p>
          <a:p>
            <a:pPr>
              <a:buNone/>
            </a:pPr>
            <a:endParaRPr lang="en-AU" sz="4000" dirty="0" smtClean="0">
              <a:solidFill>
                <a:srgbClr val="FF6600"/>
              </a:solidFill>
            </a:endParaRP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26</a:t>
            </a:fld>
            <a:endParaRPr lang="en-US" dirty="0"/>
          </a:p>
        </p:txBody>
      </p:sp>
      <p:pic>
        <p:nvPicPr>
          <p:cNvPr id="7" name="Picture 6" descr="1208426_woman_using_computer.jpg"/>
          <p:cNvPicPr>
            <a:picLocks noChangeAspect="1"/>
          </p:cNvPicPr>
          <p:nvPr/>
        </p:nvPicPr>
        <p:blipFill>
          <a:blip r:embed="rId3" cstate="print"/>
          <a:stretch>
            <a:fillRect/>
          </a:stretch>
        </p:blipFill>
        <p:spPr>
          <a:xfrm>
            <a:off x="2857488" y="3143248"/>
            <a:ext cx="3338560" cy="2214578"/>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Produce document</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Produce document in required style and format</a:t>
            </a:r>
          </a:p>
          <a:p>
            <a:pPr>
              <a:spcBef>
                <a:spcPts val="600"/>
              </a:spcBef>
              <a:spcAft>
                <a:spcPts val="1200"/>
              </a:spcAft>
            </a:pPr>
            <a:r>
              <a:rPr lang="en-AU" sz="2200" dirty="0" smtClean="0">
                <a:latin typeface="Helvetica" pitchFamily="34" charset="0"/>
              </a:rPr>
              <a:t>Produce document within designated timelines</a:t>
            </a:r>
          </a:p>
          <a:p>
            <a:pPr>
              <a:spcBef>
                <a:spcPts val="600"/>
              </a:spcBef>
              <a:spcAft>
                <a:spcPts val="1200"/>
              </a:spcAft>
            </a:pPr>
            <a:r>
              <a:rPr lang="en-AU" sz="2200" dirty="0" smtClean="0">
                <a:latin typeface="Helvetica" pitchFamily="34" charset="0"/>
              </a:rPr>
              <a:t>Save document regularly to avoid loss of data</a:t>
            </a:r>
          </a:p>
          <a:p>
            <a:pPr>
              <a:spcBef>
                <a:spcPts val="600"/>
              </a:spcBef>
              <a:spcAft>
                <a:spcPts val="1200"/>
              </a:spcAft>
            </a:pPr>
            <a:r>
              <a:rPr lang="en-AU" sz="2200" dirty="0" smtClean="0">
                <a:latin typeface="Helvetica" pitchFamily="34" charset="0"/>
              </a:rPr>
              <a:t>Information from same or other software packages is integrated as required</a:t>
            </a:r>
          </a:p>
          <a:p>
            <a:pPr>
              <a:spcBef>
                <a:spcPts val="600"/>
              </a:spcBef>
              <a:spcAft>
                <a:spcPts val="1200"/>
              </a:spcAft>
            </a:pPr>
            <a:r>
              <a:rPr lang="en-AU" sz="2200" dirty="0" smtClean="0">
                <a:latin typeface="Helvetica" pitchFamily="34" charset="0"/>
              </a:rPr>
              <a:t>Proof read draft document prior to printing</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27</a:t>
            </a:fld>
            <a:endParaRPr lang="en-US" dirty="0"/>
          </a:p>
        </p:txBody>
      </p:sp>
      <p:pic>
        <p:nvPicPr>
          <p:cNvPr id="7" name="Picture 2" descr="I:\Overseas Projects\PHOTOS\2012\Office\1131445_red_check_sign_in_3d.jpg"/>
          <p:cNvPicPr>
            <a:picLocks noChangeAspect="1" noChangeArrowheads="1"/>
          </p:cNvPicPr>
          <p:nvPr/>
        </p:nvPicPr>
        <p:blipFill>
          <a:blip r:embed="rId3" cstate="print"/>
          <a:srcRect/>
          <a:stretch>
            <a:fillRect/>
          </a:stretch>
        </p:blipFill>
        <p:spPr bwMode="auto">
          <a:xfrm>
            <a:off x="3500430" y="5143512"/>
            <a:ext cx="1587500" cy="1270000"/>
          </a:xfrm>
          <a:prstGeom prst="rect">
            <a:avLst/>
          </a:prstGeom>
          <a:noFill/>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88640"/>
            <a:ext cx="7467600" cy="1143000"/>
          </a:xfrm>
        </p:spPr>
        <p:txBody>
          <a:bodyPr>
            <a:normAutofit/>
          </a:bodyPr>
          <a:lstStyle/>
          <a:p>
            <a:r>
              <a:rPr lang="en-AU" sz="3400" b="1" dirty="0" smtClean="0">
                <a:solidFill>
                  <a:srgbClr val="FF6600"/>
                </a:solidFill>
                <a:latin typeface="Helvetica" pitchFamily="34" charset="0"/>
              </a:rPr>
              <a:t>Type of business documents</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28</a:t>
            </a:fld>
            <a:endParaRPr lang="en-US" dirty="0"/>
          </a:p>
        </p:txBody>
      </p:sp>
      <p:graphicFrame>
        <p:nvGraphicFramePr>
          <p:cNvPr id="6" name="Diagram 5"/>
          <p:cNvGraphicFramePr/>
          <p:nvPr/>
        </p:nvGraphicFramePr>
        <p:xfrm>
          <a:off x="827584" y="1484784"/>
          <a:ext cx="6264696" cy="47525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0"/>
            <a:ext cx="7467600" cy="1143000"/>
          </a:xfrm>
        </p:spPr>
        <p:txBody>
          <a:bodyPr>
            <a:normAutofit/>
          </a:bodyPr>
          <a:lstStyle/>
          <a:p>
            <a:r>
              <a:rPr lang="en-AU" sz="3400" b="1" dirty="0" smtClean="0">
                <a:solidFill>
                  <a:srgbClr val="FF6600"/>
                </a:solidFill>
                <a:latin typeface="Helvetica" pitchFamily="34" charset="0"/>
              </a:rPr>
              <a:t>Prepare documents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467544" y="1052736"/>
            <a:ext cx="7467600" cy="4958011"/>
          </a:xfrm>
        </p:spPr>
        <p:txBody>
          <a:bodyPr>
            <a:normAutofit/>
          </a:bodyPr>
          <a:lstStyle/>
          <a:p>
            <a:pPr>
              <a:buNone/>
            </a:pPr>
            <a:r>
              <a:rPr lang="en-AU" sz="2200" dirty="0" smtClean="0">
                <a:latin typeface="Helvetica" pitchFamily="34" charset="0"/>
              </a:rPr>
              <a:t>Basic principles: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29</a:t>
            </a:fld>
            <a:endParaRPr lang="en-US" dirty="0"/>
          </a:p>
        </p:txBody>
      </p:sp>
      <p:graphicFrame>
        <p:nvGraphicFramePr>
          <p:cNvPr id="6" name="Diagram 5"/>
          <p:cNvGraphicFramePr/>
          <p:nvPr/>
        </p:nvGraphicFramePr>
        <p:xfrm>
          <a:off x="539552" y="1700808"/>
          <a:ext cx="7056784" cy="42484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188640"/>
            <a:ext cx="7467600" cy="1143000"/>
          </a:xfrm>
        </p:spPr>
        <p:txBody>
          <a:bodyPr>
            <a:normAutofit/>
          </a:bodyPr>
          <a:lstStyle/>
          <a:p>
            <a:r>
              <a:rPr lang="en-AU" sz="3400" b="1" dirty="0" smtClean="0">
                <a:solidFill>
                  <a:srgbClr val="FF6600"/>
                </a:solidFill>
                <a:latin typeface="Helvetica" pitchFamily="34" charset="0"/>
              </a:rPr>
              <a:t>Six steps to good writing</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30</a:t>
            </a:fld>
            <a:endParaRPr lang="en-US" dirty="0"/>
          </a:p>
        </p:txBody>
      </p:sp>
      <p:graphicFrame>
        <p:nvGraphicFramePr>
          <p:cNvPr id="6" name="Diagram 5"/>
          <p:cNvGraphicFramePr/>
          <p:nvPr/>
        </p:nvGraphicFramePr>
        <p:xfrm>
          <a:off x="611560" y="1556792"/>
          <a:ext cx="6408712" cy="41044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13666" name="Picture 2" descr="C:\Documents and Settings\jirayut\Local Settings\Temporary Internet Files\Content.IE5\733Z9TJI\MC900441732[1].png"/>
          <p:cNvPicPr>
            <a:picLocks noChangeAspect="1" noChangeArrowheads="1"/>
          </p:cNvPicPr>
          <p:nvPr/>
        </p:nvPicPr>
        <p:blipFill>
          <a:blip r:embed="rId8" cstate="print"/>
          <a:srcRect/>
          <a:stretch>
            <a:fillRect/>
          </a:stretch>
        </p:blipFill>
        <p:spPr bwMode="auto">
          <a:xfrm>
            <a:off x="6286512" y="785794"/>
            <a:ext cx="1343048" cy="1343048"/>
          </a:xfrm>
          <a:prstGeom prst="rect">
            <a:avLst/>
          </a:prstGeom>
          <a:noFill/>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188640"/>
            <a:ext cx="7467600" cy="1143000"/>
          </a:xfrm>
        </p:spPr>
        <p:txBody>
          <a:bodyPr>
            <a:normAutofit/>
          </a:bodyPr>
          <a:lstStyle/>
          <a:p>
            <a:r>
              <a:rPr lang="en-AU" sz="3400" b="1" dirty="0" smtClean="0">
                <a:solidFill>
                  <a:srgbClr val="FF6600"/>
                </a:solidFill>
                <a:latin typeface="Helvetica" pitchFamily="34" charset="0"/>
              </a:rPr>
              <a:t>Different styles of letters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179512" y="1412776"/>
            <a:ext cx="8604448" cy="4669979"/>
          </a:xfrm>
        </p:spPr>
        <p:txBody>
          <a:bodyPr>
            <a:normAutofit/>
          </a:bodyPr>
          <a:lstStyle/>
          <a:p>
            <a:pPr marL="603504" indent="-457200">
              <a:buNone/>
            </a:pPr>
            <a:r>
              <a:rPr lang="en-AU" sz="2200" b="1" dirty="0" smtClean="0">
                <a:solidFill>
                  <a:schemeClr val="bg2">
                    <a:lumMod val="50000"/>
                  </a:schemeClr>
                </a:solidFill>
                <a:latin typeface="Helvetica" pitchFamily="34" charset="0"/>
              </a:rPr>
              <a:t>Modified Block     Style Full Block Style    Semi block Style</a:t>
            </a:r>
          </a:p>
          <a:p>
            <a:pPr>
              <a:buNone/>
            </a:pPr>
            <a:endParaRPr lang="en-AU" sz="1400" dirty="0" smtClean="0"/>
          </a:p>
          <a:p>
            <a:pPr>
              <a:buNone/>
            </a:pPr>
            <a:endParaRPr lang="en-AU" sz="1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31</a:t>
            </a:fld>
            <a:endParaRPr lang="en-US" dirty="0"/>
          </a:p>
        </p:txBody>
      </p:sp>
      <p:pic>
        <p:nvPicPr>
          <p:cNvPr id="6" name="Picture 5"/>
          <p:cNvPicPr/>
          <p:nvPr/>
        </p:nvPicPr>
        <p:blipFill>
          <a:blip r:embed="rId3" cstate="print"/>
          <a:srcRect l="38307" t="9465"/>
          <a:stretch>
            <a:fillRect/>
          </a:stretch>
        </p:blipFill>
        <p:spPr bwMode="auto">
          <a:xfrm>
            <a:off x="6156176" y="2132856"/>
            <a:ext cx="1743075" cy="3457575"/>
          </a:xfrm>
          <a:prstGeom prst="rect">
            <a:avLst/>
          </a:prstGeom>
          <a:noFill/>
          <a:ln w="9525">
            <a:noFill/>
            <a:miter lim="800000"/>
            <a:headEnd/>
            <a:tailEnd/>
          </a:ln>
        </p:spPr>
      </p:pic>
      <p:pic>
        <p:nvPicPr>
          <p:cNvPr id="7" name="Picture 6" descr="Full block style.jpg"/>
          <p:cNvPicPr/>
          <p:nvPr/>
        </p:nvPicPr>
        <p:blipFill>
          <a:blip r:embed="rId4" cstate="print"/>
          <a:stretch>
            <a:fillRect/>
          </a:stretch>
        </p:blipFill>
        <p:spPr>
          <a:xfrm>
            <a:off x="395536" y="2204864"/>
            <a:ext cx="1762125" cy="3438525"/>
          </a:xfrm>
          <a:prstGeom prst="rect">
            <a:avLst/>
          </a:prstGeom>
        </p:spPr>
      </p:pic>
      <p:pic>
        <p:nvPicPr>
          <p:cNvPr id="8" name="Picture 7"/>
          <p:cNvPicPr/>
          <p:nvPr/>
        </p:nvPicPr>
        <p:blipFill>
          <a:blip r:embed="rId5" cstate="print"/>
          <a:stretch>
            <a:fillRect/>
          </a:stretch>
        </p:blipFill>
        <p:spPr bwMode="auto">
          <a:xfrm>
            <a:off x="3275856" y="2204864"/>
            <a:ext cx="1724025" cy="34385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88640"/>
            <a:ext cx="7467600" cy="1143000"/>
          </a:xfrm>
        </p:spPr>
        <p:txBody>
          <a:bodyPr>
            <a:normAutofit/>
          </a:bodyPr>
          <a:lstStyle/>
          <a:p>
            <a:r>
              <a:rPr lang="en-AU" sz="3400" b="1" dirty="0" smtClean="0">
                <a:solidFill>
                  <a:srgbClr val="FF6600"/>
                </a:solidFill>
                <a:latin typeface="Helvetica" pitchFamily="34" charset="0"/>
              </a:rPr>
              <a:t>Different styles of letters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83568" y="1412776"/>
            <a:ext cx="7467600" cy="4525963"/>
          </a:xfrm>
        </p:spPr>
        <p:txBody>
          <a:bodyPr>
            <a:normAutofit/>
          </a:bodyPr>
          <a:lstStyle/>
          <a:p>
            <a:pPr marL="905256" lvl="1" indent="-457200" algn="ctr">
              <a:buNone/>
            </a:pPr>
            <a:r>
              <a:rPr lang="en-AU" sz="2000" dirty="0" smtClean="0"/>
              <a:t>             </a:t>
            </a:r>
            <a:r>
              <a:rPr lang="en-AU" sz="2200" b="1" dirty="0" smtClean="0">
                <a:latin typeface="Helvetica" pitchFamily="34" charset="0"/>
              </a:rPr>
              <a:t>Modified Block Style </a:t>
            </a:r>
            <a:r>
              <a:rPr lang="en-AU" sz="2000" dirty="0" smtClean="0"/>
              <a:t>	     	</a:t>
            </a:r>
          </a:p>
          <a:p>
            <a:pPr>
              <a:buNone/>
            </a:pPr>
            <a:endParaRPr lang="en-AU" sz="1400" dirty="0" smtClean="0"/>
          </a:p>
          <a:p>
            <a:pPr>
              <a:buNone/>
            </a:pPr>
            <a:endParaRPr lang="en-AU" sz="1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32</a:t>
            </a:fld>
            <a:endParaRPr lang="en-US" dirty="0"/>
          </a:p>
        </p:txBody>
      </p:sp>
      <p:pic>
        <p:nvPicPr>
          <p:cNvPr id="8" name="Picture 7"/>
          <p:cNvPicPr/>
          <p:nvPr/>
        </p:nvPicPr>
        <p:blipFill>
          <a:blip r:embed="rId3" cstate="print"/>
          <a:stretch>
            <a:fillRect/>
          </a:stretch>
        </p:blipFill>
        <p:spPr bwMode="auto">
          <a:xfrm>
            <a:off x="3491880" y="1988840"/>
            <a:ext cx="1724025" cy="3438525"/>
          </a:xfrm>
          <a:prstGeom prst="rect">
            <a:avLst/>
          </a:prstGeom>
          <a:noFill/>
          <a:ln w="9525">
            <a:noFill/>
            <a:miter lim="800000"/>
            <a:headEnd/>
            <a:tailEnd/>
          </a:ln>
        </p:spPr>
      </p:pic>
      <p:sp>
        <p:nvSpPr>
          <p:cNvPr id="10" name="Rectangle 9"/>
          <p:cNvSpPr/>
          <p:nvPr/>
        </p:nvSpPr>
        <p:spPr>
          <a:xfrm>
            <a:off x="2267744" y="5733256"/>
            <a:ext cx="4572000" cy="707886"/>
          </a:xfrm>
          <a:prstGeom prst="rect">
            <a:avLst/>
          </a:prstGeom>
        </p:spPr>
        <p:txBody>
          <a:bodyPr>
            <a:spAutoFit/>
          </a:bodyPr>
          <a:lstStyle/>
          <a:p>
            <a:pPr algn="ctr"/>
            <a:r>
              <a:rPr lang="en-AU" sz="2200" i="1" dirty="0" smtClean="0">
                <a:solidFill>
                  <a:srgbClr val="00B050"/>
                </a:solidFill>
                <a:latin typeface="Helvetica" pitchFamily="34" charset="0"/>
              </a:rPr>
              <a:t>More conservative style of layout.</a:t>
            </a:r>
            <a:r>
              <a:rPr lang="en-AU" i="1" dirty="0" smtClean="0">
                <a:solidFill>
                  <a:srgbClr val="00B050"/>
                </a:solidFill>
                <a:latin typeface="Helvetica" pitchFamily="34" charset="0"/>
              </a:rPr>
              <a:t/>
            </a:r>
            <a:br>
              <a:rPr lang="en-AU" i="1" dirty="0" smtClean="0">
                <a:solidFill>
                  <a:srgbClr val="00B050"/>
                </a:solidFill>
                <a:latin typeface="Helvetica" pitchFamily="34" charset="0"/>
              </a:rPr>
            </a:br>
            <a:endParaRPr lang="en-AU" i="1" dirty="0">
              <a:solidFill>
                <a:srgbClr val="00B050"/>
              </a:solidFill>
              <a:latin typeface="Helvetica" pitchFamily="34" charset="0"/>
            </a:endParaRPr>
          </a:p>
        </p:txBody>
      </p:sp>
      <p:sp>
        <p:nvSpPr>
          <p:cNvPr id="11" name="Right Arrow 10"/>
          <p:cNvSpPr/>
          <p:nvPr/>
        </p:nvSpPr>
        <p:spPr>
          <a:xfrm rot="10800000">
            <a:off x="5292080" y="2132856"/>
            <a:ext cx="648072" cy="576064"/>
          </a:xfrm>
          <a:prstGeom prst="rightArrow">
            <a:avLst/>
          </a:prstGeom>
          <a:solidFill>
            <a:srgbClr val="FF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sp>
        <p:nvSpPr>
          <p:cNvPr id="12" name="TextBox 11"/>
          <p:cNvSpPr txBox="1"/>
          <p:nvPr/>
        </p:nvSpPr>
        <p:spPr>
          <a:xfrm>
            <a:off x="5975648" y="2060848"/>
            <a:ext cx="3168352" cy="1200329"/>
          </a:xfrm>
          <a:prstGeom prst="rect">
            <a:avLst/>
          </a:prstGeom>
          <a:noFill/>
        </p:spPr>
        <p:txBody>
          <a:bodyPr wrap="square" rtlCol="0">
            <a:spAutoFit/>
          </a:bodyPr>
          <a:lstStyle/>
          <a:p>
            <a:r>
              <a:rPr lang="en-AU" dirty="0" smtClean="0">
                <a:latin typeface="Helvetica" pitchFamily="34" charset="0"/>
              </a:rPr>
              <a:t>Sender’s address is blocked to the right margin.</a:t>
            </a:r>
          </a:p>
          <a:p>
            <a:r>
              <a:rPr lang="en-AU" dirty="0" smtClean="0">
                <a:latin typeface="Helvetica" pitchFamily="34" charset="0"/>
              </a:rPr>
              <a:t>Date is in line with the sender’s address</a:t>
            </a:r>
          </a:p>
        </p:txBody>
      </p:sp>
      <p:sp>
        <p:nvSpPr>
          <p:cNvPr id="13" name="Right Arrow 12"/>
          <p:cNvSpPr/>
          <p:nvPr/>
        </p:nvSpPr>
        <p:spPr>
          <a:xfrm rot="11395511">
            <a:off x="5192045" y="2481807"/>
            <a:ext cx="756897" cy="576064"/>
          </a:xfrm>
          <a:prstGeom prst="rightArrow">
            <a:avLst/>
          </a:prstGeom>
          <a:solidFill>
            <a:srgbClr val="FF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sp>
        <p:nvSpPr>
          <p:cNvPr id="15" name="Right Arrow 14"/>
          <p:cNvSpPr/>
          <p:nvPr/>
        </p:nvSpPr>
        <p:spPr>
          <a:xfrm>
            <a:off x="2771800" y="2708920"/>
            <a:ext cx="694409" cy="576064"/>
          </a:xfrm>
          <a:prstGeom prst="rightArrow">
            <a:avLst/>
          </a:prstGeom>
          <a:solidFill>
            <a:srgbClr val="FF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sp>
        <p:nvSpPr>
          <p:cNvPr id="16" name="TextBox 15"/>
          <p:cNvSpPr txBox="1"/>
          <p:nvPr/>
        </p:nvSpPr>
        <p:spPr>
          <a:xfrm>
            <a:off x="179512" y="2348880"/>
            <a:ext cx="2555776" cy="1200329"/>
          </a:xfrm>
          <a:prstGeom prst="rect">
            <a:avLst/>
          </a:prstGeom>
          <a:noFill/>
        </p:spPr>
        <p:txBody>
          <a:bodyPr wrap="square" rtlCol="0">
            <a:spAutoFit/>
          </a:bodyPr>
          <a:lstStyle/>
          <a:p>
            <a:r>
              <a:rPr lang="en-AU" dirty="0" smtClean="0">
                <a:latin typeface="Helvetica" pitchFamily="34" charset="0"/>
              </a:rPr>
              <a:t>Recipient’s address and the salutation are placed against the left-hand margin</a:t>
            </a:r>
            <a:endParaRPr lang="en-AU" dirty="0">
              <a:latin typeface="Helvetica" pitchFamily="34" charset="0"/>
            </a:endParaRPr>
          </a:p>
        </p:txBody>
      </p:sp>
      <p:sp>
        <p:nvSpPr>
          <p:cNvPr id="17" name="Right Arrow 16"/>
          <p:cNvSpPr/>
          <p:nvPr/>
        </p:nvSpPr>
        <p:spPr>
          <a:xfrm>
            <a:off x="2771800" y="3933056"/>
            <a:ext cx="694409" cy="576064"/>
          </a:xfrm>
          <a:prstGeom prst="rightArrow">
            <a:avLst/>
          </a:prstGeom>
          <a:solidFill>
            <a:srgbClr val="FF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sp>
        <p:nvSpPr>
          <p:cNvPr id="18" name="TextBox 17"/>
          <p:cNvSpPr txBox="1"/>
          <p:nvPr/>
        </p:nvSpPr>
        <p:spPr>
          <a:xfrm>
            <a:off x="179512" y="3717032"/>
            <a:ext cx="2555776" cy="923330"/>
          </a:xfrm>
          <a:prstGeom prst="rect">
            <a:avLst/>
          </a:prstGeom>
          <a:noFill/>
        </p:spPr>
        <p:txBody>
          <a:bodyPr wrap="square" rtlCol="0">
            <a:spAutoFit/>
          </a:bodyPr>
          <a:lstStyle/>
          <a:p>
            <a:r>
              <a:rPr lang="en-AU" dirty="0" smtClean="0">
                <a:latin typeface="Helvetica" pitchFamily="34" charset="0"/>
              </a:rPr>
              <a:t>Each paragraph is blocked against the left-hand margin</a:t>
            </a:r>
            <a:endParaRPr lang="en-AU" dirty="0">
              <a:latin typeface="Helvetica" pitchFamily="34" charset="0"/>
            </a:endParaRPr>
          </a:p>
        </p:txBody>
      </p:sp>
      <p:sp>
        <p:nvSpPr>
          <p:cNvPr id="19" name="Right Arrow 18"/>
          <p:cNvSpPr/>
          <p:nvPr/>
        </p:nvSpPr>
        <p:spPr>
          <a:xfrm rot="10800000">
            <a:off x="5220072" y="3645024"/>
            <a:ext cx="648072" cy="576064"/>
          </a:xfrm>
          <a:prstGeom prst="rightArrow">
            <a:avLst/>
          </a:prstGeom>
          <a:solidFill>
            <a:srgbClr val="FF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sp>
        <p:nvSpPr>
          <p:cNvPr id="20" name="TextBox 19"/>
          <p:cNvSpPr txBox="1"/>
          <p:nvPr/>
        </p:nvSpPr>
        <p:spPr>
          <a:xfrm>
            <a:off x="6012160" y="3501008"/>
            <a:ext cx="3004146" cy="1477328"/>
          </a:xfrm>
          <a:prstGeom prst="rect">
            <a:avLst/>
          </a:prstGeom>
          <a:noFill/>
        </p:spPr>
        <p:txBody>
          <a:bodyPr wrap="square" rtlCol="0">
            <a:spAutoFit/>
          </a:bodyPr>
          <a:lstStyle/>
          <a:p>
            <a:r>
              <a:rPr lang="en-AU" dirty="0" smtClean="0">
                <a:latin typeface="Helvetica" pitchFamily="34" charset="0"/>
              </a:rPr>
              <a:t>The complimentary close and signature blocks are centred in line with the writer’s address and the date. </a:t>
            </a:r>
            <a:endParaRPr lang="en-AU" dirty="0">
              <a:latin typeface="Helvetica" pitchFamily="34" charset="0"/>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0"/>
            <a:ext cx="7467600" cy="1143000"/>
          </a:xfrm>
        </p:spPr>
        <p:txBody>
          <a:bodyPr>
            <a:normAutofit/>
          </a:bodyPr>
          <a:lstStyle/>
          <a:p>
            <a:r>
              <a:rPr lang="en-AU" sz="3400" b="1" dirty="0" smtClean="0">
                <a:solidFill>
                  <a:srgbClr val="FF6600"/>
                </a:solidFill>
                <a:latin typeface="Helvetica" pitchFamily="34" charset="0"/>
              </a:rPr>
              <a:t>Different styles of letters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328592"/>
          </a:xfrm>
        </p:spPr>
        <p:txBody>
          <a:bodyPr>
            <a:normAutofit fontScale="85000" lnSpcReduction="20000"/>
          </a:bodyPr>
          <a:lstStyle/>
          <a:p>
            <a:pPr marL="905256" lvl="1" indent="-457200" algn="ctr">
              <a:buNone/>
            </a:pPr>
            <a:r>
              <a:rPr lang="en-AU" b="1" dirty="0" smtClean="0">
                <a:latin typeface="Helvetica" pitchFamily="34" charset="0"/>
              </a:rPr>
              <a:t>Full block style </a:t>
            </a:r>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r>
              <a:rPr lang="en-AU" sz="2000" i="1" dirty="0" smtClean="0">
                <a:solidFill>
                  <a:srgbClr val="00B050"/>
                </a:solidFill>
              </a:rPr>
              <a:t> </a:t>
            </a:r>
          </a:p>
          <a:p>
            <a:pPr marL="905256" lvl="1" indent="-457200" algn="ctr">
              <a:buNone/>
            </a:pPr>
            <a:endParaRPr lang="en-AU" sz="2000" i="1" dirty="0" smtClean="0">
              <a:solidFill>
                <a:srgbClr val="00B050"/>
              </a:solidFill>
            </a:endParaRPr>
          </a:p>
          <a:p>
            <a:pPr marL="905256" lvl="1" indent="-457200" algn="ctr">
              <a:buNone/>
            </a:pPr>
            <a:r>
              <a:rPr lang="en-AU" i="1" dirty="0" smtClean="0">
                <a:solidFill>
                  <a:srgbClr val="00B050"/>
                </a:solidFill>
                <a:latin typeface="Helvetica" pitchFamily="34" charset="0"/>
              </a:rPr>
              <a:t>Attractive and modern layout that is easy to read.</a:t>
            </a:r>
            <a:r>
              <a:rPr lang="en-AU" sz="2000" i="1" dirty="0" smtClean="0">
                <a:solidFill>
                  <a:srgbClr val="00B050"/>
                </a:solidFill>
              </a:rPr>
              <a:t/>
            </a:r>
            <a:br>
              <a:rPr lang="en-AU" sz="2000" i="1" dirty="0" smtClean="0">
                <a:solidFill>
                  <a:srgbClr val="00B050"/>
                </a:solidFill>
              </a:rPr>
            </a:br>
            <a:endParaRPr lang="en-AU" sz="2000" i="1" dirty="0" smtClean="0">
              <a:solidFill>
                <a:srgbClr val="00B050"/>
              </a:solidFill>
            </a:endParaRPr>
          </a:p>
          <a:p>
            <a:pPr marL="905256" lvl="1" indent="-457200" algn="ctr">
              <a:buNone/>
            </a:pPr>
            <a:endParaRPr lang="en-AU" sz="2000" dirty="0" smtClean="0"/>
          </a:p>
          <a:p>
            <a:pPr marL="905256" lvl="1" indent="-457200" algn="ctr">
              <a:buFont typeface="+mj-lt"/>
              <a:buAutoNum type="arabicPeriod" startAt="2"/>
            </a:pPr>
            <a:endParaRPr lang="en-AU" sz="2000" dirty="0" smtClean="0"/>
          </a:p>
          <a:p>
            <a:pPr>
              <a:buNone/>
            </a:pPr>
            <a:endParaRPr lang="en-AU" sz="1400" dirty="0" smtClean="0"/>
          </a:p>
          <a:p>
            <a:pPr>
              <a:buNone/>
            </a:pPr>
            <a:endParaRPr lang="en-AU" sz="1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33</a:t>
            </a:fld>
            <a:endParaRPr lang="en-US" dirty="0"/>
          </a:p>
        </p:txBody>
      </p:sp>
      <p:sp>
        <p:nvSpPr>
          <p:cNvPr id="15" name="Right Arrow 14"/>
          <p:cNvSpPr/>
          <p:nvPr/>
        </p:nvSpPr>
        <p:spPr>
          <a:xfrm>
            <a:off x="4453655" y="1844824"/>
            <a:ext cx="694409" cy="576064"/>
          </a:xfrm>
          <a:prstGeom prst="rightArrow">
            <a:avLst/>
          </a:prstGeom>
          <a:solidFill>
            <a:srgbClr val="FF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sp>
        <p:nvSpPr>
          <p:cNvPr id="16" name="TextBox 15"/>
          <p:cNvSpPr txBox="1"/>
          <p:nvPr/>
        </p:nvSpPr>
        <p:spPr>
          <a:xfrm>
            <a:off x="539552" y="1700808"/>
            <a:ext cx="3384376" cy="3477875"/>
          </a:xfrm>
          <a:prstGeom prst="rect">
            <a:avLst/>
          </a:prstGeom>
          <a:noFill/>
        </p:spPr>
        <p:txBody>
          <a:bodyPr wrap="square" rtlCol="0">
            <a:spAutoFit/>
          </a:bodyPr>
          <a:lstStyle/>
          <a:p>
            <a:r>
              <a:rPr lang="en-AU" sz="2000" dirty="0" smtClean="0">
                <a:latin typeface="Helvetica" pitchFamily="34" charset="0"/>
              </a:rPr>
              <a:t>Each part of the letter is placed against the left-hand margin of the page (the sender’s address, the date, the inside address and the salutations).</a:t>
            </a:r>
          </a:p>
          <a:p>
            <a:endParaRPr lang="en-AU" sz="2000" dirty="0" smtClean="0">
              <a:latin typeface="Helvetica" pitchFamily="34" charset="0"/>
            </a:endParaRPr>
          </a:p>
          <a:p>
            <a:r>
              <a:rPr lang="en-AU" sz="2000" dirty="0" smtClean="0">
                <a:latin typeface="Helvetica" pitchFamily="34" charset="0"/>
              </a:rPr>
              <a:t>Supplementary parts such as enclosures, file numbers and copy notations are also blocked.</a:t>
            </a:r>
            <a:endParaRPr lang="en-AU" sz="2000" dirty="0">
              <a:latin typeface="Helvetica" pitchFamily="34" charset="0"/>
            </a:endParaRPr>
          </a:p>
        </p:txBody>
      </p:sp>
      <p:sp>
        <p:nvSpPr>
          <p:cNvPr id="17" name="Right Arrow 16"/>
          <p:cNvSpPr/>
          <p:nvPr/>
        </p:nvSpPr>
        <p:spPr>
          <a:xfrm>
            <a:off x="4453655" y="2420888"/>
            <a:ext cx="694409" cy="576064"/>
          </a:xfrm>
          <a:prstGeom prst="rightArrow">
            <a:avLst/>
          </a:prstGeom>
          <a:solidFill>
            <a:srgbClr val="FF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pic>
        <p:nvPicPr>
          <p:cNvPr id="21" name="Picture 20" descr="Full block style.jpg"/>
          <p:cNvPicPr/>
          <p:nvPr/>
        </p:nvPicPr>
        <p:blipFill>
          <a:blip r:embed="rId3" cstate="print"/>
          <a:stretch>
            <a:fillRect/>
          </a:stretch>
        </p:blipFill>
        <p:spPr>
          <a:xfrm>
            <a:off x="5148064" y="1844824"/>
            <a:ext cx="1762125" cy="3438525"/>
          </a:xfrm>
          <a:prstGeom prst="rect">
            <a:avLst/>
          </a:prstGeom>
        </p:spPr>
      </p:pic>
      <p:sp>
        <p:nvSpPr>
          <p:cNvPr id="22" name="Right Arrow 21"/>
          <p:cNvSpPr/>
          <p:nvPr/>
        </p:nvSpPr>
        <p:spPr>
          <a:xfrm>
            <a:off x="4453655" y="2852936"/>
            <a:ext cx="694409" cy="576064"/>
          </a:xfrm>
          <a:prstGeom prst="rightArrow">
            <a:avLst/>
          </a:prstGeom>
          <a:solidFill>
            <a:srgbClr val="FF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sp>
        <p:nvSpPr>
          <p:cNvPr id="23" name="Right Arrow 22"/>
          <p:cNvSpPr/>
          <p:nvPr/>
        </p:nvSpPr>
        <p:spPr>
          <a:xfrm>
            <a:off x="4453655" y="3284984"/>
            <a:ext cx="694409" cy="576064"/>
          </a:xfrm>
          <a:prstGeom prst="rightArrow">
            <a:avLst/>
          </a:prstGeom>
          <a:solidFill>
            <a:srgbClr val="FF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sp>
        <p:nvSpPr>
          <p:cNvPr id="24" name="Right Arrow 23"/>
          <p:cNvSpPr/>
          <p:nvPr/>
        </p:nvSpPr>
        <p:spPr>
          <a:xfrm>
            <a:off x="4453655" y="4221088"/>
            <a:ext cx="694409" cy="576064"/>
          </a:xfrm>
          <a:prstGeom prst="rightArrow">
            <a:avLst/>
          </a:prstGeom>
          <a:solidFill>
            <a:srgbClr val="FF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0"/>
            <a:ext cx="7467600" cy="1143000"/>
          </a:xfrm>
        </p:spPr>
        <p:txBody>
          <a:bodyPr>
            <a:normAutofit/>
          </a:bodyPr>
          <a:lstStyle/>
          <a:p>
            <a:r>
              <a:rPr lang="en-AU" sz="3400" b="1" dirty="0" smtClean="0">
                <a:solidFill>
                  <a:srgbClr val="FF6600"/>
                </a:solidFill>
                <a:latin typeface="Helvetica" pitchFamily="34" charset="0"/>
              </a:rPr>
              <a:t>Different styles of letters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124744"/>
            <a:ext cx="7467600" cy="5472608"/>
          </a:xfrm>
        </p:spPr>
        <p:txBody>
          <a:bodyPr>
            <a:normAutofit fontScale="92500" lnSpcReduction="20000"/>
          </a:bodyPr>
          <a:lstStyle/>
          <a:p>
            <a:pPr marL="905256" lvl="1" indent="-457200" algn="ctr">
              <a:buNone/>
            </a:pPr>
            <a:r>
              <a:rPr lang="en-AU" b="1" dirty="0" smtClean="0">
                <a:latin typeface="Helvetica" pitchFamily="34" charset="0"/>
              </a:rPr>
              <a:t>Semi block style</a:t>
            </a:r>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r>
              <a:rPr lang="en-AU" sz="2000" i="1" dirty="0" smtClean="0">
                <a:solidFill>
                  <a:srgbClr val="00B050"/>
                </a:solidFill>
              </a:rPr>
              <a:t> </a:t>
            </a:r>
            <a:endParaRPr lang="en-AU" sz="2100" i="1" dirty="0" smtClean="0">
              <a:solidFill>
                <a:srgbClr val="00B050"/>
              </a:solidFill>
            </a:endParaRPr>
          </a:p>
          <a:p>
            <a:pPr marL="905256" lvl="1" indent="-457200" algn="ctr">
              <a:buNone/>
            </a:pPr>
            <a:r>
              <a:rPr lang="en-AU" sz="2400" i="1" dirty="0" smtClean="0">
                <a:solidFill>
                  <a:srgbClr val="00B050"/>
                </a:solidFill>
                <a:latin typeface="Helvetica" pitchFamily="34" charset="0"/>
              </a:rPr>
              <a:t>This is the most conservative of the three layouts.</a:t>
            </a:r>
            <a:endParaRPr lang="en-AU" sz="2400" i="1" dirty="0" smtClean="0">
              <a:latin typeface="Helvetica" pitchFamily="34" charset="0"/>
            </a:endParaRPr>
          </a:p>
          <a:p>
            <a:pPr>
              <a:buNone/>
            </a:pPr>
            <a:endParaRPr lang="en-AU" sz="1400" dirty="0" smtClean="0"/>
          </a:p>
          <a:p>
            <a:pPr>
              <a:buNone/>
            </a:pPr>
            <a:endParaRPr lang="en-AU" sz="1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34</a:t>
            </a:fld>
            <a:endParaRPr lang="en-US" dirty="0"/>
          </a:p>
        </p:txBody>
      </p:sp>
      <p:sp>
        <p:nvSpPr>
          <p:cNvPr id="15" name="Right Arrow 14"/>
          <p:cNvSpPr/>
          <p:nvPr/>
        </p:nvSpPr>
        <p:spPr>
          <a:xfrm>
            <a:off x="4017168" y="2276872"/>
            <a:ext cx="694409" cy="576064"/>
          </a:xfrm>
          <a:prstGeom prst="rightArrow">
            <a:avLst/>
          </a:prstGeom>
          <a:solidFill>
            <a:srgbClr val="FF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sp>
        <p:nvSpPr>
          <p:cNvPr id="16" name="TextBox 15"/>
          <p:cNvSpPr txBox="1"/>
          <p:nvPr/>
        </p:nvSpPr>
        <p:spPr>
          <a:xfrm>
            <a:off x="611560" y="2204864"/>
            <a:ext cx="3059832" cy="2462213"/>
          </a:xfrm>
          <a:prstGeom prst="rect">
            <a:avLst/>
          </a:prstGeom>
          <a:noFill/>
        </p:spPr>
        <p:txBody>
          <a:bodyPr wrap="square" rtlCol="0">
            <a:spAutoFit/>
          </a:bodyPr>
          <a:lstStyle/>
          <a:p>
            <a:pPr lvl="0"/>
            <a:r>
              <a:rPr lang="en-AU" sz="2200" dirty="0" smtClean="0">
                <a:latin typeface="Helvetica" pitchFamily="34" charset="0"/>
              </a:rPr>
              <a:t>Uses the same layout as Modified Block Style, except that the first line of each paragraph is indented from the left-hand margin. </a:t>
            </a:r>
            <a:endParaRPr lang="en-AU" sz="2200" dirty="0">
              <a:latin typeface="Helvetica" pitchFamily="34" charset="0"/>
            </a:endParaRPr>
          </a:p>
        </p:txBody>
      </p:sp>
      <p:sp>
        <p:nvSpPr>
          <p:cNvPr id="17" name="Right Arrow 16"/>
          <p:cNvSpPr/>
          <p:nvPr/>
        </p:nvSpPr>
        <p:spPr>
          <a:xfrm>
            <a:off x="4017168" y="2780928"/>
            <a:ext cx="694409" cy="576064"/>
          </a:xfrm>
          <a:prstGeom prst="rightArrow">
            <a:avLst/>
          </a:prstGeom>
          <a:solidFill>
            <a:srgbClr val="FF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sp>
        <p:nvSpPr>
          <p:cNvPr id="23" name="Right Arrow 22"/>
          <p:cNvSpPr/>
          <p:nvPr/>
        </p:nvSpPr>
        <p:spPr>
          <a:xfrm>
            <a:off x="4021607" y="3356992"/>
            <a:ext cx="694409" cy="576064"/>
          </a:xfrm>
          <a:prstGeom prst="rightArrow">
            <a:avLst/>
          </a:prstGeom>
          <a:solidFill>
            <a:srgbClr val="FF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sp>
        <p:nvSpPr>
          <p:cNvPr id="24" name="Right Arrow 23"/>
          <p:cNvSpPr/>
          <p:nvPr/>
        </p:nvSpPr>
        <p:spPr>
          <a:xfrm rot="10800000">
            <a:off x="6730230" y="1916832"/>
            <a:ext cx="694409" cy="576064"/>
          </a:xfrm>
          <a:prstGeom prst="rightArrow">
            <a:avLst/>
          </a:prstGeom>
          <a:solidFill>
            <a:srgbClr val="FF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pic>
        <p:nvPicPr>
          <p:cNvPr id="12" name="Picture 11"/>
          <p:cNvPicPr/>
          <p:nvPr/>
        </p:nvPicPr>
        <p:blipFill>
          <a:blip r:embed="rId3" cstate="print"/>
          <a:srcRect l="38307" t="9465"/>
          <a:stretch>
            <a:fillRect/>
          </a:stretch>
        </p:blipFill>
        <p:spPr bwMode="auto">
          <a:xfrm>
            <a:off x="4737248" y="1700808"/>
            <a:ext cx="1743075" cy="3457575"/>
          </a:xfrm>
          <a:prstGeom prst="rect">
            <a:avLst/>
          </a:prstGeom>
          <a:noFill/>
          <a:ln w="9525">
            <a:noFill/>
            <a:miter lim="800000"/>
            <a:headEnd/>
            <a:tailEnd/>
          </a:ln>
        </p:spPr>
      </p:pic>
      <p:sp>
        <p:nvSpPr>
          <p:cNvPr id="13" name="Right Arrow 12"/>
          <p:cNvSpPr/>
          <p:nvPr/>
        </p:nvSpPr>
        <p:spPr>
          <a:xfrm rot="10800000">
            <a:off x="6753472" y="4077072"/>
            <a:ext cx="694409" cy="576064"/>
          </a:xfrm>
          <a:prstGeom prst="rightArrow">
            <a:avLst/>
          </a:prstGeom>
          <a:solidFill>
            <a:srgbClr val="FF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188640"/>
            <a:ext cx="7467600" cy="1143000"/>
          </a:xfrm>
        </p:spPr>
        <p:txBody>
          <a:bodyPr>
            <a:normAutofit/>
          </a:bodyPr>
          <a:lstStyle/>
          <a:p>
            <a:r>
              <a:rPr lang="en-AU" sz="3400" b="1" dirty="0" smtClean="0">
                <a:solidFill>
                  <a:srgbClr val="FF6600"/>
                </a:solidFill>
                <a:latin typeface="Helvetica" pitchFamily="34" charset="0"/>
              </a:rPr>
              <a:t>Memos versus letters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196752"/>
            <a:ext cx="7467600" cy="4525963"/>
          </a:xfrm>
        </p:spPr>
        <p:txBody>
          <a:bodyPr>
            <a:normAutofit/>
          </a:bodyPr>
          <a:lstStyle/>
          <a:p>
            <a:pPr>
              <a:buNone/>
            </a:pPr>
            <a:r>
              <a:rPr lang="en-AU" sz="2200" dirty="0" smtClean="0">
                <a:latin typeface="Helvetica" pitchFamily="34" charset="0"/>
              </a:rPr>
              <a:t>        </a:t>
            </a:r>
            <a:r>
              <a:rPr lang="en-AU" sz="2200" b="1" dirty="0" smtClean="0">
                <a:latin typeface="Helvetica" pitchFamily="34" charset="0"/>
              </a:rPr>
              <a:t>Memos: internal                             Letters: external</a:t>
            </a:r>
          </a:p>
          <a:p>
            <a:pPr>
              <a:buNone/>
            </a:pPr>
            <a:endParaRPr lang="en-AU" sz="2200" dirty="0" smtClean="0">
              <a:latin typeface="Helvetica" pitchFamily="34" charset="0"/>
            </a:endParaRPr>
          </a:p>
          <a:p>
            <a:pPr>
              <a:buNone/>
            </a:pPr>
            <a:endParaRPr lang="en-AU" sz="2200" dirty="0" smtClean="0">
              <a:latin typeface="Helvetica" pitchFamily="34" charset="0"/>
            </a:endParaRPr>
          </a:p>
          <a:p>
            <a:pPr>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35</a:t>
            </a:fld>
            <a:endParaRPr lang="en-US" dirty="0"/>
          </a:p>
        </p:txBody>
      </p:sp>
      <p:sp>
        <p:nvSpPr>
          <p:cNvPr id="97281" name="Text Box 1"/>
          <p:cNvSpPr txBox="1">
            <a:spLocks noChangeArrowheads="1"/>
          </p:cNvSpPr>
          <p:nvPr/>
        </p:nvSpPr>
        <p:spPr bwMode="auto">
          <a:xfrm>
            <a:off x="395536" y="1772816"/>
            <a:ext cx="3816424" cy="4176464"/>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AU" sz="1800" b="1" i="0" u="none" strike="noStrike" cap="none" normalizeH="0" baseline="0" dirty="0" smtClean="0">
                <a:ln>
                  <a:noFill/>
                </a:ln>
                <a:solidFill>
                  <a:schemeClr val="tx1"/>
                </a:solidFill>
                <a:effectLst/>
                <a:latin typeface="Helvetica" pitchFamily="34" charset="0"/>
              </a:rPr>
              <a:t>M</a:t>
            </a:r>
            <a:r>
              <a:rPr kumimoji="0" lang="en-AU" sz="1400" b="1" i="0" u="none" strike="noStrike" cap="none" normalizeH="0" baseline="0" dirty="0" smtClean="0">
                <a:ln>
                  <a:noFill/>
                </a:ln>
                <a:solidFill>
                  <a:schemeClr val="tx1"/>
                </a:solidFill>
                <a:effectLst/>
                <a:latin typeface="Helvetica" pitchFamily="34" charset="0"/>
              </a:rPr>
              <a:t>emo</a:t>
            </a:r>
            <a:r>
              <a:rPr kumimoji="0" lang="en-AU" sz="2200" b="1" i="0" u="none" strike="noStrike" cap="none" normalizeH="0" baseline="0" dirty="0" smtClean="0">
                <a:ln>
                  <a:noFill/>
                </a:ln>
                <a:solidFill>
                  <a:schemeClr val="tx1"/>
                </a:solidFill>
                <a:effectLst/>
                <a:latin typeface="Helvetica" pitchFamily="34" charset="0"/>
              </a:rPr>
              <a:t>	</a:t>
            </a:r>
            <a:r>
              <a:rPr kumimoji="0" lang="en-AU" sz="2200" b="0" i="0" u="none" strike="noStrike" cap="none" normalizeH="0" baseline="0" dirty="0" smtClean="0">
                <a:ln>
                  <a:noFill/>
                </a:ln>
                <a:solidFill>
                  <a:schemeClr val="tx1"/>
                </a:solidFill>
                <a:effectLst/>
                <a:latin typeface="Helvetica" pitchFamily="34" charset="0"/>
              </a:rPr>
              <a:t>			             </a:t>
            </a:r>
          </a:p>
          <a:p>
            <a:pPr marL="457200" marR="0" lvl="1" indent="0" algn="l" defTabSz="914400" rtl="0" eaLnBrk="1" fontAlgn="base" latinLnBrk="0" hangingPunct="1">
              <a:lnSpc>
                <a:spcPct val="100000"/>
              </a:lnSpc>
              <a:spcBef>
                <a:spcPts val="300"/>
              </a:spcBef>
              <a:spcAft>
                <a:spcPts val="800"/>
              </a:spcAft>
              <a:buClrTx/>
              <a:buSzTx/>
              <a:buFontTx/>
              <a:buNone/>
              <a:tabLst/>
            </a:pPr>
            <a:r>
              <a:rPr kumimoji="0" lang="en-AU" sz="800" b="0" i="0" u="none" strike="noStrike" cap="none" normalizeH="0" baseline="0" dirty="0" smtClean="0">
                <a:ln>
                  <a:noFill/>
                </a:ln>
                <a:solidFill>
                  <a:schemeClr val="tx1"/>
                </a:solidFill>
                <a:effectLst/>
                <a:latin typeface="Helvetica" pitchFamily="34" charset="0"/>
              </a:rPr>
              <a:t>Date:	19 December 2012</a:t>
            </a:r>
          </a:p>
          <a:p>
            <a:pPr marL="457200" marR="0" lvl="1" indent="0" algn="l" defTabSz="914400" rtl="0" eaLnBrk="1" fontAlgn="base" latinLnBrk="0" hangingPunct="1">
              <a:lnSpc>
                <a:spcPct val="100000"/>
              </a:lnSpc>
              <a:spcBef>
                <a:spcPts val="300"/>
              </a:spcBef>
              <a:spcAft>
                <a:spcPts val="800"/>
              </a:spcAft>
              <a:buClrTx/>
              <a:buSzTx/>
              <a:buFontTx/>
              <a:buNone/>
              <a:tabLst/>
            </a:pPr>
            <a:r>
              <a:rPr kumimoji="0" lang="en-AU" sz="800" b="0" i="0" u="none" strike="noStrike" cap="none" normalizeH="0" baseline="0" dirty="0" smtClean="0">
                <a:ln>
                  <a:noFill/>
                </a:ln>
                <a:solidFill>
                  <a:schemeClr val="tx1"/>
                </a:solidFill>
                <a:effectLst/>
                <a:latin typeface="Helvetica" pitchFamily="34" charset="0"/>
              </a:rPr>
              <a:t>To:	Hospitality staff</a:t>
            </a:r>
          </a:p>
          <a:p>
            <a:pPr marL="457200" marR="0" lvl="1" indent="0" algn="l" defTabSz="914400" rtl="0" eaLnBrk="1" fontAlgn="base" latinLnBrk="0" hangingPunct="1">
              <a:lnSpc>
                <a:spcPct val="100000"/>
              </a:lnSpc>
              <a:spcBef>
                <a:spcPts val="300"/>
              </a:spcBef>
              <a:spcAft>
                <a:spcPts val="800"/>
              </a:spcAft>
              <a:buClrTx/>
              <a:buSzTx/>
              <a:buFontTx/>
              <a:buNone/>
              <a:tabLst/>
            </a:pPr>
            <a:r>
              <a:rPr kumimoji="0" lang="en-AU" sz="800" b="0" i="0" u="none" strike="noStrike" cap="none" normalizeH="0" baseline="0" dirty="0" smtClean="0">
                <a:ln>
                  <a:noFill/>
                </a:ln>
                <a:solidFill>
                  <a:schemeClr val="tx1"/>
                </a:solidFill>
                <a:effectLst/>
                <a:latin typeface="Helvetica" pitchFamily="34" charset="0"/>
              </a:rPr>
              <a:t>From:	Birgitta March</a:t>
            </a:r>
          </a:p>
          <a:p>
            <a:pPr marL="457200" marR="0" lvl="1" indent="0" algn="l" defTabSz="914400" rtl="0" eaLnBrk="1" fontAlgn="base" latinLnBrk="0" hangingPunct="1">
              <a:lnSpc>
                <a:spcPct val="100000"/>
              </a:lnSpc>
              <a:spcBef>
                <a:spcPts val="300"/>
              </a:spcBef>
              <a:spcAft>
                <a:spcPts val="800"/>
              </a:spcAft>
              <a:buClrTx/>
              <a:buSzTx/>
              <a:buFontTx/>
              <a:buNone/>
              <a:tabLst/>
            </a:pPr>
            <a:r>
              <a:rPr kumimoji="0" lang="en-AU" sz="800" b="0" i="0" u="none" strike="noStrike" cap="none" normalizeH="0" baseline="0" dirty="0" smtClean="0">
                <a:ln>
                  <a:noFill/>
                </a:ln>
                <a:solidFill>
                  <a:schemeClr val="tx1"/>
                </a:solidFill>
                <a:effectLst/>
                <a:latin typeface="Helvetica" pitchFamily="34" charset="0"/>
              </a:rPr>
              <a:t>Re:	Work placements</a:t>
            </a:r>
          </a:p>
          <a:p>
            <a:pPr marL="457200" marR="0" lvl="1" indent="0" algn="l" defTabSz="914400" rtl="0" eaLnBrk="1" fontAlgn="base" latinLnBrk="0" hangingPunct="1">
              <a:lnSpc>
                <a:spcPct val="100000"/>
              </a:lnSpc>
              <a:spcBef>
                <a:spcPct val="0"/>
              </a:spcBef>
              <a:spcAft>
                <a:spcPts val="600"/>
              </a:spcAft>
              <a:buClrTx/>
              <a:buSzTx/>
              <a:buFontTx/>
              <a:buNone/>
              <a:tabLst/>
            </a:pPr>
            <a:endParaRPr kumimoji="0" lang="en-AU" sz="800" b="0" i="0" u="none" strike="noStrike" cap="none" normalizeH="0" baseline="0" dirty="0" smtClean="0">
              <a:ln>
                <a:noFill/>
              </a:ln>
              <a:solidFill>
                <a:schemeClr val="tx1"/>
              </a:solidFill>
              <a:effectLst/>
              <a:latin typeface="Helvetica" pitchFamily="34" charset="0"/>
            </a:endParaRPr>
          </a:p>
          <a:p>
            <a:pPr marL="457200" marR="0" lvl="1" indent="0" algn="l" defTabSz="914400" rtl="0" eaLnBrk="1" fontAlgn="base" latinLnBrk="0" hangingPunct="1">
              <a:lnSpc>
                <a:spcPct val="100000"/>
              </a:lnSpc>
              <a:spcBef>
                <a:spcPct val="0"/>
              </a:spcBef>
              <a:spcAft>
                <a:spcPts val="600"/>
              </a:spcAft>
              <a:buClrTx/>
              <a:buSzTx/>
              <a:buFontTx/>
              <a:buNone/>
              <a:tabLst/>
            </a:pPr>
            <a:r>
              <a:rPr kumimoji="0" lang="en-AU" sz="800" b="0" i="0" u="none" strike="noStrike" cap="none" normalizeH="0" baseline="0" dirty="0" smtClean="0">
                <a:ln>
                  <a:noFill/>
                </a:ln>
                <a:solidFill>
                  <a:schemeClr val="tx1"/>
                </a:solidFill>
                <a:effectLst/>
                <a:latin typeface="Helvetica" pitchFamily="34" charset="0"/>
              </a:rPr>
              <a:t>You are invited to a meeting to discuss work placements for our hospitality volunteers for the upcoming New Year's Eve function.</a:t>
            </a:r>
          </a:p>
          <a:p>
            <a:pPr marL="0" marR="0" lvl="0" indent="0" algn="l" defTabSz="914400" rtl="0" eaLnBrk="1" fontAlgn="base" latinLnBrk="0" hangingPunct="1">
              <a:lnSpc>
                <a:spcPct val="100000"/>
              </a:lnSpc>
              <a:spcBef>
                <a:spcPct val="0"/>
              </a:spcBef>
              <a:spcAft>
                <a:spcPts val="600"/>
              </a:spcAft>
              <a:buClrTx/>
              <a:buSzTx/>
              <a:buFontTx/>
              <a:buNone/>
              <a:tabLst/>
            </a:pPr>
            <a:endParaRPr kumimoji="0" lang="en-AU" sz="800" b="0" i="0" u="none" strike="noStrike" cap="none" normalizeH="0" baseline="0" dirty="0" smtClean="0">
              <a:ln>
                <a:noFill/>
              </a:ln>
              <a:solidFill>
                <a:schemeClr val="tx1"/>
              </a:solidFill>
              <a:effectLst/>
              <a:latin typeface="Helvetica" pitchFamily="34" charset="0"/>
            </a:endParaRPr>
          </a:p>
          <a:p>
            <a:pPr marL="1371600" marR="0" lvl="3" indent="0" algn="l" defTabSz="914400" rtl="0" eaLnBrk="1" fontAlgn="base" latinLnBrk="0" hangingPunct="1">
              <a:lnSpc>
                <a:spcPct val="100000"/>
              </a:lnSpc>
              <a:spcBef>
                <a:spcPct val="0"/>
              </a:spcBef>
              <a:spcAft>
                <a:spcPts val="600"/>
              </a:spcAft>
              <a:buClrTx/>
              <a:buSzTx/>
              <a:buFontTx/>
              <a:buNone/>
              <a:tabLst/>
            </a:pPr>
            <a:r>
              <a:rPr kumimoji="0" lang="en-AU" sz="800" b="0" i="0" u="none" strike="noStrike" cap="none" normalizeH="0" baseline="0" dirty="0" smtClean="0">
                <a:ln>
                  <a:noFill/>
                </a:ln>
                <a:solidFill>
                  <a:schemeClr val="tx1"/>
                </a:solidFill>
                <a:effectLst/>
                <a:latin typeface="Helvetica" pitchFamily="34" charset="0"/>
              </a:rPr>
              <a:t>Time:	10 am</a:t>
            </a:r>
          </a:p>
          <a:p>
            <a:pPr marL="1371600" marR="0" lvl="3" indent="0" algn="l" defTabSz="914400" rtl="0" eaLnBrk="1" fontAlgn="base" latinLnBrk="0" hangingPunct="1">
              <a:lnSpc>
                <a:spcPct val="100000"/>
              </a:lnSpc>
              <a:spcBef>
                <a:spcPct val="0"/>
              </a:spcBef>
              <a:spcAft>
                <a:spcPts val="600"/>
              </a:spcAft>
              <a:buClrTx/>
              <a:buSzTx/>
              <a:buFontTx/>
              <a:buNone/>
              <a:tabLst/>
            </a:pPr>
            <a:r>
              <a:rPr kumimoji="0" lang="en-AU" sz="800" b="0" i="0" u="none" strike="noStrike" cap="none" normalizeH="0" baseline="0" dirty="0" smtClean="0">
                <a:ln>
                  <a:noFill/>
                </a:ln>
                <a:solidFill>
                  <a:schemeClr val="tx1"/>
                </a:solidFill>
                <a:effectLst/>
                <a:latin typeface="Helvetica" pitchFamily="34" charset="0"/>
              </a:rPr>
              <a:t>Date:	22 December 2012</a:t>
            </a:r>
          </a:p>
          <a:p>
            <a:pPr marL="1371600" marR="0" lvl="3" indent="0" algn="l" defTabSz="914400" rtl="0" eaLnBrk="1" fontAlgn="base" latinLnBrk="0" hangingPunct="1">
              <a:lnSpc>
                <a:spcPct val="100000"/>
              </a:lnSpc>
              <a:spcBef>
                <a:spcPct val="0"/>
              </a:spcBef>
              <a:spcAft>
                <a:spcPts val="600"/>
              </a:spcAft>
              <a:buClrTx/>
              <a:buSzTx/>
              <a:buFontTx/>
              <a:buNone/>
              <a:tabLst/>
            </a:pPr>
            <a:r>
              <a:rPr kumimoji="0" lang="en-AU" sz="800" b="0" i="0" u="none" strike="noStrike" cap="none" normalizeH="0" baseline="0" dirty="0" smtClean="0">
                <a:ln>
                  <a:noFill/>
                </a:ln>
                <a:solidFill>
                  <a:schemeClr val="tx1"/>
                </a:solidFill>
                <a:effectLst/>
                <a:latin typeface="Helvetica" pitchFamily="34" charset="0"/>
              </a:rPr>
              <a:t>Where:	Meeting room B245, level 3</a:t>
            </a:r>
          </a:p>
          <a:p>
            <a:pPr marL="1371600" marR="0" lvl="3" indent="0" algn="l" defTabSz="914400" rtl="0" eaLnBrk="1" fontAlgn="base" latinLnBrk="0" hangingPunct="1">
              <a:lnSpc>
                <a:spcPct val="100000"/>
              </a:lnSpc>
              <a:spcBef>
                <a:spcPct val="0"/>
              </a:spcBef>
              <a:spcAft>
                <a:spcPts val="600"/>
              </a:spcAft>
              <a:buClrTx/>
              <a:buSzTx/>
              <a:buFontTx/>
              <a:buNone/>
              <a:tabLst/>
            </a:pPr>
            <a:r>
              <a:rPr kumimoji="0" lang="en-AU" sz="800" b="0" i="0" u="none" strike="noStrike" cap="none" normalizeH="0" baseline="0" dirty="0" smtClean="0">
                <a:ln>
                  <a:noFill/>
                </a:ln>
                <a:solidFill>
                  <a:schemeClr val="tx1"/>
                </a:solidFill>
                <a:effectLst/>
                <a:latin typeface="Helvetica" pitchFamily="34" charset="0"/>
              </a:rPr>
              <a:t>R.S.V.P:	By 21 December 2012</a:t>
            </a:r>
          </a:p>
          <a:p>
            <a:pPr marL="0" marR="0" lvl="0" indent="0" algn="l" defTabSz="914400" rtl="0" eaLnBrk="1" fontAlgn="base" latinLnBrk="0" hangingPunct="1">
              <a:lnSpc>
                <a:spcPct val="100000"/>
              </a:lnSpc>
              <a:spcBef>
                <a:spcPct val="0"/>
              </a:spcBef>
              <a:spcAft>
                <a:spcPts val="600"/>
              </a:spcAft>
              <a:buClrTx/>
              <a:buSzTx/>
              <a:buFontTx/>
              <a:buNone/>
              <a:tabLst/>
            </a:pPr>
            <a:r>
              <a:rPr kumimoji="0" lang="en-AU" sz="800" b="0" i="0" u="none" strike="noStrike" cap="none" normalizeH="0" baseline="0" dirty="0" smtClean="0">
                <a:ln>
                  <a:noFill/>
                </a:ln>
                <a:solidFill>
                  <a:schemeClr val="tx1"/>
                </a:solidFill>
                <a:effectLst/>
                <a:latin typeface="Helvetica" pitchFamily="34" charset="0"/>
              </a:rPr>
              <a:t>                                                               Email:</a:t>
            </a:r>
            <a:r>
              <a:rPr kumimoji="0" lang="en-AU" sz="800" b="0" i="0" u="none" strike="noStrike" cap="none" normalizeH="0" dirty="0" smtClean="0">
                <a:ln>
                  <a:noFill/>
                </a:ln>
                <a:solidFill>
                  <a:schemeClr val="tx1"/>
                </a:solidFill>
                <a:effectLst/>
                <a:latin typeface="Helvetica" pitchFamily="34" charset="0"/>
              </a:rPr>
              <a:t>         </a:t>
            </a:r>
            <a:r>
              <a:rPr kumimoji="0" lang="en-AU" sz="800" b="0" i="0" u="none" strike="noStrike" cap="none" normalizeH="0" baseline="0" dirty="0" smtClean="0">
                <a:ln>
                  <a:noFill/>
                </a:ln>
                <a:solidFill>
                  <a:schemeClr val="tx1"/>
                </a:solidFill>
                <a:effectLst/>
                <a:latin typeface="Helvetica" charset="0"/>
                <a:hlinkClick r:id="rId4"/>
              </a:rPr>
              <a:t>birgittam@angliss.edu.au</a:t>
            </a:r>
            <a:endParaRPr kumimoji="0" lang="en-AU" sz="800" b="0" i="0" u="none" strike="noStrike" cap="none" normalizeH="0" baseline="0" dirty="0" smtClean="0">
              <a:ln>
                <a:noFill/>
              </a:ln>
              <a:solidFill>
                <a:schemeClr val="tx1"/>
              </a:solidFill>
              <a:effectLst/>
              <a:latin typeface="Helvetica" pitchFamily="34" charset="0"/>
            </a:endParaRPr>
          </a:p>
          <a:p>
            <a:pPr marL="0" marR="0" lvl="0" indent="0" algn="l" defTabSz="914400" rtl="0" eaLnBrk="1" fontAlgn="base" latinLnBrk="0" hangingPunct="1">
              <a:lnSpc>
                <a:spcPct val="100000"/>
              </a:lnSpc>
              <a:spcBef>
                <a:spcPct val="0"/>
              </a:spcBef>
              <a:spcAft>
                <a:spcPts val="600"/>
              </a:spcAft>
              <a:buClrTx/>
              <a:buSzTx/>
              <a:buFontTx/>
              <a:buNone/>
              <a:tabLst/>
            </a:pPr>
            <a:endParaRPr kumimoji="0" lang="en-AU" sz="800" b="0" i="0" u="none" strike="noStrike" cap="none" normalizeH="0" baseline="0" dirty="0" smtClean="0">
              <a:ln>
                <a:noFill/>
              </a:ln>
              <a:solidFill>
                <a:schemeClr val="tx1"/>
              </a:solidFill>
              <a:effectLst/>
              <a:latin typeface="Helvetica" pitchFamily="34" charset="0"/>
            </a:endParaRPr>
          </a:p>
          <a:p>
            <a:pPr marL="1371600" marR="0" lvl="3" indent="0" algn="l" defTabSz="914400" rtl="0" eaLnBrk="1" fontAlgn="base" latinLnBrk="0" hangingPunct="1">
              <a:lnSpc>
                <a:spcPct val="100000"/>
              </a:lnSpc>
              <a:spcBef>
                <a:spcPct val="0"/>
              </a:spcBef>
              <a:spcAft>
                <a:spcPts val="600"/>
              </a:spcAft>
              <a:buClrTx/>
              <a:buSzTx/>
              <a:buFontTx/>
              <a:buNone/>
              <a:tabLst/>
            </a:pPr>
            <a:r>
              <a:rPr kumimoji="0" lang="en-AU" sz="800" b="0" i="0" u="none" strike="noStrike" cap="none" normalizeH="0" baseline="0" dirty="0" smtClean="0">
                <a:ln>
                  <a:noFill/>
                </a:ln>
                <a:solidFill>
                  <a:schemeClr val="tx1"/>
                </a:solidFill>
                <a:effectLst/>
                <a:latin typeface="Helvetica" pitchFamily="34" charset="0"/>
              </a:rPr>
              <a:t>I hope you can all attend.</a:t>
            </a:r>
            <a:endParaRPr kumimoji="0" lang="en-US" sz="800" b="0" i="0" u="none" strike="noStrike" cap="none" normalizeH="0" baseline="0" dirty="0" smtClean="0">
              <a:ln>
                <a:noFill/>
              </a:ln>
              <a:solidFill>
                <a:schemeClr val="tx1"/>
              </a:solidFill>
              <a:effectLst/>
              <a:latin typeface="Helvetica" pitchFamily="34" charset="0"/>
            </a:endParaRPr>
          </a:p>
        </p:txBody>
      </p:sp>
      <p:sp>
        <p:nvSpPr>
          <p:cNvPr id="97284" name="Rectangle 4"/>
          <p:cNvSpPr>
            <a:spLocks noChangeArrowheads="1"/>
          </p:cNvSpPr>
          <p:nvPr/>
        </p:nvSpPr>
        <p:spPr bwMode="auto">
          <a:xfrm>
            <a:off x="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AU" dirty="0">
              <a:latin typeface="Helvetica" pitchFamily="34" charset="0"/>
            </a:endParaRPr>
          </a:p>
        </p:txBody>
      </p:sp>
      <p:sp>
        <p:nvSpPr>
          <p:cNvPr id="97286" name="Rectangle 6"/>
          <p:cNvSpPr>
            <a:spLocks noChangeArrowheads="1"/>
          </p:cNvSpPr>
          <p:nvPr/>
        </p:nvSpPr>
        <p:spPr bwMode="auto">
          <a:xfrm>
            <a:off x="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AU" dirty="0">
              <a:latin typeface="Helvetica" pitchFamily="34" charset="0"/>
            </a:endParaRPr>
          </a:p>
        </p:txBody>
      </p:sp>
      <p:sp>
        <p:nvSpPr>
          <p:cNvPr id="102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AU"/>
          </a:p>
        </p:txBody>
      </p:sp>
      <p:graphicFrame>
        <p:nvGraphicFramePr>
          <p:cNvPr id="1027" name="Object 3"/>
          <p:cNvGraphicFramePr>
            <a:graphicFrameLocks noChangeAspect="1"/>
          </p:cNvGraphicFramePr>
          <p:nvPr/>
        </p:nvGraphicFramePr>
        <p:xfrm>
          <a:off x="3071802" y="1857364"/>
          <a:ext cx="1028700" cy="533400"/>
        </p:xfrm>
        <a:graphic>
          <a:graphicData uri="http://schemas.openxmlformats.org/presentationml/2006/ole">
            <mc:AlternateContent xmlns:mc="http://schemas.openxmlformats.org/markup-compatibility/2006">
              <mc:Choice xmlns:v="urn:schemas-microsoft-com:vml" Requires="v">
                <p:oleObj spid="_x0000_s1028" r:id="rId5" imgW="9549353" imgH="5024487" progId="">
                  <p:embed/>
                </p:oleObj>
              </mc:Choice>
              <mc:Fallback>
                <p:oleObj r:id="rId5" imgW="9549353" imgH="5024487" progId="">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71802" y="1857364"/>
                        <a:ext cx="102870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2" name="Picture 11" descr="C:\Documents and Settings\danielc\Desktop\12 March 2013.jpg"/>
          <p:cNvPicPr/>
          <p:nvPr/>
        </p:nvPicPr>
        <p:blipFill>
          <a:blip r:embed="rId7" cstate="print"/>
          <a:srcRect/>
          <a:stretch>
            <a:fillRect/>
          </a:stretch>
        </p:blipFill>
        <p:spPr bwMode="auto">
          <a:xfrm>
            <a:off x="5414818" y="1785926"/>
            <a:ext cx="2943396" cy="4191423"/>
          </a:xfrm>
          <a:prstGeom prst="rect">
            <a:avLst/>
          </a:prstGeom>
          <a:noFill/>
          <a:ln w="6350">
            <a:solidFill>
              <a:schemeClr val="tx1"/>
            </a:solidFill>
            <a:miter lim="800000"/>
            <a:headEnd/>
            <a:tailEnd/>
          </a:ln>
          <a:effec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Preparing letterheads</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b="1" dirty="0" smtClean="0">
                <a:latin typeface="Helvetica" pitchFamily="34" charset="0"/>
              </a:rPr>
              <a:t>Essential Parts</a:t>
            </a:r>
          </a:p>
          <a:p>
            <a:pPr marL="420688" indent="-420688">
              <a:spcBef>
                <a:spcPts val="600"/>
              </a:spcBef>
              <a:spcAft>
                <a:spcPts val="1200"/>
              </a:spcAft>
            </a:pPr>
            <a:r>
              <a:rPr lang="en-AU" sz="2200" dirty="0" smtClean="0">
                <a:latin typeface="Helvetica" pitchFamily="34" charset="0"/>
              </a:rPr>
              <a:t>Writer’s name and address</a:t>
            </a:r>
          </a:p>
          <a:p>
            <a:pPr marL="420688" indent="-420688">
              <a:spcBef>
                <a:spcPts val="600"/>
              </a:spcBef>
              <a:spcAft>
                <a:spcPts val="1200"/>
              </a:spcAft>
            </a:pPr>
            <a:r>
              <a:rPr lang="en-AU" sz="2200" dirty="0" smtClean="0">
                <a:latin typeface="Helvetica" pitchFamily="34" charset="0"/>
              </a:rPr>
              <a:t>Date</a:t>
            </a:r>
          </a:p>
          <a:p>
            <a:pPr marL="420688" indent="-420688">
              <a:spcBef>
                <a:spcPts val="600"/>
              </a:spcBef>
              <a:spcAft>
                <a:spcPts val="1200"/>
              </a:spcAft>
            </a:pPr>
            <a:r>
              <a:rPr lang="en-AU" sz="2200" dirty="0" smtClean="0">
                <a:latin typeface="Helvetica" pitchFamily="34" charset="0"/>
              </a:rPr>
              <a:t>Inside address</a:t>
            </a:r>
          </a:p>
          <a:p>
            <a:pPr marL="420688" indent="-420688">
              <a:spcBef>
                <a:spcPts val="600"/>
              </a:spcBef>
              <a:spcAft>
                <a:spcPts val="1200"/>
              </a:spcAft>
            </a:pPr>
            <a:r>
              <a:rPr lang="en-AU" sz="2200" dirty="0" smtClean="0">
                <a:latin typeface="Helvetica" pitchFamily="34" charset="0"/>
              </a:rPr>
              <a:t>Greeting or salutation</a:t>
            </a:r>
          </a:p>
          <a:p>
            <a:pPr marL="420688" indent="-420688">
              <a:spcBef>
                <a:spcPts val="600"/>
              </a:spcBef>
              <a:spcAft>
                <a:spcPts val="1200"/>
              </a:spcAft>
            </a:pPr>
            <a:r>
              <a:rPr lang="en-AU" sz="2200" dirty="0" smtClean="0">
                <a:latin typeface="Helvetica" pitchFamily="34" charset="0"/>
              </a:rPr>
              <a:t>Body of the letter</a:t>
            </a:r>
          </a:p>
          <a:p>
            <a:pPr marL="420688" indent="-420688">
              <a:spcBef>
                <a:spcPts val="600"/>
              </a:spcBef>
              <a:spcAft>
                <a:spcPts val="1200"/>
              </a:spcAft>
            </a:pPr>
            <a:r>
              <a:rPr lang="en-AU" sz="2200" dirty="0" smtClean="0">
                <a:latin typeface="Helvetica" pitchFamily="34" charset="0"/>
              </a:rPr>
              <a:t>Complimentary close</a:t>
            </a:r>
          </a:p>
          <a:p>
            <a:pPr marL="420688" indent="-420688">
              <a:spcBef>
                <a:spcPts val="600"/>
              </a:spcBef>
              <a:spcAft>
                <a:spcPts val="1200"/>
              </a:spcAft>
            </a:pPr>
            <a:r>
              <a:rPr lang="en-AU" sz="2200" dirty="0" smtClean="0">
                <a:latin typeface="Helvetica" pitchFamily="34" charset="0"/>
              </a:rPr>
              <a:t>Writer’s signature and job title or designation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36</a:t>
            </a:fld>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0"/>
            <a:ext cx="4536504" cy="1143000"/>
          </a:xfrm>
        </p:spPr>
        <p:txBody>
          <a:bodyPr>
            <a:normAutofit/>
          </a:bodyPr>
          <a:lstStyle/>
          <a:p>
            <a:r>
              <a:rPr lang="en-AU" sz="3400" b="1" dirty="0" smtClean="0">
                <a:solidFill>
                  <a:srgbClr val="FF6600"/>
                </a:solidFill>
                <a:latin typeface="Helvetica" pitchFamily="34" charset="0"/>
              </a:rPr>
              <a:t>Routine letters</a:t>
            </a:r>
          </a:p>
        </p:txBody>
      </p:sp>
      <p:sp>
        <p:nvSpPr>
          <p:cNvPr id="4" name="Slide Number Placeholder 3"/>
          <p:cNvSpPr>
            <a:spLocks noGrp="1"/>
          </p:cNvSpPr>
          <p:nvPr>
            <p:ph type="sldNum" sz="quarter" idx="12"/>
          </p:nvPr>
        </p:nvSpPr>
        <p:spPr/>
        <p:txBody>
          <a:bodyPr/>
          <a:lstStyle/>
          <a:p>
            <a:fld id="{90BDF71C-F485-43AE-8825-5070AF1EA8C9}" type="slidenum">
              <a:rPr lang="en-US" smtClean="0"/>
              <a:pPr/>
              <a:t>37</a:t>
            </a:fld>
            <a:endParaRPr lang="en-US" dirty="0"/>
          </a:p>
        </p:txBody>
      </p:sp>
      <p:graphicFrame>
        <p:nvGraphicFramePr>
          <p:cNvPr id="12" name="Table 11"/>
          <p:cNvGraphicFramePr>
            <a:graphicFrameLocks noGrp="1"/>
          </p:cNvGraphicFramePr>
          <p:nvPr/>
        </p:nvGraphicFramePr>
        <p:xfrm>
          <a:off x="683568" y="1268761"/>
          <a:ext cx="7992888" cy="3604780"/>
        </p:xfrm>
        <a:graphic>
          <a:graphicData uri="http://schemas.openxmlformats.org/drawingml/2006/table">
            <a:tbl>
              <a:tblPr firstRow="1" bandRow="1">
                <a:tableStyleId>{5C22544A-7EE6-4342-B048-85BDC9FD1C3A}</a:tableStyleId>
              </a:tblPr>
              <a:tblGrid>
                <a:gridCol w="2053219"/>
                <a:gridCol w="1833231"/>
                <a:gridCol w="4106438"/>
              </a:tblGrid>
              <a:tr h="158417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800" b="1" dirty="0" smtClean="0">
                          <a:solidFill>
                            <a:schemeClr val="bg1"/>
                          </a:solidFill>
                          <a:latin typeface="Helvetica" pitchFamily="34" charset="0"/>
                          <a:ea typeface="Times New Roman"/>
                          <a:cs typeface="Arial"/>
                        </a:rPr>
                        <a:t>Opening Paragraph</a:t>
                      </a:r>
                      <a:r>
                        <a:rPr lang="en-AU" sz="1800" b="1" dirty="0" smtClean="0">
                          <a:solidFill>
                            <a:schemeClr val="bg1"/>
                          </a:solidFill>
                          <a:latin typeface="Helvetica" pitchFamily="34" charset="0"/>
                          <a:ea typeface="Times New Roman"/>
                          <a:cs typeface="Times New Roman"/>
                        </a:rPr>
                        <a:t> </a:t>
                      </a:r>
                    </a:p>
                  </a:txBody>
                  <a:tcPr anchor="ctr">
                    <a:solidFill>
                      <a:srgbClr val="FF66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800" b="0" dirty="0" smtClean="0">
                          <a:solidFill>
                            <a:schemeClr val="tx1"/>
                          </a:solidFill>
                          <a:latin typeface="Helvetica" pitchFamily="34" charset="0"/>
                          <a:ea typeface="Times New Roman"/>
                          <a:cs typeface="Arial"/>
                        </a:rPr>
                        <a:t>Refer to the communication they</a:t>
                      </a:r>
                      <a:r>
                        <a:rPr lang="en-AU" sz="1800" b="0" baseline="0" dirty="0" smtClean="0">
                          <a:solidFill>
                            <a:schemeClr val="tx1"/>
                          </a:solidFill>
                          <a:latin typeface="Helvetica" pitchFamily="34" charset="0"/>
                          <a:ea typeface="Times New Roman"/>
                          <a:cs typeface="Arial"/>
                        </a:rPr>
                        <a:t> </a:t>
                      </a:r>
                      <a:r>
                        <a:rPr lang="en-AU" sz="1800" b="0" dirty="0" smtClean="0">
                          <a:solidFill>
                            <a:schemeClr val="tx1"/>
                          </a:solidFill>
                          <a:latin typeface="Helvetica" pitchFamily="34" charset="0"/>
                          <a:ea typeface="Times New Roman"/>
                          <a:cs typeface="Arial"/>
                        </a:rPr>
                        <a:t>sent to you</a:t>
                      </a:r>
                      <a:r>
                        <a:rPr lang="en-AU" sz="1800" b="0" dirty="0" smtClean="0">
                          <a:solidFill>
                            <a:schemeClr val="tx1"/>
                          </a:solidFill>
                          <a:latin typeface="Helvetica" pitchFamily="34" charset="0"/>
                          <a:ea typeface="Times New Roman"/>
                          <a:cs typeface="Times New Roman"/>
                        </a:rPr>
                        <a:t> </a:t>
                      </a:r>
                    </a:p>
                  </a:txBody>
                  <a:tcPr anchor="ctr">
                    <a:solidFill>
                      <a:schemeClr val="bg1">
                        <a:lumMod val="8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Char char="•"/>
                        <a:tabLst>
                          <a:tab pos="457200" algn="l"/>
                        </a:tabLst>
                      </a:pPr>
                      <a:r>
                        <a:rPr lang="en-AU" sz="1800" b="0" dirty="0" smtClean="0">
                          <a:solidFill>
                            <a:schemeClr val="tx1"/>
                          </a:solidFill>
                          <a:latin typeface="Helvetica" pitchFamily="34" charset="0"/>
                        </a:rPr>
                        <a:t> Here is the information you asked for in your letter of 12 November. </a:t>
                      </a: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lang="en-AU" sz="1800" b="0" dirty="0" smtClean="0">
                          <a:solidFill>
                            <a:schemeClr val="tx1"/>
                          </a:solidFill>
                          <a:latin typeface="Helvetica" pitchFamily="34" charset="0"/>
                        </a:rPr>
                        <a:t> In your letter of 9 June, you asked for... </a:t>
                      </a: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lang="en-AU" sz="1800" b="0" dirty="0" smtClean="0">
                          <a:solidFill>
                            <a:schemeClr val="tx1"/>
                          </a:solidFill>
                          <a:latin typeface="Helvetica" pitchFamily="34" charset="0"/>
                        </a:rPr>
                        <a:t> In reply to your letter of 8 August... </a:t>
                      </a:r>
                    </a:p>
                  </a:txBody>
                  <a:tcPr anchor="ctr">
                    <a:solidFill>
                      <a:schemeClr val="accent1">
                        <a:lumMod val="40000"/>
                        <a:lumOff val="60000"/>
                      </a:schemeClr>
                    </a:solidFill>
                  </a:tcPr>
                </a:tc>
              </a:tr>
              <a:tr h="92136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800" b="1" dirty="0" smtClean="0">
                          <a:solidFill>
                            <a:schemeClr val="bg1"/>
                          </a:solidFill>
                          <a:latin typeface="Helvetica" pitchFamily="34" charset="0"/>
                          <a:ea typeface="Times New Roman"/>
                          <a:cs typeface="Arial"/>
                        </a:rPr>
                        <a:t>Middle Paragraphs</a:t>
                      </a:r>
                      <a:r>
                        <a:rPr lang="en-AU" sz="1800" b="1" dirty="0" smtClean="0">
                          <a:solidFill>
                            <a:schemeClr val="bg1"/>
                          </a:solidFill>
                          <a:latin typeface="Helvetica" pitchFamily="34" charset="0"/>
                          <a:ea typeface="Times New Roman"/>
                          <a:cs typeface="Times New Roman"/>
                        </a:rPr>
                        <a:t> </a:t>
                      </a:r>
                    </a:p>
                  </a:txBody>
                  <a:tcPr anchor="ctr">
                    <a:solidFill>
                      <a:srgbClr val="FF66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800" b="0" dirty="0" smtClean="0">
                          <a:solidFill>
                            <a:schemeClr val="tx1"/>
                          </a:solidFill>
                          <a:latin typeface="Helvetica" pitchFamily="34" charset="0"/>
                          <a:ea typeface="Times New Roman"/>
                          <a:cs typeface="Arial"/>
                        </a:rPr>
                        <a:t>Provide complete information</a:t>
                      </a:r>
                      <a:r>
                        <a:rPr lang="en-AU" sz="1800" b="0" dirty="0" smtClean="0">
                          <a:solidFill>
                            <a:schemeClr val="tx1"/>
                          </a:solidFill>
                          <a:latin typeface="Helvetica" pitchFamily="34" charset="0"/>
                          <a:ea typeface="Times New Roman"/>
                          <a:cs typeface="Times New Roman"/>
                        </a:rPr>
                        <a:t> </a:t>
                      </a:r>
                    </a:p>
                  </a:txBody>
                  <a:tcPr anchor="ctr">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800" b="0" dirty="0" smtClean="0">
                          <a:solidFill>
                            <a:schemeClr val="tx1"/>
                          </a:solidFill>
                          <a:latin typeface="Helvetica" pitchFamily="34" charset="0"/>
                        </a:rPr>
                        <a:t>I have enclosed a brochure detailing our hotel...</a:t>
                      </a:r>
                    </a:p>
                  </a:txBody>
                  <a:tcPr anchor="ctr">
                    <a:solidFill>
                      <a:schemeClr val="accent1">
                        <a:lumMod val="40000"/>
                        <a:lumOff val="60000"/>
                      </a:schemeClr>
                    </a:solidFill>
                  </a:tcPr>
                </a:tc>
              </a:tr>
              <a:tr h="1099241">
                <a:tc>
                  <a:txBody>
                    <a:bodyPr/>
                    <a:lstStyle/>
                    <a:p>
                      <a:pPr algn="l">
                        <a:lnSpc>
                          <a:spcPct val="115000"/>
                        </a:lnSpc>
                        <a:spcAft>
                          <a:spcPts val="1000"/>
                        </a:spcAft>
                      </a:pPr>
                      <a:r>
                        <a:rPr lang="en-AU" sz="1800" b="1" dirty="0" smtClean="0">
                          <a:solidFill>
                            <a:schemeClr val="bg1"/>
                          </a:solidFill>
                          <a:latin typeface="Helvetica" pitchFamily="34" charset="0"/>
                          <a:ea typeface="Times New Roman"/>
                          <a:cs typeface="Arial"/>
                        </a:rPr>
                        <a:t>Ending Paragraph</a:t>
                      </a:r>
                      <a:r>
                        <a:rPr lang="en-AU" sz="1800" b="1" dirty="0" smtClean="0">
                          <a:solidFill>
                            <a:schemeClr val="bg1"/>
                          </a:solidFill>
                          <a:latin typeface="Helvetica" pitchFamily="34" charset="0"/>
                          <a:ea typeface="Times New Roman"/>
                          <a:cs typeface="Times New Roman"/>
                        </a:rPr>
                        <a:t> </a:t>
                      </a:r>
                      <a:endParaRPr lang="en-AU" sz="1800" b="1" dirty="0">
                        <a:solidFill>
                          <a:schemeClr val="bg1"/>
                        </a:solidFill>
                        <a:latin typeface="Helvetica" pitchFamily="34" charset="0"/>
                        <a:ea typeface="Times New Roman"/>
                        <a:cs typeface="Times New Roman"/>
                      </a:endParaRPr>
                    </a:p>
                  </a:txBody>
                  <a:tcPr anchor="ctr">
                    <a:solidFill>
                      <a:srgbClr val="FF66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800" b="0" dirty="0" smtClean="0">
                          <a:solidFill>
                            <a:schemeClr val="tx1"/>
                          </a:solidFill>
                          <a:latin typeface="Helvetica" pitchFamily="34" charset="0"/>
                          <a:ea typeface="Times New Roman"/>
                          <a:cs typeface="Arial"/>
                        </a:rPr>
                        <a:t>Include a goodwill close</a:t>
                      </a:r>
                      <a:r>
                        <a:rPr lang="en-AU" sz="1800" b="0" dirty="0" smtClean="0">
                          <a:solidFill>
                            <a:schemeClr val="tx1"/>
                          </a:solidFill>
                          <a:latin typeface="Helvetica" pitchFamily="34" charset="0"/>
                          <a:ea typeface="Times New Roman"/>
                          <a:cs typeface="Times New Roman"/>
                        </a:rPr>
                        <a:t> </a:t>
                      </a:r>
                    </a:p>
                    <a:p>
                      <a:pPr algn="l"/>
                      <a:endParaRPr lang="en-AU" sz="1800" b="0" dirty="0">
                        <a:solidFill>
                          <a:schemeClr val="tx1"/>
                        </a:solidFill>
                        <a:latin typeface="Helvetica" pitchFamily="34" charset="0"/>
                      </a:endParaRPr>
                    </a:p>
                  </a:txBody>
                  <a:tcPr anchor="ctr">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800" b="0" dirty="0" smtClean="0">
                          <a:solidFill>
                            <a:schemeClr val="tx1"/>
                          </a:solidFill>
                          <a:latin typeface="Helvetica" pitchFamily="34" charset="0"/>
                        </a:rPr>
                        <a:t>If I can be of any further assistance please don’t hesitate to contact me on the above contact numbers.</a:t>
                      </a:r>
                    </a:p>
                  </a:txBody>
                  <a:tcPr anchor="ctr">
                    <a:solidFill>
                      <a:schemeClr val="accent1">
                        <a:lumMod val="40000"/>
                        <a:lumOff val="60000"/>
                      </a:schemeClr>
                    </a:solidFill>
                  </a:tcPr>
                </a:tc>
              </a:tr>
            </a:tbl>
          </a:graphicData>
        </a:graphic>
      </p:graphicFrame>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16632"/>
            <a:ext cx="7467600" cy="1143000"/>
          </a:xfrm>
        </p:spPr>
        <p:txBody>
          <a:bodyPr>
            <a:normAutofit/>
          </a:bodyPr>
          <a:lstStyle/>
          <a:p>
            <a:r>
              <a:rPr lang="en-AU" sz="3400" b="1" dirty="0" smtClean="0">
                <a:solidFill>
                  <a:srgbClr val="FF6600"/>
                </a:solidFill>
                <a:latin typeface="Helvetica" pitchFamily="34" charset="0"/>
              </a:rPr>
              <a:t>Good news letters</a:t>
            </a:r>
          </a:p>
        </p:txBody>
      </p:sp>
      <p:sp>
        <p:nvSpPr>
          <p:cNvPr id="4" name="Slide Number Placeholder 3"/>
          <p:cNvSpPr>
            <a:spLocks noGrp="1"/>
          </p:cNvSpPr>
          <p:nvPr>
            <p:ph type="sldNum" sz="quarter" idx="12"/>
          </p:nvPr>
        </p:nvSpPr>
        <p:spPr/>
        <p:txBody>
          <a:bodyPr/>
          <a:lstStyle/>
          <a:p>
            <a:fld id="{90BDF71C-F485-43AE-8825-5070AF1EA8C9}" type="slidenum">
              <a:rPr lang="en-US" smtClean="0"/>
              <a:pPr/>
              <a:t>38</a:t>
            </a:fld>
            <a:endParaRPr lang="en-US" dirty="0"/>
          </a:p>
        </p:txBody>
      </p:sp>
      <p:graphicFrame>
        <p:nvGraphicFramePr>
          <p:cNvPr id="14" name="Table 13"/>
          <p:cNvGraphicFramePr>
            <a:graphicFrameLocks noGrp="1"/>
          </p:cNvGraphicFramePr>
          <p:nvPr/>
        </p:nvGraphicFramePr>
        <p:xfrm>
          <a:off x="179512" y="1124744"/>
          <a:ext cx="8784976" cy="3988676"/>
        </p:xfrm>
        <a:graphic>
          <a:graphicData uri="http://schemas.openxmlformats.org/drawingml/2006/table">
            <a:tbl>
              <a:tblPr firstRow="1" bandRow="1">
                <a:tableStyleId>{5C22544A-7EE6-4342-B048-85BDC9FD1C3A}</a:tableStyleId>
              </a:tblPr>
              <a:tblGrid>
                <a:gridCol w="2342660"/>
                <a:gridCol w="1928934"/>
                <a:gridCol w="4513382"/>
              </a:tblGrid>
              <a:tr h="170912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800" b="1" dirty="0" smtClean="0">
                          <a:solidFill>
                            <a:schemeClr val="bg1"/>
                          </a:solidFill>
                          <a:latin typeface="Helvetica" pitchFamily="34" charset="0"/>
                          <a:ea typeface="Times New Roman"/>
                          <a:cs typeface="Arial"/>
                        </a:rPr>
                        <a:t>Opening Paragraph</a:t>
                      </a:r>
                      <a:r>
                        <a:rPr lang="en-AU" sz="1800" b="1" dirty="0" smtClean="0">
                          <a:solidFill>
                            <a:schemeClr val="bg1"/>
                          </a:solidFill>
                          <a:latin typeface="Helvetica" pitchFamily="34" charset="0"/>
                          <a:ea typeface="Times New Roman"/>
                          <a:cs typeface="Times New Roman"/>
                        </a:rPr>
                        <a:t> </a:t>
                      </a:r>
                    </a:p>
                  </a:txBody>
                  <a:tcPr anchor="ctr">
                    <a:solidFill>
                      <a:srgbClr val="FF6600"/>
                    </a:solidFill>
                  </a:tcPr>
                </a:tc>
                <a:tc>
                  <a:txBody>
                    <a:bodyPr/>
                    <a:lstStyle/>
                    <a:p>
                      <a:pPr algn="l">
                        <a:spcAft>
                          <a:spcPts val="0"/>
                        </a:spcAft>
                      </a:pPr>
                      <a:r>
                        <a:rPr lang="en-AU" sz="1800" b="0" dirty="0" smtClean="0">
                          <a:solidFill>
                            <a:schemeClr val="tx1"/>
                          </a:solidFill>
                          <a:latin typeface="Helvetica" pitchFamily="34" charset="0"/>
                          <a:ea typeface="Times New Roman"/>
                          <a:cs typeface="Arial"/>
                        </a:rPr>
                        <a:t>Write the good news</a:t>
                      </a:r>
                      <a:r>
                        <a:rPr lang="en-AU" sz="1800" b="0" dirty="0" smtClean="0">
                          <a:solidFill>
                            <a:schemeClr val="tx1"/>
                          </a:solidFill>
                          <a:latin typeface="Helvetica" pitchFamily="34" charset="0"/>
                          <a:ea typeface="Times New Roman"/>
                          <a:cs typeface="Times New Roman"/>
                        </a:rPr>
                        <a:t> </a:t>
                      </a:r>
                    </a:p>
                  </a:txBody>
                  <a:tcPr anchor="ctr">
                    <a:solidFill>
                      <a:schemeClr val="bg1">
                        <a:lumMod val="85000"/>
                      </a:schemeClr>
                    </a:solidFill>
                  </a:tcPr>
                </a:tc>
                <a:tc>
                  <a:txBody>
                    <a:bodyPr/>
                    <a:lstStyle/>
                    <a:p>
                      <a:pPr lvl="0" indent="-108000">
                        <a:buFont typeface="Arial" pitchFamily="34" charset="0"/>
                        <a:buChar char="•"/>
                      </a:pPr>
                      <a:r>
                        <a:rPr lang="en-AU" sz="1800" b="0" dirty="0" smtClean="0">
                          <a:solidFill>
                            <a:schemeClr val="tx1"/>
                          </a:solidFill>
                          <a:latin typeface="Helvetica" pitchFamily="34" charset="0"/>
                        </a:rPr>
                        <a:t> Although the warranty on your heater ended six months ago, we have decided to replace it without further charge. </a:t>
                      </a:r>
                    </a:p>
                    <a:p>
                      <a:pPr lvl="0" indent="-108000">
                        <a:buFont typeface="Arial" pitchFamily="34" charset="0"/>
                        <a:buChar char="•"/>
                      </a:pPr>
                      <a:r>
                        <a:rPr lang="en-AU" sz="1800" b="0" dirty="0" smtClean="0">
                          <a:solidFill>
                            <a:schemeClr val="tx1"/>
                          </a:solidFill>
                          <a:latin typeface="Helvetica" pitchFamily="34" charset="0"/>
                        </a:rPr>
                        <a:t>  We overestimated the costs of repairs to your roof.  The account will be $700.00 less than we anticipated. </a:t>
                      </a:r>
                    </a:p>
                  </a:txBody>
                  <a:tcPr>
                    <a:solidFill>
                      <a:schemeClr val="accent1">
                        <a:lumMod val="40000"/>
                        <a:lumOff val="60000"/>
                      </a:schemeClr>
                    </a:solidFill>
                  </a:tcPr>
                </a:tc>
              </a:tr>
              <a:tr h="89953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800" b="1" dirty="0" smtClean="0">
                          <a:solidFill>
                            <a:schemeClr val="bg1"/>
                          </a:solidFill>
                          <a:latin typeface="Helvetica" pitchFamily="34" charset="0"/>
                          <a:ea typeface="Times New Roman"/>
                          <a:cs typeface="Arial"/>
                        </a:rPr>
                        <a:t>Middle Paragraphs</a:t>
                      </a:r>
                      <a:r>
                        <a:rPr lang="en-AU" sz="1800" b="1" dirty="0" smtClean="0">
                          <a:solidFill>
                            <a:schemeClr val="bg1"/>
                          </a:solidFill>
                          <a:latin typeface="Helvetica" pitchFamily="34" charset="0"/>
                          <a:ea typeface="Times New Roman"/>
                          <a:cs typeface="Times New Roman"/>
                        </a:rPr>
                        <a:t> </a:t>
                      </a:r>
                    </a:p>
                  </a:txBody>
                  <a:tcPr anchor="ctr">
                    <a:solidFill>
                      <a:srgbClr val="FF6600"/>
                    </a:solidFill>
                  </a:tcPr>
                </a:tc>
                <a:tc>
                  <a:txBody>
                    <a:bodyPr/>
                    <a:lstStyle/>
                    <a:p>
                      <a:pPr algn="l">
                        <a:spcAft>
                          <a:spcPts val="0"/>
                        </a:spcAft>
                      </a:pPr>
                      <a:r>
                        <a:rPr lang="en-AU" sz="1800" b="0" dirty="0" smtClean="0">
                          <a:solidFill>
                            <a:schemeClr val="tx1"/>
                          </a:solidFill>
                          <a:latin typeface="Helvetica" pitchFamily="34" charset="0"/>
                          <a:ea typeface="Times New Roman"/>
                          <a:cs typeface="Arial"/>
                        </a:rPr>
                        <a:t>Provide relevant detail</a:t>
                      </a:r>
                      <a:r>
                        <a:rPr lang="en-AU" sz="1800" b="0" dirty="0" smtClean="0">
                          <a:solidFill>
                            <a:schemeClr val="tx1"/>
                          </a:solidFill>
                          <a:latin typeface="Helvetica" pitchFamily="34" charset="0"/>
                          <a:ea typeface="Times New Roman"/>
                          <a:cs typeface="Times New Roman"/>
                        </a:rPr>
                        <a:t> </a:t>
                      </a:r>
                      <a:endParaRPr lang="en-AU" sz="1800" b="0" dirty="0">
                        <a:solidFill>
                          <a:schemeClr val="tx1"/>
                        </a:solidFill>
                        <a:latin typeface="Helvetica" pitchFamily="34" charset="0"/>
                        <a:ea typeface="Times New Roman"/>
                        <a:cs typeface="Times New Roman"/>
                      </a:endParaRPr>
                    </a:p>
                  </a:txBody>
                  <a:tcPr anchor="ctr">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800" dirty="0" smtClean="0">
                          <a:latin typeface="Helvetica" pitchFamily="34" charset="0"/>
                        </a:rPr>
                        <a:t>Our repair staff have thoroughly tested the heater over three months and found that...</a:t>
                      </a:r>
                      <a:endParaRPr lang="en-AU" sz="1800" b="0" dirty="0" smtClean="0">
                        <a:solidFill>
                          <a:schemeClr val="tx1"/>
                        </a:solidFill>
                        <a:latin typeface="Helvetica" pitchFamily="34" charset="0"/>
                      </a:endParaRPr>
                    </a:p>
                  </a:txBody>
                  <a:tcPr>
                    <a:solidFill>
                      <a:schemeClr val="accent1">
                        <a:lumMod val="40000"/>
                        <a:lumOff val="60000"/>
                      </a:schemeClr>
                    </a:solidFill>
                  </a:tcPr>
                </a:tc>
              </a:tr>
              <a:tr h="1351778">
                <a:tc>
                  <a:txBody>
                    <a:bodyPr/>
                    <a:lstStyle/>
                    <a:p>
                      <a:pPr algn="l">
                        <a:lnSpc>
                          <a:spcPct val="115000"/>
                        </a:lnSpc>
                        <a:spcAft>
                          <a:spcPts val="1000"/>
                        </a:spcAft>
                      </a:pPr>
                      <a:r>
                        <a:rPr lang="en-AU" sz="1800" b="1" dirty="0" smtClean="0">
                          <a:solidFill>
                            <a:schemeClr val="bg1"/>
                          </a:solidFill>
                          <a:latin typeface="Helvetica" pitchFamily="34" charset="0"/>
                          <a:ea typeface="Times New Roman"/>
                          <a:cs typeface="Arial"/>
                        </a:rPr>
                        <a:t>Ending Paragraph</a:t>
                      </a:r>
                      <a:r>
                        <a:rPr lang="en-AU" sz="1800" b="1" dirty="0" smtClean="0">
                          <a:solidFill>
                            <a:schemeClr val="bg1"/>
                          </a:solidFill>
                          <a:latin typeface="Helvetica" pitchFamily="34" charset="0"/>
                          <a:ea typeface="Times New Roman"/>
                          <a:cs typeface="Times New Roman"/>
                        </a:rPr>
                        <a:t> </a:t>
                      </a:r>
                      <a:endParaRPr lang="en-AU" sz="1800" b="1" dirty="0">
                        <a:solidFill>
                          <a:schemeClr val="bg1"/>
                        </a:solidFill>
                        <a:latin typeface="Helvetica" pitchFamily="34" charset="0"/>
                        <a:ea typeface="Times New Roman"/>
                        <a:cs typeface="Times New Roman"/>
                      </a:endParaRPr>
                    </a:p>
                  </a:txBody>
                  <a:tcPr anchor="ctr">
                    <a:solidFill>
                      <a:srgbClr val="FF6600"/>
                    </a:solidFill>
                  </a:tcPr>
                </a:tc>
                <a:tc>
                  <a:txBody>
                    <a:bodyPr/>
                    <a:lstStyle/>
                    <a:p>
                      <a:pPr algn="l">
                        <a:spcAft>
                          <a:spcPts val="0"/>
                        </a:spcAft>
                      </a:pPr>
                      <a:r>
                        <a:rPr lang="en-AU" sz="1800" b="0" dirty="0" smtClean="0">
                          <a:solidFill>
                            <a:schemeClr val="tx1"/>
                          </a:solidFill>
                          <a:latin typeface="Helvetica" pitchFamily="34" charset="0"/>
                          <a:ea typeface="Times New Roman"/>
                          <a:cs typeface="Arial"/>
                        </a:rPr>
                        <a:t>Repeat the good news</a:t>
                      </a:r>
                      <a:r>
                        <a:rPr lang="en-AU" sz="1800" b="0" dirty="0" smtClean="0">
                          <a:solidFill>
                            <a:schemeClr val="tx1"/>
                          </a:solidFill>
                          <a:latin typeface="Helvetica" pitchFamily="34" charset="0"/>
                          <a:ea typeface="Times New Roman"/>
                          <a:cs typeface="Times New Roman"/>
                        </a:rPr>
                        <a:t> </a:t>
                      </a:r>
                    </a:p>
                  </a:txBody>
                  <a:tcPr anchor="ctr">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800" dirty="0" smtClean="0">
                          <a:latin typeface="Helvetica" pitchFamily="34" charset="0"/>
                        </a:rPr>
                        <a:t>Please telephone our office to make a suitable time for our plumber to fit your new heater. Our cheque for seven hundred dollars is enclosed.  </a:t>
                      </a:r>
                    </a:p>
                  </a:txBody>
                  <a:tcPr>
                    <a:solidFill>
                      <a:schemeClr val="accent1">
                        <a:lumMod val="40000"/>
                        <a:lumOff val="60000"/>
                      </a:schemeClr>
                    </a:solidFill>
                  </a:tcPr>
                </a:tc>
              </a:tr>
            </a:tbl>
          </a:graphicData>
        </a:graphic>
      </p:graphicFrame>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0"/>
            <a:ext cx="7467600" cy="882352"/>
          </a:xfrm>
        </p:spPr>
        <p:txBody>
          <a:bodyPr>
            <a:normAutofit/>
          </a:bodyPr>
          <a:lstStyle/>
          <a:p>
            <a:r>
              <a:rPr lang="en-AU" sz="3400" b="1" dirty="0" smtClean="0">
                <a:solidFill>
                  <a:srgbClr val="FF6600"/>
                </a:solidFill>
                <a:latin typeface="Helvetica" pitchFamily="34" charset="0"/>
              </a:rPr>
              <a:t>Bad news letters</a:t>
            </a:r>
          </a:p>
        </p:txBody>
      </p:sp>
      <p:sp>
        <p:nvSpPr>
          <p:cNvPr id="4" name="Slide Number Placeholder 3"/>
          <p:cNvSpPr>
            <a:spLocks noGrp="1"/>
          </p:cNvSpPr>
          <p:nvPr>
            <p:ph type="sldNum" sz="quarter" idx="12"/>
          </p:nvPr>
        </p:nvSpPr>
        <p:spPr/>
        <p:txBody>
          <a:bodyPr/>
          <a:lstStyle/>
          <a:p>
            <a:fld id="{90BDF71C-F485-43AE-8825-5070AF1EA8C9}" type="slidenum">
              <a:rPr lang="en-US" smtClean="0"/>
              <a:pPr/>
              <a:t>39</a:t>
            </a:fld>
            <a:endParaRPr lang="en-US" dirty="0"/>
          </a:p>
        </p:txBody>
      </p:sp>
      <p:graphicFrame>
        <p:nvGraphicFramePr>
          <p:cNvPr id="12" name="Table 11"/>
          <p:cNvGraphicFramePr>
            <a:graphicFrameLocks noGrp="1"/>
          </p:cNvGraphicFramePr>
          <p:nvPr/>
        </p:nvGraphicFramePr>
        <p:xfrm>
          <a:off x="395536" y="908720"/>
          <a:ext cx="8496944" cy="4663440"/>
        </p:xfrm>
        <a:graphic>
          <a:graphicData uri="http://schemas.openxmlformats.org/drawingml/2006/table">
            <a:tbl>
              <a:tblPr firstRow="1" bandRow="1">
                <a:tableStyleId>{5C22544A-7EE6-4342-B048-85BDC9FD1C3A}</a:tableStyleId>
              </a:tblPr>
              <a:tblGrid>
                <a:gridCol w="1512168"/>
                <a:gridCol w="2088232"/>
                <a:gridCol w="4896544"/>
              </a:tblGrid>
              <a:tr h="158417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800" b="1" dirty="0" smtClean="0">
                          <a:solidFill>
                            <a:schemeClr val="bg1"/>
                          </a:solidFill>
                          <a:latin typeface="Helvetica" pitchFamily="34" charset="0"/>
                          <a:ea typeface="Times New Roman"/>
                          <a:cs typeface="Arial"/>
                        </a:rPr>
                        <a:t>Opening Paragraph</a:t>
                      </a:r>
                      <a:r>
                        <a:rPr lang="en-AU" sz="1800" b="1" dirty="0" smtClean="0">
                          <a:solidFill>
                            <a:schemeClr val="bg1"/>
                          </a:solidFill>
                          <a:latin typeface="Helvetica" pitchFamily="34" charset="0"/>
                          <a:ea typeface="Times New Roman"/>
                          <a:cs typeface="Times New Roman"/>
                        </a:rPr>
                        <a:t> </a:t>
                      </a:r>
                    </a:p>
                    <a:p>
                      <a:pPr algn="l"/>
                      <a:endParaRPr lang="en-AU" sz="1800" b="1" dirty="0">
                        <a:solidFill>
                          <a:schemeClr val="bg1"/>
                        </a:solidFill>
                        <a:latin typeface="Helvetica" pitchFamily="34" charset="0"/>
                      </a:endParaRPr>
                    </a:p>
                  </a:txBody>
                  <a:tcPr anchor="ctr">
                    <a:solidFill>
                      <a:srgbClr val="FF66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800" b="0" dirty="0" smtClean="0">
                          <a:solidFill>
                            <a:schemeClr val="tx1"/>
                          </a:solidFill>
                          <a:latin typeface="Helvetica" pitchFamily="34" charset="0"/>
                          <a:ea typeface="Times New Roman"/>
                          <a:cs typeface="Arial"/>
                        </a:rPr>
                        <a:t>Allude to the situation with a neutral comment</a:t>
                      </a:r>
                      <a:r>
                        <a:rPr lang="en-AU" sz="1800" b="0" dirty="0" smtClean="0">
                          <a:solidFill>
                            <a:schemeClr val="tx1"/>
                          </a:solidFill>
                          <a:latin typeface="Helvetica" pitchFamily="34" charset="0"/>
                          <a:ea typeface="Times New Roman"/>
                          <a:cs typeface="Times New Roman"/>
                        </a:rPr>
                        <a:t> </a:t>
                      </a:r>
                    </a:p>
                    <a:p>
                      <a:pPr algn="l"/>
                      <a:endParaRPr lang="en-AU" sz="1800" b="0" dirty="0">
                        <a:solidFill>
                          <a:schemeClr val="tx1"/>
                        </a:solidFill>
                        <a:latin typeface="Helvetica" pitchFamily="34" charset="0"/>
                      </a:endParaRPr>
                    </a:p>
                  </a:txBody>
                  <a:tcPr anchor="ctr">
                    <a:solidFill>
                      <a:schemeClr val="bg1">
                        <a:lumMod val="85000"/>
                      </a:schemeClr>
                    </a:solidFill>
                  </a:tcPr>
                </a:tc>
                <a:tc>
                  <a:txBody>
                    <a:bodyPr/>
                    <a:lstStyle/>
                    <a:p>
                      <a:pPr marL="180975" lvl="0" indent="-180975" algn="l">
                        <a:buFont typeface="Arial" pitchFamily="34" charset="0"/>
                        <a:buChar char="•"/>
                      </a:pPr>
                      <a:r>
                        <a:rPr lang="en-AU" sz="1800" b="0" dirty="0" smtClean="0">
                          <a:solidFill>
                            <a:schemeClr val="tx1"/>
                          </a:solidFill>
                          <a:latin typeface="Helvetica" pitchFamily="34" charset="0"/>
                        </a:rPr>
                        <a:t> The heating unit that you returned has been checked by our laboratory. </a:t>
                      </a:r>
                    </a:p>
                    <a:p>
                      <a:pPr marL="180975" lvl="0" indent="-180975" algn="l">
                        <a:buFont typeface="Arial" pitchFamily="34" charset="0"/>
                        <a:buChar char="•"/>
                      </a:pPr>
                      <a:r>
                        <a:rPr lang="en-AU" sz="1800" b="0" dirty="0" smtClean="0">
                          <a:solidFill>
                            <a:schemeClr val="tx1"/>
                          </a:solidFill>
                          <a:latin typeface="Helvetica" pitchFamily="34" charset="0"/>
                        </a:rPr>
                        <a:t>The cost of the repairs to your roof which we originally estimated at $8000 can now be compared with the actual costs of the materials. </a:t>
                      </a:r>
                    </a:p>
                  </a:txBody>
                  <a:tcPr>
                    <a:solidFill>
                      <a:schemeClr val="accent1">
                        <a:lumMod val="40000"/>
                        <a:lumOff val="60000"/>
                      </a:schemeClr>
                    </a:solidFill>
                  </a:tcPr>
                </a:tc>
              </a:tr>
              <a:tr h="96219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800" b="1" dirty="0" smtClean="0">
                          <a:solidFill>
                            <a:schemeClr val="bg1"/>
                          </a:solidFill>
                          <a:latin typeface="Helvetica" pitchFamily="34" charset="0"/>
                          <a:ea typeface="Times New Roman"/>
                          <a:cs typeface="Arial"/>
                        </a:rPr>
                        <a:t>Middle Paragraphs</a:t>
                      </a:r>
                      <a:r>
                        <a:rPr lang="en-AU" sz="1800" b="1" dirty="0" smtClean="0">
                          <a:solidFill>
                            <a:schemeClr val="bg1"/>
                          </a:solidFill>
                          <a:latin typeface="Helvetica" pitchFamily="34" charset="0"/>
                          <a:ea typeface="Times New Roman"/>
                          <a:cs typeface="Times New Roman"/>
                        </a:rPr>
                        <a:t> </a:t>
                      </a:r>
                    </a:p>
                    <a:p>
                      <a:pPr algn="l"/>
                      <a:endParaRPr lang="en-AU" sz="1800" b="1" dirty="0">
                        <a:solidFill>
                          <a:schemeClr val="bg1"/>
                        </a:solidFill>
                        <a:latin typeface="Helvetica" pitchFamily="34" charset="0"/>
                      </a:endParaRPr>
                    </a:p>
                  </a:txBody>
                  <a:tcPr anchor="ctr">
                    <a:solidFill>
                      <a:srgbClr val="FF66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800" b="0" dirty="0" smtClean="0">
                          <a:solidFill>
                            <a:schemeClr val="tx1"/>
                          </a:solidFill>
                          <a:latin typeface="Helvetica" pitchFamily="34" charset="0"/>
                          <a:ea typeface="Times New Roman"/>
                          <a:cs typeface="Arial"/>
                        </a:rPr>
                        <a:t>Give details and reasons.</a:t>
                      </a:r>
                      <a:br>
                        <a:rPr lang="en-AU" sz="1800" b="0" dirty="0" smtClean="0">
                          <a:solidFill>
                            <a:schemeClr val="tx1"/>
                          </a:solidFill>
                          <a:latin typeface="Helvetica" pitchFamily="34" charset="0"/>
                          <a:ea typeface="Times New Roman"/>
                          <a:cs typeface="Arial"/>
                        </a:rPr>
                      </a:br>
                      <a:r>
                        <a:rPr lang="en-AU" sz="1800" b="0" dirty="0" smtClean="0">
                          <a:solidFill>
                            <a:schemeClr val="tx1"/>
                          </a:solidFill>
                          <a:latin typeface="Helvetica" pitchFamily="34" charset="0"/>
                          <a:ea typeface="Times New Roman"/>
                          <a:cs typeface="Arial"/>
                        </a:rPr>
                        <a:t>State the bad news.</a:t>
                      </a:r>
                      <a:br>
                        <a:rPr lang="en-AU" sz="1800" b="0" dirty="0" smtClean="0">
                          <a:solidFill>
                            <a:schemeClr val="tx1"/>
                          </a:solidFill>
                          <a:latin typeface="Helvetica" pitchFamily="34" charset="0"/>
                          <a:ea typeface="Times New Roman"/>
                          <a:cs typeface="Arial"/>
                        </a:rPr>
                      </a:br>
                      <a:r>
                        <a:rPr lang="en-AU" sz="1800" b="0" dirty="0" smtClean="0">
                          <a:solidFill>
                            <a:schemeClr val="tx1"/>
                          </a:solidFill>
                          <a:latin typeface="Helvetica" pitchFamily="34" charset="0"/>
                          <a:ea typeface="Times New Roman"/>
                          <a:cs typeface="Arial"/>
                        </a:rPr>
                        <a:t>Provide workable alternatives.</a:t>
                      </a:r>
                      <a:r>
                        <a:rPr lang="en-AU" sz="1800" b="0" dirty="0" smtClean="0">
                          <a:solidFill>
                            <a:schemeClr val="tx1"/>
                          </a:solidFill>
                          <a:latin typeface="Helvetica" pitchFamily="34" charset="0"/>
                          <a:ea typeface="Times New Roman"/>
                          <a:cs typeface="Times New Roman"/>
                        </a:rPr>
                        <a:t> </a:t>
                      </a:r>
                    </a:p>
                  </a:txBody>
                  <a:tcPr anchor="ct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800" dirty="0" smtClean="0">
                          <a:solidFill>
                            <a:schemeClr val="tx1"/>
                          </a:solidFill>
                          <a:latin typeface="Helvetica" pitchFamily="34" charset="0"/>
                        </a:rPr>
                        <a:t> In the process of installation your heater has received some damage which has stopped the flow of water into the unit.  Broken pipes may result from improper positioning during installation or from mistreatment of the pipes once they are in place.  </a:t>
                      </a:r>
                    </a:p>
                  </a:txBody>
                  <a:tcPr>
                    <a:solidFill>
                      <a:schemeClr val="accent1">
                        <a:lumMod val="40000"/>
                        <a:lumOff val="60000"/>
                      </a:schemeClr>
                    </a:solidFill>
                  </a:tcPr>
                </a:tc>
              </a:tr>
              <a:tr h="1147953">
                <a:tc>
                  <a:txBody>
                    <a:bodyPr/>
                    <a:lstStyle/>
                    <a:p>
                      <a:pPr algn="l">
                        <a:lnSpc>
                          <a:spcPct val="115000"/>
                        </a:lnSpc>
                        <a:spcAft>
                          <a:spcPts val="1000"/>
                        </a:spcAft>
                      </a:pPr>
                      <a:r>
                        <a:rPr lang="en-AU" sz="1800" b="1" dirty="0" smtClean="0">
                          <a:solidFill>
                            <a:schemeClr val="bg1"/>
                          </a:solidFill>
                          <a:latin typeface="Helvetica" pitchFamily="34" charset="0"/>
                          <a:ea typeface="Times New Roman"/>
                          <a:cs typeface="Arial"/>
                        </a:rPr>
                        <a:t>Ending Paragraph</a:t>
                      </a:r>
                      <a:r>
                        <a:rPr lang="en-AU" sz="1800" b="1" dirty="0" smtClean="0">
                          <a:solidFill>
                            <a:schemeClr val="bg1"/>
                          </a:solidFill>
                          <a:latin typeface="Helvetica" pitchFamily="34" charset="0"/>
                          <a:ea typeface="Times New Roman"/>
                          <a:cs typeface="Times New Roman"/>
                        </a:rPr>
                        <a:t> </a:t>
                      </a:r>
                      <a:endParaRPr lang="en-AU" sz="1800" b="1" dirty="0">
                        <a:solidFill>
                          <a:schemeClr val="bg1"/>
                        </a:solidFill>
                        <a:latin typeface="Helvetica" pitchFamily="34" charset="0"/>
                        <a:ea typeface="Times New Roman"/>
                        <a:cs typeface="Times New Roman"/>
                      </a:endParaRPr>
                    </a:p>
                  </a:txBody>
                  <a:tcPr anchor="ctr">
                    <a:solidFill>
                      <a:srgbClr val="FF66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800" b="0" dirty="0" smtClean="0">
                          <a:solidFill>
                            <a:schemeClr val="tx1"/>
                          </a:solidFill>
                          <a:latin typeface="Helvetica" pitchFamily="34" charset="0"/>
                          <a:ea typeface="Times New Roman"/>
                          <a:cs typeface="Arial"/>
                        </a:rPr>
                        <a:t>Close with a neutral or positive statement.</a:t>
                      </a:r>
                      <a:r>
                        <a:rPr lang="en-AU" sz="1800" b="0" dirty="0" smtClean="0">
                          <a:solidFill>
                            <a:schemeClr val="tx1"/>
                          </a:solidFill>
                          <a:latin typeface="Helvetica" pitchFamily="34" charset="0"/>
                          <a:ea typeface="Times New Roman"/>
                          <a:cs typeface="Times New Roman"/>
                        </a:rPr>
                        <a:t> </a:t>
                      </a:r>
                    </a:p>
                    <a:p>
                      <a:pPr algn="l"/>
                      <a:endParaRPr lang="en-AU" sz="1800" b="0" dirty="0">
                        <a:solidFill>
                          <a:schemeClr val="tx1"/>
                        </a:solidFill>
                        <a:latin typeface="Helvetica" pitchFamily="34" charset="0"/>
                      </a:endParaRPr>
                    </a:p>
                  </a:txBody>
                  <a:tcPr anchor="ctr">
                    <a:solidFill>
                      <a:schemeClr val="bg1">
                        <a:lumMod val="85000"/>
                      </a:schemeClr>
                    </a:solidFill>
                  </a:tcPr>
                </a:tc>
                <a:tc>
                  <a:txBody>
                    <a:bodyPr/>
                    <a:lstStyle/>
                    <a:p>
                      <a:pPr lvl="0" algn="l"/>
                      <a:r>
                        <a:rPr lang="en-AU" sz="1800" dirty="0" smtClean="0">
                          <a:solidFill>
                            <a:schemeClr val="tx1"/>
                          </a:solidFill>
                          <a:latin typeface="Helvetica" pitchFamily="34" charset="0"/>
                        </a:rPr>
                        <a:t>We can recommend an excellent tradesman to correctly install one of our new heaters. </a:t>
                      </a:r>
                    </a:p>
                    <a:p>
                      <a:pPr lvl="0" algn="l"/>
                      <a:r>
                        <a:rPr lang="en-AU" sz="1800" dirty="0" smtClean="0">
                          <a:solidFill>
                            <a:schemeClr val="tx1"/>
                          </a:solidFill>
                          <a:latin typeface="Helvetica" pitchFamily="34" charset="0"/>
                        </a:rPr>
                        <a:t>Thank you for thinking of us for your heating needs. </a:t>
                      </a:r>
                    </a:p>
                  </a:txBody>
                  <a:tcPr>
                    <a:solidFill>
                      <a:schemeClr val="accent1">
                        <a:lumMod val="40000"/>
                        <a:lumOff val="60000"/>
                      </a:schemeClr>
                    </a:solidFill>
                  </a:tcPr>
                </a:tc>
              </a:tr>
            </a:tbl>
          </a:graphicData>
        </a:graphic>
      </p:graphicFrame>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Preparing short report</a:t>
            </a: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A short report can describe progress on a project and present information.</a:t>
            </a:r>
          </a:p>
          <a:p>
            <a:pPr lvl="0">
              <a:spcBef>
                <a:spcPts val="600"/>
              </a:spcBef>
              <a:spcAft>
                <a:spcPts val="1200"/>
              </a:spcAft>
            </a:pPr>
            <a:r>
              <a:rPr lang="en-AU" sz="2200" dirty="0" smtClean="0">
                <a:latin typeface="Helvetica" pitchFamily="34" charset="0"/>
              </a:rPr>
              <a:t>Introduction </a:t>
            </a:r>
          </a:p>
          <a:p>
            <a:pPr lvl="0">
              <a:spcBef>
                <a:spcPts val="600"/>
              </a:spcBef>
              <a:spcAft>
                <a:spcPts val="1200"/>
              </a:spcAft>
            </a:pPr>
            <a:r>
              <a:rPr lang="en-AU" sz="2200" dirty="0" smtClean="0">
                <a:latin typeface="Helvetica" pitchFamily="34" charset="0"/>
              </a:rPr>
              <a:t>Main body </a:t>
            </a:r>
          </a:p>
          <a:p>
            <a:pPr lvl="0">
              <a:spcBef>
                <a:spcPts val="600"/>
              </a:spcBef>
              <a:spcAft>
                <a:spcPts val="1200"/>
              </a:spcAft>
            </a:pPr>
            <a:r>
              <a:rPr lang="en-AU" sz="2200" dirty="0" smtClean="0">
                <a:latin typeface="Helvetica" pitchFamily="34" charset="0"/>
              </a:rPr>
              <a:t>Conclusion </a:t>
            </a:r>
          </a:p>
          <a:p>
            <a:pPr>
              <a:spcBef>
                <a:spcPts val="600"/>
              </a:spcBef>
              <a:spcAft>
                <a:spcPts val="1200"/>
              </a:spcAft>
            </a:pPr>
            <a:r>
              <a:rPr lang="en-AU" sz="2200" dirty="0" smtClean="0">
                <a:latin typeface="Helvetica" pitchFamily="34" charset="0"/>
              </a:rPr>
              <a:t>Recommendations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40</a:t>
            </a:fld>
            <a:endParaRPr lang="en-US" dirty="0"/>
          </a:p>
        </p:txBody>
      </p:sp>
      <p:pic>
        <p:nvPicPr>
          <p:cNvPr id="158721" name="Picture 1" descr="C:\Documents and Settings\danielc\Local Settings\Temporary Internet Files\Content.IE5\3DV3UKH9\MC900056303[1].wmf"/>
          <p:cNvPicPr>
            <a:picLocks noChangeAspect="1" noChangeArrowheads="1"/>
          </p:cNvPicPr>
          <p:nvPr/>
        </p:nvPicPr>
        <p:blipFill>
          <a:blip r:embed="rId3" cstate="print"/>
          <a:srcRect/>
          <a:stretch>
            <a:fillRect/>
          </a:stretch>
        </p:blipFill>
        <p:spPr bwMode="auto">
          <a:xfrm>
            <a:off x="4929190" y="2500307"/>
            <a:ext cx="2130840" cy="1500198"/>
          </a:xfrm>
          <a:prstGeom prst="rect">
            <a:avLst/>
          </a:prstGeom>
          <a:noFill/>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Preparing long report</a:t>
            </a:r>
          </a:p>
        </p:txBody>
      </p:sp>
      <p:sp>
        <p:nvSpPr>
          <p:cNvPr id="3" name="Content Placeholder 2"/>
          <p:cNvSpPr>
            <a:spLocks noGrp="1"/>
          </p:cNvSpPr>
          <p:nvPr>
            <p:ph idx="1"/>
          </p:nvPr>
        </p:nvSpPr>
        <p:spPr>
          <a:xfrm>
            <a:off x="611560" y="1556792"/>
            <a:ext cx="7467600" cy="5040560"/>
          </a:xfrm>
        </p:spPr>
        <p:txBody>
          <a:bodyPr>
            <a:normAutofit lnSpcReduction="10000"/>
          </a:bodyPr>
          <a:lstStyle/>
          <a:p>
            <a:pPr marL="0">
              <a:spcBef>
                <a:spcPts val="600"/>
              </a:spcBef>
              <a:spcAft>
                <a:spcPts val="600"/>
              </a:spcAft>
              <a:buNone/>
            </a:pPr>
            <a:r>
              <a:rPr lang="en-AU" sz="2200" dirty="0" smtClean="0">
                <a:latin typeface="Helvetica" pitchFamily="34" charset="0"/>
              </a:rPr>
              <a:t>Long reports will provide exhaustive data, and supply informed opinion and advice on a nominated topic, problem or issue.</a:t>
            </a:r>
          </a:p>
          <a:p>
            <a:pPr lvl="0">
              <a:spcBef>
                <a:spcPts val="600"/>
              </a:spcBef>
              <a:spcAft>
                <a:spcPts val="600"/>
              </a:spcAft>
            </a:pPr>
            <a:r>
              <a:rPr lang="en-AU" sz="2200" dirty="0" smtClean="0">
                <a:latin typeface="Helvetica" pitchFamily="34" charset="0"/>
              </a:rPr>
              <a:t>Title page </a:t>
            </a:r>
          </a:p>
          <a:p>
            <a:pPr lvl="0">
              <a:spcBef>
                <a:spcPts val="600"/>
              </a:spcBef>
              <a:spcAft>
                <a:spcPts val="600"/>
              </a:spcAft>
            </a:pPr>
            <a:r>
              <a:rPr lang="en-AU" sz="2200" dirty="0" smtClean="0">
                <a:latin typeface="Helvetica" pitchFamily="34" charset="0"/>
              </a:rPr>
              <a:t>Table of contents</a:t>
            </a:r>
          </a:p>
          <a:p>
            <a:pPr lvl="0">
              <a:spcBef>
                <a:spcPts val="600"/>
              </a:spcBef>
              <a:spcAft>
                <a:spcPts val="600"/>
              </a:spcAft>
            </a:pPr>
            <a:r>
              <a:rPr lang="en-AU" sz="2200" dirty="0" smtClean="0">
                <a:latin typeface="Helvetica" pitchFamily="34" charset="0"/>
              </a:rPr>
              <a:t>Introduction </a:t>
            </a:r>
          </a:p>
          <a:p>
            <a:pPr lvl="0">
              <a:spcBef>
                <a:spcPts val="600"/>
              </a:spcBef>
              <a:spcAft>
                <a:spcPts val="600"/>
              </a:spcAft>
            </a:pPr>
            <a:r>
              <a:rPr lang="en-AU" sz="2200" dirty="0" smtClean="0">
                <a:latin typeface="Helvetica" pitchFamily="34" charset="0"/>
              </a:rPr>
              <a:t>An ‘Executive Summary’ </a:t>
            </a:r>
          </a:p>
          <a:p>
            <a:pPr lvl="0">
              <a:spcBef>
                <a:spcPts val="600"/>
              </a:spcBef>
              <a:spcAft>
                <a:spcPts val="600"/>
              </a:spcAft>
            </a:pPr>
            <a:r>
              <a:rPr lang="en-AU" sz="2200" dirty="0" smtClean="0">
                <a:latin typeface="Helvetica" pitchFamily="34" charset="0"/>
              </a:rPr>
              <a:t>Main body </a:t>
            </a:r>
          </a:p>
          <a:p>
            <a:pPr lvl="0">
              <a:spcBef>
                <a:spcPts val="600"/>
              </a:spcBef>
              <a:spcAft>
                <a:spcPts val="600"/>
              </a:spcAft>
            </a:pPr>
            <a:r>
              <a:rPr lang="en-AU" sz="2200" dirty="0" smtClean="0">
                <a:latin typeface="Helvetica" pitchFamily="34" charset="0"/>
              </a:rPr>
              <a:t>Conclusions </a:t>
            </a:r>
          </a:p>
          <a:p>
            <a:pPr lvl="0">
              <a:spcBef>
                <a:spcPts val="600"/>
              </a:spcBef>
              <a:spcAft>
                <a:spcPts val="600"/>
              </a:spcAft>
            </a:pPr>
            <a:r>
              <a:rPr lang="en-AU" sz="2200" dirty="0" smtClean="0">
                <a:latin typeface="Helvetica" pitchFamily="34" charset="0"/>
              </a:rPr>
              <a:t>Recommendations </a:t>
            </a:r>
          </a:p>
          <a:p>
            <a:pPr>
              <a:spcBef>
                <a:spcPts val="600"/>
              </a:spcBef>
              <a:spcAft>
                <a:spcPts val="600"/>
              </a:spcAft>
            </a:pPr>
            <a:r>
              <a:rPr lang="en-AU" sz="2200" dirty="0" smtClean="0">
                <a:latin typeface="Helvetica" pitchFamily="34" charset="0"/>
              </a:rPr>
              <a:t>Bibliography/references </a:t>
            </a: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41</a:t>
            </a:fld>
            <a:endParaRPr lang="en-US" dirty="0"/>
          </a:p>
        </p:txBody>
      </p:sp>
      <p:pic>
        <p:nvPicPr>
          <p:cNvPr id="156673" name="Picture 1" descr="C:\Documents and Settings\danielc\Local Settings\Temporary Internet Files\Content.IE5\V9A2RTT8\MC900048272[1].wmf"/>
          <p:cNvPicPr>
            <a:picLocks noChangeAspect="1" noChangeArrowheads="1"/>
          </p:cNvPicPr>
          <p:nvPr/>
        </p:nvPicPr>
        <p:blipFill>
          <a:blip r:embed="rId3" cstate="print"/>
          <a:srcRect/>
          <a:stretch>
            <a:fillRect/>
          </a:stretch>
        </p:blipFill>
        <p:spPr bwMode="auto">
          <a:xfrm>
            <a:off x="5572132" y="2786058"/>
            <a:ext cx="1763878" cy="1980590"/>
          </a:xfrm>
          <a:prstGeom prst="rect">
            <a:avLst/>
          </a:prstGeom>
          <a:noFill/>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Preparing submissions</a:t>
            </a:r>
          </a:p>
        </p:txBody>
      </p:sp>
      <p:sp>
        <p:nvSpPr>
          <p:cNvPr id="3" name="Content Placeholder 2"/>
          <p:cNvSpPr>
            <a:spLocks noGrp="1"/>
          </p:cNvSpPr>
          <p:nvPr>
            <p:ph idx="1"/>
          </p:nvPr>
        </p:nvSpPr>
        <p:spPr>
          <a:xfrm>
            <a:off x="611560" y="1556792"/>
            <a:ext cx="7467600" cy="5040560"/>
          </a:xfrm>
        </p:spPr>
        <p:txBody>
          <a:bodyPr>
            <a:normAutofit/>
          </a:bodyPr>
          <a:lstStyle/>
          <a:p>
            <a:pPr marL="0">
              <a:spcBef>
                <a:spcPts val="600"/>
              </a:spcBef>
              <a:spcAft>
                <a:spcPts val="1200"/>
              </a:spcAft>
              <a:buNone/>
            </a:pPr>
            <a:r>
              <a:rPr lang="en-AU" sz="2200" dirty="0" smtClean="0">
                <a:latin typeface="Helvetica" pitchFamily="34" charset="0"/>
              </a:rPr>
              <a:t>Submissions are commonly created when you make a request for funds or seek authorisation to amend a current practice, procedure or protocol.</a:t>
            </a:r>
          </a:p>
          <a:p>
            <a:pPr>
              <a:spcBef>
                <a:spcPts val="600"/>
              </a:spcBef>
              <a:spcAft>
                <a:spcPts val="1200"/>
              </a:spcAft>
              <a:buNone/>
            </a:pPr>
            <a:r>
              <a:rPr lang="en-AU" sz="2200" dirty="0" smtClean="0">
                <a:latin typeface="Helvetica" pitchFamily="34" charset="0"/>
              </a:rPr>
              <a:t>There are three critical elements to any submission:</a:t>
            </a:r>
          </a:p>
          <a:p>
            <a:pPr lvl="0">
              <a:spcBef>
                <a:spcPts val="600"/>
              </a:spcBef>
              <a:spcAft>
                <a:spcPts val="1200"/>
              </a:spcAft>
            </a:pPr>
            <a:r>
              <a:rPr lang="en-AU" sz="2200" dirty="0" smtClean="0">
                <a:latin typeface="Helvetica" pitchFamily="34" charset="0"/>
              </a:rPr>
              <a:t>Define the problem </a:t>
            </a:r>
          </a:p>
          <a:p>
            <a:pPr lvl="0">
              <a:spcBef>
                <a:spcPts val="600"/>
              </a:spcBef>
              <a:spcAft>
                <a:spcPts val="1200"/>
              </a:spcAft>
            </a:pPr>
            <a:r>
              <a:rPr lang="en-AU" sz="2200" dirty="0" smtClean="0">
                <a:latin typeface="Helvetica" pitchFamily="34" charset="0"/>
              </a:rPr>
              <a:t>Define current position </a:t>
            </a:r>
          </a:p>
          <a:p>
            <a:pPr>
              <a:spcBef>
                <a:spcPts val="600"/>
              </a:spcBef>
              <a:spcAft>
                <a:spcPts val="1200"/>
              </a:spcAft>
            </a:pPr>
            <a:r>
              <a:rPr lang="en-AU" sz="2200" dirty="0" smtClean="0">
                <a:latin typeface="Helvetica" pitchFamily="34" charset="0"/>
              </a:rPr>
              <a:t>Seek authorisation to take action to fix the </a:t>
            </a:r>
            <a:br>
              <a:rPr lang="en-AU" sz="2200" dirty="0" smtClean="0">
                <a:latin typeface="Helvetica" pitchFamily="34" charset="0"/>
              </a:rPr>
            </a:br>
            <a:r>
              <a:rPr lang="en-AU" sz="2200" dirty="0" smtClean="0">
                <a:latin typeface="Helvetica" pitchFamily="34" charset="0"/>
              </a:rPr>
              <a:t>problem </a:t>
            </a: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42</a:t>
            </a:fld>
            <a:endParaRPr lang="en-US" dirty="0"/>
          </a:p>
        </p:txBody>
      </p:sp>
      <p:pic>
        <p:nvPicPr>
          <p:cNvPr id="6" name="Picture 5" descr="MP900385355[1].JPG"/>
          <p:cNvPicPr/>
          <p:nvPr/>
        </p:nvPicPr>
        <p:blipFill>
          <a:blip r:embed="rId3" cstate="print"/>
          <a:stretch>
            <a:fillRect/>
          </a:stretch>
        </p:blipFill>
        <p:spPr>
          <a:xfrm>
            <a:off x="6786578" y="3500438"/>
            <a:ext cx="1581150" cy="1123950"/>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Preparing submissions</a:t>
            </a:r>
          </a:p>
        </p:txBody>
      </p:sp>
      <p:sp>
        <p:nvSpPr>
          <p:cNvPr id="3" name="Content Placeholder 2"/>
          <p:cNvSpPr>
            <a:spLocks noGrp="1"/>
          </p:cNvSpPr>
          <p:nvPr>
            <p:ph idx="1"/>
          </p:nvPr>
        </p:nvSpPr>
        <p:spPr>
          <a:xfrm>
            <a:off x="611560" y="1556792"/>
            <a:ext cx="7467600" cy="5040560"/>
          </a:xfrm>
        </p:spPr>
        <p:txBody>
          <a:bodyPr>
            <a:normAutofit/>
          </a:bodyPr>
          <a:lstStyle/>
          <a:p>
            <a:pPr marL="0">
              <a:spcBef>
                <a:spcPts val="600"/>
              </a:spcBef>
              <a:spcAft>
                <a:spcPts val="1200"/>
              </a:spcAft>
              <a:buNone/>
            </a:pPr>
            <a:r>
              <a:rPr lang="en-AU" sz="2200" b="1" dirty="0" smtClean="0">
                <a:latin typeface="Helvetica" pitchFamily="34" charset="0"/>
              </a:rPr>
              <a:t>Submission inclusions</a:t>
            </a:r>
          </a:p>
          <a:p>
            <a:pPr lvl="0">
              <a:spcBef>
                <a:spcPts val="600"/>
              </a:spcBef>
              <a:spcAft>
                <a:spcPts val="1200"/>
              </a:spcAft>
            </a:pPr>
            <a:r>
              <a:rPr lang="en-AU" sz="2200" dirty="0" smtClean="0">
                <a:latin typeface="Helvetica" pitchFamily="34" charset="0"/>
              </a:rPr>
              <a:t>Title page </a:t>
            </a:r>
          </a:p>
          <a:p>
            <a:pPr lvl="0">
              <a:spcBef>
                <a:spcPts val="600"/>
              </a:spcBef>
              <a:spcAft>
                <a:spcPts val="1200"/>
              </a:spcAft>
            </a:pPr>
            <a:r>
              <a:rPr lang="en-AU" sz="2200" dirty="0" smtClean="0">
                <a:latin typeface="Helvetica" pitchFamily="34" charset="0"/>
              </a:rPr>
              <a:t>Introduction </a:t>
            </a:r>
          </a:p>
          <a:p>
            <a:pPr lvl="0">
              <a:spcBef>
                <a:spcPts val="600"/>
              </a:spcBef>
              <a:spcAft>
                <a:spcPts val="1200"/>
              </a:spcAft>
            </a:pPr>
            <a:r>
              <a:rPr lang="en-AU" sz="2200" dirty="0" smtClean="0">
                <a:latin typeface="Helvetica" pitchFamily="34" charset="0"/>
              </a:rPr>
              <a:t>Main body </a:t>
            </a:r>
          </a:p>
          <a:p>
            <a:pPr lvl="0">
              <a:spcBef>
                <a:spcPts val="600"/>
              </a:spcBef>
              <a:spcAft>
                <a:spcPts val="1200"/>
              </a:spcAft>
            </a:pPr>
            <a:r>
              <a:rPr lang="en-AU" sz="2200" dirty="0" smtClean="0">
                <a:latin typeface="Helvetica" pitchFamily="34" charset="0"/>
              </a:rPr>
              <a:t>Conclusion </a:t>
            </a:r>
          </a:p>
          <a:p>
            <a:pPr lvl="0">
              <a:spcBef>
                <a:spcPts val="600"/>
              </a:spcBef>
              <a:spcAft>
                <a:spcPts val="1200"/>
              </a:spcAft>
            </a:pPr>
            <a:r>
              <a:rPr lang="en-AU" sz="2200" dirty="0" smtClean="0">
                <a:latin typeface="Helvetica" pitchFamily="34" charset="0"/>
              </a:rPr>
              <a:t>Recommendation </a:t>
            </a:r>
          </a:p>
          <a:p>
            <a:pPr>
              <a:spcBef>
                <a:spcPts val="600"/>
              </a:spcBef>
              <a:spcAft>
                <a:spcPts val="1200"/>
              </a:spcAft>
            </a:pPr>
            <a:r>
              <a:rPr lang="en-AU" sz="2200" dirty="0" smtClean="0">
                <a:latin typeface="Helvetica" pitchFamily="34" charset="0"/>
              </a:rPr>
              <a:t>Space for signatures and approval </a:t>
            </a: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43</a:t>
            </a:fld>
            <a:endParaRPr lang="en-US" dirty="0"/>
          </a:p>
        </p:txBody>
      </p:sp>
      <p:pic>
        <p:nvPicPr>
          <p:cNvPr id="7" name="Picture 6" descr="MP900289901.JPG"/>
          <p:cNvPicPr>
            <a:picLocks noChangeAspect="1"/>
          </p:cNvPicPr>
          <p:nvPr/>
        </p:nvPicPr>
        <p:blipFill>
          <a:blip r:embed="rId3" cstate="print"/>
          <a:stretch>
            <a:fillRect/>
          </a:stretch>
        </p:blipFill>
        <p:spPr>
          <a:xfrm>
            <a:off x="5357818" y="2571744"/>
            <a:ext cx="2366173" cy="1585336"/>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Preparing proposals</a:t>
            </a:r>
          </a:p>
        </p:txBody>
      </p:sp>
      <p:sp>
        <p:nvSpPr>
          <p:cNvPr id="3" name="Content Placeholder 2"/>
          <p:cNvSpPr>
            <a:spLocks noGrp="1"/>
          </p:cNvSpPr>
          <p:nvPr>
            <p:ph idx="1"/>
          </p:nvPr>
        </p:nvSpPr>
        <p:spPr>
          <a:xfrm>
            <a:off x="611560" y="1556792"/>
            <a:ext cx="7467600" cy="5040560"/>
          </a:xfrm>
        </p:spPr>
        <p:txBody>
          <a:bodyPr>
            <a:normAutofit/>
          </a:bodyPr>
          <a:lstStyle/>
          <a:p>
            <a:pPr marL="0">
              <a:spcBef>
                <a:spcPts val="600"/>
              </a:spcBef>
              <a:spcAft>
                <a:spcPts val="1200"/>
              </a:spcAft>
              <a:buNone/>
            </a:pPr>
            <a:r>
              <a:rPr lang="en-AU" sz="2200" b="1" dirty="0" smtClean="0">
                <a:latin typeface="Helvetica" pitchFamily="34" charset="0"/>
              </a:rPr>
              <a:t>Proposal format</a:t>
            </a:r>
          </a:p>
          <a:p>
            <a:pPr lvl="0">
              <a:spcBef>
                <a:spcPts val="600"/>
              </a:spcBef>
              <a:spcAft>
                <a:spcPts val="1200"/>
              </a:spcAft>
            </a:pPr>
            <a:r>
              <a:rPr lang="en-AU" sz="2200" dirty="0" smtClean="0">
                <a:latin typeface="Helvetica" pitchFamily="34" charset="0"/>
              </a:rPr>
              <a:t>Cover page </a:t>
            </a:r>
          </a:p>
          <a:p>
            <a:pPr lvl="0">
              <a:spcBef>
                <a:spcPts val="600"/>
              </a:spcBef>
              <a:spcAft>
                <a:spcPts val="1200"/>
              </a:spcAft>
            </a:pPr>
            <a:r>
              <a:rPr lang="en-AU" sz="2200" dirty="0" smtClean="0">
                <a:latin typeface="Helvetica" pitchFamily="34" charset="0"/>
              </a:rPr>
              <a:t>Executive Summary </a:t>
            </a:r>
          </a:p>
          <a:p>
            <a:pPr lvl="0">
              <a:spcBef>
                <a:spcPts val="600"/>
              </a:spcBef>
              <a:spcAft>
                <a:spcPts val="1200"/>
              </a:spcAft>
            </a:pPr>
            <a:r>
              <a:rPr lang="en-AU" sz="2200" dirty="0" smtClean="0">
                <a:latin typeface="Helvetica" pitchFamily="34" charset="0"/>
              </a:rPr>
              <a:t>Introduction </a:t>
            </a:r>
          </a:p>
          <a:p>
            <a:pPr lvl="0">
              <a:spcBef>
                <a:spcPts val="600"/>
              </a:spcBef>
              <a:spcAft>
                <a:spcPts val="1200"/>
              </a:spcAft>
            </a:pPr>
            <a:r>
              <a:rPr lang="en-AU" sz="2200" dirty="0" smtClean="0">
                <a:latin typeface="Helvetica" pitchFamily="34" charset="0"/>
              </a:rPr>
              <a:t>Description of management of the project</a:t>
            </a:r>
          </a:p>
          <a:p>
            <a:pPr>
              <a:spcBef>
                <a:spcPts val="600"/>
              </a:spcBef>
              <a:spcAft>
                <a:spcPts val="1200"/>
              </a:spcAft>
            </a:pPr>
            <a:r>
              <a:rPr lang="en-AU" sz="2200" dirty="0" smtClean="0">
                <a:latin typeface="Helvetica" pitchFamily="34" charset="0"/>
              </a:rPr>
              <a:t>Description of qualifications and experience of the organisation/individuals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44</a:t>
            </a:fld>
            <a:endParaRPr lang="en-US" dirty="0"/>
          </a:p>
        </p:txBody>
      </p:sp>
      <p:pic>
        <p:nvPicPr>
          <p:cNvPr id="6" name="Picture 5"/>
          <p:cNvPicPr/>
          <p:nvPr/>
        </p:nvPicPr>
        <p:blipFill>
          <a:blip r:embed="rId3" cstate="print"/>
          <a:srcRect/>
          <a:stretch>
            <a:fillRect/>
          </a:stretch>
        </p:blipFill>
        <p:spPr bwMode="auto">
          <a:xfrm>
            <a:off x="6143636" y="2214554"/>
            <a:ext cx="1524000" cy="13239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Preparing proposals</a:t>
            </a:r>
          </a:p>
        </p:txBody>
      </p:sp>
      <p:sp>
        <p:nvSpPr>
          <p:cNvPr id="3" name="Content Placeholder 2"/>
          <p:cNvSpPr>
            <a:spLocks noGrp="1"/>
          </p:cNvSpPr>
          <p:nvPr>
            <p:ph idx="1"/>
          </p:nvPr>
        </p:nvSpPr>
        <p:spPr>
          <a:xfrm>
            <a:off x="611560" y="1556792"/>
            <a:ext cx="7467600" cy="5040560"/>
          </a:xfrm>
        </p:spPr>
        <p:txBody>
          <a:bodyPr>
            <a:normAutofit/>
          </a:bodyPr>
          <a:lstStyle/>
          <a:p>
            <a:pPr marL="0">
              <a:spcBef>
                <a:spcPts val="600"/>
              </a:spcBef>
              <a:spcAft>
                <a:spcPts val="1200"/>
              </a:spcAft>
              <a:buNone/>
            </a:pPr>
            <a:r>
              <a:rPr lang="en-AU" sz="2200" b="1" dirty="0" smtClean="0">
                <a:latin typeface="Helvetica" pitchFamily="34" charset="0"/>
              </a:rPr>
              <a:t>Proposal format</a:t>
            </a:r>
          </a:p>
          <a:p>
            <a:pPr lvl="0">
              <a:spcBef>
                <a:spcPts val="600"/>
              </a:spcBef>
              <a:spcAft>
                <a:spcPts val="1200"/>
              </a:spcAft>
            </a:pPr>
            <a:r>
              <a:rPr lang="en-AU" sz="2200" dirty="0" smtClean="0">
                <a:latin typeface="Helvetica" pitchFamily="34" charset="0"/>
              </a:rPr>
              <a:t>Outline of the budget </a:t>
            </a:r>
          </a:p>
          <a:p>
            <a:pPr lvl="0">
              <a:spcBef>
                <a:spcPts val="600"/>
              </a:spcBef>
              <a:spcAft>
                <a:spcPts val="1200"/>
              </a:spcAft>
            </a:pPr>
            <a:r>
              <a:rPr lang="en-AU" sz="2200" dirty="0" smtClean="0">
                <a:latin typeface="Helvetica" pitchFamily="34" charset="0"/>
              </a:rPr>
              <a:t>Proposed schedule </a:t>
            </a:r>
          </a:p>
          <a:p>
            <a:pPr lvl="0">
              <a:spcBef>
                <a:spcPts val="600"/>
              </a:spcBef>
              <a:spcAft>
                <a:spcPts val="1200"/>
              </a:spcAft>
            </a:pPr>
            <a:r>
              <a:rPr lang="en-AU" sz="2200" dirty="0" smtClean="0">
                <a:latin typeface="Helvetica" pitchFamily="34" charset="0"/>
              </a:rPr>
              <a:t>Description of terms and conditions </a:t>
            </a:r>
          </a:p>
          <a:p>
            <a:pPr lvl="0">
              <a:spcBef>
                <a:spcPts val="600"/>
              </a:spcBef>
              <a:spcAft>
                <a:spcPts val="1200"/>
              </a:spcAft>
            </a:pPr>
            <a:r>
              <a:rPr lang="en-AU" sz="2200" dirty="0" smtClean="0">
                <a:latin typeface="Helvetica" pitchFamily="34" charset="0"/>
              </a:rPr>
              <a:t>Summary </a:t>
            </a:r>
          </a:p>
          <a:p>
            <a:pPr>
              <a:spcBef>
                <a:spcPts val="600"/>
              </a:spcBef>
              <a:spcAft>
                <a:spcPts val="1200"/>
              </a:spcAft>
            </a:pPr>
            <a:r>
              <a:rPr lang="en-AU" sz="2200" dirty="0" smtClean="0">
                <a:latin typeface="Helvetica" pitchFamily="34" charset="0"/>
              </a:rPr>
              <a:t>Attachments and appendices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45</a:t>
            </a:fld>
            <a:endParaRPr lang="en-US" dirty="0"/>
          </a:p>
        </p:txBody>
      </p:sp>
      <p:pic>
        <p:nvPicPr>
          <p:cNvPr id="6" name="Picture 5"/>
          <p:cNvPicPr/>
          <p:nvPr/>
        </p:nvPicPr>
        <p:blipFill>
          <a:blip r:embed="rId3" cstate="print"/>
          <a:srcRect l="42188"/>
          <a:stretch>
            <a:fillRect/>
          </a:stretch>
        </p:blipFill>
        <p:spPr bwMode="auto">
          <a:xfrm>
            <a:off x="6357950" y="2000240"/>
            <a:ext cx="1309686" cy="196807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Preparing tenders</a:t>
            </a:r>
          </a:p>
        </p:txBody>
      </p:sp>
      <p:sp>
        <p:nvSpPr>
          <p:cNvPr id="3" name="Content Placeholder 2"/>
          <p:cNvSpPr>
            <a:spLocks noGrp="1"/>
          </p:cNvSpPr>
          <p:nvPr>
            <p:ph idx="1"/>
          </p:nvPr>
        </p:nvSpPr>
        <p:spPr>
          <a:xfrm>
            <a:off x="611560" y="1556792"/>
            <a:ext cx="7467600" cy="5040560"/>
          </a:xfrm>
        </p:spPr>
        <p:txBody>
          <a:bodyPr>
            <a:normAutofit/>
          </a:bodyPr>
          <a:lstStyle/>
          <a:p>
            <a:pPr marL="0">
              <a:spcBef>
                <a:spcPts val="600"/>
              </a:spcBef>
              <a:spcAft>
                <a:spcPts val="1200"/>
              </a:spcAft>
              <a:buNone/>
            </a:pPr>
            <a:r>
              <a:rPr lang="en-AU" sz="2200" b="1" dirty="0" smtClean="0">
                <a:latin typeface="Helvetica" pitchFamily="34" charset="0"/>
              </a:rPr>
              <a:t>Tender inclusions</a:t>
            </a:r>
          </a:p>
          <a:p>
            <a:pPr lvl="0">
              <a:spcBef>
                <a:spcPts val="600"/>
              </a:spcBef>
              <a:spcAft>
                <a:spcPts val="1200"/>
              </a:spcAft>
            </a:pPr>
            <a:r>
              <a:rPr lang="en-AU" sz="2200" dirty="0" smtClean="0">
                <a:latin typeface="Helvetica" pitchFamily="34" charset="0"/>
              </a:rPr>
              <a:t>The purpose of the project </a:t>
            </a:r>
          </a:p>
          <a:p>
            <a:pPr>
              <a:spcBef>
                <a:spcPts val="600"/>
              </a:spcBef>
              <a:spcAft>
                <a:spcPts val="1200"/>
              </a:spcAft>
            </a:pPr>
            <a:r>
              <a:rPr lang="en-AU" sz="2200" dirty="0" smtClean="0">
                <a:latin typeface="Helvetica" pitchFamily="34" charset="0"/>
              </a:rPr>
              <a:t>Your ability to meet the project objectives </a:t>
            </a:r>
          </a:p>
          <a:p>
            <a:pPr lvl="0">
              <a:spcBef>
                <a:spcPts val="600"/>
              </a:spcBef>
              <a:spcAft>
                <a:spcPts val="1200"/>
              </a:spcAft>
            </a:pPr>
            <a:r>
              <a:rPr lang="en-AU" sz="2200" dirty="0" smtClean="0">
                <a:latin typeface="Helvetica" pitchFamily="34" charset="0"/>
              </a:rPr>
              <a:t>The budget </a:t>
            </a:r>
          </a:p>
          <a:p>
            <a:pPr>
              <a:spcBef>
                <a:spcPts val="600"/>
              </a:spcBef>
              <a:spcAft>
                <a:spcPts val="1200"/>
              </a:spcAft>
            </a:pPr>
            <a:r>
              <a:rPr lang="en-AU" sz="2200" dirty="0" smtClean="0">
                <a:latin typeface="Helvetica" pitchFamily="34" charset="0"/>
              </a:rPr>
              <a:t>Funding conditions and conditions of payment </a:t>
            </a:r>
          </a:p>
          <a:p>
            <a:pPr lvl="0">
              <a:spcBef>
                <a:spcPts val="600"/>
              </a:spcBef>
              <a:spcAft>
                <a:spcPts val="1200"/>
              </a:spcAft>
            </a:pPr>
            <a:r>
              <a:rPr lang="en-AU" sz="2200" dirty="0" smtClean="0">
                <a:latin typeface="Helvetica" pitchFamily="34" charset="0"/>
              </a:rPr>
              <a:t>The timeframe for completion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46</a:t>
            </a:fld>
            <a:endParaRPr lang="en-US" dirty="0"/>
          </a:p>
        </p:txBody>
      </p:sp>
      <p:pic>
        <p:nvPicPr>
          <p:cNvPr id="146433" name="Picture 1" descr="C:\Documents and Settings\danielc\Local Settings\Temporary Internet Files\Content.IE5\UMECW9PM\MC900388876[1].wmf"/>
          <p:cNvPicPr>
            <a:picLocks noChangeAspect="1" noChangeArrowheads="1"/>
          </p:cNvPicPr>
          <p:nvPr/>
        </p:nvPicPr>
        <p:blipFill>
          <a:blip r:embed="rId3" cstate="print"/>
          <a:srcRect/>
          <a:stretch>
            <a:fillRect/>
          </a:stretch>
        </p:blipFill>
        <p:spPr bwMode="auto">
          <a:xfrm>
            <a:off x="6500826" y="1857364"/>
            <a:ext cx="1674266" cy="1837944"/>
          </a:xfrm>
          <a:prstGeom prst="rect">
            <a:avLst/>
          </a:prstGeom>
          <a:noFill/>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Produce documents within timelines</a:t>
            </a: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200" b="1" dirty="0" smtClean="0">
                <a:latin typeface="Helvetica" pitchFamily="34" charset="0"/>
              </a:rPr>
              <a:t>Types of timelines</a:t>
            </a:r>
          </a:p>
          <a:p>
            <a:pPr>
              <a:spcBef>
                <a:spcPts val="600"/>
              </a:spcBef>
              <a:spcAft>
                <a:spcPts val="1200"/>
              </a:spcAft>
            </a:pPr>
            <a:r>
              <a:rPr lang="en-AU" sz="2200" dirty="0" smtClean="0">
                <a:latin typeface="Helvetica" pitchFamily="34" charset="0"/>
              </a:rPr>
              <a:t>Immediately</a:t>
            </a:r>
          </a:p>
          <a:p>
            <a:pPr>
              <a:spcBef>
                <a:spcPts val="600"/>
              </a:spcBef>
              <a:spcAft>
                <a:spcPts val="1200"/>
              </a:spcAft>
            </a:pPr>
            <a:r>
              <a:rPr lang="en-AU" sz="2200" dirty="0" smtClean="0">
                <a:latin typeface="Helvetica" pitchFamily="34" charset="0"/>
              </a:rPr>
              <a:t>By a set date</a:t>
            </a:r>
          </a:p>
          <a:p>
            <a:pPr>
              <a:spcBef>
                <a:spcPts val="600"/>
              </a:spcBef>
              <a:spcAft>
                <a:spcPts val="1200"/>
              </a:spcAft>
            </a:pPr>
            <a:r>
              <a:rPr lang="en-AU" sz="2200" dirty="0" smtClean="0">
                <a:latin typeface="Helvetica" pitchFamily="34" charset="0"/>
              </a:rPr>
              <a:t>No hurry</a:t>
            </a:r>
          </a:p>
          <a:p>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47</a:t>
            </a:fld>
            <a:endParaRPr lang="en-US" dirty="0"/>
          </a:p>
        </p:txBody>
      </p:sp>
      <p:pic>
        <p:nvPicPr>
          <p:cNvPr id="7" name="Picture 6" descr="C:\Documents and Settings\danielc\Local Settings\Temporary Internet Files\Content.IE5\SIQ5KRQ3\MC900293512[1].wmf"/>
          <p:cNvPicPr/>
          <p:nvPr/>
        </p:nvPicPr>
        <p:blipFill>
          <a:blip r:embed="rId3" cstate="print"/>
          <a:srcRect/>
          <a:stretch>
            <a:fillRect/>
          </a:stretch>
        </p:blipFill>
        <p:spPr bwMode="auto">
          <a:xfrm>
            <a:off x="5429256" y="2357430"/>
            <a:ext cx="1832328" cy="1016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Produce documents within timelines</a:t>
            </a: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200" b="1" dirty="0" smtClean="0">
                <a:latin typeface="Helvetica" pitchFamily="34" charset="0"/>
              </a:rPr>
              <a:t>Timing considerations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Each document that needs to be prepared should be awarded a suitable amount of time to:</a:t>
            </a:r>
          </a:p>
          <a:p>
            <a:pPr lvl="0">
              <a:spcBef>
                <a:spcPts val="600"/>
              </a:spcBef>
              <a:spcAft>
                <a:spcPts val="1200"/>
              </a:spcAft>
            </a:pPr>
            <a:r>
              <a:rPr lang="en-AU" sz="2200" dirty="0" smtClean="0">
                <a:latin typeface="Helvetica" pitchFamily="34" charset="0"/>
              </a:rPr>
              <a:t>Conduct necessary research to compile information</a:t>
            </a:r>
          </a:p>
          <a:p>
            <a:pPr lvl="0">
              <a:spcBef>
                <a:spcPts val="600"/>
              </a:spcBef>
              <a:spcAft>
                <a:spcPts val="1200"/>
              </a:spcAft>
            </a:pPr>
            <a:r>
              <a:rPr lang="en-AU" sz="2200" dirty="0" smtClean="0">
                <a:latin typeface="Helvetica" pitchFamily="34" charset="0"/>
              </a:rPr>
              <a:t>Hold relevant meetings and discussions required</a:t>
            </a:r>
          </a:p>
          <a:p>
            <a:pPr lvl="0">
              <a:spcBef>
                <a:spcPts val="600"/>
              </a:spcBef>
              <a:spcAft>
                <a:spcPts val="1200"/>
              </a:spcAft>
            </a:pPr>
            <a:r>
              <a:rPr lang="en-AU" sz="2200" dirty="0" smtClean="0">
                <a:latin typeface="Helvetica" pitchFamily="34" charset="0"/>
              </a:rPr>
              <a:t>Type the actual document </a:t>
            </a:r>
          </a:p>
          <a:p>
            <a:pPr lvl="0">
              <a:spcBef>
                <a:spcPts val="600"/>
              </a:spcBef>
              <a:spcAft>
                <a:spcPts val="1200"/>
              </a:spcAft>
            </a:pPr>
            <a:r>
              <a:rPr lang="en-AU" sz="2200" dirty="0" smtClean="0">
                <a:latin typeface="Helvetica" pitchFamily="34" charset="0"/>
              </a:rPr>
              <a:t>Review and collect feedback</a:t>
            </a:r>
          </a:p>
          <a:p>
            <a:pPr lvl="0">
              <a:spcBef>
                <a:spcPts val="600"/>
              </a:spcBef>
              <a:spcAft>
                <a:spcPts val="1200"/>
              </a:spcAft>
            </a:pPr>
            <a:r>
              <a:rPr lang="en-AU" sz="2200" dirty="0" smtClean="0">
                <a:latin typeface="Helvetica" pitchFamily="34" charset="0"/>
              </a:rPr>
              <a:t>Distribute or transport final document</a:t>
            </a:r>
          </a:p>
          <a:p>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48</a:t>
            </a:fld>
            <a:endParaRPr lang="en-US" dirty="0"/>
          </a:p>
        </p:txBody>
      </p:sp>
      <p:pic>
        <p:nvPicPr>
          <p:cNvPr id="7" name="Picture 6" descr="MP900407414.JPG"/>
          <p:cNvPicPr/>
          <p:nvPr/>
        </p:nvPicPr>
        <p:blipFill>
          <a:blip r:embed="rId3" cstate="print"/>
          <a:stretch>
            <a:fillRect/>
          </a:stretch>
        </p:blipFill>
        <p:spPr>
          <a:xfrm>
            <a:off x="6357950" y="4214818"/>
            <a:ext cx="1835847" cy="1657042"/>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Types of software functions</a:t>
            </a:r>
          </a:p>
        </p:txBody>
      </p:sp>
      <p:sp>
        <p:nvSpPr>
          <p:cNvPr id="3" name="Content Placeholder 2"/>
          <p:cNvSpPr>
            <a:spLocks noGrp="1"/>
          </p:cNvSpPr>
          <p:nvPr>
            <p:ph idx="1"/>
          </p:nvPr>
        </p:nvSpPr>
        <p:spPr>
          <a:xfrm>
            <a:off x="611560" y="1357298"/>
            <a:ext cx="7467600" cy="5040560"/>
          </a:xfrm>
        </p:spPr>
        <p:txBody>
          <a:bodyPr>
            <a:normAutofit lnSpcReduction="10000"/>
          </a:bodyPr>
          <a:lstStyle/>
          <a:p>
            <a:pPr lvl="0">
              <a:spcBef>
                <a:spcPts val="600"/>
              </a:spcBef>
              <a:spcAft>
                <a:spcPts val="600"/>
              </a:spcAft>
            </a:pPr>
            <a:r>
              <a:rPr lang="en-AU" sz="2200" dirty="0" smtClean="0">
                <a:latin typeface="Helvetica" pitchFamily="34" charset="0"/>
              </a:rPr>
              <a:t>Default settings</a:t>
            </a:r>
          </a:p>
          <a:p>
            <a:pPr lvl="0">
              <a:spcBef>
                <a:spcPts val="600"/>
              </a:spcBef>
              <a:spcAft>
                <a:spcPts val="600"/>
              </a:spcAft>
            </a:pPr>
            <a:r>
              <a:rPr lang="en-AU" sz="2200" dirty="0" smtClean="0">
                <a:latin typeface="Helvetica" pitchFamily="34" charset="0"/>
              </a:rPr>
              <a:t>Page setup</a:t>
            </a:r>
          </a:p>
          <a:p>
            <a:pPr lvl="0">
              <a:spcBef>
                <a:spcPts val="600"/>
              </a:spcBef>
              <a:spcAft>
                <a:spcPts val="600"/>
              </a:spcAft>
            </a:pPr>
            <a:r>
              <a:rPr lang="en-AU" sz="2200" dirty="0" smtClean="0">
                <a:latin typeface="Helvetica" pitchFamily="34" charset="0"/>
              </a:rPr>
              <a:t>Paragraph formatting</a:t>
            </a:r>
          </a:p>
          <a:p>
            <a:pPr lvl="0">
              <a:spcBef>
                <a:spcPts val="600"/>
              </a:spcBef>
              <a:spcAft>
                <a:spcPts val="600"/>
              </a:spcAft>
            </a:pPr>
            <a:r>
              <a:rPr lang="en-AU" sz="2200" dirty="0" smtClean="0">
                <a:latin typeface="Helvetica" pitchFamily="34" charset="0"/>
              </a:rPr>
              <a:t>Text formatting</a:t>
            </a:r>
          </a:p>
          <a:p>
            <a:pPr lvl="0">
              <a:spcBef>
                <a:spcPts val="600"/>
              </a:spcBef>
              <a:spcAft>
                <a:spcPts val="600"/>
              </a:spcAft>
            </a:pPr>
            <a:r>
              <a:rPr lang="en-AU" sz="2200" dirty="0" smtClean="0">
                <a:latin typeface="Helvetica" pitchFamily="34" charset="0"/>
              </a:rPr>
              <a:t>Tabs</a:t>
            </a:r>
          </a:p>
          <a:p>
            <a:pPr lvl="0">
              <a:spcBef>
                <a:spcPts val="600"/>
              </a:spcBef>
              <a:spcAft>
                <a:spcPts val="600"/>
              </a:spcAft>
            </a:pPr>
            <a:r>
              <a:rPr lang="en-AU" sz="2200" dirty="0" smtClean="0">
                <a:latin typeface="Helvetica" pitchFamily="34" charset="0"/>
              </a:rPr>
              <a:t>Line spacing</a:t>
            </a:r>
          </a:p>
          <a:p>
            <a:pPr lvl="0">
              <a:spcBef>
                <a:spcPts val="600"/>
              </a:spcBef>
              <a:spcAft>
                <a:spcPts val="600"/>
              </a:spcAft>
            </a:pPr>
            <a:r>
              <a:rPr lang="en-AU" sz="2200" dirty="0" smtClean="0">
                <a:latin typeface="Helvetica" pitchFamily="34" charset="0"/>
              </a:rPr>
              <a:t>Page numbering</a:t>
            </a:r>
          </a:p>
          <a:p>
            <a:pPr lvl="0">
              <a:spcBef>
                <a:spcPts val="600"/>
              </a:spcBef>
              <a:spcAft>
                <a:spcPts val="600"/>
              </a:spcAft>
            </a:pPr>
            <a:r>
              <a:rPr lang="en-AU" sz="2200" dirty="0" smtClean="0">
                <a:latin typeface="Helvetica" pitchFamily="34" charset="0"/>
              </a:rPr>
              <a:t>Headers and/or footers</a:t>
            </a:r>
          </a:p>
          <a:p>
            <a:pPr lvl="0">
              <a:spcBef>
                <a:spcPts val="600"/>
              </a:spcBef>
              <a:spcAft>
                <a:spcPts val="600"/>
              </a:spcAft>
            </a:pPr>
            <a:r>
              <a:rPr lang="en-AU" sz="2200" dirty="0" smtClean="0">
                <a:latin typeface="Helvetica" pitchFamily="34" charset="0"/>
              </a:rPr>
              <a:t>Application of spell check</a:t>
            </a:r>
          </a:p>
          <a:p>
            <a:pPr lvl="0">
              <a:spcBef>
                <a:spcPts val="600"/>
              </a:spcBef>
              <a:spcAft>
                <a:spcPts val="600"/>
              </a:spcAft>
            </a:pPr>
            <a:r>
              <a:rPr lang="en-AU" sz="2200" dirty="0" smtClean="0">
                <a:latin typeface="Helvetica" pitchFamily="34" charset="0"/>
              </a:rPr>
              <a:t>Indenting</a:t>
            </a:r>
          </a:p>
          <a:p>
            <a:pPr lvl="0">
              <a:spcBef>
                <a:spcPts val="600"/>
              </a:spcBef>
              <a:spcAft>
                <a:spcPts val="600"/>
              </a:spcAft>
            </a:pPr>
            <a:r>
              <a:rPr lang="en-AU" sz="2200" dirty="0" smtClean="0">
                <a:latin typeface="Helvetica" pitchFamily="34" charset="0"/>
              </a:rPr>
              <a:t>Document protection protocols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49</a:t>
            </a:fld>
            <a:endParaRPr lang="en-US" dirty="0"/>
          </a:p>
        </p:txBody>
      </p:sp>
      <p:pic>
        <p:nvPicPr>
          <p:cNvPr id="8" name="Picture 7" descr="802342_laptop.jpg"/>
          <p:cNvPicPr/>
          <p:nvPr/>
        </p:nvPicPr>
        <p:blipFill>
          <a:blip r:embed="rId3" cstate="print"/>
          <a:stretch>
            <a:fillRect/>
          </a:stretch>
        </p:blipFill>
        <p:spPr>
          <a:xfrm>
            <a:off x="5857884" y="1857364"/>
            <a:ext cx="1697340" cy="1670670"/>
          </a:xfrm>
          <a:prstGeom prst="rect">
            <a:avLst/>
          </a:prstGeom>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Save document regularly</a:t>
            </a: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200" b="1" dirty="0" smtClean="0">
                <a:latin typeface="Helvetica" pitchFamily="34" charset="0"/>
              </a:rPr>
              <a:t>Methods to store data</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Storage in directories and sub-directories</a:t>
            </a:r>
          </a:p>
          <a:p>
            <a:pPr>
              <a:spcBef>
                <a:spcPts val="600"/>
              </a:spcBef>
              <a:spcAft>
                <a:spcPts val="1200"/>
              </a:spcAft>
            </a:pPr>
            <a:r>
              <a:rPr lang="en-AU" sz="2200" dirty="0" smtClean="0">
                <a:latin typeface="Helvetica" pitchFamily="34" charset="0"/>
              </a:rPr>
              <a:t>Storage on hard drive </a:t>
            </a:r>
          </a:p>
          <a:p>
            <a:pPr>
              <a:spcBef>
                <a:spcPts val="600"/>
              </a:spcBef>
              <a:spcAft>
                <a:spcPts val="1200"/>
              </a:spcAft>
            </a:pPr>
            <a:r>
              <a:rPr lang="en-AU" sz="2200" dirty="0" smtClean="0">
                <a:latin typeface="Helvetica" pitchFamily="34" charset="0"/>
              </a:rPr>
              <a:t>Storage on networked computers </a:t>
            </a:r>
          </a:p>
          <a:p>
            <a:pPr>
              <a:spcBef>
                <a:spcPts val="600"/>
              </a:spcBef>
              <a:spcAft>
                <a:spcPts val="1200"/>
              </a:spcAft>
            </a:pPr>
            <a:r>
              <a:rPr lang="en-AU" sz="2200" dirty="0" smtClean="0">
                <a:latin typeface="Helvetica" pitchFamily="34" charset="0"/>
              </a:rPr>
              <a:t>Storage of memory sticks </a:t>
            </a:r>
          </a:p>
          <a:p>
            <a:pPr>
              <a:spcBef>
                <a:spcPts val="600"/>
              </a:spcBef>
              <a:spcAft>
                <a:spcPts val="1200"/>
              </a:spcAft>
            </a:pPr>
            <a:r>
              <a:rPr lang="en-AU" sz="2200" dirty="0" smtClean="0">
                <a:latin typeface="Helvetica" pitchFamily="34" charset="0"/>
              </a:rPr>
              <a:t>Storage on CD-ROMs </a:t>
            </a:r>
          </a:p>
          <a:p>
            <a:pPr lvl="0">
              <a:spcBef>
                <a:spcPts val="600"/>
              </a:spcBef>
              <a:spcAft>
                <a:spcPts val="1200"/>
              </a:spcAft>
            </a:pPr>
            <a:r>
              <a:rPr lang="en-AU" sz="2200" dirty="0" smtClean="0">
                <a:latin typeface="Helvetica" pitchFamily="34" charset="0"/>
              </a:rPr>
              <a:t>Storage on portable hard drives </a:t>
            </a:r>
          </a:p>
          <a:p>
            <a:pPr>
              <a:spcBef>
                <a:spcPts val="600"/>
              </a:spcBef>
              <a:spcAft>
                <a:spcPts val="1200"/>
              </a:spcAft>
            </a:pPr>
            <a:r>
              <a:rPr lang="en-AU" sz="2200" dirty="0" smtClean="0">
                <a:latin typeface="Helvetica" pitchFamily="34" charset="0"/>
              </a:rPr>
              <a:t>Appropriate storage/filing of hard copies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50</a:t>
            </a:fld>
            <a:endParaRPr lang="en-US" dirty="0"/>
          </a:p>
        </p:txBody>
      </p:sp>
      <p:pic>
        <p:nvPicPr>
          <p:cNvPr id="6" name="Picture 5" descr="External hard drive.JPG"/>
          <p:cNvPicPr/>
          <p:nvPr/>
        </p:nvPicPr>
        <p:blipFill>
          <a:blip r:embed="rId3" cstate="print"/>
          <a:stretch>
            <a:fillRect/>
          </a:stretch>
        </p:blipFill>
        <p:spPr>
          <a:xfrm>
            <a:off x="6286512" y="3000372"/>
            <a:ext cx="1766689" cy="1622673"/>
          </a:xfrm>
          <a:prstGeom prst="rect">
            <a:avLst/>
          </a:prstGeom>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Proof read prior to printing</a:t>
            </a: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200" b="1" dirty="0" smtClean="0">
                <a:latin typeface="Helvetica" pitchFamily="34" charset="0"/>
              </a:rPr>
              <a:t>Principles of proof reading</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Proofreading may involve:</a:t>
            </a:r>
          </a:p>
          <a:p>
            <a:pPr lvl="0">
              <a:spcBef>
                <a:spcPts val="600"/>
              </a:spcBef>
              <a:spcAft>
                <a:spcPts val="1200"/>
              </a:spcAft>
            </a:pPr>
            <a:r>
              <a:rPr lang="en-AU" sz="2200" dirty="0" smtClean="0">
                <a:latin typeface="Helvetica" pitchFamily="34" charset="0"/>
              </a:rPr>
              <a:t>Utilising spell check function of software</a:t>
            </a:r>
          </a:p>
          <a:p>
            <a:pPr lvl="0">
              <a:spcBef>
                <a:spcPts val="600"/>
              </a:spcBef>
              <a:spcAft>
                <a:spcPts val="1200"/>
              </a:spcAft>
            </a:pPr>
            <a:r>
              <a:rPr lang="en-AU" sz="2200" dirty="0" smtClean="0">
                <a:latin typeface="Helvetica" pitchFamily="34" charset="0"/>
              </a:rPr>
              <a:t>Utilising grammar check function of software</a:t>
            </a:r>
          </a:p>
          <a:p>
            <a:pPr lvl="0">
              <a:spcBef>
                <a:spcPts val="600"/>
              </a:spcBef>
              <a:spcAft>
                <a:spcPts val="1200"/>
              </a:spcAft>
            </a:pPr>
            <a:r>
              <a:rPr lang="en-AU" sz="2200" dirty="0" smtClean="0">
                <a:latin typeface="Helvetica" pitchFamily="34" charset="0"/>
              </a:rPr>
              <a:t>Checking page break placement</a:t>
            </a:r>
          </a:p>
          <a:p>
            <a:pPr lvl="0">
              <a:spcBef>
                <a:spcPts val="600"/>
              </a:spcBef>
              <a:spcAft>
                <a:spcPts val="1200"/>
              </a:spcAft>
            </a:pPr>
            <a:r>
              <a:rPr lang="en-AU" sz="2200" dirty="0" smtClean="0">
                <a:latin typeface="Helvetica" pitchFamily="34" charset="0"/>
              </a:rPr>
              <a:t>Checking hard copy of document</a:t>
            </a:r>
          </a:p>
          <a:p>
            <a:pPr>
              <a:spcBef>
                <a:spcPts val="600"/>
              </a:spcBef>
              <a:spcAft>
                <a:spcPts val="1200"/>
              </a:spcAft>
            </a:pPr>
            <a:r>
              <a:rPr lang="en-AU" sz="2200" dirty="0" smtClean="0">
                <a:latin typeface="Helvetica" pitchFamily="34" charset="0"/>
              </a:rPr>
              <a:t>Checking soft copy of document</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51</a:t>
            </a:fld>
            <a:endParaRPr lang="en-US" dirty="0"/>
          </a:p>
        </p:txBody>
      </p:sp>
      <p:pic>
        <p:nvPicPr>
          <p:cNvPr id="6" name="Picture 5" descr="C:\Documents and Settings\danielc\Local Settings\Temporary Internet Files\Content.IE5\UMECW9PM\MP900411777[1].jpg"/>
          <p:cNvPicPr/>
          <p:nvPr/>
        </p:nvPicPr>
        <p:blipFill>
          <a:blip r:embed="rId3" cstate="print"/>
          <a:srcRect/>
          <a:stretch>
            <a:fillRect/>
          </a:stretch>
        </p:blipFill>
        <p:spPr bwMode="auto">
          <a:xfrm>
            <a:off x="6853264" y="2428868"/>
            <a:ext cx="1504950" cy="226906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592" y="260648"/>
            <a:ext cx="7467600" cy="1143000"/>
          </a:xfrm>
        </p:spPr>
        <p:txBody>
          <a:bodyPr>
            <a:noAutofit/>
          </a:bodyPr>
          <a:lstStyle/>
          <a:p>
            <a:r>
              <a:rPr lang="en-AU" sz="3400" b="1" dirty="0" smtClean="0">
                <a:solidFill>
                  <a:srgbClr val="FF6600"/>
                </a:solidFill>
                <a:latin typeface="Helvetica" pitchFamily="34" charset="0"/>
              </a:rPr>
              <a:t/>
            </a:r>
            <a:br>
              <a:rPr lang="en-AU" sz="3400" b="1" dirty="0" smtClean="0">
                <a:solidFill>
                  <a:srgbClr val="FF6600"/>
                </a:solidFill>
                <a:latin typeface="Helvetica" pitchFamily="34" charset="0"/>
              </a:rPr>
            </a:br>
            <a:r>
              <a:rPr lang="en-AU" sz="3400" b="1" dirty="0" smtClean="0">
                <a:solidFill>
                  <a:srgbClr val="FF6600"/>
                </a:solidFill>
                <a:latin typeface="Helvetica" pitchFamily="34" charset="0"/>
              </a:rPr>
              <a:t>Rule of  7 Cs</a:t>
            </a:r>
            <a:r>
              <a:rPr lang="en-AU" sz="3400" b="1" dirty="0" smtClean="0">
                <a:latin typeface="Helvetica" pitchFamily="34" charset="0"/>
              </a:rPr>
              <a:t/>
            </a:r>
            <a:br>
              <a:rPr lang="en-AU" sz="3400" b="1" dirty="0" smtClean="0">
                <a:latin typeface="Helvetica" pitchFamily="34" charset="0"/>
              </a:rPr>
            </a:b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899592" y="1556792"/>
            <a:ext cx="5184576" cy="4525963"/>
          </a:xfrm>
        </p:spPr>
        <p:txBody>
          <a:bodyPr>
            <a:normAutofit/>
          </a:bodyPr>
          <a:lstStyle/>
          <a:p>
            <a:pPr>
              <a:spcBef>
                <a:spcPts val="1000"/>
              </a:spcBef>
              <a:spcAft>
                <a:spcPts val="1000"/>
              </a:spcAft>
            </a:pPr>
            <a:r>
              <a:rPr lang="en-AU" sz="2200" dirty="0" smtClean="0">
                <a:latin typeface="Helvetica" pitchFamily="34" charset="0"/>
              </a:rPr>
              <a:t>Clear</a:t>
            </a:r>
          </a:p>
          <a:p>
            <a:pPr>
              <a:spcBef>
                <a:spcPts val="1000"/>
              </a:spcBef>
              <a:spcAft>
                <a:spcPts val="1000"/>
              </a:spcAft>
            </a:pPr>
            <a:r>
              <a:rPr lang="en-AU" sz="2200" dirty="0" smtClean="0">
                <a:latin typeface="Helvetica" pitchFamily="34" charset="0"/>
              </a:rPr>
              <a:t>Concise</a:t>
            </a:r>
          </a:p>
          <a:p>
            <a:pPr>
              <a:spcBef>
                <a:spcPts val="1000"/>
              </a:spcBef>
              <a:spcAft>
                <a:spcPts val="1000"/>
              </a:spcAft>
            </a:pPr>
            <a:r>
              <a:rPr lang="en-AU" sz="2200" dirty="0" smtClean="0">
                <a:latin typeface="Helvetica" pitchFamily="34" charset="0"/>
              </a:rPr>
              <a:t>Complete</a:t>
            </a:r>
          </a:p>
          <a:p>
            <a:pPr>
              <a:spcBef>
                <a:spcPts val="1000"/>
              </a:spcBef>
              <a:spcAft>
                <a:spcPts val="1000"/>
              </a:spcAft>
            </a:pPr>
            <a:r>
              <a:rPr lang="en-AU" sz="2200" dirty="0" smtClean="0">
                <a:latin typeface="Helvetica" pitchFamily="34" charset="0"/>
              </a:rPr>
              <a:t>Correct</a:t>
            </a:r>
          </a:p>
          <a:p>
            <a:pPr>
              <a:spcBef>
                <a:spcPts val="1000"/>
              </a:spcBef>
              <a:spcAft>
                <a:spcPts val="1000"/>
              </a:spcAft>
            </a:pPr>
            <a:r>
              <a:rPr lang="en-AU" sz="2200" dirty="0" smtClean="0">
                <a:latin typeface="Helvetica" pitchFamily="34" charset="0"/>
              </a:rPr>
              <a:t>Courteous</a:t>
            </a:r>
          </a:p>
          <a:p>
            <a:pPr>
              <a:spcBef>
                <a:spcPts val="1000"/>
              </a:spcBef>
              <a:spcAft>
                <a:spcPts val="1000"/>
              </a:spcAft>
            </a:pPr>
            <a:r>
              <a:rPr lang="en-AU" sz="2200" dirty="0" smtClean="0">
                <a:latin typeface="Helvetica" pitchFamily="34" charset="0"/>
              </a:rPr>
              <a:t>Clean</a:t>
            </a:r>
          </a:p>
          <a:p>
            <a:pPr>
              <a:spcBef>
                <a:spcPts val="1000"/>
              </a:spcBef>
              <a:spcAft>
                <a:spcPts val="1000"/>
              </a:spcAft>
            </a:pPr>
            <a:r>
              <a:rPr lang="en-AU" sz="2200" dirty="0" smtClean="0">
                <a:latin typeface="Helvetica" pitchFamily="34" charset="0"/>
              </a:rPr>
              <a:t>Checked</a:t>
            </a:r>
          </a:p>
          <a:p>
            <a:pPr marL="0" indent="0">
              <a:spcBef>
                <a:spcPts val="600"/>
              </a:spcBef>
              <a:spcAft>
                <a:spcPts val="1200"/>
              </a:spcAft>
            </a:pPr>
            <a:endParaRPr lang="en-US" sz="2400" dirty="0" smtClean="0">
              <a:latin typeface="Helvetica" pitchFamily="34" charset="0"/>
            </a:endParaRPr>
          </a:p>
          <a:p>
            <a:pPr>
              <a:buNone/>
            </a:pPr>
            <a:endParaRPr lang="en-AU" dirty="0" smtClean="0"/>
          </a:p>
          <a:p>
            <a:pPr>
              <a:buNone/>
            </a:pPr>
            <a:endParaRPr lang="en-AU" sz="1400" dirty="0" smtClean="0"/>
          </a:p>
          <a:p>
            <a:pPr>
              <a:buNone/>
            </a:pPr>
            <a:endParaRPr lang="en-AU" sz="1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52</a:t>
            </a:fld>
            <a:endParaRPr lang="en-US" dirty="0"/>
          </a:p>
        </p:txBody>
      </p:sp>
      <p:pic>
        <p:nvPicPr>
          <p:cNvPr id="175106" name="Picture 2" descr="C:\Documents and Settings\jirayut\Local Settings\Temporary Internet Files\Content.IE5\DL0QWQXO\MC900441310[1].png"/>
          <p:cNvPicPr>
            <a:picLocks noChangeAspect="1" noChangeArrowheads="1"/>
          </p:cNvPicPr>
          <p:nvPr/>
        </p:nvPicPr>
        <p:blipFill>
          <a:blip r:embed="rId3" cstate="print"/>
          <a:srcRect/>
          <a:stretch>
            <a:fillRect/>
          </a:stretch>
        </p:blipFill>
        <p:spPr bwMode="auto">
          <a:xfrm>
            <a:off x="5214942" y="2428868"/>
            <a:ext cx="1877964" cy="1877964"/>
          </a:xfrm>
          <a:prstGeom prst="rect">
            <a:avLst/>
          </a:prstGeom>
          <a:noFill/>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Check spelling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Aft>
                <a:spcPts val="800"/>
              </a:spcAft>
              <a:buNone/>
            </a:pPr>
            <a:r>
              <a:rPr lang="en-US" sz="2400" b="1" dirty="0" smtClean="0">
                <a:latin typeface="Helvetica" pitchFamily="34" charset="0"/>
              </a:rPr>
              <a:t>Online dictionaries/thesauruses</a:t>
            </a:r>
            <a:endParaRPr lang="en-AU" sz="2200" dirty="0" smtClean="0">
              <a:latin typeface="Helvetica" pitchFamily="34" charset="0"/>
              <a:hlinkClick r:id="rId3"/>
            </a:endParaRPr>
          </a:p>
          <a:p>
            <a:pPr>
              <a:spcAft>
                <a:spcPts val="800"/>
              </a:spcAft>
            </a:pPr>
            <a:r>
              <a:rPr lang="en-AU" sz="2200" dirty="0" smtClean="0">
                <a:latin typeface="Helvetica" pitchFamily="34" charset="0"/>
                <a:hlinkClick r:id="rId3"/>
              </a:rPr>
              <a:t>www.dictionary.com</a:t>
            </a:r>
            <a:r>
              <a:rPr lang="en-AU" sz="2200" dirty="0" smtClean="0">
                <a:latin typeface="Helvetica" pitchFamily="34" charset="0"/>
              </a:rPr>
              <a:t> </a:t>
            </a:r>
          </a:p>
          <a:p>
            <a:pPr>
              <a:spcAft>
                <a:spcPts val="800"/>
              </a:spcAft>
            </a:pPr>
            <a:r>
              <a:rPr lang="en-AU" sz="2200" dirty="0" smtClean="0">
                <a:latin typeface="Helvetica" pitchFamily="34" charset="0"/>
                <a:hlinkClick r:id="rId4"/>
              </a:rPr>
              <a:t>www.thefreedictionary.com</a:t>
            </a:r>
            <a:r>
              <a:rPr lang="en-AU" sz="2200" dirty="0" smtClean="0">
                <a:latin typeface="Helvetica" pitchFamily="34" charset="0"/>
              </a:rPr>
              <a:t> </a:t>
            </a:r>
          </a:p>
          <a:p>
            <a:pPr>
              <a:spcAft>
                <a:spcPts val="800"/>
              </a:spcAft>
            </a:pPr>
            <a:r>
              <a:rPr lang="en-AU" sz="2200" dirty="0" smtClean="0">
                <a:latin typeface="Helvetica" pitchFamily="34" charset="0"/>
                <a:hlinkClick r:id="rId5"/>
              </a:rPr>
              <a:t>www.thesaurus.com</a:t>
            </a:r>
            <a:r>
              <a:rPr lang="en-AU" sz="2200" dirty="0" smtClean="0">
                <a:latin typeface="Helvetica" pitchFamily="34" charset="0"/>
              </a:rPr>
              <a:t> </a:t>
            </a:r>
          </a:p>
          <a:p>
            <a:pPr>
              <a:spcAft>
                <a:spcPts val="800"/>
              </a:spcAft>
            </a:pPr>
            <a:r>
              <a:rPr lang="en-AU" sz="2200" dirty="0" smtClean="0">
                <a:latin typeface="Helvetica" pitchFamily="34" charset="0"/>
                <a:hlinkClick r:id="rId6"/>
              </a:rPr>
              <a:t>www.macquariedictionary.com.au</a:t>
            </a:r>
            <a:r>
              <a:rPr lang="en-AU" sz="2200" dirty="0" smtClean="0">
                <a:latin typeface="Helvetica" pitchFamily="34" charset="0"/>
              </a:rPr>
              <a:t> </a:t>
            </a:r>
          </a:p>
          <a:p>
            <a:pPr>
              <a:buNone/>
            </a:pPr>
            <a:r>
              <a:rPr lang="en-AU" sz="1400" dirty="0" smtClean="0"/>
              <a:t> </a:t>
            </a:r>
          </a:p>
          <a:p>
            <a:pPr>
              <a:buNone/>
            </a:pPr>
            <a:endParaRPr lang="en-AU" sz="1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53</a:t>
            </a:fld>
            <a:endParaRPr lang="en-US" dirty="0"/>
          </a:p>
        </p:txBody>
      </p:sp>
      <p:pic>
        <p:nvPicPr>
          <p:cNvPr id="6" name="Picture 5" descr="http://t0.gstatic.com/images?q=tbn:ANd9GcT1EOEt7Euh-tVYOh_1h2LdFOlENe8wxFKubmAs9Gfz0rdbvdtp"/>
          <p:cNvPicPr/>
          <p:nvPr/>
        </p:nvPicPr>
        <p:blipFill>
          <a:blip r:embed="rId7" cstate="print"/>
          <a:srcRect/>
          <a:stretch>
            <a:fillRect/>
          </a:stretch>
        </p:blipFill>
        <p:spPr bwMode="auto">
          <a:xfrm>
            <a:off x="6012160" y="4581128"/>
            <a:ext cx="1440160" cy="681608"/>
          </a:xfrm>
          <a:prstGeom prst="rect">
            <a:avLst/>
          </a:prstGeom>
          <a:noFill/>
          <a:ln w="9525">
            <a:noFill/>
            <a:miter lim="800000"/>
            <a:headEnd/>
            <a:tailEnd/>
          </a:ln>
        </p:spPr>
      </p:pic>
      <p:pic>
        <p:nvPicPr>
          <p:cNvPr id="7" name="Picture 6" descr="http://weeklydrop.com/wp-content/uploads/2009/04/dictionarycom-dictionary-thesaurus-iphone-app.jpg"/>
          <p:cNvPicPr/>
          <p:nvPr/>
        </p:nvPicPr>
        <p:blipFill>
          <a:blip r:embed="rId8" cstate="print"/>
          <a:srcRect/>
          <a:stretch>
            <a:fillRect/>
          </a:stretch>
        </p:blipFill>
        <p:spPr bwMode="auto">
          <a:xfrm>
            <a:off x="467544" y="4509120"/>
            <a:ext cx="1440160" cy="681608"/>
          </a:xfrm>
          <a:prstGeom prst="rect">
            <a:avLst/>
          </a:prstGeom>
          <a:noFill/>
          <a:ln w="9525">
            <a:noFill/>
            <a:miter lim="800000"/>
            <a:headEnd/>
            <a:tailEnd/>
          </a:ln>
        </p:spPr>
      </p:pic>
      <p:pic>
        <p:nvPicPr>
          <p:cNvPr id="8" name="Picture 7" descr="http://4.bp.blogspot.com/_VKnlNvwbGMM/S2mH6si2wFI/AAAAAAAAAf0/OqIRXz0-vvY/s320/MD.jpg"/>
          <p:cNvPicPr/>
          <p:nvPr/>
        </p:nvPicPr>
        <p:blipFill>
          <a:blip r:embed="rId9" cstate="print"/>
          <a:srcRect/>
          <a:stretch>
            <a:fillRect/>
          </a:stretch>
        </p:blipFill>
        <p:spPr bwMode="auto">
          <a:xfrm>
            <a:off x="3995936" y="4293096"/>
            <a:ext cx="1238250" cy="1133475"/>
          </a:xfrm>
          <a:prstGeom prst="rect">
            <a:avLst/>
          </a:prstGeom>
          <a:noFill/>
          <a:ln w="9525">
            <a:noFill/>
            <a:miter lim="800000"/>
            <a:headEnd/>
            <a:tailEnd/>
          </a:ln>
        </p:spPr>
      </p:pic>
      <p:pic>
        <p:nvPicPr>
          <p:cNvPr id="9" name="Picture 8" descr="http://storage.conduit.com/MarketPlace/fb/6c1/fbea54fa-d855-4364-91b4-84913a5b16c1/Thumbnail/160X160.png"/>
          <p:cNvPicPr/>
          <p:nvPr/>
        </p:nvPicPr>
        <p:blipFill>
          <a:blip r:embed="rId10" cstate="print"/>
          <a:srcRect/>
          <a:stretch>
            <a:fillRect/>
          </a:stretch>
        </p:blipFill>
        <p:spPr bwMode="auto">
          <a:xfrm>
            <a:off x="2483768" y="4437112"/>
            <a:ext cx="847725" cy="8286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Ensure text is without spelling, punctuation and/or grammatical errors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Aft>
                <a:spcPts val="800"/>
              </a:spcAft>
              <a:buNone/>
            </a:pPr>
            <a:r>
              <a:rPr lang="en-AU" sz="2200" b="1" dirty="0" smtClean="0">
                <a:latin typeface="Helvetica" pitchFamily="34" charset="0"/>
              </a:rPr>
              <a:t>Necessary tasks </a:t>
            </a:r>
          </a:p>
          <a:p>
            <a:pPr>
              <a:spcAft>
                <a:spcPts val="800"/>
              </a:spcAft>
            </a:pPr>
            <a:r>
              <a:rPr lang="en-AU" sz="2200" dirty="0" smtClean="0">
                <a:latin typeface="Helvetica" pitchFamily="34" charset="0"/>
              </a:rPr>
              <a:t>Running a spell check</a:t>
            </a:r>
          </a:p>
          <a:p>
            <a:pPr>
              <a:spcAft>
                <a:spcPts val="800"/>
              </a:spcAft>
            </a:pPr>
            <a:r>
              <a:rPr lang="en-AU" sz="2200" dirty="0" smtClean="0">
                <a:latin typeface="Helvetica" pitchFamily="34" charset="0"/>
              </a:rPr>
              <a:t>Follow spelling rules</a:t>
            </a:r>
          </a:p>
          <a:p>
            <a:pPr>
              <a:spcAft>
                <a:spcPts val="800"/>
              </a:spcAft>
            </a:pPr>
            <a:r>
              <a:rPr lang="en-AU" sz="2200" dirty="0" smtClean="0">
                <a:latin typeface="Helvetica" pitchFamily="34" charset="0"/>
              </a:rPr>
              <a:t>Omit unnecessary words</a:t>
            </a:r>
          </a:p>
          <a:p>
            <a:pPr>
              <a:spcAft>
                <a:spcPts val="800"/>
              </a:spcAft>
            </a:pPr>
            <a:r>
              <a:rPr lang="en-AU" sz="2200" dirty="0" smtClean="0">
                <a:latin typeface="Helvetica" pitchFamily="34" charset="0"/>
              </a:rPr>
              <a:t>Correct use of punctuation marks</a:t>
            </a:r>
          </a:p>
          <a:p>
            <a:pPr>
              <a:spcAft>
                <a:spcPts val="800"/>
              </a:spcAft>
            </a:pPr>
            <a:endParaRPr lang="en-AU" sz="2400" dirty="0" smtClean="0"/>
          </a:p>
          <a:p>
            <a:pPr>
              <a:spcAft>
                <a:spcPts val="800"/>
              </a:spcAft>
            </a:pPr>
            <a:endParaRPr lang="en-AU" sz="2400" dirty="0" smtClean="0"/>
          </a:p>
          <a:p>
            <a:pPr>
              <a:spcAft>
                <a:spcPts val="800"/>
              </a:spcAft>
            </a:pPr>
            <a:endParaRPr lang="en-AU" sz="2200" dirty="0" smtClean="0">
              <a:latin typeface="Helvetica" pitchFamily="34" charset="0"/>
              <a:hlinkClick r:id="rId3"/>
            </a:endParaRPr>
          </a:p>
          <a:p>
            <a:pPr>
              <a:buNone/>
            </a:pPr>
            <a:r>
              <a:rPr lang="en-AU" sz="1400" dirty="0" smtClean="0"/>
              <a:t> </a:t>
            </a:r>
          </a:p>
          <a:p>
            <a:pPr>
              <a:buNone/>
            </a:pPr>
            <a:endParaRPr lang="en-AU" sz="1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54</a:t>
            </a:fld>
            <a:endParaRPr lang="en-US" dirty="0"/>
          </a:p>
        </p:txBody>
      </p:sp>
      <p:pic>
        <p:nvPicPr>
          <p:cNvPr id="6" name="Picture 5" descr="image0.jpg"/>
          <p:cNvPicPr/>
          <p:nvPr/>
        </p:nvPicPr>
        <p:blipFill>
          <a:blip r:embed="rId4" cstate="print"/>
          <a:srcRect r="7664"/>
          <a:stretch>
            <a:fillRect/>
          </a:stretch>
        </p:blipFill>
        <p:spPr bwMode="auto">
          <a:xfrm>
            <a:off x="5500694" y="2000240"/>
            <a:ext cx="2714644" cy="191858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marL="0">
              <a:buNone/>
            </a:pPr>
            <a:r>
              <a:rPr lang="en-AU" sz="4000" b="1" dirty="0" smtClean="0">
                <a:solidFill>
                  <a:srgbClr val="FF6600"/>
                </a:solidFill>
              </a:rPr>
              <a:t>Element 3:</a:t>
            </a:r>
          </a:p>
          <a:p>
            <a:pPr marL="0">
              <a:spcBef>
                <a:spcPts val="600"/>
              </a:spcBef>
              <a:spcAft>
                <a:spcPts val="1200"/>
              </a:spcAft>
              <a:buNone/>
            </a:pPr>
            <a:r>
              <a:rPr lang="en-AU" sz="4000" dirty="0" smtClean="0">
                <a:solidFill>
                  <a:srgbClr val="FF6600"/>
                </a:solidFill>
                <a:latin typeface="Helvetica" pitchFamily="34" charset="0"/>
              </a:rPr>
              <a:t>Print and deliver document</a:t>
            </a:r>
          </a:p>
          <a:p>
            <a:pPr>
              <a:buNone/>
            </a:pPr>
            <a:endParaRPr lang="en-AU" sz="4000" dirty="0" smtClean="0">
              <a:solidFill>
                <a:srgbClr val="FF6600"/>
              </a:solidFill>
            </a:endParaRP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55</a:t>
            </a:fld>
            <a:endParaRPr lang="en-US" dirty="0"/>
          </a:p>
        </p:txBody>
      </p:sp>
      <p:pic>
        <p:nvPicPr>
          <p:cNvPr id="5" name="Picture 4" descr="MP900402184.JPG"/>
          <p:cNvPicPr>
            <a:picLocks noChangeAspect="1"/>
          </p:cNvPicPr>
          <p:nvPr/>
        </p:nvPicPr>
        <p:blipFill>
          <a:blip r:embed="rId3" cstate="print"/>
          <a:stretch>
            <a:fillRect/>
          </a:stretch>
        </p:blipFill>
        <p:spPr>
          <a:xfrm>
            <a:off x="4572000" y="3357562"/>
            <a:ext cx="2409785" cy="1844824"/>
          </a:xfrm>
          <a:prstGeom prst="rect">
            <a:avLst/>
          </a:prstGeom>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Print and deliver document</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Utilise printing function</a:t>
            </a:r>
          </a:p>
          <a:p>
            <a:pPr>
              <a:spcBef>
                <a:spcPts val="600"/>
              </a:spcBef>
              <a:spcAft>
                <a:spcPts val="1200"/>
              </a:spcAft>
            </a:pPr>
            <a:r>
              <a:rPr lang="en-AU" sz="2200" dirty="0" smtClean="0">
                <a:latin typeface="Helvetica" pitchFamily="34" charset="0"/>
              </a:rPr>
              <a:t>Proofread document</a:t>
            </a:r>
          </a:p>
          <a:p>
            <a:pPr>
              <a:spcBef>
                <a:spcPts val="600"/>
              </a:spcBef>
              <a:spcAft>
                <a:spcPts val="1200"/>
              </a:spcAft>
            </a:pPr>
            <a:r>
              <a:rPr lang="en-AU" sz="2200" dirty="0" smtClean="0">
                <a:latin typeface="Helvetica" pitchFamily="34" charset="0"/>
              </a:rPr>
              <a:t>Make any necessary modifications to document to improve appearance and meet required specification/s</a:t>
            </a:r>
          </a:p>
          <a:p>
            <a:pPr>
              <a:spcBef>
                <a:spcPts val="600"/>
              </a:spcBef>
              <a:spcAft>
                <a:spcPts val="1200"/>
              </a:spcAft>
            </a:pPr>
            <a:r>
              <a:rPr lang="en-AU" sz="2200" dirty="0" smtClean="0">
                <a:latin typeface="Helvetica" pitchFamily="34" charset="0"/>
              </a:rPr>
              <a:t>Print and present documents according to requirements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56</a:t>
            </a:fld>
            <a:endParaRPr lang="en-US" dirty="0"/>
          </a:p>
        </p:txBody>
      </p:sp>
      <p:pic>
        <p:nvPicPr>
          <p:cNvPr id="6" name="Picture 2" descr="I:\Overseas Projects\PHOTOS\2012\Office\1131445_red_check_sign_in_3d.jpg"/>
          <p:cNvPicPr>
            <a:picLocks noChangeAspect="1" noChangeArrowheads="1"/>
          </p:cNvPicPr>
          <p:nvPr/>
        </p:nvPicPr>
        <p:blipFill>
          <a:blip r:embed="rId3" cstate="print"/>
          <a:srcRect/>
          <a:stretch>
            <a:fillRect/>
          </a:stretch>
        </p:blipFill>
        <p:spPr bwMode="auto">
          <a:xfrm>
            <a:off x="3929058" y="4786322"/>
            <a:ext cx="1587500" cy="1270000"/>
          </a:xfrm>
          <a:prstGeom prst="rect">
            <a:avLst/>
          </a:prstGeom>
          <a:noFill/>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Print document</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Now that the document has been prepared it is now time to:</a:t>
            </a:r>
          </a:p>
          <a:p>
            <a:pPr>
              <a:spcBef>
                <a:spcPts val="600"/>
              </a:spcBef>
              <a:spcAft>
                <a:spcPts val="1200"/>
              </a:spcAft>
            </a:pPr>
            <a:r>
              <a:rPr lang="en-AU" sz="2200" dirty="0" smtClean="0">
                <a:latin typeface="Helvetica" pitchFamily="34" charset="0"/>
              </a:rPr>
              <a:t>Print</a:t>
            </a:r>
          </a:p>
          <a:p>
            <a:pPr>
              <a:spcBef>
                <a:spcPts val="600"/>
              </a:spcBef>
              <a:spcAft>
                <a:spcPts val="1200"/>
              </a:spcAft>
            </a:pPr>
            <a:r>
              <a:rPr lang="en-AU" sz="2200" dirty="0" smtClean="0">
                <a:latin typeface="Helvetica" pitchFamily="34" charset="0"/>
              </a:rPr>
              <a:t>Review to ensure it is correct</a:t>
            </a:r>
          </a:p>
          <a:p>
            <a:pPr>
              <a:spcBef>
                <a:spcPts val="600"/>
              </a:spcBef>
              <a:spcAft>
                <a:spcPts val="1200"/>
              </a:spcAft>
            </a:pPr>
            <a:r>
              <a:rPr lang="en-AU" sz="2200" dirty="0" smtClean="0">
                <a:latin typeface="Helvetica" pitchFamily="34" charset="0"/>
              </a:rPr>
              <a:t>Make ready for distribution to the intended audience</a:t>
            </a:r>
          </a:p>
          <a:p>
            <a:pPr>
              <a:spcAft>
                <a:spcPts val="800"/>
              </a:spcAft>
            </a:pPr>
            <a:endParaRPr lang="en-AU" sz="2400" dirty="0" smtClean="0"/>
          </a:p>
          <a:p>
            <a:pPr>
              <a:spcAft>
                <a:spcPts val="800"/>
              </a:spcAft>
            </a:pPr>
            <a:endParaRPr lang="en-AU" sz="2400" dirty="0" smtClean="0"/>
          </a:p>
          <a:p>
            <a:pPr>
              <a:spcAft>
                <a:spcPts val="800"/>
              </a:spcAft>
            </a:pPr>
            <a:endParaRPr lang="en-AU" sz="2200" dirty="0" smtClean="0">
              <a:latin typeface="Helvetica" pitchFamily="34" charset="0"/>
              <a:hlinkClick r:id="rId3"/>
            </a:endParaRPr>
          </a:p>
          <a:p>
            <a:pPr>
              <a:buNone/>
            </a:pPr>
            <a:r>
              <a:rPr lang="en-AU" sz="1400" dirty="0" smtClean="0"/>
              <a:t> </a:t>
            </a:r>
          </a:p>
          <a:p>
            <a:pPr>
              <a:buNone/>
            </a:pPr>
            <a:endParaRPr lang="en-AU" sz="1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57</a:t>
            </a:fld>
            <a:endParaRPr lang="en-US" dirty="0"/>
          </a:p>
        </p:txBody>
      </p:sp>
      <p:pic>
        <p:nvPicPr>
          <p:cNvPr id="6" name="Picture 5" descr="00227474.jpg"/>
          <p:cNvPicPr>
            <a:picLocks noChangeAspect="1"/>
          </p:cNvPicPr>
          <p:nvPr/>
        </p:nvPicPr>
        <p:blipFill>
          <a:blip r:embed="rId4" cstate="print"/>
          <a:stretch>
            <a:fillRect/>
          </a:stretch>
        </p:blipFill>
        <p:spPr>
          <a:xfrm>
            <a:off x="3929058" y="4429132"/>
            <a:ext cx="2148836" cy="1450464"/>
          </a:xfrm>
          <a:prstGeom prst="rect">
            <a:avLst/>
          </a:prstGeom>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Print document</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b="1" dirty="0" smtClean="0">
                <a:latin typeface="Helvetica" pitchFamily="34" charset="0"/>
              </a:rPr>
              <a:t>Check printer</a:t>
            </a:r>
          </a:p>
          <a:p>
            <a:pPr marL="0">
              <a:spcBef>
                <a:spcPts val="600"/>
              </a:spcBef>
              <a:spcAft>
                <a:spcPts val="1200"/>
              </a:spcAft>
            </a:pPr>
            <a:r>
              <a:rPr lang="en-AU" sz="2200" dirty="0" smtClean="0">
                <a:latin typeface="Helvetica" pitchFamily="34" charset="0"/>
              </a:rPr>
              <a:t>Ensure printer is attached</a:t>
            </a:r>
          </a:p>
          <a:p>
            <a:pPr marL="0">
              <a:spcBef>
                <a:spcPts val="600"/>
              </a:spcBef>
              <a:spcAft>
                <a:spcPts val="1200"/>
              </a:spcAft>
            </a:pPr>
            <a:r>
              <a:rPr lang="en-AU" sz="2200" dirty="0" smtClean="0">
                <a:latin typeface="Helvetica" pitchFamily="34" charset="0"/>
              </a:rPr>
              <a:t>Appropriate paper</a:t>
            </a:r>
          </a:p>
          <a:p>
            <a:pPr marL="0">
              <a:spcBef>
                <a:spcPts val="600"/>
              </a:spcBef>
              <a:spcAft>
                <a:spcPts val="1200"/>
              </a:spcAft>
            </a:pPr>
            <a:r>
              <a:rPr lang="en-AU" sz="2200" dirty="0" smtClean="0">
                <a:latin typeface="Helvetica" pitchFamily="34" charset="0"/>
              </a:rPr>
              <a:t>Adequate toner</a:t>
            </a:r>
          </a:p>
          <a:p>
            <a:pPr>
              <a:spcAft>
                <a:spcPts val="800"/>
              </a:spcAft>
            </a:pPr>
            <a:endParaRPr lang="en-AU" sz="2400" dirty="0" smtClean="0"/>
          </a:p>
          <a:p>
            <a:pPr>
              <a:spcAft>
                <a:spcPts val="800"/>
              </a:spcAft>
            </a:pPr>
            <a:endParaRPr lang="en-AU" sz="2400" dirty="0" smtClean="0"/>
          </a:p>
          <a:p>
            <a:pPr>
              <a:spcAft>
                <a:spcPts val="800"/>
              </a:spcAft>
            </a:pPr>
            <a:endParaRPr lang="en-AU" sz="2200" dirty="0" smtClean="0">
              <a:latin typeface="Helvetica" pitchFamily="34" charset="0"/>
              <a:hlinkClick r:id="rId3"/>
            </a:endParaRPr>
          </a:p>
          <a:p>
            <a:pPr>
              <a:buNone/>
            </a:pPr>
            <a:r>
              <a:rPr lang="en-AU" sz="1400" dirty="0" smtClean="0"/>
              <a:t> </a:t>
            </a:r>
          </a:p>
          <a:p>
            <a:pPr>
              <a:buNone/>
            </a:pPr>
            <a:endParaRPr lang="en-AU" sz="1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58</a:t>
            </a:fld>
            <a:endParaRPr lang="en-US" dirty="0"/>
          </a:p>
        </p:txBody>
      </p:sp>
      <p:pic>
        <p:nvPicPr>
          <p:cNvPr id="7" name="Picture 6" descr="MP900402184.JPG"/>
          <p:cNvPicPr>
            <a:picLocks noChangeAspect="1"/>
          </p:cNvPicPr>
          <p:nvPr/>
        </p:nvPicPr>
        <p:blipFill>
          <a:blip r:embed="rId4" cstate="print"/>
          <a:stretch>
            <a:fillRect/>
          </a:stretch>
        </p:blipFill>
        <p:spPr>
          <a:xfrm>
            <a:off x="5500694" y="1395238"/>
            <a:ext cx="2266909" cy="1735445"/>
          </a:xfrm>
          <a:prstGeom prst="rect">
            <a:avLst/>
          </a:prstGeom>
        </p:spPr>
      </p:pic>
      <p:pic>
        <p:nvPicPr>
          <p:cNvPr id="121857" name="Picture 1" descr="C:\Documents and Settings\danielc\Desktop\Produce docs reports worksheet\220842_toners.jpg"/>
          <p:cNvPicPr>
            <a:picLocks noChangeAspect="1" noChangeArrowheads="1"/>
          </p:cNvPicPr>
          <p:nvPr/>
        </p:nvPicPr>
        <p:blipFill>
          <a:blip r:embed="rId5" cstate="print"/>
          <a:srcRect/>
          <a:stretch>
            <a:fillRect/>
          </a:stretch>
        </p:blipFill>
        <p:spPr bwMode="auto">
          <a:xfrm>
            <a:off x="5643570" y="3357562"/>
            <a:ext cx="2130430" cy="1597822"/>
          </a:xfrm>
          <a:prstGeom prst="rect">
            <a:avLst/>
          </a:prstGeom>
          <a:noFill/>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Print document</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571472" y="1556792"/>
            <a:ext cx="7467600" cy="4525963"/>
          </a:xfrm>
        </p:spPr>
        <p:txBody>
          <a:bodyPr>
            <a:normAutofit/>
          </a:bodyPr>
          <a:lstStyle/>
          <a:p>
            <a:pPr marL="0">
              <a:spcBef>
                <a:spcPts val="600"/>
              </a:spcBef>
              <a:spcAft>
                <a:spcPts val="1200"/>
              </a:spcAft>
              <a:buNone/>
            </a:pPr>
            <a:r>
              <a:rPr lang="en-AU" sz="2200" b="1" dirty="0" smtClean="0">
                <a:latin typeface="Helvetica" pitchFamily="34" charset="0"/>
              </a:rPr>
              <a:t>Conduct print preview</a:t>
            </a:r>
          </a:p>
          <a:p>
            <a:pPr>
              <a:spcBef>
                <a:spcPts val="600"/>
              </a:spcBef>
              <a:spcAft>
                <a:spcPts val="1200"/>
              </a:spcAft>
              <a:buNone/>
            </a:pPr>
            <a:r>
              <a:rPr lang="en-AU" sz="2200" dirty="0" smtClean="0">
                <a:latin typeface="Helvetica" pitchFamily="34" charset="0"/>
              </a:rPr>
              <a:t>Using the Print Preview facility can help to:</a:t>
            </a:r>
          </a:p>
          <a:p>
            <a:pPr>
              <a:spcBef>
                <a:spcPts val="600"/>
              </a:spcBef>
              <a:spcAft>
                <a:spcPts val="1200"/>
              </a:spcAft>
            </a:pPr>
            <a:r>
              <a:rPr lang="en-AU" sz="2200" dirty="0" smtClean="0">
                <a:latin typeface="Helvetica" pitchFamily="34" charset="0"/>
              </a:rPr>
              <a:t>Identifies areas that require attention before the final article is printed</a:t>
            </a:r>
          </a:p>
          <a:p>
            <a:pPr>
              <a:spcBef>
                <a:spcPts val="600"/>
              </a:spcBef>
              <a:spcAft>
                <a:spcPts val="1200"/>
              </a:spcAft>
            </a:pPr>
            <a:r>
              <a:rPr lang="en-AU" sz="2200" dirty="0" smtClean="0">
                <a:latin typeface="Helvetica" pitchFamily="34" charset="0"/>
              </a:rPr>
              <a:t>Makes it easier to review</a:t>
            </a:r>
          </a:p>
          <a:p>
            <a:pPr>
              <a:spcBef>
                <a:spcPts val="600"/>
              </a:spcBef>
              <a:spcAft>
                <a:spcPts val="1200"/>
              </a:spcAft>
            </a:pPr>
            <a:r>
              <a:rPr lang="en-AU" sz="2200" dirty="0" smtClean="0">
                <a:latin typeface="Helvetica" pitchFamily="34" charset="0"/>
              </a:rPr>
              <a:t>Helps identify positioning of the letter on the page</a:t>
            </a:r>
          </a:p>
          <a:p>
            <a:pPr>
              <a:spcBef>
                <a:spcPts val="600"/>
              </a:spcBef>
              <a:spcAft>
                <a:spcPts val="1200"/>
              </a:spcAft>
            </a:pPr>
            <a:r>
              <a:rPr lang="en-AU" sz="2200" dirty="0" smtClean="0">
                <a:latin typeface="Helvetica" pitchFamily="34" charset="0"/>
              </a:rPr>
              <a:t>Helpful in determining overall balance and layout</a:t>
            </a:r>
          </a:p>
          <a:p>
            <a:pPr>
              <a:buNone/>
            </a:pPr>
            <a:endParaRPr lang="en-AU" sz="1400" dirty="0" smtClean="0"/>
          </a:p>
          <a:p>
            <a:pPr>
              <a:buNone/>
            </a:pPr>
            <a:endParaRPr lang="en-AU" sz="1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59</a:t>
            </a:fld>
            <a:endParaRPr lang="en-US" dirty="0"/>
          </a:p>
        </p:txBody>
      </p:sp>
      <p:pic>
        <p:nvPicPr>
          <p:cNvPr id="119809" name="Picture 1"/>
          <p:cNvPicPr>
            <a:picLocks noChangeAspect="1" noChangeArrowheads="1"/>
          </p:cNvPicPr>
          <p:nvPr/>
        </p:nvPicPr>
        <p:blipFill>
          <a:blip r:embed="rId3" cstate="print"/>
          <a:srcRect r="65764" b="76250"/>
          <a:stretch>
            <a:fillRect/>
          </a:stretch>
        </p:blipFill>
        <p:spPr bwMode="auto">
          <a:xfrm>
            <a:off x="5786446" y="3143248"/>
            <a:ext cx="2428892" cy="105308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Print document</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Printing from Word</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There are three methods that can be used to print from word: </a:t>
            </a:r>
          </a:p>
          <a:p>
            <a:pPr lvl="0">
              <a:spcBef>
                <a:spcPts val="600"/>
              </a:spcBef>
              <a:spcAft>
                <a:spcPts val="1200"/>
              </a:spcAft>
            </a:pPr>
            <a:r>
              <a:rPr lang="en-AU" sz="2200" dirty="0" smtClean="0">
                <a:latin typeface="Helvetica" pitchFamily="34" charset="0"/>
              </a:rPr>
              <a:t>File Menu option</a:t>
            </a:r>
          </a:p>
          <a:p>
            <a:pPr lvl="0">
              <a:spcBef>
                <a:spcPts val="600"/>
              </a:spcBef>
              <a:spcAft>
                <a:spcPts val="1200"/>
              </a:spcAft>
            </a:pPr>
            <a:r>
              <a:rPr lang="en-AU" sz="2200" dirty="0" smtClean="0">
                <a:latin typeface="Helvetica" pitchFamily="34" charset="0"/>
              </a:rPr>
              <a:t>Printer icon</a:t>
            </a:r>
          </a:p>
          <a:p>
            <a:pPr lvl="0">
              <a:spcBef>
                <a:spcPts val="600"/>
              </a:spcBef>
              <a:spcAft>
                <a:spcPts val="1200"/>
              </a:spcAft>
            </a:pPr>
            <a:r>
              <a:rPr lang="en-AU" sz="2200" dirty="0" smtClean="0">
                <a:latin typeface="Helvetica" pitchFamily="34" charset="0"/>
              </a:rPr>
              <a:t>Shortcut key Ctrl-P</a:t>
            </a:r>
          </a:p>
          <a:p>
            <a:pPr>
              <a:buNone/>
            </a:pPr>
            <a:endParaRPr lang="en-AU" sz="1400" dirty="0" smtClean="0"/>
          </a:p>
          <a:p>
            <a:pPr>
              <a:buNone/>
            </a:pPr>
            <a:endParaRPr lang="en-AU" sz="1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60</a:t>
            </a:fld>
            <a:endParaRPr lang="en-US" dirty="0"/>
          </a:p>
        </p:txBody>
      </p:sp>
      <p:pic>
        <p:nvPicPr>
          <p:cNvPr id="5" name="Picture 4" descr="MP900402148.JPG"/>
          <p:cNvPicPr>
            <a:picLocks noChangeAspect="1"/>
          </p:cNvPicPr>
          <p:nvPr/>
        </p:nvPicPr>
        <p:blipFill>
          <a:blip r:embed="rId3" cstate="print"/>
          <a:stretch>
            <a:fillRect/>
          </a:stretch>
        </p:blipFill>
        <p:spPr>
          <a:xfrm>
            <a:off x="5857884" y="3000372"/>
            <a:ext cx="2013703" cy="1709811"/>
          </a:xfrm>
          <a:prstGeom prst="rect">
            <a:avLst/>
          </a:prstGeom>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Proof read document</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a:spcBef>
                <a:spcPts val="600"/>
              </a:spcBef>
              <a:spcAft>
                <a:spcPts val="1200"/>
              </a:spcAft>
              <a:buNone/>
            </a:pPr>
            <a:r>
              <a:rPr lang="en-AU" sz="2200" b="1" dirty="0" smtClean="0">
                <a:latin typeface="Helvetica" pitchFamily="34" charset="0"/>
              </a:rPr>
              <a:t>Proof reading requirements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Check the finished article </a:t>
            </a:r>
          </a:p>
          <a:p>
            <a:pPr lvl="0">
              <a:spcBef>
                <a:spcPts val="600"/>
              </a:spcBef>
              <a:spcAft>
                <a:spcPts val="1200"/>
              </a:spcAft>
            </a:pPr>
            <a:r>
              <a:rPr lang="en-AU" sz="2200" dirty="0" smtClean="0">
                <a:latin typeface="Helvetica" pitchFamily="34" charset="0"/>
              </a:rPr>
              <a:t>Check the sequencing </a:t>
            </a:r>
          </a:p>
          <a:p>
            <a:pPr lvl="0">
              <a:spcBef>
                <a:spcPts val="600"/>
              </a:spcBef>
              <a:spcAft>
                <a:spcPts val="1200"/>
              </a:spcAft>
            </a:pPr>
            <a:r>
              <a:rPr lang="en-AU" sz="2200" dirty="0" smtClean="0">
                <a:latin typeface="Helvetica" pitchFamily="34" charset="0"/>
              </a:rPr>
              <a:t>Check layout </a:t>
            </a:r>
          </a:p>
          <a:p>
            <a:pPr lvl="0">
              <a:spcBef>
                <a:spcPts val="600"/>
              </a:spcBef>
              <a:spcAft>
                <a:spcPts val="1200"/>
              </a:spcAft>
            </a:pPr>
            <a:r>
              <a:rPr lang="en-AU" sz="2200" dirty="0" smtClean="0">
                <a:latin typeface="Helvetica" pitchFamily="34" charset="0"/>
              </a:rPr>
              <a:t>Check the attachments </a:t>
            </a:r>
          </a:p>
          <a:p>
            <a:pPr lvl="0">
              <a:spcBef>
                <a:spcPts val="600"/>
              </a:spcBef>
              <a:spcAft>
                <a:spcPts val="1200"/>
              </a:spcAft>
            </a:pPr>
            <a:r>
              <a:rPr lang="en-AU" sz="2200" dirty="0" smtClean="0">
                <a:latin typeface="Helvetica" pitchFamily="34" charset="0"/>
              </a:rPr>
              <a:t>Check the mailing details </a:t>
            </a:r>
          </a:p>
          <a:p>
            <a:pPr lvl="0">
              <a:spcBef>
                <a:spcPts val="600"/>
              </a:spcBef>
              <a:spcAft>
                <a:spcPts val="1200"/>
              </a:spcAft>
            </a:pPr>
            <a:r>
              <a:rPr lang="en-AU" sz="2200" dirty="0" smtClean="0">
                <a:latin typeface="Helvetica" pitchFamily="34" charset="0"/>
              </a:rPr>
              <a:t>Check the spelling and grammar </a:t>
            </a:r>
          </a:p>
          <a:p>
            <a:pPr>
              <a:spcBef>
                <a:spcPts val="600"/>
              </a:spcBef>
              <a:spcAft>
                <a:spcPts val="1200"/>
              </a:spcAft>
            </a:pPr>
            <a:r>
              <a:rPr lang="en-AU" sz="2200" dirty="0" smtClean="0">
                <a:latin typeface="Helvetica" pitchFamily="34" charset="0"/>
              </a:rPr>
              <a:t>Observe confidentiality </a:t>
            </a:r>
          </a:p>
          <a:p>
            <a:pPr>
              <a:buNone/>
            </a:pPr>
            <a:endParaRPr lang="en-AU" sz="1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61</a:t>
            </a:fld>
            <a:endParaRPr lang="en-US" dirty="0"/>
          </a:p>
        </p:txBody>
      </p:sp>
      <p:pic>
        <p:nvPicPr>
          <p:cNvPr id="6" name="Picture 5" descr="MP900399517[1].JPG"/>
          <p:cNvPicPr>
            <a:picLocks noChangeAspect="1"/>
          </p:cNvPicPr>
          <p:nvPr/>
        </p:nvPicPr>
        <p:blipFill>
          <a:blip r:embed="rId3" cstate="print"/>
          <a:stretch>
            <a:fillRect/>
          </a:stretch>
        </p:blipFill>
        <p:spPr>
          <a:xfrm>
            <a:off x="6072198" y="2643182"/>
            <a:ext cx="2094736" cy="1395945"/>
          </a:xfrm>
          <a:prstGeom prst="rect">
            <a:avLst/>
          </a:prstGeom>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Collective advice from others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Purpose of presenting and circulating documents</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A writer may wish to present a document in draft format to:</a:t>
            </a:r>
          </a:p>
          <a:p>
            <a:pPr>
              <a:spcBef>
                <a:spcPts val="600"/>
              </a:spcBef>
              <a:spcAft>
                <a:spcPts val="1200"/>
              </a:spcAft>
            </a:pPr>
            <a:r>
              <a:rPr lang="en-AU" sz="2200" dirty="0" smtClean="0">
                <a:latin typeface="Helvetica" pitchFamily="34" charset="0"/>
              </a:rPr>
              <a:t>Gather feedback </a:t>
            </a:r>
          </a:p>
          <a:p>
            <a:pPr>
              <a:spcBef>
                <a:spcPts val="600"/>
              </a:spcBef>
              <a:spcAft>
                <a:spcPts val="1200"/>
              </a:spcAft>
            </a:pPr>
            <a:r>
              <a:rPr lang="en-AU" sz="2200" dirty="0" smtClean="0">
                <a:latin typeface="Helvetica" pitchFamily="34" charset="0"/>
              </a:rPr>
              <a:t>Gain suggestions for improvement</a:t>
            </a:r>
          </a:p>
          <a:p>
            <a:pPr>
              <a:buNone/>
            </a:pPr>
            <a:endParaRPr lang="en-AU" sz="1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62</a:t>
            </a:fld>
            <a:endParaRPr lang="en-US" dirty="0"/>
          </a:p>
        </p:txBody>
      </p:sp>
      <p:pic>
        <p:nvPicPr>
          <p:cNvPr id="6" name="Picture 5" descr="C:\Documents and Settings\danielc\Local Settings\Temporary Internet Files\Content.IE5\112MAXTI\MP900422989[1].jpg"/>
          <p:cNvPicPr/>
          <p:nvPr/>
        </p:nvPicPr>
        <p:blipFill>
          <a:blip r:embed="rId3" cstate="print"/>
          <a:srcRect/>
          <a:stretch>
            <a:fillRect/>
          </a:stretch>
        </p:blipFill>
        <p:spPr bwMode="auto">
          <a:xfrm>
            <a:off x="6215074" y="2857496"/>
            <a:ext cx="1782093" cy="231422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Collective advice from others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Issues for discussion</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Purpose and flow</a:t>
            </a:r>
          </a:p>
          <a:p>
            <a:pPr lvl="0">
              <a:spcBef>
                <a:spcPts val="600"/>
              </a:spcBef>
              <a:spcAft>
                <a:spcPts val="1200"/>
              </a:spcAft>
            </a:pPr>
            <a:r>
              <a:rPr lang="en-AU" sz="2200" dirty="0" smtClean="0">
                <a:latin typeface="Helvetica" pitchFamily="34" charset="0"/>
              </a:rPr>
              <a:t>Content </a:t>
            </a:r>
          </a:p>
          <a:p>
            <a:pPr lvl="0">
              <a:spcBef>
                <a:spcPts val="600"/>
              </a:spcBef>
              <a:spcAft>
                <a:spcPts val="1200"/>
              </a:spcAft>
            </a:pPr>
            <a:r>
              <a:rPr lang="en-AU" sz="2200" dirty="0" smtClean="0">
                <a:latin typeface="Helvetica" pitchFamily="34" charset="0"/>
              </a:rPr>
              <a:t>Spelling, grammar and punctuation</a:t>
            </a:r>
          </a:p>
          <a:p>
            <a:pPr lvl="0">
              <a:spcBef>
                <a:spcPts val="600"/>
              </a:spcBef>
              <a:spcAft>
                <a:spcPts val="1200"/>
              </a:spcAft>
            </a:pPr>
            <a:r>
              <a:rPr lang="en-AU" sz="2200" dirty="0" smtClean="0">
                <a:latin typeface="Helvetica" pitchFamily="34" charset="0"/>
              </a:rPr>
              <a:t>Layout and style</a:t>
            </a:r>
          </a:p>
          <a:p>
            <a:pPr>
              <a:buNone/>
            </a:pPr>
            <a:endParaRPr lang="en-AU" sz="1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63</a:t>
            </a:fld>
            <a:endParaRPr lang="en-US" dirty="0"/>
          </a:p>
        </p:txBody>
      </p:sp>
      <p:pic>
        <p:nvPicPr>
          <p:cNvPr id="6" name="Picture 5" descr="MP900386161.JPG"/>
          <p:cNvPicPr/>
          <p:nvPr/>
        </p:nvPicPr>
        <p:blipFill>
          <a:blip r:embed="rId3" cstate="print"/>
          <a:stretch>
            <a:fillRect/>
          </a:stretch>
        </p:blipFill>
        <p:spPr>
          <a:xfrm>
            <a:off x="6143636" y="2000240"/>
            <a:ext cx="1444695" cy="2167466"/>
          </a:xfrm>
          <a:prstGeom prst="rect">
            <a:avLst/>
          </a:prstGeom>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Collective advice from others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Issues for discussion</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Smooth flow of the document</a:t>
            </a:r>
          </a:p>
          <a:p>
            <a:pPr lvl="0">
              <a:spcBef>
                <a:spcPts val="600"/>
              </a:spcBef>
              <a:spcAft>
                <a:spcPts val="1200"/>
              </a:spcAft>
            </a:pPr>
            <a:r>
              <a:rPr lang="en-AU" sz="2200" dirty="0" smtClean="0">
                <a:latin typeface="Helvetica" pitchFamily="34" charset="0"/>
              </a:rPr>
              <a:t>Accurate comments and use of data</a:t>
            </a:r>
          </a:p>
          <a:p>
            <a:pPr lvl="0">
              <a:spcBef>
                <a:spcPts val="600"/>
              </a:spcBef>
              <a:spcAft>
                <a:spcPts val="1200"/>
              </a:spcAft>
            </a:pPr>
            <a:r>
              <a:rPr lang="en-AU" sz="2200" dirty="0" smtClean="0">
                <a:latin typeface="Helvetica" pitchFamily="34" charset="0"/>
              </a:rPr>
              <a:t>Referencing of data and statistics</a:t>
            </a:r>
          </a:p>
          <a:p>
            <a:pPr lvl="0">
              <a:spcBef>
                <a:spcPts val="600"/>
              </a:spcBef>
              <a:spcAft>
                <a:spcPts val="1200"/>
              </a:spcAft>
            </a:pPr>
            <a:r>
              <a:rPr lang="en-AU" sz="2200" dirty="0" smtClean="0">
                <a:latin typeface="Helvetica" pitchFamily="34" charset="0"/>
              </a:rPr>
              <a:t>Recommendations or action required</a:t>
            </a:r>
          </a:p>
          <a:p>
            <a:pPr>
              <a:buNone/>
            </a:pPr>
            <a:endParaRPr lang="en-AU" sz="1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64</a:t>
            </a:fld>
            <a:endParaRPr lang="en-US" dirty="0"/>
          </a:p>
        </p:txBody>
      </p:sp>
      <p:pic>
        <p:nvPicPr>
          <p:cNvPr id="5" name="Picture 4" descr="MP900406846[1].JPG"/>
          <p:cNvPicPr>
            <a:picLocks noChangeAspect="1"/>
          </p:cNvPicPr>
          <p:nvPr/>
        </p:nvPicPr>
        <p:blipFill>
          <a:blip r:embed="rId3" cstate="print"/>
          <a:stretch>
            <a:fillRect/>
          </a:stretch>
        </p:blipFill>
        <p:spPr>
          <a:xfrm>
            <a:off x="6143636" y="2786058"/>
            <a:ext cx="2058774" cy="1371980"/>
          </a:xfrm>
          <a:prstGeom prst="rect">
            <a:avLst/>
          </a:prstGeom>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Collective advice from others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Methods of presenting and circulating documents</a:t>
            </a:r>
          </a:p>
          <a:p>
            <a:pPr lvl="0">
              <a:spcBef>
                <a:spcPts val="600"/>
              </a:spcBef>
              <a:spcAft>
                <a:spcPts val="1200"/>
              </a:spcAft>
            </a:pPr>
            <a:r>
              <a:rPr lang="en-AU" sz="2200" dirty="0" smtClean="0">
                <a:latin typeface="Helvetica" pitchFamily="34" charset="0"/>
              </a:rPr>
              <a:t>Mail</a:t>
            </a:r>
          </a:p>
          <a:p>
            <a:pPr lvl="0">
              <a:spcBef>
                <a:spcPts val="600"/>
              </a:spcBef>
              <a:spcAft>
                <a:spcPts val="1200"/>
              </a:spcAft>
            </a:pPr>
            <a:r>
              <a:rPr lang="en-AU" sz="2200" dirty="0" smtClean="0">
                <a:latin typeface="Helvetica" pitchFamily="34" charset="0"/>
              </a:rPr>
              <a:t>Email</a:t>
            </a:r>
          </a:p>
          <a:p>
            <a:pPr lvl="0">
              <a:spcBef>
                <a:spcPts val="600"/>
              </a:spcBef>
              <a:spcAft>
                <a:spcPts val="1200"/>
              </a:spcAft>
            </a:pPr>
            <a:r>
              <a:rPr lang="en-AU" sz="2200" dirty="0" smtClean="0">
                <a:latin typeface="Helvetica" pitchFamily="34" charset="0"/>
              </a:rPr>
              <a:t>Fax</a:t>
            </a:r>
          </a:p>
          <a:p>
            <a:pPr lvl="0">
              <a:spcBef>
                <a:spcPts val="600"/>
              </a:spcBef>
              <a:spcAft>
                <a:spcPts val="1200"/>
              </a:spcAft>
            </a:pPr>
            <a:r>
              <a:rPr lang="en-AU" sz="2200" dirty="0" smtClean="0">
                <a:latin typeface="Helvetica" pitchFamily="34" charset="0"/>
              </a:rPr>
              <a:t>By hand</a:t>
            </a:r>
          </a:p>
          <a:p>
            <a:pPr lvl="0">
              <a:spcBef>
                <a:spcPts val="600"/>
              </a:spcBef>
              <a:spcAft>
                <a:spcPts val="1200"/>
              </a:spcAft>
            </a:pPr>
            <a:r>
              <a:rPr lang="en-AU" sz="2200" dirty="0" smtClean="0">
                <a:latin typeface="Helvetica" pitchFamily="34" charset="0"/>
              </a:rPr>
              <a:t>Courier</a:t>
            </a:r>
          </a:p>
          <a:p>
            <a:pPr lvl="0">
              <a:spcBef>
                <a:spcPts val="600"/>
              </a:spcBef>
              <a:spcAft>
                <a:spcPts val="1200"/>
              </a:spcAft>
            </a:pPr>
            <a:r>
              <a:rPr lang="en-AU" sz="2200" dirty="0" smtClean="0">
                <a:latin typeface="Helvetica" pitchFamily="34" charset="0"/>
              </a:rPr>
              <a:t>As an accompaniment to an oral presentation</a:t>
            </a:r>
          </a:p>
          <a:p>
            <a:pPr>
              <a:buNone/>
            </a:pPr>
            <a:endParaRPr lang="en-AU" sz="1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65</a:t>
            </a:fld>
            <a:endParaRPr lang="en-US" dirty="0"/>
          </a:p>
        </p:txBody>
      </p:sp>
      <p:pic>
        <p:nvPicPr>
          <p:cNvPr id="6" name="Picture 5" descr="MP900402225[1].JPG"/>
          <p:cNvPicPr>
            <a:picLocks noChangeAspect="1"/>
          </p:cNvPicPr>
          <p:nvPr/>
        </p:nvPicPr>
        <p:blipFill>
          <a:blip r:embed="rId3" cstate="print"/>
          <a:stretch>
            <a:fillRect/>
          </a:stretch>
        </p:blipFill>
        <p:spPr>
          <a:xfrm>
            <a:off x="5357818" y="2571744"/>
            <a:ext cx="2057422" cy="1651097"/>
          </a:xfrm>
          <a:prstGeom prst="rect">
            <a:avLst/>
          </a:prstGeom>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Make modifications to documents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Types of modifications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Changing information within document</a:t>
            </a:r>
          </a:p>
          <a:p>
            <a:pPr lvl="0">
              <a:spcBef>
                <a:spcPts val="600"/>
              </a:spcBef>
              <a:spcAft>
                <a:spcPts val="1200"/>
              </a:spcAft>
            </a:pPr>
            <a:r>
              <a:rPr lang="en-AU" sz="2200" dirty="0" smtClean="0">
                <a:latin typeface="Helvetica" pitchFamily="34" charset="0"/>
              </a:rPr>
              <a:t>Streamlining wording</a:t>
            </a:r>
          </a:p>
          <a:p>
            <a:pPr lvl="0">
              <a:spcBef>
                <a:spcPts val="600"/>
              </a:spcBef>
              <a:spcAft>
                <a:spcPts val="1200"/>
              </a:spcAft>
            </a:pPr>
            <a:r>
              <a:rPr lang="en-AU" sz="2200" dirty="0" smtClean="0">
                <a:latin typeface="Helvetica" pitchFamily="34" charset="0"/>
              </a:rPr>
              <a:t>Change page size and orientation</a:t>
            </a:r>
          </a:p>
          <a:p>
            <a:pPr lvl="0">
              <a:spcBef>
                <a:spcPts val="600"/>
              </a:spcBef>
              <a:spcAft>
                <a:spcPts val="1200"/>
              </a:spcAft>
            </a:pPr>
            <a:r>
              <a:rPr lang="en-AU" sz="2200" dirty="0" smtClean="0">
                <a:latin typeface="Helvetica" pitchFamily="34" charset="0"/>
              </a:rPr>
              <a:t>Change page margins</a:t>
            </a:r>
          </a:p>
          <a:p>
            <a:pPr lvl="0">
              <a:spcBef>
                <a:spcPts val="600"/>
              </a:spcBef>
              <a:spcAft>
                <a:spcPts val="1200"/>
              </a:spcAft>
            </a:pPr>
            <a:r>
              <a:rPr lang="en-AU" sz="2200" dirty="0" smtClean="0">
                <a:latin typeface="Helvetica" pitchFamily="34" charset="0"/>
              </a:rPr>
              <a:t>Add/delete columns</a:t>
            </a:r>
          </a:p>
          <a:p>
            <a:pPr>
              <a:spcBef>
                <a:spcPts val="600"/>
              </a:spcBef>
              <a:spcAft>
                <a:spcPts val="1200"/>
              </a:spcAft>
            </a:pPr>
            <a:r>
              <a:rPr lang="en-AU" sz="2200" dirty="0" smtClean="0">
                <a:latin typeface="Helvetica" pitchFamily="34" charset="0"/>
              </a:rPr>
              <a:t>Formatting</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66</a:t>
            </a:fld>
            <a:endParaRPr lang="en-US" dirty="0"/>
          </a:p>
        </p:txBody>
      </p:sp>
      <p:pic>
        <p:nvPicPr>
          <p:cNvPr id="7" name="Picture 6" descr="511610_working[2].jpg"/>
          <p:cNvPicPr>
            <a:picLocks noChangeAspect="1"/>
          </p:cNvPicPr>
          <p:nvPr/>
        </p:nvPicPr>
        <p:blipFill>
          <a:blip r:embed="rId3" cstate="print"/>
          <a:stretch>
            <a:fillRect/>
          </a:stretch>
        </p:blipFill>
        <p:spPr>
          <a:xfrm>
            <a:off x="6143636" y="3000372"/>
            <a:ext cx="1993404" cy="1495053"/>
          </a:xfrm>
          <a:prstGeom prst="rect">
            <a:avLst/>
          </a:prstGeom>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Make modifications to documents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Types of modifications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Copying, cutting and pasting</a:t>
            </a:r>
          </a:p>
          <a:p>
            <a:pPr lvl="0">
              <a:spcBef>
                <a:spcPts val="600"/>
              </a:spcBef>
              <a:spcAft>
                <a:spcPts val="1200"/>
              </a:spcAft>
            </a:pPr>
            <a:r>
              <a:rPr lang="en-AU" sz="2200" dirty="0" smtClean="0">
                <a:latin typeface="Helvetica" pitchFamily="34" charset="0"/>
              </a:rPr>
              <a:t>Inserting page breaks and section breaks</a:t>
            </a:r>
          </a:p>
          <a:p>
            <a:pPr lvl="0">
              <a:spcBef>
                <a:spcPts val="600"/>
              </a:spcBef>
              <a:spcAft>
                <a:spcPts val="1200"/>
              </a:spcAft>
            </a:pPr>
            <a:r>
              <a:rPr lang="en-AU" sz="2200" dirty="0" smtClean="0">
                <a:latin typeface="Helvetica" pitchFamily="34" charset="0"/>
              </a:rPr>
              <a:t>Inserting or changing headers and footers</a:t>
            </a:r>
          </a:p>
          <a:p>
            <a:pPr lvl="0">
              <a:spcBef>
                <a:spcPts val="600"/>
              </a:spcBef>
              <a:spcAft>
                <a:spcPts val="1200"/>
              </a:spcAft>
            </a:pPr>
            <a:r>
              <a:rPr lang="en-AU" sz="2200" dirty="0" smtClean="0">
                <a:latin typeface="Helvetica" pitchFamily="34" charset="0"/>
              </a:rPr>
              <a:t>Inserting page numbers</a:t>
            </a:r>
          </a:p>
          <a:p>
            <a:pPr lvl="0">
              <a:spcBef>
                <a:spcPts val="600"/>
              </a:spcBef>
              <a:spcAft>
                <a:spcPts val="1200"/>
              </a:spcAft>
            </a:pPr>
            <a:r>
              <a:rPr lang="en-AU" sz="2200" dirty="0" smtClean="0">
                <a:latin typeface="Helvetica" pitchFamily="34" charset="0"/>
              </a:rPr>
              <a:t>Adding styles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67</a:t>
            </a:fld>
            <a:endParaRPr lang="en-US" dirty="0"/>
          </a:p>
        </p:txBody>
      </p:sp>
      <p:pic>
        <p:nvPicPr>
          <p:cNvPr id="6" name="Picture 5" descr="Styles Dialog Box Launcher"/>
          <p:cNvPicPr/>
          <p:nvPr/>
        </p:nvPicPr>
        <p:blipFill>
          <a:blip r:embed="rId3" cstate="print"/>
          <a:srcRect/>
          <a:stretch>
            <a:fillRect/>
          </a:stretch>
        </p:blipFill>
        <p:spPr bwMode="auto">
          <a:xfrm>
            <a:off x="4500562" y="3786190"/>
            <a:ext cx="3810000" cy="7048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Make modifications to documents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Types of modifications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Inserting and formatting tables</a:t>
            </a:r>
          </a:p>
          <a:p>
            <a:pPr lvl="0">
              <a:spcBef>
                <a:spcPts val="600"/>
              </a:spcBef>
              <a:spcAft>
                <a:spcPts val="1200"/>
              </a:spcAft>
            </a:pPr>
            <a:r>
              <a:rPr lang="en-AU" sz="2200" dirty="0" smtClean="0">
                <a:latin typeface="Helvetica" pitchFamily="34" charset="0"/>
              </a:rPr>
              <a:t>Saving documents</a:t>
            </a:r>
          </a:p>
          <a:p>
            <a:pPr lvl="0">
              <a:spcBef>
                <a:spcPts val="600"/>
              </a:spcBef>
              <a:spcAft>
                <a:spcPts val="1200"/>
              </a:spcAft>
            </a:pPr>
            <a:r>
              <a:rPr lang="en-AU" sz="2200" dirty="0" smtClean="0">
                <a:latin typeface="Helvetica" pitchFamily="34" charset="0"/>
              </a:rPr>
              <a:t>Inserting images and graphics/clip art</a:t>
            </a:r>
          </a:p>
          <a:p>
            <a:pPr lvl="0">
              <a:spcBef>
                <a:spcPts val="600"/>
              </a:spcBef>
              <a:spcAft>
                <a:spcPts val="1200"/>
              </a:spcAft>
            </a:pPr>
            <a:r>
              <a:rPr lang="en-AU" sz="2200" dirty="0" smtClean="0">
                <a:latin typeface="Helvetica" pitchFamily="34" charset="0"/>
              </a:rPr>
              <a:t>Inserting smart art and shapes</a:t>
            </a:r>
          </a:p>
          <a:p>
            <a:pPr lvl="0">
              <a:spcBef>
                <a:spcPts val="600"/>
              </a:spcBef>
              <a:spcAft>
                <a:spcPts val="1200"/>
              </a:spcAft>
            </a:pPr>
            <a:r>
              <a:rPr lang="en-AU" sz="2200" dirty="0" smtClean="0">
                <a:latin typeface="Helvetica" pitchFamily="34" charset="0"/>
              </a:rPr>
              <a:t>Check spelling and grammar</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68</a:t>
            </a:fld>
            <a:endParaRPr lang="en-US" dirty="0"/>
          </a:p>
        </p:txBody>
      </p:sp>
      <p:pic>
        <p:nvPicPr>
          <p:cNvPr id="101377" name="Picture 1"/>
          <p:cNvPicPr>
            <a:picLocks noChangeAspect="1" noChangeArrowheads="1"/>
          </p:cNvPicPr>
          <p:nvPr/>
        </p:nvPicPr>
        <p:blipFill>
          <a:blip r:embed="rId3" cstate="print"/>
          <a:srcRect r="54687" b="77500"/>
          <a:stretch>
            <a:fillRect/>
          </a:stretch>
        </p:blipFill>
        <p:spPr bwMode="auto">
          <a:xfrm>
            <a:off x="5429256" y="3857628"/>
            <a:ext cx="2968646" cy="92130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Make modifications to documents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Types of modifications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Attaching documents</a:t>
            </a:r>
          </a:p>
          <a:p>
            <a:pPr lvl="0">
              <a:spcBef>
                <a:spcPts val="600"/>
              </a:spcBef>
              <a:spcAft>
                <a:spcPts val="1200"/>
              </a:spcAft>
            </a:pPr>
            <a:r>
              <a:rPr lang="en-AU" sz="2200" dirty="0" smtClean="0">
                <a:latin typeface="Helvetica" pitchFamily="34" charset="0"/>
              </a:rPr>
              <a:t>Saving and naming documents</a:t>
            </a:r>
          </a:p>
          <a:p>
            <a:pPr lvl="0">
              <a:spcBef>
                <a:spcPts val="600"/>
              </a:spcBef>
              <a:spcAft>
                <a:spcPts val="1200"/>
              </a:spcAft>
            </a:pPr>
            <a:r>
              <a:rPr lang="en-AU" sz="2200" dirty="0" smtClean="0">
                <a:latin typeface="Helvetica" pitchFamily="34" charset="0"/>
              </a:rPr>
              <a:t>Copying files/folders</a:t>
            </a:r>
          </a:p>
          <a:p>
            <a:pPr lvl="0">
              <a:spcBef>
                <a:spcPts val="600"/>
              </a:spcBef>
              <a:spcAft>
                <a:spcPts val="1200"/>
              </a:spcAft>
            </a:pPr>
            <a:r>
              <a:rPr lang="en-AU" sz="2200" dirty="0" smtClean="0">
                <a:latin typeface="Helvetica" pitchFamily="34" charset="0"/>
              </a:rPr>
              <a:t>Setting up the correct printer</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69</a:t>
            </a:fld>
            <a:endParaRPr lang="en-US" dirty="0"/>
          </a:p>
        </p:txBody>
      </p:sp>
      <p:pic>
        <p:nvPicPr>
          <p:cNvPr id="6" name="Picture 5" descr="35004.JPG"/>
          <p:cNvPicPr>
            <a:picLocks noChangeAspect="1"/>
          </p:cNvPicPr>
          <p:nvPr/>
        </p:nvPicPr>
        <p:blipFill>
          <a:blip r:embed="rId3" cstate="print"/>
          <a:stretch>
            <a:fillRect/>
          </a:stretch>
        </p:blipFill>
        <p:spPr>
          <a:xfrm>
            <a:off x="6215074" y="2143116"/>
            <a:ext cx="1599832" cy="2040170"/>
          </a:xfrm>
          <a:prstGeom prst="rect">
            <a:avLst/>
          </a:prstGeom>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Print and present documents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Print and present document</a:t>
            </a:r>
          </a:p>
          <a:p>
            <a:pPr marL="0">
              <a:spcBef>
                <a:spcPts val="600"/>
              </a:spcBef>
              <a:spcAft>
                <a:spcPts val="1200"/>
              </a:spcAft>
              <a:buNone/>
            </a:pPr>
            <a:r>
              <a:rPr lang="en-AU" sz="2200" dirty="0" smtClean="0">
                <a:latin typeface="Helvetica" pitchFamily="34" charset="0"/>
              </a:rPr>
              <a:t>Now that all necessary amendments have been made to documents it is now time to:</a:t>
            </a:r>
          </a:p>
          <a:p>
            <a:pPr>
              <a:spcBef>
                <a:spcPts val="600"/>
              </a:spcBef>
              <a:spcAft>
                <a:spcPts val="1200"/>
              </a:spcAft>
            </a:pPr>
            <a:r>
              <a:rPr lang="en-AU" sz="2200" dirty="0" smtClean="0">
                <a:latin typeface="Helvetica" pitchFamily="34" charset="0"/>
              </a:rPr>
              <a:t>Print the final copy</a:t>
            </a:r>
          </a:p>
          <a:p>
            <a:pPr>
              <a:spcBef>
                <a:spcPts val="600"/>
              </a:spcBef>
              <a:spcAft>
                <a:spcPts val="1200"/>
              </a:spcAft>
            </a:pPr>
            <a:r>
              <a:rPr lang="en-AU" sz="2200" dirty="0" smtClean="0">
                <a:latin typeface="Helvetica" pitchFamily="34" charset="0"/>
              </a:rPr>
              <a:t>Undertake any additional activities to get document ready</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70</a:t>
            </a:fld>
            <a:endParaRPr lang="en-US" dirty="0"/>
          </a:p>
        </p:txBody>
      </p:sp>
      <p:pic>
        <p:nvPicPr>
          <p:cNvPr id="5" name="Picture 4" descr="MP900385355[1].JPG"/>
          <p:cNvPicPr>
            <a:picLocks noChangeAspect="1"/>
          </p:cNvPicPr>
          <p:nvPr/>
        </p:nvPicPr>
        <p:blipFill>
          <a:blip r:embed="rId3" cstate="print"/>
          <a:stretch>
            <a:fillRect/>
          </a:stretch>
        </p:blipFill>
        <p:spPr>
          <a:xfrm>
            <a:off x="3428992" y="4500570"/>
            <a:ext cx="2192288" cy="1565920"/>
          </a:xfrm>
          <a:prstGeom prst="rect">
            <a:avLst/>
          </a:prstGeom>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Print and present documents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lvl="0">
              <a:spcBef>
                <a:spcPts val="600"/>
              </a:spcBef>
              <a:spcAft>
                <a:spcPts val="1200"/>
              </a:spcAft>
              <a:buNone/>
            </a:pPr>
            <a:r>
              <a:rPr lang="en-AU" sz="2200" b="1" dirty="0" smtClean="0">
                <a:latin typeface="Helvetica" pitchFamily="34" charset="0"/>
              </a:rPr>
              <a:t>Additional requirements</a:t>
            </a:r>
          </a:p>
          <a:p>
            <a:pPr lvl="0">
              <a:spcBef>
                <a:spcPts val="600"/>
              </a:spcBef>
              <a:spcAft>
                <a:spcPts val="1200"/>
              </a:spcAft>
            </a:pPr>
            <a:r>
              <a:rPr lang="en-AU" sz="2200" dirty="0" smtClean="0">
                <a:latin typeface="Helvetica" pitchFamily="34" charset="0"/>
              </a:rPr>
              <a:t>Producing multiple copies</a:t>
            </a:r>
          </a:p>
          <a:p>
            <a:pPr lvl="0">
              <a:spcBef>
                <a:spcPts val="600"/>
              </a:spcBef>
              <a:spcAft>
                <a:spcPts val="1200"/>
              </a:spcAft>
            </a:pPr>
            <a:r>
              <a:rPr lang="en-AU" sz="2200" dirty="0" smtClean="0">
                <a:latin typeface="Helvetica" pitchFamily="34" charset="0"/>
              </a:rPr>
              <a:t>Collating documents</a:t>
            </a:r>
          </a:p>
          <a:p>
            <a:pPr lvl="0">
              <a:spcBef>
                <a:spcPts val="600"/>
              </a:spcBef>
              <a:spcAft>
                <a:spcPts val="1200"/>
              </a:spcAft>
            </a:pPr>
            <a:r>
              <a:rPr lang="en-AU" sz="2200" dirty="0" smtClean="0">
                <a:latin typeface="Helvetica" pitchFamily="34" charset="0"/>
              </a:rPr>
              <a:t>Adding attachments </a:t>
            </a:r>
          </a:p>
          <a:p>
            <a:pPr lvl="0">
              <a:spcBef>
                <a:spcPts val="600"/>
              </a:spcBef>
              <a:spcAft>
                <a:spcPts val="1200"/>
              </a:spcAft>
            </a:pPr>
            <a:r>
              <a:rPr lang="en-AU" sz="2200" dirty="0" smtClean="0">
                <a:latin typeface="Helvetica" pitchFamily="34" charset="0"/>
              </a:rPr>
              <a:t>Binding</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71</a:t>
            </a:fld>
            <a:endParaRPr lang="en-US" dirty="0"/>
          </a:p>
        </p:txBody>
      </p:sp>
      <p:pic>
        <p:nvPicPr>
          <p:cNvPr id="8" name="Picture 7" descr="35002.JPG"/>
          <p:cNvPicPr/>
          <p:nvPr/>
        </p:nvPicPr>
        <p:blipFill>
          <a:blip r:embed="rId3" cstate="print"/>
          <a:stretch>
            <a:fillRect/>
          </a:stretch>
        </p:blipFill>
        <p:spPr>
          <a:xfrm>
            <a:off x="5643570" y="2143116"/>
            <a:ext cx="1691324" cy="2159601"/>
          </a:xfrm>
          <a:prstGeom prst="rect">
            <a:avLst/>
          </a:prstGeom>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Print and present documents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lvl="0">
              <a:spcBef>
                <a:spcPts val="600"/>
              </a:spcBef>
              <a:spcAft>
                <a:spcPts val="1200"/>
              </a:spcAft>
              <a:buNone/>
            </a:pPr>
            <a:r>
              <a:rPr lang="en-AU" sz="2200" b="1" dirty="0" smtClean="0">
                <a:latin typeface="Helvetica" pitchFamily="34" charset="0"/>
              </a:rPr>
              <a:t>Additional requirements</a:t>
            </a:r>
          </a:p>
          <a:p>
            <a:pPr lvl="0">
              <a:spcBef>
                <a:spcPts val="600"/>
              </a:spcBef>
              <a:spcAft>
                <a:spcPts val="1200"/>
              </a:spcAft>
            </a:pPr>
            <a:r>
              <a:rPr lang="en-AU" sz="2200" dirty="0" smtClean="0">
                <a:latin typeface="Helvetica" pitchFamily="34" charset="0"/>
              </a:rPr>
              <a:t>Mailing</a:t>
            </a:r>
          </a:p>
          <a:p>
            <a:pPr lvl="0">
              <a:spcBef>
                <a:spcPts val="600"/>
              </a:spcBef>
              <a:spcAft>
                <a:spcPts val="1200"/>
              </a:spcAft>
            </a:pPr>
            <a:r>
              <a:rPr lang="en-AU" sz="2200" dirty="0" smtClean="0">
                <a:latin typeface="Helvetica" pitchFamily="34" charset="0"/>
              </a:rPr>
              <a:t>Disseminating internally</a:t>
            </a:r>
          </a:p>
          <a:p>
            <a:pPr lvl="0">
              <a:spcBef>
                <a:spcPts val="600"/>
              </a:spcBef>
              <a:spcAft>
                <a:spcPts val="1200"/>
              </a:spcAft>
            </a:pPr>
            <a:r>
              <a:rPr lang="en-AU" sz="2200" dirty="0" smtClean="0">
                <a:latin typeface="Helvetica" pitchFamily="34" charset="0"/>
              </a:rPr>
              <a:t>Recording dissemination in a file or book</a:t>
            </a:r>
          </a:p>
          <a:p>
            <a:pPr>
              <a:spcBef>
                <a:spcPts val="600"/>
              </a:spcBef>
              <a:spcAft>
                <a:spcPts val="1200"/>
              </a:spcAft>
            </a:pPr>
            <a:r>
              <a:rPr lang="en-AU" sz="2200" dirty="0" smtClean="0">
                <a:latin typeface="Helvetica" pitchFamily="34" charset="0"/>
              </a:rPr>
              <a:t>Filing </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72</a:t>
            </a:fld>
            <a:endParaRPr lang="en-US" dirty="0"/>
          </a:p>
        </p:txBody>
      </p:sp>
      <p:pic>
        <p:nvPicPr>
          <p:cNvPr id="5" name="Picture 4" descr="831770_green_light.jpg"/>
          <p:cNvPicPr>
            <a:picLocks noChangeAspect="1"/>
          </p:cNvPicPr>
          <p:nvPr/>
        </p:nvPicPr>
        <p:blipFill>
          <a:blip r:embed="rId3" cstate="print"/>
          <a:stretch>
            <a:fillRect/>
          </a:stretch>
        </p:blipFill>
        <p:spPr>
          <a:xfrm>
            <a:off x="3286116" y="4071942"/>
            <a:ext cx="2325421" cy="1573535"/>
          </a:xfrm>
          <a:prstGeom prst="rect">
            <a:avLst/>
          </a:prstGeom>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Print and present documents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Preparing for signature and posting</a:t>
            </a:r>
          </a:p>
          <a:p>
            <a:pPr>
              <a:spcBef>
                <a:spcPts val="600"/>
              </a:spcBef>
              <a:spcAft>
                <a:spcPts val="1200"/>
              </a:spcAft>
            </a:pPr>
            <a:r>
              <a:rPr lang="en-AU" sz="2200" dirty="0" smtClean="0">
                <a:latin typeface="Helvetica" pitchFamily="34" charset="0"/>
              </a:rPr>
              <a:t>Who signs documents?</a:t>
            </a:r>
          </a:p>
          <a:p>
            <a:pPr>
              <a:spcBef>
                <a:spcPts val="600"/>
              </a:spcBef>
              <a:spcAft>
                <a:spcPts val="1200"/>
              </a:spcAft>
            </a:pPr>
            <a:r>
              <a:rPr lang="en-AU" sz="2200" dirty="0" smtClean="0">
                <a:latin typeface="Helvetica" pitchFamily="34" charset="0"/>
              </a:rPr>
              <a:t>Who gives final authorisation that documents are complete?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73</a:t>
            </a:fld>
            <a:endParaRPr lang="en-US" dirty="0"/>
          </a:p>
        </p:txBody>
      </p:sp>
      <p:pic>
        <p:nvPicPr>
          <p:cNvPr id="6" name="Picture 5" descr="MP900309628[1].JPG"/>
          <p:cNvPicPr/>
          <p:nvPr/>
        </p:nvPicPr>
        <p:blipFill>
          <a:blip r:embed="rId3" cstate="print"/>
          <a:stretch>
            <a:fillRect/>
          </a:stretch>
        </p:blipFill>
        <p:spPr>
          <a:xfrm>
            <a:off x="3500430" y="3786190"/>
            <a:ext cx="2065015" cy="1507232"/>
          </a:xfrm>
          <a:prstGeom prst="rect">
            <a:avLst/>
          </a:prstGeom>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Print and present documents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Additional tasks</a:t>
            </a:r>
          </a:p>
          <a:p>
            <a:pPr>
              <a:spcBef>
                <a:spcPts val="600"/>
              </a:spcBef>
              <a:spcAft>
                <a:spcPts val="1200"/>
              </a:spcAft>
            </a:pPr>
            <a:r>
              <a:rPr lang="en-AU" sz="2200" dirty="0" smtClean="0">
                <a:latin typeface="Helvetica" pitchFamily="34" charset="0"/>
              </a:rPr>
              <a:t>Attaching enclosures</a:t>
            </a:r>
          </a:p>
          <a:p>
            <a:pPr>
              <a:spcBef>
                <a:spcPts val="600"/>
              </a:spcBef>
              <a:spcAft>
                <a:spcPts val="1200"/>
              </a:spcAft>
            </a:pPr>
            <a:r>
              <a:rPr lang="en-AU" sz="2200" dirty="0" smtClean="0">
                <a:latin typeface="Helvetica" pitchFamily="34" charset="0"/>
              </a:rPr>
              <a:t>Folding an envelope</a:t>
            </a:r>
          </a:p>
          <a:p>
            <a:pPr>
              <a:spcBef>
                <a:spcPts val="600"/>
              </a:spcBef>
              <a:spcAft>
                <a:spcPts val="1200"/>
              </a:spcAft>
            </a:pPr>
            <a:r>
              <a:rPr lang="en-AU" sz="2200" dirty="0" smtClean="0">
                <a:latin typeface="Helvetica" pitchFamily="34" charset="0"/>
              </a:rPr>
              <a:t>Folding a standard letter</a:t>
            </a: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74</a:t>
            </a:fld>
            <a:endParaRPr lang="en-US" dirty="0"/>
          </a:p>
        </p:txBody>
      </p:sp>
      <p:pic>
        <p:nvPicPr>
          <p:cNvPr id="7" name="Picture 6" descr="35001.JPG"/>
          <p:cNvPicPr>
            <a:picLocks noChangeAspect="1"/>
          </p:cNvPicPr>
          <p:nvPr/>
        </p:nvPicPr>
        <p:blipFill>
          <a:blip r:embed="rId3" cstate="print"/>
          <a:stretch>
            <a:fillRect/>
          </a:stretch>
        </p:blipFill>
        <p:spPr>
          <a:xfrm>
            <a:off x="5357818" y="1714488"/>
            <a:ext cx="1745409" cy="2225816"/>
          </a:xfrm>
          <a:prstGeom prst="rect">
            <a:avLst/>
          </a:prstGeom>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a:buNone/>
            </a:pPr>
            <a:r>
              <a:rPr lang="en-AU" sz="4000" b="1" dirty="0" smtClean="0">
                <a:solidFill>
                  <a:srgbClr val="FF6600"/>
                </a:solidFill>
              </a:rPr>
              <a:t>Finish:</a:t>
            </a:r>
          </a:p>
          <a:p>
            <a:pPr>
              <a:buNone/>
            </a:pPr>
            <a:r>
              <a:rPr lang="en-AU" sz="4000" dirty="0" smtClean="0">
                <a:solidFill>
                  <a:srgbClr val="FF6600"/>
                </a:solidFill>
              </a:rPr>
              <a:t>Thank you!</a:t>
            </a: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75</a:t>
            </a:fld>
            <a:endParaRPr lang="en-US" dirty="0"/>
          </a:p>
        </p:txBody>
      </p:sp>
      <p:pic>
        <p:nvPicPr>
          <p:cNvPr id="87041" name="Picture 1" descr="C:\Documents and Settings\danielc\Desktop\Produce docs reports worksheet\978940_target.jpg"/>
          <p:cNvPicPr>
            <a:picLocks noChangeAspect="1" noChangeArrowheads="1"/>
          </p:cNvPicPr>
          <p:nvPr/>
        </p:nvPicPr>
        <p:blipFill>
          <a:blip r:embed="rId3" cstate="print"/>
          <a:srcRect/>
          <a:stretch>
            <a:fillRect/>
          </a:stretch>
        </p:blipFill>
        <p:spPr bwMode="auto">
          <a:xfrm>
            <a:off x="4000496" y="2000240"/>
            <a:ext cx="2857500" cy="2819400"/>
          </a:xfrm>
          <a:prstGeom prst="rect">
            <a:avLst/>
          </a:prstGeo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PPT_Food_&amp;_Bev_template_250612">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PPT_Food_&amp;_Bev_template_250612</Template>
  <TotalTime>822</TotalTime>
  <Words>4230</Words>
  <Application>Microsoft Office PowerPoint</Application>
  <PresentationFormat>On-screen Show (4:3)</PresentationFormat>
  <Paragraphs>995</Paragraphs>
  <Slides>75</Slides>
  <Notes>75</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0</vt:i4>
      </vt:variant>
      <vt:variant>
        <vt:lpstr>Slide Titles</vt:lpstr>
      </vt:variant>
      <vt:variant>
        <vt:i4>75</vt:i4>
      </vt:variant>
    </vt:vector>
  </HeadingPairs>
  <TitlesOfParts>
    <vt:vector size="80" baseType="lpstr">
      <vt:lpstr>Arial</vt:lpstr>
      <vt:lpstr>Helvetica</vt:lpstr>
      <vt:lpstr>Times New Roman</vt:lpstr>
      <vt:lpstr>Wingdings 2</vt:lpstr>
      <vt:lpstr>PPT_Food_&amp;_Bev_template_250612</vt:lpstr>
      <vt:lpstr>PRODUCE DOCUMENTS, REPORTS AND WORKSHEETS ON A COMPUTER</vt:lpstr>
      <vt:lpstr>Subject Elements</vt:lpstr>
      <vt:lpstr>Assessment</vt:lpstr>
      <vt:lpstr>PowerPoint Presentation</vt:lpstr>
      <vt:lpstr>Determine presentation and format  of document</vt:lpstr>
      <vt:lpstr>Select hardware and software</vt:lpstr>
      <vt:lpstr>Select hardware and software</vt:lpstr>
      <vt:lpstr>Hardware</vt:lpstr>
      <vt:lpstr>Hardware</vt:lpstr>
      <vt:lpstr>Hardware</vt:lpstr>
      <vt:lpstr>Software</vt:lpstr>
      <vt:lpstr>Software</vt:lpstr>
      <vt:lpstr>Hospitality documents</vt:lpstr>
      <vt:lpstr>Generic documents</vt:lpstr>
      <vt:lpstr>Generic documents</vt:lpstr>
      <vt:lpstr>Potential audiences</vt:lpstr>
      <vt:lpstr>Document processing tasks</vt:lpstr>
      <vt:lpstr>Discuss format and presentation of document</vt:lpstr>
      <vt:lpstr>Discuss format and presentation of document</vt:lpstr>
      <vt:lpstr>Using different writing styles</vt:lpstr>
      <vt:lpstr>Using different writing styles</vt:lpstr>
      <vt:lpstr>Using different writing styles</vt:lpstr>
      <vt:lpstr>Using different writing styles</vt:lpstr>
      <vt:lpstr>Clarification of requirements</vt:lpstr>
      <vt:lpstr>Clarification of requirements</vt:lpstr>
      <vt:lpstr>PowerPoint Presentation</vt:lpstr>
      <vt:lpstr>Produce document</vt:lpstr>
      <vt:lpstr>Type of business documents</vt:lpstr>
      <vt:lpstr>Prepare documents</vt:lpstr>
      <vt:lpstr>Six steps to good writing</vt:lpstr>
      <vt:lpstr>Different styles of letters</vt:lpstr>
      <vt:lpstr>Different styles of letters</vt:lpstr>
      <vt:lpstr>Different styles of letters</vt:lpstr>
      <vt:lpstr>Different styles of letters</vt:lpstr>
      <vt:lpstr>Memos versus letters</vt:lpstr>
      <vt:lpstr>Preparing letterheads</vt:lpstr>
      <vt:lpstr>Routine letters</vt:lpstr>
      <vt:lpstr>Good news letters</vt:lpstr>
      <vt:lpstr>Bad news letters</vt:lpstr>
      <vt:lpstr>Preparing short report</vt:lpstr>
      <vt:lpstr>Preparing long report</vt:lpstr>
      <vt:lpstr>Preparing submissions</vt:lpstr>
      <vt:lpstr>Preparing submissions</vt:lpstr>
      <vt:lpstr>Preparing proposals</vt:lpstr>
      <vt:lpstr>Preparing proposals</vt:lpstr>
      <vt:lpstr>Preparing tenders</vt:lpstr>
      <vt:lpstr>Produce documents within timelines</vt:lpstr>
      <vt:lpstr>Produce documents within timelines</vt:lpstr>
      <vt:lpstr>Types of software functions</vt:lpstr>
      <vt:lpstr>Save document regularly</vt:lpstr>
      <vt:lpstr>Proof read prior to printing</vt:lpstr>
      <vt:lpstr> Rule of  7 Cs </vt:lpstr>
      <vt:lpstr>Check spelling</vt:lpstr>
      <vt:lpstr>Ensure text is without spelling, punctuation and/or grammatical errors</vt:lpstr>
      <vt:lpstr>PowerPoint Presentation</vt:lpstr>
      <vt:lpstr>Print and deliver document</vt:lpstr>
      <vt:lpstr>Print document</vt:lpstr>
      <vt:lpstr>Print document</vt:lpstr>
      <vt:lpstr>Print document</vt:lpstr>
      <vt:lpstr>Print document</vt:lpstr>
      <vt:lpstr>Proof read document</vt:lpstr>
      <vt:lpstr>Collective advice from others</vt:lpstr>
      <vt:lpstr>Collective advice from others</vt:lpstr>
      <vt:lpstr>Collective advice from others</vt:lpstr>
      <vt:lpstr>Collective advice from others</vt:lpstr>
      <vt:lpstr>Make modifications to documents</vt:lpstr>
      <vt:lpstr>Make modifications to documents</vt:lpstr>
      <vt:lpstr>Make modifications to documents</vt:lpstr>
      <vt:lpstr>Make modifications to documents</vt:lpstr>
      <vt:lpstr>Print and present documents</vt:lpstr>
      <vt:lpstr>Print and present documents</vt:lpstr>
      <vt:lpstr>Print and present documents</vt:lpstr>
      <vt:lpstr>Print and present documents</vt:lpstr>
      <vt:lpstr>Print and present documents</vt:lpstr>
      <vt:lpstr>PowerPoint Presentation</vt:lpstr>
    </vt:vector>
  </TitlesOfParts>
  <Company>William Angliss Institute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PRODUCE DOCUMENTS, REPORTS AND WORKSHEETS ON A COMPUTER</dc:title>
  <dc:creator>Administrator</dc:creator>
  <cp:lastModifiedBy>Carla Angelica Co</cp:lastModifiedBy>
  <cp:revision>98</cp:revision>
  <dcterms:created xsi:type="dcterms:W3CDTF">2012-06-28T03:00:56Z</dcterms:created>
  <dcterms:modified xsi:type="dcterms:W3CDTF">2015-04-06T07:11:14Z</dcterms:modified>
</cp:coreProperties>
</file>