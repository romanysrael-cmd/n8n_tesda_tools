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42"/>
  </p:notesMasterIdLst>
  <p:handoutMasterIdLst>
    <p:handoutMasterId r:id="rId143"/>
  </p:handoutMasterIdLst>
  <p:sldIdLst>
    <p:sldId id="256" r:id="rId2"/>
    <p:sldId id="257" r:id="rId3"/>
    <p:sldId id="258" r:id="rId4"/>
    <p:sldId id="259" r:id="rId5"/>
    <p:sldId id="261" r:id="rId6"/>
    <p:sldId id="290" r:id="rId7"/>
    <p:sldId id="365"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29" r:id="rId22"/>
    <p:sldId id="330" r:id="rId23"/>
    <p:sldId id="331" r:id="rId24"/>
    <p:sldId id="334" r:id="rId25"/>
    <p:sldId id="335" r:id="rId26"/>
    <p:sldId id="336" r:id="rId27"/>
    <p:sldId id="337" r:id="rId28"/>
    <p:sldId id="338" r:id="rId29"/>
    <p:sldId id="339" r:id="rId30"/>
    <p:sldId id="340" r:id="rId31"/>
    <p:sldId id="341" r:id="rId32"/>
    <p:sldId id="342" r:id="rId33"/>
    <p:sldId id="343" r:id="rId34"/>
    <p:sldId id="344" r:id="rId35"/>
    <p:sldId id="345" r:id="rId36"/>
    <p:sldId id="346" r:id="rId37"/>
    <p:sldId id="347" r:id="rId38"/>
    <p:sldId id="348" r:id="rId39"/>
    <p:sldId id="349" r:id="rId40"/>
    <p:sldId id="350" r:id="rId41"/>
    <p:sldId id="351" r:id="rId42"/>
    <p:sldId id="352" r:id="rId43"/>
    <p:sldId id="359" r:id="rId44"/>
    <p:sldId id="360" r:id="rId45"/>
    <p:sldId id="361" r:id="rId46"/>
    <p:sldId id="362" r:id="rId47"/>
    <p:sldId id="363" r:id="rId48"/>
    <p:sldId id="364" r:id="rId49"/>
    <p:sldId id="263" r:id="rId50"/>
    <p:sldId id="366" r:id="rId51"/>
    <p:sldId id="367" r:id="rId52"/>
    <p:sldId id="368" r:id="rId53"/>
    <p:sldId id="369" r:id="rId54"/>
    <p:sldId id="370" r:id="rId55"/>
    <p:sldId id="371" r:id="rId56"/>
    <p:sldId id="372" r:id="rId57"/>
    <p:sldId id="373" r:id="rId58"/>
    <p:sldId id="374" r:id="rId59"/>
    <p:sldId id="375" r:id="rId60"/>
    <p:sldId id="376" r:id="rId61"/>
    <p:sldId id="377" r:id="rId62"/>
    <p:sldId id="378" r:id="rId63"/>
    <p:sldId id="379" r:id="rId64"/>
    <p:sldId id="380" r:id="rId65"/>
    <p:sldId id="264" r:id="rId66"/>
    <p:sldId id="381" r:id="rId67"/>
    <p:sldId id="382" r:id="rId68"/>
    <p:sldId id="265" r:id="rId69"/>
    <p:sldId id="266" r:id="rId70"/>
    <p:sldId id="270" r:id="rId71"/>
    <p:sldId id="267" r:id="rId72"/>
    <p:sldId id="383" r:id="rId73"/>
    <p:sldId id="384" r:id="rId74"/>
    <p:sldId id="385" r:id="rId75"/>
    <p:sldId id="386" r:id="rId76"/>
    <p:sldId id="387" r:id="rId77"/>
    <p:sldId id="315" r:id="rId78"/>
    <p:sldId id="388" r:id="rId79"/>
    <p:sldId id="389" r:id="rId80"/>
    <p:sldId id="268" r:id="rId81"/>
    <p:sldId id="390" r:id="rId82"/>
    <p:sldId id="391" r:id="rId83"/>
    <p:sldId id="392" r:id="rId84"/>
    <p:sldId id="393" r:id="rId85"/>
    <p:sldId id="394" r:id="rId86"/>
    <p:sldId id="395" r:id="rId87"/>
    <p:sldId id="396" r:id="rId88"/>
    <p:sldId id="321" r:id="rId89"/>
    <p:sldId id="271" r:id="rId90"/>
    <p:sldId id="397" r:id="rId91"/>
    <p:sldId id="398" r:id="rId92"/>
    <p:sldId id="399" r:id="rId93"/>
    <p:sldId id="400" r:id="rId94"/>
    <p:sldId id="401" r:id="rId95"/>
    <p:sldId id="402" r:id="rId96"/>
    <p:sldId id="403" r:id="rId97"/>
    <p:sldId id="404" r:id="rId98"/>
    <p:sldId id="405" r:id="rId99"/>
    <p:sldId id="275" r:id="rId100"/>
    <p:sldId id="276" r:id="rId101"/>
    <p:sldId id="278" r:id="rId102"/>
    <p:sldId id="353" r:id="rId103"/>
    <p:sldId id="354" r:id="rId104"/>
    <p:sldId id="280" r:id="rId105"/>
    <p:sldId id="406" r:id="rId106"/>
    <p:sldId id="407" r:id="rId107"/>
    <p:sldId id="408" r:id="rId108"/>
    <p:sldId id="316" r:id="rId109"/>
    <p:sldId id="317" r:id="rId110"/>
    <p:sldId id="319" r:id="rId111"/>
    <p:sldId id="314" r:id="rId112"/>
    <p:sldId id="326" r:id="rId113"/>
    <p:sldId id="327" r:id="rId114"/>
    <p:sldId id="409" r:id="rId115"/>
    <p:sldId id="283" r:id="rId116"/>
    <p:sldId id="284" r:id="rId117"/>
    <p:sldId id="410" r:id="rId118"/>
    <p:sldId id="411" r:id="rId119"/>
    <p:sldId id="412" r:id="rId120"/>
    <p:sldId id="355" r:id="rId121"/>
    <p:sldId id="356" r:id="rId122"/>
    <p:sldId id="357" r:id="rId123"/>
    <p:sldId id="358" r:id="rId124"/>
    <p:sldId id="328" r:id="rId125"/>
    <p:sldId id="413" r:id="rId126"/>
    <p:sldId id="414" r:id="rId127"/>
    <p:sldId id="415" r:id="rId128"/>
    <p:sldId id="416" r:id="rId129"/>
    <p:sldId id="417" r:id="rId130"/>
    <p:sldId id="418" r:id="rId131"/>
    <p:sldId id="419" r:id="rId132"/>
    <p:sldId id="420" r:id="rId133"/>
    <p:sldId id="421" r:id="rId134"/>
    <p:sldId id="423" r:id="rId135"/>
    <p:sldId id="422" r:id="rId136"/>
    <p:sldId id="424" r:id="rId137"/>
    <p:sldId id="425" r:id="rId138"/>
    <p:sldId id="426" r:id="rId139"/>
    <p:sldId id="427" r:id="rId140"/>
    <p:sldId id="428" r:id="rId141"/>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271" autoAdjust="0"/>
    <p:restoredTop sz="70878" autoAdjust="0"/>
  </p:normalViewPr>
  <p:slideViewPr>
    <p:cSldViewPr>
      <p:cViewPr>
        <p:scale>
          <a:sx n="62" d="100"/>
          <a:sy n="62" d="100"/>
        </p:scale>
        <p:origin x="-2083"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669C67F-C060-4D8B-A37C-21532D3EEA6D}" type="doc">
      <dgm:prSet loTypeId="urn:microsoft.com/office/officeart/2005/8/layout/chevron1" loCatId="process" qsTypeId="urn:microsoft.com/office/officeart/2005/8/quickstyle/simple1" qsCatId="simple" csTypeId="urn:microsoft.com/office/officeart/2005/8/colors/accent1_2" csCatId="accent1" phldr="1"/>
      <dgm:spPr/>
    </dgm:pt>
    <dgm:pt modelId="{901F5FE1-DDFE-4EC7-80AC-585CE5BB4483}">
      <dgm:prSet phldrT="[Text]"/>
      <dgm:spPr/>
      <dgm:t>
        <a:bodyPr/>
        <a:lstStyle/>
        <a:p>
          <a:r>
            <a:rPr lang="en-AU" b="1" dirty="0"/>
            <a:t>expectation</a:t>
          </a:r>
        </a:p>
      </dgm:t>
    </dgm:pt>
    <dgm:pt modelId="{16E5C291-CD6A-42F5-824F-EBB9E127DA9C}" type="parTrans" cxnId="{E8D19384-F152-4BFC-805C-93BA87AB4EB4}">
      <dgm:prSet/>
      <dgm:spPr/>
      <dgm:t>
        <a:bodyPr/>
        <a:lstStyle/>
        <a:p>
          <a:endParaRPr lang="en-AU"/>
        </a:p>
      </dgm:t>
    </dgm:pt>
    <dgm:pt modelId="{1F9D69A8-FE1C-47F5-AD7A-1C09338F5186}" type="sibTrans" cxnId="{E8D19384-F152-4BFC-805C-93BA87AB4EB4}">
      <dgm:prSet/>
      <dgm:spPr/>
      <dgm:t>
        <a:bodyPr/>
        <a:lstStyle/>
        <a:p>
          <a:endParaRPr lang="en-AU"/>
        </a:p>
      </dgm:t>
    </dgm:pt>
    <dgm:pt modelId="{3335F82B-B372-4FF2-AC94-911B6EDE9BC0}">
      <dgm:prSet phldrT="[Text]"/>
      <dgm:spPr/>
      <dgm:t>
        <a:bodyPr/>
        <a:lstStyle/>
        <a:p>
          <a:r>
            <a:rPr lang="en-AU" b="1" dirty="0"/>
            <a:t>experience</a:t>
          </a:r>
        </a:p>
      </dgm:t>
    </dgm:pt>
    <dgm:pt modelId="{7E14BA13-797F-46BF-8417-BCF20CDD5B51}" type="parTrans" cxnId="{FA6E0ED3-556D-4EED-A76F-436723F9ECC9}">
      <dgm:prSet/>
      <dgm:spPr/>
      <dgm:t>
        <a:bodyPr/>
        <a:lstStyle/>
        <a:p>
          <a:endParaRPr lang="en-AU"/>
        </a:p>
      </dgm:t>
    </dgm:pt>
    <dgm:pt modelId="{FE1C6652-2608-43B9-82BA-4AFD9818B010}" type="sibTrans" cxnId="{FA6E0ED3-556D-4EED-A76F-436723F9ECC9}">
      <dgm:prSet/>
      <dgm:spPr/>
      <dgm:t>
        <a:bodyPr/>
        <a:lstStyle/>
        <a:p>
          <a:endParaRPr lang="en-AU"/>
        </a:p>
      </dgm:t>
    </dgm:pt>
    <dgm:pt modelId="{8F7511F4-E5E4-414C-AA9C-3603F52D1C23}">
      <dgm:prSet phldrT="[Text]"/>
      <dgm:spPr/>
      <dgm:t>
        <a:bodyPr/>
        <a:lstStyle/>
        <a:p>
          <a:r>
            <a:rPr lang="en-AU" b="1" dirty="0"/>
            <a:t>satisfaction</a:t>
          </a:r>
        </a:p>
      </dgm:t>
    </dgm:pt>
    <dgm:pt modelId="{5BF27514-BB9E-46ED-B5EC-70E195782BD2}" type="parTrans" cxnId="{B7249664-949D-4A90-9ADE-4CF244D63B37}">
      <dgm:prSet/>
      <dgm:spPr/>
      <dgm:t>
        <a:bodyPr/>
        <a:lstStyle/>
        <a:p>
          <a:endParaRPr lang="en-AU"/>
        </a:p>
      </dgm:t>
    </dgm:pt>
    <dgm:pt modelId="{E2CD042C-1AA3-4488-9AE1-E7390A484384}" type="sibTrans" cxnId="{B7249664-949D-4A90-9ADE-4CF244D63B37}">
      <dgm:prSet/>
      <dgm:spPr/>
      <dgm:t>
        <a:bodyPr/>
        <a:lstStyle/>
        <a:p>
          <a:endParaRPr lang="en-AU"/>
        </a:p>
      </dgm:t>
    </dgm:pt>
    <dgm:pt modelId="{95A682EB-F946-40BD-B9A9-60DCDCDB6433}" type="pres">
      <dgm:prSet presAssocID="{C669C67F-C060-4D8B-A37C-21532D3EEA6D}" presName="Name0" presStyleCnt="0">
        <dgm:presLayoutVars>
          <dgm:dir/>
          <dgm:animLvl val="lvl"/>
          <dgm:resizeHandles val="exact"/>
        </dgm:presLayoutVars>
      </dgm:prSet>
      <dgm:spPr/>
    </dgm:pt>
    <dgm:pt modelId="{D1E65EA0-D825-44CB-A13B-208336172620}" type="pres">
      <dgm:prSet presAssocID="{901F5FE1-DDFE-4EC7-80AC-585CE5BB4483}" presName="parTxOnly" presStyleLbl="node1" presStyleIdx="0" presStyleCnt="3">
        <dgm:presLayoutVars>
          <dgm:chMax val="0"/>
          <dgm:chPref val="0"/>
          <dgm:bulletEnabled val="1"/>
        </dgm:presLayoutVars>
      </dgm:prSet>
      <dgm:spPr/>
      <dgm:t>
        <a:bodyPr/>
        <a:lstStyle/>
        <a:p>
          <a:endParaRPr lang="en-AU"/>
        </a:p>
      </dgm:t>
    </dgm:pt>
    <dgm:pt modelId="{28966FE4-96C2-40B9-B1B8-3FFB6568F73A}" type="pres">
      <dgm:prSet presAssocID="{1F9D69A8-FE1C-47F5-AD7A-1C09338F5186}" presName="parTxOnlySpace" presStyleCnt="0"/>
      <dgm:spPr/>
    </dgm:pt>
    <dgm:pt modelId="{0917B506-788F-4446-B300-A183A622E968}" type="pres">
      <dgm:prSet presAssocID="{3335F82B-B372-4FF2-AC94-911B6EDE9BC0}" presName="parTxOnly" presStyleLbl="node1" presStyleIdx="1" presStyleCnt="3">
        <dgm:presLayoutVars>
          <dgm:chMax val="0"/>
          <dgm:chPref val="0"/>
          <dgm:bulletEnabled val="1"/>
        </dgm:presLayoutVars>
      </dgm:prSet>
      <dgm:spPr/>
      <dgm:t>
        <a:bodyPr/>
        <a:lstStyle/>
        <a:p>
          <a:endParaRPr lang="en-AU"/>
        </a:p>
      </dgm:t>
    </dgm:pt>
    <dgm:pt modelId="{1115CB97-B14F-48E9-B93B-2C451B2C633A}" type="pres">
      <dgm:prSet presAssocID="{FE1C6652-2608-43B9-82BA-4AFD9818B010}" presName="parTxOnlySpace" presStyleCnt="0"/>
      <dgm:spPr/>
    </dgm:pt>
    <dgm:pt modelId="{AE89C79D-7D39-428B-A72F-9019140F0FBA}" type="pres">
      <dgm:prSet presAssocID="{8F7511F4-E5E4-414C-AA9C-3603F52D1C23}" presName="parTxOnly" presStyleLbl="node1" presStyleIdx="2" presStyleCnt="3">
        <dgm:presLayoutVars>
          <dgm:chMax val="0"/>
          <dgm:chPref val="0"/>
          <dgm:bulletEnabled val="1"/>
        </dgm:presLayoutVars>
      </dgm:prSet>
      <dgm:spPr/>
      <dgm:t>
        <a:bodyPr/>
        <a:lstStyle/>
        <a:p>
          <a:endParaRPr lang="en-AU"/>
        </a:p>
      </dgm:t>
    </dgm:pt>
  </dgm:ptLst>
  <dgm:cxnLst>
    <dgm:cxn modelId="{D684F7D3-2536-4A10-8B0D-4D312F7756F1}" type="presOf" srcId="{8F7511F4-E5E4-414C-AA9C-3603F52D1C23}" destId="{AE89C79D-7D39-428B-A72F-9019140F0FBA}" srcOrd="0" destOrd="0" presId="urn:microsoft.com/office/officeart/2005/8/layout/chevron1"/>
    <dgm:cxn modelId="{FA6E0ED3-556D-4EED-A76F-436723F9ECC9}" srcId="{C669C67F-C060-4D8B-A37C-21532D3EEA6D}" destId="{3335F82B-B372-4FF2-AC94-911B6EDE9BC0}" srcOrd="1" destOrd="0" parTransId="{7E14BA13-797F-46BF-8417-BCF20CDD5B51}" sibTransId="{FE1C6652-2608-43B9-82BA-4AFD9818B010}"/>
    <dgm:cxn modelId="{E8D19384-F152-4BFC-805C-93BA87AB4EB4}" srcId="{C669C67F-C060-4D8B-A37C-21532D3EEA6D}" destId="{901F5FE1-DDFE-4EC7-80AC-585CE5BB4483}" srcOrd="0" destOrd="0" parTransId="{16E5C291-CD6A-42F5-824F-EBB9E127DA9C}" sibTransId="{1F9D69A8-FE1C-47F5-AD7A-1C09338F5186}"/>
    <dgm:cxn modelId="{E3729359-1DA3-467F-8BE2-AF608BC2A5D5}" type="presOf" srcId="{3335F82B-B372-4FF2-AC94-911B6EDE9BC0}" destId="{0917B506-788F-4446-B300-A183A622E968}" srcOrd="0" destOrd="0" presId="urn:microsoft.com/office/officeart/2005/8/layout/chevron1"/>
    <dgm:cxn modelId="{3641AAC3-C6A2-49D4-B53F-798AF3F8852A}" type="presOf" srcId="{901F5FE1-DDFE-4EC7-80AC-585CE5BB4483}" destId="{D1E65EA0-D825-44CB-A13B-208336172620}" srcOrd="0" destOrd="0" presId="urn:microsoft.com/office/officeart/2005/8/layout/chevron1"/>
    <dgm:cxn modelId="{E58CB5F4-657B-47A4-AF00-C4527744941C}" type="presOf" srcId="{C669C67F-C060-4D8B-A37C-21532D3EEA6D}" destId="{95A682EB-F946-40BD-B9A9-60DCDCDB6433}" srcOrd="0" destOrd="0" presId="urn:microsoft.com/office/officeart/2005/8/layout/chevron1"/>
    <dgm:cxn modelId="{B7249664-949D-4A90-9ADE-4CF244D63B37}" srcId="{C669C67F-C060-4D8B-A37C-21532D3EEA6D}" destId="{8F7511F4-E5E4-414C-AA9C-3603F52D1C23}" srcOrd="2" destOrd="0" parTransId="{5BF27514-BB9E-46ED-B5EC-70E195782BD2}" sibTransId="{E2CD042C-1AA3-4488-9AE1-E7390A484384}"/>
    <dgm:cxn modelId="{A66B7717-5615-4331-96AD-655ED38BBBC1}" type="presParOf" srcId="{95A682EB-F946-40BD-B9A9-60DCDCDB6433}" destId="{D1E65EA0-D825-44CB-A13B-208336172620}" srcOrd="0" destOrd="0" presId="urn:microsoft.com/office/officeart/2005/8/layout/chevron1"/>
    <dgm:cxn modelId="{AECDEB53-3315-407A-A23C-DBA911863434}" type="presParOf" srcId="{95A682EB-F946-40BD-B9A9-60DCDCDB6433}" destId="{28966FE4-96C2-40B9-B1B8-3FFB6568F73A}" srcOrd="1" destOrd="0" presId="urn:microsoft.com/office/officeart/2005/8/layout/chevron1"/>
    <dgm:cxn modelId="{6EA0EF20-B38C-43B8-9CD2-460AAA6E1B39}" type="presParOf" srcId="{95A682EB-F946-40BD-B9A9-60DCDCDB6433}" destId="{0917B506-788F-4446-B300-A183A622E968}" srcOrd="2" destOrd="0" presId="urn:microsoft.com/office/officeart/2005/8/layout/chevron1"/>
    <dgm:cxn modelId="{81D694E5-B017-4796-90CE-C6154F08B5FC}" type="presParOf" srcId="{95A682EB-F946-40BD-B9A9-60DCDCDB6433}" destId="{1115CB97-B14F-48E9-B93B-2C451B2C633A}" srcOrd="3" destOrd="0" presId="urn:microsoft.com/office/officeart/2005/8/layout/chevron1"/>
    <dgm:cxn modelId="{C88E24F6-2085-47EC-99DD-2161994BB273}" type="presParOf" srcId="{95A682EB-F946-40BD-B9A9-60DCDCDB6433}" destId="{AE89C79D-7D39-428B-A72F-9019140F0FBA}" srcOrd="4"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1/12/2015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1/12/2015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kern="1200" smtClean="0">
                <a:solidFill>
                  <a:schemeClr val="tx1"/>
                </a:solidFill>
                <a:effectLst/>
                <a:latin typeface="+mn-lt"/>
                <a:ea typeface="+mn-ea"/>
                <a:cs typeface="+mn-cs"/>
              </a:rPr>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four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the key roles of a tour guide?</a:t>
            </a:r>
          </a:p>
          <a:p>
            <a:pPr>
              <a:buFont typeface="Arial" pitchFamily="34" charset="0"/>
              <a:buChar char="•"/>
            </a:pPr>
            <a:r>
              <a:rPr lang="en-AU" sz="1200" kern="1200" baseline="0" dirty="0" smtClean="0">
                <a:solidFill>
                  <a:schemeClr val="tx1"/>
                </a:solidFill>
                <a:latin typeface="+mn-lt"/>
                <a:ea typeface="+mn-ea"/>
                <a:cs typeface="+mn-cs"/>
              </a:rPr>
              <a:t>What personal characteristics are required to undertake this role?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&amp; Review of Job description</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are the key functions of tour guides?</a:t>
            </a:r>
          </a:p>
          <a:p>
            <a:pPr>
              <a:spcBef>
                <a:spcPts val="600"/>
              </a:spcBef>
              <a:spcAft>
                <a:spcPts val="1200"/>
              </a:spcAft>
              <a:buFont typeface="Arial" pitchFamily="34" charset="0"/>
              <a:buChar char="•"/>
            </a:pPr>
            <a:r>
              <a:rPr lang="en-AU" sz="1200" dirty="0" smtClean="0">
                <a:latin typeface="Helvetica" pitchFamily="34" charset="0"/>
              </a:rPr>
              <a:t>Review a job description for a tour guide.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&amp; Review of SOP’s</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are company policies and standard operating procedures that impact</a:t>
            </a:r>
            <a:r>
              <a:rPr lang="en-AU" sz="1200" baseline="0" dirty="0" smtClean="0">
                <a:latin typeface="Helvetica" pitchFamily="34" charset="0"/>
              </a:rPr>
              <a:t> on a tour guide?</a:t>
            </a:r>
            <a:endParaRPr lang="en-AU" sz="1200" dirty="0" smtClean="0">
              <a:latin typeface="Helvetica" pitchFamily="34" charset="0"/>
            </a:endParaRPr>
          </a:p>
          <a:p>
            <a:pPr>
              <a:spcBef>
                <a:spcPts val="600"/>
              </a:spcBef>
              <a:spcAft>
                <a:spcPts val="1200"/>
              </a:spcAft>
              <a:buFont typeface="Arial" pitchFamily="34" charset="0"/>
              <a:buChar char="•"/>
            </a:pPr>
            <a:r>
              <a:rPr lang="en-AU" sz="1200" dirty="0" smtClean="0">
                <a:latin typeface="Helvetica" pitchFamily="34" charset="0"/>
              </a:rPr>
              <a:t>Review company policies and standard operating procedures.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Discuss the difference between ‘special’ tours or ‘scheduled’ tours.</a:t>
            </a:r>
          </a:p>
          <a:p>
            <a:pPr>
              <a:spcBef>
                <a:spcPts val="600"/>
              </a:spcBef>
              <a:spcAft>
                <a:spcPts val="1200"/>
              </a:spcAft>
              <a:buFont typeface="Arial" pitchFamily="34" charset="0"/>
              <a:buChar char="•"/>
            </a:pPr>
            <a:r>
              <a:rPr lang="en-AU" sz="1200" dirty="0" smtClean="0">
                <a:latin typeface="Helvetica" pitchFamily="34" charset="0"/>
              </a:rPr>
              <a:t>Provide examples of how they are different.</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Identify types</a:t>
            </a:r>
            <a:r>
              <a:rPr lang="en-AU" sz="1200" baseline="0" dirty="0" smtClean="0">
                <a:latin typeface="Helvetica" pitchFamily="34" charset="0"/>
              </a:rPr>
              <a:t> of </a:t>
            </a:r>
            <a:r>
              <a:rPr lang="en-AU" sz="1200" dirty="0" smtClean="0">
                <a:latin typeface="Helvetica" pitchFamily="34" charset="0"/>
              </a:rPr>
              <a:t>‘special’ tours</a:t>
            </a:r>
          </a:p>
          <a:p>
            <a:pPr>
              <a:spcBef>
                <a:spcPts val="600"/>
              </a:spcBef>
              <a:spcAft>
                <a:spcPts val="1200"/>
              </a:spcAft>
              <a:buFont typeface="Arial" pitchFamily="34" charset="0"/>
              <a:buChar char="•"/>
            </a:pPr>
            <a:r>
              <a:rPr lang="en-AU" sz="1200" dirty="0" smtClean="0">
                <a:latin typeface="Helvetica" pitchFamily="34" charset="0"/>
              </a:rPr>
              <a:t>Discuss the inclusions</a:t>
            </a:r>
            <a:r>
              <a:rPr lang="en-AU" sz="1200" baseline="0" dirty="0" smtClean="0">
                <a:latin typeface="Helvetica" pitchFamily="34" charset="0"/>
              </a:rPr>
              <a:t> / suggested itinerary of these tours</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Identify types</a:t>
            </a:r>
            <a:r>
              <a:rPr lang="en-AU" sz="1200" baseline="0" dirty="0" smtClean="0">
                <a:latin typeface="Helvetica" pitchFamily="34" charset="0"/>
              </a:rPr>
              <a:t> of </a:t>
            </a:r>
            <a:r>
              <a:rPr lang="en-AU" sz="1200" dirty="0" smtClean="0">
                <a:latin typeface="Helvetica" pitchFamily="34" charset="0"/>
              </a:rPr>
              <a:t>‘scheduled’ tours</a:t>
            </a:r>
          </a:p>
          <a:p>
            <a:pPr>
              <a:spcBef>
                <a:spcPts val="600"/>
              </a:spcBef>
              <a:spcAft>
                <a:spcPts val="1200"/>
              </a:spcAft>
              <a:buFont typeface="Arial" pitchFamily="34" charset="0"/>
              <a:buChar char="•"/>
            </a:pPr>
            <a:r>
              <a:rPr lang="en-AU" sz="1200" dirty="0" smtClean="0">
                <a:latin typeface="Helvetica" pitchFamily="34" charset="0"/>
              </a:rPr>
              <a:t>Discuss the inclusions</a:t>
            </a:r>
            <a:r>
              <a:rPr lang="en-AU" sz="1200" baseline="0" dirty="0" smtClean="0">
                <a:latin typeface="Helvetica" pitchFamily="34" charset="0"/>
              </a:rPr>
              <a:t> / suggested itinerary of these tours</a:t>
            </a:r>
            <a:endParaRPr lang="en-AU" sz="120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&amp; Review </a:t>
            </a:r>
            <a:r>
              <a:rPr lang="en-AU" sz="1200" b="1" dirty="0" smtClean="0">
                <a:latin typeface="Helvetica" pitchFamily="34" charset="0"/>
              </a:rPr>
              <a:t>Advanced Bookings/Group Bookings file</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dirty="0" smtClean="0">
                <a:latin typeface="Helvetica" pitchFamily="34" charset="0"/>
              </a:rPr>
              <a:t>What stakeholders need information regarding a tour?</a:t>
            </a:r>
          </a:p>
          <a:p>
            <a:pPr>
              <a:spcBef>
                <a:spcPts val="600"/>
              </a:spcBef>
              <a:spcAft>
                <a:spcPts val="1200"/>
              </a:spcAft>
              <a:buFont typeface="Arial" pitchFamily="34" charset="0"/>
              <a:buChar char="•"/>
            </a:pPr>
            <a:r>
              <a:rPr lang="en-AU" sz="1200" baseline="0" dirty="0" smtClean="0">
                <a:latin typeface="Helvetica" pitchFamily="34" charset="0"/>
              </a:rPr>
              <a:t>What information do each of these stakeholders need?</a:t>
            </a:r>
          </a:p>
          <a:p>
            <a:pPr>
              <a:spcBef>
                <a:spcPts val="600"/>
              </a:spcBef>
              <a:spcAft>
                <a:spcPts val="1200"/>
              </a:spcAft>
              <a:buFont typeface="Arial" pitchFamily="34" charset="0"/>
              <a:buChar char="•"/>
            </a:pPr>
            <a:r>
              <a:rPr lang="en-AU" sz="1200" dirty="0" smtClean="0">
                <a:latin typeface="Helvetica" pitchFamily="34" charset="0"/>
              </a:rPr>
              <a:t>Review copy of Advanced Bookings/Group Bookings file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&amp; Review </a:t>
            </a:r>
            <a:r>
              <a:rPr lang="en-AU" sz="1200" b="1" dirty="0" smtClean="0">
                <a:latin typeface="Helvetica" pitchFamily="34" charset="0"/>
              </a:rPr>
              <a:t>tour briefs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information is contained in a tour brief?</a:t>
            </a:r>
          </a:p>
          <a:p>
            <a:pPr>
              <a:spcBef>
                <a:spcPts val="600"/>
              </a:spcBef>
              <a:spcAft>
                <a:spcPts val="1200"/>
              </a:spcAft>
              <a:buFont typeface="Arial" pitchFamily="34" charset="0"/>
              <a:buChar char="•"/>
            </a:pPr>
            <a:r>
              <a:rPr lang="en-AU" sz="1200" dirty="0" smtClean="0">
                <a:latin typeface="Helvetica" pitchFamily="34" charset="0"/>
              </a:rPr>
              <a:t>Review copies of </a:t>
            </a:r>
            <a:r>
              <a:rPr lang="en-AU" sz="1200" b="0" dirty="0" smtClean="0">
                <a:latin typeface="Helvetica" pitchFamily="34" charset="0"/>
              </a:rPr>
              <a:t>various tour briefs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contents of a </a:t>
            </a:r>
            <a:r>
              <a:rPr lang="en-AU" sz="1200" b="1" dirty="0" smtClean="0">
                <a:latin typeface="Helvetica" pitchFamily="34" charset="0"/>
              </a:rPr>
              <a:t>tour brief</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information included in each of these tour brief points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contents of a </a:t>
            </a:r>
            <a:r>
              <a:rPr lang="en-AU" sz="1200" b="1" dirty="0" smtClean="0">
                <a:latin typeface="Helvetica" pitchFamily="34" charset="0"/>
              </a:rPr>
              <a:t>tour brief</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information included in each of these tour brief points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–Review &amp; discuss contents of a </a:t>
            </a:r>
            <a:r>
              <a:rPr lang="en-AU" sz="1200" b="1" dirty="0" smtClean="0">
                <a:latin typeface="Helvetica" pitchFamily="34" charset="0"/>
              </a:rPr>
              <a:t>contract</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Review tour contracts.</a:t>
            </a:r>
          </a:p>
          <a:p>
            <a:pPr>
              <a:spcBef>
                <a:spcPts val="600"/>
              </a:spcBef>
              <a:spcAft>
                <a:spcPts val="1200"/>
              </a:spcAft>
              <a:buFont typeface="Arial" pitchFamily="34" charset="0"/>
              <a:buChar char="•"/>
            </a:pPr>
            <a:r>
              <a:rPr lang="en-AU" sz="1200" baseline="0" dirty="0" smtClean="0">
                <a:latin typeface="Helvetica" pitchFamily="34" charset="0"/>
              </a:rPr>
              <a:t>Discuss information included in contracts.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&amp; Review </a:t>
            </a:r>
            <a:r>
              <a:rPr lang="en-AU" sz="1200" b="1" dirty="0" smtClean="0">
                <a:latin typeface="Helvetica" pitchFamily="34" charset="0"/>
              </a:rPr>
              <a:t>tour itineraries</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information is contained in a </a:t>
            </a:r>
            <a:r>
              <a:rPr lang="en-AU" sz="1200" dirty="0" smtClean="0">
                <a:latin typeface="Helvetica" pitchFamily="34" charset="0"/>
              </a:rPr>
              <a:t>tour itinerary</a:t>
            </a:r>
            <a:r>
              <a:rPr lang="en-AU" sz="1200" baseline="0" dirty="0" smtClean="0">
                <a:latin typeface="Helvetica" pitchFamily="34" charset="0"/>
              </a:rPr>
              <a:t>?</a:t>
            </a:r>
          </a:p>
          <a:p>
            <a:pPr>
              <a:spcBef>
                <a:spcPts val="600"/>
              </a:spcBef>
              <a:spcAft>
                <a:spcPts val="1200"/>
              </a:spcAft>
              <a:buFont typeface="Arial" pitchFamily="34" charset="0"/>
              <a:buChar char="•"/>
            </a:pPr>
            <a:r>
              <a:rPr lang="en-AU" sz="1200" baseline="0" dirty="0" smtClean="0">
                <a:latin typeface="Helvetica" pitchFamily="34" charset="0"/>
              </a:rPr>
              <a:t>How does it differ to a tour brief?</a:t>
            </a:r>
          </a:p>
          <a:p>
            <a:pPr>
              <a:spcBef>
                <a:spcPts val="600"/>
              </a:spcBef>
              <a:spcAft>
                <a:spcPts val="1200"/>
              </a:spcAft>
              <a:buFont typeface="Arial" pitchFamily="34" charset="0"/>
              <a:buChar char="•"/>
            </a:pPr>
            <a:r>
              <a:rPr lang="en-AU" sz="1200" dirty="0" smtClean="0">
                <a:latin typeface="Helvetica" pitchFamily="34" charset="0"/>
              </a:rPr>
              <a:t>Review copies of </a:t>
            </a:r>
            <a:r>
              <a:rPr lang="en-AU" sz="1200" b="0" dirty="0" smtClean="0">
                <a:latin typeface="Helvetica" pitchFamily="34" charset="0"/>
              </a:rPr>
              <a:t>various </a:t>
            </a:r>
            <a:r>
              <a:rPr lang="en-AU" sz="1200" dirty="0" smtClean="0">
                <a:latin typeface="Helvetica" pitchFamily="34" charset="0"/>
              </a:rPr>
              <a:t>tour itineraries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contents of a </a:t>
            </a:r>
            <a:r>
              <a:rPr lang="en-AU" sz="1200" b="1" dirty="0" smtClean="0">
                <a:latin typeface="Helvetica" pitchFamily="34" charset="0"/>
              </a:rPr>
              <a:t>tour itinerary</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information included in each of these tour itinerary points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questions in the slide.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questions in the slide.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information to be confirmed for each of these points.</a:t>
            </a:r>
          </a:p>
          <a:p>
            <a:pPr>
              <a:spcBef>
                <a:spcPts val="600"/>
              </a:spcBef>
              <a:spcAft>
                <a:spcPts val="1200"/>
              </a:spcAft>
              <a:buFont typeface="Arial" pitchFamily="34" charset="0"/>
              <a:buChar char="•"/>
            </a:pPr>
            <a:r>
              <a:rPr lang="en-AU" sz="1200" baseline="0" dirty="0" smtClean="0">
                <a:latin typeface="Helvetica" pitchFamily="34" charset="0"/>
              </a:rPr>
              <a:t>When do details need to be confirmed by?</a:t>
            </a:r>
          </a:p>
          <a:p>
            <a:pPr>
              <a:spcBef>
                <a:spcPts val="600"/>
              </a:spcBef>
              <a:spcAft>
                <a:spcPts val="1200"/>
              </a:spcAft>
              <a:buFont typeface="Arial" pitchFamily="34" charset="0"/>
              <a:buChar char="•"/>
            </a:pPr>
            <a:r>
              <a:rPr lang="en-AU" sz="1200" baseline="0" dirty="0" smtClean="0">
                <a:latin typeface="Helvetica" pitchFamily="34" charset="0"/>
              </a:rPr>
              <a:t>Who needs this information?</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–Discussion about making changes to arrangements</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are policies about changes being made to tour arrangements</a:t>
            </a:r>
          </a:p>
          <a:p>
            <a:pPr>
              <a:spcBef>
                <a:spcPts val="600"/>
              </a:spcBef>
              <a:spcAft>
                <a:spcPts val="1200"/>
              </a:spcAft>
              <a:buFont typeface="Arial" pitchFamily="34" charset="0"/>
              <a:buChar char="•"/>
            </a:pPr>
            <a:r>
              <a:rPr lang="en-AU" sz="1200" baseline="0" dirty="0" smtClean="0">
                <a:latin typeface="Helvetica" pitchFamily="34" charset="0"/>
              </a:rPr>
              <a:t>Where are changes recorded?</a:t>
            </a:r>
          </a:p>
          <a:p>
            <a:pPr>
              <a:spcBef>
                <a:spcPts val="600"/>
              </a:spcBef>
              <a:spcAft>
                <a:spcPts val="1200"/>
              </a:spcAft>
              <a:buFont typeface="Arial" pitchFamily="34" charset="0"/>
              <a:buChar char="•"/>
            </a:pPr>
            <a:r>
              <a:rPr lang="en-AU" sz="1200" baseline="0" dirty="0" smtClean="0">
                <a:latin typeface="Helvetica" pitchFamily="34" charset="0"/>
              </a:rPr>
              <a:t>How do you know which is the current version of tour arrangements?</a:t>
            </a:r>
          </a:p>
          <a:p>
            <a:pPr>
              <a:spcBef>
                <a:spcPts val="600"/>
              </a:spcBef>
              <a:spcAft>
                <a:spcPts val="1200"/>
              </a:spcAft>
              <a:buFont typeface="Arial" pitchFamily="34" charset="0"/>
              <a:buChar char="•"/>
            </a:pPr>
            <a:r>
              <a:rPr lang="en-AU" sz="1200" baseline="0" dirty="0" smtClean="0">
                <a:latin typeface="Helvetica" pitchFamily="34" charset="0"/>
              </a:rPr>
              <a:t>What are examples of changes that can be made and costs associated with making these changes?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–Identify pre-tour planning activities</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Prepare a list of all activities to be performed before a tour takes place.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pre-tour planning activities</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activities associated with each of these points.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–Discuss pre-tour planning activities</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What is considered to be ‘proper’ or ‘appropriate’ attire for a tour guide.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pre-tour planning activities</a:t>
            </a:r>
          </a:p>
          <a:p>
            <a:endParaRPr lang="en-AU" sz="1200"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r>
              <a:rPr lang="en-AU" sz="1200" baseline="0" dirty="0" smtClean="0">
                <a:latin typeface="Helvetica" pitchFamily="34" charset="0"/>
              </a:rPr>
              <a:t>Discuss the activities associated with each of these points.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purpose of a commentary</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is commentary?</a:t>
            </a:r>
          </a:p>
          <a:p>
            <a:pPr>
              <a:spcBef>
                <a:spcPts val="600"/>
              </a:spcBef>
              <a:spcAft>
                <a:spcPts val="1200"/>
              </a:spcAft>
              <a:buFont typeface="Arial" pitchFamily="34" charset="0"/>
              <a:buChar char="•"/>
            </a:pPr>
            <a:r>
              <a:rPr lang="en-AU" sz="1200" baseline="0" dirty="0" smtClean="0">
                <a:latin typeface="Helvetica" pitchFamily="34" charset="0"/>
              </a:rPr>
              <a:t>What is the purpose of having commentary?</a:t>
            </a:r>
          </a:p>
          <a:p>
            <a:pPr>
              <a:spcBef>
                <a:spcPts val="600"/>
              </a:spcBef>
              <a:spcAft>
                <a:spcPts val="1200"/>
              </a:spcAft>
              <a:buFont typeface="Arial" pitchFamily="34" charset="0"/>
              <a:buChar char="•"/>
            </a:pPr>
            <a:r>
              <a:rPr lang="en-AU" sz="1200" baseline="0" dirty="0" smtClean="0">
                <a:latin typeface="Helvetica" pitchFamily="34" charset="0"/>
              </a:rPr>
              <a:t>What parts of a tour require commentary?</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purpose of a commentary</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the importance of these points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Prepare, print and deliver a commentary (Refers to slides 28-30)</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Participants are to prepare a commentary for an aspect of a tour.</a:t>
            </a:r>
          </a:p>
          <a:p>
            <a:pPr>
              <a:spcBef>
                <a:spcPts val="600"/>
              </a:spcBef>
              <a:spcAft>
                <a:spcPts val="1200"/>
              </a:spcAft>
              <a:buFont typeface="Arial" pitchFamily="34" charset="0"/>
              <a:buChar char="•"/>
            </a:pPr>
            <a:r>
              <a:rPr lang="en-AU" sz="1200" baseline="0" dirty="0" smtClean="0">
                <a:latin typeface="Helvetica" pitchFamily="34" charset="0"/>
              </a:rPr>
              <a:t>They are then to deliver their commentary to the audience.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Prepare, print and deliver a commentary (Refers to slides 28-30)</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Participants are to prepare a commentary for an aspect of a tour.</a:t>
            </a:r>
          </a:p>
          <a:p>
            <a:pPr>
              <a:spcBef>
                <a:spcPts val="600"/>
              </a:spcBef>
              <a:spcAft>
                <a:spcPts val="1200"/>
              </a:spcAft>
              <a:buFont typeface="Arial" pitchFamily="34" charset="0"/>
              <a:buChar char="•"/>
            </a:pPr>
            <a:r>
              <a:rPr lang="en-AU" sz="1200" baseline="0" dirty="0" smtClean="0">
                <a:latin typeface="Helvetica" pitchFamily="34" charset="0"/>
              </a:rPr>
              <a:t>They are then to deliver their commentary to the audience.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Prepare, print and deliver a commentary (Refers to slides 28-30)</a:t>
            </a: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Participants are to prepare a commentary for an aspect of a tour.</a:t>
            </a:r>
          </a:p>
          <a:p>
            <a:pPr>
              <a:spcBef>
                <a:spcPts val="600"/>
              </a:spcBef>
              <a:spcAft>
                <a:spcPts val="1200"/>
              </a:spcAft>
              <a:buFont typeface="Arial" pitchFamily="34" charset="0"/>
              <a:buChar char="•"/>
            </a:pPr>
            <a:r>
              <a:rPr lang="en-AU" sz="1200" baseline="0" dirty="0" smtClean="0">
                <a:latin typeface="Helvetica" pitchFamily="34" charset="0"/>
              </a:rPr>
              <a:t>They are then to deliver their commentary to the audience.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importance of </a:t>
            </a:r>
            <a:r>
              <a:rPr lang="en-AU" sz="1200" b="1" dirty="0" smtClean="0">
                <a:latin typeface="Helvetica" pitchFamily="34" charset="0"/>
              </a:rPr>
              <a:t>personal grooming and attire </a:t>
            </a:r>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the importance of these points</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aspects of </a:t>
            </a:r>
            <a:r>
              <a:rPr lang="en-US" sz="1200" baseline="0" dirty="0" smtClean="0">
                <a:latin typeface="Helvetica" pitchFamily="34" charset="0"/>
              </a:rPr>
              <a:t>p</a:t>
            </a:r>
            <a:r>
              <a:rPr lang="en-US" sz="1200" dirty="0" smtClean="0">
                <a:latin typeface="Helvetica" pitchFamily="34" charset="0"/>
              </a:rPr>
              <a:t>ersonal appearance and hygiene must be considered?</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US" sz="1200" dirty="0" smtClean="0">
                <a:latin typeface="Helvetica" pitchFamily="34" charset="0"/>
              </a:rPr>
              <a:t>How</a:t>
            </a:r>
            <a:r>
              <a:rPr lang="en-US" sz="1200" baseline="0" dirty="0" smtClean="0">
                <a:latin typeface="Helvetica" pitchFamily="34" charset="0"/>
              </a:rPr>
              <a:t> can you maintain p</a:t>
            </a:r>
            <a:r>
              <a:rPr lang="en-US" sz="1200" dirty="0" smtClean="0">
                <a:latin typeface="Helvetica" pitchFamily="34" charset="0"/>
              </a:rPr>
              <a:t>ersonal well being</a:t>
            </a:r>
            <a:endParaRPr lang="en-AU"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endParaRPr lang="en-AU" sz="120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information and materials to be organised</a:t>
            </a:r>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information needs to be arranged? Prepare a list.</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materials need to be arranged? Prepare a list.</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What activities are associated with arranging </a:t>
            </a:r>
            <a:r>
              <a:rPr lang="en-AU" sz="1200" b="0" dirty="0" smtClean="0">
                <a:latin typeface="Helvetica" pitchFamily="34" charset="0"/>
              </a:rPr>
              <a:t>information and materials?</a:t>
            </a:r>
            <a:endParaRPr lang="en-AU" sz="1200" b="0" baseline="0" dirty="0" smtClean="0">
              <a:latin typeface="Helvetica" pitchFamily="34" charset="0"/>
            </a:endParaRPr>
          </a:p>
          <a:p>
            <a:pPr>
              <a:spcBef>
                <a:spcPts val="600"/>
              </a:spcBef>
              <a:spcAft>
                <a:spcPts val="1200"/>
              </a:spcAft>
              <a:buFont typeface="Arial" pitchFamily="34" charset="0"/>
              <a:buChar char="•"/>
            </a:pPr>
            <a:endParaRPr lang="en-AU" sz="120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information and materials to be organised</a:t>
            </a:r>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the importance of each of these points.</a:t>
            </a:r>
          </a:p>
          <a:p>
            <a:pPr>
              <a:spcBef>
                <a:spcPts val="600"/>
              </a:spcBef>
              <a:spcAft>
                <a:spcPts val="1200"/>
              </a:spcAft>
              <a:buFont typeface="Arial" pitchFamily="34" charset="0"/>
              <a:buChar char="•"/>
            </a:pPr>
            <a:r>
              <a:rPr lang="en-AU" sz="1200" baseline="0" dirty="0" smtClean="0">
                <a:latin typeface="Helvetica" pitchFamily="34" charset="0"/>
              </a:rPr>
              <a:t>What is there purpose?</a:t>
            </a:r>
          </a:p>
          <a:p>
            <a:pPr>
              <a:spcBef>
                <a:spcPts val="600"/>
              </a:spcBef>
              <a:spcAft>
                <a:spcPts val="1200"/>
              </a:spcAft>
              <a:buFont typeface="Arial" pitchFamily="34" charset="0"/>
              <a:buChar char="•"/>
            </a:pPr>
            <a:r>
              <a:rPr lang="en-AU" sz="1200" baseline="0" dirty="0" smtClean="0">
                <a:latin typeface="Helvetica" pitchFamily="34" charset="0"/>
              </a:rPr>
              <a:t>What needs to be arranged? </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information and materials to be organised</a:t>
            </a:r>
            <a:endParaRPr lang="en-AU" sz="1200" b="1" kern="1200" baseline="0" dirty="0" smtClean="0">
              <a:solidFill>
                <a:schemeClr val="tx1"/>
              </a:solidFill>
              <a:latin typeface="+mn-lt"/>
              <a:ea typeface="+mn-ea"/>
              <a:cs typeface="+mn-cs"/>
            </a:endParaRPr>
          </a:p>
          <a:p>
            <a:pPr>
              <a:spcBef>
                <a:spcPts val="600"/>
              </a:spcBef>
              <a:spcAft>
                <a:spcPts val="1200"/>
              </a:spcAft>
              <a:buFont typeface="Arial" pitchFamily="34" charset="0"/>
              <a:buChar char="•"/>
            </a:pP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the importance of each of these points.</a:t>
            </a:r>
          </a:p>
          <a:p>
            <a:pPr>
              <a:spcBef>
                <a:spcPts val="600"/>
              </a:spcBef>
              <a:spcAft>
                <a:spcPts val="1200"/>
              </a:spcAft>
              <a:buFont typeface="Arial" pitchFamily="34" charset="0"/>
              <a:buChar char="•"/>
            </a:pPr>
            <a:r>
              <a:rPr lang="en-AU" sz="1200" baseline="0" dirty="0" smtClean="0">
                <a:latin typeface="Helvetica" pitchFamily="34" charset="0"/>
              </a:rPr>
              <a:t>What is there purpose?</a:t>
            </a:r>
          </a:p>
          <a:p>
            <a:pPr>
              <a:spcBef>
                <a:spcPts val="600"/>
              </a:spcBef>
              <a:spcAft>
                <a:spcPts val="1200"/>
              </a:spcAft>
              <a:buFont typeface="Arial" pitchFamily="34" charset="0"/>
              <a:buChar char="•"/>
            </a:pPr>
            <a:r>
              <a:rPr lang="en-AU" sz="1200" baseline="0" dirty="0" smtClean="0">
                <a:latin typeface="Helvetica" pitchFamily="34" charset="0"/>
              </a:rPr>
              <a:t>What needs to be arranged? </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importance and</a:t>
            </a:r>
            <a:r>
              <a:rPr lang="en-AU" sz="1200" b="1" baseline="0" dirty="0" smtClean="0">
                <a:latin typeface="Helvetica" pitchFamily="34" charset="0"/>
              </a:rPr>
              <a:t> review </a:t>
            </a:r>
            <a:r>
              <a:rPr lang="en-AU" sz="1200" b="1" dirty="0" smtClean="0">
                <a:latin typeface="Helvetica" pitchFamily="34" charset="0"/>
              </a:rPr>
              <a:t>security policies and procedures </a:t>
            </a: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Why is it important to have </a:t>
            </a:r>
            <a:r>
              <a:rPr lang="en-AU" sz="1200" dirty="0" smtClean="0">
                <a:latin typeface="Helvetica" pitchFamily="34" charset="0"/>
              </a:rPr>
              <a:t>security policies and procedures?</a:t>
            </a:r>
            <a:endParaRPr lang="en-AU" sz="1200"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Review various </a:t>
            </a:r>
            <a:r>
              <a:rPr lang="en-AU" sz="1200" dirty="0" smtClean="0">
                <a:latin typeface="Helvetica" pitchFamily="34" charset="0"/>
              </a:rPr>
              <a:t>security policies and procedures.</a:t>
            </a:r>
            <a:endParaRPr lang="en-AU" sz="120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security policies and procedures </a:t>
            </a: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examples of </a:t>
            </a:r>
            <a:r>
              <a:rPr lang="en-AU" sz="1200" dirty="0" smtClean="0">
                <a:latin typeface="Helvetica" pitchFamily="34" charset="0"/>
              </a:rPr>
              <a:t>security policies and procedures</a:t>
            </a:r>
            <a:r>
              <a:rPr lang="en-AU" sz="1200" baseline="0" dirty="0" smtClean="0">
                <a:latin typeface="Helvetica" pitchFamily="34" charset="0"/>
              </a:rPr>
              <a:t> for each of these audiences?</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&amp; review </a:t>
            </a:r>
            <a:r>
              <a:rPr lang="en-AU" sz="1200" b="1" dirty="0" smtClean="0">
                <a:latin typeface="Helvetica" pitchFamily="34" charset="0"/>
              </a:rPr>
              <a:t>security policies and procedures </a:t>
            </a: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Review examples of </a:t>
            </a:r>
            <a:r>
              <a:rPr lang="en-AU" sz="1200" dirty="0" smtClean="0">
                <a:latin typeface="Helvetica" pitchFamily="34" charset="0"/>
              </a:rPr>
              <a:t>security policies and procedures</a:t>
            </a:r>
            <a:r>
              <a:rPr lang="en-AU" sz="1200" baseline="0" dirty="0" smtClean="0">
                <a:latin typeface="Helvetica" pitchFamily="34" charset="0"/>
              </a:rPr>
              <a:t> for each of these points?</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and</a:t>
            </a:r>
            <a:r>
              <a:rPr lang="en-AU" sz="1200" b="1" baseline="0" dirty="0" smtClean="0">
                <a:latin typeface="Helvetica" pitchFamily="34" charset="0"/>
              </a:rPr>
              <a:t> examples of assets</a:t>
            </a: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are examples of </a:t>
            </a:r>
            <a:r>
              <a:rPr lang="en-AU" sz="1200" dirty="0" smtClean="0">
                <a:latin typeface="Helvetica" pitchFamily="34" charset="0"/>
              </a:rPr>
              <a:t>assets for each of these points?</a:t>
            </a:r>
          </a:p>
          <a:p>
            <a:pPr>
              <a:spcBef>
                <a:spcPts val="600"/>
              </a:spcBef>
              <a:spcAft>
                <a:spcPts val="1200"/>
              </a:spcAft>
              <a:buFont typeface="Arial" pitchFamily="34" charset="0"/>
              <a:buChar char="•"/>
            </a:pPr>
            <a:r>
              <a:rPr lang="en-AU" sz="1200" baseline="0" dirty="0" smtClean="0">
                <a:latin typeface="Helvetica" pitchFamily="34" charset="0"/>
              </a:rPr>
              <a:t>What is their purpose?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and</a:t>
            </a:r>
            <a:r>
              <a:rPr lang="en-AU" sz="1200" b="1" baseline="0" dirty="0" smtClean="0">
                <a:latin typeface="Helvetica" pitchFamily="34" charset="0"/>
              </a:rPr>
              <a:t> examples of keys</a:t>
            </a: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is their purpose?</a:t>
            </a:r>
          </a:p>
          <a:p>
            <a:pPr>
              <a:spcBef>
                <a:spcPts val="600"/>
              </a:spcBef>
              <a:spcAft>
                <a:spcPts val="1200"/>
              </a:spcAft>
              <a:buFont typeface="Arial" pitchFamily="34" charset="0"/>
              <a:buChar char="•"/>
            </a:pPr>
            <a:r>
              <a:rPr lang="en-AU" sz="1200" baseline="0" dirty="0" smtClean="0">
                <a:latin typeface="Helvetica" pitchFamily="34" charset="0"/>
              </a:rPr>
              <a:t>How are keys kept secure?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and</a:t>
            </a:r>
            <a:r>
              <a:rPr lang="en-AU" sz="1200" b="1" baseline="0" dirty="0" smtClean="0">
                <a:latin typeface="Helvetica" pitchFamily="34" charset="0"/>
              </a:rPr>
              <a:t> examples of security passes</a:t>
            </a: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is their purpose?</a:t>
            </a:r>
          </a:p>
          <a:p>
            <a:pPr>
              <a:spcBef>
                <a:spcPts val="600"/>
              </a:spcBef>
              <a:spcAft>
                <a:spcPts val="1200"/>
              </a:spcAft>
              <a:buFont typeface="Arial" pitchFamily="34" charset="0"/>
              <a:buChar char="•"/>
            </a:pPr>
            <a:r>
              <a:rPr lang="en-AU" sz="1200" baseline="0" dirty="0" smtClean="0">
                <a:latin typeface="Helvetica" pitchFamily="34" charset="0"/>
              </a:rPr>
              <a:t>How are </a:t>
            </a:r>
            <a:r>
              <a:rPr lang="en-AU" sz="1200" b="0" baseline="0" dirty="0" smtClean="0">
                <a:latin typeface="Helvetica" pitchFamily="34" charset="0"/>
              </a:rPr>
              <a:t>security passes </a:t>
            </a:r>
            <a:r>
              <a:rPr lang="en-AU" sz="1200" baseline="0" dirty="0" smtClean="0">
                <a:latin typeface="Helvetica" pitchFamily="34" charset="0"/>
              </a:rPr>
              <a:t>kept secure?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role and</a:t>
            </a:r>
            <a:r>
              <a:rPr lang="en-AU" sz="1200" b="1" baseline="0" dirty="0" smtClean="0">
                <a:latin typeface="Helvetica" pitchFamily="34" charset="0"/>
              </a:rPr>
              <a:t> examples of equipment</a:t>
            </a: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What is their purpose?</a:t>
            </a:r>
          </a:p>
          <a:p>
            <a:pPr>
              <a:spcBef>
                <a:spcPts val="600"/>
              </a:spcBef>
              <a:spcAft>
                <a:spcPts val="1200"/>
              </a:spcAft>
              <a:buFont typeface="Arial" pitchFamily="34" charset="0"/>
              <a:buChar char="•"/>
            </a:pPr>
            <a:r>
              <a:rPr lang="en-AU" sz="1200" baseline="0" dirty="0" smtClean="0">
                <a:latin typeface="Helvetica" pitchFamily="34" charset="0"/>
              </a:rPr>
              <a:t>What are examples of each type of equipment?</a:t>
            </a:r>
          </a:p>
          <a:p>
            <a:pPr>
              <a:spcBef>
                <a:spcPts val="600"/>
              </a:spcBef>
              <a:spcAft>
                <a:spcPts val="1200"/>
              </a:spcAft>
              <a:buFont typeface="Arial" pitchFamily="34" charset="0"/>
              <a:buChar char="•"/>
            </a:pPr>
            <a:r>
              <a:rPr lang="en-AU" sz="1200" baseline="0" dirty="0" smtClean="0">
                <a:latin typeface="Helvetica" pitchFamily="34" charset="0"/>
              </a:rPr>
              <a:t>How are </a:t>
            </a:r>
            <a:r>
              <a:rPr lang="en-AU" sz="1200" b="0" baseline="0" dirty="0" smtClean="0">
                <a:latin typeface="Helvetica" pitchFamily="34" charset="0"/>
              </a:rPr>
              <a:t>these pieces of equipment </a:t>
            </a:r>
            <a:r>
              <a:rPr lang="en-AU" sz="1200" baseline="0" dirty="0" smtClean="0">
                <a:latin typeface="Helvetica" pitchFamily="34" charset="0"/>
              </a:rPr>
              <a:t>kept secure?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dirty="0" smtClean="0">
                <a:latin typeface="Helvetica" pitchFamily="34" charset="0"/>
              </a:rPr>
              <a:t>importance of securing assets</a:t>
            </a: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baseline="0"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Discuss how these security measures can be implemented.</a:t>
            </a:r>
          </a:p>
          <a:p>
            <a:pPr>
              <a:spcBef>
                <a:spcPts val="600"/>
              </a:spcBef>
              <a:spcAft>
                <a:spcPts val="1200"/>
              </a:spcAft>
              <a:buFont typeface="Arial" pitchFamily="34" charset="0"/>
              <a:buChar char="•"/>
            </a:pPr>
            <a:r>
              <a:rPr lang="en-AU" sz="1200" baseline="0" dirty="0" smtClean="0">
                <a:latin typeface="Helvetica" pitchFamily="34" charset="0"/>
              </a:rPr>
              <a:t>What other methods can be used?</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&amp; demonstrate </a:t>
            </a:r>
            <a:r>
              <a:rPr lang="en-AU" sz="1200" b="1" kern="1200" baseline="0" dirty="0" smtClean="0">
                <a:solidFill>
                  <a:schemeClr val="tx1"/>
                </a:solidFill>
                <a:latin typeface="Helvetica" pitchFamily="34" charset="0"/>
                <a:ea typeface="+mn-ea"/>
                <a:cs typeface="+mn-cs"/>
              </a:rPr>
              <a:t>purpose and </a:t>
            </a:r>
            <a:r>
              <a:rPr lang="en-AU" sz="1200" b="1" dirty="0" smtClean="0">
                <a:latin typeface="Helvetica" pitchFamily="34" charset="0"/>
              </a:rPr>
              <a:t>aspects of public address system</a:t>
            </a:r>
            <a:endParaRPr lang="en-AU"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a:spcBef>
                <a:spcPts val="600"/>
              </a:spcBef>
              <a:spcAft>
                <a:spcPts val="1200"/>
              </a:spcAft>
              <a:buFont typeface="Arial" pitchFamily="34" charset="0"/>
              <a:buChar char="•"/>
            </a:pPr>
            <a:r>
              <a:rPr lang="en-AU" sz="1200" baseline="0" dirty="0" smtClean="0">
                <a:latin typeface="Helvetica" pitchFamily="34" charset="0"/>
              </a:rPr>
              <a:t>Trainer to demonstrate each </a:t>
            </a:r>
            <a:r>
              <a:rPr lang="en-AU" sz="1200" b="0" dirty="0" smtClean="0">
                <a:latin typeface="Helvetica" pitchFamily="34" charset="0"/>
              </a:rPr>
              <a:t>aspect</a:t>
            </a:r>
            <a:r>
              <a:rPr lang="en-AU" sz="1200" b="0" baseline="0" dirty="0" smtClean="0">
                <a:latin typeface="Helvetica" pitchFamily="34" charset="0"/>
              </a:rPr>
              <a:t> </a:t>
            </a:r>
            <a:r>
              <a:rPr lang="en-AU" sz="1200" b="0" dirty="0" smtClean="0">
                <a:latin typeface="Helvetica" pitchFamily="34" charset="0"/>
              </a:rPr>
              <a:t>of public address system</a:t>
            </a: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&amp; demonstrate </a:t>
            </a:r>
            <a:r>
              <a:rPr lang="en-AU" sz="1200" b="1" baseline="0" dirty="0" smtClean="0">
                <a:latin typeface="Helvetica" pitchFamily="34" charset="0"/>
              </a:rPr>
              <a:t>how to c</a:t>
            </a:r>
            <a:r>
              <a:rPr lang="en-AU" sz="1200" b="1" dirty="0" smtClean="0">
                <a:latin typeface="Helvetica" pitchFamily="34" charset="0"/>
              </a:rPr>
              <a:t>heck understanding and readiness of public address system</a:t>
            </a: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Trainer to demonstrate </a:t>
            </a:r>
            <a:r>
              <a:rPr lang="en-AU" sz="1200" b="0" baseline="0" dirty="0" smtClean="0">
                <a:latin typeface="Helvetica" pitchFamily="34" charset="0"/>
              </a:rPr>
              <a:t>how to c</a:t>
            </a:r>
            <a:r>
              <a:rPr lang="en-AU" sz="1200" b="0" dirty="0" smtClean="0">
                <a:latin typeface="Helvetica" pitchFamily="34" charset="0"/>
              </a:rPr>
              <a:t>heck understanding and readiness of public address system</a:t>
            </a:r>
          </a:p>
          <a:p>
            <a:pPr>
              <a:spcBef>
                <a:spcPts val="600"/>
              </a:spcBef>
              <a:spcAft>
                <a:spcPts val="1200"/>
              </a:spcAft>
              <a:buFont typeface="Arial" pitchFamily="34" charset="0"/>
              <a:buChar char="•"/>
            </a:pP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&amp; demonstrate </a:t>
            </a:r>
            <a:r>
              <a:rPr lang="en-AU" sz="1200" b="1" baseline="0" dirty="0" smtClean="0">
                <a:latin typeface="Helvetica" pitchFamily="34" charset="0"/>
              </a:rPr>
              <a:t>how to e</a:t>
            </a:r>
            <a:r>
              <a:rPr lang="en-AU" sz="1200" b="1" dirty="0" smtClean="0">
                <a:latin typeface="Helvetica" pitchFamily="34" charset="0"/>
              </a:rPr>
              <a:t>nsure equipment has been tested</a:t>
            </a:r>
            <a:endParaRPr lang="en-AU"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Trainer to demonstrate </a:t>
            </a:r>
            <a:r>
              <a:rPr lang="en-AU" sz="1200" b="0" baseline="0" dirty="0" smtClean="0">
                <a:latin typeface="Helvetica" pitchFamily="34" charset="0"/>
              </a:rPr>
              <a:t>how to e</a:t>
            </a:r>
            <a:r>
              <a:rPr lang="en-AU" sz="1200" b="0" dirty="0" smtClean="0">
                <a:latin typeface="Helvetica" pitchFamily="34" charset="0"/>
              </a:rPr>
              <a:t>nsure equipment has been tested</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types of materials</a:t>
            </a:r>
            <a:endParaRPr lang="en-AU"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Discuss the importance and examples of each type of material.</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0" baseline="0" dirty="0" smtClean="0">
                <a:latin typeface="Helvetica" pitchFamily="34" charset="0"/>
              </a:rPr>
              <a:t>How can you check to ensure each of these are ready for a tour?</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types of materials</a:t>
            </a:r>
            <a:endParaRPr lang="en-AU"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Discuss the importance and examples of each type of material.</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0" baseline="0" dirty="0" smtClean="0">
                <a:latin typeface="Helvetica" pitchFamily="34" charset="0"/>
              </a:rPr>
              <a:t>How can you check to ensure each of these are ready for a tour?</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types of materials</a:t>
            </a:r>
            <a:endParaRPr lang="en-AU" sz="120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Discuss the importance and examples of each type of material.</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0" baseline="0" dirty="0" smtClean="0">
                <a:latin typeface="Helvetica" pitchFamily="34" charset="0"/>
              </a:rPr>
              <a:t>How can you check to ensure each of these are ready for a tour?</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List </a:t>
            </a:r>
            <a:r>
              <a:rPr lang="en-AU" sz="1200" b="1" dirty="0" smtClean="0">
                <a:latin typeface="Helvetica" pitchFamily="34" charset="0"/>
              </a:rPr>
              <a:t>legal implications  that impact</a:t>
            </a:r>
            <a:r>
              <a:rPr lang="en-AU" sz="1200" b="1" baseline="0" dirty="0" smtClean="0">
                <a:latin typeface="Helvetica" pitchFamily="34" charset="0"/>
              </a:rPr>
              <a:t> on a tour</a:t>
            </a: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Audience to prepare a list of any </a:t>
            </a:r>
            <a:r>
              <a:rPr lang="en-AU" sz="1200" b="0" dirty="0" smtClean="0">
                <a:latin typeface="Helvetica" pitchFamily="34" charset="0"/>
              </a:rPr>
              <a:t>legal implications  that impact</a:t>
            </a:r>
            <a:r>
              <a:rPr lang="en-AU" sz="1200" b="0" baseline="0" dirty="0" smtClean="0">
                <a:latin typeface="Helvetica" pitchFamily="34" charset="0"/>
              </a:rPr>
              <a:t> on a tour.</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orporate governance </a:t>
            </a:r>
            <a:endParaRPr lang="en-AU" sz="1200" b="1" baseline="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Why is c</a:t>
            </a:r>
            <a:r>
              <a:rPr lang="en-AU" sz="1200" dirty="0" smtClean="0">
                <a:latin typeface="Helvetica" pitchFamily="34" charset="0"/>
              </a:rPr>
              <a:t>orporate governance important?</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0" dirty="0" smtClean="0">
                <a:latin typeface="Helvetica" pitchFamily="34" charset="0"/>
              </a:rPr>
              <a:t>How</a:t>
            </a:r>
            <a:r>
              <a:rPr lang="en-AU" sz="1200" b="0" baseline="0" dirty="0" smtClean="0">
                <a:latin typeface="Helvetica" pitchFamily="34" charset="0"/>
              </a:rPr>
              <a:t> can you ensure good </a:t>
            </a:r>
            <a:r>
              <a:rPr lang="en-AU" sz="1200" baseline="0" dirty="0" smtClean="0">
                <a:latin typeface="Helvetica" pitchFamily="34" charset="0"/>
              </a:rPr>
              <a:t>c</a:t>
            </a:r>
            <a:r>
              <a:rPr lang="en-AU" sz="1200" dirty="0" smtClean="0">
                <a:latin typeface="Helvetica" pitchFamily="34" charset="0"/>
              </a:rPr>
              <a:t>orporate governance?</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orporate governance </a:t>
            </a:r>
            <a:endParaRPr lang="en-AU" sz="1200" b="1" baseline="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Discuss questions in the slide.</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kern="1200" baseline="0" dirty="0" smtClean="0">
                <a:solidFill>
                  <a:schemeClr val="tx1"/>
                </a:solidFill>
                <a:latin typeface="Helvetica" pitchFamily="34" charset="0"/>
                <a:ea typeface="+mn-ea"/>
                <a:cs typeface="+mn-cs"/>
              </a:rPr>
              <a:t>Health and Safety</a:t>
            </a:r>
            <a:endParaRPr lang="en-AU" sz="1200" b="1" baseline="0"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endParaRPr lang="en-AU" sz="1200" b="1" dirty="0" smtClean="0">
              <a:latin typeface="Helvetica" pitchFamily="34" charset="0"/>
            </a:endParaRP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aseline="0" dirty="0" smtClean="0">
                <a:latin typeface="Helvetica" pitchFamily="34" charset="0"/>
              </a:rPr>
              <a:t>Why is health and safety </a:t>
            </a:r>
            <a:r>
              <a:rPr lang="en-AU" sz="1200" dirty="0" smtClean="0">
                <a:latin typeface="Helvetica" pitchFamily="34" charset="0"/>
              </a:rPr>
              <a:t>important?</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0" dirty="0" smtClean="0">
                <a:latin typeface="Helvetica" pitchFamily="34" charset="0"/>
              </a:rPr>
              <a:t>How</a:t>
            </a:r>
            <a:r>
              <a:rPr lang="en-AU" sz="1200" b="0" baseline="0" dirty="0" smtClean="0">
                <a:latin typeface="Helvetica" pitchFamily="34" charset="0"/>
              </a:rPr>
              <a:t> can you ensure sufficient </a:t>
            </a:r>
            <a:r>
              <a:rPr lang="en-AU" sz="1200" baseline="0" dirty="0" smtClean="0">
                <a:latin typeface="Helvetica" pitchFamily="34" charset="0"/>
              </a:rPr>
              <a:t>health and safety for a tour</a:t>
            </a:r>
            <a:r>
              <a:rPr lang="en-AU" sz="1200" dirty="0" smtClean="0">
                <a:latin typeface="Helvetica" pitchFamily="34" charset="0"/>
              </a:rPr>
              <a:t>?</a:t>
            </a:r>
          </a:p>
          <a:p>
            <a:pPr marL="0" marR="0" indent="0" algn="l" defTabSz="914400" rtl="0" eaLnBrk="1" fontAlgn="auto" latinLnBrk="0" hangingPunct="1">
              <a:lnSpc>
                <a:spcPct val="100000"/>
              </a:lnSpc>
              <a:spcBef>
                <a:spcPts val="600"/>
              </a:spcBef>
              <a:spcAft>
                <a:spcPts val="1200"/>
              </a:spcAft>
              <a:buClrTx/>
              <a:buSzTx/>
              <a:buFont typeface="Arial" pitchFamily="34" charset="0"/>
              <a:buChar char="•"/>
              <a:tabLst/>
              <a:defRPr/>
            </a:pPr>
            <a:r>
              <a:rPr lang="en-AU" sz="1200" b="0" dirty="0" smtClean="0">
                <a:latin typeface="Helvetica" pitchFamily="34" charset="0"/>
              </a:rPr>
              <a:t>Review </a:t>
            </a:r>
            <a:r>
              <a:rPr lang="en-AU" sz="1200" dirty="0" smtClean="0">
                <a:latin typeface="Helvetica" pitchFamily="34" charset="0"/>
              </a:rPr>
              <a:t>Occupational Health and Safety (OHS) legislation</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kern="1200" baseline="0" dirty="0" smtClean="0">
                <a:solidFill>
                  <a:schemeClr val="tx1"/>
                </a:solidFill>
                <a:latin typeface="Helvetica" pitchFamily="34" charset="0"/>
                <a:ea typeface="+mn-ea"/>
                <a:cs typeface="+mn-cs"/>
              </a:rPr>
              <a:t>Health and Safety</a:t>
            </a:r>
            <a:endParaRPr lang="en-AU" sz="1200" b="1" baseline="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What are types of health and safety legislation</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dirty="0" smtClean="0">
                <a:latin typeface="Helvetica" pitchFamily="34" charset="0"/>
              </a:rPr>
              <a:t>Duty of care</a:t>
            </a: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Why is duty of care important?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dirty="0" smtClean="0">
                <a:latin typeface="Helvetica" pitchFamily="34" charset="0"/>
              </a:rPr>
              <a:t>Duty of care</a:t>
            </a: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What are examples of duty of care?</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and review </a:t>
            </a:r>
            <a:r>
              <a:rPr lang="en-AU" sz="1200" b="1" dirty="0" smtClean="0">
                <a:latin typeface="Helvetica" pitchFamily="34" charset="0"/>
              </a:rPr>
              <a:t>Employee Code of Conduct</a:t>
            </a: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Why</a:t>
            </a:r>
            <a:r>
              <a:rPr lang="en-US" sz="1200" b="0" kern="1200" baseline="0" dirty="0" smtClean="0">
                <a:solidFill>
                  <a:schemeClr val="tx1"/>
                </a:solidFill>
                <a:latin typeface="+mn-lt"/>
                <a:ea typeface="+mn-ea"/>
                <a:cs typeface="+mn-cs"/>
              </a:rPr>
              <a:t> it is important to have an </a:t>
            </a:r>
            <a:r>
              <a:rPr lang="en-AU" sz="1200" b="0" dirty="0" smtClean="0">
                <a:latin typeface="Helvetica" pitchFamily="34" charset="0"/>
              </a:rPr>
              <a:t>Employee Code of Conduct?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Helvetica" pitchFamily="34" charset="0"/>
                <a:ea typeface="+mn-ea"/>
                <a:cs typeface="+mn-cs"/>
              </a:rPr>
              <a:t>What information</a:t>
            </a:r>
            <a:r>
              <a:rPr lang="en-AU" sz="1200" b="0" kern="1200" baseline="0" dirty="0" smtClean="0">
                <a:solidFill>
                  <a:schemeClr val="tx1"/>
                </a:solidFill>
                <a:latin typeface="Helvetica" pitchFamily="34" charset="0"/>
                <a:ea typeface="+mn-ea"/>
                <a:cs typeface="+mn-cs"/>
              </a:rPr>
              <a:t> is contained within an </a:t>
            </a:r>
            <a:r>
              <a:rPr lang="en-AU" sz="1200" b="0" dirty="0" smtClean="0">
                <a:latin typeface="Helvetica" pitchFamily="34" charset="0"/>
              </a:rPr>
              <a:t>Employee Code of Conduct?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Helvetica" pitchFamily="34" charset="0"/>
                <a:ea typeface="+mn-ea"/>
                <a:cs typeface="+mn-cs"/>
              </a:rPr>
              <a:t>Review an example of this document.</a:t>
            </a:r>
            <a:endParaRPr lang="en-US"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and review </a:t>
            </a:r>
            <a:r>
              <a:rPr lang="en-AU" sz="1200" b="1" dirty="0" smtClean="0">
                <a:latin typeface="Helvetica" pitchFamily="34" charset="0"/>
              </a:rPr>
              <a:t>Employee Code of Conduct</a:t>
            </a: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Identify examples of each point.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dirty="0" smtClean="0">
                <a:latin typeface="Helvetica" pitchFamily="34" charset="0"/>
              </a:rPr>
              <a:t>Fair trading legislation</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What are examples of fair</a:t>
            </a:r>
            <a:r>
              <a:rPr lang="en-US" sz="1200" b="0" kern="1200" baseline="0" dirty="0" smtClean="0">
                <a:solidFill>
                  <a:schemeClr val="tx1"/>
                </a:solidFill>
                <a:latin typeface="+mn-lt"/>
                <a:ea typeface="+mn-ea"/>
                <a:cs typeface="+mn-cs"/>
              </a:rPr>
              <a:t> trading?</a:t>
            </a:r>
            <a:endParaRPr lang="en-US"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dirty="0" smtClean="0">
                <a:latin typeface="Helvetica" pitchFamily="34" charset="0"/>
              </a:rPr>
              <a:t>Ethical requirements </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What are ethics?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What are examples of ‘ethical behaviour’?</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dirty="0" smtClean="0">
                <a:latin typeface="Helvetica" pitchFamily="34" charset="0"/>
              </a:rPr>
              <a:t>Ethical requirements </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What are examples of ‘ethical behaviour’</a:t>
            </a:r>
            <a:r>
              <a:rPr lang="en-US" sz="1200" b="0" kern="1200" baseline="0" dirty="0" smtClean="0">
                <a:solidFill>
                  <a:schemeClr val="tx1"/>
                </a:solidFill>
                <a:latin typeface="+mn-lt"/>
                <a:ea typeface="+mn-ea"/>
                <a:cs typeface="+mn-cs"/>
              </a:rPr>
              <a:t> in each of these categories?</a:t>
            </a:r>
            <a:endParaRPr lang="en-US"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dirty="0" smtClean="0">
                <a:latin typeface="Helvetica" pitchFamily="34" charset="0"/>
              </a:rPr>
              <a:t>Ethical requirements </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Discuss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What are examples of ‘non-ethical’ behaviour for each point.</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importance of </a:t>
            </a:r>
            <a:r>
              <a:rPr lang="en-AU" sz="1200" b="1" dirty="0" smtClean="0">
                <a:latin typeface="Helvetica" pitchFamily="34" charset="0"/>
              </a:rPr>
              <a:t>Risk assessment &amp; management</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Why is </a:t>
            </a:r>
            <a:r>
              <a:rPr lang="en-AU" sz="1200" b="0" dirty="0" smtClean="0">
                <a:latin typeface="Helvetica" pitchFamily="34" charset="0"/>
              </a:rPr>
              <a:t>Risk assessment &amp; management important?</a:t>
            </a:r>
            <a:endParaRPr lang="en-US"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Discuss the question in the slide.</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a:t>
            </a:r>
            <a:r>
              <a:rPr lang="en-AU" sz="1200" b="1" dirty="0" smtClean="0">
                <a:latin typeface="Helvetica" pitchFamily="34" charset="0"/>
              </a:rPr>
              <a:t>Risk assessment</a:t>
            </a:r>
            <a:r>
              <a:rPr lang="en-AU" sz="1200" b="1" baseline="0" dirty="0" smtClean="0">
                <a:latin typeface="Helvetica" pitchFamily="34" charset="0"/>
              </a:rPr>
              <a:t> Activity</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Participants</a:t>
            </a:r>
            <a:r>
              <a:rPr lang="en-US" sz="1200" b="0" kern="1200" baseline="0" dirty="0" smtClean="0">
                <a:solidFill>
                  <a:schemeClr val="tx1"/>
                </a:solidFill>
                <a:latin typeface="+mn-lt"/>
                <a:ea typeface="+mn-ea"/>
                <a:cs typeface="+mn-cs"/>
              </a:rPr>
              <a:t> are to conduct a risk assessment for a tour of their choice.</a:t>
            </a:r>
            <a:endParaRPr lang="en-US"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a:t>
            </a:r>
            <a:r>
              <a:rPr lang="en-AU" sz="1200" b="1" dirty="0" smtClean="0">
                <a:latin typeface="Helvetica" pitchFamily="34" charset="0"/>
              </a:rPr>
              <a:t>Risk management </a:t>
            </a:r>
            <a:r>
              <a:rPr lang="en-AU" sz="1200" b="1" baseline="0" dirty="0" smtClean="0">
                <a:latin typeface="Helvetica" pitchFamily="34" charset="0"/>
              </a:rPr>
              <a:t>Activity</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Based on the risk assessment activity in the previous slide, participants</a:t>
            </a:r>
            <a:r>
              <a:rPr lang="en-US" sz="1200" b="0" kern="1200" baseline="0" dirty="0" smtClean="0">
                <a:solidFill>
                  <a:schemeClr val="tx1"/>
                </a:solidFill>
                <a:latin typeface="+mn-lt"/>
                <a:ea typeface="+mn-ea"/>
                <a:cs typeface="+mn-cs"/>
              </a:rPr>
              <a:t> are to identify a risk management plan for risks identified.</a:t>
            </a:r>
            <a:endParaRPr lang="en-US" sz="1200" b="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 Class Activity – Discuss </a:t>
            </a:r>
            <a:r>
              <a:rPr lang="en-US" sz="1200" b="1" dirty="0" smtClean="0">
                <a:latin typeface="Helvetica" pitchFamily="34" charset="0"/>
              </a:rPr>
              <a:t>roles of a tour guide</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Provide examples</a:t>
            </a:r>
            <a:r>
              <a:rPr lang="en-US" sz="1200" b="0" kern="1200" baseline="0" dirty="0" smtClean="0">
                <a:solidFill>
                  <a:schemeClr val="tx1"/>
                </a:solidFill>
                <a:latin typeface="+mn-lt"/>
                <a:ea typeface="+mn-ea"/>
                <a:cs typeface="+mn-cs"/>
              </a:rPr>
              <a:t> of activities or situations for each of these points.</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haracteristics</a:t>
            </a:r>
            <a:r>
              <a:rPr lang="en-US" sz="1200" b="1" dirty="0" smtClean="0">
                <a:latin typeface="Helvetica" pitchFamily="34" charset="0"/>
              </a:rPr>
              <a:t> of a tour guide</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Provide examples</a:t>
            </a:r>
            <a:r>
              <a:rPr lang="en-US" sz="1200" b="0" kern="1200" baseline="0" dirty="0" smtClean="0">
                <a:solidFill>
                  <a:schemeClr val="tx1"/>
                </a:solidFill>
                <a:latin typeface="+mn-lt"/>
                <a:ea typeface="+mn-ea"/>
                <a:cs typeface="+mn-cs"/>
              </a:rPr>
              <a:t> of situations for each of these points.</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600"/>
              </a:spcBef>
              <a:spcAft>
                <a:spcPts val="120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a:t>
            </a:r>
            <a:r>
              <a:rPr lang="en-AU" sz="1200" b="1" kern="1200" baseline="0" dirty="0" smtClean="0">
                <a:solidFill>
                  <a:schemeClr val="tx1"/>
                </a:solidFill>
                <a:latin typeface="Helvetica" pitchFamily="34" charset="0"/>
                <a:ea typeface="+mn-ea"/>
                <a:cs typeface="+mn-cs"/>
              </a:rPr>
              <a:t>c</a:t>
            </a:r>
            <a:r>
              <a:rPr lang="en-AU" sz="1200" b="1" dirty="0" smtClean="0">
                <a:latin typeface="Helvetica" pitchFamily="34" charset="0"/>
              </a:rPr>
              <a:t>haracteristics</a:t>
            </a:r>
            <a:r>
              <a:rPr lang="en-US" sz="1200" b="1" dirty="0" smtClean="0">
                <a:latin typeface="Helvetica" pitchFamily="34" charset="0"/>
              </a:rPr>
              <a:t> of a tour guide</a:t>
            </a:r>
            <a:endParaRPr lang="en-US"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dirty="0" smtClean="0">
                <a:solidFill>
                  <a:schemeClr val="tx1"/>
                </a:solidFill>
                <a:latin typeface="+mn-lt"/>
                <a:ea typeface="+mn-ea"/>
                <a:cs typeface="+mn-cs"/>
              </a:rPr>
              <a:t>Provide examples</a:t>
            </a:r>
            <a:r>
              <a:rPr lang="en-US" sz="1200" b="0" kern="1200" baseline="0" dirty="0" smtClean="0">
                <a:solidFill>
                  <a:schemeClr val="tx1"/>
                </a:solidFill>
                <a:latin typeface="+mn-lt"/>
                <a:ea typeface="+mn-ea"/>
                <a:cs typeface="+mn-cs"/>
              </a:rPr>
              <a:t> of situations for each of these points.</a:t>
            </a:r>
            <a:endParaRPr lang="en-US" sz="1200" b="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different activities that are undertaken as part of a tour?</a:t>
            </a:r>
          </a:p>
          <a:p>
            <a:pPr>
              <a:buFont typeface="Arial" pitchFamily="34" charset="0"/>
              <a:buChar char="•"/>
            </a:pPr>
            <a:r>
              <a:rPr lang="en-AU" sz="1200" kern="1200" baseline="0" dirty="0" smtClean="0">
                <a:solidFill>
                  <a:schemeClr val="tx1"/>
                </a:solidFill>
                <a:latin typeface="+mn-lt"/>
                <a:ea typeface="+mn-ea"/>
                <a:cs typeface="+mn-cs"/>
              </a:rPr>
              <a:t>What are key activities performed by a tour guide whilst a tour is being conducted?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key activities performed by a tour guide whilst a tour is being conducted?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a:t>
            </a:r>
            <a:r>
              <a:rPr lang="en-AU" sz="1200" b="1" kern="1200" baseline="0" dirty="0" smtClean="0">
                <a:solidFill>
                  <a:schemeClr val="tx1"/>
                </a:solidFill>
                <a:latin typeface="Helvetica" pitchFamily="34" charset="0"/>
                <a:ea typeface="+mn-ea"/>
                <a:cs typeface="+mn-cs"/>
              </a:rPr>
              <a:t>t</a:t>
            </a:r>
            <a:r>
              <a:rPr lang="en-AU" sz="1200" b="1" dirty="0" smtClean="0">
                <a:latin typeface="Helvetica" pitchFamily="34" charset="0"/>
              </a:rPr>
              <a:t>ypes of tour group members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are the needs of each type of group member that tour guides must take into consideration?</a:t>
            </a:r>
          </a:p>
          <a:p>
            <a:pPr>
              <a:buFont typeface="Arial" pitchFamily="34" charset="0"/>
              <a:buChar char="•"/>
            </a:pPr>
            <a:r>
              <a:rPr lang="en-AU" sz="1200" kern="1200" baseline="0" dirty="0" smtClean="0">
                <a:solidFill>
                  <a:schemeClr val="tx1"/>
                </a:solidFill>
                <a:latin typeface="+mn-lt"/>
                <a:ea typeface="+mn-ea"/>
                <a:cs typeface="+mn-cs"/>
              </a:rPr>
              <a:t>How can they meet these needs?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a:t>
            </a:r>
            <a:r>
              <a:rPr lang="en-AU" sz="1200" b="1" kern="1200" baseline="0" dirty="0" smtClean="0">
                <a:solidFill>
                  <a:schemeClr val="tx1"/>
                </a:solidFill>
                <a:latin typeface="Helvetica" pitchFamily="34" charset="0"/>
                <a:ea typeface="+mn-ea"/>
                <a:cs typeface="+mn-cs"/>
              </a:rPr>
              <a:t>focus</a:t>
            </a:r>
            <a:r>
              <a:rPr lang="en-AU" sz="1200" b="1" dirty="0" smtClean="0">
                <a:latin typeface="Helvetica" pitchFamily="34" charset="0"/>
              </a:rPr>
              <a:t> of tours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activities / attractions would you include for each of these tours?</a:t>
            </a:r>
          </a:p>
          <a:p>
            <a:pPr>
              <a:buFont typeface="Arial" pitchFamily="34" charset="0"/>
              <a:buChar char="•"/>
            </a:pPr>
            <a:r>
              <a:rPr lang="en-AU" sz="1200" kern="1200" baseline="0" dirty="0" smtClean="0">
                <a:solidFill>
                  <a:schemeClr val="tx1"/>
                </a:solidFill>
                <a:latin typeface="+mn-lt"/>
                <a:ea typeface="+mn-ea"/>
                <a:cs typeface="+mn-cs"/>
              </a:rPr>
              <a:t>What are other possible focuses of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Review / internet research into types of tours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Review brochures or conduct internet research in relation to each of these tours to provide examples</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needs to be prepared to greet participants?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Role Play</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information to be explained for each of these points</a:t>
            </a:r>
          </a:p>
          <a:p>
            <a:pPr>
              <a:buFont typeface="Arial" pitchFamily="34" charset="0"/>
              <a:buChar char="•"/>
            </a:pPr>
            <a:r>
              <a:rPr lang="en-AU" sz="1200" kern="1200" baseline="0" dirty="0" smtClean="0">
                <a:solidFill>
                  <a:schemeClr val="tx1"/>
                </a:solidFill>
                <a:latin typeface="+mn-lt"/>
                <a:ea typeface="+mn-ea"/>
                <a:cs typeface="+mn-cs"/>
              </a:rPr>
              <a:t>Role Play in greeting and introducing a tour</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Role Play</a:t>
            </a:r>
            <a:endParaRPr lang="en-US" sz="1200" dirty="0" smtClean="0">
              <a:latin typeface="Helvetica" pitchFamily="34" charset="0"/>
            </a:endParaRPr>
          </a:p>
          <a:p>
            <a:endParaRPr lang="en-AU" sz="1200" b="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information to be explained for each of these points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Role Play in </a:t>
            </a:r>
            <a:r>
              <a:rPr lang="en-AU" sz="1200" b="0" kern="1200" baseline="0" dirty="0" smtClean="0">
                <a:solidFill>
                  <a:schemeClr val="tx1"/>
                </a:solidFill>
                <a:latin typeface="Helvetica" pitchFamily="34" charset="0"/>
                <a:ea typeface="+mn-ea"/>
                <a:cs typeface="+mn-cs"/>
              </a:rPr>
              <a:t>e</a:t>
            </a:r>
            <a:r>
              <a:rPr lang="en-AU" sz="1200" b="0" dirty="0" smtClean="0">
                <a:latin typeface="Helvetica" pitchFamily="34" charset="0"/>
              </a:rPr>
              <a:t>xplaining the tour itinerary</a:t>
            </a:r>
            <a:endParaRPr lang="en-US" sz="1200" b="0" dirty="0" smtClean="0">
              <a:latin typeface="Helvetica" pitchFamily="34" charset="0"/>
            </a:endParaRP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US" sz="1200" b="1" kern="1200" baseline="0" dirty="0" smtClean="0">
                <a:solidFill>
                  <a:schemeClr val="tx1"/>
                </a:solidFill>
                <a:latin typeface="+mn-lt"/>
                <a:ea typeface="+mn-ea"/>
                <a:cs typeface="+mn-cs"/>
              </a:rPr>
              <a:t>Identify </a:t>
            </a:r>
            <a:r>
              <a:rPr lang="en-AU" sz="1200" b="1" dirty="0" smtClean="0">
                <a:latin typeface="Helvetica" pitchFamily="34" charset="0"/>
              </a:rPr>
              <a:t>rules, procedures and regulations</a:t>
            </a:r>
            <a:endParaRPr lang="en-US" sz="1200" dirty="0" smtClean="0">
              <a:latin typeface="Helvetica" pitchFamily="34" charset="0"/>
            </a:endParaRPr>
          </a:p>
          <a:p>
            <a:endParaRPr lang="en-AU" sz="1200" b="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mn-lt"/>
                <a:ea typeface="+mn-ea"/>
                <a:cs typeface="+mn-cs"/>
              </a:rPr>
              <a:t>What is the different between </a:t>
            </a:r>
            <a:r>
              <a:rPr lang="en-AU" sz="1200" b="0" dirty="0" smtClean="0">
                <a:latin typeface="Helvetica" pitchFamily="34" charset="0"/>
              </a:rPr>
              <a:t>rules, procedures and regulations.</a:t>
            </a:r>
            <a:endParaRPr lang="en-US" sz="1200" b="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mn-lt"/>
                <a:ea typeface="+mn-ea"/>
                <a:cs typeface="+mn-cs"/>
              </a:rPr>
              <a:t>For each of the points in this slide, provide examples of possible </a:t>
            </a:r>
            <a:r>
              <a:rPr lang="en-AU" sz="1200" b="0" dirty="0" smtClean="0">
                <a:latin typeface="Helvetica" pitchFamily="34" charset="0"/>
              </a:rPr>
              <a:t>rules, procedures and regulations.</a:t>
            </a:r>
            <a:endParaRPr lang="en-US"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Maintain adherence </a:t>
            </a:r>
            <a:endParaRPr lang="en-US" sz="1200" dirty="0" smtClean="0">
              <a:latin typeface="Helvetica" pitchFamily="34" charset="0"/>
            </a:endParaRPr>
          </a:p>
          <a:p>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Why is it important to </a:t>
            </a:r>
            <a:r>
              <a:rPr lang="en-AU" sz="1200" b="0" kern="1200" baseline="0" dirty="0" smtClean="0">
                <a:solidFill>
                  <a:schemeClr val="tx1"/>
                </a:solidFill>
                <a:latin typeface="Helvetica" pitchFamily="34" charset="0"/>
                <a:ea typeface="+mn-ea"/>
                <a:cs typeface="+mn-cs"/>
              </a:rPr>
              <a:t>m</a:t>
            </a:r>
            <a:r>
              <a:rPr lang="en-AU" sz="1200" b="0" dirty="0" smtClean="0">
                <a:latin typeface="Helvetica" pitchFamily="34" charset="0"/>
              </a:rPr>
              <a:t>aintain adherence to the tour itinerary ?</a:t>
            </a:r>
            <a:endParaRPr lang="en-US" sz="1200" b="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mn-lt"/>
                <a:ea typeface="+mn-ea"/>
                <a:cs typeface="+mn-cs"/>
              </a:rPr>
              <a:t>How can this be done?</a:t>
            </a: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Maintain adherence </a:t>
            </a:r>
            <a:endParaRPr lang="en-US" sz="1200" dirty="0" smtClean="0">
              <a:latin typeface="Helvetica" pitchFamily="34" charset="0"/>
            </a:endParaRPr>
          </a:p>
          <a:p>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Discuss the points in the slide, providing examples</a:t>
            </a: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Maintain adherence </a:t>
            </a:r>
            <a:endParaRPr lang="en-US" sz="1200" dirty="0" smtClean="0">
              <a:latin typeface="Helvetica" pitchFamily="34" charset="0"/>
            </a:endParaRPr>
          </a:p>
          <a:p>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Discuss the points in the slide, providing examples</a:t>
            </a: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c</a:t>
            </a:r>
            <a:r>
              <a:rPr lang="en-AU" sz="1200" b="1" dirty="0" smtClean="0">
                <a:latin typeface="Helvetica" pitchFamily="34" charset="0"/>
              </a:rPr>
              <a:t>hanging the itinerary</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 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a:t>
            </a:r>
            <a:r>
              <a:rPr lang="en-AU" sz="1200" b="1" kern="1200" baseline="0" dirty="0" smtClean="0">
                <a:solidFill>
                  <a:schemeClr val="tx1"/>
                </a:solidFill>
                <a:latin typeface="Helvetica" pitchFamily="34" charset="0"/>
                <a:ea typeface="+mn-ea"/>
                <a:cs typeface="+mn-cs"/>
              </a:rPr>
              <a:t>p</a:t>
            </a:r>
            <a:r>
              <a:rPr lang="en-AU" sz="1200" b="1" dirty="0" smtClean="0">
                <a:latin typeface="Helvetica" pitchFamily="34" charset="0"/>
              </a:rPr>
              <a:t>roviding tour-related advice </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do tour members expect in terms of information?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a:t>
            </a:r>
            <a:r>
              <a:rPr lang="en-AU" sz="1200" b="1" kern="1200" baseline="0" dirty="0" smtClean="0">
                <a:solidFill>
                  <a:schemeClr val="tx1"/>
                </a:solidFill>
                <a:latin typeface="Helvetica" pitchFamily="34" charset="0"/>
                <a:ea typeface="+mn-ea"/>
                <a:cs typeface="+mn-cs"/>
              </a:rPr>
              <a:t>p</a:t>
            </a:r>
            <a:r>
              <a:rPr lang="en-AU" sz="1200" b="1" dirty="0" smtClean="0">
                <a:latin typeface="Helvetica" pitchFamily="34" charset="0"/>
              </a:rPr>
              <a:t>roviding tour-related advice </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these expectations.</a:t>
            </a:r>
          </a:p>
          <a:p>
            <a:pPr>
              <a:buFont typeface="Arial" pitchFamily="34" charset="0"/>
              <a:buChar char="•"/>
            </a:pPr>
            <a:r>
              <a:rPr lang="en-AU" sz="1200" kern="1200" baseline="0" dirty="0" smtClean="0">
                <a:solidFill>
                  <a:schemeClr val="tx1"/>
                </a:solidFill>
                <a:latin typeface="+mn-lt"/>
                <a:ea typeface="+mn-ea"/>
                <a:cs typeface="+mn-cs"/>
              </a:rPr>
              <a:t>How can you ‘exceed’ these expectations?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a:t>
            </a:r>
            <a:r>
              <a:rPr lang="en-AU" sz="1200" b="1" kern="1200" baseline="0" dirty="0" smtClean="0">
                <a:solidFill>
                  <a:schemeClr val="tx1"/>
                </a:solidFill>
                <a:latin typeface="Helvetica" pitchFamily="34" charset="0"/>
                <a:ea typeface="+mn-ea"/>
                <a:cs typeface="+mn-cs"/>
              </a:rPr>
              <a:t>p</a:t>
            </a:r>
            <a:r>
              <a:rPr lang="en-AU" sz="1200" b="1" dirty="0" smtClean="0">
                <a:latin typeface="Helvetica" pitchFamily="34" charset="0"/>
              </a:rPr>
              <a:t>roviding tour-related advice </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Discuss the 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importance of </a:t>
            </a:r>
            <a:r>
              <a:rPr lang="en-US" sz="1200" b="1" dirty="0" smtClean="0">
                <a:latin typeface="Helvetica" pitchFamily="34" charset="0"/>
              </a:rPr>
              <a:t>communication skills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are </a:t>
            </a:r>
            <a:r>
              <a:rPr lang="en-US" sz="1200" b="0" dirty="0" smtClean="0">
                <a:latin typeface="Helvetica" pitchFamily="34" charset="0"/>
              </a:rPr>
              <a:t>communication skills important?</a:t>
            </a:r>
          </a:p>
          <a:p>
            <a:pPr>
              <a:buFont typeface="Arial" pitchFamily="34" charset="0"/>
              <a:buChar char="•"/>
            </a:pPr>
            <a:r>
              <a:rPr lang="en-US" sz="1200" b="0" kern="1200" baseline="0" dirty="0" smtClean="0">
                <a:solidFill>
                  <a:schemeClr val="tx1"/>
                </a:solidFill>
                <a:latin typeface="Helvetica" pitchFamily="34" charset="0"/>
                <a:ea typeface="+mn-ea"/>
                <a:cs typeface="+mn-cs"/>
              </a:rPr>
              <a:t>Discuss the different types of </a:t>
            </a:r>
            <a:r>
              <a:rPr lang="en-US" sz="1200" b="0" dirty="0" smtClean="0">
                <a:latin typeface="Helvetica" pitchFamily="34" charset="0"/>
              </a:rPr>
              <a:t>communication skills in this slide.</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importance of </a:t>
            </a:r>
            <a:r>
              <a:rPr lang="en-US" sz="1200" b="1" dirty="0" smtClean="0">
                <a:latin typeface="Helvetica" pitchFamily="34" charset="0"/>
              </a:rPr>
              <a:t>communication skills</a:t>
            </a:r>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Helvetica" pitchFamily="34" charset="0"/>
                <a:ea typeface="+mn-ea"/>
                <a:cs typeface="+mn-cs"/>
              </a:rPr>
              <a:t>Discuss </a:t>
            </a:r>
            <a:r>
              <a:rPr lang="en-AU" sz="1200" b="0" kern="1200" baseline="0" noProof="0" dirty="0" smtClean="0">
                <a:solidFill>
                  <a:schemeClr val="tx1"/>
                </a:solidFill>
                <a:latin typeface="Helvetica" pitchFamily="34" charset="0"/>
                <a:ea typeface="+mn-ea"/>
                <a:cs typeface="+mn-cs"/>
              </a:rPr>
              <a:t>strategies on how you can maximise your </a:t>
            </a:r>
            <a:r>
              <a:rPr lang="en-AU" sz="1200" b="0" noProof="0" dirty="0" smtClean="0">
                <a:latin typeface="Helvetica" pitchFamily="34" charset="0"/>
              </a:rPr>
              <a:t>communication skills to meet the points in this slide.</a:t>
            </a:r>
            <a:endParaRPr lang="en-AU" sz="1200" b="0" kern="1200" baseline="0" noProof="0" dirty="0" smtClean="0">
              <a:solidFill>
                <a:schemeClr val="tx1"/>
              </a:solidFill>
              <a:latin typeface="+mn-lt"/>
              <a:ea typeface="+mn-ea"/>
              <a:cs typeface="+mn-cs"/>
            </a:endParaRPr>
          </a:p>
          <a:p>
            <a:pPr>
              <a:buFont typeface="Arial" pitchFamily="34" charset="0"/>
              <a:buNone/>
            </a:pPr>
            <a:endParaRPr lang="en-AU" sz="1200" b="0" kern="1200" baseline="0" noProof="0" dirty="0" smtClean="0">
              <a:solidFill>
                <a:schemeClr val="tx1"/>
              </a:solidFill>
              <a:latin typeface="+mn-lt"/>
              <a:ea typeface="+mn-ea"/>
              <a:cs typeface="+mn-cs"/>
            </a:endParaRPr>
          </a:p>
          <a:p>
            <a:pPr>
              <a:buFont typeface="Arial" pitchFamily="34" charset="0"/>
              <a:buNone/>
            </a:pPr>
            <a:endParaRPr lang="en-AU" sz="1200" kern="1200" noProof="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r>
              <a:rPr lang="en-AU" sz="1200" b="1" kern="1200" baseline="0" dirty="0" smtClean="0">
                <a:solidFill>
                  <a:schemeClr val="tx1"/>
                </a:solidFill>
                <a:latin typeface="Helvetica" pitchFamily="34" charset="0"/>
                <a:ea typeface="+mn-ea"/>
                <a:cs typeface="+mn-cs"/>
              </a:rPr>
              <a:t>about importance of s</a:t>
            </a:r>
            <a:r>
              <a:rPr lang="en-AU" sz="1200" b="1" dirty="0" smtClean="0">
                <a:latin typeface="Helvetica" pitchFamily="34" charset="0"/>
              </a:rPr>
              <a:t>upervising movement and activities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Helvetica" pitchFamily="34" charset="0"/>
                <a:ea typeface="+mn-ea"/>
                <a:cs typeface="+mn-cs"/>
              </a:rPr>
              <a:t>Why is it important to </a:t>
            </a:r>
            <a:r>
              <a:rPr lang="en-AU" sz="1200" b="0" kern="1200" baseline="0" dirty="0" smtClean="0">
                <a:solidFill>
                  <a:schemeClr val="tx1"/>
                </a:solidFill>
                <a:latin typeface="Helvetica" pitchFamily="34" charset="0"/>
                <a:ea typeface="+mn-ea"/>
                <a:cs typeface="+mn-cs"/>
              </a:rPr>
              <a:t>s</a:t>
            </a:r>
            <a:r>
              <a:rPr lang="en-AU" sz="1200" b="0" dirty="0" smtClean="0">
                <a:latin typeface="Helvetica" pitchFamily="34" charset="0"/>
              </a:rPr>
              <a:t>upervising movement and activities?</a:t>
            </a:r>
          </a:p>
          <a:p>
            <a:pPr>
              <a:buFont typeface="Arial" pitchFamily="34" charset="0"/>
              <a:buChar char="•"/>
            </a:pPr>
            <a:r>
              <a:rPr lang="en-AU" sz="1200" b="0" kern="1200" baseline="0" dirty="0" smtClean="0">
                <a:solidFill>
                  <a:schemeClr val="tx1"/>
                </a:solidFill>
                <a:latin typeface="Helvetica" pitchFamily="34" charset="0"/>
                <a:ea typeface="+mn-ea"/>
                <a:cs typeface="+mn-cs"/>
              </a:rPr>
              <a:t>What do you need to supervise?</a:t>
            </a:r>
          </a:p>
          <a:p>
            <a:pPr>
              <a:buFont typeface="Arial" pitchFamily="34" charset="0"/>
              <a:buChar char="•"/>
            </a:pPr>
            <a:r>
              <a:rPr lang="en-AU" sz="1200" b="0" kern="1200" baseline="0" dirty="0" smtClean="0">
                <a:solidFill>
                  <a:schemeClr val="tx1"/>
                </a:solidFill>
                <a:latin typeface="Helvetica" pitchFamily="34" charset="0"/>
                <a:ea typeface="+mn-ea"/>
                <a:cs typeface="+mn-cs"/>
              </a:rPr>
              <a:t>How can you do this?</a:t>
            </a:r>
          </a:p>
          <a:p>
            <a:pPr>
              <a:buFont typeface="Arial" pitchFamily="34" charset="0"/>
              <a:buChar char="•"/>
            </a:pPr>
            <a:r>
              <a:rPr lang="en-AU" sz="1200" b="0" kern="1200" baseline="0" dirty="0" smtClean="0">
                <a:solidFill>
                  <a:schemeClr val="tx1"/>
                </a:solidFill>
                <a:latin typeface="Helvetica" pitchFamily="34" charset="0"/>
                <a:ea typeface="+mn-ea"/>
                <a:cs typeface="+mn-cs"/>
              </a:rPr>
              <a:t>Review documents / tools used to supervise and manage movement</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r>
              <a:rPr lang="en-AU" sz="1200" b="1" kern="1200" baseline="0" dirty="0" smtClean="0">
                <a:solidFill>
                  <a:schemeClr val="tx1"/>
                </a:solidFill>
                <a:latin typeface="Helvetica" pitchFamily="34" charset="0"/>
                <a:ea typeface="+mn-ea"/>
                <a:cs typeface="+mn-cs"/>
              </a:rPr>
              <a:t>about importance of c</a:t>
            </a:r>
            <a:r>
              <a:rPr lang="en-AU" sz="1200" b="1" dirty="0" smtClean="0">
                <a:latin typeface="Helvetica" pitchFamily="34" charset="0"/>
              </a:rPr>
              <a:t>ounting participants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Helvetica" pitchFamily="34" charset="0"/>
                <a:ea typeface="+mn-ea"/>
                <a:cs typeface="+mn-cs"/>
              </a:rPr>
              <a:t>Discuss questions in the slide.</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r>
              <a:rPr lang="en-AU" sz="1200" b="1" kern="1200" baseline="0" dirty="0" smtClean="0">
                <a:solidFill>
                  <a:schemeClr val="tx1"/>
                </a:solidFill>
                <a:latin typeface="Helvetica" pitchFamily="34" charset="0"/>
                <a:ea typeface="+mn-ea"/>
                <a:cs typeface="+mn-cs"/>
              </a:rPr>
              <a:t>about importance of locating lost persons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US" sz="1200" b="0" kern="1200" baseline="0" dirty="0" smtClean="0">
                <a:solidFill>
                  <a:schemeClr val="tx1"/>
                </a:solidFill>
                <a:latin typeface="Helvetica" pitchFamily="34" charset="0"/>
                <a:ea typeface="+mn-ea"/>
                <a:cs typeface="+mn-cs"/>
              </a:rPr>
              <a:t>Discuss questions in the slide.</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r>
              <a:rPr lang="en-AU" sz="1200" b="1" kern="1200" baseline="0" dirty="0" smtClean="0">
                <a:solidFill>
                  <a:schemeClr val="tx1"/>
                </a:solidFill>
                <a:latin typeface="Helvetica" pitchFamily="34" charset="0"/>
                <a:ea typeface="+mn-ea"/>
                <a:cs typeface="+mn-cs"/>
              </a:rPr>
              <a:t>about </a:t>
            </a:r>
            <a:r>
              <a:rPr lang="en-US" sz="1200" b="1" kern="1200" baseline="0" dirty="0" smtClean="0">
                <a:solidFill>
                  <a:schemeClr val="tx1"/>
                </a:solidFill>
                <a:latin typeface="Helvetica" pitchFamily="34" charset="0"/>
                <a:ea typeface="+mn-ea"/>
                <a:cs typeface="+mn-cs"/>
              </a:rPr>
              <a:t>m</a:t>
            </a:r>
            <a:r>
              <a:rPr lang="en-US" sz="1200" b="1" dirty="0" smtClean="0">
                <a:latin typeface="Helvetica" pitchFamily="34" charset="0"/>
              </a:rPr>
              <a:t>anaging tour group in crowds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Helvetica" pitchFamily="34" charset="0"/>
                <a:ea typeface="+mn-ea"/>
                <a:cs typeface="+mn-cs"/>
              </a:rPr>
              <a:t>How can you m</a:t>
            </a:r>
            <a:r>
              <a:rPr lang="en-US" sz="1200" b="0" dirty="0" smtClean="0">
                <a:latin typeface="Helvetica" pitchFamily="34" charset="0"/>
              </a:rPr>
              <a:t>anage tour group in crowds? </a:t>
            </a:r>
          </a:p>
          <a:p>
            <a:pPr>
              <a:buFont typeface="Arial" pitchFamily="34" charset="0"/>
              <a:buChar char="•"/>
            </a:pP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r>
              <a:rPr lang="en-AU" sz="1200" b="1" kern="1200" baseline="0" dirty="0" smtClean="0">
                <a:solidFill>
                  <a:schemeClr val="tx1"/>
                </a:solidFill>
                <a:latin typeface="Helvetica" pitchFamily="34" charset="0"/>
                <a:ea typeface="+mn-ea"/>
                <a:cs typeface="+mn-cs"/>
              </a:rPr>
              <a:t>about e</a:t>
            </a:r>
            <a:r>
              <a:rPr lang="en-AU" sz="1200" b="1" dirty="0" smtClean="0">
                <a:latin typeface="Helvetica" pitchFamily="34" charset="0"/>
              </a:rPr>
              <a:t>ncouraging tour group members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Helvetica" pitchFamily="34" charset="0"/>
                <a:ea typeface="+mn-ea"/>
                <a:cs typeface="+mn-cs"/>
              </a:rPr>
              <a:t>Discuss question in the slide.</a:t>
            </a: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r>
              <a:rPr lang="en-AU" sz="1200" b="1" kern="1200" baseline="0" dirty="0" smtClean="0">
                <a:solidFill>
                  <a:schemeClr val="tx1"/>
                </a:solidFill>
                <a:latin typeface="Helvetica" pitchFamily="34" charset="0"/>
                <a:ea typeface="+mn-ea"/>
                <a:cs typeface="+mn-cs"/>
              </a:rPr>
              <a:t>about e</a:t>
            </a:r>
            <a:r>
              <a:rPr lang="en-AU" sz="1200" b="1" dirty="0" smtClean="0">
                <a:latin typeface="Helvetica" pitchFamily="34" charset="0"/>
              </a:rPr>
              <a:t>ncouraging tour group members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Helvetica" pitchFamily="34" charset="0"/>
                <a:ea typeface="+mn-ea"/>
                <a:cs typeface="+mn-cs"/>
              </a:rPr>
              <a:t>Provide examples / strategies for each point in this slide.</a:t>
            </a: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t>
            </a:r>
            <a:r>
              <a:rPr lang="en-AU" sz="1200" b="1" kern="1200" baseline="0" dirty="0" smtClean="0">
                <a:solidFill>
                  <a:schemeClr val="tx1"/>
                </a:solidFill>
                <a:latin typeface="Helvetica" pitchFamily="34" charset="0"/>
                <a:ea typeface="+mn-ea"/>
                <a:cs typeface="+mn-cs"/>
              </a:rPr>
              <a:t>about </a:t>
            </a:r>
            <a:r>
              <a:rPr lang="en-US" sz="1200" b="1" kern="1200" baseline="0" dirty="0" smtClean="0">
                <a:solidFill>
                  <a:schemeClr val="tx1"/>
                </a:solidFill>
                <a:latin typeface="Helvetica" pitchFamily="34" charset="0"/>
                <a:ea typeface="+mn-ea"/>
                <a:cs typeface="+mn-cs"/>
              </a:rPr>
              <a:t>m</a:t>
            </a:r>
            <a:r>
              <a:rPr lang="en-US" sz="1200" b="1" dirty="0" smtClean="0">
                <a:latin typeface="Helvetica" pitchFamily="34" charset="0"/>
              </a:rPr>
              <a:t>odifying activities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Helvetica" pitchFamily="34" charset="0"/>
                <a:ea typeface="+mn-ea"/>
                <a:cs typeface="+mn-cs"/>
              </a:rPr>
              <a:t>Discuss question in the slide.</a:t>
            </a: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Helvetica" pitchFamily="34" charset="0"/>
                <a:ea typeface="+mn-ea"/>
                <a:cs typeface="+mn-cs"/>
              </a:rPr>
              <a:t>Discuss question in the slide.</a:t>
            </a:r>
            <a:endParaRPr lang="en-US"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&amp; Review of </a:t>
            </a:r>
            <a:r>
              <a:rPr lang="en-AU" sz="1200" b="1" dirty="0" smtClean="0">
                <a:latin typeface="Helvetica" pitchFamily="34" charset="0"/>
              </a:rPr>
              <a:t>Standard Operating Manual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Helvetica" pitchFamily="34" charset="0"/>
                <a:ea typeface="+mn-ea"/>
                <a:cs typeface="+mn-cs"/>
              </a:rPr>
              <a:t>Discuss question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Review of </a:t>
            </a:r>
            <a:r>
              <a:rPr lang="en-AU" sz="1200" b="0" dirty="0" smtClean="0">
                <a:latin typeface="Helvetica" pitchFamily="34" charset="0"/>
              </a:rPr>
              <a:t>Standard Operating Manual </a:t>
            </a: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a:t>
            </a:r>
            <a:r>
              <a:rPr lang="en-AU" sz="1200" b="1" dirty="0" smtClean="0">
                <a:latin typeface="Helvetica" pitchFamily="34" charset="0"/>
              </a:rPr>
              <a:t>specific tour related policies and procedures</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Helvetica" pitchFamily="34" charset="0"/>
                <a:ea typeface="+mn-ea"/>
                <a:cs typeface="+mn-cs"/>
              </a:rPr>
              <a:t>Identify </a:t>
            </a:r>
            <a:r>
              <a:rPr lang="en-AU" sz="1200" b="0" kern="1200" baseline="0" dirty="0" smtClean="0">
                <a:solidFill>
                  <a:schemeClr val="tx1"/>
                </a:solidFill>
                <a:latin typeface="Helvetica" pitchFamily="34" charset="0"/>
                <a:ea typeface="+mn-ea"/>
                <a:cs typeface="+mn-cs"/>
              </a:rPr>
              <a:t>s</a:t>
            </a:r>
            <a:r>
              <a:rPr lang="en-AU" sz="1200" b="0" dirty="0" smtClean="0">
                <a:latin typeface="Helvetica" pitchFamily="34" charset="0"/>
              </a:rPr>
              <a:t>pecific tour related policies and procedures for each of the points in this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Are there other specific</a:t>
            </a:r>
            <a:r>
              <a:rPr lang="en-AU" sz="1200" b="0" baseline="0" dirty="0" smtClean="0">
                <a:latin typeface="Helvetica" pitchFamily="34" charset="0"/>
              </a:rPr>
              <a:t> </a:t>
            </a:r>
            <a:r>
              <a:rPr lang="en-AU" sz="1200" b="0" dirty="0" smtClean="0">
                <a:latin typeface="Helvetica" pitchFamily="34" charset="0"/>
              </a:rPr>
              <a:t>tour related policies and procedures for other aspects of a tour?</a:t>
            </a:r>
            <a:endParaRPr lang="en-US"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b="1"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r>
              <a:rPr lang="en-AU" sz="1200" kern="1200" baseline="0" dirty="0" smtClean="0">
                <a:solidFill>
                  <a:schemeClr val="tx1"/>
                </a:solidFill>
                <a:latin typeface="+mn-lt"/>
                <a:ea typeface="+mn-ea"/>
                <a:cs typeface="+mn-cs"/>
              </a:rPr>
              <a:t>Why is it important for tour group members to interact with each other?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Conduct an </a:t>
            </a:r>
            <a:r>
              <a:rPr lang="en-AU" sz="1200" b="1" dirty="0" smtClean="0">
                <a:latin typeface="Helvetica" pitchFamily="34" charset="0"/>
              </a:rPr>
              <a:t>"icebreaker" activity</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Audience is to prepare and conduct an </a:t>
            </a:r>
            <a:r>
              <a:rPr lang="en-AU" sz="1200" b="0" dirty="0" smtClean="0">
                <a:latin typeface="Helvetica" pitchFamily="34" charset="0"/>
              </a:rPr>
              <a:t>"icebreaker" activity</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tour inclusions based on objectives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For each of these objectives, what are possible tour inclusions that can be considered?</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Identify tour inclusions based on themes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For each of these themes, what are possible tour inclusions that can be considered?</a:t>
            </a: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to build and maintain group cohesion</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a:t>
            </a:r>
            <a:r>
              <a:rPr lang="en-AU" sz="1200" b="0" dirty="0" smtClean="0">
                <a:latin typeface="Helvetica" pitchFamily="34" charset="0"/>
              </a:rPr>
              <a:t>build and maintain group cohesion?</a:t>
            </a:r>
          </a:p>
          <a:p>
            <a:pPr>
              <a:buFont typeface="Arial" pitchFamily="34" charset="0"/>
              <a:buChar char="•"/>
            </a:pPr>
            <a:r>
              <a:rPr lang="en-AU" sz="1200" b="0" kern="1200" baseline="0" dirty="0" smtClean="0">
                <a:solidFill>
                  <a:schemeClr val="tx1"/>
                </a:solidFill>
                <a:latin typeface="Helvetica" pitchFamily="34" charset="0"/>
                <a:ea typeface="+mn-ea"/>
                <a:cs typeface="+mn-cs"/>
              </a:rPr>
              <a:t>What are other strategies you can use?</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to build and maintain group cohesion</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a:t>
            </a:r>
            <a:r>
              <a:rPr lang="en-AU" sz="1200" b="0" dirty="0" smtClean="0">
                <a:latin typeface="Helvetica" pitchFamily="34" charset="0"/>
              </a:rPr>
              <a:t>build and maintain group cohesion?</a:t>
            </a:r>
          </a:p>
          <a:p>
            <a:pPr>
              <a:buFont typeface="Arial" pitchFamily="34" charset="0"/>
              <a:buChar char="•"/>
            </a:pPr>
            <a:r>
              <a:rPr lang="en-AU" sz="1200" b="0" kern="1200" baseline="0" dirty="0" smtClean="0">
                <a:solidFill>
                  <a:schemeClr val="tx1"/>
                </a:solidFill>
                <a:latin typeface="Helvetica" pitchFamily="34" charset="0"/>
                <a:ea typeface="+mn-ea"/>
                <a:cs typeface="+mn-cs"/>
              </a:rPr>
              <a:t>What are other strategies you can use?</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to build rapport</a:t>
            </a:r>
            <a:endParaRPr lang="en-AU" sz="1200" b="1" kern="1200" baseline="0" dirty="0" smtClean="0">
              <a:solidFill>
                <a:schemeClr val="tx1"/>
              </a:solidFill>
              <a:latin typeface="+mn-lt"/>
              <a:ea typeface="+mn-ea"/>
              <a:cs typeface="+mn-cs"/>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rapport?</a:t>
            </a:r>
          </a:p>
          <a:p>
            <a:pPr>
              <a:buFont typeface="Arial" pitchFamily="34" charset="0"/>
              <a:buChar char="•"/>
            </a:pPr>
            <a:r>
              <a:rPr lang="en-AU" sz="1200" b="0" kern="1200" baseline="0" dirty="0" smtClean="0">
                <a:solidFill>
                  <a:schemeClr val="tx1"/>
                </a:solidFill>
                <a:latin typeface="+mn-lt"/>
                <a:ea typeface="+mn-ea"/>
                <a:cs typeface="+mn-cs"/>
              </a:rPr>
              <a:t>Why is it important to </a:t>
            </a:r>
            <a:r>
              <a:rPr lang="en-AU" sz="1200" b="0" dirty="0" smtClean="0">
                <a:latin typeface="Helvetica" pitchFamily="34" charset="0"/>
              </a:rPr>
              <a:t>rapport?</a:t>
            </a:r>
          </a:p>
          <a:p>
            <a:pPr>
              <a:buFont typeface="Arial" pitchFamily="34" charset="0"/>
              <a:buChar char="•"/>
            </a:pPr>
            <a:r>
              <a:rPr lang="en-AU" sz="1200" b="0" dirty="0" smtClean="0">
                <a:latin typeface="Helvetica" pitchFamily="34" charset="0"/>
              </a:rPr>
              <a:t>Identify examples</a:t>
            </a:r>
            <a:r>
              <a:rPr lang="en-AU" sz="1200" b="0" baseline="0" dirty="0" smtClean="0">
                <a:latin typeface="Helvetica" pitchFamily="34" charset="0"/>
              </a:rPr>
              <a:t> for each point.</a:t>
            </a:r>
            <a:endParaRPr lang="en-AU" sz="1200" b="0" dirty="0" smtClean="0">
              <a:latin typeface="Helvetica" pitchFamily="34" charset="0"/>
            </a:endParaRPr>
          </a:p>
          <a:p>
            <a:pPr>
              <a:buFont typeface="Arial" pitchFamily="34" charset="0"/>
              <a:buChar char="•"/>
            </a:pPr>
            <a:r>
              <a:rPr lang="en-AU" sz="1200" b="0" kern="1200" baseline="0" dirty="0" smtClean="0">
                <a:solidFill>
                  <a:schemeClr val="tx1"/>
                </a:solidFill>
                <a:latin typeface="Helvetica" pitchFamily="34" charset="0"/>
                <a:ea typeface="+mn-ea"/>
                <a:cs typeface="+mn-cs"/>
              </a:rPr>
              <a:t>What are other strategies you can use?</a:t>
            </a:r>
            <a:endParaRPr lang="en-AU" sz="1200" b="0" kern="1200" baseline="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 about rules.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Why are these rules important?</a:t>
            </a:r>
          </a:p>
          <a:p>
            <a:pPr>
              <a:buFont typeface="Arial" pitchFamily="34" charset="0"/>
              <a:buChar char="•"/>
            </a:pPr>
            <a:r>
              <a:rPr lang="en-AU" sz="1200" kern="1200" baseline="0" dirty="0" smtClean="0">
                <a:solidFill>
                  <a:schemeClr val="tx1"/>
                </a:solidFill>
                <a:latin typeface="+mn-lt"/>
                <a:ea typeface="+mn-ea"/>
                <a:cs typeface="+mn-cs"/>
              </a:rPr>
              <a:t>What are examples for each of these points?</a:t>
            </a:r>
          </a:p>
          <a:p>
            <a:pPr>
              <a:buFont typeface="Arial" pitchFamily="34" charset="0"/>
              <a:buChar char="•"/>
            </a:pPr>
            <a:r>
              <a:rPr lang="en-AU" sz="1200" kern="1200" baseline="0" dirty="0" smtClean="0">
                <a:solidFill>
                  <a:schemeClr val="tx1"/>
                </a:solidFill>
                <a:latin typeface="+mn-lt"/>
                <a:ea typeface="+mn-ea"/>
                <a:cs typeface="+mn-cs"/>
              </a:rPr>
              <a:t>What other rules would you implement if you were a tour guide?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making announcements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pieces of information that would be included in each of these points?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making announcements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pieces of information that would be included in each of these points?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making announcements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pieces of information that would be included in each of these points?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recognising special needs of group</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this slide.</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importance of monitoring needs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a:t>
            </a:r>
            <a:r>
              <a:rPr lang="en-AU" sz="1200" b="0" dirty="0" smtClean="0">
                <a:latin typeface="Helvetica" pitchFamily="34" charset="0"/>
              </a:rPr>
              <a:t>monitoring needs?</a:t>
            </a:r>
          </a:p>
          <a:p>
            <a:pPr>
              <a:buFont typeface="Arial" pitchFamily="34" charset="0"/>
              <a:buChar char="•"/>
            </a:pPr>
            <a:r>
              <a:rPr lang="en-AU" sz="1200" b="0" dirty="0" smtClean="0">
                <a:latin typeface="Helvetica" pitchFamily="34" charset="0"/>
              </a:rPr>
              <a:t>What activities are associated with each</a:t>
            </a:r>
            <a:r>
              <a:rPr lang="en-AU" sz="1200" b="0" baseline="0" dirty="0" smtClean="0">
                <a:latin typeface="Helvetica" pitchFamily="34" charset="0"/>
              </a:rPr>
              <a:t> of these points?</a:t>
            </a:r>
          </a:p>
          <a:p>
            <a:pPr>
              <a:buFont typeface="Arial" pitchFamily="34" charset="0"/>
              <a:buChar char="•"/>
            </a:pPr>
            <a:r>
              <a:rPr lang="en-AU" sz="1200" b="0" baseline="0" dirty="0" smtClean="0">
                <a:latin typeface="Helvetica" pitchFamily="34" charset="0"/>
              </a:rPr>
              <a:t>What other monitoring methods can be used?</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Meeting customer considerations</a:t>
            </a:r>
            <a:endParaRPr lang="en-AU"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Provide examples of how you can accommodate these considerations.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balancing the needs of the group with individual needs</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meet the needs of both the group and individual if they clash?</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What are examples of on-tour problems?</a:t>
            </a:r>
          </a:p>
          <a:p>
            <a:pPr>
              <a:buFont typeface="Arial" pitchFamily="34" charset="0"/>
              <a:buChar char="•"/>
            </a:pPr>
            <a:r>
              <a:rPr lang="en-AU" sz="1200" kern="1200" baseline="0" dirty="0" smtClean="0">
                <a:solidFill>
                  <a:schemeClr val="tx1"/>
                </a:solidFill>
                <a:latin typeface="+mn-lt"/>
                <a:ea typeface="+mn-ea"/>
                <a:cs typeface="+mn-cs"/>
              </a:rPr>
              <a:t>What causes them?</a:t>
            </a:r>
          </a:p>
          <a:p>
            <a:pPr>
              <a:buFont typeface="Arial" pitchFamily="34" charset="0"/>
              <a:buChar char="•"/>
            </a:pPr>
            <a:r>
              <a:rPr lang="en-AU" sz="1200" kern="1200" baseline="0" dirty="0" smtClean="0">
                <a:solidFill>
                  <a:schemeClr val="tx1"/>
                </a:solidFill>
                <a:latin typeface="+mn-lt"/>
                <a:ea typeface="+mn-ea"/>
                <a:cs typeface="+mn-cs"/>
              </a:rPr>
              <a:t>Why is it important to resolve them quickly?</a:t>
            </a:r>
          </a:p>
          <a:p>
            <a:pPr>
              <a:buFont typeface="Arial" pitchFamily="34" charset="0"/>
              <a:buChar char="•"/>
            </a:pPr>
            <a:r>
              <a:rPr lang="en-AU" sz="1200" kern="1200" baseline="0" dirty="0" smtClean="0">
                <a:solidFill>
                  <a:schemeClr val="tx1"/>
                </a:solidFill>
                <a:latin typeface="+mn-lt"/>
                <a:ea typeface="+mn-ea"/>
                <a:cs typeface="+mn-cs"/>
              </a:rPr>
              <a:t>How can you resolve them?</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key requirements when handling problems</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personal stories relating to each type of problem, including how they were handled.</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Discussion</a:t>
            </a:r>
            <a:r>
              <a:rPr lang="en-AU" sz="1200" b="1" dirty="0" smtClean="0">
                <a:latin typeface="Helvetica" pitchFamily="34" charset="0"/>
              </a:rPr>
              <a:t> about predicting the potential for problems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else can you predict problems?</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Handling problems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other considerations when handling problems?</a:t>
            </a:r>
            <a:endParaRPr lang="en-AU" sz="1200" b="0" dirty="0" smtClean="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Importance of safety and security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these points, providing examples.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Importance of safety and security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these points, providing examples.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Importance of safety policies and procedures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these points, providing examples.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Importance of safety policies and procedures </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importance of these points, providing examples.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Importance of correct handling of problems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Importance of handling emergencies</a:t>
            </a: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a:t>
            </a:r>
            <a:r>
              <a:rPr lang="en-AU" sz="1200" b="1" dirty="0" smtClean="0">
                <a:latin typeface="Helvetica" pitchFamily="34" charset="0"/>
              </a:rPr>
              <a:t>Importance of handling emergencies</a:t>
            </a:r>
          </a:p>
          <a:p>
            <a:endParaRPr lang="en-AU" sz="1200" kern="1200" baseline="0" dirty="0" smtClean="0">
              <a:solidFill>
                <a:schemeClr val="tx1"/>
              </a:solidFill>
              <a:latin typeface="+mn-lt"/>
              <a:ea typeface="+mn-ea"/>
              <a:cs typeface="+mn-cs"/>
            </a:endParaRPr>
          </a:p>
          <a:p>
            <a:pPr>
              <a:buFont typeface="Arial" pitchFamily="34" charset="0"/>
              <a:buNone/>
            </a:pPr>
            <a:r>
              <a:rPr lang="en-AU" sz="1200" b="0" kern="1200" baseline="0" dirty="0" smtClean="0">
                <a:solidFill>
                  <a:schemeClr val="tx1"/>
                </a:solidFill>
                <a:latin typeface="+mn-lt"/>
                <a:ea typeface="+mn-ea"/>
                <a:cs typeface="+mn-cs"/>
              </a:rPr>
              <a:t>For each of the points in the slide:</a:t>
            </a:r>
          </a:p>
          <a:p>
            <a:pPr>
              <a:buFont typeface="Arial" pitchFamily="34" charset="0"/>
              <a:buChar char="•"/>
            </a:pPr>
            <a:r>
              <a:rPr lang="en-AU" sz="1200" b="0" kern="1200" baseline="0" dirty="0" smtClean="0">
                <a:solidFill>
                  <a:schemeClr val="tx1"/>
                </a:solidFill>
                <a:latin typeface="+mn-lt"/>
                <a:ea typeface="+mn-ea"/>
                <a:cs typeface="+mn-cs"/>
              </a:rPr>
              <a:t>Identify causes for these emergencies</a:t>
            </a:r>
          </a:p>
          <a:p>
            <a:pPr>
              <a:buFont typeface="Arial" pitchFamily="34" charset="0"/>
              <a:buChar char="•"/>
            </a:pPr>
            <a:r>
              <a:rPr lang="en-AU" sz="1200" b="0" kern="1200" baseline="0" dirty="0" smtClean="0">
                <a:solidFill>
                  <a:schemeClr val="tx1"/>
                </a:solidFill>
                <a:latin typeface="+mn-lt"/>
                <a:ea typeface="+mn-ea"/>
                <a:cs typeface="+mn-cs"/>
              </a:rPr>
              <a:t>Steps to handle and overcome these emergencies.</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Demonstrate </a:t>
            </a:r>
            <a:r>
              <a:rPr lang="en-AU" sz="1200" b="1" dirty="0" smtClean="0">
                <a:latin typeface="Helvetica" pitchFamily="34" charset="0"/>
              </a:rPr>
              <a:t>emergency equipment</a:t>
            </a:r>
          </a:p>
          <a:p>
            <a:endParaRPr lang="en-AU" sz="1200" kern="1200" baseline="0" dirty="0" smtClean="0">
              <a:solidFill>
                <a:schemeClr val="tx1"/>
              </a:solidFill>
              <a:latin typeface="+mn-lt"/>
              <a:ea typeface="+mn-ea"/>
              <a:cs typeface="+mn-cs"/>
            </a:endParaRPr>
          </a:p>
          <a:p>
            <a:pPr>
              <a:buFont typeface="Arial" pitchFamily="34" charset="0"/>
              <a:buNone/>
            </a:pPr>
            <a:r>
              <a:rPr lang="en-AU" sz="1200" b="0" kern="1200" baseline="0" dirty="0" smtClean="0">
                <a:solidFill>
                  <a:schemeClr val="tx1"/>
                </a:solidFill>
                <a:latin typeface="+mn-lt"/>
                <a:ea typeface="+mn-ea"/>
                <a:cs typeface="+mn-cs"/>
              </a:rPr>
              <a:t>Trainer to demonstrate and explain purpose and use for each of these pieces of </a:t>
            </a:r>
            <a:r>
              <a:rPr lang="en-AU" sz="1200" b="0" dirty="0" smtClean="0">
                <a:latin typeface="Helvetica" pitchFamily="34" charset="0"/>
              </a:rPr>
              <a:t>emergency equipment.</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strategies when </a:t>
            </a:r>
            <a:r>
              <a:rPr lang="en-US" sz="1200" b="1" kern="1200" baseline="0" dirty="0" smtClean="0">
                <a:solidFill>
                  <a:schemeClr val="tx1"/>
                </a:solidFill>
                <a:latin typeface="Helvetica" pitchFamily="34" charset="0"/>
                <a:ea typeface="+mn-ea"/>
                <a:cs typeface="+mn-cs"/>
              </a:rPr>
              <a:t>r</a:t>
            </a:r>
            <a:r>
              <a:rPr lang="en-US" sz="1200" b="1" dirty="0" smtClean="0">
                <a:latin typeface="Helvetica" pitchFamily="34" charset="0"/>
              </a:rPr>
              <a:t>esponding to emergencies</a:t>
            </a:r>
            <a:endParaRPr lang="en-US" sz="1200"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Trainer to discuss strategies for responding to emergencies.</a:t>
            </a:r>
          </a:p>
          <a:p>
            <a:pPr>
              <a:buFont typeface="Arial" pitchFamily="34" charset="0"/>
              <a:buChar char="•"/>
            </a:pPr>
            <a:r>
              <a:rPr lang="en-AU" sz="1200" b="0" kern="1200" baseline="0" dirty="0" smtClean="0">
                <a:solidFill>
                  <a:schemeClr val="tx1"/>
                </a:solidFill>
                <a:latin typeface="+mn-lt"/>
                <a:ea typeface="+mn-ea"/>
                <a:cs typeface="+mn-cs"/>
              </a:rPr>
              <a:t>Trainer to show rules, SOPs etc where applicable</a:t>
            </a: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Discuss </a:t>
            </a:r>
            <a:r>
              <a:rPr lang="en-AU" sz="1200" b="1" kern="1200" baseline="0" dirty="0" smtClean="0">
                <a:solidFill>
                  <a:schemeClr val="tx1"/>
                </a:solidFill>
                <a:latin typeface="Helvetica" pitchFamily="34" charset="0"/>
                <a:ea typeface="+mn-ea"/>
                <a:cs typeface="+mn-cs"/>
              </a:rPr>
              <a:t>u</a:t>
            </a:r>
            <a:r>
              <a:rPr lang="en-AU" sz="1200" b="1" dirty="0" smtClean="0">
                <a:latin typeface="Helvetica" pitchFamily="34" charset="0"/>
              </a:rPr>
              <a:t>nexpected events </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a:t>
            </a:r>
            <a:r>
              <a:rPr lang="en-AU" sz="1200" b="0" kern="1200" baseline="0" dirty="0" smtClean="0">
                <a:solidFill>
                  <a:schemeClr val="tx1"/>
                </a:solidFill>
                <a:latin typeface="Helvetica" pitchFamily="34" charset="0"/>
                <a:ea typeface="+mn-ea"/>
                <a:cs typeface="+mn-cs"/>
              </a:rPr>
              <a:t>n</a:t>
            </a:r>
            <a:r>
              <a:rPr lang="en-AU" sz="1200" dirty="0" smtClean="0">
                <a:latin typeface="Helvetica" pitchFamily="34" charset="0"/>
              </a:rPr>
              <a:t>egative events?</a:t>
            </a:r>
          </a:p>
          <a:p>
            <a:pPr>
              <a:buFont typeface="Arial" pitchFamily="34" charset="0"/>
              <a:buChar char="•"/>
            </a:pPr>
            <a:r>
              <a:rPr lang="en-AU" sz="1200" b="0" dirty="0" smtClean="0">
                <a:latin typeface="Helvetica" pitchFamily="34" charset="0"/>
              </a:rPr>
              <a:t>How</a:t>
            </a:r>
            <a:r>
              <a:rPr lang="en-AU" sz="1200" b="0" baseline="0" dirty="0" smtClean="0">
                <a:latin typeface="Helvetica" pitchFamily="34" charset="0"/>
              </a:rPr>
              <a:t> can these be overcome of minimised?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examples of positive </a:t>
            </a:r>
            <a:r>
              <a:rPr lang="en-AU" sz="1200" dirty="0" smtClean="0">
                <a:latin typeface="Helvetica" pitchFamily="34" charset="0"/>
              </a:rPr>
              <a:t>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latin typeface="Helvetica" pitchFamily="34" charset="0"/>
              </a:rPr>
              <a:t>How</a:t>
            </a:r>
            <a:r>
              <a:rPr lang="en-AU" sz="1200" b="0" baseline="0" dirty="0" smtClean="0">
                <a:latin typeface="Helvetica" pitchFamily="34" charset="0"/>
              </a:rPr>
              <a:t> can these be maximised to the benefit of tour members?</a:t>
            </a:r>
          </a:p>
          <a:p>
            <a:pPr>
              <a:buFont typeface="Arial" pitchFamily="34" charset="0"/>
              <a:buChar char="•"/>
            </a:pPr>
            <a:endParaRPr lang="en-AU" sz="1200" b="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Handling delays</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a:t>
            </a:r>
            <a:r>
              <a:rPr lang="en-AU" sz="1200" b="0" kern="1200" baseline="0" dirty="0" smtClean="0">
                <a:solidFill>
                  <a:schemeClr val="tx1"/>
                </a:solidFill>
                <a:latin typeface="Helvetica" pitchFamily="34" charset="0"/>
                <a:ea typeface="+mn-ea"/>
                <a:cs typeface="+mn-cs"/>
              </a:rPr>
              <a:t>common delays?</a:t>
            </a:r>
          </a:p>
          <a:p>
            <a:pPr>
              <a:buFont typeface="Arial" pitchFamily="34" charset="0"/>
              <a:buChar char="•"/>
            </a:pPr>
            <a:r>
              <a:rPr lang="en-AU" sz="1200" b="0" kern="1200" baseline="0" dirty="0" smtClean="0">
                <a:solidFill>
                  <a:schemeClr val="tx1"/>
                </a:solidFill>
                <a:latin typeface="Helvetica" pitchFamily="34" charset="0"/>
                <a:ea typeface="+mn-ea"/>
                <a:cs typeface="+mn-cs"/>
              </a:rPr>
              <a:t>What causes them?</a:t>
            </a:r>
          </a:p>
          <a:p>
            <a:pPr>
              <a:buFont typeface="Arial" pitchFamily="34" charset="0"/>
              <a:buChar char="•"/>
            </a:pPr>
            <a:r>
              <a:rPr lang="en-AU" sz="1200" b="0" kern="1200" baseline="0" dirty="0" smtClean="0">
                <a:solidFill>
                  <a:schemeClr val="tx1"/>
                </a:solidFill>
                <a:latin typeface="Helvetica" pitchFamily="34" charset="0"/>
                <a:ea typeface="+mn-ea"/>
                <a:cs typeface="+mn-cs"/>
              </a:rPr>
              <a:t>How can you be overcome?</a:t>
            </a: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conflict</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a:t>
            </a:r>
            <a:r>
              <a:rPr lang="en-AU" sz="1200" b="0" kern="1200" baseline="0" dirty="0" smtClean="0">
                <a:solidFill>
                  <a:schemeClr val="tx1"/>
                </a:solidFill>
                <a:latin typeface="Helvetica" pitchFamily="34" charset="0"/>
                <a:ea typeface="+mn-ea"/>
                <a:cs typeface="+mn-cs"/>
              </a:rPr>
              <a:t>conflict?</a:t>
            </a:r>
          </a:p>
          <a:p>
            <a:pPr>
              <a:buFont typeface="Arial" pitchFamily="34" charset="0"/>
              <a:buChar char="•"/>
            </a:pPr>
            <a:r>
              <a:rPr lang="en-AU" sz="1200" b="0" kern="1200" baseline="0" dirty="0" smtClean="0">
                <a:solidFill>
                  <a:schemeClr val="tx1"/>
                </a:solidFill>
                <a:latin typeface="Helvetica" pitchFamily="34" charset="0"/>
                <a:ea typeface="+mn-ea"/>
                <a:cs typeface="+mn-cs"/>
              </a:rPr>
              <a:t>How do you resolve conflict?</a:t>
            </a: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conflict</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each type of </a:t>
            </a:r>
            <a:r>
              <a:rPr lang="en-AU" sz="1200" b="0" kern="1200" baseline="0" dirty="0" smtClean="0">
                <a:solidFill>
                  <a:schemeClr val="tx1"/>
                </a:solidFill>
                <a:latin typeface="Helvetica" pitchFamily="34" charset="0"/>
                <a:ea typeface="+mn-ea"/>
                <a:cs typeface="+mn-cs"/>
              </a:rPr>
              <a:t>conflict?</a:t>
            </a:r>
          </a:p>
          <a:p>
            <a:pPr>
              <a:buFont typeface="Arial" pitchFamily="34" charset="0"/>
              <a:buChar char="•"/>
            </a:pPr>
            <a:r>
              <a:rPr lang="en-AU" sz="1200" b="0" kern="1200" baseline="0" dirty="0" smtClean="0">
                <a:solidFill>
                  <a:schemeClr val="tx1"/>
                </a:solidFill>
                <a:latin typeface="Helvetica" pitchFamily="34" charset="0"/>
                <a:ea typeface="+mn-ea"/>
                <a:cs typeface="+mn-cs"/>
              </a:rPr>
              <a:t>How do you resolve these conflict?</a:t>
            </a: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conflict</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Reflect on personal experiences.</a:t>
            </a: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conflict</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questions in the slide.</a:t>
            </a: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dissatisfaction</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Why is it important to resolve dissatisfaction?</a:t>
            </a:r>
          </a:p>
          <a:p>
            <a:pPr>
              <a:buFont typeface="Arial" pitchFamily="34" charset="0"/>
              <a:buChar char="•"/>
            </a:pPr>
            <a:r>
              <a:rPr lang="en-AU" sz="1200" b="0" kern="1200" baseline="0" dirty="0" smtClean="0">
                <a:solidFill>
                  <a:schemeClr val="tx1"/>
                </a:solidFill>
                <a:latin typeface="+mn-lt"/>
                <a:ea typeface="+mn-ea"/>
                <a:cs typeface="+mn-cs"/>
              </a:rPr>
              <a:t>How can you do this?</a:t>
            </a:r>
          </a:p>
          <a:p>
            <a:pPr>
              <a:buFont typeface="Arial" pitchFamily="34" charset="0"/>
              <a:buChar char="•"/>
            </a:pPr>
            <a:r>
              <a:rPr lang="en-AU" sz="1200" b="0" kern="1200" baseline="0" dirty="0" smtClean="0">
                <a:solidFill>
                  <a:schemeClr val="tx1"/>
                </a:solidFill>
                <a:latin typeface="+mn-lt"/>
                <a:ea typeface="+mn-ea"/>
                <a:cs typeface="+mn-cs"/>
              </a:rPr>
              <a:t>What are common causes of dissatisfaction?</a:t>
            </a:r>
            <a:endParaRPr lang="en-AU" sz="1200" b="0" baseline="0" dirty="0" smtClean="0">
              <a:latin typeface="Helvetica" pitchFamily="34" charset="0"/>
            </a:endParaRP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dissatisfaction</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the points in this slide.</a:t>
            </a:r>
            <a:endParaRPr lang="en-AU" sz="1200" b="0" baseline="0" dirty="0" smtClean="0">
              <a:latin typeface="Helvetica" pitchFamily="34" charset="0"/>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dissatisfaction in ‘</a:t>
            </a:r>
            <a:r>
              <a:rPr lang="en-AU" sz="1200" b="1" dirty="0" smtClean="0">
                <a:latin typeface="Helvetica" pitchFamily="34" charset="0"/>
              </a:rPr>
              <a:t>adverse’ conditions?</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examples of ‘</a:t>
            </a:r>
            <a:r>
              <a:rPr lang="en-AU" sz="1200" dirty="0" smtClean="0">
                <a:latin typeface="Helvetica" pitchFamily="34" charset="0"/>
              </a:rPr>
              <a:t>adverse’ conditions?</a:t>
            </a:r>
          </a:p>
          <a:p>
            <a:pPr>
              <a:buFont typeface="Arial" pitchFamily="34" charset="0"/>
              <a:buChar char="•"/>
            </a:pPr>
            <a:r>
              <a:rPr lang="en-AU" sz="1200" b="0" kern="1200" baseline="0" dirty="0" smtClean="0">
                <a:solidFill>
                  <a:schemeClr val="tx1"/>
                </a:solidFill>
                <a:latin typeface="Helvetica" pitchFamily="34" charset="0"/>
                <a:ea typeface="+mn-ea"/>
                <a:cs typeface="+mn-cs"/>
              </a:rPr>
              <a:t>How would you overcome these </a:t>
            </a:r>
            <a:r>
              <a:rPr lang="en-AU" sz="1200" dirty="0" smtClean="0">
                <a:latin typeface="Helvetica" pitchFamily="34" charset="0"/>
              </a:rPr>
              <a:t>adverse’ conditions to the benefit</a:t>
            </a:r>
            <a:r>
              <a:rPr lang="en-AU" sz="1200" baseline="0" dirty="0" smtClean="0">
                <a:latin typeface="Helvetica" pitchFamily="34" charset="0"/>
              </a:rPr>
              <a:t> of customers?</a:t>
            </a: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dissatisfaction in ‘</a:t>
            </a:r>
            <a:r>
              <a:rPr lang="en-AU" sz="1200" b="1" dirty="0" smtClean="0">
                <a:latin typeface="Helvetica" pitchFamily="34" charset="0"/>
              </a:rPr>
              <a:t>adverse’ conditions?</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Discuss questions in the slide.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Resolving dissatisfaction in ‘</a:t>
            </a:r>
            <a:r>
              <a:rPr lang="en-AU" sz="1200" b="1" dirty="0" smtClean="0">
                <a:latin typeface="Helvetica" pitchFamily="34" charset="0"/>
              </a:rPr>
              <a:t>adverse’ conditions?</a:t>
            </a:r>
            <a:endParaRPr lang="en-US" sz="1200" b="1" dirty="0" smtClean="0">
              <a:latin typeface="Helvetica" pitchFamily="34" charset="0"/>
            </a:endParaRPr>
          </a:p>
          <a:p>
            <a:endParaRPr lang="en-AU" sz="1200"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other strategies could you utilise?</a:t>
            </a:r>
          </a:p>
          <a:p>
            <a:pPr>
              <a:buFont typeface="Arial" pitchFamily="34" charset="0"/>
              <a:buNone/>
            </a:pPr>
            <a:endParaRPr lang="en-AU" sz="1200" b="0" kern="1200" baseline="0" dirty="0" smtClean="0">
              <a:solidFill>
                <a:schemeClr val="tx1"/>
              </a:solidFill>
              <a:latin typeface="+mn-lt"/>
              <a:ea typeface="+mn-ea"/>
              <a:cs typeface="+mn-cs"/>
            </a:endParaRPr>
          </a:p>
          <a:p>
            <a:pPr>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This</a:t>
            </a:r>
            <a:r>
              <a:rPr lang="en-AU" sz="1200" kern="1200" baseline="0" dirty="0" smtClean="0">
                <a:solidFill>
                  <a:schemeClr val="tx1"/>
                </a:solidFill>
                <a:ea typeface="+mn-ea"/>
                <a:cs typeface="+mn-cs"/>
              </a:rPr>
              <a:t> is the conclusion of the subject.</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Thank the audience and deliver assessments as required.</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1/12/2015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1/12/2015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1/12/2015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1/12/2015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1/12/2015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1/12/2015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1/12/2015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smtClean="0">
                <a:ln w="5000" cmpd="sng">
                  <a:noFill/>
                  <a:prstDash val="solid"/>
                </a:ln>
                <a:solidFill>
                  <a:srgbClr val="FF6600"/>
                </a:solidFill>
                <a:latin typeface="Helvetica" pitchFamily="34" charset="0"/>
              </a:rPr>
              <a:t>Lead tour groups in a responsible manner</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580112" y="1831132"/>
            <a:ext cx="2829300" cy="289742"/>
          </a:xfrm>
        </p:spPr>
        <p:txBody>
          <a:bodyPr>
            <a:noAutofit/>
          </a:bodyPr>
          <a:lstStyle/>
          <a:p>
            <a:r>
              <a:rPr lang="en-AU" sz="2800" b="1" dirty="0">
                <a:latin typeface="Helvetica" pitchFamily="34" charset="0"/>
              </a:rPr>
              <a:t>D2.TTG.CL3.11</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674527" y="2058427"/>
            <a:ext cx="4990638" cy="3703414"/>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dirty="0" smtClean="0">
                <a:latin typeface="Helvetica" pitchFamily="34" charset="0"/>
              </a:rPr>
              <a:t>This unit comprises four Elements:</a:t>
            </a:r>
          </a:p>
          <a:p>
            <a:pPr>
              <a:spcBef>
                <a:spcPts val="600"/>
              </a:spcBef>
              <a:spcAft>
                <a:spcPts val="1200"/>
              </a:spcAft>
            </a:pPr>
            <a:r>
              <a:rPr lang="en-AU" sz="2200" dirty="0" smtClean="0">
                <a:latin typeface="Helvetica" pitchFamily="34" charset="0"/>
              </a:rPr>
              <a:t>Identify the pre-requisites for responsible tour leadership</a:t>
            </a:r>
          </a:p>
          <a:p>
            <a:pPr>
              <a:spcBef>
                <a:spcPts val="600"/>
              </a:spcBef>
              <a:spcAft>
                <a:spcPts val="1200"/>
              </a:spcAft>
            </a:pPr>
            <a:r>
              <a:rPr lang="en-AU" sz="2200" dirty="0" smtClean="0">
                <a:latin typeface="Helvetica" pitchFamily="34" charset="0"/>
              </a:rPr>
              <a:t>Co-ordinate tour group movements and activities</a:t>
            </a:r>
          </a:p>
          <a:p>
            <a:pPr>
              <a:spcBef>
                <a:spcPts val="600"/>
              </a:spcBef>
              <a:spcAft>
                <a:spcPts val="1200"/>
              </a:spcAft>
            </a:pPr>
            <a:r>
              <a:rPr lang="en-AU" sz="2200" dirty="0" smtClean="0">
                <a:latin typeface="Helvetica" pitchFamily="34" charset="0"/>
              </a:rPr>
              <a:t>Facilitate tour group interaction with each other and the tour environment</a:t>
            </a:r>
          </a:p>
          <a:p>
            <a:pPr>
              <a:spcBef>
                <a:spcPts val="600"/>
              </a:spcBef>
              <a:spcAft>
                <a:spcPts val="1200"/>
              </a:spcAft>
            </a:pPr>
            <a:r>
              <a:rPr lang="en-AU" sz="2200" dirty="0" smtClean="0">
                <a:latin typeface="Helvetica" pitchFamily="34" charset="0"/>
              </a:rPr>
              <a:t>Deal with on-tour problems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shutterstock_150502661.jpg"/>
          <p:cNvPicPr>
            <a:picLocks noChangeAspect="1"/>
          </p:cNvPicPr>
          <p:nvPr/>
        </p:nvPicPr>
        <p:blipFill>
          <a:blip r:embed="rId3" cstate="print"/>
          <a:stretch>
            <a:fillRect/>
          </a:stretch>
        </p:blipFill>
        <p:spPr>
          <a:xfrm>
            <a:off x="5940151" y="3917629"/>
            <a:ext cx="2469139" cy="164609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Assessment.jpg"/>
          <p:cNvPicPr>
            <a:picLocks noChangeAspect="1"/>
          </p:cNvPicPr>
          <p:nvPr/>
        </p:nvPicPr>
        <p:blipFill>
          <a:blip r:embed="rId3" cstate="print"/>
          <a:stretch>
            <a:fillRect/>
          </a:stretch>
        </p:blipFill>
        <p:spPr>
          <a:xfrm>
            <a:off x="6105812" y="2863577"/>
            <a:ext cx="2068638" cy="22148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052736"/>
            <a:ext cx="7237040" cy="5184576"/>
          </a:xfrm>
        </p:spPr>
        <p:txBody>
          <a:bodyPr>
            <a:normAutofit/>
          </a:bodyPr>
          <a:lstStyle/>
          <a:p>
            <a:pPr marL="0">
              <a:buNone/>
            </a:pPr>
            <a:r>
              <a:rPr lang="en-AU" sz="4000" b="1" dirty="0" smtClean="0">
                <a:solidFill>
                  <a:srgbClr val="FF6600"/>
                </a:solidFill>
                <a:latin typeface="Helvetica" pitchFamily="34" charset="0"/>
              </a:rPr>
              <a:t>Element 1:</a:t>
            </a:r>
          </a:p>
          <a:p>
            <a:pPr marL="0" indent="0">
              <a:spcBef>
                <a:spcPts val="600"/>
              </a:spcBef>
              <a:spcAft>
                <a:spcPts val="1200"/>
              </a:spcAft>
              <a:buNone/>
            </a:pPr>
            <a:r>
              <a:rPr lang="en-AU" sz="4000" b="1" i="1" dirty="0">
                <a:solidFill>
                  <a:srgbClr val="FF6600"/>
                </a:solidFill>
                <a:latin typeface="Helvetica" pitchFamily="34" charset="0"/>
              </a:rPr>
              <a:t>Identify the pre-requisites for responsible tour leadership</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shutterstock_136968575.jpg"/>
          <p:cNvPicPr>
            <a:picLocks noChangeAspect="1"/>
          </p:cNvPicPr>
          <p:nvPr/>
        </p:nvPicPr>
        <p:blipFill>
          <a:blip r:embed="rId3" cstate="print"/>
          <a:stretch>
            <a:fillRect/>
          </a:stretch>
        </p:blipFill>
        <p:spPr>
          <a:xfrm>
            <a:off x="3203848" y="3284984"/>
            <a:ext cx="1800200" cy="26989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the pre-requisites for responsible tour leadership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Describe host enterprise policies and procedures relating to tour guiding and tour activities</a:t>
            </a:r>
          </a:p>
          <a:p>
            <a:pPr>
              <a:spcBef>
                <a:spcPts val="600"/>
              </a:spcBef>
              <a:spcAft>
                <a:spcPts val="1200"/>
              </a:spcAft>
            </a:pPr>
            <a:r>
              <a:rPr lang="en-AU" sz="2200" dirty="0" smtClean="0">
                <a:latin typeface="Helvetica" pitchFamily="34" charset="0"/>
              </a:rPr>
              <a:t>Describe the legal implications involved in </a:t>
            </a:r>
            <a:br>
              <a:rPr lang="en-AU" sz="2200" dirty="0" smtClean="0">
                <a:latin typeface="Helvetica" pitchFamily="34" charset="0"/>
              </a:rPr>
            </a:br>
            <a:r>
              <a:rPr lang="en-AU" sz="2200" dirty="0" smtClean="0">
                <a:latin typeface="Helvetica" pitchFamily="34" charset="0"/>
              </a:rPr>
              <a:t>conducting guiding activities</a:t>
            </a:r>
          </a:p>
          <a:p>
            <a:pPr>
              <a:spcBef>
                <a:spcPts val="600"/>
              </a:spcBef>
              <a:spcAft>
                <a:spcPts val="1200"/>
              </a:spcAft>
            </a:pPr>
            <a:r>
              <a:rPr lang="en-AU" sz="2200" dirty="0" smtClean="0">
                <a:latin typeface="Helvetica" pitchFamily="34" charset="0"/>
              </a:rPr>
              <a:t>Describe the characteristics of effective                                      tour group leaders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A18 shutterstock_181389116.jpg"/>
          <p:cNvPicPr>
            <a:picLocks noChangeAspect="1"/>
          </p:cNvPicPr>
          <p:nvPr/>
        </p:nvPicPr>
        <p:blipFill>
          <a:blip r:embed="rId3" cstate="print"/>
          <a:stretch>
            <a:fillRect/>
          </a:stretch>
        </p:blipFill>
        <p:spPr>
          <a:xfrm>
            <a:off x="6876256" y="3054260"/>
            <a:ext cx="1592386" cy="23838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Role of tour guides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Importance of tour guides</a:t>
            </a:r>
          </a:p>
          <a:p>
            <a:pPr>
              <a:spcBef>
                <a:spcPts val="600"/>
              </a:spcBef>
              <a:spcAft>
                <a:spcPts val="1200"/>
              </a:spcAft>
            </a:pPr>
            <a:r>
              <a:rPr lang="en-AU" sz="2200" dirty="0" smtClean="0">
                <a:latin typeface="Helvetica" pitchFamily="34" charset="0"/>
              </a:rPr>
              <a:t>A tour guide is responsible for many parts of the tour </a:t>
            </a:r>
          </a:p>
          <a:p>
            <a:pPr>
              <a:spcBef>
                <a:spcPts val="600"/>
              </a:spcBef>
              <a:spcAft>
                <a:spcPts val="1200"/>
              </a:spcAft>
            </a:pPr>
            <a:r>
              <a:rPr lang="en-AU" sz="2200" dirty="0" smtClean="0">
                <a:latin typeface="Helvetica" pitchFamily="34" charset="0"/>
              </a:rPr>
              <a:t>They are responsible for ensuring that people in their group have a safe, enjoyable time and that the tour runs as smoothly as possible</a:t>
            </a:r>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6" name="Picture 5" descr="W2_asian_girl_overseas_shutterstock_155319494.jpg"/>
          <p:cNvPicPr/>
          <p:nvPr/>
        </p:nvPicPr>
        <p:blipFill>
          <a:blip r:embed="rId3" cstate="print"/>
          <a:stretch>
            <a:fillRect/>
          </a:stretch>
        </p:blipFill>
        <p:spPr>
          <a:xfrm>
            <a:off x="6498545" y="3645024"/>
            <a:ext cx="1961887"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Company policies and procedures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Importance of tour guides</a:t>
            </a:r>
          </a:p>
          <a:p>
            <a:pPr>
              <a:spcBef>
                <a:spcPts val="600"/>
              </a:spcBef>
              <a:spcAft>
                <a:spcPts val="1200"/>
              </a:spcAft>
            </a:pPr>
            <a:r>
              <a:rPr lang="en-AU" sz="2200" dirty="0" smtClean="0">
                <a:latin typeface="Helvetica" pitchFamily="34" charset="0"/>
              </a:rPr>
              <a:t>In order to control many tour guide activities, a tourism business will often prepare a series of house rules that staff and management are expected to comply with</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These are company policies and standard operating procedures</a:t>
            </a:r>
            <a:endParaRPr lang="en-US" sz="2200" dirty="0" smtClean="0">
              <a:latin typeface="Helvetica" pitchFamily="34" charset="0"/>
            </a:endParaRPr>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A16 shutterstock_173793329.jpg"/>
          <p:cNvPicPr/>
          <p:nvPr/>
        </p:nvPicPr>
        <p:blipFill>
          <a:blip r:embed="rId3" cstate="print"/>
          <a:stretch>
            <a:fillRect/>
          </a:stretch>
        </p:blipFill>
        <p:spPr>
          <a:xfrm>
            <a:off x="5940152" y="3933056"/>
            <a:ext cx="2483768"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Identifying upcoming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Identifying upcoming tours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Tours can be ‘special’ tours or ‘scheduled’ tours.</a:t>
            </a:r>
          </a:p>
          <a:p>
            <a:pPr>
              <a:spcBef>
                <a:spcPts val="600"/>
              </a:spcBef>
              <a:spcAft>
                <a:spcPts val="1200"/>
              </a:spcAft>
            </a:pPr>
            <a:r>
              <a:rPr lang="en-AU" sz="2200" dirty="0" smtClean="0">
                <a:latin typeface="Helvetica" pitchFamily="34" charset="0"/>
              </a:rPr>
              <a:t>What is the difference?</a:t>
            </a:r>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6" name="Picture 5" descr="W5_asian_passport_shutterstock_155711105.jpg"/>
          <p:cNvPicPr/>
          <p:nvPr/>
        </p:nvPicPr>
        <p:blipFill>
          <a:blip r:embed="rId3" cstate="print"/>
          <a:stretch>
            <a:fillRect/>
          </a:stretch>
        </p:blipFill>
        <p:spPr>
          <a:xfrm>
            <a:off x="6372200" y="2924944"/>
            <a:ext cx="1944216"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Identifying upcoming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Special tours  </a:t>
            </a:r>
          </a:p>
          <a:p>
            <a:pPr>
              <a:spcBef>
                <a:spcPts val="600"/>
              </a:spcBef>
              <a:spcAft>
                <a:spcPts val="1200"/>
              </a:spcAft>
            </a:pPr>
            <a:r>
              <a:rPr lang="en-AU" sz="2200" dirty="0" smtClean="0">
                <a:latin typeface="Helvetica" pitchFamily="34" charset="0"/>
              </a:rPr>
              <a:t>Tours conducted on a one-off basis for a certain group of people </a:t>
            </a:r>
          </a:p>
          <a:p>
            <a:pPr>
              <a:spcBef>
                <a:spcPts val="600"/>
              </a:spcBef>
              <a:spcAft>
                <a:spcPts val="1200"/>
              </a:spcAft>
            </a:pPr>
            <a:r>
              <a:rPr lang="en-AU" sz="2200" dirty="0" smtClean="0">
                <a:latin typeface="Helvetica" pitchFamily="34" charset="0"/>
              </a:rPr>
              <a:t>This tour is customised to meet the needs, wants and preferences of the tour group members</a:t>
            </a:r>
          </a:p>
          <a:p>
            <a:pPr>
              <a:buNone/>
            </a:pPr>
            <a:endParaRPr lang="en-AU" sz="2400" dirty="0" smtClean="0"/>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W396_souvenier_shutterstock_6521602.jpg"/>
          <p:cNvPicPr>
            <a:picLocks noChangeAspect="1"/>
          </p:cNvPicPr>
          <p:nvPr/>
        </p:nvPicPr>
        <p:blipFill>
          <a:blip r:embed="rId3" cstate="print"/>
          <a:stretch>
            <a:fillRect/>
          </a:stretch>
        </p:blipFill>
        <p:spPr>
          <a:xfrm>
            <a:off x="5436095" y="3861048"/>
            <a:ext cx="2961435" cy="1981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pPr>
              <a:spcBef>
                <a:spcPts val="600"/>
              </a:spcBef>
              <a:spcAft>
                <a:spcPts val="1200"/>
              </a:spcAft>
            </a:pPr>
            <a:r>
              <a:rPr lang="en-AU" sz="3400" b="1" dirty="0" smtClean="0">
                <a:solidFill>
                  <a:srgbClr val="FF6600"/>
                </a:solidFill>
                <a:latin typeface="Helvetica" pitchFamily="34" charset="0"/>
              </a:rPr>
              <a:t>Identifying upcoming tours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Scheduled tours  </a:t>
            </a:r>
          </a:p>
          <a:p>
            <a:pPr>
              <a:spcBef>
                <a:spcPts val="600"/>
              </a:spcBef>
              <a:spcAft>
                <a:spcPts val="1200"/>
              </a:spcAft>
            </a:pPr>
            <a:r>
              <a:rPr lang="en-AU" sz="2200" dirty="0" smtClean="0">
                <a:latin typeface="Helvetica" pitchFamily="34" charset="0"/>
              </a:rPr>
              <a:t>Tours conducted on a regular basis every day and are generic in nature</a:t>
            </a:r>
          </a:p>
          <a:p>
            <a:pPr>
              <a:spcBef>
                <a:spcPts val="600"/>
              </a:spcBef>
              <a:spcAft>
                <a:spcPts val="1200"/>
              </a:spcAft>
            </a:pPr>
            <a:r>
              <a:rPr lang="en-AU" sz="2200" dirty="0" smtClean="0">
                <a:latin typeface="Helvetica" pitchFamily="34" charset="0"/>
              </a:rPr>
              <a:t>In essence, every tour is the same</a:t>
            </a:r>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6" name="Picture 5" descr="shutterstock_145297258.jpg"/>
          <p:cNvPicPr>
            <a:picLocks noChangeAspect="1"/>
          </p:cNvPicPr>
          <p:nvPr/>
        </p:nvPicPr>
        <p:blipFill>
          <a:blip r:embed="rId3" cstate="print"/>
          <a:stretch>
            <a:fillRect/>
          </a:stretch>
        </p:blipFill>
        <p:spPr>
          <a:xfrm>
            <a:off x="2627784" y="3717032"/>
            <a:ext cx="3038207" cy="20264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Accessing tour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Stakeholders to access tour information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Tour guides can become aware of a tour through:</a:t>
            </a:r>
          </a:p>
          <a:p>
            <a:pPr lvl="0">
              <a:spcBef>
                <a:spcPts val="600"/>
              </a:spcBef>
              <a:spcAft>
                <a:spcPts val="1200"/>
              </a:spcAft>
            </a:pPr>
            <a:r>
              <a:rPr lang="en-AU" sz="2200" dirty="0" smtClean="0">
                <a:latin typeface="Helvetica" pitchFamily="34" charset="0"/>
              </a:rPr>
              <a:t>Being advised by site owners, tour group </a:t>
            </a:r>
            <a:br>
              <a:rPr lang="en-AU" sz="2200" dirty="0" smtClean="0">
                <a:latin typeface="Helvetica" pitchFamily="34" charset="0"/>
              </a:rPr>
            </a:br>
            <a:r>
              <a:rPr lang="en-AU" sz="2200" dirty="0" smtClean="0">
                <a:latin typeface="Helvetica" pitchFamily="34" charset="0"/>
              </a:rPr>
              <a:t>agencies, travel agents or a representative </a:t>
            </a:r>
            <a:br>
              <a:rPr lang="en-AU" sz="2200" dirty="0" smtClean="0">
                <a:latin typeface="Helvetica" pitchFamily="34" charset="0"/>
              </a:rPr>
            </a:br>
            <a:r>
              <a:rPr lang="en-AU" sz="2200" dirty="0" smtClean="0">
                <a:latin typeface="Helvetica" pitchFamily="34" charset="0"/>
              </a:rPr>
              <a:t>from a club or group</a:t>
            </a:r>
          </a:p>
          <a:p>
            <a:pPr lvl="0">
              <a:spcBef>
                <a:spcPts val="600"/>
              </a:spcBef>
              <a:spcAft>
                <a:spcPts val="1200"/>
              </a:spcAft>
            </a:pPr>
            <a:r>
              <a:rPr lang="en-AU" sz="2200" dirty="0" smtClean="0">
                <a:latin typeface="Helvetica" pitchFamily="34" charset="0"/>
              </a:rPr>
              <a:t>Reading the Advanced Bookings/</a:t>
            </a:r>
            <a:br>
              <a:rPr lang="en-AU" sz="2200" dirty="0" smtClean="0">
                <a:latin typeface="Helvetica" pitchFamily="34" charset="0"/>
              </a:rPr>
            </a:br>
            <a:r>
              <a:rPr lang="en-AU" sz="2200" dirty="0" smtClean="0">
                <a:latin typeface="Helvetica" pitchFamily="34" charset="0"/>
              </a:rPr>
              <a:t>Group Bookings file</a:t>
            </a:r>
          </a:p>
          <a:p>
            <a:pPr lvl="0">
              <a:spcBef>
                <a:spcPts val="600"/>
              </a:spcBef>
              <a:spcAft>
                <a:spcPts val="1200"/>
              </a:spcAft>
            </a:pPr>
            <a:r>
              <a:rPr lang="en-AU" sz="2200" dirty="0" smtClean="0">
                <a:latin typeface="Helvetica" pitchFamily="34" charset="0"/>
              </a:rPr>
              <a:t>The regular schedule of tours </a:t>
            </a:r>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7" name="Picture 6" descr="W6_bellboy_2_shutterstock_143902456.jpg"/>
          <p:cNvPicPr/>
          <p:nvPr/>
        </p:nvPicPr>
        <p:blipFill>
          <a:blip r:embed="rId3" cstate="print"/>
          <a:stretch>
            <a:fillRect/>
          </a:stretch>
        </p:blipFill>
        <p:spPr>
          <a:xfrm>
            <a:off x="6867676" y="2996952"/>
            <a:ext cx="1368152"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Tour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The tour brief</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 tour brief is a document that allows the manager to define the tasks associated with a tour</a:t>
            </a:r>
          </a:p>
          <a:p>
            <a:pPr>
              <a:spcBef>
                <a:spcPts val="600"/>
              </a:spcBef>
              <a:spcAft>
                <a:spcPts val="1200"/>
              </a:spcAft>
            </a:pPr>
            <a:r>
              <a:rPr lang="en-AU" sz="2200" dirty="0" smtClean="0">
                <a:latin typeface="Helvetica" pitchFamily="34" charset="0"/>
              </a:rPr>
              <a:t>The brief informs the guide of all client, product and employer requirements associated with a specific tour </a:t>
            </a:r>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6" name="Picture 5" descr="W15_Chinese_Professional_Hotel_shutterstock_46727428.jpg"/>
          <p:cNvPicPr/>
          <p:nvPr/>
        </p:nvPicPr>
        <p:blipFill>
          <a:blip r:embed="rId3" cstate="print"/>
          <a:stretch>
            <a:fillRect/>
          </a:stretch>
        </p:blipFill>
        <p:spPr>
          <a:xfrm>
            <a:off x="3810585" y="3789040"/>
            <a:ext cx="1728192" cy="22418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Tour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a:spcBef>
                <a:spcPts val="600"/>
              </a:spcBef>
              <a:spcAft>
                <a:spcPts val="1200"/>
              </a:spcAft>
              <a:buNone/>
            </a:pPr>
            <a:r>
              <a:rPr lang="en-AU" sz="2200" b="1" dirty="0" smtClean="0">
                <a:latin typeface="Helvetica" pitchFamily="34" charset="0"/>
              </a:rPr>
              <a:t>Information provided in a tour brief</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Duration of the tour</a:t>
            </a:r>
          </a:p>
          <a:p>
            <a:pPr lvl="0">
              <a:spcBef>
                <a:spcPts val="600"/>
              </a:spcBef>
              <a:spcAft>
                <a:spcPts val="1200"/>
              </a:spcAft>
            </a:pPr>
            <a:r>
              <a:rPr lang="en-AU" sz="2200" dirty="0" smtClean="0">
                <a:latin typeface="Helvetica" pitchFamily="34" charset="0"/>
              </a:rPr>
              <a:t>Size and structure of the group</a:t>
            </a:r>
          </a:p>
          <a:p>
            <a:pPr lvl="0">
              <a:spcBef>
                <a:spcPts val="600"/>
              </a:spcBef>
              <a:spcAft>
                <a:spcPts val="1200"/>
              </a:spcAft>
            </a:pPr>
            <a:r>
              <a:rPr lang="en-AU" sz="2200" dirty="0" smtClean="0">
                <a:latin typeface="Helvetica" pitchFamily="34" charset="0"/>
              </a:rPr>
              <a:t>Age range, socioeconomic background, cultural background, special interests, and special needs/requirements of the clients</a:t>
            </a:r>
          </a:p>
          <a:p>
            <a:pPr lvl="0">
              <a:spcBef>
                <a:spcPts val="600"/>
              </a:spcBef>
              <a:spcAft>
                <a:spcPts val="1200"/>
              </a:spcAft>
            </a:pPr>
            <a:r>
              <a:rPr lang="en-AU" sz="2200" dirty="0" smtClean="0">
                <a:latin typeface="Helvetica" pitchFamily="34" charset="0"/>
              </a:rPr>
              <a:t>Specific itinerary requirements and </a:t>
            </a:r>
            <a:br>
              <a:rPr lang="en-AU" sz="2200" dirty="0" smtClean="0">
                <a:latin typeface="Helvetica" pitchFamily="34" charset="0"/>
              </a:rPr>
            </a:br>
            <a:r>
              <a:rPr lang="en-AU" sz="2200" dirty="0" smtClean="0">
                <a:latin typeface="Helvetica" pitchFamily="34" charset="0"/>
              </a:rPr>
              <a:t>tour inclusions</a:t>
            </a:r>
          </a:p>
          <a:p>
            <a:pPr lvl="0">
              <a:spcBef>
                <a:spcPts val="600"/>
              </a:spcBef>
              <a:spcAft>
                <a:spcPts val="1200"/>
              </a:spcAft>
            </a:pPr>
            <a:r>
              <a:rPr lang="en-AU" sz="2200" dirty="0" smtClean="0">
                <a:latin typeface="Helvetica" pitchFamily="34" charset="0"/>
              </a:rPr>
              <a:t>Special clients requirements or requests</a:t>
            </a:r>
          </a:p>
          <a:p>
            <a:pPr lvl="0">
              <a:spcBef>
                <a:spcPts val="600"/>
              </a:spcBef>
              <a:spcAft>
                <a:spcPts val="1200"/>
              </a:spcAft>
            </a:pPr>
            <a:r>
              <a:rPr lang="en-AU" sz="2200" dirty="0" smtClean="0">
                <a:latin typeface="Helvetica" pitchFamily="34" charset="0"/>
              </a:rPr>
              <a:t>Key features of a tour or site</a:t>
            </a:r>
          </a:p>
          <a:p>
            <a:pPr lvl="0"/>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descr="W20_elderly_chinese_coupleshutterstock_130148837.jpg"/>
          <p:cNvPicPr/>
          <p:nvPr/>
        </p:nvPicPr>
        <p:blipFill>
          <a:blip r:embed="rId3" cstate="print"/>
          <a:stretch>
            <a:fillRect/>
          </a:stretch>
        </p:blipFill>
        <p:spPr>
          <a:xfrm>
            <a:off x="6356334" y="4149080"/>
            <a:ext cx="2123547" cy="15264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Tour brief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Information provided in a tour brief</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Vouchers for all components - transport, accommodation etc</a:t>
            </a:r>
          </a:p>
          <a:p>
            <a:pPr lvl="0">
              <a:spcBef>
                <a:spcPts val="600"/>
              </a:spcBef>
              <a:spcAft>
                <a:spcPts val="1200"/>
              </a:spcAft>
            </a:pPr>
            <a:r>
              <a:rPr lang="en-AU" sz="2200" dirty="0" smtClean="0">
                <a:latin typeface="Helvetica" pitchFamily="34" charset="0"/>
              </a:rPr>
              <a:t>Airline tickets if relevant</a:t>
            </a:r>
          </a:p>
          <a:p>
            <a:pPr lvl="0">
              <a:spcBef>
                <a:spcPts val="600"/>
              </a:spcBef>
              <a:spcAft>
                <a:spcPts val="1200"/>
              </a:spcAft>
            </a:pPr>
            <a:r>
              <a:rPr lang="en-AU" sz="2200" dirty="0" smtClean="0">
                <a:latin typeface="Helvetica" pitchFamily="34" charset="0"/>
              </a:rPr>
              <a:t>Passenger rooming list</a:t>
            </a:r>
          </a:p>
          <a:p>
            <a:pPr lvl="0">
              <a:spcBef>
                <a:spcPts val="600"/>
              </a:spcBef>
              <a:spcAft>
                <a:spcPts val="1200"/>
              </a:spcAft>
            </a:pPr>
            <a:r>
              <a:rPr lang="en-AU" sz="2200" dirty="0" smtClean="0">
                <a:latin typeface="Helvetica" pitchFamily="34" charset="0"/>
              </a:rPr>
              <a:t>List of industry contacts involved in the tour</a:t>
            </a:r>
          </a:p>
          <a:p>
            <a:pPr lvl="0">
              <a:spcBef>
                <a:spcPts val="600"/>
              </a:spcBef>
              <a:spcAft>
                <a:spcPts val="1200"/>
              </a:spcAft>
            </a:pPr>
            <a:r>
              <a:rPr lang="en-AU" sz="2200" dirty="0" smtClean="0">
                <a:latin typeface="Helvetica" pitchFamily="34" charset="0"/>
              </a:rPr>
              <a:t>Necessary report/ guide forms</a:t>
            </a:r>
          </a:p>
          <a:p>
            <a:pPr lvl="0">
              <a:spcBef>
                <a:spcPts val="600"/>
              </a:spcBef>
              <a:spcAft>
                <a:spcPts val="1200"/>
              </a:spcAft>
            </a:pPr>
            <a:r>
              <a:rPr lang="en-AU" sz="2200" dirty="0" smtClean="0">
                <a:latin typeface="Helvetica" pitchFamily="34" charset="0"/>
              </a:rPr>
              <a:t>Company policy manual guideline</a:t>
            </a:r>
          </a:p>
          <a:p>
            <a:pPr lvl="0">
              <a:spcBef>
                <a:spcPts val="600"/>
              </a:spcBef>
              <a:spcAft>
                <a:spcPts val="1200"/>
              </a:spcAft>
            </a:pPr>
            <a:r>
              <a:rPr lang="en-AU" sz="2200" dirty="0" smtClean="0">
                <a:latin typeface="Helvetica" pitchFamily="34" charset="0"/>
              </a:rPr>
              <a:t>Meal requirements</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7" name="Picture 6" descr="Generic_Plan and boarding.jpg"/>
          <p:cNvPicPr>
            <a:picLocks noChangeAspect="1"/>
          </p:cNvPicPr>
          <p:nvPr/>
        </p:nvPicPr>
        <p:blipFill>
          <a:blip r:embed="rId3" cstate="print"/>
          <a:stretch>
            <a:fillRect/>
          </a:stretch>
        </p:blipFill>
        <p:spPr>
          <a:xfrm>
            <a:off x="6660232" y="3429000"/>
            <a:ext cx="1807792" cy="24103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Contracts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Contracts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An essential aspect of confirming details of any forthcoming tour is to read any accompanying documentation. </a:t>
            </a:r>
          </a:p>
          <a:p>
            <a:pPr>
              <a:spcBef>
                <a:spcPts val="600"/>
              </a:spcBef>
              <a:spcAft>
                <a:spcPts val="1200"/>
              </a:spcAft>
              <a:buNone/>
            </a:pPr>
            <a:r>
              <a:rPr lang="en-AU" sz="2200" dirty="0" smtClean="0">
                <a:latin typeface="Helvetica" pitchFamily="34" charset="0"/>
              </a:rPr>
              <a:t>One of these vital documents is any tour contracts:</a:t>
            </a:r>
          </a:p>
          <a:p>
            <a:pPr>
              <a:spcBef>
                <a:spcPts val="600"/>
              </a:spcBef>
              <a:spcAft>
                <a:spcPts val="1200"/>
              </a:spcAft>
            </a:pPr>
            <a:r>
              <a:rPr lang="en-AU" sz="2200" dirty="0" smtClean="0">
                <a:latin typeface="Helvetica" pitchFamily="34" charset="0"/>
              </a:rPr>
              <a:t>What information is contained in a contract?</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 name="Picture 6" descr="W112_business_documents_shutterstock_156031889.jpg"/>
          <p:cNvPicPr/>
          <p:nvPr/>
        </p:nvPicPr>
        <p:blipFill>
          <a:blip r:embed="rId3" cstate="print"/>
          <a:stretch>
            <a:fillRect/>
          </a:stretch>
        </p:blipFill>
        <p:spPr>
          <a:xfrm>
            <a:off x="2627784" y="4149080"/>
            <a:ext cx="2952328" cy="18722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Tour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Tour Itinerary</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The tour itinerary is the road map for any tour</a:t>
            </a:r>
          </a:p>
          <a:p>
            <a:pPr>
              <a:spcBef>
                <a:spcPts val="600"/>
              </a:spcBef>
              <a:spcAft>
                <a:spcPts val="1200"/>
              </a:spcAft>
            </a:pPr>
            <a:r>
              <a:rPr lang="en-AU" sz="2200" dirty="0" smtClean="0">
                <a:latin typeface="Helvetica" pitchFamily="34" charset="0"/>
              </a:rPr>
              <a:t>An itinerary is a list, or description of travel arrangements</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7" name="Picture 6" descr="W183_documents_shutterstock_155784974.jpg"/>
          <p:cNvPicPr/>
          <p:nvPr/>
        </p:nvPicPr>
        <p:blipFill>
          <a:blip r:embed="rId3" cstate="print"/>
          <a:stretch>
            <a:fillRect/>
          </a:stretch>
        </p:blipFill>
        <p:spPr>
          <a:xfrm>
            <a:off x="6085995" y="4005064"/>
            <a:ext cx="2374437" cy="181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Tour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Tour Itinerary</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Domestic and international flights</a:t>
            </a:r>
          </a:p>
          <a:p>
            <a:pPr lvl="0">
              <a:spcBef>
                <a:spcPts val="600"/>
              </a:spcBef>
              <a:spcAft>
                <a:spcPts val="1200"/>
              </a:spcAft>
            </a:pPr>
            <a:r>
              <a:rPr lang="en-AU" sz="2200" dirty="0" smtClean="0">
                <a:latin typeface="Helvetica" pitchFamily="34" charset="0"/>
              </a:rPr>
              <a:t>Transfers</a:t>
            </a:r>
          </a:p>
          <a:p>
            <a:pPr lvl="0">
              <a:spcBef>
                <a:spcPts val="600"/>
              </a:spcBef>
              <a:spcAft>
                <a:spcPts val="1200"/>
              </a:spcAft>
            </a:pPr>
            <a:r>
              <a:rPr lang="en-AU" sz="2200" dirty="0" smtClean="0">
                <a:latin typeface="Helvetica" pitchFamily="34" charset="0"/>
              </a:rPr>
              <a:t>Rail and coach journeys, care hire and ferry journeys</a:t>
            </a:r>
          </a:p>
          <a:p>
            <a:pPr lvl="0">
              <a:spcBef>
                <a:spcPts val="600"/>
              </a:spcBef>
              <a:spcAft>
                <a:spcPts val="1200"/>
              </a:spcAft>
            </a:pPr>
            <a:r>
              <a:rPr lang="en-AU" sz="2200" dirty="0" smtClean="0">
                <a:latin typeface="Helvetica" pitchFamily="34" charset="0"/>
              </a:rPr>
              <a:t>Accommodation of various types</a:t>
            </a:r>
          </a:p>
          <a:p>
            <a:pPr lvl="0">
              <a:spcBef>
                <a:spcPts val="600"/>
              </a:spcBef>
              <a:spcAft>
                <a:spcPts val="1200"/>
              </a:spcAft>
            </a:pPr>
            <a:r>
              <a:rPr lang="en-AU" sz="2200" dirty="0" smtClean="0">
                <a:latin typeface="Helvetica" pitchFamily="34" charset="0"/>
              </a:rPr>
              <a:t>Any packaged tours</a:t>
            </a:r>
          </a:p>
          <a:p>
            <a:pPr lvl="0">
              <a:spcBef>
                <a:spcPts val="600"/>
              </a:spcBef>
              <a:spcAft>
                <a:spcPts val="1200"/>
              </a:spcAft>
            </a:pPr>
            <a:r>
              <a:rPr lang="en-AU" sz="2200" dirty="0" smtClean="0">
                <a:latin typeface="Helvetica" pitchFamily="34" charset="0"/>
              </a:rPr>
              <a:t>Entry to attractions or events</a:t>
            </a:r>
          </a:p>
          <a:p>
            <a:pPr lvl="0">
              <a:spcBef>
                <a:spcPts val="600"/>
              </a:spcBef>
              <a:spcAft>
                <a:spcPts val="1200"/>
              </a:spcAft>
            </a:pPr>
            <a:r>
              <a:rPr lang="en-AU" sz="2200" dirty="0" smtClean="0">
                <a:latin typeface="Helvetica" pitchFamily="34" charset="0"/>
              </a:rPr>
              <a:t>Meals and sightseeing</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6" name="Picture 5" descr="W3_asian_holiday_shutterstock_155571818.jpg"/>
          <p:cNvPicPr/>
          <p:nvPr/>
        </p:nvPicPr>
        <p:blipFill>
          <a:blip r:embed="rId3" cstate="print"/>
          <a:stretch>
            <a:fillRect/>
          </a:stretch>
        </p:blipFill>
        <p:spPr>
          <a:xfrm>
            <a:off x="6029797" y="3849648"/>
            <a:ext cx="2430635" cy="181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Role of group leader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Identifying the group leader</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Exactly who is the group leader can vary between the tour groups:</a:t>
            </a:r>
          </a:p>
          <a:p>
            <a:pPr>
              <a:spcBef>
                <a:spcPts val="600"/>
              </a:spcBef>
              <a:spcAft>
                <a:spcPts val="1200"/>
              </a:spcAft>
            </a:pPr>
            <a:r>
              <a:rPr lang="en-AU" sz="2200" dirty="0" smtClean="0">
                <a:latin typeface="Helvetica" pitchFamily="34" charset="0"/>
              </a:rPr>
              <a:t>Why is it important to identify the group leader?</a:t>
            </a:r>
          </a:p>
          <a:p>
            <a:pPr>
              <a:spcBef>
                <a:spcPts val="600"/>
              </a:spcBef>
              <a:spcAft>
                <a:spcPts val="1200"/>
              </a:spcAft>
            </a:pPr>
            <a:r>
              <a:rPr lang="en-AU" sz="2200" dirty="0" smtClean="0">
                <a:latin typeface="Helvetica" pitchFamily="34" charset="0"/>
              </a:rPr>
              <a:t>What needs to be discussed with this person?</a:t>
            </a:r>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7" name="Picture 6" descr="W4_Asian_Man_Professional_shutterstock_153733442.jpg"/>
          <p:cNvPicPr>
            <a:picLocks noChangeAspect="1"/>
          </p:cNvPicPr>
          <p:nvPr/>
        </p:nvPicPr>
        <p:blipFill>
          <a:blip r:embed="rId3" cstate="print"/>
          <a:stretch>
            <a:fillRect/>
          </a:stretch>
        </p:blipFill>
        <p:spPr>
          <a:xfrm>
            <a:off x="2627784" y="4365104"/>
            <a:ext cx="2448283" cy="163300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Confirming tour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Confirming details of the tour</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details of a tour should be confirmed wherever possible in advance:</a:t>
            </a:r>
          </a:p>
          <a:p>
            <a:pPr>
              <a:spcBef>
                <a:spcPts val="600"/>
              </a:spcBef>
              <a:spcAft>
                <a:spcPts val="1200"/>
              </a:spcAft>
            </a:pPr>
            <a:r>
              <a:rPr lang="en-AU" sz="2200" dirty="0" smtClean="0">
                <a:latin typeface="Helvetica" pitchFamily="34" charset="0"/>
              </a:rPr>
              <a:t>Who should be contacted?</a:t>
            </a:r>
          </a:p>
          <a:p>
            <a:pPr>
              <a:spcBef>
                <a:spcPts val="600"/>
              </a:spcBef>
              <a:spcAft>
                <a:spcPts val="1200"/>
              </a:spcAft>
            </a:pPr>
            <a:r>
              <a:rPr lang="en-AU" sz="2200" dirty="0" smtClean="0">
                <a:latin typeface="Helvetica" pitchFamily="34" charset="0"/>
              </a:rPr>
              <a:t>What needs to be confirmed?</a:t>
            </a:r>
          </a:p>
          <a:p>
            <a:pPr>
              <a:spcBef>
                <a:spcPts val="600"/>
              </a:spcBef>
              <a:spcAft>
                <a:spcPts val="1200"/>
              </a:spcAft>
            </a:pPr>
            <a:r>
              <a:rPr lang="en-AU" sz="2200" dirty="0" smtClean="0">
                <a:latin typeface="Helvetica" pitchFamily="34" charset="0"/>
              </a:rPr>
              <a:t>How can you get this confirmation?</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descr="W101_shutterstock_155154221.jpg"/>
          <p:cNvPicPr/>
          <p:nvPr/>
        </p:nvPicPr>
        <p:blipFill rotWithShape="1">
          <a:blip r:embed="rId3" cstate="print"/>
          <a:srcRect l="17553"/>
          <a:stretch/>
        </p:blipFill>
        <p:spPr>
          <a:xfrm>
            <a:off x="5931243" y="2708920"/>
            <a:ext cx="2292152" cy="22027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Confirming tour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Details to be confirmed</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Details to be confirmed may include:</a:t>
            </a:r>
          </a:p>
          <a:p>
            <a:pPr>
              <a:spcBef>
                <a:spcPts val="600"/>
              </a:spcBef>
              <a:spcAft>
                <a:spcPts val="1200"/>
              </a:spcAft>
            </a:pPr>
            <a:r>
              <a:rPr lang="en-AU" sz="2200" dirty="0" smtClean="0">
                <a:latin typeface="Helvetica" pitchFamily="34" charset="0"/>
              </a:rPr>
              <a:t>Group profile</a:t>
            </a:r>
          </a:p>
          <a:p>
            <a:pPr>
              <a:spcBef>
                <a:spcPts val="600"/>
              </a:spcBef>
              <a:spcAft>
                <a:spcPts val="1200"/>
              </a:spcAft>
            </a:pPr>
            <a:r>
              <a:rPr lang="en-AU" sz="2200" dirty="0" smtClean="0">
                <a:latin typeface="Helvetica" pitchFamily="34" charset="0"/>
              </a:rPr>
              <a:t>Transport arrangements</a:t>
            </a:r>
          </a:p>
          <a:p>
            <a:pPr>
              <a:spcBef>
                <a:spcPts val="600"/>
              </a:spcBef>
              <a:spcAft>
                <a:spcPts val="1200"/>
              </a:spcAft>
            </a:pPr>
            <a:r>
              <a:rPr lang="en-AU" sz="2200" dirty="0" smtClean="0">
                <a:latin typeface="Helvetica" pitchFamily="34" charset="0"/>
              </a:rPr>
              <a:t>Itinerary</a:t>
            </a:r>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8" name="Picture 7" descr="W208_travelagent_shutterstock.jpg"/>
          <p:cNvPicPr/>
          <p:nvPr/>
        </p:nvPicPr>
        <p:blipFill>
          <a:blip r:embed="rId3" cstate="print"/>
          <a:stretch>
            <a:fillRect/>
          </a:stretch>
        </p:blipFill>
        <p:spPr>
          <a:xfrm>
            <a:off x="6084168" y="3573016"/>
            <a:ext cx="2376264"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Confirming tour details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Making changes to the arrangements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Management and our guides should always try to accommodate changes to agreed arrangements required by the client:</a:t>
            </a:r>
          </a:p>
          <a:p>
            <a:pPr lvl="0">
              <a:spcBef>
                <a:spcPts val="600"/>
              </a:spcBef>
              <a:spcAft>
                <a:spcPts val="1200"/>
              </a:spcAft>
            </a:pPr>
            <a:r>
              <a:rPr lang="en-AU" sz="2200" dirty="0" smtClean="0">
                <a:latin typeface="Helvetica" pitchFamily="34" charset="0"/>
              </a:rPr>
              <a:t>Record all changes required </a:t>
            </a:r>
          </a:p>
          <a:p>
            <a:pPr lvl="0">
              <a:spcBef>
                <a:spcPts val="600"/>
              </a:spcBef>
              <a:spcAft>
                <a:spcPts val="1200"/>
              </a:spcAft>
            </a:pPr>
            <a:r>
              <a:rPr lang="en-AU" sz="2200" dirty="0" smtClean="0">
                <a:latin typeface="Helvetica" pitchFamily="34" charset="0"/>
              </a:rPr>
              <a:t>Notify others as necessary </a:t>
            </a:r>
          </a:p>
          <a:p>
            <a:pPr>
              <a:spcBef>
                <a:spcPts val="600"/>
              </a:spcBef>
              <a:spcAft>
                <a:spcPts val="1200"/>
              </a:spcAft>
            </a:pPr>
            <a:r>
              <a:rPr lang="en-AU" sz="2200" dirty="0" smtClean="0">
                <a:latin typeface="Helvetica" pitchFamily="34" charset="0"/>
              </a:rPr>
              <a:t>Advise client/group of additional charges</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7" name="Picture 6" descr="W213_travel_shutterstock_151589309.jpg"/>
          <p:cNvPicPr/>
          <p:nvPr/>
        </p:nvPicPr>
        <p:blipFill>
          <a:blip r:embed="rId3" cstate="print"/>
          <a:stretch>
            <a:fillRect/>
          </a:stretch>
        </p:blipFill>
        <p:spPr>
          <a:xfrm>
            <a:off x="6300192" y="4005064"/>
            <a:ext cx="2088232" cy="15965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Being organised and well prepared</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Ensure you are ready to deliver tours</a:t>
            </a:r>
          </a:p>
          <a:p>
            <a:pPr>
              <a:spcBef>
                <a:spcPts val="600"/>
              </a:spcBef>
              <a:spcAft>
                <a:spcPts val="1200"/>
              </a:spcAft>
            </a:pPr>
            <a:r>
              <a:rPr lang="en-AU" sz="2200" dirty="0" smtClean="0">
                <a:latin typeface="Helvetica" pitchFamily="34" charset="0"/>
              </a:rPr>
              <a:t>It is important for all staff in any job to be well organised</a:t>
            </a:r>
          </a:p>
          <a:p>
            <a:pPr>
              <a:spcBef>
                <a:spcPts val="600"/>
              </a:spcBef>
              <a:spcAft>
                <a:spcPts val="1200"/>
              </a:spcAft>
            </a:pPr>
            <a:r>
              <a:rPr lang="en-AU" sz="2200" dirty="0" smtClean="0">
                <a:latin typeface="Helvetica" pitchFamily="34" charset="0"/>
              </a:rPr>
              <a:t>It is vital that you are prepared and ready to deliver tours</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6" name="Picture 5" descr="W194_Large_Group_Professional_Business_shutterstock_113648860.jpg"/>
          <p:cNvPicPr/>
          <p:nvPr/>
        </p:nvPicPr>
        <p:blipFill>
          <a:blip r:embed="rId3" cstate="print"/>
          <a:stretch>
            <a:fillRect/>
          </a:stretch>
        </p:blipFill>
        <p:spPr>
          <a:xfrm>
            <a:off x="3275856" y="3789040"/>
            <a:ext cx="2808312"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600" b="1" dirty="0" smtClean="0">
                <a:solidFill>
                  <a:srgbClr val="FF6600"/>
                </a:solidFill>
                <a:latin typeface="Helvetica" pitchFamily="34" charset="0"/>
              </a:rPr>
              <a:t>Being organised and well prepared</a:t>
            </a:r>
            <a:endParaRPr lang="en-US" sz="36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It is essential tour guides can:</a:t>
            </a:r>
          </a:p>
          <a:p>
            <a:pPr>
              <a:spcBef>
                <a:spcPts val="600"/>
              </a:spcBef>
              <a:spcAft>
                <a:spcPts val="1200"/>
              </a:spcAft>
            </a:pPr>
            <a:r>
              <a:rPr lang="en-AU" sz="2200" dirty="0" smtClean="0">
                <a:latin typeface="Helvetica" pitchFamily="34" charset="0"/>
              </a:rPr>
              <a:t>Identify the upcoming tours they need to conduct. </a:t>
            </a:r>
          </a:p>
          <a:p>
            <a:pPr>
              <a:spcBef>
                <a:spcPts val="600"/>
              </a:spcBef>
              <a:spcAft>
                <a:spcPts val="1200"/>
              </a:spcAft>
            </a:pPr>
            <a:r>
              <a:rPr lang="en-AU" sz="2200" dirty="0" smtClean="0">
                <a:latin typeface="Helvetica" pitchFamily="34" charset="0"/>
              </a:rPr>
              <a:t>Determine the things they need to plan and create for each of the upcoming tours</a:t>
            </a:r>
          </a:p>
          <a:p>
            <a:pPr>
              <a:spcBef>
                <a:spcPts val="600"/>
              </a:spcBef>
              <a:spcAft>
                <a:spcPts val="1200"/>
              </a:spcAft>
            </a:pPr>
            <a:r>
              <a:rPr lang="en-AU" sz="2200" dirty="0" smtClean="0">
                <a:latin typeface="Helvetica" pitchFamily="34" charset="0"/>
              </a:rPr>
              <a:t>Project an image of professionalism, </a:t>
            </a:r>
            <a:br>
              <a:rPr lang="en-AU" sz="2200" dirty="0" smtClean="0">
                <a:latin typeface="Helvetica" pitchFamily="34" charset="0"/>
              </a:rPr>
            </a:br>
            <a:r>
              <a:rPr lang="en-AU" sz="2200" dirty="0" smtClean="0">
                <a:latin typeface="Helvetica" pitchFamily="34" charset="0"/>
              </a:rPr>
              <a:t>control and confidence</a:t>
            </a:r>
          </a:p>
          <a:p>
            <a:pPr>
              <a:spcBef>
                <a:spcPts val="600"/>
              </a:spcBef>
              <a:spcAft>
                <a:spcPts val="1200"/>
              </a:spcAft>
            </a:pPr>
            <a:r>
              <a:rPr lang="en-AU" sz="2200" dirty="0" smtClean="0">
                <a:latin typeface="Helvetica" pitchFamily="34" charset="0"/>
              </a:rPr>
              <a:t>Provide a positive visitor experience</a:t>
            </a:r>
          </a:p>
          <a:p>
            <a:pPr>
              <a:spcBef>
                <a:spcPts val="600"/>
              </a:spcBef>
              <a:spcAft>
                <a:spcPts val="1200"/>
              </a:spcAft>
            </a:pPr>
            <a:r>
              <a:rPr lang="en-AU" sz="2200" dirty="0" smtClean="0">
                <a:latin typeface="Helvetica" pitchFamily="34" charset="0"/>
              </a:rPr>
              <a:t>Optimise safety for the people on the tour</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W54_indian_student_shutterstock_36275044.jpg"/>
          <p:cNvPicPr/>
          <p:nvPr/>
        </p:nvPicPr>
        <p:blipFill>
          <a:blip r:embed="rId3" cstate="print"/>
          <a:stretch>
            <a:fillRect/>
          </a:stretch>
        </p:blipFill>
        <p:spPr>
          <a:xfrm>
            <a:off x="6804248" y="3212976"/>
            <a:ext cx="1440160" cy="18485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Ensure planning is complete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Ensure tour guides planning</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As part of the planning process tour guides must:</a:t>
            </a:r>
          </a:p>
          <a:p>
            <a:pPr lvl="0">
              <a:spcBef>
                <a:spcPts val="600"/>
              </a:spcBef>
              <a:spcAft>
                <a:spcPts val="1200"/>
              </a:spcAft>
            </a:pPr>
            <a:r>
              <a:rPr lang="en-AU" sz="2200" dirty="0" smtClean="0">
                <a:latin typeface="Helvetica" pitchFamily="34" charset="0"/>
              </a:rPr>
              <a:t>Dress properly </a:t>
            </a:r>
          </a:p>
          <a:p>
            <a:pPr lvl="0">
              <a:spcBef>
                <a:spcPts val="600"/>
              </a:spcBef>
              <a:spcAft>
                <a:spcPts val="1200"/>
              </a:spcAft>
            </a:pPr>
            <a:r>
              <a:rPr lang="en-AU" sz="2200" dirty="0" smtClean="0">
                <a:latin typeface="Helvetica" pitchFamily="34" charset="0"/>
              </a:rPr>
              <a:t>Have prepared and practised the commentary </a:t>
            </a:r>
          </a:p>
          <a:p>
            <a:pPr lvl="0">
              <a:spcBef>
                <a:spcPts val="600"/>
              </a:spcBef>
              <a:spcAft>
                <a:spcPts val="1200"/>
              </a:spcAft>
            </a:pPr>
            <a:r>
              <a:rPr lang="en-AU" sz="2200" dirty="0" smtClean="0">
                <a:latin typeface="Helvetica" pitchFamily="34" charset="0"/>
              </a:rPr>
              <a:t>Be at the appointed starting point for  the tour well in advance </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7" name="Picture 6" descr="W72_malay_lady_shutterstock_8976202.jpg"/>
          <p:cNvPicPr/>
          <p:nvPr/>
        </p:nvPicPr>
        <p:blipFill>
          <a:blip r:embed="rId3" cstate="print"/>
          <a:stretch>
            <a:fillRect/>
          </a:stretch>
        </p:blipFill>
        <p:spPr>
          <a:xfrm>
            <a:off x="3399862" y="4149080"/>
            <a:ext cx="1676194" cy="205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hutterstock_62980000.jpg"/>
          <p:cNvPicPr>
            <a:picLocks noChangeAspect="1"/>
          </p:cNvPicPr>
          <p:nvPr/>
        </p:nvPicPr>
        <p:blipFill rotWithShape="1">
          <a:blip r:embed="rId3" cstate="print"/>
          <a:srcRect l="44060"/>
          <a:stretch/>
        </p:blipFill>
        <p:spPr>
          <a:xfrm>
            <a:off x="6732240" y="3140968"/>
            <a:ext cx="1574910" cy="1872208"/>
          </a:xfrm>
          <a:prstGeom prst="rect">
            <a:avLst/>
          </a:prstGeom>
        </p:spPr>
      </p:pic>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Ensure planning is complete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Ensure tour guides planning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Have organised all support materials necessary for the tour </a:t>
            </a:r>
          </a:p>
          <a:p>
            <a:pPr lvl="0">
              <a:spcBef>
                <a:spcPts val="600"/>
              </a:spcBef>
              <a:spcAft>
                <a:spcPts val="1200"/>
              </a:spcAft>
            </a:pPr>
            <a:r>
              <a:rPr lang="en-AU" sz="2200" dirty="0" smtClean="0">
                <a:latin typeface="Helvetica" pitchFamily="34" charset="0"/>
              </a:rPr>
              <a:t>Verify the muster point is ready </a:t>
            </a:r>
          </a:p>
          <a:p>
            <a:pPr lvl="0">
              <a:spcBef>
                <a:spcPts val="600"/>
              </a:spcBef>
              <a:spcAft>
                <a:spcPts val="1200"/>
              </a:spcAft>
            </a:pPr>
            <a:r>
              <a:rPr lang="en-AU" sz="2200" dirty="0" smtClean="0">
                <a:latin typeface="Helvetica" pitchFamily="34" charset="0"/>
              </a:rPr>
              <a:t>Contact group leader and confirmed all details</a:t>
            </a:r>
          </a:p>
          <a:p>
            <a:pPr>
              <a:spcBef>
                <a:spcPts val="600"/>
              </a:spcBef>
              <a:spcAft>
                <a:spcPts val="1200"/>
              </a:spcAft>
            </a:pPr>
            <a:r>
              <a:rPr lang="en-AU" sz="2200" dirty="0" smtClean="0">
                <a:latin typeface="Helvetica" pitchFamily="34" charset="0"/>
              </a:rPr>
              <a:t>Confirm the arrangements for the tour </a:t>
            </a:r>
            <a:br>
              <a:rPr lang="en-AU" sz="2200" dirty="0" smtClean="0">
                <a:latin typeface="Helvetica" pitchFamily="34" charset="0"/>
              </a:rPr>
            </a:br>
            <a:r>
              <a:rPr lang="en-AU" sz="2200" dirty="0" smtClean="0">
                <a:latin typeface="Helvetica" pitchFamily="34" charset="0"/>
              </a:rPr>
              <a:t>have been prepared</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Prepare commentary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Preparing a commentary</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As part of a tour guides’ role will usually be to deliver a pre-prepared commentary</a:t>
            </a:r>
          </a:p>
          <a:p>
            <a:pPr>
              <a:spcBef>
                <a:spcPts val="600"/>
              </a:spcBef>
              <a:spcAft>
                <a:spcPts val="1200"/>
              </a:spcAft>
            </a:pPr>
            <a:r>
              <a:rPr lang="en-AU" sz="2200" dirty="0" smtClean="0">
                <a:latin typeface="Helvetica" pitchFamily="34" charset="0"/>
              </a:rPr>
              <a:t>This may be prepared by management or the tour guides themselves </a:t>
            </a:r>
          </a:p>
          <a:p>
            <a:pPr>
              <a:spcBef>
                <a:spcPts val="600"/>
              </a:spcBef>
              <a:spcAft>
                <a:spcPts val="1200"/>
              </a:spcAft>
            </a:pPr>
            <a:r>
              <a:rPr lang="en-AU" sz="2200" dirty="0" smtClean="0">
                <a:latin typeface="Helvetica" pitchFamily="34" charset="0"/>
              </a:rPr>
              <a:t>Where no script exists tour guides may be required to prepare one</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descr="W268_welcome_shutterstock_149908628.jpg"/>
          <p:cNvPicPr/>
          <p:nvPr/>
        </p:nvPicPr>
        <p:blipFill>
          <a:blip r:embed="rId3" cstate="print"/>
          <a:stretch>
            <a:fillRect/>
          </a:stretch>
        </p:blipFill>
        <p:spPr>
          <a:xfrm>
            <a:off x="3131840" y="4473566"/>
            <a:ext cx="2520280" cy="1763746"/>
          </a:xfrm>
          <a:prstGeom prst="ellipse">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Prepare commentary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Preparing a commentary</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Preparing a commentary is not a simple or easy exercise, and the following points should be understood:</a:t>
            </a:r>
          </a:p>
          <a:p>
            <a:pPr>
              <a:spcBef>
                <a:spcPts val="600"/>
              </a:spcBef>
              <a:spcAft>
                <a:spcPts val="1200"/>
              </a:spcAft>
            </a:pPr>
            <a:r>
              <a:rPr lang="en-AU" sz="2200" dirty="0" smtClean="0">
                <a:latin typeface="Helvetica" pitchFamily="34" charset="0"/>
              </a:rPr>
              <a:t>Writing a commentary takes time </a:t>
            </a:r>
          </a:p>
          <a:p>
            <a:pPr>
              <a:spcBef>
                <a:spcPts val="600"/>
              </a:spcBef>
              <a:spcAft>
                <a:spcPts val="1200"/>
              </a:spcAft>
            </a:pPr>
            <a:r>
              <a:rPr lang="en-AU" sz="2200" dirty="0" smtClean="0">
                <a:latin typeface="Helvetica" pitchFamily="34" charset="0"/>
              </a:rPr>
              <a:t>Understand all attraction information</a:t>
            </a:r>
          </a:p>
          <a:p>
            <a:pPr>
              <a:spcBef>
                <a:spcPts val="600"/>
              </a:spcBef>
              <a:spcAft>
                <a:spcPts val="1200"/>
              </a:spcAft>
            </a:pPr>
            <a:r>
              <a:rPr lang="en-AU" sz="2200" dirty="0" smtClean="0">
                <a:latin typeface="Helvetica" pitchFamily="34" charset="0"/>
              </a:rPr>
              <a:t>Check tour advertisements</a:t>
            </a:r>
          </a:p>
          <a:p>
            <a:pPr>
              <a:spcBef>
                <a:spcPts val="600"/>
              </a:spcBef>
              <a:spcAft>
                <a:spcPts val="1200"/>
              </a:spcAft>
            </a:pPr>
            <a:r>
              <a:rPr lang="en-AU" sz="2200" dirty="0" smtClean="0">
                <a:latin typeface="Helvetica" pitchFamily="34" charset="0"/>
              </a:rPr>
              <a:t>Know the route</a:t>
            </a:r>
          </a:p>
          <a:p>
            <a:pPr>
              <a:spcBef>
                <a:spcPts val="600"/>
              </a:spcBef>
              <a:spcAft>
                <a:spcPts val="1200"/>
              </a:spcAft>
            </a:pPr>
            <a:r>
              <a:rPr lang="en-AU" sz="2200" dirty="0" smtClean="0">
                <a:latin typeface="Helvetica" pitchFamily="34" charset="0"/>
              </a:rPr>
              <a:t>Involve others</a:t>
            </a:r>
          </a:p>
          <a:p>
            <a:pPr>
              <a:spcBef>
                <a:spcPts val="600"/>
              </a:spcBef>
              <a:spcAft>
                <a:spcPts val="1200"/>
              </a:spcAft>
            </a:pPr>
            <a:r>
              <a:rPr lang="en-AU" sz="2200" dirty="0" smtClean="0">
                <a:latin typeface="Helvetica" pitchFamily="34" charset="0"/>
              </a:rPr>
              <a:t>Experience other commentaries</a:t>
            </a:r>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6" name="Picture 5" descr="W214_banner_shutterstock_2052514.jpg"/>
          <p:cNvPicPr/>
          <p:nvPr/>
        </p:nvPicPr>
        <p:blipFill>
          <a:blip r:embed="rId3" cstate="print"/>
          <a:stretch>
            <a:fillRect/>
          </a:stretch>
        </p:blipFill>
        <p:spPr>
          <a:xfrm>
            <a:off x="6372200" y="2924944"/>
            <a:ext cx="1872208"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Prepare commentary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Key points of commentaries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Avoid personal opinions, thoughts, beliefs and prejudices </a:t>
            </a:r>
          </a:p>
          <a:p>
            <a:pPr lvl="0">
              <a:spcBef>
                <a:spcPts val="600"/>
              </a:spcBef>
              <a:spcAft>
                <a:spcPts val="1200"/>
              </a:spcAft>
            </a:pPr>
            <a:r>
              <a:rPr lang="en-AU" sz="2200" dirty="0" smtClean="0">
                <a:latin typeface="Helvetica" pitchFamily="34" charset="0"/>
              </a:rPr>
              <a:t>Avoid inappropriate language - tour guides should prepare a draft </a:t>
            </a:r>
          </a:p>
          <a:p>
            <a:pPr lvl="0">
              <a:spcBef>
                <a:spcPts val="600"/>
              </a:spcBef>
              <a:spcAft>
                <a:spcPts val="1200"/>
              </a:spcAft>
            </a:pPr>
            <a:r>
              <a:rPr lang="en-AU" sz="2200" dirty="0" smtClean="0">
                <a:latin typeface="Helvetica" pitchFamily="34" charset="0"/>
              </a:rPr>
              <a:t>Tour guides must ‘speak’ the commentary when trialling it </a:t>
            </a:r>
          </a:p>
          <a:p>
            <a:pPr>
              <a:spcBef>
                <a:spcPts val="600"/>
              </a:spcBef>
              <a:spcAft>
                <a:spcPts val="1200"/>
              </a:spcAft>
            </a:pPr>
            <a:r>
              <a:rPr lang="en-AU" sz="2200" dirty="0" smtClean="0">
                <a:latin typeface="Helvetica" pitchFamily="34" charset="0"/>
              </a:rPr>
              <a:t>Tour guides have to read it out loud to                               others for their feedback </a:t>
            </a:r>
          </a:p>
          <a:p>
            <a:pPr>
              <a:spcBef>
                <a:spcPts val="600"/>
              </a:spcBef>
              <a:spcAft>
                <a:spcPts val="1200"/>
              </a:spcAft>
            </a:pPr>
            <a:r>
              <a:rPr lang="en-AU" sz="2200" dirty="0" smtClean="0">
                <a:latin typeface="Helvetica" pitchFamily="34" charset="0"/>
              </a:rPr>
              <a:t>Use simple, plain language </a:t>
            </a:r>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W343_discussion1_shutterstock_159062525.jpg"/>
          <p:cNvPicPr/>
          <p:nvPr/>
        </p:nvPicPr>
        <p:blipFill>
          <a:blip r:embed="rId3" cstate="print"/>
          <a:stretch>
            <a:fillRect/>
          </a:stretch>
        </p:blipFill>
        <p:spPr>
          <a:xfrm>
            <a:off x="6228184" y="4221088"/>
            <a:ext cx="2304256" cy="1656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Prepare commentary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US" sz="2200" b="1" dirty="0" smtClean="0">
                <a:latin typeface="Helvetica" pitchFamily="34" charset="0"/>
              </a:rPr>
              <a:t>Produce hard copy of commentary</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The best way to record commentary is by using cue cards</a:t>
            </a:r>
          </a:p>
          <a:p>
            <a:pPr>
              <a:spcBef>
                <a:spcPts val="600"/>
              </a:spcBef>
              <a:spcAft>
                <a:spcPts val="1200"/>
              </a:spcAft>
            </a:pPr>
            <a:r>
              <a:rPr lang="en-US" sz="2200" dirty="0" smtClean="0">
                <a:latin typeface="Helvetica" pitchFamily="34" charset="0"/>
              </a:rPr>
              <a:t>Cue cards are small cards which fit into the palm of tour guides’ hand</a:t>
            </a:r>
          </a:p>
          <a:p>
            <a:pPr>
              <a:spcBef>
                <a:spcPts val="600"/>
              </a:spcBef>
              <a:spcAft>
                <a:spcPts val="1200"/>
              </a:spcAft>
            </a:pPr>
            <a:r>
              <a:rPr lang="en-US" sz="2200" dirty="0" smtClean="0">
                <a:latin typeface="Helvetica" pitchFamily="34" charset="0"/>
              </a:rPr>
              <a:t>Tour guides can write headings and dot points on these cards to outline the main ideas of their commentary</a:t>
            </a: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W361_documents_shutterstock_136669019.jpg"/>
          <p:cNvPicPr/>
          <p:nvPr/>
        </p:nvPicPr>
        <p:blipFill rotWithShape="1">
          <a:blip r:embed="rId3" cstate="print"/>
          <a:srcRect t="14130" b="14067"/>
          <a:stretch/>
        </p:blipFill>
        <p:spPr>
          <a:xfrm>
            <a:off x="3491880" y="4653136"/>
            <a:ext cx="1800200" cy="1492317"/>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Prepare commentary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a:spcBef>
                <a:spcPts val="600"/>
              </a:spcBef>
              <a:spcAft>
                <a:spcPts val="1200"/>
              </a:spcAft>
              <a:buNone/>
            </a:pPr>
            <a:r>
              <a:rPr lang="en-AU" sz="2200" b="1" dirty="0" smtClean="0">
                <a:latin typeface="Helvetica" pitchFamily="34" charset="0"/>
              </a:rPr>
              <a:t>Practicing the commentary</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Tour guides must practice any commentary they have to present:</a:t>
            </a:r>
          </a:p>
          <a:p>
            <a:pPr lvl="0">
              <a:spcBef>
                <a:spcPts val="600"/>
              </a:spcBef>
              <a:spcAft>
                <a:spcPts val="1200"/>
              </a:spcAft>
            </a:pPr>
            <a:r>
              <a:rPr lang="en-AU" sz="2200" dirty="0" smtClean="0">
                <a:latin typeface="Helvetica" pitchFamily="34" charset="0"/>
              </a:rPr>
              <a:t>Reading it out aloud several times </a:t>
            </a:r>
          </a:p>
          <a:p>
            <a:pPr lvl="0">
              <a:spcBef>
                <a:spcPts val="600"/>
              </a:spcBef>
              <a:spcAft>
                <a:spcPts val="1200"/>
              </a:spcAft>
            </a:pPr>
            <a:r>
              <a:rPr lang="en-AU" sz="2200" dirty="0" smtClean="0">
                <a:latin typeface="Helvetica" pitchFamily="34" charset="0"/>
              </a:rPr>
              <a:t>Reading it in situ</a:t>
            </a:r>
            <a:r>
              <a:rPr lang="en-AU" sz="2200" b="1" dirty="0" smtClean="0">
                <a:latin typeface="Helvetica" pitchFamily="34" charset="0"/>
              </a:rPr>
              <a:t>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Bringing the standard commentary to life </a:t>
            </a:r>
            <a:br>
              <a:rPr lang="en-AU" sz="2200" dirty="0" smtClean="0">
                <a:latin typeface="Helvetica" pitchFamily="34" charset="0"/>
              </a:rPr>
            </a:br>
            <a:r>
              <a:rPr lang="en-AU" sz="2200" dirty="0" smtClean="0">
                <a:latin typeface="Helvetica" pitchFamily="34" charset="0"/>
              </a:rPr>
              <a:t>with personal anecdotes or knowledge as </a:t>
            </a:r>
            <a:br>
              <a:rPr lang="en-AU" sz="2200" dirty="0" smtClean="0">
                <a:latin typeface="Helvetica" pitchFamily="34" charset="0"/>
              </a:rPr>
            </a:br>
            <a:r>
              <a:rPr lang="en-AU" sz="2200" dirty="0" smtClean="0">
                <a:latin typeface="Helvetica" pitchFamily="34" charset="0"/>
              </a:rPr>
              <a:t>appropriate to the venue, topics or interests </a:t>
            </a:r>
            <a:br>
              <a:rPr lang="en-AU" sz="2200" dirty="0" smtClean="0">
                <a:latin typeface="Helvetica" pitchFamily="34" charset="0"/>
              </a:rPr>
            </a:br>
            <a:r>
              <a:rPr lang="en-AU" sz="2200" dirty="0" smtClean="0">
                <a:latin typeface="Helvetica" pitchFamily="34" charset="0"/>
              </a:rPr>
              <a:t>of the group</a:t>
            </a:r>
          </a:p>
          <a:p>
            <a:pPr>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7" name="Picture 6" descr="W379_airstewardess_blankbanner_shutterstock_56701840.jpg"/>
          <p:cNvPicPr/>
          <p:nvPr/>
        </p:nvPicPr>
        <p:blipFill>
          <a:blip r:embed="rId3" cstate="print"/>
          <a:stretch>
            <a:fillRect/>
          </a:stretch>
        </p:blipFill>
        <p:spPr>
          <a:xfrm>
            <a:off x="6588224" y="2420888"/>
            <a:ext cx="1728192" cy="25922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Grooming and attire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Outlining personal grooming and attire guidelines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Uniform and name badges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Personal appearance and hygiene</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Personal well being</a:t>
            </a:r>
            <a:endParaRPr lang="en-AU"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descr="W49_indian_lady_shaking_hands_shutterstock_106067732.jpg"/>
          <p:cNvPicPr/>
          <p:nvPr/>
        </p:nvPicPr>
        <p:blipFill>
          <a:blip r:embed="rId3" cstate="print"/>
          <a:stretch>
            <a:fillRect/>
          </a:stretch>
        </p:blipFill>
        <p:spPr>
          <a:xfrm>
            <a:off x="6300192" y="2636912"/>
            <a:ext cx="1944216" cy="2448272"/>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Organise information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Steps in organising information and materials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Sufficient items are obtained</a:t>
            </a:r>
          </a:p>
          <a:p>
            <a:pPr lvl="0">
              <a:spcBef>
                <a:spcPts val="600"/>
              </a:spcBef>
              <a:spcAft>
                <a:spcPts val="1200"/>
              </a:spcAft>
            </a:pPr>
            <a:r>
              <a:rPr lang="en-AU" sz="2200" dirty="0" smtClean="0">
                <a:latin typeface="Helvetica" pitchFamily="34" charset="0"/>
              </a:rPr>
              <a:t>Information is current an accurate</a:t>
            </a:r>
          </a:p>
          <a:p>
            <a:pPr lvl="0">
              <a:spcBef>
                <a:spcPts val="600"/>
              </a:spcBef>
              <a:spcAft>
                <a:spcPts val="1200"/>
              </a:spcAft>
            </a:pPr>
            <a:r>
              <a:rPr lang="en-AU" sz="2200" dirty="0" smtClean="0">
                <a:latin typeface="Helvetica" pitchFamily="34" charset="0"/>
              </a:rPr>
              <a:t>Available in different languages to suit the known language of the tour group</a:t>
            </a:r>
          </a:p>
          <a:p>
            <a:pPr lvl="0">
              <a:spcBef>
                <a:spcPts val="600"/>
              </a:spcBef>
              <a:spcAft>
                <a:spcPts val="1200"/>
              </a:spcAft>
            </a:pPr>
            <a:r>
              <a:rPr lang="en-AU" sz="2200" dirty="0" smtClean="0">
                <a:latin typeface="Helvetica" pitchFamily="34" charset="0"/>
              </a:rPr>
              <a:t>Addresses the identified objectives or themes for the group </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6" name="Picture 5" descr="W18_computer.jpg"/>
          <p:cNvPicPr/>
          <p:nvPr/>
        </p:nvPicPr>
        <p:blipFill>
          <a:blip r:embed="rId3" cstate="print"/>
          <a:stretch>
            <a:fillRect/>
          </a:stretch>
        </p:blipFill>
        <p:spPr>
          <a:xfrm>
            <a:off x="3275856" y="4725144"/>
            <a:ext cx="2088232" cy="14401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Organise information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information and materials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Log book</a:t>
            </a:r>
          </a:p>
          <a:p>
            <a:pPr>
              <a:spcBef>
                <a:spcPts val="600"/>
              </a:spcBef>
              <a:spcAft>
                <a:spcPts val="1200"/>
              </a:spcAft>
            </a:pPr>
            <a:r>
              <a:rPr lang="en-AU" sz="2200" dirty="0" smtClean="0">
                <a:latin typeface="Helvetica" pitchFamily="34" charset="0"/>
              </a:rPr>
              <a:t>Inspection checklists</a:t>
            </a:r>
          </a:p>
          <a:p>
            <a:pPr>
              <a:spcBef>
                <a:spcPts val="600"/>
              </a:spcBef>
              <a:spcAft>
                <a:spcPts val="1200"/>
              </a:spcAft>
            </a:pPr>
            <a:r>
              <a:rPr lang="en-AU" sz="2200" dirty="0" smtClean="0">
                <a:latin typeface="Helvetica" pitchFamily="34" charset="0"/>
              </a:rPr>
              <a:t>Support materials or props</a:t>
            </a:r>
          </a:p>
          <a:p>
            <a:pPr>
              <a:spcBef>
                <a:spcPts val="600"/>
              </a:spcBef>
              <a:spcAft>
                <a:spcPts val="1200"/>
              </a:spcAft>
            </a:pPr>
            <a:r>
              <a:rPr lang="en-AU" sz="2200" dirty="0" smtClean="0">
                <a:latin typeface="Helvetica" pitchFamily="34" charset="0"/>
              </a:rPr>
              <a:t>Merchandise/give-aways</a:t>
            </a:r>
          </a:p>
          <a:p>
            <a:pPr>
              <a:spcBef>
                <a:spcPts val="600"/>
              </a:spcBef>
              <a:spcAft>
                <a:spcPts val="1200"/>
              </a:spcAft>
            </a:pPr>
            <a:r>
              <a:rPr lang="en-AU" sz="2200" dirty="0" smtClean="0">
                <a:latin typeface="Helvetica" pitchFamily="34" charset="0"/>
              </a:rPr>
              <a:t>Tickets and vouchers </a:t>
            </a:r>
          </a:p>
          <a:p>
            <a:pPr>
              <a:spcBef>
                <a:spcPts val="600"/>
              </a:spcBef>
              <a:spcAft>
                <a:spcPts val="1200"/>
              </a:spcAft>
            </a:pPr>
            <a:r>
              <a:rPr lang="en-AU" sz="2200" dirty="0" smtClean="0">
                <a:latin typeface="Helvetica" pitchFamily="34" charset="0"/>
              </a:rPr>
              <a:t>Name tags </a:t>
            </a:r>
          </a:p>
          <a:p>
            <a:pPr>
              <a:buNone/>
            </a:pPr>
            <a:endParaRPr lang="en-AU" sz="2400" dirty="0" smtClean="0"/>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W119_documents_shutterstock_155913131.jpg"/>
          <p:cNvPicPr/>
          <p:nvPr/>
        </p:nvPicPr>
        <p:blipFill>
          <a:blip r:embed="rId3" cstate="print"/>
          <a:stretch>
            <a:fillRect/>
          </a:stretch>
        </p:blipFill>
        <p:spPr>
          <a:xfrm>
            <a:off x="5220072" y="2924944"/>
            <a:ext cx="2880320" cy="2201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Organise information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information and materials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Communication equipment </a:t>
            </a:r>
          </a:p>
          <a:p>
            <a:pPr>
              <a:spcBef>
                <a:spcPts val="600"/>
              </a:spcBef>
              <a:spcAft>
                <a:spcPts val="1200"/>
              </a:spcAft>
            </a:pPr>
            <a:r>
              <a:rPr lang="en-AU" sz="2200" dirty="0" smtClean="0">
                <a:latin typeface="Helvetica" pitchFamily="34" charset="0"/>
              </a:rPr>
              <a:t>Personal protective equipment and clothing</a:t>
            </a:r>
          </a:p>
          <a:p>
            <a:pPr>
              <a:spcBef>
                <a:spcPts val="600"/>
              </a:spcBef>
              <a:spcAft>
                <a:spcPts val="1200"/>
              </a:spcAft>
            </a:pPr>
            <a:r>
              <a:rPr lang="en-AU" sz="2200" dirty="0" smtClean="0">
                <a:latin typeface="Helvetica" pitchFamily="34" charset="0"/>
              </a:rPr>
              <a:t>Equipment </a:t>
            </a:r>
          </a:p>
          <a:p>
            <a:pPr>
              <a:spcBef>
                <a:spcPts val="600"/>
              </a:spcBef>
              <a:spcAft>
                <a:spcPts val="1200"/>
              </a:spcAft>
            </a:pPr>
            <a:r>
              <a:rPr lang="en-AU" sz="2200" dirty="0" smtClean="0">
                <a:latin typeface="Helvetica" pitchFamily="34" charset="0"/>
              </a:rPr>
              <a:t>Brochures and site maps</a:t>
            </a:r>
          </a:p>
          <a:p>
            <a:pPr>
              <a:spcBef>
                <a:spcPts val="600"/>
              </a:spcBef>
              <a:spcAft>
                <a:spcPts val="1200"/>
              </a:spcAft>
            </a:pPr>
            <a:r>
              <a:rPr lang="en-AU" sz="2200" dirty="0" smtClean="0">
                <a:latin typeface="Helvetica" pitchFamily="34" charset="0"/>
              </a:rPr>
              <a:t>Handouts</a:t>
            </a:r>
          </a:p>
          <a:p>
            <a:pPr>
              <a:spcBef>
                <a:spcPts val="600"/>
              </a:spcBef>
              <a:spcAft>
                <a:spcPts val="1200"/>
              </a:spcAft>
            </a:pPr>
            <a:r>
              <a:rPr lang="en-AU" sz="2200" dirty="0" smtClean="0">
                <a:latin typeface="Helvetica" pitchFamily="34" charset="0"/>
              </a:rPr>
              <a:t>A ‘We are here’ flag</a:t>
            </a:r>
          </a:p>
          <a:p>
            <a:endParaRPr lang="en-AU" sz="2400" dirty="0" smtClean="0"/>
          </a:p>
          <a:p>
            <a:endParaRPr lang="en-AU" sz="2400" dirty="0" smtClean="0"/>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7" name="Picture 6" descr="W299_communication_shutterstock_127585232.jpg"/>
          <p:cNvPicPr/>
          <p:nvPr/>
        </p:nvPicPr>
        <p:blipFill>
          <a:blip r:embed="rId3" cstate="print"/>
          <a:stretch>
            <a:fillRect/>
          </a:stretch>
        </p:blipFill>
        <p:spPr>
          <a:xfrm>
            <a:off x="5440301" y="3140968"/>
            <a:ext cx="2714427" cy="1951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Security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Understand security policies and procedures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Tour guides must:</a:t>
            </a:r>
          </a:p>
          <a:p>
            <a:pPr lvl="0">
              <a:spcBef>
                <a:spcPts val="600"/>
              </a:spcBef>
              <a:spcAft>
                <a:spcPts val="1200"/>
              </a:spcAft>
            </a:pPr>
            <a:r>
              <a:rPr lang="en-AU" sz="2200" dirty="0" smtClean="0">
                <a:latin typeface="Helvetica" pitchFamily="34" charset="0"/>
              </a:rPr>
              <a:t>Identify what the security policies and procedures are</a:t>
            </a:r>
          </a:p>
          <a:p>
            <a:pPr lvl="0">
              <a:spcBef>
                <a:spcPts val="600"/>
              </a:spcBef>
              <a:spcAft>
                <a:spcPts val="1200"/>
              </a:spcAft>
            </a:pPr>
            <a:r>
              <a:rPr lang="en-AU" sz="2200" dirty="0" smtClean="0">
                <a:latin typeface="Helvetica" pitchFamily="34" charset="0"/>
              </a:rPr>
              <a:t>Ensure they understand the security </a:t>
            </a:r>
            <a:br>
              <a:rPr lang="en-AU" sz="2200" dirty="0" smtClean="0">
                <a:latin typeface="Helvetica" pitchFamily="34" charset="0"/>
              </a:rPr>
            </a:br>
            <a:r>
              <a:rPr lang="en-AU" sz="2200" dirty="0" smtClean="0">
                <a:latin typeface="Helvetica" pitchFamily="34" charset="0"/>
              </a:rPr>
              <a:t>policies and procedures</a:t>
            </a:r>
          </a:p>
          <a:p>
            <a:pPr lvl="0">
              <a:spcBef>
                <a:spcPts val="600"/>
              </a:spcBef>
              <a:spcAft>
                <a:spcPts val="1200"/>
              </a:spcAft>
            </a:pPr>
            <a:r>
              <a:rPr lang="en-AU" sz="2200" dirty="0" smtClean="0">
                <a:latin typeface="Helvetica" pitchFamily="34" charset="0"/>
              </a:rPr>
              <a:t>Ensure they follow them</a:t>
            </a:r>
          </a:p>
          <a:p>
            <a:endParaRPr lang="en-AU" sz="2400" dirty="0" smtClean="0"/>
          </a:p>
          <a:p>
            <a:endParaRPr lang="en-AU" sz="2400" dirty="0" smtClean="0"/>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W38_young_man_shutterstock_1904347.jpg"/>
          <p:cNvPicPr/>
          <p:nvPr/>
        </p:nvPicPr>
        <p:blipFill>
          <a:blip r:embed="rId3" cstate="print"/>
          <a:stretch>
            <a:fillRect/>
          </a:stretch>
        </p:blipFill>
        <p:spPr>
          <a:xfrm>
            <a:off x="6228184" y="3140968"/>
            <a:ext cx="1656184"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Security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security policies and procedures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Security procedures for tours may have been developed and written focused on:</a:t>
            </a:r>
          </a:p>
          <a:p>
            <a:pPr lvl="0">
              <a:spcBef>
                <a:spcPts val="600"/>
              </a:spcBef>
              <a:spcAft>
                <a:spcPts val="1200"/>
              </a:spcAft>
            </a:pPr>
            <a:r>
              <a:rPr lang="en-AU" sz="2200" dirty="0" smtClean="0">
                <a:latin typeface="Helvetica" pitchFamily="34" charset="0"/>
              </a:rPr>
              <a:t>Customers </a:t>
            </a:r>
          </a:p>
          <a:p>
            <a:pPr lvl="0">
              <a:spcBef>
                <a:spcPts val="600"/>
              </a:spcBef>
              <a:spcAft>
                <a:spcPts val="1200"/>
              </a:spcAft>
            </a:pPr>
            <a:r>
              <a:rPr lang="en-AU" sz="2200" dirty="0" smtClean="0">
                <a:latin typeface="Helvetica" pitchFamily="34" charset="0"/>
              </a:rPr>
              <a:t>Staff </a:t>
            </a:r>
          </a:p>
          <a:p>
            <a:pPr lvl="0">
              <a:spcBef>
                <a:spcPts val="600"/>
              </a:spcBef>
              <a:spcAft>
                <a:spcPts val="1200"/>
              </a:spcAft>
            </a:pPr>
            <a:r>
              <a:rPr lang="en-AU" sz="2200" dirty="0" smtClean="0">
                <a:latin typeface="Helvetica" pitchFamily="34" charset="0"/>
              </a:rPr>
              <a:t>Property </a:t>
            </a:r>
          </a:p>
          <a:p>
            <a:pPr lvl="0">
              <a:spcBef>
                <a:spcPts val="600"/>
              </a:spcBef>
              <a:spcAft>
                <a:spcPts val="1200"/>
              </a:spcAft>
            </a:pPr>
            <a:r>
              <a:rPr lang="en-AU" sz="2200" dirty="0" smtClean="0">
                <a:latin typeface="Helvetica" pitchFamily="34" charset="0"/>
              </a:rPr>
              <a:t>Documentation </a:t>
            </a:r>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10" name="Picture 9" descr="W144_holiday_briefcase_shutterstock_123601432.jpg"/>
          <p:cNvPicPr/>
          <p:nvPr/>
        </p:nvPicPr>
        <p:blipFill>
          <a:blip r:embed="rId3" cstate="print"/>
          <a:stretch>
            <a:fillRect/>
          </a:stretch>
        </p:blipFill>
        <p:spPr>
          <a:xfrm>
            <a:off x="4139952" y="3068960"/>
            <a:ext cx="2520280"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1000" fill="hold"/>
                                        <p:tgtEl>
                                          <p:spTgt spid="10"/>
                                        </p:tgtEl>
                                        <p:attrNameLst>
                                          <p:attrName>ppt_w</p:attrName>
                                        </p:attrNameLst>
                                      </p:cBhvr>
                                      <p:tavLst>
                                        <p:tav tm="0">
                                          <p:val>
                                            <p:fltVal val="0"/>
                                          </p:val>
                                        </p:tav>
                                        <p:tav tm="100000">
                                          <p:val>
                                            <p:strVal val="#ppt_w"/>
                                          </p:val>
                                        </p:tav>
                                      </p:tavLst>
                                    </p:anim>
                                    <p:anim calcmode="lin" valueType="num">
                                      <p:cBhvr>
                                        <p:cTn id="8" dur="1000" fill="hold"/>
                                        <p:tgtEl>
                                          <p:spTgt spid="10"/>
                                        </p:tgtEl>
                                        <p:attrNameLst>
                                          <p:attrName>ppt_h</p:attrName>
                                        </p:attrNameLst>
                                      </p:cBhvr>
                                      <p:tavLst>
                                        <p:tav tm="0">
                                          <p:val>
                                            <p:fltVal val="0"/>
                                          </p:val>
                                        </p:tav>
                                        <p:tav tm="100000">
                                          <p:val>
                                            <p:strVal val="#ppt_h"/>
                                          </p:val>
                                        </p:tav>
                                      </p:tavLst>
                                    </p:anim>
                                    <p:anim calcmode="lin" valueType="num">
                                      <p:cBhvr>
                                        <p:cTn id="9" dur="1000" fill="hold"/>
                                        <p:tgtEl>
                                          <p:spTgt spid="10"/>
                                        </p:tgtEl>
                                        <p:attrNameLst>
                                          <p:attrName>style.rotation</p:attrName>
                                        </p:attrNameLst>
                                      </p:cBhvr>
                                      <p:tavLst>
                                        <p:tav tm="0">
                                          <p:val>
                                            <p:fltVal val="90"/>
                                          </p:val>
                                        </p:tav>
                                        <p:tav tm="100000">
                                          <p:val>
                                            <p:fltVal val="0"/>
                                          </p:val>
                                        </p:tav>
                                      </p:tavLst>
                                    </p:anim>
                                    <p:animEffect transition="in" filter="fade">
                                      <p:cBhvr>
                                        <p:cTn id="1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Security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security policies and procedures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Cash and non-cash transactions</a:t>
            </a:r>
          </a:p>
          <a:p>
            <a:pPr>
              <a:spcBef>
                <a:spcPts val="600"/>
              </a:spcBef>
              <a:spcAft>
                <a:spcPts val="1200"/>
              </a:spcAft>
            </a:pPr>
            <a:r>
              <a:rPr lang="en-AU" sz="2200" dirty="0" smtClean="0">
                <a:latin typeface="Helvetica" pitchFamily="34" charset="0"/>
              </a:rPr>
              <a:t>Equipment </a:t>
            </a:r>
          </a:p>
          <a:p>
            <a:pPr lvl="0">
              <a:spcBef>
                <a:spcPts val="600"/>
              </a:spcBef>
              <a:spcAft>
                <a:spcPts val="1200"/>
              </a:spcAft>
            </a:pPr>
            <a:r>
              <a:rPr lang="en-AU" sz="2200" dirty="0" smtClean="0">
                <a:latin typeface="Helvetica" pitchFamily="34" charset="0"/>
              </a:rPr>
              <a:t>Theft </a:t>
            </a:r>
          </a:p>
          <a:p>
            <a:pPr lvl="0">
              <a:spcBef>
                <a:spcPts val="600"/>
              </a:spcBef>
              <a:spcAft>
                <a:spcPts val="1200"/>
              </a:spcAft>
            </a:pPr>
            <a:r>
              <a:rPr lang="en-AU" sz="2200" dirty="0" smtClean="0">
                <a:latin typeface="Helvetica" pitchFamily="34" charset="0"/>
              </a:rPr>
              <a:t>Emergency procedures and evacuations </a:t>
            </a:r>
          </a:p>
          <a:p>
            <a:pPr>
              <a:spcBef>
                <a:spcPts val="600"/>
              </a:spcBef>
              <a:spcAft>
                <a:spcPts val="1200"/>
              </a:spcAft>
            </a:pPr>
            <a:r>
              <a:rPr lang="en-AU" sz="2200" dirty="0" smtClean="0">
                <a:latin typeface="Helvetica" pitchFamily="34" charset="0"/>
              </a:rPr>
              <a:t>Other events likely to endanger customers </a:t>
            </a:r>
            <a:br>
              <a:rPr lang="en-AU" sz="2200" dirty="0" smtClean="0">
                <a:latin typeface="Helvetica" pitchFamily="34" charset="0"/>
              </a:rPr>
            </a:br>
            <a:r>
              <a:rPr lang="en-AU" sz="2200" dirty="0" smtClean="0">
                <a:latin typeface="Helvetica" pitchFamily="34" charset="0"/>
              </a:rPr>
              <a:t>or staff</a:t>
            </a:r>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6" name="Picture 5" descr="W354_pink_luggage_shutterstock_159194738.jpg"/>
          <p:cNvPicPr/>
          <p:nvPr/>
        </p:nvPicPr>
        <p:blipFill>
          <a:blip r:embed="rId3" cstate="print"/>
          <a:stretch>
            <a:fillRect/>
          </a:stretch>
        </p:blipFill>
        <p:spPr>
          <a:xfrm>
            <a:off x="6705537" y="3501008"/>
            <a:ext cx="1754895" cy="2232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Security policies and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assets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the types of assets will vary depending on the demands of specific tours, common assets that need to be controlled and managed include:</a:t>
            </a:r>
          </a:p>
          <a:p>
            <a:pPr lvl="0">
              <a:spcBef>
                <a:spcPts val="600"/>
              </a:spcBef>
              <a:spcAft>
                <a:spcPts val="1200"/>
              </a:spcAft>
            </a:pPr>
            <a:r>
              <a:rPr lang="en-AU" sz="2200" dirty="0" smtClean="0">
                <a:latin typeface="Helvetica" pitchFamily="34" charset="0"/>
              </a:rPr>
              <a:t>Keys</a:t>
            </a:r>
          </a:p>
          <a:p>
            <a:pPr lvl="0">
              <a:spcBef>
                <a:spcPts val="600"/>
              </a:spcBef>
              <a:spcAft>
                <a:spcPts val="1200"/>
              </a:spcAft>
            </a:pPr>
            <a:r>
              <a:rPr lang="en-AU" sz="2200" dirty="0" smtClean="0">
                <a:latin typeface="Helvetica" pitchFamily="34" charset="0"/>
              </a:rPr>
              <a:t>Security Passes</a:t>
            </a:r>
          </a:p>
          <a:p>
            <a:pPr lvl="0">
              <a:spcBef>
                <a:spcPts val="600"/>
              </a:spcBef>
              <a:spcAft>
                <a:spcPts val="1200"/>
              </a:spcAft>
            </a:pPr>
            <a:r>
              <a:rPr lang="en-AU" sz="2200" dirty="0" smtClean="0">
                <a:latin typeface="Helvetica" pitchFamily="34" charset="0"/>
              </a:rPr>
              <a:t>Equipment</a:t>
            </a:r>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6" name="Picture 5" descr="W345_exit_sign_shutterstock_155730473.jpg"/>
          <p:cNvPicPr>
            <a:picLocks noChangeAspect="1"/>
          </p:cNvPicPr>
          <p:nvPr/>
        </p:nvPicPr>
        <p:blipFill>
          <a:blip r:embed="rId3" cstate="print"/>
          <a:stretch>
            <a:fillRect/>
          </a:stretch>
        </p:blipFill>
        <p:spPr>
          <a:xfrm>
            <a:off x="6804248" y="3326479"/>
            <a:ext cx="1634868" cy="24584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Types of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68152"/>
            <a:ext cx="7467600" cy="5301208"/>
          </a:xfrm>
        </p:spPr>
        <p:txBody>
          <a:bodyPr>
            <a:normAutofit/>
          </a:bodyPr>
          <a:lstStyle/>
          <a:p>
            <a:pPr>
              <a:spcBef>
                <a:spcPts val="600"/>
              </a:spcBef>
              <a:spcAft>
                <a:spcPts val="1200"/>
              </a:spcAft>
              <a:buNone/>
            </a:pPr>
            <a:r>
              <a:rPr lang="en-AU" sz="2200" b="1" dirty="0" smtClean="0">
                <a:latin typeface="Helvetica" pitchFamily="34" charset="0"/>
              </a:rPr>
              <a:t>Keys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Keys may be needed for:</a:t>
            </a:r>
          </a:p>
          <a:p>
            <a:pPr lvl="0">
              <a:spcBef>
                <a:spcPts val="600"/>
              </a:spcBef>
              <a:spcAft>
                <a:spcPts val="1200"/>
              </a:spcAft>
            </a:pPr>
            <a:r>
              <a:rPr lang="en-AU" sz="2200" dirty="0" smtClean="0">
                <a:latin typeface="Helvetica" pitchFamily="34" charset="0"/>
              </a:rPr>
              <a:t>Doors</a:t>
            </a:r>
          </a:p>
          <a:p>
            <a:pPr lvl="0">
              <a:spcBef>
                <a:spcPts val="600"/>
              </a:spcBef>
              <a:spcAft>
                <a:spcPts val="1200"/>
              </a:spcAft>
            </a:pPr>
            <a:r>
              <a:rPr lang="en-AU" sz="2200" dirty="0" smtClean="0">
                <a:latin typeface="Helvetica" pitchFamily="34" charset="0"/>
              </a:rPr>
              <a:t>Vehicles</a:t>
            </a:r>
          </a:p>
          <a:p>
            <a:pPr lvl="0">
              <a:spcBef>
                <a:spcPts val="600"/>
              </a:spcBef>
              <a:spcAft>
                <a:spcPts val="1200"/>
              </a:spcAft>
            </a:pPr>
            <a:r>
              <a:rPr lang="en-AU" sz="2200" dirty="0" smtClean="0">
                <a:latin typeface="Helvetica" pitchFamily="34" charset="0"/>
              </a:rPr>
              <a:t>Displays</a:t>
            </a:r>
          </a:p>
          <a:p>
            <a:pPr lvl="0">
              <a:spcBef>
                <a:spcPts val="600"/>
              </a:spcBef>
              <a:spcAft>
                <a:spcPts val="1200"/>
              </a:spcAft>
            </a:pPr>
            <a:r>
              <a:rPr lang="en-AU" sz="2200" dirty="0" smtClean="0">
                <a:latin typeface="Helvetica" pitchFamily="34" charset="0"/>
              </a:rPr>
              <a:t>Padlocks </a:t>
            </a:r>
          </a:p>
          <a:p>
            <a:pPr lvl="0">
              <a:spcBef>
                <a:spcPts val="600"/>
              </a:spcBef>
              <a:spcAft>
                <a:spcPts val="1200"/>
              </a:spcAft>
            </a:pPr>
            <a:r>
              <a:rPr lang="en-AU" sz="2200" dirty="0" smtClean="0">
                <a:latin typeface="Helvetica" pitchFamily="34" charset="0"/>
              </a:rPr>
              <a:t>Gates</a:t>
            </a:r>
          </a:p>
          <a:p>
            <a:pPr lvl="0">
              <a:spcBef>
                <a:spcPts val="600"/>
              </a:spcBef>
              <a:spcAft>
                <a:spcPts val="1200"/>
              </a:spcAft>
            </a:pPr>
            <a:r>
              <a:rPr lang="en-AU" sz="2200" dirty="0" smtClean="0">
                <a:latin typeface="Helvetica" pitchFamily="34" charset="0"/>
              </a:rPr>
              <a:t>Enclosures</a:t>
            </a:r>
          </a:p>
          <a:p>
            <a:pPr lvl="0">
              <a:spcBef>
                <a:spcPts val="600"/>
              </a:spcBef>
              <a:spcAft>
                <a:spcPts val="1200"/>
              </a:spcAft>
            </a:pPr>
            <a:r>
              <a:rPr lang="en-US" sz="2200" dirty="0" smtClean="0">
                <a:latin typeface="Helvetica" pitchFamily="34" charset="0"/>
              </a:rPr>
              <a:t>Emergency exits</a:t>
            </a:r>
            <a:endParaRPr lang="en-AU" sz="2200" dirty="0" smtClean="0">
              <a:latin typeface="Helvetica" pitchFamily="34" charset="0"/>
            </a:endParaRPr>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6" name="Picture 5" descr="j0178017.jpg"/>
          <p:cNvPicPr/>
          <p:nvPr/>
        </p:nvPicPr>
        <p:blipFill>
          <a:blip r:embed="rId3" cstate="print"/>
          <a:stretch>
            <a:fillRect/>
          </a:stretch>
        </p:blipFill>
        <p:spPr>
          <a:xfrm>
            <a:off x="6136485" y="4007356"/>
            <a:ext cx="2304256" cy="170353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Types of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Security passes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Security pass in some venues there can be a need for the person delivering the tour to apply for, and obtain, a security pass before being granted access to nominated areas</a:t>
            </a:r>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6" name="Picture 5" descr="Swipe card.jpeg"/>
          <p:cNvPicPr/>
          <p:nvPr/>
        </p:nvPicPr>
        <p:blipFill>
          <a:blip r:embed="rId3" cstate="print"/>
          <a:stretch>
            <a:fillRect/>
          </a:stretch>
        </p:blipFill>
        <p:spPr>
          <a:xfrm>
            <a:off x="3059832" y="3717032"/>
            <a:ext cx="2376264" cy="2232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Types of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Equipment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Communication systems and items</a:t>
            </a:r>
          </a:p>
          <a:p>
            <a:pPr>
              <a:spcBef>
                <a:spcPts val="600"/>
              </a:spcBef>
              <a:spcAft>
                <a:spcPts val="1200"/>
              </a:spcAft>
            </a:pPr>
            <a:r>
              <a:rPr lang="en-AU" sz="2200" dirty="0" smtClean="0">
                <a:latin typeface="Helvetica" pitchFamily="34" charset="0"/>
              </a:rPr>
              <a:t>Personal audio facilities</a:t>
            </a:r>
          </a:p>
          <a:p>
            <a:pPr>
              <a:spcBef>
                <a:spcPts val="600"/>
              </a:spcBef>
              <a:spcAft>
                <a:spcPts val="1200"/>
              </a:spcAft>
            </a:pPr>
            <a:r>
              <a:rPr lang="en-AU" sz="2200" dirty="0" smtClean="0">
                <a:latin typeface="Helvetica" pitchFamily="34" charset="0"/>
              </a:rPr>
              <a:t>Audio-visual equipment</a:t>
            </a:r>
          </a:p>
          <a:p>
            <a:pPr>
              <a:spcBef>
                <a:spcPts val="600"/>
              </a:spcBef>
              <a:spcAft>
                <a:spcPts val="1200"/>
              </a:spcAft>
            </a:pPr>
            <a:r>
              <a:rPr lang="en-AU" sz="2200" dirty="0" smtClean="0">
                <a:latin typeface="Helvetica" pitchFamily="34" charset="0"/>
              </a:rPr>
              <a:t> Computers</a:t>
            </a:r>
          </a:p>
          <a:p>
            <a:pPr>
              <a:spcBef>
                <a:spcPts val="600"/>
              </a:spcBef>
              <a:spcAft>
                <a:spcPts val="1200"/>
              </a:spcAft>
            </a:pPr>
            <a:r>
              <a:rPr lang="en-AU" sz="2200" dirty="0" smtClean="0">
                <a:latin typeface="Helvetica" pitchFamily="34" charset="0"/>
              </a:rPr>
              <a:t>Activity items</a:t>
            </a:r>
          </a:p>
          <a:p>
            <a:pPr>
              <a:buNone/>
            </a:pPr>
            <a:endParaRPr lang="en-AU" sz="2400" dirty="0" smtClean="0"/>
          </a:p>
          <a:p>
            <a:pPr>
              <a:buNone/>
            </a:pPr>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8" name="Picture 7" descr="W140_communication_shutterstock_156176063.jpg"/>
          <p:cNvPicPr/>
          <p:nvPr/>
        </p:nvPicPr>
        <p:blipFill>
          <a:blip r:embed="rId3" cstate="print"/>
          <a:stretch>
            <a:fillRect/>
          </a:stretch>
        </p:blipFill>
        <p:spPr>
          <a:xfrm>
            <a:off x="4860032" y="2796454"/>
            <a:ext cx="2664296" cy="23042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Types of assets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Security of assets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There will always be a number of policies and procedures in relation to assets including:</a:t>
            </a:r>
          </a:p>
          <a:p>
            <a:pPr>
              <a:spcBef>
                <a:spcPts val="600"/>
              </a:spcBef>
              <a:spcAft>
                <a:spcPts val="1200"/>
              </a:spcAft>
            </a:pPr>
            <a:r>
              <a:rPr lang="en-AU" sz="2200" dirty="0" smtClean="0">
                <a:latin typeface="Helvetica" pitchFamily="34" charset="0"/>
              </a:rPr>
              <a:t>Restricting access</a:t>
            </a:r>
          </a:p>
          <a:p>
            <a:pPr>
              <a:spcBef>
                <a:spcPts val="600"/>
              </a:spcBef>
              <a:spcAft>
                <a:spcPts val="1200"/>
              </a:spcAft>
            </a:pPr>
            <a:r>
              <a:rPr lang="en-AU" sz="2200" dirty="0" smtClean="0">
                <a:latin typeface="Helvetica" pitchFamily="34" charset="0"/>
              </a:rPr>
              <a:t>Signing for assets</a:t>
            </a:r>
          </a:p>
          <a:p>
            <a:pPr>
              <a:spcBef>
                <a:spcPts val="600"/>
              </a:spcBef>
              <a:spcAft>
                <a:spcPts val="1200"/>
              </a:spcAft>
            </a:pPr>
            <a:r>
              <a:rPr lang="en-AU" sz="2200" dirty="0" smtClean="0">
                <a:latin typeface="Helvetica" pitchFamily="34" charset="0"/>
              </a:rPr>
              <a:t>Using safes and locked storage areas</a:t>
            </a:r>
          </a:p>
          <a:p>
            <a:pPr>
              <a:spcBef>
                <a:spcPts val="600"/>
              </a:spcBef>
              <a:spcAft>
                <a:spcPts val="1200"/>
              </a:spcAft>
            </a:pPr>
            <a:r>
              <a:rPr lang="en-AU" sz="2200" dirty="0" smtClean="0">
                <a:latin typeface="Helvetica" pitchFamily="34" charset="0"/>
              </a:rPr>
              <a:t>Policy forbidding the lending of assets </a:t>
            </a:r>
          </a:p>
          <a:p>
            <a:pPr>
              <a:spcBef>
                <a:spcPts val="600"/>
              </a:spcBef>
              <a:spcAft>
                <a:spcPts val="1200"/>
              </a:spcAft>
            </a:pPr>
            <a:r>
              <a:rPr lang="en-AU" sz="2200" dirty="0" smtClean="0">
                <a:latin typeface="Helvetica" pitchFamily="34" charset="0"/>
              </a:rPr>
              <a:t>They are compliant with regulations</a:t>
            </a:r>
          </a:p>
          <a:p>
            <a:pPr>
              <a:buNone/>
            </a:pPr>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11" name="Picture 10" descr="W401_shutterstock_155252273.jpg"/>
          <p:cNvPicPr/>
          <p:nvPr/>
        </p:nvPicPr>
        <p:blipFill>
          <a:blip r:embed="rId3" cstate="print"/>
          <a:stretch>
            <a:fillRect/>
          </a:stretch>
        </p:blipFill>
        <p:spPr>
          <a:xfrm>
            <a:off x="6084168" y="4149080"/>
            <a:ext cx="2376264" cy="1728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Check public address system</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Aspects of public address system</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In-house systems</a:t>
            </a:r>
          </a:p>
          <a:p>
            <a:pPr>
              <a:spcBef>
                <a:spcPts val="600"/>
              </a:spcBef>
              <a:spcAft>
                <a:spcPts val="1200"/>
              </a:spcAft>
            </a:pPr>
            <a:r>
              <a:rPr lang="en-AU" sz="2200" dirty="0" smtClean="0">
                <a:latin typeface="Helvetica" pitchFamily="34" charset="0"/>
              </a:rPr>
              <a:t>Portable system</a:t>
            </a:r>
          </a:p>
          <a:p>
            <a:pPr>
              <a:spcBef>
                <a:spcPts val="600"/>
              </a:spcBef>
              <a:spcAft>
                <a:spcPts val="1200"/>
              </a:spcAft>
            </a:pPr>
            <a:r>
              <a:rPr lang="en-AU" sz="2200" dirty="0" smtClean="0">
                <a:latin typeface="Helvetica" pitchFamily="34" charset="0"/>
              </a:rPr>
              <a:t>Megaphones</a:t>
            </a:r>
          </a:p>
          <a:p>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6" name="Picture 5" descr="uhf-3[1].jpg"/>
          <p:cNvPicPr/>
          <p:nvPr/>
        </p:nvPicPr>
        <p:blipFill>
          <a:blip r:embed="rId3" cstate="print"/>
          <a:stretch>
            <a:fillRect/>
          </a:stretch>
        </p:blipFill>
        <p:spPr>
          <a:xfrm>
            <a:off x="4427984" y="2174850"/>
            <a:ext cx="2948930" cy="19322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Check public address system</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Check understanding and readiness of public address system</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essential that guides understand:</a:t>
            </a:r>
          </a:p>
          <a:p>
            <a:pPr lvl="0">
              <a:spcBef>
                <a:spcPts val="600"/>
              </a:spcBef>
              <a:spcAft>
                <a:spcPts val="1200"/>
              </a:spcAft>
            </a:pPr>
            <a:r>
              <a:rPr lang="en-AU" sz="2200" dirty="0" smtClean="0">
                <a:latin typeface="Helvetica" pitchFamily="34" charset="0"/>
              </a:rPr>
              <a:t>The different components of the public address system</a:t>
            </a:r>
          </a:p>
          <a:p>
            <a:pPr lvl="0">
              <a:spcBef>
                <a:spcPts val="600"/>
              </a:spcBef>
              <a:spcAft>
                <a:spcPts val="1200"/>
              </a:spcAft>
            </a:pPr>
            <a:r>
              <a:rPr lang="en-AU" sz="2200" dirty="0" smtClean="0">
                <a:latin typeface="Helvetica" pitchFamily="34" charset="0"/>
              </a:rPr>
              <a:t>Ensure the system is ready for use</a:t>
            </a:r>
          </a:p>
          <a:p>
            <a:pPr>
              <a:spcBef>
                <a:spcPts val="600"/>
              </a:spcBef>
              <a:spcAft>
                <a:spcPts val="1200"/>
              </a:spcAft>
            </a:pPr>
            <a:r>
              <a:rPr lang="en-AU" sz="2200" dirty="0" smtClean="0">
                <a:latin typeface="Helvetica" pitchFamily="34" charset="0"/>
              </a:rPr>
              <a:t>How to use and control the system</a:t>
            </a:r>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5" name="Picture 4" descr="m25s[1].jpg"/>
          <p:cNvPicPr/>
          <p:nvPr/>
        </p:nvPicPr>
        <p:blipFill>
          <a:blip r:embed="rId3" cstate="print"/>
          <a:stretch>
            <a:fillRect/>
          </a:stretch>
        </p:blipFill>
        <p:spPr>
          <a:xfrm>
            <a:off x="6516216" y="3573016"/>
            <a:ext cx="1706548" cy="14401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Test equipment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Ensure equipment has been tested</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Three basic requirements about testing equipment before a tour are:</a:t>
            </a:r>
          </a:p>
          <a:p>
            <a:pPr lvl="0">
              <a:spcBef>
                <a:spcPts val="600"/>
              </a:spcBef>
              <a:spcAft>
                <a:spcPts val="1200"/>
              </a:spcAft>
            </a:pPr>
            <a:r>
              <a:rPr lang="en-AU" sz="2200" dirty="0" smtClean="0">
                <a:latin typeface="Helvetica" pitchFamily="34" charset="0"/>
              </a:rPr>
              <a:t>Never ‘forget’ to do these checks </a:t>
            </a:r>
          </a:p>
          <a:p>
            <a:pPr lvl="0">
              <a:spcBef>
                <a:spcPts val="600"/>
              </a:spcBef>
              <a:spcAft>
                <a:spcPts val="1200"/>
              </a:spcAft>
            </a:pPr>
            <a:r>
              <a:rPr lang="en-AU" sz="2200" dirty="0" smtClean="0">
                <a:latin typeface="Helvetica" pitchFamily="34" charset="0"/>
              </a:rPr>
              <a:t>Take time doing the tests and inspections </a:t>
            </a:r>
          </a:p>
          <a:p>
            <a:pPr>
              <a:spcBef>
                <a:spcPts val="600"/>
              </a:spcBef>
              <a:spcAft>
                <a:spcPts val="1200"/>
              </a:spcAft>
            </a:pPr>
            <a:r>
              <a:rPr lang="en-AU" sz="2200" dirty="0" smtClean="0">
                <a:latin typeface="Helvetica" pitchFamily="34" charset="0"/>
              </a:rPr>
              <a:t>Check, test and verify all the items, </a:t>
            </a:r>
            <a:br>
              <a:rPr lang="en-AU" sz="2200" dirty="0" smtClean="0">
                <a:latin typeface="Helvetica" pitchFamily="34" charset="0"/>
              </a:rPr>
            </a:br>
            <a:r>
              <a:rPr lang="en-AU" sz="2200" dirty="0" smtClean="0">
                <a:latin typeface="Helvetica" pitchFamily="34" charset="0"/>
              </a:rPr>
              <a:t>systems or equipment</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6" name="Picture 5" descr="PAcover1[1].jpg"/>
          <p:cNvPicPr/>
          <p:nvPr/>
        </p:nvPicPr>
        <p:blipFill>
          <a:blip r:embed="rId3" cstate="print"/>
          <a:stretch>
            <a:fillRect/>
          </a:stretch>
        </p:blipFill>
        <p:spPr>
          <a:xfrm>
            <a:off x="6660232" y="3212976"/>
            <a:ext cx="1543804"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Check materials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Types of materials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Props, materials and aids might include:</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Work sheets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Pens and pencils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Binoculars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Maps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Photos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Posters</a:t>
            </a: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7" name="Picture 6" descr="W134_white_board_shutterstock_156103070.jpg"/>
          <p:cNvPicPr/>
          <p:nvPr/>
        </p:nvPicPr>
        <p:blipFill>
          <a:blip r:embed="rId3" cstate="print"/>
          <a:stretch>
            <a:fillRect/>
          </a:stretch>
        </p:blipFill>
        <p:spPr>
          <a:xfrm>
            <a:off x="6372200" y="3073356"/>
            <a:ext cx="2057202" cy="24379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Check materials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Types of materials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Torches (for night tours)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Observation or activity sheets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Plant samples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Feathers, horns, antlers </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Blindfolds</a:t>
            </a:r>
          </a:p>
          <a:p>
            <a:pPr lvl="0"/>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6" name="Picture 5" descr="W126_holiday_icon_japan_shutterstock_155503469.jpg"/>
          <p:cNvPicPr>
            <a:picLocks noChangeAspect="1"/>
          </p:cNvPicPr>
          <p:nvPr/>
        </p:nvPicPr>
        <p:blipFill>
          <a:blip r:embed="rId3" cstate="print"/>
          <a:stretch>
            <a:fillRect/>
          </a:stretch>
        </p:blipFill>
        <p:spPr>
          <a:xfrm>
            <a:off x="6084167" y="3444964"/>
            <a:ext cx="2364441" cy="19293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Check materials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Types of materials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Diagrams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Information leaflets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Costumes</a:t>
            </a:r>
            <a:endParaRPr lang="en-AU" sz="2200" dirty="0" smtClean="0">
              <a:latin typeface="Helvetica" pitchFamily="34" charset="0"/>
            </a:endParaRPr>
          </a:p>
          <a:p>
            <a:pPr lvl="0">
              <a:spcBef>
                <a:spcPts val="600"/>
              </a:spcBef>
              <a:spcAft>
                <a:spcPts val="1200"/>
              </a:spcAft>
            </a:pPr>
            <a:r>
              <a:rPr lang="en-US" sz="2200" dirty="0" smtClean="0">
                <a:latin typeface="Helvetica" pitchFamily="34" charset="0"/>
              </a:rPr>
              <a:t>Electronic guides</a:t>
            </a:r>
          </a:p>
          <a:p>
            <a:pPr lvl="0">
              <a:spcBef>
                <a:spcPts val="600"/>
              </a:spcBef>
              <a:spcAft>
                <a:spcPts val="1200"/>
              </a:spcAft>
            </a:pPr>
            <a:r>
              <a:rPr lang="en-US" sz="2200" dirty="0" smtClean="0">
                <a:latin typeface="Helvetica" pitchFamily="34" charset="0"/>
              </a:rPr>
              <a:t>Beverages / foods / holders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6" name="Picture 5" descr="W366_airtraffic_controller_dog_shutterstock_146926307.jpg"/>
          <p:cNvPicPr>
            <a:picLocks noChangeAspect="1"/>
          </p:cNvPicPr>
          <p:nvPr/>
        </p:nvPicPr>
        <p:blipFill>
          <a:blip r:embed="rId3" cstate="print"/>
          <a:stretch>
            <a:fillRect/>
          </a:stretch>
        </p:blipFill>
        <p:spPr>
          <a:xfrm>
            <a:off x="5802952" y="2636912"/>
            <a:ext cx="2046416" cy="20464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Understand </a:t>
            </a:r>
            <a:r>
              <a:rPr lang="en-AU" sz="2200" b="1" dirty="0" smtClean="0">
                <a:latin typeface="Helvetica" pitchFamily="34" charset="0"/>
              </a:rPr>
              <a:t>legal implications </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Like in any business activity, a tour guide will need to follow and adhere to laws and regulations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descr="shutterstock_165739871.jpg"/>
          <p:cNvPicPr/>
          <p:nvPr/>
        </p:nvPicPr>
        <p:blipFill>
          <a:blip r:embed="rId3" cstate="print"/>
          <a:stretch>
            <a:fillRect/>
          </a:stretch>
        </p:blipFill>
        <p:spPr>
          <a:xfrm>
            <a:off x="3059832" y="3284984"/>
            <a:ext cx="2592288" cy="24482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C</a:t>
            </a:r>
            <a:r>
              <a:rPr lang="en-AU" sz="2200" b="1" dirty="0" smtClean="0">
                <a:latin typeface="Helvetica" pitchFamily="34" charset="0"/>
              </a:rPr>
              <a:t>orporate governance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Corporate governance is the system by which companies are directed and managed</a:t>
            </a:r>
          </a:p>
          <a:p>
            <a:pPr>
              <a:spcBef>
                <a:spcPts val="600"/>
              </a:spcBef>
              <a:spcAft>
                <a:spcPts val="1200"/>
              </a:spcAft>
            </a:pPr>
            <a:r>
              <a:rPr lang="en-AU" sz="2200" dirty="0" smtClean="0">
                <a:latin typeface="Helvetica" pitchFamily="34" charset="0"/>
              </a:rPr>
              <a:t>It influences how the objectives of the company are set and achieved, how risk is monitored and assessed, and how performance is optimised</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6" name="Picture 5" descr="Generic_Assessment_115352104.jpg"/>
          <p:cNvPicPr/>
          <p:nvPr/>
        </p:nvPicPr>
        <p:blipFill>
          <a:blip r:embed="rId3" cstate="print"/>
          <a:stretch>
            <a:fillRect/>
          </a:stretch>
        </p:blipFill>
        <p:spPr>
          <a:xfrm>
            <a:off x="5724128" y="4005064"/>
            <a:ext cx="2673864"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C</a:t>
            </a:r>
            <a:r>
              <a:rPr lang="en-AU" sz="2200" b="1" dirty="0" smtClean="0">
                <a:latin typeface="Helvetica" pitchFamily="34" charset="0"/>
              </a:rPr>
              <a:t>orporate governance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Why is their a need for good corporate governance?</a:t>
            </a:r>
          </a:p>
          <a:p>
            <a:pPr>
              <a:spcBef>
                <a:spcPts val="600"/>
              </a:spcBef>
              <a:spcAft>
                <a:spcPts val="1200"/>
              </a:spcAft>
            </a:pPr>
            <a:r>
              <a:rPr lang="en-AU" sz="2200" dirty="0" smtClean="0">
                <a:latin typeface="Helvetica" pitchFamily="34" charset="0"/>
              </a:rPr>
              <a:t>What are corporate governance responsibilities?</a:t>
            </a:r>
          </a:p>
          <a:p>
            <a:pPr>
              <a:spcBef>
                <a:spcPts val="600"/>
              </a:spcBef>
              <a:spcAft>
                <a:spcPts val="1200"/>
              </a:spcAft>
            </a:pPr>
            <a:r>
              <a:rPr lang="en-US" sz="2200" dirty="0" smtClean="0">
                <a:latin typeface="Helvetica" pitchFamily="34" charset="0"/>
              </a:rPr>
              <a:t>What are areas of </a:t>
            </a:r>
            <a:r>
              <a:rPr lang="en-AU" sz="2200" dirty="0" smtClean="0">
                <a:latin typeface="Helvetica" pitchFamily="34" charset="0"/>
              </a:rPr>
              <a:t>corporate governance?</a:t>
            </a:r>
            <a:endParaRPr lang="en-US" sz="2200" dirty="0" smtClean="0">
              <a:latin typeface="Helvetica" pitchFamily="34" charset="0"/>
            </a:endParaRPr>
          </a:p>
          <a:p>
            <a:endParaRPr lang="en-AU"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7" name="Picture 6" descr="A15 shutterstock_173608850[1].JPG"/>
          <p:cNvPicPr/>
          <p:nvPr/>
        </p:nvPicPr>
        <p:blipFill>
          <a:blip r:embed="rId3" cstate="print"/>
          <a:stretch>
            <a:fillRect/>
          </a:stretch>
        </p:blipFill>
        <p:spPr>
          <a:xfrm>
            <a:off x="5724128" y="3861048"/>
            <a:ext cx="2736304" cy="20583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Health and Safety</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All businesses are subject to Occupational Health and Safety (OHS) legislation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One of the tourist guides main concerns is the health and safety of their customers</a:t>
            </a: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6" name="Picture 5" descr="Safety first sign.jpg"/>
          <p:cNvPicPr/>
          <p:nvPr/>
        </p:nvPicPr>
        <p:blipFill>
          <a:blip r:embed="rId3" cstate="print"/>
          <a:stretch>
            <a:fillRect/>
          </a:stretch>
        </p:blipFill>
        <p:spPr>
          <a:xfrm>
            <a:off x="2843808" y="4079706"/>
            <a:ext cx="2880320" cy="16291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a:spcBef>
                <a:spcPts val="600"/>
              </a:spcBef>
              <a:spcAft>
                <a:spcPts val="1200"/>
              </a:spcAft>
              <a:buNone/>
            </a:pPr>
            <a:r>
              <a:rPr lang="en-AU" sz="2200" b="1" dirty="0" smtClean="0">
                <a:latin typeface="Helvetica" pitchFamily="34" charset="0"/>
              </a:rPr>
              <a:t>Principles of health and safety protection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secure the health, safety and welfare of everyone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eliminate, at the source, risks to the health, safety or welfare of everyone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ensure that the health and safety of members of the public is not placed at risk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 provide for the involvement of all in </a:t>
            </a:r>
            <a:br>
              <a:rPr lang="en-AU" sz="2200" dirty="0" smtClean="0">
                <a:latin typeface="Helvetica" pitchFamily="34" charset="0"/>
              </a:rPr>
            </a:br>
            <a:r>
              <a:rPr lang="en-AU" sz="2200" dirty="0" smtClean="0">
                <a:latin typeface="Helvetica" pitchFamily="34" charset="0"/>
              </a:rPr>
              <a:t>developing health and safety standards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7" name="Picture 6" descr="shutterstock_53668378.jpg"/>
          <p:cNvPicPr/>
          <p:nvPr/>
        </p:nvPicPr>
        <p:blipFill>
          <a:blip r:embed="rId3" cstate="print"/>
          <a:stretch>
            <a:fillRect/>
          </a:stretch>
        </p:blipFill>
        <p:spPr>
          <a:xfrm>
            <a:off x="6084168" y="4172857"/>
            <a:ext cx="2379919"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a:spcBef>
                <a:spcPts val="600"/>
              </a:spcBef>
              <a:spcAft>
                <a:spcPts val="1200"/>
              </a:spcAft>
              <a:buNone/>
            </a:pPr>
            <a:r>
              <a:rPr lang="en-AU" sz="2200" b="1" dirty="0" smtClean="0">
                <a:latin typeface="Helvetica" pitchFamily="34" charset="0"/>
              </a:rPr>
              <a:t>Duty of care</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Legislation notwithstanding, tour companies and tour guides themselves owe a common law ‘duty of care’ to their customers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Common law is law which is not the result of legislation</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6" name="Picture 5" descr="Best Tour_129392636.jpg"/>
          <p:cNvPicPr/>
          <p:nvPr/>
        </p:nvPicPr>
        <p:blipFill>
          <a:blip r:embed="rId3" cstate="print"/>
          <a:stretch>
            <a:fillRect/>
          </a:stretch>
        </p:blipFill>
        <p:spPr>
          <a:xfrm>
            <a:off x="2731342" y="4042732"/>
            <a:ext cx="2160240"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Duty of care</a:t>
            </a:r>
            <a:endParaRPr lang="en-US" sz="2200" b="1" dirty="0" smtClean="0">
              <a:latin typeface="Helvetica" pitchFamily="34" charset="0"/>
            </a:endParaRPr>
          </a:p>
          <a:p>
            <a:r>
              <a:rPr lang="en-AU" sz="2200" dirty="0" smtClean="0">
                <a:latin typeface="Helvetica" pitchFamily="34" charset="0"/>
              </a:rPr>
              <a:t>Duty of care provisions require a business to take reasonable care to ensure that ‘foreseeable harm’ does not occur to people</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8" name="Picture 7" descr="shutterstock_61595866.jpg"/>
          <p:cNvPicPr>
            <a:picLocks noChangeAspect="1"/>
          </p:cNvPicPr>
          <p:nvPr/>
        </p:nvPicPr>
        <p:blipFill>
          <a:blip r:embed="rId3" cstate="print"/>
          <a:stretch>
            <a:fillRect/>
          </a:stretch>
        </p:blipFill>
        <p:spPr>
          <a:xfrm>
            <a:off x="2267744" y="3789040"/>
            <a:ext cx="3059830"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Employee Code of Conduct</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Employees who work in the front line of an organisation dealing with the customers directly, as a tourist guide, will often be required to adhere to a code of conduct</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descr="A18 shutterstock_181389116.jpg"/>
          <p:cNvPicPr/>
          <p:nvPr/>
        </p:nvPicPr>
        <p:blipFill>
          <a:blip r:embed="rId3" cstate="print"/>
          <a:stretch>
            <a:fillRect/>
          </a:stretch>
        </p:blipFill>
        <p:spPr>
          <a:xfrm>
            <a:off x="3096902" y="3501008"/>
            <a:ext cx="1944216"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944042"/>
          </a:xfrm>
        </p:spPr>
        <p:txBody>
          <a:bodyPr>
            <a:normAutofit lnSpcReduction="10000"/>
          </a:bodyPr>
          <a:lstStyle/>
          <a:p>
            <a:pPr>
              <a:spcBef>
                <a:spcPts val="600"/>
              </a:spcBef>
              <a:spcAft>
                <a:spcPts val="1200"/>
              </a:spcAft>
              <a:buNone/>
            </a:pPr>
            <a:r>
              <a:rPr lang="en-AU" sz="2200" b="1" dirty="0" smtClean="0">
                <a:latin typeface="Helvetica" pitchFamily="34" charset="0"/>
              </a:rPr>
              <a:t>Employee Code of Conduct</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This might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Expectations on personal presentation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Restrictions on the content of commentary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Expectations about absenteeism or tardiness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to treat company property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Conflicts of interest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Personal behaviour i.e. Fighting or arguing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Responsibilities regarding health and safety</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descr="shutterstock_121585801.jpg"/>
          <p:cNvPicPr>
            <a:picLocks noChangeAspect="1"/>
          </p:cNvPicPr>
          <p:nvPr/>
        </p:nvPicPr>
        <p:blipFill>
          <a:blip r:embed="rId3" cstate="print"/>
          <a:stretch>
            <a:fillRect/>
          </a:stretch>
        </p:blipFill>
        <p:spPr>
          <a:xfrm>
            <a:off x="6660232" y="4303923"/>
            <a:ext cx="1956048" cy="13046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a:bodyPr>
          <a:lstStyle/>
          <a:p>
            <a:pPr>
              <a:spcBef>
                <a:spcPts val="600"/>
              </a:spcBef>
              <a:spcAft>
                <a:spcPts val="1200"/>
              </a:spcAft>
              <a:buNone/>
            </a:pPr>
            <a:r>
              <a:rPr lang="en-AU" sz="2200" b="1" dirty="0" smtClean="0">
                <a:latin typeface="Helvetica" pitchFamily="34" charset="0"/>
              </a:rPr>
              <a:t>Fair trading legislation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Fair trading legislation places obligations on businesses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Avoid misleading and deceptive contact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Not to use unfair consumer contracts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Avoid unconscionable conduct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Issue receipts and itemised bills</a:t>
            </a: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descr="A5 shutterstock_131103662.jpg"/>
          <p:cNvPicPr/>
          <p:nvPr/>
        </p:nvPicPr>
        <p:blipFill>
          <a:blip r:embed="rId3" cstate="print"/>
          <a:stretch>
            <a:fillRect/>
          </a:stretch>
        </p:blipFill>
        <p:spPr>
          <a:xfrm>
            <a:off x="5796136" y="4005064"/>
            <a:ext cx="2664296"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44042"/>
          </a:xfrm>
        </p:spPr>
        <p:txBody>
          <a:bodyPr>
            <a:normAutofit/>
          </a:bodyPr>
          <a:lstStyle/>
          <a:p>
            <a:pPr>
              <a:spcBef>
                <a:spcPts val="600"/>
              </a:spcBef>
              <a:spcAft>
                <a:spcPts val="1200"/>
              </a:spcAft>
              <a:buNone/>
            </a:pPr>
            <a:r>
              <a:rPr lang="en-AU" sz="2200" b="1" dirty="0" smtClean="0">
                <a:latin typeface="Helvetica" pitchFamily="34" charset="0"/>
              </a:rPr>
              <a:t>Ethical requirements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Ethical requirements relate to issues about which a personal judgement has to be made regarding the way either the tourism organisation or tour guides themselves elect to conduct its business</a:t>
            </a: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6" name="Picture 5" descr="shutterstock_185582456.jpg"/>
          <p:cNvPicPr/>
          <p:nvPr/>
        </p:nvPicPr>
        <p:blipFill>
          <a:blip r:embed="rId3" cstate="print"/>
          <a:stretch>
            <a:fillRect/>
          </a:stretch>
        </p:blipFill>
        <p:spPr>
          <a:xfrm>
            <a:off x="2267744" y="3717032"/>
            <a:ext cx="3456384" cy="22322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32406" cy="4944042"/>
          </a:xfrm>
        </p:spPr>
        <p:txBody>
          <a:bodyPr>
            <a:normAutofit/>
          </a:bodyPr>
          <a:lstStyle/>
          <a:p>
            <a:pPr>
              <a:spcBef>
                <a:spcPts val="600"/>
              </a:spcBef>
              <a:spcAft>
                <a:spcPts val="1200"/>
              </a:spcAft>
              <a:buNone/>
            </a:pPr>
            <a:r>
              <a:rPr lang="en-AU" sz="2200" b="1" dirty="0" smtClean="0">
                <a:latin typeface="Helvetica" pitchFamily="34" charset="0"/>
              </a:rPr>
              <a:t>What aspects of business have an ethical component?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provision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environment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People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community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Tipping </a:t>
            </a: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7" name="Picture 6" descr="shutterstock_106931819.jpg"/>
          <p:cNvPicPr>
            <a:picLocks noChangeAspect="1"/>
          </p:cNvPicPr>
          <p:nvPr/>
        </p:nvPicPr>
        <p:blipFill>
          <a:blip r:embed="rId3" cstate="print"/>
          <a:stretch>
            <a:fillRect/>
          </a:stretch>
        </p:blipFill>
        <p:spPr>
          <a:xfrm>
            <a:off x="4427984" y="3140968"/>
            <a:ext cx="2907799" cy="19395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32406" cy="4944042"/>
          </a:xfrm>
        </p:spPr>
        <p:txBody>
          <a:bodyPr>
            <a:normAutofit/>
          </a:bodyPr>
          <a:lstStyle/>
          <a:p>
            <a:pPr>
              <a:spcBef>
                <a:spcPts val="600"/>
              </a:spcBef>
              <a:spcAft>
                <a:spcPts val="1200"/>
              </a:spcAft>
              <a:buNone/>
            </a:pPr>
            <a:r>
              <a:rPr lang="en-AU" sz="2200" b="1" dirty="0" smtClean="0">
                <a:latin typeface="Helvetica" pitchFamily="34" charset="0"/>
              </a:rPr>
              <a:t>What aspects of business have an ethical component?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Discrimination against certain types of customers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Money benefiting personal use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Promotions and advertising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Intellectual property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 of interests </a:t>
            </a: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descr="shutterstock_89597467.jpg"/>
          <p:cNvPicPr/>
          <p:nvPr/>
        </p:nvPicPr>
        <p:blipFill>
          <a:blip r:embed="rId3" cstate="print"/>
          <a:stretch>
            <a:fillRect/>
          </a:stretch>
        </p:blipFill>
        <p:spPr>
          <a:xfrm>
            <a:off x="5148064" y="2780928"/>
            <a:ext cx="2376264" cy="23972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32406" cy="4944042"/>
          </a:xfrm>
        </p:spPr>
        <p:txBody>
          <a:bodyPr>
            <a:normAutofit/>
          </a:bodyPr>
          <a:lstStyle/>
          <a:p>
            <a:pPr>
              <a:spcBef>
                <a:spcPts val="600"/>
              </a:spcBef>
              <a:spcAft>
                <a:spcPts val="1200"/>
              </a:spcAft>
              <a:buNone/>
            </a:pPr>
            <a:r>
              <a:rPr lang="en-AU" sz="2200" b="1" dirty="0" smtClean="0">
                <a:latin typeface="Helvetica" pitchFamily="34" charset="0"/>
              </a:rPr>
              <a:t>Risk assessment &amp; management</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Formal and structured risk assessment coupled with proactive and comprehensive risk management activities are becoming increasingly common in business:</a:t>
            </a:r>
          </a:p>
          <a:p>
            <a:pPr>
              <a:spcBef>
                <a:spcPts val="600"/>
              </a:spcBef>
              <a:spcAft>
                <a:spcPts val="1200"/>
              </a:spcAft>
            </a:pPr>
            <a:r>
              <a:rPr lang="en-AU" sz="2200" dirty="0" smtClean="0">
                <a:latin typeface="Helvetica" pitchFamily="34" charset="0"/>
              </a:rPr>
              <a:t>What is the difference between risk assessment and risk management?</a:t>
            </a:r>
            <a:endParaRPr lang="en-US" sz="2200" dirty="0" smtClean="0">
              <a:latin typeface="Helvetica" pitchFamily="34" charset="0"/>
            </a:endParaRPr>
          </a:p>
          <a:p>
            <a:endParaRPr lang="en-US" sz="2400" dirty="0" smtClean="0"/>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6" name="Picture 5" descr="W608_shutterstock_99673604.jpg"/>
          <p:cNvPicPr>
            <a:picLocks noChangeAspect="1"/>
          </p:cNvPicPr>
          <p:nvPr/>
        </p:nvPicPr>
        <p:blipFill>
          <a:blip r:embed="rId3" cstate="print"/>
          <a:stretch>
            <a:fillRect/>
          </a:stretch>
        </p:blipFill>
        <p:spPr>
          <a:xfrm>
            <a:off x="2843808" y="4077072"/>
            <a:ext cx="2697706" cy="1872208"/>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8032406" cy="4944042"/>
          </a:xfrm>
        </p:spPr>
        <p:txBody>
          <a:bodyPr>
            <a:normAutofit/>
          </a:bodyPr>
          <a:lstStyle/>
          <a:p>
            <a:pPr>
              <a:spcBef>
                <a:spcPts val="600"/>
              </a:spcBef>
              <a:spcAft>
                <a:spcPts val="1200"/>
              </a:spcAft>
              <a:buNone/>
            </a:pPr>
            <a:r>
              <a:rPr lang="en-AU" sz="2200" b="1" dirty="0" smtClean="0">
                <a:latin typeface="Helvetica" pitchFamily="34" charset="0"/>
              </a:rPr>
              <a:t>Risk assessment</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Risk assessment involves: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the risks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Analysing the identified risk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Evaluating the severity of the identified risk</a:t>
            </a:r>
            <a:endParaRPr lang="en-US" sz="2200" dirty="0" smtClean="0">
              <a:latin typeface="Helvetica" pitchFamily="34" charset="0"/>
            </a:endParaRPr>
          </a:p>
          <a:p>
            <a:endParaRPr lang="en-US" sz="2400" dirty="0" smtClean="0"/>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descr="W421_riskmanagment_shutterstock_161159150.jpg"/>
          <p:cNvPicPr>
            <a:picLocks noChangeAspect="1"/>
          </p:cNvPicPr>
          <p:nvPr/>
        </p:nvPicPr>
        <p:blipFill>
          <a:blip r:embed="rId3" cstate="print"/>
          <a:stretch>
            <a:fillRect/>
          </a:stretch>
        </p:blipFill>
        <p:spPr>
          <a:xfrm>
            <a:off x="2555776" y="4293096"/>
            <a:ext cx="2736304" cy="182237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Legal implications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32406" cy="4944042"/>
          </a:xfrm>
        </p:spPr>
        <p:txBody>
          <a:bodyPr>
            <a:normAutofit/>
          </a:bodyPr>
          <a:lstStyle/>
          <a:p>
            <a:pPr>
              <a:spcBef>
                <a:spcPts val="600"/>
              </a:spcBef>
              <a:spcAft>
                <a:spcPts val="1200"/>
              </a:spcAft>
              <a:buNone/>
            </a:pPr>
            <a:r>
              <a:rPr lang="en-AU" sz="2200" b="1" dirty="0" smtClean="0">
                <a:latin typeface="Helvetica" pitchFamily="34" charset="0"/>
              </a:rPr>
              <a:t>Risk management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Risk avoidance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Risk reduction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Risk retention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Risk transfer strategies</a:t>
            </a:r>
            <a:endParaRPr lang="en-US" sz="2200" dirty="0" smtClean="0">
              <a:latin typeface="Helvetica" pitchFamily="34" charset="0"/>
            </a:endParaRPr>
          </a:p>
          <a:p>
            <a:endParaRPr lang="en-US" sz="2400" dirty="0" smtClean="0"/>
          </a:p>
          <a:p>
            <a:pPr lvl="0">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6" name="Picture 5" descr="shutterstock_183571262.jpg"/>
          <p:cNvPicPr>
            <a:picLocks noChangeAspect="1"/>
          </p:cNvPicPr>
          <p:nvPr/>
        </p:nvPicPr>
        <p:blipFill>
          <a:blip r:embed="rId3"/>
          <a:stretch>
            <a:fillRect/>
          </a:stretch>
        </p:blipFill>
        <p:spPr>
          <a:xfrm>
            <a:off x="5004048" y="2272388"/>
            <a:ext cx="3018300"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Role of the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Different roles of a tour guide</a:t>
            </a:r>
          </a:p>
          <a:p>
            <a:pPr>
              <a:spcBef>
                <a:spcPts val="600"/>
              </a:spcBef>
              <a:spcAft>
                <a:spcPts val="1200"/>
              </a:spcAft>
            </a:pPr>
            <a:r>
              <a:rPr lang="en-US" sz="2200" dirty="0" smtClean="0">
                <a:latin typeface="Helvetica" pitchFamily="34" charset="0"/>
              </a:rPr>
              <a:t>Mediator</a:t>
            </a:r>
          </a:p>
          <a:p>
            <a:pPr>
              <a:spcBef>
                <a:spcPts val="600"/>
              </a:spcBef>
              <a:spcAft>
                <a:spcPts val="1200"/>
              </a:spcAft>
            </a:pPr>
            <a:r>
              <a:rPr lang="en-US" sz="2200" dirty="0" smtClean="0">
                <a:latin typeface="Helvetica" pitchFamily="34" charset="0"/>
              </a:rPr>
              <a:t>Communicator</a:t>
            </a:r>
          </a:p>
          <a:p>
            <a:pPr>
              <a:spcBef>
                <a:spcPts val="600"/>
              </a:spcBef>
              <a:spcAft>
                <a:spcPts val="1200"/>
              </a:spcAft>
            </a:pPr>
            <a:r>
              <a:rPr lang="en-US" sz="2200" dirty="0" smtClean="0">
                <a:latin typeface="Helvetica" pitchFamily="34" charset="0"/>
              </a:rPr>
              <a:t>Manager</a:t>
            </a:r>
          </a:p>
          <a:p>
            <a:pPr>
              <a:spcBef>
                <a:spcPts val="600"/>
              </a:spcBef>
              <a:spcAft>
                <a:spcPts val="1200"/>
              </a:spcAft>
            </a:pPr>
            <a:r>
              <a:rPr lang="en-US" sz="2200" dirty="0" smtClean="0">
                <a:latin typeface="Helvetica" pitchFamily="34" charset="0"/>
              </a:rPr>
              <a:t>Teacher</a:t>
            </a:r>
          </a:p>
          <a:p>
            <a:pPr>
              <a:spcBef>
                <a:spcPts val="600"/>
              </a:spcBef>
              <a:spcAft>
                <a:spcPts val="1200"/>
              </a:spcAft>
            </a:pPr>
            <a:r>
              <a:rPr lang="en-US" sz="2200" dirty="0" smtClean="0">
                <a:latin typeface="Helvetica" pitchFamily="34" charset="0"/>
              </a:rPr>
              <a:t>OHS representative</a:t>
            </a:r>
          </a:p>
          <a:p>
            <a:pPr>
              <a:spcBef>
                <a:spcPts val="600"/>
              </a:spcBef>
              <a:spcAft>
                <a:spcPts val="1200"/>
              </a:spcAft>
            </a:pPr>
            <a:r>
              <a:rPr lang="en-US" sz="2200" dirty="0" smtClean="0">
                <a:latin typeface="Helvetica" pitchFamily="34" charset="0"/>
              </a:rPr>
              <a:t>Sales person</a:t>
            </a:r>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descr="shutterstock_2969083.jpg"/>
          <p:cNvPicPr/>
          <p:nvPr/>
        </p:nvPicPr>
        <p:blipFill>
          <a:blip r:embed="rId3" cstate="print"/>
          <a:stretch>
            <a:fillRect/>
          </a:stretch>
        </p:blipFill>
        <p:spPr>
          <a:xfrm>
            <a:off x="4572000" y="2420888"/>
            <a:ext cx="3672408"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Role of the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Characteristics of effective tour group leaders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Ability to be proactive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Being an effective communicator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Respect for others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Confidence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Enthusiasm</a:t>
            </a:r>
            <a:endParaRPr lang="en-US" sz="2200" dirty="0" smtClean="0">
              <a:latin typeface="Helvetica" pitchFamily="34" charset="0"/>
            </a:endParaRPr>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6" name="Picture 5" descr="shutterstock_14099602.jpg"/>
          <p:cNvPicPr/>
          <p:nvPr/>
        </p:nvPicPr>
        <p:blipFill>
          <a:blip r:embed="rId3" cstate="print"/>
          <a:stretch>
            <a:fillRect/>
          </a:stretch>
        </p:blipFill>
        <p:spPr>
          <a:xfrm>
            <a:off x="5436096" y="2204864"/>
            <a:ext cx="2496180" cy="28334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Role of the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Characteristics of effective tour group leaders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Fairness and consistency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Open-mindedness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Knowledgeable, skilful and competent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Organisational 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Initiative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Ability to direct and delegate</a:t>
            </a:r>
            <a:endParaRPr lang="en-US" sz="2200" dirty="0" smtClean="0">
              <a:latin typeface="Helvetica" pitchFamily="34" charset="0"/>
            </a:endParaRPr>
          </a:p>
          <a:p>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6" name="Picture 5" descr="Asian girl with world on hand_34766518.jpg"/>
          <p:cNvPicPr/>
          <p:nvPr/>
        </p:nvPicPr>
        <p:blipFill>
          <a:blip r:embed="rId3" cstate="print"/>
          <a:stretch>
            <a:fillRect/>
          </a:stretch>
        </p:blipFill>
        <p:spPr>
          <a:xfrm>
            <a:off x="6190645" y="2132856"/>
            <a:ext cx="2053763" cy="2880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340768"/>
            <a:ext cx="7237040" cy="4896544"/>
          </a:xfrm>
        </p:spPr>
        <p:txBody>
          <a:bodyPr>
            <a:normAutofit/>
          </a:bodyPr>
          <a:lstStyle/>
          <a:p>
            <a:pPr marL="0">
              <a:buNone/>
            </a:pPr>
            <a:r>
              <a:rPr lang="en-AU" sz="4000" b="1" dirty="0" smtClean="0">
                <a:solidFill>
                  <a:srgbClr val="FF6600"/>
                </a:solidFill>
                <a:latin typeface="Helvetica" pitchFamily="34" charset="0"/>
              </a:rPr>
              <a:t>Element 2:</a:t>
            </a:r>
          </a:p>
          <a:p>
            <a:pPr marL="0" indent="0">
              <a:spcBef>
                <a:spcPts val="600"/>
              </a:spcBef>
              <a:spcAft>
                <a:spcPts val="1200"/>
              </a:spcAft>
              <a:buNone/>
            </a:pPr>
            <a:r>
              <a:rPr lang="en-AU" sz="4000" b="1" i="1" dirty="0" smtClean="0">
                <a:solidFill>
                  <a:srgbClr val="FF6600"/>
                </a:solidFill>
              </a:rPr>
              <a:t>Co-ordinate tour group movements and activities</a:t>
            </a:r>
            <a:endParaRPr lang="en-AU" sz="4000" b="1" i="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descr="Lady_man_at airport_174994439.jpg"/>
          <p:cNvPicPr>
            <a:picLocks noChangeAspect="1"/>
          </p:cNvPicPr>
          <p:nvPr/>
        </p:nvPicPr>
        <p:blipFill>
          <a:blip r:embed="rId3" cstate="print"/>
          <a:stretch>
            <a:fillRect/>
          </a:stretch>
        </p:blipFill>
        <p:spPr>
          <a:xfrm>
            <a:off x="2339752" y="3501008"/>
            <a:ext cx="3400378" cy="24482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tour group movements and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Advise tour group members of the type of tour and the proposed movements and activities and </a:t>
            </a:r>
          </a:p>
          <a:p>
            <a:pPr>
              <a:spcBef>
                <a:spcPts val="600"/>
              </a:spcBef>
              <a:spcAft>
                <a:spcPts val="1200"/>
              </a:spcAft>
            </a:pPr>
            <a:r>
              <a:rPr lang="en-AU" sz="2200" dirty="0" smtClean="0">
                <a:latin typeface="Helvetica" pitchFamily="34" charset="0"/>
              </a:rPr>
              <a:t>Maintain adherence to the tour itinerary to the greatest extent possible</a:t>
            </a:r>
          </a:p>
          <a:p>
            <a:pPr>
              <a:spcBef>
                <a:spcPts val="600"/>
              </a:spcBef>
              <a:spcAft>
                <a:spcPts val="1200"/>
              </a:spcAft>
            </a:pPr>
            <a:r>
              <a:rPr lang="en-AU" sz="2200" dirty="0" smtClean="0">
                <a:latin typeface="Helvetica" pitchFamily="34" charset="0"/>
              </a:rPr>
              <a:t>Provide tour-related advice and information  </a:t>
            </a:r>
            <a:br>
              <a:rPr lang="en-AU" sz="2200" dirty="0" smtClean="0">
                <a:latin typeface="Helvetica" pitchFamily="34" charset="0"/>
              </a:rPr>
            </a:br>
            <a:r>
              <a:rPr lang="en-AU" sz="2200" dirty="0" smtClean="0">
                <a:latin typeface="Helvetica" pitchFamily="34" charset="0"/>
              </a:rPr>
              <a:t>to the tour group members</a:t>
            </a:r>
          </a:p>
          <a:p>
            <a:pPr>
              <a:spcBef>
                <a:spcPts val="600"/>
              </a:spcBef>
              <a:spcAft>
                <a:spcPts val="1200"/>
              </a:spcAft>
            </a:pPr>
            <a:r>
              <a:rPr lang="en-AU" sz="2200" dirty="0" smtClean="0">
                <a:latin typeface="Helvetica" pitchFamily="34" charset="0"/>
              </a:rPr>
              <a:t>Supervise movement and activities  </a:t>
            </a:r>
            <a:br>
              <a:rPr lang="en-AU" sz="2200" dirty="0" smtClean="0">
                <a:latin typeface="Helvetica" pitchFamily="34" charset="0"/>
              </a:rPr>
            </a:br>
            <a:r>
              <a:rPr lang="en-AU" sz="2200" dirty="0" smtClean="0">
                <a:latin typeface="Helvetica" pitchFamily="34" charset="0"/>
              </a:rPr>
              <a:t>of the tour group</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descr="shutterstock_144112840.jpg"/>
          <p:cNvPicPr>
            <a:picLocks noChangeAspect="1"/>
          </p:cNvPicPr>
          <p:nvPr/>
        </p:nvPicPr>
        <p:blipFill>
          <a:blip r:embed="rId3" cstate="print"/>
          <a:stretch>
            <a:fillRect/>
          </a:stretch>
        </p:blipFill>
        <p:spPr>
          <a:xfrm>
            <a:off x="6156176" y="4367691"/>
            <a:ext cx="2263316" cy="16137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tour group movements and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Encourage tour group members to participate in the tour</a:t>
            </a:r>
          </a:p>
          <a:p>
            <a:pPr>
              <a:spcBef>
                <a:spcPts val="600"/>
              </a:spcBef>
              <a:spcAft>
                <a:spcPts val="1200"/>
              </a:spcAft>
            </a:pPr>
            <a:r>
              <a:rPr lang="en-AU" sz="2200" dirty="0" smtClean="0">
                <a:latin typeface="Helvetica" pitchFamily="34" charset="0"/>
              </a:rPr>
              <a:t>Modify planned activities, add new activities  and/or delete activities where required to meet identified special needs of tour group members</a:t>
            </a:r>
          </a:p>
          <a:p>
            <a:pPr>
              <a:spcBef>
                <a:spcPts val="600"/>
              </a:spcBef>
              <a:spcAft>
                <a:spcPts val="1200"/>
              </a:spcAft>
            </a:pPr>
            <a:r>
              <a:rPr lang="en-AU" sz="2200" dirty="0" smtClean="0">
                <a:latin typeface="Helvetica" pitchFamily="34" charset="0"/>
              </a:rPr>
              <a:t>Optimise compliance with host enterprise policies and procedures, and host country legal requirements while on tour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descr="shutterstock_112272779.jpg"/>
          <p:cNvPicPr>
            <a:picLocks noChangeAspect="1"/>
          </p:cNvPicPr>
          <p:nvPr/>
        </p:nvPicPr>
        <p:blipFill>
          <a:blip r:embed="rId3" cstate="print"/>
          <a:stretch>
            <a:fillRect/>
          </a:stretch>
        </p:blipFill>
        <p:spPr>
          <a:xfrm>
            <a:off x="3203848" y="5210406"/>
            <a:ext cx="2470156" cy="16475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Co-ordinate tour group movements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Conduct a tour</a:t>
            </a:r>
          </a:p>
          <a:p>
            <a:pPr>
              <a:spcBef>
                <a:spcPts val="600"/>
              </a:spcBef>
              <a:spcAft>
                <a:spcPts val="1200"/>
              </a:spcAft>
            </a:pPr>
            <a:r>
              <a:rPr lang="en-AU" sz="2200" dirty="0" smtClean="0">
                <a:latin typeface="Helvetica" pitchFamily="34" charset="0"/>
              </a:rPr>
              <a:t>This section will focus on the activities associated with conducting and leading the actual tour</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As can be expected, there are many activities to be performed by tour guides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descr="shutterstock_2953316.jpg"/>
          <p:cNvPicPr/>
          <p:nvPr/>
        </p:nvPicPr>
        <p:blipFill>
          <a:blip r:embed="rId3" cstate="print"/>
          <a:stretch>
            <a:fillRect/>
          </a:stretch>
        </p:blipFill>
        <p:spPr>
          <a:xfrm>
            <a:off x="5879125" y="3717032"/>
            <a:ext cx="2520280" cy="22338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Types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Types of tour group members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Domestic and international people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Males and females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People from different age groups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Special interest groups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Special needs customers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Open groups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Homogenous target market groups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6" name="Picture 5" descr="shutterstock_48704089.jpg"/>
          <p:cNvPicPr/>
          <p:nvPr/>
        </p:nvPicPr>
        <p:blipFill>
          <a:blip r:embed="rId3" cstate="print"/>
          <a:stretch>
            <a:fillRect/>
          </a:stretch>
        </p:blipFill>
        <p:spPr>
          <a:xfrm>
            <a:off x="6084168" y="3945572"/>
            <a:ext cx="2323066" cy="18573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Types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Focus of tours</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History</a:t>
            </a:r>
          </a:p>
          <a:p>
            <a:pPr lvl="0">
              <a:spcBef>
                <a:spcPts val="600"/>
              </a:spcBef>
              <a:spcAft>
                <a:spcPts val="1200"/>
              </a:spcAft>
            </a:pPr>
            <a:r>
              <a:rPr lang="en-US" sz="2200" dirty="0" smtClean="0">
                <a:latin typeface="Helvetica" pitchFamily="34" charset="0"/>
              </a:rPr>
              <a:t>Flora and fauna</a:t>
            </a:r>
          </a:p>
          <a:p>
            <a:pPr lvl="0">
              <a:spcBef>
                <a:spcPts val="600"/>
              </a:spcBef>
              <a:spcAft>
                <a:spcPts val="1200"/>
              </a:spcAft>
            </a:pPr>
            <a:r>
              <a:rPr lang="en-US" sz="2200" dirty="0" smtClean="0">
                <a:latin typeface="Helvetica" pitchFamily="34" charset="0"/>
              </a:rPr>
              <a:t>Natural attractions</a:t>
            </a:r>
          </a:p>
          <a:p>
            <a:pPr lvl="0">
              <a:spcBef>
                <a:spcPts val="600"/>
              </a:spcBef>
              <a:spcAft>
                <a:spcPts val="1200"/>
              </a:spcAft>
            </a:pPr>
            <a:r>
              <a:rPr lang="en-US" sz="2200" dirty="0" smtClean="0">
                <a:latin typeface="Helvetica" pitchFamily="34" charset="0"/>
              </a:rPr>
              <a:t>Action experiences</a:t>
            </a:r>
          </a:p>
          <a:p>
            <a:pPr lvl="0">
              <a:spcBef>
                <a:spcPts val="600"/>
              </a:spcBef>
              <a:spcAft>
                <a:spcPts val="1200"/>
              </a:spcAft>
            </a:pPr>
            <a:r>
              <a:rPr lang="en-US" sz="2200" dirty="0" smtClean="0">
                <a:latin typeface="Helvetica" pitchFamily="34" charset="0"/>
              </a:rPr>
              <a:t>Shopping</a:t>
            </a:r>
          </a:p>
          <a:p>
            <a:pPr lvl="0">
              <a:spcBef>
                <a:spcPts val="600"/>
              </a:spcBef>
              <a:spcAft>
                <a:spcPts val="1200"/>
              </a:spcAft>
            </a:pPr>
            <a:r>
              <a:rPr lang="en-US" sz="2200" dirty="0" smtClean="0">
                <a:latin typeface="Helvetica" pitchFamily="34" charset="0"/>
              </a:rPr>
              <a:t>General interest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7" name="Picture 6" descr="Happy Smile_142334158.jpg"/>
          <p:cNvPicPr/>
          <p:nvPr/>
        </p:nvPicPr>
        <p:blipFill>
          <a:blip r:embed="rId3" cstate="print"/>
          <a:stretch>
            <a:fillRect/>
          </a:stretch>
        </p:blipFill>
        <p:spPr>
          <a:xfrm>
            <a:off x="5220072" y="3234022"/>
            <a:ext cx="3227479" cy="24117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Types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58290"/>
          </a:xfrm>
        </p:spPr>
        <p:txBody>
          <a:bodyPr>
            <a:normAutofit lnSpcReduction="10000"/>
          </a:bodyPr>
          <a:lstStyle/>
          <a:p>
            <a:pPr>
              <a:spcBef>
                <a:spcPts val="600"/>
              </a:spcBef>
              <a:spcAft>
                <a:spcPts val="600"/>
              </a:spcAft>
              <a:buNone/>
            </a:pPr>
            <a:r>
              <a:rPr lang="en-US" sz="2200" b="1" dirty="0" smtClean="0">
                <a:latin typeface="Helvetica" pitchFamily="34" charset="0"/>
              </a:rPr>
              <a:t>Types of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Half and full day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Extended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City, rural and remote area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Cultural and eco-tours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Adventure and recreational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Special interest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Walking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Four-wheel drive tours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Boating, aerial and cruise tours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6" name="Picture 5" descr="shutterstock_98518646.jpg"/>
          <p:cNvPicPr>
            <a:picLocks noChangeAspect="1"/>
          </p:cNvPicPr>
          <p:nvPr/>
        </p:nvPicPr>
        <p:blipFill>
          <a:blip r:embed="rId3" cstate="print"/>
          <a:stretch>
            <a:fillRect/>
          </a:stretch>
        </p:blipFill>
        <p:spPr>
          <a:xfrm>
            <a:off x="5220072" y="3212976"/>
            <a:ext cx="3014793" cy="18480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Greeting participants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58290"/>
          </a:xfrm>
        </p:spPr>
        <p:txBody>
          <a:bodyPr>
            <a:normAutofit/>
          </a:bodyPr>
          <a:lstStyle/>
          <a:p>
            <a:pPr>
              <a:spcBef>
                <a:spcPts val="600"/>
              </a:spcBef>
              <a:spcAft>
                <a:spcPts val="1200"/>
              </a:spcAft>
              <a:buNone/>
            </a:pPr>
            <a:r>
              <a:rPr lang="en-AU" sz="2200" b="1" dirty="0" smtClean="0">
                <a:latin typeface="Helvetica" pitchFamily="34" charset="0"/>
              </a:rPr>
              <a:t>Getting ready to greet participants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To give tour participants a positive and </a:t>
            </a:r>
            <a:br>
              <a:rPr lang="en-AU" sz="2200" dirty="0" smtClean="0">
                <a:latin typeface="Helvetica" pitchFamily="34" charset="0"/>
              </a:rPr>
            </a:br>
            <a:r>
              <a:rPr lang="en-AU" sz="2200" dirty="0" smtClean="0">
                <a:latin typeface="Helvetica" pitchFamily="34" charset="0"/>
              </a:rPr>
              <a:t>welcoming greeting tour guides must: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Be prepared</a:t>
            </a:r>
          </a:p>
          <a:p>
            <a:pPr>
              <a:spcBef>
                <a:spcPts val="600"/>
              </a:spcBef>
              <a:spcAft>
                <a:spcPts val="1200"/>
              </a:spcAft>
            </a:pPr>
            <a:r>
              <a:rPr lang="en-AU" sz="2200" dirty="0" smtClean="0">
                <a:latin typeface="Helvetica" pitchFamily="34" charset="0"/>
              </a:rPr>
              <a:t>Be there</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descr="shutterstock_88003519.jpg"/>
          <p:cNvPicPr/>
          <p:nvPr/>
        </p:nvPicPr>
        <p:blipFill>
          <a:blip r:embed="rId3" cstate="print"/>
          <a:stretch>
            <a:fillRect/>
          </a:stretch>
        </p:blipFill>
        <p:spPr>
          <a:xfrm>
            <a:off x="5580112" y="2348880"/>
            <a:ext cx="2664296" cy="273630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Greeting participants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58290"/>
          </a:xfrm>
        </p:spPr>
        <p:txBody>
          <a:bodyPr>
            <a:normAutofit/>
          </a:bodyPr>
          <a:lstStyle/>
          <a:p>
            <a:pPr>
              <a:spcBef>
                <a:spcPts val="600"/>
              </a:spcBef>
              <a:spcAft>
                <a:spcPts val="1200"/>
              </a:spcAft>
              <a:buNone/>
            </a:pPr>
            <a:r>
              <a:rPr lang="en-AU" sz="2200" b="1" dirty="0" smtClean="0">
                <a:latin typeface="Helvetica" pitchFamily="34" charset="0"/>
              </a:rPr>
              <a:t>Greeting of participants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Before embarking on a tour, it is important that you meet and greet your customers</a:t>
            </a:r>
            <a:r>
              <a:rPr lang="en-AU" sz="2200" dirty="0">
                <a:latin typeface="Helvetica" pitchFamily="34" charset="0"/>
              </a:rPr>
              <a:t>:</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How should you greet someone?</a:t>
            </a:r>
          </a:p>
          <a:p>
            <a:pPr>
              <a:spcBef>
                <a:spcPts val="600"/>
              </a:spcBef>
              <a:spcAft>
                <a:spcPts val="1200"/>
              </a:spcAft>
            </a:pPr>
            <a:r>
              <a:rPr lang="en-AU" sz="2200" dirty="0" smtClean="0">
                <a:latin typeface="Helvetica" pitchFamily="34" charset="0"/>
              </a:rPr>
              <a:t>What should you say?</a:t>
            </a:r>
          </a:p>
          <a:p>
            <a:pPr>
              <a:spcBef>
                <a:spcPts val="600"/>
              </a:spcBef>
              <a:spcAft>
                <a:spcPts val="1200"/>
              </a:spcAft>
            </a:pPr>
            <a:r>
              <a:rPr lang="en-AU" sz="2200" dirty="0" smtClean="0">
                <a:latin typeface="Helvetica" pitchFamily="34" charset="0"/>
              </a:rPr>
              <a:t>What other activities should be done?</a:t>
            </a:r>
          </a:p>
          <a:p>
            <a:pPr>
              <a:spcBef>
                <a:spcPts val="600"/>
              </a:spcBef>
              <a:spcAft>
                <a:spcPts val="1200"/>
              </a:spcAft>
            </a:pPr>
            <a:r>
              <a:rPr lang="en-AU" sz="2200" dirty="0" smtClean="0">
                <a:latin typeface="Helvetica" pitchFamily="34" charset="0"/>
              </a:rPr>
              <a:t>What checks should be made?</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6" name="Picture 5" descr="shutterstock_104238854.jpg"/>
          <p:cNvPicPr/>
          <p:nvPr/>
        </p:nvPicPr>
        <p:blipFill>
          <a:blip r:embed="rId3" cstate="print"/>
          <a:stretch>
            <a:fillRect/>
          </a:stretch>
        </p:blipFill>
        <p:spPr>
          <a:xfrm>
            <a:off x="6012160" y="3789040"/>
            <a:ext cx="2397498" cy="1656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Give introduction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lnSpcReduction="10000"/>
          </a:bodyPr>
          <a:lstStyle/>
          <a:p>
            <a:pPr>
              <a:spcBef>
                <a:spcPts val="600"/>
              </a:spcBef>
              <a:spcAft>
                <a:spcPts val="1200"/>
              </a:spcAft>
              <a:buNone/>
            </a:pPr>
            <a:r>
              <a:rPr lang="en-AU" sz="2200" b="1" dirty="0" smtClean="0">
                <a:latin typeface="Helvetica" pitchFamily="34" charset="0"/>
              </a:rPr>
              <a:t>Giving introduction of site and tour</a:t>
            </a:r>
          </a:p>
          <a:p>
            <a:pPr>
              <a:spcBef>
                <a:spcPts val="600"/>
              </a:spcBef>
              <a:spcAft>
                <a:spcPts val="1200"/>
              </a:spcAft>
              <a:buNone/>
            </a:pPr>
            <a:r>
              <a:rPr lang="en-AU" sz="2200" dirty="0" smtClean="0">
                <a:latin typeface="Helvetica" pitchFamily="34" charset="0"/>
              </a:rPr>
              <a:t>Tour guides’ introduction should:</a:t>
            </a:r>
          </a:p>
          <a:p>
            <a:pPr lvl="0">
              <a:spcBef>
                <a:spcPts val="600"/>
              </a:spcBef>
              <a:spcAft>
                <a:spcPts val="1200"/>
              </a:spcAft>
            </a:pPr>
            <a:r>
              <a:rPr lang="en-AU" sz="2200" dirty="0" smtClean="0">
                <a:latin typeface="Helvetica" pitchFamily="34" charset="0"/>
              </a:rPr>
              <a:t>Introduce tour guides themselves to the group </a:t>
            </a:r>
          </a:p>
          <a:p>
            <a:pPr lvl="0">
              <a:spcBef>
                <a:spcPts val="600"/>
              </a:spcBef>
              <a:spcAft>
                <a:spcPts val="1200"/>
              </a:spcAft>
            </a:pPr>
            <a:r>
              <a:rPr lang="en-AU" sz="2200" dirty="0" smtClean="0">
                <a:latin typeface="Helvetica" pitchFamily="34" charset="0"/>
              </a:rPr>
              <a:t>Name the group as part of the talk</a:t>
            </a:r>
          </a:p>
          <a:p>
            <a:pPr lvl="0">
              <a:spcBef>
                <a:spcPts val="600"/>
              </a:spcBef>
              <a:spcAft>
                <a:spcPts val="1200"/>
              </a:spcAft>
            </a:pPr>
            <a:r>
              <a:rPr lang="en-AU" sz="2200" dirty="0" smtClean="0">
                <a:latin typeface="Helvetica" pitchFamily="34" charset="0"/>
              </a:rPr>
              <a:t>Identify the site or tour area </a:t>
            </a:r>
          </a:p>
          <a:p>
            <a:pPr lvl="0">
              <a:spcBef>
                <a:spcPts val="600"/>
              </a:spcBef>
              <a:spcAft>
                <a:spcPts val="1200"/>
              </a:spcAft>
            </a:pPr>
            <a:r>
              <a:rPr lang="en-AU" sz="2200" dirty="0" smtClean="0">
                <a:latin typeface="Helvetica" pitchFamily="34" charset="0"/>
              </a:rPr>
              <a:t>Explain the type of tour </a:t>
            </a:r>
          </a:p>
          <a:p>
            <a:pPr lvl="0">
              <a:spcBef>
                <a:spcPts val="600"/>
              </a:spcBef>
              <a:spcAft>
                <a:spcPts val="1200"/>
              </a:spcAft>
            </a:pPr>
            <a:r>
              <a:rPr lang="en-AU" sz="2200" dirty="0" smtClean="0">
                <a:latin typeface="Helvetica" pitchFamily="34" charset="0"/>
              </a:rPr>
              <a:t>Provide an overview of what the tour will cover </a:t>
            </a:r>
          </a:p>
          <a:p>
            <a:pPr lvl="0">
              <a:spcBef>
                <a:spcPts val="600"/>
              </a:spcBef>
              <a:spcAft>
                <a:spcPts val="1200"/>
              </a:spcAft>
            </a:pPr>
            <a:r>
              <a:rPr lang="en-AU" sz="2200" dirty="0" smtClean="0">
                <a:latin typeface="Helvetica" pitchFamily="34" charset="0"/>
              </a:rPr>
              <a:t>Introduce any personnel who                                      will be part of the tour </a:t>
            </a:r>
          </a:p>
          <a:p>
            <a:pPr lvl="0">
              <a:spcBef>
                <a:spcPts val="600"/>
              </a:spcBef>
              <a:spcAft>
                <a:spcPts val="1200"/>
              </a:spcAft>
            </a:pPr>
            <a:r>
              <a:rPr lang="en-AU" sz="2200" dirty="0" smtClean="0">
                <a:latin typeface="Helvetica" pitchFamily="34" charset="0"/>
              </a:rPr>
              <a:t>Include a Q &amp; A session </a:t>
            </a: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6" name="Picture 5" descr="W79_Middle_Managers_Male_Female_Group_shutterstock_113648842.jpg"/>
          <p:cNvPicPr/>
          <p:nvPr/>
        </p:nvPicPr>
        <p:blipFill>
          <a:blip r:embed="rId3" cstate="print"/>
          <a:stretch>
            <a:fillRect/>
          </a:stretch>
        </p:blipFill>
        <p:spPr>
          <a:xfrm>
            <a:off x="5652120" y="2996952"/>
            <a:ext cx="2448272" cy="151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Explain tour</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Explain the tour itinerary</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Explaining the itinerary</a:t>
            </a:r>
          </a:p>
          <a:p>
            <a:pPr lvl="0">
              <a:spcBef>
                <a:spcPts val="600"/>
              </a:spcBef>
              <a:spcAft>
                <a:spcPts val="1200"/>
              </a:spcAft>
            </a:pPr>
            <a:r>
              <a:rPr lang="en-AU" sz="2200" dirty="0" smtClean="0">
                <a:latin typeface="Helvetica" pitchFamily="34" charset="0"/>
              </a:rPr>
              <a:t>Explain the type of tour they are taking</a:t>
            </a:r>
          </a:p>
          <a:p>
            <a:pPr lvl="0">
              <a:spcBef>
                <a:spcPts val="600"/>
              </a:spcBef>
              <a:spcAft>
                <a:spcPts val="1200"/>
              </a:spcAft>
            </a:pPr>
            <a:r>
              <a:rPr lang="en-AU" sz="2200" dirty="0" smtClean="0">
                <a:latin typeface="Helvetica" pitchFamily="34" charset="0"/>
              </a:rPr>
              <a:t>Provide an overview of what the tour will cover</a:t>
            </a:r>
          </a:p>
          <a:p>
            <a:pPr>
              <a:spcBef>
                <a:spcPts val="600"/>
              </a:spcBef>
              <a:spcAft>
                <a:spcPts val="1200"/>
              </a:spcAft>
            </a:pPr>
            <a:r>
              <a:rPr lang="en-AU" sz="2200" dirty="0" smtClean="0">
                <a:latin typeface="Helvetica" pitchFamily="34" charset="0"/>
              </a:rPr>
              <a:t>Procedures at tour stops and time spent at each stop</a:t>
            </a:r>
            <a:endParaRPr lang="en-US" sz="2200" dirty="0" smtClean="0">
              <a:latin typeface="Helvetica" pitchFamily="34" charset="0"/>
            </a:endParaRPr>
          </a:p>
          <a:p>
            <a:pPr lvl="0"/>
            <a:endParaRPr lang="en-US"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7" name="Picture 6" descr="W121_holiday_icon_bali_shutterstock_156019772.jpg"/>
          <p:cNvPicPr/>
          <p:nvPr/>
        </p:nvPicPr>
        <p:blipFill>
          <a:blip r:embed="rId3" cstate="print"/>
          <a:stretch>
            <a:fillRect/>
          </a:stretch>
        </p:blipFill>
        <p:spPr>
          <a:xfrm>
            <a:off x="2483768" y="4365104"/>
            <a:ext cx="3240360" cy="1656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Explain tour rules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Explain rules, procedures and regulations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Health and safety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Local regulations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Group rules and regulations</a:t>
            </a:r>
          </a:p>
          <a:p>
            <a:pPr>
              <a:spcBef>
                <a:spcPts val="600"/>
              </a:spcBef>
              <a:spcAft>
                <a:spcPts val="1200"/>
              </a:spcAft>
            </a:pPr>
            <a:r>
              <a:rPr lang="en-AU" sz="2200" dirty="0" smtClean="0">
                <a:latin typeface="Helvetica" pitchFamily="34" charset="0"/>
              </a:rPr>
              <a:t>Specific site procedures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Cultural considerations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Environmental considerations</a:t>
            </a:r>
            <a:endParaRPr lang="en-US" sz="2200" dirty="0" smtClean="0">
              <a:latin typeface="Helvetica" pitchFamily="34" charset="0"/>
            </a:endParaRPr>
          </a:p>
          <a:p>
            <a:endParaRPr lang="en-US" sz="2400" b="1" dirty="0" smtClean="0"/>
          </a:p>
          <a:p>
            <a:pPr lvl="0"/>
            <a:endParaRPr lang="en-US"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6" name="Picture 5" descr="shutterstock_130548068.jpg"/>
          <p:cNvPicPr/>
          <p:nvPr/>
        </p:nvPicPr>
        <p:blipFill>
          <a:blip r:embed="rId3" cstate="print"/>
          <a:stretch>
            <a:fillRect/>
          </a:stretch>
        </p:blipFill>
        <p:spPr>
          <a:xfrm>
            <a:off x="5580112" y="3573016"/>
            <a:ext cx="2880320"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adherence to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Maintain adherence to the tour itinerary </a:t>
            </a:r>
          </a:p>
          <a:p>
            <a:pPr marL="0" indent="0">
              <a:spcBef>
                <a:spcPts val="600"/>
              </a:spcBef>
              <a:spcAft>
                <a:spcPts val="1200"/>
              </a:spcAft>
              <a:buNone/>
            </a:pPr>
            <a:r>
              <a:rPr lang="en-AU" sz="2200" dirty="0" smtClean="0">
                <a:latin typeface="Helvetica" pitchFamily="34" charset="0"/>
              </a:rPr>
              <a:t>As the tour guide you must follow the itinerary exactly.  You must be aware of everything that is listed on the tour itinerary:</a:t>
            </a:r>
          </a:p>
          <a:p>
            <a:pPr>
              <a:spcBef>
                <a:spcPts val="600"/>
              </a:spcBef>
              <a:spcAft>
                <a:spcPts val="1200"/>
              </a:spcAft>
            </a:pPr>
            <a:r>
              <a:rPr lang="en-AU" sz="2200" dirty="0" smtClean="0">
                <a:latin typeface="Helvetica" pitchFamily="34" charset="0"/>
              </a:rPr>
              <a:t>When a customer receives their tour itinerary they are expecting and looking forward to seeing the sites listed on the itinerary</a:t>
            </a:r>
          </a:p>
          <a:p>
            <a:pPr>
              <a:spcBef>
                <a:spcPts val="600"/>
              </a:spcBef>
              <a:spcAft>
                <a:spcPts val="1200"/>
              </a:spcAft>
            </a:pPr>
            <a:r>
              <a:rPr lang="en-AU" sz="2200" dirty="0" smtClean="0">
                <a:latin typeface="Helvetica" pitchFamily="34" charset="0"/>
              </a:rPr>
              <a:t>It is your responsibility to ensure that                                       you fulfil those expectations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descr="shutterstock_2958937.jpg"/>
          <p:cNvPicPr/>
          <p:nvPr/>
        </p:nvPicPr>
        <p:blipFill>
          <a:blip r:embed="rId3" cstate="print"/>
          <a:stretch>
            <a:fillRect/>
          </a:stretch>
        </p:blipFill>
        <p:spPr>
          <a:xfrm>
            <a:off x="6103241" y="4249947"/>
            <a:ext cx="2232248" cy="16070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adherence to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Autofit/>
          </a:bodyPr>
          <a:lstStyle/>
          <a:p>
            <a:pPr marL="0" indent="0">
              <a:spcBef>
                <a:spcPts val="600"/>
              </a:spcBef>
              <a:spcAft>
                <a:spcPts val="1200"/>
              </a:spcAft>
              <a:buNone/>
            </a:pPr>
            <a:r>
              <a:rPr lang="en-AU" sz="2200" b="1" dirty="0" smtClean="0">
                <a:latin typeface="Helvetica" pitchFamily="34" charset="0"/>
              </a:rPr>
              <a:t>Maintain adherence to the tour itinerary </a:t>
            </a:r>
          </a:p>
          <a:p>
            <a:pPr lvl="0">
              <a:spcBef>
                <a:spcPts val="600"/>
              </a:spcBef>
              <a:spcAft>
                <a:spcPts val="1200"/>
              </a:spcAft>
            </a:pPr>
            <a:r>
              <a:rPr lang="en-AU" sz="2200" dirty="0" smtClean="0">
                <a:latin typeface="Helvetica" pitchFamily="34" charset="0"/>
              </a:rPr>
              <a:t>Monitoring times to maximise the chance of staying on schedule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Adjusting destinations and activities on the basis of events arising and time blow-outs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Modifying allocated timelines on the basis of events arising and time blow-outs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7" name="Picture 6" descr="shutterstock_133638233.jpg"/>
          <p:cNvPicPr>
            <a:picLocks noChangeAspect="1"/>
          </p:cNvPicPr>
          <p:nvPr/>
        </p:nvPicPr>
        <p:blipFill>
          <a:blip r:embed="rId3" cstate="print"/>
          <a:stretch>
            <a:fillRect/>
          </a:stretch>
        </p:blipFill>
        <p:spPr>
          <a:xfrm>
            <a:off x="3131840" y="4581128"/>
            <a:ext cx="2304256" cy="15369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adherence to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b="1" dirty="0" smtClean="0">
                <a:latin typeface="Helvetica" pitchFamily="34" charset="0"/>
              </a:rPr>
              <a:t>Maintain adherence to the tour itinerary </a:t>
            </a:r>
          </a:p>
          <a:p>
            <a:pPr lvl="0">
              <a:spcBef>
                <a:spcPts val="600"/>
              </a:spcBef>
              <a:spcAft>
                <a:spcPts val="1200"/>
              </a:spcAft>
            </a:pPr>
            <a:r>
              <a:rPr lang="en-AU" sz="2200" dirty="0" smtClean="0">
                <a:latin typeface="Helvetica" pitchFamily="34" charset="0"/>
              </a:rPr>
              <a:t>Liaising with staff, tour group members and providers to vary the itinerary, as necessary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Applying effective communication and </a:t>
            </a:r>
            <a:br>
              <a:rPr lang="en-AU" sz="2200" dirty="0" smtClean="0">
                <a:latin typeface="Helvetica" pitchFamily="34" charset="0"/>
              </a:rPr>
            </a:br>
            <a:r>
              <a:rPr lang="en-AU" sz="2200" dirty="0" smtClean="0">
                <a:latin typeface="Helvetica" pitchFamily="34" charset="0"/>
              </a:rPr>
              <a:t>negotiation skills to provide the basis </a:t>
            </a:r>
            <a:br>
              <a:rPr lang="en-AU" sz="2200" dirty="0" smtClean="0">
                <a:latin typeface="Helvetica" pitchFamily="34" charset="0"/>
              </a:rPr>
            </a:br>
            <a:r>
              <a:rPr lang="en-AU" sz="2200" dirty="0" smtClean="0">
                <a:latin typeface="Helvetica" pitchFamily="34" charset="0"/>
              </a:rPr>
              <a:t>for regaining the scheduled itinerary</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descr="W378_confused_guest_shutterstock_159628928.jpg"/>
          <p:cNvPicPr>
            <a:picLocks noChangeAspect="1"/>
          </p:cNvPicPr>
          <p:nvPr/>
        </p:nvPicPr>
        <p:blipFill>
          <a:blip r:embed="rId3" cstate="print"/>
          <a:stretch>
            <a:fillRect/>
          </a:stretch>
        </p:blipFill>
        <p:spPr>
          <a:xfrm>
            <a:off x="6413733" y="2492896"/>
            <a:ext cx="2046699" cy="30685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Maintain adherence to itinerary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Changing the itinerary</a:t>
            </a:r>
            <a:endParaRPr lang="en-US" sz="2200" b="1" dirty="0" smtClean="0">
              <a:latin typeface="Helvetica" pitchFamily="34" charset="0"/>
            </a:endParaRPr>
          </a:p>
          <a:p>
            <a:pPr lvl="0">
              <a:spcBef>
                <a:spcPts val="600"/>
              </a:spcBef>
              <a:spcAft>
                <a:spcPts val="1200"/>
              </a:spcAft>
            </a:pPr>
            <a:r>
              <a:rPr lang="en-US" sz="2200" dirty="0" smtClean="0">
                <a:latin typeface="Helvetica" pitchFamily="34" charset="0"/>
              </a:rPr>
              <a:t>What are causes?</a:t>
            </a:r>
          </a:p>
          <a:p>
            <a:pPr lvl="0">
              <a:spcBef>
                <a:spcPts val="600"/>
              </a:spcBef>
              <a:spcAft>
                <a:spcPts val="1200"/>
              </a:spcAft>
            </a:pPr>
            <a:r>
              <a:rPr lang="en-US" sz="2200" dirty="0" smtClean="0">
                <a:latin typeface="Helvetica" pitchFamily="34" charset="0"/>
              </a:rPr>
              <a:t>What should you do when changing the itinerary?</a:t>
            </a:r>
          </a:p>
          <a:p>
            <a:pPr lvl="0">
              <a:spcBef>
                <a:spcPts val="600"/>
              </a:spcBef>
              <a:spcAft>
                <a:spcPts val="1200"/>
              </a:spcAft>
            </a:pPr>
            <a:r>
              <a:rPr lang="en-US" sz="2200" dirty="0" smtClean="0">
                <a:latin typeface="Helvetica" pitchFamily="34" charset="0"/>
              </a:rPr>
              <a:t>Why is it important to have a contingency plan?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descr="shutterstock_110127491.jpg"/>
          <p:cNvPicPr/>
          <p:nvPr/>
        </p:nvPicPr>
        <p:blipFill>
          <a:blip r:embed="rId3" cstate="print"/>
          <a:stretch>
            <a:fillRect/>
          </a:stretch>
        </p:blipFill>
        <p:spPr>
          <a:xfrm>
            <a:off x="6732240" y="3701857"/>
            <a:ext cx="1729929" cy="21754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a:spcBef>
                <a:spcPts val="600"/>
              </a:spcBef>
              <a:spcAft>
                <a:spcPts val="1200"/>
              </a:spcAft>
              <a:buNone/>
            </a:pPr>
            <a:r>
              <a:rPr lang="en-AU" sz="2200" b="1" dirty="0" smtClean="0">
                <a:latin typeface="Helvetica" pitchFamily="34" charset="0"/>
              </a:rPr>
              <a:t>Provide tour-related advice and information to the tour group members</a:t>
            </a:r>
          </a:p>
          <a:p>
            <a:pPr marL="0">
              <a:spcBef>
                <a:spcPts val="600"/>
              </a:spcBef>
              <a:spcAft>
                <a:spcPts val="1200"/>
              </a:spcAft>
              <a:buNone/>
            </a:pPr>
            <a:r>
              <a:rPr lang="en-AU" sz="2200" dirty="0" smtClean="0">
                <a:latin typeface="Helvetica" pitchFamily="34" charset="0"/>
              </a:rPr>
              <a:t>Given that customers may considerable money to be part of a tour, they expert to experience venues, receiving the greatest possible benefit from the experience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6" name="Picture 5" descr="Lady looking at map_148488614.jpg"/>
          <p:cNvPicPr/>
          <p:nvPr/>
        </p:nvPicPr>
        <p:blipFill>
          <a:blip r:embed="rId3" cstate="print"/>
          <a:stretch>
            <a:fillRect/>
          </a:stretch>
        </p:blipFill>
        <p:spPr>
          <a:xfrm>
            <a:off x="3563888" y="3717032"/>
            <a:ext cx="1934434" cy="23762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US" sz="2200" b="1" dirty="0" smtClean="0">
                <a:latin typeface="Helvetica" pitchFamily="34" charset="0"/>
              </a:rPr>
              <a:t>Tour member expectations</a:t>
            </a:r>
          </a:p>
          <a:p>
            <a:pPr lvl="0">
              <a:spcBef>
                <a:spcPts val="600"/>
              </a:spcBef>
              <a:spcAft>
                <a:spcPts val="1200"/>
              </a:spcAft>
            </a:pPr>
            <a:r>
              <a:rPr lang="en-AU" sz="2200" dirty="0" smtClean="0">
                <a:latin typeface="Helvetica" pitchFamily="34" charset="0"/>
              </a:rPr>
              <a:t>Having a smooth visit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Visiting all necessary sights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Not getting lost or delayed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Receiving accurate and informative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Being given helpful information or materials to help enhance the experience </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7" name="Picture 6" descr="shutterstock_183833852.jpg"/>
          <p:cNvPicPr>
            <a:picLocks noChangeAspect="1"/>
          </p:cNvPicPr>
          <p:nvPr/>
        </p:nvPicPr>
        <p:blipFill>
          <a:blip r:embed="rId3" cstate="print"/>
          <a:stretch>
            <a:fillRect/>
          </a:stretch>
        </p:blipFill>
        <p:spPr>
          <a:xfrm>
            <a:off x="5868144" y="1556792"/>
            <a:ext cx="2097623" cy="20577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Familiarise self with locations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Why is this important?</a:t>
            </a:r>
          </a:p>
          <a:p>
            <a:pPr lvl="0">
              <a:spcBef>
                <a:spcPts val="600"/>
              </a:spcBef>
              <a:spcAft>
                <a:spcPts val="1200"/>
              </a:spcAft>
            </a:pPr>
            <a:r>
              <a:rPr lang="en-AU" sz="2200" dirty="0" smtClean="0">
                <a:latin typeface="Helvetica" pitchFamily="34" charset="0"/>
              </a:rPr>
              <a:t>What do you need to know?</a:t>
            </a:r>
          </a:p>
          <a:p>
            <a:pPr lvl="0">
              <a:spcBef>
                <a:spcPts val="600"/>
              </a:spcBef>
              <a:spcAft>
                <a:spcPts val="1200"/>
              </a:spcAft>
            </a:pPr>
            <a:r>
              <a:rPr lang="en-AU" sz="2200" dirty="0" smtClean="0">
                <a:latin typeface="Helvetica" pitchFamily="34" charset="0"/>
              </a:rPr>
              <a:t>How can you find this information?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descr="shutterstock_91170884.jpg"/>
          <p:cNvPicPr/>
          <p:nvPr/>
        </p:nvPicPr>
        <p:blipFill>
          <a:blip r:embed="rId3" cstate="print"/>
          <a:stretch>
            <a:fillRect/>
          </a:stretch>
        </p:blipFill>
        <p:spPr>
          <a:xfrm>
            <a:off x="6012160" y="2996952"/>
            <a:ext cx="2237606"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tour advice and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a:spcBef>
                <a:spcPts val="600"/>
              </a:spcBef>
              <a:spcAft>
                <a:spcPts val="1200"/>
              </a:spcAft>
              <a:buNone/>
            </a:pPr>
            <a:r>
              <a:rPr lang="en-US" sz="2200" b="1" dirty="0" smtClean="0">
                <a:latin typeface="Helvetica" pitchFamily="34" charset="0"/>
              </a:rPr>
              <a:t>Importance of non-verbal and verbal communication skills</a:t>
            </a:r>
          </a:p>
          <a:p>
            <a:pPr lvl="0">
              <a:spcBef>
                <a:spcPts val="600"/>
              </a:spcBef>
              <a:spcAft>
                <a:spcPts val="1200"/>
              </a:spcAft>
              <a:buNone/>
            </a:pPr>
            <a:r>
              <a:rPr lang="en-US" sz="2200" dirty="0" smtClean="0">
                <a:latin typeface="Helvetica" pitchFamily="34" charset="0"/>
              </a:rPr>
              <a:t>What is this importance of:</a:t>
            </a:r>
          </a:p>
          <a:p>
            <a:pPr>
              <a:spcBef>
                <a:spcPts val="600"/>
              </a:spcBef>
              <a:spcAft>
                <a:spcPts val="1200"/>
              </a:spcAft>
            </a:pPr>
            <a:r>
              <a:rPr lang="en-US" sz="2200" dirty="0" smtClean="0">
                <a:latin typeface="Helvetica" pitchFamily="34" charset="0"/>
              </a:rPr>
              <a:t>Non-verbal skills</a:t>
            </a:r>
          </a:p>
          <a:p>
            <a:pPr>
              <a:spcBef>
                <a:spcPts val="600"/>
              </a:spcBef>
              <a:spcAft>
                <a:spcPts val="1200"/>
              </a:spcAft>
            </a:pPr>
            <a:r>
              <a:rPr lang="en-US" sz="2200" dirty="0" smtClean="0">
                <a:latin typeface="Helvetica" pitchFamily="34" charset="0"/>
              </a:rPr>
              <a:t>Verbal communication skills</a:t>
            </a:r>
          </a:p>
          <a:p>
            <a:pPr>
              <a:spcBef>
                <a:spcPts val="600"/>
              </a:spcBef>
              <a:spcAft>
                <a:spcPts val="1200"/>
              </a:spcAft>
            </a:pPr>
            <a:r>
              <a:rPr lang="en-US" sz="2200" dirty="0" smtClean="0">
                <a:latin typeface="Helvetica" pitchFamily="34" charset="0"/>
              </a:rPr>
              <a:t>Interpersonal skills</a:t>
            </a:r>
          </a:p>
          <a:p>
            <a:pPr>
              <a:spcBef>
                <a:spcPts val="600"/>
              </a:spcBef>
              <a:spcAft>
                <a:spcPts val="1200"/>
              </a:spcAft>
            </a:pPr>
            <a:r>
              <a:rPr lang="en-US" sz="2200" dirty="0" smtClean="0">
                <a:latin typeface="Helvetica" pitchFamily="34" charset="0"/>
              </a:rPr>
              <a:t>Need for alignment between verbal                                   and non-verbal language</a:t>
            </a:r>
          </a:p>
          <a:p>
            <a:pPr>
              <a:spcBef>
                <a:spcPts val="600"/>
              </a:spcBef>
              <a:spcAft>
                <a:spcPts val="1200"/>
              </a:spcAft>
            </a:pP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7" name="Picture 6" descr="shutterstock_92144155.jpg"/>
          <p:cNvPicPr/>
          <p:nvPr/>
        </p:nvPicPr>
        <p:blipFill>
          <a:blip r:embed="rId3" cstate="print"/>
          <a:stretch>
            <a:fillRect/>
          </a:stretch>
        </p:blipFill>
        <p:spPr>
          <a:xfrm>
            <a:off x="5895249" y="3429000"/>
            <a:ext cx="2520280"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600" b="1" dirty="0" smtClean="0">
                <a:solidFill>
                  <a:srgbClr val="FF6600"/>
                </a:solidFill>
                <a:latin typeface="Helvetica" pitchFamily="34" charset="0"/>
              </a:rPr>
              <a:t>Provide tour advice and information</a:t>
            </a:r>
            <a:endParaRPr lang="en-AU" sz="3600" b="1" dirty="0">
              <a:solidFill>
                <a:srgbClr val="FF6600"/>
              </a:solidFill>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Using basic communication to deliver commentary</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Basic communication strategies</a:t>
            </a:r>
          </a:p>
          <a:p>
            <a:pPr>
              <a:spcBef>
                <a:spcPts val="600"/>
              </a:spcBef>
              <a:spcAft>
                <a:spcPts val="1200"/>
              </a:spcAft>
            </a:pPr>
            <a:r>
              <a:rPr lang="en-AU" sz="2200" dirty="0" smtClean="0">
                <a:latin typeface="Helvetica" pitchFamily="34" charset="0"/>
              </a:rPr>
              <a:t>Communication techniques</a:t>
            </a:r>
          </a:p>
          <a:p>
            <a:pPr>
              <a:spcBef>
                <a:spcPts val="600"/>
              </a:spcBef>
              <a:spcAft>
                <a:spcPts val="1200"/>
              </a:spcAft>
            </a:pPr>
            <a:r>
              <a:rPr lang="en-AU" sz="2200" dirty="0" smtClean="0">
                <a:latin typeface="Helvetica" pitchFamily="34" charset="0"/>
              </a:rPr>
              <a:t>Deliver your commentary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Provide tour-related advice and information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Provide information on local attractions and activities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Consider audience learning styles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Adjusting commentary to unexpected </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7" name="Picture 6" descr="A14 shutterstock_161464205.jpg"/>
          <p:cNvPicPr/>
          <p:nvPr/>
        </p:nvPicPr>
        <p:blipFill>
          <a:blip r:embed="rId3" cstate="print"/>
          <a:stretch>
            <a:fillRect/>
          </a:stretch>
        </p:blipFill>
        <p:spPr>
          <a:xfrm>
            <a:off x="6284766" y="4869160"/>
            <a:ext cx="2087668" cy="15978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Supervise movement and activities </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Supervise movement and activities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Providing advance warning and information of </a:t>
            </a:r>
            <a:br>
              <a:rPr lang="en-AU" sz="2200" dirty="0" smtClean="0">
                <a:latin typeface="Helvetica" pitchFamily="34" charset="0"/>
              </a:rPr>
            </a:br>
            <a:r>
              <a:rPr lang="en-AU" sz="2200" dirty="0" smtClean="0">
                <a:latin typeface="Helvetica" pitchFamily="34" charset="0"/>
              </a:rPr>
              <a:t>up-coming activities and destinations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Directing tour group members to locations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Leading tour group members to activities </a:t>
            </a:r>
            <a:br>
              <a:rPr lang="en-AU" sz="2200" dirty="0" smtClean="0">
                <a:latin typeface="Helvetica" pitchFamily="34" charset="0"/>
              </a:rPr>
            </a:br>
            <a:r>
              <a:rPr lang="en-AU" sz="2200" dirty="0" smtClean="0">
                <a:latin typeface="Helvetica" pitchFamily="34" charset="0"/>
              </a:rPr>
              <a:t>and locations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Taking action to minimise unscheduled tour </a:t>
            </a:r>
            <a:br>
              <a:rPr lang="en-AU" sz="2200" dirty="0" smtClean="0">
                <a:latin typeface="Helvetica" pitchFamily="34" charset="0"/>
              </a:rPr>
            </a:br>
            <a:r>
              <a:rPr lang="en-AU" sz="2200" dirty="0" smtClean="0">
                <a:latin typeface="Helvetica" pitchFamily="34" charset="0"/>
              </a:rPr>
              <a:t>group member activities that jeopardise the </a:t>
            </a:r>
            <a:br>
              <a:rPr lang="en-AU" sz="2200" dirty="0" smtClean="0">
                <a:latin typeface="Helvetica" pitchFamily="34" charset="0"/>
              </a:rPr>
            </a:br>
            <a:r>
              <a:rPr lang="en-AU" sz="2200" dirty="0" smtClean="0">
                <a:latin typeface="Helvetica" pitchFamily="34" charset="0"/>
              </a:rPr>
              <a:t>itinerary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descr="W72_malay_lady_shutterstock_8976202.jpg"/>
          <p:cNvPicPr/>
          <p:nvPr/>
        </p:nvPicPr>
        <p:blipFill>
          <a:blip r:embed="rId3" cstate="print"/>
          <a:stretch>
            <a:fillRect/>
          </a:stretch>
        </p:blipFill>
        <p:spPr>
          <a:xfrm>
            <a:off x="6836435" y="2473045"/>
            <a:ext cx="1479798" cy="26642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Monitoring people</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a:spcBef>
                <a:spcPts val="600"/>
              </a:spcBef>
              <a:spcAft>
                <a:spcPts val="1200"/>
              </a:spcAft>
              <a:buNone/>
            </a:pPr>
            <a:r>
              <a:rPr lang="en-AU" sz="2200" b="1" dirty="0" smtClean="0">
                <a:latin typeface="Helvetica" pitchFamily="34" charset="0"/>
              </a:rPr>
              <a:t>Counting participants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To assist keeping track of tour group members it is advisable to ensure tour guides use consistent procedures to count participants throughout the tour:</a:t>
            </a:r>
          </a:p>
          <a:p>
            <a:pPr>
              <a:spcBef>
                <a:spcPts val="600"/>
              </a:spcBef>
              <a:spcAft>
                <a:spcPts val="1200"/>
              </a:spcAft>
            </a:pPr>
            <a:r>
              <a:rPr lang="en-AU" sz="2200" dirty="0" smtClean="0">
                <a:latin typeface="Helvetica" pitchFamily="34" charset="0"/>
              </a:rPr>
              <a:t>When should this be done?</a:t>
            </a:r>
          </a:p>
          <a:p>
            <a:pPr>
              <a:spcBef>
                <a:spcPts val="600"/>
              </a:spcBef>
              <a:spcAft>
                <a:spcPts val="1200"/>
              </a:spcAft>
            </a:pPr>
            <a:r>
              <a:rPr lang="en-AU" sz="2200" dirty="0" smtClean="0">
                <a:latin typeface="Helvetica" pitchFamily="34" charset="0"/>
              </a:rPr>
              <a:t>How should it be done?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descr="W284_tourguide_shutterstock_157035503.jpg"/>
          <p:cNvPicPr/>
          <p:nvPr/>
        </p:nvPicPr>
        <p:blipFill>
          <a:blip r:embed="rId3" cstate="print"/>
          <a:stretch>
            <a:fillRect/>
          </a:stretch>
        </p:blipFill>
        <p:spPr>
          <a:xfrm>
            <a:off x="5652120" y="3429000"/>
            <a:ext cx="2755114"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Monitoring people</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Locate lost or late tour group members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 lost member is one who does not know how to locate you or does not know where they are:</a:t>
            </a:r>
          </a:p>
          <a:p>
            <a:pPr>
              <a:spcBef>
                <a:spcPts val="600"/>
              </a:spcBef>
              <a:spcAft>
                <a:spcPts val="1200"/>
              </a:spcAft>
            </a:pPr>
            <a:r>
              <a:rPr lang="en-AU" sz="2200" dirty="0" smtClean="0">
                <a:latin typeface="Helvetica" pitchFamily="34" charset="0"/>
              </a:rPr>
              <a:t>How should you handle this situation?</a:t>
            </a:r>
          </a:p>
          <a:p>
            <a:pPr>
              <a:spcBef>
                <a:spcPts val="600"/>
              </a:spcBef>
              <a:spcAft>
                <a:spcPts val="1200"/>
              </a:spcAft>
            </a:pPr>
            <a:r>
              <a:rPr lang="en-AU" sz="2200" dirty="0" smtClean="0">
                <a:latin typeface="Helvetica" pitchFamily="34" charset="0"/>
              </a:rPr>
              <a:t>How do you handle ‘lost children’?</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6" name="Picture 5" descr="shutterstock_142250341.jpg"/>
          <p:cNvPicPr>
            <a:picLocks noChangeAspect="1"/>
          </p:cNvPicPr>
          <p:nvPr/>
        </p:nvPicPr>
        <p:blipFill rotWithShape="1">
          <a:blip r:embed="rId3" cstate="print"/>
          <a:srcRect l="30734"/>
          <a:stretch/>
        </p:blipFill>
        <p:spPr>
          <a:xfrm>
            <a:off x="6228184" y="3140968"/>
            <a:ext cx="2243363"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Monitoring people</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1200"/>
              </a:spcAft>
              <a:buNone/>
            </a:pPr>
            <a:r>
              <a:rPr lang="en-US" sz="2200" b="1" dirty="0" smtClean="0">
                <a:latin typeface="Helvetica" pitchFamily="34" charset="0"/>
              </a:rPr>
              <a:t>Managing tour group in crowds </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The need to consider crowds is necessary to:</a:t>
            </a:r>
          </a:p>
          <a:p>
            <a:pPr>
              <a:spcBef>
                <a:spcPts val="600"/>
              </a:spcBef>
              <a:spcAft>
                <a:spcPts val="1200"/>
              </a:spcAft>
            </a:pPr>
            <a:r>
              <a:rPr lang="en-US" sz="2200" dirty="0" smtClean="0">
                <a:latin typeface="Helvetica" pitchFamily="34" charset="0"/>
              </a:rPr>
              <a:t>Determine if the presence of crowds will interfere with the conduct of a tour </a:t>
            </a:r>
          </a:p>
          <a:p>
            <a:pPr>
              <a:spcBef>
                <a:spcPts val="600"/>
              </a:spcBef>
              <a:spcAft>
                <a:spcPts val="1200"/>
              </a:spcAft>
            </a:pPr>
            <a:r>
              <a:rPr lang="en-US" sz="2200" dirty="0" smtClean="0">
                <a:latin typeface="Helvetica" pitchFamily="34" charset="0"/>
              </a:rPr>
              <a:t>Determine if the crowd poses a threat to the tour and its members </a:t>
            </a:r>
          </a:p>
          <a:p>
            <a:pPr>
              <a:spcBef>
                <a:spcPts val="600"/>
              </a:spcBef>
              <a:spcAft>
                <a:spcPts val="1200"/>
              </a:spcAft>
            </a:pPr>
            <a:r>
              <a:rPr lang="en-US" sz="2200" dirty="0" smtClean="0">
                <a:latin typeface="Helvetica" pitchFamily="34" charset="0"/>
              </a:rPr>
              <a:t>Responding to crowds</a:t>
            </a:r>
          </a:p>
          <a:p>
            <a:pPr>
              <a:buNone/>
            </a:pPr>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shutterstock_132353921.jpg"/>
          <p:cNvPicPr>
            <a:picLocks noChangeAspect="1"/>
          </p:cNvPicPr>
          <p:nvPr/>
        </p:nvPicPr>
        <p:blipFill>
          <a:blip r:embed="rId3" cstate="print"/>
          <a:stretch>
            <a:fillRect/>
          </a:stretch>
        </p:blipFill>
        <p:spPr>
          <a:xfrm>
            <a:off x="4427984" y="4005063"/>
            <a:ext cx="2376264" cy="16277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Encourage tour group members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Encourage tour group members to participate </a:t>
            </a:r>
          </a:p>
          <a:p>
            <a:pPr marL="0">
              <a:spcBef>
                <a:spcPts val="600"/>
              </a:spcBef>
              <a:spcAft>
                <a:spcPts val="1200"/>
              </a:spcAft>
              <a:buNone/>
            </a:pPr>
            <a:r>
              <a:rPr lang="en-US" sz="2200" dirty="0" smtClean="0">
                <a:latin typeface="Helvetica" pitchFamily="34" charset="0"/>
              </a:rPr>
              <a:t>All tours must be delivered for the benefit of the tour group members.</a:t>
            </a:r>
          </a:p>
          <a:p>
            <a:pPr marL="0">
              <a:spcBef>
                <a:spcPts val="600"/>
              </a:spcBef>
              <a:spcAft>
                <a:spcPts val="1200"/>
              </a:spcAft>
              <a:buNone/>
            </a:pPr>
            <a:r>
              <a:rPr lang="en-US" sz="2200" dirty="0" smtClean="0">
                <a:latin typeface="Helvetica" pitchFamily="34" charset="0"/>
              </a:rPr>
              <a:t>Naturally the more tour members feel they are 'part' of the tour and seen as a valuable inclusion, the greater their satisfaction will generally be</a:t>
            </a:r>
            <a:r>
              <a:rPr lang="en-US" sz="2200" dirty="0">
                <a:latin typeface="Helvetica" pitchFamily="34" charset="0"/>
              </a:rPr>
              <a:t>:</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How can you do this?</a:t>
            </a: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descr="W503_Students_in_line_171867521.jpg"/>
          <p:cNvPicPr/>
          <p:nvPr/>
        </p:nvPicPr>
        <p:blipFill>
          <a:blip r:embed="rId3" cstate="print"/>
          <a:stretch>
            <a:fillRect/>
          </a:stretch>
        </p:blipFill>
        <p:spPr>
          <a:xfrm>
            <a:off x="5868144" y="3933056"/>
            <a:ext cx="2513230" cy="17654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Encourage tour group members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600"/>
              </a:spcAft>
              <a:buNone/>
            </a:pPr>
            <a:r>
              <a:rPr lang="en-US" sz="2200" b="1" dirty="0" smtClean="0">
                <a:latin typeface="Helvetica" pitchFamily="34" charset="0"/>
              </a:rPr>
              <a:t>Ways to involve participants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Providing incentives</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Issuing challenges</a:t>
            </a:r>
            <a:endParaRPr lang="en-US" sz="2200" dirty="0" smtClean="0">
              <a:latin typeface="Helvetica" pitchFamily="34" charset="0"/>
            </a:endParaRPr>
          </a:p>
          <a:p>
            <a:pPr>
              <a:spcBef>
                <a:spcPts val="600"/>
              </a:spcBef>
              <a:spcAft>
                <a:spcPts val="600"/>
              </a:spcAft>
            </a:pPr>
            <a:r>
              <a:rPr lang="en-US" sz="2200" dirty="0" smtClean="0">
                <a:latin typeface="Helvetica" pitchFamily="34" charset="0"/>
              </a:rPr>
              <a:t>Asking questions</a:t>
            </a:r>
          </a:p>
          <a:p>
            <a:pPr>
              <a:spcBef>
                <a:spcPts val="600"/>
              </a:spcBef>
              <a:spcAft>
                <a:spcPts val="600"/>
              </a:spcAft>
            </a:pPr>
            <a:r>
              <a:rPr lang="en-US" sz="2200" dirty="0" smtClean="0">
                <a:latin typeface="Helvetica" pitchFamily="34" charset="0"/>
              </a:rPr>
              <a:t>Listening to comments and feedback </a:t>
            </a:r>
          </a:p>
          <a:p>
            <a:pPr>
              <a:spcBef>
                <a:spcPts val="600"/>
              </a:spcBef>
              <a:spcAft>
                <a:spcPts val="600"/>
              </a:spcAft>
            </a:pPr>
            <a:r>
              <a:rPr lang="en-US" sz="2200" dirty="0" smtClean="0">
                <a:latin typeface="Helvetica" pitchFamily="34" charset="0"/>
              </a:rPr>
              <a:t>Allowing participants to contribute expertise or knowledge</a:t>
            </a:r>
          </a:p>
          <a:p>
            <a:pPr>
              <a:spcBef>
                <a:spcPts val="600"/>
              </a:spcBef>
              <a:spcAft>
                <a:spcPts val="600"/>
              </a:spcAft>
            </a:pPr>
            <a:r>
              <a:rPr lang="en-AU" sz="2200" dirty="0" smtClean="0">
                <a:latin typeface="Helvetica" pitchFamily="34" charset="0"/>
              </a:rPr>
              <a:t>Acknowledging attempts and achievements</a:t>
            </a:r>
            <a:endParaRPr lang="en-US" sz="2200" dirty="0" smtClean="0">
              <a:latin typeface="Helvetica" pitchFamily="34" charset="0"/>
            </a:endParaRPr>
          </a:p>
          <a:p>
            <a:pPr>
              <a:spcBef>
                <a:spcPts val="600"/>
              </a:spcBef>
              <a:spcAft>
                <a:spcPts val="600"/>
              </a:spcAft>
            </a:pPr>
            <a:r>
              <a:rPr lang="en-US" sz="2200" dirty="0" smtClean="0">
                <a:latin typeface="Helvetica" pitchFamily="34" charset="0"/>
              </a:rPr>
              <a:t>Providing hands-on or participatory activities</a:t>
            </a: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6" name="Picture 5" descr="W14_Chinese_Middle_Aged_Lady_Smiling_shutterstock_15561211.jpg"/>
          <p:cNvPicPr/>
          <p:nvPr/>
        </p:nvPicPr>
        <p:blipFill>
          <a:blip r:embed="rId3" cstate="print"/>
          <a:stretch>
            <a:fillRect/>
          </a:stretch>
        </p:blipFill>
        <p:spPr>
          <a:xfrm>
            <a:off x="6588224" y="1657559"/>
            <a:ext cx="1528237"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Meeting special needs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US" sz="2200" b="1" dirty="0" smtClean="0">
                <a:latin typeface="Helvetica" pitchFamily="34" charset="0"/>
              </a:rPr>
              <a:t>Modifying activities to meet special needs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Whilst most tour activities should be conducted as scheduled, there will be times where activities need to be modified to meet an special needs of individual </a:t>
            </a:r>
            <a:r>
              <a:rPr lang="en-AU" sz="2200" smtClean="0">
                <a:latin typeface="Helvetica" pitchFamily="34" charset="0"/>
              </a:rPr>
              <a:t>tour members: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What are types of special needs?</a:t>
            </a:r>
          </a:p>
          <a:p>
            <a:pPr>
              <a:spcBef>
                <a:spcPts val="600"/>
              </a:spcBef>
              <a:spcAft>
                <a:spcPts val="1200"/>
              </a:spcAft>
            </a:pPr>
            <a:r>
              <a:rPr lang="en-AU" sz="2200" dirty="0" smtClean="0">
                <a:latin typeface="Helvetica" pitchFamily="34" charset="0"/>
              </a:rPr>
              <a:t>How can you identify these needs?</a:t>
            </a:r>
          </a:p>
          <a:p>
            <a:pPr>
              <a:spcBef>
                <a:spcPts val="600"/>
              </a:spcBef>
              <a:spcAft>
                <a:spcPts val="1200"/>
              </a:spcAft>
            </a:pPr>
            <a:r>
              <a:rPr lang="en-AU" sz="2200" dirty="0" smtClean="0">
                <a:latin typeface="Helvetica" pitchFamily="34" charset="0"/>
              </a:rPr>
              <a:t>What can you do to accommodate </a:t>
            </a:r>
            <a:br>
              <a:rPr lang="en-AU" sz="2200" dirty="0" smtClean="0">
                <a:latin typeface="Helvetica" pitchFamily="34" charset="0"/>
              </a:rPr>
            </a:br>
            <a:r>
              <a:rPr lang="en-AU" sz="2200" dirty="0" smtClean="0">
                <a:latin typeface="Helvetica" pitchFamily="34" charset="0"/>
              </a:rPr>
              <a:t>these needs?</a:t>
            </a: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7" name="Picture 6" descr="W20_elderly_chinese_coupleshutterstock_130148837.jpg"/>
          <p:cNvPicPr/>
          <p:nvPr/>
        </p:nvPicPr>
        <p:blipFill>
          <a:blip r:embed="rId3" cstate="print"/>
          <a:stretch>
            <a:fillRect/>
          </a:stretch>
        </p:blipFill>
        <p:spPr>
          <a:xfrm>
            <a:off x="6156176" y="3717032"/>
            <a:ext cx="2312598" cy="1728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03844" cy="1143000"/>
          </a:xfrm>
        </p:spPr>
        <p:txBody>
          <a:bodyPr>
            <a:normAutofit/>
          </a:bodyPr>
          <a:lstStyle/>
          <a:p>
            <a:r>
              <a:rPr lang="en-AU" sz="3400" b="1" dirty="0" smtClean="0">
                <a:solidFill>
                  <a:srgbClr val="FF6600"/>
                </a:solidFill>
                <a:latin typeface="Helvetica" pitchFamily="34" charset="0"/>
              </a:rPr>
              <a:t>Comply with policies, procedures and standards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objective of this task is to understand operating procedures, processes, policies and service delivery standards of the host organisation: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is a policy?</a:t>
            </a:r>
          </a:p>
          <a:p>
            <a:pPr>
              <a:spcBef>
                <a:spcPts val="600"/>
              </a:spcBef>
              <a:spcAft>
                <a:spcPts val="1200"/>
              </a:spcAft>
            </a:pPr>
            <a:r>
              <a:rPr lang="en-AU" sz="2200" dirty="0" smtClean="0">
                <a:latin typeface="Helvetica" pitchFamily="34" charset="0"/>
              </a:rPr>
              <a:t>What is a procedure?</a:t>
            </a:r>
          </a:p>
          <a:p>
            <a:pPr>
              <a:spcBef>
                <a:spcPts val="600"/>
              </a:spcBef>
              <a:spcAft>
                <a:spcPts val="1200"/>
              </a:spcAft>
            </a:pPr>
            <a:r>
              <a:rPr lang="en-AU" sz="2200" dirty="0" smtClean="0">
                <a:latin typeface="Helvetica" pitchFamily="34" charset="0"/>
              </a:rPr>
              <a:t>What is a standard?</a:t>
            </a:r>
          </a:p>
          <a:p>
            <a:pPr>
              <a:spcBef>
                <a:spcPts val="600"/>
              </a:spcBef>
              <a:spcAft>
                <a:spcPts val="1200"/>
              </a:spcAft>
            </a:pPr>
            <a:r>
              <a:rPr lang="en-AU" sz="2200" dirty="0" smtClean="0">
                <a:latin typeface="Helvetica" pitchFamily="34" charset="0"/>
              </a:rPr>
              <a:t>What are examples of each?</a:t>
            </a: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descr="A23 shutterstock_185788547.jpg"/>
          <p:cNvPicPr/>
          <p:nvPr/>
        </p:nvPicPr>
        <p:blipFill>
          <a:blip r:embed="rId3" cstate="print"/>
          <a:stretch>
            <a:fillRect/>
          </a:stretch>
        </p:blipFill>
        <p:spPr>
          <a:xfrm>
            <a:off x="5203829" y="2708920"/>
            <a:ext cx="2913126"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03844" cy="1143000"/>
          </a:xfrm>
        </p:spPr>
        <p:txBody>
          <a:bodyPr>
            <a:normAutofit/>
          </a:bodyPr>
          <a:lstStyle/>
          <a:p>
            <a:r>
              <a:rPr lang="en-AU" sz="3400" b="1" dirty="0" smtClean="0">
                <a:solidFill>
                  <a:srgbClr val="FF6600"/>
                </a:solidFill>
                <a:latin typeface="Helvetica" pitchFamily="34" charset="0"/>
              </a:rPr>
              <a:t>Comply with policies, procedures and standards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Standard Operating Manual </a:t>
            </a:r>
          </a:p>
          <a:p>
            <a:pPr marL="0">
              <a:spcBef>
                <a:spcPts val="600"/>
              </a:spcBef>
              <a:spcAft>
                <a:spcPts val="1200"/>
              </a:spcAft>
              <a:buNone/>
            </a:pPr>
            <a:r>
              <a:rPr lang="en-AU" sz="2200" dirty="0" smtClean="0">
                <a:latin typeface="Helvetica" pitchFamily="34" charset="0"/>
              </a:rPr>
              <a:t>Consists of all policies, procedures and standards required by the organisation to run efficiently and professionally:</a:t>
            </a:r>
          </a:p>
          <a:p>
            <a:pPr>
              <a:spcBef>
                <a:spcPts val="600"/>
              </a:spcBef>
              <a:spcAft>
                <a:spcPts val="1200"/>
              </a:spcAft>
            </a:pPr>
            <a:r>
              <a:rPr lang="en-AU" sz="2200" dirty="0" smtClean="0">
                <a:latin typeface="Helvetica" pitchFamily="34" charset="0"/>
              </a:rPr>
              <a:t>What topics are contained within a SOM?</a:t>
            </a:r>
            <a:endParaRPr lang="en-US" sz="2200" dirty="0" smtClean="0">
              <a:latin typeface="Helvetica" pitchFamily="34" charset="0"/>
            </a:endParaRPr>
          </a:p>
          <a:p>
            <a:endParaRPr lang="en-US" sz="2400" dirty="0" smtClean="0"/>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6" name="Picture 5" descr="A7 shutterstock_138419417.jpg"/>
          <p:cNvPicPr/>
          <p:nvPr/>
        </p:nvPicPr>
        <p:blipFill>
          <a:blip r:embed="rId3" cstate="print"/>
          <a:stretch>
            <a:fillRect/>
          </a:stretch>
        </p:blipFill>
        <p:spPr>
          <a:xfrm>
            <a:off x="2187644" y="3645024"/>
            <a:ext cx="3600400" cy="23042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03844" cy="1143000"/>
          </a:xfrm>
        </p:spPr>
        <p:txBody>
          <a:bodyPr>
            <a:normAutofit/>
          </a:bodyPr>
          <a:lstStyle/>
          <a:p>
            <a:r>
              <a:rPr lang="en-AU" sz="3400" b="1" dirty="0" smtClean="0">
                <a:solidFill>
                  <a:srgbClr val="FF6600"/>
                </a:solidFill>
                <a:latin typeface="Helvetica" pitchFamily="34" charset="0"/>
              </a:rPr>
              <a:t>Comply with policies, procedures and standards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Specific tour related policies and procedures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Lost or found items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Troublesome Guests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Guest complaints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7" name="Picture 6" descr="Lost and found"/>
          <p:cNvPicPr/>
          <p:nvPr/>
        </p:nvPicPr>
        <p:blipFill>
          <a:blip r:embed="rId3" cstate="print"/>
          <a:srcRect/>
          <a:stretch>
            <a:fillRect/>
          </a:stretch>
        </p:blipFill>
        <p:spPr bwMode="auto">
          <a:xfrm>
            <a:off x="5580112" y="3501008"/>
            <a:ext cx="2808312" cy="216024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908720"/>
            <a:ext cx="7237040" cy="5184576"/>
          </a:xfrm>
        </p:spPr>
        <p:txBody>
          <a:bodyPr>
            <a:normAutofit/>
          </a:bodyPr>
          <a:lstStyle/>
          <a:p>
            <a:pPr marL="0">
              <a:buNone/>
            </a:pPr>
            <a:r>
              <a:rPr lang="en-AU" sz="4000" b="1" dirty="0" smtClean="0">
                <a:solidFill>
                  <a:srgbClr val="FF6600"/>
                </a:solidFill>
                <a:latin typeface="Helvetica" pitchFamily="34" charset="0"/>
              </a:rPr>
              <a:t>Element 3:</a:t>
            </a:r>
          </a:p>
          <a:p>
            <a:pPr marL="0" indent="0">
              <a:spcBef>
                <a:spcPts val="600"/>
              </a:spcBef>
              <a:spcAft>
                <a:spcPts val="1200"/>
              </a:spcAft>
              <a:buNone/>
            </a:pPr>
            <a:r>
              <a:rPr lang="en-AU" sz="4000" b="1" i="1" dirty="0" smtClean="0">
                <a:solidFill>
                  <a:srgbClr val="FF6600"/>
                </a:solidFill>
              </a:rPr>
              <a:t>Facilitate tour group interaction with each other and the tour environment</a:t>
            </a:r>
            <a:endParaRPr lang="en-AU" sz="4000" b="1" i="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descr="shutterstock_101214511.jpg"/>
          <p:cNvPicPr>
            <a:picLocks noChangeAspect="1"/>
          </p:cNvPicPr>
          <p:nvPr/>
        </p:nvPicPr>
        <p:blipFill>
          <a:blip r:embed="rId3" cstate="print"/>
          <a:stretch>
            <a:fillRect/>
          </a:stretch>
        </p:blipFill>
        <p:spPr>
          <a:xfrm>
            <a:off x="2267744" y="3717032"/>
            <a:ext cx="3240360" cy="21613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indent="0">
              <a:spcBef>
                <a:spcPts val="600"/>
              </a:spcBef>
              <a:spcAft>
                <a:spcPts val="1200"/>
              </a:spcAft>
            </a:pPr>
            <a:r>
              <a:rPr lang="en-AU" sz="3400" b="1" dirty="0" smtClean="0">
                <a:solidFill>
                  <a:srgbClr val="FF6600"/>
                </a:solidFill>
                <a:latin typeface="Helvetica" pitchFamily="34" charset="0"/>
              </a:rPr>
              <a:t>Facilitate tour group interaction with each other and the tour environment</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000" dirty="0" smtClean="0">
                <a:latin typeface="Helvetica" pitchFamily="34" charset="0"/>
              </a:rPr>
              <a:t>Performance Criteria for this Element are: </a:t>
            </a:r>
          </a:p>
          <a:p>
            <a:pPr>
              <a:spcBef>
                <a:spcPts val="600"/>
              </a:spcBef>
              <a:spcAft>
                <a:spcPts val="1200"/>
              </a:spcAft>
            </a:pPr>
            <a:r>
              <a:rPr lang="en-AU" sz="2000" dirty="0" smtClean="0">
                <a:latin typeface="Helvetica" pitchFamily="34" charset="0"/>
              </a:rPr>
              <a:t>Introduce tour group members to each other, where appropriate</a:t>
            </a:r>
          </a:p>
          <a:p>
            <a:pPr>
              <a:spcBef>
                <a:spcPts val="600"/>
              </a:spcBef>
              <a:spcAft>
                <a:spcPts val="1200"/>
              </a:spcAft>
            </a:pPr>
            <a:r>
              <a:rPr lang="en-AU" sz="2000" dirty="0" smtClean="0">
                <a:latin typeface="Helvetica" pitchFamily="34" charset="0"/>
              </a:rPr>
              <a:t>Explain the objectives and opportunities provided by participating in the tour</a:t>
            </a:r>
          </a:p>
          <a:p>
            <a:pPr>
              <a:spcBef>
                <a:spcPts val="600"/>
              </a:spcBef>
              <a:spcAft>
                <a:spcPts val="1200"/>
              </a:spcAft>
            </a:pPr>
            <a:r>
              <a:rPr lang="en-AU" sz="2000" dirty="0" smtClean="0">
                <a:latin typeface="Helvetica" pitchFamily="34" charset="0"/>
              </a:rPr>
              <a:t>Use techniques to build and maintain group </a:t>
            </a:r>
            <a:br>
              <a:rPr lang="en-AU" sz="2000" dirty="0" smtClean="0">
                <a:latin typeface="Helvetica" pitchFamily="34" charset="0"/>
              </a:rPr>
            </a:br>
            <a:r>
              <a:rPr lang="en-AU" sz="2000" dirty="0" smtClean="0">
                <a:latin typeface="Helvetica" pitchFamily="34" charset="0"/>
              </a:rPr>
              <a:t>cohesion on tour</a:t>
            </a:r>
          </a:p>
          <a:p>
            <a:pPr>
              <a:spcBef>
                <a:spcPts val="600"/>
              </a:spcBef>
              <a:spcAft>
                <a:spcPts val="1200"/>
              </a:spcAft>
            </a:pPr>
            <a:r>
              <a:rPr lang="en-AU" sz="2000" dirty="0" smtClean="0">
                <a:latin typeface="Helvetica" pitchFamily="34" charset="0"/>
              </a:rPr>
              <a:t>Share and explain general rules that apply </a:t>
            </a:r>
            <a:br>
              <a:rPr lang="en-AU" sz="2000" dirty="0" smtClean="0">
                <a:latin typeface="Helvetica" pitchFamily="34" charset="0"/>
              </a:rPr>
            </a:br>
            <a:r>
              <a:rPr lang="en-AU" sz="2000" dirty="0" smtClean="0">
                <a:latin typeface="Helvetica" pitchFamily="34" charset="0"/>
              </a:rPr>
              <a:t>to group members while on tour</a:t>
            </a:r>
          </a:p>
          <a:p>
            <a:pPr>
              <a:spcBef>
                <a:spcPts val="600"/>
              </a:spcBef>
              <a:spcAft>
                <a:spcPts val="1200"/>
              </a:spcAft>
            </a:pPr>
            <a:r>
              <a:rPr lang="en-AU" sz="2000" dirty="0" smtClean="0">
                <a:latin typeface="Helvetica" pitchFamily="34" charset="0"/>
              </a:rPr>
              <a:t>Balance the needs of the group with </a:t>
            </a:r>
            <a:br>
              <a:rPr lang="en-AU" sz="2000" dirty="0" smtClean="0">
                <a:latin typeface="Helvetica" pitchFamily="34" charset="0"/>
              </a:rPr>
            </a:br>
            <a:r>
              <a:rPr lang="en-AU" sz="2000" dirty="0" smtClean="0">
                <a:latin typeface="Helvetica" pitchFamily="34" charset="0"/>
              </a:rPr>
              <a:t>individual needs</a:t>
            </a: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descr="shutterstock_122825338.jpg"/>
          <p:cNvPicPr>
            <a:picLocks noChangeAspect="1"/>
          </p:cNvPicPr>
          <p:nvPr/>
        </p:nvPicPr>
        <p:blipFill>
          <a:blip r:embed="rId3" cstate="print"/>
          <a:stretch>
            <a:fillRect/>
          </a:stretch>
        </p:blipFill>
        <p:spPr>
          <a:xfrm>
            <a:off x="5940152" y="4221088"/>
            <a:ext cx="2483034" cy="1656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Introduce tour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Introduce tour group members to each other</a:t>
            </a:r>
          </a:p>
          <a:p>
            <a:pPr lvl="0">
              <a:spcBef>
                <a:spcPts val="600"/>
              </a:spcBef>
              <a:spcAft>
                <a:spcPts val="1200"/>
              </a:spcAft>
            </a:pPr>
            <a:r>
              <a:rPr lang="en-AU" sz="2200" dirty="0" smtClean="0">
                <a:latin typeface="Helvetica" pitchFamily="34" charset="0"/>
              </a:rPr>
              <a:t>The use of name tags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 "icebreaker" activity</a:t>
            </a:r>
            <a:endParaRPr lang="en-US" sz="2200" dirty="0" smtClean="0">
              <a:latin typeface="Helvetica" pitchFamily="34" charset="0"/>
            </a:endParaRPr>
          </a:p>
          <a:p>
            <a:pPr marL="0" indent="0">
              <a:spcBef>
                <a:spcPts val="600"/>
              </a:spcBef>
              <a:spcAft>
                <a:spcPts val="1200"/>
              </a:spcAft>
              <a:buNone/>
            </a:pPr>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descr="shutterstock_145297312.jpg"/>
          <p:cNvPicPr/>
          <p:nvPr/>
        </p:nvPicPr>
        <p:blipFill>
          <a:blip r:embed="rId3" cstate="print"/>
          <a:stretch>
            <a:fillRect/>
          </a:stretch>
        </p:blipFill>
        <p:spPr>
          <a:xfrm>
            <a:off x="5580112" y="3108915"/>
            <a:ext cx="2843808" cy="22643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tour objectives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Explain tour objectives &amp; opportunities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Education</a:t>
            </a:r>
          </a:p>
          <a:p>
            <a:pPr lvl="0">
              <a:spcBef>
                <a:spcPts val="600"/>
              </a:spcBef>
              <a:spcAft>
                <a:spcPts val="1200"/>
              </a:spcAft>
            </a:pPr>
            <a:r>
              <a:rPr lang="en-AU" sz="2200" dirty="0" smtClean="0">
                <a:latin typeface="Helvetica" pitchFamily="34" charset="0"/>
              </a:rPr>
              <a:t>Experience</a:t>
            </a:r>
          </a:p>
          <a:p>
            <a:pPr lvl="0">
              <a:spcBef>
                <a:spcPts val="600"/>
              </a:spcBef>
              <a:spcAft>
                <a:spcPts val="1200"/>
              </a:spcAft>
            </a:pPr>
            <a:r>
              <a:rPr lang="en-AU" sz="2200" dirty="0" smtClean="0">
                <a:latin typeface="Helvetica" pitchFamily="34" charset="0"/>
              </a:rPr>
              <a:t>Relaxation, fun</a:t>
            </a:r>
          </a:p>
          <a:p>
            <a:pPr lvl="0">
              <a:spcBef>
                <a:spcPts val="600"/>
              </a:spcBef>
              <a:spcAft>
                <a:spcPts val="1200"/>
              </a:spcAft>
            </a:pPr>
            <a:r>
              <a:rPr lang="en-AU" sz="2200" dirty="0" smtClean="0">
                <a:latin typeface="Helvetica" pitchFamily="34" charset="0"/>
              </a:rPr>
              <a:t>Excitement</a:t>
            </a:r>
          </a:p>
          <a:p>
            <a:pPr lvl="0">
              <a:spcBef>
                <a:spcPts val="600"/>
              </a:spcBef>
              <a:spcAft>
                <a:spcPts val="1200"/>
              </a:spcAft>
            </a:pPr>
            <a:r>
              <a:rPr lang="en-AU" sz="2200" dirty="0" smtClean="0">
                <a:latin typeface="Helvetica" pitchFamily="34" charset="0"/>
              </a:rPr>
              <a:t>Celebration of an event or an</a:t>
            </a:r>
            <a:br>
              <a:rPr lang="en-AU" sz="2200" dirty="0" smtClean="0">
                <a:latin typeface="Helvetica" pitchFamily="34" charset="0"/>
              </a:rPr>
            </a:br>
            <a:r>
              <a:rPr lang="en-AU" sz="2200" dirty="0" smtClean="0">
                <a:latin typeface="Helvetica" pitchFamily="34" charset="0"/>
              </a:rPr>
              <a:t>historical date</a:t>
            </a:r>
          </a:p>
          <a:p>
            <a:pPr lvl="0">
              <a:spcBef>
                <a:spcPts val="600"/>
              </a:spcBef>
              <a:spcAft>
                <a:spcPts val="1200"/>
              </a:spcAft>
            </a:pPr>
            <a:r>
              <a:rPr lang="en-AU" sz="2200" dirty="0" smtClean="0">
                <a:latin typeface="Helvetica" pitchFamily="34" charset="0"/>
              </a:rPr>
              <a:t>Money raising </a:t>
            </a:r>
          </a:p>
          <a:p>
            <a:pPr lvl="0">
              <a:spcBef>
                <a:spcPts val="600"/>
              </a:spcBef>
              <a:spcAft>
                <a:spcPts val="1200"/>
              </a:spcAft>
            </a:pPr>
            <a:r>
              <a:rPr lang="en-AU" sz="2200" dirty="0" smtClean="0">
                <a:latin typeface="Helvetica" pitchFamily="34" charset="0"/>
              </a:rPr>
              <a:t>Recreation</a:t>
            </a:r>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9" name="Picture 8" descr="W19_elderly_chinese_couple_shutterstock_119590651.jpg"/>
          <p:cNvPicPr/>
          <p:nvPr/>
        </p:nvPicPr>
        <p:blipFill>
          <a:blip r:embed="rId3" cstate="print"/>
          <a:stretch>
            <a:fillRect/>
          </a:stretch>
        </p:blipFill>
        <p:spPr>
          <a:xfrm>
            <a:off x="5508104" y="2924944"/>
            <a:ext cx="2664296" cy="19703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Explain tour themes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latin typeface="Helvetica" pitchFamily="34" charset="0"/>
              </a:rPr>
              <a:t>Understanding tour themes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Language</a:t>
            </a:r>
          </a:p>
          <a:p>
            <a:pPr lvl="0">
              <a:spcBef>
                <a:spcPts val="600"/>
              </a:spcBef>
              <a:spcAft>
                <a:spcPts val="1200"/>
              </a:spcAft>
            </a:pPr>
            <a:r>
              <a:rPr lang="en-AU" sz="2200" dirty="0" smtClean="0">
                <a:latin typeface="Helvetica" pitchFamily="34" charset="0"/>
              </a:rPr>
              <a:t>Music</a:t>
            </a:r>
          </a:p>
          <a:p>
            <a:pPr lvl="0">
              <a:spcBef>
                <a:spcPts val="600"/>
              </a:spcBef>
              <a:spcAft>
                <a:spcPts val="1200"/>
              </a:spcAft>
            </a:pPr>
            <a:r>
              <a:rPr lang="en-AU" sz="2200" dirty="0" smtClean="0">
                <a:latin typeface="Helvetica" pitchFamily="34" charset="0"/>
              </a:rPr>
              <a:t>The environment</a:t>
            </a:r>
          </a:p>
          <a:p>
            <a:pPr lvl="0">
              <a:spcBef>
                <a:spcPts val="600"/>
              </a:spcBef>
              <a:spcAft>
                <a:spcPts val="1200"/>
              </a:spcAft>
            </a:pPr>
            <a:r>
              <a:rPr lang="en-AU" sz="2200" dirty="0" smtClean="0">
                <a:latin typeface="Helvetica" pitchFamily="34" charset="0"/>
              </a:rPr>
              <a:t>Culture</a:t>
            </a:r>
          </a:p>
          <a:p>
            <a:pPr lvl="0">
              <a:spcBef>
                <a:spcPts val="600"/>
              </a:spcBef>
              <a:spcAft>
                <a:spcPts val="1200"/>
              </a:spcAft>
            </a:pPr>
            <a:r>
              <a:rPr lang="en-AU" sz="2200" dirty="0" smtClean="0">
                <a:latin typeface="Helvetica" pitchFamily="34" charset="0"/>
              </a:rPr>
              <a:t>Arts</a:t>
            </a:r>
          </a:p>
          <a:p>
            <a:pPr lvl="0">
              <a:spcBef>
                <a:spcPts val="600"/>
              </a:spcBef>
              <a:spcAft>
                <a:spcPts val="1200"/>
              </a:spcAft>
            </a:pPr>
            <a:r>
              <a:rPr lang="en-AU" sz="2200" dirty="0" smtClean="0">
                <a:latin typeface="Helvetica" pitchFamily="34" charset="0"/>
              </a:rPr>
              <a:t>Animals</a:t>
            </a:r>
          </a:p>
          <a:p>
            <a:pPr lvl="0">
              <a:spcBef>
                <a:spcPts val="600"/>
              </a:spcBef>
              <a:spcAft>
                <a:spcPts val="1200"/>
              </a:spcAft>
            </a:pPr>
            <a:r>
              <a:rPr lang="en-AU" sz="2200" dirty="0" smtClean="0">
                <a:latin typeface="Helvetica" pitchFamily="34" charset="0"/>
              </a:rPr>
              <a:t>Food</a:t>
            </a:r>
          </a:p>
          <a:p>
            <a:endParaRPr lang="en-AU" sz="2400" dirty="0" smtClean="0"/>
          </a:p>
          <a:p>
            <a:endParaRPr lang="en-AU" sz="2400" dirty="0" smtClean="0"/>
          </a:p>
          <a:p>
            <a:pPr lvl="0">
              <a:spcBef>
                <a:spcPts val="600"/>
              </a:spcBef>
              <a:spcAft>
                <a:spcPts val="1200"/>
              </a:spcAft>
              <a:buNone/>
            </a:pPr>
            <a:endParaRPr lang="en-AU" sz="2200" dirty="0" smtClean="0">
              <a:latin typeface="Helvetica" pitchFamily="34" charset="0"/>
            </a:endParaRPr>
          </a:p>
          <a:p>
            <a:pPr lvl="0"/>
            <a:endParaRPr lang="en-AU" sz="2400" dirty="0" smtClean="0"/>
          </a:p>
          <a:p>
            <a:pPr lvl="0">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7" name="Picture 6" descr="W125_holiday_icon_egypt_shutterstock_153699923.jpg"/>
          <p:cNvPicPr/>
          <p:nvPr/>
        </p:nvPicPr>
        <p:blipFill>
          <a:blip r:embed="rId3" cstate="print"/>
          <a:stretch>
            <a:fillRect/>
          </a:stretch>
        </p:blipFill>
        <p:spPr>
          <a:xfrm>
            <a:off x="5940152" y="3501008"/>
            <a:ext cx="2500298" cy="19288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Build group cohesion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525963"/>
          </a:xfrm>
        </p:spPr>
        <p:txBody>
          <a:bodyPr>
            <a:normAutofit/>
          </a:bodyPr>
          <a:lstStyle/>
          <a:p>
            <a:pPr>
              <a:spcBef>
                <a:spcPts val="600"/>
              </a:spcBef>
              <a:spcAft>
                <a:spcPts val="600"/>
              </a:spcAft>
              <a:buNone/>
            </a:pPr>
            <a:r>
              <a:rPr lang="en-AU" sz="2200" b="1" dirty="0" smtClean="0">
                <a:latin typeface="Helvetica" pitchFamily="34" charset="0"/>
              </a:rPr>
              <a:t>Techniques to build and maintain group cohesion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Utilising initial introduction techniques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Encouraging interaction between group members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Initiating group activities or games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Inviting individuals to address the group</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Utilising the skills of individual tour group </a:t>
            </a:r>
            <a:br>
              <a:rPr lang="en-AU" sz="2200" dirty="0" smtClean="0">
                <a:latin typeface="Helvetica" pitchFamily="34" charset="0"/>
              </a:rPr>
            </a:br>
            <a:r>
              <a:rPr lang="en-AU" sz="2200" dirty="0" smtClean="0">
                <a:latin typeface="Helvetica" pitchFamily="34" charset="0"/>
              </a:rPr>
              <a:t>members within the tour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Focusing the group on shared experiences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Using seat rotations systems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descr="shutterstock_63096550.jpg"/>
          <p:cNvPicPr/>
          <p:nvPr/>
        </p:nvPicPr>
        <p:blipFill>
          <a:blip r:embed="rId3" cstate="print"/>
          <a:stretch>
            <a:fillRect/>
          </a:stretch>
        </p:blipFill>
        <p:spPr>
          <a:xfrm>
            <a:off x="6588224" y="4077072"/>
            <a:ext cx="2232248" cy="1728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Build group cohesion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600"/>
              </a:spcAft>
              <a:buNone/>
            </a:pPr>
            <a:r>
              <a:rPr lang="en-AU" sz="2200" b="1" dirty="0" smtClean="0">
                <a:latin typeface="Helvetica" pitchFamily="34" charset="0"/>
              </a:rPr>
              <a:t>Techniques to build and maintain group cohesion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Creating opportunities for individual interaction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Accommodating individual preferences, where possible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Keeping group informed about the itinerary and planned changes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Facilitating attempts at group cohesion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Creating and supporting attempts to optimise goodwill and group morale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shutterstock_130330712.jpg"/>
          <p:cNvPicPr>
            <a:picLocks noChangeAspect="1"/>
          </p:cNvPicPr>
          <p:nvPr/>
        </p:nvPicPr>
        <p:blipFill>
          <a:blip r:embed="rId3" cstate="print"/>
          <a:stretch>
            <a:fillRect/>
          </a:stretch>
        </p:blipFill>
        <p:spPr>
          <a:xfrm>
            <a:off x="2771800" y="5027330"/>
            <a:ext cx="2448272" cy="16329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Build rapport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412776"/>
            <a:ext cx="7467600" cy="4944042"/>
          </a:xfrm>
        </p:spPr>
        <p:txBody>
          <a:bodyPr>
            <a:normAutofit lnSpcReduction="10000"/>
          </a:bodyPr>
          <a:lstStyle/>
          <a:p>
            <a:pPr>
              <a:spcBef>
                <a:spcPts val="600"/>
              </a:spcBef>
              <a:spcAft>
                <a:spcPts val="600"/>
              </a:spcAft>
              <a:buNone/>
            </a:pPr>
            <a:r>
              <a:rPr lang="en-AU" sz="2200" b="1" dirty="0" smtClean="0">
                <a:latin typeface="Helvetica" pitchFamily="34" charset="0"/>
              </a:rPr>
              <a:t>Rapport-building techniques</a:t>
            </a:r>
          </a:p>
          <a:p>
            <a:pPr>
              <a:spcBef>
                <a:spcPts val="600"/>
              </a:spcBef>
              <a:spcAft>
                <a:spcPts val="600"/>
              </a:spcAft>
            </a:pPr>
            <a:r>
              <a:rPr lang="en-AU" sz="2200" dirty="0" smtClean="0">
                <a:latin typeface="Helvetica" pitchFamily="34" charset="0"/>
              </a:rPr>
              <a:t>Extending and building on the conversations had when you greeted people </a:t>
            </a:r>
          </a:p>
          <a:p>
            <a:pPr>
              <a:spcBef>
                <a:spcPts val="600"/>
              </a:spcBef>
              <a:spcAft>
                <a:spcPts val="600"/>
              </a:spcAft>
            </a:pPr>
            <a:r>
              <a:rPr lang="en-AU" sz="2200" dirty="0" smtClean="0">
                <a:latin typeface="Helvetica" pitchFamily="34" charset="0"/>
              </a:rPr>
              <a:t>Asking participants questions </a:t>
            </a:r>
          </a:p>
          <a:p>
            <a:pPr>
              <a:spcBef>
                <a:spcPts val="600"/>
              </a:spcBef>
              <a:spcAft>
                <a:spcPts val="600"/>
              </a:spcAft>
            </a:pPr>
            <a:r>
              <a:rPr lang="en-AU" sz="2200" dirty="0" smtClean="0">
                <a:latin typeface="Helvetica" pitchFamily="34" charset="0"/>
              </a:rPr>
              <a:t>Using icebreakers </a:t>
            </a:r>
          </a:p>
          <a:p>
            <a:pPr>
              <a:spcBef>
                <a:spcPts val="600"/>
              </a:spcBef>
              <a:spcAft>
                <a:spcPts val="600"/>
              </a:spcAft>
            </a:pPr>
            <a:r>
              <a:rPr lang="en-AU" sz="2200" dirty="0" smtClean="0">
                <a:latin typeface="Helvetica" pitchFamily="34" charset="0"/>
              </a:rPr>
              <a:t>Using anecdotes </a:t>
            </a:r>
          </a:p>
          <a:p>
            <a:pPr>
              <a:spcBef>
                <a:spcPts val="600"/>
              </a:spcBef>
              <a:spcAft>
                <a:spcPts val="600"/>
              </a:spcAft>
            </a:pPr>
            <a:r>
              <a:rPr lang="en-AU" sz="2200" dirty="0" smtClean="0">
                <a:latin typeface="Helvetica" pitchFamily="34" charset="0"/>
              </a:rPr>
              <a:t>Using humour</a:t>
            </a:r>
          </a:p>
          <a:p>
            <a:pPr>
              <a:spcBef>
                <a:spcPts val="600"/>
              </a:spcBef>
              <a:spcAft>
                <a:spcPts val="600"/>
              </a:spcAft>
            </a:pPr>
            <a:r>
              <a:rPr lang="en-AU" sz="2200" dirty="0" smtClean="0">
                <a:latin typeface="Helvetica" pitchFamily="34" charset="0"/>
              </a:rPr>
              <a:t>Checking on people’s welfare </a:t>
            </a:r>
          </a:p>
          <a:p>
            <a:pPr>
              <a:spcBef>
                <a:spcPts val="600"/>
              </a:spcBef>
              <a:spcAft>
                <a:spcPts val="600"/>
              </a:spcAft>
            </a:pPr>
            <a:r>
              <a:rPr lang="en-AU" sz="2200" dirty="0" smtClean="0">
                <a:latin typeface="Helvetica" pitchFamily="34" charset="0"/>
              </a:rPr>
              <a:t>Applying suitable interpersonal and                            communication skills </a:t>
            </a:r>
          </a:p>
          <a:p>
            <a:pPr>
              <a:spcBef>
                <a:spcPts val="600"/>
              </a:spcBef>
              <a:spcAft>
                <a:spcPts val="600"/>
              </a:spcAft>
            </a:pPr>
            <a:r>
              <a:rPr lang="en-AU" sz="2200" dirty="0" smtClean="0">
                <a:latin typeface="Helvetica" pitchFamily="34" charset="0"/>
              </a:rPr>
              <a:t>Considering cultural characteristics</a:t>
            </a:r>
          </a:p>
          <a:p>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shutterstock_62285248.jpg"/>
          <p:cNvPicPr/>
          <p:nvPr/>
        </p:nvPicPr>
        <p:blipFill>
          <a:blip r:embed="rId3" cstate="print"/>
          <a:stretch>
            <a:fillRect/>
          </a:stretch>
        </p:blipFill>
        <p:spPr>
          <a:xfrm>
            <a:off x="5940152" y="3672029"/>
            <a:ext cx="2520280"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Share tour rules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944042"/>
          </a:xfrm>
        </p:spPr>
        <p:txBody>
          <a:bodyPr>
            <a:normAutofit lnSpcReduction="10000"/>
          </a:bodyPr>
          <a:lstStyle/>
          <a:p>
            <a:pPr>
              <a:spcBef>
                <a:spcPts val="600"/>
              </a:spcBef>
              <a:spcAft>
                <a:spcPts val="600"/>
              </a:spcAft>
              <a:buNone/>
            </a:pPr>
            <a:r>
              <a:rPr lang="en-AU" sz="2200" b="1" dirty="0" smtClean="0">
                <a:latin typeface="Helvetica" pitchFamily="34" charset="0"/>
              </a:rPr>
              <a:t>Types of general rules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Acceptable and unacceptable behaviour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Respect for others and the environment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Need for sharing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Need to observe time constraints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Basic requirements to ensure safety </a:t>
            </a:r>
            <a:br>
              <a:rPr lang="en-AU" sz="2200" dirty="0" smtClean="0">
                <a:latin typeface="Helvetica" pitchFamily="34" charset="0"/>
              </a:rPr>
            </a:br>
            <a:r>
              <a:rPr lang="en-AU" sz="2200" dirty="0" smtClean="0">
                <a:latin typeface="Helvetica" pitchFamily="34" charset="0"/>
              </a:rPr>
              <a:t>and security of tour group members </a:t>
            </a:r>
            <a:br>
              <a:rPr lang="en-AU" sz="2200" dirty="0" smtClean="0">
                <a:latin typeface="Helvetica" pitchFamily="34" charset="0"/>
              </a:rPr>
            </a:br>
            <a:r>
              <a:rPr lang="en-AU" sz="2200" dirty="0" smtClean="0">
                <a:latin typeface="Helvetica" pitchFamily="34" charset="0"/>
              </a:rPr>
              <a:t>and their possessions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Action to take in the event of an accident                                     or emergency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The need to communicate and provide </a:t>
            </a:r>
            <a:br>
              <a:rPr lang="en-AU" sz="2200" dirty="0" smtClean="0">
                <a:latin typeface="Helvetica" pitchFamily="34" charset="0"/>
              </a:rPr>
            </a:br>
            <a:r>
              <a:rPr lang="en-AU" sz="2200" dirty="0" smtClean="0">
                <a:latin typeface="Helvetica" pitchFamily="34" charset="0"/>
              </a:rPr>
              <a:t>feedback to tour leader</a:t>
            </a:r>
            <a:endParaRPr lang="en-US" sz="2200" dirty="0" smtClean="0">
              <a:latin typeface="Helvetica" pitchFamily="34" charset="0"/>
            </a:endParaRPr>
          </a:p>
          <a:p>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shutterstock_82513456.jpg"/>
          <p:cNvPicPr/>
          <p:nvPr/>
        </p:nvPicPr>
        <p:blipFill>
          <a:blip r:embed="rId3" cstate="print"/>
          <a:stretch>
            <a:fillRect/>
          </a:stretch>
        </p:blipFill>
        <p:spPr>
          <a:xfrm>
            <a:off x="6095149" y="2492896"/>
            <a:ext cx="2115046" cy="2088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pPr>
              <a:spcBef>
                <a:spcPts val="600"/>
              </a:spcBef>
              <a:spcAft>
                <a:spcPts val="1200"/>
              </a:spcAft>
            </a:pPr>
            <a:r>
              <a:rPr lang="en-AU" sz="3400" b="1" dirty="0" smtClean="0">
                <a:solidFill>
                  <a:srgbClr val="FF6600"/>
                </a:solidFill>
                <a:latin typeface="Helvetica" pitchFamily="34" charset="0"/>
              </a:rPr>
              <a:t>Making announcements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Making announcements</a:t>
            </a:r>
          </a:p>
          <a:p>
            <a:pPr lvl="0">
              <a:spcBef>
                <a:spcPts val="600"/>
              </a:spcBef>
              <a:spcAft>
                <a:spcPts val="1200"/>
              </a:spcAft>
            </a:pPr>
            <a:r>
              <a:rPr lang="en-AU" sz="2200" dirty="0" smtClean="0">
                <a:latin typeface="Helvetica" pitchFamily="34" charset="0"/>
              </a:rPr>
              <a:t>Location of facilities</a:t>
            </a:r>
          </a:p>
          <a:p>
            <a:pPr lvl="0">
              <a:spcBef>
                <a:spcPts val="600"/>
              </a:spcBef>
              <a:spcAft>
                <a:spcPts val="1200"/>
              </a:spcAft>
            </a:pPr>
            <a:r>
              <a:rPr lang="en-AU" sz="2200" dirty="0" smtClean="0">
                <a:latin typeface="Helvetica" pitchFamily="34" charset="0"/>
              </a:rPr>
              <a:t>Do’s and don’t’s of the tour </a:t>
            </a:r>
          </a:p>
          <a:p>
            <a:pPr lvl="0">
              <a:spcBef>
                <a:spcPts val="600"/>
              </a:spcBef>
              <a:spcAft>
                <a:spcPts val="1200"/>
              </a:spcAft>
            </a:pPr>
            <a:r>
              <a:rPr lang="en-AU" sz="2200" dirty="0" smtClean="0">
                <a:latin typeface="Helvetica" pitchFamily="34" charset="0"/>
              </a:rPr>
              <a:t>Advice on what to do if a person becomes                    separated from the group</a:t>
            </a:r>
          </a:p>
          <a:p>
            <a:pPr lvl="0">
              <a:spcBef>
                <a:spcPts val="600"/>
              </a:spcBef>
              <a:spcAft>
                <a:spcPts val="1200"/>
              </a:spcAft>
            </a:pPr>
            <a:r>
              <a:rPr lang="en-AU" sz="2200" dirty="0" smtClean="0">
                <a:latin typeface="Helvetica" pitchFamily="34" charset="0"/>
              </a:rPr>
              <a:t>Encouragement to group to enjoy,                                  participate and engage </a:t>
            </a:r>
          </a:p>
          <a:p>
            <a:pPr lvl="0">
              <a:spcBef>
                <a:spcPts val="600"/>
              </a:spcBef>
              <a:spcAft>
                <a:spcPts val="1200"/>
              </a:spcAft>
            </a:pPr>
            <a:r>
              <a:rPr lang="en-AU" sz="2200" dirty="0" smtClean="0">
                <a:latin typeface="Helvetica" pitchFamily="34" charset="0"/>
              </a:rPr>
              <a:t>Laundry options</a:t>
            </a:r>
          </a:p>
          <a:p>
            <a:pPr lvl="0">
              <a:spcBef>
                <a:spcPts val="600"/>
              </a:spcBef>
              <a:spcAft>
                <a:spcPts val="1200"/>
              </a:spcAft>
            </a:pPr>
            <a:r>
              <a:rPr lang="en-AU" sz="2200" dirty="0" smtClean="0">
                <a:latin typeface="Helvetica" pitchFamily="34" charset="0"/>
              </a:rPr>
              <a:t>Relaxation options</a:t>
            </a: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9" name="Picture 8" descr="W270_whiteboard_shutterstock_147483182.jpg"/>
          <p:cNvPicPr/>
          <p:nvPr/>
        </p:nvPicPr>
        <p:blipFill>
          <a:blip r:embed="rId3" cstate="print"/>
          <a:stretch>
            <a:fillRect/>
          </a:stretch>
        </p:blipFill>
        <p:spPr>
          <a:xfrm>
            <a:off x="6095149" y="3789040"/>
            <a:ext cx="2376264"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Monitor tour delivery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Making announcements</a:t>
            </a:r>
          </a:p>
          <a:p>
            <a:pPr lvl="0">
              <a:spcBef>
                <a:spcPts val="600"/>
              </a:spcBef>
              <a:spcAft>
                <a:spcPts val="1200"/>
              </a:spcAft>
            </a:pPr>
            <a:r>
              <a:rPr lang="en-AU" sz="2200" dirty="0" smtClean="0">
                <a:latin typeface="Helvetica" pitchFamily="34" charset="0"/>
              </a:rPr>
              <a:t>Eating venues</a:t>
            </a:r>
          </a:p>
          <a:p>
            <a:pPr lvl="0">
              <a:spcBef>
                <a:spcPts val="600"/>
              </a:spcBef>
              <a:spcAft>
                <a:spcPts val="1200"/>
              </a:spcAft>
            </a:pPr>
            <a:r>
              <a:rPr lang="en-AU" sz="2200" dirty="0" smtClean="0">
                <a:latin typeface="Helvetica" pitchFamily="34" charset="0"/>
              </a:rPr>
              <a:t>Meal arrangements</a:t>
            </a:r>
          </a:p>
          <a:p>
            <a:pPr lvl="0">
              <a:spcBef>
                <a:spcPts val="600"/>
              </a:spcBef>
              <a:spcAft>
                <a:spcPts val="1200"/>
              </a:spcAft>
            </a:pPr>
            <a:r>
              <a:rPr lang="en-AU" sz="2200" dirty="0" smtClean="0">
                <a:latin typeface="Helvetica" pitchFamily="34" charset="0"/>
              </a:rPr>
              <a:t>Meal times</a:t>
            </a:r>
          </a:p>
          <a:p>
            <a:pPr lvl="0">
              <a:spcBef>
                <a:spcPts val="600"/>
              </a:spcBef>
              <a:spcAft>
                <a:spcPts val="1200"/>
              </a:spcAft>
            </a:pPr>
            <a:r>
              <a:rPr lang="en-AU" sz="2200" dirty="0" smtClean="0">
                <a:latin typeface="Helvetica" pitchFamily="34" charset="0"/>
              </a:rPr>
              <a:t>Tipping</a:t>
            </a:r>
          </a:p>
          <a:p>
            <a:pPr lvl="0">
              <a:spcBef>
                <a:spcPts val="600"/>
              </a:spcBef>
              <a:spcAft>
                <a:spcPts val="1200"/>
              </a:spcAft>
            </a:pPr>
            <a:r>
              <a:rPr lang="en-AU" sz="2200" dirty="0" smtClean="0">
                <a:latin typeface="Helvetica" pitchFamily="34" charset="0"/>
              </a:rPr>
              <a:t>Dietary requirements</a:t>
            </a:r>
          </a:p>
          <a:p>
            <a:pPr lvl="0">
              <a:spcBef>
                <a:spcPts val="600"/>
              </a:spcBef>
              <a:spcAft>
                <a:spcPts val="1200"/>
              </a:spcAft>
            </a:pPr>
            <a:r>
              <a:rPr lang="en-AU" sz="2200" dirty="0" smtClean="0">
                <a:latin typeface="Helvetica" pitchFamily="34" charset="0"/>
              </a:rPr>
              <a:t>Cuisines</a:t>
            </a:r>
          </a:p>
          <a:p>
            <a:pPr lvl="0">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9" name="Picture 8" descr="shutterstock_61204990.jpg"/>
          <p:cNvPicPr>
            <a:picLocks noChangeAspect="1"/>
          </p:cNvPicPr>
          <p:nvPr/>
        </p:nvPicPr>
        <p:blipFill>
          <a:blip r:embed="rId3" cstate="print"/>
          <a:stretch>
            <a:fillRect/>
          </a:stretch>
        </p:blipFill>
        <p:spPr>
          <a:xfrm>
            <a:off x="4355976" y="2348880"/>
            <a:ext cx="3470264" cy="230425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Monitor tour delivery</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Making announcements</a:t>
            </a:r>
          </a:p>
          <a:p>
            <a:pPr lvl="0">
              <a:spcBef>
                <a:spcPts val="600"/>
              </a:spcBef>
              <a:spcAft>
                <a:spcPts val="1200"/>
              </a:spcAft>
            </a:pPr>
            <a:r>
              <a:rPr lang="en-AU" sz="2200" dirty="0" smtClean="0">
                <a:latin typeface="Helvetica" pitchFamily="34" charset="0"/>
              </a:rPr>
              <a:t>Safety precautions</a:t>
            </a:r>
          </a:p>
          <a:p>
            <a:pPr>
              <a:spcBef>
                <a:spcPts val="600"/>
              </a:spcBef>
              <a:spcAft>
                <a:spcPts val="1200"/>
              </a:spcAft>
            </a:pPr>
            <a:r>
              <a:rPr lang="en-AU" sz="2200" dirty="0" smtClean="0">
                <a:latin typeface="Helvetica" pitchFamily="34" charset="0"/>
              </a:rPr>
              <a:t>Advising tour group members                                                about safety precautions</a:t>
            </a:r>
          </a:p>
          <a:p>
            <a:pPr>
              <a:spcBef>
                <a:spcPts val="600"/>
              </a:spcBef>
              <a:spcAft>
                <a:spcPts val="1200"/>
              </a:spcAft>
            </a:pPr>
            <a:r>
              <a:rPr lang="en-AU" sz="2200" dirty="0" smtClean="0">
                <a:latin typeface="Helvetica" pitchFamily="34" charset="0"/>
              </a:rPr>
              <a:t>Theft procedures </a:t>
            </a:r>
          </a:p>
          <a:p>
            <a:pPr>
              <a:spcBef>
                <a:spcPts val="600"/>
              </a:spcBef>
              <a:spcAft>
                <a:spcPts val="1200"/>
              </a:spcAft>
            </a:pPr>
            <a:r>
              <a:rPr lang="en-AU" sz="2200" dirty="0" smtClean="0">
                <a:latin typeface="Helvetica" pitchFamily="34" charset="0"/>
              </a:rPr>
              <a:t>Site policies</a:t>
            </a: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11" name="Picture 10" descr="W385_emptywallet_shutterstock_159347612.jpg"/>
          <p:cNvPicPr>
            <a:picLocks noChangeAspect="1"/>
          </p:cNvPicPr>
          <p:nvPr/>
        </p:nvPicPr>
        <p:blipFill>
          <a:blip r:embed="rId3" cstate="print"/>
          <a:stretch>
            <a:fillRect/>
          </a:stretch>
        </p:blipFill>
        <p:spPr>
          <a:xfrm>
            <a:off x="5796136" y="1700808"/>
            <a:ext cx="2227922" cy="33402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Balance group and individual needs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Recognising special needs of group</a:t>
            </a:r>
          </a:p>
          <a:p>
            <a:pPr>
              <a:spcBef>
                <a:spcPts val="600"/>
              </a:spcBef>
              <a:spcAft>
                <a:spcPts val="1200"/>
              </a:spcAft>
            </a:pPr>
            <a:r>
              <a:rPr lang="en-AU" sz="2200" dirty="0" smtClean="0">
                <a:latin typeface="Helvetica" pitchFamily="34" charset="0"/>
              </a:rPr>
              <a:t>What are types of special needs?</a:t>
            </a:r>
          </a:p>
          <a:p>
            <a:pPr>
              <a:spcBef>
                <a:spcPts val="600"/>
              </a:spcBef>
              <a:spcAft>
                <a:spcPts val="1200"/>
              </a:spcAft>
            </a:pPr>
            <a:r>
              <a:rPr lang="en-AU" sz="2200" dirty="0" smtClean="0">
                <a:latin typeface="Helvetica" pitchFamily="34" charset="0"/>
              </a:rPr>
              <a:t>How can you identify them?</a:t>
            </a:r>
          </a:p>
          <a:p>
            <a:pPr>
              <a:spcBef>
                <a:spcPts val="600"/>
              </a:spcBef>
              <a:spcAft>
                <a:spcPts val="1200"/>
              </a:spcAft>
            </a:pPr>
            <a:r>
              <a:rPr lang="en-AU" sz="2200" dirty="0" smtClean="0">
                <a:latin typeface="Helvetica" pitchFamily="34" charset="0"/>
              </a:rPr>
              <a:t>What is the standard protocol when dealing with special needs?</a:t>
            </a: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7" name="Picture 6" descr="Wheelchair.jpg"/>
          <p:cNvPicPr/>
          <p:nvPr/>
        </p:nvPicPr>
        <p:blipFill>
          <a:blip r:embed="rId3" cstate="print"/>
          <a:stretch>
            <a:fillRect/>
          </a:stretch>
        </p:blipFill>
        <p:spPr>
          <a:xfrm>
            <a:off x="3347864" y="4038600"/>
            <a:ext cx="2088232" cy="19826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8532440" cy="1143000"/>
          </a:xfrm>
        </p:spPr>
        <p:txBody>
          <a:bodyPr>
            <a:normAutofit/>
          </a:bodyPr>
          <a:lstStyle/>
          <a:p>
            <a:r>
              <a:rPr lang="en-AU" sz="3400" b="1" dirty="0" smtClean="0">
                <a:solidFill>
                  <a:srgbClr val="FF6600"/>
                </a:solidFill>
                <a:latin typeface="Helvetica" pitchFamily="34" charset="0"/>
              </a:rPr>
              <a:t>Assessing tour group needs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a:spcBef>
                <a:spcPts val="600"/>
              </a:spcBef>
              <a:spcAft>
                <a:spcPts val="1200"/>
              </a:spcAft>
              <a:buNone/>
            </a:pPr>
            <a:r>
              <a:rPr lang="en-AU" sz="2200" b="1" dirty="0" smtClean="0">
                <a:latin typeface="Helvetica" pitchFamily="34" charset="0"/>
              </a:rPr>
              <a:t>Methods of monitoring needs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Visual observation</a:t>
            </a:r>
          </a:p>
          <a:p>
            <a:pPr lvl="0">
              <a:spcBef>
                <a:spcPts val="600"/>
              </a:spcBef>
              <a:spcAft>
                <a:spcPts val="1200"/>
              </a:spcAft>
            </a:pPr>
            <a:r>
              <a:rPr lang="en-AU" sz="2200" dirty="0" smtClean="0">
                <a:latin typeface="Helvetica" pitchFamily="34" charset="0"/>
              </a:rPr>
              <a:t>Listening to comments made </a:t>
            </a:r>
          </a:p>
          <a:p>
            <a:pPr lvl="0">
              <a:spcBef>
                <a:spcPts val="600"/>
              </a:spcBef>
              <a:spcAft>
                <a:spcPts val="1200"/>
              </a:spcAft>
            </a:pPr>
            <a:r>
              <a:rPr lang="en-AU" sz="2200" dirty="0" smtClean="0">
                <a:latin typeface="Helvetica" pitchFamily="34" charset="0"/>
              </a:rPr>
              <a:t>Being informed directly by someone </a:t>
            </a:r>
          </a:p>
          <a:p>
            <a:pPr lvl="0">
              <a:spcBef>
                <a:spcPts val="600"/>
              </a:spcBef>
              <a:spcAft>
                <a:spcPts val="1200"/>
              </a:spcAft>
            </a:pPr>
            <a:r>
              <a:rPr lang="en-AU" sz="2200" dirty="0" smtClean="0">
                <a:latin typeface="Helvetica" pitchFamily="34" charset="0"/>
              </a:rPr>
              <a:t>Asking regular questions of the group or individuals within the group </a:t>
            </a:r>
          </a:p>
          <a:p>
            <a:pPr lvl="0">
              <a:spcBef>
                <a:spcPts val="600"/>
              </a:spcBef>
              <a:spcAft>
                <a:spcPts val="1200"/>
              </a:spcAft>
            </a:pPr>
            <a:r>
              <a:rPr lang="en-AU" sz="2200" dirty="0" smtClean="0">
                <a:latin typeface="Helvetica" pitchFamily="34" charset="0"/>
              </a:rPr>
              <a:t>Creating an environment which encourages them to inform tour guides if they have any issues,                          concerns or personal requests</a:t>
            </a:r>
          </a:p>
          <a:p>
            <a:endParaRPr lang="en-AU" sz="2400" dirty="0" smtClean="0"/>
          </a:p>
          <a:p>
            <a:endParaRPr lang="en-AU" sz="2400" dirty="0" smtClean="0"/>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W35_young_chinese_man_relaxing_shutterstock_61936306.jpg"/>
          <p:cNvPicPr/>
          <p:nvPr/>
        </p:nvPicPr>
        <p:blipFill>
          <a:blip r:embed="rId3" cstate="print"/>
          <a:stretch>
            <a:fillRect/>
          </a:stretch>
        </p:blipFill>
        <p:spPr>
          <a:xfrm>
            <a:off x="5868144" y="1556792"/>
            <a:ext cx="2092444" cy="1512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pPr>
              <a:spcBef>
                <a:spcPts val="600"/>
              </a:spcBef>
              <a:spcAft>
                <a:spcPts val="600"/>
              </a:spcAft>
            </a:pPr>
            <a:r>
              <a:rPr lang="en-AU" sz="3400" b="1" dirty="0" smtClean="0">
                <a:solidFill>
                  <a:srgbClr val="FF6600"/>
                </a:solidFill>
                <a:latin typeface="Helvetica" pitchFamily="34" charset="0"/>
              </a:rPr>
              <a:t>Consider needs and wishes of participants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2200" b="1" dirty="0" smtClean="0">
                <a:latin typeface="Helvetica" pitchFamily="34" charset="0"/>
              </a:rPr>
              <a:t>Types of considerations</a:t>
            </a:r>
          </a:p>
          <a:p>
            <a:pPr lvl="0">
              <a:spcBef>
                <a:spcPts val="600"/>
              </a:spcBef>
              <a:spcAft>
                <a:spcPts val="600"/>
              </a:spcAft>
            </a:pPr>
            <a:r>
              <a:rPr lang="en-AU" sz="2200" dirty="0" smtClean="0">
                <a:latin typeface="Helvetica" pitchFamily="34" charset="0"/>
              </a:rPr>
              <a:t>Quiet time </a:t>
            </a:r>
          </a:p>
          <a:p>
            <a:pPr lvl="0">
              <a:spcBef>
                <a:spcPts val="600"/>
              </a:spcBef>
              <a:spcAft>
                <a:spcPts val="600"/>
              </a:spcAft>
            </a:pPr>
            <a:r>
              <a:rPr lang="en-AU" sz="2200" dirty="0" smtClean="0">
                <a:latin typeface="Helvetica" pitchFamily="34" charset="0"/>
              </a:rPr>
              <a:t>Free time </a:t>
            </a:r>
          </a:p>
          <a:p>
            <a:pPr lvl="0">
              <a:spcBef>
                <a:spcPts val="600"/>
              </a:spcBef>
              <a:spcAft>
                <a:spcPts val="600"/>
              </a:spcAft>
            </a:pPr>
            <a:r>
              <a:rPr lang="en-AU" sz="2200" dirty="0" smtClean="0">
                <a:latin typeface="Helvetica" pitchFamily="34" charset="0"/>
              </a:rPr>
              <a:t>A time for people to chat </a:t>
            </a:r>
          </a:p>
          <a:p>
            <a:pPr lvl="0">
              <a:spcBef>
                <a:spcPts val="600"/>
              </a:spcBef>
              <a:spcAft>
                <a:spcPts val="600"/>
              </a:spcAft>
            </a:pPr>
            <a:r>
              <a:rPr lang="en-AU" sz="2200" dirty="0" smtClean="0">
                <a:latin typeface="Helvetica" pitchFamily="34" charset="0"/>
              </a:rPr>
              <a:t>Personal enjoyment of site </a:t>
            </a:r>
          </a:p>
          <a:p>
            <a:pPr lvl="0">
              <a:spcBef>
                <a:spcPts val="600"/>
              </a:spcBef>
              <a:spcAft>
                <a:spcPts val="600"/>
              </a:spcAft>
            </a:pPr>
            <a:r>
              <a:rPr lang="en-AU" sz="2200" dirty="0" smtClean="0">
                <a:latin typeface="Helvetica" pitchFamily="34" charset="0"/>
              </a:rPr>
              <a:t>Tour group members to have a rest </a:t>
            </a:r>
          </a:p>
          <a:p>
            <a:pPr lvl="0">
              <a:spcBef>
                <a:spcPts val="600"/>
              </a:spcBef>
              <a:spcAft>
                <a:spcPts val="600"/>
              </a:spcAft>
            </a:pPr>
            <a:r>
              <a:rPr lang="en-AU" sz="2200" dirty="0" smtClean="0">
                <a:latin typeface="Helvetica" pitchFamily="34" charset="0"/>
              </a:rPr>
              <a:t>Photo opportunities</a:t>
            </a:r>
          </a:p>
          <a:p>
            <a:pPr lvl="0">
              <a:spcBef>
                <a:spcPts val="600"/>
              </a:spcBef>
              <a:spcAft>
                <a:spcPts val="600"/>
              </a:spcAft>
            </a:pPr>
            <a:r>
              <a:rPr lang="en-AU" sz="2200" dirty="0" smtClean="0">
                <a:latin typeface="Helvetica" pitchFamily="34" charset="0"/>
              </a:rPr>
              <a:t>‘Up close and personal’ opportunities</a:t>
            </a:r>
          </a:p>
          <a:p>
            <a:pPr>
              <a:spcBef>
                <a:spcPts val="600"/>
              </a:spcBef>
              <a:spcAft>
                <a:spcPts val="600"/>
              </a:spcAft>
            </a:pPr>
            <a:r>
              <a:rPr lang="en-AU" sz="2200" dirty="0" smtClean="0">
                <a:latin typeface="Helvetica" pitchFamily="34" charset="0"/>
              </a:rPr>
              <a:t>Preferential treatment</a:t>
            </a:r>
          </a:p>
          <a:p>
            <a:endParaRPr lang="en-AU" sz="2400" dirty="0" smtClean="0"/>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8" name="Picture 7" descr="W28_group_of_elderly_shutterstock_154969154.jpg"/>
          <p:cNvPicPr/>
          <p:nvPr/>
        </p:nvPicPr>
        <p:blipFill>
          <a:blip r:embed="rId3" cstate="print"/>
          <a:stretch>
            <a:fillRect/>
          </a:stretch>
        </p:blipFill>
        <p:spPr>
          <a:xfrm>
            <a:off x="5629798" y="2420888"/>
            <a:ext cx="2664296"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Balance group and individual needs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560840" cy="5301208"/>
          </a:xfrm>
        </p:spPr>
        <p:txBody>
          <a:bodyPr>
            <a:normAutofit/>
          </a:bodyPr>
          <a:lstStyle/>
          <a:p>
            <a:pPr marL="0">
              <a:spcBef>
                <a:spcPts val="600"/>
              </a:spcBef>
              <a:spcAft>
                <a:spcPts val="1200"/>
              </a:spcAft>
              <a:buNone/>
            </a:pPr>
            <a:r>
              <a:rPr lang="en-AU" sz="2200" b="1" dirty="0" smtClean="0">
                <a:latin typeface="Helvetica" pitchFamily="34" charset="0"/>
              </a:rPr>
              <a:t>Balancing the needs of the group with individual needs</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Introducing supplementary activities to cater for identified need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Ensuring inclusiveness to the greatest extent possible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Explaining unique individual needs to the group and asking their permission for special treatment of the special needs person</a:t>
            </a:r>
            <a:endParaRPr lang="en-US" sz="2200" dirty="0" smtClean="0">
              <a:latin typeface="Helvetica" pitchFamily="34" charset="0"/>
            </a:endParaRP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6" name="Picture 5" descr="shutterstock_122150821.jpg"/>
          <p:cNvPicPr/>
          <p:nvPr/>
        </p:nvPicPr>
        <p:blipFill>
          <a:blip r:embed="rId3" cstate="print"/>
          <a:stretch>
            <a:fillRect/>
          </a:stretch>
        </p:blipFill>
        <p:spPr>
          <a:xfrm>
            <a:off x="2915816" y="4725144"/>
            <a:ext cx="2160240" cy="13681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237040" cy="4968552"/>
          </a:xfrm>
        </p:spPr>
        <p:txBody>
          <a:bodyPr>
            <a:normAutofit/>
          </a:bodyPr>
          <a:lstStyle/>
          <a:p>
            <a:pPr marL="0">
              <a:buNone/>
            </a:pPr>
            <a:r>
              <a:rPr lang="en-AU" sz="4000" b="1" dirty="0" smtClean="0">
                <a:solidFill>
                  <a:srgbClr val="FF6600"/>
                </a:solidFill>
                <a:latin typeface="Helvetica" pitchFamily="34" charset="0"/>
              </a:rPr>
              <a:t>Element 4:</a:t>
            </a:r>
          </a:p>
          <a:p>
            <a:pPr marL="0" indent="0">
              <a:spcBef>
                <a:spcPts val="600"/>
              </a:spcBef>
              <a:spcAft>
                <a:spcPts val="1200"/>
              </a:spcAft>
              <a:buNone/>
            </a:pPr>
            <a:r>
              <a:rPr lang="en-AU" sz="4000" b="1" i="1" dirty="0" smtClean="0">
                <a:solidFill>
                  <a:srgbClr val="FF6600"/>
                </a:solidFill>
              </a:rPr>
              <a:t>Deal with on-tour problems</a:t>
            </a:r>
            <a:endParaRPr lang="en-AU" sz="4000" b="1" i="1"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descr="shutterstock_104638982.jpg"/>
          <p:cNvPicPr>
            <a:picLocks noChangeAspect="1"/>
          </p:cNvPicPr>
          <p:nvPr/>
        </p:nvPicPr>
        <p:blipFill>
          <a:blip r:embed="rId3" cstate="print"/>
          <a:stretch>
            <a:fillRect/>
          </a:stretch>
        </p:blipFill>
        <p:spPr>
          <a:xfrm>
            <a:off x="2411760" y="3140968"/>
            <a:ext cx="3816424" cy="25455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Deal with on-tour problems</a:t>
            </a:r>
          </a:p>
        </p:txBody>
      </p:sp>
      <p:sp>
        <p:nvSpPr>
          <p:cNvPr id="3" name="Content Placeholder 2"/>
          <p:cNvSpPr>
            <a:spLocks noGrp="1"/>
          </p:cNvSpPr>
          <p:nvPr>
            <p:ph idx="1"/>
          </p:nvPr>
        </p:nvSpPr>
        <p:spPr>
          <a:xfrm>
            <a:off x="611560" y="1567333"/>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Predict the potential for problems and take appropriate avoidance action</a:t>
            </a:r>
          </a:p>
          <a:p>
            <a:pPr>
              <a:spcBef>
                <a:spcPts val="600"/>
              </a:spcBef>
              <a:spcAft>
                <a:spcPts val="1200"/>
              </a:spcAft>
            </a:pPr>
            <a:r>
              <a:rPr lang="en-AU" sz="2200" dirty="0" smtClean="0">
                <a:latin typeface="Helvetica" pitchFamily="34" charset="0"/>
              </a:rPr>
              <a:t>Assess and respond to emergencies and unexpected events</a:t>
            </a:r>
          </a:p>
          <a:p>
            <a:pPr>
              <a:spcBef>
                <a:spcPts val="600"/>
              </a:spcBef>
              <a:spcAft>
                <a:spcPts val="1200"/>
              </a:spcAft>
            </a:pPr>
            <a:r>
              <a:rPr lang="en-AU" sz="2200" dirty="0" smtClean="0">
                <a:latin typeface="Helvetica" pitchFamily="34" charset="0"/>
              </a:rPr>
              <a:t>Resolve person-to-person conflict</a:t>
            </a:r>
          </a:p>
          <a:p>
            <a:pPr>
              <a:spcBef>
                <a:spcPts val="600"/>
              </a:spcBef>
              <a:spcAft>
                <a:spcPts val="1200"/>
              </a:spcAft>
            </a:pPr>
            <a:r>
              <a:rPr lang="en-AU" sz="2200" dirty="0" smtClean="0">
                <a:latin typeface="Helvetica" pitchFamily="34" charset="0"/>
              </a:rPr>
              <a:t>Take action to resolve tour group member dissatisfaction with the tour</a:t>
            </a:r>
          </a:p>
          <a:p>
            <a:pPr>
              <a:spcBef>
                <a:spcPts val="600"/>
              </a:spcBef>
              <a:spcAft>
                <a:spcPts val="1200"/>
              </a:spcAft>
            </a:pPr>
            <a:r>
              <a:rPr lang="en-AU" sz="2200" dirty="0" smtClean="0">
                <a:latin typeface="Helvetica" pitchFamily="34" charset="0"/>
              </a:rPr>
              <a:t>Seek to maximise tour group member                        enjoyment with the tour under adverse conditions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descr="W614_shutterstock_108796946.jpg"/>
          <p:cNvPicPr>
            <a:picLocks noChangeAspect="1"/>
          </p:cNvPicPr>
          <p:nvPr/>
        </p:nvPicPr>
        <p:blipFill>
          <a:blip r:embed="rId3" cstate="print"/>
          <a:stretch>
            <a:fillRect/>
          </a:stretch>
        </p:blipFill>
        <p:spPr>
          <a:xfrm>
            <a:off x="6571020" y="3929066"/>
            <a:ext cx="1894828" cy="173218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Deal with on-tour problems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b="1" dirty="0" smtClean="0">
                <a:latin typeface="Helvetica" pitchFamily="34" charset="0"/>
              </a:rPr>
              <a:t>Key requirements</a:t>
            </a:r>
          </a:p>
          <a:p>
            <a:pPr lvl="0">
              <a:spcBef>
                <a:spcPts val="600"/>
              </a:spcBef>
              <a:spcAft>
                <a:spcPts val="1200"/>
              </a:spcAft>
            </a:pPr>
            <a:r>
              <a:rPr lang="en-AU" sz="2200" dirty="0" smtClean="0">
                <a:latin typeface="Helvetica" pitchFamily="34" charset="0"/>
              </a:rPr>
              <a:t>Understand the importance of maintaining the health and safety of participants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Handling emergency situations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Handling conflict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Handling dissatisfied customers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Maximising tour member enjoyment</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descr="W641_shutterstock_142097794.jpg"/>
          <p:cNvPicPr/>
          <p:nvPr/>
        </p:nvPicPr>
        <p:blipFill rotWithShape="1">
          <a:blip r:embed="rId3" cstate="print"/>
          <a:srcRect r="30942"/>
          <a:stretch/>
        </p:blipFill>
        <p:spPr>
          <a:xfrm>
            <a:off x="5652120" y="2852936"/>
            <a:ext cx="2592288"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Deal with on-tour problems</a:t>
            </a: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Predicting the potential for problems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Monitoring people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Monitoring the physical and natural environment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Liaising with other staff</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Encouraging tour group members to </a:t>
            </a:r>
            <a:br>
              <a:rPr lang="en-AU" sz="2200" dirty="0" smtClean="0">
                <a:latin typeface="Helvetica" pitchFamily="34" charset="0"/>
              </a:rPr>
            </a:br>
            <a:r>
              <a:rPr lang="en-AU" sz="2200" dirty="0" smtClean="0">
                <a:latin typeface="Helvetica" pitchFamily="34" charset="0"/>
              </a:rPr>
              <a:t>communicate indicators of emerging </a:t>
            </a:r>
            <a:br>
              <a:rPr lang="en-AU" sz="2200" dirty="0" smtClean="0">
                <a:latin typeface="Helvetica" pitchFamily="34" charset="0"/>
              </a:rPr>
            </a:br>
            <a:r>
              <a:rPr lang="en-AU" sz="2200" dirty="0" smtClean="0">
                <a:latin typeface="Helvetica" pitchFamily="34" charset="0"/>
              </a:rPr>
              <a:t>or existing problems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6" name="Picture 5" descr="W98_sad_chinese_man_shutterstock_1744051.jpg"/>
          <p:cNvPicPr/>
          <p:nvPr/>
        </p:nvPicPr>
        <p:blipFill>
          <a:blip r:embed="rId3" cstate="print"/>
          <a:stretch>
            <a:fillRect/>
          </a:stretch>
        </p:blipFill>
        <p:spPr>
          <a:xfrm>
            <a:off x="6372200" y="3284984"/>
            <a:ext cx="2016224" cy="25922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Deal with on-tour problems</a:t>
            </a: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1200"/>
              </a:spcAft>
              <a:buNone/>
            </a:pPr>
            <a:r>
              <a:rPr lang="en-AU" sz="2200" b="1" dirty="0" smtClean="0">
                <a:latin typeface="Helvetica" pitchFamily="34" charset="0"/>
              </a:rPr>
              <a:t>Ensure correct handling of problems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Realise no problem will ever resolve itself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All identified issues or problems must be </a:t>
            </a:r>
            <a:br>
              <a:rPr lang="en-AU" sz="2200" dirty="0" smtClean="0">
                <a:latin typeface="Helvetica" pitchFamily="34" charset="0"/>
              </a:rPr>
            </a:br>
            <a:r>
              <a:rPr lang="en-AU" sz="2200" dirty="0" smtClean="0">
                <a:latin typeface="Helvetica" pitchFamily="34" charset="0"/>
              </a:rPr>
              <a:t>addressed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Treat people with respect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Try to stay calm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Look through the eyes of the tour group </a:t>
            </a:r>
            <a:br>
              <a:rPr lang="en-AU" sz="2200" dirty="0" smtClean="0">
                <a:latin typeface="Helvetica" pitchFamily="34" charset="0"/>
              </a:rPr>
            </a:br>
            <a:r>
              <a:rPr lang="en-AU" sz="2200" dirty="0" smtClean="0">
                <a:latin typeface="Helvetica" pitchFamily="34" charset="0"/>
              </a:rPr>
              <a:t>member and try to see things from their </a:t>
            </a:r>
            <a:br>
              <a:rPr lang="en-AU" sz="2200" dirty="0" smtClean="0">
                <a:latin typeface="Helvetica" pitchFamily="34" charset="0"/>
              </a:rPr>
            </a:br>
            <a:r>
              <a:rPr lang="en-AU" sz="2200" dirty="0" smtClean="0">
                <a:latin typeface="Helvetica" pitchFamily="34" charset="0"/>
              </a:rPr>
              <a:t>perspective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8" name="Picture 7" descr="shutterstock_88003519.jpg"/>
          <p:cNvPicPr>
            <a:picLocks noChangeAspect="1"/>
          </p:cNvPicPr>
          <p:nvPr/>
        </p:nvPicPr>
        <p:blipFill>
          <a:blip r:embed="rId3" cstate="print"/>
          <a:stretch>
            <a:fillRect/>
          </a:stretch>
        </p:blipFill>
        <p:spPr>
          <a:xfrm>
            <a:off x="6372200" y="2278276"/>
            <a:ext cx="1872208" cy="28069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Safety and security of tours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lnSpcReduction="10000"/>
          </a:bodyPr>
          <a:lstStyle/>
          <a:p>
            <a:pPr>
              <a:spcBef>
                <a:spcPts val="600"/>
              </a:spcBef>
              <a:spcAft>
                <a:spcPts val="1200"/>
              </a:spcAft>
              <a:buNone/>
            </a:pPr>
            <a:r>
              <a:rPr lang="en-AU" sz="2200" b="1" dirty="0" smtClean="0">
                <a:latin typeface="Helvetica" pitchFamily="34" charset="0"/>
              </a:rPr>
              <a:t>Importance of safety and security of participants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Explain potential hazards and dangers to tour group members </a:t>
            </a:r>
          </a:p>
          <a:p>
            <a:pPr lvl="0">
              <a:spcBef>
                <a:spcPts val="600"/>
              </a:spcBef>
              <a:spcAft>
                <a:spcPts val="1200"/>
              </a:spcAft>
            </a:pPr>
            <a:r>
              <a:rPr lang="en-AU" sz="2200" dirty="0" smtClean="0">
                <a:latin typeface="Helvetica" pitchFamily="34" charset="0"/>
              </a:rPr>
              <a:t>Identify action to take to address and manage risks</a:t>
            </a:r>
          </a:p>
          <a:p>
            <a:pPr lvl="0">
              <a:spcBef>
                <a:spcPts val="600"/>
              </a:spcBef>
              <a:spcAft>
                <a:spcPts val="1200"/>
              </a:spcAft>
            </a:pPr>
            <a:r>
              <a:rPr lang="en-AU" sz="2200" dirty="0" smtClean="0">
                <a:latin typeface="Helvetica" pitchFamily="34" charset="0"/>
              </a:rPr>
              <a:t>Never assume tour group members know </a:t>
            </a:r>
            <a:br>
              <a:rPr lang="en-AU" sz="2200" dirty="0" smtClean="0">
                <a:latin typeface="Helvetica" pitchFamily="34" charset="0"/>
              </a:rPr>
            </a:br>
            <a:r>
              <a:rPr lang="en-AU" sz="2200" dirty="0" smtClean="0">
                <a:latin typeface="Helvetica" pitchFamily="34" charset="0"/>
              </a:rPr>
              <a:t>of risks and dangers</a:t>
            </a:r>
          </a:p>
          <a:p>
            <a:pPr lvl="0">
              <a:spcBef>
                <a:spcPts val="600"/>
              </a:spcBef>
              <a:spcAft>
                <a:spcPts val="1200"/>
              </a:spcAft>
            </a:pPr>
            <a:r>
              <a:rPr lang="en-AU" sz="2200" dirty="0" smtClean="0">
                <a:latin typeface="Helvetica" pitchFamily="34" charset="0"/>
              </a:rPr>
              <a:t>Prevent access to unauthorised or </a:t>
            </a:r>
            <a:br>
              <a:rPr lang="en-AU" sz="2200" dirty="0" smtClean="0">
                <a:latin typeface="Helvetica" pitchFamily="34" charset="0"/>
              </a:rPr>
            </a:br>
            <a:r>
              <a:rPr lang="en-AU" sz="2200" dirty="0" smtClean="0">
                <a:latin typeface="Helvetica" pitchFamily="34" charset="0"/>
              </a:rPr>
              <a:t>dangerous situations and environments</a:t>
            </a:r>
          </a:p>
          <a:p>
            <a:pPr lvl="0">
              <a:spcBef>
                <a:spcPts val="600"/>
              </a:spcBef>
              <a:spcAft>
                <a:spcPts val="1200"/>
              </a:spcAft>
            </a:pPr>
            <a:r>
              <a:rPr lang="en-AU" sz="2200" dirty="0" smtClean="0">
                <a:latin typeface="Helvetica" pitchFamily="34" charset="0"/>
              </a:rPr>
              <a:t>Modify, halt or divert a tour whenever </a:t>
            </a:r>
            <a:br>
              <a:rPr lang="en-AU" sz="2200" dirty="0" smtClean="0">
                <a:latin typeface="Helvetica" pitchFamily="34" charset="0"/>
              </a:rPr>
            </a:br>
            <a:r>
              <a:rPr lang="en-AU" sz="2200" dirty="0" smtClean="0">
                <a:latin typeface="Helvetica" pitchFamily="34" charset="0"/>
              </a:rPr>
              <a:t>dangerous situations occur</a:t>
            </a:r>
          </a:p>
          <a:p>
            <a:pPr lvl="0">
              <a:spcBef>
                <a:spcPts val="600"/>
              </a:spcBef>
              <a:spcAft>
                <a:spcPts val="1200"/>
              </a:spcAft>
            </a:pPr>
            <a:r>
              <a:rPr lang="en-AU" sz="2200" dirty="0" smtClean="0">
                <a:latin typeface="Helvetica" pitchFamily="34" charset="0"/>
              </a:rPr>
              <a:t>Distribute and demonstrate safety equipment </a:t>
            </a:r>
            <a:br>
              <a:rPr lang="en-AU" sz="2200" dirty="0" smtClean="0">
                <a:latin typeface="Helvetica" pitchFamily="34" charset="0"/>
              </a:rPr>
            </a:br>
            <a:r>
              <a:rPr lang="en-AU" sz="2200" dirty="0" smtClean="0">
                <a:latin typeface="Helvetica" pitchFamily="34" charset="0"/>
              </a:rPr>
              <a:t>and clothing</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7" name="Picture 6" descr="W397_firstaid_shutterstock_161389283.jpg"/>
          <p:cNvPicPr/>
          <p:nvPr/>
        </p:nvPicPr>
        <p:blipFill>
          <a:blip r:embed="rId3" cstate="print"/>
          <a:stretch>
            <a:fillRect/>
          </a:stretch>
        </p:blipFill>
        <p:spPr>
          <a:xfrm>
            <a:off x="7004846" y="3429000"/>
            <a:ext cx="1381120"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Safety and security of tours</a:t>
            </a:r>
            <a:endParaRPr lang="en-AU" sz="3400" b="1" dirty="0">
              <a:solidFill>
                <a:srgbClr val="FF6600"/>
              </a:solidFill>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Importance of safety and security of participants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Check seat belts, harnesses and restraints </a:t>
            </a:r>
          </a:p>
          <a:p>
            <a:pPr lvl="0">
              <a:spcBef>
                <a:spcPts val="600"/>
              </a:spcBef>
              <a:spcAft>
                <a:spcPts val="1200"/>
              </a:spcAft>
            </a:pPr>
            <a:r>
              <a:rPr lang="en-AU" sz="2200" dirty="0" smtClean="0">
                <a:latin typeface="Helvetica" pitchFamily="34" charset="0"/>
              </a:rPr>
              <a:t>Monitor personal belongings </a:t>
            </a:r>
          </a:p>
          <a:p>
            <a:pPr lvl="0">
              <a:spcBef>
                <a:spcPts val="600"/>
              </a:spcBef>
              <a:spcAft>
                <a:spcPts val="1200"/>
              </a:spcAft>
            </a:pPr>
            <a:r>
              <a:rPr lang="en-AU" sz="2200" dirty="0" smtClean="0">
                <a:latin typeface="Helvetica" pitchFamily="34" charset="0"/>
              </a:rPr>
              <a:t>Check their comfort levels and respond </a:t>
            </a:r>
            <a:br>
              <a:rPr lang="en-AU" sz="2200" dirty="0" smtClean="0">
                <a:latin typeface="Helvetica" pitchFamily="34" charset="0"/>
              </a:rPr>
            </a:br>
            <a:r>
              <a:rPr lang="en-AU" sz="2200" dirty="0" smtClean="0">
                <a:latin typeface="Helvetica" pitchFamily="34" charset="0"/>
              </a:rPr>
              <a:t>appropriately if they are tired, too hot, or unwell</a:t>
            </a:r>
          </a:p>
          <a:p>
            <a:pPr lvl="0">
              <a:spcBef>
                <a:spcPts val="600"/>
              </a:spcBef>
              <a:spcAft>
                <a:spcPts val="1200"/>
              </a:spcAft>
            </a:pPr>
            <a:r>
              <a:rPr lang="en-AU" sz="2200" dirty="0" smtClean="0">
                <a:latin typeface="Helvetica" pitchFamily="34" charset="0"/>
              </a:rPr>
              <a:t>Give safety and security the time and priority it deserves </a:t>
            </a:r>
          </a:p>
          <a:p>
            <a:pPr lvl="0">
              <a:spcBef>
                <a:spcPts val="600"/>
              </a:spcBef>
              <a:spcAft>
                <a:spcPts val="1200"/>
              </a:spcAft>
            </a:pPr>
            <a:r>
              <a:rPr lang="en-AU" sz="2200" dirty="0" smtClean="0">
                <a:latin typeface="Helvetica" pitchFamily="34" charset="0"/>
              </a:rPr>
              <a:t>Take action to address any unsafe situation </a:t>
            </a:r>
          </a:p>
          <a:p>
            <a:pPr lvl="0">
              <a:spcBef>
                <a:spcPts val="600"/>
              </a:spcBef>
              <a:spcAft>
                <a:spcPts val="1200"/>
              </a:spcAft>
            </a:pPr>
            <a:r>
              <a:rPr lang="en-AU" sz="2200" dirty="0" smtClean="0">
                <a:latin typeface="Helvetica" pitchFamily="34" charset="0"/>
              </a:rPr>
              <a:t>Always be willing to call for assistance from                        other staff, security or the authorities </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5" name="Picture 4" descr="W212_travel_luggage_shutterstock_128551784.jpg"/>
          <p:cNvPicPr/>
          <p:nvPr/>
        </p:nvPicPr>
        <p:blipFill>
          <a:blip r:embed="rId3" cstate="print"/>
          <a:stretch>
            <a:fillRect/>
          </a:stretch>
        </p:blipFill>
        <p:spPr>
          <a:xfrm>
            <a:off x="7092280" y="3068960"/>
            <a:ext cx="1276350" cy="1800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pPr>
              <a:spcBef>
                <a:spcPts val="600"/>
              </a:spcBef>
              <a:spcAft>
                <a:spcPts val="1200"/>
              </a:spcAft>
            </a:pPr>
            <a:r>
              <a:rPr lang="en-AU" sz="3400" b="1" dirty="0" smtClean="0">
                <a:solidFill>
                  <a:srgbClr val="FF6600"/>
                </a:solidFill>
                <a:latin typeface="Helvetica" pitchFamily="34" charset="0"/>
              </a:rPr>
              <a:t>Safety policies and procedures </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632848" cy="5301208"/>
          </a:xfrm>
        </p:spPr>
        <p:txBody>
          <a:bodyPr>
            <a:normAutofit/>
          </a:bodyPr>
          <a:lstStyle/>
          <a:p>
            <a:pPr>
              <a:spcBef>
                <a:spcPts val="600"/>
              </a:spcBef>
              <a:spcAft>
                <a:spcPts val="1200"/>
              </a:spcAft>
              <a:buNone/>
            </a:pPr>
            <a:r>
              <a:rPr lang="en-AU" sz="2200" b="1" dirty="0" smtClean="0">
                <a:latin typeface="Helvetica" pitchFamily="34" charset="0"/>
              </a:rPr>
              <a:t>Safety policies and procedures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Learn how to apply basic first aid</a:t>
            </a:r>
          </a:p>
          <a:p>
            <a:pPr lvl="0">
              <a:spcBef>
                <a:spcPts val="600"/>
              </a:spcBef>
              <a:spcAft>
                <a:spcPts val="1200"/>
              </a:spcAft>
            </a:pPr>
            <a:r>
              <a:rPr lang="en-AU" sz="2200" dirty="0" smtClean="0">
                <a:latin typeface="Helvetica" pitchFamily="34" charset="0"/>
              </a:rPr>
              <a:t>Record the facts of any situation where there is a safety or security problem</a:t>
            </a:r>
          </a:p>
          <a:p>
            <a:pPr lvl="0">
              <a:spcBef>
                <a:spcPts val="600"/>
              </a:spcBef>
              <a:spcAft>
                <a:spcPts val="1200"/>
              </a:spcAft>
            </a:pPr>
            <a:r>
              <a:rPr lang="en-AU" sz="2200" dirty="0" smtClean="0">
                <a:latin typeface="Helvetica" pitchFamily="34" charset="0"/>
              </a:rPr>
              <a:t>Be prepared to give instructions and directions to the group when a problem emerges </a:t>
            </a:r>
          </a:p>
          <a:p>
            <a:pPr lvl="0">
              <a:spcBef>
                <a:spcPts val="600"/>
              </a:spcBef>
              <a:spcAft>
                <a:spcPts val="1200"/>
              </a:spcAft>
            </a:pPr>
            <a:r>
              <a:rPr lang="en-AU" sz="2200" dirty="0" smtClean="0">
                <a:latin typeface="Helvetica" pitchFamily="34" charset="0"/>
              </a:rPr>
              <a:t>Realise there is increased potential for harm if children are present on tours </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8" name="Picture 7" descr="shutterstock_128207264.jpg"/>
          <p:cNvPicPr>
            <a:picLocks noChangeAspect="1"/>
          </p:cNvPicPr>
          <p:nvPr/>
        </p:nvPicPr>
        <p:blipFill>
          <a:blip r:embed="rId3" cstate="print"/>
          <a:stretch>
            <a:fillRect/>
          </a:stretch>
        </p:blipFill>
        <p:spPr>
          <a:xfrm>
            <a:off x="3059832" y="5085184"/>
            <a:ext cx="1595438" cy="11662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bigstock_Safety_First_Vector_7506065.jpg"/>
          <p:cNvPicPr>
            <a:picLocks noChangeAspect="1"/>
          </p:cNvPicPr>
          <p:nvPr/>
        </p:nvPicPr>
        <p:blipFill>
          <a:blip r:embed="rId3" cstate="print"/>
          <a:stretch>
            <a:fillRect/>
          </a:stretch>
        </p:blipFill>
        <p:spPr>
          <a:xfrm>
            <a:off x="6372200" y="3284984"/>
            <a:ext cx="1823718" cy="1823718"/>
          </a:xfrm>
          <a:prstGeom prst="rect">
            <a:avLst/>
          </a:prstGeom>
        </p:spPr>
      </p:pic>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Safety policies and procedures </a:t>
            </a:r>
            <a:endParaRPr lang="en-AU" sz="3400" b="1" dirty="0">
              <a:solidFill>
                <a:srgbClr val="FF6600"/>
              </a:solidFill>
            </a:endParaRPr>
          </a:p>
        </p:txBody>
      </p:sp>
      <p:sp>
        <p:nvSpPr>
          <p:cNvPr id="3" name="Content Placeholder 2"/>
          <p:cNvSpPr>
            <a:spLocks noGrp="1"/>
          </p:cNvSpPr>
          <p:nvPr>
            <p:ph idx="1"/>
          </p:nvPr>
        </p:nvSpPr>
        <p:spPr>
          <a:xfrm>
            <a:off x="611560" y="1412776"/>
            <a:ext cx="7467600" cy="5301208"/>
          </a:xfrm>
        </p:spPr>
        <p:txBody>
          <a:bodyPr>
            <a:normAutofit/>
          </a:bodyPr>
          <a:lstStyle/>
          <a:p>
            <a:pPr>
              <a:spcBef>
                <a:spcPts val="600"/>
              </a:spcBef>
              <a:spcAft>
                <a:spcPts val="1200"/>
              </a:spcAft>
              <a:buNone/>
            </a:pPr>
            <a:r>
              <a:rPr lang="en-AU" sz="2200" b="1" dirty="0" smtClean="0">
                <a:latin typeface="Helvetica" pitchFamily="34" charset="0"/>
              </a:rPr>
              <a:t>Safety policies and procedures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Do not allow tour group members to attempt the rescue of other people </a:t>
            </a:r>
          </a:p>
          <a:p>
            <a:pPr lvl="0">
              <a:spcBef>
                <a:spcPts val="600"/>
              </a:spcBef>
              <a:spcAft>
                <a:spcPts val="1200"/>
              </a:spcAft>
            </a:pPr>
            <a:r>
              <a:rPr lang="en-AU" sz="2200" dirty="0" smtClean="0">
                <a:latin typeface="Helvetica" pitchFamily="34" charset="0"/>
              </a:rPr>
              <a:t>Never put themselves in harm’s way </a:t>
            </a:r>
          </a:p>
          <a:p>
            <a:pPr lvl="0">
              <a:spcBef>
                <a:spcPts val="600"/>
              </a:spcBef>
              <a:spcAft>
                <a:spcPts val="1200"/>
              </a:spcAft>
            </a:pPr>
            <a:r>
              <a:rPr lang="en-AU" sz="2200" dirty="0" smtClean="0">
                <a:latin typeface="Helvetica" pitchFamily="34" charset="0"/>
              </a:rPr>
              <a:t>Aim to avoid trouble and danger rather than </a:t>
            </a:r>
            <a:br>
              <a:rPr lang="en-AU" sz="2200" dirty="0" smtClean="0">
                <a:latin typeface="Helvetica" pitchFamily="34" charset="0"/>
              </a:rPr>
            </a:br>
            <a:r>
              <a:rPr lang="en-AU" sz="2200" dirty="0" smtClean="0">
                <a:latin typeface="Helvetica" pitchFamily="34" charset="0"/>
              </a:rPr>
              <a:t>having to respond to it </a:t>
            </a:r>
          </a:p>
          <a:p>
            <a:pPr lvl="0">
              <a:spcBef>
                <a:spcPts val="600"/>
              </a:spcBef>
              <a:spcAft>
                <a:spcPts val="1200"/>
              </a:spcAft>
            </a:pPr>
            <a:r>
              <a:rPr lang="en-AU" sz="2200" dirty="0" smtClean="0">
                <a:latin typeface="Helvetica" pitchFamily="34" charset="0"/>
              </a:rPr>
              <a:t>Observe people and warn them if they are </a:t>
            </a:r>
            <a:br>
              <a:rPr lang="en-AU" sz="2200" dirty="0" smtClean="0">
                <a:latin typeface="Helvetica" pitchFamily="34" charset="0"/>
              </a:rPr>
            </a:br>
            <a:r>
              <a:rPr lang="en-AU" sz="2200" dirty="0" smtClean="0">
                <a:latin typeface="Helvetica" pitchFamily="34" charset="0"/>
              </a:rPr>
              <a:t>straying away or moving towards/into </a:t>
            </a:r>
            <a:br>
              <a:rPr lang="en-AU" sz="2200" dirty="0" smtClean="0">
                <a:latin typeface="Helvetica" pitchFamily="34" charset="0"/>
              </a:rPr>
            </a:br>
            <a:r>
              <a:rPr lang="en-AU" sz="2200" dirty="0" smtClean="0">
                <a:latin typeface="Helvetica" pitchFamily="34" charset="0"/>
              </a:rPr>
              <a:t>danger</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Handling problems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Ensure correct handling of problems</a:t>
            </a:r>
          </a:p>
          <a:p>
            <a:pPr>
              <a:spcBef>
                <a:spcPts val="600"/>
              </a:spcBef>
              <a:spcAft>
                <a:spcPts val="1200"/>
              </a:spcAft>
            </a:pPr>
            <a:r>
              <a:rPr lang="en-AU" sz="2200" dirty="0" smtClean="0">
                <a:latin typeface="Helvetica" pitchFamily="34" charset="0"/>
              </a:rPr>
              <a:t>What types of problems happen on tour?</a:t>
            </a:r>
          </a:p>
          <a:p>
            <a:pPr>
              <a:spcBef>
                <a:spcPts val="600"/>
              </a:spcBef>
              <a:spcAft>
                <a:spcPts val="1200"/>
              </a:spcAft>
            </a:pPr>
            <a:r>
              <a:rPr lang="en-AU" sz="2200" dirty="0" smtClean="0">
                <a:latin typeface="Helvetica" pitchFamily="34" charset="0"/>
              </a:rPr>
              <a:t>What causes them?</a:t>
            </a:r>
          </a:p>
          <a:p>
            <a:pPr>
              <a:spcBef>
                <a:spcPts val="600"/>
              </a:spcBef>
              <a:spcAft>
                <a:spcPts val="1200"/>
              </a:spcAft>
            </a:pPr>
            <a:r>
              <a:rPr lang="en-AU" sz="2200" dirty="0" smtClean="0">
                <a:latin typeface="Helvetica" pitchFamily="34" charset="0"/>
              </a:rPr>
              <a:t>How should they be solved?</a:t>
            </a:r>
          </a:p>
          <a:p>
            <a:endParaRPr lang="en-AU" sz="2400" dirty="0" smtClean="0"/>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8" name="Picture 7" descr="shutterstock_94954501.jpg"/>
          <p:cNvPicPr/>
          <p:nvPr/>
        </p:nvPicPr>
        <p:blipFill>
          <a:blip r:embed="rId3" cstate="print"/>
          <a:stretch>
            <a:fillRect/>
          </a:stretch>
        </p:blipFill>
        <p:spPr>
          <a:xfrm>
            <a:off x="5652120" y="2693773"/>
            <a:ext cx="1944216" cy="25202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Responding to emergencies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Handling emergencies</a:t>
            </a:r>
          </a:p>
          <a:p>
            <a:pPr marL="0">
              <a:spcBef>
                <a:spcPts val="600"/>
              </a:spcBef>
              <a:spcAft>
                <a:spcPts val="1200"/>
              </a:spcAft>
              <a:buNone/>
            </a:pPr>
            <a:r>
              <a:rPr lang="en-US" sz="2200" dirty="0" smtClean="0">
                <a:latin typeface="Helvetica" pitchFamily="34" charset="0"/>
              </a:rPr>
              <a:t>An emergency is anything with the potential to cause injury to a person, or harm to property:</a:t>
            </a:r>
          </a:p>
          <a:p>
            <a:pPr>
              <a:spcBef>
                <a:spcPts val="600"/>
              </a:spcBef>
              <a:spcAft>
                <a:spcPts val="1200"/>
              </a:spcAft>
            </a:pPr>
            <a:r>
              <a:rPr lang="en-US" sz="2200" dirty="0" smtClean="0">
                <a:latin typeface="Helvetica" pitchFamily="34" charset="0"/>
              </a:rPr>
              <a:t>What are different types of emergencies?</a:t>
            </a:r>
          </a:p>
          <a:p>
            <a:pPr>
              <a:spcBef>
                <a:spcPts val="600"/>
              </a:spcBef>
              <a:spcAft>
                <a:spcPts val="1200"/>
              </a:spcAft>
            </a:pPr>
            <a:r>
              <a:rPr lang="en-US" sz="2200" dirty="0" smtClean="0">
                <a:latin typeface="Helvetica" pitchFamily="34" charset="0"/>
              </a:rPr>
              <a:t>What causes them?</a:t>
            </a:r>
          </a:p>
          <a:p>
            <a:pPr>
              <a:spcBef>
                <a:spcPts val="600"/>
              </a:spcBef>
              <a:spcAft>
                <a:spcPts val="1200"/>
              </a:spcAft>
            </a:pPr>
            <a:r>
              <a:rPr lang="en-US" sz="2200" dirty="0" smtClean="0">
                <a:latin typeface="Helvetica" pitchFamily="34" charset="0"/>
              </a:rPr>
              <a:t>How can they be handled?</a:t>
            </a:r>
          </a:p>
          <a:p>
            <a:endParaRPr lang="en-AU" sz="2400" dirty="0" smtClean="0"/>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5" name="Picture 4" descr="shutterstock_103324088.jpg"/>
          <p:cNvPicPr/>
          <p:nvPr/>
        </p:nvPicPr>
        <p:blipFill>
          <a:blip r:embed="rId3" cstate="print"/>
          <a:stretch>
            <a:fillRect/>
          </a:stretch>
        </p:blipFill>
        <p:spPr>
          <a:xfrm>
            <a:off x="6228184" y="3789040"/>
            <a:ext cx="2160240"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Responding to emergencies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5301208"/>
          </a:xfrm>
        </p:spPr>
        <p:txBody>
          <a:bodyPr>
            <a:normAutofit/>
          </a:bodyPr>
          <a:lstStyle/>
          <a:p>
            <a:pPr>
              <a:buNone/>
            </a:pPr>
            <a:r>
              <a:rPr lang="en-AU" sz="2200" b="1" dirty="0" smtClean="0">
                <a:latin typeface="Helvetica" pitchFamily="34" charset="0"/>
              </a:rPr>
              <a:t>Different types of emergencies</a:t>
            </a:r>
            <a:endParaRPr lang="en-AU" sz="2200" dirty="0" smtClean="0">
              <a:latin typeface="Helvetica" pitchFamily="34" charset="0"/>
            </a:endParaRPr>
          </a:p>
          <a:p>
            <a:pPr lvl="0"/>
            <a:r>
              <a:rPr lang="en-AU" sz="2200" dirty="0" smtClean="0">
                <a:latin typeface="Helvetica" pitchFamily="34" charset="0"/>
              </a:rPr>
              <a:t>Lost people</a:t>
            </a:r>
          </a:p>
          <a:p>
            <a:pPr lvl="0"/>
            <a:r>
              <a:rPr lang="en-AU" sz="2200" dirty="0" smtClean="0">
                <a:latin typeface="Helvetica" pitchFamily="34" charset="0"/>
              </a:rPr>
              <a:t>Lost documents including passports </a:t>
            </a:r>
          </a:p>
          <a:p>
            <a:pPr lvl="0"/>
            <a:r>
              <a:rPr lang="en-AU" sz="2200" dirty="0" smtClean="0">
                <a:latin typeface="Helvetica" pitchFamily="34" charset="0"/>
              </a:rPr>
              <a:t>Lost luggage, phone, laptops, jewellery and other valuables</a:t>
            </a:r>
          </a:p>
          <a:p>
            <a:pPr lvl="0"/>
            <a:r>
              <a:rPr lang="en-AU" sz="2200" dirty="0" smtClean="0">
                <a:latin typeface="Helvetica" pitchFamily="34" charset="0"/>
              </a:rPr>
              <a:t>Fire </a:t>
            </a:r>
          </a:p>
          <a:p>
            <a:pPr lvl="0"/>
            <a:r>
              <a:rPr lang="en-AU" sz="2200" dirty="0" smtClean="0">
                <a:latin typeface="Helvetica" pitchFamily="34" charset="0"/>
              </a:rPr>
              <a:t>Medical emergency </a:t>
            </a:r>
          </a:p>
          <a:p>
            <a:pPr lvl="0"/>
            <a:r>
              <a:rPr lang="en-AU" sz="2200" dirty="0" smtClean="0">
                <a:latin typeface="Helvetica" pitchFamily="34" charset="0"/>
              </a:rPr>
              <a:t>Bomb threat</a:t>
            </a:r>
          </a:p>
          <a:p>
            <a:pPr lvl="0"/>
            <a:r>
              <a:rPr lang="en-AU" sz="2200" dirty="0" smtClean="0">
                <a:latin typeface="Helvetica" pitchFamily="34" charset="0"/>
              </a:rPr>
              <a:t>Hostage situation </a:t>
            </a:r>
          </a:p>
          <a:p>
            <a:pPr lvl="0"/>
            <a:r>
              <a:rPr lang="en-AU" sz="2200" dirty="0" smtClean="0">
                <a:latin typeface="Helvetica" pitchFamily="34" charset="0"/>
              </a:rPr>
              <a:t>Robbery </a:t>
            </a:r>
          </a:p>
          <a:p>
            <a:pPr lvl="0"/>
            <a:r>
              <a:rPr lang="en-AU" sz="2200" dirty="0" smtClean="0">
                <a:latin typeface="Helvetica" pitchFamily="34" charset="0"/>
              </a:rPr>
              <a:t>Difficult customers </a:t>
            </a:r>
          </a:p>
          <a:p>
            <a:pPr lvl="0"/>
            <a:r>
              <a:rPr lang="en-AU" sz="2200" dirty="0" smtClean="0">
                <a:latin typeface="Helvetica" pitchFamily="34" charset="0"/>
              </a:rPr>
              <a:t>Power failure </a:t>
            </a:r>
          </a:p>
          <a:p>
            <a:endParaRPr lang="en-AU" sz="2400" dirty="0" smtClean="0"/>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6" name="Picture 5" descr="MP900448748[1].JPG"/>
          <p:cNvPicPr>
            <a:picLocks noChangeAspect="1"/>
          </p:cNvPicPr>
          <p:nvPr/>
        </p:nvPicPr>
        <p:blipFill>
          <a:blip r:embed="rId3" cstate="print"/>
          <a:stretch>
            <a:fillRect/>
          </a:stretch>
        </p:blipFill>
        <p:spPr>
          <a:xfrm>
            <a:off x="6084168" y="3933056"/>
            <a:ext cx="2355648" cy="17667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Responding to emergencies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Understand emergency equipment</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First aid kits</a:t>
            </a:r>
          </a:p>
          <a:p>
            <a:pPr>
              <a:spcBef>
                <a:spcPts val="600"/>
              </a:spcBef>
              <a:spcAft>
                <a:spcPts val="1200"/>
              </a:spcAft>
            </a:pPr>
            <a:r>
              <a:rPr lang="en-US" sz="2200" dirty="0" smtClean="0">
                <a:latin typeface="Helvetica" pitchFamily="34" charset="0"/>
              </a:rPr>
              <a:t>Emergency documentation</a:t>
            </a:r>
          </a:p>
          <a:p>
            <a:pPr>
              <a:spcBef>
                <a:spcPts val="600"/>
              </a:spcBef>
              <a:spcAft>
                <a:spcPts val="1200"/>
              </a:spcAft>
            </a:pPr>
            <a:r>
              <a:rPr lang="en-US" sz="2200" dirty="0" smtClean="0">
                <a:latin typeface="Helvetica" pitchFamily="34" charset="0"/>
              </a:rPr>
              <a:t>When you have to use the first aid kit</a:t>
            </a:r>
          </a:p>
          <a:p>
            <a:pPr>
              <a:spcBef>
                <a:spcPts val="600"/>
              </a:spcBef>
              <a:spcAft>
                <a:spcPts val="1200"/>
              </a:spcAft>
            </a:pPr>
            <a:r>
              <a:rPr lang="en-US" sz="2200" dirty="0" smtClean="0">
                <a:latin typeface="Helvetica" pitchFamily="34" charset="0"/>
              </a:rPr>
              <a:t>Fire extinguishers</a:t>
            </a:r>
          </a:p>
          <a:p>
            <a:pPr>
              <a:spcBef>
                <a:spcPts val="600"/>
              </a:spcBef>
              <a:spcAft>
                <a:spcPts val="1200"/>
              </a:spcAft>
            </a:pPr>
            <a:r>
              <a:rPr lang="en-US" sz="2200" dirty="0" smtClean="0">
                <a:latin typeface="Helvetica" pitchFamily="34" charset="0"/>
              </a:rPr>
              <a:t>Torch lights</a:t>
            </a:r>
          </a:p>
          <a:p>
            <a:endParaRPr lang="en-AU" sz="2400" dirty="0" smtClean="0"/>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5" name="Picture 4" descr="W346_fire_extinguisher_shutterstock_158090291.jpg"/>
          <p:cNvPicPr/>
          <p:nvPr/>
        </p:nvPicPr>
        <p:blipFill>
          <a:blip r:embed="rId3" cstate="print"/>
          <a:stretch>
            <a:fillRect/>
          </a:stretch>
        </p:blipFill>
        <p:spPr>
          <a:xfrm>
            <a:off x="5868143" y="3140968"/>
            <a:ext cx="2383857" cy="1872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Responding to emergencies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Responding to emergencies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Implementing emergency and contingency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Notifying the authorities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Seeking assistance from emergency </a:t>
            </a:r>
            <a:br>
              <a:rPr lang="en-AU" sz="2200" dirty="0" smtClean="0">
                <a:latin typeface="Helvetica" pitchFamily="34" charset="0"/>
              </a:rPr>
            </a:br>
            <a:r>
              <a:rPr lang="en-AU" sz="2200" dirty="0" smtClean="0">
                <a:latin typeface="Helvetica" pitchFamily="34" charset="0"/>
              </a:rPr>
              <a:t>services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Placing the safety of people above the </a:t>
            </a:r>
            <a:br>
              <a:rPr lang="en-AU" sz="2200" dirty="0" smtClean="0">
                <a:latin typeface="Helvetica" pitchFamily="34" charset="0"/>
              </a:rPr>
            </a:br>
            <a:r>
              <a:rPr lang="en-AU" sz="2200" dirty="0" smtClean="0">
                <a:latin typeface="Helvetica" pitchFamily="34" charset="0"/>
              </a:rPr>
              <a:t>protection of assets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Minimising harm, damage and disruption</a:t>
            </a:r>
            <a:endParaRPr lang="en-US" sz="2200" dirty="0" smtClean="0">
              <a:latin typeface="Helvetica" pitchFamily="34" charset="0"/>
            </a:endParaRPr>
          </a:p>
          <a:p>
            <a:endParaRPr lang="en-AU" sz="2400" dirty="0" smtClean="0"/>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6" name="Picture 5" descr="W349_health_safetyshutterstock_158885762.jpg"/>
          <p:cNvPicPr/>
          <p:nvPr/>
        </p:nvPicPr>
        <p:blipFill>
          <a:blip r:embed="rId3" cstate="print"/>
          <a:stretch>
            <a:fillRect/>
          </a:stretch>
        </p:blipFill>
        <p:spPr>
          <a:xfrm>
            <a:off x="5940152" y="3140968"/>
            <a:ext cx="2377753" cy="19442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Handling unexpected events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dirty="0" smtClean="0">
                <a:latin typeface="Helvetica" pitchFamily="34" charset="0"/>
              </a:rPr>
              <a:t>Tour guides may need to adjust a tour to suited unexpected events.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Unexpected events can be classified as: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Negative events – such as accidents and emergencies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Positive events</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7" name="Picture 6" descr="W24_elderly_indian_man_shutterstock_70886632.jpg"/>
          <p:cNvPicPr/>
          <p:nvPr/>
        </p:nvPicPr>
        <p:blipFill>
          <a:blip r:embed="rId3" cstate="print"/>
          <a:stretch>
            <a:fillRect/>
          </a:stretch>
        </p:blipFill>
        <p:spPr>
          <a:xfrm>
            <a:off x="3620530" y="3501008"/>
            <a:ext cx="2232248" cy="244827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Dealing with delays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301208"/>
          </a:xfrm>
        </p:spPr>
        <p:txBody>
          <a:bodyPr>
            <a:normAutofit/>
          </a:bodyPr>
          <a:lstStyle/>
          <a:p>
            <a:pPr lvl="0">
              <a:spcBef>
                <a:spcPts val="600"/>
              </a:spcBef>
              <a:spcAft>
                <a:spcPts val="1200"/>
              </a:spcAft>
              <a:buNone/>
            </a:pPr>
            <a:r>
              <a:rPr lang="en-US" sz="2200" b="1" dirty="0" smtClean="0">
                <a:latin typeface="Helvetica" pitchFamily="34" charset="0"/>
              </a:rPr>
              <a:t>Handling delays</a:t>
            </a:r>
          </a:p>
          <a:p>
            <a:pPr lvl="0">
              <a:spcBef>
                <a:spcPts val="600"/>
              </a:spcBef>
              <a:spcAft>
                <a:spcPts val="1200"/>
              </a:spcAft>
            </a:pPr>
            <a:r>
              <a:rPr lang="en-US" sz="2200" dirty="0" smtClean="0">
                <a:latin typeface="Helvetica" pitchFamily="34" charset="0"/>
              </a:rPr>
              <a:t>Liaise closely with those responsible for the delay to assess the situation</a:t>
            </a:r>
          </a:p>
          <a:p>
            <a:pPr lvl="0">
              <a:spcBef>
                <a:spcPts val="600"/>
              </a:spcBef>
              <a:spcAft>
                <a:spcPts val="1200"/>
              </a:spcAft>
            </a:pPr>
            <a:r>
              <a:rPr lang="en-US" sz="2200" dirty="0" smtClean="0">
                <a:latin typeface="Helvetica" pitchFamily="34" charset="0"/>
              </a:rPr>
              <a:t>Advise the clients immediately, accurately inform your group of the reasons for the delay</a:t>
            </a:r>
          </a:p>
          <a:p>
            <a:pPr lvl="0">
              <a:spcBef>
                <a:spcPts val="600"/>
              </a:spcBef>
              <a:spcAft>
                <a:spcPts val="1200"/>
              </a:spcAft>
            </a:pPr>
            <a:r>
              <a:rPr lang="en-US" sz="2200" dirty="0" smtClean="0">
                <a:latin typeface="Helvetica" pitchFamily="34" charset="0"/>
              </a:rPr>
              <a:t>Explain to the group the action being taken to manage the situation</a:t>
            </a:r>
          </a:p>
          <a:p>
            <a:pPr>
              <a:spcBef>
                <a:spcPts val="600"/>
              </a:spcBef>
              <a:spcAft>
                <a:spcPts val="1200"/>
              </a:spcAft>
            </a:pPr>
            <a:r>
              <a:rPr lang="en-US" sz="2200" dirty="0" smtClean="0">
                <a:latin typeface="Helvetica" pitchFamily="34" charset="0"/>
              </a:rPr>
              <a:t>In many cases you will have to do some                           quick thinking and devise an alternative plan</a:t>
            </a:r>
          </a:p>
          <a:p>
            <a:pPr lvl="0">
              <a:spcBef>
                <a:spcPts val="600"/>
              </a:spcBef>
              <a:spcAft>
                <a:spcPts val="1200"/>
              </a:spcAft>
            </a:pPr>
            <a:r>
              <a:rPr lang="en-US" sz="2200" dirty="0" smtClean="0">
                <a:latin typeface="Helvetica" pitchFamily="34" charset="0"/>
              </a:rPr>
              <a:t>Advise suppliers and others affected by the delay, according to company policy</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6" name="Picture 5" descr="MP900382676[1].JPG"/>
          <p:cNvPicPr>
            <a:picLocks noChangeAspect="1"/>
          </p:cNvPicPr>
          <p:nvPr/>
        </p:nvPicPr>
        <p:blipFill>
          <a:blip r:embed="rId3" cstate="print"/>
          <a:stretch>
            <a:fillRect/>
          </a:stretch>
        </p:blipFill>
        <p:spPr>
          <a:xfrm>
            <a:off x="7380312" y="4488831"/>
            <a:ext cx="1214414" cy="170018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Resolving conflict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a:bodyPr>
          <a:lstStyle/>
          <a:p>
            <a:pPr marL="0">
              <a:spcBef>
                <a:spcPts val="600"/>
              </a:spcBef>
              <a:spcAft>
                <a:spcPts val="1200"/>
              </a:spcAft>
              <a:buNone/>
            </a:pPr>
            <a:r>
              <a:rPr lang="en-US" sz="2200" dirty="0" smtClean="0">
                <a:latin typeface="Helvetica" pitchFamily="34" charset="0"/>
              </a:rPr>
              <a:t>While most people who go on tours are generally there to have a good time there are times when conflict issues arise. </a:t>
            </a:r>
          </a:p>
          <a:p>
            <a:pPr marL="0">
              <a:spcBef>
                <a:spcPts val="600"/>
              </a:spcBef>
              <a:spcAft>
                <a:spcPts val="1200"/>
              </a:spcAft>
              <a:buNone/>
            </a:pPr>
            <a:r>
              <a:rPr lang="en-US" sz="2200" dirty="0" smtClean="0">
                <a:latin typeface="Helvetica" pitchFamily="34" charset="0"/>
              </a:rPr>
              <a:t>Regardless of the type or purpose of conflict the situation must be defused and resolved as quickly as possible:</a:t>
            </a:r>
          </a:p>
          <a:p>
            <a:pPr lvl="0">
              <a:spcBef>
                <a:spcPts val="600"/>
              </a:spcBef>
              <a:spcAft>
                <a:spcPts val="1200"/>
              </a:spcAft>
            </a:pPr>
            <a:r>
              <a:rPr lang="en-US" sz="2200" dirty="0" smtClean="0">
                <a:latin typeface="Helvetica" pitchFamily="34" charset="0"/>
              </a:rPr>
              <a:t>To the satisfaction of both parties, if possible</a:t>
            </a:r>
          </a:p>
          <a:p>
            <a:pPr lvl="0">
              <a:spcBef>
                <a:spcPts val="600"/>
              </a:spcBef>
              <a:spcAft>
                <a:spcPts val="1200"/>
              </a:spcAft>
            </a:pPr>
            <a:r>
              <a:rPr lang="en-US" sz="2200" dirty="0" smtClean="0">
                <a:latin typeface="Helvetica" pitchFamily="34" charset="0"/>
              </a:rPr>
              <a:t>With minimal disruption to other tour members</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5" name="Picture 4" descr="W100_shutterstock_116247325.jpg"/>
          <p:cNvPicPr/>
          <p:nvPr/>
        </p:nvPicPr>
        <p:blipFill>
          <a:blip r:embed="rId3" cstate="print"/>
          <a:stretch>
            <a:fillRect/>
          </a:stretch>
        </p:blipFill>
        <p:spPr>
          <a:xfrm>
            <a:off x="3212378" y="4697760"/>
            <a:ext cx="1728192"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Resolving conflict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person-to-person conflict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 between tour group members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 between tour group members and non-tour group members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 between tour group members and host enterprise tour guides and other staff members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 involving authorities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 involving local communities</a:t>
            </a:r>
            <a:endParaRPr lang="en-US" sz="2200" dirty="0" smtClean="0">
              <a:latin typeface="Helvetica" pitchFamily="34" charset="0"/>
            </a:endParaRP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6" name="Picture 5" descr="MP900443084.JPG"/>
          <p:cNvPicPr>
            <a:picLocks noChangeAspect="1"/>
          </p:cNvPicPr>
          <p:nvPr/>
        </p:nvPicPr>
        <p:blipFill>
          <a:blip r:embed="rId3" cstate="print"/>
          <a:stretch>
            <a:fillRect/>
          </a:stretch>
        </p:blipFill>
        <p:spPr>
          <a:xfrm>
            <a:off x="5935827" y="4509120"/>
            <a:ext cx="2498958" cy="165618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Resolving conflict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Types of person-to-person conflict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Dominant, domineering or disruptive group members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Sub-groups or cliques within the wider tour group</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Perceptions of favouritism by tour leader to certain tour group members</a:t>
            </a:r>
            <a:endParaRPr lang="en-US" sz="2200" dirty="0" smtClean="0">
              <a:latin typeface="Helvetica" pitchFamily="34" charset="0"/>
            </a:endParaRP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5" name="Picture 4" descr="MP900443085.JPG"/>
          <p:cNvPicPr>
            <a:picLocks noChangeAspect="1"/>
          </p:cNvPicPr>
          <p:nvPr/>
        </p:nvPicPr>
        <p:blipFill>
          <a:blip r:embed="rId3" cstate="print"/>
          <a:stretch>
            <a:fillRect/>
          </a:stretch>
        </p:blipFill>
        <p:spPr>
          <a:xfrm>
            <a:off x="5775895" y="4293096"/>
            <a:ext cx="2607609" cy="1728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Resolving conflict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Handling person-to-person conflict</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How should you handle conflict?</a:t>
            </a:r>
          </a:p>
          <a:p>
            <a:pPr lvl="0">
              <a:spcBef>
                <a:spcPts val="600"/>
              </a:spcBef>
              <a:spcAft>
                <a:spcPts val="1200"/>
              </a:spcAft>
            </a:pPr>
            <a:r>
              <a:rPr lang="en-US" sz="2200" dirty="0" smtClean="0">
                <a:latin typeface="Helvetica" pitchFamily="34" charset="0"/>
              </a:rPr>
              <a:t>How should you handle drug or alcohol affected clients?</a:t>
            </a:r>
          </a:p>
          <a:p>
            <a:endParaRPr lang="en-AU" sz="2400" dirty="0" smtClean="0"/>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6" name="Picture 5" descr="MP900444080[1].JPG"/>
          <p:cNvPicPr/>
          <p:nvPr/>
        </p:nvPicPr>
        <p:blipFill>
          <a:blip r:embed="rId3" cstate="print"/>
          <a:stretch>
            <a:fillRect/>
          </a:stretch>
        </p:blipFill>
        <p:spPr>
          <a:xfrm>
            <a:off x="3203848" y="3429000"/>
            <a:ext cx="2664296"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Resolving dissatisfaction</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Dissatisfaction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Regardless of how professionally you behave, you may encounter customers who are dissatisfied</a:t>
            </a:r>
          </a:p>
          <a:p>
            <a:pPr>
              <a:spcBef>
                <a:spcPts val="600"/>
              </a:spcBef>
              <a:spcAft>
                <a:spcPts val="1200"/>
              </a:spcAft>
            </a:pPr>
            <a:r>
              <a:rPr lang="en-AU" sz="2200" dirty="0" smtClean="0">
                <a:latin typeface="Helvetica" pitchFamily="34" charset="0"/>
              </a:rPr>
              <a:t>Customer satisfaction is often dependent on their experience matching their expectation</a:t>
            </a:r>
            <a:endParaRPr lang="en-US" sz="2200" dirty="0" smtClean="0">
              <a:latin typeface="Helvetica" pitchFamily="34" charset="0"/>
            </a:endParaRP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graphicFrame>
        <p:nvGraphicFramePr>
          <p:cNvPr id="6" name="Diagram 5"/>
          <p:cNvGraphicFramePr/>
          <p:nvPr>
            <p:extLst>
              <p:ext uri="{D42A27DB-BD31-4B8C-83A1-F6EECF244321}">
                <p14:modId xmlns:p14="http://schemas.microsoft.com/office/powerpoint/2010/main" val="2720124562"/>
              </p:ext>
            </p:extLst>
          </p:nvPr>
        </p:nvGraphicFramePr>
        <p:xfrm>
          <a:off x="1619672" y="4149080"/>
          <a:ext cx="5400600" cy="14401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Resolving dissatisfaction</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Overcoming dissatisfaction</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Why is this important?</a:t>
            </a:r>
          </a:p>
          <a:p>
            <a:pPr lvl="0">
              <a:spcBef>
                <a:spcPts val="600"/>
              </a:spcBef>
              <a:spcAft>
                <a:spcPts val="1200"/>
              </a:spcAft>
            </a:pPr>
            <a:r>
              <a:rPr lang="en-US" sz="2200" dirty="0" smtClean="0">
                <a:latin typeface="Helvetica" pitchFamily="34" charset="0"/>
              </a:rPr>
              <a:t>How can you identify dissatisfaction?</a:t>
            </a:r>
          </a:p>
          <a:p>
            <a:pPr>
              <a:spcBef>
                <a:spcPts val="600"/>
              </a:spcBef>
              <a:spcAft>
                <a:spcPts val="1200"/>
              </a:spcAft>
            </a:pPr>
            <a:r>
              <a:rPr lang="en-US" sz="2200" dirty="0" smtClean="0">
                <a:latin typeface="Helvetica" pitchFamily="34" charset="0"/>
              </a:rPr>
              <a:t>How can you </a:t>
            </a:r>
            <a:r>
              <a:rPr lang="en-AU" sz="2200" dirty="0" smtClean="0">
                <a:latin typeface="Helvetica" pitchFamily="34" charset="0"/>
              </a:rPr>
              <a:t>resolve group member dissatisfaction?</a:t>
            </a: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5" name="Picture 4" descr="MP900442432.JPG"/>
          <p:cNvPicPr/>
          <p:nvPr/>
        </p:nvPicPr>
        <p:blipFill>
          <a:blip r:embed="rId3" cstate="print"/>
          <a:stretch>
            <a:fillRect/>
          </a:stretch>
        </p:blipFill>
        <p:spPr>
          <a:xfrm>
            <a:off x="2627784" y="4077072"/>
            <a:ext cx="3240360" cy="17281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Optimising enjoyment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Maximising customer enjoyment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It is important that even when adverse or negative factors impact on a tour, the tour guides themselves strive to optimise the enjoyment of the tour and the overall customer satisfaction</a:t>
            </a: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7" name="Picture 6" descr="shutterstock_104718050.jpg"/>
          <p:cNvPicPr>
            <a:picLocks noChangeAspect="1"/>
          </p:cNvPicPr>
          <p:nvPr/>
        </p:nvPicPr>
        <p:blipFill>
          <a:blip r:embed="rId3" cstate="print"/>
          <a:stretch>
            <a:fillRect/>
          </a:stretch>
        </p:blipFill>
        <p:spPr>
          <a:xfrm>
            <a:off x="2627784" y="3789040"/>
            <a:ext cx="3024336" cy="201723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Optimising enjoyment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200" b="1" dirty="0" smtClean="0">
                <a:latin typeface="Helvetica" pitchFamily="34" charset="0"/>
              </a:rPr>
              <a:t>Maximising customer enjoyment during adverse conditions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What are examples of adverse conditions?</a:t>
            </a:r>
          </a:p>
          <a:p>
            <a:pPr>
              <a:spcBef>
                <a:spcPts val="600"/>
              </a:spcBef>
              <a:spcAft>
                <a:spcPts val="1200"/>
              </a:spcAft>
            </a:pPr>
            <a:r>
              <a:rPr lang="en-US" sz="2200" dirty="0" smtClean="0">
                <a:latin typeface="Helvetica" pitchFamily="34" charset="0"/>
              </a:rPr>
              <a:t>What can you do to maiximise customer enjoyment during adverse conditions?</a:t>
            </a:r>
          </a:p>
          <a:p>
            <a:pPr lvl="0">
              <a:spcBef>
                <a:spcPts val="600"/>
              </a:spcBef>
              <a:spcAft>
                <a:spcPts val="1200"/>
              </a:spcAft>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7" name="Picture 6" descr="shutterstock_99237542.jpg"/>
          <p:cNvPicPr/>
          <p:nvPr/>
        </p:nvPicPr>
        <p:blipFill>
          <a:blip r:embed="rId3" cstate="print"/>
          <a:stretch>
            <a:fillRect/>
          </a:stretch>
        </p:blipFill>
        <p:spPr>
          <a:xfrm>
            <a:off x="2834839" y="4056783"/>
            <a:ext cx="3024336"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Optimising enjoyment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US" sz="2200" b="1" dirty="0" smtClean="0">
                <a:latin typeface="Helvetica" pitchFamily="34" charset="0"/>
              </a:rPr>
              <a:t>Maximising customer enjoyment during adverse conditions</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Active listening skills</a:t>
            </a:r>
          </a:p>
          <a:p>
            <a:pPr>
              <a:spcBef>
                <a:spcPts val="600"/>
              </a:spcBef>
              <a:spcAft>
                <a:spcPts val="1200"/>
              </a:spcAft>
            </a:pPr>
            <a:r>
              <a:rPr lang="en-US" sz="2200" dirty="0" smtClean="0">
                <a:latin typeface="Helvetica" pitchFamily="34" charset="0"/>
              </a:rPr>
              <a:t>Identifying what customers expect in </a:t>
            </a:r>
            <a:br>
              <a:rPr lang="en-US" sz="2200" dirty="0" smtClean="0">
                <a:latin typeface="Helvetica" pitchFamily="34" charset="0"/>
              </a:rPr>
            </a:br>
            <a:r>
              <a:rPr lang="en-US" sz="2200" dirty="0" smtClean="0">
                <a:latin typeface="Helvetica" pitchFamily="34" charset="0"/>
              </a:rPr>
              <a:t>adverse conditions</a:t>
            </a:r>
          </a:p>
          <a:p>
            <a:pPr>
              <a:spcBef>
                <a:spcPts val="600"/>
              </a:spcBef>
              <a:spcAft>
                <a:spcPts val="1200"/>
              </a:spcAft>
            </a:pPr>
            <a:r>
              <a:rPr lang="en-US" sz="2200" dirty="0" smtClean="0">
                <a:latin typeface="Helvetica" pitchFamily="34" charset="0"/>
              </a:rPr>
              <a:t>Developing possible tour alternatives</a:t>
            </a:r>
          </a:p>
          <a:p>
            <a:pPr>
              <a:spcBef>
                <a:spcPts val="600"/>
              </a:spcBef>
              <a:spcAft>
                <a:spcPts val="1200"/>
              </a:spcAft>
            </a:pPr>
            <a:r>
              <a:rPr lang="en-US" sz="2200" dirty="0" smtClean="0">
                <a:latin typeface="Helvetica" pitchFamily="34" charset="0"/>
              </a:rPr>
              <a:t>Reach mutual consensus</a:t>
            </a:r>
          </a:p>
          <a:p>
            <a:pPr>
              <a:spcBef>
                <a:spcPts val="600"/>
              </a:spcBef>
              <a:spcAft>
                <a:spcPts val="1200"/>
              </a:spcAft>
            </a:pPr>
            <a:endParaRPr lang="en-US" sz="2400" dirty="0" smtClean="0"/>
          </a:p>
          <a:p>
            <a:pPr lvl="0">
              <a:spcBef>
                <a:spcPts val="600"/>
              </a:spcBef>
              <a:spcAft>
                <a:spcPts val="1200"/>
              </a:spcAft>
            </a:pPr>
            <a:endParaRPr lang="en-US" sz="22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a:buNone/>
            </a:pPr>
            <a:endParaRPr lang="en-AU" sz="2400" dirty="0" smtClean="0"/>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6" name="Picture 5" descr="shutterstock_91170884.jpg"/>
          <p:cNvPicPr/>
          <p:nvPr/>
        </p:nvPicPr>
        <p:blipFill>
          <a:blip r:embed="rId3" cstate="print"/>
          <a:stretch>
            <a:fillRect/>
          </a:stretch>
        </p:blipFill>
        <p:spPr>
          <a:xfrm>
            <a:off x="6186350" y="3212976"/>
            <a:ext cx="2007865" cy="1800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600" y="1844824"/>
            <a:ext cx="6768752" cy="4680520"/>
          </a:xfrm>
        </p:spPr>
        <p:txBody>
          <a:bodyPr>
            <a:normAutofit/>
          </a:bodyPr>
          <a:lstStyle/>
          <a:p>
            <a:pPr>
              <a:buNone/>
            </a:pPr>
            <a:r>
              <a:rPr lang="en-AU" sz="4000" b="1" dirty="0" smtClean="0">
                <a:solidFill>
                  <a:srgbClr val="FF6600"/>
                </a:solidFill>
                <a:latin typeface="Helvetica" pitchFamily="34" charset="0"/>
                <a:cs typeface="Helvetica" pitchFamily="34" charset="0"/>
              </a:rPr>
              <a:t>Finish:</a:t>
            </a:r>
          </a:p>
          <a:p>
            <a:pPr>
              <a:buNone/>
            </a:pPr>
            <a:r>
              <a:rPr lang="en-AU" sz="4000" b="1" i="1" dirty="0">
                <a:solidFill>
                  <a:srgbClr val="FF6600"/>
                </a:solidFill>
                <a:latin typeface="Helvetica" pitchFamily="34" charset="0"/>
                <a:cs typeface="Helvetica" pitchFamily="34" charset="0"/>
              </a:rPr>
              <a:t>Thank you!</a:t>
            </a:r>
          </a:p>
          <a:p>
            <a:pPr>
              <a:spcBef>
                <a:spcPts val="600"/>
              </a:spcBef>
              <a:spcAft>
                <a:spcPts val="1200"/>
              </a:spcAft>
            </a:pPr>
            <a:endParaRPr lang="en-AU" sz="2200" dirty="0" smtClean="0">
              <a:latin typeface="Helvetica" pitchFamily="34" charset="0"/>
              <a:cs typeface="Helvetica" pitchFamily="34" charset="0"/>
            </a:endParaRPr>
          </a:p>
          <a:p>
            <a:pPr>
              <a:spcBef>
                <a:spcPts val="600"/>
              </a:spcBef>
              <a:spcAft>
                <a:spcPts val="1200"/>
              </a:spcAft>
              <a:buNone/>
            </a:pPr>
            <a:endParaRPr lang="en-AU" sz="2200" dirty="0" smtClean="0">
              <a:latin typeface="Helvetica" pitchFamily="34" charset="0"/>
              <a:cs typeface="Helvetica" pitchFamily="34" charset="0"/>
            </a:endParaRPr>
          </a:p>
          <a:p>
            <a:pPr lvl="0">
              <a:spcBef>
                <a:spcPts val="600"/>
              </a:spcBef>
              <a:spcAft>
                <a:spcPts val="600"/>
              </a:spcAft>
            </a:pPr>
            <a:endParaRPr lang="en-AU" sz="2200" dirty="0" smtClean="0">
              <a:latin typeface="Helvetica" pitchFamily="34" charset="0"/>
              <a:cs typeface="Helvetica" pitchFamily="34" charset="0"/>
            </a:endParaRPr>
          </a:p>
          <a:p>
            <a:pPr>
              <a:buNone/>
            </a:pPr>
            <a:endParaRPr lang="en-AU" sz="2400" dirty="0" smtClean="0">
              <a:latin typeface="Helvetica" pitchFamily="34" charset="0"/>
              <a:cs typeface="Helvetica" pitchFamily="34" charset="0"/>
            </a:endParaRPr>
          </a:p>
          <a:p>
            <a:pPr lvl="0">
              <a:spcBef>
                <a:spcPts val="600"/>
              </a:spcBef>
              <a:spcAft>
                <a:spcPts val="1200"/>
              </a:spcAft>
            </a:pPr>
            <a:endParaRPr lang="en-AU" sz="2200" dirty="0" smtClean="0">
              <a:latin typeface="Helvetica" pitchFamily="34" charset="0"/>
              <a:cs typeface="Helvetica" pitchFamily="34" charset="0"/>
            </a:endParaRPr>
          </a:p>
          <a:p>
            <a:pPr marL="0">
              <a:spcBef>
                <a:spcPts val="600"/>
              </a:spcBef>
              <a:spcAft>
                <a:spcPts val="12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5" name="Picture 4" descr="W4_Asian_Man_Professional_shutterstock_153733442.jpg"/>
          <p:cNvPicPr>
            <a:picLocks noChangeAspect="1"/>
          </p:cNvPicPr>
          <p:nvPr/>
        </p:nvPicPr>
        <p:blipFill>
          <a:blip r:embed="rId3" cstate="print"/>
          <a:stretch>
            <a:fillRect/>
          </a:stretch>
        </p:blipFill>
        <p:spPr>
          <a:xfrm>
            <a:off x="3995936" y="1628800"/>
            <a:ext cx="3024336" cy="2017232"/>
          </a:xfrm>
          <a:prstGeom prst="rect">
            <a:avLst/>
          </a:prstGeom>
        </p:spPr>
      </p:pic>
    </p:spTree>
    <p:extLst>
      <p:ext uri="{BB962C8B-B14F-4D97-AF65-F5344CB8AC3E}">
        <p14:creationId xmlns:p14="http://schemas.microsoft.com/office/powerpoint/2010/main" val="3667042860"/>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3442</TotalTime>
  <Words>8630</Words>
  <Application>Microsoft Office PowerPoint</Application>
  <PresentationFormat>On-screen Show (4:3)</PresentationFormat>
  <Paragraphs>1784</Paragraphs>
  <Slides>140</Slides>
  <Notes>140</Notes>
  <HiddenSlides>0</HiddenSlides>
  <MMClips>0</MMClips>
  <ScaleCrop>false</ScaleCrop>
  <HeadingPairs>
    <vt:vector size="4" baseType="variant">
      <vt:variant>
        <vt:lpstr>Theme</vt:lpstr>
      </vt:variant>
      <vt:variant>
        <vt:i4>1</vt:i4>
      </vt:variant>
      <vt:variant>
        <vt:lpstr>Slide Titles</vt:lpstr>
      </vt:variant>
      <vt:variant>
        <vt:i4>140</vt:i4>
      </vt:variant>
    </vt:vector>
  </HeadingPairs>
  <TitlesOfParts>
    <vt:vector size="141" baseType="lpstr">
      <vt:lpstr>PPT_Tour_operation_templates_130214</vt:lpstr>
      <vt:lpstr>Lead tour groups in a responsible manner</vt:lpstr>
      <vt:lpstr>Subject elements</vt:lpstr>
      <vt:lpstr>Assessment</vt:lpstr>
      <vt:lpstr>PowerPoint Presentation</vt:lpstr>
      <vt:lpstr>Identify the pre-requisites for responsible tour leadership</vt:lpstr>
      <vt:lpstr>Role of tour guides</vt:lpstr>
      <vt:lpstr>Company policies and procedures</vt:lpstr>
      <vt:lpstr>Identifying upcoming tours</vt:lpstr>
      <vt:lpstr>Identifying upcoming tours</vt:lpstr>
      <vt:lpstr>Identifying upcoming tours</vt:lpstr>
      <vt:lpstr>Accessing tour information</vt:lpstr>
      <vt:lpstr>Tour brief</vt:lpstr>
      <vt:lpstr>Tour brief</vt:lpstr>
      <vt:lpstr>Tour brief</vt:lpstr>
      <vt:lpstr>Contracts</vt:lpstr>
      <vt:lpstr>Tour Itinerary</vt:lpstr>
      <vt:lpstr>Tour Itinerary</vt:lpstr>
      <vt:lpstr>Role of group leader</vt:lpstr>
      <vt:lpstr>Confirming tour details</vt:lpstr>
      <vt:lpstr>Confirming tour details</vt:lpstr>
      <vt:lpstr>Confirming tour details</vt:lpstr>
      <vt:lpstr>Being organised and well prepared</vt:lpstr>
      <vt:lpstr>Being organised and well prepared</vt:lpstr>
      <vt:lpstr>Ensure planning is complete</vt:lpstr>
      <vt:lpstr>Ensure planning is complete</vt:lpstr>
      <vt:lpstr>Prepare commentary</vt:lpstr>
      <vt:lpstr>Prepare commentary</vt:lpstr>
      <vt:lpstr>Prepare commentary</vt:lpstr>
      <vt:lpstr>Prepare commentary</vt:lpstr>
      <vt:lpstr>Prepare commentary</vt:lpstr>
      <vt:lpstr>Grooming and attire</vt:lpstr>
      <vt:lpstr>Organise information and materials</vt:lpstr>
      <vt:lpstr>Organise information and materials</vt:lpstr>
      <vt:lpstr>Organise information and materials</vt:lpstr>
      <vt:lpstr>Security policies and procedures</vt:lpstr>
      <vt:lpstr>Security policies and procedures</vt:lpstr>
      <vt:lpstr>Security policies and procedures</vt:lpstr>
      <vt:lpstr>Security policies and procedures</vt:lpstr>
      <vt:lpstr>Types of assets</vt:lpstr>
      <vt:lpstr>Types of assets</vt:lpstr>
      <vt:lpstr>Types of assets</vt:lpstr>
      <vt:lpstr>Types of assets</vt:lpstr>
      <vt:lpstr>Check public address system</vt:lpstr>
      <vt:lpstr>Check public address system</vt:lpstr>
      <vt:lpstr>Test equipment </vt:lpstr>
      <vt:lpstr>Check materials</vt:lpstr>
      <vt:lpstr>Check materials</vt:lpstr>
      <vt:lpstr>Check materials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Legal implications</vt:lpstr>
      <vt:lpstr>Role of the tour guide</vt:lpstr>
      <vt:lpstr>Role of the tour guide</vt:lpstr>
      <vt:lpstr>Role of the tour guide</vt:lpstr>
      <vt:lpstr>PowerPoint Presentation</vt:lpstr>
      <vt:lpstr>Co-ordinate tour group movements and activities</vt:lpstr>
      <vt:lpstr>Co-ordinate tour group movements and activities</vt:lpstr>
      <vt:lpstr>Co-ordinate tour group movements</vt:lpstr>
      <vt:lpstr>Types of tours</vt:lpstr>
      <vt:lpstr>Types of tours</vt:lpstr>
      <vt:lpstr>Types of tours</vt:lpstr>
      <vt:lpstr>Greeting participants</vt:lpstr>
      <vt:lpstr>Greeting participants</vt:lpstr>
      <vt:lpstr>Give introduction</vt:lpstr>
      <vt:lpstr>Explain tour</vt:lpstr>
      <vt:lpstr>Explain tour rules</vt:lpstr>
      <vt:lpstr>Maintain adherence to itinerary</vt:lpstr>
      <vt:lpstr>Maintain adherence to itinerary</vt:lpstr>
      <vt:lpstr>Maintain adherence to itinerary</vt:lpstr>
      <vt:lpstr>Maintain adherence to itinerary</vt:lpstr>
      <vt:lpstr>Provide tour advice and information</vt:lpstr>
      <vt:lpstr>Provide tour advice and information</vt:lpstr>
      <vt:lpstr>Provide tour advice and information</vt:lpstr>
      <vt:lpstr>Provide tour advice and information</vt:lpstr>
      <vt:lpstr>Provide tour advice and information</vt:lpstr>
      <vt:lpstr>Supervise movement and activities </vt:lpstr>
      <vt:lpstr>Monitoring people</vt:lpstr>
      <vt:lpstr>Monitoring people</vt:lpstr>
      <vt:lpstr>Monitoring people</vt:lpstr>
      <vt:lpstr>Encourage tour group members</vt:lpstr>
      <vt:lpstr>Encourage tour group members</vt:lpstr>
      <vt:lpstr>Meeting special needs</vt:lpstr>
      <vt:lpstr>Comply with policies, procedures and standards</vt:lpstr>
      <vt:lpstr>Comply with policies, procedures and standards</vt:lpstr>
      <vt:lpstr>Comply with policies, procedures and standards</vt:lpstr>
      <vt:lpstr>PowerPoint Presentation</vt:lpstr>
      <vt:lpstr>Facilitate tour group interaction with each other and the tour environment</vt:lpstr>
      <vt:lpstr>Introduce tour members</vt:lpstr>
      <vt:lpstr>Explain tour objectives</vt:lpstr>
      <vt:lpstr>Explain tour themes</vt:lpstr>
      <vt:lpstr>Build group cohesion</vt:lpstr>
      <vt:lpstr>Build group cohesion</vt:lpstr>
      <vt:lpstr>Build rapport</vt:lpstr>
      <vt:lpstr>Share tour rules</vt:lpstr>
      <vt:lpstr>Making announcements</vt:lpstr>
      <vt:lpstr>Monitor tour delivery</vt:lpstr>
      <vt:lpstr>Monitor tour delivery</vt:lpstr>
      <vt:lpstr>Balance group and individual needs</vt:lpstr>
      <vt:lpstr>Assessing tour group needs</vt:lpstr>
      <vt:lpstr>Consider needs and wishes of participants</vt:lpstr>
      <vt:lpstr>Balance group and individual needs</vt:lpstr>
      <vt:lpstr>PowerPoint Presentation</vt:lpstr>
      <vt:lpstr>Deal with on-tour problems</vt:lpstr>
      <vt:lpstr>Deal with on-tour problems</vt:lpstr>
      <vt:lpstr>Deal with on-tour problems</vt:lpstr>
      <vt:lpstr>Deal with on-tour problems</vt:lpstr>
      <vt:lpstr>Safety and security of tours</vt:lpstr>
      <vt:lpstr>Safety and security of tours</vt:lpstr>
      <vt:lpstr>Safety policies and procedures </vt:lpstr>
      <vt:lpstr>Safety policies and procedures </vt:lpstr>
      <vt:lpstr>Handling problems</vt:lpstr>
      <vt:lpstr>Responding to emergencies</vt:lpstr>
      <vt:lpstr>Responding to emergencies</vt:lpstr>
      <vt:lpstr>Responding to emergencies</vt:lpstr>
      <vt:lpstr>Responding to emergencies</vt:lpstr>
      <vt:lpstr>Handling unexpected events</vt:lpstr>
      <vt:lpstr>Dealing with delays</vt:lpstr>
      <vt:lpstr>Resolving conflict</vt:lpstr>
      <vt:lpstr>Resolving conflict</vt:lpstr>
      <vt:lpstr>Resolving conflict</vt:lpstr>
      <vt:lpstr>Resolving conflict</vt:lpstr>
      <vt:lpstr>Resolving dissatisfaction</vt:lpstr>
      <vt:lpstr>Resolving dissatisfaction</vt:lpstr>
      <vt:lpstr>Optimising enjoyment</vt:lpstr>
      <vt:lpstr>Optimising enjoyment</vt:lpstr>
      <vt:lpstr>Optimising enjoyment</vt:lpstr>
      <vt:lpstr>PowerPoint Presentation</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 tour groups in a responsible manner</dc:title>
  <dc:creator>Kaly Quach</dc:creator>
  <cp:lastModifiedBy>Mai</cp:lastModifiedBy>
  <cp:revision>184</cp:revision>
  <dcterms:created xsi:type="dcterms:W3CDTF">2014-05-12T07:27:26Z</dcterms:created>
  <dcterms:modified xsi:type="dcterms:W3CDTF">2015-01-12T11:59:53Z</dcterms:modified>
</cp:coreProperties>
</file>